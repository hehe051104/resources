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7"/>
  </p:notesMasterIdLst>
  <p:handoutMasterIdLst>
    <p:handoutMasterId r:id="rId60"/>
  </p:handoutMasterIdLst>
  <p:sldIdLst>
    <p:sldId id="424" r:id="rId4"/>
    <p:sldId id="425" r:id="rId5"/>
    <p:sldId id="256" r:id="rId6"/>
    <p:sldId id="405" r:id="rId8"/>
    <p:sldId id="407" r:id="rId9"/>
    <p:sldId id="406" r:id="rId10"/>
    <p:sldId id="408" r:id="rId11"/>
    <p:sldId id="409" r:id="rId12"/>
    <p:sldId id="410" r:id="rId13"/>
    <p:sldId id="411" r:id="rId14"/>
    <p:sldId id="413" r:id="rId15"/>
    <p:sldId id="415" r:id="rId16"/>
    <p:sldId id="422" r:id="rId17"/>
    <p:sldId id="414" r:id="rId18"/>
    <p:sldId id="438" r:id="rId19"/>
    <p:sldId id="439" r:id="rId20"/>
    <p:sldId id="440" r:id="rId21"/>
    <p:sldId id="441" r:id="rId22"/>
    <p:sldId id="442" r:id="rId23"/>
    <p:sldId id="443" r:id="rId24"/>
    <p:sldId id="444" r:id="rId25"/>
    <p:sldId id="445" r:id="rId26"/>
    <p:sldId id="446" r:id="rId27"/>
    <p:sldId id="447" r:id="rId28"/>
    <p:sldId id="448" r:id="rId29"/>
    <p:sldId id="449" r:id="rId30"/>
    <p:sldId id="450" r:id="rId31"/>
    <p:sldId id="451" r:id="rId32"/>
    <p:sldId id="452" r:id="rId33"/>
    <p:sldId id="453" r:id="rId34"/>
    <p:sldId id="454" r:id="rId35"/>
    <p:sldId id="455" r:id="rId36"/>
    <p:sldId id="456" r:id="rId37"/>
    <p:sldId id="457" r:id="rId38"/>
    <p:sldId id="458" r:id="rId39"/>
    <p:sldId id="459" r:id="rId40"/>
    <p:sldId id="460" r:id="rId41"/>
    <p:sldId id="461" r:id="rId42"/>
    <p:sldId id="462" r:id="rId43"/>
    <p:sldId id="463" r:id="rId44"/>
    <p:sldId id="464" r:id="rId45"/>
    <p:sldId id="465" r:id="rId46"/>
    <p:sldId id="466" r:id="rId47"/>
    <p:sldId id="467" r:id="rId48"/>
    <p:sldId id="468" r:id="rId49"/>
    <p:sldId id="469" r:id="rId50"/>
    <p:sldId id="470" r:id="rId51"/>
    <p:sldId id="471" r:id="rId52"/>
    <p:sldId id="472" r:id="rId53"/>
    <p:sldId id="473" r:id="rId54"/>
    <p:sldId id="474" r:id="rId55"/>
    <p:sldId id="475" r:id="rId56"/>
    <p:sldId id="476" r:id="rId57"/>
    <p:sldId id="477" r:id="rId58"/>
    <p:sldId id="478" r:id="rId59"/>
  </p:sldIdLst>
  <p:sldSz cx="9144000" cy="6858000" type="screen4x3"/>
  <p:notesSz cx="6858000" cy="9144000"/>
  <p:custDataLst>
    <p:tags r:id="rId64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0000"/>
    <a:srgbClr val="99CC00"/>
    <a:srgbClr val="8F6D58"/>
    <a:srgbClr val="FFFF66"/>
    <a:srgbClr val="E3DBD3"/>
    <a:srgbClr val="E6E3D0"/>
    <a:srgbClr val="E1DEC5"/>
    <a:srgbClr val="906D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3"/>
    <p:restoredTop sz="75088"/>
  </p:normalViewPr>
  <p:slideViewPr>
    <p:cSldViewPr showGuides="1">
      <p:cViewPr varScale="1">
        <p:scale>
          <a:sx n="83" d="100"/>
          <a:sy n="83" d="100"/>
        </p:scale>
        <p:origin x="108" y="7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 showFormatting="0">
    <p:cViewPr>
      <p:scale>
        <a:sx n="66" d="100"/>
        <a:sy n="66" d="100"/>
      </p:scale>
      <p:origin x="0" y="-25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4" Type="http://schemas.openxmlformats.org/officeDocument/2006/relationships/tags" Target="tags/tag12.xml"/><Relationship Id="rId63" Type="http://schemas.openxmlformats.org/officeDocument/2006/relationships/tableStyles" Target="tableStyles.xml"/><Relationship Id="rId62" Type="http://schemas.openxmlformats.org/officeDocument/2006/relationships/viewProps" Target="viewProps.xml"/><Relationship Id="rId61" Type="http://schemas.openxmlformats.org/officeDocument/2006/relationships/presProps" Target="presProps.xml"/><Relationship Id="rId60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BB5A9F-A1C6-4A5D-AB86-F5E3FAEF4982}" type="doc">
      <dgm:prSet loTypeId="urn:microsoft.com/office/officeart/2005/8/layout/cycle8" loCatId="cycle" qsTypeId="urn:microsoft.com/office/officeart/2005/8/quickstyle/simple2" qsCatId="simple" csTypeId="urn:microsoft.com/office/officeart/2005/8/colors/accent2_4" csCatId="accent2" phldr="1"/>
      <dgm:spPr>
        <a:scene3d>
          <a:camera prst="orthographicFront"/>
          <a:lightRig rig="threePt" dir="t"/>
        </a:scene3d>
      </dgm:spPr>
    </dgm:pt>
    <dgm:pt modelId="{5138C7A9-69D2-4B6C-86F9-277AFCEFD5CB}">
      <dgm:prSet phldrT="[文本]"/>
      <dgm:spPr/>
      <dgm:t>
        <a:bodyPr/>
        <a:lstStyle/>
        <a:p>
          <a:r>
            <a:rPr lang="zh-CN" altLang="en-US" dirty="0" smtClean="0"/>
            <a:t>内核模式</a:t>
          </a:r>
          <a:endParaRPr lang="zh-CN" altLang="en-US" dirty="0"/>
        </a:p>
      </dgm:t>
    </dgm:pt>
    <dgm:pt modelId="{E4DB10F3-115E-413F-8D37-F94FF434AA2F}" cxnId="{2AF7AFA0-42CE-464F-8882-461074F7D54D}" type="parTrans">
      <dgm:prSet/>
      <dgm:spPr/>
      <dgm:t>
        <a:bodyPr/>
        <a:lstStyle/>
        <a:p>
          <a:endParaRPr lang="zh-CN" altLang="en-US"/>
        </a:p>
      </dgm:t>
    </dgm:pt>
    <dgm:pt modelId="{B02E4F1A-8EC2-4E8B-BF3D-E57F4348E6F8}" cxnId="{2AF7AFA0-42CE-464F-8882-461074F7D54D}" type="sibTrans">
      <dgm:prSet/>
      <dgm:spPr/>
      <dgm:t>
        <a:bodyPr/>
        <a:lstStyle/>
        <a:p>
          <a:endParaRPr lang="zh-CN" altLang="en-US"/>
        </a:p>
      </dgm:t>
    </dgm:pt>
    <dgm:pt modelId="{885E1BB5-8108-4522-9406-3ECB0D678831}">
      <dgm:prSet phldrT="[文本]"/>
      <dgm:spPr/>
      <dgm:t>
        <a:bodyPr/>
        <a:lstStyle/>
        <a:p>
          <a:r>
            <a:rPr lang="zh-CN" altLang="en-US" dirty="0" smtClean="0">
              <a:solidFill>
                <a:srgbClr val="FF0000"/>
              </a:solidFill>
            </a:rPr>
            <a:t>用户模式</a:t>
          </a:r>
          <a:endParaRPr lang="zh-CN" altLang="en-US" dirty="0">
            <a:solidFill>
              <a:srgbClr val="FF0000"/>
            </a:solidFill>
          </a:endParaRPr>
        </a:p>
      </dgm:t>
    </dgm:pt>
    <dgm:pt modelId="{182B4949-1846-4A2D-918D-EB23698F98FF}" cxnId="{62FC6757-8AA8-4864-989A-E3A21AC5FA77}" type="parTrans">
      <dgm:prSet/>
      <dgm:spPr/>
      <dgm:t>
        <a:bodyPr/>
        <a:lstStyle/>
        <a:p>
          <a:endParaRPr lang="zh-CN" altLang="en-US"/>
        </a:p>
      </dgm:t>
    </dgm:pt>
    <dgm:pt modelId="{2F06B840-AC06-4924-91D9-6EF5C973E29C}" cxnId="{62FC6757-8AA8-4864-989A-E3A21AC5FA77}" type="sibTrans">
      <dgm:prSet/>
      <dgm:spPr/>
      <dgm:t>
        <a:bodyPr/>
        <a:lstStyle/>
        <a:p>
          <a:endParaRPr lang="zh-CN" altLang="en-US"/>
        </a:p>
      </dgm:t>
    </dgm:pt>
    <dgm:pt modelId="{39A32F5E-83E0-4531-928D-04CD410D14CB}" type="pres">
      <dgm:prSet presAssocID="{20BB5A9F-A1C6-4A5D-AB86-F5E3FAEF4982}" presName="compositeShape" presStyleCnt="0">
        <dgm:presLayoutVars>
          <dgm:chMax val="7"/>
          <dgm:dir/>
          <dgm:resizeHandles val="exact"/>
        </dgm:presLayoutVars>
      </dgm:prSet>
      <dgm:spPr/>
    </dgm:pt>
    <dgm:pt modelId="{370C1602-139B-4022-A42C-44999876003F}" type="pres">
      <dgm:prSet presAssocID="{20BB5A9F-A1C6-4A5D-AB86-F5E3FAEF4982}" presName="wedge1" presStyleLbl="node1" presStyleIdx="0" presStyleCnt="2"/>
      <dgm:spPr/>
      <dgm:t>
        <a:bodyPr/>
        <a:lstStyle/>
        <a:p>
          <a:endParaRPr lang="zh-CN" altLang="en-US"/>
        </a:p>
      </dgm:t>
    </dgm:pt>
    <dgm:pt modelId="{BB5B1820-6A2A-468E-8448-BDFCBFB13159}" type="pres">
      <dgm:prSet presAssocID="{20BB5A9F-A1C6-4A5D-AB86-F5E3FAEF4982}" presName="dummy1a" presStyleCnt="0"/>
      <dgm:spPr/>
    </dgm:pt>
    <dgm:pt modelId="{79527D8E-1A78-4228-A3E7-06444D2CA657}" type="pres">
      <dgm:prSet presAssocID="{20BB5A9F-A1C6-4A5D-AB86-F5E3FAEF4982}" presName="dummy1b" presStyleCnt="0"/>
      <dgm:spPr/>
    </dgm:pt>
    <dgm:pt modelId="{56583C94-1BC4-476E-A960-D6D905D73552}" type="pres">
      <dgm:prSet presAssocID="{20BB5A9F-A1C6-4A5D-AB86-F5E3FAEF4982}" presName="wedge1Tx" presStyleLbl="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8E6CE58-BA72-462E-B1BC-E499F0D46610}" type="pres">
      <dgm:prSet presAssocID="{20BB5A9F-A1C6-4A5D-AB86-F5E3FAEF4982}" presName="wedge2" presStyleLbl="node1" presStyleIdx="1" presStyleCnt="2" custScaleX="104924" custScaleY="100194"/>
      <dgm:spPr/>
      <dgm:t>
        <a:bodyPr/>
        <a:lstStyle/>
        <a:p>
          <a:endParaRPr lang="zh-CN" altLang="en-US"/>
        </a:p>
      </dgm:t>
    </dgm:pt>
    <dgm:pt modelId="{2CBD88C8-E2E9-4B20-916F-E346AA9C107B}" type="pres">
      <dgm:prSet presAssocID="{20BB5A9F-A1C6-4A5D-AB86-F5E3FAEF4982}" presName="dummy2a" presStyleCnt="0"/>
      <dgm:spPr/>
    </dgm:pt>
    <dgm:pt modelId="{01036829-7B0D-478E-959D-F429B0B19921}" type="pres">
      <dgm:prSet presAssocID="{20BB5A9F-A1C6-4A5D-AB86-F5E3FAEF4982}" presName="dummy2b" presStyleCnt="0"/>
      <dgm:spPr/>
    </dgm:pt>
    <dgm:pt modelId="{C43C6217-D861-43D9-9D48-D28DCE71E6A7}" type="pres">
      <dgm:prSet presAssocID="{20BB5A9F-A1C6-4A5D-AB86-F5E3FAEF4982}" presName="wedge2Tx" presStyleLbl="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BC57698-F18F-4D78-8CCD-131319D1F6E4}" type="pres">
      <dgm:prSet presAssocID="{B02E4F1A-8EC2-4E8B-BF3D-E57F4348E6F8}" presName="arrowWedge1" presStyleLbl="fgSibTrans2D1" presStyleIdx="0" presStyleCnt="2"/>
      <dgm:spPr/>
    </dgm:pt>
    <dgm:pt modelId="{DCB152B8-A484-4273-A720-ADB24A55C361}" type="pres">
      <dgm:prSet presAssocID="{2F06B840-AC06-4924-91D9-6EF5C973E29C}" presName="arrowWedge2" presStyleLbl="fgSibTrans2D1" presStyleIdx="1" presStyleCnt="2"/>
      <dgm:spPr/>
    </dgm:pt>
  </dgm:ptLst>
  <dgm:cxnLst>
    <dgm:cxn modelId="{331AD8A4-8F29-4D1E-A676-56D0AF7846C7}" type="presOf" srcId="{885E1BB5-8108-4522-9406-3ECB0D678831}" destId="{C43C6217-D861-43D9-9D48-D28DCE71E6A7}" srcOrd="1" destOrd="0" presId="urn:microsoft.com/office/officeart/2005/8/layout/cycle8"/>
    <dgm:cxn modelId="{B9409695-081D-49D1-B133-A98C1256A0CD}" type="presOf" srcId="{5138C7A9-69D2-4B6C-86F9-277AFCEFD5CB}" destId="{56583C94-1BC4-476E-A960-D6D905D73552}" srcOrd="1" destOrd="0" presId="urn:microsoft.com/office/officeart/2005/8/layout/cycle8"/>
    <dgm:cxn modelId="{62FC6757-8AA8-4864-989A-E3A21AC5FA77}" srcId="{20BB5A9F-A1C6-4A5D-AB86-F5E3FAEF4982}" destId="{885E1BB5-8108-4522-9406-3ECB0D678831}" srcOrd="1" destOrd="0" parTransId="{182B4949-1846-4A2D-918D-EB23698F98FF}" sibTransId="{2F06B840-AC06-4924-91D9-6EF5C973E29C}"/>
    <dgm:cxn modelId="{FBDD8857-5EA4-4E48-A0B1-A9A0A968B54E}" type="presOf" srcId="{885E1BB5-8108-4522-9406-3ECB0D678831}" destId="{F8E6CE58-BA72-462E-B1BC-E499F0D46610}" srcOrd="0" destOrd="0" presId="urn:microsoft.com/office/officeart/2005/8/layout/cycle8"/>
    <dgm:cxn modelId="{2AF7AFA0-42CE-464F-8882-461074F7D54D}" srcId="{20BB5A9F-A1C6-4A5D-AB86-F5E3FAEF4982}" destId="{5138C7A9-69D2-4B6C-86F9-277AFCEFD5CB}" srcOrd="0" destOrd="0" parTransId="{E4DB10F3-115E-413F-8D37-F94FF434AA2F}" sibTransId="{B02E4F1A-8EC2-4E8B-BF3D-E57F4348E6F8}"/>
    <dgm:cxn modelId="{61FFF726-F0DB-45A6-ADEE-8DE23B0984FE}" type="presOf" srcId="{5138C7A9-69D2-4B6C-86F9-277AFCEFD5CB}" destId="{370C1602-139B-4022-A42C-44999876003F}" srcOrd="0" destOrd="0" presId="urn:microsoft.com/office/officeart/2005/8/layout/cycle8"/>
    <dgm:cxn modelId="{C8CB90D5-1C98-4AFD-B20D-7AFCF9CD4FD0}" type="presOf" srcId="{20BB5A9F-A1C6-4A5D-AB86-F5E3FAEF4982}" destId="{39A32F5E-83E0-4531-928D-04CD410D14CB}" srcOrd="0" destOrd="0" presId="urn:microsoft.com/office/officeart/2005/8/layout/cycle8"/>
    <dgm:cxn modelId="{47EE6562-951B-42F6-8403-803D5FFF8263}" type="presParOf" srcId="{39A32F5E-83E0-4531-928D-04CD410D14CB}" destId="{370C1602-139B-4022-A42C-44999876003F}" srcOrd="0" destOrd="0" presId="urn:microsoft.com/office/officeart/2005/8/layout/cycle8"/>
    <dgm:cxn modelId="{9A788612-6E3D-4EE4-AAA1-111EEE0457BE}" type="presParOf" srcId="{39A32F5E-83E0-4531-928D-04CD410D14CB}" destId="{BB5B1820-6A2A-468E-8448-BDFCBFB13159}" srcOrd="1" destOrd="0" presId="urn:microsoft.com/office/officeart/2005/8/layout/cycle8"/>
    <dgm:cxn modelId="{49DD2C3A-0DC4-4137-8E14-C76ACC8EE21F}" type="presParOf" srcId="{39A32F5E-83E0-4531-928D-04CD410D14CB}" destId="{79527D8E-1A78-4228-A3E7-06444D2CA657}" srcOrd="2" destOrd="0" presId="urn:microsoft.com/office/officeart/2005/8/layout/cycle8"/>
    <dgm:cxn modelId="{73615C31-87C6-49AB-896F-8EC24D0AFF16}" type="presParOf" srcId="{39A32F5E-83E0-4531-928D-04CD410D14CB}" destId="{56583C94-1BC4-476E-A960-D6D905D73552}" srcOrd="3" destOrd="0" presId="urn:microsoft.com/office/officeart/2005/8/layout/cycle8"/>
    <dgm:cxn modelId="{62785275-D576-46E6-8C33-B1A2E7C14A7D}" type="presParOf" srcId="{39A32F5E-83E0-4531-928D-04CD410D14CB}" destId="{F8E6CE58-BA72-462E-B1BC-E499F0D46610}" srcOrd="4" destOrd="0" presId="urn:microsoft.com/office/officeart/2005/8/layout/cycle8"/>
    <dgm:cxn modelId="{BE947387-1FE5-46E6-ACF9-D1C19318FF14}" type="presParOf" srcId="{39A32F5E-83E0-4531-928D-04CD410D14CB}" destId="{2CBD88C8-E2E9-4B20-916F-E346AA9C107B}" srcOrd="5" destOrd="0" presId="urn:microsoft.com/office/officeart/2005/8/layout/cycle8"/>
    <dgm:cxn modelId="{9EE9A048-702C-4954-AE4F-564C857EFB02}" type="presParOf" srcId="{39A32F5E-83E0-4531-928D-04CD410D14CB}" destId="{01036829-7B0D-478E-959D-F429B0B19921}" srcOrd="6" destOrd="0" presId="urn:microsoft.com/office/officeart/2005/8/layout/cycle8"/>
    <dgm:cxn modelId="{420A1048-EA82-4EED-8E36-DED07D69BACE}" type="presParOf" srcId="{39A32F5E-83E0-4531-928D-04CD410D14CB}" destId="{C43C6217-D861-43D9-9D48-D28DCE71E6A7}" srcOrd="7" destOrd="0" presId="urn:microsoft.com/office/officeart/2005/8/layout/cycle8"/>
    <dgm:cxn modelId="{91AF9351-B97B-4363-98A2-2B590652DCDF}" type="presParOf" srcId="{39A32F5E-83E0-4531-928D-04CD410D14CB}" destId="{6BC57698-F18F-4D78-8CCD-131319D1F6E4}" srcOrd="8" destOrd="0" presId="urn:microsoft.com/office/officeart/2005/8/layout/cycle8"/>
    <dgm:cxn modelId="{0D44E202-B41F-480B-93B8-4BBD91EA9405}" type="presParOf" srcId="{39A32F5E-83E0-4531-928D-04CD410D14CB}" destId="{DCB152B8-A484-4273-A720-ADB24A55C361}" srcOrd="9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2392041" cy="2392041"/>
        <a:chOff x="0" y="0"/>
        <a:chExt cx="2392041" cy="2392041"/>
      </a:xfrm>
      <a:scene3d>
        <a:camera prst="orthographicFront"/>
        <a:lightRig rig="threePt" dir="t"/>
      </a:scene3d>
    </dsp:grpSpPr>
    <dsp:sp modelId="{370C1602-139B-4022-A42C-44999876003F}">
      <dsp:nvSpPr>
        <dsp:cNvPr id="3" name="饼形 2"/>
        <dsp:cNvSpPr/>
      </dsp:nvSpPr>
      <dsp:spPr bwMode="white">
        <a:xfrm>
          <a:off x="567184" y="173363"/>
          <a:ext cx="2009314" cy="2009314"/>
        </a:xfrm>
        <a:prstGeom prst="pie">
          <a:avLst>
            <a:gd name="adj1" fmla="val 16200000"/>
            <a:gd name="adj2" fmla="val 5400000"/>
          </a:avLst>
        </a:prstGeom>
      </dsp:spPr>
      <dsp:style>
        <a:lnRef idx="3">
          <a:schemeClr val="lt1"/>
        </a:lnRef>
        <a:fillRef idx="1">
          <a:schemeClr val="accent2">
            <a:shade val="50000"/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lIns="31750" tIns="31750" rIns="31750" bIns="31750" anchor="ctr"/>
        <a:lstStyle>
          <a:lvl1pPr algn="ctr">
            <a:defRPr sz="2500"/>
          </a:lvl1pPr>
          <a:lvl2pPr marL="171450" indent="-171450" algn="ctr">
            <a:defRPr sz="1900"/>
          </a:lvl2pPr>
          <a:lvl3pPr marL="342900" indent="-171450" algn="ctr">
            <a:defRPr sz="1900"/>
          </a:lvl3pPr>
          <a:lvl4pPr marL="514350" indent="-171450" algn="ctr">
            <a:defRPr sz="1900"/>
          </a:lvl4pPr>
          <a:lvl5pPr marL="685800" indent="-171450" algn="ctr">
            <a:defRPr sz="1900"/>
          </a:lvl5pPr>
          <a:lvl6pPr marL="857250" indent="-171450" algn="ctr">
            <a:defRPr sz="1900"/>
          </a:lvl6pPr>
          <a:lvl7pPr marL="1028700" indent="-171450" algn="ctr">
            <a:defRPr sz="1900"/>
          </a:lvl7pPr>
          <a:lvl8pPr marL="1200150" indent="-171450" algn="ctr">
            <a:defRPr sz="1900"/>
          </a:lvl8pPr>
          <a:lvl9pPr marL="1371600" indent="-171450" algn="ctr">
            <a:defRPr sz="1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/>
            <a:t>内核模式</a:t>
          </a:r>
          <a:endParaRPr lang="zh-CN" altLang="en-US" dirty="0"/>
        </a:p>
      </dsp:txBody>
      <dsp:txXfrm>
        <a:off x="567184" y="173363"/>
        <a:ext cx="2009314" cy="2009314"/>
      </dsp:txXfrm>
    </dsp:sp>
    <dsp:sp modelId="{F8E6CE58-BA72-462E-B1BC-E499F0D46610}">
      <dsp:nvSpPr>
        <dsp:cNvPr id="4" name="饼形 3"/>
        <dsp:cNvSpPr/>
      </dsp:nvSpPr>
      <dsp:spPr bwMode="white">
        <a:xfrm>
          <a:off x="471502" y="173363"/>
          <a:ext cx="2009314" cy="2009314"/>
        </a:xfrm>
        <a:prstGeom prst="pie">
          <a:avLst>
            <a:gd name="adj1" fmla="val 5400000"/>
            <a:gd name="adj2" fmla="val 16200000"/>
          </a:avLst>
        </a:prstGeom>
      </dsp:spPr>
      <dsp:style>
        <a:lnRef idx="3">
          <a:schemeClr val="lt1"/>
        </a:lnRef>
        <a:fillRef idx="1">
          <a:schemeClr val="accent2">
            <a:shade val="50000"/>
            <a:hueOff val="600000"/>
            <a:satOff val="31373"/>
            <a:lumOff val="4549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lIns="31750" tIns="31750" rIns="31750" bIns="31750" anchor="ctr"/>
        <a:lstStyle>
          <a:lvl1pPr algn="ctr">
            <a:defRPr sz="2500"/>
          </a:lvl1pPr>
          <a:lvl2pPr marL="171450" indent="-171450" algn="ctr">
            <a:defRPr sz="1900"/>
          </a:lvl2pPr>
          <a:lvl3pPr marL="342900" indent="-171450" algn="ctr">
            <a:defRPr sz="1900"/>
          </a:lvl3pPr>
          <a:lvl4pPr marL="514350" indent="-171450" algn="ctr">
            <a:defRPr sz="1900"/>
          </a:lvl4pPr>
          <a:lvl5pPr marL="685800" indent="-171450" algn="ctr">
            <a:defRPr sz="1900"/>
          </a:lvl5pPr>
          <a:lvl6pPr marL="857250" indent="-171450" algn="ctr">
            <a:defRPr sz="1900"/>
          </a:lvl6pPr>
          <a:lvl7pPr marL="1028700" indent="-171450" algn="ctr">
            <a:defRPr sz="1900"/>
          </a:lvl7pPr>
          <a:lvl8pPr marL="1200150" indent="-171450" algn="ctr">
            <a:defRPr sz="1900"/>
          </a:lvl8pPr>
          <a:lvl9pPr marL="1371600" indent="-171450" algn="ctr">
            <a:defRPr sz="1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>
              <a:solidFill>
                <a:srgbClr val="FF0000"/>
              </a:solidFill>
            </a:rPr>
            <a:t>用户模式</a:t>
          </a:r>
          <a:endParaRPr lang="zh-CN" altLang="en-US" dirty="0">
            <a:solidFill>
              <a:srgbClr val="FF0000"/>
            </a:solidFill>
          </a:endParaRPr>
        </a:p>
      </dsp:txBody>
      <dsp:txXfrm>
        <a:off x="471502" y="173363"/>
        <a:ext cx="2009314" cy="2009314"/>
      </dsp:txXfrm>
    </dsp:sp>
    <dsp:sp modelId="{6BC57698-F18F-4D78-8CCD-131319D1F6E4}">
      <dsp:nvSpPr>
        <dsp:cNvPr id="5" name="环形箭头 4"/>
        <dsp:cNvSpPr/>
      </dsp:nvSpPr>
      <dsp:spPr bwMode="white">
        <a:xfrm>
          <a:off x="456671" y="62851"/>
          <a:ext cx="2230339" cy="2230339"/>
        </a:xfrm>
        <a:prstGeom prst="circularArrow">
          <a:avLst>
            <a:gd name="adj1" fmla="val 5000"/>
            <a:gd name="adj2" fmla="val 360000"/>
            <a:gd name="adj3" fmla="val 5040000"/>
            <a:gd name="adj4" fmla="val 16200000"/>
            <a:gd name="adj5" fmla="val 5500"/>
          </a:avLst>
        </a:prstGeom>
      </dsp:spPr>
      <dsp:style>
        <a:lnRef idx="0">
          <a:schemeClr val="accent2">
            <a:shade val="90000"/>
            <a:hueOff val="0"/>
            <a:satOff val="0"/>
            <a:lumOff val="0"/>
            <a:alpha val="100000"/>
          </a:schemeClr>
        </a:lnRef>
        <a:fillRef idx="1">
          <a:schemeClr val="accent2">
            <a:shade val="90000"/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Xfrm>
        <a:off x="456671" y="62851"/>
        <a:ext cx="2230339" cy="2230339"/>
      </dsp:txXfrm>
    </dsp:sp>
    <dsp:sp modelId="{DCB152B8-A484-4273-A720-ADB24A55C361}">
      <dsp:nvSpPr>
        <dsp:cNvPr id="6" name="环形箭头 5"/>
        <dsp:cNvSpPr/>
      </dsp:nvSpPr>
      <dsp:spPr bwMode="white">
        <a:xfrm>
          <a:off x="360990" y="62851"/>
          <a:ext cx="2230339" cy="2230339"/>
        </a:xfrm>
        <a:prstGeom prst="circularArrow">
          <a:avLst>
            <a:gd name="adj1" fmla="val 5000"/>
            <a:gd name="adj2" fmla="val 360000"/>
            <a:gd name="adj3" fmla="val 15840000"/>
            <a:gd name="adj4" fmla="val 5400000"/>
            <a:gd name="adj5" fmla="val 5500"/>
          </a:avLst>
        </a:prstGeom>
      </dsp:spPr>
      <dsp:style>
        <a:lnRef idx="0">
          <a:schemeClr val="accent2">
            <a:shade val="90000"/>
            <a:hueOff val="600000"/>
            <a:satOff val="10980"/>
            <a:lumOff val="30196"/>
            <a:alpha val="100000"/>
          </a:schemeClr>
        </a:lnRef>
        <a:fillRef idx="1">
          <a:schemeClr val="accent2">
            <a:shade val="90000"/>
            <a:hueOff val="600000"/>
            <a:satOff val="10980"/>
            <a:lumOff val="30196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Xfrm>
        <a:off x="360990" y="62851"/>
        <a:ext cx="2230339" cy="22303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ar" val="1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srcNode" val="dummy1a"/>
                  <dgm:param type="dstNode" val="dummy1b"/>
                  <dgm:param type="begSty" val="arr"/>
                  <dgm:param type="endSty" val="noArr"/>
                  <dgm:param type="connRout" val="longCurve"/>
                  <dgm:param type="begPts" val="tL"/>
                  <dgm:param type="endPts" val="tR"/>
                </dgm:alg>
              </dgm:if>
              <dgm:else name="Name175">
                <dgm:alg type="conn">
                  <dgm:param type="srcNode" val="dummy1a"/>
                  <dgm:param type="dstNode" val="dummy1b"/>
                  <dgm:param type="begSty" val="noArr"/>
                  <dgm:param type="endSty" val="arr"/>
                  <dgm:param type="connRout" val="longCurve"/>
                  <dgm:param type="begPts" val="tL"/>
                  <dgm:param type="endPts" val="t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srcNode" val="dummy1a"/>
                  <dgm:param type="dstNode" val="dummy1b"/>
                  <dgm:param type="begSty" val="noArr"/>
                  <dgm:param type="endSty" val="arr"/>
                  <dgm:param type="connRout" val="curve"/>
                  <dgm:param type="begPts" val="tL"/>
                  <dgm:param type="endPts" val="tL"/>
                </dgm:alg>
              </dgm:if>
              <dgm:else name="Name180">
                <dgm:alg type="conn">
                  <dgm:param type="srcNode" val="dummy1a"/>
                  <dgm:param type="dstNode" val="dummy1b"/>
                  <dgm:param type="begSty" val="arr"/>
                  <dgm:param type="endSty" val="noArr"/>
                  <dgm:param type="connRout" val="curve"/>
                  <dgm:param type="begPts" val="tL"/>
                  <dgm:param type="endPts" val="tL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srcNode" val="dummy2a"/>
              <dgm:param type="dstNode" val="dummy2b"/>
              <dgm:param type="begSty" val="noArr"/>
              <dgm:param type="endSty" val="arr"/>
              <dgm:param type="connRout" val="curve"/>
              <dgm:param type="begPts" val="tL"/>
              <dgm:param type="endPts" val="tL"/>
            </dgm:alg>
          </dgm:if>
          <dgm:else name="Name185">
            <dgm:alg type="conn">
              <dgm:param type="srcNode" val="dummy2a"/>
              <dgm:param type="dstNode" val="dummy2b"/>
              <dgm:param type="begSty" val="arr"/>
              <dgm:param type="endSty" val="noArr"/>
              <dgm:param type="connRout" val="curve"/>
              <dgm:param type="begPts" val="tL"/>
              <dgm:param type="endPts" val="tL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srcNode" val="dummy3a"/>
              <dgm:param type="dstNode" val="dummy3b"/>
              <dgm:param type="begSty" val="noArr"/>
              <dgm:param type="endSty" val="arr"/>
              <dgm:param type="connRout" val="curve"/>
              <dgm:param type="begPts" val="tL"/>
              <dgm:param type="endPts" val="tL"/>
            </dgm:alg>
          </dgm:if>
          <dgm:else name="Name189">
            <dgm:alg type="conn">
              <dgm:param type="srcNode" val="dummy3a"/>
              <dgm:param type="dstNode" val="dummy3b"/>
              <dgm:param type="begSty" val="arr"/>
              <dgm:param type="endSty" val="noArr"/>
              <dgm:param type="connRout" val="curve"/>
              <dgm:param type="begPts" val="tL"/>
              <dgm:param type="endPts" val="tL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srcNode" val="dummy4a"/>
              <dgm:param type="dstNode" val="dummy4b"/>
              <dgm:param type="begSty" val="noArr"/>
              <dgm:param type="endSty" val="arr"/>
              <dgm:param type="connRout" val="curve"/>
              <dgm:param type="begPts" val="tL"/>
              <dgm:param type="endPts" val="tL"/>
            </dgm:alg>
          </dgm:if>
          <dgm:else name="Name193">
            <dgm:alg type="conn">
              <dgm:param type="srcNode" val="dummy4a"/>
              <dgm:param type="dstNode" val="dummy4b"/>
              <dgm:param type="begSty" val="arr"/>
              <dgm:param type="endSty" val="noArr"/>
              <dgm:param type="connRout" val="curve"/>
              <dgm:param type="begPts" val="tL"/>
              <dgm:param type="endPts" val="tL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srcNode" val="dummy5a"/>
              <dgm:param type="dstNode" val="dummy5b"/>
              <dgm:param type="begSty" val="noArr"/>
              <dgm:param type="endSty" val="arr"/>
              <dgm:param type="connRout" val="curve"/>
              <dgm:param type="begPts" val="tL"/>
              <dgm:param type="endPts" val="tL"/>
            </dgm:alg>
          </dgm:if>
          <dgm:else name="Name197">
            <dgm:alg type="conn">
              <dgm:param type="srcNode" val="dummy5a"/>
              <dgm:param type="dstNode" val="dummy5b"/>
              <dgm:param type="begSty" val="arr"/>
              <dgm:param type="endSty" val="noArr"/>
              <dgm:param type="connRout" val="curve"/>
              <dgm:param type="begPts" val="tL"/>
              <dgm:param type="endPts" val="tL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srcNode" val="dummy6a"/>
              <dgm:param type="dstNode" val="dummy6b"/>
              <dgm:param type="begSty" val="noArr"/>
              <dgm:param type="endSty" val="arr"/>
              <dgm:param type="connRout" val="curve"/>
              <dgm:param type="begPts" val="tL"/>
              <dgm:param type="endPts" val="tL"/>
            </dgm:alg>
          </dgm:if>
          <dgm:else name="Name201">
            <dgm:alg type="conn">
              <dgm:param type="srcNode" val="dummy6a"/>
              <dgm:param type="dstNode" val="dummy6b"/>
              <dgm:param type="begSty" val="arr"/>
              <dgm:param type="endSty" val="noArr"/>
              <dgm:param type="connRout" val="curve"/>
              <dgm:param type="begPts" val="tL"/>
              <dgm:param type="endPts" val="tL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srcNode" val="dummy7a"/>
              <dgm:param type="dstNode" val="dummy7b"/>
              <dgm:param type="begSty" val="noArr"/>
              <dgm:param type="endSty" val="arr"/>
              <dgm:param type="connRout" val="curve"/>
              <dgm:param type="begPts" val="tL"/>
              <dgm:param type="endPts" val="tL"/>
            </dgm:alg>
          </dgm:if>
          <dgm:else name="Name205">
            <dgm:alg type="conn">
              <dgm:param type="srcNode" val="dummy7a"/>
              <dgm:param type="dstNode" val="dummy7b"/>
              <dgm:param type="begSty" val="arr"/>
              <dgm:param type="endSty" val="noArr"/>
              <dgm:param type="connRout" val="curve"/>
              <dgm:param type="begPts" val="tL"/>
              <dgm:param type="endPts" val="tL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31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31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F85E986-BF07-4DBB-A864-73FB6E3D00A5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11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2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11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11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11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ADFBD2F-CD4B-4D4B-99DA-E8435E23DBA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536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Good afternoon. I’m </a:t>
            </a:r>
            <a:r>
              <a:rPr kumimoji="1" lang="en-US" alt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Peifeng</a:t>
            </a:r>
            <a:r>
              <a:rPr kumimoji="1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Li, from Soochow university, China.</a:t>
            </a:r>
            <a:endParaRPr kumimoji="1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I’m glad to be here to present our </a:t>
            </a:r>
            <a:r>
              <a:rPr kumimoji="1" lang="en-US" alt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paper“</a:t>
            </a:r>
            <a:r>
              <a:rPr kumimoji="1" lang="en-US" alt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Argument</a:t>
            </a:r>
            <a:r>
              <a:rPr kumimoji="1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Inference from Relevant Event Mentions in Chinese Argument Extraction</a:t>
            </a:r>
            <a:r>
              <a:rPr kumimoji="1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”, which focuses on how to use the relationship among relevant event mentions to extract the arguments for Chinese events.</a:t>
            </a:r>
            <a:endParaRPr kumimoji="1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536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Good afternoon. I’m </a:t>
            </a:r>
            <a:r>
              <a:rPr kumimoji="1" lang="en-US" alt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Peifeng</a:t>
            </a:r>
            <a:r>
              <a:rPr kumimoji="1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Li, from Soochow university, China.</a:t>
            </a:r>
            <a:endParaRPr kumimoji="1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I’m glad to be here to present our </a:t>
            </a:r>
            <a:r>
              <a:rPr kumimoji="1" lang="en-US" alt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paper“</a:t>
            </a:r>
            <a:r>
              <a:rPr kumimoji="1" lang="en-US" alt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Argument</a:t>
            </a:r>
            <a:r>
              <a:rPr kumimoji="1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Inference from Relevant Event Mentions in Chinese Argument Extraction</a:t>
            </a:r>
            <a:r>
              <a:rPr kumimoji="1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”, which focuses on how to use the relationship among relevant event mentions to extract the arguments for Chinese events.</a:t>
            </a:r>
            <a:endParaRPr kumimoji="1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536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536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1373188" y="1066800"/>
            <a:ext cx="7237412" cy="19812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38243" name="Rectangle 3"/>
          <p:cNvSpPr>
            <a:spLocks noGrp="1" noRot="1" noChangeArrowheads="1"/>
          </p:cNvSpPr>
          <p:nvPr>
            <p:ph type="subTitle" idx="1"/>
          </p:nvPr>
        </p:nvSpPr>
        <p:spPr bwMode="auto">
          <a:xfrm>
            <a:off x="2173288" y="3494088"/>
            <a:ext cx="5535612" cy="2284412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22" tIns="45711" rIns="91422" bIns="45711" numCol="1" anchor="t" anchorCtr="0" compatLnSpc="1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51FB784-B9FC-4F44-882B-83BDEED0C21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51FB784-B9FC-4F44-882B-83BDEED0C21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3B438EA-3EBA-43EA-A4D0-32F4BF786235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67C7-FFB6-45B8-AF6D-2BDE2A9EE8D2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33AED84-1230-4CAA-A33E-B29A9477B9B0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51FB784-B9FC-4F44-882B-83BDEED0C21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7D5397A-B985-47C5-864E-C2E8265149BD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AEAB0E3-C71F-4042-A9AF-89B2307A39C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506EC86-FDCB-4C4E-82C0-8BD4A309CFD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688975"/>
            <a:ext cx="2057400" cy="54371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88975"/>
            <a:ext cx="6019800" cy="54371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B1E943-8401-479E-99F2-76BD96339774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688975"/>
            <a:ext cx="8229600" cy="54371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8A62D2D-54E8-4B33-8B0E-2084143DBB46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97013" y="688975"/>
            <a:ext cx="6642100" cy="5873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C04F4E9-F213-4C90-9AF6-DEA836AF722F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1373188" y="1066800"/>
            <a:ext cx="7237412" cy="19812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38243" name="Rectangle 3"/>
          <p:cNvSpPr>
            <a:spLocks noGrp="1" noRot="1" noChangeArrowheads="1"/>
          </p:cNvSpPr>
          <p:nvPr>
            <p:ph type="subTitle" idx="1"/>
          </p:nvPr>
        </p:nvSpPr>
        <p:spPr bwMode="auto">
          <a:xfrm>
            <a:off x="2173288" y="3494088"/>
            <a:ext cx="5535612" cy="2284412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22" tIns="45711" rIns="91422" bIns="45711" numCol="1" anchor="t" anchorCtr="0" compatLnSpc="1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51FB784-B9FC-4F44-882B-83BDEED0C21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51FB784-B9FC-4F44-882B-83BDEED0C21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3B438EA-3EBA-43EA-A4D0-32F4BF786235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67C7-FFB6-45B8-AF6D-2BDE2A9EE8D2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33AED84-1230-4CAA-A33E-B29A9477B9B0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51FB784-B9FC-4F44-882B-83BDEED0C21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7D5397A-B985-47C5-864E-C2E8265149BD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AEAB0E3-C71F-4042-A9AF-89B2307A39C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506EC86-FDCB-4C4E-82C0-8BD4A309CFD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688975"/>
            <a:ext cx="2057400" cy="54371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88975"/>
            <a:ext cx="6019800" cy="54371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B1E943-8401-479E-99F2-76BD96339774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688975"/>
            <a:ext cx="8229600" cy="54371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8A62D2D-54E8-4B33-8B0E-2084143DBB46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97013" y="688975"/>
            <a:ext cx="6642100" cy="5873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22" tIns="45711" rIns="91422" bIns="45711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C04F4E9-F213-4C90-9AF6-DEA836AF722F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6237288"/>
            <a:ext cx="2895600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苏州大学计算机科学与技术学院</a:t>
            </a: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2"/>
          </p:nvPr>
        </p:nvSpPr>
        <p:spPr>
          <a:xfrm>
            <a:off x="539750" y="6237288"/>
            <a:ext cx="2289175" cy="4762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5" Type="http://schemas.openxmlformats.org/officeDocument/2006/relationships/theme" Target="../theme/theme2.xml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 noRot="1"/>
          </p:cNvSpPr>
          <p:nvPr>
            <p:ph type="title"/>
          </p:nvPr>
        </p:nvSpPr>
        <p:spPr>
          <a:xfrm>
            <a:off x="1497013" y="688975"/>
            <a:ext cx="6642100" cy="587375"/>
          </a:xfrm>
          <a:prstGeom prst="rect">
            <a:avLst/>
          </a:prstGeom>
          <a:noFill/>
          <a:ln w="9525">
            <a:noFill/>
          </a:ln>
        </p:spPr>
        <p:txBody>
          <a:bodyPr lIns="91422" tIns="45711" rIns="91422" bIns="45711" anchor="ctr" anchorCtr="0"/>
          <a:p>
            <a:pPr lvl="0"/>
            <a:r>
              <a:rPr lang="zh-CN" altLang="en-US" dirty="0"/>
              <a:t>单击编辑母版标题样式</a:t>
            </a:r>
            <a:endParaRPr lang="zh-CN" altLang="en-US" dirty="0"/>
          </a:p>
        </p:txBody>
      </p:sp>
      <p:sp>
        <p:nvSpPr>
          <p:cNvPr id="13722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t" anchorCtr="0" compatLnSpc="1"/>
          <a:lstStyle>
            <a:lvl1pPr algn="r" eaLnBrk="1" hangingPunct="1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51FB784-B9FC-4F44-882B-83BDEED0C21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Line 6"/>
          <p:cNvSpPr/>
          <p:nvPr/>
        </p:nvSpPr>
        <p:spPr>
          <a:xfrm>
            <a:off x="450850" y="1406525"/>
            <a:ext cx="8302625" cy="0"/>
          </a:xfrm>
          <a:prstGeom prst="line">
            <a:avLst/>
          </a:prstGeom>
          <a:ln w="28575" cap="flat" cmpd="sng">
            <a:solidFill>
              <a:srgbClr val="FF6600"/>
            </a:solidFill>
            <a:prstDash val="solid"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/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v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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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 noRot="1"/>
          </p:cNvSpPr>
          <p:nvPr>
            <p:ph type="title"/>
          </p:nvPr>
        </p:nvSpPr>
        <p:spPr>
          <a:xfrm>
            <a:off x="1497013" y="688975"/>
            <a:ext cx="6642100" cy="587375"/>
          </a:xfrm>
          <a:prstGeom prst="rect">
            <a:avLst/>
          </a:prstGeom>
          <a:noFill/>
          <a:ln w="9525">
            <a:noFill/>
          </a:ln>
        </p:spPr>
        <p:txBody>
          <a:bodyPr lIns="91422" tIns="45711" rIns="91422" bIns="45711" anchor="ctr" anchorCtr="0"/>
          <a:p>
            <a:pPr lvl="0"/>
            <a:r>
              <a:rPr lang="zh-CN" altLang="en-US" dirty="0"/>
              <a:t>单击编辑母版标题样式</a:t>
            </a:r>
            <a:endParaRPr lang="zh-CN" altLang="en-US" dirty="0"/>
          </a:p>
        </p:txBody>
      </p:sp>
      <p:sp>
        <p:nvSpPr>
          <p:cNvPr id="13722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55875" y="6237288"/>
            <a:ext cx="229076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t" anchorCtr="0" compatLnSpc="1"/>
          <a:lstStyle>
            <a:lvl1pPr algn="r" eaLnBrk="1" hangingPunct="1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51FB784-B9FC-4F44-882B-83BDEED0C21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Line 6"/>
          <p:cNvSpPr/>
          <p:nvPr/>
        </p:nvSpPr>
        <p:spPr>
          <a:xfrm>
            <a:off x="450850" y="1406525"/>
            <a:ext cx="8302625" cy="0"/>
          </a:xfrm>
          <a:prstGeom prst="line">
            <a:avLst/>
          </a:prstGeom>
          <a:ln w="28575" cap="flat" cmpd="sng">
            <a:solidFill>
              <a:srgbClr val="FF6600"/>
            </a:solidFill>
            <a:prstDash val="solid"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ransition/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Arial" panose="020B0604020202020204" pitchFamily="34" charset="0"/>
          <a:ea typeface="华文新魏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v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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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5.xml"/><Relationship Id="rId6" Type="http://schemas.openxmlformats.org/officeDocument/2006/relationships/tags" Target="../tags/tag5.xml"/><Relationship Id="rId5" Type="http://schemas.openxmlformats.org/officeDocument/2006/relationships/image" Target="../media/image2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5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hemeOverride" Target="../theme/themeOverride2.xml"/><Relationship Id="rId4" Type="http://schemas.openxmlformats.org/officeDocument/2006/relationships/image" Target="../media/image8.jpeg"/><Relationship Id="rId3" Type="http://schemas.openxmlformats.org/officeDocument/2006/relationships/hyperlink" Target="http://detail.zol.com.cn/picture_index_821/index8207636.shtml" TargetMode="External"/><Relationship Id="rId2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28.png"/><Relationship Id="rId12" Type="http://schemas.openxmlformats.org/officeDocument/2006/relationships/image" Target="../media/image27.png"/><Relationship Id="rId11" Type="http://schemas.openxmlformats.org/officeDocument/2006/relationships/image" Target="../media/image26.png"/><Relationship Id="rId10" Type="http://schemas.openxmlformats.org/officeDocument/2006/relationships/image" Target="../media/image25.jpeg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8" Type="http://schemas.openxmlformats.org/officeDocument/2006/relationships/image" Target="../media/image40.png"/><Relationship Id="rId7" Type="http://schemas.openxmlformats.org/officeDocument/2006/relationships/image" Target="../media/image39.png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8" Type="http://schemas.openxmlformats.org/officeDocument/2006/relationships/image" Target="../media/image40.png"/><Relationship Id="rId7" Type="http://schemas.openxmlformats.org/officeDocument/2006/relationships/image" Target="../media/image39.png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5.jpeg"/><Relationship Id="rId1" Type="http://schemas.openxmlformats.org/officeDocument/2006/relationships/image" Target="../media/image44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7.jpeg"/><Relationship Id="rId1" Type="http://schemas.openxmlformats.org/officeDocument/2006/relationships/image" Target="../media/image46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1" Type="http://schemas.openxmlformats.org/officeDocument/2006/relationships/image" Target="../media/image48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1.jpeg"/><Relationship Id="rId1" Type="http://schemas.openxmlformats.org/officeDocument/2006/relationships/image" Target="../media/image50.png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4.jpeg"/><Relationship Id="rId4" Type="http://schemas.openxmlformats.org/officeDocument/2006/relationships/image" Target="../media/image53.jpeg"/><Relationship Id="rId3" Type="http://schemas.openxmlformats.org/officeDocument/2006/relationships/hyperlink" Target="http://images.google.com/imgres?imgurl=http://www.itnewsonline.com/images/news/Intel-Core-2-Extreme-processor-QX9775.jpg&amp;imgrefurl=http://www.itnewsonline.com/showstory.php%3Fstoryid%3D11795%26scatid%3D3%26contid%3D3&amp;h=362&amp;w=400&amp;sz=19&amp;hl=en&amp;start=17&amp;tbnid=COsCtvVmSX-3VM:&amp;tbnh=112&amp;tbnw=124&amp;prev=/images%3Fq%3Dintel%2Bdual%2Bprocessor%26gbv%3D2%26hl%3Den" TargetMode="External"/><Relationship Id="rId2" Type="http://schemas.openxmlformats.org/officeDocument/2006/relationships/image" Target="../media/image52.jpeg"/><Relationship Id="rId1" Type="http://schemas.openxmlformats.org/officeDocument/2006/relationships/hyperlink" Target="http://images.google.com/imgres?imgurl=http://download.intel.com/pressroom/kits/pentiumee/pentiumee_processor_front.jpg&amp;imgrefurl=http://www.intel.com/pressroom/kits/pentiumee/index.htm&amp;h=1375&amp;w=1500&amp;sz=595&amp;hl=en&amp;start=2&amp;tbnid=wUqVsUbmOw8oEM:&amp;tbnh=138&amp;tbnw=150&amp;prev=/images%3Fq%3Dprocessor%26gbv%3D2%26hl%3Den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6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7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0.jpeg"/><Relationship Id="rId2" Type="http://schemas.openxmlformats.org/officeDocument/2006/relationships/image" Target="../media/image59.png"/><Relationship Id="rId1" Type="http://schemas.openxmlformats.org/officeDocument/2006/relationships/image" Target="../media/image58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2.jpeg"/><Relationship Id="rId1" Type="http://schemas.openxmlformats.org/officeDocument/2006/relationships/image" Target="../media/image61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3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1" Type="http://schemas.openxmlformats.org/officeDocument/2006/relationships/image" Target="../media/image64.jpe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6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7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8.jpeg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1.jpeg"/><Relationship Id="rId2" Type="http://schemas.openxmlformats.org/officeDocument/2006/relationships/image" Target="../media/image70.jpeg"/><Relationship Id="rId1" Type="http://schemas.openxmlformats.org/officeDocument/2006/relationships/image" Target="../media/image69.jpe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1042988" y="692785"/>
            <a:ext cx="6642100" cy="587375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注意事项</a:t>
            </a:r>
            <a:endParaRPr lang="zh-CN" altLang="en-US" dirty="0"/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38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sp>
        <p:nvSpPr>
          <p:cNvPr id="2" name="文本框 1"/>
          <p:cNvSpPr txBox="1"/>
          <p:nvPr/>
        </p:nvSpPr>
        <p:spPr>
          <a:xfrm>
            <a:off x="611505" y="1557020"/>
            <a:ext cx="82067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solidFill>
                  <a:srgbClr val="000000"/>
                </a:solidFill>
              </a:rPr>
              <a:t>本课程为考试课，期末总评成绩暂定：期末</a:t>
            </a:r>
            <a:r>
              <a:rPr lang="en-US" altLang="zh-CN">
                <a:solidFill>
                  <a:srgbClr val="000000"/>
                </a:solidFill>
              </a:rPr>
              <a:t>50%+</a:t>
            </a:r>
            <a:r>
              <a:rPr lang="zh-CN" altLang="en-US">
                <a:solidFill>
                  <a:srgbClr val="000000"/>
                </a:solidFill>
              </a:rPr>
              <a:t>期中</a:t>
            </a:r>
            <a:r>
              <a:rPr lang="en-US" altLang="zh-CN">
                <a:solidFill>
                  <a:srgbClr val="000000"/>
                </a:solidFill>
              </a:rPr>
              <a:t>30%+</a:t>
            </a:r>
            <a:r>
              <a:rPr lang="zh-CN" altLang="en-US">
                <a:solidFill>
                  <a:srgbClr val="000000"/>
                </a:solidFill>
              </a:rPr>
              <a:t>实验</a:t>
            </a:r>
            <a:r>
              <a:rPr lang="en-US" altLang="zh-CN">
                <a:solidFill>
                  <a:srgbClr val="000000"/>
                </a:solidFill>
              </a:rPr>
              <a:t>10%+</a:t>
            </a:r>
            <a:r>
              <a:rPr lang="zh-CN" altLang="en-US">
                <a:solidFill>
                  <a:srgbClr val="000000"/>
                </a:solidFill>
              </a:rPr>
              <a:t>平时</a:t>
            </a:r>
            <a:r>
              <a:rPr lang="en-US" altLang="zh-CN">
                <a:solidFill>
                  <a:srgbClr val="000000"/>
                </a:solidFill>
              </a:rPr>
              <a:t>10%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683260" y="2348865"/>
            <a:ext cx="82067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solidFill>
                  <a:srgbClr val="000000"/>
                </a:solidFill>
              </a:rPr>
              <a:t>考勤要求：</a:t>
            </a:r>
            <a:r>
              <a:rPr lang="zh-CN" altLang="en-US">
                <a:solidFill>
                  <a:srgbClr val="FF0000"/>
                </a:solidFill>
              </a:rPr>
              <a:t>非请假情况下缺勤</a:t>
            </a:r>
            <a:r>
              <a:rPr lang="en-US" altLang="zh-CN">
                <a:solidFill>
                  <a:srgbClr val="FF0000"/>
                </a:solidFill>
              </a:rPr>
              <a:t>3</a:t>
            </a:r>
            <a:r>
              <a:rPr lang="zh-CN" altLang="en-US">
                <a:solidFill>
                  <a:srgbClr val="FF0000"/>
                </a:solidFill>
              </a:rPr>
              <a:t>次及以上</a:t>
            </a:r>
            <a:r>
              <a:rPr lang="zh-CN" altLang="en-US">
                <a:solidFill>
                  <a:srgbClr val="000000"/>
                </a:solidFill>
              </a:rPr>
              <a:t>，不允许参加期末考试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83895" y="2997200"/>
            <a:ext cx="82067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solidFill>
                  <a:srgbClr val="000000"/>
                </a:solidFill>
              </a:rPr>
              <a:t>课堂纪律：不鼓励课上学习其他课程，不允许上课刷视频、打游戏，上课不允许戴耳机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755650" y="3761105"/>
            <a:ext cx="82067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solidFill>
                  <a:srgbClr val="000000"/>
                </a:solidFill>
              </a:rPr>
              <a:t>可加入本课程交流群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339975" y="5173345"/>
            <a:ext cx="4380865" cy="772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buFont typeface="Wingdings" panose="05000000000000000000" charset="0"/>
            </a:pP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授课老师：程志鹏</a:t>
            </a:r>
            <a:r>
              <a:rPr lang="en-US" altLang="zh-CN">
                <a:solidFill>
                  <a:srgbClr val="FF0000"/>
                </a:solidFill>
              </a:rPr>
              <a:t>          </a:t>
            </a:r>
            <a:r>
              <a:rPr lang="zh-CN" altLang="en-US">
                <a:solidFill>
                  <a:srgbClr val="FF0000"/>
                </a:solidFill>
              </a:rPr>
              <a:t>未来楼</a:t>
            </a:r>
            <a:r>
              <a:rPr lang="en-US" altLang="zh-CN">
                <a:solidFill>
                  <a:srgbClr val="FF0000"/>
                </a:solidFill>
              </a:rPr>
              <a:t>602 13906043271   zpcheng@suda.edu.cn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1965" y="2781300"/>
            <a:ext cx="3328035" cy="376301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683260" y="4364990"/>
            <a:ext cx="82067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solidFill>
                  <a:srgbClr val="000000"/>
                </a:solidFill>
              </a:rPr>
              <a:t>对同学的期待：期末不要有人挂科，</a:t>
            </a:r>
            <a:endParaRPr lang="zh-CN" altLang="en-US">
              <a:solidFill>
                <a:srgbClr val="000000"/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solidFill>
                  <a:srgbClr val="000000"/>
                </a:solidFill>
              </a:rPr>
              <a:t>期末卷面不低于</a:t>
            </a:r>
            <a:r>
              <a:rPr lang="en-US" altLang="zh-CN">
                <a:solidFill>
                  <a:srgbClr val="000000"/>
                </a:solidFill>
              </a:rPr>
              <a:t>50</a:t>
            </a:r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1042988" y="692785"/>
            <a:ext cx="6642100" cy="587375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本课程教学目标</a:t>
            </a:r>
            <a:endParaRPr lang="zh-CN" altLang="en-US" dirty="0"/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38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sp>
        <p:nvSpPr>
          <p:cNvPr id="2" name="文本框 1"/>
          <p:cNvSpPr txBox="1"/>
          <p:nvPr/>
        </p:nvSpPr>
        <p:spPr>
          <a:xfrm>
            <a:off x="611505" y="1557020"/>
            <a:ext cx="82067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solidFill>
                  <a:srgbClr val="000000"/>
                </a:solidFill>
              </a:rPr>
              <a:t>掌握计算机操作系统</a:t>
            </a:r>
            <a:r>
              <a:rPr lang="zh-CN" altLang="en-US">
                <a:solidFill>
                  <a:srgbClr val="FF0000"/>
                </a:solidFill>
              </a:rPr>
              <a:t>基本原理及组成结构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11505" y="2132965"/>
            <a:ext cx="82067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800">
                <a:solidFill>
                  <a:srgbClr val="000000"/>
                </a:solidFill>
              </a:rPr>
              <a:t>掌握计算机操作系统的</a:t>
            </a:r>
            <a:r>
              <a:rPr lang="zh-CN" altLang="en-US" sz="1800">
                <a:solidFill>
                  <a:srgbClr val="FF0000"/>
                </a:solidFill>
              </a:rPr>
              <a:t>基本概念和相关名词及术语</a:t>
            </a:r>
            <a:endParaRPr lang="zh-CN" altLang="en-US" sz="180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611505" y="2708910"/>
            <a:ext cx="82067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800">
                <a:solidFill>
                  <a:srgbClr val="000000"/>
                </a:solidFill>
              </a:rPr>
              <a:t>理解操作系统</a:t>
            </a:r>
            <a:r>
              <a:rPr lang="zh-CN" altLang="en-US" sz="1800">
                <a:solidFill>
                  <a:srgbClr val="FF0000"/>
                </a:solidFill>
              </a:rPr>
              <a:t>各组成部分之间的关系</a:t>
            </a:r>
            <a:r>
              <a:rPr lang="zh-CN" altLang="en-US" sz="1800">
                <a:solidFill>
                  <a:srgbClr val="000000"/>
                </a:solidFill>
              </a:rPr>
              <a:t>、总体结构和综合工作原理</a:t>
            </a:r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611505" y="3354070"/>
            <a:ext cx="82067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800">
                <a:solidFill>
                  <a:srgbClr val="000000"/>
                </a:solidFill>
              </a:rPr>
              <a:t>了解计算机操作系统的发展特点、设计技巧和方法</a:t>
            </a:r>
            <a:endParaRPr lang="zh-CN" altLang="en-US" sz="1800"/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611505" y="3933190"/>
            <a:ext cx="82067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800">
                <a:solidFill>
                  <a:srgbClr val="000000"/>
                </a:solidFill>
              </a:rPr>
              <a:t>培养学生分析、修改和设计操作系统的能力</a:t>
            </a:r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683260" y="4512310"/>
            <a:ext cx="82067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800">
                <a:solidFill>
                  <a:srgbClr val="000000"/>
                </a:solidFill>
              </a:rPr>
              <a:t>对常用计算机操作系统会进行基本的操作使用</a:t>
            </a:r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611505" y="5229225"/>
            <a:ext cx="82067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Font typeface="Wingdings" panose="05000000000000000000" charset="0"/>
            </a:pPr>
            <a:r>
              <a:rPr lang="zh-CN" altLang="en-US" sz="1800">
                <a:solidFill>
                  <a:srgbClr val="000000"/>
                </a:solidFill>
              </a:rPr>
              <a:t>本课程相关前置课程或内容：计算机组成原理（微机原理）、数据结构、</a:t>
            </a:r>
            <a:r>
              <a:rPr lang="en-US" altLang="zh-CN" sz="1800">
                <a:solidFill>
                  <a:srgbClr val="000000"/>
                </a:solidFill>
              </a:rPr>
              <a:t>C/C++</a:t>
            </a:r>
            <a:endParaRPr lang="en-US" altLang="zh-CN" sz="1800">
              <a:solidFill>
                <a:srgbClr val="000000"/>
              </a:solidFill>
            </a:endParaRPr>
          </a:p>
          <a:p>
            <a:pPr>
              <a:buFont typeface="Wingdings" panose="05000000000000000000" charset="0"/>
            </a:pPr>
            <a:r>
              <a:rPr lang="zh-CN" altLang="en-US" sz="1800">
                <a:solidFill>
                  <a:srgbClr val="000000"/>
                </a:solidFill>
              </a:rPr>
              <a:t>汇编语言</a:t>
            </a:r>
            <a:endParaRPr lang="zh-CN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179388" y="1773238"/>
            <a:ext cx="8497888" cy="1981200"/>
          </a:xfrm>
        </p:spPr>
        <p:txBody>
          <a:bodyPr vert="horz" wrap="square" lIns="91422" tIns="45711" rIns="91422" bIns="45711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  </a:t>
            </a: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第</a:t>
            </a:r>
            <a:r>
              <a:rPr kumimoji="0" lang="zh-CN" alt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一</a:t>
            </a: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章 导论（一）</a:t>
            </a:r>
            <a:br>
              <a:rPr kumimoji="0" lang="zh-CN" altLang="en-US" sz="5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br>
              <a:rPr kumimoji="0" lang="en-US" altLang="zh-CN" sz="5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什么是操作系统</a:t>
            </a:r>
            <a:endParaRPr kumimoji="0" lang="zh-CN" altLang="en-US" sz="5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advTm="9139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内容</a:t>
            </a:r>
            <a:endParaRPr lang="zh-CN" altLang="en-US" dirty="0"/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操作系统目的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操作系统定义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计算机硬件结构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操作系统启动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38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如果没有操作系统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p:pic>
        <p:nvPicPr>
          <p:cNvPr id="17411" name="Picture 4" descr="m_h032026_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333" y="4589463"/>
            <a:ext cx="3081337" cy="2105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963" y="4586288"/>
            <a:ext cx="3135312" cy="2105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3" name="Picture 4" descr="http://s4.sinaimg.cn/orignal/4a8f0db5731d0b6b50b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800" y="1557338"/>
            <a:ext cx="2854325" cy="27511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1087438" y="620713"/>
            <a:ext cx="8077200" cy="609600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计算机系统的</a:t>
            </a:r>
            <a:r>
              <a:rPr lang="en-US" altLang="zh-CN" dirty="0"/>
              <a:t>4</a:t>
            </a:r>
            <a:r>
              <a:rPr lang="zh-CN" altLang="en-US" dirty="0"/>
              <a:t>个部分</a:t>
            </a:r>
            <a:endParaRPr lang="zh-CN" altLang="en-US" dirty="0"/>
          </a:p>
        </p:txBody>
      </p:sp>
      <p:pic>
        <p:nvPicPr>
          <p:cNvPr id="18435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7813" y="1557338"/>
            <a:ext cx="5695950" cy="4676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1403350" y="692150"/>
            <a:ext cx="8077200" cy="609600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操作系统的目标</a:t>
            </a:r>
            <a:endParaRPr lang="en-US" altLang="zh-CN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876300" y="1581150"/>
            <a:ext cx="7029450" cy="4943475"/>
          </a:xfr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管理计算机硬件的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程序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在用户和计算机硬件间的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中介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操作系统的目标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运行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用户程序 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---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核心目标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更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方便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使用计算机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---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面向用户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更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高效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使用计算机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---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面向系统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不同用户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系统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阶段有不同侧重点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早期：高效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目前：方便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用户视角</a:t>
            </a:r>
            <a:endParaRPr lang="zh-CN" altLang="en-US" dirty="0"/>
          </a:p>
        </p:txBody>
      </p:sp>
      <p:sp>
        <p:nvSpPr>
          <p:cNvPr id="20483" name="内容占位符 2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p>
            <a:r>
              <a:rPr lang="zh-CN" altLang="en-US" dirty="0"/>
              <a:t>不同用户，不同视角</a:t>
            </a:r>
            <a:endParaRPr lang="en-US" altLang="zh-CN" dirty="0"/>
          </a:p>
          <a:p>
            <a:pPr lvl="1"/>
            <a:r>
              <a:rPr lang="en-US" altLang="zh-CN" b="1" dirty="0"/>
              <a:t>PC</a:t>
            </a:r>
            <a:r>
              <a:rPr lang="zh-CN" altLang="en-US" b="1" dirty="0"/>
              <a:t>用户</a:t>
            </a:r>
            <a:r>
              <a:rPr lang="zh-CN" altLang="en-US" dirty="0"/>
              <a:t>：方便、易用、高性能、不关心资源利用率</a:t>
            </a:r>
            <a:endParaRPr lang="en-US" altLang="zh-CN" dirty="0"/>
          </a:p>
          <a:p>
            <a:pPr lvl="1"/>
            <a:r>
              <a:rPr lang="zh-CN" altLang="en-US" b="1" dirty="0"/>
              <a:t>主机用户</a:t>
            </a:r>
            <a:r>
              <a:rPr lang="zh-CN" altLang="en-US" dirty="0"/>
              <a:t>：满足所有用户</a:t>
            </a:r>
            <a:r>
              <a:rPr lang="en-US" altLang="zh-CN" dirty="0"/>
              <a:t>-</a:t>
            </a:r>
            <a:r>
              <a:rPr lang="zh-CN" altLang="en-US" dirty="0"/>
              <a:t>资源利用率</a:t>
            </a:r>
            <a:endParaRPr lang="en-US" altLang="zh-CN" dirty="0"/>
          </a:p>
          <a:p>
            <a:pPr lvl="1"/>
            <a:r>
              <a:rPr lang="zh-CN" altLang="en-US" b="1" dirty="0"/>
              <a:t>工作站用户</a:t>
            </a:r>
            <a:r>
              <a:rPr lang="zh-CN" altLang="en-US" dirty="0"/>
              <a:t>：性能和资源利用率折中</a:t>
            </a:r>
            <a:endParaRPr lang="en-US" altLang="zh-CN" dirty="0"/>
          </a:p>
          <a:p>
            <a:pPr lvl="1"/>
            <a:r>
              <a:rPr lang="zh-CN" altLang="en-US" b="1" dirty="0"/>
              <a:t>手持设备用户</a:t>
            </a:r>
            <a:r>
              <a:rPr lang="zh-CN" altLang="en-US" dirty="0"/>
              <a:t>：方便、电池续航时间</a:t>
            </a:r>
            <a:endParaRPr lang="en-US" altLang="zh-CN" dirty="0"/>
          </a:p>
          <a:p>
            <a:pPr lvl="1"/>
            <a:r>
              <a:rPr lang="zh-CN" altLang="en-US" b="1" dirty="0"/>
              <a:t>有些计算机无用户界面</a:t>
            </a:r>
            <a:r>
              <a:rPr lang="en-US" altLang="zh-CN" dirty="0"/>
              <a:t>-</a:t>
            </a:r>
            <a:r>
              <a:rPr lang="zh-CN" altLang="en-US" dirty="0"/>
              <a:t>家电的电脑控制器</a:t>
            </a:r>
            <a:endParaRPr lang="en-US" altLang="zh-CN" dirty="0"/>
          </a:p>
          <a:p>
            <a:pPr lvl="1"/>
            <a:endParaRPr lang="zh-CN" altLang="en-US" b="1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系统视角</a:t>
            </a:r>
            <a:endParaRPr lang="zh-CN" altLang="en-US" dirty="0"/>
          </a:p>
        </p:txBody>
      </p:sp>
      <p:sp>
        <p:nvSpPr>
          <p:cNvPr id="21507" name="Rectangle 3"/>
          <p:cNvSpPr>
            <a:spLocks noGrp="1"/>
          </p:cNvSpPr>
          <p:nvPr>
            <p:ph idx="1"/>
          </p:nvPr>
        </p:nvSpPr>
        <p:spPr>
          <a:xfrm>
            <a:off x="827088" y="1028700"/>
            <a:ext cx="7308850" cy="4265613"/>
          </a:xfrm>
          <a:noFill/>
          <a:ln>
            <a:noFill/>
          </a:ln>
        </p:spPr>
        <p:txBody>
          <a:bodyPr/>
          <a:p>
            <a:pPr>
              <a:buFont typeface="Monotype Sorts" pitchFamily="2" charset="2"/>
              <a:buNone/>
            </a:pPr>
            <a:endParaRPr lang="zh-CN" altLang="en-US" dirty="0"/>
          </a:p>
          <a:p>
            <a:r>
              <a:rPr lang="en-US" altLang="zh-CN" dirty="0"/>
              <a:t>OS </a:t>
            </a:r>
            <a:r>
              <a:rPr lang="zh-CN" altLang="en-US" dirty="0"/>
              <a:t>是</a:t>
            </a:r>
            <a:r>
              <a:rPr lang="zh-CN" altLang="en-US" b="1" dirty="0">
                <a:solidFill>
                  <a:srgbClr val="C00000"/>
                </a:solidFill>
              </a:rPr>
              <a:t>资源分配器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管理所有资源</a:t>
            </a:r>
            <a:endParaRPr lang="zh-CN" altLang="en-US" dirty="0"/>
          </a:p>
          <a:p>
            <a:pPr lvl="1"/>
            <a:r>
              <a:rPr lang="zh-CN" altLang="en-US" dirty="0"/>
              <a:t>面对冲突的资源请求，决定如何分配资源，以便系统能有效公平运行</a:t>
            </a:r>
            <a:endParaRPr lang="en-US" altLang="zh-CN" dirty="0"/>
          </a:p>
          <a:p>
            <a:r>
              <a:rPr lang="en-US" altLang="zh-CN" dirty="0"/>
              <a:t>OS </a:t>
            </a:r>
            <a:r>
              <a:rPr lang="zh-CN" altLang="en-US" dirty="0"/>
              <a:t>是</a:t>
            </a:r>
            <a:r>
              <a:rPr lang="zh-CN" altLang="en-US" b="1" dirty="0">
                <a:solidFill>
                  <a:srgbClr val="C00000"/>
                </a:solidFill>
              </a:rPr>
              <a:t>控制程序</a:t>
            </a:r>
            <a:endParaRPr lang="zh-CN" altLang="en-US" b="1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管理用户程序运行，以防止计算机资源的错误使用或使用不当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971550" y="5372735"/>
            <a:ext cx="72796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由于在系统层面对操作系统的要求基本一致，这就使得绝大多数的操作系统具有共性。都包插CPU管理、内存管理、文件管理和设备管理等内容。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25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操作系统定义</a:t>
            </a:r>
            <a:endParaRPr lang="en-US" altLang="zh-CN" dirty="0"/>
          </a:p>
        </p:txBody>
      </p:sp>
      <p:sp>
        <p:nvSpPr>
          <p:cNvPr id="22531" name="Rectangle 3"/>
          <p:cNvSpPr>
            <a:spLocks noGrp="1"/>
          </p:cNvSpPr>
          <p:nvPr>
            <p:ph idx="1"/>
          </p:nvPr>
        </p:nvSpPr>
        <p:spPr>
          <a:xfrm>
            <a:off x="876300" y="1452563"/>
            <a:ext cx="7191375" cy="3133725"/>
          </a:xfrm>
          <a:noFill/>
          <a:ln>
            <a:noFill/>
          </a:ln>
        </p:spPr>
        <p:txBody>
          <a:bodyPr/>
          <a:p>
            <a:r>
              <a:rPr lang="zh-CN" altLang="en-US" dirty="0"/>
              <a:t>没有一个可广泛接受的定义</a:t>
            </a:r>
            <a:endParaRPr lang="zh-CN" altLang="en-US" dirty="0"/>
          </a:p>
          <a:p>
            <a:r>
              <a:rPr lang="en-US" altLang="zh-CN" dirty="0"/>
              <a:t>“</a:t>
            </a:r>
            <a:r>
              <a:rPr lang="zh-CN" altLang="en-US" dirty="0"/>
              <a:t>当你预定一个操作系统时零售商所装的所有东西” （</a:t>
            </a:r>
            <a:r>
              <a:rPr lang="zh-CN" altLang="zh-CN" dirty="0"/>
              <a:t>极大化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随系统不同而变化很大</a:t>
            </a:r>
            <a:endParaRPr lang="zh-CN" altLang="en-US" dirty="0"/>
          </a:p>
          <a:p>
            <a:r>
              <a:rPr lang="zh-CN" altLang="en-US" b="1" dirty="0"/>
              <a:t>内核 </a:t>
            </a:r>
            <a:r>
              <a:rPr lang="en-US" altLang="zh-CN" b="1" dirty="0"/>
              <a:t>(</a:t>
            </a:r>
            <a:r>
              <a:rPr lang="zh-CN" altLang="en-US" b="1" dirty="0"/>
              <a:t> </a:t>
            </a:r>
            <a:r>
              <a:rPr lang="en-US" altLang="zh-CN" b="1" dirty="0"/>
              <a:t>kernel)</a:t>
            </a:r>
            <a:r>
              <a:rPr lang="zh-CN" altLang="en-US" dirty="0"/>
              <a:t>才是操作系统</a:t>
            </a:r>
            <a:r>
              <a:rPr lang="en-US" altLang="zh-CN" dirty="0"/>
              <a:t>(</a:t>
            </a:r>
            <a:r>
              <a:rPr lang="zh-CN" altLang="zh-CN" dirty="0"/>
              <a:t>极</a:t>
            </a:r>
            <a:r>
              <a:rPr lang="zh-CN" altLang="en-US" dirty="0"/>
              <a:t>小</a:t>
            </a:r>
            <a:r>
              <a:rPr lang="zh-CN" altLang="zh-CN" dirty="0"/>
              <a:t>化</a:t>
            </a:r>
            <a:r>
              <a:rPr lang="en-US" altLang="zh-CN" dirty="0"/>
              <a:t>)</a:t>
            </a:r>
            <a:endParaRPr lang="en-US" altLang="zh-CN" dirty="0"/>
          </a:p>
          <a:p>
            <a:pPr lvl="1"/>
            <a:r>
              <a:rPr lang="en-US" altLang="zh-CN" dirty="0"/>
              <a:t>“</a:t>
            </a:r>
            <a:r>
              <a:rPr lang="zh-CN" altLang="en-US" dirty="0"/>
              <a:t>一直运行在计算机上的程序”</a:t>
            </a:r>
            <a:endParaRPr lang="en-US" altLang="zh-CN" dirty="0"/>
          </a:p>
          <a:p>
            <a:pPr lvl="1"/>
            <a:r>
              <a:rPr lang="zh-CN" altLang="en-US" dirty="0"/>
              <a:t>其它程序为系统程序和应用程序</a:t>
            </a:r>
            <a:endParaRPr lang="en-US" altLang="zh-CN" dirty="0"/>
          </a:p>
          <a:p>
            <a:pPr lvl="1"/>
            <a:r>
              <a:rPr lang="zh-CN" altLang="en-US" dirty="0"/>
              <a:t>内核不运行则计算机无法运行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35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现代计算机系统</a:t>
            </a:r>
            <a:endParaRPr lang="zh-CN" altLang="en-US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68313" y="1484313"/>
            <a:ext cx="8229600" cy="4525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一个或多个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CPU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和内存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若干通过总线相连的设备控制器及其设备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总线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CPU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和设备控制器可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并行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工作，并竞争内存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3556" name="Picture 4"/>
          <p:cNvPicPr>
            <a:picLocks noChangeAspect="1"/>
          </p:cNvPicPr>
          <p:nvPr/>
        </p:nvPicPr>
        <p:blipFill>
          <a:blip r:embed="rId2"/>
          <a:srcRect l="427" t="17949" r="427" b="17664"/>
          <a:stretch>
            <a:fillRect/>
          </a:stretch>
        </p:blipFill>
        <p:spPr>
          <a:xfrm>
            <a:off x="539750" y="3213100"/>
            <a:ext cx="6208713" cy="3024188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23557" name="Picture 6" descr="终极大对决! USB3.0芯片传输速度横评 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5463" y="3860800"/>
            <a:ext cx="1933575" cy="1447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计算机系统操作</a:t>
            </a:r>
            <a:endParaRPr lang="zh-CN" altLang="en-US" dirty="0"/>
          </a:p>
        </p:txBody>
      </p:sp>
      <p:sp>
        <p:nvSpPr>
          <p:cNvPr id="24579" name="Rectangle 3"/>
          <p:cNvSpPr>
            <a:spLocks noGrp="1"/>
          </p:cNvSpPr>
          <p:nvPr>
            <p:ph idx="1"/>
          </p:nvPr>
        </p:nvSpPr>
        <p:spPr>
          <a:xfrm>
            <a:off x="900113" y="1458913"/>
            <a:ext cx="7351712" cy="4483100"/>
          </a:xfrm>
          <a:noFill/>
          <a:ln>
            <a:noFill/>
          </a:ln>
        </p:spPr>
        <p:txBody>
          <a:bodyPr/>
          <a:p>
            <a:r>
              <a:rPr lang="zh-CN" altLang="en-US" sz="2400" dirty="0"/>
              <a:t>每个设备控制器有一个本地缓冲</a:t>
            </a:r>
            <a:endParaRPr lang="zh-CN" altLang="en-US" sz="2400" dirty="0"/>
          </a:p>
          <a:p>
            <a:r>
              <a:rPr lang="en-US" altLang="zh-CN" sz="2400" dirty="0"/>
              <a:t>CPU </a:t>
            </a:r>
            <a:r>
              <a:rPr lang="zh-CN" altLang="en-US" sz="2400" dirty="0"/>
              <a:t>在</a:t>
            </a:r>
            <a:r>
              <a:rPr lang="zh-CN" altLang="en-US" sz="2400" b="1" dirty="0">
                <a:solidFill>
                  <a:srgbClr val="C00000"/>
                </a:solidFill>
              </a:rPr>
              <a:t>内存和本地缓冲</a:t>
            </a:r>
            <a:r>
              <a:rPr lang="zh-CN" altLang="en-US" sz="2400" dirty="0"/>
              <a:t>之间传输数据</a:t>
            </a:r>
            <a:endParaRPr lang="en-US" altLang="zh-CN" sz="2400" dirty="0"/>
          </a:p>
          <a:p>
            <a:r>
              <a:rPr lang="en-US" altLang="zh-CN" sz="2400" dirty="0"/>
              <a:t>I/O </a:t>
            </a:r>
            <a:r>
              <a:rPr lang="zh-CN" altLang="en-US" sz="2400" dirty="0"/>
              <a:t>控制器从</a:t>
            </a:r>
            <a:r>
              <a:rPr lang="zh-CN" altLang="en-US" sz="2400" b="1" dirty="0">
                <a:solidFill>
                  <a:srgbClr val="C00000"/>
                </a:solidFill>
              </a:rPr>
              <a:t>设备到本地缓冲</a:t>
            </a:r>
            <a:r>
              <a:rPr lang="zh-CN" altLang="en-US" sz="2400" dirty="0"/>
              <a:t>之间传输数据</a:t>
            </a:r>
            <a:endParaRPr lang="en-US" altLang="zh-CN" sz="2400" dirty="0"/>
          </a:p>
          <a:p>
            <a:r>
              <a:rPr lang="zh-CN" altLang="en-US" sz="2400" dirty="0"/>
              <a:t>协作：控制器通过调用中断通知</a:t>
            </a:r>
            <a:r>
              <a:rPr lang="en-US" altLang="zh-CN" sz="2400" dirty="0"/>
              <a:t>CPU</a:t>
            </a:r>
            <a:r>
              <a:rPr lang="zh-CN" altLang="en-US" sz="2400" dirty="0"/>
              <a:t>完成操作</a:t>
            </a:r>
            <a:endParaRPr lang="en-US" altLang="zh-CN" sz="2400" dirty="0"/>
          </a:p>
        </p:txBody>
      </p:sp>
      <p:grpSp>
        <p:nvGrpSpPr>
          <p:cNvPr id="24580" name="组合 5"/>
          <p:cNvGrpSpPr/>
          <p:nvPr/>
        </p:nvGrpSpPr>
        <p:grpSpPr>
          <a:xfrm>
            <a:off x="1116013" y="3916363"/>
            <a:ext cx="6048375" cy="1541462"/>
            <a:chOff x="1115616" y="3341697"/>
            <a:chExt cx="6048672" cy="1540907"/>
          </a:xfrm>
        </p:grpSpPr>
        <p:sp>
          <p:nvSpPr>
            <p:cNvPr id="2" name="圆角矩形 1"/>
            <p:cNvSpPr/>
            <p:nvPr/>
          </p:nvSpPr>
          <p:spPr bwMode="auto">
            <a:xfrm>
              <a:off x="1115616" y="3860622"/>
              <a:ext cx="1152582" cy="1021982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内存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圆角矩形 6"/>
            <p:cNvSpPr/>
            <p:nvPr/>
          </p:nvSpPr>
          <p:spPr bwMode="auto">
            <a:xfrm>
              <a:off x="3635896" y="4014281"/>
              <a:ext cx="1152128" cy="715089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控制器缓冲器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圆角矩形 7"/>
            <p:cNvSpPr/>
            <p:nvPr/>
          </p:nvSpPr>
          <p:spPr bwMode="auto">
            <a:xfrm>
              <a:off x="6011706" y="3860622"/>
              <a:ext cx="1152582" cy="1021982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设备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586" name="左右箭头 2"/>
            <p:cNvSpPr/>
            <p:nvPr/>
          </p:nvSpPr>
          <p:spPr>
            <a:xfrm>
              <a:off x="2267744" y="4221088"/>
              <a:ext cx="1368152" cy="216024"/>
            </a:xfrm>
            <a:prstGeom prst="leftRightArrow">
              <a:avLst>
                <a:gd name="adj1" fmla="val 50000"/>
                <a:gd name="adj2" fmla="val 49992"/>
              </a:avLst>
            </a:prstGeom>
            <a:solidFill>
              <a:schemeClr val="accent1"/>
            </a:solidFill>
            <a:ln w="63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7" name="左右箭头 3"/>
            <p:cNvSpPr/>
            <p:nvPr/>
          </p:nvSpPr>
          <p:spPr>
            <a:xfrm>
              <a:off x="4788024" y="4203086"/>
              <a:ext cx="1224136" cy="252028"/>
            </a:xfrm>
            <a:prstGeom prst="leftRightArrow">
              <a:avLst>
                <a:gd name="adj1" fmla="val 50000"/>
                <a:gd name="adj2" fmla="val 50010"/>
              </a:avLst>
            </a:prstGeom>
            <a:solidFill>
              <a:schemeClr val="accent1"/>
            </a:solidFill>
            <a:ln w="63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4588" name="椭圆形标注 4"/>
            <p:cNvSpPr/>
            <p:nvPr/>
          </p:nvSpPr>
          <p:spPr>
            <a:xfrm>
              <a:off x="2688816" y="3341697"/>
              <a:ext cx="944930" cy="519351"/>
            </a:xfrm>
            <a:prstGeom prst="wedgeEllipseCallout">
              <a:avLst>
                <a:gd name="adj1" fmla="val -11403"/>
                <a:gd name="adj2" fmla="val 123403"/>
              </a:avLst>
            </a:prstGeom>
            <a:solidFill>
              <a:srgbClr val="99CC00"/>
            </a:solidFill>
            <a:ln w="63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p>
              <a:r>
                <a:rPr lang="en-US" altLang="zh-CN" dirty="0">
                  <a:solidFill>
                    <a:srgbClr val="FFFF00"/>
                  </a:solidFill>
                  <a:latin typeface="Arial" panose="020B0604020202020204" pitchFamily="34" charset="0"/>
                </a:rPr>
                <a:t>CPU</a:t>
              </a:r>
              <a:endParaRPr lang="zh-CN" altLang="en-US" dirty="0">
                <a:solidFill>
                  <a:srgbClr val="FFFF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589" name="椭圆形标注 11"/>
            <p:cNvSpPr/>
            <p:nvPr/>
          </p:nvSpPr>
          <p:spPr>
            <a:xfrm>
              <a:off x="4927627" y="3345974"/>
              <a:ext cx="1233458" cy="519351"/>
            </a:xfrm>
            <a:prstGeom prst="wedgeEllipseCallout">
              <a:avLst>
                <a:gd name="adj1" fmla="val -11403"/>
                <a:gd name="adj2" fmla="val 123403"/>
              </a:avLst>
            </a:prstGeom>
            <a:solidFill>
              <a:srgbClr val="99CC00"/>
            </a:solidFill>
            <a:ln w="63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p>
              <a:r>
                <a:rPr lang="zh-CN" altLang="en-US" dirty="0">
                  <a:solidFill>
                    <a:srgbClr val="FFFF00"/>
                  </a:solidFill>
                  <a:latin typeface="Arial" panose="020B0604020202020204" pitchFamily="34" charset="0"/>
                </a:rPr>
                <a:t>控制器</a:t>
              </a:r>
              <a:endParaRPr lang="zh-CN" altLang="en-US" dirty="0">
                <a:solidFill>
                  <a:srgbClr val="FFFF00"/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/>
          </p:cNvSpPr>
          <p:nvPr>
            <p:ph type="title"/>
          </p:nvPr>
        </p:nvSpPr>
        <p:spPr>
          <a:xfrm>
            <a:off x="1116013" y="476250"/>
            <a:ext cx="8229600" cy="882650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中断</a:t>
            </a:r>
            <a:endParaRPr lang="zh-CN" altLang="en-US" dirty="0"/>
          </a:p>
        </p:txBody>
      </p:sp>
      <p:sp>
        <p:nvSpPr>
          <p:cNvPr id="25603" name="Rectangle 3"/>
          <p:cNvSpPr>
            <a:spLocks noGrp="1"/>
          </p:cNvSpPr>
          <p:nvPr>
            <p:ph idx="1"/>
          </p:nvPr>
        </p:nvSpPr>
        <p:spPr>
          <a:xfrm>
            <a:off x="866775" y="1522413"/>
            <a:ext cx="7604125" cy="5257800"/>
          </a:xfrm>
          <a:noFill/>
          <a:ln>
            <a:noFill/>
          </a:ln>
        </p:spPr>
        <p:txBody>
          <a:bodyPr/>
          <a:p>
            <a:r>
              <a:rPr lang="zh-CN" altLang="en-US" sz="2000" b="1" dirty="0"/>
              <a:t>中断</a:t>
            </a:r>
            <a:r>
              <a:rPr lang="zh-CN" altLang="en-US" sz="2000" dirty="0"/>
              <a:t>：指当出现需要时，</a:t>
            </a:r>
            <a:r>
              <a:rPr lang="en-US" altLang="zh-CN" sz="2000" dirty="0"/>
              <a:t>CPU</a:t>
            </a:r>
            <a:r>
              <a:rPr lang="zh-CN" altLang="en-US" sz="2000" dirty="0"/>
              <a:t>暂时停止当前程序的执行，转而执行处理新情况的程序和执行过程</a:t>
            </a:r>
            <a:endParaRPr lang="en-US" altLang="zh-CN" sz="2000" dirty="0"/>
          </a:p>
          <a:p>
            <a:r>
              <a:rPr lang="zh-CN" altLang="en-US" sz="2000" b="1" dirty="0"/>
              <a:t>中断号</a:t>
            </a:r>
            <a:r>
              <a:rPr lang="zh-CN" altLang="en-US" sz="2000" dirty="0"/>
              <a:t>：外部设备进行</a:t>
            </a:r>
            <a:r>
              <a:rPr lang="en-US" altLang="zh-CN" sz="2000" dirty="0"/>
              <a:t>I/O</a:t>
            </a:r>
            <a:r>
              <a:rPr lang="zh-CN" altLang="en-US" sz="2000" dirty="0"/>
              <a:t>操作时产生的中断信号，发送给</a:t>
            </a:r>
            <a:r>
              <a:rPr lang="en-US" altLang="zh-CN" sz="2000" dirty="0"/>
              <a:t>CPU</a:t>
            </a:r>
            <a:endParaRPr lang="en-US" altLang="zh-CN" sz="2000" dirty="0"/>
          </a:p>
          <a:p>
            <a:r>
              <a:rPr lang="zh-CN" altLang="en-US" sz="2000" b="1" dirty="0"/>
              <a:t>中断向量</a:t>
            </a:r>
            <a:r>
              <a:rPr lang="zh-CN" altLang="en-US" sz="2000" dirty="0"/>
              <a:t>：中断服务程序的入口地址</a:t>
            </a:r>
            <a:endParaRPr lang="en-US" altLang="zh-CN" sz="2000" i="1" dirty="0"/>
          </a:p>
          <a:p>
            <a:r>
              <a:rPr lang="zh-CN" altLang="en-US" sz="2000" b="1" dirty="0"/>
              <a:t>中断服务程序</a:t>
            </a:r>
            <a:r>
              <a:rPr lang="zh-CN" altLang="en-US" sz="2000" dirty="0"/>
              <a:t>：执行中断处理的代码</a:t>
            </a:r>
            <a:endParaRPr lang="en-US" altLang="zh-CN" sz="2000" dirty="0"/>
          </a:p>
          <a:p>
            <a:r>
              <a:rPr lang="zh-CN" altLang="en-US" sz="2000" dirty="0"/>
              <a:t>操作系统是</a:t>
            </a:r>
            <a:r>
              <a:rPr lang="zh-CN" altLang="en-US" sz="2000" b="1" dirty="0"/>
              <a:t>中断驱动</a:t>
            </a:r>
            <a:endParaRPr lang="zh-CN" altLang="en-US" sz="2000" b="1" dirty="0"/>
          </a:p>
        </p:txBody>
      </p:sp>
      <p:pic>
        <p:nvPicPr>
          <p:cNvPr id="19460" name="Picture 5" descr="http://www.hzjsxyw.cn/uppic/51dpj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8863" y="4151313"/>
            <a:ext cx="2501900" cy="21415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1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263" y="5203825"/>
            <a:ext cx="2705100" cy="514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62" name="左箭头 1"/>
          <p:cNvSpPr/>
          <p:nvPr/>
        </p:nvSpPr>
        <p:spPr>
          <a:xfrm>
            <a:off x="4297363" y="5345113"/>
            <a:ext cx="371475" cy="115887"/>
          </a:xfrm>
          <a:prstGeom prst="leftArrow">
            <a:avLst>
              <a:gd name="adj1" fmla="val 50000"/>
              <a:gd name="adj2" fmla="val 4990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3"/>
          <a:srcRect l="763" t="18321" r="572" b="18321"/>
          <a:stretch>
            <a:fillRect/>
          </a:stretch>
        </p:blipFill>
        <p:spPr>
          <a:xfrm>
            <a:off x="2209800" y="3860800"/>
            <a:ext cx="4918075" cy="2368550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系统启动</a:t>
            </a:r>
            <a:endParaRPr lang="zh-CN" altLang="en-US" dirty="0"/>
          </a:p>
        </p:txBody>
      </p:sp>
      <p:sp>
        <p:nvSpPr>
          <p:cNvPr id="26627" name="Rectangle 3"/>
          <p:cNvSpPr>
            <a:spLocks noGrp="1"/>
          </p:cNvSpPr>
          <p:nvPr>
            <p:ph idx="1"/>
          </p:nvPr>
        </p:nvSpPr>
        <p:spPr>
          <a:xfrm>
            <a:off x="647700" y="1557338"/>
            <a:ext cx="8137525" cy="4483100"/>
          </a:xfrm>
          <a:noFill/>
          <a:ln>
            <a:noFill/>
          </a:ln>
        </p:spPr>
        <p:txBody>
          <a:bodyPr/>
          <a:p>
            <a:r>
              <a:rPr lang="zh-CN" altLang="en-US" sz="2800" b="1" dirty="0"/>
              <a:t>引导程序 </a:t>
            </a:r>
            <a:r>
              <a:rPr lang="en-US" altLang="zh-CN" sz="2800" b="1" dirty="0"/>
              <a:t>(Bootstrap program)</a:t>
            </a:r>
            <a:r>
              <a:rPr lang="zh-CN" altLang="en-US" sz="2800" dirty="0"/>
              <a:t> </a:t>
            </a:r>
            <a:endParaRPr lang="en-US" altLang="zh-CN" sz="2800" dirty="0"/>
          </a:p>
          <a:p>
            <a:pPr lvl="1"/>
            <a:r>
              <a:rPr lang="zh-CN" altLang="en-US" sz="2400" dirty="0"/>
              <a:t>在打开电源或重启时被装载</a:t>
            </a:r>
            <a:endParaRPr lang="zh-CN" altLang="en-US" sz="2400" dirty="0"/>
          </a:p>
          <a:p>
            <a:pPr lvl="1"/>
            <a:r>
              <a:rPr lang="zh-CN" altLang="en-US" sz="2400" dirty="0"/>
              <a:t>通常位于 </a:t>
            </a:r>
            <a:r>
              <a:rPr lang="en-US" altLang="zh-CN" sz="2400" dirty="0"/>
              <a:t>ROM </a:t>
            </a:r>
            <a:r>
              <a:rPr lang="zh-CN" altLang="en-US" sz="2400" dirty="0"/>
              <a:t>或</a:t>
            </a:r>
            <a:r>
              <a:rPr lang="en-US" altLang="zh-CN" sz="2400" dirty="0"/>
              <a:t>EPROM</a:t>
            </a:r>
            <a:r>
              <a:rPr lang="zh-CN" altLang="en-US" sz="2400" dirty="0"/>
              <a:t>中</a:t>
            </a:r>
            <a:r>
              <a:rPr lang="en-US" altLang="zh-CN" sz="2400" dirty="0"/>
              <a:t>, </a:t>
            </a:r>
            <a:r>
              <a:rPr lang="zh-CN" altLang="en-US" sz="2400" dirty="0"/>
              <a:t>称为 </a:t>
            </a:r>
            <a:r>
              <a:rPr lang="en-US" altLang="zh-CN" sz="2400" b="1" dirty="0"/>
              <a:t>Firmware (</a:t>
            </a:r>
            <a:r>
              <a:rPr lang="zh-CN" altLang="en-US" sz="2400" b="1" dirty="0"/>
              <a:t>固件</a:t>
            </a:r>
            <a:r>
              <a:rPr lang="en-US" altLang="zh-CN" sz="2400" b="1" dirty="0"/>
              <a:t>)</a:t>
            </a:r>
            <a:endParaRPr lang="zh-CN" altLang="en-US" sz="2400" b="1" dirty="0"/>
          </a:p>
          <a:p>
            <a:pPr lvl="1"/>
            <a:r>
              <a:rPr lang="zh-CN" altLang="en-US" sz="2400" dirty="0"/>
              <a:t>初始化所有硬件</a:t>
            </a:r>
            <a:endParaRPr lang="zh-CN" altLang="en-US" sz="2400" dirty="0"/>
          </a:p>
          <a:p>
            <a:pPr lvl="1"/>
            <a:r>
              <a:rPr lang="zh-CN" altLang="en-US" sz="2400" dirty="0"/>
              <a:t>负责装入操作系统内核并开始运行</a:t>
            </a:r>
            <a:endParaRPr lang="zh-CN" altLang="en-US" sz="2400" dirty="0"/>
          </a:p>
        </p:txBody>
      </p:sp>
      <p:pic>
        <p:nvPicPr>
          <p:cNvPr id="26628" name="Picture 7" descr="http://h.hiphotos.baidu.com/zhidao/pic/item/ae51f3deb48f8c541394f95839292df5e0fe7f0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1638" y="4076700"/>
            <a:ext cx="3824287" cy="2146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629" name="Picture 6" descr="BIO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450" y="4076700"/>
            <a:ext cx="2587625" cy="2143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179388" y="1700213"/>
            <a:ext cx="8497888" cy="1981200"/>
          </a:xfrm>
        </p:spPr>
        <p:txBody>
          <a:bodyPr vert="horz" wrap="square" lIns="91422" tIns="45711" rIns="91422" bIns="45711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  </a:t>
            </a: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第</a:t>
            </a:r>
            <a:r>
              <a:rPr kumimoji="0" lang="zh-CN" alt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一</a:t>
            </a: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章 导论（二）</a:t>
            </a:r>
            <a:br>
              <a:rPr kumimoji="0" lang="zh-CN" altLang="en-US" sz="5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br>
              <a:rPr kumimoji="0" lang="en-US" altLang="zh-CN" sz="5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多道程序</a:t>
            </a:r>
            <a:r>
              <a:rPr kumimoji="0" lang="zh-CN" altLang="en-US" sz="5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设计</a:t>
            </a: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和分时</a:t>
            </a:r>
            <a:endParaRPr kumimoji="0" lang="zh-CN" altLang="en-US" sz="5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advTm="9139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内容</a:t>
            </a:r>
            <a:endParaRPr lang="zh-CN" altLang="en-US" dirty="0"/>
          </a:p>
        </p:txBody>
      </p:sp>
      <p:sp>
        <p:nvSpPr>
          <p:cNvPr id="16387" name="内容占位符 2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p>
            <a:r>
              <a:rPr lang="zh-CN" altLang="en-US" dirty="0"/>
              <a:t>简单批处理</a:t>
            </a:r>
            <a:endParaRPr lang="en-US" altLang="zh-CN" dirty="0"/>
          </a:p>
          <a:p>
            <a:r>
              <a:rPr lang="zh-CN" altLang="en-US" dirty="0"/>
              <a:t>多道程序设计</a:t>
            </a:r>
            <a:endParaRPr lang="en-US" altLang="zh-CN" dirty="0"/>
          </a:p>
          <a:p>
            <a:r>
              <a:rPr lang="zh-CN" altLang="en-US" dirty="0"/>
              <a:t>分时</a:t>
            </a:r>
            <a:endParaRPr lang="zh-CN" altLang="en-US" dirty="0"/>
          </a:p>
        </p:txBody>
      </p:sp>
      <p:sp>
        <p:nvSpPr>
          <p:cNvPr id="1638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无操作系统计算机</a:t>
            </a:r>
            <a:endParaRPr lang="zh-CN" altLang="en-US" dirty="0"/>
          </a:p>
        </p:txBody>
      </p:sp>
      <p:pic>
        <p:nvPicPr>
          <p:cNvPr id="17411" name="Picture 6" descr="人类制造的第一台计算机ENIAC 42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088" y="1628775"/>
            <a:ext cx="7186612" cy="46799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1163638" y="963613"/>
            <a:ext cx="6759575" cy="244475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简单批处理系统</a:t>
            </a:r>
            <a:endParaRPr lang="zh-CN" altLang="zh-CN" dirty="0"/>
          </a:p>
        </p:txBody>
      </p:sp>
      <p:sp>
        <p:nvSpPr>
          <p:cNvPr id="119811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704975"/>
            <a:ext cx="5183188" cy="4489450"/>
          </a:xfr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最早的操作系统？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自动作业调度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自动从一个运行完的作业转换到下一个作业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sym typeface="Symbol" panose="05050102010706020507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常驻监控程序（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M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onitor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）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控制作业传输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sym typeface="Symbol" panose="05050102010706020507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调度作业运行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sym typeface="Symbol" panose="05050102010706020507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单道程序设计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</p:txBody>
      </p:sp>
      <p:pic>
        <p:nvPicPr>
          <p:cNvPr id="18436" name="Picture 3"/>
          <p:cNvPicPr>
            <a:picLocks noChangeAspect="1"/>
          </p:cNvPicPr>
          <p:nvPr/>
        </p:nvPicPr>
        <p:blipFill>
          <a:blip r:embed="rId1"/>
          <a:srcRect l="28365" t="1007" r="28203" b="806"/>
          <a:stretch>
            <a:fillRect/>
          </a:stretch>
        </p:blipFill>
        <p:spPr>
          <a:xfrm>
            <a:off x="5940425" y="1628775"/>
            <a:ext cx="2566988" cy="4641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9458" name="Picture 5"/>
          <p:cNvPicPr>
            <a:picLocks noChangeAspect="1"/>
          </p:cNvPicPr>
          <p:nvPr/>
        </p:nvPicPr>
        <p:blipFill>
          <a:blip r:embed="rId1">
            <a:grayscl/>
            <a:lum bright="70001" contrast="-70000"/>
          </a:blip>
          <a:stretch>
            <a:fillRect/>
          </a:stretch>
        </p:blipFill>
        <p:spPr>
          <a:xfrm>
            <a:off x="1524000" y="457200"/>
            <a:ext cx="6248400" cy="5562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59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2328863"/>
            <a:ext cx="1524000" cy="121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6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9461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0">
            <a:gsLst>
              <a:gs pos="0">
                <a:srgbClr val="FFF3FE"/>
              </a:gs>
              <a:gs pos="100000">
                <a:srgbClr val="FFFDFF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程序员                                 操作员                                            程序员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19462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362200"/>
            <a:ext cx="1524000" cy="1219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3" name="Picture 7"/>
          <p:cNvPicPr>
            <a:picLocks noChangeAspect="1"/>
          </p:cNvPicPr>
          <p:nvPr/>
        </p:nvPicPr>
        <p:blipFill>
          <a:blip r:embed="rId3"/>
          <a:srcRect l="22223" t="44444" r="27779" b="2924"/>
          <a:stretch>
            <a:fillRect/>
          </a:stretch>
        </p:blipFill>
        <p:spPr>
          <a:xfrm>
            <a:off x="1828800" y="1676400"/>
            <a:ext cx="609600" cy="1371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4" name="Picture 8"/>
          <p:cNvPicPr>
            <a:picLocks noChangeAspect="1"/>
          </p:cNvPicPr>
          <p:nvPr/>
        </p:nvPicPr>
        <p:blipFill>
          <a:blip r:embed="rId3"/>
          <a:srcRect l="22223" t="44444" r="27779" b="2924"/>
          <a:stretch>
            <a:fillRect/>
          </a:stretch>
        </p:blipFill>
        <p:spPr>
          <a:xfrm>
            <a:off x="5486400" y="1676400"/>
            <a:ext cx="609600" cy="1371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5" name="Picture 9"/>
          <p:cNvPicPr>
            <a:picLocks noChangeAspect="1"/>
          </p:cNvPicPr>
          <p:nvPr/>
        </p:nvPicPr>
        <p:blipFill>
          <a:blip r:embed="rId3"/>
          <a:srcRect l="22223" t="44444" r="27779" b="2924"/>
          <a:stretch>
            <a:fillRect/>
          </a:stretch>
        </p:blipFill>
        <p:spPr>
          <a:xfrm>
            <a:off x="4648200" y="1676400"/>
            <a:ext cx="609600" cy="1371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6" name="Picture 10"/>
          <p:cNvPicPr>
            <a:picLocks noChangeAspect="1"/>
          </p:cNvPicPr>
          <p:nvPr/>
        </p:nvPicPr>
        <p:blipFill>
          <a:blip r:embed="rId3"/>
          <a:srcRect l="22223" t="44444" r="27779" b="2924"/>
          <a:stretch>
            <a:fillRect/>
          </a:stretch>
        </p:blipFill>
        <p:spPr>
          <a:xfrm>
            <a:off x="3810000" y="1676400"/>
            <a:ext cx="609600" cy="1371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7" name="Picture 11"/>
          <p:cNvPicPr>
            <a:picLocks noChangeAspect="1"/>
          </p:cNvPicPr>
          <p:nvPr/>
        </p:nvPicPr>
        <p:blipFill>
          <a:blip r:embed="rId4">
            <a:lum bright="12000"/>
          </a:blip>
          <a:srcRect l="10390" t="11484" r="16884" b="8133"/>
          <a:stretch>
            <a:fillRect/>
          </a:stretch>
        </p:blipFill>
        <p:spPr>
          <a:xfrm>
            <a:off x="1752600" y="1676400"/>
            <a:ext cx="533400" cy="533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8" name="Picture 12"/>
          <p:cNvPicPr>
            <a:picLocks noChangeAspect="1"/>
          </p:cNvPicPr>
          <p:nvPr/>
        </p:nvPicPr>
        <p:blipFill>
          <a:blip r:embed="rId5">
            <a:lum bright="6000"/>
          </a:blip>
          <a:srcRect l="4762" t="61905" r="9525" b="9525"/>
          <a:stretch>
            <a:fillRect/>
          </a:stretch>
        </p:blipFill>
        <p:spPr>
          <a:xfrm>
            <a:off x="990600" y="2667000"/>
            <a:ext cx="685800" cy="381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1869" name="AutoShape 13"/>
          <p:cNvSpPr/>
          <p:nvPr/>
        </p:nvSpPr>
        <p:spPr>
          <a:xfrm>
            <a:off x="1143000" y="1828800"/>
            <a:ext cx="381000" cy="685800"/>
          </a:xfrm>
          <a:prstGeom prst="downArrow">
            <a:avLst>
              <a:gd name="adj1" fmla="val 50000"/>
              <a:gd name="adj2" fmla="val 4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1872" name="AutoShape 16"/>
          <p:cNvSpPr/>
          <p:nvPr/>
        </p:nvSpPr>
        <p:spPr>
          <a:xfrm>
            <a:off x="1371600" y="4648200"/>
            <a:ext cx="762000" cy="685800"/>
          </a:xfrm>
          <a:custGeom>
            <a:avLst/>
            <a:gdLst>
              <a:gd name="txL" fmla="*/ 3163 w 21600"/>
              <a:gd name="txT" fmla="*/ 3163 h 21600"/>
              <a:gd name="txR" fmla="*/ 18437 w 21600"/>
              <a:gd name="txB" fmla="*/ 18437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93A9A0">
              <a:alpha val="100000"/>
            </a:srgbClr>
          </a:solidFill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21873" name="AutoShape 17"/>
          <p:cNvSpPr/>
          <p:nvPr/>
        </p:nvSpPr>
        <p:spPr>
          <a:xfrm>
            <a:off x="1905000" y="4876800"/>
            <a:ext cx="762000" cy="762000"/>
          </a:xfrm>
          <a:custGeom>
            <a:avLst/>
            <a:gdLst>
              <a:gd name="txL" fmla="*/ 3163 w 21600"/>
              <a:gd name="txT" fmla="*/ 3163 h 21600"/>
              <a:gd name="txR" fmla="*/ 18437 w 21600"/>
              <a:gd name="txB" fmla="*/ 18437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93A9A0">
              <a:alpha val="100000"/>
            </a:srgbClr>
          </a:solidFill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21874" name="AutoShape 18"/>
          <p:cNvSpPr/>
          <p:nvPr/>
        </p:nvSpPr>
        <p:spPr>
          <a:xfrm>
            <a:off x="5943600" y="4953000"/>
            <a:ext cx="762000" cy="685800"/>
          </a:xfrm>
          <a:custGeom>
            <a:avLst/>
            <a:gdLst>
              <a:gd name="txL" fmla="*/ 3163 w 21600"/>
              <a:gd name="txT" fmla="*/ 3163 h 21600"/>
              <a:gd name="txR" fmla="*/ 18437 w 21600"/>
              <a:gd name="txB" fmla="*/ 18437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93A9A0">
              <a:alpha val="100000"/>
            </a:srgbClr>
          </a:solidFill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21875" name="AutoShape 19"/>
          <p:cNvSpPr/>
          <p:nvPr/>
        </p:nvSpPr>
        <p:spPr>
          <a:xfrm>
            <a:off x="6477000" y="4876800"/>
            <a:ext cx="762000" cy="685800"/>
          </a:xfrm>
          <a:custGeom>
            <a:avLst/>
            <a:gdLst>
              <a:gd name="txL" fmla="*/ 3163 w 21600"/>
              <a:gd name="txT" fmla="*/ 3163 h 21600"/>
              <a:gd name="txR" fmla="*/ 18437 w 21600"/>
              <a:gd name="txB" fmla="*/ 18437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93A9A0">
              <a:alpha val="100000"/>
            </a:srgbClr>
          </a:solidFill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21876" name="AutoShape 20"/>
          <p:cNvSpPr/>
          <p:nvPr/>
        </p:nvSpPr>
        <p:spPr>
          <a:xfrm>
            <a:off x="2514600" y="4953000"/>
            <a:ext cx="762000" cy="685800"/>
          </a:xfrm>
          <a:custGeom>
            <a:avLst/>
            <a:gdLst>
              <a:gd name="txL" fmla="*/ 3163 w 21600"/>
              <a:gd name="txT" fmla="*/ 3163 h 21600"/>
              <a:gd name="txR" fmla="*/ 18437 w 21600"/>
              <a:gd name="txB" fmla="*/ 18437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93A9A0">
              <a:alpha val="100000"/>
            </a:srgbClr>
          </a:solidFill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pic>
        <p:nvPicPr>
          <p:cNvPr id="121877" name="Picture 21"/>
          <p:cNvPicPr>
            <a:picLocks noChangeAspect="1"/>
          </p:cNvPicPr>
          <p:nvPr/>
        </p:nvPicPr>
        <p:blipFill>
          <a:blip r:embed="rId6">
            <a:lum contrast="6000"/>
          </a:blip>
          <a:srcRect l="5556" t="2036" r="5556" b="6784"/>
          <a:stretch>
            <a:fillRect/>
          </a:stretch>
        </p:blipFill>
        <p:spPr>
          <a:xfrm>
            <a:off x="1981200" y="609600"/>
            <a:ext cx="609600" cy="533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1878" name="Picture 22"/>
          <p:cNvPicPr>
            <a:picLocks noChangeAspect="1"/>
          </p:cNvPicPr>
          <p:nvPr/>
        </p:nvPicPr>
        <p:blipFill>
          <a:blip r:embed="rId6">
            <a:lum contrast="6000"/>
          </a:blip>
          <a:srcRect l="5556" t="2036" r="5556" b="6784"/>
          <a:stretch>
            <a:fillRect/>
          </a:stretch>
        </p:blipFill>
        <p:spPr>
          <a:xfrm>
            <a:off x="1600200" y="762000"/>
            <a:ext cx="609600" cy="533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1879" name="Picture 23"/>
          <p:cNvPicPr>
            <a:picLocks noChangeAspect="1"/>
          </p:cNvPicPr>
          <p:nvPr/>
        </p:nvPicPr>
        <p:blipFill>
          <a:blip r:embed="rId6">
            <a:lum contrast="6000"/>
          </a:blip>
          <a:srcRect l="5556" t="2036" r="5556" b="6784"/>
          <a:stretch>
            <a:fillRect/>
          </a:stretch>
        </p:blipFill>
        <p:spPr>
          <a:xfrm>
            <a:off x="1219200" y="914400"/>
            <a:ext cx="609600" cy="533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1880" name="Text Box 24"/>
          <p:cNvSpPr txBox="1"/>
          <p:nvPr/>
        </p:nvSpPr>
        <p:spPr>
          <a:xfrm>
            <a:off x="1981200" y="1219200"/>
            <a:ext cx="11144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cards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1886" name="AutoShape 30"/>
          <p:cNvSpPr/>
          <p:nvPr/>
        </p:nvSpPr>
        <p:spPr>
          <a:xfrm>
            <a:off x="7010400" y="4648200"/>
            <a:ext cx="762000" cy="685800"/>
          </a:xfrm>
          <a:custGeom>
            <a:avLst/>
            <a:gdLst>
              <a:gd name="txL" fmla="*/ 3163 w 21600"/>
              <a:gd name="txT" fmla="*/ 3163 h 21600"/>
              <a:gd name="txR" fmla="*/ 18437 w 21600"/>
              <a:gd name="txB" fmla="*/ 18437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93A9A0">
              <a:alpha val="100000"/>
            </a:srgbClr>
          </a:solidFill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21887" name="AutoShape 31"/>
          <p:cNvSpPr/>
          <p:nvPr/>
        </p:nvSpPr>
        <p:spPr>
          <a:xfrm flipV="1">
            <a:off x="4648200" y="5029200"/>
            <a:ext cx="1219200" cy="457200"/>
          </a:xfrm>
          <a:prstGeom prst="curvedDownArrow">
            <a:avLst>
              <a:gd name="adj1" fmla="val 29738"/>
              <a:gd name="adj2" fmla="val 99024"/>
              <a:gd name="adj3" fmla="val 33333"/>
            </a:avLst>
          </a:prstGeom>
          <a:solidFill>
            <a:srgbClr val="1BFFC3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1888" name="AutoShape 32"/>
          <p:cNvSpPr/>
          <p:nvPr/>
        </p:nvSpPr>
        <p:spPr>
          <a:xfrm flipV="1">
            <a:off x="3352800" y="5029200"/>
            <a:ext cx="1219200" cy="533400"/>
          </a:xfrm>
          <a:prstGeom prst="curvedDownArrow">
            <a:avLst>
              <a:gd name="adj1" fmla="val 25490"/>
              <a:gd name="adj2" fmla="val 84877"/>
              <a:gd name="adj3" fmla="val 33333"/>
            </a:avLst>
          </a:prstGeom>
          <a:solidFill>
            <a:srgbClr val="1BFFC3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482" name="Text Box 33"/>
          <p:cNvSpPr txBox="1"/>
          <p:nvPr/>
        </p:nvSpPr>
        <p:spPr>
          <a:xfrm>
            <a:off x="4267200" y="1143000"/>
            <a:ext cx="1143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Tapes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pic>
        <p:nvPicPr>
          <p:cNvPr id="19483" name="Picture 34"/>
          <p:cNvPicPr>
            <a:picLocks noChangeAspect="1"/>
          </p:cNvPicPr>
          <p:nvPr/>
        </p:nvPicPr>
        <p:blipFill>
          <a:blip r:embed="rId4">
            <a:lum bright="12000"/>
          </a:blip>
          <a:srcRect l="10390" t="11484" r="16884" b="8133"/>
          <a:stretch>
            <a:fillRect/>
          </a:stretch>
        </p:blipFill>
        <p:spPr>
          <a:xfrm>
            <a:off x="1752600" y="2286000"/>
            <a:ext cx="533400" cy="533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84" name="Picture 35"/>
          <p:cNvPicPr>
            <a:picLocks noChangeAspect="1"/>
          </p:cNvPicPr>
          <p:nvPr/>
        </p:nvPicPr>
        <p:blipFill>
          <a:blip r:embed="rId4">
            <a:lum bright="12000"/>
          </a:blip>
          <a:srcRect l="10390" t="11484" r="16884" b="8133"/>
          <a:stretch>
            <a:fillRect/>
          </a:stretch>
        </p:blipFill>
        <p:spPr>
          <a:xfrm>
            <a:off x="3810000" y="2286000"/>
            <a:ext cx="533400" cy="533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85" name="Picture 36"/>
          <p:cNvPicPr>
            <a:picLocks noChangeAspect="1"/>
          </p:cNvPicPr>
          <p:nvPr/>
        </p:nvPicPr>
        <p:blipFill>
          <a:blip r:embed="rId4">
            <a:lum bright="12000"/>
          </a:blip>
          <a:srcRect l="10390" t="11484" r="16884" b="8133"/>
          <a:stretch>
            <a:fillRect/>
          </a:stretch>
        </p:blipFill>
        <p:spPr>
          <a:xfrm>
            <a:off x="3810000" y="1676400"/>
            <a:ext cx="533400" cy="533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86" name="Picture 37"/>
          <p:cNvPicPr>
            <a:picLocks noChangeAspect="1"/>
          </p:cNvPicPr>
          <p:nvPr/>
        </p:nvPicPr>
        <p:blipFill>
          <a:blip r:embed="rId4">
            <a:lum bright="12000"/>
          </a:blip>
          <a:srcRect l="10390" t="11484" r="16884" b="8133"/>
          <a:stretch>
            <a:fillRect/>
          </a:stretch>
        </p:blipFill>
        <p:spPr>
          <a:xfrm>
            <a:off x="4648200" y="2286000"/>
            <a:ext cx="533400" cy="533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87" name="Picture 38"/>
          <p:cNvPicPr>
            <a:picLocks noChangeAspect="1"/>
          </p:cNvPicPr>
          <p:nvPr/>
        </p:nvPicPr>
        <p:blipFill>
          <a:blip r:embed="rId4">
            <a:lum bright="12000"/>
          </a:blip>
          <a:srcRect l="10390" t="11484" r="16884" b="8133"/>
          <a:stretch>
            <a:fillRect/>
          </a:stretch>
        </p:blipFill>
        <p:spPr>
          <a:xfrm>
            <a:off x="4648200" y="1676400"/>
            <a:ext cx="533400" cy="533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88" name="Picture 39"/>
          <p:cNvPicPr>
            <a:picLocks noChangeAspect="1"/>
          </p:cNvPicPr>
          <p:nvPr/>
        </p:nvPicPr>
        <p:blipFill>
          <a:blip r:embed="rId4">
            <a:lum bright="12000"/>
          </a:blip>
          <a:srcRect l="10390" t="11484" r="16884" b="8133"/>
          <a:stretch>
            <a:fillRect/>
          </a:stretch>
        </p:blipFill>
        <p:spPr>
          <a:xfrm>
            <a:off x="5486400" y="2362200"/>
            <a:ext cx="533400" cy="533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89" name="Picture 40"/>
          <p:cNvPicPr>
            <a:picLocks noChangeAspect="1"/>
          </p:cNvPicPr>
          <p:nvPr/>
        </p:nvPicPr>
        <p:blipFill>
          <a:blip r:embed="rId4">
            <a:lum bright="12000"/>
          </a:blip>
          <a:srcRect l="10390" t="11484" r="16884" b="8133"/>
          <a:stretch>
            <a:fillRect/>
          </a:stretch>
        </p:blipFill>
        <p:spPr>
          <a:xfrm>
            <a:off x="5486400" y="1676400"/>
            <a:ext cx="533400" cy="533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1897" name="Text Box 41"/>
          <p:cNvSpPr txBox="1"/>
          <p:nvPr/>
        </p:nvSpPr>
        <p:spPr>
          <a:xfrm>
            <a:off x="577850" y="1447800"/>
            <a:ext cx="488950" cy="16002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Card reader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pic>
        <p:nvPicPr>
          <p:cNvPr id="19491" name="Picture 43"/>
          <p:cNvPicPr>
            <a:picLocks noChangeAspect="1"/>
          </p:cNvPicPr>
          <p:nvPr/>
        </p:nvPicPr>
        <p:blipFill>
          <a:blip r:embed="rId3"/>
          <a:srcRect l="22223" t="44444" r="27779" b="2924"/>
          <a:stretch>
            <a:fillRect/>
          </a:stretch>
        </p:blipFill>
        <p:spPr>
          <a:xfrm>
            <a:off x="7207250" y="1752600"/>
            <a:ext cx="609600" cy="1371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92" name="Picture 44"/>
          <p:cNvPicPr>
            <a:picLocks noChangeAspect="1"/>
          </p:cNvPicPr>
          <p:nvPr/>
        </p:nvPicPr>
        <p:blipFill>
          <a:blip r:embed="rId7">
            <a:lum bright="6000"/>
          </a:blip>
          <a:srcRect l="18182" t="13637" r="27272" b="18182"/>
          <a:stretch>
            <a:fillRect/>
          </a:stretch>
        </p:blipFill>
        <p:spPr>
          <a:xfrm>
            <a:off x="7924800" y="2133600"/>
            <a:ext cx="533400" cy="990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93" name="Picture 45"/>
          <p:cNvPicPr>
            <a:picLocks noChangeAspect="1"/>
          </p:cNvPicPr>
          <p:nvPr/>
        </p:nvPicPr>
        <p:blipFill>
          <a:blip r:embed="rId4">
            <a:lum bright="12000"/>
          </a:blip>
          <a:srcRect l="10390" t="11484" r="16884" b="8133"/>
          <a:stretch>
            <a:fillRect/>
          </a:stretch>
        </p:blipFill>
        <p:spPr>
          <a:xfrm>
            <a:off x="7207250" y="1752600"/>
            <a:ext cx="533400" cy="533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94" name="Picture 46"/>
          <p:cNvPicPr>
            <a:picLocks noChangeAspect="1"/>
          </p:cNvPicPr>
          <p:nvPr/>
        </p:nvPicPr>
        <p:blipFill>
          <a:blip r:embed="rId4">
            <a:lum bright="12000"/>
          </a:blip>
          <a:srcRect l="10390" t="11484" r="16884" b="8133"/>
          <a:stretch>
            <a:fillRect/>
          </a:stretch>
        </p:blipFill>
        <p:spPr>
          <a:xfrm>
            <a:off x="7207250" y="2438400"/>
            <a:ext cx="533400" cy="533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1903" name="Text Box 47"/>
          <p:cNvSpPr txBox="1"/>
          <p:nvPr/>
        </p:nvSpPr>
        <p:spPr>
          <a:xfrm>
            <a:off x="8366125" y="654050"/>
            <a:ext cx="488950" cy="9144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Printer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21904" name="AutoShape 48"/>
          <p:cNvSpPr/>
          <p:nvPr/>
        </p:nvSpPr>
        <p:spPr>
          <a:xfrm>
            <a:off x="7924800" y="1295400"/>
            <a:ext cx="381000" cy="609600"/>
          </a:xfrm>
          <a:prstGeom prst="upArrow">
            <a:avLst>
              <a:gd name="adj1" fmla="val 50000"/>
              <a:gd name="adj2" fmla="val 4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19497" name="Picture 4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95600" y="2362200"/>
            <a:ext cx="523875" cy="838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98" name="Picture 5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92400" y="5751513"/>
            <a:ext cx="1238250" cy="10064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99" name="Picture 50" descr="http://www.kuqin.com/upimg/allimg/111023/23444H1C-6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9375" y="5726113"/>
            <a:ext cx="2209800" cy="1025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500" name="Picture 5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7900" y="3000375"/>
            <a:ext cx="1438275" cy="1571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501" name="Text Box 26"/>
          <p:cNvSpPr txBox="1"/>
          <p:nvPr/>
        </p:nvSpPr>
        <p:spPr>
          <a:xfrm>
            <a:off x="1173163" y="4618038"/>
            <a:ext cx="838200" cy="822325"/>
          </a:xfrm>
          <a:prstGeom prst="rect">
            <a:avLst/>
          </a:prstGeom>
          <a:solidFill>
            <a:srgbClr val="1BFFC3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IBM1401</a:t>
            </a:r>
            <a:endParaRPr lang="en-US" altLang="zh-CN" sz="24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9502" name="Picture 5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07250" y="3062288"/>
            <a:ext cx="1438275" cy="1571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503" name="Text Box 28"/>
          <p:cNvSpPr txBox="1"/>
          <p:nvPr/>
        </p:nvSpPr>
        <p:spPr>
          <a:xfrm>
            <a:off x="7785100" y="4511675"/>
            <a:ext cx="838200" cy="822325"/>
          </a:xfrm>
          <a:prstGeom prst="rect">
            <a:avLst/>
          </a:prstGeom>
          <a:solidFill>
            <a:srgbClr val="1BFFC3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IBM1401</a:t>
            </a:r>
            <a:endParaRPr lang="en-US" altLang="zh-CN" sz="24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9504" name="Picture 52" descr="http://photo.sohu.com/20050126/Img224108505.gif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24275" y="3043238"/>
            <a:ext cx="2430463" cy="19446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505" name="Text Box 27"/>
          <p:cNvSpPr txBox="1"/>
          <p:nvPr/>
        </p:nvSpPr>
        <p:spPr>
          <a:xfrm>
            <a:off x="4478338" y="4830763"/>
            <a:ext cx="838200" cy="822325"/>
          </a:xfrm>
          <a:prstGeom prst="rect">
            <a:avLst/>
          </a:prstGeom>
          <a:solidFill>
            <a:srgbClr val="1BFFC3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IBM7094</a:t>
            </a:r>
            <a:endParaRPr lang="en-US" altLang="zh-CN" sz="24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9506" name="图片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4600" y="2357438"/>
            <a:ext cx="638175" cy="1000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1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1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1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1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18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18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18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1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1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1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500"/>
                            </p:stCondLst>
                            <p:childTnLst>
                              <p:par>
                                <p:cTn id="30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1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1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8000"/>
                            </p:stCondLst>
                            <p:childTnLst>
                              <p:par>
                                <p:cTn id="35" presetID="2" presetClass="entr" presetSubtype="1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18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1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9500"/>
                            </p:stCondLst>
                            <p:childTnLst>
                              <p:par>
                                <p:cTn id="40" presetID="2" presetClass="entr" presetSubtype="1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1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1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1000"/>
                            </p:stCondLst>
                            <p:childTnLst>
                              <p:par>
                                <p:cTn id="45" presetID="2" presetClass="entr" presetSubtype="1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1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1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2500"/>
                            </p:stCondLst>
                            <p:childTnLst>
                              <p:par>
                                <p:cTn id="50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18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18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18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18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218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18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21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21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218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218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21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21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219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219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9" grpId="0" bldLvl="0" animBg="1"/>
      <p:bldP spid="121880" grpId="0"/>
      <p:bldP spid="121887" grpId="0" bldLvl="0" animBg="1"/>
      <p:bldP spid="121888" grpId="0" bldLvl="0" animBg="1"/>
      <p:bldP spid="121897" grpId="0"/>
      <p:bldP spid="121903" grpId="0"/>
      <p:bldP spid="121904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多道程序系统</a:t>
            </a:r>
            <a:endParaRPr lang="zh-CN" altLang="en-US" dirty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719138" y="1484313"/>
            <a:ext cx="5292725" cy="4935538"/>
          </a:xfrm>
        </p:spPr>
        <p:txBody>
          <a:bodyPr/>
          <a:lstStyle/>
          <a:p>
            <a:pPr marL="342900" marR="0" lvl="1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单用户通常不能总使得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 CPU 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和设备在所有时间内都忙碌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1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多道程序设计：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在内存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中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同时存在多道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作业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，在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管理程序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控制下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相互穿插运行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通过作业调度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(Job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S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cheduling)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选中一个作业并运行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当该作业必须等待时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(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如等待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I/O), 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切换到另一个作业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目的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提高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CPU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的利用率，充分发挥计算机系统部件的并行性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现代操作系统广泛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采用多道程序设计技术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0484" name="Picture 3"/>
          <p:cNvPicPr>
            <a:picLocks noChangeAspect="1"/>
          </p:cNvPicPr>
          <p:nvPr/>
        </p:nvPicPr>
        <p:blipFill>
          <a:blip r:embed="rId1"/>
          <a:srcRect l="26549" t="885" r="26328" b="1476"/>
          <a:stretch>
            <a:fillRect/>
          </a:stretch>
        </p:blipFill>
        <p:spPr>
          <a:xfrm>
            <a:off x="6245225" y="1989138"/>
            <a:ext cx="2312988" cy="3592512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xfrm>
            <a:off x="1187450" y="476250"/>
            <a:ext cx="8077200" cy="609600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多道程序和单道程序运行例子</a:t>
            </a:r>
            <a:endParaRPr lang="zh-CN" altLang="en-US" dirty="0"/>
          </a:p>
        </p:txBody>
      </p:sp>
      <p:pic>
        <p:nvPicPr>
          <p:cNvPr id="21507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595" y="1557020"/>
            <a:ext cx="6044565" cy="40144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403350" y="5661025"/>
            <a:ext cx="617918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由不同控制器控制的设备也可以并行操作，而由相同的控制器控制的设备一般不可以并行操作。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并行和并发区别</a:t>
            </a:r>
            <a:endParaRPr lang="zh-CN" altLang="en-US" dirty="0"/>
          </a:p>
        </p:txBody>
      </p:sp>
      <p:sp>
        <p:nvSpPr>
          <p:cNvPr id="22531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5267325" cy="4525963"/>
          </a:xfrm>
          <a:noFill/>
          <a:ln>
            <a:noFill/>
          </a:ln>
        </p:spPr>
        <p:txBody>
          <a:bodyPr/>
          <a:p>
            <a:r>
              <a:rPr lang="zh-CN" altLang="en-US" sz="2800" b="1" dirty="0"/>
              <a:t>并行</a:t>
            </a:r>
            <a:r>
              <a:rPr lang="zh-CN" altLang="en-US" sz="2800" dirty="0"/>
              <a:t>：两个或者多个作业在同一时刻运行</a:t>
            </a:r>
            <a:endParaRPr lang="en-US" altLang="zh-CN" sz="2800" dirty="0"/>
          </a:p>
          <a:p>
            <a:r>
              <a:rPr lang="zh-CN" altLang="en-US" sz="2800" b="1" dirty="0"/>
              <a:t>并发</a:t>
            </a:r>
            <a:r>
              <a:rPr lang="zh-CN" altLang="en-US" sz="2800" dirty="0"/>
              <a:t>：两个或多个作业在同一时间间隔内依次运行</a:t>
            </a:r>
            <a:endParaRPr lang="zh-CN" altLang="en-US" sz="2800" dirty="0"/>
          </a:p>
          <a:p>
            <a:pPr lvl="1"/>
            <a:r>
              <a:rPr lang="zh-CN" altLang="en-US" sz="2400" dirty="0"/>
              <a:t>一个时间段中，有几个作业在同一个处理机上运行，但任一个时刻点上只有一个作业在处理机上运行</a:t>
            </a:r>
            <a:endParaRPr lang="en-US" altLang="zh-CN" sz="2400" dirty="0"/>
          </a:p>
          <a:p>
            <a:r>
              <a:rPr lang="zh-CN" altLang="en-US" sz="2800" dirty="0"/>
              <a:t>随着多核处理器的出现，这两个概念并不严格区分</a:t>
            </a:r>
            <a:endParaRPr lang="zh-CN" altLang="en-US" sz="2800" dirty="0"/>
          </a:p>
          <a:p>
            <a:endParaRPr lang="zh-CN" altLang="en-US" dirty="0"/>
          </a:p>
        </p:txBody>
      </p:sp>
      <p:sp>
        <p:nvSpPr>
          <p:cNvPr id="2253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pic>
        <p:nvPicPr>
          <p:cNvPr id="2253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1500" y="2427288"/>
            <a:ext cx="3276600" cy="28717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分时系统 </a:t>
            </a:r>
            <a:endParaRPr lang="zh-CN" altLang="en-US" dirty="0"/>
          </a:p>
        </p:txBody>
      </p:sp>
      <p:sp>
        <p:nvSpPr>
          <p:cNvPr id="23555" name="内容占位符 2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p>
            <a:pPr>
              <a:lnSpc>
                <a:spcPct val="90000"/>
              </a:lnSpc>
            </a:pPr>
            <a:r>
              <a:rPr lang="zh-CN" altLang="en-US" sz="2800" dirty="0"/>
              <a:t>分时系统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或多任务</a:t>
            </a:r>
            <a:r>
              <a:rPr lang="en-US" altLang="zh-CN" sz="2800" b="1" dirty="0"/>
              <a:t>)</a:t>
            </a:r>
            <a:r>
              <a:rPr lang="zh-CN" altLang="en-US" sz="2800" dirty="0"/>
              <a:t>是多道程序设计的延伸</a:t>
            </a:r>
            <a:endParaRPr lang="en-US" altLang="zh-CN" sz="2800" dirty="0"/>
          </a:p>
          <a:p>
            <a:pPr>
              <a:lnSpc>
                <a:spcPct val="90000"/>
              </a:lnSpc>
            </a:pPr>
            <a:r>
              <a:rPr lang="zh-CN" altLang="en-US" sz="2800" dirty="0"/>
              <a:t>作业分类</a:t>
            </a:r>
            <a:endParaRPr lang="en-US" altLang="zh-CN" sz="2800" dirty="0"/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批处理作业</a:t>
            </a:r>
            <a:r>
              <a:rPr lang="en-US" altLang="zh-CN" sz="2000" dirty="0"/>
              <a:t> </a:t>
            </a:r>
            <a:endParaRPr lang="en-US" altLang="zh-CN" sz="2000" dirty="0"/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交互作业</a:t>
            </a:r>
            <a:endParaRPr lang="en-US" altLang="zh-CN" sz="2000" dirty="0"/>
          </a:p>
          <a:p>
            <a:pPr lvl="2">
              <a:lnSpc>
                <a:spcPct val="90000"/>
              </a:lnSpc>
            </a:pPr>
            <a:r>
              <a:rPr lang="zh-CN" altLang="en-US" sz="2000" dirty="0"/>
              <a:t>响应时间短</a:t>
            </a:r>
            <a:r>
              <a:rPr lang="en-US" altLang="zh-CN" sz="2000" dirty="0"/>
              <a:t>&lt;1s</a:t>
            </a:r>
            <a:endParaRPr lang="en-US" altLang="zh-CN" sz="2000" dirty="0"/>
          </a:p>
          <a:p>
            <a:pPr lvl="2">
              <a:lnSpc>
                <a:spcPct val="90000"/>
              </a:lnSpc>
            </a:pPr>
            <a:r>
              <a:rPr lang="zh-CN" altLang="en-US" sz="2000" dirty="0"/>
              <a:t>多道程序设计技术</a:t>
            </a:r>
            <a:endParaRPr lang="en-US" altLang="zh-CN" sz="2000" dirty="0"/>
          </a:p>
          <a:p>
            <a:r>
              <a:rPr lang="zh-CN" altLang="en-US" sz="2800" dirty="0"/>
              <a:t>时间片</a:t>
            </a:r>
            <a:endParaRPr lang="en-US" altLang="zh-CN" sz="2800" dirty="0"/>
          </a:p>
          <a:p>
            <a:pPr lvl="1"/>
            <a:r>
              <a:rPr lang="zh-CN" altLang="en-US" sz="2400" dirty="0"/>
              <a:t>把一段</a:t>
            </a:r>
            <a:r>
              <a:rPr lang="en-US" altLang="zh-CN" sz="2400" dirty="0"/>
              <a:t>CPU</a:t>
            </a:r>
            <a:r>
              <a:rPr lang="zh-CN" altLang="en-US" sz="2400" dirty="0"/>
              <a:t>时间按照固定单位进行分割，每个分割得到的时间段称为一个时间片</a:t>
            </a:r>
            <a:endParaRPr lang="en-US" altLang="zh-CN" sz="2400" dirty="0"/>
          </a:p>
          <a:p>
            <a:pPr lvl="1"/>
            <a:r>
              <a:rPr lang="zh-CN" altLang="en-US" sz="2400" dirty="0"/>
              <a:t>每个任务依次轮流使用时间片</a:t>
            </a:r>
            <a:endParaRPr lang="en-US" altLang="zh-CN" sz="2400" dirty="0"/>
          </a:p>
          <a:p>
            <a:endParaRPr lang="zh-CN" altLang="en-US" sz="1600" dirty="0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分时系统</a:t>
            </a:r>
            <a:endParaRPr lang="zh-CN" altLang="en-US" dirty="0"/>
          </a:p>
        </p:txBody>
      </p:sp>
      <p:sp>
        <p:nvSpPr>
          <p:cNvPr id="24579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975" cy="4525963"/>
          </a:xfrm>
          <a:noFill/>
          <a:ln>
            <a:noFill/>
          </a:ln>
        </p:spPr>
        <p:txBody>
          <a:bodyPr/>
          <a:p>
            <a:r>
              <a:rPr lang="zh-CN" altLang="en-US" sz="2800" dirty="0"/>
              <a:t>分时系统</a:t>
            </a:r>
            <a:endParaRPr lang="en-US" altLang="zh-CN" sz="2800" dirty="0"/>
          </a:p>
          <a:p>
            <a:pPr lvl="1"/>
            <a:r>
              <a:rPr lang="zh-CN" altLang="en-US" sz="2400" dirty="0"/>
              <a:t>一种联机的多用户交互式的操作系统</a:t>
            </a:r>
            <a:endParaRPr lang="en-US" altLang="zh-CN" sz="2400" dirty="0"/>
          </a:p>
          <a:p>
            <a:pPr lvl="1"/>
            <a:r>
              <a:rPr lang="zh-CN" altLang="en-US" sz="2400" dirty="0"/>
              <a:t>一般采用时间片轮转方式使一台计算机为多个用户服务</a:t>
            </a:r>
            <a:endParaRPr lang="en-US" altLang="zh-CN" sz="2400" dirty="0"/>
          </a:p>
          <a:p>
            <a:pPr lvl="1"/>
            <a:r>
              <a:rPr lang="zh-CN" altLang="en-US" sz="2400" dirty="0"/>
              <a:t>在单位时间内，每个用户获得一个时间片并运行</a:t>
            </a:r>
            <a:endParaRPr lang="en-US" altLang="zh-CN" sz="2400" dirty="0"/>
          </a:p>
          <a:p>
            <a:pPr lvl="1"/>
            <a:r>
              <a:rPr lang="zh-CN" altLang="en-US" sz="2400" dirty="0"/>
              <a:t>保证用户获得足够小的响应时间，并提供交互能力</a:t>
            </a:r>
            <a:endParaRPr lang="zh-CN" altLang="en-US" sz="2400" dirty="0"/>
          </a:p>
          <a:p>
            <a:r>
              <a:rPr lang="zh-CN" altLang="en-US" sz="2800" dirty="0"/>
              <a:t>原理</a:t>
            </a:r>
            <a:endParaRPr lang="en-US" altLang="zh-CN" sz="2800" dirty="0"/>
          </a:p>
          <a:p>
            <a:pPr lvl="1"/>
            <a:r>
              <a:rPr lang="zh-CN" altLang="en-US" sz="2400" dirty="0"/>
              <a:t>若某个作业在分配的时间片用完之前计算还未完成，该作业就暂时中断，等待下一轮；此时，处理机让给另一个作业使用。</a:t>
            </a:r>
            <a:endParaRPr lang="en-US" altLang="zh-CN" sz="2400" dirty="0"/>
          </a:p>
          <a:p>
            <a:pPr lvl="1"/>
            <a:r>
              <a:rPr lang="zh-CN" altLang="en-US" sz="2400" dirty="0"/>
              <a:t>每个用户好象独占一台计算机（时间片小的原因）</a:t>
            </a:r>
            <a:endParaRPr lang="zh-CN" altLang="en-US" sz="2400" dirty="0"/>
          </a:p>
        </p:txBody>
      </p:sp>
      <p:sp>
        <p:nvSpPr>
          <p:cNvPr id="2458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第一个分时系统</a:t>
            </a:r>
            <a:endParaRPr lang="zh-CN" altLang="en-US" dirty="0"/>
          </a:p>
        </p:txBody>
      </p:sp>
      <p:sp>
        <p:nvSpPr>
          <p:cNvPr id="2560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651875" cy="4525963"/>
          </a:xfrm>
          <a:noFill/>
          <a:ln>
            <a:noFill/>
          </a:ln>
        </p:spPr>
        <p:txBody>
          <a:bodyPr/>
          <a:p>
            <a:r>
              <a:rPr lang="en-US" altLang="zh-CN" dirty="0"/>
              <a:t>CTSS(Compatible Time-Sharing System)</a:t>
            </a:r>
            <a:endParaRPr lang="en-US" altLang="zh-CN" dirty="0"/>
          </a:p>
          <a:p>
            <a:pPr lvl="1"/>
            <a:r>
              <a:rPr lang="en-US" altLang="zh-CN" dirty="0"/>
              <a:t>1962</a:t>
            </a:r>
            <a:r>
              <a:rPr lang="zh-CN" altLang="en-US" dirty="0"/>
              <a:t>年</a:t>
            </a:r>
            <a:endParaRPr lang="en-US" altLang="zh-CN" dirty="0"/>
          </a:p>
          <a:p>
            <a:pPr lvl="1"/>
            <a:r>
              <a:rPr lang="zh-CN" altLang="en-US" dirty="0"/>
              <a:t>第一个分时系统</a:t>
            </a:r>
            <a:endParaRPr lang="en-US" altLang="zh-CN" dirty="0"/>
          </a:p>
          <a:p>
            <a:pPr lvl="1"/>
            <a:r>
              <a:rPr lang="en-US" altLang="zh-CN" dirty="0"/>
              <a:t>MIT</a:t>
            </a:r>
            <a:r>
              <a:rPr lang="zh-CN" altLang="en-US" dirty="0"/>
              <a:t>开发</a:t>
            </a:r>
            <a:endParaRPr lang="en-US" altLang="zh-CN" dirty="0"/>
          </a:p>
          <a:p>
            <a:pPr lvl="1"/>
            <a:r>
              <a:rPr lang="zh-CN" altLang="en-US" dirty="0"/>
              <a:t>运行在</a:t>
            </a:r>
            <a:r>
              <a:rPr lang="en-US" altLang="zh-CN" dirty="0"/>
              <a:t>IBM 7094</a:t>
            </a:r>
            <a:r>
              <a:rPr lang="zh-CN" altLang="en-US" dirty="0"/>
              <a:t>机</a:t>
            </a:r>
            <a:endParaRPr lang="en-US" altLang="zh-CN" dirty="0"/>
          </a:p>
          <a:p>
            <a:pPr lvl="1"/>
            <a:r>
              <a:rPr lang="zh-CN" altLang="en-US" dirty="0"/>
              <a:t>支持</a:t>
            </a:r>
            <a:r>
              <a:rPr lang="en-US" altLang="zh-CN" dirty="0"/>
              <a:t>32</a:t>
            </a:r>
            <a:r>
              <a:rPr lang="zh-CN" altLang="en-US" dirty="0"/>
              <a:t>个交互式用户</a:t>
            </a:r>
            <a:endParaRPr lang="zh-CN" altLang="en-US" dirty="0"/>
          </a:p>
        </p:txBody>
      </p:sp>
      <p:sp>
        <p:nvSpPr>
          <p:cNvPr id="2560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pic>
        <p:nvPicPr>
          <p:cNvPr id="25605" name="Picture 2" descr="7094 syste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450" y="2781300"/>
            <a:ext cx="2928938" cy="2232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606" name="TextBox 4"/>
          <p:cNvSpPr txBox="1"/>
          <p:nvPr/>
        </p:nvSpPr>
        <p:spPr>
          <a:xfrm>
            <a:off x="5219700" y="5229225"/>
            <a:ext cx="2706688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latin typeface="Arial" panose="020B0604020202020204" pitchFamily="34" charset="0"/>
              </a:rPr>
              <a:t>IBM 7094     350</a:t>
            </a:r>
            <a:r>
              <a:rPr lang="zh-CN" altLang="en-US" dirty="0">
                <a:latin typeface="Arial" panose="020B0604020202020204" pitchFamily="34" charset="0"/>
              </a:rPr>
              <a:t>万美元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6626" name="Picture 2"/>
          <p:cNvPicPr>
            <a:picLocks noChangeAspect="1"/>
          </p:cNvPicPr>
          <p:nvPr/>
        </p:nvPicPr>
        <p:blipFill>
          <a:blip r:embed="rId1"/>
          <a:srcRect l="6250" t="6250" r="10417"/>
          <a:stretch>
            <a:fillRect/>
          </a:stretch>
        </p:blipFill>
        <p:spPr>
          <a:xfrm>
            <a:off x="3900488" y="4230688"/>
            <a:ext cx="1354137" cy="1524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627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2288" y="1716088"/>
            <a:ext cx="968375" cy="1143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628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688" y="3697288"/>
            <a:ext cx="903287" cy="1066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629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888" y="1639888"/>
            <a:ext cx="885825" cy="914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630" name="Picture 6"/>
          <p:cNvPicPr>
            <a:picLocks noChangeAspect="1"/>
          </p:cNvPicPr>
          <p:nvPr/>
        </p:nvPicPr>
        <p:blipFill>
          <a:blip r:embed="rId4"/>
          <a:srcRect l="12000" t="8000"/>
          <a:stretch>
            <a:fillRect/>
          </a:stretch>
        </p:blipFill>
        <p:spPr>
          <a:xfrm>
            <a:off x="3976688" y="1563688"/>
            <a:ext cx="801687" cy="838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631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488" y="3468688"/>
            <a:ext cx="885825" cy="914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64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0288" y="2554288"/>
            <a:ext cx="228600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65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5088" y="2859088"/>
            <a:ext cx="228600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66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9888" y="3163888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67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4688" y="3468688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68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5688" y="3849688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69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3888" y="3468688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70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688" y="3011488"/>
            <a:ext cx="228600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71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1488" y="2554288"/>
            <a:ext cx="228600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72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2088" y="3621088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73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3088" y="3316288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74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4088" y="3087688"/>
            <a:ext cx="228600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75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8888" y="2859088"/>
            <a:ext cx="228600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76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7488" y="2706688"/>
            <a:ext cx="152400" cy="152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77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4688" y="4230688"/>
            <a:ext cx="114300" cy="114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78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9888" y="4306888"/>
            <a:ext cx="152400" cy="152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79" name="Picture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2688" y="4306888"/>
            <a:ext cx="228600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80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9288" y="4383088"/>
            <a:ext cx="228600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81" name="Picture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2088" y="4383088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82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4088" y="4002088"/>
            <a:ext cx="304800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83" name="Picture 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05088" y="4078288"/>
            <a:ext cx="381000" cy="285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84" name="Picture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86088" y="4192588"/>
            <a:ext cx="457200" cy="342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85" name="Picture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7088" y="4306888"/>
            <a:ext cx="533400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54" name="Text Box 30"/>
          <p:cNvSpPr txBox="1"/>
          <p:nvPr/>
        </p:nvSpPr>
        <p:spPr>
          <a:xfrm>
            <a:off x="4129088" y="5907088"/>
            <a:ext cx="990600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主机</a:t>
            </a:r>
            <a:endParaRPr lang="zh-CN" altLang="en-US" sz="2400" b="1" dirty="0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655" name="Text Box 31"/>
          <p:cNvSpPr txBox="1"/>
          <p:nvPr/>
        </p:nvSpPr>
        <p:spPr>
          <a:xfrm>
            <a:off x="4967288" y="1563688"/>
            <a:ext cx="609600" cy="82232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终端</a:t>
            </a:r>
            <a:endParaRPr lang="zh-CN" altLang="en-US" sz="24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49888" name="Picture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0088" y="3925888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57" name="Line 33"/>
          <p:cNvSpPr/>
          <p:nvPr/>
        </p:nvSpPr>
        <p:spPr>
          <a:xfrm flipH="1" flipV="1">
            <a:off x="2224088" y="4078288"/>
            <a:ext cx="1600200" cy="45720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58" name="Line 34"/>
          <p:cNvSpPr/>
          <p:nvPr/>
        </p:nvSpPr>
        <p:spPr>
          <a:xfrm flipH="1" flipV="1">
            <a:off x="2224088" y="2478088"/>
            <a:ext cx="1676400" cy="175260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59" name="Line 35"/>
          <p:cNvSpPr/>
          <p:nvPr/>
        </p:nvSpPr>
        <p:spPr>
          <a:xfrm flipH="1" flipV="1">
            <a:off x="4281488" y="2325688"/>
            <a:ext cx="381000" cy="1905000"/>
          </a:xfrm>
          <a:prstGeom prst="line">
            <a:avLst/>
          </a:prstGeom>
          <a:ln w="9525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60" name="Line 36"/>
          <p:cNvSpPr/>
          <p:nvPr/>
        </p:nvSpPr>
        <p:spPr>
          <a:xfrm flipV="1">
            <a:off x="4814888" y="2554288"/>
            <a:ext cx="2133600" cy="1676400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61" name="Line 37"/>
          <p:cNvSpPr/>
          <p:nvPr/>
        </p:nvSpPr>
        <p:spPr>
          <a:xfrm flipV="1">
            <a:off x="5272088" y="4306888"/>
            <a:ext cx="1981200" cy="228600"/>
          </a:xfrm>
          <a:prstGeom prst="line">
            <a:avLst/>
          </a:prstGeom>
          <a:ln w="9525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62" name="Text Box 38"/>
          <p:cNvSpPr txBox="1"/>
          <p:nvPr/>
        </p:nvSpPr>
        <p:spPr>
          <a:xfrm>
            <a:off x="987425" y="304800"/>
            <a:ext cx="7097713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endParaRPr lang="zh-CN" altLang="zh-CN" dirty="0">
              <a:latin typeface="Helvetica" pitchFamily="34" charset="0"/>
            </a:endParaRPr>
          </a:p>
        </p:txBody>
      </p:sp>
      <p:sp>
        <p:nvSpPr>
          <p:cNvPr id="249895" name="Text Box 39"/>
          <p:cNvSpPr txBox="1">
            <a:spLocks noChangeArrowheads="1"/>
          </p:cNvSpPr>
          <p:nvPr/>
        </p:nvSpPr>
        <p:spPr bwMode="auto">
          <a:xfrm>
            <a:off x="1201738" y="671513"/>
            <a:ext cx="6921500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3600" kern="1200" cap="none" spc="0" normalizeH="0" baseline="0" noProof="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分时系统例子</a:t>
            </a:r>
            <a:endParaRPr kumimoji="0" lang="zh-CN" altLang="en-US" sz="3600" kern="1200" cap="none" spc="0" normalizeH="0" baseline="0" noProof="0" dirty="0">
              <a:solidFill>
                <a:srgbClr val="0000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1" presetClass="entr" presetSubtype="0" fill="hold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00"/>
                            </p:stCondLst>
                            <p:childTnLst>
                              <p:par>
                                <p:cTn id="8" presetID="1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100"/>
                            </p:stCondLst>
                            <p:childTnLst>
                              <p:par>
                                <p:cTn id="14" presetID="1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800"/>
                            </p:stCondLst>
                            <p:childTnLst>
                              <p:par>
                                <p:cTn id="17" presetID="1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1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200"/>
                            </p:stCondLst>
                            <p:childTnLst>
                              <p:par>
                                <p:cTn id="23" presetID="1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900"/>
                            </p:stCondLst>
                            <p:childTnLst>
                              <p:par>
                                <p:cTn id="26" presetID="1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600"/>
                            </p:stCondLst>
                            <p:childTnLst>
                              <p:par>
                                <p:cTn id="29" presetID="1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6300"/>
                            </p:stCondLst>
                            <p:childTnLst>
                              <p:par>
                                <p:cTn id="32" presetID="1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000"/>
                            </p:stCondLst>
                            <p:childTnLst>
                              <p:par>
                                <p:cTn id="35" presetID="1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700"/>
                            </p:stCondLst>
                            <p:childTnLst>
                              <p:par>
                                <p:cTn id="38" presetID="1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400"/>
                            </p:stCondLst>
                            <p:childTnLst>
                              <p:par>
                                <p:cTn id="41" presetID="1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9100"/>
                            </p:stCondLst>
                            <p:childTnLst>
                              <p:par>
                                <p:cTn id="44" presetID="1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9800"/>
                            </p:stCondLst>
                            <p:childTnLst>
                              <p:par>
                                <p:cTn id="47" presetID="1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8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500"/>
                            </p:stCondLst>
                            <p:childTnLst>
                              <p:par>
                                <p:cTn id="50" presetID="1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1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1200"/>
                            </p:stCondLst>
                            <p:childTnLst>
                              <p:par>
                                <p:cTn id="53" presetID="1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1900"/>
                            </p:stCondLst>
                            <p:childTnLst>
                              <p:par>
                                <p:cTn id="56" presetID="1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7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2600"/>
                            </p:stCondLst>
                            <p:childTnLst>
                              <p:par>
                                <p:cTn id="59" presetID="1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3300"/>
                            </p:stCondLst>
                            <p:childTnLst>
                              <p:par>
                                <p:cTn id="62" presetID="1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4000"/>
                            </p:stCondLst>
                            <p:childTnLst>
                              <p:par>
                                <p:cTn id="65" presetID="1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4700"/>
                            </p:stCondLst>
                            <p:childTnLst>
                              <p:par>
                                <p:cTn id="68" presetID="1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9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5400"/>
                            </p:stCondLst>
                            <p:childTnLst>
                              <p:par>
                                <p:cTn id="71" presetID="1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2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7650" name="Picture 2"/>
          <p:cNvPicPr>
            <a:picLocks noChangeAspect="1"/>
          </p:cNvPicPr>
          <p:nvPr/>
        </p:nvPicPr>
        <p:blipFill>
          <a:blip r:embed="rId1"/>
          <a:srcRect l="6250" t="6250" r="10417"/>
          <a:stretch>
            <a:fillRect/>
          </a:stretch>
        </p:blipFill>
        <p:spPr>
          <a:xfrm>
            <a:off x="3900488" y="4230688"/>
            <a:ext cx="1354137" cy="1524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51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2288" y="1716088"/>
            <a:ext cx="968375" cy="1143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52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688" y="3697288"/>
            <a:ext cx="903287" cy="1066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53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888" y="1639888"/>
            <a:ext cx="885825" cy="914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54" name="Picture 6"/>
          <p:cNvPicPr>
            <a:picLocks noChangeAspect="1"/>
          </p:cNvPicPr>
          <p:nvPr/>
        </p:nvPicPr>
        <p:blipFill>
          <a:blip r:embed="rId4"/>
          <a:srcRect l="12000" t="8000"/>
          <a:stretch>
            <a:fillRect/>
          </a:stretch>
        </p:blipFill>
        <p:spPr>
          <a:xfrm>
            <a:off x="3976688" y="1563688"/>
            <a:ext cx="801687" cy="838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55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488" y="3468688"/>
            <a:ext cx="885825" cy="914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64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0288" y="2554288"/>
            <a:ext cx="228600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65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5088" y="2859088"/>
            <a:ext cx="228600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66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9888" y="3163888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67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4688" y="3468688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68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5688" y="3849688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69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3888" y="3468688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70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688" y="3011488"/>
            <a:ext cx="228600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71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1488" y="2554288"/>
            <a:ext cx="228600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72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2088" y="3621088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73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3088" y="3316288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74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4088" y="3087688"/>
            <a:ext cx="228600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75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8888" y="2859088"/>
            <a:ext cx="228600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76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7488" y="2706688"/>
            <a:ext cx="152400" cy="152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77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4688" y="4230688"/>
            <a:ext cx="114300" cy="114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78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9888" y="4306888"/>
            <a:ext cx="152400" cy="152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79" name="Picture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2688" y="4306888"/>
            <a:ext cx="228600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80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9288" y="4383088"/>
            <a:ext cx="228600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81" name="Picture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2088" y="4383088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82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4088" y="4002088"/>
            <a:ext cx="304800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83" name="Picture 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05088" y="4078288"/>
            <a:ext cx="381000" cy="285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84" name="Picture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86088" y="4192588"/>
            <a:ext cx="457200" cy="342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885" name="Picture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7088" y="4306888"/>
            <a:ext cx="533400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678" name="Text Box 30"/>
          <p:cNvSpPr txBox="1"/>
          <p:nvPr/>
        </p:nvSpPr>
        <p:spPr>
          <a:xfrm>
            <a:off x="4129088" y="5907088"/>
            <a:ext cx="990600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主机</a:t>
            </a:r>
            <a:endParaRPr lang="zh-CN" altLang="en-US" sz="2400" b="1" dirty="0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679" name="Text Box 31"/>
          <p:cNvSpPr txBox="1"/>
          <p:nvPr/>
        </p:nvSpPr>
        <p:spPr>
          <a:xfrm>
            <a:off x="4967288" y="1563688"/>
            <a:ext cx="609600" cy="82232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终端</a:t>
            </a:r>
            <a:endParaRPr lang="zh-CN" altLang="en-US" sz="24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49888" name="Picture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0088" y="3925888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681" name="Line 33"/>
          <p:cNvSpPr/>
          <p:nvPr/>
        </p:nvSpPr>
        <p:spPr>
          <a:xfrm flipH="1" flipV="1">
            <a:off x="2224088" y="4078288"/>
            <a:ext cx="1600200" cy="45720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82" name="Line 34"/>
          <p:cNvSpPr/>
          <p:nvPr/>
        </p:nvSpPr>
        <p:spPr>
          <a:xfrm flipH="1" flipV="1">
            <a:off x="2224088" y="2478088"/>
            <a:ext cx="1676400" cy="1752600"/>
          </a:xfrm>
          <a:prstGeom prst="line">
            <a:avLst/>
          </a:prstGeom>
          <a:ln w="952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83" name="Line 35"/>
          <p:cNvSpPr/>
          <p:nvPr/>
        </p:nvSpPr>
        <p:spPr>
          <a:xfrm flipH="1" flipV="1">
            <a:off x="4281488" y="2325688"/>
            <a:ext cx="381000" cy="1905000"/>
          </a:xfrm>
          <a:prstGeom prst="line">
            <a:avLst/>
          </a:prstGeom>
          <a:ln w="9525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84" name="Line 36"/>
          <p:cNvSpPr/>
          <p:nvPr/>
        </p:nvSpPr>
        <p:spPr>
          <a:xfrm flipV="1">
            <a:off x="4814888" y="2554288"/>
            <a:ext cx="2133600" cy="1676400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85" name="Line 37"/>
          <p:cNvSpPr/>
          <p:nvPr/>
        </p:nvSpPr>
        <p:spPr>
          <a:xfrm flipV="1">
            <a:off x="5272088" y="4306888"/>
            <a:ext cx="1981200" cy="228600"/>
          </a:xfrm>
          <a:prstGeom prst="line">
            <a:avLst/>
          </a:prstGeom>
          <a:ln w="9525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86" name="Text Box 38"/>
          <p:cNvSpPr txBox="1"/>
          <p:nvPr/>
        </p:nvSpPr>
        <p:spPr>
          <a:xfrm>
            <a:off x="987425" y="304800"/>
            <a:ext cx="7097713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endParaRPr lang="zh-CN" altLang="zh-CN" dirty="0">
              <a:latin typeface="Helvetica" pitchFamily="34" charset="0"/>
            </a:endParaRPr>
          </a:p>
        </p:txBody>
      </p:sp>
      <p:sp>
        <p:nvSpPr>
          <p:cNvPr id="249895" name="Text Box 39"/>
          <p:cNvSpPr txBox="1">
            <a:spLocks noChangeArrowheads="1"/>
          </p:cNvSpPr>
          <p:nvPr/>
        </p:nvSpPr>
        <p:spPr bwMode="auto">
          <a:xfrm>
            <a:off x="1201738" y="671513"/>
            <a:ext cx="6921500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3600" kern="1200" cap="none" spc="0" normalizeH="0" baseline="0" noProof="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分时系统例子</a:t>
            </a:r>
            <a:endParaRPr kumimoji="0" lang="zh-CN" altLang="en-US" sz="3600" kern="1200" cap="none" spc="0" normalizeH="0" baseline="0" noProof="0" dirty="0">
              <a:solidFill>
                <a:srgbClr val="0000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1" presetClass="entr" presetSubtype="0" fill="remove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50"/>
                            </p:stCondLst>
                            <p:childTnLst>
                              <p:par>
                                <p:cTn id="8" presetID="11" presetClass="entr" presetSubtype="0" fill="remove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100"/>
                            </p:stCondLst>
                            <p:childTnLst>
                              <p:par>
                                <p:cTn id="11" presetID="11" presetClass="entr" presetSubtype="0" fill="remove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50"/>
                            </p:stCondLst>
                            <p:childTnLst>
                              <p:par>
                                <p:cTn id="14" presetID="11" presetClass="entr" presetSubtype="0" fill="remove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0"/>
                            </p:stCondLst>
                            <p:childTnLst>
                              <p:par>
                                <p:cTn id="17" presetID="11" presetClass="entr" presetSubtype="0" fill="remove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750"/>
                            </p:stCondLst>
                            <p:childTnLst>
                              <p:par>
                                <p:cTn id="20" presetID="11" presetClass="entr" presetSubtype="0" fill="remove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300"/>
                            </p:stCondLst>
                            <p:childTnLst>
                              <p:par>
                                <p:cTn id="23" presetID="11" presetClass="entr" presetSubtype="0" fill="remove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850"/>
                            </p:stCondLst>
                            <p:childTnLst>
                              <p:par>
                                <p:cTn id="26" presetID="11" presetClass="entr" presetSubtype="0" fill="remove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400"/>
                            </p:stCondLst>
                            <p:childTnLst>
                              <p:par>
                                <p:cTn id="29" presetID="11" presetClass="entr" presetSubtype="0" fill="remove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" dur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950"/>
                            </p:stCondLst>
                            <p:childTnLst>
                              <p:par>
                                <p:cTn id="32" presetID="11" presetClass="entr" presetSubtype="0" fill="remove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500"/>
                            </p:stCondLst>
                            <p:childTnLst>
                              <p:par>
                                <p:cTn id="35" presetID="11" presetClass="entr" presetSubtype="0" fill="remove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6" dur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050"/>
                            </p:stCondLst>
                            <p:childTnLst>
                              <p:par>
                                <p:cTn id="38" presetID="11" presetClass="entr" presetSubtype="0" fill="remove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" dur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600"/>
                            </p:stCondLst>
                            <p:childTnLst>
                              <p:par>
                                <p:cTn id="41" presetID="11" presetClass="entr" presetSubtype="0" fill="remove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" dur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150"/>
                            </p:stCondLst>
                            <p:childTnLst>
                              <p:par>
                                <p:cTn id="44" presetID="11" presetClass="entr" presetSubtype="0" fill="remove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5" dur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700"/>
                            </p:stCondLst>
                            <p:childTnLst>
                              <p:par>
                                <p:cTn id="47" presetID="11" presetClass="entr" presetSubtype="0" fill="remove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" dur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8250"/>
                            </p:stCondLst>
                            <p:childTnLst>
                              <p:par>
                                <p:cTn id="50" presetID="11" presetClass="entr" presetSubtype="0" fill="remove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" dur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800"/>
                            </p:stCondLst>
                            <p:childTnLst>
                              <p:par>
                                <p:cTn id="53" presetID="11" presetClass="entr" presetSubtype="0" fill="remove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4" dur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9350"/>
                            </p:stCondLst>
                            <p:childTnLst>
                              <p:par>
                                <p:cTn id="56" presetID="11" presetClass="entr" presetSubtype="0" fill="remove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7" dur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900"/>
                            </p:stCondLst>
                            <p:childTnLst>
                              <p:par>
                                <p:cTn id="59" presetID="11" presetClass="entr" presetSubtype="0" fill="remove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" dur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450"/>
                            </p:stCondLst>
                            <p:childTnLst>
                              <p:par>
                                <p:cTn id="62" presetID="11" presetClass="entr" presetSubtype="0" fill="remove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3" dur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1000"/>
                            </p:stCondLst>
                            <p:childTnLst>
                              <p:par>
                                <p:cTn id="65" presetID="11" presetClass="entr" presetSubtype="0" fill="remove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6" dur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1550"/>
                            </p:stCondLst>
                            <p:childTnLst>
                              <p:par>
                                <p:cTn id="68" presetID="11" presetClass="entr" presetSubtype="0" fill="remove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2100"/>
                            </p:stCondLst>
                            <p:childTnLst>
                              <p:par>
                                <p:cTn id="71" presetID="11" presetClass="entr" presetSubtype="0" fill="remove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250825" y="1700213"/>
            <a:ext cx="8497888" cy="1981200"/>
          </a:xfrm>
        </p:spPr>
        <p:txBody>
          <a:bodyPr vert="horz" wrap="square" lIns="91422" tIns="45711" rIns="91422" bIns="45711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  </a:t>
            </a: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第</a:t>
            </a:r>
            <a:r>
              <a:rPr kumimoji="0" lang="zh-CN" alt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一</a:t>
            </a: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章 导论（三）</a:t>
            </a:r>
            <a:br>
              <a:rPr kumimoji="0" lang="zh-CN" altLang="en-US" sz="5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br>
              <a:rPr kumimoji="0" lang="en-US" altLang="zh-CN" sz="5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操作系统类</a:t>
            </a:r>
            <a:r>
              <a:rPr kumimoji="0" lang="zh-CN" altLang="en-US" sz="5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型</a:t>
            </a:r>
            <a:endParaRPr kumimoji="0" lang="zh-CN" altLang="en-US" sz="5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advTm="9139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1331278" y="692785"/>
            <a:ext cx="6642100" cy="587375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操作系统分类</a:t>
            </a:r>
            <a:endParaRPr lang="zh-CN" altLang="en-US" dirty="0"/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 bwMode="auto">
          <a:xfrm>
            <a:off x="468313" y="1412875"/>
            <a:ext cx="8229600" cy="452596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大型机系统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桌面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系统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嵌入式系统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手持系统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分布式系统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虚拟系统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多处理器系统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38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大型机系统</a:t>
            </a:r>
            <a:endParaRPr lang="zh-CN" altLang="en-US" dirty="0"/>
          </a:p>
        </p:txBody>
      </p:sp>
      <p:sp>
        <p:nvSpPr>
          <p:cNvPr id="17411" name="内容占位符 2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p>
            <a:r>
              <a:rPr lang="zh-CN" altLang="en-US" dirty="0"/>
              <a:t>简单批处理系统</a:t>
            </a:r>
            <a:endParaRPr lang="en-US" altLang="zh-CN" dirty="0"/>
          </a:p>
          <a:p>
            <a:r>
              <a:rPr lang="zh-CN" altLang="en-US" dirty="0"/>
              <a:t>多道程序系统</a:t>
            </a:r>
            <a:endParaRPr lang="en-US" altLang="zh-CN" dirty="0"/>
          </a:p>
          <a:p>
            <a:r>
              <a:rPr lang="zh-CN" altLang="en-US" dirty="0"/>
              <a:t>分时系统</a:t>
            </a:r>
            <a:endParaRPr lang="en-US" altLang="zh-CN" dirty="0"/>
          </a:p>
          <a:p>
            <a:r>
              <a:rPr lang="zh-CN" altLang="en-US" dirty="0"/>
              <a:t>目标：系统效率</a:t>
            </a:r>
            <a:endParaRPr lang="en-US" altLang="zh-CN" dirty="0"/>
          </a:p>
          <a:p>
            <a:r>
              <a:rPr lang="zh-CN" altLang="en-US" dirty="0"/>
              <a:t>例子：</a:t>
            </a:r>
            <a:endParaRPr lang="en-US" altLang="zh-CN" dirty="0"/>
          </a:p>
          <a:p>
            <a:pPr lvl="1"/>
            <a:r>
              <a:rPr lang="en-US" altLang="zh-CN" dirty="0"/>
              <a:t>IBM AIX </a:t>
            </a:r>
            <a:endParaRPr lang="en-US" altLang="zh-CN" dirty="0"/>
          </a:p>
          <a:p>
            <a:pPr lvl="1"/>
            <a:r>
              <a:rPr lang="en-US" altLang="zh-CN" dirty="0"/>
              <a:t>IBM z/OS</a:t>
            </a:r>
            <a:endParaRPr lang="en-US" altLang="zh-CN" dirty="0"/>
          </a:p>
          <a:p>
            <a:pPr lvl="1"/>
            <a:r>
              <a:rPr lang="en-US" altLang="zh-CN" dirty="0"/>
              <a:t>HP-Unix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741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pic>
        <p:nvPicPr>
          <p:cNvPr id="17413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4088" y="1628775"/>
            <a:ext cx="4016375" cy="40782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桌面系统 </a:t>
            </a:r>
            <a:endParaRPr lang="zh-CN" altLang="en-US" dirty="0"/>
          </a:p>
        </p:txBody>
      </p:sp>
      <p:sp>
        <p:nvSpPr>
          <p:cNvPr id="18435" name="Rectangle 3"/>
          <p:cNvSpPr>
            <a:spLocks noGrp="1"/>
          </p:cNvSpPr>
          <p:nvPr>
            <p:ph idx="1"/>
          </p:nvPr>
        </p:nvSpPr>
        <p:spPr>
          <a:xfrm>
            <a:off x="684213" y="1557338"/>
            <a:ext cx="4403725" cy="4483100"/>
          </a:xfrm>
          <a:noFill/>
          <a:ln>
            <a:noFill/>
          </a:ln>
        </p:spPr>
        <p:txBody>
          <a:bodyPr/>
          <a:p>
            <a:r>
              <a:rPr lang="zh-CN" altLang="en-US" sz="2800" dirty="0"/>
              <a:t>个人计算机（</a:t>
            </a:r>
            <a:r>
              <a:rPr lang="en-US" altLang="zh-CN" sz="2800" dirty="0"/>
              <a:t>PC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 lvl="1"/>
            <a:r>
              <a:rPr lang="en-US" altLang="zh-CN" sz="2000" dirty="0"/>
              <a:t>20</a:t>
            </a:r>
            <a:r>
              <a:rPr lang="zh-CN" altLang="en-US" sz="2000" dirty="0"/>
              <a:t>世纪</a:t>
            </a:r>
            <a:r>
              <a:rPr lang="en-US" altLang="zh-CN" sz="2000" dirty="0"/>
              <a:t>70</a:t>
            </a:r>
            <a:r>
              <a:rPr lang="zh-CN" altLang="en-US" sz="2000" dirty="0"/>
              <a:t>年代</a:t>
            </a:r>
            <a:endParaRPr lang="en-US" altLang="zh-CN" sz="2000" dirty="0"/>
          </a:p>
          <a:p>
            <a:pPr lvl="1"/>
            <a:r>
              <a:rPr lang="zh-CN" altLang="en-US" sz="2000" dirty="0"/>
              <a:t>每个人拥有一台计算机</a:t>
            </a:r>
            <a:endParaRPr lang="en-US" altLang="zh-CN" sz="2000" dirty="0"/>
          </a:p>
          <a:p>
            <a:pPr lvl="1"/>
            <a:r>
              <a:rPr lang="zh-CN" altLang="en-US" sz="2000" dirty="0"/>
              <a:t>设计目标：用户方便性，响应速度</a:t>
            </a:r>
            <a:endParaRPr lang="en-US" altLang="zh-CN" sz="2000" dirty="0"/>
          </a:p>
          <a:p>
            <a:pPr lvl="1"/>
            <a:r>
              <a:rPr lang="zh-CN" altLang="en-US" sz="2000" dirty="0"/>
              <a:t>图形化界面（</a:t>
            </a:r>
            <a:r>
              <a:rPr lang="en-US" altLang="zh-CN" sz="2000" dirty="0"/>
              <a:t>GUI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/>
            <a:r>
              <a:rPr lang="zh-CN" altLang="en-US" sz="2000" dirty="0"/>
              <a:t>多数技术沿用大型机</a:t>
            </a:r>
            <a:endParaRPr lang="en-US" altLang="zh-CN" sz="2000" dirty="0"/>
          </a:p>
          <a:p>
            <a:r>
              <a:rPr lang="zh-CN" altLang="en-US" sz="2400" dirty="0"/>
              <a:t>例子</a:t>
            </a:r>
            <a:endParaRPr lang="en-US" altLang="zh-CN" sz="2400" dirty="0"/>
          </a:p>
          <a:p>
            <a:pPr lvl="1"/>
            <a:r>
              <a:rPr lang="en-US" altLang="zh-CN" sz="2000" dirty="0"/>
              <a:t>Windows</a:t>
            </a:r>
            <a:endParaRPr lang="en-US" altLang="zh-CN" sz="2000" dirty="0"/>
          </a:p>
          <a:p>
            <a:pPr lvl="1"/>
            <a:r>
              <a:rPr lang="en-US" altLang="zh-CN" sz="2000" dirty="0"/>
              <a:t>Linux</a:t>
            </a:r>
            <a:endParaRPr lang="en-US" altLang="zh-CN" sz="2000" dirty="0"/>
          </a:p>
          <a:p>
            <a:pPr lvl="1"/>
            <a:r>
              <a:rPr lang="en-US" altLang="zh-CN" sz="2000" dirty="0"/>
              <a:t>Mac OS</a:t>
            </a:r>
            <a:endParaRPr lang="en-US" altLang="zh-CN" sz="2000" dirty="0"/>
          </a:p>
          <a:p>
            <a:pPr lvl="1"/>
            <a:endParaRPr lang="en-US" altLang="zh-CN" sz="1600" dirty="0"/>
          </a:p>
          <a:p>
            <a:pPr lvl="1"/>
            <a:endParaRPr lang="zh-CN" altLang="en-US" sz="1600" dirty="0"/>
          </a:p>
        </p:txBody>
      </p:sp>
      <p:sp>
        <p:nvSpPr>
          <p:cNvPr id="18436" name="AutoShape 5" descr="http://img3.imgtn.bdimg.com/it/u=3637888303,348708650&amp;fm=21&amp;gp=0.jpg"/>
          <p:cNvSpPr>
            <a:spLocks noChangeAspect="1"/>
          </p:cNvSpPr>
          <p:nvPr/>
        </p:nvSpPr>
        <p:spPr>
          <a:xfrm>
            <a:off x="63500" y="-136525"/>
            <a:ext cx="9744075" cy="81248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437" name="AutoShape 7" descr="http://img3.imgtn.bdimg.com/it/u=3637888303,348708650&amp;fm=21&amp;gp=0.jpg"/>
          <p:cNvSpPr>
            <a:spLocks noChangeAspect="1"/>
          </p:cNvSpPr>
          <p:nvPr/>
        </p:nvSpPr>
        <p:spPr>
          <a:xfrm>
            <a:off x="215900" y="15875"/>
            <a:ext cx="9744075" cy="81248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1843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7938" y="2133600"/>
            <a:ext cx="3406775" cy="29860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Title 1"/>
          <p:cNvSpPr>
            <a:spLocks noGrp="1"/>
          </p:cNvSpPr>
          <p:nvPr>
            <p:ph type="title" idx="4294967295"/>
          </p:nvPr>
        </p:nvSpPr>
        <p:spPr>
          <a:xfrm>
            <a:off x="1187450" y="582613"/>
            <a:ext cx="8229600" cy="576262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手持</a:t>
            </a:r>
            <a:r>
              <a:rPr lang="en-US" altLang="zh-CN" dirty="0"/>
              <a:t>(</a:t>
            </a:r>
            <a:r>
              <a:rPr lang="zh-CN" altLang="en-US" dirty="0"/>
              <a:t>移动</a:t>
            </a:r>
            <a:r>
              <a:rPr lang="en-US" altLang="zh-CN" dirty="0"/>
              <a:t>)</a:t>
            </a:r>
            <a:r>
              <a:rPr lang="zh-CN" altLang="en-US" dirty="0"/>
              <a:t>系统</a:t>
            </a:r>
            <a:endParaRPr lang="en-US" altLang="zh-CN" dirty="0"/>
          </a:p>
        </p:txBody>
      </p:sp>
      <p:sp>
        <p:nvSpPr>
          <p:cNvPr id="19459" name="Content Placeholder 2"/>
          <p:cNvSpPr>
            <a:spLocks noGrp="1"/>
          </p:cNvSpPr>
          <p:nvPr>
            <p:ph idx="4294967295"/>
          </p:nvPr>
        </p:nvSpPr>
        <p:spPr>
          <a:xfrm>
            <a:off x="684213" y="1582738"/>
            <a:ext cx="6792912" cy="45307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zh-CN" altLang="en-US" sz="2800" dirty="0"/>
              <a:t>手持设备，如手机、平板</a:t>
            </a:r>
            <a:endParaRPr lang="en-US" altLang="zh-CN" sz="2800" dirty="0"/>
          </a:p>
          <a:p>
            <a:r>
              <a:rPr lang="zh-CN" altLang="en-US" sz="2800" dirty="0"/>
              <a:t>资源有限</a:t>
            </a:r>
            <a:endParaRPr lang="en-US" altLang="zh-CN" sz="2800" dirty="0"/>
          </a:p>
          <a:p>
            <a:r>
              <a:rPr lang="zh-CN" altLang="en-US" sz="2800" dirty="0"/>
              <a:t>扩展功能</a:t>
            </a:r>
            <a:endParaRPr lang="en-US" altLang="zh-CN" sz="2800" dirty="0"/>
          </a:p>
          <a:p>
            <a:pPr lvl="1"/>
            <a:r>
              <a:rPr lang="en-US" altLang="zh-CN" sz="2400" dirty="0"/>
              <a:t>GPS</a:t>
            </a:r>
            <a:r>
              <a:rPr lang="zh-CN" altLang="en-US" sz="2400" dirty="0"/>
              <a:t>导航</a:t>
            </a:r>
            <a:endParaRPr lang="en-US" altLang="zh-CN" sz="2400" dirty="0"/>
          </a:p>
          <a:p>
            <a:pPr lvl="1"/>
            <a:r>
              <a:rPr lang="zh-CN" altLang="en-US" sz="2400" dirty="0"/>
              <a:t>移动支付</a:t>
            </a:r>
            <a:endParaRPr lang="en-US" altLang="zh-CN" sz="2400" dirty="0"/>
          </a:p>
          <a:p>
            <a:pPr lvl="1"/>
            <a:r>
              <a:rPr lang="zh-CN" altLang="en-US" sz="2400" dirty="0"/>
              <a:t>位置服务</a:t>
            </a:r>
            <a:endParaRPr lang="en-US" altLang="zh-CN" sz="2400" dirty="0"/>
          </a:p>
          <a:p>
            <a:r>
              <a:rPr lang="zh-CN" altLang="en-US" sz="2800" dirty="0"/>
              <a:t>例子：</a:t>
            </a:r>
            <a:endParaRPr lang="en-US" altLang="zh-CN" sz="2800" dirty="0"/>
          </a:p>
          <a:p>
            <a:pPr lvl="1"/>
            <a:r>
              <a:rPr lang="en-US" altLang="zh-CN" sz="2400" b="1" dirty="0">
                <a:solidFill>
                  <a:srgbClr val="3366FF"/>
                </a:solidFill>
              </a:rPr>
              <a:t>Apple iOS </a:t>
            </a:r>
            <a:endParaRPr lang="en-US" altLang="zh-CN" sz="2400" b="1" dirty="0">
              <a:solidFill>
                <a:srgbClr val="3366FF"/>
              </a:solidFill>
            </a:endParaRPr>
          </a:p>
          <a:p>
            <a:pPr lvl="1"/>
            <a:r>
              <a:rPr lang="en-US" altLang="zh-CN" sz="2400" b="1" dirty="0">
                <a:solidFill>
                  <a:srgbClr val="3366FF"/>
                </a:solidFill>
              </a:rPr>
              <a:t>Google Android</a:t>
            </a:r>
            <a:endParaRPr lang="en-US" altLang="zh-CN" sz="2400" b="1" dirty="0">
              <a:solidFill>
                <a:srgbClr val="3366FF"/>
              </a:solidFill>
            </a:endParaRPr>
          </a:p>
        </p:txBody>
      </p:sp>
      <p:pic>
        <p:nvPicPr>
          <p:cNvPr id="19460" name="Picture 2" descr="http://mo.zzit.com.cn/upimg/article/2009/allimg/091203/1110164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6388" y="1703388"/>
            <a:ext cx="3133725" cy="2349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1" name="Picture 4" descr="http://img0.pconline.com.cn/pconline/1105/18/2416672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825" y="4149725"/>
            <a:ext cx="3586163" cy="23526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嵌入系统</a:t>
            </a:r>
            <a:endParaRPr lang="zh-CN" altLang="en-US" dirty="0"/>
          </a:p>
        </p:txBody>
      </p:sp>
      <p:sp>
        <p:nvSpPr>
          <p:cNvPr id="20483" name="内容占位符 3"/>
          <p:cNvSpPr>
            <a:spLocks noGrp="1"/>
          </p:cNvSpPr>
          <p:nvPr>
            <p:ph idx="1"/>
          </p:nvPr>
        </p:nvSpPr>
        <p:spPr>
          <a:xfrm>
            <a:off x="457200" y="1600200"/>
            <a:ext cx="4691063" cy="4525963"/>
          </a:xfrm>
          <a:noFill/>
          <a:ln>
            <a:noFill/>
          </a:ln>
        </p:spPr>
        <p:txBody>
          <a:bodyPr/>
          <a:p>
            <a:r>
              <a:rPr lang="zh-CN" altLang="en-US" sz="2400" dirty="0"/>
              <a:t>嵌入式系统（</a:t>
            </a:r>
            <a:r>
              <a:rPr lang="en-US" altLang="zh-CN" sz="2400" dirty="0"/>
              <a:t>Embedded system</a:t>
            </a:r>
            <a:r>
              <a:rPr lang="zh-CN" altLang="en-US" sz="2400" dirty="0"/>
              <a:t>）：完全嵌入受控器件内部，为特定应用而设计的专用计算机系统</a:t>
            </a:r>
            <a:endParaRPr lang="en-US" altLang="zh-CN" sz="2400" dirty="0"/>
          </a:p>
          <a:p>
            <a:r>
              <a:rPr lang="zh-CN" altLang="en-US" sz="2400" dirty="0"/>
              <a:t>随着单片机的出现而出现</a:t>
            </a:r>
            <a:endParaRPr lang="en-US" altLang="zh-CN" sz="2400" dirty="0"/>
          </a:p>
          <a:p>
            <a:r>
              <a:rPr lang="zh-CN" altLang="en-US" sz="2400" dirty="0"/>
              <a:t>特点：</a:t>
            </a:r>
            <a:endParaRPr lang="en-US" altLang="zh-CN" sz="2400" dirty="0"/>
          </a:p>
          <a:p>
            <a:pPr lvl="1"/>
            <a:r>
              <a:rPr lang="zh-CN" altLang="en-US" sz="2000" dirty="0"/>
              <a:t>内核较小、专用性强、系统精简、高实时性</a:t>
            </a:r>
            <a:endParaRPr lang="en-US" altLang="zh-CN" sz="2000" dirty="0"/>
          </a:p>
          <a:p>
            <a:r>
              <a:rPr lang="zh-CN" altLang="en-US" sz="2400" dirty="0"/>
              <a:t>应用场合</a:t>
            </a:r>
            <a:endParaRPr lang="en-US" altLang="zh-CN" sz="2400" dirty="0"/>
          </a:p>
          <a:p>
            <a:pPr lvl="1"/>
            <a:r>
              <a:rPr lang="zh-CN" altLang="en-US" sz="2000" dirty="0"/>
              <a:t>工业控制、交通管理、信息家电、家庭智能管理、</a:t>
            </a:r>
            <a:r>
              <a:rPr lang="en-US" altLang="zh-CN" sz="2000" dirty="0"/>
              <a:t>POS</a:t>
            </a:r>
            <a:r>
              <a:rPr lang="zh-CN" altLang="en-US" sz="2000" dirty="0"/>
              <a:t>网络、环境工程</a:t>
            </a:r>
            <a:endParaRPr lang="zh-CN" altLang="en-US" sz="2000" dirty="0"/>
          </a:p>
          <a:p>
            <a:pPr lvl="1"/>
            <a:endParaRPr lang="zh-CN" altLang="en-US" sz="2400" dirty="0"/>
          </a:p>
        </p:txBody>
      </p:sp>
      <p:sp>
        <p:nvSpPr>
          <p:cNvPr id="20484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pic>
        <p:nvPicPr>
          <p:cNvPr id="2048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9700" y="1412875"/>
            <a:ext cx="3573463" cy="2590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8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425" y="3990975"/>
            <a:ext cx="2376488" cy="23764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Title 1"/>
          <p:cNvSpPr>
            <a:spLocks noGrp="1"/>
          </p:cNvSpPr>
          <p:nvPr>
            <p:ph type="title" idx="4294967295"/>
          </p:nvPr>
        </p:nvSpPr>
        <p:spPr>
          <a:xfrm>
            <a:off x="1042988" y="549275"/>
            <a:ext cx="8229600" cy="576263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分布式系统</a:t>
            </a:r>
            <a:endParaRPr lang="en-US" altLang="zh-CN" dirty="0"/>
          </a:p>
        </p:txBody>
      </p:sp>
      <p:sp>
        <p:nvSpPr>
          <p:cNvPr id="21507" name="Content Placeholder 2"/>
          <p:cNvSpPr>
            <a:spLocks noGrp="1"/>
          </p:cNvSpPr>
          <p:nvPr>
            <p:ph idx="4294967295"/>
          </p:nvPr>
        </p:nvSpPr>
        <p:spPr>
          <a:xfrm>
            <a:off x="539750" y="1508125"/>
            <a:ext cx="5326063" cy="50085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zh-CN" altLang="en-US" dirty="0"/>
              <a:t>支持分布式处理的软件系统，又称松耦合系统</a:t>
            </a:r>
            <a:endParaRPr lang="en-US" altLang="zh-CN" dirty="0"/>
          </a:p>
          <a:p>
            <a:r>
              <a:rPr lang="zh-CN" altLang="en-US" dirty="0"/>
              <a:t>通过网络通信：</a:t>
            </a:r>
            <a:r>
              <a:rPr lang="en-US" altLang="zh-CN" dirty="0"/>
              <a:t> TCP/IP </a:t>
            </a:r>
            <a:endParaRPr lang="en-US" altLang="zh-CN" dirty="0"/>
          </a:p>
          <a:p>
            <a:r>
              <a:rPr lang="zh-CN" altLang="en-US" dirty="0"/>
              <a:t>网络操作系统</a:t>
            </a:r>
            <a:endParaRPr lang="en-US" altLang="zh-CN" dirty="0"/>
          </a:p>
          <a:p>
            <a:r>
              <a:rPr lang="zh-CN" altLang="en-US" dirty="0"/>
              <a:t>没有真正意义上的分布式操作系统</a:t>
            </a:r>
            <a:endParaRPr lang="en-US" altLang="zh-CN" dirty="0"/>
          </a:p>
          <a:p>
            <a:r>
              <a:rPr lang="zh-CN" altLang="en-US" dirty="0"/>
              <a:t>例子：</a:t>
            </a:r>
            <a:endParaRPr lang="en-US" altLang="zh-CN" dirty="0"/>
          </a:p>
          <a:p>
            <a:pPr lvl="1"/>
            <a:r>
              <a:rPr lang="zh-CN" altLang="en-US" dirty="0"/>
              <a:t>客户机</a:t>
            </a:r>
            <a:r>
              <a:rPr lang="en-US" altLang="zh-CN" dirty="0"/>
              <a:t>-</a:t>
            </a:r>
            <a:r>
              <a:rPr lang="zh-CN" altLang="en-US" dirty="0"/>
              <a:t>服务器系统</a:t>
            </a:r>
            <a:endParaRPr lang="en-US" altLang="zh-CN" dirty="0"/>
          </a:p>
          <a:p>
            <a:pPr lvl="1"/>
            <a:r>
              <a:rPr lang="en-US" altLang="zh-CN" dirty="0"/>
              <a:t>P2P</a:t>
            </a:r>
            <a:r>
              <a:rPr lang="zh-CN" altLang="en-US" dirty="0"/>
              <a:t>系统</a:t>
            </a:r>
            <a:endParaRPr lang="en-US" altLang="zh-CN" dirty="0"/>
          </a:p>
        </p:txBody>
      </p:sp>
      <p:pic>
        <p:nvPicPr>
          <p:cNvPr id="21508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5813" y="1700213"/>
            <a:ext cx="2671762" cy="21240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9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9475" y="4365625"/>
            <a:ext cx="2578100" cy="21510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>
                <a:ea typeface="宋体" panose="02010600030101010101" pitchFamily="2" charset="-122"/>
              </a:rPr>
              <a:t>多处理器系统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2531" name="Rectangle 3"/>
          <p:cNvSpPr>
            <a:spLocks noGrp="1"/>
          </p:cNvSpPr>
          <p:nvPr>
            <p:ph idx="1"/>
          </p:nvPr>
        </p:nvSpPr>
        <p:spPr>
          <a:xfrm>
            <a:off x="457200" y="1600200"/>
            <a:ext cx="4835525" cy="4995863"/>
          </a:xfrm>
          <a:noFill/>
          <a:ln>
            <a:noFill/>
          </a:ln>
        </p:spPr>
        <p:txBody>
          <a:bodyPr/>
          <a:p>
            <a:pPr>
              <a:lnSpc>
                <a:spcPct val="90000"/>
              </a:lnSpc>
            </a:pPr>
            <a:r>
              <a:rPr lang="zh-CN" altLang="en-US" sz="2400" dirty="0"/>
              <a:t>多处理器系统：有多个紧密通信的处理器的系统</a:t>
            </a:r>
            <a:endParaRPr lang="en-US" altLang="zh-CN" sz="2400" dirty="0"/>
          </a:p>
          <a:p>
            <a:pPr lvl="1">
              <a:lnSpc>
                <a:spcPct val="90000"/>
              </a:lnSpc>
            </a:pPr>
            <a:r>
              <a:rPr lang="zh-CN" altLang="en-US" sz="2400" dirty="0"/>
              <a:t>并行系统</a:t>
            </a:r>
            <a:r>
              <a:rPr lang="en-US" altLang="zh-CN" sz="2400" dirty="0"/>
              <a:t>(Parallel System)</a:t>
            </a:r>
            <a:endParaRPr lang="en-US" altLang="zh-CN" sz="2400" dirty="0"/>
          </a:p>
          <a:p>
            <a:pPr lvl="1">
              <a:lnSpc>
                <a:spcPct val="90000"/>
              </a:lnSpc>
            </a:pPr>
            <a:r>
              <a:rPr lang="zh-CN" altLang="en-US" sz="2400" dirty="0"/>
              <a:t>紧耦合系统</a:t>
            </a:r>
            <a:r>
              <a:rPr lang="en-US" altLang="zh-CN" sz="2400" dirty="0"/>
              <a:t>(Tightly Coupled System)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>
              <a:lnSpc>
                <a:spcPct val="90000"/>
              </a:lnSpc>
            </a:pPr>
            <a:r>
              <a:rPr lang="zh-CN" altLang="en-US" sz="2400" dirty="0"/>
              <a:t>多个处理器共享计算机总线、时间、内存和外设等</a:t>
            </a:r>
            <a:endParaRPr lang="zh-CN" altLang="en-US" sz="2400" dirty="0"/>
          </a:p>
          <a:p>
            <a:pPr>
              <a:lnSpc>
                <a:spcPct val="90000"/>
              </a:lnSpc>
            </a:pPr>
            <a:r>
              <a:rPr lang="zh-CN" altLang="en-US" sz="2400" dirty="0"/>
              <a:t>多处理器系统的优点：</a:t>
            </a:r>
            <a:endParaRPr lang="zh-CN" altLang="en-US" sz="2400" dirty="0"/>
          </a:p>
          <a:p>
            <a:pPr lvl="1">
              <a:lnSpc>
                <a:spcPct val="90000"/>
              </a:lnSpc>
            </a:pPr>
            <a:r>
              <a:rPr lang="zh-CN" altLang="en-US" sz="2400" dirty="0"/>
              <a:t>增加吞吐量</a:t>
            </a:r>
            <a:endParaRPr lang="zh-CN" altLang="en-US" sz="2400" dirty="0"/>
          </a:p>
          <a:p>
            <a:pPr lvl="1">
              <a:lnSpc>
                <a:spcPct val="90000"/>
              </a:lnSpc>
            </a:pPr>
            <a:r>
              <a:rPr lang="zh-CN" altLang="en-US" sz="2400" dirty="0"/>
              <a:t>节省资金</a:t>
            </a:r>
            <a:endParaRPr lang="zh-CN" altLang="en-US" sz="2400" dirty="0"/>
          </a:p>
          <a:p>
            <a:pPr lvl="1">
              <a:lnSpc>
                <a:spcPct val="90000"/>
              </a:lnSpc>
            </a:pPr>
            <a:r>
              <a:rPr lang="zh-CN" altLang="en-US" sz="2400" dirty="0"/>
              <a:t>增加可靠性</a:t>
            </a:r>
            <a:endParaRPr lang="zh-CN" altLang="en-US" sz="2400" dirty="0"/>
          </a:p>
          <a:p>
            <a:pPr>
              <a:lnSpc>
                <a:spcPct val="90000"/>
              </a:lnSpc>
            </a:pPr>
            <a:endParaRPr lang="en-US" altLang="zh-CN" dirty="0"/>
          </a:p>
        </p:txBody>
      </p:sp>
      <p:pic>
        <p:nvPicPr>
          <p:cNvPr id="22532" name="Picture 9" descr="ARM11%20MPCore_bb_fron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5638" y="1557338"/>
            <a:ext cx="2597150" cy="25034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3" name="Picture 5" descr="http://images.enet.com.cn/2007/0730/86/76592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063" y="3768725"/>
            <a:ext cx="3770312" cy="28305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多核处理器系统</a:t>
            </a:r>
            <a:endParaRPr lang="zh-CN" altLang="en-US" dirty="0"/>
          </a:p>
        </p:txBody>
      </p:sp>
      <p:sp>
        <p:nvSpPr>
          <p:cNvPr id="23555" name="Rectangle 3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p>
            <a:r>
              <a:rPr lang="zh-CN" altLang="en-US" dirty="0"/>
              <a:t>多核处理器系统</a:t>
            </a:r>
            <a:endParaRPr lang="en-US" altLang="zh-CN" dirty="0"/>
          </a:p>
          <a:p>
            <a:pPr lvl="1"/>
            <a:r>
              <a:rPr lang="zh-CN" altLang="en-US" dirty="0"/>
              <a:t>一个芯片多个核，一个核即一个处理器</a:t>
            </a:r>
            <a:endParaRPr lang="en-US" altLang="zh-CN" dirty="0"/>
          </a:p>
          <a:p>
            <a:pPr lvl="2"/>
            <a:r>
              <a:rPr lang="en-US" altLang="zh-CN" dirty="0"/>
              <a:t>2</a:t>
            </a:r>
            <a:r>
              <a:rPr lang="zh-CN" altLang="en-US" dirty="0"/>
              <a:t>核</a:t>
            </a:r>
            <a:endParaRPr lang="en-US" altLang="zh-CN" dirty="0"/>
          </a:p>
          <a:p>
            <a:pPr lvl="2"/>
            <a:r>
              <a:rPr lang="en-US" altLang="zh-CN" dirty="0"/>
              <a:t>4</a:t>
            </a:r>
            <a:r>
              <a:rPr lang="zh-CN" altLang="en-US" dirty="0"/>
              <a:t>核</a:t>
            </a:r>
            <a:endParaRPr lang="en-US" altLang="zh-CN" dirty="0"/>
          </a:p>
          <a:p>
            <a:pPr lvl="2"/>
            <a:r>
              <a:rPr lang="en-US" altLang="zh-CN" dirty="0"/>
              <a:t>8</a:t>
            </a:r>
            <a:r>
              <a:rPr lang="zh-CN" altLang="en-US" dirty="0"/>
              <a:t>核</a:t>
            </a:r>
            <a:endParaRPr lang="en-US" altLang="zh-CN" dirty="0"/>
          </a:p>
          <a:p>
            <a:pPr lvl="2"/>
            <a:r>
              <a:rPr lang="en-US" altLang="zh-CN" dirty="0"/>
              <a:t>……</a:t>
            </a:r>
            <a:endParaRPr lang="en-US" altLang="zh-CN" dirty="0"/>
          </a:p>
          <a:p>
            <a:pPr lvl="2"/>
            <a:endParaRPr lang="zh-CN" altLang="en-US" dirty="0"/>
          </a:p>
        </p:txBody>
      </p:sp>
      <p:pic>
        <p:nvPicPr>
          <p:cNvPr id="23556" name="Picture 5" descr="pentiumee_processor_front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013" y="4581525"/>
            <a:ext cx="1944687" cy="1787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7" name="Picture 7" descr="Intel-Core-2-Extreme-processor-QX9775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1275" y="4581525"/>
            <a:ext cx="2047875" cy="18494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8" name="Picture 8" descr="E5-2600 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4025" y="4711700"/>
            <a:ext cx="1368425" cy="15271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en-US" altLang="zh-CN" dirty="0"/>
              <a:t>Intel Xeon E7</a:t>
            </a:r>
            <a:endParaRPr lang="zh-CN" altLang="en-US" dirty="0"/>
          </a:p>
        </p:txBody>
      </p:sp>
      <p:sp>
        <p:nvSpPr>
          <p:cNvPr id="24579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4259263" cy="4525963"/>
          </a:xfrm>
          <a:noFill/>
          <a:ln>
            <a:noFill/>
          </a:ln>
        </p:spPr>
        <p:txBody>
          <a:bodyPr/>
          <a:p>
            <a:r>
              <a:rPr lang="en-US" altLang="zh-CN" dirty="0"/>
              <a:t>E7 8890 V4</a:t>
            </a:r>
            <a:endParaRPr lang="en-US" altLang="zh-CN" dirty="0"/>
          </a:p>
          <a:p>
            <a:r>
              <a:rPr lang="en-US" altLang="zh-CN" dirty="0"/>
              <a:t>24</a:t>
            </a:r>
            <a:r>
              <a:rPr lang="zh-CN" altLang="en-US" dirty="0"/>
              <a:t>内核</a:t>
            </a:r>
            <a:endParaRPr lang="en-US" altLang="zh-CN" dirty="0"/>
          </a:p>
          <a:p>
            <a:r>
              <a:rPr lang="zh-CN" altLang="en-US" dirty="0"/>
              <a:t>最高频率</a:t>
            </a:r>
            <a:r>
              <a:rPr lang="en-US" altLang="zh-CN" dirty="0"/>
              <a:t>3.34GHZ</a:t>
            </a:r>
            <a:endParaRPr lang="en-US" altLang="zh-CN" dirty="0"/>
          </a:p>
          <a:p>
            <a:r>
              <a:rPr lang="en-US" altLang="zh-CN" dirty="0"/>
              <a:t>60MB Cache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24580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6100" y="2420938"/>
            <a:ext cx="4275138" cy="31686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多核</a:t>
            </a:r>
            <a:r>
              <a:rPr lang="en-US" altLang="zh-CN" dirty="0"/>
              <a:t>/</a:t>
            </a:r>
            <a:r>
              <a:rPr lang="zh-CN" altLang="en-US" dirty="0"/>
              <a:t>多处理器系统分类</a:t>
            </a:r>
            <a:endParaRPr lang="zh-CN" altLang="en-US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57200" y="1600200"/>
            <a:ext cx="8507413" cy="452596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对称多处理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(Symmetric Multiprocessing, SMP)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每个处理器运行操作系统的相同副本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许多进程可以立即运行不会降低性能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多数现代操作系统支持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SMP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5604" name="Picture 7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9975" y="4186238"/>
            <a:ext cx="4044950" cy="19415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多核</a:t>
            </a:r>
            <a:r>
              <a:rPr lang="en-US" altLang="zh-CN" dirty="0"/>
              <a:t>/</a:t>
            </a:r>
            <a:r>
              <a:rPr lang="zh-CN" altLang="en-US" dirty="0"/>
              <a:t>多处理器系统分类</a:t>
            </a:r>
            <a:endParaRPr lang="zh-CN" altLang="en-US" dirty="0"/>
          </a:p>
        </p:txBody>
      </p:sp>
      <p:sp>
        <p:nvSpPr>
          <p:cNvPr id="26627" name="内容占位符 2"/>
          <p:cNvSpPr>
            <a:spLocks noGrp="1"/>
          </p:cNvSpPr>
          <p:nvPr>
            <p:ph idx="1"/>
          </p:nvPr>
        </p:nvSpPr>
        <p:spPr>
          <a:xfrm>
            <a:off x="250825" y="1600200"/>
            <a:ext cx="5616575" cy="4525963"/>
          </a:xfrm>
          <a:noFill/>
          <a:ln>
            <a:noFill/>
          </a:ln>
        </p:spPr>
        <p:txBody>
          <a:bodyPr/>
          <a:p>
            <a:r>
              <a:rPr lang="zh-CN" altLang="en-US" dirty="0"/>
              <a:t>非对称多处理</a:t>
            </a:r>
            <a:r>
              <a:rPr lang="en-US" altLang="zh-CN" sz="2400" dirty="0"/>
              <a:t>(Asymmetric Multiprocessing, ASMP)</a:t>
            </a:r>
            <a:endParaRPr lang="en-US" altLang="zh-CN" dirty="0"/>
          </a:p>
          <a:p>
            <a:pPr lvl="1"/>
            <a:r>
              <a:rPr lang="zh-CN" altLang="en-US" dirty="0"/>
              <a:t>各个处理器不对等</a:t>
            </a:r>
            <a:endParaRPr lang="en-US" altLang="zh-CN" dirty="0"/>
          </a:p>
          <a:p>
            <a:pPr lvl="1"/>
            <a:r>
              <a:rPr lang="zh-CN" altLang="en-US" dirty="0"/>
              <a:t>一个主处理器，若干从处理器</a:t>
            </a:r>
            <a:endParaRPr lang="en-US" altLang="zh-CN" dirty="0"/>
          </a:p>
          <a:p>
            <a:pPr lvl="1"/>
            <a:r>
              <a:rPr lang="zh-CN" altLang="en-US" dirty="0"/>
              <a:t>主处理器为从处理器安排任务</a:t>
            </a:r>
            <a:endParaRPr lang="en-US" altLang="zh-CN" dirty="0"/>
          </a:p>
          <a:p>
            <a:pPr lvl="1"/>
            <a:r>
              <a:rPr lang="zh-CN" altLang="en-US" dirty="0"/>
              <a:t>一般用于特定的场景，如游戏、通信等</a:t>
            </a:r>
            <a:endParaRPr lang="en-US" altLang="zh-CN" dirty="0"/>
          </a:p>
          <a:p>
            <a:pPr lvl="1"/>
            <a:r>
              <a:rPr lang="zh-CN" altLang="en-US" dirty="0"/>
              <a:t>不适合</a:t>
            </a:r>
            <a:r>
              <a:rPr lang="en-US" altLang="zh-CN" dirty="0"/>
              <a:t>PC</a:t>
            </a:r>
            <a:r>
              <a:rPr lang="zh-CN" altLang="en-US" dirty="0"/>
              <a:t>，但适合手机等要求功耗的设备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2662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pic>
        <p:nvPicPr>
          <p:cNvPr id="26629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0425" y="2565400"/>
            <a:ext cx="2592388" cy="1722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30" name="TextBox 4"/>
          <p:cNvSpPr txBox="1"/>
          <p:nvPr/>
        </p:nvSpPr>
        <p:spPr>
          <a:xfrm>
            <a:off x="6011863" y="4652963"/>
            <a:ext cx="2520950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/>
            <a:r>
              <a:rPr lang="zh-CN" altLang="en-US" dirty="0">
                <a:latin typeface="Arial" panose="020B0604020202020204" pitchFamily="34" charset="0"/>
              </a:rPr>
              <a:t>骁龙</a:t>
            </a:r>
            <a:r>
              <a:rPr lang="en-US" altLang="zh-CN" dirty="0">
                <a:latin typeface="Arial" panose="020B0604020202020204" pitchFamily="34" charset="0"/>
              </a:rPr>
              <a:t>820 </a:t>
            </a:r>
            <a:r>
              <a:rPr lang="zh-CN" altLang="en-US" dirty="0">
                <a:latin typeface="Arial" panose="020B0604020202020204" pitchFamily="34" charset="0"/>
              </a:rPr>
              <a:t>手机</a:t>
            </a:r>
            <a:r>
              <a:rPr lang="en-US" altLang="zh-CN" dirty="0">
                <a:latin typeface="Arial" panose="020B0604020202020204" pitchFamily="34" charset="0"/>
              </a:rPr>
              <a:t>CPU</a:t>
            </a:r>
            <a:endParaRPr lang="en-US" altLang="zh-CN" dirty="0">
              <a:latin typeface="Arial" panose="020B0604020202020204" pitchFamily="34" charset="0"/>
            </a:endParaRPr>
          </a:p>
          <a:p>
            <a:pPr algn="ctr"/>
            <a:r>
              <a:rPr lang="en-US" altLang="zh-CN" dirty="0">
                <a:latin typeface="Arial" panose="020B0604020202020204" pitchFamily="34" charset="0"/>
              </a:rPr>
              <a:t>ASMP</a:t>
            </a:r>
            <a:r>
              <a:rPr lang="zh-CN" altLang="en-US" dirty="0">
                <a:latin typeface="Arial" panose="020B0604020202020204" pitchFamily="34" charset="0"/>
              </a:rPr>
              <a:t>架构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集群系统</a:t>
            </a:r>
            <a:endParaRPr lang="zh-CN" altLang="en-US" dirty="0"/>
          </a:p>
        </p:txBody>
      </p:sp>
      <p:sp>
        <p:nvSpPr>
          <p:cNvPr id="27651" name="Rectangle 3"/>
          <p:cNvSpPr>
            <a:spLocks noGrp="1"/>
          </p:cNvSpPr>
          <p:nvPr>
            <p:ph idx="1"/>
          </p:nvPr>
        </p:nvSpPr>
        <p:spPr>
          <a:xfrm>
            <a:off x="457200" y="1600200"/>
            <a:ext cx="8435975" cy="4525963"/>
          </a:xfrm>
          <a:noFill/>
          <a:ln>
            <a:noFill/>
          </a:ln>
        </p:spPr>
        <p:txBody>
          <a:bodyPr/>
          <a:p>
            <a:r>
              <a:rPr lang="zh-CN" altLang="en-US" dirty="0"/>
              <a:t>通过专用网络连接一群计算机，把这些计算机虚拟化为一台有超强计算能力的计算机给用户使用</a:t>
            </a:r>
            <a:endParaRPr lang="en-US" altLang="zh-CN" dirty="0"/>
          </a:p>
          <a:p>
            <a:r>
              <a:rPr lang="zh-CN" altLang="en-US" dirty="0"/>
              <a:t>优点：</a:t>
            </a:r>
            <a:endParaRPr lang="en-US" altLang="zh-CN" dirty="0"/>
          </a:p>
          <a:p>
            <a:pPr lvl="1"/>
            <a:r>
              <a:rPr lang="zh-CN" altLang="en-US" dirty="0"/>
              <a:t>高性能</a:t>
            </a:r>
            <a:endParaRPr lang="en-US" altLang="zh-CN" dirty="0"/>
          </a:p>
          <a:p>
            <a:pPr lvl="1"/>
            <a:r>
              <a:rPr lang="zh-CN" altLang="en-US" dirty="0"/>
              <a:t>低成本</a:t>
            </a:r>
            <a:endParaRPr lang="en-US" altLang="zh-CN" dirty="0"/>
          </a:p>
          <a:p>
            <a:pPr lvl="1"/>
            <a:r>
              <a:rPr lang="zh-CN" altLang="en-US" dirty="0"/>
              <a:t>高可扩展性</a:t>
            </a:r>
            <a:r>
              <a:rPr lang="en-US" altLang="zh-CN" dirty="0"/>
              <a:t>  </a:t>
            </a:r>
            <a:endParaRPr lang="en-US" altLang="zh-CN" dirty="0"/>
          </a:p>
          <a:p>
            <a:pPr lvl="1"/>
            <a:r>
              <a:rPr lang="zh-CN" altLang="en-US" dirty="0"/>
              <a:t>高可靠性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集群系统</a:t>
            </a:r>
            <a:endParaRPr lang="zh-CN" altLang="en-US" dirty="0"/>
          </a:p>
        </p:txBody>
      </p:sp>
      <p:pic>
        <p:nvPicPr>
          <p:cNvPr id="28675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11188" y="1700213"/>
            <a:ext cx="5867400" cy="4025900"/>
          </a:xfrm>
          <a:noFill/>
          <a:ln>
            <a:noFill/>
          </a:ln>
        </p:spPr>
      </p:pic>
      <p:pic>
        <p:nvPicPr>
          <p:cNvPr id="2867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863" y="2349500"/>
            <a:ext cx="2197100" cy="1177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677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588" y="4292600"/>
            <a:ext cx="1773237" cy="17732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神威 太湖之光</a:t>
            </a:r>
            <a:endParaRPr lang="zh-CN" altLang="en-US" dirty="0"/>
          </a:p>
        </p:txBody>
      </p:sp>
      <p:sp>
        <p:nvSpPr>
          <p:cNvPr id="29699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4402138" cy="4525963"/>
          </a:xfrm>
          <a:noFill/>
          <a:ln>
            <a:noFill/>
          </a:ln>
        </p:spPr>
        <p:txBody>
          <a:bodyPr/>
          <a:p>
            <a:r>
              <a:rPr lang="en-US" altLang="zh-CN" sz="2800" dirty="0"/>
              <a:t>2016</a:t>
            </a:r>
            <a:r>
              <a:rPr lang="zh-CN" altLang="en-US" sz="2800" dirty="0"/>
              <a:t>年</a:t>
            </a:r>
            <a:r>
              <a:rPr lang="en-US" altLang="zh-CN" sz="2800" dirty="0"/>
              <a:t>6</a:t>
            </a:r>
            <a:r>
              <a:rPr lang="zh-CN" altLang="en-US" sz="2800" dirty="0"/>
              <a:t>月，计算能力世界第一</a:t>
            </a:r>
            <a:endParaRPr lang="en-US" altLang="zh-CN" sz="2800" dirty="0"/>
          </a:p>
          <a:p>
            <a:r>
              <a:rPr lang="zh-CN" altLang="en-US" sz="2800" dirty="0"/>
              <a:t>世界上首台运算速度超过十亿亿次的超级计算机</a:t>
            </a:r>
            <a:endParaRPr lang="en-US" altLang="zh-CN" sz="2800" dirty="0"/>
          </a:p>
          <a:p>
            <a:r>
              <a:rPr lang="en-US" altLang="zh-CN" sz="2800" dirty="0"/>
              <a:t>40</a:t>
            </a:r>
            <a:r>
              <a:rPr lang="zh-CN" altLang="en-US" sz="2800" dirty="0"/>
              <a:t>个运算机柜和</a:t>
            </a:r>
            <a:r>
              <a:rPr lang="en-US" altLang="zh-CN" sz="2800" dirty="0"/>
              <a:t>8</a:t>
            </a:r>
            <a:r>
              <a:rPr lang="zh-CN" altLang="en-US" sz="2800" dirty="0"/>
              <a:t>个网络机柜</a:t>
            </a:r>
            <a:endParaRPr lang="en-US" altLang="zh-CN" sz="2800" dirty="0"/>
          </a:p>
          <a:p>
            <a:r>
              <a:rPr lang="en-US" altLang="zh-CN" sz="2800" dirty="0"/>
              <a:t>40960</a:t>
            </a:r>
            <a:r>
              <a:rPr lang="zh-CN" altLang="en-US" sz="2800" dirty="0"/>
              <a:t>块处理器</a:t>
            </a:r>
            <a:endParaRPr lang="en-US" altLang="zh-CN" sz="2800" dirty="0"/>
          </a:p>
          <a:p>
            <a:r>
              <a:rPr lang="en-US" altLang="zh-CN" sz="2800" dirty="0"/>
              <a:t>4</a:t>
            </a:r>
            <a:r>
              <a:rPr lang="zh-CN" altLang="en-US" sz="2800" dirty="0"/>
              <a:t>核申威</a:t>
            </a:r>
            <a:r>
              <a:rPr lang="en-US" altLang="zh-CN" sz="2800" dirty="0"/>
              <a:t>26010</a:t>
            </a:r>
            <a:r>
              <a:rPr lang="zh-CN" altLang="en-US" sz="2800" dirty="0"/>
              <a:t>处理器</a:t>
            </a:r>
            <a:endParaRPr lang="en-US" altLang="zh-CN" sz="2800" dirty="0"/>
          </a:p>
          <a:p>
            <a:endParaRPr lang="zh-CN" altLang="en-US" dirty="0"/>
          </a:p>
        </p:txBody>
      </p:sp>
      <p:pic>
        <p:nvPicPr>
          <p:cNvPr id="29700" name="Picture 7" descr="http://n.sinaimg.cn/mil/transform/20160726/aK2Z-fxuifip338701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7900" y="1503363"/>
            <a:ext cx="3913188" cy="2597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701" name="Picture 9" descr="http://img3.imgtn.bdimg.com/it/u=1294694187,2254530366&amp;fm=11&amp;gp=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900" y="4221163"/>
            <a:ext cx="3914775" cy="21621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358775" y="1773238"/>
            <a:ext cx="8497888" cy="1981200"/>
          </a:xfrm>
        </p:spPr>
        <p:txBody>
          <a:bodyPr vert="horz" wrap="square" lIns="91422" tIns="45711" rIns="91422" bIns="45711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  </a:t>
            </a: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第</a:t>
            </a:r>
            <a:r>
              <a:rPr kumimoji="0" lang="zh-CN" alt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一</a:t>
            </a: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章 导论（四）</a:t>
            </a:r>
            <a:br>
              <a:rPr kumimoji="0" lang="zh-CN" altLang="en-US" sz="5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br>
              <a:rPr kumimoji="0" lang="en-US" altLang="zh-CN" sz="5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操作系统操作和功能</a:t>
            </a:r>
            <a:endParaRPr kumimoji="0" lang="zh-CN" altLang="en-US" sz="5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advTm="9139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内容</a:t>
            </a:r>
            <a:endParaRPr lang="zh-CN" altLang="en-US" dirty="0"/>
          </a:p>
        </p:txBody>
      </p:sp>
      <p:sp>
        <p:nvSpPr>
          <p:cNvPr id="16387" name="内容占位符 2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p>
            <a:r>
              <a:rPr lang="zh-CN" altLang="en-US" dirty="0"/>
              <a:t>双模式</a:t>
            </a:r>
            <a:endParaRPr lang="en-US" altLang="zh-CN" dirty="0"/>
          </a:p>
          <a:p>
            <a:r>
              <a:rPr lang="en-US" altLang="zh-CN" dirty="0"/>
              <a:t>I/O</a:t>
            </a:r>
            <a:r>
              <a:rPr lang="zh-CN" altLang="en-US" dirty="0"/>
              <a:t>和内存保护</a:t>
            </a:r>
            <a:endParaRPr lang="en-US" altLang="zh-CN" dirty="0"/>
          </a:p>
          <a:p>
            <a:r>
              <a:rPr lang="zh-CN" altLang="en-US" dirty="0"/>
              <a:t>定时器</a:t>
            </a:r>
            <a:endParaRPr lang="en-US" altLang="zh-CN" dirty="0"/>
          </a:p>
          <a:p>
            <a:r>
              <a:rPr lang="zh-CN" altLang="en-US" dirty="0"/>
              <a:t>进程管理</a:t>
            </a:r>
            <a:endParaRPr lang="en-US" altLang="zh-CN" dirty="0"/>
          </a:p>
          <a:p>
            <a:r>
              <a:rPr lang="zh-CN" altLang="en-US" dirty="0"/>
              <a:t>内存管理</a:t>
            </a:r>
            <a:endParaRPr lang="en-US" altLang="zh-CN" dirty="0"/>
          </a:p>
          <a:p>
            <a:r>
              <a:rPr lang="zh-CN" altLang="en-US" dirty="0"/>
              <a:t>文件管理</a:t>
            </a:r>
            <a:endParaRPr lang="en-US" altLang="zh-CN" dirty="0"/>
          </a:p>
          <a:p>
            <a:r>
              <a:rPr lang="en-US" altLang="zh-CN" dirty="0"/>
              <a:t>I/O</a:t>
            </a:r>
            <a:r>
              <a:rPr lang="zh-CN" altLang="en-US" dirty="0"/>
              <a:t>系统管理</a:t>
            </a:r>
            <a:endParaRPr lang="zh-CN" altLang="en-US" dirty="0"/>
          </a:p>
        </p:txBody>
      </p:sp>
      <p:sp>
        <p:nvSpPr>
          <p:cNvPr id="1638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sp>
        <p:nvSpPr>
          <p:cNvPr id="16389" name="右大括号 1"/>
          <p:cNvSpPr/>
          <p:nvPr/>
        </p:nvSpPr>
        <p:spPr>
          <a:xfrm>
            <a:off x="4211638" y="1700213"/>
            <a:ext cx="865187" cy="1512887"/>
          </a:xfrm>
          <a:prstGeom prst="rightBrace">
            <a:avLst>
              <a:gd name="adj1" fmla="val 8330"/>
              <a:gd name="adj2" fmla="val 50000"/>
            </a:avLst>
          </a:prstGeom>
          <a:solidFill>
            <a:schemeClr val="bg1"/>
          </a:solidFill>
          <a:ln w="63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6390" name="右大括号 2"/>
          <p:cNvSpPr/>
          <p:nvPr/>
        </p:nvSpPr>
        <p:spPr>
          <a:xfrm>
            <a:off x="4211638" y="3500438"/>
            <a:ext cx="865187" cy="2089150"/>
          </a:xfrm>
          <a:prstGeom prst="rightBrace">
            <a:avLst>
              <a:gd name="adj1" fmla="val 8328"/>
              <a:gd name="adj2" fmla="val 50000"/>
            </a:avLst>
          </a:prstGeom>
          <a:solidFill>
            <a:schemeClr val="bg1"/>
          </a:solidFill>
          <a:ln w="63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6391" name="TextBox 3"/>
          <p:cNvSpPr txBox="1"/>
          <p:nvPr/>
        </p:nvSpPr>
        <p:spPr>
          <a:xfrm>
            <a:off x="5364163" y="2133600"/>
            <a:ext cx="3024187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Arial" panose="020B0604020202020204" pitchFamily="34" charset="0"/>
              </a:rPr>
              <a:t>操作系统操作</a:t>
            </a:r>
            <a:endParaRPr lang="zh-CN" altLang="en-US" sz="3200" b="1" dirty="0">
              <a:latin typeface="Arial" panose="020B0604020202020204" pitchFamily="34" charset="0"/>
            </a:endParaRPr>
          </a:p>
        </p:txBody>
      </p:sp>
      <p:sp>
        <p:nvSpPr>
          <p:cNvPr id="16392" name="TextBox 7"/>
          <p:cNvSpPr txBox="1"/>
          <p:nvPr/>
        </p:nvSpPr>
        <p:spPr>
          <a:xfrm>
            <a:off x="5364163" y="4244975"/>
            <a:ext cx="3024187" cy="5857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Arial" panose="020B0604020202020204" pitchFamily="34" charset="0"/>
              </a:rPr>
              <a:t>操作系统功能</a:t>
            </a:r>
            <a:endParaRPr lang="zh-CN" altLang="en-US" sz="32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双重模式操作</a:t>
            </a:r>
            <a:endParaRPr lang="zh-CN" altLang="en-US" dirty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程序运行中的问题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软件错误或特定请求产生异常或陷阱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除数为零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, 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完成操作系统服务等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其他进程问题：如死循环等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解决方法：双重模式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允许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OS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保护自身和其他系统部件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用户模式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(User mode)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和内核模式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(kernel mode)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由硬件提供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模式位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</a:rPr>
              <a:t>特权指令：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可能引起系统崩溃的指令，只能运行在内核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模式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None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graphicFrame>
        <p:nvGraphicFramePr>
          <p:cNvPr id="2" name="图示 1"/>
          <p:cNvGraphicFramePr/>
          <p:nvPr/>
        </p:nvGraphicFramePr>
        <p:xfrm>
          <a:off x="5796136" y="1484783"/>
          <a:ext cx="3048000" cy="23920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系统调用：模式转换</a:t>
            </a:r>
            <a:endParaRPr lang="zh-CN" altLang="en-US" dirty="0"/>
          </a:p>
        </p:txBody>
      </p:sp>
      <p:sp>
        <p:nvSpPr>
          <p:cNvPr id="18435" name="内容占位符 1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p>
            <a:r>
              <a:rPr lang="zh-CN" altLang="en-US" sz="2800" dirty="0"/>
              <a:t>用户程序需要用特权指令怎么办？</a:t>
            </a:r>
            <a:endParaRPr lang="en-US" altLang="zh-CN" sz="2800" dirty="0"/>
          </a:p>
          <a:p>
            <a:r>
              <a:rPr lang="zh-CN" altLang="en-US" sz="2800" dirty="0"/>
              <a:t>解决方法：系统调用（</a:t>
            </a:r>
            <a:r>
              <a:rPr lang="en-US" altLang="zh-CN" sz="2800" dirty="0"/>
              <a:t>System Call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r>
              <a:rPr lang="zh-CN" altLang="en-US" sz="2800" dirty="0"/>
              <a:t>视为软件中断</a:t>
            </a:r>
            <a:endParaRPr lang="zh-CN" altLang="en-US" sz="2800" dirty="0"/>
          </a:p>
        </p:txBody>
      </p:sp>
      <p:pic>
        <p:nvPicPr>
          <p:cNvPr id="18436" name="Picture 3"/>
          <p:cNvPicPr>
            <a:picLocks noChangeAspect="1"/>
          </p:cNvPicPr>
          <p:nvPr/>
        </p:nvPicPr>
        <p:blipFill>
          <a:blip r:embed="rId1"/>
          <a:srcRect l="417" t="30278" r="417" b="30000"/>
          <a:stretch>
            <a:fillRect/>
          </a:stretch>
        </p:blipFill>
        <p:spPr>
          <a:xfrm>
            <a:off x="611188" y="3357563"/>
            <a:ext cx="7481887" cy="2247900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标题 4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en-US" altLang="zh-CN" dirty="0"/>
              <a:t>I/O</a:t>
            </a:r>
            <a:r>
              <a:rPr lang="zh-CN" altLang="en-US" dirty="0"/>
              <a:t>和内存保护</a:t>
            </a:r>
            <a:endParaRPr lang="zh-CN" altLang="en-US" dirty="0"/>
          </a:p>
        </p:txBody>
      </p:sp>
      <p:sp>
        <p:nvSpPr>
          <p:cNvPr id="19459" name="内容占位符 5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p>
            <a:r>
              <a:rPr lang="en-US" altLang="zh-CN" dirty="0"/>
              <a:t>I/O</a:t>
            </a:r>
            <a:r>
              <a:rPr lang="zh-CN" altLang="en-US" dirty="0"/>
              <a:t>保护</a:t>
            </a:r>
            <a:endParaRPr lang="en-US" altLang="zh-CN" dirty="0"/>
          </a:p>
          <a:p>
            <a:pPr lvl="1"/>
            <a:r>
              <a:rPr lang="zh-CN" altLang="en-US" dirty="0"/>
              <a:t>防止用户程序执行非法</a:t>
            </a:r>
            <a:r>
              <a:rPr lang="en-US" altLang="zh-CN" dirty="0"/>
              <a:t>I/O</a:t>
            </a:r>
            <a:endParaRPr lang="en-US" altLang="zh-CN" dirty="0"/>
          </a:p>
          <a:p>
            <a:pPr lvl="1"/>
            <a:r>
              <a:rPr lang="zh-CN" altLang="en-US" dirty="0"/>
              <a:t>解决方法：</a:t>
            </a:r>
            <a:r>
              <a:rPr lang="zh-CN" altLang="en-US" b="1" dirty="0"/>
              <a:t>所有</a:t>
            </a:r>
            <a:r>
              <a:rPr lang="en-US" altLang="zh-CN" b="1" dirty="0"/>
              <a:t>I/O</a:t>
            </a:r>
            <a:r>
              <a:rPr lang="zh-CN" altLang="en-US" b="1" dirty="0"/>
              <a:t>指令都是特权指令</a:t>
            </a:r>
            <a:endParaRPr lang="en-US" altLang="zh-CN" b="1" dirty="0"/>
          </a:p>
          <a:p>
            <a:pPr lvl="1"/>
            <a:r>
              <a:rPr lang="zh-CN" altLang="en-US" dirty="0"/>
              <a:t>用户程序通过系统调用进行</a:t>
            </a:r>
            <a:r>
              <a:rPr lang="en-US" altLang="zh-CN" dirty="0"/>
              <a:t>I/O</a:t>
            </a:r>
            <a:r>
              <a:rPr lang="zh-CN" altLang="en-US" dirty="0"/>
              <a:t>操作</a:t>
            </a:r>
            <a:endParaRPr lang="en-US" altLang="zh-CN" dirty="0"/>
          </a:p>
          <a:p>
            <a:r>
              <a:rPr lang="zh-CN" altLang="en-US" dirty="0"/>
              <a:t>内存保护</a:t>
            </a:r>
            <a:endParaRPr lang="en-US" altLang="zh-CN" dirty="0"/>
          </a:p>
          <a:p>
            <a:pPr lvl="1"/>
            <a:r>
              <a:rPr lang="zh-CN" altLang="en-US" dirty="0"/>
              <a:t>防止内存非法访问</a:t>
            </a:r>
            <a:endParaRPr lang="en-US" altLang="zh-CN" dirty="0"/>
          </a:p>
          <a:p>
            <a:pPr lvl="1"/>
            <a:r>
              <a:rPr lang="zh-CN" altLang="en-US" dirty="0"/>
              <a:t>解决方法：</a:t>
            </a:r>
            <a:r>
              <a:rPr lang="zh-CN" altLang="en-US" b="1" dirty="0"/>
              <a:t>存储保护机制</a:t>
            </a:r>
            <a:endParaRPr lang="en-US" altLang="zh-CN" b="1" dirty="0"/>
          </a:p>
          <a:p>
            <a:pPr lvl="1"/>
            <a:r>
              <a:rPr lang="zh-CN" altLang="en-US" dirty="0"/>
              <a:t>硬件支持</a:t>
            </a: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内存保护例子</a:t>
            </a:r>
            <a:endParaRPr lang="zh-CN" altLang="en-US" dirty="0"/>
          </a:p>
        </p:txBody>
      </p:sp>
      <p:sp>
        <p:nvSpPr>
          <p:cNvPr id="20483" name="内容占位符 2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p>
            <a:r>
              <a:rPr lang="zh-CN" altLang="en-US" sz="2400" dirty="0"/>
              <a:t>基址寄存器（</a:t>
            </a:r>
            <a:r>
              <a:rPr lang="en-US" altLang="zh-CN" sz="2400" dirty="0"/>
              <a:t>Base register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r>
              <a:rPr lang="zh-CN" altLang="en-US" sz="2400" dirty="0"/>
              <a:t>限长寄存器（</a:t>
            </a:r>
            <a:r>
              <a:rPr lang="en-US" altLang="zh-CN" sz="2400" dirty="0"/>
              <a:t>Limited register</a:t>
            </a:r>
            <a:r>
              <a:rPr lang="zh-CN" altLang="en-US" sz="2400" dirty="0"/>
              <a:t>）</a:t>
            </a:r>
            <a:endParaRPr lang="zh-CN" altLang="en-US" sz="2400" dirty="0"/>
          </a:p>
        </p:txBody>
      </p:sp>
      <p:sp>
        <p:nvSpPr>
          <p:cNvPr id="2048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pic>
        <p:nvPicPr>
          <p:cNvPr id="20485" name="Picture 4" descr="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9475" y="2636838"/>
            <a:ext cx="5270500" cy="26146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8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188" y="2636838"/>
            <a:ext cx="2620962" cy="28876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定时器（</a:t>
            </a:r>
            <a:r>
              <a:rPr lang="en-US" altLang="zh-CN" dirty="0"/>
              <a:t>Timer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p>
            <a:r>
              <a:rPr lang="zh-CN" altLang="en-US" sz="2800" dirty="0"/>
              <a:t>如果操作系统不能获得</a:t>
            </a:r>
            <a:r>
              <a:rPr lang="en-US" altLang="zh-CN" sz="2800" dirty="0"/>
              <a:t>CPU</a:t>
            </a:r>
            <a:r>
              <a:rPr lang="zh-CN" altLang="en-US" sz="2800" dirty="0"/>
              <a:t>控制权，就无法管理系统</a:t>
            </a:r>
            <a:endParaRPr lang="en-US" altLang="zh-CN" sz="2800" dirty="0"/>
          </a:p>
          <a:p>
            <a:pPr lvl="1"/>
            <a:r>
              <a:rPr lang="zh-CN" altLang="en-US" sz="2400" dirty="0"/>
              <a:t>用户程序死循环</a:t>
            </a:r>
            <a:endParaRPr lang="en-US" altLang="zh-CN" sz="2400" dirty="0"/>
          </a:p>
          <a:p>
            <a:pPr lvl="1"/>
            <a:r>
              <a:rPr lang="zh-CN" altLang="en-US" sz="2400" dirty="0"/>
              <a:t>用户程序不调用系统调用</a:t>
            </a:r>
            <a:endParaRPr lang="en-US" altLang="zh-CN" sz="2400" dirty="0"/>
          </a:p>
          <a:p>
            <a:r>
              <a:rPr lang="zh-CN" altLang="en-US" sz="2800" dirty="0"/>
              <a:t>解决方法：定时器</a:t>
            </a:r>
            <a:endParaRPr lang="en-US" altLang="zh-CN" sz="2800" dirty="0"/>
          </a:p>
          <a:p>
            <a:pPr lvl="1"/>
            <a:r>
              <a:rPr lang="zh-CN" altLang="en-US" sz="2400" dirty="0"/>
              <a:t>在一段时间后发生中断，</a:t>
            </a:r>
            <a:r>
              <a:rPr lang="en-US" altLang="zh-CN" sz="2400" dirty="0"/>
              <a:t>CPU</a:t>
            </a:r>
            <a:r>
              <a:rPr lang="zh-CN" altLang="en-US" sz="2400" dirty="0"/>
              <a:t>控制权返回操作系统</a:t>
            </a:r>
            <a:endParaRPr lang="en-US" altLang="zh-CN" sz="2400" dirty="0"/>
          </a:p>
          <a:p>
            <a:pPr lvl="1"/>
            <a:r>
              <a:rPr lang="zh-CN" altLang="en-US" sz="2400" dirty="0"/>
              <a:t>固定时间和可变时间定时器</a:t>
            </a:r>
            <a:endParaRPr lang="en-US" altLang="zh-CN" sz="2400" dirty="0"/>
          </a:p>
          <a:p>
            <a:pPr lvl="1"/>
            <a:r>
              <a:rPr lang="zh-CN" altLang="en-US" sz="2400" dirty="0"/>
              <a:t>利用时钟和计数器实现</a:t>
            </a:r>
            <a:endParaRPr lang="zh-CN" altLang="en-US" sz="2400" dirty="0"/>
          </a:p>
        </p:txBody>
      </p:sp>
      <p:sp>
        <p:nvSpPr>
          <p:cNvPr id="2150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操作系统功能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进程管理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内存管理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文件管理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I/O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系统管理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其它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53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进程管理</a:t>
            </a:r>
            <a:endParaRPr lang="zh-CN" altLang="en-US" dirty="0"/>
          </a:p>
        </p:txBody>
      </p:sp>
      <p:sp>
        <p:nvSpPr>
          <p:cNvPr id="23555" name="内容占位符 2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p>
            <a:r>
              <a:rPr lang="zh-CN" altLang="en-US" sz="2800" dirty="0"/>
              <a:t>操作系统的核心目标：运行程序</a:t>
            </a:r>
            <a:endParaRPr lang="en-US" altLang="zh-CN" sz="2800" dirty="0"/>
          </a:p>
          <a:p>
            <a:r>
              <a:rPr lang="zh-CN" altLang="en-US" sz="2800" dirty="0"/>
              <a:t>进程：运行中的程序</a:t>
            </a:r>
            <a:endParaRPr lang="en-US" altLang="zh-CN" sz="2800" dirty="0"/>
          </a:p>
          <a:p>
            <a:r>
              <a:rPr lang="en-US" altLang="zh-CN" sz="2800" dirty="0"/>
              <a:t>CPU/</a:t>
            </a:r>
            <a:r>
              <a:rPr lang="zh-CN" altLang="en-US" sz="2800" dirty="0"/>
              <a:t>进程管理：对</a:t>
            </a:r>
            <a:r>
              <a:rPr lang="en-US" altLang="zh-CN" sz="2800" dirty="0"/>
              <a:t>CPU</a:t>
            </a:r>
            <a:r>
              <a:rPr lang="zh-CN" altLang="en-US" sz="2800" dirty="0"/>
              <a:t>进行管理</a:t>
            </a:r>
            <a:endParaRPr lang="en-US" altLang="zh-CN" sz="2800" dirty="0"/>
          </a:p>
          <a:p>
            <a:r>
              <a:rPr lang="zh-CN" altLang="en-US" sz="2800" dirty="0"/>
              <a:t>具体内容</a:t>
            </a:r>
            <a:endParaRPr lang="en-US" altLang="zh-CN" sz="2800" dirty="0"/>
          </a:p>
          <a:p>
            <a:pPr lvl="1"/>
            <a:r>
              <a:rPr lang="zh-CN" altLang="en-US" sz="2400" dirty="0"/>
              <a:t>创建和删除用户和系统进程</a:t>
            </a:r>
            <a:endParaRPr lang="zh-CN" altLang="en-US" sz="2400" dirty="0"/>
          </a:p>
          <a:p>
            <a:pPr lvl="1"/>
            <a:r>
              <a:rPr lang="zh-CN" altLang="en-US" sz="2400" dirty="0"/>
              <a:t>暂停和恢复进程</a:t>
            </a:r>
            <a:endParaRPr lang="zh-CN" altLang="en-US" sz="2400" dirty="0"/>
          </a:p>
          <a:p>
            <a:pPr lvl="1"/>
            <a:r>
              <a:rPr lang="zh-CN" altLang="en-US" sz="2400" dirty="0"/>
              <a:t>提供进程同步机制</a:t>
            </a:r>
            <a:endParaRPr lang="zh-CN" altLang="en-US" sz="2400" dirty="0"/>
          </a:p>
          <a:p>
            <a:pPr lvl="1"/>
            <a:r>
              <a:rPr lang="zh-CN" altLang="en-US" sz="2400" dirty="0"/>
              <a:t>提供进程通信机制</a:t>
            </a:r>
            <a:endParaRPr lang="zh-CN" altLang="en-US" sz="2400" dirty="0"/>
          </a:p>
          <a:p>
            <a:pPr lvl="1"/>
            <a:r>
              <a:rPr lang="zh-CN" altLang="en-US" sz="2400" dirty="0"/>
              <a:t>提供死锁处理机制</a:t>
            </a: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2355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pic>
        <p:nvPicPr>
          <p:cNvPr id="23557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2275" y="3357563"/>
            <a:ext cx="3052763" cy="2524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内存管理</a:t>
            </a:r>
            <a:endParaRPr lang="zh-CN" altLang="en-US" dirty="0"/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程序运行必须的存储设备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CPU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只能直接访问寄存器、高速缓存和内存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处理前和处理后的所有数据都在内存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执行的指令都在内存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内存管理：提供内存的分配、回收、地址转换、共享和保护等功能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提高内存利用率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提高内存访问速度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rPr>
              <a:t>    从而提高计算机运行效率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2458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pic>
        <p:nvPicPr>
          <p:cNvPr id="24581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7900" y="4076700"/>
            <a:ext cx="3948113" cy="17668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zh-CN" altLang="en-US" dirty="0"/>
              <a:t>文件管理</a:t>
            </a:r>
            <a:endParaRPr lang="zh-CN" altLang="en-US" dirty="0"/>
          </a:p>
        </p:txBody>
      </p:sp>
      <p:sp>
        <p:nvSpPr>
          <p:cNvPr id="25603" name="内容占位符 2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p>
            <a:r>
              <a:rPr lang="zh-CN" altLang="en-US" sz="2800" dirty="0"/>
              <a:t>解决信息在计算机中存储问题</a:t>
            </a:r>
            <a:endParaRPr lang="en-US" altLang="zh-CN" sz="2800" dirty="0"/>
          </a:p>
          <a:p>
            <a:r>
              <a:rPr lang="zh-CN" altLang="en-US" sz="2800" dirty="0"/>
              <a:t>以文件为单位，以目录为组织方式构建文件系统</a:t>
            </a:r>
            <a:endParaRPr lang="en-US" altLang="zh-CN" sz="2800" dirty="0"/>
          </a:p>
          <a:p>
            <a:r>
              <a:rPr lang="zh-CN" altLang="en-US" sz="2800" dirty="0"/>
              <a:t>内容</a:t>
            </a:r>
            <a:endParaRPr lang="en-US" altLang="zh-CN" sz="2800" dirty="0"/>
          </a:p>
          <a:p>
            <a:pPr lvl="1"/>
            <a:r>
              <a:rPr lang="zh-CN" altLang="en-US" sz="2400" dirty="0"/>
              <a:t>文件逻辑结构</a:t>
            </a:r>
            <a:endParaRPr lang="en-US" altLang="zh-CN" sz="2400" dirty="0"/>
          </a:p>
          <a:p>
            <a:pPr lvl="1"/>
            <a:r>
              <a:rPr lang="zh-CN" altLang="en-US" sz="2400" dirty="0"/>
              <a:t>文件物理结构</a:t>
            </a:r>
            <a:endParaRPr lang="en-US" altLang="zh-CN" sz="2400" dirty="0"/>
          </a:p>
          <a:p>
            <a:pPr lvl="1"/>
            <a:r>
              <a:rPr lang="zh-CN" altLang="en-US" sz="2400" dirty="0"/>
              <a:t>目录</a:t>
            </a:r>
            <a:endParaRPr lang="en-US" altLang="zh-CN" sz="2400" dirty="0"/>
          </a:p>
          <a:p>
            <a:pPr lvl="1"/>
            <a:r>
              <a:rPr lang="zh-CN" altLang="en-US" sz="2400" dirty="0"/>
              <a:t>文件检索方法</a:t>
            </a:r>
            <a:endParaRPr lang="en-US" altLang="zh-CN" sz="2400" dirty="0"/>
          </a:p>
          <a:p>
            <a:pPr lvl="1"/>
            <a:r>
              <a:rPr lang="zh-CN" altLang="en-US" sz="2400" dirty="0"/>
              <a:t>文件操作</a:t>
            </a:r>
            <a:endParaRPr lang="en-US" altLang="zh-CN" sz="2400" dirty="0"/>
          </a:p>
          <a:p>
            <a:pPr lvl="1"/>
            <a:r>
              <a:rPr lang="zh-CN" altLang="en-US" sz="2400" dirty="0"/>
              <a:t>空闲空间管理</a:t>
            </a:r>
            <a:endParaRPr lang="en-US" altLang="zh-CN" sz="2400" dirty="0"/>
          </a:p>
          <a:p>
            <a:pPr lvl="1"/>
            <a:r>
              <a:rPr lang="zh-CN" altLang="en-US" sz="2400" dirty="0"/>
              <a:t>存储设备管理</a:t>
            </a:r>
            <a:endParaRPr lang="en-US" altLang="zh-CN" sz="2400" dirty="0"/>
          </a:p>
          <a:p>
            <a:pPr lvl="1"/>
            <a:endParaRPr lang="zh-CN" altLang="en-US" dirty="0"/>
          </a:p>
        </p:txBody>
      </p:sp>
      <p:sp>
        <p:nvSpPr>
          <p:cNvPr id="2560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pic>
        <p:nvPicPr>
          <p:cNvPr id="25605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7538" y="2852738"/>
            <a:ext cx="3846512" cy="33845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2" tIns="45711" rIns="91422" bIns="45711" anchor="ctr" anchorCtr="0"/>
          <a:p>
            <a:r>
              <a:rPr lang="en-US" altLang="zh-CN" dirty="0"/>
              <a:t>I/O</a:t>
            </a:r>
            <a:r>
              <a:rPr lang="zh-CN" altLang="en-US" dirty="0"/>
              <a:t>设备管理</a:t>
            </a:r>
            <a:endParaRPr lang="zh-CN" altLang="en-US" dirty="0"/>
          </a:p>
        </p:txBody>
      </p:sp>
      <p:sp>
        <p:nvSpPr>
          <p:cNvPr id="26627" name="内容占位符 2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p>
            <a:r>
              <a:rPr lang="zh-CN" altLang="en-US" sz="2800" dirty="0"/>
              <a:t>管理种类繁多的各种</a:t>
            </a:r>
            <a:r>
              <a:rPr lang="en-US" altLang="zh-CN" sz="2800" dirty="0"/>
              <a:t>I/O</a:t>
            </a:r>
            <a:r>
              <a:rPr lang="zh-CN" altLang="en-US" sz="2800" dirty="0"/>
              <a:t>设备，解决计算机中信息的输入和输出问题</a:t>
            </a:r>
            <a:endParaRPr lang="en-US" altLang="zh-CN" sz="2800" dirty="0"/>
          </a:p>
          <a:p>
            <a:r>
              <a:rPr lang="zh-CN" altLang="en-US" sz="2800" dirty="0"/>
              <a:t>关键：设备无关性</a:t>
            </a:r>
            <a:r>
              <a:rPr lang="en-US" altLang="zh-CN" sz="2800" dirty="0"/>
              <a:t>(</a:t>
            </a:r>
            <a:r>
              <a:rPr lang="zh-CN" altLang="en-US" sz="2800" dirty="0"/>
              <a:t>独立性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pPr lvl="1"/>
            <a:r>
              <a:rPr lang="zh-CN" altLang="en-US" sz="2400" dirty="0"/>
              <a:t>所有物理设备按照物理特性抽象为逻辑设备</a:t>
            </a:r>
            <a:endParaRPr lang="en-US" altLang="zh-CN" sz="2400" dirty="0"/>
          </a:p>
          <a:p>
            <a:pPr lvl="1"/>
            <a:r>
              <a:rPr lang="zh-CN" altLang="en-US" sz="2400" dirty="0"/>
              <a:t>应用程序针对逻辑设备编程</a:t>
            </a:r>
            <a:endParaRPr lang="en-US" altLang="zh-CN" sz="2400" dirty="0"/>
          </a:p>
          <a:p>
            <a:pPr lvl="1"/>
            <a:r>
              <a:rPr lang="zh-CN" altLang="en-US" sz="2400" dirty="0"/>
              <a:t>应用程序和物理设备无关</a:t>
            </a:r>
            <a:endParaRPr lang="en-US" altLang="zh-CN" sz="2400" dirty="0"/>
          </a:p>
          <a:p>
            <a:r>
              <a:rPr lang="zh-CN" altLang="en-US" sz="2800" dirty="0"/>
              <a:t>内容</a:t>
            </a:r>
            <a:endParaRPr lang="en-US" altLang="zh-CN" sz="2800" dirty="0"/>
          </a:p>
          <a:p>
            <a:pPr lvl="1"/>
            <a:r>
              <a:rPr lang="zh-CN" altLang="en-US" dirty="0"/>
              <a:t>设备管理</a:t>
            </a:r>
            <a:endParaRPr lang="en-US" altLang="zh-CN" dirty="0"/>
          </a:p>
          <a:p>
            <a:pPr lvl="1"/>
            <a:r>
              <a:rPr lang="zh-CN" altLang="en-US" dirty="0"/>
              <a:t>设备驱动</a:t>
            </a:r>
            <a:endParaRPr lang="zh-CN" altLang="en-US" dirty="0"/>
          </a:p>
        </p:txBody>
      </p:sp>
      <p:sp>
        <p:nvSpPr>
          <p:cNvPr id="2662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pic>
        <p:nvPicPr>
          <p:cNvPr id="26629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7763" y="4797425"/>
            <a:ext cx="2389187" cy="1447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630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9975" y="4953000"/>
            <a:ext cx="1347788" cy="1238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631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213" y="4787900"/>
            <a:ext cx="1655762" cy="1568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标题 1"/>
          <p:cNvSpPr>
            <a:spLocks noGrp="1"/>
          </p:cNvSpPr>
          <p:nvPr>
            <p:ph type="title"/>
          </p:nvPr>
        </p:nvSpPr>
        <p:spPr>
          <a:xfrm>
            <a:off x="1115378" y="688975"/>
            <a:ext cx="6642100" cy="587375"/>
          </a:xfrm>
        </p:spPr>
        <p:txBody>
          <a:bodyPr vert="horz" wrap="square" lIns="91422" tIns="45711" rIns="91422" bIns="45711" anchor="ctr" anchorCtr="0"/>
          <a:p>
            <a:r>
              <a:rPr lang="zh-CN" altLang="en-US" dirty="0"/>
              <a:t>有趣视频</a:t>
            </a:r>
            <a:endParaRPr lang="zh-CN" altLang="en-US" dirty="0"/>
          </a:p>
        </p:txBody>
      </p:sp>
      <p:sp>
        <p:nvSpPr>
          <p:cNvPr id="2662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lIns="91422" tIns="45711" rIns="91422" bIns="4571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/>
            </a:fld>
            <a:endParaRPr lang="zh-CN" altLang="en-US" sz="1400" dirty="0"/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r>
              <a:rPr lang="zh-CN" altLang="en-US"/>
              <a:t>https://www.bilibili.com/video/BV1yV411v7L5?vd_source=0919c07d369a550ea51f428dbb5d99be</a:t>
            </a:r>
            <a:endParaRPr lang="zh-CN" altLang="en-US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commondata" val="eyJoZGlkIjoiM2FhY2Q1YTNiNTAyZTA0Yzg1ZDJjMmVmNGUzNTFlNjUifQ=="/>
</p:tagLst>
</file>

<file path=ppt/theme/theme1.xml><?xml version="1.0" encoding="utf-8"?>
<a:theme xmlns:a="http://schemas.openxmlformats.org/drawingml/2006/main" name="suda">
  <a:themeElements>
    <a:clrScheme name="suda 1">
      <a:dk1>
        <a:srgbClr val="0033CC"/>
      </a:dk1>
      <a:lt1>
        <a:srgbClr val="FFFFFF"/>
      </a:lt1>
      <a:dk2>
        <a:srgbClr val="007572"/>
      </a:dk2>
      <a:lt2>
        <a:srgbClr val="C0C0C0"/>
      </a:lt2>
      <a:accent1>
        <a:srgbClr val="CCECFF"/>
      </a:accent1>
      <a:accent2>
        <a:srgbClr val="3399FF"/>
      </a:accent2>
      <a:accent3>
        <a:srgbClr val="FFFFFF"/>
      </a:accent3>
      <a:accent4>
        <a:srgbClr val="002AAE"/>
      </a:accent4>
      <a:accent5>
        <a:srgbClr val="E2F4FF"/>
      </a:accent5>
      <a:accent6>
        <a:srgbClr val="2D8AE7"/>
      </a:accent6>
      <a:hlink>
        <a:srgbClr val="CC0066"/>
      </a:hlink>
      <a:folHlink>
        <a:srgbClr val="7D7DA9"/>
      </a:folHlink>
    </a:clrScheme>
    <a:fontScheme name="suda">
      <a:majorFont>
        <a:latin typeface="Arial"/>
        <a:ea typeface="华文新魏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uda 1">
        <a:dk1>
          <a:srgbClr val="0033CC"/>
        </a:dk1>
        <a:lt1>
          <a:srgbClr val="FFFFFF"/>
        </a:lt1>
        <a:dk2>
          <a:srgbClr val="007572"/>
        </a:dk2>
        <a:lt2>
          <a:srgbClr val="C0C0C0"/>
        </a:lt2>
        <a:accent1>
          <a:srgbClr val="CCECFF"/>
        </a:accent1>
        <a:accent2>
          <a:srgbClr val="3399FF"/>
        </a:accent2>
        <a:accent3>
          <a:srgbClr val="FFFFFF"/>
        </a:accent3>
        <a:accent4>
          <a:srgbClr val="002AAE"/>
        </a:accent4>
        <a:accent5>
          <a:srgbClr val="E2F4FF"/>
        </a:accent5>
        <a:accent6>
          <a:srgbClr val="2D8AE7"/>
        </a:accent6>
        <a:hlink>
          <a:srgbClr val="CC0066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2">
        <a:dk1>
          <a:srgbClr val="007A77"/>
        </a:dk1>
        <a:lt1>
          <a:srgbClr val="EFF6EE"/>
        </a:lt1>
        <a:dk2>
          <a:srgbClr val="0066CC"/>
        </a:dk2>
        <a:lt2>
          <a:srgbClr val="C0C0C0"/>
        </a:lt2>
        <a:accent1>
          <a:srgbClr val="E7EEE6"/>
        </a:accent1>
        <a:accent2>
          <a:srgbClr val="FF9933"/>
        </a:accent2>
        <a:accent3>
          <a:srgbClr val="F6FAF5"/>
        </a:accent3>
        <a:accent4>
          <a:srgbClr val="006765"/>
        </a:accent4>
        <a:accent5>
          <a:srgbClr val="F1F5F0"/>
        </a:accent5>
        <a:accent6>
          <a:srgbClr val="E78A2D"/>
        </a:accent6>
        <a:hlink>
          <a:srgbClr val="636395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3">
        <a:dk1>
          <a:srgbClr val="000000"/>
        </a:dk1>
        <a:lt1>
          <a:srgbClr val="CCFFCC"/>
        </a:lt1>
        <a:dk2>
          <a:srgbClr val="E88A00"/>
        </a:dk2>
        <a:lt2>
          <a:srgbClr val="C0C0C0"/>
        </a:lt2>
        <a:accent1>
          <a:srgbClr val="CCECFF"/>
        </a:accent1>
        <a:accent2>
          <a:srgbClr val="336600"/>
        </a:accent2>
        <a:accent3>
          <a:srgbClr val="E2FFE2"/>
        </a:accent3>
        <a:accent4>
          <a:srgbClr val="000000"/>
        </a:accent4>
        <a:accent5>
          <a:srgbClr val="E2F4FF"/>
        </a:accent5>
        <a:accent6>
          <a:srgbClr val="2D5C00"/>
        </a:accent6>
        <a:hlink>
          <a:srgbClr val="3333CC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4">
        <a:dk1>
          <a:srgbClr val="000000"/>
        </a:dk1>
        <a:lt1>
          <a:srgbClr val="FFFFCC"/>
        </a:lt1>
        <a:dk2>
          <a:srgbClr val="CC3300"/>
        </a:dk2>
        <a:lt2>
          <a:srgbClr val="C0C0C0"/>
        </a:lt2>
        <a:accent1>
          <a:srgbClr val="FFFFCC"/>
        </a:accent1>
        <a:accent2>
          <a:srgbClr val="339933"/>
        </a:accent2>
        <a:accent3>
          <a:srgbClr val="FFFFE2"/>
        </a:accent3>
        <a:accent4>
          <a:srgbClr val="000000"/>
        </a:accent4>
        <a:accent5>
          <a:srgbClr val="FFFFE2"/>
        </a:accent5>
        <a:accent6>
          <a:srgbClr val="2D8A2D"/>
        </a:accent6>
        <a:hlink>
          <a:srgbClr val="0066FF"/>
        </a:hlink>
        <a:folHlink>
          <a:srgbClr val="6F6F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5">
        <a:dk1>
          <a:srgbClr val="636395"/>
        </a:dk1>
        <a:lt1>
          <a:srgbClr val="FFE2C5"/>
        </a:lt1>
        <a:dk2>
          <a:srgbClr val="000000"/>
        </a:dk2>
        <a:lt2>
          <a:srgbClr val="C0C0C0"/>
        </a:lt2>
        <a:accent1>
          <a:srgbClr val="FFE1E1"/>
        </a:accent1>
        <a:accent2>
          <a:srgbClr val="FF9933"/>
        </a:accent2>
        <a:accent3>
          <a:srgbClr val="FFEEDF"/>
        </a:accent3>
        <a:accent4>
          <a:srgbClr val="53537E"/>
        </a:accent4>
        <a:accent5>
          <a:srgbClr val="FFEEEE"/>
        </a:accent5>
        <a:accent6>
          <a:srgbClr val="E78A2D"/>
        </a:accent6>
        <a:hlink>
          <a:srgbClr val="008080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6">
        <a:dk1>
          <a:srgbClr val="626292"/>
        </a:dk1>
        <a:lt1>
          <a:srgbClr val="CCECFF"/>
        </a:lt1>
        <a:dk2>
          <a:srgbClr val="3333CC"/>
        </a:dk2>
        <a:lt2>
          <a:srgbClr val="C0C0C0"/>
        </a:lt2>
        <a:accent1>
          <a:srgbClr val="D9F1FF"/>
        </a:accent1>
        <a:accent2>
          <a:srgbClr val="FF9900"/>
        </a:accent2>
        <a:accent3>
          <a:srgbClr val="E2F4FF"/>
        </a:accent3>
        <a:accent4>
          <a:srgbClr val="53537C"/>
        </a:accent4>
        <a:accent5>
          <a:srgbClr val="E9F7FF"/>
        </a:accent5>
        <a:accent6>
          <a:srgbClr val="E78A00"/>
        </a:accent6>
        <a:hlink>
          <a:srgbClr val="CC0066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7">
        <a:dk1>
          <a:srgbClr val="0066CC"/>
        </a:dk1>
        <a:lt1>
          <a:srgbClr val="FFE1E1"/>
        </a:lt1>
        <a:dk2>
          <a:srgbClr val="006600"/>
        </a:dk2>
        <a:lt2>
          <a:srgbClr val="C0C0C0"/>
        </a:lt2>
        <a:accent1>
          <a:srgbClr val="FFFFCC"/>
        </a:accent1>
        <a:accent2>
          <a:srgbClr val="009999"/>
        </a:accent2>
        <a:accent3>
          <a:srgbClr val="FFEEEE"/>
        </a:accent3>
        <a:accent4>
          <a:srgbClr val="0056AE"/>
        </a:accent4>
        <a:accent5>
          <a:srgbClr val="FFFFE2"/>
        </a:accent5>
        <a:accent6>
          <a:srgbClr val="008A8A"/>
        </a:accent6>
        <a:hlink>
          <a:srgbClr val="EC0000"/>
        </a:hlink>
        <a:folHlink>
          <a:srgbClr val="00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8">
        <a:dk1>
          <a:srgbClr val="292929"/>
        </a:dk1>
        <a:lt1>
          <a:srgbClr val="DDDDDD"/>
        </a:lt1>
        <a:dk2>
          <a:srgbClr val="0066CC"/>
        </a:dk2>
        <a:lt2>
          <a:srgbClr val="B2B2B2"/>
        </a:lt2>
        <a:accent1>
          <a:srgbClr val="CACADC"/>
        </a:accent1>
        <a:accent2>
          <a:srgbClr val="FFCC00"/>
        </a:accent2>
        <a:accent3>
          <a:srgbClr val="EBEBEB"/>
        </a:accent3>
        <a:accent4>
          <a:srgbClr val="212121"/>
        </a:accent4>
        <a:accent5>
          <a:srgbClr val="E1E1EB"/>
        </a:accent5>
        <a:accent6>
          <a:srgbClr val="E7B900"/>
        </a:accent6>
        <a:hlink>
          <a:srgbClr val="008080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uda">
  <a:themeElements>
    <a:clrScheme name="suda 1">
      <a:dk1>
        <a:srgbClr val="0033CC"/>
      </a:dk1>
      <a:lt1>
        <a:srgbClr val="FFFFFF"/>
      </a:lt1>
      <a:dk2>
        <a:srgbClr val="007572"/>
      </a:dk2>
      <a:lt2>
        <a:srgbClr val="C0C0C0"/>
      </a:lt2>
      <a:accent1>
        <a:srgbClr val="CCECFF"/>
      </a:accent1>
      <a:accent2>
        <a:srgbClr val="3399FF"/>
      </a:accent2>
      <a:accent3>
        <a:srgbClr val="FFFFFF"/>
      </a:accent3>
      <a:accent4>
        <a:srgbClr val="002AAE"/>
      </a:accent4>
      <a:accent5>
        <a:srgbClr val="E2F4FF"/>
      </a:accent5>
      <a:accent6>
        <a:srgbClr val="2D8AE7"/>
      </a:accent6>
      <a:hlink>
        <a:srgbClr val="CC0066"/>
      </a:hlink>
      <a:folHlink>
        <a:srgbClr val="7D7DA9"/>
      </a:folHlink>
    </a:clrScheme>
    <a:fontScheme name="suda">
      <a:majorFont>
        <a:latin typeface="Arial"/>
        <a:ea typeface="华文新魏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uda 1">
        <a:dk1>
          <a:srgbClr val="0033CC"/>
        </a:dk1>
        <a:lt1>
          <a:srgbClr val="FFFFFF"/>
        </a:lt1>
        <a:dk2>
          <a:srgbClr val="007572"/>
        </a:dk2>
        <a:lt2>
          <a:srgbClr val="C0C0C0"/>
        </a:lt2>
        <a:accent1>
          <a:srgbClr val="CCECFF"/>
        </a:accent1>
        <a:accent2>
          <a:srgbClr val="3399FF"/>
        </a:accent2>
        <a:accent3>
          <a:srgbClr val="FFFFFF"/>
        </a:accent3>
        <a:accent4>
          <a:srgbClr val="002AAE"/>
        </a:accent4>
        <a:accent5>
          <a:srgbClr val="E2F4FF"/>
        </a:accent5>
        <a:accent6>
          <a:srgbClr val="2D8AE7"/>
        </a:accent6>
        <a:hlink>
          <a:srgbClr val="CC0066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2">
        <a:dk1>
          <a:srgbClr val="007A77"/>
        </a:dk1>
        <a:lt1>
          <a:srgbClr val="EFF6EE"/>
        </a:lt1>
        <a:dk2>
          <a:srgbClr val="0066CC"/>
        </a:dk2>
        <a:lt2>
          <a:srgbClr val="C0C0C0"/>
        </a:lt2>
        <a:accent1>
          <a:srgbClr val="E7EEE6"/>
        </a:accent1>
        <a:accent2>
          <a:srgbClr val="FF9933"/>
        </a:accent2>
        <a:accent3>
          <a:srgbClr val="F6FAF5"/>
        </a:accent3>
        <a:accent4>
          <a:srgbClr val="006765"/>
        </a:accent4>
        <a:accent5>
          <a:srgbClr val="F1F5F0"/>
        </a:accent5>
        <a:accent6>
          <a:srgbClr val="E78A2D"/>
        </a:accent6>
        <a:hlink>
          <a:srgbClr val="636395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3">
        <a:dk1>
          <a:srgbClr val="000000"/>
        </a:dk1>
        <a:lt1>
          <a:srgbClr val="CCFFCC"/>
        </a:lt1>
        <a:dk2>
          <a:srgbClr val="E88A00"/>
        </a:dk2>
        <a:lt2>
          <a:srgbClr val="C0C0C0"/>
        </a:lt2>
        <a:accent1>
          <a:srgbClr val="CCECFF"/>
        </a:accent1>
        <a:accent2>
          <a:srgbClr val="336600"/>
        </a:accent2>
        <a:accent3>
          <a:srgbClr val="E2FFE2"/>
        </a:accent3>
        <a:accent4>
          <a:srgbClr val="000000"/>
        </a:accent4>
        <a:accent5>
          <a:srgbClr val="E2F4FF"/>
        </a:accent5>
        <a:accent6>
          <a:srgbClr val="2D5C00"/>
        </a:accent6>
        <a:hlink>
          <a:srgbClr val="3333CC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4">
        <a:dk1>
          <a:srgbClr val="000000"/>
        </a:dk1>
        <a:lt1>
          <a:srgbClr val="FFFFCC"/>
        </a:lt1>
        <a:dk2>
          <a:srgbClr val="CC3300"/>
        </a:dk2>
        <a:lt2>
          <a:srgbClr val="C0C0C0"/>
        </a:lt2>
        <a:accent1>
          <a:srgbClr val="FFFFCC"/>
        </a:accent1>
        <a:accent2>
          <a:srgbClr val="339933"/>
        </a:accent2>
        <a:accent3>
          <a:srgbClr val="FFFFE2"/>
        </a:accent3>
        <a:accent4>
          <a:srgbClr val="000000"/>
        </a:accent4>
        <a:accent5>
          <a:srgbClr val="FFFFE2"/>
        </a:accent5>
        <a:accent6>
          <a:srgbClr val="2D8A2D"/>
        </a:accent6>
        <a:hlink>
          <a:srgbClr val="0066FF"/>
        </a:hlink>
        <a:folHlink>
          <a:srgbClr val="6F6F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5">
        <a:dk1>
          <a:srgbClr val="636395"/>
        </a:dk1>
        <a:lt1>
          <a:srgbClr val="FFE2C5"/>
        </a:lt1>
        <a:dk2>
          <a:srgbClr val="000000"/>
        </a:dk2>
        <a:lt2>
          <a:srgbClr val="C0C0C0"/>
        </a:lt2>
        <a:accent1>
          <a:srgbClr val="FFE1E1"/>
        </a:accent1>
        <a:accent2>
          <a:srgbClr val="FF9933"/>
        </a:accent2>
        <a:accent3>
          <a:srgbClr val="FFEEDF"/>
        </a:accent3>
        <a:accent4>
          <a:srgbClr val="53537E"/>
        </a:accent4>
        <a:accent5>
          <a:srgbClr val="FFEEEE"/>
        </a:accent5>
        <a:accent6>
          <a:srgbClr val="E78A2D"/>
        </a:accent6>
        <a:hlink>
          <a:srgbClr val="008080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6">
        <a:dk1>
          <a:srgbClr val="626292"/>
        </a:dk1>
        <a:lt1>
          <a:srgbClr val="CCECFF"/>
        </a:lt1>
        <a:dk2>
          <a:srgbClr val="3333CC"/>
        </a:dk2>
        <a:lt2>
          <a:srgbClr val="C0C0C0"/>
        </a:lt2>
        <a:accent1>
          <a:srgbClr val="D9F1FF"/>
        </a:accent1>
        <a:accent2>
          <a:srgbClr val="FF9900"/>
        </a:accent2>
        <a:accent3>
          <a:srgbClr val="E2F4FF"/>
        </a:accent3>
        <a:accent4>
          <a:srgbClr val="53537C"/>
        </a:accent4>
        <a:accent5>
          <a:srgbClr val="E9F7FF"/>
        </a:accent5>
        <a:accent6>
          <a:srgbClr val="E78A00"/>
        </a:accent6>
        <a:hlink>
          <a:srgbClr val="CC0066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7">
        <a:dk1>
          <a:srgbClr val="0066CC"/>
        </a:dk1>
        <a:lt1>
          <a:srgbClr val="FFE1E1"/>
        </a:lt1>
        <a:dk2>
          <a:srgbClr val="006600"/>
        </a:dk2>
        <a:lt2>
          <a:srgbClr val="C0C0C0"/>
        </a:lt2>
        <a:accent1>
          <a:srgbClr val="FFFFCC"/>
        </a:accent1>
        <a:accent2>
          <a:srgbClr val="009999"/>
        </a:accent2>
        <a:accent3>
          <a:srgbClr val="FFEEEE"/>
        </a:accent3>
        <a:accent4>
          <a:srgbClr val="0056AE"/>
        </a:accent4>
        <a:accent5>
          <a:srgbClr val="FFFFE2"/>
        </a:accent5>
        <a:accent6>
          <a:srgbClr val="008A8A"/>
        </a:accent6>
        <a:hlink>
          <a:srgbClr val="EC0000"/>
        </a:hlink>
        <a:folHlink>
          <a:srgbClr val="00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da 8">
        <a:dk1>
          <a:srgbClr val="292929"/>
        </a:dk1>
        <a:lt1>
          <a:srgbClr val="DDDDDD"/>
        </a:lt1>
        <a:dk2>
          <a:srgbClr val="0066CC"/>
        </a:dk2>
        <a:lt2>
          <a:srgbClr val="B2B2B2"/>
        </a:lt2>
        <a:accent1>
          <a:srgbClr val="CACADC"/>
        </a:accent1>
        <a:accent2>
          <a:srgbClr val="FFCC00"/>
        </a:accent2>
        <a:accent3>
          <a:srgbClr val="EBEBEB"/>
        </a:accent3>
        <a:accent4>
          <a:srgbClr val="212121"/>
        </a:accent4>
        <a:accent5>
          <a:srgbClr val="E1E1EB"/>
        </a:accent5>
        <a:accent6>
          <a:srgbClr val="E7B900"/>
        </a:accent6>
        <a:hlink>
          <a:srgbClr val="008080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suda 1">
    <a:dk1>
      <a:srgbClr val="0033CC"/>
    </a:dk1>
    <a:lt1>
      <a:srgbClr val="FFFFFF"/>
    </a:lt1>
    <a:dk2>
      <a:srgbClr val="007572"/>
    </a:dk2>
    <a:lt2>
      <a:srgbClr val="C0C0C0"/>
    </a:lt2>
    <a:accent1>
      <a:srgbClr val="CCECFF"/>
    </a:accent1>
    <a:accent2>
      <a:srgbClr val="3399FF"/>
    </a:accent2>
    <a:accent3>
      <a:srgbClr val="FFFFFF"/>
    </a:accent3>
    <a:accent4>
      <a:srgbClr val="002AAE"/>
    </a:accent4>
    <a:accent5>
      <a:srgbClr val="E2F4FF"/>
    </a:accent5>
    <a:accent6>
      <a:srgbClr val="2D8AE7"/>
    </a:accent6>
    <a:hlink>
      <a:srgbClr val="CC0066"/>
    </a:hlink>
    <a:folHlink>
      <a:srgbClr val="7D7DA9"/>
    </a:folHlink>
  </a:clrScheme>
</a:themeOverride>
</file>

<file path=ppt/theme/themeOverride2.xml><?xml version="1.0" encoding="utf-8"?>
<a:themeOverride xmlns:a="http://schemas.openxmlformats.org/drawingml/2006/main">
  <a:clrScheme name="suda 1">
    <a:dk1>
      <a:srgbClr val="0033CC"/>
    </a:dk1>
    <a:lt1>
      <a:srgbClr val="FFFFFF"/>
    </a:lt1>
    <a:dk2>
      <a:srgbClr val="007572"/>
    </a:dk2>
    <a:lt2>
      <a:srgbClr val="C0C0C0"/>
    </a:lt2>
    <a:accent1>
      <a:srgbClr val="CCECFF"/>
    </a:accent1>
    <a:accent2>
      <a:srgbClr val="3399FF"/>
    </a:accent2>
    <a:accent3>
      <a:srgbClr val="FFFFFF"/>
    </a:accent3>
    <a:accent4>
      <a:srgbClr val="002AAE"/>
    </a:accent4>
    <a:accent5>
      <a:srgbClr val="E2F4FF"/>
    </a:accent5>
    <a:accent6>
      <a:srgbClr val="2D8AE7"/>
    </a:accent6>
    <a:hlink>
      <a:srgbClr val="CC0066"/>
    </a:hlink>
    <a:folHlink>
      <a:srgbClr val="7D7DA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4394</Words>
  <Application>WPS 演示</Application>
  <PresentationFormat>全屏显示(4:3)</PresentationFormat>
  <Paragraphs>558</Paragraphs>
  <Slides>55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55</vt:i4>
      </vt:variant>
    </vt:vector>
  </HeadingPairs>
  <TitlesOfParts>
    <vt:vector size="70" baseType="lpstr">
      <vt:lpstr>Arial</vt:lpstr>
      <vt:lpstr>宋体</vt:lpstr>
      <vt:lpstr>Wingdings</vt:lpstr>
      <vt:lpstr>华文新魏</vt:lpstr>
      <vt:lpstr>Times New Roman</vt:lpstr>
      <vt:lpstr>Wingdings</vt:lpstr>
      <vt:lpstr>Monotype Sorts</vt:lpstr>
      <vt:lpstr>微软雅黑</vt:lpstr>
      <vt:lpstr>Arial Unicode MS</vt:lpstr>
      <vt:lpstr>Symbol</vt:lpstr>
      <vt:lpstr>楷体_GB2312</vt:lpstr>
      <vt:lpstr>新宋体</vt:lpstr>
      <vt:lpstr>Helvetica</vt:lpstr>
      <vt:lpstr>suda</vt:lpstr>
      <vt:lpstr>1_suda</vt:lpstr>
      <vt:lpstr>注意事项</vt:lpstr>
      <vt:lpstr>本课程教学目标</vt:lpstr>
      <vt:lpstr>  第一章 导论（一）  什么是操作系统</vt:lpstr>
      <vt:lpstr>内容</vt:lpstr>
      <vt:lpstr>如果没有操作系统……</vt:lpstr>
      <vt:lpstr>计算机系统的4个部分</vt:lpstr>
      <vt:lpstr>操作系统的目标</vt:lpstr>
      <vt:lpstr>用户视角</vt:lpstr>
      <vt:lpstr>系统视角</vt:lpstr>
      <vt:lpstr>操作系统定义</vt:lpstr>
      <vt:lpstr>现代计算机系统</vt:lpstr>
      <vt:lpstr>计算机系统操作</vt:lpstr>
      <vt:lpstr>中断</vt:lpstr>
      <vt:lpstr>系统启动</vt:lpstr>
      <vt:lpstr>  第一章 导论（二）  多道程序设计和分时</vt:lpstr>
      <vt:lpstr>内容</vt:lpstr>
      <vt:lpstr>无操作系统计算机</vt:lpstr>
      <vt:lpstr>简单批处理系统</vt:lpstr>
      <vt:lpstr>PowerPoint 演示文稿</vt:lpstr>
      <vt:lpstr>多道程序系统</vt:lpstr>
      <vt:lpstr>多道程序和单道程序运行例子</vt:lpstr>
      <vt:lpstr>并行和并发区别</vt:lpstr>
      <vt:lpstr>分时系统 </vt:lpstr>
      <vt:lpstr>分时系统</vt:lpstr>
      <vt:lpstr>第一个分时系统</vt:lpstr>
      <vt:lpstr>PowerPoint 演示文稿</vt:lpstr>
      <vt:lpstr>PowerPoint 演示文稿</vt:lpstr>
      <vt:lpstr>  第一章 导论（三）  操作系统类型</vt:lpstr>
      <vt:lpstr>操作系统分类</vt:lpstr>
      <vt:lpstr>大型机系统</vt:lpstr>
      <vt:lpstr>桌面系统 </vt:lpstr>
      <vt:lpstr>手持(移动)系统</vt:lpstr>
      <vt:lpstr>嵌入系统</vt:lpstr>
      <vt:lpstr>分布式系统</vt:lpstr>
      <vt:lpstr>多处理器系统</vt:lpstr>
      <vt:lpstr>多核处理器系统</vt:lpstr>
      <vt:lpstr>Intel Xeon E7</vt:lpstr>
      <vt:lpstr>多核/多处理器系统分类</vt:lpstr>
      <vt:lpstr>多核/多处理器系统分类</vt:lpstr>
      <vt:lpstr>集群系统</vt:lpstr>
      <vt:lpstr>集群系统</vt:lpstr>
      <vt:lpstr>神威 太湖之光</vt:lpstr>
      <vt:lpstr>  第一章 导论（四）  操作系统操作和功能</vt:lpstr>
      <vt:lpstr>内容</vt:lpstr>
      <vt:lpstr>双重模式操作</vt:lpstr>
      <vt:lpstr>系统调用：模式转换</vt:lpstr>
      <vt:lpstr>I/O和内存保护</vt:lpstr>
      <vt:lpstr>内存保护例子</vt:lpstr>
      <vt:lpstr>定时器（Timer）</vt:lpstr>
      <vt:lpstr>操作系统功能</vt:lpstr>
      <vt:lpstr>进程管理</vt:lpstr>
      <vt:lpstr>内存管理</vt:lpstr>
      <vt:lpstr>文件管理</vt:lpstr>
      <vt:lpstr>I/O设备管理</vt:lpstr>
      <vt:lpstr>有趣视频</vt:lpstr>
    </vt:vector>
  </TitlesOfParts>
  <Company>zhhz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汉字代码体系</dc:title>
  <dc:creator>yoyo</dc:creator>
  <cp:lastModifiedBy>Administrator</cp:lastModifiedBy>
  <cp:revision>334</cp:revision>
  <dcterms:created xsi:type="dcterms:W3CDTF">2002-09-11T01:24:00Z</dcterms:created>
  <dcterms:modified xsi:type="dcterms:W3CDTF">2025-09-01T09:32:28Z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48C7C7C3523F42759F14E7A6319F129F_12</vt:lpwstr>
  </property>
  <property fmtid="{D5CDD505-2E9C-101B-9397-08002B2CF9AE}" pid="3" name="KSOProductBuildVer">
    <vt:lpwstr>2052-12.1.0.15712</vt:lpwstr>
  </property>
</Properties>
</file>