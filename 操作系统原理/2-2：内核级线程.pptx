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  <p:sldMasterId id="2147483666" r:id="rId4"/>
    <p:sldMasterId id="2147483672" r:id="rId5"/>
  </p:sldMasterIdLst>
  <p:notesMasterIdLst>
    <p:notesMasterId r:id="rId7"/>
  </p:notesMasterIdLst>
  <p:sldIdLst>
    <p:sldId id="266" r:id="rId6"/>
    <p:sldId id="257" r:id="rId8"/>
    <p:sldId id="258" r:id="rId9"/>
    <p:sldId id="276" r:id="rId10"/>
    <p:sldId id="260" r:id="rId11"/>
    <p:sldId id="261" r:id="rId12"/>
    <p:sldId id="262" r:id="rId13"/>
    <p:sldId id="263" r:id="rId14"/>
    <p:sldId id="264" r:id="rId15"/>
    <p:sldId id="265" r:id="rId16"/>
    <p:sldId id="289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322" r:id="rId28"/>
    <p:sldId id="291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14" r:id="rId51"/>
    <p:sldId id="315" r:id="rId52"/>
    <p:sldId id="316" r:id="rId53"/>
    <p:sldId id="317" r:id="rId54"/>
    <p:sldId id="318" r:id="rId55"/>
    <p:sldId id="319" r:id="rId56"/>
    <p:sldId id="320" r:id="rId57"/>
    <p:sldId id="321" r:id="rId58"/>
  </p:sldIdLst>
  <p:sldSz cx="10693400" cy="7556500"/>
  <p:notesSz cx="10693400" cy="7556500"/>
  <p:custDataLst>
    <p:tags r:id="rId6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66" userDrawn="1">
          <p15:clr>
            <a:srgbClr val="A4A3A4"/>
          </p15:clr>
        </p15:guide>
        <p15:guide id="2" pos="217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epone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66"/>
        <p:guide pos="217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3" Type="http://schemas.openxmlformats.org/officeDocument/2006/relationships/tags" Target="tags/tag12.xml"/><Relationship Id="rId62" Type="http://schemas.openxmlformats.org/officeDocument/2006/relationships/commentAuthors" Target="commentAuthors.xml"/><Relationship Id="rId61" Type="http://schemas.openxmlformats.org/officeDocument/2006/relationships/tableStyles" Target="tableStyles.xml"/><Relationship Id="rId60" Type="http://schemas.openxmlformats.org/officeDocument/2006/relationships/viewProps" Target="viewProps.xml"/><Relationship Id="rId6" Type="http://schemas.openxmlformats.org/officeDocument/2006/relationships/slide" Target="slides/slide1.xml"/><Relationship Id="rId59" Type="http://schemas.openxmlformats.org/officeDocument/2006/relationships/presProps" Target="presProps.xml"/><Relationship Id="rId58" Type="http://schemas.openxmlformats.org/officeDocument/2006/relationships/slide" Target="slides/slide52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0" Type="http://schemas.openxmlformats.org/officeDocument/2006/relationships/slide" Target="slides/slide3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807" cy="37913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057119" y="0"/>
            <a:ext cx="4633807" cy="37913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079750" y="944563"/>
            <a:ext cx="4533900" cy="255031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69340" y="3636566"/>
            <a:ext cx="8554720" cy="297537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7177364"/>
            <a:ext cx="4633807" cy="3791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057119" y="7177364"/>
            <a:ext cx="4633807" cy="3791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687458" y="5784144"/>
            <a:ext cx="853541" cy="9087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51496" y="1936460"/>
            <a:ext cx="2412365" cy="444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文本框 31754"/>
          <p:cNvSpPr txBox="1"/>
          <p:nvPr userDrawn="1"/>
        </p:nvSpPr>
        <p:spPr>
          <a:xfrm>
            <a:off x="445558" y="671689"/>
            <a:ext cx="5524923" cy="49911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lvl="0">
              <a:spcBef>
                <a:spcPct val="50000"/>
              </a:spcBef>
            </a:pPr>
            <a:r>
              <a:rPr lang="zh-CN" altLang="en-US" sz="2645" b="1" dirty="0">
                <a:solidFill>
                  <a:srgbClr val="0000FF"/>
                </a:solidFill>
                <a:latin typeface="Arial" panose="020B0604020202020204" pitchFamily="34" charset="0"/>
                <a:ea typeface="华文隶书" panose="02010800040101010101" charset="-122"/>
              </a:rPr>
              <a:t>哈工大计算机科学与技术学院</a:t>
            </a:r>
            <a:endParaRPr lang="zh-CN" altLang="en-US" sz="2645" b="1">
              <a:solidFill>
                <a:srgbClr val="0000FF"/>
              </a:solidFill>
              <a:latin typeface="Arial" panose="020B0604020202020204" pitchFamily="34" charset="0"/>
              <a:ea typeface="华文隶书" panose="02010800040101010101" charset="-122"/>
            </a:endParaRPr>
          </a:p>
        </p:txBody>
      </p:sp>
      <p:sp>
        <p:nvSpPr>
          <p:cNvPr id="2051" name="文本框 31755"/>
          <p:cNvSpPr txBox="1"/>
          <p:nvPr userDrawn="1"/>
        </p:nvSpPr>
        <p:spPr>
          <a:xfrm>
            <a:off x="6707510" y="671689"/>
            <a:ext cx="3718555" cy="49911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lvl="0" algn="r">
              <a:spcBef>
                <a:spcPct val="50000"/>
              </a:spcBef>
            </a:pPr>
            <a:r>
              <a:rPr lang="zh-CN" altLang="en-US" sz="2645" b="1" dirty="0">
                <a:solidFill>
                  <a:srgbClr val="0000FF"/>
                </a:solidFill>
                <a:latin typeface="Arial" panose="020B0604020202020204" pitchFamily="34" charset="0"/>
                <a:ea typeface="华文隶书" panose="02010800040101010101" charset="-122"/>
              </a:rPr>
              <a:t>软件基础教研室</a:t>
            </a:r>
            <a:endParaRPr lang="zh-CN" altLang="en-US" sz="2645" b="1" dirty="0">
              <a:solidFill>
                <a:srgbClr val="0000FF"/>
              </a:solidFill>
              <a:latin typeface="Arial" panose="020B0604020202020204" pitchFamily="34" charset="0"/>
              <a:ea typeface="华文隶书" panose="02010800040101010101" charset="-122"/>
            </a:endParaRPr>
          </a:p>
        </p:txBody>
      </p:sp>
      <p:sp>
        <p:nvSpPr>
          <p:cNvPr id="2052" name="直接连接符 31756"/>
          <p:cNvSpPr/>
          <p:nvPr userDrawn="1"/>
        </p:nvSpPr>
        <p:spPr>
          <a:xfrm flipV="1">
            <a:off x="267335" y="1175456"/>
            <a:ext cx="267335" cy="335844"/>
          </a:xfrm>
          <a:prstGeom prst="line">
            <a:avLst/>
          </a:prstGeom>
          <a:ln w="76200" cap="flat" cmpd="tri">
            <a:solidFill>
              <a:srgbClr val="9933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53" name="直接连接符 31757"/>
          <p:cNvSpPr/>
          <p:nvPr userDrawn="1"/>
        </p:nvSpPr>
        <p:spPr>
          <a:xfrm>
            <a:off x="534670" y="1175456"/>
            <a:ext cx="9802283" cy="0"/>
          </a:xfrm>
          <a:prstGeom prst="line">
            <a:avLst/>
          </a:prstGeom>
          <a:ln w="76200" cap="flat" cmpd="tri">
            <a:solidFill>
              <a:srgbClr val="9933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746" name="标题 31745"/>
          <p:cNvSpPr>
            <a:spLocks noGrp="1"/>
          </p:cNvSpPr>
          <p:nvPr>
            <p:ph type="ctrTitle"/>
          </p:nvPr>
        </p:nvSpPr>
        <p:spPr>
          <a:xfrm>
            <a:off x="1069340" y="2347413"/>
            <a:ext cx="9089390" cy="16197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lvl="0">
              <a:buClrTx/>
              <a:buSzTx/>
              <a:buFontTx/>
              <a:defRPr sz="5950"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1747" name="副标题 31746"/>
          <p:cNvSpPr>
            <a:spLocks noGrp="1"/>
          </p:cNvSpPr>
          <p:nvPr>
            <p:ph type="subTitle" idx="1"/>
          </p:nvPr>
        </p:nvSpPr>
        <p:spPr>
          <a:xfrm>
            <a:off x="5881370" y="5793317"/>
            <a:ext cx="4188248" cy="73990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ctr">
              <a:buClr>
                <a:srgbClr val="993300"/>
              </a:buClr>
              <a:buSzPct val="90000"/>
              <a:buFont typeface="Wingdings" panose="05000000000000000000" pitchFamily="2" charset="2"/>
              <a:buNone/>
              <a:defRPr>
                <a:solidFill>
                  <a:srgbClr val="993300"/>
                </a:solidFill>
              </a:defRPr>
            </a:lvl1pPr>
            <a:lvl2pPr marL="503555" lvl="1" indent="0" algn="ctr">
              <a:buClr>
                <a:srgbClr val="CC6600"/>
              </a:buClr>
              <a:buSzPct val="80000"/>
              <a:buFont typeface="Wingdings" panose="05000000000000000000" pitchFamily="2" charset="2"/>
              <a:buNone/>
              <a:defRPr>
                <a:solidFill>
                  <a:srgbClr val="993300"/>
                </a:solidFill>
              </a:defRPr>
            </a:lvl2pPr>
            <a:lvl3pPr marL="1007745" lvl="2" indent="0" algn="ctr">
              <a:buClr>
                <a:srgbClr val="009900"/>
              </a:buClr>
              <a:buSzPct val="75000"/>
              <a:buFont typeface="Webdings" panose="05030102010509060703" pitchFamily="18" charset="2"/>
              <a:buNone/>
              <a:defRPr>
                <a:solidFill>
                  <a:srgbClr val="993300"/>
                </a:solidFill>
              </a:defRPr>
            </a:lvl3pPr>
            <a:lvl4pPr marL="1511300" lvl="3" indent="0" algn="ctr">
              <a:buClr>
                <a:srgbClr val="FF6600"/>
              </a:buClr>
              <a:buSzPct val="75000"/>
              <a:buFont typeface="Times New Roman" panose="02020603050405020304" charset="0"/>
              <a:buNone/>
              <a:defRPr>
                <a:solidFill>
                  <a:srgbClr val="993300"/>
                </a:solidFill>
              </a:defRPr>
            </a:lvl4pPr>
            <a:lvl5pPr marL="2014855" lvl="4" indent="0" algn="ctr">
              <a:buClr>
                <a:srgbClr val="FF0066"/>
              </a:buClr>
              <a:buSzPct val="75000"/>
              <a:buFont typeface="Times New Roman" panose="02020603050405020304" charset="0"/>
              <a:buNone/>
              <a:defRPr>
                <a:solidFill>
                  <a:srgbClr val="993300"/>
                </a:solidFill>
              </a:defRPr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31748" name="日期占位符 31747"/>
          <p:cNvSpPr>
            <a:spLocks noGrp="1"/>
          </p:cNvSpPr>
          <p:nvPr>
            <p:ph type="dt" sz="half" idx="2"/>
          </p:nvPr>
        </p:nvSpPr>
        <p:spPr>
          <a:xfrm>
            <a:off x="534670" y="6881313"/>
            <a:ext cx="2495127" cy="52475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>
              <a:defRPr sz="1545">
                <a:solidFill>
                  <a:srgbClr val="009900"/>
                </a:solidFill>
              </a:defRPr>
            </a:lvl1pPr>
          </a:lstStyle>
          <a:p>
            <a:pPr lvl="0" fontAlgn="base"/>
            <a:fld id="{BB962C8B-B14F-4D97-AF65-F5344CB8AC3E}" type="datetime1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31749" name="页脚占位符 31748"/>
          <p:cNvSpPr>
            <a:spLocks noGrp="1"/>
          </p:cNvSpPr>
          <p:nvPr>
            <p:ph type="ftr" sz="quarter" idx="3"/>
          </p:nvPr>
        </p:nvSpPr>
        <p:spPr>
          <a:xfrm>
            <a:off x="3653578" y="6881313"/>
            <a:ext cx="3386243" cy="52475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>
              <a:defRPr sz="1545">
                <a:solidFill>
                  <a:srgbClr val="009900"/>
                </a:solidFill>
              </a:defRPr>
            </a:lvl1pPr>
          </a:lstStyle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9602" y="1883878"/>
            <a:ext cx="9223058" cy="3143294"/>
          </a:xfrm>
        </p:spPr>
        <p:txBody>
          <a:bodyPr anchor="b"/>
          <a:lstStyle>
            <a:lvl1pPr>
              <a:defRPr sz="496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9602" y="5056908"/>
            <a:ext cx="9223058" cy="1652984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7825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5650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3475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1130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9125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6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4775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2260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16606" y="1397603"/>
            <a:ext cx="4539311" cy="498694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41196" y="1397603"/>
            <a:ext cx="4539311" cy="498694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564" y="402314"/>
            <a:ext cx="9223058" cy="1460574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40900" y="1959575"/>
            <a:ext cx="4274531" cy="907829"/>
          </a:xfrm>
        </p:spPr>
        <p:txBody>
          <a:bodyPr anchor="ctr" anchorCtr="0"/>
          <a:lstStyle>
            <a:lvl1pPr marL="0" indent="0">
              <a:buNone/>
              <a:defRPr sz="2315"/>
            </a:lvl1pPr>
            <a:lvl2pPr marL="377825" indent="0">
              <a:buNone/>
              <a:defRPr sz="1985"/>
            </a:lvl2pPr>
            <a:lvl3pPr marL="755650" indent="0">
              <a:buNone/>
              <a:defRPr sz="1655"/>
            </a:lvl3pPr>
            <a:lvl4pPr marL="1133475" indent="0">
              <a:buNone/>
              <a:defRPr sz="1490"/>
            </a:lvl4pPr>
            <a:lvl5pPr marL="1511300" indent="0">
              <a:buNone/>
              <a:defRPr sz="1490"/>
            </a:lvl5pPr>
            <a:lvl6pPr marL="1889125" indent="0">
              <a:buNone/>
              <a:defRPr sz="1490"/>
            </a:lvl6pPr>
            <a:lvl7pPr marL="2266950" indent="0">
              <a:buNone/>
              <a:defRPr sz="1490"/>
            </a:lvl7pPr>
            <a:lvl8pPr marL="2644775" indent="0">
              <a:buNone/>
              <a:defRPr sz="1490"/>
            </a:lvl8pPr>
            <a:lvl9pPr marL="3022600" indent="0">
              <a:buNone/>
              <a:defRPr sz="149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40900" y="2936853"/>
            <a:ext cx="4274531" cy="3883239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87857" y="1959575"/>
            <a:ext cx="4295582" cy="907829"/>
          </a:xfrm>
        </p:spPr>
        <p:txBody>
          <a:bodyPr anchor="ctr" anchorCtr="0"/>
          <a:lstStyle>
            <a:lvl1pPr marL="0" indent="0">
              <a:buNone/>
              <a:defRPr sz="2315"/>
            </a:lvl1pPr>
            <a:lvl2pPr marL="377825" indent="0">
              <a:buNone/>
              <a:defRPr sz="1985"/>
            </a:lvl2pPr>
            <a:lvl3pPr marL="755650" indent="0">
              <a:buNone/>
              <a:defRPr sz="1655"/>
            </a:lvl3pPr>
            <a:lvl4pPr marL="1133475" indent="0">
              <a:buNone/>
              <a:defRPr sz="1490"/>
            </a:lvl4pPr>
            <a:lvl5pPr marL="1511300" indent="0">
              <a:buNone/>
              <a:defRPr sz="1490"/>
            </a:lvl5pPr>
            <a:lvl6pPr marL="1889125" indent="0">
              <a:buNone/>
              <a:defRPr sz="1490"/>
            </a:lvl6pPr>
            <a:lvl7pPr marL="2266950" indent="0">
              <a:buNone/>
              <a:defRPr sz="1490"/>
            </a:lvl7pPr>
            <a:lvl8pPr marL="2644775" indent="0">
              <a:buNone/>
              <a:defRPr sz="1490"/>
            </a:lvl8pPr>
            <a:lvl9pPr marL="3022600" indent="0">
              <a:buNone/>
              <a:defRPr sz="149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87857" y="2936853"/>
            <a:ext cx="4295582" cy="3883239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564" y="503767"/>
            <a:ext cx="3448900" cy="1763183"/>
          </a:xfrm>
        </p:spPr>
        <p:txBody>
          <a:bodyPr anchor="b"/>
          <a:lstStyle>
            <a:lvl1pPr>
              <a:defRPr sz="2645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46088" y="1087996"/>
            <a:ext cx="5413534" cy="5370013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6564" y="2266950"/>
            <a:ext cx="3448900" cy="4199805"/>
          </a:xfrm>
        </p:spPr>
        <p:txBody>
          <a:bodyPr/>
          <a:lstStyle>
            <a:lvl1pPr marL="0" indent="0">
              <a:buNone/>
              <a:defRPr sz="1320"/>
            </a:lvl1pPr>
            <a:lvl2pPr marL="377825" indent="0">
              <a:buNone/>
              <a:defRPr sz="1155"/>
            </a:lvl2pPr>
            <a:lvl3pPr marL="755650" indent="0">
              <a:buNone/>
              <a:defRPr sz="990"/>
            </a:lvl3pPr>
            <a:lvl4pPr marL="1133475" indent="0">
              <a:buNone/>
              <a:defRPr sz="825"/>
            </a:lvl4pPr>
            <a:lvl5pPr marL="1511300" indent="0">
              <a:buNone/>
              <a:defRPr sz="825"/>
            </a:lvl5pPr>
            <a:lvl6pPr marL="1889125" indent="0">
              <a:buNone/>
              <a:defRPr sz="825"/>
            </a:lvl6pPr>
            <a:lvl7pPr marL="2266950" indent="0">
              <a:buNone/>
              <a:defRPr sz="825"/>
            </a:lvl7pPr>
            <a:lvl8pPr marL="2644775" indent="0">
              <a:buNone/>
              <a:defRPr sz="825"/>
            </a:lvl8pPr>
            <a:lvl9pPr marL="3022600" indent="0">
              <a:buNone/>
              <a:defRPr sz="82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564" y="503767"/>
            <a:ext cx="3653358" cy="1763183"/>
          </a:xfrm>
        </p:spPr>
        <p:txBody>
          <a:bodyPr anchor="b"/>
          <a:lstStyle>
            <a:lvl1pPr>
              <a:defRPr sz="2645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46088" y="503768"/>
            <a:ext cx="5413534" cy="5954242"/>
          </a:xfrm>
        </p:spPr>
        <p:txBody>
          <a:bodyPr/>
          <a:lstStyle>
            <a:lvl1pPr marL="0" indent="0">
              <a:buNone/>
              <a:defRPr sz="2645"/>
            </a:lvl1pPr>
            <a:lvl2pPr marL="377825" indent="0">
              <a:buNone/>
              <a:defRPr sz="2315"/>
            </a:lvl2pPr>
            <a:lvl3pPr marL="755650" indent="0">
              <a:buNone/>
              <a:defRPr sz="1985"/>
            </a:lvl3pPr>
            <a:lvl4pPr marL="1133475" indent="0">
              <a:buNone/>
              <a:defRPr sz="1655"/>
            </a:lvl4pPr>
            <a:lvl5pPr marL="1511300" indent="0">
              <a:buNone/>
              <a:defRPr sz="1655"/>
            </a:lvl5pPr>
            <a:lvl6pPr marL="1889125" indent="0">
              <a:buNone/>
              <a:defRPr sz="1655"/>
            </a:lvl6pPr>
            <a:lvl7pPr marL="2266950" indent="0">
              <a:buNone/>
              <a:defRPr sz="1655"/>
            </a:lvl7pPr>
            <a:lvl8pPr marL="2644775" indent="0">
              <a:buNone/>
              <a:defRPr sz="1655"/>
            </a:lvl8pPr>
            <a:lvl9pPr marL="3022600" indent="0">
              <a:buNone/>
              <a:defRPr sz="1655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6564" y="2266950"/>
            <a:ext cx="3653358" cy="4199805"/>
          </a:xfrm>
        </p:spPr>
        <p:txBody>
          <a:bodyPr/>
          <a:lstStyle>
            <a:lvl1pPr marL="0" indent="0">
              <a:buNone/>
              <a:defRPr sz="1655"/>
            </a:lvl1pPr>
            <a:lvl2pPr marL="377825" indent="0">
              <a:buNone/>
              <a:defRPr sz="1490"/>
            </a:lvl2pPr>
            <a:lvl3pPr marL="755650" indent="0">
              <a:buNone/>
              <a:defRPr sz="1320"/>
            </a:lvl3pPr>
            <a:lvl4pPr marL="1133475" indent="0">
              <a:buNone/>
              <a:defRPr sz="1155"/>
            </a:lvl4pPr>
            <a:lvl5pPr marL="1511300" indent="0">
              <a:buNone/>
              <a:defRPr sz="1155"/>
            </a:lvl5pPr>
            <a:lvl6pPr marL="1889125" indent="0">
              <a:buNone/>
              <a:defRPr sz="1155"/>
            </a:lvl6pPr>
            <a:lvl7pPr marL="2266950" indent="0">
              <a:buNone/>
              <a:defRPr sz="1155"/>
            </a:lvl7pPr>
            <a:lvl8pPr marL="2644775" indent="0">
              <a:buNone/>
              <a:defRPr sz="1155"/>
            </a:lvl8pPr>
            <a:lvl9pPr marL="3022600" indent="0">
              <a:buNone/>
              <a:defRPr sz="115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96770" y="335844"/>
            <a:ext cx="2383737" cy="604869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5558" y="335844"/>
            <a:ext cx="7013024" cy="604869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687458" y="5784144"/>
            <a:ext cx="853541" cy="9087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6255702" y="1759656"/>
            <a:ext cx="3014345" cy="0"/>
          </a:xfrm>
          <a:custGeom>
            <a:avLst/>
            <a:gdLst/>
            <a:ahLst/>
            <a:cxnLst/>
            <a:rect l="l" t="t" r="r" b="b"/>
            <a:pathLst>
              <a:path w="3014345">
                <a:moveTo>
                  <a:pt x="0" y="0"/>
                </a:moveTo>
                <a:lnTo>
                  <a:pt x="3013776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3723481" y="1759656"/>
            <a:ext cx="584835" cy="0"/>
          </a:xfrm>
          <a:custGeom>
            <a:avLst/>
            <a:gdLst/>
            <a:ahLst/>
            <a:cxnLst/>
            <a:rect l="l" t="t" r="r" b="b"/>
            <a:pathLst>
              <a:path w="584835">
                <a:moveTo>
                  <a:pt x="0" y="0"/>
                </a:moveTo>
                <a:lnTo>
                  <a:pt x="58435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152400" y="1759656"/>
            <a:ext cx="1623695" cy="0"/>
          </a:xfrm>
          <a:custGeom>
            <a:avLst/>
            <a:gdLst/>
            <a:ahLst/>
            <a:cxnLst/>
            <a:rect l="l" t="t" r="r" b="b"/>
            <a:pathLst>
              <a:path w="1623695">
                <a:moveTo>
                  <a:pt x="0" y="0"/>
                </a:moveTo>
                <a:lnTo>
                  <a:pt x="162321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775618" y="2543998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1348171" y="3258019"/>
            <a:ext cx="65405" cy="649605"/>
          </a:xfrm>
          <a:custGeom>
            <a:avLst/>
            <a:gdLst/>
            <a:ahLst/>
            <a:cxnLst/>
            <a:rect l="l" t="t" r="r" b="b"/>
            <a:pathLst>
              <a:path w="65405" h="649604">
                <a:moveTo>
                  <a:pt x="64928" y="486834"/>
                </a:moveTo>
                <a:lnTo>
                  <a:pt x="0" y="486834"/>
                </a:lnTo>
                <a:lnTo>
                  <a:pt x="32465" y="649110"/>
                </a:lnTo>
                <a:lnTo>
                  <a:pt x="64928" y="486834"/>
                </a:lnTo>
                <a:close/>
              </a:path>
              <a:path w="65405" h="649604">
                <a:moveTo>
                  <a:pt x="48696" y="0"/>
                </a:moveTo>
                <a:lnTo>
                  <a:pt x="16231" y="0"/>
                </a:lnTo>
                <a:lnTo>
                  <a:pt x="16231" y="486834"/>
                </a:lnTo>
                <a:lnTo>
                  <a:pt x="48696" y="486834"/>
                </a:lnTo>
                <a:lnTo>
                  <a:pt x="486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1348171" y="3258019"/>
            <a:ext cx="65405" cy="649605"/>
          </a:xfrm>
          <a:custGeom>
            <a:avLst/>
            <a:gdLst/>
            <a:ahLst/>
            <a:cxnLst/>
            <a:rect l="l" t="t" r="r" b="b"/>
            <a:pathLst>
              <a:path w="65405" h="649604">
                <a:moveTo>
                  <a:pt x="48696" y="0"/>
                </a:moveTo>
                <a:lnTo>
                  <a:pt x="48696" y="486833"/>
                </a:lnTo>
                <a:lnTo>
                  <a:pt x="64928" y="486833"/>
                </a:lnTo>
                <a:lnTo>
                  <a:pt x="32464" y="649111"/>
                </a:lnTo>
                <a:lnTo>
                  <a:pt x="0" y="486833"/>
                </a:lnTo>
                <a:lnTo>
                  <a:pt x="16232" y="486833"/>
                </a:lnTo>
                <a:lnTo>
                  <a:pt x="16232" y="0"/>
                </a:lnTo>
                <a:lnTo>
                  <a:pt x="48696" y="0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687458" y="5524500"/>
            <a:ext cx="853541" cy="1168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72115" y="2771345"/>
            <a:ext cx="9349168" cy="1642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687458" y="5524500"/>
            <a:ext cx="853541" cy="1168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687458" y="5524500"/>
            <a:ext cx="853541" cy="1168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2749550" y="2214032"/>
            <a:ext cx="2158880" cy="28790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931544" y="2603500"/>
            <a:ext cx="1688147" cy="16876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2424906" y="3706988"/>
            <a:ext cx="389890" cy="65405"/>
          </a:xfrm>
          <a:custGeom>
            <a:avLst/>
            <a:gdLst/>
            <a:ahLst/>
            <a:cxnLst/>
            <a:rect l="l" t="t" r="r" b="b"/>
            <a:pathLst>
              <a:path w="389889" h="65404">
                <a:moveTo>
                  <a:pt x="357108" y="0"/>
                </a:moveTo>
                <a:lnTo>
                  <a:pt x="357108" y="16228"/>
                </a:lnTo>
                <a:lnTo>
                  <a:pt x="0" y="16228"/>
                </a:lnTo>
                <a:lnTo>
                  <a:pt x="0" y="48682"/>
                </a:lnTo>
                <a:lnTo>
                  <a:pt x="357108" y="48682"/>
                </a:lnTo>
                <a:lnTo>
                  <a:pt x="357108" y="64910"/>
                </a:lnTo>
                <a:lnTo>
                  <a:pt x="389572" y="32456"/>
                </a:lnTo>
                <a:lnTo>
                  <a:pt x="357108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2424906" y="3706988"/>
            <a:ext cx="389890" cy="65405"/>
          </a:xfrm>
          <a:custGeom>
            <a:avLst/>
            <a:gdLst/>
            <a:ahLst/>
            <a:cxnLst/>
            <a:rect l="l" t="t" r="r" b="b"/>
            <a:pathLst>
              <a:path w="389889" h="65404">
                <a:moveTo>
                  <a:pt x="0" y="16227"/>
                </a:moveTo>
                <a:lnTo>
                  <a:pt x="357108" y="16227"/>
                </a:lnTo>
                <a:lnTo>
                  <a:pt x="357108" y="0"/>
                </a:lnTo>
                <a:lnTo>
                  <a:pt x="389572" y="32455"/>
                </a:lnTo>
                <a:lnTo>
                  <a:pt x="357108" y="64911"/>
                </a:lnTo>
                <a:lnTo>
                  <a:pt x="357108" y="48683"/>
                </a:lnTo>
                <a:lnTo>
                  <a:pt x="0" y="48683"/>
                </a:lnTo>
                <a:lnTo>
                  <a:pt x="0" y="16227"/>
                </a:lnTo>
                <a:close/>
              </a:path>
            </a:pathLst>
          </a:custGeom>
          <a:ln w="21637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2165191" y="2473678"/>
            <a:ext cx="918471" cy="103857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3103032" y="1866900"/>
            <a:ext cx="1447800" cy="863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3" Type="http://schemas.openxmlformats.org/officeDocument/2006/relationships/theme" Target="../theme/theme2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7" Type="http://schemas.openxmlformats.org/officeDocument/2006/relationships/theme" Target="../theme/theme3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7" Type="http://schemas.openxmlformats.org/officeDocument/2006/relationships/theme" Target="../theme/theme4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687458" y="5784144"/>
            <a:ext cx="853541" cy="90875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2400" y="1202167"/>
            <a:ext cx="9868598" cy="430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7629" y="1889478"/>
            <a:ext cx="9098141" cy="435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17614" y="6456355"/>
            <a:ext cx="1427480" cy="199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79039" y="6459594"/>
            <a:ext cx="335279" cy="199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30721"/>
          <p:cNvSpPr>
            <a:spLocks noGrp="1"/>
          </p:cNvSpPr>
          <p:nvPr>
            <p:ph type="title"/>
          </p:nvPr>
        </p:nvSpPr>
        <p:spPr>
          <a:xfrm>
            <a:off x="445558" y="335844"/>
            <a:ext cx="9178502" cy="74515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30722"/>
          <p:cNvSpPr>
            <a:spLocks noGrp="1"/>
          </p:cNvSpPr>
          <p:nvPr>
            <p:ph type="body"/>
          </p:nvPr>
        </p:nvSpPr>
        <p:spPr>
          <a:xfrm>
            <a:off x="716606" y="1397603"/>
            <a:ext cx="9263900" cy="498694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文本框 30728"/>
          <p:cNvSpPr txBox="1"/>
          <p:nvPr userDrawn="1"/>
        </p:nvSpPr>
        <p:spPr>
          <a:xfrm>
            <a:off x="4812030" y="7185672"/>
            <a:ext cx="1069340" cy="3632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lvl="0" algn="ctr" eaLnBrk="0" hangingPunct="0">
              <a:spcBef>
                <a:spcPct val="50000"/>
              </a:spcBef>
            </a:pPr>
            <a:r>
              <a:rPr lang="en-US" altLang="zh-CN" sz="1765" b="1">
                <a:latin typeface="Arial" panose="020B0604020202020204" pitchFamily="34" charset="0"/>
                <a:ea typeface="华文琥珀" panose="02010800040101010101" charset="-122"/>
              </a:rPr>
              <a:t>- </a:t>
            </a:r>
            <a:fld id="{9A0DB2DC-4C9A-4742-B13C-FB6460FD3503}" type="slidenum">
              <a:rPr lang="zh-CN" altLang="en-US" sz="1765" b="1">
                <a:latin typeface="Arial" panose="020B0604020202020204" pitchFamily="34" charset="0"/>
                <a:ea typeface="华文琥珀" panose="02010800040101010101" charset="-122"/>
              </a:rPr>
            </a:fld>
            <a:r>
              <a:rPr lang="zh-CN" altLang="en-US" sz="1765" b="1">
                <a:latin typeface="Arial" panose="020B0604020202020204" pitchFamily="34" charset="0"/>
                <a:ea typeface="华文琥珀" panose="02010800040101010101" charset="-122"/>
              </a:rPr>
              <a:t> </a:t>
            </a:r>
            <a:r>
              <a:rPr lang="en-US" altLang="zh-CN" sz="1765" b="1">
                <a:latin typeface="Arial" panose="020B0604020202020204" pitchFamily="34" charset="0"/>
                <a:ea typeface="华文琥珀" panose="02010800040101010101" charset="-122"/>
              </a:rPr>
              <a:t>-</a:t>
            </a:r>
            <a:endParaRPr lang="en-US" altLang="zh-CN" sz="1765" b="1">
              <a:latin typeface="Arial" panose="020B0604020202020204" pitchFamily="34" charset="0"/>
              <a:ea typeface="华文琥珀" panose="02010800040101010101" charset="-122"/>
            </a:endParaRPr>
          </a:p>
        </p:txBody>
      </p:sp>
      <p:sp>
        <p:nvSpPr>
          <p:cNvPr id="1029" name="文本框 30730"/>
          <p:cNvSpPr txBox="1"/>
          <p:nvPr userDrawn="1"/>
        </p:nvSpPr>
        <p:spPr>
          <a:xfrm>
            <a:off x="0" y="7185672"/>
            <a:ext cx="1912620" cy="36322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lvl="0" eaLnBrk="0" hangingPunct="0">
              <a:spcBef>
                <a:spcPct val="50000"/>
              </a:spcBef>
            </a:pPr>
            <a:r>
              <a:rPr lang="en-US" altLang="zh-CN" sz="1765" b="1">
                <a:latin typeface="Times New Roman" panose="02020603050405020304" charset="0"/>
                <a:ea typeface="MS Mincho" pitchFamily="49" charset="-128"/>
              </a:rPr>
              <a:t>Operating System</a:t>
            </a:r>
            <a:endParaRPr lang="en-US" altLang="zh-CN" sz="1765" b="1">
              <a:latin typeface="Times New Roman" panose="02020603050405020304" charset="0"/>
              <a:ea typeface="MS Mincho" pitchFamily="49" charset="-128"/>
            </a:endParaRPr>
          </a:p>
        </p:txBody>
      </p:sp>
      <p:pic>
        <p:nvPicPr>
          <p:cNvPr id="1030" name="图片 30750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9815279" y="6381044"/>
            <a:ext cx="878121" cy="1175456"/>
          </a:xfrm>
          <a:prstGeom prst="rect">
            <a:avLst/>
          </a:prstGeom>
          <a:noFill/>
          <a:ln w="57150">
            <a:noFill/>
          </a:ln>
        </p:spPr>
      </p:pic>
      <p:sp>
        <p:nvSpPr>
          <p:cNvPr id="1031" name="直接连接符 30751"/>
          <p:cNvSpPr/>
          <p:nvPr userDrawn="1"/>
        </p:nvSpPr>
        <p:spPr>
          <a:xfrm>
            <a:off x="0" y="1175456"/>
            <a:ext cx="9384573" cy="0"/>
          </a:xfrm>
          <a:prstGeom prst="line">
            <a:avLst/>
          </a:prstGeom>
          <a:ln w="50800" cap="flat" cmpd="sng">
            <a:solidFill>
              <a:srgbClr val="C1C43C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hf sldNum="0" hdr="0" ftr="0" dt="0"/>
  <p:txStyles>
    <p:titleStyle>
      <a:lvl1pPr marL="0" lvl="0" indent="0" algn="l" defTabSz="1007745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965" b="1" i="0" u="none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825" lvl="0" indent="-377825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993300"/>
        </a:buClr>
        <a:buSzPct val="90000"/>
        <a:buFont typeface="Wingdings" panose="05000000000000000000" pitchFamily="2" charset="2"/>
        <a:buChar char="n"/>
        <a:defRPr sz="3085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818515" lvl="1" indent="-314960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CC6600"/>
        </a:buClr>
        <a:buSzPct val="80000"/>
        <a:buFont typeface="Wingdings" panose="05000000000000000000" pitchFamily="2" charset="2"/>
        <a:buChar char="l"/>
        <a:defRPr sz="3085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259205" lvl="2" indent="-252095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sz="220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763395" lvl="3" indent="-252095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FF6600"/>
        </a:buClr>
        <a:buSzPct val="75000"/>
        <a:buFont typeface="Times New Roman" panose="02020603050405020304" charset="0"/>
        <a:buChar char="–"/>
        <a:defRPr sz="19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266950" lvl="4" indent="-252095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FF0066"/>
        </a:buClr>
        <a:buSzPct val="75000"/>
        <a:buFont typeface="Times New Roman" panose="02020603050405020304" charset="0"/>
        <a:buChar char="»"/>
        <a:defRPr sz="19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770505" lvl="5" indent="-252095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FF0066"/>
        </a:buClr>
        <a:buSzPct val="75000"/>
        <a:buFont typeface="Times New Roman" panose="02020603050405020304" charset="0"/>
        <a:buChar char="»"/>
        <a:defRPr sz="19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274695" lvl="6" indent="-252095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FF0066"/>
        </a:buClr>
        <a:buSzPct val="75000"/>
        <a:buFont typeface="Times New Roman" panose="02020603050405020304" charset="0"/>
        <a:buChar char="»"/>
        <a:defRPr sz="19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778250" lvl="7" indent="-252095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FF0066"/>
        </a:buClr>
        <a:buSzPct val="75000"/>
        <a:buFont typeface="Times New Roman" panose="02020603050405020304" charset="0"/>
        <a:buChar char="»"/>
        <a:defRPr sz="19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4281805" lvl="8" indent="-252095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FF0066"/>
        </a:buClr>
        <a:buSzPct val="75000"/>
        <a:buFont typeface="Times New Roman" panose="02020603050405020304" charset="0"/>
        <a:buChar char="»"/>
        <a:defRPr sz="19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1007745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9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03555" lvl="1" indent="0" algn="l" defTabSz="1007745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1007745" lvl="2" indent="0" algn="l" defTabSz="1007745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511300" lvl="3" indent="0" algn="l" defTabSz="1007745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2014855" lvl="4" indent="0" algn="l" defTabSz="1007745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519045" lvl="5" indent="0" algn="l" defTabSz="1007745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3022600" lvl="6" indent="0" algn="l" defTabSz="1007745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526155" lvl="7" indent="0" algn="l" defTabSz="1007745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4030345" lvl="8" indent="0" algn="l" defTabSz="1007745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687458" y="5784144"/>
            <a:ext cx="853541" cy="90875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7329" y="1202167"/>
            <a:ext cx="9738741" cy="430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2400" y="1552750"/>
            <a:ext cx="10388600" cy="5022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17614" y="6456355"/>
            <a:ext cx="1427480" cy="199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31033" y="6459594"/>
            <a:ext cx="431164" cy="199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687458" y="5524500"/>
            <a:ext cx="853541" cy="1168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11554" y="1223147"/>
            <a:ext cx="8270290" cy="386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87460" y="2129432"/>
            <a:ext cx="6518478" cy="2312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17614" y="6456355"/>
            <a:ext cx="1427480" cy="199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31033" y="6459594"/>
            <a:ext cx="431164" cy="199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0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3" Type="http://schemas.openxmlformats.org/officeDocument/2006/relationships/slideLayout" Target="../slideLayouts/slideLayout3.xml"/><Relationship Id="rId12" Type="http://schemas.openxmlformats.org/officeDocument/2006/relationships/image" Target="../media/image30.png"/><Relationship Id="rId11" Type="http://schemas.openxmlformats.org/officeDocument/2006/relationships/image" Target="../media/image29.png"/><Relationship Id="rId10" Type="http://schemas.openxmlformats.org/officeDocument/2006/relationships/image" Target="../media/image28.png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1.png"/><Relationship Id="rId1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1.xml"/><Relationship Id="rId5" Type="http://schemas.openxmlformats.org/officeDocument/2006/relationships/image" Target="../media/image36.png"/><Relationship Id="rId4" Type="http://schemas.openxmlformats.org/officeDocument/2006/relationships/image" Target="../media/image30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8.xml"/><Relationship Id="rId1" Type="http://schemas.openxmlformats.org/officeDocument/2006/relationships/image" Target="../media/image37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8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40.jpeg"/><Relationship Id="rId1" Type="http://schemas.openxmlformats.org/officeDocument/2006/relationships/image" Target="../media/image39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4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50.jpeg"/><Relationship Id="rId1" Type="http://schemas.openxmlformats.org/officeDocument/2006/relationships/image" Target="../media/image49.jpe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5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89159" y="1736706"/>
            <a:ext cx="306070" cy="306070"/>
          </a:xfrm>
          <a:custGeom>
            <a:avLst/>
            <a:gdLst/>
            <a:ahLst/>
            <a:cxnLst/>
            <a:rect l="l" t="t" r="r" b="b"/>
            <a:pathLst>
              <a:path w="306070" h="306069">
                <a:moveTo>
                  <a:pt x="297974" y="38249"/>
                </a:moveTo>
                <a:lnTo>
                  <a:pt x="38259" y="297893"/>
                </a:lnTo>
                <a:lnTo>
                  <a:pt x="45911" y="305544"/>
                </a:lnTo>
                <a:lnTo>
                  <a:pt x="305626" y="45899"/>
                </a:lnTo>
                <a:lnTo>
                  <a:pt x="297974" y="38249"/>
                </a:lnTo>
                <a:close/>
              </a:path>
              <a:path w="306070" h="306069">
                <a:moveTo>
                  <a:pt x="275018" y="15299"/>
                </a:moveTo>
                <a:lnTo>
                  <a:pt x="15303" y="274943"/>
                </a:lnTo>
                <a:lnTo>
                  <a:pt x="30607" y="290243"/>
                </a:lnTo>
                <a:lnTo>
                  <a:pt x="290322" y="30599"/>
                </a:lnTo>
                <a:lnTo>
                  <a:pt x="275018" y="15299"/>
                </a:lnTo>
                <a:close/>
              </a:path>
              <a:path w="306070" h="306069">
                <a:moveTo>
                  <a:pt x="259715" y="0"/>
                </a:moveTo>
                <a:lnTo>
                  <a:pt x="0" y="259643"/>
                </a:lnTo>
                <a:lnTo>
                  <a:pt x="7651" y="267294"/>
                </a:lnTo>
                <a:lnTo>
                  <a:pt x="267366" y="7650"/>
                </a:lnTo>
                <a:lnTo>
                  <a:pt x="259715" y="0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1830" y="1786702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1830" y="1759656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21638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1830" y="1732609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905635" y="2031365"/>
            <a:ext cx="7844790" cy="31826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>
              <a:lnSpc>
                <a:spcPct val="100000"/>
              </a:lnSpc>
              <a:tabLst>
                <a:tab pos="2338705" algn="l"/>
                <a:tab pos="5048885" algn="l"/>
              </a:tabLst>
            </a:pPr>
            <a:r>
              <a:rPr sz="5925" b="1" spc="195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操作系</a:t>
            </a:r>
            <a:r>
              <a:rPr sz="5925" b="1" spc="217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统</a:t>
            </a:r>
            <a:r>
              <a:rPr sz="5925" b="1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	</a:t>
            </a: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p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er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g	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endParaRPr sz="4600" b="1" dirty="0">
              <a:solidFill>
                <a:srgbClr val="0033CC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 algn="ctr">
              <a:lnSpc>
                <a:spcPct val="100000"/>
              </a:lnSpc>
              <a:tabLst>
                <a:tab pos="2338705" algn="l"/>
                <a:tab pos="5048885" algn="l"/>
              </a:tabLst>
            </a:pPr>
            <a:endParaRPr sz="4600" b="1" dirty="0">
              <a:solidFill>
                <a:srgbClr val="0033CC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 algn="ctr">
              <a:lnSpc>
                <a:spcPct val="100000"/>
              </a:lnSpc>
              <a:tabLst>
                <a:tab pos="2338705" algn="l"/>
                <a:tab pos="5048885" algn="l"/>
              </a:tabLst>
            </a:pPr>
            <a:r>
              <a:rPr lang="en-US"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 </a:t>
            </a:r>
            <a:r>
              <a:rPr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L</a:t>
            </a:r>
            <a:r>
              <a:rPr lang="en-US"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11</a:t>
            </a:r>
            <a:r>
              <a:rPr sz="5100" b="1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.</a:t>
            </a:r>
            <a:r>
              <a:rPr sz="5100" b="1" spc="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 </a:t>
            </a:r>
            <a:r>
              <a:rPr sz="5100" b="1" spc="14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内核级线</a:t>
            </a:r>
            <a:r>
              <a:rPr sz="5100" b="1" spc="13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程</a:t>
            </a:r>
            <a:endParaRPr sz="5100" b="1" spc="130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  <a:sym typeface="+mn-ea"/>
            </a:endParaRPr>
          </a:p>
          <a:p>
            <a:pPr marL="12700" algn="ctr">
              <a:lnSpc>
                <a:spcPct val="100000"/>
              </a:lnSpc>
              <a:tabLst>
                <a:tab pos="2338705" algn="l"/>
                <a:tab pos="5048885" algn="l"/>
              </a:tabLst>
            </a:pPr>
            <a:r>
              <a:rPr lang="en-US"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 Kernal</a:t>
            </a:r>
            <a:r>
              <a:rPr sz="3400" b="1" spc="-1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Th</a:t>
            </a:r>
            <a:r>
              <a:rPr sz="3400" b="1" spc="-60" dirty="0">
                <a:latin typeface="Times New Roman" panose="02020603050405020304"/>
                <a:cs typeface="Times New Roman" panose="02020603050405020304"/>
                <a:sym typeface="+mn-ea"/>
              </a:rPr>
              <a:t>r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e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ads</a:t>
            </a:r>
            <a:r>
              <a:rPr lang="en-US" sz="3400" b="1" dirty="0">
                <a:latin typeface="Times New Roman" panose="02020603050405020304"/>
                <a:cs typeface="Times New Roman" panose="02020603050405020304"/>
                <a:sym typeface="+mn-ea"/>
              </a:rPr>
              <a:t>...</a:t>
            </a:r>
            <a:endParaRPr sz="3400">
              <a:latin typeface="Times New Roman" panose="02020603050405020304"/>
              <a:cs typeface="Times New Roman" panose="02020603050405020304"/>
            </a:endParaRPr>
          </a:p>
          <a:p>
            <a:pPr marL="2233295" algn="ctr">
              <a:lnSpc>
                <a:spcPct val="100000"/>
              </a:lnSpc>
              <a:spcBef>
                <a:spcPts val="2680"/>
              </a:spcBef>
            </a:pPr>
            <a:endParaRPr sz="3400">
              <a:latin typeface="Times New Roman" panose="02020603050405020304"/>
              <a:cs typeface="Times New Roman" panose="02020603050405020304"/>
            </a:endParaRPr>
          </a:p>
          <a:p>
            <a:pPr marL="2233295" algn="ctr">
              <a:lnSpc>
                <a:spcPct val="100000"/>
              </a:lnSpc>
              <a:spcBef>
                <a:spcPts val="2680"/>
              </a:spcBef>
            </a:pP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"/>
          <p:cNvSpPr txBox="1"/>
          <p:nvPr>
            <p:custDataLst>
              <p:tags r:id="rId1"/>
            </p:custDataLst>
          </p:nvPr>
        </p:nvSpPr>
        <p:spPr>
          <a:xfrm>
            <a:off x="694287" y="1379513"/>
            <a:ext cx="339852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ct val="100000"/>
              </a:lnSpc>
            </a:pPr>
            <a:r>
              <a:rPr lang="zh-CN" altLang="en-US" sz="1950" b="1">
                <a:latin typeface="华文隶书" panose="02010800040101010101" charset="-122"/>
                <a:cs typeface="华文隶书" panose="02010800040101010101" charset="-122"/>
              </a:rPr>
              <a:t>苏州大学未来科学与工程学院</a:t>
            </a:r>
            <a:endParaRPr lang="zh-CN" altLang="en-US" sz="1950" b="1">
              <a:latin typeface="华文隶书" panose="02010800040101010101" charset="-122"/>
              <a:cs typeface="华文隶书" panose="020108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7010">
              <a:lnSpc>
                <a:spcPts val="3470"/>
              </a:lnSpc>
            </a:pPr>
            <a:r>
              <a:rPr spc="100" dirty="0"/>
              <a:t>开始核心级线程</a:t>
            </a:r>
            <a:endParaRPr spc="100" dirty="0"/>
          </a:p>
        </p:txBody>
      </p:sp>
      <p:sp>
        <p:nvSpPr>
          <p:cNvPr id="3" name="object 3"/>
          <p:cNvSpPr/>
          <p:nvPr/>
        </p:nvSpPr>
        <p:spPr>
          <a:xfrm>
            <a:off x="4806980" y="2288410"/>
            <a:ext cx="1172845" cy="1159510"/>
          </a:xfrm>
          <a:custGeom>
            <a:avLst/>
            <a:gdLst/>
            <a:ahLst/>
            <a:cxnLst/>
            <a:rect l="l" t="t" r="r" b="b"/>
            <a:pathLst>
              <a:path w="1172845" h="1159510">
                <a:moveTo>
                  <a:pt x="0" y="0"/>
                </a:moveTo>
                <a:lnTo>
                  <a:pt x="1172775" y="0"/>
                </a:lnTo>
                <a:lnTo>
                  <a:pt x="1172775" y="1158934"/>
                </a:lnTo>
                <a:lnTo>
                  <a:pt x="0" y="1158934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01615" y="2288410"/>
            <a:ext cx="2063114" cy="1159510"/>
          </a:xfrm>
          <a:custGeom>
            <a:avLst/>
            <a:gdLst/>
            <a:ahLst/>
            <a:cxnLst/>
            <a:rect l="l" t="t" r="r" b="b"/>
            <a:pathLst>
              <a:path w="2063114" h="1159510">
                <a:moveTo>
                  <a:pt x="0" y="0"/>
                </a:moveTo>
                <a:lnTo>
                  <a:pt x="2062840" y="0"/>
                </a:lnTo>
                <a:lnTo>
                  <a:pt x="2062840" y="1158934"/>
                </a:lnTo>
                <a:lnTo>
                  <a:pt x="0" y="1158934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65263" y="3447344"/>
            <a:ext cx="5579110" cy="0"/>
          </a:xfrm>
          <a:custGeom>
            <a:avLst/>
            <a:gdLst/>
            <a:ahLst/>
            <a:cxnLst/>
            <a:rect l="l" t="t" r="r" b="b"/>
            <a:pathLst>
              <a:path w="5579110">
                <a:moveTo>
                  <a:pt x="0" y="0"/>
                </a:moveTo>
                <a:lnTo>
                  <a:pt x="5578541" y="0"/>
                </a:lnTo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87720" y="4161366"/>
            <a:ext cx="404495" cy="389890"/>
          </a:xfrm>
          <a:custGeom>
            <a:avLst/>
            <a:gdLst/>
            <a:ahLst/>
            <a:cxnLst/>
            <a:rect l="l" t="t" r="r" b="b"/>
            <a:pathLst>
              <a:path w="404495" h="389889">
                <a:moveTo>
                  <a:pt x="202225" y="0"/>
                </a:moveTo>
                <a:lnTo>
                  <a:pt x="153628" y="5659"/>
                </a:lnTo>
                <a:lnTo>
                  <a:pt x="109291" y="21735"/>
                </a:lnTo>
                <a:lnTo>
                  <a:pt x="70619" y="46875"/>
                </a:lnTo>
                <a:lnTo>
                  <a:pt x="39017" y="79725"/>
                </a:lnTo>
                <a:lnTo>
                  <a:pt x="15891" y="118933"/>
                </a:lnTo>
                <a:lnTo>
                  <a:pt x="2646" y="163146"/>
                </a:lnTo>
                <a:lnTo>
                  <a:pt x="0" y="194732"/>
                </a:lnTo>
                <a:lnTo>
                  <a:pt x="670" y="210704"/>
                </a:lnTo>
                <a:lnTo>
                  <a:pt x="10309" y="256283"/>
                </a:lnTo>
                <a:lnTo>
                  <a:pt x="30298" y="297310"/>
                </a:lnTo>
                <a:lnTo>
                  <a:pt x="59230" y="332430"/>
                </a:lnTo>
                <a:lnTo>
                  <a:pt x="95701" y="360290"/>
                </a:lnTo>
                <a:lnTo>
                  <a:pt x="138306" y="379538"/>
                </a:lnTo>
                <a:lnTo>
                  <a:pt x="185640" y="388820"/>
                </a:lnTo>
                <a:lnTo>
                  <a:pt x="202225" y="389465"/>
                </a:lnTo>
                <a:lnTo>
                  <a:pt x="218811" y="388820"/>
                </a:lnTo>
                <a:lnTo>
                  <a:pt x="266145" y="379538"/>
                </a:lnTo>
                <a:lnTo>
                  <a:pt x="308750" y="360290"/>
                </a:lnTo>
                <a:lnTo>
                  <a:pt x="345221" y="332430"/>
                </a:lnTo>
                <a:lnTo>
                  <a:pt x="374154" y="297310"/>
                </a:lnTo>
                <a:lnTo>
                  <a:pt x="394143" y="256283"/>
                </a:lnTo>
                <a:lnTo>
                  <a:pt x="403782" y="210704"/>
                </a:lnTo>
                <a:lnTo>
                  <a:pt x="404453" y="194732"/>
                </a:lnTo>
                <a:lnTo>
                  <a:pt x="403782" y="178761"/>
                </a:lnTo>
                <a:lnTo>
                  <a:pt x="394143" y="133181"/>
                </a:lnTo>
                <a:lnTo>
                  <a:pt x="374154" y="92155"/>
                </a:lnTo>
                <a:lnTo>
                  <a:pt x="345221" y="57035"/>
                </a:lnTo>
                <a:lnTo>
                  <a:pt x="308750" y="29175"/>
                </a:lnTo>
                <a:lnTo>
                  <a:pt x="266145" y="9927"/>
                </a:lnTo>
                <a:lnTo>
                  <a:pt x="218811" y="645"/>
                </a:lnTo>
                <a:lnTo>
                  <a:pt x="202225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87720" y="4161366"/>
            <a:ext cx="404495" cy="389890"/>
          </a:xfrm>
          <a:custGeom>
            <a:avLst/>
            <a:gdLst/>
            <a:ahLst/>
            <a:cxnLst/>
            <a:rect l="l" t="t" r="r" b="b"/>
            <a:pathLst>
              <a:path w="404495" h="389889">
                <a:moveTo>
                  <a:pt x="0" y="194733"/>
                </a:moveTo>
                <a:lnTo>
                  <a:pt x="5877" y="147936"/>
                </a:lnTo>
                <a:lnTo>
                  <a:pt x="22572" y="105242"/>
                </a:lnTo>
                <a:lnTo>
                  <a:pt x="48679" y="68002"/>
                </a:lnTo>
                <a:lnTo>
                  <a:pt x="82794" y="37572"/>
                </a:lnTo>
                <a:lnTo>
                  <a:pt x="123510" y="15303"/>
                </a:lnTo>
                <a:lnTo>
                  <a:pt x="169424" y="2548"/>
                </a:lnTo>
                <a:lnTo>
                  <a:pt x="202226" y="0"/>
                </a:lnTo>
                <a:lnTo>
                  <a:pt x="218811" y="645"/>
                </a:lnTo>
                <a:lnTo>
                  <a:pt x="266145" y="9927"/>
                </a:lnTo>
                <a:lnTo>
                  <a:pt x="308750" y="29175"/>
                </a:lnTo>
                <a:lnTo>
                  <a:pt x="345221" y="57036"/>
                </a:lnTo>
                <a:lnTo>
                  <a:pt x="374154" y="92156"/>
                </a:lnTo>
                <a:lnTo>
                  <a:pt x="394142" y="133182"/>
                </a:lnTo>
                <a:lnTo>
                  <a:pt x="403782" y="178762"/>
                </a:lnTo>
                <a:lnTo>
                  <a:pt x="404452" y="194733"/>
                </a:lnTo>
                <a:lnTo>
                  <a:pt x="403782" y="210704"/>
                </a:lnTo>
                <a:lnTo>
                  <a:pt x="394142" y="256284"/>
                </a:lnTo>
                <a:lnTo>
                  <a:pt x="374154" y="297310"/>
                </a:lnTo>
                <a:lnTo>
                  <a:pt x="345221" y="332430"/>
                </a:lnTo>
                <a:lnTo>
                  <a:pt x="308750" y="360291"/>
                </a:lnTo>
                <a:lnTo>
                  <a:pt x="266145" y="379539"/>
                </a:lnTo>
                <a:lnTo>
                  <a:pt x="218811" y="388821"/>
                </a:lnTo>
                <a:lnTo>
                  <a:pt x="202226" y="389466"/>
                </a:lnTo>
                <a:lnTo>
                  <a:pt x="185640" y="388821"/>
                </a:lnTo>
                <a:lnTo>
                  <a:pt x="138307" y="379539"/>
                </a:lnTo>
                <a:lnTo>
                  <a:pt x="95702" y="360291"/>
                </a:lnTo>
                <a:lnTo>
                  <a:pt x="59230" y="332430"/>
                </a:lnTo>
                <a:lnTo>
                  <a:pt x="30298" y="297310"/>
                </a:lnTo>
                <a:lnTo>
                  <a:pt x="10309" y="256284"/>
                </a:lnTo>
                <a:lnTo>
                  <a:pt x="670" y="210704"/>
                </a:lnTo>
                <a:lnTo>
                  <a:pt x="0" y="194733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67569" y="4193821"/>
            <a:ext cx="63500" cy="323215"/>
          </a:xfrm>
          <a:custGeom>
            <a:avLst/>
            <a:gdLst/>
            <a:ahLst/>
            <a:cxnLst/>
            <a:rect l="l" t="t" r="r" b="b"/>
            <a:pathLst>
              <a:path w="63500" h="323214">
                <a:moveTo>
                  <a:pt x="31019" y="0"/>
                </a:moveTo>
                <a:lnTo>
                  <a:pt x="52077" y="33923"/>
                </a:lnTo>
                <a:lnTo>
                  <a:pt x="62903" y="67847"/>
                </a:lnTo>
                <a:lnTo>
                  <a:pt x="62470" y="79155"/>
                </a:lnTo>
                <a:lnTo>
                  <a:pt x="58341" y="89701"/>
                </a:lnTo>
                <a:lnTo>
                  <a:pt x="50791" y="100091"/>
                </a:lnTo>
                <a:lnTo>
                  <a:pt x="41005" y="110348"/>
                </a:lnTo>
                <a:lnTo>
                  <a:pt x="30168" y="120492"/>
                </a:lnTo>
                <a:lnTo>
                  <a:pt x="19464" y="130545"/>
                </a:lnTo>
                <a:lnTo>
                  <a:pt x="10078" y="140530"/>
                </a:lnTo>
                <a:lnTo>
                  <a:pt x="3195" y="150466"/>
                </a:lnTo>
                <a:lnTo>
                  <a:pt x="0" y="160377"/>
                </a:lnTo>
                <a:lnTo>
                  <a:pt x="2535" y="170918"/>
                </a:lnTo>
                <a:lnTo>
                  <a:pt x="9298" y="181309"/>
                </a:lnTo>
                <a:lnTo>
                  <a:pt x="18920" y="191572"/>
                </a:lnTo>
                <a:lnTo>
                  <a:pt x="30033" y="201726"/>
                </a:lnTo>
                <a:lnTo>
                  <a:pt x="41270" y="211793"/>
                </a:lnTo>
                <a:lnTo>
                  <a:pt x="51264" y="221794"/>
                </a:lnTo>
                <a:lnTo>
                  <a:pt x="58645" y="231750"/>
                </a:lnTo>
                <a:lnTo>
                  <a:pt x="62047" y="241681"/>
                </a:lnTo>
                <a:lnTo>
                  <a:pt x="60731" y="252182"/>
                </a:lnTo>
                <a:lnTo>
                  <a:pt x="34265" y="293007"/>
                </a:lnTo>
                <a:lnTo>
                  <a:pt x="13125" y="312980"/>
                </a:lnTo>
                <a:lnTo>
                  <a:pt x="1783" y="322924"/>
                </a:lnTo>
              </a:path>
            </a:pathLst>
          </a:custGeom>
          <a:ln w="16232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962906" y="5266207"/>
            <a:ext cx="380365" cy="389890"/>
          </a:xfrm>
          <a:custGeom>
            <a:avLst/>
            <a:gdLst/>
            <a:ahLst/>
            <a:cxnLst/>
            <a:rect l="l" t="t" r="r" b="b"/>
            <a:pathLst>
              <a:path w="380364" h="389889">
                <a:moveTo>
                  <a:pt x="0" y="389466"/>
                </a:moveTo>
                <a:lnTo>
                  <a:pt x="380104" y="389466"/>
                </a:lnTo>
                <a:lnTo>
                  <a:pt x="380104" y="0"/>
                </a:lnTo>
                <a:lnTo>
                  <a:pt x="0" y="0"/>
                </a:lnTo>
                <a:lnTo>
                  <a:pt x="0" y="389466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962906" y="5266208"/>
            <a:ext cx="380365" cy="389890"/>
          </a:xfrm>
          <a:custGeom>
            <a:avLst/>
            <a:gdLst/>
            <a:ahLst/>
            <a:cxnLst/>
            <a:rect l="l" t="t" r="r" b="b"/>
            <a:pathLst>
              <a:path w="380364" h="389889">
                <a:moveTo>
                  <a:pt x="0" y="0"/>
                </a:moveTo>
                <a:lnTo>
                  <a:pt x="380104" y="0"/>
                </a:lnTo>
                <a:lnTo>
                  <a:pt x="380104" y="389466"/>
                </a:lnTo>
                <a:lnTo>
                  <a:pt x="0" y="389466"/>
                </a:lnTo>
                <a:lnTo>
                  <a:pt x="0" y="0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063057" y="5333185"/>
            <a:ext cx="18351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Times New Roman" panose="02020603050405020304"/>
                <a:cs typeface="Times New Roman" panose="02020603050405020304"/>
              </a:rPr>
              <a:t>P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70654" y="5266207"/>
            <a:ext cx="381635" cy="389890"/>
          </a:xfrm>
          <a:custGeom>
            <a:avLst/>
            <a:gdLst/>
            <a:ahLst/>
            <a:cxnLst/>
            <a:rect l="l" t="t" r="r" b="b"/>
            <a:pathLst>
              <a:path w="381635" h="389889">
                <a:moveTo>
                  <a:pt x="0" y="389466"/>
                </a:moveTo>
                <a:lnTo>
                  <a:pt x="381456" y="389466"/>
                </a:lnTo>
                <a:lnTo>
                  <a:pt x="381456" y="0"/>
                </a:lnTo>
                <a:lnTo>
                  <a:pt x="0" y="0"/>
                </a:lnTo>
                <a:lnTo>
                  <a:pt x="0" y="389466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970654" y="5266208"/>
            <a:ext cx="381635" cy="389890"/>
          </a:xfrm>
          <a:custGeom>
            <a:avLst/>
            <a:gdLst/>
            <a:ahLst/>
            <a:cxnLst/>
            <a:rect l="l" t="t" r="r" b="b"/>
            <a:pathLst>
              <a:path w="381635" h="389889">
                <a:moveTo>
                  <a:pt x="0" y="0"/>
                </a:moveTo>
                <a:lnTo>
                  <a:pt x="381456" y="0"/>
                </a:lnTo>
                <a:lnTo>
                  <a:pt x="381456" y="389466"/>
                </a:lnTo>
                <a:lnTo>
                  <a:pt x="0" y="389466"/>
                </a:lnTo>
                <a:lnTo>
                  <a:pt x="0" y="0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070929" y="5333185"/>
            <a:ext cx="18351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Times New Roman" panose="02020603050405020304"/>
                <a:cs typeface="Times New Roman" panose="02020603050405020304"/>
              </a:rPr>
              <a:t>P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07312" y="1950029"/>
            <a:ext cx="739140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进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程</a:t>
            </a:r>
            <a:r>
              <a:rPr sz="2925" b="1" spc="-69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spc="15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65264" y="5265533"/>
            <a:ext cx="5579110" cy="0"/>
          </a:xfrm>
          <a:custGeom>
            <a:avLst/>
            <a:gdLst/>
            <a:ahLst/>
            <a:cxnLst/>
            <a:rect l="l" t="t" r="r" b="b"/>
            <a:pathLst>
              <a:path w="5579110">
                <a:moveTo>
                  <a:pt x="0" y="0"/>
                </a:moveTo>
                <a:lnTo>
                  <a:pt x="557854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53375" y="3118113"/>
            <a:ext cx="54356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户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6902" y="4172632"/>
            <a:ext cx="54356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核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心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66902" y="5454278"/>
            <a:ext cx="54356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硬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件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05912" y="2014923"/>
            <a:ext cx="739140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进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程</a:t>
            </a:r>
            <a:r>
              <a:rPr sz="2925" b="1" spc="-69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spc="15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64886" y="4646189"/>
            <a:ext cx="620395" cy="251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线程</a:t>
            </a:r>
            <a:r>
              <a:rPr sz="1650" b="1" spc="-40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b="1" dirty="0">
                <a:latin typeface="Times New Roman" panose="02020603050405020304"/>
                <a:cs typeface="Times New Roman" panose="02020603050405020304"/>
              </a:rPr>
              <a:t>1</a:t>
            </a:r>
            <a:endParaRPr sz="1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143549" y="2441221"/>
            <a:ext cx="3437164" cy="3217157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875402" y="5331832"/>
            <a:ext cx="18351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Times New Roman" panose="02020603050405020304"/>
                <a:cs typeface="Times New Roman" panose="02020603050405020304"/>
              </a:rPr>
              <a:t>P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40321" y="4646189"/>
            <a:ext cx="632460" cy="251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线程</a:t>
            </a:r>
            <a:r>
              <a:rPr sz="1650" b="1" spc="-40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b="1" dirty="0">
                <a:latin typeface="Times New Roman" panose="02020603050405020304"/>
                <a:cs typeface="Times New Roman" panose="02020603050405020304"/>
              </a:rPr>
              <a:t>n</a:t>
            </a:r>
            <a:endParaRPr sz="1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375802" y="3244493"/>
            <a:ext cx="1906270" cy="787400"/>
          </a:xfrm>
          <a:custGeom>
            <a:avLst/>
            <a:gdLst/>
            <a:ahLst/>
            <a:cxnLst/>
            <a:rect l="l" t="t" r="r" b="b"/>
            <a:pathLst>
              <a:path w="1906270" h="787400">
                <a:moveTo>
                  <a:pt x="0" y="0"/>
                </a:moveTo>
                <a:lnTo>
                  <a:pt x="217821" y="332673"/>
                </a:lnTo>
                <a:lnTo>
                  <a:pt x="217995" y="664007"/>
                </a:lnTo>
                <a:lnTo>
                  <a:pt x="219550" y="678466"/>
                </a:lnTo>
                <a:lnTo>
                  <a:pt x="233101" y="718378"/>
                </a:lnTo>
                <a:lnTo>
                  <a:pt x="258119" y="751234"/>
                </a:lnTo>
                <a:lnTo>
                  <a:pt x="292219" y="774648"/>
                </a:lnTo>
                <a:lnTo>
                  <a:pt x="333010" y="786231"/>
                </a:lnTo>
                <a:lnTo>
                  <a:pt x="347681" y="787050"/>
                </a:lnTo>
                <a:lnTo>
                  <a:pt x="921216" y="787050"/>
                </a:lnTo>
                <a:lnTo>
                  <a:pt x="1782891" y="786876"/>
                </a:lnTo>
                <a:lnTo>
                  <a:pt x="1824635" y="777682"/>
                </a:lnTo>
                <a:lnTo>
                  <a:pt x="1860119" y="756227"/>
                </a:lnTo>
                <a:lnTo>
                  <a:pt x="1886953" y="724898"/>
                </a:lnTo>
                <a:lnTo>
                  <a:pt x="1902749" y="686083"/>
                </a:lnTo>
                <a:lnTo>
                  <a:pt x="1905969" y="657226"/>
                </a:lnTo>
                <a:lnTo>
                  <a:pt x="1905969" y="137943"/>
                </a:lnTo>
                <a:lnTo>
                  <a:pt x="217821" y="137943"/>
                </a:lnTo>
                <a:lnTo>
                  <a:pt x="0" y="0"/>
                </a:lnTo>
                <a:close/>
              </a:path>
              <a:path w="1906270" h="787400">
                <a:moveTo>
                  <a:pt x="1776108" y="8117"/>
                </a:moveTo>
                <a:lnTo>
                  <a:pt x="499179" y="8117"/>
                </a:lnTo>
                <a:lnTo>
                  <a:pt x="340898" y="8291"/>
                </a:lnTo>
                <a:lnTo>
                  <a:pt x="299153" y="17486"/>
                </a:lnTo>
                <a:lnTo>
                  <a:pt x="263670" y="38942"/>
                </a:lnTo>
                <a:lnTo>
                  <a:pt x="236837" y="70271"/>
                </a:lnTo>
                <a:lnTo>
                  <a:pt x="221040" y="109086"/>
                </a:lnTo>
                <a:lnTo>
                  <a:pt x="217821" y="137943"/>
                </a:lnTo>
                <a:lnTo>
                  <a:pt x="1905969" y="137943"/>
                </a:lnTo>
                <a:lnTo>
                  <a:pt x="1896598" y="89428"/>
                </a:lnTo>
                <a:lnTo>
                  <a:pt x="1875136" y="53955"/>
                </a:lnTo>
                <a:lnTo>
                  <a:pt x="1843799" y="27128"/>
                </a:lnTo>
                <a:lnTo>
                  <a:pt x="1804973" y="11336"/>
                </a:lnTo>
                <a:lnTo>
                  <a:pt x="1776108" y="81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375802" y="3244493"/>
            <a:ext cx="1906270" cy="787400"/>
          </a:xfrm>
          <a:custGeom>
            <a:avLst/>
            <a:gdLst/>
            <a:ahLst/>
            <a:cxnLst/>
            <a:rect l="l" t="t" r="r" b="b"/>
            <a:pathLst>
              <a:path w="1906270" h="787400">
                <a:moveTo>
                  <a:pt x="217821" y="137942"/>
                </a:moveTo>
                <a:lnTo>
                  <a:pt x="224932" y="95462"/>
                </a:lnTo>
                <a:lnTo>
                  <a:pt x="244673" y="58877"/>
                </a:lnTo>
                <a:lnTo>
                  <a:pt x="274655" y="30574"/>
                </a:lnTo>
                <a:lnTo>
                  <a:pt x="312491" y="12940"/>
                </a:lnTo>
                <a:lnTo>
                  <a:pt x="499179" y="8117"/>
                </a:lnTo>
                <a:lnTo>
                  <a:pt x="921216" y="8117"/>
                </a:lnTo>
                <a:lnTo>
                  <a:pt x="1776109" y="8117"/>
                </a:lnTo>
                <a:lnTo>
                  <a:pt x="1790780" y="8936"/>
                </a:lnTo>
                <a:lnTo>
                  <a:pt x="1831571" y="20519"/>
                </a:lnTo>
                <a:lnTo>
                  <a:pt x="1865670" y="43933"/>
                </a:lnTo>
                <a:lnTo>
                  <a:pt x="1890689" y="76790"/>
                </a:lnTo>
                <a:lnTo>
                  <a:pt x="1904239" y="116702"/>
                </a:lnTo>
                <a:lnTo>
                  <a:pt x="1905969" y="137938"/>
                </a:lnTo>
                <a:lnTo>
                  <a:pt x="1905969" y="332673"/>
                </a:lnTo>
                <a:lnTo>
                  <a:pt x="1905969" y="657225"/>
                </a:lnTo>
                <a:lnTo>
                  <a:pt x="1905149" y="671892"/>
                </a:lnTo>
                <a:lnTo>
                  <a:pt x="1893563" y="712672"/>
                </a:lnTo>
                <a:lnTo>
                  <a:pt x="1870143" y="746762"/>
                </a:lnTo>
                <a:lnTo>
                  <a:pt x="1837277" y="771775"/>
                </a:lnTo>
                <a:lnTo>
                  <a:pt x="1797355" y="785321"/>
                </a:lnTo>
                <a:lnTo>
                  <a:pt x="921216" y="787050"/>
                </a:lnTo>
                <a:lnTo>
                  <a:pt x="499179" y="787050"/>
                </a:lnTo>
                <a:lnTo>
                  <a:pt x="347681" y="787050"/>
                </a:lnTo>
                <a:lnTo>
                  <a:pt x="333010" y="786231"/>
                </a:lnTo>
                <a:lnTo>
                  <a:pt x="292219" y="774648"/>
                </a:lnTo>
                <a:lnTo>
                  <a:pt x="258120" y="751234"/>
                </a:lnTo>
                <a:lnTo>
                  <a:pt x="233101" y="718377"/>
                </a:lnTo>
                <a:lnTo>
                  <a:pt x="219551" y="678466"/>
                </a:lnTo>
                <a:lnTo>
                  <a:pt x="217821" y="332673"/>
                </a:lnTo>
                <a:lnTo>
                  <a:pt x="0" y="0"/>
                </a:lnTo>
                <a:lnTo>
                  <a:pt x="217821" y="137938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898776" y="3350806"/>
            <a:ext cx="107632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线程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O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18214" y="3669928"/>
            <a:ext cx="143700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Sc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h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du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435609" y="3256668"/>
            <a:ext cx="2879090" cy="775335"/>
          </a:xfrm>
          <a:custGeom>
            <a:avLst/>
            <a:gdLst/>
            <a:ahLst/>
            <a:cxnLst/>
            <a:rect l="l" t="t" r="r" b="b"/>
            <a:pathLst>
              <a:path w="2879090" h="775335">
                <a:moveTo>
                  <a:pt x="0" y="129148"/>
                </a:moveTo>
                <a:lnTo>
                  <a:pt x="7146" y="86682"/>
                </a:lnTo>
                <a:lnTo>
                  <a:pt x="26975" y="50153"/>
                </a:lnTo>
                <a:lnTo>
                  <a:pt x="57075" y="21975"/>
                </a:lnTo>
                <a:lnTo>
                  <a:pt x="95031" y="4561"/>
                </a:lnTo>
                <a:lnTo>
                  <a:pt x="479751" y="0"/>
                </a:lnTo>
                <a:lnTo>
                  <a:pt x="1199378" y="0"/>
                </a:lnTo>
                <a:lnTo>
                  <a:pt x="2749324" y="0"/>
                </a:lnTo>
                <a:lnTo>
                  <a:pt x="2763994" y="823"/>
                </a:lnTo>
                <a:lnTo>
                  <a:pt x="2804760" y="12462"/>
                </a:lnTo>
                <a:lnTo>
                  <a:pt x="2838782" y="35977"/>
                </a:lnTo>
                <a:lnTo>
                  <a:pt x="2863647" y="68954"/>
                </a:lnTo>
                <a:lnTo>
                  <a:pt x="2876942" y="108982"/>
                </a:lnTo>
                <a:lnTo>
                  <a:pt x="2878507" y="129145"/>
                </a:lnTo>
                <a:lnTo>
                  <a:pt x="2878507" y="322863"/>
                </a:lnTo>
                <a:lnTo>
                  <a:pt x="2878507" y="645727"/>
                </a:lnTo>
                <a:lnTo>
                  <a:pt x="2877684" y="660393"/>
                </a:lnTo>
                <a:lnTo>
                  <a:pt x="2866042" y="701148"/>
                </a:lnTo>
                <a:lnTo>
                  <a:pt x="2842520" y="735161"/>
                </a:lnTo>
                <a:lnTo>
                  <a:pt x="2809534" y="760019"/>
                </a:lnTo>
                <a:lnTo>
                  <a:pt x="2769495" y="773310"/>
                </a:lnTo>
                <a:lnTo>
                  <a:pt x="1199378" y="774875"/>
                </a:lnTo>
                <a:lnTo>
                  <a:pt x="479751" y="774875"/>
                </a:lnTo>
                <a:lnTo>
                  <a:pt x="129183" y="774875"/>
                </a:lnTo>
                <a:lnTo>
                  <a:pt x="114513" y="774052"/>
                </a:lnTo>
                <a:lnTo>
                  <a:pt x="73747" y="762413"/>
                </a:lnTo>
                <a:lnTo>
                  <a:pt x="39724" y="738898"/>
                </a:lnTo>
                <a:lnTo>
                  <a:pt x="14859" y="705921"/>
                </a:lnTo>
                <a:lnTo>
                  <a:pt x="1565" y="665892"/>
                </a:lnTo>
                <a:lnTo>
                  <a:pt x="0" y="322863"/>
                </a:lnTo>
                <a:lnTo>
                  <a:pt x="0" y="312965"/>
                </a:lnTo>
                <a:lnTo>
                  <a:pt x="0" y="129145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563582" y="3367320"/>
            <a:ext cx="2620645" cy="577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1670" marR="5080" indent="-649605">
              <a:lnSpc>
                <a:spcPct val="101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内核级线程对多核的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支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持怎么样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243529" y="1629834"/>
            <a:ext cx="1980326" cy="13712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383472" y="1602786"/>
            <a:ext cx="1980326" cy="13712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729428" y="1365903"/>
            <a:ext cx="804545" cy="21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25" dirty="0">
                <a:latin typeface="宋体" panose="02010600030101010101" pitchFamily="2" charset="-122"/>
                <a:cs typeface="宋体" panose="02010600030101010101" pitchFamily="2" charset="-122"/>
              </a:rPr>
              <a:t>多处理器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34" name="object 34"/>
          <p:cNvSpPr txBox="1"/>
          <p:nvPr/>
        </p:nvSpPr>
        <p:spPr>
          <a:xfrm>
            <a:off x="9164255" y="1336161"/>
            <a:ext cx="415290" cy="21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25" dirty="0">
                <a:latin typeface="宋体" panose="02010600030101010101" pitchFamily="2" charset="-122"/>
                <a:cs typeface="宋体" panose="02010600030101010101" pitchFamily="2" charset="-122"/>
              </a:rPr>
              <a:t>多核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97026" y="3702012"/>
            <a:ext cx="1675130" cy="337820"/>
          </a:xfrm>
          <a:custGeom>
            <a:avLst/>
            <a:gdLst/>
            <a:ahLst/>
            <a:cxnLst/>
            <a:rect l="l" t="t" r="r" b="b"/>
            <a:pathLst>
              <a:path w="1675129" h="337820">
                <a:moveTo>
                  <a:pt x="0" y="337815"/>
                </a:moveTo>
                <a:lnTo>
                  <a:pt x="1675067" y="337815"/>
                </a:lnTo>
                <a:lnTo>
                  <a:pt x="1675067" y="0"/>
                </a:lnTo>
                <a:lnTo>
                  <a:pt x="0" y="0"/>
                </a:lnTo>
                <a:lnTo>
                  <a:pt x="0" y="3378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197026" y="2538425"/>
            <a:ext cx="1675130" cy="337820"/>
          </a:xfrm>
          <a:custGeom>
            <a:avLst/>
            <a:gdLst/>
            <a:ahLst/>
            <a:cxnLst/>
            <a:rect l="l" t="t" r="r" b="b"/>
            <a:pathLst>
              <a:path w="1675129" h="337819">
                <a:moveTo>
                  <a:pt x="0" y="337815"/>
                </a:moveTo>
                <a:lnTo>
                  <a:pt x="1675067" y="337815"/>
                </a:lnTo>
                <a:lnTo>
                  <a:pt x="1675067" y="0"/>
                </a:lnTo>
                <a:lnTo>
                  <a:pt x="0" y="0"/>
                </a:lnTo>
                <a:lnTo>
                  <a:pt x="0" y="3378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197026" y="1750190"/>
            <a:ext cx="1675130" cy="337820"/>
          </a:xfrm>
          <a:custGeom>
            <a:avLst/>
            <a:gdLst/>
            <a:ahLst/>
            <a:cxnLst/>
            <a:rect l="l" t="t" r="r" b="b"/>
            <a:pathLst>
              <a:path w="1675129" h="337819">
                <a:moveTo>
                  <a:pt x="0" y="337815"/>
                </a:moveTo>
                <a:lnTo>
                  <a:pt x="1675067" y="337815"/>
                </a:lnTo>
                <a:lnTo>
                  <a:pt x="1675067" y="0"/>
                </a:lnTo>
                <a:lnTo>
                  <a:pt x="0" y="0"/>
                </a:lnTo>
                <a:lnTo>
                  <a:pt x="0" y="3378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50" spc="100" dirty="0"/>
              <a:t>和用户级相比，核心级线程有什么不同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?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0094" y="3629907"/>
            <a:ext cx="160968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30094" y="4499445"/>
            <a:ext cx="160968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61582" y="4462219"/>
            <a:ext cx="4093210" cy="732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一个栈到一套栈；两个栈到两套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栈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B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关联内核栈，那用户栈怎么办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0094" y="4943005"/>
            <a:ext cx="160968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048125" y="5685425"/>
            <a:ext cx="649605" cy="41910"/>
          </a:xfrm>
          <a:custGeom>
            <a:avLst/>
            <a:gdLst/>
            <a:ahLst/>
            <a:cxnLst/>
            <a:rect l="l" t="t" r="r" b="b"/>
            <a:pathLst>
              <a:path w="649604" h="41910">
                <a:moveTo>
                  <a:pt x="486966" y="0"/>
                </a:moveTo>
                <a:lnTo>
                  <a:pt x="486966" y="10481"/>
                </a:lnTo>
                <a:lnTo>
                  <a:pt x="0" y="10481"/>
                </a:lnTo>
                <a:lnTo>
                  <a:pt x="0" y="31441"/>
                </a:lnTo>
                <a:lnTo>
                  <a:pt x="486966" y="31441"/>
                </a:lnTo>
                <a:lnTo>
                  <a:pt x="486966" y="41921"/>
                </a:lnTo>
                <a:lnTo>
                  <a:pt x="649287" y="20961"/>
                </a:lnTo>
                <a:lnTo>
                  <a:pt x="4869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048125" y="5685425"/>
            <a:ext cx="649605" cy="41910"/>
          </a:xfrm>
          <a:custGeom>
            <a:avLst/>
            <a:gdLst/>
            <a:ahLst/>
            <a:cxnLst/>
            <a:rect l="l" t="t" r="r" b="b"/>
            <a:pathLst>
              <a:path w="649604" h="41910">
                <a:moveTo>
                  <a:pt x="0" y="10480"/>
                </a:moveTo>
                <a:lnTo>
                  <a:pt x="486966" y="10480"/>
                </a:lnTo>
                <a:lnTo>
                  <a:pt x="486966" y="0"/>
                </a:lnTo>
                <a:lnTo>
                  <a:pt x="649287" y="20960"/>
                </a:lnTo>
                <a:lnTo>
                  <a:pt x="486966" y="41921"/>
                </a:lnTo>
                <a:lnTo>
                  <a:pt x="486966" y="31441"/>
                </a:lnTo>
                <a:lnTo>
                  <a:pt x="0" y="31441"/>
                </a:lnTo>
                <a:lnTo>
                  <a:pt x="0" y="10480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762341" y="5264854"/>
            <a:ext cx="974090" cy="294005"/>
          </a:xfrm>
          <a:custGeom>
            <a:avLst/>
            <a:gdLst/>
            <a:ahLst/>
            <a:cxnLst/>
            <a:rect l="l" t="t" r="r" b="b"/>
            <a:pathLst>
              <a:path w="974089" h="294004">
                <a:moveTo>
                  <a:pt x="0" y="0"/>
                </a:moveTo>
                <a:lnTo>
                  <a:pt x="973931" y="0"/>
                </a:lnTo>
                <a:lnTo>
                  <a:pt x="973931" y="293452"/>
                </a:lnTo>
                <a:lnTo>
                  <a:pt x="0" y="293452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762341" y="5558308"/>
            <a:ext cx="974090" cy="295275"/>
          </a:xfrm>
          <a:custGeom>
            <a:avLst/>
            <a:gdLst/>
            <a:ahLst/>
            <a:cxnLst/>
            <a:rect l="l" t="t" r="r" b="b"/>
            <a:pathLst>
              <a:path w="974089" h="295275">
                <a:moveTo>
                  <a:pt x="0" y="294804"/>
                </a:moveTo>
                <a:lnTo>
                  <a:pt x="973931" y="294804"/>
                </a:lnTo>
                <a:lnTo>
                  <a:pt x="973931" y="0"/>
                </a:lnTo>
                <a:lnTo>
                  <a:pt x="0" y="0"/>
                </a:lnTo>
                <a:lnTo>
                  <a:pt x="0" y="2948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62341" y="5558308"/>
            <a:ext cx="974090" cy="295275"/>
          </a:xfrm>
          <a:custGeom>
            <a:avLst/>
            <a:gdLst/>
            <a:ahLst/>
            <a:cxnLst/>
            <a:rect l="l" t="t" r="r" b="b"/>
            <a:pathLst>
              <a:path w="974089" h="295275">
                <a:moveTo>
                  <a:pt x="0" y="0"/>
                </a:moveTo>
                <a:lnTo>
                  <a:pt x="973931" y="0"/>
                </a:lnTo>
                <a:lnTo>
                  <a:pt x="973931" y="294804"/>
                </a:lnTo>
                <a:lnTo>
                  <a:pt x="0" y="294804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359977" y="5264854"/>
            <a:ext cx="974090" cy="294005"/>
          </a:xfrm>
          <a:custGeom>
            <a:avLst/>
            <a:gdLst/>
            <a:ahLst/>
            <a:cxnLst/>
            <a:rect l="l" t="t" r="r" b="b"/>
            <a:pathLst>
              <a:path w="974089" h="294004">
                <a:moveTo>
                  <a:pt x="0" y="0"/>
                </a:moveTo>
                <a:lnTo>
                  <a:pt x="973931" y="0"/>
                </a:lnTo>
                <a:lnTo>
                  <a:pt x="973931" y="293452"/>
                </a:lnTo>
                <a:lnTo>
                  <a:pt x="0" y="293452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600858" y="5280704"/>
            <a:ext cx="289433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414905" algn="l"/>
              </a:tabLst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104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	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304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03222" y="5574752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404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359977" y="5558308"/>
            <a:ext cx="974090" cy="295275"/>
          </a:xfrm>
          <a:custGeom>
            <a:avLst/>
            <a:gdLst/>
            <a:ahLst/>
            <a:cxnLst/>
            <a:rect l="l" t="t" r="r" b="b"/>
            <a:pathLst>
              <a:path w="974089" h="295275">
                <a:moveTo>
                  <a:pt x="0" y="294804"/>
                </a:moveTo>
                <a:lnTo>
                  <a:pt x="973931" y="294804"/>
                </a:lnTo>
                <a:lnTo>
                  <a:pt x="973931" y="0"/>
                </a:lnTo>
                <a:lnTo>
                  <a:pt x="0" y="0"/>
                </a:lnTo>
                <a:lnTo>
                  <a:pt x="0" y="2948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359977" y="5558308"/>
            <a:ext cx="974090" cy="295275"/>
          </a:xfrm>
          <a:custGeom>
            <a:avLst/>
            <a:gdLst/>
            <a:ahLst/>
            <a:cxnLst/>
            <a:rect l="l" t="t" r="r" b="b"/>
            <a:pathLst>
              <a:path w="974089" h="295275">
                <a:moveTo>
                  <a:pt x="0" y="0"/>
                </a:moveTo>
                <a:lnTo>
                  <a:pt x="973931" y="0"/>
                </a:lnTo>
                <a:lnTo>
                  <a:pt x="973931" y="294804"/>
                </a:lnTo>
                <a:lnTo>
                  <a:pt x="0" y="294804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645761" y="5703004"/>
            <a:ext cx="649605" cy="42545"/>
          </a:xfrm>
          <a:custGeom>
            <a:avLst/>
            <a:gdLst/>
            <a:ahLst/>
            <a:cxnLst/>
            <a:rect l="l" t="t" r="r" b="b"/>
            <a:pathLst>
              <a:path w="649605" h="42545">
                <a:moveTo>
                  <a:pt x="486967" y="0"/>
                </a:moveTo>
                <a:lnTo>
                  <a:pt x="486967" y="10481"/>
                </a:lnTo>
                <a:lnTo>
                  <a:pt x="0" y="10481"/>
                </a:lnTo>
                <a:lnTo>
                  <a:pt x="0" y="31441"/>
                </a:lnTo>
                <a:lnTo>
                  <a:pt x="486967" y="31441"/>
                </a:lnTo>
                <a:lnTo>
                  <a:pt x="486967" y="41922"/>
                </a:lnTo>
                <a:lnTo>
                  <a:pt x="649287" y="20961"/>
                </a:lnTo>
                <a:lnTo>
                  <a:pt x="486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645761" y="5703004"/>
            <a:ext cx="649605" cy="41910"/>
          </a:xfrm>
          <a:custGeom>
            <a:avLst/>
            <a:gdLst/>
            <a:ahLst/>
            <a:cxnLst/>
            <a:rect l="l" t="t" r="r" b="b"/>
            <a:pathLst>
              <a:path w="649605" h="41910">
                <a:moveTo>
                  <a:pt x="0" y="10480"/>
                </a:moveTo>
                <a:lnTo>
                  <a:pt x="486967" y="10480"/>
                </a:lnTo>
                <a:lnTo>
                  <a:pt x="486967" y="0"/>
                </a:lnTo>
                <a:lnTo>
                  <a:pt x="649287" y="20961"/>
                </a:lnTo>
                <a:lnTo>
                  <a:pt x="486967" y="41922"/>
                </a:lnTo>
                <a:lnTo>
                  <a:pt x="486967" y="31441"/>
                </a:lnTo>
                <a:lnTo>
                  <a:pt x="0" y="31441"/>
                </a:lnTo>
                <a:lnTo>
                  <a:pt x="0" y="10480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048410" y="5399543"/>
            <a:ext cx="604520" cy="639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64770">
              <a:lnSpc>
                <a:spcPct val="117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esp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2000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24" name="object 24"/>
          <p:cNvSpPr txBox="1"/>
          <p:nvPr/>
        </p:nvSpPr>
        <p:spPr>
          <a:xfrm>
            <a:off x="2600858" y="5574752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204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46047" y="5399543"/>
            <a:ext cx="60452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1000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05476" y="6020799"/>
            <a:ext cx="1428750" cy="294005"/>
          </a:xfrm>
          <a:prstGeom prst="rect">
            <a:avLst/>
          </a:prstGeom>
          <a:ln w="2434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ct val="100000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esp=1000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26616" y="6048477"/>
            <a:ext cx="70358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1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42911" y="6020799"/>
            <a:ext cx="1428750" cy="294005"/>
          </a:xfrm>
          <a:prstGeom prst="rect">
            <a:avLst/>
          </a:prstGeom>
          <a:ln w="2434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ct val="100000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esp=2000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464052" y="6048477"/>
            <a:ext cx="70358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2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41252" y="1844064"/>
          <a:ext cx="9765665" cy="2652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44625"/>
                <a:gridCol w="1675068"/>
              </a:tblGrid>
              <a:tr h="328348">
                <a:tc rowSpan="4">
                  <a:txBody>
                    <a:bodyPr/>
                    <a:lstStyle/>
                    <a:p>
                      <a:pPr marL="564515" marR="636905" indent="-292100">
                        <a:lnSpc>
                          <a:spcPct val="131000"/>
                        </a:lnSpc>
                      </a:pPr>
                      <a:r>
                        <a:rPr sz="2400" b="1" spc="-10" dirty="0">
                          <a:latin typeface="Arial" panose="020B0604020202020204"/>
                          <a:cs typeface="Arial" panose="020B0604020202020204"/>
                        </a:rPr>
                        <a:t>Thr</a:t>
                      </a:r>
                      <a:r>
                        <a:rPr sz="2400" b="1" spc="-5" dirty="0"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r>
                        <a:rPr sz="2400" b="1" spc="-5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2400" b="1" spc="-10" dirty="0">
                          <a:latin typeface="Arial" panose="020B0604020202020204"/>
                          <a:cs typeface="Arial" panose="020B0604020202020204"/>
                        </a:rPr>
                        <a:t>dCr</a:t>
                      </a:r>
                      <a:r>
                        <a:rPr sz="2400" b="1" spc="-5" dirty="0"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r>
                        <a:rPr sz="2400" b="1" spc="-5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2400" b="1" spc="-5" dirty="0"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r>
                        <a:rPr sz="2400" b="1" spc="-5" dirty="0"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r>
                        <a:rPr sz="3450" b="1" spc="-22" baseline="10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是系统调用，内核管理</a:t>
                      </a:r>
                      <a:r>
                        <a:rPr sz="2400" b="1" spc="-10" dirty="0">
                          <a:latin typeface="Arial" panose="020B0604020202020204"/>
                          <a:cs typeface="Arial" panose="020B0604020202020204"/>
                        </a:rPr>
                        <a:t>TCB</a:t>
                      </a:r>
                      <a:r>
                        <a:rPr sz="3450" b="1" spc="-22" baseline="10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，内核</a:t>
                      </a:r>
                      <a:r>
                        <a:rPr sz="3450" b="1" baseline="10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负</a:t>
                      </a:r>
                      <a:r>
                        <a:rPr sz="2300" b="1" spc="-1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责切换线</a:t>
                      </a:r>
                      <a:r>
                        <a:rPr sz="23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程</a:t>
                      </a:r>
                      <a:endParaRPr sz="23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272415">
                        <a:lnSpc>
                          <a:spcPct val="100000"/>
                        </a:lnSpc>
                        <a:spcBef>
                          <a:spcPts val="1435"/>
                        </a:spcBef>
                        <a:tabLst>
                          <a:tab pos="7599045" algn="l"/>
                        </a:tabLst>
                      </a:pPr>
                      <a:r>
                        <a:rPr sz="2300" b="1" spc="-15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如何让切换成型</a:t>
                      </a:r>
                      <a:r>
                        <a:rPr sz="3600" b="1" baseline="-100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?</a:t>
                      </a:r>
                      <a:r>
                        <a:rPr sz="3600" b="1" spc="-22" baseline="-100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300" b="1" dirty="0">
                          <a:solidFill>
                            <a:srgbClr val="FF0000"/>
                          </a:solidFill>
                          <a:latin typeface="Symbol" panose="05050102010706020507"/>
                          <a:cs typeface="Symbol" panose="05050102010706020507"/>
                        </a:rPr>
                        <a:t></a:t>
                      </a:r>
                      <a:r>
                        <a:rPr sz="2300" b="1" spc="75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300" b="1" spc="-15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内核栈，</a:t>
                      </a:r>
                      <a:r>
                        <a:rPr sz="3600" b="1" spc="-15" baseline="-100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TC</a:t>
                      </a:r>
                      <a:r>
                        <a:rPr sz="3600" b="1" baseline="-100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r>
                        <a:rPr sz="3600" b="1" baseline="-100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	</a:t>
                      </a:r>
                      <a:r>
                        <a:rPr sz="2475" b="1" baseline="-50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用户</a:t>
                      </a:r>
                      <a:endParaRPr sz="2475" baseline="-50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R w="24341">
                      <a:solidFill>
                        <a:srgbClr val="FF0000"/>
                      </a:solidFill>
                      <a:prstDash val="solid"/>
                    </a:lnR>
                    <a:lnT w="43274">
                      <a:solidFill>
                        <a:srgbClr val="C1C43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2475" baseline="-50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4341">
                      <a:solidFill>
                        <a:srgbClr val="FF0000"/>
                      </a:solidFill>
                      <a:prstDash val="solid"/>
                    </a:lnL>
                    <a:lnR w="24341">
                      <a:solidFill>
                        <a:srgbClr val="FF0000"/>
                      </a:solidFill>
                      <a:prstDash val="solid"/>
                    </a:lnR>
                    <a:lnT w="43274">
                      <a:solidFill>
                        <a:srgbClr val="C1C43C"/>
                      </a:solidFill>
                      <a:prstDash val="solid"/>
                    </a:lnT>
                    <a:lnB w="24341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450421">
                <a:tc vMerge="1">
                  <a:tcPr marL="0" marR="0" marT="0" marB="0">
                    <a:lnR w="24341">
                      <a:solidFill>
                        <a:srgbClr val="FF0000"/>
                      </a:solidFill>
                      <a:prstDash val="solid"/>
                    </a:lnR>
                    <a:lnT w="43274">
                      <a:solidFill>
                        <a:srgbClr val="C1C43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ct val="100000"/>
                        </a:lnSpc>
                      </a:pPr>
                      <a:r>
                        <a:rPr sz="165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用户栈</a:t>
                      </a:r>
                      <a:endParaRPr sz="16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4342">
                      <a:solidFill>
                        <a:srgbClr val="FF0000"/>
                      </a:solidFill>
                      <a:prstDash val="solid"/>
                    </a:lnL>
                    <a:lnR w="24342">
                      <a:solidFill>
                        <a:srgbClr val="FF0000"/>
                      </a:solidFill>
                      <a:prstDash val="solid"/>
                    </a:lnR>
                    <a:lnT w="24341">
                      <a:solidFill>
                        <a:srgbClr val="FF0000"/>
                      </a:solidFill>
                      <a:prstDash val="solid"/>
                    </a:lnT>
                    <a:lnB w="24342">
                      <a:solidFill>
                        <a:srgbClr val="FF0000"/>
                      </a:solidFill>
                      <a:prstDash val="solid"/>
                    </a:lnB>
                    <a:solidFill>
                      <a:srgbClr val="333399"/>
                    </a:solidFill>
                  </a:tcPr>
                </a:tc>
              </a:tr>
              <a:tr h="337814">
                <a:tc vMerge="1">
                  <a:tcPr marL="0" marR="0" marT="0" marB="0">
                    <a:lnR w="24341">
                      <a:solidFill>
                        <a:srgbClr val="FF0000"/>
                      </a:solidFill>
                      <a:prstDash val="solid"/>
                    </a:lnR>
                    <a:lnT w="43274">
                      <a:solidFill>
                        <a:srgbClr val="C1C43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16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4341">
                      <a:solidFill>
                        <a:srgbClr val="FF0000"/>
                      </a:solidFill>
                      <a:prstDash val="solid"/>
                    </a:lnL>
                    <a:lnR w="24341">
                      <a:solidFill>
                        <a:srgbClr val="FF0000"/>
                      </a:solidFill>
                      <a:prstDash val="solid"/>
                    </a:lnR>
                    <a:lnT w="24342">
                      <a:solidFill>
                        <a:srgbClr val="FF0000"/>
                      </a:solidFill>
                      <a:prstDash val="solid"/>
                    </a:lnT>
                    <a:lnB w="24341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488315">
                <a:tc vMerge="1">
                  <a:tcPr marL="0" marR="0" marT="0" marB="0">
                    <a:lnR w="24341">
                      <a:solidFill>
                        <a:srgbClr val="FF0000"/>
                      </a:solidFill>
                      <a:prstDash val="solid"/>
                    </a:lnR>
                    <a:lnT w="43274">
                      <a:solidFill>
                        <a:srgbClr val="C1C43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27025">
                        <a:lnSpc>
                          <a:spcPct val="100000"/>
                        </a:lnSpc>
                      </a:pPr>
                      <a:r>
                        <a:rPr sz="165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代码和数据</a:t>
                      </a:r>
                      <a:endParaRPr sz="16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4342">
                      <a:solidFill>
                        <a:srgbClr val="FF0000"/>
                      </a:solidFill>
                      <a:prstDash val="solid"/>
                    </a:lnL>
                    <a:lnR w="24342">
                      <a:solidFill>
                        <a:srgbClr val="FF0000"/>
                      </a:solidFill>
                      <a:prstDash val="solid"/>
                    </a:lnR>
                    <a:lnT w="24341">
                      <a:solidFill>
                        <a:srgbClr val="FF0000"/>
                      </a:solidFill>
                      <a:prstDash val="solid"/>
                    </a:lnT>
                    <a:lnB w="24341">
                      <a:solidFill>
                        <a:srgbClr val="FF0000"/>
                      </a:solidFill>
                      <a:prstDash val="solid"/>
                    </a:lnB>
                    <a:solidFill>
                      <a:srgbClr val="333399"/>
                    </a:solidFill>
                  </a:tcPr>
                </a:tc>
              </a:tr>
              <a:tr h="337814">
                <a:tc rowSpan="3">
                  <a:txBody>
                    <a:bodyPr/>
                    <a:lstStyle/>
                    <a:p>
                      <a:pPr marL="921385">
                        <a:lnSpc>
                          <a:spcPct val="100000"/>
                        </a:lnSpc>
                        <a:tabLst>
                          <a:tab pos="7599045" algn="l"/>
                        </a:tabLst>
                      </a:pPr>
                      <a:r>
                        <a:rPr sz="2925" b="1" spc="15" baseline="10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用户栈是否还要用</a:t>
                      </a:r>
                      <a:r>
                        <a:rPr sz="2000" b="1" dirty="0">
                          <a:latin typeface="Arial" panose="020B0604020202020204"/>
                          <a:cs typeface="Arial" panose="020B0604020202020204"/>
                        </a:rPr>
                        <a:t>?</a:t>
                      </a:r>
                      <a:r>
                        <a:rPr sz="2000" b="1" spc="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925" b="1" spc="15" baseline="10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执行的代码仍然在用户态，还要</a:t>
                      </a:r>
                      <a:r>
                        <a:rPr sz="2925" b="1" baseline="10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进</a:t>
                      </a:r>
                      <a:r>
                        <a:rPr sz="2925" b="1" baseline="10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	</a:t>
                      </a:r>
                      <a:r>
                        <a:rPr sz="2475" b="1" baseline="3500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内核</a:t>
                      </a:r>
                      <a:endParaRPr sz="2475" baseline="350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921385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95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行函数调</a:t>
                      </a:r>
                      <a:r>
                        <a:rPr sz="19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用</a:t>
                      </a:r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R w="24341">
                      <a:solidFill>
                        <a:srgbClr val="FF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00380">
                        <a:lnSpc>
                          <a:spcPts val="1975"/>
                        </a:lnSpc>
                      </a:pPr>
                      <a:r>
                        <a:rPr sz="165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内核栈</a:t>
                      </a:r>
                      <a:endParaRPr sz="16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4341">
                      <a:solidFill>
                        <a:srgbClr val="FF0000"/>
                      </a:solidFill>
                      <a:prstDash val="solid"/>
                    </a:lnL>
                    <a:lnR w="24341">
                      <a:solidFill>
                        <a:srgbClr val="FF0000"/>
                      </a:solidFill>
                      <a:prstDash val="solid"/>
                    </a:lnR>
                    <a:lnT w="24341">
                      <a:solidFill>
                        <a:srgbClr val="FF0000"/>
                      </a:solidFill>
                      <a:prstDash val="solid"/>
                    </a:lnT>
                    <a:lnB w="24341">
                      <a:solidFill>
                        <a:srgbClr val="FF0000"/>
                      </a:solidFill>
                      <a:prstDash val="solid"/>
                    </a:lnB>
                    <a:solidFill>
                      <a:srgbClr val="333399"/>
                    </a:solidFill>
                  </a:tcPr>
                </a:tc>
              </a:tr>
              <a:tr h="337815">
                <a:tc vMerge="1">
                  <a:tcPr marL="0" marR="0" marT="0" marB="0">
                    <a:lnR w="24341">
                      <a:solidFill>
                        <a:srgbClr val="FF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endParaRPr sz="16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4341">
                      <a:solidFill>
                        <a:srgbClr val="FF0000"/>
                      </a:solidFill>
                      <a:prstDash val="solid"/>
                    </a:lnL>
                    <a:lnR w="24341">
                      <a:solidFill>
                        <a:srgbClr val="FF0000"/>
                      </a:solidFill>
                      <a:prstDash val="solid"/>
                    </a:lnR>
                    <a:lnT w="24341">
                      <a:solidFill>
                        <a:srgbClr val="FF0000"/>
                      </a:solidFill>
                      <a:prstDash val="solid"/>
                    </a:lnT>
                    <a:lnB w="24341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337815">
                <a:tc vMerge="1">
                  <a:tcPr marL="0" marR="0" marT="0" marB="0">
                    <a:lnR w="24341">
                      <a:solidFill>
                        <a:srgbClr val="FF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40995">
                        <a:lnSpc>
                          <a:spcPts val="1975"/>
                        </a:lnSpc>
                      </a:pPr>
                      <a:r>
                        <a:rPr sz="165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线程控制块</a:t>
                      </a:r>
                      <a:endParaRPr sz="16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4341">
                      <a:solidFill>
                        <a:srgbClr val="FF0000"/>
                      </a:solidFill>
                      <a:prstDash val="solid"/>
                    </a:lnL>
                    <a:lnR w="24341">
                      <a:solidFill>
                        <a:srgbClr val="FF0000"/>
                      </a:solidFill>
                      <a:prstDash val="solid"/>
                    </a:lnR>
                    <a:lnT w="24341">
                      <a:solidFill>
                        <a:srgbClr val="FF0000"/>
                      </a:solidFill>
                      <a:prstDash val="solid"/>
                    </a:lnT>
                    <a:lnB w="24341">
                      <a:solidFill>
                        <a:srgbClr val="FF0000"/>
                      </a:solidFill>
                      <a:prstDash val="solid"/>
                    </a:lnB>
                    <a:solidFill>
                      <a:srgbClr val="3333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标题 208897"/>
          <p:cNvSpPr>
            <a:spLocks noGrp="1"/>
          </p:cNvSpPr>
          <p:nvPr>
            <p:ph type="title"/>
          </p:nvPr>
        </p:nvSpPr>
        <p:spPr>
          <a:xfrm>
            <a:off x="728839" y="335844"/>
            <a:ext cx="9319683" cy="745155"/>
          </a:xfrm>
        </p:spPr>
        <p:txBody>
          <a:bodyPr anchor="ctr" anchorCtr="0"/>
          <a:p>
            <a:r>
              <a:rPr lang="zh-CN" altLang="en-US" dirty="0"/>
              <a:t>用户栈和内核栈之间的关联</a:t>
            </a:r>
            <a:endParaRPr lang="zh-CN" altLang="en-US"/>
          </a:p>
        </p:txBody>
      </p:sp>
      <p:sp>
        <p:nvSpPr>
          <p:cNvPr id="31746" name="矩形 208899"/>
          <p:cNvSpPr/>
          <p:nvPr/>
        </p:nvSpPr>
        <p:spPr>
          <a:xfrm>
            <a:off x="1400528" y="2015067"/>
            <a:ext cx="2518833" cy="1679222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zh-CN" sz="2645" b="1" dirty="0">
              <a:solidFill>
                <a:srgbClr val="FF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31747" name="矩形 208900"/>
          <p:cNvSpPr/>
          <p:nvPr/>
        </p:nvSpPr>
        <p:spPr>
          <a:xfrm>
            <a:off x="1400528" y="3610328"/>
            <a:ext cx="2518833" cy="1427339"/>
          </a:xfrm>
          <a:prstGeom prst="rect">
            <a:avLst/>
          </a:prstGeom>
          <a:solidFill>
            <a:srgbClr val="EAEAEA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zh-CN" sz="2645" b="1" dirty="0">
              <a:solidFill>
                <a:srgbClr val="FF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31748" name="右箭头 208901"/>
          <p:cNvSpPr/>
          <p:nvPr/>
        </p:nvSpPr>
        <p:spPr>
          <a:xfrm rot="5400000">
            <a:off x="686858" y="3064581"/>
            <a:ext cx="839611" cy="83961"/>
          </a:xfrm>
          <a:prstGeom prst="rightArrow">
            <a:avLst>
              <a:gd name="adj1" fmla="val 50000"/>
              <a:gd name="adj2" fmla="val 250000"/>
            </a:avLst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 sz="1985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8934" name="组合 208933"/>
          <p:cNvGrpSpPr/>
          <p:nvPr/>
        </p:nvGrpSpPr>
        <p:grpSpPr>
          <a:xfrm>
            <a:off x="1484489" y="5464469"/>
            <a:ext cx="7892344" cy="661194"/>
            <a:chOff x="672" y="3072"/>
            <a:chExt cx="4512" cy="378"/>
          </a:xfrm>
        </p:grpSpPr>
        <p:sp>
          <p:nvSpPr>
            <p:cNvPr id="31750" name="矩形 208912"/>
            <p:cNvSpPr/>
            <p:nvPr/>
          </p:nvSpPr>
          <p:spPr>
            <a:xfrm>
              <a:off x="672" y="3072"/>
              <a:ext cx="4512" cy="37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 anchorCtr="0">
              <a:spAutoFit/>
            </a:bodyPr>
            <a:p>
              <a:pPr lvl="1" indent="0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  <a:ea typeface="宋体" panose="02010600030101010101" pitchFamily="2" charset="-122"/>
                </a:rPr>
                <a:t>所有中断</a:t>
              </a:r>
              <a:r>
                <a:rPr lang="en-US" altLang="zh-CN" sz="2645" b="1">
                  <a:latin typeface="Arial" panose="020B0604020202020204" pitchFamily="34" charset="0"/>
                  <a:ea typeface="宋体" panose="02010600030101010101" pitchFamily="2" charset="-122"/>
                </a:rPr>
                <a:t>(</a:t>
              </a:r>
              <a:r>
                <a:rPr lang="zh-CN" altLang="en-US" sz="2645" b="1" dirty="0">
                  <a:latin typeface="Arial" panose="020B0604020202020204" pitchFamily="34" charset="0"/>
                  <a:ea typeface="宋体" panose="02010600030101010101" pitchFamily="2" charset="-122"/>
                </a:rPr>
                <a:t>时钟、外设、</a:t>
              </a:r>
              <a:r>
                <a:rPr lang="en-US" altLang="zh-CN" sz="2645" b="1">
                  <a:latin typeface="Arial" panose="020B0604020202020204" pitchFamily="34" charset="0"/>
                  <a:ea typeface="宋体" panose="02010600030101010101" pitchFamily="2" charset="-122"/>
                </a:rPr>
                <a:t>INT</a:t>
              </a:r>
              <a:r>
                <a:rPr lang="zh-CN" altLang="en-US" sz="2645" b="1" dirty="0">
                  <a:latin typeface="Arial" panose="020B0604020202020204" pitchFamily="34" charset="0"/>
                  <a:ea typeface="宋体" panose="02010600030101010101" pitchFamily="2" charset="-122"/>
                </a:rPr>
                <a:t>指令</a:t>
              </a:r>
              <a:r>
                <a:rPr lang="en-US" altLang="zh-CN" sz="2645" b="1">
                  <a:latin typeface="Arial" panose="020B0604020202020204" pitchFamily="34" charset="0"/>
                  <a:ea typeface="宋体" panose="02010600030101010101" pitchFamily="2" charset="-122"/>
                </a:rPr>
                <a:t>)</a:t>
              </a:r>
              <a:r>
                <a:rPr lang="zh-CN" altLang="en-US" sz="2645" b="1" dirty="0">
                  <a:latin typeface="Arial" panose="020B0604020202020204" pitchFamily="34" charset="0"/>
                  <a:ea typeface="宋体" panose="02010600030101010101" pitchFamily="2" charset="-122"/>
                </a:rPr>
                <a:t>都引起上述切换</a:t>
              </a:r>
              <a:endParaRPr lang="zh-CN" altLang="en-US" sz="2645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31751" name="图片 208913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16" y="3216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1752" name="文本框 208914"/>
          <p:cNvSpPr txBox="1"/>
          <p:nvPr/>
        </p:nvSpPr>
        <p:spPr>
          <a:xfrm>
            <a:off x="1988256" y="1427339"/>
            <a:ext cx="1511300" cy="49911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645" b="1" dirty="0">
                <a:latin typeface="Arial" panose="020B0604020202020204" pitchFamily="34" charset="0"/>
                <a:ea typeface="宋体" panose="02010600030101010101" pitchFamily="2" charset="-122"/>
              </a:rPr>
              <a:t>用户栈</a:t>
            </a:r>
            <a:endParaRPr lang="zh-CN" altLang="en-US" sz="2645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8939" name="组合 208938"/>
          <p:cNvGrpSpPr/>
          <p:nvPr/>
        </p:nvGrpSpPr>
        <p:grpSpPr>
          <a:xfrm>
            <a:off x="5934428" y="1427339"/>
            <a:ext cx="2854678" cy="3694289"/>
            <a:chOff x="3216" y="816"/>
            <a:chExt cx="1632" cy="2112"/>
          </a:xfrm>
        </p:grpSpPr>
        <p:sp>
          <p:nvSpPr>
            <p:cNvPr id="31754" name="矩形 208915"/>
            <p:cNvSpPr/>
            <p:nvPr/>
          </p:nvSpPr>
          <p:spPr>
            <a:xfrm>
              <a:off x="3216" y="1152"/>
              <a:ext cx="1440" cy="288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源</a:t>
              </a:r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SS</a:t>
              </a:r>
              <a:endParaRPr lang="en-US" altLang="zh-CN" sz="2645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55" name="矩形 208916"/>
            <p:cNvSpPr/>
            <p:nvPr/>
          </p:nvSpPr>
          <p:spPr>
            <a:xfrm>
              <a:off x="3216" y="2304"/>
              <a:ext cx="1440" cy="624"/>
            </a:xfrm>
            <a:prstGeom prst="rect">
              <a:avLst/>
            </a:prstGeom>
            <a:solidFill>
              <a:srgbClr val="EAEAEA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/>
              <a:endParaRPr lang="zh-CN" sz="2645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31756" name="右箭头 208917"/>
            <p:cNvSpPr/>
            <p:nvPr/>
          </p:nvSpPr>
          <p:spPr>
            <a:xfrm rot="5400000">
              <a:off x="4584" y="1800"/>
              <a:ext cx="480" cy="48"/>
            </a:xfrm>
            <a:prstGeom prst="rightArrow">
              <a:avLst>
                <a:gd name="adj1" fmla="val 50000"/>
                <a:gd name="adj2" fmla="val 250000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 sz="1985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57" name="文本框 208918"/>
            <p:cNvSpPr txBox="1"/>
            <p:nvPr/>
          </p:nvSpPr>
          <p:spPr>
            <a:xfrm>
              <a:off x="3552" y="816"/>
              <a:ext cx="864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645" b="1" dirty="0">
                  <a:latin typeface="Arial" panose="020B0604020202020204" pitchFamily="34" charset="0"/>
                  <a:ea typeface="宋体" panose="02010600030101010101" pitchFamily="2" charset="-122"/>
                </a:rPr>
                <a:t>内核栈</a:t>
              </a:r>
              <a:endParaRPr lang="zh-CN" altLang="en-US" sz="2645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58" name="矩形 208919"/>
            <p:cNvSpPr/>
            <p:nvPr/>
          </p:nvSpPr>
          <p:spPr>
            <a:xfrm>
              <a:off x="3216" y="1440"/>
              <a:ext cx="1440" cy="288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源</a:t>
              </a:r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SP</a:t>
              </a:r>
              <a:endParaRPr lang="en-US" altLang="zh-CN" sz="2645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59" name="矩形 208923"/>
            <p:cNvSpPr/>
            <p:nvPr/>
          </p:nvSpPr>
          <p:spPr>
            <a:xfrm>
              <a:off x="3216" y="1728"/>
              <a:ext cx="1440" cy="288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EFLAGS</a:t>
              </a:r>
              <a:endParaRPr lang="en-US" altLang="zh-CN" sz="2645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60" name="矩形 208924"/>
            <p:cNvSpPr/>
            <p:nvPr/>
          </p:nvSpPr>
          <p:spPr>
            <a:xfrm>
              <a:off x="3216" y="2016"/>
              <a:ext cx="1440" cy="288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PC</a:t>
              </a:r>
              <a:endParaRPr lang="en-US" altLang="zh-CN" sz="2645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08932" name="组合 208931"/>
          <p:cNvGrpSpPr/>
          <p:nvPr/>
        </p:nvGrpSpPr>
        <p:grpSpPr>
          <a:xfrm>
            <a:off x="4507089" y="3865709"/>
            <a:ext cx="839611" cy="584229"/>
            <a:chOff x="2400" y="2258"/>
            <a:chExt cx="480" cy="334"/>
          </a:xfrm>
        </p:grpSpPr>
        <p:sp>
          <p:nvSpPr>
            <p:cNvPr id="31762" name="右箭头 208926"/>
            <p:cNvSpPr/>
            <p:nvPr/>
          </p:nvSpPr>
          <p:spPr>
            <a:xfrm>
              <a:off x="2400" y="2544"/>
              <a:ext cx="480" cy="48"/>
            </a:xfrm>
            <a:prstGeom prst="rightArrow">
              <a:avLst>
                <a:gd name="adj1" fmla="val 50000"/>
                <a:gd name="adj2" fmla="val 250000"/>
              </a:avLst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 sz="1985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63" name="矩形 208928"/>
            <p:cNvSpPr/>
            <p:nvPr/>
          </p:nvSpPr>
          <p:spPr>
            <a:xfrm>
              <a:off x="2448" y="2258"/>
              <a:ext cx="415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INT</a:t>
              </a:r>
              <a:endParaRPr lang="en-US" altLang="zh-CN" sz="2645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08933" name="组合 208932"/>
          <p:cNvGrpSpPr/>
          <p:nvPr/>
        </p:nvGrpSpPr>
        <p:grpSpPr>
          <a:xfrm>
            <a:off x="4463360" y="4581129"/>
            <a:ext cx="949810" cy="540499"/>
            <a:chOff x="2375" y="2667"/>
            <a:chExt cx="543" cy="309"/>
          </a:xfrm>
        </p:grpSpPr>
        <p:sp>
          <p:nvSpPr>
            <p:cNvPr id="31765" name="右箭头 208927"/>
            <p:cNvSpPr/>
            <p:nvPr/>
          </p:nvSpPr>
          <p:spPr>
            <a:xfrm rot="10800000">
              <a:off x="2400" y="2928"/>
              <a:ext cx="480" cy="48"/>
            </a:xfrm>
            <a:prstGeom prst="rightArrow">
              <a:avLst>
                <a:gd name="adj1" fmla="val 50000"/>
                <a:gd name="adj2" fmla="val 250000"/>
              </a:avLst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 sz="1985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66" name="矩形 208929"/>
            <p:cNvSpPr/>
            <p:nvPr/>
          </p:nvSpPr>
          <p:spPr>
            <a:xfrm>
              <a:off x="2375" y="2667"/>
              <a:ext cx="543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IRET</a:t>
              </a:r>
              <a:endParaRPr lang="en-US" altLang="zh-CN" sz="2645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8922" name="直接连接符 208921"/>
          <p:cNvSpPr/>
          <p:nvPr/>
        </p:nvSpPr>
        <p:spPr>
          <a:xfrm flipH="1" flipV="1">
            <a:off x="3919361" y="2015067"/>
            <a:ext cx="2854678" cy="251883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08923" name="直接连接符 208922"/>
          <p:cNvSpPr/>
          <p:nvPr/>
        </p:nvSpPr>
        <p:spPr>
          <a:xfrm flipH="1">
            <a:off x="3919361" y="2770717"/>
            <a:ext cx="2854678" cy="839611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208938" name="组合 208937"/>
          <p:cNvGrpSpPr/>
          <p:nvPr/>
        </p:nvGrpSpPr>
        <p:grpSpPr>
          <a:xfrm>
            <a:off x="1484489" y="6129161"/>
            <a:ext cx="7892344" cy="661194"/>
            <a:chOff x="672" y="3504"/>
            <a:chExt cx="4512" cy="378"/>
          </a:xfrm>
        </p:grpSpPr>
        <p:sp>
          <p:nvSpPr>
            <p:cNvPr id="31770" name="矩形 208935"/>
            <p:cNvSpPr/>
            <p:nvPr/>
          </p:nvSpPr>
          <p:spPr>
            <a:xfrm>
              <a:off x="672" y="3504"/>
              <a:ext cx="4512" cy="37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 anchorCtr="0">
              <a:spAutoFit/>
            </a:bodyPr>
            <a:p>
              <a:pPr lvl="1" indent="0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  <a:ea typeface="宋体" panose="02010600030101010101" pitchFamily="2" charset="-122"/>
                </a:rPr>
                <a:t>切换的用户栈和内核栈一定属于同一线程</a:t>
              </a:r>
              <a:endParaRPr lang="zh-CN" altLang="en-US" sz="2645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31771" name="图片 208936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16" y="3671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208942" name="组合 208941"/>
          <p:cNvGrpSpPr/>
          <p:nvPr/>
        </p:nvGrpSpPr>
        <p:grpSpPr>
          <a:xfrm>
            <a:off x="8033456" y="3358444"/>
            <a:ext cx="2015067" cy="1527043"/>
            <a:chOff x="4416" y="1920"/>
            <a:chExt cx="1152" cy="873"/>
          </a:xfrm>
        </p:grpSpPr>
        <p:sp>
          <p:nvSpPr>
            <p:cNvPr id="31773" name="直接连接符 208939"/>
            <p:cNvSpPr/>
            <p:nvPr/>
          </p:nvSpPr>
          <p:spPr>
            <a:xfrm flipH="1" flipV="1">
              <a:off x="4416" y="1920"/>
              <a:ext cx="576" cy="43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1774" name="矩形 208940"/>
            <p:cNvSpPr/>
            <p:nvPr/>
          </p:nvSpPr>
          <p:spPr>
            <a:xfrm>
              <a:off x="4752" y="2352"/>
              <a:ext cx="816" cy="44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205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内核要修改某些位</a:t>
              </a:r>
              <a:endParaRPr lang="zh-CN" altLang="en-US" sz="2205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8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8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89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089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08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8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8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89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89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8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8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089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89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08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8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8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89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89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0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08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7185">
              <a:lnSpc>
                <a:spcPct val="100000"/>
              </a:lnSpc>
            </a:pPr>
            <a:r>
              <a:rPr sz="2950" spc="100" dirty="0"/>
              <a:t>仍然是那个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A()</a:t>
            </a:r>
            <a:r>
              <a:rPr sz="2950" spc="100" dirty="0"/>
              <a:t>，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B()</a:t>
            </a:r>
            <a:r>
              <a:rPr sz="2950" spc="100" dirty="0"/>
              <a:t>，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C()</a:t>
            </a:r>
            <a:r>
              <a:rPr sz="2950" spc="100" dirty="0"/>
              <a:t>，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D()…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1544" y="1824566"/>
            <a:ext cx="2792095" cy="4673600"/>
          </a:xfrm>
          <a:custGeom>
            <a:avLst/>
            <a:gdLst/>
            <a:ahLst/>
            <a:cxnLst/>
            <a:rect l="l" t="t" r="r" b="b"/>
            <a:pathLst>
              <a:path w="2792095" h="4673600">
                <a:moveTo>
                  <a:pt x="0" y="4673600"/>
                </a:moveTo>
                <a:lnTo>
                  <a:pt x="2791936" y="4673600"/>
                </a:lnTo>
                <a:lnTo>
                  <a:pt x="2791936" y="0"/>
                </a:lnTo>
                <a:lnTo>
                  <a:pt x="0" y="0"/>
                </a:lnTo>
                <a:lnTo>
                  <a:pt x="0" y="4673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31544" y="1824567"/>
            <a:ext cx="2792095" cy="4673600"/>
          </a:xfrm>
          <a:custGeom>
            <a:avLst/>
            <a:gdLst/>
            <a:ahLst/>
            <a:cxnLst/>
            <a:rect l="l" t="t" r="r" b="b"/>
            <a:pathLst>
              <a:path w="2792095" h="4673600">
                <a:moveTo>
                  <a:pt x="0" y="0"/>
                </a:moveTo>
                <a:lnTo>
                  <a:pt x="2791936" y="0"/>
                </a:lnTo>
                <a:lnTo>
                  <a:pt x="2791936" y="4673600"/>
                </a:lnTo>
                <a:lnTo>
                  <a:pt x="0" y="4673600"/>
                </a:lnTo>
                <a:lnTo>
                  <a:pt x="0" y="0"/>
                </a:lnTo>
                <a:close/>
              </a:path>
            </a:pathLst>
          </a:custGeom>
          <a:ln w="243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ct val="100000"/>
              </a:lnSpc>
            </a:pPr>
            <a:r>
              <a:rPr dirty="0"/>
              <a:t>100: </a:t>
            </a:r>
            <a:r>
              <a:rPr dirty="0"/>
              <a:t>A</a:t>
            </a:r>
            <a:r>
              <a:rPr dirty="0"/>
              <a:t>()</a:t>
            </a:r>
            <a:r>
              <a:rPr spc="5" dirty="0"/>
              <a:t> </a:t>
            </a:r>
            <a:r>
              <a:rPr dirty="0"/>
              <a:t>{</a:t>
            </a:r>
            <a:endParaRPr dirty="0"/>
          </a:p>
          <a:p>
            <a:pPr marL="266700" marR="1394460" indent="317500">
              <a:lnSpc>
                <a:spcPct val="134000"/>
              </a:lnSpc>
              <a:spcBef>
                <a:spcPts val="35"/>
              </a:spcBef>
            </a:pPr>
            <a:r>
              <a:rPr spc="5" dirty="0"/>
              <a:t>B(); </a:t>
            </a:r>
            <a:r>
              <a:rPr dirty="0"/>
              <a:t>104: </a:t>
            </a:r>
            <a:r>
              <a:rPr dirty="0"/>
              <a:t>}</a:t>
            </a:r>
            <a:endParaRPr dirty="0"/>
          </a:p>
          <a:p>
            <a:pPr marL="76200">
              <a:lnSpc>
                <a:spcPct val="100000"/>
              </a:lnSpc>
              <a:spcBef>
                <a:spcPts val="725"/>
              </a:spcBef>
            </a:pPr>
            <a:r>
              <a:rPr dirty="0"/>
              <a:t>200: </a:t>
            </a:r>
            <a:r>
              <a:rPr dirty="0"/>
              <a:t>B</a:t>
            </a:r>
            <a:r>
              <a:rPr dirty="0"/>
              <a:t>()</a:t>
            </a:r>
            <a:r>
              <a:rPr spc="5" dirty="0"/>
              <a:t> </a:t>
            </a:r>
            <a:r>
              <a:rPr dirty="0"/>
              <a:t>{</a:t>
            </a:r>
            <a:endParaRPr dirty="0"/>
          </a:p>
          <a:p>
            <a:pPr marL="203200" marR="1182370" indent="254000">
              <a:lnSpc>
                <a:spcPct val="136000"/>
              </a:lnSpc>
            </a:pPr>
            <a:r>
              <a:rPr spc="-10" dirty="0"/>
              <a:t>r</a:t>
            </a:r>
            <a:r>
              <a:rPr spc="-5" dirty="0"/>
              <a:t>ea</a:t>
            </a:r>
            <a:r>
              <a:rPr dirty="0"/>
              <a:t>d</a:t>
            </a:r>
            <a:r>
              <a:rPr spc="5" dirty="0"/>
              <a:t>()</a:t>
            </a:r>
            <a:r>
              <a:rPr dirty="0"/>
              <a:t>;</a:t>
            </a:r>
            <a:r>
              <a:rPr dirty="0"/>
              <a:t> </a:t>
            </a:r>
            <a:r>
              <a:rPr dirty="0"/>
              <a:t>204: </a:t>
            </a:r>
            <a:r>
              <a:rPr dirty="0"/>
              <a:t>}</a:t>
            </a:r>
            <a:endParaRPr dirty="0"/>
          </a:p>
          <a:p>
            <a:pPr marL="457200" marR="889000" indent="-381635">
              <a:lnSpc>
                <a:spcPct val="134000"/>
              </a:lnSpc>
              <a:spcBef>
                <a:spcPts val="35"/>
              </a:spcBef>
            </a:pPr>
            <a:r>
              <a:rPr dirty="0"/>
              <a:t>300: </a:t>
            </a:r>
            <a:r>
              <a:rPr spc="-10" dirty="0"/>
              <a:t>r</a:t>
            </a:r>
            <a:r>
              <a:rPr spc="-5" dirty="0"/>
              <a:t>e</a:t>
            </a:r>
            <a:r>
              <a:rPr dirty="0"/>
              <a:t>a</a:t>
            </a:r>
            <a:r>
              <a:rPr spc="5" dirty="0"/>
              <a:t>d</a:t>
            </a:r>
            <a:r>
              <a:rPr dirty="0"/>
              <a:t>()</a:t>
            </a:r>
            <a:r>
              <a:rPr spc="5" dirty="0"/>
              <a:t> </a:t>
            </a:r>
            <a:r>
              <a:rPr dirty="0"/>
              <a:t>{</a:t>
            </a:r>
            <a:r>
              <a:rPr dirty="0"/>
              <a:t> </a:t>
            </a:r>
            <a:r>
              <a:rPr spc="-10" dirty="0"/>
              <a:t>in</a:t>
            </a:r>
            <a:r>
              <a:rPr spc="-5" dirty="0"/>
              <a:t>t</a:t>
            </a:r>
            <a:r>
              <a:rPr spc="-5" dirty="0"/>
              <a:t> </a:t>
            </a:r>
            <a:r>
              <a:rPr spc="-5" dirty="0"/>
              <a:t>0</a:t>
            </a:r>
            <a:r>
              <a:rPr spc="5" dirty="0"/>
              <a:t>x</a:t>
            </a:r>
            <a:r>
              <a:rPr spc="-5" dirty="0"/>
              <a:t>80</a:t>
            </a:r>
            <a:r>
              <a:rPr dirty="0"/>
              <a:t>;</a:t>
            </a:r>
            <a:endParaRPr dirty="0"/>
          </a:p>
          <a:p>
            <a:pPr marL="203200">
              <a:lnSpc>
                <a:spcPct val="100000"/>
              </a:lnSpc>
              <a:spcBef>
                <a:spcPts val="725"/>
              </a:spcBef>
            </a:pPr>
            <a:r>
              <a:rPr dirty="0"/>
              <a:t>304: </a:t>
            </a:r>
            <a:r>
              <a:rPr dirty="0"/>
              <a:t>}</a:t>
            </a:r>
            <a:endParaRPr dirty="0"/>
          </a:p>
          <a:p>
            <a:pPr marL="203200" marR="713105" indent="-191135">
              <a:lnSpc>
                <a:spcPct val="136000"/>
              </a:lnSpc>
            </a:pPr>
            <a:r>
              <a:rPr spc="-10" dirty="0"/>
              <a:t>s</a:t>
            </a:r>
            <a:r>
              <a:rPr spc="-5" dirty="0"/>
              <a:t>y</a:t>
            </a:r>
            <a:r>
              <a:rPr spc="-10" dirty="0"/>
              <a:t>st</a:t>
            </a:r>
            <a:r>
              <a:rPr spc="-5" dirty="0"/>
              <a:t>e</a:t>
            </a:r>
            <a:r>
              <a:rPr dirty="0"/>
              <a:t>m</a:t>
            </a:r>
            <a:r>
              <a:rPr spc="-5" dirty="0"/>
              <a:t>_</a:t>
            </a:r>
            <a:r>
              <a:rPr spc="-5" dirty="0"/>
              <a:t>c</a:t>
            </a:r>
            <a:r>
              <a:rPr spc="5" dirty="0"/>
              <a:t>a</a:t>
            </a:r>
            <a:r>
              <a:rPr spc="-5" dirty="0"/>
              <a:t>ll:</a:t>
            </a:r>
            <a:r>
              <a:rPr spc="-5" dirty="0"/>
              <a:t> </a:t>
            </a:r>
            <a:r>
              <a:rPr spc="-5" dirty="0"/>
              <a:t>c</a:t>
            </a:r>
            <a:r>
              <a:rPr dirty="0"/>
              <a:t>a</a:t>
            </a:r>
            <a:r>
              <a:rPr spc="-10" dirty="0"/>
              <a:t>l</a:t>
            </a:r>
            <a:r>
              <a:rPr spc="-5" dirty="0"/>
              <a:t>l</a:t>
            </a:r>
            <a:r>
              <a:rPr dirty="0"/>
              <a:t> </a:t>
            </a:r>
            <a:r>
              <a:rPr spc="-10" dirty="0"/>
              <a:t>s</a:t>
            </a:r>
            <a:r>
              <a:rPr spc="-5" dirty="0"/>
              <a:t>y</a:t>
            </a:r>
            <a:r>
              <a:rPr spc="-10" dirty="0"/>
              <a:t>s</a:t>
            </a:r>
            <a:r>
              <a:rPr spc="-5" dirty="0"/>
              <a:t>_</a:t>
            </a:r>
            <a:r>
              <a:rPr spc="-10" dirty="0"/>
              <a:t>r</a:t>
            </a:r>
            <a:r>
              <a:rPr spc="-5" dirty="0"/>
              <a:t>e</a:t>
            </a:r>
            <a:r>
              <a:rPr spc="-5" dirty="0"/>
              <a:t>a</a:t>
            </a:r>
            <a:r>
              <a:rPr spc="5" dirty="0"/>
              <a:t>d</a:t>
            </a:r>
            <a:r>
              <a:rPr dirty="0"/>
              <a:t>;</a:t>
            </a:r>
            <a:endParaRPr dirty="0"/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/>
              <a:t>1000:</a:t>
            </a:r>
            <a:endParaRPr dirty="0"/>
          </a:p>
          <a:p>
            <a:pPr marL="12700">
              <a:lnSpc>
                <a:spcPct val="100000"/>
              </a:lnSpc>
              <a:spcBef>
                <a:spcPts val="690"/>
              </a:spcBef>
              <a:tabLst>
                <a:tab pos="2264410" algn="l"/>
              </a:tabLst>
            </a:pPr>
            <a:r>
              <a:rPr dirty="0"/>
              <a:t>2000: </a:t>
            </a:r>
            <a:r>
              <a:rPr spc="-10" dirty="0"/>
              <a:t>s</a:t>
            </a:r>
            <a:r>
              <a:rPr spc="-5" dirty="0"/>
              <a:t>y</a:t>
            </a:r>
            <a:r>
              <a:rPr spc="-10" dirty="0"/>
              <a:t>s</a:t>
            </a:r>
            <a:r>
              <a:rPr spc="-5" dirty="0"/>
              <a:t>_</a:t>
            </a:r>
            <a:r>
              <a:rPr spc="-10" dirty="0"/>
              <a:t>r</a:t>
            </a:r>
            <a:r>
              <a:rPr spc="-5" dirty="0"/>
              <a:t>e</a:t>
            </a:r>
            <a:r>
              <a:rPr dirty="0"/>
              <a:t>a</a:t>
            </a:r>
            <a:r>
              <a:rPr spc="5" dirty="0"/>
              <a:t>d</a:t>
            </a:r>
            <a:r>
              <a:rPr dirty="0"/>
              <a:t>()</a:t>
            </a:r>
            <a:r>
              <a:rPr dirty="0"/>
              <a:t>{</a:t>
            </a:r>
            <a:r>
              <a:rPr dirty="0"/>
              <a:t>	</a:t>
            </a:r>
            <a:r>
              <a:rPr dirty="0"/>
              <a:t>}</a:t>
            </a:r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4664948" y="1954389"/>
            <a:ext cx="1948180" cy="649605"/>
          </a:xfrm>
          <a:custGeom>
            <a:avLst/>
            <a:gdLst/>
            <a:ahLst/>
            <a:cxnLst/>
            <a:rect l="l" t="t" r="r" b="b"/>
            <a:pathLst>
              <a:path w="1948179" h="649605">
                <a:moveTo>
                  <a:pt x="0" y="0"/>
                </a:moveTo>
                <a:lnTo>
                  <a:pt x="1947862" y="0"/>
                </a:lnTo>
                <a:lnTo>
                  <a:pt x="1947862" y="649111"/>
                </a:lnTo>
                <a:lnTo>
                  <a:pt x="0" y="649111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36633" y="2032000"/>
            <a:ext cx="825500" cy="59266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392661" y="2148917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104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64948" y="2603500"/>
            <a:ext cx="1948180" cy="519430"/>
          </a:xfrm>
          <a:custGeom>
            <a:avLst/>
            <a:gdLst/>
            <a:ahLst/>
            <a:cxnLst/>
            <a:rect l="l" t="t" r="r" b="b"/>
            <a:pathLst>
              <a:path w="1948179" h="519430">
                <a:moveTo>
                  <a:pt x="0" y="519288"/>
                </a:moveTo>
                <a:lnTo>
                  <a:pt x="1947862" y="519288"/>
                </a:lnTo>
                <a:lnTo>
                  <a:pt x="1947862" y="0"/>
                </a:lnTo>
                <a:lnTo>
                  <a:pt x="0" y="0"/>
                </a:lnTo>
                <a:lnTo>
                  <a:pt x="0" y="5192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664948" y="2603500"/>
            <a:ext cx="1948180" cy="519430"/>
          </a:xfrm>
          <a:custGeom>
            <a:avLst/>
            <a:gdLst/>
            <a:ahLst/>
            <a:cxnLst/>
            <a:rect l="l" t="t" r="r" b="b"/>
            <a:pathLst>
              <a:path w="1948179" h="519430">
                <a:moveTo>
                  <a:pt x="0" y="0"/>
                </a:moveTo>
                <a:lnTo>
                  <a:pt x="1947862" y="0"/>
                </a:lnTo>
                <a:lnTo>
                  <a:pt x="1947862" y="519288"/>
                </a:lnTo>
                <a:lnTo>
                  <a:pt x="0" y="519288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236633" y="2616200"/>
            <a:ext cx="825500" cy="5926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392661" y="2732958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204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42669" y="2149121"/>
            <a:ext cx="65405" cy="649605"/>
          </a:xfrm>
          <a:custGeom>
            <a:avLst/>
            <a:gdLst/>
            <a:ahLst/>
            <a:cxnLst/>
            <a:rect l="l" t="t" r="r" b="b"/>
            <a:pathLst>
              <a:path w="65404" h="649605">
                <a:moveTo>
                  <a:pt x="64927" y="486834"/>
                </a:moveTo>
                <a:lnTo>
                  <a:pt x="0" y="486834"/>
                </a:lnTo>
                <a:lnTo>
                  <a:pt x="32463" y="649110"/>
                </a:lnTo>
                <a:lnTo>
                  <a:pt x="64927" y="486834"/>
                </a:lnTo>
                <a:close/>
              </a:path>
              <a:path w="65404" h="649605">
                <a:moveTo>
                  <a:pt x="48695" y="0"/>
                </a:moveTo>
                <a:lnTo>
                  <a:pt x="16231" y="0"/>
                </a:lnTo>
                <a:lnTo>
                  <a:pt x="16231" y="486834"/>
                </a:lnTo>
                <a:lnTo>
                  <a:pt x="48695" y="486834"/>
                </a:lnTo>
                <a:lnTo>
                  <a:pt x="486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742667" y="2149121"/>
            <a:ext cx="65405" cy="649605"/>
          </a:xfrm>
          <a:custGeom>
            <a:avLst/>
            <a:gdLst/>
            <a:ahLst/>
            <a:cxnLst/>
            <a:rect l="l" t="t" r="r" b="b"/>
            <a:pathLst>
              <a:path w="65404" h="649605">
                <a:moveTo>
                  <a:pt x="48696" y="0"/>
                </a:moveTo>
                <a:lnTo>
                  <a:pt x="48696" y="486833"/>
                </a:lnTo>
                <a:lnTo>
                  <a:pt x="64928" y="486833"/>
                </a:lnTo>
                <a:lnTo>
                  <a:pt x="32464" y="649111"/>
                </a:lnTo>
                <a:lnTo>
                  <a:pt x="0" y="486833"/>
                </a:lnTo>
                <a:lnTo>
                  <a:pt x="16232" y="486833"/>
                </a:lnTo>
                <a:lnTo>
                  <a:pt x="16232" y="0"/>
                </a:lnTo>
                <a:lnTo>
                  <a:pt x="48696" y="0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168156" y="2175733"/>
            <a:ext cx="235585" cy="666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1670"/>
              </a:lnSpc>
            </a:pPr>
            <a:r>
              <a:rPr sz="1700" b="1" spc="-45" dirty="0">
                <a:latin typeface="宋体" panose="02010600030101010101" pitchFamily="2" charset="-122"/>
                <a:cs typeface="宋体" panose="02010600030101010101" pitchFamily="2" charset="-122"/>
              </a:rPr>
              <a:t>用 户 栈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950732" y="3317521"/>
            <a:ext cx="3181985" cy="0"/>
          </a:xfrm>
          <a:custGeom>
            <a:avLst/>
            <a:gdLst/>
            <a:ahLst/>
            <a:cxnLst/>
            <a:rect l="l" t="t" r="r" b="b"/>
            <a:pathLst>
              <a:path w="3181984">
                <a:moveTo>
                  <a:pt x="0" y="0"/>
                </a:moveTo>
                <a:lnTo>
                  <a:pt x="3181508" y="0"/>
                </a:lnTo>
              </a:path>
            </a:pathLst>
          </a:custGeom>
          <a:ln w="3245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664948" y="3966633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003800" y="3949699"/>
            <a:ext cx="1291167" cy="5884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742669" y="3901721"/>
            <a:ext cx="65405" cy="649605"/>
          </a:xfrm>
          <a:custGeom>
            <a:avLst/>
            <a:gdLst/>
            <a:ahLst/>
            <a:cxnLst/>
            <a:rect l="l" t="t" r="r" b="b"/>
            <a:pathLst>
              <a:path w="65404" h="649604">
                <a:moveTo>
                  <a:pt x="64927" y="486834"/>
                </a:moveTo>
                <a:lnTo>
                  <a:pt x="0" y="486834"/>
                </a:lnTo>
                <a:lnTo>
                  <a:pt x="32463" y="649110"/>
                </a:lnTo>
                <a:lnTo>
                  <a:pt x="64927" y="486834"/>
                </a:lnTo>
                <a:close/>
              </a:path>
              <a:path w="65404" h="649604">
                <a:moveTo>
                  <a:pt x="48695" y="0"/>
                </a:moveTo>
                <a:lnTo>
                  <a:pt x="16231" y="0"/>
                </a:lnTo>
                <a:lnTo>
                  <a:pt x="16231" y="486834"/>
                </a:lnTo>
                <a:lnTo>
                  <a:pt x="48695" y="486834"/>
                </a:lnTo>
                <a:lnTo>
                  <a:pt x="486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742667" y="3901721"/>
            <a:ext cx="65405" cy="649605"/>
          </a:xfrm>
          <a:custGeom>
            <a:avLst/>
            <a:gdLst/>
            <a:ahLst/>
            <a:cxnLst/>
            <a:rect l="l" t="t" r="r" b="b"/>
            <a:pathLst>
              <a:path w="65404" h="649604">
                <a:moveTo>
                  <a:pt x="48696" y="0"/>
                </a:moveTo>
                <a:lnTo>
                  <a:pt x="48696" y="486833"/>
                </a:lnTo>
                <a:lnTo>
                  <a:pt x="64928" y="486833"/>
                </a:lnTo>
                <a:lnTo>
                  <a:pt x="32464" y="649111"/>
                </a:lnTo>
                <a:lnTo>
                  <a:pt x="0" y="486833"/>
                </a:lnTo>
                <a:lnTo>
                  <a:pt x="16232" y="486833"/>
                </a:lnTo>
                <a:lnTo>
                  <a:pt x="16232" y="0"/>
                </a:lnTo>
                <a:lnTo>
                  <a:pt x="48696" y="0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664948" y="3512254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664948" y="3512256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003800" y="3492500"/>
            <a:ext cx="1291167" cy="5926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152402" y="3473766"/>
            <a:ext cx="958850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9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SS:</a:t>
            </a:r>
            <a:r>
              <a:rPr sz="2000" b="1" spc="2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SP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EFLAGS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68156" y="3927856"/>
            <a:ext cx="235585" cy="666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1670"/>
              </a:lnSpc>
            </a:pPr>
            <a:r>
              <a:rPr sz="1700" b="1" spc="-45" dirty="0">
                <a:latin typeface="宋体" panose="02010600030101010101" pitchFamily="2" charset="-122"/>
                <a:cs typeface="宋体" panose="02010600030101010101" pitchFamily="2" charset="-122"/>
              </a:rPr>
              <a:t>内 核 栈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664948" y="4421011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664948" y="4421011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346941" y="4501019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304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664948" y="4875389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664948" y="4875388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317066" y="4855633"/>
            <a:ext cx="664633" cy="59266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5470419" y="4971784"/>
            <a:ext cx="33655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CS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287019" y="3095924"/>
            <a:ext cx="742315" cy="688340"/>
          </a:xfrm>
          <a:custGeom>
            <a:avLst/>
            <a:gdLst/>
            <a:ahLst/>
            <a:cxnLst/>
            <a:rect l="l" t="t" r="r" b="b"/>
            <a:pathLst>
              <a:path w="742315" h="688339">
                <a:moveTo>
                  <a:pt x="540907" y="48413"/>
                </a:moveTo>
                <a:lnTo>
                  <a:pt x="396660" y="48413"/>
                </a:lnTo>
                <a:lnTo>
                  <a:pt x="451520" y="56094"/>
                </a:lnTo>
                <a:lnTo>
                  <a:pt x="510994" y="66488"/>
                </a:lnTo>
                <a:lnTo>
                  <a:pt x="565851" y="79113"/>
                </a:lnTo>
                <a:lnTo>
                  <a:pt x="613984" y="94487"/>
                </a:lnTo>
                <a:lnTo>
                  <a:pt x="653922" y="113121"/>
                </a:lnTo>
                <a:lnTo>
                  <a:pt x="684777" y="135884"/>
                </a:lnTo>
                <a:lnTo>
                  <a:pt x="710703" y="178033"/>
                </a:lnTo>
                <a:lnTo>
                  <a:pt x="717481" y="217558"/>
                </a:lnTo>
                <a:lnTo>
                  <a:pt x="717924" y="241103"/>
                </a:lnTo>
                <a:lnTo>
                  <a:pt x="716339" y="266287"/>
                </a:lnTo>
                <a:lnTo>
                  <a:pt x="707218" y="319907"/>
                </a:lnTo>
                <a:lnTo>
                  <a:pt x="690468" y="375152"/>
                </a:lnTo>
                <a:lnTo>
                  <a:pt x="666536" y="428835"/>
                </a:lnTo>
                <a:lnTo>
                  <a:pt x="635947" y="477820"/>
                </a:lnTo>
                <a:lnTo>
                  <a:pt x="599332" y="519060"/>
                </a:lnTo>
                <a:lnTo>
                  <a:pt x="556112" y="550919"/>
                </a:lnTo>
                <a:lnTo>
                  <a:pt x="503035" y="577024"/>
                </a:lnTo>
                <a:lnTo>
                  <a:pt x="440913" y="598506"/>
                </a:lnTo>
                <a:lnTo>
                  <a:pt x="371160" y="615974"/>
                </a:lnTo>
                <a:lnTo>
                  <a:pt x="255369" y="636136"/>
                </a:lnTo>
                <a:lnTo>
                  <a:pt x="172595" y="646629"/>
                </a:lnTo>
                <a:lnTo>
                  <a:pt x="87025" y="655618"/>
                </a:lnTo>
                <a:lnTo>
                  <a:pt x="0" y="663858"/>
                </a:lnTo>
                <a:lnTo>
                  <a:pt x="2296" y="688092"/>
                </a:lnTo>
                <a:lnTo>
                  <a:pt x="89321" y="679851"/>
                </a:lnTo>
                <a:lnTo>
                  <a:pt x="175140" y="670838"/>
                </a:lnTo>
                <a:lnTo>
                  <a:pt x="258431" y="660284"/>
                </a:lnTo>
                <a:lnTo>
                  <a:pt x="337883" y="647420"/>
                </a:lnTo>
                <a:lnTo>
                  <a:pt x="375921" y="639846"/>
                </a:lnTo>
                <a:lnTo>
                  <a:pt x="447264" y="622005"/>
                </a:lnTo>
                <a:lnTo>
                  <a:pt x="511592" y="599812"/>
                </a:lnTo>
                <a:lnTo>
                  <a:pt x="567654" y="572352"/>
                </a:lnTo>
                <a:lnTo>
                  <a:pt x="614781" y="537874"/>
                </a:lnTo>
                <a:lnTo>
                  <a:pt x="654856" y="493157"/>
                </a:lnTo>
                <a:lnTo>
                  <a:pt x="687642" y="440971"/>
                </a:lnTo>
                <a:lnTo>
                  <a:pt x="713009" y="384356"/>
                </a:lnTo>
                <a:lnTo>
                  <a:pt x="730722" y="326261"/>
                </a:lnTo>
                <a:lnTo>
                  <a:pt x="740464" y="269582"/>
                </a:lnTo>
                <a:lnTo>
                  <a:pt x="742223" y="242661"/>
                </a:lnTo>
                <a:lnTo>
                  <a:pt x="741826" y="217142"/>
                </a:lnTo>
                <a:lnTo>
                  <a:pt x="734067" y="171027"/>
                </a:lnTo>
                <a:lnTo>
                  <a:pt x="715740" y="134202"/>
                </a:lnTo>
                <a:lnTo>
                  <a:pt x="686015" y="105110"/>
                </a:lnTo>
                <a:lnTo>
                  <a:pt x="646324" y="81789"/>
                </a:lnTo>
                <a:lnTo>
                  <a:pt x="598879" y="63441"/>
                </a:lnTo>
                <a:lnTo>
                  <a:pt x="572697" y="55754"/>
                </a:lnTo>
                <a:lnTo>
                  <a:pt x="540907" y="48413"/>
                </a:lnTo>
                <a:close/>
              </a:path>
              <a:path w="742315" h="688339">
                <a:moveTo>
                  <a:pt x="402910" y="0"/>
                </a:moveTo>
                <a:lnTo>
                  <a:pt x="325791" y="26864"/>
                </a:lnTo>
                <a:lnTo>
                  <a:pt x="393560" y="72424"/>
                </a:lnTo>
                <a:lnTo>
                  <a:pt x="396660" y="48413"/>
                </a:lnTo>
                <a:lnTo>
                  <a:pt x="540907" y="48413"/>
                </a:lnTo>
                <a:lnTo>
                  <a:pt x="516465" y="42769"/>
                </a:lnTo>
                <a:lnTo>
                  <a:pt x="455719" y="32118"/>
                </a:lnTo>
                <a:lnTo>
                  <a:pt x="399776" y="24273"/>
                </a:lnTo>
                <a:lnTo>
                  <a:pt x="40291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888361" y="1954001"/>
            <a:ext cx="1170940" cy="1829435"/>
          </a:xfrm>
          <a:custGeom>
            <a:avLst/>
            <a:gdLst/>
            <a:ahLst/>
            <a:cxnLst/>
            <a:rect l="l" t="t" r="r" b="b"/>
            <a:pathLst>
              <a:path w="1170939" h="1829435">
                <a:moveTo>
                  <a:pt x="694921" y="0"/>
                </a:moveTo>
                <a:lnTo>
                  <a:pt x="705705" y="21823"/>
                </a:lnTo>
                <a:lnTo>
                  <a:pt x="655798" y="46476"/>
                </a:lnTo>
                <a:lnTo>
                  <a:pt x="542814" y="104273"/>
                </a:lnTo>
                <a:lnTo>
                  <a:pt x="487928" y="133750"/>
                </a:lnTo>
                <a:lnTo>
                  <a:pt x="434540" y="163733"/>
                </a:lnTo>
                <a:lnTo>
                  <a:pt x="382957" y="194329"/>
                </a:lnTo>
                <a:lnTo>
                  <a:pt x="333482" y="225638"/>
                </a:lnTo>
                <a:lnTo>
                  <a:pt x="286421" y="257769"/>
                </a:lnTo>
                <a:lnTo>
                  <a:pt x="242083" y="290833"/>
                </a:lnTo>
                <a:lnTo>
                  <a:pt x="200775" y="324946"/>
                </a:lnTo>
                <a:lnTo>
                  <a:pt x="162810" y="360222"/>
                </a:lnTo>
                <a:lnTo>
                  <a:pt x="128510" y="396784"/>
                </a:lnTo>
                <a:lnTo>
                  <a:pt x="98207" y="434754"/>
                </a:lnTo>
                <a:lnTo>
                  <a:pt x="72247" y="474243"/>
                </a:lnTo>
                <a:lnTo>
                  <a:pt x="51047" y="515203"/>
                </a:lnTo>
                <a:lnTo>
                  <a:pt x="34090" y="558228"/>
                </a:lnTo>
                <a:lnTo>
                  <a:pt x="20535" y="603854"/>
                </a:lnTo>
                <a:lnTo>
                  <a:pt x="10363" y="651706"/>
                </a:lnTo>
                <a:lnTo>
                  <a:pt x="3555" y="701413"/>
                </a:lnTo>
                <a:lnTo>
                  <a:pt x="104" y="752603"/>
                </a:lnTo>
                <a:lnTo>
                  <a:pt x="0" y="804905"/>
                </a:lnTo>
                <a:lnTo>
                  <a:pt x="3238" y="857948"/>
                </a:lnTo>
                <a:lnTo>
                  <a:pt x="9819" y="911360"/>
                </a:lnTo>
                <a:lnTo>
                  <a:pt x="19743" y="964768"/>
                </a:lnTo>
                <a:lnTo>
                  <a:pt x="33012" y="1017797"/>
                </a:lnTo>
                <a:lnTo>
                  <a:pt x="49632" y="1070074"/>
                </a:lnTo>
                <a:lnTo>
                  <a:pt x="69611" y="1121219"/>
                </a:lnTo>
                <a:lnTo>
                  <a:pt x="92956" y="1170856"/>
                </a:lnTo>
                <a:lnTo>
                  <a:pt x="119679" y="1218603"/>
                </a:lnTo>
                <a:lnTo>
                  <a:pt x="149790" y="1264075"/>
                </a:lnTo>
                <a:lnTo>
                  <a:pt x="183297" y="1306882"/>
                </a:lnTo>
                <a:lnTo>
                  <a:pt x="220878" y="1347370"/>
                </a:lnTo>
                <a:lnTo>
                  <a:pt x="263042" y="1386298"/>
                </a:lnTo>
                <a:lnTo>
                  <a:pt x="309471" y="1423784"/>
                </a:lnTo>
                <a:lnTo>
                  <a:pt x="359854" y="1459947"/>
                </a:lnTo>
                <a:lnTo>
                  <a:pt x="413887" y="1494901"/>
                </a:lnTo>
                <a:lnTo>
                  <a:pt x="471265" y="1528754"/>
                </a:lnTo>
                <a:lnTo>
                  <a:pt x="531681" y="1561616"/>
                </a:lnTo>
                <a:lnTo>
                  <a:pt x="594832" y="1593585"/>
                </a:lnTo>
                <a:lnTo>
                  <a:pt x="660413" y="1624769"/>
                </a:lnTo>
                <a:lnTo>
                  <a:pt x="728118" y="1655263"/>
                </a:lnTo>
                <a:lnTo>
                  <a:pt x="797643" y="1685168"/>
                </a:lnTo>
                <a:lnTo>
                  <a:pt x="868723" y="1714600"/>
                </a:lnTo>
                <a:lnTo>
                  <a:pt x="1014073" y="1772330"/>
                </a:lnTo>
                <a:lnTo>
                  <a:pt x="1161779" y="1829254"/>
                </a:lnTo>
                <a:lnTo>
                  <a:pt x="1170537" y="1806541"/>
                </a:lnTo>
                <a:lnTo>
                  <a:pt x="1022831" y="1749618"/>
                </a:lnTo>
                <a:lnTo>
                  <a:pt x="877713" y="1691979"/>
                </a:lnTo>
                <a:lnTo>
                  <a:pt x="806960" y="1662680"/>
                </a:lnTo>
                <a:lnTo>
                  <a:pt x="737742" y="1632903"/>
                </a:lnTo>
                <a:lnTo>
                  <a:pt x="670415" y="1602576"/>
                </a:lnTo>
                <a:lnTo>
                  <a:pt x="605290" y="1571604"/>
                </a:lnTo>
                <a:lnTo>
                  <a:pt x="542682" y="1539900"/>
                </a:lnTo>
                <a:lnTo>
                  <a:pt x="482902" y="1507374"/>
                </a:lnTo>
                <a:lnTo>
                  <a:pt x="426265" y="1473939"/>
                </a:lnTo>
                <a:lnTo>
                  <a:pt x="373085" y="1439513"/>
                </a:lnTo>
                <a:lnTo>
                  <a:pt x="323674" y="1404014"/>
                </a:lnTo>
                <a:lnTo>
                  <a:pt x="278345" y="1367365"/>
                </a:lnTo>
                <a:lnTo>
                  <a:pt x="237406" y="1329496"/>
                </a:lnTo>
                <a:lnTo>
                  <a:pt x="201157" y="1290336"/>
                </a:lnTo>
                <a:lnTo>
                  <a:pt x="168976" y="1249088"/>
                </a:lnTo>
                <a:lnTo>
                  <a:pt x="139990" y="1205180"/>
                </a:lnTo>
                <a:lnTo>
                  <a:pt x="114212" y="1158984"/>
                </a:lnTo>
                <a:lnTo>
                  <a:pt x="91650" y="1110874"/>
                </a:lnTo>
                <a:lnTo>
                  <a:pt x="72317" y="1061231"/>
                </a:lnTo>
                <a:lnTo>
                  <a:pt x="56220" y="1010434"/>
                </a:lnTo>
                <a:lnTo>
                  <a:pt x="43365" y="958871"/>
                </a:lnTo>
                <a:lnTo>
                  <a:pt x="33760" y="906924"/>
                </a:lnTo>
                <a:lnTo>
                  <a:pt x="27405" y="854983"/>
                </a:lnTo>
                <a:lnTo>
                  <a:pt x="24303" y="803432"/>
                </a:lnTo>
                <a:lnTo>
                  <a:pt x="24456" y="752603"/>
                </a:lnTo>
                <a:lnTo>
                  <a:pt x="27848" y="703063"/>
                </a:lnTo>
                <a:lnTo>
                  <a:pt x="34484" y="655022"/>
                </a:lnTo>
                <a:lnTo>
                  <a:pt x="44348" y="608930"/>
                </a:lnTo>
                <a:lnTo>
                  <a:pt x="57425" y="565177"/>
                </a:lnTo>
                <a:lnTo>
                  <a:pt x="73693" y="524149"/>
                </a:lnTo>
                <a:lnTo>
                  <a:pt x="93858" y="485460"/>
                </a:lnTo>
                <a:lnTo>
                  <a:pt x="118536" y="448151"/>
                </a:lnTo>
                <a:lnTo>
                  <a:pt x="147527" y="411986"/>
                </a:lnTo>
                <a:lnTo>
                  <a:pt x="180557" y="376887"/>
                </a:lnTo>
                <a:lnTo>
                  <a:pt x="217341" y="342784"/>
                </a:lnTo>
                <a:lnTo>
                  <a:pt x="257582" y="309606"/>
                </a:lnTo>
                <a:lnTo>
                  <a:pt x="300974" y="277285"/>
                </a:lnTo>
                <a:lnTo>
                  <a:pt x="347210" y="245741"/>
                </a:lnTo>
                <a:lnTo>
                  <a:pt x="395977" y="214897"/>
                </a:lnTo>
                <a:lnTo>
                  <a:pt x="446962" y="184669"/>
                </a:lnTo>
                <a:lnTo>
                  <a:pt x="499852" y="154973"/>
                </a:lnTo>
                <a:lnTo>
                  <a:pt x="554335" y="125717"/>
                </a:lnTo>
                <a:lnTo>
                  <a:pt x="666889" y="68145"/>
                </a:lnTo>
                <a:lnTo>
                  <a:pt x="716492" y="43646"/>
                </a:lnTo>
                <a:lnTo>
                  <a:pt x="743811" y="43646"/>
                </a:lnTo>
                <a:lnTo>
                  <a:pt x="776585" y="387"/>
                </a:lnTo>
                <a:lnTo>
                  <a:pt x="694921" y="0"/>
                </a:lnTo>
                <a:close/>
              </a:path>
              <a:path w="1170939" h="1829435">
                <a:moveTo>
                  <a:pt x="743811" y="43646"/>
                </a:moveTo>
                <a:lnTo>
                  <a:pt x="716492" y="43646"/>
                </a:lnTo>
                <a:lnTo>
                  <a:pt x="727276" y="65469"/>
                </a:lnTo>
                <a:lnTo>
                  <a:pt x="743811" y="4364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664948" y="5329766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664948" y="5329766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160433" y="5312833"/>
            <a:ext cx="977900" cy="5884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5314904" y="5426038"/>
            <a:ext cx="64770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1000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77043" y="5005211"/>
            <a:ext cx="649605" cy="0"/>
          </a:xfrm>
          <a:custGeom>
            <a:avLst/>
            <a:gdLst/>
            <a:ahLst/>
            <a:cxnLst/>
            <a:rect l="l" t="t" r="r" b="b"/>
            <a:pathLst>
              <a:path w="649605">
                <a:moveTo>
                  <a:pt x="649287" y="0"/>
                </a:moveTo>
                <a:lnTo>
                  <a:pt x="0" y="0"/>
                </a:lnTo>
              </a:path>
            </a:pathLst>
          </a:custGeom>
          <a:ln w="2434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65165" y="4096454"/>
            <a:ext cx="73660" cy="714375"/>
          </a:xfrm>
          <a:custGeom>
            <a:avLst/>
            <a:gdLst/>
            <a:ahLst/>
            <a:cxnLst/>
            <a:rect l="l" t="t" r="r" b="b"/>
            <a:pathLst>
              <a:path w="73659" h="714375">
                <a:moveTo>
                  <a:pt x="48696" y="73025"/>
                </a:moveTo>
                <a:lnTo>
                  <a:pt x="24348" y="73025"/>
                </a:lnTo>
                <a:lnTo>
                  <a:pt x="24347" y="714023"/>
                </a:lnTo>
                <a:lnTo>
                  <a:pt x="48695" y="714023"/>
                </a:lnTo>
                <a:lnTo>
                  <a:pt x="48696" y="73025"/>
                </a:lnTo>
                <a:close/>
              </a:path>
              <a:path w="73659" h="714375">
                <a:moveTo>
                  <a:pt x="36522" y="0"/>
                </a:moveTo>
                <a:lnTo>
                  <a:pt x="0" y="73025"/>
                </a:lnTo>
                <a:lnTo>
                  <a:pt x="73044" y="73026"/>
                </a:lnTo>
                <a:lnTo>
                  <a:pt x="36522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65165" y="4745566"/>
            <a:ext cx="73660" cy="714375"/>
          </a:xfrm>
          <a:custGeom>
            <a:avLst/>
            <a:gdLst/>
            <a:ahLst/>
            <a:cxnLst/>
            <a:rect l="l" t="t" r="r" b="b"/>
            <a:pathLst>
              <a:path w="73659" h="714375">
                <a:moveTo>
                  <a:pt x="73044" y="640996"/>
                </a:moveTo>
                <a:lnTo>
                  <a:pt x="0" y="640996"/>
                </a:lnTo>
                <a:lnTo>
                  <a:pt x="36522" y="714021"/>
                </a:lnTo>
                <a:lnTo>
                  <a:pt x="73044" y="640996"/>
                </a:lnTo>
                <a:close/>
              </a:path>
              <a:path w="73659" h="714375">
                <a:moveTo>
                  <a:pt x="48695" y="0"/>
                </a:moveTo>
                <a:lnTo>
                  <a:pt x="24347" y="0"/>
                </a:lnTo>
                <a:lnTo>
                  <a:pt x="24348" y="640996"/>
                </a:lnTo>
                <a:lnTo>
                  <a:pt x="48696" y="640996"/>
                </a:lnTo>
                <a:lnTo>
                  <a:pt x="48695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100206" y="4668510"/>
            <a:ext cx="3053080" cy="257175"/>
          </a:xfrm>
          <a:custGeom>
            <a:avLst/>
            <a:gdLst/>
            <a:ahLst/>
            <a:cxnLst/>
            <a:rect l="l" t="t" r="r" b="b"/>
            <a:pathLst>
              <a:path w="3053079" h="257175">
                <a:moveTo>
                  <a:pt x="93082" y="144330"/>
                </a:moveTo>
                <a:lnTo>
                  <a:pt x="0" y="206882"/>
                </a:lnTo>
                <a:lnTo>
                  <a:pt x="100281" y="257096"/>
                </a:lnTo>
                <a:lnTo>
                  <a:pt x="107596" y="254664"/>
                </a:lnTo>
                <a:lnTo>
                  <a:pt x="113619" y="242643"/>
                </a:lnTo>
                <a:lnTo>
                  <a:pt x="111185" y="235332"/>
                </a:lnTo>
                <a:lnTo>
                  <a:pt x="69827" y="214622"/>
                </a:lnTo>
                <a:lnTo>
                  <a:pt x="450512" y="190329"/>
                </a:lnTo>
                <a:lnTo>
                  <a:pt x="68276" y="190329"/>
                </a:lnTo>
                <a:lnTo>
                  <a:pt x="106666" y="164532"/>
                </a:lnTo>
                <a:lnTo>
                  <a:pt x="108148" y="156969"/>
                </a:lnTo>
                <a:lnTo>
                  <a:pt x="100646" y="145812"/>
                </a:lnTo>
                <a:lnTo>
                  <a:pt x="93082" y="144330"/>
                </a:lnTo>
                <a:close/>
              </a:path>
              <a:path w="3053079" h="257175">
                <a:moveTo>
                  <a:pt x="3050932" y="0"/>
                </a:moveTo>
                <a:lnTo>
                  <a:pt x="68276" y="190329"/>
                </a:lnTo>
                <a:lnTo>
                  <a:pt x="450512" y="190329"/>
                </a:lnTo>
                <a:lnTo>
                  <a:pt x="3052483" y="24291"/>
                </a:lnTo>
                <a:lnTo>
                  <a:pt x="305093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464329" y="3585021"/>
            <a:ext cx="283845" cy="1199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3000"/>
              </a:lnSpc>
            </a:pPr>
            <a:r>
              <a:rPr sz="1950" b="1" spc="5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用 户 程 序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64329" y="5142465"/>
            <a:ext cx="283845" cy="1199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3000"/>
              </a:lnSpc>
            </a:pPr>
            <a:r>
              <a:rPr sz="1950" b="1" spc="5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 核 程 序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12846" y="1950627"/>
            <a:ext cx="4639310" cy="3196590"/>
          </a:xfrm>
          <a:custGeom>
            <a:avLst/>
            <a:gdLst/>
            <a:ahLst/>
            <a:cxnLst/>
            <a:rect l="l" t="t" r="r" b="b"/>
            <a:pathLst>
              <a:path w="4639310" h="3196590">
                <a:moveTo>
                  <a:pt x="340085" y="27495"/>
                </a:moveTo>
                <a:lnTo>
                  <a:pt x="269620" y="30741"/>
                </a:lnTo>
                <a:lnTo>
                  <a:pt x="205331" y="42959"/>
                </a:lnTo>
                <a:lnTo>
                  <a:pt x="148809" y="66497"/>
                </a:lnTo>
                <a:lnTo>
                  <a:pt x="103059" y="102584"/>
                </a:lnTo>
                <a:lnTo>
                  <a:pt x="67249" y="155766"/>
                </a:lnTo>
                <a:lnTo>
                  <a:pt x="39059" y="226778"/>
                </a:lnTo>
                <a:lnTo>
                  <a:pt x="27380" y="268401"/>
                </a:lnTo>
                <a:lnTo>
                  <a:pt x="17527" y="313331"/>
                </a:lnTo>
                <a:lnTo>
                  <a:pt x="9675" y="360977"/>
                </a:lnTo>
                <a:lnTo>
                  <a:pt x="4010" y="410742"/>
                </a:lnTo>
                <a:lnTo>
                  <a:pt x="721" y="462024"/>
                </a:lnTo>
                <a:lnTo>
                  <a:pt x="0" y="514224"/>
                </a:lnTo>
                <a:lnTo>
                  <a:pt x="2043" y="566741"/>
                </a:lnTo>
                <a:lnTo>
                  <a:pt x="7052" y="618973"/>
                </a:lnTo>
                <a:lnTo>
                  <a:pt x="15236" y="670321"/>
                </a:lnTo>
                <a:lnTo>
                  <a:pt x="26809" y="720183"/>
                </a:lnTo>
                <a:lnTo>
                  <a:pt x="42000" y="767955"/>
                </a:lnTo>
                <a:lnTo>
                  <a:pt x="61046" y="813022"/>
                </a:lnTo>
                <a:lnTo>
                  <a:pt x="84182" y="854727"/>
                </a:lnTo>
                <a:lnTo>
                  <a:pt x="111973" y="893107"/>
                </a:lnTo>
                <a:lnTo>
                  <a:pt x="144609" y="929034"/>
                </a:lnTo>
                <a:lnTo>
                  <a:pt x="181617" y="962883"/>
                </a:lnTo>
                <a:lnTo>
                  <a:pt x="222549" y="995032"/>
                </a:lnTo>
                <a:lnTo>
                  <a:pt x="266976" y="1025852"/>
                </a:lnTo>
                <a:lnTo>
                  <a:pt x="314474" y="1055705"/>
                </a:lnTo>
                <a:lnTo>
                  <a:pt x="364623" y="1084944"/>
                </a:lnTo>
                <a:lnTo>
                  <a:pt x="417003" y="1113919"/>
                </a:lnTo>
                <a:lnTo>
                  <a:pt x="526717" y="1172404"/>
                </a:lnTo>
                <a:lnTo>
                  <a:pt x="640412" y="1233945"/>
                </a:lnTo>
                <a:lnTo>
                  <a:pt x="697621" y="1266651"/>
                </a:lnTo>
                <a:lnTo>
                  <a:pt x="754523" y="1301093"/>
                </a:lnTo>
                <a:lnTo>
                  <a:pt x="810697" y="1337600"/>
                </a:lnTo>
                <a:lnTo>
                  <a:pt x="865940" y="1376664"/>
                </a:lnTo>
                <a:lnTo>
                  <a:pt x="1041044" y="1507505"/>
                </a:lnTo>
                <a:lnTo>
                  <a:pt x="1230932" y="1652423"/>
                </a:lnTo>
                <a:lnTo>
                  <a:pt x="1360684" y="1753699"/>
                </a:lnTo>
                <a:lnTo>
                  <a:pt x="1489432" y="1856505"/>
                </a:lnTo>
                <a:lnTo>
                  <a:pt x="1552449" y="1907862"/>
                </a:lnTo>
                <a:lnTo>
                  <a:pt x="1614062" y="1958877"/>
                </a:lnTo>
                <a:lnTo>
                  <a:pt x="1673888" y="2009311"/>
                </a:lnTo>
                <a:lnTo>
                  <a:pt x="1731543" y="2058924"/>
                </a:lnTo>
                <a:lnTo>
                  <a:pt x="1786647" y="2107472"/>
                </a:lnTo>
                <a:lnTo>
                  <a:pt x="1838693" y="2154600"/>
                </a:lnTo>
                <a:lnTo>
                  <a:pt x="1887481" y="2201490"/>
                </a:lnTo>
                <a:lnTo>
                  <a:pt x="1933413" y="2249398"/>
                </a:lnTo>
                <a:lnTo>
                  <a:pt x="1976868" y="2298051"/>
                </a:lnTo>
                <a:lnTo>
                  <a:pt x="2018224" y="2347170"/>
                </a:lnTo>
                <a:lnTo>
                  <a:pt x="2057861" y="2396479"/>
                </a:lnTo>
                <a:lnTo>
                  <a:pt x="2096155" y="2445693"/>
                </a:lnTo>
                <a:lnTo>
                  <a:pt x="2170318" y="2542814"/>
                </a:lnTo>
                <a:lnTo>
                  <a:pt x="2243607" y="2636043"/>
                </a:lnTo>
                <a:lnTo>
                  <a:pt x="2280963" y="2680577"/>
                </a:lnTo>
                <a:lnTo>
                  <a:pt x="2319297" y="2723315"/>
                </a:lnTo>
                <a:lnTo>
                  <a:pt x="2358998" y="2763960"/>
                </a:lnTo>
                <a:lnTo>
                  <a:pt x="2400456" y="2802211"/>
                </a:lnTo>
                <a:lnTo>
                  <a:pt x="2444056" y="2837762"/>
                </a:lnTo>
                <a:lnTo>
                  <a:pt x="2489972" y="2870174"/>
                </a:lnTo>
                <a:lnTo>
                  <a:pt x="2536968" y="2899492"/>
                </a:lnTo>
                <a:lnTo>
                  <a:pt x="2583918" y="2926195"/>
                </a:lnTo>
                <a:lnTo>
                  <a:pt x="2631000" y="2950471"/>
                </a:lnTo>
                <a:lnTo>
                  <a:pt x="2678398" y="2972504"/>
                </a:lnTo>
                <a:lnTo>
                  <a:pt x="2726291" y="2992485"/>
                </a:lnTo>
                <a:lnTo>
                  <a:pt x="2774861" y="3010602"/>
                </a:lnTo>
                <a:lnTo>
                  <a:pt x="2824289" y="3027045"/>
                </a:lnTo>
                <a:lnTo>
                  <a:pt x="2874760" y="3042008"/>
                </a:lnTo>
                <a:lnTo>
                  <a:pt x="2926459" y="3055682"/>
                </a:lnTo>
                <a:lnTo>
                  <a:pt x="2979575" y="3068261"/>
                </a:lnTo>
                <a:lnTo>
                  <a:pt x="3034294" y="3079937"/>
                </a:lnTo>
                <a:lnTo>
                  <a:pt x="3090810" y="3090906"/>
                </a:lnTo>
                <a:lnTo>
                  <a:pt x="3149313" y="3101357"/>
                </a:lnTo>
                <a:lnTo>
                  <a:pt x="3209997" y="3111484"/>
                </a:lnTo>
                <a:lnTo>
                  <a:pt x="3338799" y="3131546"/>
                </a:lnTo>
                <a:lnTo>
                  <a:pt x="3407299" y="3141162"/>
                </a:lnTo>
                <a:lnTo>
                  <a:pt x="3478267" y="3149699"/>
                </a:lnTo>
                <a:lnTo>
                  <a:pt x="3551538" y="3157232"/>
                </a:lnTo>
                <a:lnTo>
                  <a:pt x="3626952" y="3163834"/>
                </a:lnTo>
                <a:lnTo>
                  <a:pt x="3704342" y="3169577"/>
                </a:lnTo>
                <a:lnTo>
                  <a:pt x="3783544" y="3174532"/>
                </a:lnTo>
                <a:lnTo>
                  <a:pt x="3946770" y="3182371"/>
                </a:lnTo>
                <a:lnTo>
                  <a:pt x="4115214" y="3187920"/>
                </a:lnTo>
                <a:lnTo>
                  <a:pt x="4638921" y="3196576"/>
                </a:lnTo>
                <a:lnTo>
                  <a:pt x="4639213" y="3172236"/>
                </a:lnTo>
                <a:lnTo>
                  <a:pt x="4115755" y="3163585"/>
                </a:lnTo>
                <a:lnTo>
                  <a:pt x="3947571" y="3158042"/>
                </a:lnTo>
                <a:lnTo>
                  <a:pt x="3784821" y="3150223"/>
                </a:lnTo>
                <a:lnTo>
                  <a:pt x="3705862" y="3145283"/>
                </a:lnTo>
                <a:lnTo>
                  <a:pt x="3628754" y="3139559"/>
                </a:lnTo>
                <a:lnTo>
                  <a:pt x="3553663" y="3132983"/>
                </a:lnTo>
                <a:lnTo>
                  <a:pt x="3480757" y="3125485"/>
                </a:lnTo>
                <a:lnTo>
                  <a:pt x="3410209" y="3116995"/>
                </a:lnTo>
                <a:lnTo>
                  <a:pt x="3342185" y="3107442"/>
                </a:lnTo>
                <a:lnTo>
                  <a:pt x="3213808" y="3087443"/>
                </a:lnTo>
                <a:lnTo>
                  <a:pt x="3153322" y="3077348"/>
                </a:lnTo>
                <a:lnTo>
                  <a:pt x="3095093" y="3066944"/>
                </a:lnTo>
                <a:lnTo>
                  <a:pt x="3038934" y="3056042"/>
                </a:lnTo>
                <a:lnTo>
                  <a:pt x="2984657" y="3044456"/>
                </a:lnTo>
                <a:lnTo>
                  <a:pt x="2932073" y="3031996"/>
                </a:lnTo>
                <a:lnTo>
                  <a:pt x="2880990" y="3018476"/>
                </a:lnTo>
                <a:lnTo>
                  <a:pt x="2831215" y="3003708"/>
                </a:lnTo>
                <a:lnTo>
                  <a:pt x="2782552" y="2987506"/>
                </a:lnTo>
                <a:lnTo>
                  <a:pt x="2734806" y="2969680"/>
                </a:lnTo>
                <a:lnTo>
                  <a:pt x="2687779" y="2950042"/>
                </a:lnTo>
                <a:lnTo>
                  <a:pt x="2641271" y="2928401"/>
                </a:lnTo>
                <a:lnTo>
                  <a:pt x="2595082" y="2904563"/>
                </a:lnTo>
                <a:lnTo>
                  <a:pt x="2549013" y="2878336"/>
                </a:lnTo>
                <a:lnTo>
                  <a:pt x="2502865" y="2849525"/>
                </a:lnTo>
                <a:lnTo>
                  <a:pt x="2458108" y="2817883"/>
                </a:lnTo>
                <a:lnTo>
                  <a:pt x="2415855" y="2783356"/>
                </a:lnTo>
                <a:lnTo>
                  <a:pt x="2375518" y="2746079"/>
                </a:lnTo>
                <a:lnTo>
                  <a:pt x="2336722" y="2706314"/>
                </a:lnTo>
                <a:lnTo>
                  <a:pt x="2299093" y="2664330"/>
                </a:lnTo>
                <a:lnTo>
                  <a:pt x="2262265" y="2620404"/>
                </a:lnTo>
                <a:lnTo>
                  <a:pt x="2189463" y="2527774"/>
                </a:lnTo>
                <a:lnTo>
                  <a:pt x="2115509" y="2430923"/>
                </a:lnTo>
                <a:lnTo>
                  <a:pt x="2077080" y="2381534"/>
                </a:lnTo>
                <a:lnTo>
                  <a:pt x="2037204" y="2331923"/>
                </a:lnTo>
                <a:lnTo>
                  <a:pt x="1995496" y="2282376"/>
                </a:lnTo>
                <a:lnTo>
                  <a:pt x="1951577" y="2233187"/>
                </a:lnTo>
                <a:lnTo>
                  <a:pt x="1905061" y="2184648"/>
                </a:lnTo>
                <a:lnTo>
                  <a:pt x="1855569" y="2137055"/>
                </a:lnTo>
                <a:lnTo>
                  <a:pt x="1802993" y="2089431"/>
                </a:lnTo>
                <a:lnTo>
                  <a:pt x="1747642" y="2040661"/>
                </a:lnTo>
                <a:lnTo>
                  <a:pt x="1689770" y="1990862"/>
                </a:lnTo>
                <a:lnTo>
                  <a:pt x="1629758" y="1940269"/>
                </a:lnTo>
                <a:lnTo>
                  <a:pt x="1567980" y="1889116"/>
                </a:lnTo>
                <a:lnTo>
                  <a:pt x="1504816" y="1837639"/>
                </a:lnTo>
                <a:lnTo>
                  <a:pt x="1375880" y="1734681"/>
                </a:lnTo>
                <a:lnTo>
                  <a:pt x="1245915" y="1633237"/>
                </a:lnTo>
                <a:lnTo>
                  <a:pt x="1055743" y="1488099"/>
                </a:lnTo>
                <a:lnTo>
                  <a:pt x="880459" y="1357124"/>
                </a:lnTo>
                <a:lnTo>
                  <a:pt x="824757" y="1317727"/>
                </a:lnTo>
                <a:lnTo>
                  <a:pt x="767796" y="1280687"/>
                </a:lnTo>
                <a:lnTo>
                  <a:pt x="710233" y="1245829"/>
                </a:lnTo>
                <a:lnTo>
                  <a:pt x="652500" y="1212815"/>
                </a:lnTo>
                <a:lnTo>
                  <a:pt x="538311" y="1150999"/>
                </a:lnTo>
                <a:lnTo>
                  <a:pt x="428510" y="1092467"/>
                </a:lnTo>
                <a:lnTo>
                  <a:pt x="376411" y="1063646"/>
                </a:lnTo>
                <a:lnTo>
                  <a:pt x="326742" y="1034679"/>
                </a:lnTo>
                <a:lnTo>
                  <a:pt x="279938" y="1005246"/>
                </a:lnTo>
                <a:lnTo>
                  <a:pt x="236435" y="975037"/>
                </a:lnTo>
                <a:lnTo>
                  <a:pt x="196666" y="943748"/>
                </a:lnTo>
                <a:lnTo>
                  <a:pt x="161057" y="911086"/>
                </a:lnTo>
                <a:lnTo>
                  <a:pt x="130016" y="876762"/>
                </a:lnTo>
                <a:lnTo>
                  <a:pt x="103927" y="840484"/>
                </a:lnTo>
                <a:lnTo>
                  <a:pt x="82361" y="801256"/>
                </a:lnTo>
                <a:lnTo>
                  <a:pt x="64441" y="758512"/>
                </a:lnTo>
                <a:lnTo>
                  <a:pt x="50021" y="712833"/>
                </a:lnTo>
                <a:lnTo>
                  <a:pt x="38958" y="664837"/>
                </a:lnTo>
                <a:lnTo>
                  <a:pt x="31100" y="615157"/>
                </a:lnTo>
                <a:lnTo>
                  <a:pt x="26281" y="564428"/>
                </a:lnTo>
                <a:lnTo>
                  <a:pt x="24330" y="513287"/>
                </a:lnTo>
                <a:lnTo>
                  <a:pt x="25067" y="462368"/>
                </a:lnTo>
                <a:lnTo>
                  <a:pt x="28308" y="412306"/>
                </a:lnTo>
                <a:lnTo>
                  <a:pt x="33866" y="363736"/>
                </a:lnTo>
                <a:lnTo>
                  <a:pt x="41550" y="317296"/>
                </a:lnTo>
                <a:lnTo>
                  <a:pt x="51162" y="273624"/>
                </a:lnTo>
                <a:lnTo>
                  <a:pt x="62500" y="233363"/>
                </a:lnTo>
                <a:lnTo>
                  <a:pt x="75349" y="197170"/>
                </a:lnTo>
                <a:lnTo>
                  <a:pt x="104150" y="140440"/>
                </a:lnTo>
                <a:lnTo>
                  <a:pt x="139908" y="101779"/>
                </a:lnTo>
                <a:lnTo>
                  <a:pt x="186625" y="75054"/>
                </a:lnTo>
                <a:lnTo>
                  <a:pt x="242154" y="59288"/>
                </a:lnTo>
                <a:lnTo>
                  <a:pt x="305978" y="52411"/>
                </a:lnTo>
                <a:lnTo>
                  <a:pt x="340507" y="51832"/>
                </a:lnTo>
                <a:lnTo>
                  <a:pt x="592425" y="51832"/>
                </a:lnTo>
                <a:lnTo>
                  <a:pt x="585880" y="46610"/>
                </a:lnTo>
                <a:lnTo>
                  <a:pt x="546848" y="46610"/>
                </a:lnTo>
                <a:lnTo>
                  <a:pt x="534092" y="44742"/>
                </a:lnTo>
                <a:lnTo>
                  <a:pt x="454170" y="34734"/>
                </a:lnTo>
                <a:lnTo>
                  <a:pt x="377201" y="28552"/>
                </a:lnTo>
                <a:lnTo>
                  <a:pt x="340085" y="27495"/>
                </a:lnTo>
                <a:close/>
              </a:path>
              <a:path w="4639310" h="3196590">
                <a:moveTo>
                  <a:pt x="592425" y="51832"/>
                </a:moveTo>
                <a:lnTo>
                  <a:pt x="340507" y="51832"/>
                </a:lnTo>
                <a:lnTo>
                  <a:pt x="376499" y="52884"/>
                </a:lnTo>
                <a:lnTo>
                  <a:pt x="452214" y="58997"/>
                </a:lnTo>
                <a:lnTo>
                  <a:pt x="531063" y="68894"/>
                </a:lnTo>
                <a:lnTo>
                  <a:pt x="543318" y="70690"/>
                </a:lnTo>
                <a:lnTo>
                  <a:pt x="500401" y="87955"/>
                </a:lnTo>
                <a:lnTo>
                  <a:pt x="497379" y="95044"/>
                </a:lnTo>
                <a:lnTo>
                  <a:pt x="502399" y="107516"/>
                </a:lnTo>
                <a:lnTo>
                  <a:pt x="509490" y="110536"/>
                </a:lnTo>
                <a:lnTo>
                  <a:pt x="613541" y="68680"/>
                </a:lnTo>
                <a:lnTo>
                  <a:pt x="592425" y="51832"/>
                </a:lnTo>
                <a:close/>
              </a:path>
              <a:path w="4639310" h="3196590">
                <a:moveTo>
                  <a:pt x="525278" y="0"/>
                </a:moveTo>
                <a:lnTo>
                  <a:pt x="519086" y="694"/>
                </a:lnTo>
                <a:lnTo>
                  <a:pt x="516122" y="2222"/>
                </a:lnTo>
                <a:lnTo>
                  <a:pt x="509831" y="10102"/>
                </a:lnTo>
                <a:lnTo>
                  <a:pt x="510691" y="17760"/>
                </a:lnTo>
                <a:lnTo>
                  <a:pt x="546848" y="46610"/>
                </a:lnTo>
                <a:lnTo>
                  <a:pt x="585880" y="46610"/>
                </a:lnTo>
                <a:lnTo>
                  <a:pt x="528507" y="833"/>
                </a:lnTo>
                <a:lnTo>
                  <a:pt x="5252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7392135" y="2057104"/>
            <a:ext cx="2534285" cy="730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b="1" spc="8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认真体会从内核返</a:t>
            </a:r>
            <a:r>
              <a:rPr sz="1950" b="1" spc="7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回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2000" b="1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2925" b="1" spc="127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中断返回</a:t>
            </a:r>
            <a:r>
              <a:rPr sz="2000" b="1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2925" b="1" spc="127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时的样子</a:t>
            </a:r>
            <a:r>
              <a:rPr sz="2000" b="1" spc="3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160647" y="2147770"/>
            <a:ext cx="160969" cy="16363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7185">
              <a:lnSpc>
                <a:spcPct val="100000"/>
              </a:lnSpc>
            </a:pPr>
            <a:r>
              <a:rPr sz="2950" spc="100" dirty="0"/>
              <a:t>开始内核中的切换：</a:t>
            </a:r>
            <a:r>
              <a:rPr sz="3050" dirty="0">
                <a:latin typeface="Arial" panose="020B0604020202020204"/>
                <a:cs typeface="Arial" panose="020B0604020202020204"/>
              </a:rPr>
              <a:t>swi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t</a:t>
            </a:r>
            <a:r>
              <a:rPr sz="3050" dirty="0">
                <a:latin typeface="Arial" panose="020B0604020202020204"/>
                <a:cs typeface="Arial" panose="020B0604020202020204"/>
              </a:rPr>
              <a:t>c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h</a:t>
            </a:r>
            <a:r>
              <a:rPr sz="3050" dirty="0">
                <a:latin typeface="Arial" panose="020B0604020202020204"/>
                <a:cs typeface="Arial" panose="020B0604020202020204"/>
              </a:rPr>
              <a:t>_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t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o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039" y="5121509"/>
            <a:ext cx="5561330" cy="714375"/>
          </a:xfrm>
          <a:prstGeom prst="rect">
            <a:avLst/>
          </a:prstGeom>
          <a:ln w="10818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63220" marR="74930" indent="-292100">
              <a:lnSpc>
                <a:spcPct val="103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sys_read()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{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启动磁盘读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;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将自己变成阻塞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;</a:t>
            </a:r>
            <a:r>
              <a:rPr sz="2925" b="1" spc="8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找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next;switch_to(cur,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next);}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10689" y="2214032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777588" y="1880011"/>
            <a:ext cx="65405" cy="649605"/>
          </a:xfrm>
          <a:custGeom>
            <a:avLst/>
            <a:gdLst/>
            <a:ahLst/>
            <a:cxnLst/>
            <a:rect l="l" t="t" r="r" b="b"/>
            <a:pathLst>
              <a:path w="65404" h="649605">
                <a:moveTo>
                  <a:pt x="64928" y="486834"/>
                </a:moveTo>
                <a:lnTo>
                  <a:pt x="0" y="486834"/>
                </a:lnTo>
                <a:lnTo>
                  <a:pt x="32465" y="649110"/>
                </a:lnTo>
                <a:lnTo>
                  <a:pt x="64928" y="486834"/>
                </a:lnTo>
                <a:close/>
              </a:path>
              <a:path w="65404" h="649605">
                <a:moveTo>
                  <a:pt x="48696" y="0"/>
                </a:moveTo>
                <a:lnTo>
                  <a:pt x="16231" y="0"/>
                </a:lnTo>
                <a:lnTo>
                  <a:pt x="16231" y="486834"/>
                </a:lnTo>
                <a:lnTo>
                  <a:pt x="48696" y="486834"/>
                </a:lnTo>
                <a:lnTo>
                  <a:pt x="486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77588" y="1880011"/>
            <a:ext cx="65405" cy="649605"/>
          </a:xfrm>
          <a:custGeom>
            <a:avLst/>
            <a:gdLst/>
            <a:ahLst/>
            <a:cxnLst/>
            <a:rect l="l" t="t" r="r" b="b"/>
            <a:pathLst>
              <a:path w="65404" h="649605">
                <a:moveTo>
                  <a:pt x="48696" y="0"/>
                </a:moveTo>
                <a:lnTo>
                  <a:pt x="48696" y="486833"/>
                </a:lnTo>
                <a:lnTo>
                  <a:pt x="64928" y="486833"/>
                </a:lnTo>
                <a:lnTo>
                  <a:pt x="32464" y="649111"/>
                </a:lnTo>
                <a:lnTo>
                  <a:pt x="0" y="486833"/>
                </a:lnTo>
                <a:lnTo>
                  <a:pt x="16232" y="486833"/>
                </a:lnTo>
                <a:lnTo>
                  <a:pt x="16232" y="0"/>
                </a:lnTo>
                <a:lnTo>
                  <a:pt x="48696" y="0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10689" y="1759655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710689" y="1759656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205128" y="1856897"/>
            <a:ext cx="958850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9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SS: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SP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EFLAGS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710689" y="2668411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710689" y="2668410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38594" y="1831058"/>
            <a:ext cx="717550" cy="1010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线程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455295" marR="43180" algn="just">
              <a:lnSpc>
                <a:spcPts val="1670"/>
              </a:lnSpc>
              <a:spcBef>
                <a:spcPts val="710"/>
              </a:spcBef>
            </a:pPr>
            <a:r>
              <a:rPr sz="1700" b="1" spc="-45" dirty="0">
                <a:latin typeface="宋体" panose="02010600030101010101" pitchFamily="2" charset="-122"/>
                <a:cs typeface="宋体" panose="02010600030101010101" pitchFamily="2" charset="-122"/>
              </a:rPr>
              <a:t>内 核 栈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38403" y="2765406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304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177982" y="2600794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255702" y="2535883"/>
            <a:ext cx="65405" cy="649605"/>
          </a:xfrm>
          <a:custGeom>
            <a:avLst/>
            <a:gdLst/>
            <a:ahLst/>
            <a:cxnLst/>
            <a:rect l="l" t="t" r="r" b="b"/>
            <a:pathLst>
              <a:path w="65404" h="649605">
                <a:moveTo>
                  <a:pt x="64928" y="486834"/>
                </a:moveTo>
                <a:lnTo>
                  <a:pt x="0" y="486834"/>
                </a:lnTo>
                <a:lnTo>
                  <a:pt x="32465" y="649110"/>
                </a:lnTo>
                <a:lnTo>
                  <a:pt x="64928" y="486834"/>
                </a:lnTo>
                <a:close/>
              </a:path>
              <a:path w="65404" h="649605">
                <a:moveTo>
                  <a:pt x="48696" y="0"/>
                </a:moveTo>
                <a:lnTo>
                  <a:pt x="16231" y="0"/>
                </a:lnTo>
                <a:lnTo>
                  <a:pt x="16231" y="486834"/>
                </a:lnTo>
                <a:lnTo>
                  <a:pt x="48696" y="486834"/>
                </a:lnTo>
                <a:lnTo>
                  <a:pt x="486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255702" y="2535883"/>
            <a:ext cx="65405" cy="649605"/>
          </a:xfrm>
          <a:custGeom>
            <a:avLst/>
            <a:gdLst/>
            <a:ahLst/>
            <a:cxnLst/>
            <a:rect l="l" t="t" r="r" b="b"/>
            <a:pathLst>
              <a:path w="65404" h="649605">
                <a:moveTo>
                  <a:pt x="48696" y="0"/>
                </a:moveTo>
                <a:lnTo>
                  <a:pt x="48696" y="486833"/>
                </a:lnTo>
                <a:lnTo>
                  <a:pt x="64928" y="486833"/>
                </a:lnTo>
                <a:lnTo>
                  <a:pt x="32464" y="649111"/>
                </a:lnTo>
                <a:lnTo>
                  <a:pt x="0" y="486833"/>
                </a:lnTo>
                <a:lnTo>
                  <a:pt x="16232" y="486833"/>
                </a:lnTo>
                <a:lnTo>
                  <a:pt x="16232" y="0"/>
                </a:lnTo>
                <a:lnTo>
                  <a:pt x="48696" y="0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177982" y="2146417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177982" y="2146418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672421" y="2243554"/>
            <a:ext cx="958850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9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SS: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SP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EFLAGS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75976" y="2500200"/>
            <a:ext cx="235585" cy="666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1670"/>
              </a:lnSpc>
            </a:pPr>
            <a:r>
              <a:rPr sz="1700" b="1" spc="-45" dirty="0">
                <a:latin typeface="宋体" panose="02010600030101010101" pitchFamily="2" charset="-122"/>
                <a:cs typeface="宋体" panose="02010600030101010101" pitchFamily="2" charset="-122"/>
              </a:rPr>
              <a:t>内 核 栈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177982" y="3055173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177982" y="3055173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750179" y="3152062"/>
            <a:ext cx="80327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PC=??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55988" y="2144710"/>
            <a:ext cx="70294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线程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554763" y="4421011"/>
            <a:ext cx="1448435" cy="389890"/>
          </a:xfrm>
          <a:custGeom>
            <a:avLst/>
            <a:gdLst/>
            <a:ahLst/>
            <a:cxnLst/>
            <a:rect l="l" t="t" r="r" b="b"/>
            <a:pathLst>
              <a:path w="1448435" h="389889">
                <a:moveTo>
                  <a:pt x="389569" y="0"/>
                </a:moveTo>
                <a:lnTo>
                  <a:pt x="0" y="0"/>
                </a:lnTo>
                <a:lnTo>
                  <a:pt x="3508" y="31942"/>
                </a:lnTo>
                <a:lnTo>
                  <a:pt x="30758" y="93593"/>
                </a:lnTo>
                <a:lnTo>
                  <a:pt x="83170" y="151597"/>
                </a:lnTo>
                <a:lnTo>
                  <a:pt x="118131" y="178982"/>
                </a:lnTo>
                <a:lnTo>
                  <a:pt x="158565" y="205154"/>
                </a:lnTo>
                <a:lnTo>
                  <a:pt x="204200" y="230013"/>
                </a:lnTo>
                <a:lnTo>
                  <a:pt x="254764" y="253460"/>
                </a:lnTo>
                <a:lnTo>
                  <a:pt x="309984" y="275394"/>
                </a:lnTo>
                <a:lnTo>
                  <a:pt x="369588" y="295715"/>
                </a:lnTo>
                <a:lnTo>
                  <a:pt x="433303" y="314322"/>
                </a:lnTo>
                <a:lnTo>
                  <a:pt x="500857" y="331115"/>
                </a:lnTo>
                <a:lnTo>
                  <a:pt x="571978" y="345995"/>
                </a:lnTo>
                <a:lnTo>
                  <a:pt x="646394" y="358860"/>
                </a:lnTo>
                <a:lnTo>
                  <a:pt x="723831" y="369611"/>
                </a:lnTo>
                <a:lnTo>
                  <a:pt x="804018" y="378148"/>
                </a:lnTo>
                <a:lnTo>
                  <a:pt x="886682" y="384369"/>
                </a:lnTo>
                <a:lnTo>
                  <a:pt x="971551" y="388176"/>
                </a:lnTo>
                <a:lnTo>
                  <a:pt x="1058353" y="389467"/>
                </a:lnTo>
                <a:lnTo>
                  <a:pt x="1447923" y="389467"/>
                </a:lnTo>
                <a:lnTo>
                  <a:pt x="1361121" y="388176"/>
                </a:lnTo>
                <a:lnTo>
                  <a:pt x="1276252" y="384369"/>
                </a:lnTo>
                <a:lnTo>
                  <a:pt x="1193588" y="378148"/>
                </a:lnTo>
                <a:lnTo>
                  <a:pt x="1113401" y="369611"/>
                </a:lnTo>
                <a:lnTo>
                  <a:pt x="1035964" y="358860"/>
                </a:lnTo>
                <a:lnTo>
                  <a:pt x="961548" y="345995"/>
                </a:lnTo>
                <a:lnTo>
                  <a:pt x="890427" y="331115"/>
                </a:lnTo>
                <a:lnTo>
                  <a:pt x="822873" y="314322"/>
                </a:lnTo>
                <a:lnTo>
                  <a:pt x="759158" y="295715"/>
                </a:lnTo>
                <a:lnTo>
                  <a:pt x="699554" y="275394"/>
                </a:lnTo>
                <a:lnTo>
                  <a:pt x="644334" y="253460"/>
                </a:lnTo>
                <a:lnTo>
                  <a:pt x="593770" y="230013"/>
                </a:lnTo>
                <a:lnTo>
                  <a:pt x="548135" y="205154"/>
                </a:lnTo>
                <a:lnTo>
                  <a:pt x="507701" y="178982"/>
                </a:lnTo>
                <a:lnTo>
                  <a:pt x="472740" y="151597"/>
                </a:lnTo>
                <a:lnTo>
                  <a:pt x="443525" y="123101"/>
                </a:lnTo>
                <a:lnTo>
                  <a:pt x="403422" y="63173"/>
                </a:lnTo>
                <a:lnTo>
                  <a:pt x="393078" y="31942"/>
                </a:lnTo>
                <a:lnTo>
                  <a:pt x="389569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554763" y="4421011"/>
            <a:ext cx="2731770" cy="389890"/>
          </a:xfrm>
          <a:custGeom>
            <a:avLst/>
            <a:gdLst/>
            <a:ahLst/>
            <a:cxnLst/>
            <a:rect l="l" t="t" r="r" b="b"/>
            <a:pathLst>
              <a:path w="2731770" h="389889">
                <a:moveTo>
                  <a:pt x="1253137" y="382812"/>
                </a:moveTo>
                <a:lnTo>
                  <a:pt x="1308308" y="378449"/>
                </a:lnTo>
                <a:lnTo>
                  <a:pt x="1362415" y="373051"/>
                </a:lnTo>
                <a:lnTo>
                  <a:pt x="1415373" y="366644"/>
                </a:lnTo>
                <a:lnTo>
                  <a:pt x="1467095" y="359257"/>
                </a:lnTo>
                <a:lnTo>
                  <a:pt x="1517494" y="350916"/>
                </a:lnTo>
                <a:lnTo>
                  <a:pt x="1566486" y="341648"/>
                </a:lnTo>
                <a:lnTo>
                  <a:pt x="1613982" y="331481"/>
                </a:lnTo>
                <a:lnTo>
                  <a:pt x="1659898" y="320441"/>
                </a:lnTo>
                <a:lnTo>
                  <a:pt x="1704146" y="308556"/>
                </a:lnTo>
                <a:lnTo>
                  <a:pt x="1746641" y="295854"/>
                </a:lnTo>
                <a:lnTo>
                  <a:pt x="1787297" y="282360"/>
                </a:lnTo>
                <a:lnTo>
                  <a:pt x="1826026" y="268103"/>
                </a:lnTo>
                <a:lnTo>
                  <a:pt x="1862743" y="253110"/>
                </a:lnTo>
                <a:lnTo>
                  <a:pt x="1929796" y="221023"/>
                </a:lnTo>
                <a:lnTo>
                  <a:pt x="1987766" y="186316"/>
                </a:lnTo>
                <a:lnTo>
                  <a:pt x="2035961" y="149206"/>
                </a:lnTo>
                <a:lnTo>
                  <a:pt x="2056178" y="129819"/>
                </a:lnTo>
                <a:lnTo>
                  <a:pt x="1770522" y="129822"/>
                </a:lnTo>
                <a:lnTo>
                  <a:pt x="2311493" y="0"/>
                </a:lnTo>
                <a:lnTo>
                  <a:pt x="2731411" y="129822"/>
                </a:lnTo>
                <a:lnTo>
                  <a:pt x="2445750" y="129822"/>
                </a:lnTo>
                <a:lnTo>
                  <a:pt x="2421472" y="152770"/>
                </a:lnTo>
                <a:lnTo>
                  <a:pt x="2362258" y="196188"/>
                </a:lnTo>
                <a:lnTo>
                  <a:pt x="2327624" y="216579"/>
                </a:lnTo>
                <a:lnTo>
                  <a:pt x="2289840" y="236040"/>
                </a:lnTo>
                <a:lnTo>
                  <a:pt x="2249058" y="254530"/>
                </a:lnTo>
                <a:lnTo>
                  <a:pt x="2205428" y="272010"/>
                </a:lnTo>
                <a:lnTo>
                  <a:pt x="2159102" y="288441"/>
                </a:lnTo>
                <a:lnTo>
                  <a:pt x="2110231" y="303784"/>
                </a:lnTo>
                <a:lnTo>
                  <a:pt x="2058966" y="317999"/>
                </a:lnTo>
                <a:lnTo>
                  <a:pt x="2005458" y="331047"/>
                </a:lnTo>
                <a:lnTo>
                  <a:pt x="1949860" y="342888"/>
                </a:lnTo>
                <a:lnTo>
                  <a:pt x="1892320" y="353484"/>
                </a:lnTo>
                <a:lnTo>
                  <a:pt x="1832992" y="362795"/>
                </a:lnTo>
                <a:lnTo>
                  <a:pt x="1772027" y="370781"/>
                </a:lnTo>
                <a:lnTo>
                  <a:pt x="1709574" y="377403"/>
                </a:lnTo>
                <a:lnTo>
                  <a:pt x="1645787" y="382622"/>
                </a:lnTo>
                <a:lnTo>
                  <a:pt x="1580815" y="386399"/>
                </a:lnTo>
                <a:lnTo>
                  <a:pt x="1514810" y="388694"/>
                </a:lnTo>
                <a:lnTo>
                  <a:pt x="1447923" y="389468"/>
                </a:lnTo>
                <a:lnTo>
                  <a:pt x="1058352" y="389466"/>
                </a:lnTo>
                <a:lnTo>
                  <a:pt x="971550" y="388175"/>
                </a:lnTo>
                <a:lnTo>
                  <a:pt x="886682" y="384369"/>
                </a:lnTo>
                <a:lnTo>
                  <a:pt x="804018" y="378147"/>
                </a:lnTo>
                <a:lnTo>
                  <a:pt x="723831" y="369611"/>
                </a:lnTo>
                <a:lnTo>
                  <a:pt x="646393" y="358860"/>
                </a:lnTo>
                <a:lnTo>
                  <a:pt x="571978" y="345995"/>
                </a:lnTo>
                <a:lnTo>
                  <a:pt x="500857" y="331115"/>
                </a:lnTo>
                <a:lnTo>
                  <a:pt x="433303" y="314322"/>
                </a:lnTo>
                <a:lnTo>
                  <a:pt x="369588" y="295715"/>
                </a:lnTo>
                <a:lnTo>
                  <a:pt x="309984" y="275394"/>
                </a:lnTo>
                <a:lnTo>
                  <a:pt x="254764" y="253460"/>
                </a:lnTo>
                <a:lnTo>
                  <a:pt x="204200" y="230013"/>
                </a:lnTo>
                <a:lnTo>
                  <a:pt x="158565" y="205154"/>
                </a:lnTo>
                <a:lnTo>
                  <a:pt x="118131" y="178982"/>
                </a:lnTo>
                <a:lnTo>
                  <a:pt x="83170" y="151598"/>
                </a:lnTo>
                <a:lnTo>
                  <a:pt x="53955" y="123101"/>
                </a:lnTo>
                <a:lnTo>
                  <a:pt x="13852" y="63173"/>
                </a:lnTo>
                <a:lnTo>
                  <a:pt x="0" y="0"/>
                </a:lnTo>
                <a:lnTo>
                  <a:pt x="389570" y="0"/>
                </a:lnTo>
                <a:lnTo>
                  <a:pt x="393078" y="31942"/>
                </a:lnTo>
                <a:lnTo>
                  <a:pt x="403422" y="63173"/>
                </a:lnTo>
                <a:lnTo>
                  <a:pt x="443525" y="123101"/>
                </a:lnTo>
                <a:lnTo>
                  <a:pt x="472740" y="151598"/>
                </a:lnTo>
                <a:lnTo>
                  <a:pt x="507701" y="178982"/>
                </a:lnTo>
                <a:lnTo>
                  <a:pt x="548135" y="205154"/>
                </a:lnTo>
                <a:lnTo>
                  <a:pt x="593771" y="230013"/>
                </a:lnTo>
                <a:lnTo>
                  <a:pt x="644334" y="253460"/>
                </a:lnTo>
                <a:lnTo>
                  <a:pt x="699554" y="275394"/>
                </a:lnTo>
                <a:lnTo>
                  <a:pt x="759158" y="295715"/>
                </a:lnTo>
                <a:lnTo>
                  <a:pt x="822873" y="314322"/>
                </a:lnTo>
                <a:lnTo>
                  <a:pt x="890428" y="331115"/>
                </a:lnTo>
                <a:lnTo>
                  <a:pt x="961549" y="345995"/>
                </a:lnTo>
                <a:lnTo>
                  <a:pt x="1035964" y="358860"/>
                </a:lnTo>
                <a:lnTo>
                  <a:pt x="1113401" y="369611"/>
                </a:lnTo>
                <a:lnTo>
                  <a:pt x="1193588" y="378147"/>
                </a:lnTo>
                <a:lnTo>
                  <a:pt x="1276252" y="384369"/>
                </a:lnTo>
                <a:lnTo>
                  <a:pt x="1361121" y="388175"/>
                </a:lnTo>
                <a:lnTo>
                  <a:pt x="1447923" y="389466"/>
                </a:lnTo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468110" y="4516721"/>
            <a:ext cx="83375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sw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ch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710689" y="3122789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710689" y="3122789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516160" y="3219659"/>
            <a:ext cx="33655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CS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710689" y="3577166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710689" y="3577166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2360645" y="3673914"/>
            <a:ext cx="64770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1000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177982" y="3512256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4750179" y="3609021"/>
            <a:ext cx="80327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CS=??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098424" y="1755598"/>
            <a:ext cx="3129280" cy="1692275"/>
          </a:xfrm>
          <a:custGeom>
            <a:avLst/>
            <a:gdLst/>
            <a:ahLst/>
            <a:cxnLst/>
            <a:rect l="l" t="t" r="r" b="b"/>
            <a:pathLst>
              <a:path w="3129279" h="1692275">
                <a:moveTo>
                  <a:pt x="0" y="0"/>
                </a:moveTo>
                <a:lnTo>
                  <a:pt x="3128753" y="0"/>
                </a:lnTo>
                <a:lnTo>
                  <a:pt x="3128753" y="1691745"/>
                </a:lnTo>
                <a:lnTo>
                  <a:pt x="0" y="1691745"/>
                </a:lnTo>
                <a:lnTo>
                  <a:pt x="0" y="0"/>
                </a:lnTo>
                <a:close/>
              </a:path>
            </a:pathLst>
          </a:custGeom>
          <a:ln w="1081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7162819" y="1798175"/>
            <a:ext cx="2877820" cy="1562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 marR="5080" indent="-292100">
              <a:lnSpc>
                <a:spcPct val="102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switch_to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: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仍然是通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过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TCB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找到内核栈指针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;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然后通过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ret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切到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某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个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内核程序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;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最后再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CS:PC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切到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用户程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序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061402" y="4226278"/>
            <a:ext cx="649605" cy="41910"/>
          </a:xfrm>
          <a:custGeom>
            <a:avLst/>
            <a:gdLst/>
            <a:ahLst/>
            <a:cxnLst/>
            <a:rect l="l" t="t" r="r" b="b"/>
            <a:pathLst>
              <a:path w="649605" h="41910">
                <a:moveTo>
                  <a:pt x="486966" y="0"/>
                </a:moveTo>
                <a:lnTo>
                  <a:pt x="486966" y="10480"/>
                </a:lnTo>
                <a:lnTo>
                  <a:pt x="0" y="10480"/>
                </a:lnTo>
                <a:lnTo>
                  <a:pt x="0" y="31441"/>
                </a:lnTo>
                <a:lnTo>
                  <a:pt x="486966" y="31441"/>
                </a:lnTo>
                <a:lnTo>
                  <a:pt x="486966" y="41921"/>
                </a:lnTo>
                <a:lnTo>
                  <a:pt x="649287" y="20961"/>
                </a:lnTo>
                <a:lnTo>
                  <a:pt x="486966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061402" y="4226278"/>
            <a:ext cx="649605" cy="41910"/>
          </a:xfrm>
          <a:custGeom>
            <a:avLst/>
            <a:gdLst/>
            <a:ahLst/>
            <a:cxnLst/>
            <a:rect l="l" t="t" r="r" b="b"/>
            <a:pathLst>
              <a:path w="649605" h="41910">
                <a:moveTo>
                  <a:pt x="0" y="10480"/>
                </a:moveTo>
                <a:lnTo>
                  <a:pt x="486965" y="10480"/>
                </a:lnTo>
                <a:lnTo>
                  <a:pt x="486965" y="0"/>
                </a:lnTo>
                <a:lnTo>
                  <a:pt x="649287" y="20961"/>
                </a:lnTo>
                <a:lnTo>
                  <a:pt x="486965" y="41922"/>
                </a:lnTo>
                <a:lnTo>
                  <a:pt x="486965" y="31441"/>
                </a:lnTo>
                <a:lnTo>
                  <a:pt x="0" y="31441"/>
                </a:lnTo>
                <a:lnTo>
                  <a:pt x="0" y="10480"/>
                </a:lnTo>
                <a:close/>
              </a:path>
            </a:pathLst>
          </a:custGeom>
          <a:ln w="8113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1061688" y="3906992"/>
            <a:ext cx="473709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esp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82257" y="4462933"/>
            <a:ext cx="1428750" cy="294005"/>
          </a:xfrm>
          <a:custGeom>
            <a:avLst/>
            <a:gdLst/>
            <a:ahLst/>
            <a:cxnLst/>
            <a:rect l="l" t="t" r="r" b="b"/>
            <a:pathLst>
              <a:path w="1428750" h="294004">
                <a:moveTo>
                  <a:pt x="0" y="0"/>
                </a:moveTo>
                <a:lnTo>
                  <a:pt x="1428432" y="0"/>
                </a:lnTo>
                <a:lnTo>
                  <a:pt x="1428432" y="293452"/>
                </a:lnTo>
                <a:lnTo>
                  <a:pt x="0" y="293452"/>
                </a:lnTo>
                <a:lnTo>
                  <a:pt x="0" y="0"/>
                </a:lnTo>
                <a:close/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750326" y="4478999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esp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82543" y="4815500"/>
            <a:ext cx="70358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1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60022" y="4172968"/>
            <a:ext cx="584835" cy="443230"/>
          </a:xfrm>
          <a:custGeom>
            <a:avLst/>
            <a:gdLst/>
            <a:ahLst/>
            <a:cxnLst/>
            <a:rect l="l" t="t" r="r" b="b"/>
            <a:pathLst>
              <a:path w="584835" h="443229">
                <a:moveTo>
                  <a:pt x="19982" y="241956"/>
                </a:moveTo>
                <a:lnTo>
                  <a:pt x="7667" y="243110"/>
                </a:lnTo>
                <a:lnTo>
                  <a:pt x="0" y="252186"/>
                </a:lnTo>
                <a:lnTo>
                  <a:pt x="600" y="264118"/>
                </a:lnTo>
                <a:lnTo>
                  <a:pt x="81950" y="442761"/>
                </a:lnTo>
                <a:lnTo>
                  <a:pt x="145231" y="347470"/>
                </a:lnTo>
                <a:lnTo>
                  <a:pt x="106364" y="347470"/>
                </a:lnTo>
                <a:lnTo>
                  <a:pt x="106443" y="346628"/>
                </a:lnTo>
                <a:lnTo>
                  <a:pt x="73844" y="346628"/>
                </a:lnTo>
                <a:lnTo>
                  <a:pt x="29164" y="248832"/>
                </a:lnTo>
                <a:lnTo>
                  <a:pt x="19982" y="241956"/>
                </a:lnTo>
                <a:close/>
              </a:path>
              <a:path w="584835" h="443229">
                <a:moveTo>
                  <a:pt x="173366" y="254569"/>
                </a:moveTo>
                <a:lnTo>
                  <a:pt x="163662" y="261355"/>
                </a:lnTo>
                <a:lnTo>
                  <a:pt x="106364" y="347470"/>
                </a:lnTo>
                <a:lnTo>
                  <a:pt x="145231" y="347470"/>
                </a:lnTo>
                <a:lnTo>
                  <a:pt x="191878" y="277226"/>
                </a:lnTo>
                <a:lnTo>
                  <a:pt x="192642" y="265924"/>
                </a:lnTo>
                <a:lnTo>
                  <a:pt x="185023" y="256136"/>
                </a:lnTo>
                <a:lnTo>
                  <a:pt x="173366" y="254569"/>
                </a:lnTo>
                <a:close/>
              </a:path>
              <a:path w="584835" h="443229">
                <a:moveTo>
                  <a:pt x="291678" y="0"/>
                </a:moveTo>
                <a:lnTo>
                  <a:pt x="247918" y="5358"/>
                </a:lnTo>
                <a:lnTo>
                  <a:pt x="208255" y="18238"/>
                </a:lnTo>
                <a:lnTo>
                  <a:pt x="173288" y="40269"/>
                </a:lnTo>
                <a:lnTo>
                  <a:pt x="144602" y="72015"/>
                </a:lnTo>
                <a:lnTo>
                  <a:pt x="122454" y="111498"/>
                </a:lnTo>
                <a:lnTo>
                  <a:pt x="105623" y="157177"/>
                </a:lnTo>
                <a:lnTo>
                  <a:pt x="93025" y="207613"/>
                </a:lnTo>
                <a:lnTo>
                  <a:pt x="83486" y="262586"/>
                </a:lnTo>
                <a:lnTo>
                  <a:pt x="76295" y="320598"/>
                </a:lnTo>
                <a:lnTo>
                  <a:pt x="73844" y="346628"/>
                </a:lnTo>
                <a:lnTo>
                  <a:pt x="106443" y="346628"/>
                </a:lnTo>
                <a:lnTo>
                  <a:pt x="108514" y="324578"/>
                </a:lnTo>
                <a:lnTo>
                  <a:pt x="115477" y="268109"/>
                </a:lnTo>
                <a:lnTo>
                  <a:pt x="124530" y="215447"/>
                </a:lnTo>
                <a:lnTo>
                  <a:pt x="136443" y="167374"/>
                </a:lnTo>
                <a:lnTo>
                  <a:pt x="151519" y="125956"/>
                </a:lnTo>
                <a:lnTo>
                  <a:pt x="170156" y="92034"/>
                </a:lnTo>
                <a:lnTo>
                  <a:pt x="205662" y="56495"/>
                </a:lnTo>
                <a:lnTo>
                  <a:pt x="253306" y="37363"/>
                </a:lnTo>
                <a:lnTo>
                  <a:pt x="291263" y="32452"/>
                </a:lnTo>
                <a:lnTo>
                  <a:pt x="579579" y="32452"/>
                </a:lnTo>
                <a:lnTo>
                  <a:pt x="576527" y="27291"/>
                </a:lnTo>
                <a:lnTo>
                  <a:pt x="495841" y="27291"/>
                </a:lnTo>
                <a:lnTo>
                  <a:pt x="488144" y="25515"/>
                </a:lnTo>
                <a:lnTo>
                  <a:pt x="436642" y="14612"/>
                </a:lnTo>
                <a:lnTo>
                  <a:pt x="386298" y="5938"/>
                </a:lnTo>
                <a:lnTo>
                  <a:pt x="337772" y="662"/>
                </a:lnTo>
                <a:lnTo>
                  <a:pt x="291678" y="0"/>
                </a:lnTo>
                <a:close/>
              </a:path>
              <a:path w="584835" h="443229">
                <a:moveTo>
                  <a:pt x="579579" y="32452"/>
                </a:moveTo>
                <a:lnTo>
                  <a:pt x="291263" y="32452"/>
                </a:lnTo>
                <a:lnTo>
                  <a:pt x="334284" y="32931"/>
                </a:lnTo>
                <a:lnTo>
                  <a:pt x="380791" y="37923"/>
                </a:lnTo>
                <a:lnTo>
                  <a:pt x="429918" y="46365"/>
                </a:lnTo>
                <a:lnTo>
                  <a:pt x="480847" y="57141"/>
                </a:lnTo>
                <a:lnTo>
                  <a:pt x="488545" y="58916"/>
                </a:lnTo>
                <a:lnTo>
                  <a:pt x="489890" y="67583"/>
                </a:lnTo>
                <a:lnTo>
                  <a:pt x="495199" y="78994"/>
                </a:lnTo>
                <a:lnTo>
                  <a:pt x="503586" y="88786"/>
                </a:lnTo>
                <a:lnTo>
                  <a:pt x="514943" y="96443"/>
                </a:lnTo>
                <a:lnTo>
                  <a:pt x="529160" y="101445"/>
                </a:lnTo>
                <a:lnTo>
                  <a:pt x="541482" y="101702"/>
                </a:lnTo>
                <a:lnTo>
                  <a:pt x="553199" y="98801"/>
                </a:lnTo>
                <a:lnTo>
                  <a:pt x="563849" y="92924"/>
                </a:lnTo>
                <a:lnTo>
                  <a:pt x="572971" y="84250"/>
                </a:lnTo>
                <a:lnTo>
                  <a:pt x="580104" y="72961"/>
                </a:lnTo>
                <a:lnTo>
                  <a:pt x="584787" y="59238"/>
                </a:lnTo>
                <a:lnTo>
                  <a:pt x="584700" y="47179"/>
                </a:lnTo>
                <a:lnTo>
                  <a:pt x="581521" y="35738"/>
                </a:lnTo>
                <a:lnTo>
                  <a:pt x="579579" y="32452"/>
                </a:lnTo>
                <a:close/>
              </a:path>
              <a:path w="584835" h="443229">
                <a:moveTo>
                  <a:pt x="540414" y="4780"/>
                </a:moveTo>
                <a:lnTo>
                  <a:pt x="496989" y="24762"/>
                </a:lnTo>
                <a:lnTo>
                  <a:pt x="495841" y="27291"/>
                </a:lnTo>
                <a:lnTo>
                  <a:pt x="576527" y="27291"/>
                </a:lnTo>
                <a:lnTo>
                  <a:pt x="575377" y="25346"/>
                </a:lnTo>
                <a:lnTo>
                  <a:pt x="566394" y="16435"/>
                </a:lnTo>
                <a:lnTo>
                  <a:pt x="554697" y="9435"/>
                </a:lnTo>
                <a:lnTo>
                  <a:pt x="540414" y="478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071737" y="4212755"/>
            <a:ext cx="649605" cy="41910"/>
          </a:xfrm>
          <a:custGeom>
            <a:avLst/>
            <a:gdLst/>
            <a:ahLst/>
            <a:cxnLst/>
            <a:rect l="l" t="t" r="r" b="b"/>
            <a:pathLst>
              <a:path w="649604" h="41910">
                <a:moveTo>
                  <a:pt x="162322" y="0"/>
                </a:moveTo>
                <a:lnTo>
                  <a:pt x="0" y="20960"/>
                </a:lnTo>
                <a:lnTo>
                  <a:pt x="162322" y="41921"/>
                </a:lnTo>
                <a:lnTo>
                  <a:pt x="162322" y="31441"/>
                </a:lnTo>
                <a:lnTo>
                  <a:pt x="649287" y="31441"/>
                </a:lnTo>
                <a:lnTo>
                  <a:pt x="649287" y="10480"/>
                </a:lnTo>
                <a:lnTo>
                  <a:pt x="162322" y="10480"/>
                </a:lnTo>
                <a:lnTo>
                  <a:pt x="16232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071737" y="4212754"/>
            <a:ext cx="649605" cy="41910"/>
          </a:xfrm>
          <a:custGeom>
            <a:avLst/>
            <a:gdLst/>
            <a:ahLst/>
            <a:cxnLst/>
            <a:rect l="l" t="t" r="r" b="b"/>
            <a:pathLst>
              <a:path w="649604" h="41910">
                <a:moveTo>
                  <a:pt x="649287" y="31441"/>
                </a:moveTo>
                <a:lnTo>
                  <a:pt x="162321" y="31441"/>
                </a:lnTo>
                <a:lnTo>
                  <a:pt x="162321" y="41922"/>
                </a:lnTo>
                <a:lnTo>
                  <a:pt x="0" y="20960"/>
                </a:lnTo>
                <a:lnTo>
                  <a:pt x="162321" y="0"/>
                </a:lnTo>
                <a:lnTo>
                  <a:pt x="162321" y="10480"/>
                </a:lnTo>
                <a:lnTo>
                  <a:pt x="649287" y="10480"/>
                </a:lnTo>
                <a:lnTo>
                  <a:pt x="649287" y="31441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255702" y="3382432"/>
            <a:ext cx="1428750" cy="294005"/>
          </a:xfrm>
          <a:custGeom>
            <a:avLst/>
            <a:gdLst/>
            <a:ahLst/>
            <a:cxnLst/>
            <a:rect l="l" t="t" r="r" b="b"/>
            <a:pathLst>
              <a:path w="1428750" h="294004">
                <a:moveTo>
                  <a:pt x="0" y="293452"/>
                </a:moveTo>
                <a:lnTo>
                  <a:pt x="1428432" y="293452"/>
                </a:lnTo>
                <a:lnTo>
                  <a:pt x="1428432" y="0"/>
                </a:lnTo>
                <a:lnTo>
                  <a:pt x="0" y="0"/>
                </a:lnTo>
                <a:lnTo>
                  <a:pt x="0" y="2934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255702" y="3382433"/>
            <a:ext cx="1428750" cy="294005"/>
          </a:xfrm>
          <a:custGeom>
            <a:avLst/>
            <a:gdLst/>
            <a:ahLst/>
            <a:cxnLst/>
            <a:rect l="l" t="t" r="r" b="b"/>
            <a:pathLst>
              <a:path w="1428750" h="294004">
                <a:moveTo>
                  <a:pt x="0" y="0"/>
                </a:moveTo>
                <a:lnTo>
                  <a:pt x="1428432" y="0"/>
                </a:lnTo>
                <a:lnTo>
                  <a:pt x="1428432" y="293452"/>
                </a:lnTo>
                <a:lnTo>
                  <a:pt x="0" y="293452"/>
                </a:lnTo>
                <a:lnTo>
                  <a:pt x="0" y="0"/>
                </a:lnTo>
                <a:close/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6502176" y="3712312"/>
            <a:ext cx="1106170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5290">
              <a:lnSpc>
                <a:spcPts val="2165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2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165"/>
              </a:lnSpc>
            </a:pP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esp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723770" y="3398793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esp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077873" y="3479665"/>
            <a:ext cx="541020" cy="763905"/>
          </a:xfrm>
          <a:custGeom>
            <a:avLst/>
            <a:gdLst/>
            <a:ahLst/>
            <a:cxnLst/>
            <a:rect l="l" t="t" r="r" b="b"/>
            <a:pathLst>
              <a:path w="541020" h="763904">
                <a:moveTo>
                  <a:pt x="0" y="577586"/>
                </a:moveTo>
                <a:lnTo>
                  <a:pt x="88063" y="758019"/>
                </a:lnTo>
                <a:lnTo>
                  <a:pt x="91475" y="760869"/>
                </a:lnTo>
                <a:lnTo>
                  <a:pt x="99331" y="763572"/>
                </a:lnTo>
                <a:lnTo>
                  <a:pt x="103775" y="763425"/>
                </a:lnTo>
                <a:lnTo>
                  <a:pt x="108841" y="760908"/>
                </a:lnTo>
                <a:lnTo>
                  <a:pt x="116204" y="751635"/>
                </a:lnTo>
                <a:lnTo>
                  <a:pt x="115274" y="739760"/>
                </a:lnTo>
                <a:lnTo>
                  <a:pt x="68187" y="643283"/>
                </a:lnTo>
                <a:lnTo>
                  <a:pt x="136709" y="643283"/>
                </a:lnTo>
                <a:lnTo>
                  <a:pt x="123172" y="637047"/>
                </a:lnTo>
                <a:lnTo>
                  <a:pt x="92342" y="619724"/>
                </a:lnTo>
                <a:lnTo>
                  <a:pt x="209353" y="619724"/>
                </a:lnTo>
                <a:lnTo>
                  <a:pt x="210706" y="606589"/>
                </a:lnTo>
                <a:lnTo>
                  <a:pt x="204222" y="598618"/>
                </a:lnTo>
                <a:lnTo>
                  <a:pt x="0" y="577586"/>
                </a:lnTo>
                <a:close/>
              </a:path>
              <a:path w="541020" h="763904">
                <a:moveTo>
                  <a:pt x="136709" y="643283"/>
                </a:moveTo>
                <a:lnTo>
                  <a:pt x="68187" y="643283"/>
                </a:lnTo>
                <a:lnTo>
                  <a:pt x="107242" y="665326"/>
                </a:lnTo>
                <a:lnTo>
                  <a:pt x="146676" y="682076"/>
                </a:lnTo>
                <a:lnTo>
                  <a:pt x="185987" y="691075"/>
                </a:lnTo>
                <a:lnTo>
                  <a:pt x="205734" y="691946"/>
                </a:lnTo>
                <a:lnTo>
                  <a:pt x="208146" y="691856"/>
                </a:lnTo>
                <a:lnTo>
                  <a:pt x="245877" y="684390"/>
                </a:lnTo>
                <a:lnTo>
                  <a:pt x="283133" y="662906"/>
                </a:lnTo>
                <a:lnTo>
                  <a:pt x="286869" y="659476"/>
                </a:lnTo>
                <a:lnTo>
                  <a:pt x="205659" y="659476"/>
                </a:lnTo>
                <a:lnTo>
                  <a:pt x="191367" y="659067"/>
                </a:lnTo>
                <a:lnTo>
                  <a:pt x="175105" y="656432"/>
                </a:lnTo>
                <a:lnTo>
                  <a:pt x="158211" y="651738"/>
                </a:lnTo>
                <a:lnTo>
                  <a:pt x="140766" y="645153"/>
                </a:lnTo>
                <a:lnTo>
                  <a:pt x="136709" y="643283"/>
                </a:lnTo>
                <a:close/>
              </a:path>
              <a:path w="541020" h="763904">
                <a:moveTo>
                  <a:pt x="498293" y="0"/>
                </a:moveTo>
                <a:lnTo>
                  <a:pt x="455540" y="18032"/>
                </a:lnTo>
                <a:lnTo>
                  <a:pt x="443628" y="43822"/>
                </a:lnTo>
                <a:lnTo>
                  <a:pt x="444106" y="56459"/>
                </a:lnTo>
                <a:lnTo>
                  <a:pt x="447725" y="68292"/>
                </a:lnTo>
                <a:lnTo>
                  <a:pt x="454154" y="78777"/>
                </a:lnTo>
                <a:lnTo>
                  <a:pt x="463064" y="87373"/>
                </a:lnTo>
                <a:lnTo>
                  <a:pt x="465579" y="88553"/>
                </a:lnTo>
                <a:lnTo>
                  <a:pt x="453609" y="137542"/>
                </a:lnTo>
                <a:lnTo>
                  <a:pt x="430645" y="228625"/>
                </a:lnTo>
                <a:lnTo>
                  <a:pt x="407195" y="315893"/>
                </a:lnTo>
                <a:lnTo>
                  <a:pt x="395237" y="357412"/>
                </a:lnTo>
                <a:lnTo>
                  <a:pt x="383084" y="397221"/>
                </a:lnTo>
                <a:lnTo>
                  <a:pt x="370710" y="435073"/>
                </a:lnTo>
                <a:lnTo>
                  <a:pt x="345227" y="503898"/>
                </a:lnTo>
                <a:lnTo>
                  <a:pt x="318731" y="561809"/>
                </a:lnTo>
                <a:lnTo>
                  <a:pt x="291449" y="606635"/>
                </a:lnTo>
                <a:lnTo>
                  <a:pt x="262987" y="637375"/>
                </a:lnTo>
                <a:lnTo>
                  <a:pt x="220530" y="657811"/>
                </a:lnTo>
                <a:lnTo>
                  <a:pt x="205659" y="659476"/>
                </a:lnTo>
                <a:lnTo>
                  <a:pt x="286869" y="659476"/>
                </a:lnTo>
                <a:lnTo>
                  <a:pt x="316520" y="627256"/>
                </a:lnTo>
                <a:lnTo>
                  <a:pt x="347091" y="577586"/>
                </a:lnTo>
                <a:lnTo>
                  <a:pt x="375036" y="516757"/>
                </a:lnTo>
                <a:lnTo>
                  <a:pt x="401313" y="445904"/>
                </a:lnTo>
                <a:lnTo>
                  <a:pt x="413941" y="407307"/>
                </a:lnTo>
                <a:lnTo>
                  <a:pt x="426286" y="366888"/>
                </a:lnTo>
                <a:lnTo>
                  <a:pt x="438391" y="324874"/>
                </a:lnTo>
                <a:lnTo>
                  <a:pt x="461998" y="237046"/>
                </a:lnTo>
                <a:lnTo>
                  <a:pt x="485089" y="145475"/>
                </a:lnTo>
                <a:lnTo>
                  <a:pt x="497116" y="96254"/>
                </a:lnTo>
                <a:lnTo>
                  <a:pt x="506201" y="94900"/>
                </a:lnTo>
                <a:lnTo>
                  <a:pt x="535087" y="69971"/>
                </a:lnTo>
                <a:lnTo>
                  <a:pt x="540540" y="43418"/>
                </a:lnTo>
                <a:lnTo>
                  <a:pt x="537689" y="31784"/>
                </a:lnTo>
                <a:lnTo>
                  <a:pt x="531876" y="21174"/>
                </a:lnTo>
                <a:lnTo>
                  <a:pt x="523265" y="12039"/>
                </a:lnTo>
                <a:lnTo>
                  <a:pt x="512017" y="4830"/>
                </a:lnTo>
                <a:lnTo>
                  <a:pt x="498293" y="0"/>
                </a:lnTo>
                <a:close/>
              </a:path>
              <a:path w="541020" h="763904">
                <a:moveTo>
                  <a:pt x="209353" y="619724"/>
                </a:moveTo>
                <a:lnTo>
                  <a:pt x="92342" y="619724"/>
                </a:lnTo>
                <a:lnTo>
                  <a:pt x="200896" y="630902"/>
                </a:lnTo>
                <a:lnTo>
                  <a:pt x="208869" y="624420"/>
                </a:lnTo>
                <a:lnTo>
                  <a:pt x="209353" y="61972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177982" y="3966633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177982" y="3966633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4827937" y="4063274"/>
            <a:ext cx="64770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????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710689" y="4031544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710689" y="4031543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2438403" y="4128168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???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50" spc="100" dirty="0"/>
              <a:t>回答上面的问号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??,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 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???,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 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????…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97583" y="2031471"/>
            <a:ext cx="160968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497583" y="2526418"/>
            <a:ext cx="160968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08778" y="1954388"/>
            <a:ext cx="1363980" cy="272415"/>
          </a:xfrm>
          <a:custGeom>
            <a:avLst/>
            <a:gdLst/>
            <a:ahLst/>
            <a:cxnLst/>
            <a:rect l="l" t="t" r="r" b="b"/>
            <a:pathLst>
              <a:path w="1363979" h="272414">
                <a:moveTo>
                  <a:pt x="0" y="272302"/>
                </a:moveTo>
                <a:lnTo>
                  <a:pt x="1363503" y="272302"/>
                </a:lnTo>
                <a:lnTo>
                  <a:pt x="1363503" y="0"/>
                </a:lnTo>
                <a:lnTo>
                  <a:pt x="0" y="0"/>
                </a:lnTo>
                <a:lnTo>
                  <a:pt x="0" y="2723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008778" y="2498994"/>
            <a:ext cx="1363980" cy="272415"/>
          </a:xfrm>
          <a:custGeom>
            <a:avLst/>
            <a:gdLst/>
            <a:ahLst/>
            <a:cxnLst/>
            <a:rect l="l" t="t" r="r" b="b"/>
            <a:pathLst>
              <a:path w="1363979" h="272414">
                <a:moveTo>
                  <a:pt x="0" y="272302"/>
                </a:moveTo>
                <a:lnTo>
                  <a:pt x="1363503" y="272302"/>
                </a:lnTo>
                <a:lnTo>
                  <a:pt x="1363503" y="0"/>
                </a:lnTo>
                <a:lnTo>
                  <a:pt x="0" y="0"/>
                </a:lnTo>
                <a:lnTo>
                  <a:pt x="0" y="2723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008778" y="3045219"/>
            <a:ext cx="1363980" cy="272415"/>
          </a:xfrm>
          <a:custGeom>
            <a:avLst/>
            <a:gdLst/>
            <a:ahLst/>
            <a:cxnLst/>
            <a:rect l="l" t="t" r="r" b="b"/>
            <a:pathLst>
              <a:path w="1363979" h="272414">
                <a:moveTo>
                  <a:pt x="0" y="272302"/>
                </a:moveTo>
                <a:lnTo>
                  <a:pt x="1363503" y="272302"/>
                </a:lnTo>
                <a:lnTo>
                  <a:pt x="1363503" y="0"/>
                </a:lnTo>
                <a:lnTo>
                  <a:pt x="0" y="0"/>
                </a:lnTo>
                <a:lnTo>
                  <a:pt x="0" y="2723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97583" y="2986205"/>
            <a:ext cx="160968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399123" y="1916501"/>
            <a:ext cx="4071620" cy="4048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7185">
              <a:lnSpc>
                <a:spcPct val="100000"/>
              </a:lnSpc>
            </a:pPr>
            <a:r>
              <a:rPr sz="2000" b="1" spc="15" dirty="0">
                <a:latin typeface="Arial" panose="020B0604020202020204"/>
                <a:cs typeface="Arial" panose="020B0604020202020204"/>
              </a:rPr>
              <a:t>???: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sys_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ea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d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函数的某个地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方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37185">
              <a:lnSpc>
                <a:spcPct val="100000"/>
              </a:lnSpc>
              <a:spcBef>
                <a:spcPts val="1495"/>
              </a:spcBef>
            </a:pPr>
            <a:r>
              <a:rPr sz="2000" b="1" spc="15" dirty="0">
                <a:latin typeface="Arial" panose="020B0604020202020204"/>
                <a:cs typeface="Arial" panose="020B0604020202020204"/>
              </a:rPr>
              <a:t>??: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rr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upt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之前的某个地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方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indent="324485">
              <a:lnSpc>
                <a:spcPct val="100000"/>
              </a:lnSpc>
              <a:spcBef>
                <a:spcPts val="1220"/>
              </a:spcBef>
            </a:pPr>
            <a:r>
              <a:rPr sz="2000" b="1" spc="15" dirty="0">
                <a:latin typeface="Arial" panose="020B0604020202020204"/>
                <a:cs typeface="Arial" panose="020B0604020202020204"/>
              </a:rPr>
              <a:t>???: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sys_xx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x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函数中的某个地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方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04800" marR="53975" indent="-292100">
              <a:lnSpc>
                <a:spcPct val="128000"/>
              </a:lnSpc>
              <a:spcBef>
                <a:spcPts val="1170"/>
              </a:spcBef>
            </a:pP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最关键的地方来了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T</a:t>
            </a: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创建</a:t>
            </a:r>
            <a:r>
              <a:rPr sz="3450" b="1" spc="135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</a:t>
            </a:r>
            <a:r>
              <a:rPr sz="3450" b="1" spc="6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如何填写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r>
              <a:rPr sz="2400" b="1" spc="-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,</a:t>
            </a: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????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337185">
              <a:lnSpc>
                <a:spcPct val="100000"/>
              </a:lnSpc>
              <a:spcBef>
                <a:spcPts val="1250"/>
              </a:spcBef>
              <a:tabLst>
                <a:tab pos="921385" algn="l"/>
              </a:tabLst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??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	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500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，函数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的开始地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址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37185">
              <a:lnSpc>
                <a:spcPct val="100000"/>
              </a:lnSpc>
              <a:spcBef>
                <a:spcPts val="1175"/>
              </a:spcBef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????</a:t>
            </a:r>
            <a:r>
              <a:rPr lang="en-US" sz="2000" b="1" spc="20" dirty="0">
                <a:latin typeface="Arial" panose="020B0604020202020204"/>
                <a:cs typeface="Arial" panose="020B0604020202020204"/>
              </a:rPr>
              <a:t> 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一段能完成第二级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返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37185">
              <a:lnSpc>
                <a:spcPct val="100000"/>
              </a:lnSpc>
              <a:spcBef>
                <a:spcPts val="1090"/>
              </a:spcBef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回的代码，一段包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含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的代码</a:t>
            </a:r>
            <a:r>
              <a:rPr sz="2000" b="1" spc="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497583" y="4496741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497583" y="4951117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graphicFrame>
        <p:nvGraphicFramePr>
          <p:cNvPr id="11" name="object 11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64871" y="4084284"/>
          <a:ext cx="2828925" cy="2166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432"/>
                <a:gridCol w="1363503"/>
              </a:tblGrid>
              <a:tr h="397580">
                <a:tc>
                  <a:txBody>
                    <a:bodyPr/>
                    <a:lstStyle/>
                    <a:p>
                      <a:pPr marL="283845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500: 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C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()</a:t>
                      </a:r>
                      <a:r>
                        <a:rPr sz="1700" b="1" spc="5" dirty="0">
                          <a:latin typeface="Tahoma" panose="020B0604030504040204"/>
                          <a:cs typeface="Tahoma" panose="020B0604030504040204"/>
                        </a:rPr>
                        <a:t> 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{</a:t>
                      </a:r>
                      <a:endParaRPr sz="17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24344">
                      <a:solidFill>
                        <a:srgbClr val="000000"/>
                      </a:solidFill>
                      <a:prstDash val="solid"/>
                    </a:lnL>
                    <a:lnR w="8114">
                      <a:solidFill>
                        <a:srgbClr val="FF0000"/>
                      </a:solidFill>
                      <a:prstDash val="solid"/>
                    </a:lnR>
                    <a:lnT w="24344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sz="2925" b="1" spc="15" baseline="100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线程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r>
                        <a:rPr sz="2925" b="1" spc="15" baseline="100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代</a:t>
                      </a:r>
                      <a:r>
                        <a:rPr sz="2925" b="1" baseline="100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码</a:t>
                      </a:r>
                      <a:endParaRPr sz="2925" baseline="10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4">
                      <a:solidFill>
                        <a:srgbClr val="FF0000"/>
                      </a:solidFill>
                      <a:prstDash val="solid"/>
                    </a:lnL>
                    <a:lnR w="24344">
                      <a:solidFill>
                        <a:srgbClr val="000000"/>
                      </a:solidFill>
                      <a:prstDash val="solid"/>
                    </a:lnR>
                    <a:lnT w="2434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1744486">
                <a:tc gridSpan="2">
                  <a:txBody>
                    <a:bodyPr/>
                    <a:lstStyle/>
                    <a:p>
                      <a:pPr marL="220345" marR="1489710" indent="444500">
                        <a:lnSpc>
                          <a:spcPct val="134000"/>
                        </a:lnSpc>
                      </a:pP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… </a:t>
                      </a:r>
                      <a:r>
                        <a:rPr sz="1700" b="1" spc="-5" dirty="0">
                          <a:latin typeface="Tahoma" panose="020B0604030504040204"/>
                          <a:cs typeface="Tahoma" panose="020B0604030504040204"/>
                        </a:rPr>
                        <a:t>int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e</a:t>
                      </a:r>
                      <a:r>
                        <a:rPr sz="1700" b="1" spc="-5" dirty="0">
                          <a:latin typeface="Tahoma" panose="020B0604030504040204"/>
                          <a:cs typeface="Tahoma" panose="020B0604030504040204"/>
                        </a:rPr>
                        <a:t>rr</a:t>
                      </a:r>
                      <a:r>
                        <a:rPr sz="1700" b="1" spc="-5" dirty="0">
                          <a:latin typeface="Tahoma" panose="020B0604030504040204"/>
                          <a:cs typeface="Tahoma" panose="020B0604030504040204"/>
                        </a:rPr>
                        <a:t>u</a:t>
                      </a:r>
                      <a:r>
                        <a:rPr sz="1700" b="1" spc="5" dirty="0">
                          <a:latin typeface="Tahoma" panose="020B0604030504040204"/>
                          <a:cs typeface="Tahoma" panose="020B0604030504040204"/>
                        </a:rPr>
                        <a:t>p</a:t>
                      </a:r>
                      <a:r>
                        <a:rPr sz="1700" b="1" spc="-5" dirty="0">
                          <a:latin typeface="Tahoma" panose="020B0604030504040204"/>
                          <a:cs typeface="Tahoma" panose="020B0604030504040204"/>
                        </a:rPr>
                        <a:t>t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:</a:t>
                      </a:r>
                      <a:endParaRPr sz="1700">
                        <a:latin typeface="Tahoma" panose="020B0604030504040204"/>
                        <a:cs typeface="Tahoma" panose="020B0604030504040204"/>
                      </a:endParaRPr>
                    </a:p>
                    <a:p>
                      <a:pPr marL="220345" marR="955040" indent="190500">
                        <a:lnSpc>
                          <a:spcPct val="136000"/>
                        </a:lnSpc>
                      </a:pPr>
                      <a:r>
                        <a:rPr sz="1700" b="1" spc="-5" dirty="0">
                          <a:latin typeface="Tahoma" panose="020B0604030504040204"/>
                          <a:cs typeface="Tahoma" panose="020B0604030504040204"/>
                        </a:rPr>
                        <a:t>c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a</a:t>
                      </a:r>
                      <a:r>
                        <a:rPr sz="1700" b="1" spc="-5" dirty="0">
                          <a:latin typeface="Tahoma" panose="020B0604030504040204"/>
                          <a:cs typeface="Tahoma" panose="020B0604030504040204"/>
                        </a:rPr>
                        <a:t>l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l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 </a:t>
                      </a:r>
                      <a:r>
                        <a:rPr sz="1700" b="1" spc="-5" dirty="0">
                          <a:latin typeface="Tahoma" panose="020B0604030504040204"/>
                          <a:cs typeface="Tahoma" panose="020B0604030504040204"/>
                        </a:rPr>
                        <a:t>s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y</a:t>
                      </a:r>
                      <a:r>
                        <a:rPr sz="1700" b="1" spc="-5" dirty="0">
                          <a:latin typeface="Tahoma" panose="020B0604030504040204"/>
                          <a:cs typeface="Tahoma" panose="020B0604030504040204"/>
                        </a:rPr>
                        <a:t>s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_</a:t>
                      </a:r>
                      <a:r>
                        <a:rPr sz="1700" b="1" spc="5" dirty="0">
                          <a:latin typeface="Tahoma" panose="020B0604030504040204"/>
                          <a:cs typeface="Tahoma" panose="020B0604030504040204"/>
                        </a:rPr>
                        <a:t>xxx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;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 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3000:</a:t>
                      </a:r>
                      <a:endParaRPr sz="1700">
                        <a:latin typeface="Tahoma" panose="020B0604030504040204"/>
                        <a:cs typeface="Tahoma" panose="020B0604030504040204"/>
                      </a:endParaRPr>
                    </a:p>
                    <a:p>
                      <a:pPr marL="220345">
                        <a:lnSpc>
                          <a:spcPct val="100000"/>
                        </a:lnSpc>
                        <a:spcBef>
                          <a:spcPts val="725"/>
                        </a:spcBef>
                        <a:tabLst>
                          <a:tab pos="2378075" algn="l"/>
                        </a:tabLst>
                      </a:pP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4000: </a:t>
                      </a:r>
                      <a:r>
                        <a:rPr sz="1700" b="1" spc="-5" dirty="0">
                          <a:latin typeface="Tahoma" panose="020B0604030504040204"/>
                          <a:cs typeface="Tahoma" panose="020B0604030504040204"/>
                        </a:rPr>
                        <a:t>s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y</a:t>
                      </a:r>
                      <a:r>
                        <a:rPr sz="1700" b="1" spc="-5" dirty="0">
                          <a:latin typeface="Tahoma" panose="020B0604030504040204"/>
                          <a:cs typeface="Tahoma" panose="020B0604030504040204"/>
                        </a:rPr>
                        <a:t>s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_</a:t>
                      </a:r>
                      <a:r>
                        <a:rPr sz="1700" b="1" spc="5" dirty="0">
                          <a:latin typeface="Tahoma" panose="020B0604030504040204"/>
                          <a:cs typeface="Tahoma" panose="020B0604030504040204"/>
                        </a:rPr>
                        <a:t>x</a:t>
                      </a:r>
                      <a:r>
                        <a:rPr sz="1700" b="1" spc="5" dirty="0">
                          <a:latin typeface="Tahoma" panose="020B0604030504040204"/>
                          <a:cs typeface="Tahoma" panose="020B0604030504040204"/>
                        </a:rPr>
                        <a:t>xx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()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{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	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}</a:t>
                      </a:r>
                      <a:endParaRPr sz="17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24344">
                      <a:solidFill>
                        <a:srgbClr val="000000"/>
                      </a:solidFill>
                      <a:prstDash val="solid"/>
                    </a:lnL>
                    <a:lnR w="24344">
                      <a:solidFill>
                        <a:srgbClr val="000000"/>
                      </a:solidFill>
                      <a:prstDash val="solid"/>
                    </a:lnR>
                    <a:lnB w="24344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64871" y="2007128"/>
          <a:ext cx="2828925" cy="19069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3503"/>
                <a:gridCol w="1428432"/>
              </a:tblGrid>
              <a:tr h="397580">
                <a:tc>
                  <a:txBody>
                    <a:bodyPr/>
                    <a:lstStyle/>
                    <a:p>
                      <a:pPr marL="283845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100: </a:t>
                      </a:r>
                      <a:r>
                        <a:rPr sz="1700" b="1" spc="5" dirty="0">
                          <a:latin typeface="Tahoma" panose="020B0604030504040204"/>
                          <a:cs typeface="Tahoma" panose="020B0604030504040204"/>
                        </a:rPr>
                        <a:t>A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()</a:t>
                      </a:r>
                      <a:endParaRPr sz="17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24343">
                      <a:solidFill>
                        <a:srgbClr val="000000"/>
                      </a:solidFill>
                      <a:prstDash val="solid"/>
                    </a:lnL>
                    <a:lnR w="8114">
                      <a:solidFill>
                        <a:srgbClr val="FF0000"/>
                      </a:solidFill>
                      <a:prstDash val="solid"/>
                    </a:lnR>
                    <a:lnT w="24343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550" b="1" baseline="5000" dirty="0">
                          <a:latin typeface="Tahoma" panose="020B0604030504040204"/>
                          <a:cs typeface="Tahoma" panose="020B0604030504040204"/>
                        </a:rPr>
                        <a:t>{</a:t>
                      </a:r>
                      <a:r>
                        <a:rPr sz="2550" b="1" spc="-209" baseline="5000" dirty="0">
                          <a:latin typeface="Tahoma" panose="020B0604030504040204"/>
                          <a:cs typeface="Tahoma" panose="020B0604030504040204"/>
                        </a:rPr>
                        <a:t> </a:t>
                      </a:r>
                      <a:r>
                        <a:rPr sz="2925" b="1" spc="15" baseline="100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线程</a:t>
                      </a:r>
                      <a:r>
                        <a:rPr sz="2000" b="1" spc="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S</a:t>
                      </a:r>
                      <a:r>
                        <a:rPr sz="2925" b="1" spc="15" baseline="100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代</a:t>
                      </a:r>
                      <a:r>
                        <a:rPr sz="2925" b="1" baseline="100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码</a:t>
                      </a:r>
                      <a:endParaRPr sz="2925" baseline="10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4">
                      <a:solidFill>
                        <a:srgbClr val="FF0000"/>
                      </a:solidFill>
                      <a:prstDash val="solid"/>
                    </a:lnL>
                    <a:lnR w="24343">
                      <a:solidFill>
                        <a:srgbClr val="000000"/>
                      </a:solidFill>
                      <a:prstDash val="solid"/>
                    </a:lnR>
                    <a:lnT w="24343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1484841">
                <a:tc gridSpan="2">
                  <a:txBody>
                    <a:bodyPr/>
                    <a:lstStyle/>
                    <a:p>
                      <a:pPr marL="537845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…</a:t>
                      </a:r>
                      <a:endParaRPr sz="1700">
                        <a:latin typeface="Tahoma" panose="020B0604030504040204"/>
                        <a:cs typeface="Tahoma" panose="020B0604030504040204"/>
                      </a:endParaRPr>
                    </a:p>
                    <a:p>
                      <a:pPr marL="66484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700" b="1" spc="-5" dirty="0">
                          <a:latin typeface="Tahoma" panose="020B0604030504040204"/>
                          <a:cs typeface="Tahoma" panose="020B0604030504040204"/>
                        </a:rPr>
                        <a:t>in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t</a:t>
                      </a:r>
                      <a:r>
                        <a:rPr sz="1700" b="1" spc="-5" dirty="0">
                          <a:latin typeface="Tahoma" panose="020B0604030504040204"/>
                          <a:cs typeface="Tahoma" panose="020B0604030504040204"/>
                        </a:rPr>
                        <a:t> 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0</a:t>
                      </a:r>
                      <a:r>
                        <a:rPr sz="1700" b="1" spc="5" dirty="0">
                          <a:latin typeface="Tahoma" panose="020B0604030504040204"/>
                          <a:cs typeface="Tahoma" panose="020B0604030504040204"/>
                        </a:rPr>
                        <a:t>x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80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;</a:t>
                      </a:r>
                      <a:endParaRPr sz="1700">
                        <a:latin typeface="Tahoma" panose="020B0604030504040204"/>
                        <a:cs typeface="Tahoma" panose="020B0604030504040204"/>
                      </a:endParaRPr>
                    </a:p>
                    <a:p>
                      <a:pPr marL="53784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…</a:t>
                      </a:r>
                      <a:endParaRPr sz="1700">
                        <a:latin typeface="Tahoma" panose="020B0604030504040204"/>
                        <a:cs typeface="Tahoma" panose="020B0604030504040204"/>
                      </a:endParaRPr>
                    </a:p>
                    <a:p>
                      <a:pPr marL="220345">
                        <a:lnSpc>
                          <a:spcPct val="100000"/>
                        </a:lnSpc>
                        <a:spcBef>
                          <a:spcPts val="725"/>
                        </a:spcBef>
                        <a:tabLst>
                          <a:tab pos="2472055" algn="l"/>
                        </a:tabLst>
                      </a:pP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2000: </a:t>
                      </a:r>
                      <a:r>
                        <a:rPr sz="1700" b="1" spc="-5" dirty="0">
                          <a:latin typeface="Tahoma" panose="020B0604030504040204"/>
                          <a:cs typeface="Tahoma" panose="020B0604030504040204"/>
                        </a:rPr>
                        <a:t>s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y</a:t>
                      </a:r>
                      <a:r>
                        <a:rPr sz="1700" b="1" spc="-5" dirty="0">
                          <a:latin typeface="Tahoma" panose="020B0604030504040204"/>
                          <a:cs typeface="Tahoma" panose="020B0604030504040204"/>
                        </a:rPr>
                        <a:t>s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_</a:t>
                      </a:r>
                      <a:r>
                        <a:rPr sz="1700" b="1" spc="-5" dirty="0">
                          <a:latin typeface="Tahoma" panose="020B0604030504040204"/>
                          <a:cs typeface="Tahoma" panose="020B0604030504040204"/>
                        </a:rPr>
                        <a:t>r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e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a</a:t>
                      </a:r>
                      <a:r>
                        <a:rPr sz="1700" b="1" spc="5" dirty="0">
                          <a:latin typeface="Tahoma" panose="020B0604030504040204"/>
                          <a:cs typeface="Tahoma" panose="020B0604030504040204"/>
                        </a:rPr>
                        <a:t>d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()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{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	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}</a:t>
                      </a:r>
                      <a:endParaRPr sz="17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24343">
                      <a:solidFill>
                        <a:srgbClr val="000000"/>
                      </a:solidFill>
                      <a:prstDash val="solid"/>
                    </a:lnL>
                    <a:lnR w="24343">
                      <a:solidFill>
                        <a:srgbClr val="000000"/>
                      </a:solidFill>
                      <a:prstDash val="solid"/>
                    </a:lnR>
                    <a:lnB w="24343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7996608" y="1942218"/>
          <a:ext cx="1400175" cy="1387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3503"/>
              </a:tblGrid>
              <a:tr h="272302"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SS:</a:t>
                      </a:r>
                      <a:r>
                        <a:rPr sz="2000" b="1" spc="2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SP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1">
                      <a:solidFill>
                        <a:srgbClr val="000000"/>
                      </a:solidFill>
                      <a:prstDash val="solid"/>
                    </a:lnL>
                    <a:lnR w="24341">
                      <a:solidFill>
                        <a:srgbClr val="000000"/>
                      </a:solidFill>
                      <a:prstDash val="solid"/>
                    </a:lnR>
                    <a:lnT w="24341">
                      <a:solidFill>
                        <a:srgbClr val="000000"/>
                      </a:solidFill>
                      <a:prstDash val="solid"/>
                    </a:lnT>
                    <a:lnB w="2434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2302"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EFLAGS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1">
                      <a:solidFill>
                        <a:srgbClr val="000000"/>
                      </a:solidFill>
                      <a:prstDash val="solid"/>
                    </a:lnL>
                    <a:lnR w="24341">
                      <a:solidFill>
                        <a:srgbClr val="000000"/>
                      </a:solidFill>
                      <a:prstDash val="solid"/>
                    </a:lnR>
                    <a:lnT w="24341">
                      <a:solidFill>
                        <a:srgbClr val="000000"/>
                      </a:solidFill>
                      <a:prstDash val="solid"/>
                    </a:lnT>
                    <a:lnB w="2434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3112"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PC=??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1">
                      <a:solidFill>
                        <a:srgbClr val="000000"/>
                      </a:solidFill>
                      <a:prstDash val="solid"/>
                    </a:lnL>
                    <a:lnR w="24341">
                      <a:solidFill>
                        <a:srgbClr val="000000"/>
                      </a:solidFill>
                      <a:prstDash val="solid"/>
                    </a:lnR>
                    <a:lnT w="24341">
                      <a:solidFill>
                        <a:srgbClr val="000000"/>
                      </a:solidFill>
                      <a:prstDash val="solid"/>
                    </a:lnT>
                    <a:lnB w="2434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3112"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CS=??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1">
                      <a:solidFill>
                        <a:srgbClr val="000000"/>
                      </a:solidFill>
                      <a:prstDash val="solid"/>
                    </a:lnL>
                    <a:lnR w="24341">
                      <a:solidFill>
                        <a:srgbClr val="000000"/>
                      </a:solidFill>
                      <a:prstDash val="solid"/>
                    </a:lnR>
                    <a:lnT w="24341">
                      <a:solidFill>
                        <a:srgbClr val="000000"/>
                      </a:solidFill>
                      <a:prstDash val="solid"/>
                    </a:lnT>
                    <a:lnB w="2434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2302">
                <a:tc>
                  <a:txBody>
                    <a:bodyPr/>
                    <a:lstStyle/>
                    <a:p>
                      <a:pPr marL="358140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????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1">
                      <a:solidFill>
                        <a:srgbClr val="000000"/>
                      </a:solidFill>
                      <a:prstDash val="solid"/>
                    </a:lnL>
                    <a:lnR w="24341">
                      <a:solidFill>
                        <a:srgbClr val="000000"/>
                      </a:solidFill>
                      <a:prstDash val="solid"/>
                    </a:lnR>
                    <a:lnT w="24341">
                      <a:solidFill>
                        <a:srgbClr val="000000"/>
                      </a:solidFill>
                      <a:prstDash val="solid"/>
                    </a:lnT>
                    <a:lnB w="2434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7328" y="1824567"/>
            <a:ext cx="3376295" cy="1882775"/>
          </a:xfrm>
          <a:custGeom>
            <a:avLst/>
            <a:gdLst/>
            <a:ahLst/>
            <a:cxnLst/>
            <a:rect l="l" t="t" r="r" b="b"/>
            <a:pathLst>
              <a:path w="3376295" h="1882775">
                <a:moveTo>
                  <a:pt x="0" y="0"/>
                </a:moveTo>
                <a:lnTo>
                  <a:pt x="3376295" y="0"/>
                </a:lnTo>
                <a:lnTo>
                  <a:pt x="3376295" y="1882422"/>
                </a:lnTo>
                <a:lnTo>
                  <a:pt x="0" y="1882422"/>
                </a:lnTo>
                <a:lnTo>
                  <a:pt x="0" y="0"/>
                </a:lnTo>
                <a:close/>
              </a:path>
            </a:pathLst>
          </a:custGeom>
          <a:ln w="1081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81723" y="2260709"/>
            <a:ext cx="2980055" cy="1405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7640" marR="5080">
              <a:lnSpc>
                <a:spcPct val="126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push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ds;...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pusha;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mov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67640">
              <a:lnSpc>
                <a:spcPct val="100000"/>
              </a:lnSpc>
              <a:spcBef>
                <a:spcPts val="530"/>
              </a:spcBef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call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000" b="1" i="1" u="sng" spc="20" dirty="0">
                <a:latin typeface="Courier New" panose="02070309020205020404"/>
                <a:cs typeface="Courier New" panose="02070309020205020404"/>
              </a:rPr>
              <a:t>??: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9272" y="2616225"/>
            <a:ext cx="2463800" cy="649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ds,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内核段号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;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...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67640">
              <a:lnSpc>
                <a:spcPts val="2330"/>
              </a:lnSpc>
              <a:spcBef>
                <a:spcPts val="555"/>
              </a:spcBef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中断处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2400" y="3268133"/>
            <a:ext cx="795866" cy="58843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58552" y="3382433"/>
            <a:ext cx="3376295" cy="1168400"/>
          </a:xfrm>
          <a:custGeom>
            <a:avLst/>
            <a:gdLst/>
            <a:ahLst/>
            <a:cxnLst/>
            <a:rect l="l" t="t" r="r" b="b"/>
            <a:pathLst>
              <a:path w="3376295" h="1168400">
                <a:moveTo>
                  <a:pt x="0" y="0"/>
                </a:moveTo>
                <a:lnTo>
                  <a:pt x="3376295" y="0"/>
                </a:lnTo>
                <a:lnTo>
                  <a:pt x="3376295" y="1168400"/>
                </a:lnTo>
                <a:lnTo>
                  <a:pt x="0" y="1168400"/>
                </a:lnTo>
                <a:lnTo>
                  <a:pt x="0" y="0"/>
                </a:lnTo>
                <a:close/>
              </a:path>
            </a:pathLst>
          </a:custGeom>
          <a:ln w="1081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099775" y="1857021"/>
            <a:ext cx="3441700" cy="1882775"/>
          </a:xfrm>
          <a:custGeom>
            <a:avLst/>
            <a:gdLst/>
            <a:ahLst/>
            <a:cxnLst/>
            <a:rect l="l" t="t" r="r" b="b"/>
            <a:pathLst>
              <a:path w="3441700" h="1882775">
                <a:moveTo>
                  <a:pt x="0" y="0"/>
                </a:moveTo>
                <a:lnTo>
                  <a:pt x="3441223" y="0"/>
                </a:lnTo>
              </a:path>
              <a:path w="3441700" h="1882775">
                <a:moveTo>
                  <a:pt x="3441223" y="1882422"/>
                </a:moveTo>
                <a:lnTo>
                  <a:pt x="0" y="1882422"/>
                </a:lnTo>
                <a:lnTo>
                  <a:pt x="0" y="0"/>
                </a:lnTo>
              </a:path>
            </a:pathLst>
          </a:custGeom>
          <a:ln w="1081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319688" y="2276240"/>
            <a:ext cx="3135630" cy="143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60020">
              <a:lnSpc>
                <a:spcPct val="119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要首先切换地址映射表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; TCB[cur].ldtr=%ldtr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%ldtr=TCB[next].ldtr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内存管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58552" y="1824567"/>
            <a:ext cx="3376295" cy="1493520"/>
          </a:xfrm>
          <a:custGeom>
            <a:avLst/>
            <a:gdLst/>
            <a:ahLst/>
            <a:cxnLst/>
            <a:rect l="l" t="t" r="r" b="b"/>
            <a:pathLst>
              <a:path w="3376295" h="1493520">
                <a:moveTo>
                  <a:pt x="0" y="0"/>
                </a:moveTo>
                <a:lnTo>
                  <a:pt x="3376295" y="0"/>
                </a:lnTo>
                <a:lnTo>
                  <a:pt x="3376295" y="1492955"/>
                </a:lnTo>
                <a:lnTo>
                  <a:pt x="0" y="1492955"/>
                </a:lnTo>
                <a:lnTo>
                  <a:pt x="0" y="0"/>
                </a:lnTo>
                <a:close/>
              </a:path>
            </a:pathLst>
          </a:custGeom>
          <a:ln w="1081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346700" y="1370189"/>
            <a:ext cx="1628139" cy="487045"/>
          </a:xfrm>
          <a:custGeom>
            <a:avLst/>
            <a:gdLst/>
            <a:ahLst/>
            <a:cxnLst/>
            <a:rect l="l" t="t" r="r" b="b"/>
            <a:pathLst>
              <a:path w="1628140" h="487044">
                <a:moveTo>
                  <a:pt x="1557515" y="0"/>
                </a:moveTo>
                <a:lnTo>
                  <a:pt x="271308" y="0"/>
                </a:lnTo>
                <a:lnTo>
                  <a:pt x="58240" y="1036"/>
                </a:lnTo>
                <a:lnTo>
                  <a:pt x="21428" y="19784"/>
                </a:lnTo>
                <a:lnTo>
                  <a:pt x="1490" y="55855"/>
                </a:lnTo>
                <a:lnTo>
                  <a:pt x="0" y="70322"/>
                </a:lnTo>
                <a:lnTo>
                  <a:pt x="0" y="351602"/>
                </a:lnTo>
                <a:lnTo>
                  <a:pt x="11210" y="389703"/>
                </a:lnTo>
                <a:lnTo>
                  <a:pt x="42420" y="416164"/>
                </a:lnTo>
                <a:lnTo>
                  <a:pt x="70341" y="421921"/>
                </a:lnTo>
                <a:lnTo>
                  <a:pt x="271308" y="421921"/>
                </a:lnTo>
                <a:lnTo>
                  <a:pt x="479844" y="486830"/>
                </a:lnTo>
                <a:lnTo>
                  <a:pt x="678273" y="421921"/>
                </a:lnTo>
                <a:lnTo>
                  <a:pt x="1569615" y="420885"/>
                </a:lnTo>
                <a:lnTo>
                  <a:pt x="1583258" y="417063"/>
                </a:lnTo>
                <a:lnTo>
                  <a:pt x="1615350" y="391637"/>
                </a:lnTo>
                <a:lnTo>
                  <a:pt x="1627856" y="351602"/>
                </a:lnTo>
                <a:lnTo>
                  <a:pt x="1627856" y="246122"/>
                </a:lnTo>
                <a:lnTo>
                  <a:pt x="1626819" y="58224"/>
                </a:lnTo>
                <a:lnTo>
                  <a:pt x="1608067" y="21423"/>
                </a:lnTo>
                <a:lnTo>
                  <a:pt x="1571986" y="1489"/>
                </a:lnTo>
                <a:lnTo>
                  <a:pt x="15575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77329" y="1202167"/>
            <a:ext cx="6343650" cy="526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50" spc="100" dirty="0"/>
              <a:t>内核线程</a:t>
            </a:r>
            <a:r>
              <a:rPr sz="3050" dirty="0">
                <a:latin typeface="Arial" panose="020B0604020202020204"/>
                <a:cs typeface="Arial" panose="020B0604020202020204"/>
              </a:rPr>
              <a:t>swi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t</a:t>
            </a:r>
            <a:r>
              <a:rPr sz="3050" dirty="0">
                <a:latin typeface="Arial" panose="020B0604020202020204"/>
                <a:cs typeface="Arial" panose="020B0604020202020204"/>
              </a:rPr>
              <a:t>c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h</a:t>
            </a:r>
            <a:r>
              <a:rPr sz="3050" dirty="0">
                <a:latin typeface="Arial" panose="020B0604020202020204"/>
                <a:cs typeface="Arial" panose="020B0604020202020204"/>
              </a:rPr>
              <a:t>_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t</a:t>
            </a:r>
            <a:r>
              <a:rPr sz="3050" dirty="0">
                <a:latin typeface="Arial" panose="020B0604020202020204"/>
                <a:cs typeface="Arial" panose="020B0604020202020204"/>
              </a:rPr>
              <a:t>o</a:t>
            </a:r>
            <a:r>
              <a:rPr sz="2950" spc="100" dirty="0"/>
              <a:t>的五段论</a:t>
            </a:r>
            <a:r>
              <a:rPr sz="2950" spc="-625" dirty="0"/>
              <a:t> </a:t>
            </a:r>
            <a:r>
              <a:rPr sz="2925" spc="127" baseline="-30000" dirty="0"/>
              <a:t>第一级切</a:t>
            </a:r>
            <a:r>
              <a:rPr sz="2925" spc="112" baseline="-30000" dirty="0"/>
              <a:t>换</a:t>
            </a:r>
            <a:endParaRPr sz="2925" baseline="-30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1723" y="1867123"/>
            <a:ext cx="2568575" cy="313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中断入口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:(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进入切换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)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35647" y="3437268"/>
            <a:ext cx="2802890" cy="1028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4940" indent="-155575" algn="just">
              <a:lnSpc>
                <a:spcPct val="122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中断出口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:(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第二级切换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)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popa;...;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pop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ds;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iret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7328" y="3771900"/>
            <a:ext cx="3376295" cy="1558290"/>
          </a:xfrm>
          <a:prstGeom prst="rect">
            <a:avLst/>
          </a:prstGeom>
          <a:ln w="1081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6695" marR="379095" indent="-155575">
              <a:lnSpc>
                <a:spcPct val="122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中断处理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:(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引发切换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)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启动磁盘读或时钟中断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;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schedule();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71120">
              <a:lnSpc>
                <a:spcPct val="100000"/>
              </a:lnSpc>
              <a:spcBef>
                <a:spcPts val="530"/>
              </a:spcBef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}//ret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64171" y="1899571"/>
            <a:ext cx="3399154" cy="313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T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非同一进程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:(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地址切换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)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7328" y="5394678"/>
            <a:ext cx="3376295" cy="1103630"/>
          </a:xfrm>
          <a:prstGeom prst="rect">
            <a:avLst/>
          </a:prstGeom>
          <a:ln w="10818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6695" marR="487045" indent="-155575">
              <a:lnSpc>
                <a:spcPct val="122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schedule:</a:t>
            </a:r>
            <a:r>
              <a:rPr sz="2000" b="1" spc="3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next=..;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call</a:t>
            </a:r>
            <a:r>
              <a:rPr sz="2000" b="1" spc="2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switch_t</a:t>
            </a:r>
            <a:r>
              <a:rPr sz="2000" b="1" spc="2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o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71120">
              <a:lnSpc>
                <a:spcPct val="100000"/>
              </a:lnSpc>
              <a:spcBef>
                <a:spcPts val="565"/>
              </a:spcBef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}//ret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22947" y="1867123"/>
            <a:ext cx="3189605" cy="142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7640" marR="5080" indent="-155575">
              <a:lnSpc>
                <a:spcPct val="119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switch_to:</a:t>
            </a:r>
            <a:r>
              <a:rPr sz="2000" b="1" spc="2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(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内核栈切换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)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TCB[cur].esp=%esp;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67640" marR="58420">
              <a:lnSpc>
                <a:spcPct val="122000"/>
              </a:lnSpc>
              <a:spcBef>
                <a:spcPts val="30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%esp=TCB[next].esp;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ret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46700" y="1370189"/>
            <a:ext cx="1628139" cy="487045"/>
          </a:xfrm>
          <a:custGeom>
            <a:avLst/>
            <a:gdLst/>
            <a:ahLst/>
            <a:cxnLst/>
            <a:rect l="l" t="t" r="r" b="b"/>
            <a:pathLst>
              <a:path w="1628140" h="487044">
                <a:moveTo>
                  <a:pt x="0" y="70322"/>
                </a:moveTo>
                <a:lnTo>
                  <a:pt x="12506" y="30284"/>
                </a:lnTo>
                <a:lnTo>
                  <a:pt x="44598" y="4858"/>
                </a:lnTo>
                <a:lnTo>
                  <a:pt x="271309" y="0"/>
                </a:lnTo>
                <a:lnTo>
                  <a:pt x="678273" y="0"/>
                </a:lnTo>
                <a:lnTo>
                  <a:pt x="1557515" y="0"/>
                </a:lnTo>
                <a:lnTo>
                  <a:pt x="1571986" y="1489"/>
                </a:lnTo>
                <a:lnTo>
                  <a:pt x="1608067" y="21423"/>
                </a:lnTo>
                <a:lnTo>
                  <a:pt x="1626819" y="58225"/>
                </a:lnTo>
                <a:lnTo>
                  <a:pt x="1627856" y="246122"/>
                </a:lnTo>
                <a:lnTo>
                  <a:pt x="1627856" y="351601"/>
                </a:lnTo>
                <a:lnTo>
                  <a:pt x="1626366" y="366067"/>
                </a:lnTo>
                <a:lnTo>
                  <a:pt x="1606427" y="402138"/>
                </a:lnTo>
                <a:lnTo>
                  <a:pt x="1569615" y="420885"/>
                </a:lnTo>
                <a:lnTo>
                  <a:pt x="678273" y="421922"/>
                </a:lnTo>
                <a:lnTo>
                  <a:pt x="479843" y="486830"/>
                </a:lnTo>
                <a:lnTo>
                  <a:pt x="271309" y="421922"/>
                </a:lnTo>
                <a:lnTo>
                  <a:pt x="70341" y="421922"/>
                </a:lnTo>
                <a:lnTo>
                  <a:pt x="55870" y="420432"/>
                </a:lnTo>
                <a:lnTo>
                  <a:pt x="19789" y="400498"/>
                </a:lnTo>
                <a:lnTo>
                  <a:pt x="1036" y="363697"/>
                </a:lnTo>
                <a:lnTo>
                  <a:pt x="0" y="351601"/>
                </a:lnTo>
                <a:lnTo>
                  <a:pt x="0" y="246122"/>
                </a:lnTo>
                <a:lnTo>
                  <a:pt x="0" y="70322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r>
              <a:rPr sz="3050" spc="5" dirty="0">
                <a:latin typeface="Arial" panose="020B0604020202020204"/>
                <a:cs typeface="Arial" panose="020B0604020202020204"/>
              </a:rPr>
              <a:t>Thr</a:t>
            </a:r>
            <a:r>
              <a:rPr sz="3050" dirty="0">
                <a:latin typeface="Arial" panose="020B0604020202020204"/>
                <a:cs typeface="Arial" panose="020B0604020202020204"/>
              </a:rPr>
              <a:t>e</a:t>
            </a:r>
            <a:r>
              <a:rPr sz="3050" dirty="0">
                <a:latin typeface="Arial" panose="020B0604020202020204"/>
                <a:cs typeface="Arial" panose="020B0604020202020204"/>
              </a:rPr>
              <a:t>a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dCr</a:t>
            </a:r>
            <a:r>
              <a:rPr sz="3050" spc="-5" dirty="0">
                <a:latin typeface="Arial" panose="020B0604020202020204"/>
                <a:cs typeface="Arial" panose="020B0604020202020204"/>
              </a:rPr>
              <a:t>e</a:t>
            </a:r>
            <a:r>
              <a:rPr sz="3050" dirty="0">
                <a:latin typeface="Arial" panose="020B0604020202020204"/>
                <a:cs typeface="Arial" panose="020B0604020202020204"/>
              </a:rPr>
              <a:t>a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t</a:t>
            </a:r>
            <a:r>
              <a:rPr sz="3050" dirty="0">
                <a:latin typeface="Arial" panose="020B0604020202020204"/>
                <a:cs typeface="Arial" panose="020B0604020202020204"/>
              </a:rPr>
              <a:t>e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!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950" spc="100" dirty="0"/>
              <a:t>做成那个样子</a:t>
            </a:r>
            <a:r>
              <a:rPr sz="3050" spc="15" dirty="0">
                <a:latin typeface="Arial" panose="020B0604020202020204"/>
                <a:cs typeface="Arial" panose="020B0604020202020204"/>
              </a:rPr>
              <a:t>…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86984" y="1889478"/>
            <a:ext cx="1948180" cy="519430"/>
          </a:xfrm>
          <a:custGeom>
            <a:avLst/>
            <a:gdLst/>
            <a:ahLst/>
            <a:cxnLst/>
            <a:rect l="l" t="t" r="r" b="b"/>
            <a:pathLst>
              <a:path w="1948179" h="519430">
                <a:moveTo>
                  <a:pt x="0" y="0"/>
                </a:moveTo>
                <a:lnTo>
                  <a:pt x="1947862" y="0"/>
                </a:lnTo>
                <a:lnTo>
                  <a:pt x="1947862" y="519288"/>
                </a:lnTo>
                <a:lnTo>
                  <a:pt x="0" y="519288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503333" y="1875367"/>
            <a:ext cx="613833" cy="5842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761566" y="1875367"/>
            <a:ext cx="618066" cy="584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24033" y="1875367"/>
            <a:ext cx="613833" cy="584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658506" y="1997997"/>
            <a:ext cx="80327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参数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等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86984" y="2408767"/>
            <a:ext cx="1948180" cy="519430"/>
          </a:xfrm>
          <a:custGeom>
            <a:avLst/>
            <a:gdLst/>
            <a:ahLst/>
            <a:cxnLst/>
            <a:rect l="l" t="t" r="r" b="b"/>
            <a:pathLst>
              <a:path w="1948179" h="519430">
                <a:moveTo>
                  <a:pt x="0" y="519288"/>
                </a:moveTo>
                <a:lnTo>
                  <a:pt x="1947862" y="519288"/>
                </a:lnTo>
                <a:lnTo>
                  <a:pt x="1947862" y="0"/>
                </a:lnTo>
                <a:lnTo>
                  <a:pt x="0" y="0"/>
                </a:lnTo>
                <a:lnTo>
                  <a:pt x="0" y="5192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086984" y="2408767"/>
            <a:ext cx="1948180" cy="519430"/>
          </a:xfrm>
          <a:custGeom>
            <a:avLst/>
            <a:gdLst/>
            <a:ahLst/>
            <a:cxnLst/>
            <a:rect l="l" t="t" r="r" b="b"/>
            <a:pathLst>
              <a:path w="1948179" h="519430">
                <a:moveTo>
                  <a:pt x="0" y="0"/>
                </a:moveTo>
                <a:lnTo>
                  <a:pt x="1947862" y="0"/>
                </a:lnTo>
                <a:lnTo>
                  <a:pt x="1947862" y="519288"/>
                </a:lnTo>
                <a:lnTo>
                  <a:pt x="0" y="519288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164705" y="1954389"/>
            <a:ext cx="65405" cy="649605"/>
          </a:xfrm>
          <a:custGeom>
            <a:avLst/>
            <a:gdLst/>
            <a:ahLst/>
            <a:cxnLst/>
            <a:rect l="l" t="t" r="r" b="b"/>
            <a:pathLst>
              <a:path w="65404" h="649605">
                <a:moveTo>
                  <a:pt x="64928" y="486832"/>
                </a:moveTo>
                <a:lnTo>
                  <a:pt x="0" y="486832"/>
                </a:lnTo>
                <a:lnTo>
                  <a:pt x="32463" y="649110"/>
                </a:lnTo>
                <a:lnTo>
                  <a:pt x="64928" y="486832"/>
                </a:lnTo>
                <a:close/>
              </a:path>
              <a:path w="65404" h="649605">
                <a:moveTo>
                  <a:pt x="48696" y="0"/>
                </a:moveTo>
                <a:lnTo>
                  <a:pt x="16231" y="0"/>
                </a:lnTo>
                <a:lnTo>
                  <a:pt x="16231" y="486832"/>
                </a:lnTo>
                <a:lnTo>
                  <a:pt x="48696" y="486832"/>
                </a:lnTo>
                <a:lnTo>
                  <a:pt x="486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164705" y="1954389"/>
            <a:ext cx="65405" cy="649605"/>
          </a:xfrm>
          <a:custGeom>
            <a:avLst/>
            <a:gdLst/>
            <a:ahLst/>
            <a:cxnLst/>
            <a:rect l="l" t="t" r="r" b="b"/>
            <a:pathLst>
              <a:path w="65404" h="649605">
                <a:moveTo>
                  <a:pt x="48696" y="0"/>
                </a:moveTo>
                <a:lnTo>
                  <a:pt x="48696" y="486833"/>
                </a:lnTo>
                <a:lnTo>
                  <a:pt x="64928" y="486833"/>
                </a:lnTo>
                <a:lnTo>
                  <a:pt x="32464" y="649111"/>
                </a:lnTo>
                <a:lnTo>
                  <a:pt x="0" y="486833"/>
                </a:lnTo>
                <a:lnTo>
                  <a:pt x="16232" y="486833"/>
                </a:lnTo>
                <a:lnTo>
                  <a:pt x="16232" y="0"/>
                </a:lnTo>
                <a:lnTo>
                  <a:pt x="48696" y="0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590192" y="2175733"/>
            <a:ext cx="235585" cy="666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1670"/>
              </a:lnSpc>
            </a:pPr>
            <a:r>
              <a:rPr sz="1700" b="1" spc="-45" dirty="0">
                <a:latin typeface="宋体" panose="02010600030101010101" pitchFamily="2" charset="-122"/>
                <a:cs typeface="宋体" panose="02010600030101010101" pitchFamily="2" charset="-122"/>
              </a:rPr>
              <a:t>用 户 栈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72768" y="3122789"/>
            <a:ext cx="3181985" cy="0"/>
          </a:xfrm>
          <a:custGeom>
            <a:avLst/>
            <a:gdLst/>
            <a:ahLst/>
            <a:cxnLst/>
            <a:rect l="l" t="t" r="r" b="b"/>
            <a:pathLst>
              <a:path w="3181984">
                <a:moveTo>
                  <a:pt x="0" y="0"/>
                </a:moveTo>
                <a:lnTo>
                  <a:pt x="3181508" y="0"/>
                </a:lnTo>
              </a:path>
            </a:pathLst>
          </a:custGeom>
          <a:ln w="3245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086984" y="3771900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164705" y="3706988"/>
            <a:ext cx="65405" cy="649605"/>
          </a:xfrm>
          <a:custGeom>
            <a:avLst/>
            <a:gdLst/>
            <a:ahLst/>
            <a:cxnLst/>
            <a:rect l="l" t="t" r="r" b="b"/>
            <a:pathLst>
              <a:path w="65404" h="649604">
                <a:moveTo>
                  <a:pt x="64928" y="486832"/>
                </a:moveTo>
                <a:lnTo>
                  <a:pt x="0" y="486832"/>
                </a:lnTo>
                <a:lnTo>
                  <a:pt x="32463" y="649110"/>
                </a:lnTo>
                <a:lnTo>
                  <a:pt x="64928" y="486832"/>
                </a:lnTo>
                <a:close/>
              </a:path>
              <a:path w="65404" h="649604">
                <a:moveTo>
                  <a:pt x="48696" y="0"/>
                </a:moveTo>
                <a:lnTo>
                  <a:pt x="16231" y="0"/>
                </a:lnTo>
                <a:lnTo>
                  <a:pt x="16231" y="486832"/>
                </a:lnTo>
                <a:lnTo>
                  <a:pt x="48696" y="486832"/>
                </a:lnTo>
                <a:lnTo>
                  <a:pt x="486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164705" y="3706988"/>
            <a:ext cx="65405" cy="649605"/>
          </a:xfrm>
          <a:custGeom>
            <a:avLst/>
            <a:gdLst/>
            <a:ahLst/>
            <a:cxnLst/>
            <a:rect l="l" t="t" r="r" b="b"/>
            <a:pathLst>
              <a:path w="65404" h="649604">
                <a:moveTo>
                  <a:pt x="48696" y="0"/>
                </a:moveTo>
                <a:lnTo>
                  <a:pt x="48696" y="486833"/>
                </a:lnTo>
                <a:lnTo>
                  <a:pt x="64928" y="486833"/>
                </a:lnTo>
                <a:lnTo>
                  <a:pt x="32464" y="649111"/>
                </a:lnTo>
                <a:lnTo>
                  <a:pt x="0" y="486833"/>
                </a:lnTo>
                <a:lnTo>
                  <a:pt x="16232" y="486833"/>
                </a:lnTo>
                <a:lnTo>
                  <a:pt x="16232" y="0"/>
                </a:lnTo>
                <a:lnTo>
                  <a:pt x="48696" y="0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086984" y="3317522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086984" y="3317521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575074" y="3397195"/>
            <a:ext cx="958850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9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SS: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SP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EFLAGS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90192" y="3733176"/>
            <a:ext cx="235585" cy="666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1670"/>
              </a:lnSpc>
            </a:pPr>
            <a:r>
              <a:rPr sz="1700" b="1" spc="-45" dirty="0">
                <a:latin typeface="宋体" panose="02010600030101010101" pitchFamily="2" charset="-122"/>
                <a:cs typeface="宋体" panose="02010600030101010101" pitchFamily="2" charset="-122"/>
              </a:rPr>
              <a:t>内 核 栈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086984" y="4226276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086984" y="4226278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659966" y="4207933"/>
            <a:ext cx="821266" cy="5884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814698" y="4322848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500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086984" y="4680654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086984" y="4680656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736166" y="4660900"/>
            <a:ext cx="668866" cy="59266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892455" y="4777103"/>
            <a:ext cx="33655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CS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709055" y="2885898"/>
            <a:ext cx="742315" cy="703580"/>
          </a:xfrm>
          <a:custGeom>
            <a:avLst/>
            <a:gdLst/>
            <a:ahLst/>
            <a:cxnLst/>
            <a:rect l="l" t="t" r="r" b="b"/>
            <a:pathLst>
              <a:path w="742315" h="703579">
                <a:moveTo>
                  <a:pt x="538037" y="63042"/>
                </a:moveTo>
                <a:lnTo>
                  <a:pt x="392930" y="63042"/>
                </a:lnTo>
                <a:lnTo>
                  <a:pt x="451520" y="71387"/>
                </a:lnTo>
                <a:lnTo>
                  <a:pt x="510994" y="81781"/>
                </a:lnTo>
                <a:lnTo>
                  <a:pt x="565851" y="94406"/>
                </a:lnTo>
                <a:lnTo>
                  <a:pt x="613984" y="109781"/>
                </a:lnTo>
                <a:lnTo>
                  <a:pt x="653923" y="128414"/>
                </a:lnTo>
                <a:lnTo>
                  <a:pt x="684777" y="151178"/>
                </a:lnTo>
                <a:lnTo>
                  <a:pt x="710704" y="193325"/>
                </a:lnTo>
                <a:lnTo>
                  <a:pt x="717482" y="232851"/>
                </a:lnTo>
                <a:lnTo>
                  <a:pt x="717925" y="256395"/>
                </a:lnTo>
                <a:lnTo>
                  <a:pt x="716340" y="281580"/>
                </a:lnTo>
                <a:lnTo>
                  <a:pt x="707218" y="335199"/>
                </a:lnTo>
                <a:lnTo>
                  <a:pt x="690469" y="390446"/>
                </a:lnTo>
                <a:lnTo>
                  <a:pt x="666536" y="444129"/>
                </a:lnTo>
                <a:lnTo>
                  <a:pt x="635948" y="493114"/>
                </a:lnTo>
                <a:lnTo>
                  <a:pt x="599333" y="534352"/>
                </a:lnTo>
                <a:lnTo>
                  <a:pt x="556113" y="566211"/>
                </a:lnTo>
                <a:lnTo>
                  <a:pt x="503035" y="592316"/>
                </a:lnTo>
                <a:lnTo>
                  <a:pt x="440914" y="613798"/>
                </a:lnTo>
                <a:lnTo>
                  <a:pt x="371161" y="631267"/>
                </a:lnTo>
                <a:lnTo>
                  <a:pt x="255369" y="651428"/>
                </a:lnTo>
                <a:lnTo>
                  <a:pt x="172596" y="661921"/>
                </a:lnTo>
                <a:lnTo>
                  <a:pt x="87026" y="670910"/>
                </a:lnTo>
                <a:lnTo>
                  <a:pt x="0" y="679151"/>
                </a:lnTo>
                <a:lnTo>
                  <a:pt x="2296" y="703384"/>
                </a:lnTo>
                <a:lnTo>
                  <a:pt x="89321" y="695144"/>
                </a:lnTo>
                <a:lnTo>
                  <a:pt x="175140" y="686130"/>
                </a:lnTo>
                <a:lnTo>
                  <a:pt x="258431" y="675577"/>
                </a:lnTo>
                <a:lnTo>
                  <a:pt x="337884" y="662712"/>
                </a:lnTo>
                <a:lnTo>
                  <a:pt x="375921" y="655138"/>
                </a:lnTo>
                <a:lnTo>
                  <a:pt x="447264" y="637298"/>
                </a:lnTo>
                <a:lnTo>
                  <a:pt x="511592" y="615105"/>
                </a:lnTo>
                <a:lnTo>
                  <a:pt x="567654" y="587645"/>
                </a:lnTo>
                <a:lnTo>
                  <a:pt x="614781" y="553167"/>
                </a:lnTo>
                <a:lnTo>
                  <a:pt x="654856" y="508449"/>
                </a:lnTo>
                <a:lnTo>
                  <a:pt x="687644" y="456265"/>
                </a:lnTo>
                <a:lnTo>
                  <a:pt x="713009" y="399649"/>
                </a:lnTo>
                <a:lnTo>
                  <a:pt x="730722" y="341553"/>
                </a:lnTo>
                <a:lnTo>
                  <a:pt x="740464" y="284876"/>
                </a:lnTo>
                <a:lnTo>
                  <a:pt x="742223" y="257954"/>
                </a:lnTo>
                <a:lnTo>
                  <a:pt x="741827" y="232435"/>
                </a:lnTo>
                <a:lnTo>
                  <a:pt x="734067" y="186320"/>
                </a:lnTo>
                <a:lnTo>
                  <a:pt x="715740" y="149494"/>
                </a:lnTo>
                <a:lnTo>
                  <a:pt x="686015" y="120402"/>
                </a:lnTo>
                <a:lnTo>
                  <a:pt x="646325" y="97081"/>
                </a:lnTo>
                <a:lnTo>
                  <a:pt x="598879" y="78734"/>
                </a:lnTo>
                <a:lnTo>
                  <a:pt x="572698" y="71046"/>
                </a:lnTo>
                <a:lnTo>
                  <a:pt x="538037" y="63042"/>
                </a:lnTo>
                <a:close/>
              </a:path>
              <a:path w="742315" h="703579">
                <a:moveTo>
                  <a:pt x="432273" y="0"/>
                </a:moveTo>
                <a:lnTo>
                  <a:pt x="425947" y="7"/>
                </a:lnTo>
                <a:lnTo>
                  <a:pt x="424341" y="320"/>
                </a:lnTo>
                <a:lnTo>
                  <a:pt x="325735" y="42150"/>
                </a:lnTo>
                <a:lnTo>
                  <a:pt x="414693" y="110439"/>
                </a:lnTo>
                <a:lnTo>
                  <a:pt x="422335" y="109435"/>
                </a:lnTo>
                <a:lnTo>
                  <a:pt x="430526" y="98772"/>
                </a:lnTo>
                <a:lnTo>
                  <a:pt x="429521" y="91132"/>
                </a:lnTo>
                <a:lnTo>
                  <a:pt x="392930" y="63042"/>
                </a:lnTo>
                <a:lnTo>
                  <a:pt x="538037" y="63042"/>
                </a:lnTo>
                <a:lnTo>
                  <a:pt x="516465" y="58061"/>
                </a:lnTo>
                <a:lnTo>
                  <a:pt x="455720" y="47410"/>
                </a:lnTo>
                <a:lnTo>
                  <a:pt x="395809" y="38865"/>
                </a:lnTo>
                <a:lnTo>
                  <a:pt x="438494" y="20758"/>
                </a:lnTo>
                <a:lnTo>
                  <a:pt x="441382" y="13613"/>
                </a:lnTo>
                <a:lnTo>
                  <a:pt x="436786" y="2785"/>
                </a:lnTo>
                <a:lnTo>
                  <a:pt x="4322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310402" y="1878491"/>
            <a:ext cx="1170305" cy="1710689"/>
          </a:xfrm>
          <a:custGeom>
            <a:avLst/>
            <a:gdLst/>
            <a:ahLst/>
            <a:cxnLst/>
            <a:rect l="l" t="t" r="r" b="b"/>
            <a:pathLst>
              <a:path w="1170304" h="1710689">
                <a:moveTo>
                  <a:pt x="665012" y="0"/>
                </a:moveTo>
                <a:lnTo>
                  <a:pt x="659056" y="4889"/>
                </a:lnTo>
                <a:lnTo>
                  <a:pt x="657740" y="18268"/>
                </a:lnTo>
                <a:lnTo>
                  <a:pt x="662632" y="24225"/>
                </a:lnTo>
                <a:lnTo>
                  <a:pt x="708668" y="28746"/>
                </a:lnTo>
                <a:lnTo>
                  <a:pt x="656115" y="52851"/>
                </a:lnTo>
                <a:lnTo>
                  <a:pt x="543137" y="106517"/>
                </a:lnTo>
                <a:lnTo>
                  <a:pt x="488256" y="133885"/>
                </a:lnTo>
                <a:lnTo>
                  <a:pt x="434873" y="161725"/>
                </a:lnTo>
                <a:lnTo>
                  <a:pt x="383294" y="190131"/>
                </a:lnTo>
                <a:lnTo>
                  <a:pt x="333824" y="219202"/>
                </a:lnTo>
                <a:lnTo>
                  <a:pt x="286764" y="249038"/>
                </a:lnTo>
                <a:lnTo>
                  <a:pt x="242422" y="279742"/>
                </a:lnTo>
                <a:lnTo>
                  <a:pt x="201104" y="311425"/>
                </a:lnTo>
                <a:lnTo>
                  <a:pt x="163121" y="344201"/>
                </a:lnTo>
                <a:lnTo>
                  <a:pt x="128789" y="378186"/>
                </a:lnTo>
                <a:lnTo>
                  <a:pt x="98440" y="413501"/>
                </a:lnTo>
                <a:lnTo>
                  <a:pt x="72423" y="450263"/>
                </a:lnTo>
                <a:lnTo>
                  <a:pt x="51164" y="488417"/>
                </a:lnTo>
                <a:lnTo>
                  <a:pt x="34160" y="528491"/>
                </a:lnTo>
                <a:lnTo>
                  <a:pt x="20572" y="570983"/>
                </a:lnTo>
                <a:lnTo>
                  <a:pt x="10377" y="615541"/>
                </a:lnTo>
                <a:lnTo>
                  <a:pt x="3557" y="661817"/>
                </a:lnTo>
                <a:lnTo>
                  <a:pt x="100" y="709468"/>
                </a:lnTo>
                <a:lnTo>
                  <a:pt x="0" y="758148"/>
                </a:lnTo>
                <a:lnTo>
                  <a:pt x="3248" y="807511"/>
                </a:lnTo>
                <a:lnTo>
                  <a:pt x="9846" y="857213"/>
                </a:lnTo>
                <a:lnTo>
                  <a:pt x="19794" y="906905"/>
                </a:lnTo>
                <a:lnTo>
                  <a:pt x="33092" y="956242"/>
                </a:lnTo>
                <a:lnTo>
                  <a:pt x="49745" y="1004873"/>
                </a:lnTo>
                <a:lnTo>
                  <a:pt x="69762" y="1052447"/>
                </a:lnTo>
                <a:lnTo>
                  <a:pt x="93149" y="1098613"/>
                </a:lnTo>
                <a:lnTo>
                  <a:pt x="119913" y="1143013"/>
                </a:lnTo>
                <a:lnTo>
                  <a:pt x="150063" y="1185288"/>
                </a:lnTo>
                <a:lnTo>
                  <a:pt x="183606" y="1225076"/>
                </a:lnTo>
                <a:lnTo>
                  <a:pt x="221208" y="1262693"/>
                </a:lnTo>
                <a:lnTo>
                  <a:pt x="263382" y="1298849"/>
                </a:lnTo>
                <a:lnTo>
                  <a:pt x="309813" y="1333658"/>
                </a:lnTo>
                <a:lnTo>
                  <a:pt x="360194" y="1367237"/>
                </a:lnTo>
                <a:lnTo>
                  <a:pt x="414220" y="1399689"/>
                </a:lnTo>
                <a:lnTo>
                  <a:pt x="471589" y="1431121"/>
                </a:lnTo>
                <a:lnTo>
                  <a:pt x="531996" y="1461630"/>
                </a:lnTo>
                <a:lnTo>
                  <a:pt x="595138" y="1491312"/>
                </a:lnTo>
                <a:lnTo>
                  <a:pt x="660711" y="1520264"/>
                </a:lnTo>
                <a:lnTo>
                  <a:pt x="728409" y="1548578"/>
                </a:lnTo>
                <a:lnTo>
                  <a:pt x="797927" y="1576344"/>
                </a:lnTo>
                <a:lnTo>
                  <a:pt x="869001" y="1603670"/>
                </a:lnTo>
                <a:lnTo>
                  <a:pt x="1014345" y="1657276"/>
                </a:lnTo>
                <a:lnTo>
                  <a:pt x="1162051" y="1710133"/>
                </a:lnTo>
                <a:lnTo>
                  <a:pt x="1170258" y="1687216"/>
                </a:lnTo>
                <a:lnTo>
                  <a:pt x="1022550" y="1634357"/>
                </a:lnTo>
                <a:lnTo>
                  <a:pt x="877427" y="1580835"/>
                </a:lnTo>
                <a:lnTo>
                  <a:pt x="806668" y="1553625"/>
                </a:lnTo>
                <a:lnTo>
                  <a:pt x="737443" y="1525973"/>
                </a:lnTo>
                <a:lnTo>
                  <a:pt x="670109" y="1497808"/>
                </a:lnTo>
                <a:lnTo>
                  <a:pt x="604975" y="1469047"/>
                </a:lnTo>
                <a:lnTo>
                  <a:pt x="542358" y="1439603"/>
                </a:lnTo>
                <a:lnTo>
                  <a:pt x="482569" y="1409395"/>
                </a:lnTo>
                <a:lnTo>
                  <a:pt x="425924" y="1378344"/>
                </a:lnTo>
                <a:lnTo>
                  <a:pt x="372737" y="1346373"/>
                </a:lnTo>
                <a:lnTo>
                  <a:pt x="323324" y="1313408"/>
                </a:lnTo>
                <a:lnTo>
                  <a:pt x="277996" y="1279378"/>
                </a:lnTo>
                <a:lnTo>
                  <a:pt x="237067" y="1244222"/>
                </a:lnTo>
                <a:lnTo>
                  <a:pt x="200840" y="1207881"/>
                </a:lnTo>
                <a:lnTo>
                  <a:pt x="168694" y="1169617"/>
                </a:lnTo>
                <a:lnTo>
                  <a:pt x="139749" y="1128897"/>
                </a:lnTo>
                <a:lnTo>
                  <a:pt x="114011" y="1086064"/>
                </a:lnTo>
                <a:lnTo>
                  <a:pt x="91492" y="1041464"/>
                </a:lnTo>
                <a:lnTo>
                  <a:pt x="72195" y="995448"/>
                </a:lnTo>
                <a:lnTo>
                  <a:pt x="56131" y="948369"/>
                </a:lnTo>
                <a:lnTo>
                  <a:pt x="43307" y="900584"/>
                </a:lnTo>
                <a:lnTo>
                  <a:pt x="33724" y="852449"/>
                </a:lnTo>
                <a:lnTo>
                  <a:pt x="27387" y="804321"/>
                </a:lnTo>
                <a:lnTo>
                  <a:pt x="24296" y="756563"/>
                </a:lnTo>
                <a:lnTo>
                  <a:pt x="24453" y="709468"/>
                </a:lnTo>
                <a:lnTo>
                  <a:pt x="27839" y="663594"/>
                </a:lnTo>
                <a:lnTo>
                  <a:pt x="34462" y="619105"/>
                </a:lnTo>
                <a:lnTo>
                  <a:pt x="44302" y="576430"/>
                </a:lnTo>
                <a:lnTo>
                  <a:pt x="57345" y="535926"/>
                </a:lnTo>
                <a:lnTo>
                  <a:pt x="73568" y="497949"/>
                </a:lnTo>
                <a:lnTo>
                  <a:pt x="93673" y="462142"/>
                </a:lnTo>
                <a:lnTo>
                  <a:pt x="118295" y="427592"/>
                </a:lnTo>
                <a:lnTo>
                  <a:pt x="147239" y="394069"/>
                </a:lnTo>
                <a:lnTo>
                  <a:pt x="180238" y="361511"/>
                </a:lnTo>
                <a:lnTo>
                  <a:pt x="217003" y="329862"/>
                </a:lnTo>
                <a:lnTo>
                  <a:pt x="257234" y="299063"/>
                </a:lnTo>
                <a:lnTo>
                  <a:pt x="300624" y="269052"/>
                </a:lnTo>
                <a:lnTo>
                  <a:pt x="346859" y="239760"/>
                </a:lnTo>
                <a:lnTo>
                  <a:pt x="395630" y="211118"/>
                </a:lnTo>
                <a:lnTo>
                  <a:pt x="446620" y="183046"/>
                </a:lnTo>
                <a:lnTo>
                  <a:pt x="499516" y="155468"/>
                </a:lnTo>
                <a:lnTo>
                  <a:pt x="554004" y="128300"/>
                </a:lnTo>
                <a:lnTo>
                  <a:pt x="666564" y="74837"/>
                </a:lnTo>
                <a:lnTo>
                  <a:pt x="718821" y="50869"/>
                </a:lnTo>
                <a:lnTo>
                  <a:pt x="748581" y="50869"/>
                </a:lnTo>
                <a:lnTo>
                  <a:pt x="776634" y="10962"/>
                </a:lnTo>
                <a:lnTo>
                  <a:pt x="665012" y="0"/>
                </a:lnTo>
                <a:close/>
              </a:path>
              <a:path w="1170304" h="1710689">
                <a:moveTo>
                  <a:pt x="748581" y="50869"/>
                </a:moveTo>
                <a:lnTo>
                  <a:pt x="718821" y="50869"/>
                </a:lnTo>
                <a:lnTo>
                  <a:pt x="692223" y="88705"/>
                </a:lnTo>
                <a:lnTo>
                  <a:pt x="693549" y="96297"/>
                </a:lnTo>
                <a:lnTo>
                  <a:pt x="704551" y="104026"/>
                </a:lnTo>
                <a:lnTo>
                  <a:pt x="712144" y="102702"/>
                </a:lnTo>
                <a:lnTo>
                  <a:pt x="748581" y="508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086984" y="5784145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219700" y="5774266"/>
            <a:ext cx="664633" cy="5884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528733" y="5736166"/>
            <a:ext cx="618066" cy="584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791200" y="5736166"/>
            <a:ext cx="613833" cy="5841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049433" y="5736166"/>
            <a:ext cx="613833" cy="58419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5373168" y="5852512"/>
            <a:ext cx="1374775" cy="320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i="1" u="sng" spc="20" dirty="0">
                <a:latin typeface="Courier New" panose="02070309020205020404"/>
                <a:cs typeface="Courier New" panose="02070309020205020404"/>
              </a:rPr>
              <a:t>?</a:t>
            </a:r>
            <a:r>
              <a:rPr sz="2000" b="1" i="1" u="sng" spc="25" dirty="0">
                <a:latin typeface="Courier New" panose="02070309020205020404"/>
                <a:cs typeface="Courier New" panose="02070309020205020404"/>
              </a:rPr>
              <a:t>?</a:t>
            </a:r>
            <a:r>
              <a:rPr sz="3000" b="1" i="1" u="sng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中断出</a:t>
            </a:r>
            <a:r>
              <a:rPr sz="3000" b="1" i="1" u="sng" spc="3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口</a:t>
            </a:r>
            <a:endParaRPr sz="300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376333" y="5736166"/>
            <a:ext cx="1549400" cy="5841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086984" y="5135032"/>
            <a:ext cx="1948180" cy="649605"/>
          </a:xfrm>
          <a:custGeom>
            <a:avLst/>
            <a:gdLst/>
            <a:ahLst/>
            <a:cxnLst/>
            <a:rect l="l" t="t" r="r" b="b"/>
            <a:pathLst>
              <a:path w="1948179" h="649604">
                <a:moveTo>
                  <a:pt x="0" y="649111"/>
                </a:moveTo>
                <a:lnTo>
                  <a:pt x="1947862" y="649111"/>
                </a:lnTo>
                <a:lnTo>
                  <a:pt x="1947862" y="0"/>
                </a:lnTo>
                <a:lnTo>
                  <a:pt x="0" y="0"/>
                </a:lnTo>
                <a:lnTo>
                  <a:pt x="0" y="6491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086984" y="5135033"/>
            <a:ext cx="1948180" cy="649605"/>
          </a:xfrm>
          <a:custGeom>
            <a:avLst/>
            <a:gdLst/>
            <a:ahLst/>
            <a:cxnLst/>
            <a:rect l="l" t="t" r="r" b="b"/>
            <a:pathLst>
              <a:path w="1948179" h="649604">
                <a:moveTo>
                  <a:pt x="0" y="0"/>
                </a:moveTo>
                <a:lnTo>
                  <a:pt x="1947862" y="0"/>
                </a:lnTo>
                <a:lnTo>
                  <a:pt x="1947862" y="649111"/>
                </a:lnTo>
                <a:lnTo>
                  <a:pt x="0" y="649111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961466" y="5058833"/>
            <a:ext cx="2222500" cy="58843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5114875" y="5172954"/>
            <a:ext cx="80327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popa;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047924" y="5172954"/>
            <a:ext cx="95885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pop</a:t>
            </a:r>
            <a:r>
              <a:rPr sz="2000" b="1" spc="2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ds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659966" y="5372099"/>
            <a:ext cx="821266" cy="58843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5814672" y="5486134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12115" y="2668410"/>
            <a:ext cx="4090670" cy="3764915"/>
          </a:xfrm>
          <a:custGeom>
            <a:avLst/>
            <a:gdLst/>
            <a:ahLst/>
            <a:cxnLst/>
            <a:rect l="l" t="t" r="r" b="b"/>
            <a:pathLst>
              <a:path w="4090670" h="3764915">
                <a:moveTo>
                  <a:pt x="0" y="0"/>
                </a:moveTo>
                <a:lnTo>
                  <a:pt x="4090511" y="0"/>
                </a:lnTo>
                <a:lnTo>
                  <a:pt x="4090511" y="3764844"/>
                </a:lnTo>
                <a:lnTo>
                  <a:pt x="0" y="3764844"/>
                </a:lnTo>
                <a:lnTo>
                  <a:pt x="0" y="0"/>
                </a:lnTo>
                <a:close/>
              </a:path>
            </a:pathLst>
          </a:custGeom>
          <a:ln w="1081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476509" y="2731872"/>
            <a:ext cx="3446779" cy="656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void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ThreadCreat</a:t>
            </a:r>
            <a:r>
              <a:rPr sz="2000" b="1" spc="2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(...)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{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50" name="object 50"/>
          <p:cNvSpPr txBox="1"/>
          <p:nvPr/>
        </p:nvSpPr>
        <p:spPr>
          <a:xfrm>
            <a:off x="787542" y="3480974"/>
            <a:ext cx="3757929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TCB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tcb=get_free_page();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87542" y="3853406"/>
            <a:ext cx="2669540" cy="2162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*krlstack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...;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2700" marR="5080">
              <a:lnSpc>
                <a:spcPct val="123000"/>
              </a:lnSpc>
              <a:spcBef>
                <a:spcPts val="90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*userstack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传入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;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填写两个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stack;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tcb.esp=krlstack;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tcb.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状态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就绪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; tcb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入队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;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76509" y="6096463"/>
            <a:ext cx="18097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10765" y="1834033"/>
          <a:ext cx="3542665" cy="765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2539"/>
                <a:gridCol w="1363503"/>
                <a:gridCol w="660108"/>
              </a:tblGrid>
              <a:tr h="397580">
                <a:tc>
                  <a:txBody>
                    <a:bodyPr/>
                    <a:lstStyle/>
                    <a:p>
                      <a:pPr marL="307340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500: 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C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()</a:t>
                      </a:r>
                      <a:r>
                        <a:rPr sz="1700" b="1" spc="5" dirty="0">
                          <a:latin typeface="Tahoma" panose="020B0604030504040204"/>
                          <a:cs typeface="Tahoma" panose="020B0604030504040204"/>
                        </a:rPr>
                        <a:t> 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{</a:t>
                      </a:r>
                      <a:endParaRPr sz="17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24341">
                      <a:solidFill>
                        <a:srgbClr val="000000"/>
                      </a:solidFill>
                      <a:prstDash val="solid"/>
                    </a:lnL>
                    <a:lnR w="8114">
                      <a:solidFill>
                        <a:srgbClr val="FF0000"/>
                      </a:solidFill>
                      <a:prstDash val="solid"/>
                    </a:lnR>
                    <a:lnT w="2434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sz="2925" b="1" spc="15" baseline="100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线程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r>
                        <a:rPr sz="2925" b="1" spc="15" baseline="100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代</a:t>
                      </a:r>
                      <a:r>
                        <a:rPr sz="2925" b="1" baseline="100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码</a:t>
                      </a:r>
                      <a:endParaRPr sz="2925" baseline="10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4">
                      <a:solidFill>
                        <a:srgbClr val="FF0000"/>
                      </a:solidFill>
                      <a:prstDash val="solid"/>
                    </a:lnL>
                    <a:lnR w="8114">
                      <a:solidFill>
                        <a:srgbClr val="FF0000"/>
                      </a:solidFill>
                      <a:prstDash val="solid"/>
                    </a:lnR>
                    <a:lnT w="24341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925" baseline="10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4">
                      <a:solidFill>
                        <a:srgbClr val="FF0000"/>
                      </a:solidFill>
                      <a:prstDash val="solid"/>
                    </a:lnL>
                    <a:lnR w="24341">
                      <a:solidFill>
                        <a:srgbClr val="000000"/>
                      </a:solidFill>
                      <a:prstDash val="solid"/>
                    </a:lnR>
                    <a:lnT w="2434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43546">
                <a:tc gridSpan="3">
                  <a:txBody>
                    <a:bodyPr/>
                    <a:lstStyle/>
                    <a:p>
                      <a:pPr marL="688340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…</a:t>
                      </a:r>
                      <a:endParaRPr sz="17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24341">
                      <a:solidFill>
                        <a:srgbClr val="000000"/>
                      </a:solidFill>
                      <a:prstDash val="solid"/>
                    </a:lnL>
                    <a:lnR w="24341">
                      <a:solidFill>
                        <a:srgbClr val="000000"/>
                      </a:solidFill>
                      <a:prstDash val="solid"/>
                    </a:lnR>
                    <a:lnB w="2434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0190">
              <a:lnSpc>
                <a:spcPts val="3470"/>
              </a:lnSpc>
            </a:pPr>
            <a:r>
              <a:rPr spc="100" dirty="0"/>
              <a:t>用户级线程、核心级线程的对比</a:t>
            </a:r>
            <a:endParaRPr spc="100" dirty="0"/>
          </a:p>
        </p:txBody>
      </p:sp>
      <p:sp>
        <p:nvSpPr>
          <p:cNvPr id="4" name="object 4"/>
          <p:cNvSpPr/>
          <p:nvPr/>
        </p:nvSpPr>
        <p:spPr>
          <a:xfrm>
            <a:off x="2489839" y="2449335"/>
            <a:ext cx="60960" cy="318135"/>
          </a:xfrm>
          <a:custGeom>
            <a:avLst/>
            <a:gdLst/>
            <a:ahLst/>
            <a:cxnLst/>
            <a:rect l="l" t="t" r="r" b="b"/>
            <a:pathLst>
              <a:path w="60960" h="318135">
                <a:moveTo>
                  <a:pt x="29962" y="0"/>
                </a:moveTo>
                <a:lnTo>
                  <a:pt x="50374" y="34180"/>
                </a:lnTo>
                <a:lnTo>
                  <a:pt x="60705" y="68360"/>
                </a:lnTo>
                <a:lnTo>
                  <a:pt x="60165" y="79754"/>
                </a:lnTo>
                <a:lnTo>
                  <a:pt x="56109" y="90298"/>
                </a:lnTo>
                <a:lnTo>
                  <a:pt x="48649" y="100731"/>
                </a:lnTo>
                <a:lnTo>
                  <a:pt x="38991" y="111066"/>
                </a:lnTo>
                <a:lnTo>
                  <a:pt x="28343" y="121321"/>
                </a:lnTo>
                <a:lnTo>
                  <a:pt x="17913" y="131512"/>
                </a:lnTo>
                <a:lnTo>
                  <a:pt x="8907" y="141654"/>
                </a:lnTo>
                <a:lnTo>
                  <a:pt x="2534" y="151763"/>
                </a:lnTo>
                <a:lnTo>
                  <a:pt x="0" y="161856"/>
                </a:lnTo>
                <a:lnTo>
                  <a:pt x="2592" y="172176"/>
                </a:lnTo>
                <a:lnTo>
                  <a:pt x="9426" y="182462"/>
                </a:lnTo>
                <a:lnTo>
                  <a:pt x="19080" y="192718"/>
                </a:lnTo>
                <a:lnTo>
                  <a:pt x="30133" y="202948"/>
                </a:lnTo>
                <a:lnTo>
                  <a:pt x="41165" y="213160"/>
                </a:lnTo>
                <a:lnTo>
                  <a:pt x="50756" y="223356"/>
                </a:lnTo>
                <a:lnTo>
                  <a:pt x="57483" y="233542"/>
                </a:lnTo>
                <a:lnTo>
                  <a:pt x="57089" y="245913"/>
                </a:lnTo>
                <a:lnTo>
                  <a:pt x="54415" y="257590"/>
                </a:lnTo>
                <a:lnTo>
                  <a:pt x="26851" y="299158"/>
                </a:lnTo>
                <a:lnTo>
                  <a:pt x="17225" y="308717"/>
                </a:lnTo>
                <a:lnTo>
                  <a:pt x="7099" y="318124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44336" y="3228268"/>
            <a:ext cx="389890" cy="389890"/>
          </a:xfrm>
          <a:custGeom>
            <a:avLst/>
            <a:gdLst/>
            <a:ahLst/>
            <a:cxnLst/>
            <a:rect l="l" t="t" r="r" b="b"/>
            <a:pathLst>
              <a:path w="389889" h="389889">
                <a:moveTo>
                  <a:pt x="194786" y="0"/>
                </a:moveTo>
                <a:lnTo>
                  <a:pt x="147976" y="5659"/>
                </a:lnTo>
                <a:lnTo>
                  <a:pt x="105270" y="21735"/>
                </a:lnTo>
                <a:lnTo>
                  <a:pt x="68021" y="46876"/>
                </a:lnTo>
                <a:lnTo>
                  <a:pt x="37582" y="79726"/>
                </a:lnTo>
                <a:lnTo>
                  <a:pt x="15307" y="118934"/>
                </a:lnTo>
                <a:lnTo>
                  <a:pt x="2549" y="163147"/>
                </a:lnTo>
                <a:lnTo>
                  <a:pt x="0" y="194734"/>
                </a:lnTo>
                <a:lnTo>
                  <a:pt x="645" y="210705"/>
                </a:lnTo>
                <a:lnTo>
                  <a:pt x="9930" y="256284"/>
                </a:lnTo>
                <a:lnTo>
                  <a:pt x="29183" y="297310"/>
                </a:lnTo>
                <a:lnTo>
                  <a:pt x="57051" y="332430"/>
                </a:lnTo>
                <a:lnTo>
                  <a:pt x="92180" y="360291"/>
                </a:lnTo>
                <a:lnTo>
                  <a:pt x="133218" y="379539"/>
                </a:lnTo>
                <a:lnTo>
                  <a:pt x="178810" y="388821"/>
                </a:lnTo>
                <a:lnTo>
                  <a:pt x="194786" y="389467"/>
                </a:lnTo>
                <a:lnTo>
                  <a:pt x="210761" y="388821"/>
                </a:lnTo>
                <a:lnTo>
                  <a:pt x="256353" y="379539"/>
                </a:lnTo>
                <a:lnTo>
                  <a:pt x="297391" y="360291"/>
                </a:lnTo>
                <a:lnTo>
                  <a:pt x="332521" y="332430"/>
                </a:lnTo>
                <a:lnTo>
                  <a:pt x="360389" y="297310"/>
                </a:lnTo>
                <a:lnTo>
                  <a:pt x="379642" y="256284"/>
                </a:lnTo>
                <a:lnTo>
                  <a:pt x="388926" y="210705"/>
                </a:lnTo>
                <a:lnTo>
                  <a:pt x="389572" y="194734"/>
                </a:lnTo>
                <a:lnTo>
                  <a:pt x="388926" y="178762"/>
                </a:lnTo>
                <a:lnTo>
                  <a:pt x="379642" y="133183"/>
                </a:lnTo>
                <a:lnTo>
                  <a:pt x="360389" y="92156"/>
                </a:lnTo>
                <a:lnTo>
                  <a:pt x="332521" y="57036"/>
                </a:lnTo>
                <a:lnTo>
                  <a:pt x="297391" y="29175"/>
                </a:lnTo>
                <a:lnTo>
                  <a:pt x="256353" y="9927"/>
                </a:lnTo>
                <a:lnTo>
                  <a:pt x="210761" y="645"/>
                </a:lnTo>
                <a:lnTo>
                  <a:pt x="194786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44336" y="3228268"/>
            <a:ext cx="389890" cy="389890"/>
          </a:xfrm>
          <a:custGeom>
            <a:avLst/>
            <a:gdLst/>
            <a:ahLst/>
            <a:cxnLst/>
            <a:rect l="l" t="t" r="r" b="b"/>
            <a:pathLst>
              <a:path w="389889" h="389889">
                <a:moveTo>
                  <a:pt x="0" y="194733"/>
                </a:moveTo>
                <a:lnTo>
                  <a:pt x="5661" y="147936"/>
                </a:lnTo>
                <a:lnTo>
                  <a:pt x="21741" y="105242"/>
                </a:lnTo>
                <a:lnTo>
                  <a:pt x="46888" y="68002"/>
                </a:lnTo>
                <a:lnTo>
                  <a:pt x="79748" y="37572"/>
                </a:lnTo>
                <a:lnTo>
                  <a:pt x="118966" y="15303"/>
                </a:lnTo>
                <a:lnTo>
                  <a:pt x="163190" y="2548"/>
                </a:lnTo>
                <a:lnTo>
                  <a:pt x="194786" y="0"/>
                </a:lnTo>
                <a:lnTo>
                  <a:pt x="210761" y="645"/>
                </a:lnTo>
                <a:lnTo>
                  <a:pt x="256353" y="9927"/>
                </a:lnTo>
                <a:lnTo>
                  <a:pt x="297391" y="29175"/>
                </a:lnTo>
                <a:lnTo>
                  <a:pt x="332520" y="57036"/>
                </a:lnTo>
                <a:lnTo>
                  <a:pt x="360389" y="92156"/>
                </a:lnTo>
                <a:lnTo>
                  <a:pt x="379642" y="133182"/>
                </a:lnTo>
                <a:lnTo>
                  <a:pt x="388926" y="178762"/>
                </a:lnTo>
                <a:lnTo>
                  <a:pt x="389572" y="194733"/>
                </a:lnTo>
                <a:lnTo>
                  <a:pt x="388926" y="210704"/>
                </a:lnTo>
                <a:lnTo>
                  <a:pt x="379642" y="256284"/>
                </a:lnTo>
                <a:lnTo>
                  <a:pt x="360389" y="297310"/>
                </a:lnTo>
                <a:lnTo>
                  <a:pt x="332520" y="332430"/>
                </a:lnTo>
                <a:lnTo>
                  <a:pt x="297391" y="360291"/>
                </a:lnTo>
                <a:lnTo>
                  <a:pt x="256353" y="379539"/>
                </a:lnTo>
                <a:lnTo>
                  <a:pt x="210761" y="388821"/>
                </a:lnTo>
                <a:lnTo>
                  <a:pt x="194786" y="389466"/>
                </a:lnTo>
                <a:lnTo>
                  <a:pt x="178810" y="388821"/>
                </a:lnTo>
                <a:lnTo>
                  <a:pt x="133218" y="379539"/>
                </a:lnTo>
                <a:lnTo>
                  <a:pt x="92181" y="360291"/>
                </a:lnTo>
                <a:lnTo>
                  <a:pt x="57051" y="332430"/>
                </a:lnTo>
                <a:lnTo>
                  <a:pt x="29183" y="297310"/>
                </a:lnTo>
                <a:lnTo>
                  <a:pt x="9930" y="256284"/>
                </a:lnTo>
                <a:lnTo>
                  <a:pt x="645" y="210704"/>
                </a:lnTo>
                <a:lnTo>
                  <a:pt x="0" y="194733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17483" y="3260725"/>
            <a:ext cx="60960" cy="318135"/>
          </a:xfrm>
          <a:custGeom>
            <a:avLst/>
            <a:gdLst/>
            <a:ahLst/>
            <a:cxnLst/>
            <a:rect l="l" t="t" r="r" b="b"/>
            <a:pathLst>
              <a:path w="60960" h="318135">
                <a:moveTo>
                  <a:pt x="29962" y="0"/>
                </a:moveTo>
                <a:lnTo>
                  <a:pt x="50374" y="34180"/>
                </a:lnTo>
                <a:lnTo>
                  <a:pt x="60705" y="68360"/>
                </a:lnTo>
                <a:lnTo>
                  <a:pt x="60165" y="79754"/>
                </a:lnTo>
                <a:lnTo>
                  <a:pt x="56109" y="90298"/>
                </a:lnTo>
                <a:lnTo>
                  <a:pt x="48649" y="100731"/>
                </a:lnTo>
                <a:lnTo>
                  <a:pt x="38991" y="111066"/>
                </a:lnTo>
                <a:lnTo>
                  <a:pt x="28343" y="121321"/>
                </a:lnTo>
                <a:lnTo>
                  <a:pt x="17913" y="131512"/>
                </a:lnTo>
                <a:lnTo>
                  <a:pt x="8907" y="141654"/>
                </a:lnTo>
                <a:lnTo>
                  <a:pt x="2534" y="151763"/>
                </a:lnTo>
                <a:lnTo>
                  <a:pt x="0" y="161856"/>
                </a:lnTo>
                <a:lnTo>
                  <a:pt x="2592" y="172176"/>
                </a:lnTo>
                <a:lnTo>
                  <a:pt x="9426" y="182462"/>
                </a:lnTo>
                <a:lnTo>
                  <a:pt x="19080" y="192718"/>
                </a:lnTo>
                <a:lnTo>
                  <a:pt x="30133" y="202948"/>
                </a:lnTo>
                <a:lnTo>
                  <a:pt x="41165" y="213160"/>
                </a:lnTo>
                <a:lnTo>
                  <a:pt x="50756" y="223356"/>
                </a:lnTo>
                <a:lnTo>
                  <a:pt x="57483" y="233542"/>
                </a:lnTo>
                <a:lnTo>
                  <a:pt x="57089" y="245913"/>
                </a:lnTo>
                <a:lnTo>
                  <a:pt x="54415" y="257590"/>
                </a:lnTo>
                <a:lnTo>
                  <a:pt x="26851" y="299158"/>
                </a:lnTo>
                <a:lnTo>
                  <a:pt x="17225" y="308717"/>
                </a:lnTo>
                <a:lnTo>
                  <a:pt x="7099" y="318124"/>
                </a:lnTo>
              </a:path>
            </a:pathLst>
          </a:custGeom>
          <a:ln w="16232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79411" y="2449335"/>
            <a:ext cx="60960" cy="318135"/>
          </a:xfrm>
          <a:custGeom>
            <a:avLst/>
            <a:gdLst/>
            <a:ahLst/>
            <a:cxnLst/>
            <a:rect l="l" t="t" r="r" b="b"/>
            <a:pathLst>
              <a:path w="60960" h="318135">
                <a:moveTo>
                  <a:pt x="29962" y="0"/>
                </a:moveTo>
                <a:lnTo>
                  <a:pt x="50374" y="34180"/>
                </a:lnTo>
                <a:lnTo>
                  <a:pt x="60705" y="68360"/>
                </a:lnTo>
                <a:lnTo>
                  <a:pt x="60165" y="79754"/>
                </a:lnTo>
                <a:lnTo>
                  <a:pt x="56109" y="90298"/>
                </a:lnTo>
                <a:lnTo>
                  <a:pt x="48649" y="100731"/>
                </a:lnTo>
                <a:lnTo>
                  <a:pt x="38991" y="111066"/>
                </a:lnTo>
                <a:lnTo>
                  <a:pt x="28343" y="121321"/>
                </a:lnTo>
                <a:lnTo>
                  <a:pt x="17913" y="131512"/>
                </a:lnTo>
                <a:lnTo>
                  <a:pt x="8907" y="141654"/>
                </a:lnTo>
                <a:lnTo>
                  <a:pt x="2534" y="151763"/>
                </a:lnTo>
                <a:lnTo>
                  <a:pt x="0" y="161856"/>
                </a:lnTo>
                <a:lnTo>
                  <a:pt x="2592" y="172176"/>
                </a:lnTo>
                <a:lnTo>
                  <a:pt x="9426" y="182462"/>
                </a:lnTo>
                <a:lnTo>
                  <a:pt x="19080" y="192718"/>
                </a:lnTo>
                <a:lnTo>
                  <a:pt x="30133" y="202948"/>
                </a:lnTo>
                <a:lnTo>
                  <a:pt x="41165" y="213160"/>
                </a:lnTo>
                <a:lnTo>
                  <a:pt x="50756" y="223356"/>
                </a:lnTo>
                <a:lnTo>
                  <a:pt x="57483" y="233542"/>
                </a:lnTo>
                <a:lnTo>
                  <a:pt x="57089" y="245913"/>
                </a:lnTo>
                <a:lnTo>
                  <a:pt x="54415" y="257590"/>
                </a:lnTo>
                <a:lnTo>
                  <a:pt x="26851" y="299158"/>
                </a:lnTo>
                <a:lnTo>
                  <a:pt x="17225" y="308717"/>
                </a:lnTo>
                <a:lnTo>
                  <a:pt x="7099" y="318124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268984" y="2449335"/>
            <a:ext cx="60960" cy="318135"/>
          </a:xfrm>
          <a:custGeom>
            <a:avLst/>
            <a:gdLst/>
            <a:ahLst/>
            <a:cxnLst/>
            <a:rect l="l" t="t" r="r" b="b"/>
            <a:pathLst>
              <a:path w="60960" h="318135">
                <a:moveTo>
                  <a:pt x="29962" y="0"/>
                </a:moveTo>
                <a:lnTo>
                  <a:pt x="50374" y="34180"/>
                </a:lnTo>
                <a:lnTo>
                  <a:pt x="60705" y="68360"/>
                </a:lnTo>
                <a:lnTo>
                  <a:pt x="60165" y="79754"/>
                </a:lnTo>
                <a:lnTo>
                  <a:pt x="56109" y="90298"/>
                </a:lnTo>
                <a:lnTo>
                  <a:pt x="48649" y="100731"/>
                </a:lnTo>
                <a:lnTo>
                  <a:pt x="38991" y="111066"/>
                </a:lnTo>
                <a:lnTo>
                  <a:pt x="28343" y="121321"/>
                </a:lnTo>
                <a:lnTo>
                  <a:pt x="17913" y="131512"/>
                </a:lnTo>
                <a:lnTo>
                  <a:pt x="8907" y="141654"/>
                </a:lnTo>
                <a:lnTo>
                  <a:pt x="2534" y="151763"/>
                </a:lnTo>
                <a:lnTo>
                  <a:pt x="0" y="161856"/>
                </a:lnTo>
                <a:lnTo>
                  <a:pt x="2592" y="172176"/>
                </a:lnTo>
                <a:lnTo>
                  <a:pt x="9426" y="182462"/>
                </a:lnTo>
                <a:lnTo>
                  <a:pt x="19080" y="192718"/>
                </a:lnTo>
                <a:lnTo>
                  <a:pt x="30133" y="202948"/>
                </a:lnTo>
                <a:lnTo>
                  <a:pt x="41165" y="213160"/>
                </a:lnTo>
                <a:lnTo>
                  <a:pt x="50756" y="223356"/>
                </a:lnTo>
                <a:lnTo>
                  <a:pt x="57483" y="233542"/>
                </a:lnTo>
                <a:lnTo>
                  <a:pt x="57089" y="245913"/>
                </a:lnTo>
                <a:lnTo>
                  <a:pt x="54415" y="257590"/>
                </a:lnTo>
                <a:lnTo>
                  <a:pt x="26851" y="299158"/>
                </a:lnTo>
                <a:lnTo>
                  <a:pt x="17225" y="308717"/>
                </a:lnTo>
                <a:lnTo>
                  <a:pt x="7099" y="318124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23485" y="2449335"/>
            <a:ext cx="60960" cy="318135"/>
          </a:xfrm>
          <a:custGeom>
            <a:avLst/>
            <a:gdLst/>
            <a:ahLst/>
            <a:cxnLst/>
            <a:rect l="l" t="t" r="r" b="b"/>
            <a:pathLst>
              <a:path w="60960" h="318135">
                <a:moveTo>
                  <a:pt x="29962" y="0"/>
                </a:moveTo>
                <a:lnTo>
                  <a:pt x="50374" y="34180"/>
                </a:lnTo>
                <a:lnTo>
                  <a:pt x="60705" y="68360"/>
                </a:lnTo>
                <a:lnTo>
                  <a:pt x="60165" y="79754"/>
                </a:lnTo>
                <a:lnTo>
                  <a:pt x="56109" y="90298"/>
                </a:lnTo>
                <a:lnTo>
                  <a:pt x="48649" y="100731"/>
                </a:lnTo>
                <a:lnTo>
                  <a:pt x="38991" y="111066"/>
                </a:lnTo>
                <a:lnTo>
                  <a:pt x="28343" y="121321"/>
                </a:lnTo>
                <a:lnTo>
                  <a:pt x="17913" y="131512"/>
                </a:lnTo>
                <a:lnTo>
                  <a:pt x="8907" y="141654"/>
                </a:lnTo>
                <a:lnTo>
                  <a:pt x="2534" y="151763"/>
                </a:lnTo>
                <a:lnTo>
                  <a:pt x="0" y="161856"/>
                </a:lnTo>
                <a:lnTo>
                  <a:pt x="2592" y="172176"/>
                </a:lnTo>
                <a:lnTo>
                  <a:pt x="9426" y="182462"/>
                </a:lnTo>
                <a:lnTo>
                  <a:pt x="19080" y="192718"/>
                </a:lnTo>
                <a:lnTo>
                  <a:pt x="30133" y="202948"/>
                </a:lnTo>
                <a:lnTo>
                  <a:pt x="41165" y="213160"/>
                </a:lnTo>
                <a:lnTo>
                  <a:pt x="50756" y="223356"/>
                </a:lnTo>
                <a:lnTo>
                  <a:pt x="57483" y="233542"/>
                </a:lnTo>
                <a:lnTo>
                  <a:pt x="57089" y="245913"/>
                </a:lnTo>
                <a:lnTo>
                  <a:pt x="54415" y="257590"/>
                </a:lnTo>
                <a:lnTo>
                  <a:pt x="26851" y="299158"/>
                </a:lnTo>
                <a:lnTo>
                  <a:pt x="17225" y="308717"/>
                </a:lnTo>
                <a:lnTo>
                  <a:pt x="7099" y="318124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457487" y="2741350"/>
            <a:ext cx="714375" cy="324485"/>
          </a:xfrm>
          <a:custGeom>
            <a:avLst/>
            <a:gdLst/>
            <a:ahLst/>
            <a:cxnLst/>
            <a:rect l="l" t="t" r="r" b="b"/>
            <a:pathLst>
              <a:path w="714375" h="324485">
                <a:moveTo>
                  <a:pt x="82928" y="48207"/>
                </a:moveTo>
                <a:lnTo>
                  <a:pt x="60123" y="48207"/>
                </a:lnTo>
                <a:lnTo>
                  <a:pt x="650714" y="284379"/>
                </a:lnTo>
                <a:lnTo>
                  <a:pt x="649202" y="293767"/>
                </a:lnTo>
                <a:lnTo>
                  <a:pt x="652210" y="305601"/>
                </a:lnTo>
                <a:lnTo>
                  <a:pt x="660168" y="315865"/>
                </a:lnTo>
                <a:lnTo>
                  <a:pt x="673305" y="323556"/>
                </a:lnTo>
                <a:lnTo>
                  <a:pt x="685077" y="324394"/>
                </a:lnTo>
                <a:lnTo>
                  <a:pt x="696237" y="320848"/>
                </a:lnTo>
                <a:lnTo>
                  <a:pt x="705774" y="313189"/>
                </a:lnTo>
                <a:lnTo>
                  <a:pt x="712677" y="301691"/>
                </a:lnTo>
                <a:lnTo>
                  <a:pt x="713983" y="289635"/>
                </a:lnTo>
                <a:lnTo>
                  <a:pt x="710807" y="278192"/>
                </a:lnTo>
                <a:lnTo>
                  <a:pt x="709557" y="276518"/>
                </a:lnTo>
                <a:lnTo>
                  <a:pt x="653858" y="276518"/>
                </a:lnTo>
                <a:lnTo>
                  <a:pt x="82928" y="48207"/>
                </a:lnTo>
                <a:close/>
              </a:path>
              <a:path w="714375" h="324485">
                <a:moveTo>
                  <a:pt x="680328" y="259747"/>
                </a:moveTo>
                <a:lnTo>
                  <a:pt x="668537" y="262488"/>
                </a:lnTo>
                <a:lnTo>
                  <a:pt x="658554" y="269349"/>
                </a:lnTo>
                <a:lnTo>
                  <a:pt x="653858" y="276518"/>
                </a:lnTo>
                <a:lnTo>
                  <a:pt x="709557" y="276518"/>
                </a:lnTo>
                <a:lnTo>
                  <a:pt x="703566" y="268491"/>
                </a:lnTo>
                <a:lnTo>
                  <a:pt x="692677" y="261663"/>
                </a:lnTo>
                <a:lnTo>
                  <a:pt x="680328" y="259747"/>
                </a:lnTo>
                <a:close/>
              </a:path>
              <a:path w="714375" h="324485">
                <a:moveTo>
                  <a:pt x="35940" y="0"/>
                </a:moveTo>
                <a:lnTo>
                  <a:pt x="1306" y="23032"/>
                </a:lnTo>
                <a:lnTo>
                  <a:pt x="0" y="35088"/>
                </a:lnTo>
                <a:lnTo>
                  <a:pt x="3175" y="46532"/>
                </a:lnTo>
                <a:lnTo>
                  <a:pt x="10416" y="56233"/>
                </a:lnTo>
                <a:lnTo>
                  <a:pt x="21306" y="63061"/>
                </a:lnTo>
                <a:lnTo>
                  <a:pt x="33654" y="64978"/>
                </a:lnTo>
                <a:lnTo>
                  <a:pt x="45445" y="62237"/>
                </a:lnTo>
                <a:lnTo>
                  <a:pt x="55428" y="55377"/>
                </a:lnTo>
                <a:lnTo>
                  <a:pt x="60123" y="48207"/>
                </a:lnTo>
                <a:lnTo>
                  <a:pt x="82928" y="48207"/>
                </a:lnTo>
                <a:lnTo>
                  <a:pt x="63269" y="40346"/>
                </a:lnTo>
                <a:lnTo>
                  <a:pt x="62760" y="21186"/>
                </a:lnTo>
                <a:lnTo>
                  <a:pt x="55738" y="10023"/>
                </a:lnTo>
                <a:lnTo>
                  <a:pt x="44405" y="2406"/>
                </a:lnTo>
                <a:lnTo>
                  <a:pt x="40243" y="741"/>
                </a:lnTo>
                <a:lnTo>
                  <a:pt x="359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847048" y="2741435"/>
            <a:ext cx="324485" cy="324485"/>
          </a:xfrm>
          <a:custGeom>
            <a:avLst/>
            <a:gdLst/>
            <a:ahLst/>
            <a:cxnLst/>
            <a:rect l="l" t="t" r="r" b="b"/>
            <a:pathLst>
              <a:path w="324485" h="324485">
                <a:moveTo>
                  <a:pt x="63692" y="57793"/>
                </a:moveTo>
                <a:lnTo>
                  <a:pt x="51716" y="57793"/>
                </a:lnTo>
                <a:lnTo>
                  <a:pt x="266728" y="272747"/>
                </a:lnTo>
                <a:lnTo>
                  <a:pt x="260749" y="283568"/>
                </a:lnTo>
                <a:lnTo>
                  <a:pt x="282485" y="323050"/>
                </a:lnTo>
                <a:lnTo>
                  <a:pt x="294135" y="324230"/>
                </a:lnTo>
                <a:lnTo>
                  <a:pt x="305888" y="321012"/>
                </a:lnTo>
                <a:lnTo>
                  <a:pt x="316690" y="313261"/>
                </a:lnTo>
                <a:lnTo>
                  <a:pt x="322755" y="302677"/>
                </a:lnTo>
                <a:lnTo>
                  <a:pt x="324432" y="290876"/>
                </a:lnTo>
                <a:lnTo>
                  <a:pt x="321674" y="279095"/>
                </a:lnTo>
                <a:lnTo>
                  <a:pt x="314431" y="268568"/>
                </a:lnTo>
                <a:lnTo>
                  <a:pt x="311580" y="266760"/>
                </a:lnTo>
                <a:lnTo>
                  <a:pt x="272716" y="266760"/>
                </a:lnTo>
                <a:lnTo>
                  <a:pt x="63692" y="57793"/>
                </a:lnTo>
                <a:close/>
              </a:path>
              <a:path w="324485" h="324485">
                <a:moveTo>
                  <a:pt x="291814" y="259645"/>
                </a:moveTo>
                <a:lnTo>
                  <a:pt x="279857" y="262021"/>
                </a:lnTo>
                <a:lnTo>
                  <a:pt x="272716" y="266760"/>
                </a:lnTo>
                <a:lnTo>
                  <a:pt x="311580" y="266760"/>
                </a:lnTo>
                <a:lnTo>
                  <a:pt x="303801" y="261828"/>
                </a:lnTo>
                <a:lnTo>
                  <a:pt x="291814" y="259645"/>
                </a:lnTo>
                <a:close/>
              </a:path>
              <a:path w="324485" h="324485">
                <a:moveTo>
                  <a:pt x="40667" y="0"/>
                </a:moveTo>
                <a:lnTo>
                  <a:pt x="32358" y="0"/>
                </a:lnTo>
                <a:lnTo>
                  <a:pt x="30809" y="37"/>
                </a:lnTo>
                <a:lnTo>
                  <a:pt x="19167" y="2948"/>
                </a:lnTo>
                <a:lnTo>
                  <a:pt x="7742" y="11294"/>
                </a:lnTo>
                <a:lnTo>
                  <a:pt x="1677" y="21878"/>
                </a:lnTo>
                <a:lnTo>
                  <a:pt x="0" y="33678"/>
                </a:lnTo>
                <a:lnTo>
                  <a:pt x="2758" y="45460"/>
                </a:lnTo>
                <a:lnTo>
                  <a:pt x="10000" y="55987"/>
                </a:lnTo>
                <a:lnTo>
                  <a:pt x="20630" y="62727"/>
                </a:lnTo>
                <a:lnTo>
                  <a:pt x="32617" y="64909"/>
                </a:lnTo>
                <a:lnTo>
                  <a:pt x="44574" y="62534"/>
                </a:lnTo>
                <a:lnTo>
                  <a:pt x="51716" y="57793"/>
                </a:lnTo>
                <a:lnTo>
                  <a:pt x="63692" y="57793"/>
                </a:lnTo>
                <a:lnTo>
                  <a:pt x="57704" y="51807"/>
                </a:lnTo>
                <a:lnTo>
                  <a:pt x="62730" y="43941"/>
                </a:lnTo>
                <a:lnTo>
                  <a:pt x="64818" y="31942"/>
                </a:lnTo>
                <a:lnTo>
                  <a:pt x="62346" y="20001"/>
                </a:lnTo>
                <a:lnTo>
                  <a:pt x="55314" y="9505"/>
                </a:lnTo>
                <a:lnTo>
                  <a:pt x="48975" y="3168"/>
                </a:lnTo>
                <a:lnTo>
                  <a:pt x="406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108671" y="2741494"/>
            <a:ext cx="191135" cy="324485"/>
          </a:xfrm>
          <a:custGeom>
            <a:avLst/>
            <a:gdLst/>
            <a:ahLst/>
            <a:cxnLst/>
            <a:rect l="l" t="t" r="r" b="b"/>
            <a:pathLst>
              <a:path w="191135" h="324485">
                <a:moveTo>
                  <a:pt x="32526" y="259643"/>
                </a:moveTo>
                <a:lnTo>
                  <a:pt x="19739" y="261403"/>
                </a:lnTo>
                <a:lnTo>
                  <a:pt x="8628" y="268000"/>
                </a:lnTo>
                <a:lnTo>
                  <a:pt x="2106" y="282218"/>
                </a:lnTo>
                <a:lnTo>
                  <a:pt x="0" y="294813"/>
                </a:lnTo>
                <a:lnTo>
                  <a:pt x="1765" y="305542"/>
                </a:lnTo>
                <a:lnTo>
                  <a:pt x="6859" y="314167"/>
                </a:lnTo>
                <a:lnTo>
                  <a:pt x="14741" y="320445"/>
                </a:lnTo>
                <a:lnTo>
                  <a:pt x="26973" y="324090"/>
                </a:lnTo>
                <a:lnTo>
                  <a:pt x="38902" y="323233"/>
                </a:lnTo>
                <a:lnTo>
                  <a:pt x="49486" y="318300"/>
                </a:lnTo>
                <a:lnTo>
                  <a:pt x="57683" y="309714"/>
                </a:lnTo>
                <a:lnTo>
                  <a:pt x="62110" y="296608"/>
                </a:lnTo>
                <a:lnTo>
                  <a:pt x="61887" y="284633"/>
                </a:lnTo>
                <a:lnTo>
                  <a:pt x="57625" y="274281"/>
                </a:lnTo>
                <a:lnTo>
                  <a:pt x="48374" y="265670"/>
                </a:lnTo>
                <a:lnTo>
                  <a:pt x="50268" y="261884"/>
                </a:lnTo>
                <a:lnTo>
                  <a:pt x="40800" y="261884"/>
                </a:lnTo>
                <a:lnTo>
                  <a:pt x="32526" y="259643"/>
                </a:lnTo>
                <a:close/>
              </a:path>
              <a:path w="191135" h="324485">
                <a:moveTo>
                  <a:pt x="162384" y="0"/>
                </a:moveTo>
                <a:lnTo>
                  <a:pt x="149596" y="1759"/>
                </a:lnTo>
                <a:lnTo>
                  <a:pt x="138485" y="8356"/>
                </a:lnTo>
                <a:lnTo>
                  <a:pt x="131315" y="23113"/>
                </a:lnTo>
                <a:lnTo>
                  <a:pt x="129016" y="35342"/>
                </a:lnTo>
                <a:lnTo>
                  <a:pt x="130720" y="45344"/>
                </a:lnTo>
                <a:lnTo>
                  <a:pt x="135564" y="53418"/>
                </a:lnTo>
                <a:lnTo>
                  <a:pt x="142385" y="58769"/>
                </a:lnTo>
                <a:lnTo>
                  <a:pt x="40800" y="261884"/>
                </a:lnTo>
                <a:lnTo>
                  <a:pt x="50268" y="261884"/>
                </a:lnTo>
                <a:lnTo>
                  <a:pt x="149959" y="62555"/>
                </a:lnTo>
                <a:lnTo>
                  <a:pt x="171830" y="62555"/>
                </a:lnTo>
                <a:lnTo>
                  <a:pt x="182131" y="56437"/>
                </a:lnTo>
                <a:lnTo>
                  <a:pt x="188653" y="42220"/>
                </a:lnTo>
                <a:lnTo>
                  <a:pt x="190760" y="29625"/>
                </a:lnTo>
                <a:lnTo>
                  <a:pt x="188995" y="18896"/>
                </a:lnTo>
                <a:lnTo>
                  <a:pt x="183900" y="10272"/>
                </a:lnTo>
                <a:lnTo>
                  <a:pt x="176018" y="3994"/>
                </a:lnTo>
                <a:lnTo>
                  <a:pt x="170818" y="1363"/>
                </a:lnTo>
                <a:lnTo>
                  <a:pt x="166592" y="266"/>
                </a:lnTo>
                <a:lnTo>
                  <a:pt x="162384" y="0"/>
                </a:lnTo>
                <a:close/>
              </a:path>
              <a:path w="191135" h="324485">
                <a:moveTo>
                  <a:pt x="171830" y="62555"/>
                </a:moveTo>
                <a:lnTo>
                  <a:pt x="149959" y="62555"/>
                </a:lnTo>
                <a:lnTo>
                  <a:pt x="158233" y="64795"/>
                </a:lnTo>
                <a:lnTo>
                  <a:pt x="171021" y="63035"/>
                </a:lnTo>
                <a:lnTo>
                  <a:pt x="171830" y="625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106715" y="2741428"/>
            <a:ext cx="649605" cy="324485"/>
          </a:xfrm>
          <a:custGeom>
            <a:avLst/>
            <a:gdLst/>
            <a:ahLst/>
            <a:cxnLst/>
            <a:rect l="l" t="t" r="r" b="b"/>
            <a:pathLst>
              <a:path w="649604" h="324485">
                <a:moveTo>
                  <a:pt x="32522" y="259644"/>
                </a:moveTo>
                <a:lnTo>
                  <a:pt x="20270" y="262004"/>
                </a:lnTo>
                <a:lnTo>
                  <a:pt x="9680" y="269188"/>
                </a:lnTo>
                <a:lnTo>
                  <a:pt x="2802" y="279071"/>
                </a:lnTo>
                <a:lnTo>
                  <a:pt x="0" y="290532"/>
                </a:lnTo>
                <a:lnTo>
                  <a:pt x="1633" y="302451"/>
                </a:lnTo>
                <a:lnTo>
                  <a:pt x="8926" y="313751"/>
                </a:lnTo>
                <a:lnTo>
                  <a:pt x="18633" y="321127"/>
                </a:lnTo>
                <a:lnTo>
                  <a:pt x="29777" y="324378"/>
                </a:lnTo>
                <a:lnTo>
                  <a:pt x="41381" y="323300"/>
                </a:lnTo>
                <a:lnTo>
                  <a:pt x="54400" y="315182"/>
                </a:lnTo>
                <a:lnTo>
                  <a:pt x="62108" y="304821"/>
                </a:lnTo>
                <a:lnTo>
                  <a:pt x="64862" y="293129"/>
                </a:lnTo>
                <a:lnTo>
                  <a:pt x="63011" y="283141"/>
                </a:lnTo>
                <a:lnTo>
                  <a:pt x="80424" y="275404"/>
                </a:lnTo>
                <a:lnTo>
                  <a:pt x="59572" y="275404"/>
                </a:lnTo>
                <a:lnTo>
                  <a:pt x="54610" y="268418"/>
                </a:lnTo>
                <a:lnTo>
                  <a:pt x="44390" y="261944"/>
                </a:lnTo>
                <a:lnTo>
                  <a:pt x="32522" y="259644"/>
                </a:lnTo>
                <a:close/>
              </a:path>
              <a:path w="649604" h="324485">
                <a:moveTo>
                  <a:pt x="616704" y="0"/>
                </a:moveTo>
                <a:lnTo>
                  <a:pt x="586003" y="22091"/>
                </a:lnTo>
                <a:lnTo>
                  <a:pt x="586161" y="41428"/>
                </a:lnTo>
                <a:lnTo>
                  <a:pt x="59572" y="275404"/>
                </a:lnTo>
                <a:lnTo>
                  <a:pt x="80424" y="275404"/>
                </a:lnTo>
                <a:lnTo>
                  <a:pt x="589600" y="49165"/>
                </a:lnTo>
                <a:lnTo>
                  <a:pt x="643818" y="49165"/>
                </a:lnTo>
                <a:lnTo>
                  <a:pt x="646370" y="45499"/>
                </a:lnTo>
                <a:lnTo>
                  <a:pt x="649173" y="34039"/>
                </a:lnTo>
                <a:lnTo>
                  <a:pt x="647539" y="22120"/>
                </a:lnTo>
                <a:lnTo>
                  <a:pt x="639435" y="9756"/>
                </a:lnTo>
                <a:lnTo>
                  <a:pt x="628795" y="2414"/>
                </a:lnTo>
                <a:lnTo>
                  <a:pt x="616704" y="0"/>
                </a:lnTo>
                <a:close/>
              </a:path>
              <a:path w="649604" h="324485">
                <a:moveTo>
                  <a:pt x="643818" y="49165"/>
                </a:moveTo>
                <a:lnTo>
                  <a:pt x="589600" y="49165"/>
                </a:lnTo>
                <a:lnTo>
                  <a:pt x="594562" y="56153"/>
                </a:lnTo>
                <a:lnTo>
                  <a:pt x="604782" y="62626"/>
                </a:lnTo>
                <a:lnTo>
                  <a:pt x="616650" y="64927"/>
                </a:lnTo>
                <a:lnTo>
                  <a:pt x="628902" y="62566"/>
                </a:lnTo>
                <a:lnTo>
                  <a:pt x="639492" y="55382"/>
                </a:lnTo>
                <a:lnTo>
                  <a:pt x="643818" y="491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107864" y="3001079"/>
            <a:ext cx="62230" cy="259715"/>
          </a:xfrm>
          <a:custGeom>
            <a:avLst/>
            <a:gdLst/>
            <a:ahLst/>
            <a:cxnLst/>
            <a:rect l="l" t="t" r="r" b="b"/>
            <a:pathLst>
              <a:path w="62230" h="259714">
                <a:moveTo>
                  <a:pt x="31257" y="0"/>
                </a:moveTo>
                <a:lnTo>
                  <a:pt x="17392" y="3100"/>
                </a:lnTo>
                <a:lnTo>
                  <a:pt x="6501" y="11459"/>
                </a:lnTo>
                <a:lnTo>
                  <a:pt x="0" y="23661"/>
                </a:lnTo>
                <a:lnTo>
                  <a:pt x="1155" y="40326"/>
                </a:lnTo>
                <a:lnTo>
                  <a:pt x="6140" y="52241"/>
                </a:lnTo>
                <a:lnTo>
                  <a:pt x="14107" y="59994"/>
                </a:lnTo>
                <a:lnTo>
                  <a:pt x="27023" y="64057"/>
                </a:lnTo>
                <a:lnTo>
                  <a:pt x="27022" y="195588"/>
                </a:lnTo>
                <a:lnTo>
                  <a:pt x="18620" y="197284"/>
                </a:lnTo>
                <a:lnTo>
                  <a:pt x="7762" y="204791"/>
                </a:lnTo>
                <a:lnTo>
                  <a:pt x="768" y="216014"/>
                </a:lnTo>
                <a:lnTo>
                  <a:pt x="1843" y="233679"/>
                </a:lnTo>
                <a:lnTo>
                  <a:pt x="7151" y="246783"/>
                </a:lnTo>
                <a:lnTo>
                  <a:pt x="15753" y="255330"/>
                </a:lnTo>
                <a:lnTo>
                  <a:pt x="26710" y="259322"/>
                </a:lnTo>
                <a:lnTo>
                  <a:pt x="42347" y="256824"/>
                </a:lnTo>
                <a:lnTo>
                  <a:pt x="54170" y="249611"/>
                </a:lnTo>
                <a:lnTo>
                  <a:pt x="61507" y="238849"/>
                </a:lnTo>
                <a:lnTo>
                  <a:pt x="61165" y="221349"/>
                </a:lnTo>
                <a:lnTo>
                  <a:pt x="57096" y="208960"/>
                </a:lnTo>
                <a:lnTo>
                  <a:pt x="50117" y="200860"/>
                </a:lnTo>
                <a:lnTo>
                  <a:pt x="35492" y="195588"/>
                </a:lnTo>
                <a:lnTo>
                  <a:pt x="35492" y="64057"/>
                </a:lnTo>
                <a:lnTo>
                  <a:pt x="43894" y="62360"/>
                </a:lnTo>
                <a:lnTo>
                  <a:pt x="54752" y="54854"/>
                </a:lnTo>
                <a:lnTo>
                  <a:pt x="61747" y="43631"/>
                </a:lnTo>
                <a:lnTo>
                  <a:pt x="60672" y="25967"/>
                </a:lnTo>
                <a:lnTo>
                  <a:pt x="55364" y="12862"/>
                </a:lnTo>
                <a:lnTo>
                  <a:pt x="46763" y="4315"/>
                </a:lnTo>
                <a:lnTo>
                  <a:pt x="35806" y="323"/>
                </a:lnTo>
                <a:lnTo>
                  <a:pt x="312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198273" y="2445277"/>
            <a:ext cx="1306689" cy="116434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898711" y="2445277"/>
            <a:ext cx="1330761" cy="11724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20" name="object 20"/>
          <p:cNvSpPr txBox="1"/>
          <p:nvPr/>
        </p:nvSpPr>
        <p:spPr>
          <a:xfrm>
            <a:off x="5131033" y="6459594"/>
            <a:ext cx="43116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r>
              <a:rPr sz="135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dirty="0">
                <a:latin typeface="Arial" panose="020B0604020202020204"/>
                <a:cs typeface="Arial" panose="020B0604020202020204"/>
              </a:rPr>
              <a:t>1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0</a:t>
            </a:r>
            <a:r>
              <a:rPr sz="1350" b="1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797629" y="1889478"/>
          <a:ext cx="6635115" cy="4353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432"/>
                <a:gridCol w="1753076"/>
                <a:gridCol w="1753076"/>
                <a:gridCol w="1688147"/>
              </a:tblGrid>
              <a:tr h="519289">
                <a:tc>
                  <a:txBody>
                    <a:bodyPr/>
                    <a:lstStyle/>
                    <a:p/>
                  </a:txBody>
                  <a:tcPr marL="0" marR="0" marT="0" marB="0">
                    <a:lnR w="8116">
                      <a:solidFill>
                        <a:srgbClr val="000000"/>
                      </a:solidFill>
                      <a:prstDash val="solid"/>
                    </a:lnR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</a:pPr>
                      <a:r>
                        <a:rPr sz="1950" b="1" spc="1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用户级线</a:t>
                      </a:r>
                      <a:r>
                        <a:rPr sz="195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程</a:t>
                      </a:r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</a:pPr>
                      <a:r>
                        <a:rPr sz="1950" b="1" spc="1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核心级线</a:t>
                      </a:r>
                      <a:r>
                        <a:rPr sz="195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程</a:t>
                      </a:r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sz="2925" b="1" spc="15" baseline="100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用户</a:t>
                      </a:r>
                      <a:r>
                        <a:rPr sz="2000" b="1" spc="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+</a:t>
                      </a:r>
                      <a:r>
                        <a:rPr sz="2925" b="1" spc="15" baseline="100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核心</a:t>
                      </a:r>
                      <a:r>
                        <a:rPr sz="2925" b="1" baseline="100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级</a:t>
                      </a:r>
                      <a:endParaRPr sz="2925" baseline="10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33310"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</a:pPr>
                      <a:r>
                        <a:rPr sz="1950" b="1" spc="10" dirty="0">
                          <a:solidFill>
                            <a:srgbClr val="333399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实现模</a:t>
                      </a:r>
                      <a:r>
                        <a:rPr sz="1950" b="1" dirty="0">
                          <a:solidFill>
                            <a:srgbClr val="333399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型</a:t>
                      </a:r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3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3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9289"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</a:pPr>
                      <a:r>
                        <a:rPr sz="1950" b="1" spc="10" dirty="0">
                          <a:solidFill>
                            <a:srgbClr val="333399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利用多</a:t>
                      </a:r>
                      <a:r>
                        <a:rPr sz="1950" b="1" dirty="0">
                          <a:solidFill>
                            <a:srgbClr val="333399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核</a:t>
                      </a:r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385" algn="ctr">
                        <a:lnSpc>
                          <a:spcPct val="100000"/>
                        </a:lnSpc>
                      </a:pPr>
                      <a:r>
                        <a:rPr sz="19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差</a:t>
                      </a:r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385" algn="ctr">
                        <a:lnSpc>
                          <a:spcPct val="100000"/>
                        </a:lnSpc>
                      </a:pPr>
                      <a:r>
                        <a:rPr sz="19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好</a:t>
                      </a:r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</a:pPr>
                      <a:r>
                        <a:rPr sz="19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好</a:t>
                      </a:r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9289"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</a:pPr>
                      <a:r>
                        <a:rPr sz="1950" b="1" spc="10" dirty="0">
                          <a:solidFill>
                            <a:srgbClr val="333399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并发</a:t>
                      </a:r>
                      <a:r>
                        <a:rPr sz="1950" b="1" dirty="0">
                          <a:solidFill>
                            <a:srgbClr val="333399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度</a:t>
                      </a:r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385" algn="ctr">
                        <a:lnSpc>
                          <a:spcPct val="100000"/>
                        </a:lnSpc>
                      </a:pPr>
                      <a:r>
                        <a:rPr sz="19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低</a:t>
                      </a:r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385" algn="ctr">
                        <a:lnSpc>
                          <a:spcPct val="100000"/>
                        </a:lnSpc>
                      </a:pPr>
                      <a:r>
                        <a:rPr sz="19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高</a:t>
                      </a:r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</a:pPr>
                      <a:r>
                        <a:rPr sz="19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高</a:t>
                      </a:r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9289">
                <a:tc>
                  <a:txBody>
                    <a:bodyPr/>
                    <a:lstStyle/>
                    <a:p>
                      <a:pPr marL="356870">
                        <a:lnSpc>
                          <a:spcPct val="100000"/>
                        </a:lnSpc>
                      </a:pPr>
                      <a:r>
                        <a:rPr sz="1950" b="1" spc="10" dirty="0">
                          <a:solidFill>
                            <a:srgbClr val="333399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代</a:t>
                      </a:r>
                      <a:r>
                        <a:rPr sz="1950" b="1" dirty="0">
                          <a:solidFill>
                            <a:srgbClr val="333399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价</a:t>
                      </a:r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385" algn="ctr">
                        <a:lnSpc>
                          <a:spcPct val="100000"/>
                        </a:lnSpc>
                      </a:pPr>
                      <a:r>
                        <a:rPr sz="19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小</a:t>
                      </a:r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385" algn="ctr">
                        <a:lnSpc>
                          <a:spcPct val="100000"/>
                        </a:lnSpc>
                      </a:pPr>
                      <a:r>
                        <a:rPr sz="19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大</a:t>
                      </a:r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</a:pPr>
                      <a:r>
                        <a:rPr sz="19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中</a:t>
                      </a:r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9287">
                <a:tc>
                  <a:txBody>
                    <a:bodyPr/>
                    <a:lstStyle/>
                    <a:p>
                      <a:pPr marL="64770">
                        <a:lnSpc>
                          <a:spcPct val="100000"/>
                        </a:lnSpc>
                      </a:pPr>
                      <a:r>
                        <a:rPr sz="1950" b="1" spc="10" dirty="0">
                          <a:solidFill>
                            <a:srgbClr val="333399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内核改</a:t>
                      </a:r>
                      <a:r>
                        <a:rPr sz="1950" b="1" dirty="0">
                          <a:solidFill>
                            <a:srgbClr val="333399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动</a:t>
                      </a:r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385" algn="ctr">
                        <a:lnSpc>
                          <a:spcPct val="100000"/>
                        </a:lnSpc>
                      </a:pPr>
                      <a:r>
                        <a:rPr sz="19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无</a:t>
                      </a:r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385" algn="ctr">
                        <a:lnSpc>
                          <a:spcPct val="100000"/>
                        </a:lnSpc>
                      </a:pPr>
                      <a:r>
                        <a:rPr sz="19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大</a:t>
                      </a:r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</a:pPr>
                      <a:r>
                        <a:rPr sz="19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大</a:t>
                      </a:r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92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950" b="1" spc="10" dirty="0">
                          <a:solidFill>
                            <a:srgbClr val="333399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用户灵活</a:t>
                      </a:r>
                      <a:r>
                        <a:rPr sz="1950" b="1" dirty="0">
                          <a:solidFill>
                            <a:srgbClr val="333399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性</a:t>
                      </a:r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385" algn="ctr">
                        <a:lnSpc>
                          <a:spcPct val="100000"/>
                        </a:lnSpc>
                      </a:pPr>
                      <a:r>
                        <a:rPr sz="19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大</a:t>
                      </a:r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385" algn="ctr">
                        <a:lnSpc>
                          <a:spcPct val="100000"/>
                        </a:lnSpc>
                      </a:pPr>
                      <a:r>
                        <a:rPr sz="19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小</a:t>
                      </a:r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</a:pPr>
                      <a:r>
                        <a:rPr sz="19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大</a:t>
                      </a:r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6">
                      <a:solidFill>
                        <a:srgbClr val="000000"/>
                      </a:solidFill>
                      <a:prstDash val="solid"/>
                    </a:lnL>
                    <a:lnR w="8116">
                      <a:solidFill>
                        <a:srgbClr val="000000"/>
                      </a:solidFill>
                      <a:prstDash val="solid"/>
                    </a:lnR>
                    <a:lnT w="8114">
                      <a:solidFill>
                        <a:srgbClr val="000000"/>
                      </a:solidFill>
                      <a:prstDash val="solid"/>
                    </a:lnT>
                    <a:lnB w="811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89159" y="1736706"/>
            <a:ext cx="306070" cy="306070"/>
          </a:xfrm>
          <a:custGeom>
            <a:avLst/>
            <a:gdLst/>
            <a:ahLst/>
            <a:cxnLst/>
            <a:rect l="l" t="t" r="r" b="b"/>
            <a:pathLst>
              <a:path w="306070" h="306069">
                <a:moveTo>
                  <a:pt x="297974" y="38249"/>
                </a:moveTo>
                <a:lnTo>
                  <a:pt x="38259" y="297893"/>
                </a:lnTo>
                <a:lnTo>
                  <a:pt x="45911" y="305544"/>
                </a:lnTo>
                <a:lnTo>
                  <a:pt x="305626" y="45899"/>
                </a:lnTo>
                <a:lnTo>
                  <a:pt x="297974" y="38249"/>
                </a:lnTo>
                <a:close/>
              </a:path>
              <a:path w="306070" h="306069">
                <a:moveTo>
                  <a:pt x="275018" y="15299"/>
                </a:moveTo>
                <a:lnTo>
                  <a:pt x="15303" y="274943"/>
                </a:lnTo>
                <a:lnTo>
                  <a:pt x="30607" y="290243"/>
                </a:lnTo>
                <a:lnTo>
                  <a:pt x="290322" y="30599"/>
                </a:lnTo>
                <a:lnTo>
                  <a:pt x="275018" y="15299"/>
                </a:lnTo>
                <a:close/>
              </a:path>
              <a:path w="306070" h="306069">
                <a:moveTo>
                  <a:pt x="259715" y="0"/>
                </a:moveTo>
                <a:lnTo>
                  <a:pt x="0" y="259643"/>
                </a:lnTo>
                <a:lnTo>
                  <a:pt x="7651" y="267294"/>
                </a:lnTo>
                <a:lnTo>
                  <a:pt x="267366" y="7650"/>
                </a:lnTo>
                <a:lnTo>
                  <a:pt x="259715" y="0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1830" y="1786702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1830" y="1759656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21638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1830" y="1732609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077847" y="2025565"/>
            <a:ext cx="2104390" cy="532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50" b="1" spc="13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操作系</a:t>
            </a:r>
            <a:r>
              <a:rPr sz="3950" b="1" spc="145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统</a:t>
            </a:r>
            <a:endParaRPr sz="3950">
              <a:latin typeface="华文琥珀" panose="02010800040101010101" charset="-122"/>
              <a:cs typeface="华文琥珀" panose="02010800040101010101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60624" y="2025573"/>
            <a:ext cx="4747895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22245" algn="l"/>
              </a:tabLst>
            </a:pP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p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er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g	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endParaRPr sz="4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27404" y="3320841"/>
            <a:ext cx="6082665" cy="157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L1</a:t>
            </a:r>
            <a:r>
              <a:rPr sz="5100" b="1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2</a:t>
            </a:r>
            <a:r>
              <a:rPr sz="5100" b="1" spc="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4950" b="1" spc="14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内核级线程实</a:t>
            </a:r>
            <a:r>
              <a:rPr sz="4950" b="1" spc="13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现</a:t>
            </a:r>
            <a:endParaRPr sz="4950">
              <a:latin typeface="黑体" panose="02010609060101010101" charset="-122"/>
              <a:cs typeface="黑体" panose="02010609060101010101" charset="-122"/>
            </a:endParaRPr>
          </a:p>
          <a:p>
            <a:pPr marL="492125">
              <a:lnSpc>
                <a:spcPct val="100000"/>
              </a:lnSpc>
              <a:spcBef>
                <a:spcPts val="2815"/>
              </a:spcBef>
            </a:pPr>
            <a:r>
              <a:rPr sz="3400" b="1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400" b="1" spc="-6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400" b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400" b="1" spc="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400" b="1" dirty="0">
                <a:latin typeface="Times New Roman" panose="02020603050405020304"/>
                <a:cs typeface="Times New Roman" panose="02020603050405020304"/>
              </a:rPr>
              <a:t>e </a:t>
            </a:r>
            <a:r>
              <a:rPr sz="3400" b="1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</a:rPr>
              <a:t>er</a:t>
            </a:r>
            <a:r>
              <a:rPr sz="3400" b="1" dirty="0">
                <a:latin typeface="Times New Roman" panose="02020603050405020304"/>
                <a:cs typeface="Times New Roman" panose="02020603050405020304"/>
              </a:rPr>
              <a:t>ne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34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b="1" dirty="0">
                <a:latin typeface="Times New Roman" panose="02020603050405020304"/>
                <a:cs typeface="Times New Roman" panose="02020603050405020304"/>
              </a:rPr>
              <a:t>Th</a:t>
            </a:r>
            <a:r>
              <a:rPr sz="3400" b="1" spc="-6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400" b="1" dirty="0">
                <a:latin typeface="Times New Roman" panose="02020603050405020304"/>
                <a:cs typeface="Times New Roman" panose="02020603050405020304"/>
              </a:rPr>
              <a:t>ads</a:t>
            </a:r>
            <a:endParaRPr sz="3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object 2"/>
          <p:cNvSpPr txBox="1"/>
          <p:nvPr>
            <p:custDataLst>
              <p:tags r:id="rId1"/>
            </p:custDataLst>
          </p:nvPr>
        </p:nvSpPr>
        <p:spPr>
          <a:xfrm>
            <a:off x="672062" y="1406818"/>
            <a:ext cx="339852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ct val="100000"/>
              </a:lnSpc>
            </a:pPr>
            <a:r>
              <a:rPr lang="zh-CN" altLang="en-US" sz="1950" b="1">
                <a:latin typeface="华文隶书" panose="02010800040101010101" charset="-122"/>
                <a:cs typeface="华文隶书" panose="02010800040101010101" charset="-122"/>
              </a:rPr>
              <a:t>苏州大学未来科学与工程学院</a:t>
            </a:r>
            <a:endParaRPr lang="zh-CN" altLang="en-US" sz="1950" b="1">
              <a:latin typeface="华文隶书" panose="02010800040101010101" charset="-122"/>
              <a:cs typeface="华文隶书" panose="0201080004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ts val="3630"/>
              </a:lnSpc>
            </a:pPr>
            <a:r>
              <a:rPr sz="2950" spc="100" dirty="0"/>
              <a:t>核心级线程的两套栈，核心是内核栈</a:t>
            </a:r>
            <a:r>
              <a:rPr sz="3050" spc="15" dirty="0">
                <a:latin typeface="Arial" panose="020B0604020202020204"/>
                <a:cs typeface="Arial" panose="020B0604020202020204"/>
              </a:rPr>
              <a:t>…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7206" y="3771900"/>
            <a:ext cx="1428750" cy="843915"/>
          </a:xfrm>
          <a:custGeom>
            <a:avLst/>
            <a:gdLst/>
            <a:ahLst/>
            <a:cxnLst/>
            <a:rect l="l" t="t" r="r" b="b"/>
            <a:pathLst>
              <a:path w="1428750" h="843914">
                <a:moveTo>
                  <a:pt x="0" y="0"/>
                </a:moveTo>
                <a:lnTo>
                  <a:pt x="1428432" y="0"/>
                </a:lnTo>
                <a:lnTo>
                  <a:pt x="1428432" y="843844"/>
                </a:lnTo>
                <a:lnTo>
                  <a:pt x="0" y="843844"/>
                </a:lnTo>
                <a:lnTo>
                  <a:pt x="0" y="0"/>
                </a:lnTo>
                <a:close/>
              </a:path>
            </a:pathLst>
          </a:custGeom>
          <a:ln w="243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04015" y="4026621"/>
            <a:ext cx="132270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代码和数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据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52990" y="4615743"/>
            <a:ext cx="2143125" cy="0"/>
          </a:xfrm>
          <a:custGeom>
            <a:avLst/>
            <a:gdLst/>
            <a:ahLst/>
            <a:cxnLst/>
            <a:rect l="l" t="t" r="r" b="b"/>
            <a:pathLst>
              <a:path w="2143125">
                <a:moveTo>
                  <a:pt x="0" y="0"/>
                </a:moveTo>
                <a:lnTo>
                  <a:pt x="2142648" y="0"/>
                </a:lnTo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47472" y="4221301"/>
            <a:ext cx="54356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户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472" y="4740449"/>
            <a:ext cx="54356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内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核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67206" y="5784145"/>
            <a:ext cx="1428750" cy="584200"/>
          </a:xfrm>
          <a:custGeom>
            <a:avLst/>
            <a:gdLst/>
            <a:ahLst/>
            <a:cxnLst/>
            <a:rect l="l" t="t" r="r" b="b"/>
            <a:pathLst>
              <a:path w="1428750" h="584200">
                <a:moveTo>
                  <a:pt x="0" y="0"/>
                </a:moveTo>
                <a:lnTo>
                  <a:pt x="1428432" y="0"/>
                </a:lnTo>
                <a:lnTo>
                  <a:pt x="1428432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516189" y="5908531"/>
            <a:ext cx="132270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线程控制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块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67206" y="5199945"/>
            <a:ext cx="1428750" cy="584200"/>
          </a:xfrm>
          <a:custGeom>
            <a:avLst/>
            <a:gdLst/>
            <a:ahLst/>
            <a:cxnLst/>
            <a:rect l="l" t="t" r="r" b="b"/>
            <a:pathLst>
              <a:path w="1428750" h="584200">
                <a:moveTo>
                  <a:pt x="0" y="584200"/>
                </a:moveTo>
                <a:lnTo>
                  <a:pt x="1428432" y="584200"/>
                </a:lnTo>
                <a:lnTo>
                  <a:pt x="1428432" y="0"/>
                </a:lnTo>
                <a:lnTo>
                  <a:pt x="0" y="0"/>
                </a:lnTo>
                <a:lnTo>
                  <a:pt x="0" y="584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67206" y="5199945"/>
            <a:ext cx="1428750" cy="584200"/>
          </a:xfrm>
          <a:custGeom>
            <a:avLst/>
            <a:gdLst/>
            <a:ahLst/>
            <a:cxnLst/>
            <a:rect l="l" t="t" r="r" b="b"/>
            <a:pathLst>
              <a:path w="1428750" h="584200">
                <a:moveTo>
                  <a:pt x="0" y="0"/>
                </a:moveTo>
                <a:lnTo>
                  <a:pt x="1428432" y="0"/>
                </a:lnTo>
                <a:lnTo>
                  <a:pt x="1428432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467206" y="4615743"/>
            <a:ext cx="1428750" cy="584200"/>
          </a:xfrm>
          <a:custGeom>
            <a:avLst/>
            <a:gdLst/>
            <a:ahLst/>
            <a:cxnLst/>
            <a:rect l="l" t="t" r="r" b="b"/>
            <a:pathLst>
              <a:path w="1428750" h="584200">
                <a:moveTo>
                  <a:pt x="0" y="584200"/>
                </a:moveTo>
                <a:lnTo>
                  <a:pt x="1428432" y="584200"/>
                </a:lnTo>
                <a:lnTo>
                  <a:pt x="1428432" y="0"/>
                </a:lnTo>
                <a:lnTo>
                  <a:pt x="0" y="0"/>
                </a:lnTo>
                <a:lnTo>
                  <a:pt x="0" y="584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467206" y="4615743"/>
            <a:ext cx="1428750" cy="584200"/>
          </a:xfrm>
          <a:custGeom>
            <a:avLst/>
            <a:gdLst/>
            <a:ahLst/>
            <a:cxnLst/>
            <a:rect l="l" t="t" r="r" b="b"/>
            <a:pathLst>
              <a:path w="1428750" h="584200">
                <a:moveTo>
                  <a:pt x="0" y="0"/>
                </a:moveTo>
                <a:lnTo>
                  <a:pt x="1428432" y="0"/>
                </a:lnTo>
                <a:lnTo>
                  <a:pt x="1428432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779066" y="4740449"/>
            <a:ext cx="80327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内核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栈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467206" y="3187700"/>
            <a:ext cx="1428750" cy="584200"/>
          </a:xfrm>
          <a:custGeom>
            <a:avLst/>
            <a:gdLst/>
            <a:ahLst/>
            <a:cxnLst/>
            <a:rect l="l" t="t" r="r" b="b"/>
            <a:pathLst>
              <a:path w="1428750" h="584200">
                <a:moveTo>
                  <a:pt x="0" y="584200"/>
                </a:moveTo>
                <a:lnTo>
                  <a:pt x="1428432" y="584200"/>
                </a:lnTo>
                <a:lnTo>
                  <a:pt x="1428432" y="0"/>
                </a:lnTo>
                <a:lnTo>
                  <a:pt x="0" y="0"/>
                </a:lnTo>
                <a:lnTo>
                  <a:pt x="0" y="584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467206" y="3187700"/>
            <a:ext cx="1428750" cy="584200"/>
          </a:xfrm>
          <a:custGeom>
            <a:avLst/>
            <a:gdLst/>
            <a:ahLst/>
            <a:cxnLst/>
            <a:rect l="l" t="t" r="r" b="b"/>
            <a:pathLst>
              <a:path w="1428750" h="584200">
                <a:moveTo>
                  <a:pt x="0" y="0"/>
                </a:moveTo>
                <a:lnTo>
                  <a:pt x="1428432" y="0"/>
                </a:lnTo>
                <a:lnTo>
                  <a:pt x="1428432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467206" y="2408766"/>
            <a:ext cx="1428750" cy="779145"/>
          </a:xfrm>
          <a:custGeom>
            <a:avLst/>
            <a:gdLst/>
            <a:ahLst/>
            <a:cxnLst/>
            <a:rect l="l" t="t" r="r" b="b"/>
            <a:pathLst>
              <a:path w="1428750" h="779144">
                <a:moveTo>
                  <a:pt x="0" y="778933"/>
                </a:moveTo>
                <a:lnTo>
                  <a:pt x="1428432" y="778933"/>
                </a:lnTo>
                <a:lnTo>
                  <a:pt x="1428432" y="0"/>
                </a:lnTo>
                <a:lnTo>
                  <a:pt x="0" y="0"/>
                </a:lnTo>
                <a:lnTo>
                  <a:pt x="0" y="7789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467206" y="2408767"/>
            <a:ext cx="1428750" cy="779145"/>
          </a:xfrm>
          <a:custGeom>
            <a:avLst/>
            <a:gdLst/>
            <a:ahLst/>
            <a:cxnLst/>
            <a:rect l="l" t="t" r="r" b="b"/>
            <a:pathLst>
              <a:path w="1428750" h="779144">
                <a:moveTo>
                  <a:pt x="0" y="0"/>
                </a:moveTo>
                <a:lnTo>
                  <a:pt x="1428432" y="0"/>
                </a:lnTo>
                <a:lnTo>
                  <a:pt x="1428432" y="778933"/>
                </a:lnTo>
                <a:lnTo>
                  <a:pt x="0" y="778933"/>
                </a:lnTo>
                <a:lnTo>
                  <a:pt x="0" y="0"/>
                </a:lnTo>
                <a:close/>
              </a:path>
            </a:pathLst>
          </a:custGeom>
          <a:ln w="243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467206" y="1824567"/>
            <a:ext cx="1428750" cy="584200"/>
          </a:xfrm>
          <a:custGeom>
            <a:avLst/>
            <a:gdLst/>
            <a:ahLst/>
            <a:cxnLst/>
            <a:rect l="l" t="t" r="r" b="b"/>
            <a:pathLst>
              <a:path w="1428750" h="584200">
                <a:moveTo>
                  <a:pt x="0" y="584200"/>
                </a:moveTo>
                <a:lnTo>
                  <a:pt x="1428432" y="584200"/>
                </a:lnTo>
                <a:lnTo>
                  <a:pt x="1428432" y="0"/>
                </a:lnTo>
                <a:lnTo>
                  <a:pt x="0" y="0"/>
                </a:lnTo>
                <a:lnTo>
                  <a:pt x="0" y="584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467206" y="1824567"/>
            <a:ext cx="1428750" cy="584200"/>
          </a:xfrm>
          <a:custGeom>
            <a:avLst/>
            <a:gdLst/>
            <a:ahLst/>
            <a:cxnLst/>
            <a:rect l="l" t="t" r="r" b="b"/>
            <a:pathLst>
              <a:path w="1428750" h="584200">
                <a:moveTo>
                  <a:pt x="0" y="0"/>
                </a:moveTo>
                <a:lnTo>
                  <a:pt x="1428432" y="0"/>
                </a:lnTo>
                <a:lnTo>
                  <a:pt x="1428432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964630" y="2019300"/>
            <a:ext cx="219075" cy="2986405"/>
          </a:xfrm>
          <a:custGeom>
            <a:avLst/>
            <a:gdLst/>
            <a:ahLst/>
            <a:cxnLst/>
            <a:rect l="l" t="t" r="r" b="b"/>
            <a:pathLst>
              <a:path w="219075" h="2986404">
                <a:moveTo>
                  <a:pt x="22621" y="2767706"/>
                </a:moveTo>
                <a:lnTo>
                  <a:pt x="10413" y="2771699"/>
                </a:lnTo>
                <a:lnTo>
                  <a:pt x="2557" y="2780791"/>
                </a:lnTo>
                <a:lnTo>
                  <a:pt x="0" y="2792262"/>
                </a:lnTo>
                <a:lnTo>
                  <a:pt x="3313" y="2803930"/>
                </a:lnTo>
                <a:lnTo>
                  <a:pt x="109564" y="2986024"/>
                </a:lnTo>
                <a:lnTo>
                  <a:pt x="190067" y="2847676"/>
                </a:lnTo>
                <a:lnTo>
                  <a:pt x="85216" y="2847676"/>
                </a:lnTo>
                <a:lnTo>
                  <a:pt x="43257" y="2776332"/>
                </a:lnTo>
                <a:lnTo>
                  <a:pt x="34106" y="2769474"/>
                </a:lnTo>
                <a:lnTo>
                  <a:pt x="22621" y="2767706"/>
                </a:lnTo>
                <a:close/>
              </a:path>
              <a:path w="219075" h="2986404">
                <a:moveTo>
                  <a:pt x="133911" y="0"/>
                </a:moveTo>
                <a:lnTo>
                  <a:pt x="85214" y="0"/>
                </a:lnTo>
                <a:lnTo>
                  <a:pt x="85216" y="2847676"/>
                </a:lnTo>
                <a:lnTo>
                  <a:pt x="133913" y="2847676"/>
                </a:lnTo>
                <a:lnTo>
                  <a:pt x="133911" y="0"/>
                </a:lnTo>
                <a:close/>
              </a:path>
              <a:path w="219075" h="2986404">
                <a:moveTo>
                  <a:pt x="193523" y="2767352"/>
                </a:moveTo>
                <a:lnTo>
                  <a:pt x="182278" y="2770773"/>
                </a:lnTo>
                <a:lnTo>
                  <a:pt x="173751" y="2779400"/>
                </a:lnTo>
                <a:lnTo>
                  <a:pt x="133913" y="2847676"/>
                </a:lnTo>
                <a:lnTo>
                  <a:pt x="190067" y="2847676"/>
                </a:lnTo>
                <a:lnTo>
                  <a:pt x="217372" y="2800751"/>
                </a:lnTo>
                <a:lnTo>
                  <a:pt x="218923" y="2789358"/>
                </a:lnTo>
                <a:lnTo>
                  <a:pt x="214830" y="2778424"/>
                </a:lnTo>
                <a:lnTo>
                  <a:pt x="205306" y="2769712"/>
                </a:lnTo>
                <a:lnTo>
                  <a:pt x="193523" y="2767352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000532" y="2761340"/>
            <a:ext cx="458470" cy="2058670"/>
          </a:xfrm>
          <a:custGeom>
            <a:avLst/>
            <a:gdLst/>
            <a:ahLst/>
            <a:cxnLst/>
            <a:rect l="l" t="t" r="r" b="b"/>
            <a:pathLst>
              <a:path w="458469" h="2058670">
                <a:moveTo>
                  <a:pt x="344580" y="0"/>
                </a:moveTo>
                <a:lnTo>
                  <a:pt x="337641" y="3354"/>
                </a:lnTo>
                <a:lnTo>
                  <a:pt x="333217" y="16048"/>
                </a:lnTo>
                <a:lnTo>
                  <a:pt x="336571" y="22987"/>
                </a:lnTo>
                <a:lnTo>
                  <a:pt x="380792" y="38385"/>
                </a:lnTo>
                <a:lnTo>
                  <a:pt x="327369" y="51262"/>
                </a:lnTo>
                <a:lnTo>
                  <a:pt x="268741" y="71032"/>
                </a:lnTo>
                <a:lnTo>
                  <a:pt x="213268" y="98638"/>
                </a:lnTo>
                <a:lnTo>
                  <a:pt x="162108" y="136784"/>
                </a:lnTo>
                <a:lnTo>
                  <a:pt x="116776" y="187954"/>
                </a:lnTo>
                <a:lnTo>
                  <a:pt x="96173" y="220159"/>
                </a:lnTo>
                <a:lnTo>
                  <a:pt x="78744" y="254377"/>
                </a:lnTo>
                <a:lnTo>
                  <a:pt x="62857" y="293977"/>
                </a:lnTo>
                <a:lnTo>
                  <a:pt x="49232" y="338206"/>
                </a:lnTo>
                <a:lnTo>
                  <a:pt x="37545" y="389342"/>
                </a:lnTo>
                <a:lnTo>
                  <a:pt x="27541" y="448010"/>
                </a:lnTo>
                <a:lnTo>
                  <a:pt x="19108" y="513434"/>
                </a:lnTo>
                <a:lnTo>
                  <a:pt x="12230" y="584514"/>
                </a:lnTo>
                <a:lnTo>
                  <a:pt x="6877" y="660397"/>
                </a:lnTo>
                <a:lnTo>
                  <a:pt x="3057" y="739927"/>
                </a:lnTo>
                <a:lnTo>
                  <a:pt x="760" y="822614"/>
                </a:lnTo>
                <a:lnTo>
                  <a:pt x="0" y="905926"/>
                </a:lnTo>
                <a:lnTo>
                  <a:pt x="760" y="989829"/>
                </a:lnTo>
                <a:lnTo>
                  <a:pt x="3047" y="1073360"/>
                </a:lnTo>
                <a:lnTo>
                  <a:pt x="6860" y="1155233"/>
                </a:lnTo>
                <a:lnTo>
                  <a:pt x="12201" y="1234387"/>
                </a:lnTo>
                <a:lnTo>
                  <a:pt x="19071" y="1309763"/>
                </a:lnTo>
                <a:lnTo>
                  <a:pt x="27476" y="1380305"/>
                </a:lnTo>
                <a:lnTo>
                  <a:pt x="37443" y="1445087"/>
                </a:lnTo>
                <a:lnTo>
                  <a:pt x="48963" y="1502879"/>
                </a:lnTo>
                <a:lnTo>
                  <a:pt x="62372" y="1554984"/>
                </a:lnTo>
                <a:lnTo>
                  <a:pt x="77997" y="1603910"/>
                </a:lnTo>
                <a:lnTo>
                  <a:pt x="95665" y="1649718"/>
                </a:lnTo>
                <a:lnTo>
                  <a:pt x="115231" y="1692616"/>
                </a:lnTo>
                <a:lnTo>
                  <a:pt x="136548" y="1732814"/>
                </a:lnTo>
                <a:lnTo>
                  <a:pt x="159465" y="1770524"/>
                </a:lnTo>
                <a:lnTo>
                  <a:pt x="183829" y="1805956"/>
                </a:lnTo>
                <a:lnTo>
                  <a:pt x="209484" y="1839327"/>
                </a:lnTo>
                <a:lnTo>
                  <a:pt x="236276" y="1870850"/>
                </a:lnTo>
                <a:lnTo>
                  <a:pt x="264047" y="1900750"/>
                </a:lnTo>
                <a:lnTo>
                  <a:pt x="321772" y="1956428"/>
                </a:lnTo>
                <a:lnTo>
                  <a:pt x="381785" y="2008489"/>
                </a:lnTo>
                <a:lnTo>
                  <a:pt x="442714" y="2058540"/>
                </a:lnTo>
                <a:lnTo>
                  <a:pt x="458170" y="2039733"/>
                </a:lnTo>
                <a:lnTo>
                  <a:pt x="397615" y="1989993"/>
                </a:lnTo>
                <a:lnTo>
                  <a:pt x="338442" y="1938684"/>
                </a:lnTo>
                <a:lnTo>
                  <a:pt x="281655" y="1883935"/>
                </a:lnTo>
                <a:lnTo>
                  <a:pt x="254652" y="1854880"/>
                </a:lnTo>
                <a:lnTo>
                  <a:pt x="228602" y="1824249"/>
                </a:lnTo>
                <a:lnTo>
                  <a:pt x="203704" y="1791892"/>
                </a:lnTo>
                <a:lnTo>
                  <a:pt x="180090" y="1757583"/>
                </a:lnTo>
                <a:lnTo>
                  <a:pt x="157888" y="1721088"/>
                </a:lnTo>
                <a:lnTo>
                  <a:pt x="137230" y="1682177"/>
                </a:lnTo>
                <a:lnTo>
                  <a:pt x="118248" y="1640611"/>
                </a:lnTo>
                <a:lnTo>
                  <a:pt x="101080" y="1596156"/>
                </a:lnTo>
                <a:lnTo>
                  <a:pt x="85864" y="1548575"/>
                </a:lnTo>
                <a:lnTo>
                  <a:pt x="72723" y="1497556"/>
                </a:lnTo>
                <a:lnTo>
                  <a:pt x="61448" y="1441015"/>
                </a:lnTo>
                <a:lnTo>
                  <a:pt x="51636" y="1377275"/>
                </a:lnTo>
                <a:lnTo>
                  <a:pt x="43304" y="1307384"/>
                </a:lnTo>
                <a:lnTo>
                  <a:pt x="36484" y="1232606"/>
                </a:lnTo>
                <a:lnTo>
                  <a:pt x="31176" y="1153974"/>
                </a:lnTo>
                <a:lnTo>
                  <a:pt x="27383" y="1072577"/>
                </a:lnTo>
                <a:lnTo>
                  <a:pt x="25107" y="989497"/>
                </a:lnTo>
                <a:lnTo>
                  <a:pt x="24348" y="905816"/>
                </a:lnTo>
                <a:lnTo>
                  <a:pt x="25122" y="822050"/>
                </a:lnTo>
                <a:lnTo>
                  <a:pt x="27383" y="740972"/>
                </a:lnTo>
                <a:lnTo>
                  <a:pt x="31175" y="661972"/>
                </a:lnTo>
                <a:lnTo>
                  <a:pt x="36480" y="586700"/>
                </a:lnTo>
                <a:lnTo>
                  <a:pt x="43299" y="516195"/>
                </a:lnTo>
                <a:lnTo>
                  <a:pt x="51608" y="451703"/>
                </a:lnTo>
                <a:lnTo>
                  <a:pt x="61402" y="394210"/>
                </a:lnTo>
                <a:lnTo>
                  <a:pt x="72609" y="345019"/>
                </a:lnTo>
                <a:lnTo>
                  <a:pt x="85652" y="302545"/>
                </a:lnTo>
                <a:lnTo>
                  <a:pt x="100692" y="264929"/>
                </a:lnTo>
                <a:lnTo>
                  <a:pt x="136225" y="202611"/>
                </a:lnTo>
                <a:lnTo>
                  <a:pt x="178110" y="155140"/>
                </a:lnTo>
                <a:lnTo>
                  <a:pt x="225480" y="119703"/>
                </a:lnTo>
                <a:lnTo>
                  <a:pt x="277581" y="93717"/>
                </a:lnTo>
                <a:lnTo>
                  <a:pt x="333438" y="74838"/>
                </a:lnTo>
                <a:lnTo>
                  <a:pt x="384390" y="62557"/>
                </a:lnTo>
                <a:lnTo>
                  <a:pt x="421274" y="62557"/>
                </a:lnTo>
                <a:lnTo>
                  <a:pt x="450498" y="36882"/>
                </a:lnTo>
                <a:lnTo>
                  <a:pt x="344580" y="0"/>
                </a:lnTo>
                <a:close/>
              </a:path>
              <a:path w="458469" h="2058670">
                <a:moveTo>
                  <a:pt x="421274" y="62557"/>
                </a:moveTo>
                <a:lnTo>
                  <a:pt x="384390" y="62557"/>
                </a:lnTo>
                <a:lnTo>
                  <a:pt x="350177" y="92616"/>
                </a:lnTo>
                <a:lnTo>
                  <a:pt x="349680" y="100305"/>
                </a:lnTo>
                <a:lnTo>
                  <a:pt x="358558" y="110403"/>
                </a:lnTo>
                <a:lnTo>
                  <a:pt x="366250" y="110900"/>
                </a:lnTo>
                <a:lnTo>
                  <a:pt x="421274" y="6255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000537" y="4961337"/>
            <a:ext cx="455930" cy="1223645"/>
          </a:xfrm>
          <a:custGeom>
            <a:avLst/>
            <a:gdLst/>
            <a:ahLst/>
            <a:cxnLst/>
            <a:rect l="l" t="t" r="r" b="b"/>
            <a:pathLst>
              <a:path w="455930" h="1223645">
                <a:moveTo>
                  <a:pt x="350937" y="0"/>
                </a:moveTo>
                <a:lnTo>
                  <a:pt x="347604" y="19"/>
                </a:lnTo>
                <a:lnTo>
                  <a:pt x="341795" y="2273"/>
                </a:lnTo>
                <a:lnTo>
                  <a:pt x="339319" y="4508"/>
                </a:lnTo>
                <a:lnTo>
                  <a:pt x="335252" y="13735"/>
                </a:lnTo>
                <a:lnTo>
                  <a:pt x="338042" y="20919"/>
                </a:lnTo>
                <a:lnTo>
                  <a:pt x="380729" y="39728"/>
                </a:lnTo>
                <a:lnTo>
                  <a:pt x="328529" y="47033"/>
                </a:lnTo>
                <a:lnTo>
                  <a:pt x="270615" y="58381"/>
                </a:lnTo>
                <a:lnTo>
                  <a:pt x="215740" y="74227"/>
                </a:lnTo>
                <a:lnTo>
                  <a:pt x="164591" y="96349"/>
                </a:lnTo>
                <a:lnTo>
                  <a:pt x="119120" y="126155"/>
                </a:lnTo>
                <a:lnTo>
                  <a:pt x="80435" y="165336"/>
                </a:lnTo>
                <a:lnTo>
                  <a:pt x="50102" y="215215"/>
                </a:lnTo>
                <a:lnTo>
                  <a:pt x="27878" y="280268"/>
                </a:lnTo>
                <a:lnTo>
                  <a:pt x="19305" y="318781"/>
                </a:lnTo>
                <a:lnTo>
                  <a:pt x="12333" y="360528"/>
                </a:lnTo>
                <a:lnTo>
                  <a:pt x="6930" y="404939"/>
                </a:lnTo>
                <a:lnTo>
                  <a:pt x="3078" y="451424"/>
                </a:lnTo>
                <a:lnTo>
                  <a:pt x="0" y="548024"/>
                </a:lnTo>
                <a:lnTo>
                  <a:pt x="0" y="548791"/>
                </a:lnTo>
                <a:lnTo>
                  <a:pt x="3010" y="644822"/>
                </a:lnTo>
                <a:lnTo>
                  <a:pt x="6880" y="693877"/>
                </a:lnTo>
                <a:lnTo>
                  <a:pt x="12249" y="740122"/>
                </a:lnTo>
                <a:lnTo>
                  <a:pt x="19163" y="784205"/>
                </a:lnTo>
                <a:lnTo>
                  <a:pt x="27634" y="825530"/>
                </a:lnTo>
                <a:lnTo>
                  <a:pt x="37683" y="863509"/>
                </a:lnTo>
                <a:lnTo>
                  <a:pt x="63027" y="928517"/>
                </a:lnTo>
                <a:lnTo>
                  <a:pt x="96879" y="984547"/>
                </a:lnTo>
                <a:lnTo>
                  <a:pt x="138310" y="1033500"/>
                </a:lnTo>
                <a:lnTo>
                  <a:pt x="211533" y="1095651"/>
                </a:lnTo>
                <a:lnTo>
                  <a:pt x="266302" y="1131492"/>
                </a:lnTo>
                <a:lnTo>
                  <a:pt x="324269" y="1163975"/>
                </a:lnTo>
                <a:lnTo>
                  <a:pt x="384280" y="1194203"/>
                </a:lnTo>
                <a:lnTo>
                  <a:pt x="445195" y="1223258"/>
                </a:lnTo>
                <a:lnTo>
                  <a:pt x="455678" y="1201289"/>
                </a:lnTo>
                <a:lnTo>
                  <a:pt x="395114" y="1172404"/>
                </a:lnTo>
                <a:lnTo>
                  <a:pt x="335934" y="1142606"/>
                </a:lnTo>
                <a:lnTo>
                  <a:pt x="279271" y="1110886"/>
                </a:lnTo>
                <a:lnTo>
                  <a:pt x="226271" y="1076266"/>
                </a:lnTo>
                <a:lnTo>
                  <a:pt x="177877" y="1037650"/>
                </a:lnTo>
                <a:lnTo>
                  <a:pt x="135591" y="994448"/>
                </a:lnTo>
                <a:lnTo>
                  <a:pt x="100007" y="945287"/>
                </a:lnTo>
                <a:lnTo>
                  <a:pt x="72207" y="889167"/>
                </a:lnTo>
                <a:lnTo>
                  <a:pt x="51416" y="820298"/>
                </a:lnTo>
                <a:lnTo>
                  <a:pt x="43173" y="780149"/>
                </a:lnTo>
                <a:lnTo>
                  <a:pt x="36406" y="737069"/>
                </a:lnTo>
                <a:lnTo>
                  <a:pt x="31133" y="691714"/>
                </a:lnTo>
                <a:lnTo>
                  <a:pt x="27370" y="644822"/>
                </a:lnTo>
                <a:lnTo>
                  <a:pt x="24360" y="548791"/>
                </a:lnTo>
                <a:lnTo>
                  <a:pt x="24360" y="548024"/>
                </a:lnTo>
                <a:lnTo>
                  <a:pt x="27369" y="453120"/>
                </a:lnTo>
                <a:lnTo>
                  <a:pt x="31129" y="407639"/>
                </a:lnTo>
                <a:lnTo>
                  <a:pt x="36395" y="364261"/>
                </a:lnTo>
                <a:lnTo>
                  <a:pt x="43145" y="323735"/>
                </a:lnTo>
                <a:lnTo>
                  <a:pt x="60981" y="253926"/>
                </a:lnTo>
                <a:lnTo>
                  <a:pt x="84586" y="202087"/>
                </a:lnTo>
                <a:lnTo>
                  <a:pt x="115714" y="162038"/>
                </a:lnTo>
                <a:lnTo>
                  <a:pt x="153999" y="130831"/>
                </a:lnTo>
                <a:lnTo>
                  <a:pt x="198712" y="106970"/>
                </a:lnTo>
                <a:lnTo>
                  <a:pt x="275833" y="82163"/>
                </a:lnTo>
                <a:lnTo>
                  <a:pt x="332235" y="71094"/>
                </a:lnTo>
                <a:lnTo>
                  <a:pt x="382755" y="64023"/>
                </a:lnTo>
                <a:lnTo>
                  <a:pt x="423471" y="64023"/>
                </a:lnTo>
                <a:lnTo>
                  <a:pt x="450493" y="43867"/>
                </a:lnTo>
                <a:lnTo>
                  <a:pt x="350937" y="0"/>
                </a:lnTo>
                <a:close/>
              </a:path>
              <a:path w="455930" h="1223645">
                <a:moveTo>
                  <a:pt x="423471" y="64023"/>
                </a:moveTo>
                <a:lnTo>
                  <a:pt x="382755" y="64023"/>
                </a:lnTo>
                <a:lnTo>
                  <a:pt x="346039" y="91410"/>
                </a:lnTo>
                <a:lnTo>
                  <a:pt x="344930" y="99037"/>
                </a:lnTo>
                <a:lnTo>
                  <a:pt x="352972" y="109811"/>
                </a:lnTo>
                <a:lnTo>
                  <a:pt x="360599" y="110920"/>
                </a:lnTo>
                <a:lnTo>
                  <a:pt x="423471" y="6402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957127" y="3771900"/>
            <a:ext cx="1428750" cy="843915"/>
          </a:xfrm>
          <a:custGeom>
            <a:avLst/>
            <a:gdLst/>
            <a:ahLst/>
            <a:cxnLst/>
            <a:rect l="l" t="t" r="r" b="b"/>
            <a:pathLst>
              <a:path w="1428750" h="843914">
                <a:moveTo>
                  <a:pt x="0" y="0"/>
                </a:moveTo>
                <a:lnTo>
                  <a:pt x="1428432" y="0"/>
                </a:lnTo>
                <a:lnTo>
                  <a:pt x="1428432" y="843844"/>
                </a:lnTo>
                <a:lnTo>
                  <a:pt x="0" y="843844"/>
                </a:lnTo>
                <a:lnTo>
                  <a:pt x="0" y="0"/>
                </a:lnTo>
                <a:close/>
              </a:path>
            </a:pathLst>
          </a:custGeom>
          <a:ln w="243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242911" y="4615743"/>
            <a:ext cx="2143125" cy="0"/>
          </a:xfrm>
          <a:custGeom>
            <a:avLst/>
            <a:gdLst/>
            <a:ahLst/>
            <a:cxnLst/>
            <a:rect l="l" t="t" r="r" b="b"/>
            <a:pathLst>
              <a:path w="2143125">
                <a:moveTo>
                  <a:pt x="0" y="0"/>
                </a:moveTo>
                <a:lnTo>
                  <a:pt x="2142648" y="0"/>
                </a:lnTo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957127" y="5784145"/>
            <a:ext cx="1428750" cy="584200"/>
          </a:xfrm>
          <a:custGeom>
            <a:avLst/>
            <a:gdLst/>
            <a:ahLst/>
            <a:cxnLst/>
            <a:rect l="l" t="t" r="r" b="b"/>
            <a:pathLst>
              <a:path w="1428750" h="584200">
                <a:moveTo>
                  <a:pt x="0" y="0"/>
                </a:moveTo>
                <a:lnTo>
                  <a:pt x="1428432" y="0"/>
                </a:lnTo>
                <a:lnTo>
                  <a:pt x="1428432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957127" y="5199945"/>
            <a:ext cx="1428750" cy="584200"/>
          </a:xfrm>
          <a:custGeom>
            <a:avLst/>
            <a:gdLst/>
            <a:ahLst/>
            <a:cxnLst/>
            <a:rect l="l" t="t" r="r" b="b"/>
            <a:pathLst>
              <a:path w="1428750" h="584200">
                <a:moveTo>
                  <a:pt x="0" y="584200"/>
                </a:moveTo>
                <a:lnTo>
                  <a:pt x="1428432" y="584200"/>
                </a:lnTo>
                <a:lnTo>
                  <a:pt x="1428432" y="0"/>
                </a:lnTo>
                <a:lnTo>
                  <a:pt x="0" y="0"/>
                </a:lnTo>
                <a:lnTo>
                  <a:pt x="0" y="584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957127" y="5199945"/>
            <a:ext cx="1428750" cy="584200"/>
          </a:xfrm>
          <a:custGeom>
            <a:avLst/>
            <a:gdLst/>
            <a:ahLst/>
            <a:cxnLst/>
            <a:rect l="l" t="t" r="r" b="b"/>
            <a:pathLst>
              <a:path w="1428750" h="584200">
                <a:moveTo>
                  <a:pt x="0" y="0"/>
                </a:moveTo>
                <a:lnTo>
                  <a:pt x="1428432" y="0"/>
                </a:lnTo>
                <a:lnTo>
                  <a:pt x="1428432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957127" y="4615743"/>
            <a:ext cx="1428750" cy="584200"/>
          </a:xfrm>
          <a:custGeom>
            <a:avLst/>
            <a:gdLst/>
            <a:ahLst/>
            <a:cxnLst/>
            <a:rect l="l" t="t" r="r" b="b"/>
            <a:pathLst>
              <a:path w="1428750" h="584200">
                <a:moveTo>
                  <a:pt x="0" y="584200"/>
                </a:moveTo>
                <a:lnTo>
                  <a:pt x="1428432" y="584200"/>
                </a:lnTo>
                <a:lnTo>
                  <a:pt x="1428432" y="0"/>
                </a:lnTo>
                <a:lnTo>
                  <a:pt x="0" y="0"/>
                </a:lnTo>
                <a:lnTo>
                  <a:pt x="0" y="584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957127" y="4615743"/>
            <a:ext cx="1428750" cy="584200"/>
          </a:xfrm>
          <a:custGeom>
            <a:avLst/>
            <a:gdLst/>
            <a:ahLst/>
            <a:cxnLst/>
            <a:rect l="l" t="t" r="r" b="b"/>
            <a:pathLst>
              <a:path w="1428750" h="584200">
                <a:moveTo>
                  <a:pt x="0" y="0"/>
                </a:moveTo>
                <a:lnTo>
                  <a:pt x="1428432" y="0"/>
                </a:lnTo>
                <a:lnTo>
                  <a:pt x="1428432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957127" y="3187700"/>
            <a:ext cx="1428750" cy="584200"/>
          </a:xfrm>
          <a:custGeom>
            <a:avLst/>
            <a:gdLst/>
            <a:ahLst/>
            <a:cxnLst/>
            <a:rect l="l" t="t" r="r" b="b"/>
            <a:pathLst>
              <a:path w="1428750" h="584200">
                <a:moveTo>
                  <a:pt x="0" y="584200"/>
                </a:moveTo>
                <a:lnTo>
                  <a:pt x="1428432" y="584200"/>
                </a:lnTo>
                <a:lnTo>
                  <a:pt x="1428432" y="0"/>
                </a:lnTo>
                <a:lnTo>
                  <a:pt x="0" y="0"/>
                </a:lnTo>
                <a:lnTo>
                  <a:pt x="0" y="584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957127" y="3187700"/>
            <a:ext cx="1428750" cy="584200"/>
          </a:xfrm>
          <a:custGeom>
            <a:avLst/>
            <a:gdLst/>
            <a:ahLst/>
            <a:cxnLst/>
            <a:rect l="l" t="t" r="r" b="b"/>
            <a:pathLst>
              <a:path w="1428750" h="584200">
                <a:moveTo>
                  <a:pt x="0" y="0"/>
                </a:moveTo>
                <a:lnTo>
                  <a:pt x="1428432" y="0"/>
                </a:lnTo>
                <a:lnTo>
                  <a:pt x="1428432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957127" y="2408766"/>
            <a:ext cx="1428750" cy="779145"/>
          </a:xfrm>
          <a:custGeom>
            <a:avLst/>
            <a:gdLst/>
            <a:ahLst/>
            <a:cxnLst/>
            <a:rect l="l" t="t" r="r" b="b"/>
            <a:pathLst>
              <a:path w="1428750" h="779144">
                <a:moveTo>
                  <a:pt x="0" y="778933"/>
                </a:moveTo>
                <a:lnTo>
                  <a:pt x="1428432" y="778933"/>
                </a:lnTo>
                <a:lnTo>
                  <a:pt x="1428432" y="0"/>
                </a:lnTo>
                <a:lnTo>
                  <a:pt x="0" y="0"/>
                </a:lnTo>
                <a:lnTo>
                  <a:pt x="0" y="7789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957127" y="2408767"/>
            <a:ext cx="1428750" cy="779145"/>
          </a:xfrm>
          <a:custGeom>
            <a:avLst/>
            <a:gdLst/>
            <a:ahLst/>
            <a:cxnLst/>
            <a:rect l="l" t="t" r="r" b="b"/>
            <a:pathLst>
              <a:path w="1428750" h="779144">
                <a:moveTo>
                  <a:pt x="0" y="0"/>
                </a:moveTo>
                <a:lnTo>
                  <a:pt x="1428432" y="0"/>
                </a:lnTo>
                <a:lnTo>
                  <a:pt x="1428432" y="778933"/>
                </a:lnTo>
                <a:lnTo>
                  <a:pt x="0" y="778933"/>
                </a:lnTo>
                <a:lnTo>
                  <a:pt x="0" y="0"/>
                </a:lnTo>
                <a:close/>
              </a:path>
            </a:pathLst>
          </a:custGeom>
          <a:ln w="243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12400" y="1965464"/>
            <a:ext cx="5627370" cy="962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71240" algn="l"/>
              </a:tabLst>
            </a:pP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线程</a:t>
            </a:r>
            <a:r>
              <a:rPr sz="24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线程</a:t>
            </a:r>
            <a:r>
              <a:rPr sz="24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2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50">
              <a:latin typeface="Times New Roman" panose="02020603050405020304"/>
              <a:cs typeface="Times New Roman" panose="02020603050405020304"/>
            </a:endParaRPr>
          </a:p>
          <a:p>
            <a:pPr marL="1346835">
              <a:lnSpc>
                <a:spcPts val="2230"/>
              </a:lnSpc>
              <a:tabLst>
                <a:tab pos="4836795" algn="l"/>
              </a:tabLst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用户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栈</a:t>
            </a:r>
            <a:r>
              <a:rPr sz="1950" b="1" dirty="0"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用户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栈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993935" y="4026621"/>
            <a:ext cx="132270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代码和数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据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837392" y="4221301"/>
            <a:ext cx="54356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户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006109" y="5908531"/>
            <a:ext cx="132270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线程控制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块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957127" y="1824567"/>
            <a:ext cx="1428750" cy="584200"/>
          </a:xfrm>
          <a:custGeom>
            <a:avLst/>
            <a:gdLst/>
            <a:ahLst/>
            <a:cxnLst/>
            <a:rect l="l" t="t" r="r" b="b"/>
            <a:pathLst>
              <a:path w="1428750" h="584200">
                <a:moveTo>
                  <a:pt x="0" y="584200"/>
                </a:moveTo>
                <a:lnTo>
                  <a:pt x="1428432" y="584200"/>
                </a:lnTo>
                <a:lnTo>
                  <a:pt x="1428432" y="0"/>
                </a:lnTo>
                <a:lnTo>
                  <a:pt x="0" y="0"/>
                </a:lnTo>
                <a:lnTo>
                  <a:pt x="0" y="584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957127" y="1824567"/>
            <a:ext cx="1428750" cy="584200"/>
          </a:xfrm>
          <a:custGeom>
            <a:avLst/>
            <a:gdLst/>
            <a:ahLst/>
            <a:cxnLst/>
            <a:rect l="l" t="t" r="r" b="b"/>
            <a:pathLst>
              <a:path w="1428750" h="584200">
                <a:moveTo>
                  <a:pt x="0" y="0"/>
                </a:moveTo>
                <a:lnTo>
                  <a:pt x="1428432" y="0"/>
                </a:lnTo>
                <a:lnTo>
                  <a:pt x="1428432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490453" y="2761340"/>
            <a:ext cx="458470" cy="2058670"/>
          </a:xfrm>
          <a:custGeom>
            <a:avLst/>
            <a:gdLst/>
            <a:ahLst/>
            <a:cxnLst/>
            <a:rect l="l" t="t" r="r" b="b"/>
            <a:pathLst>
              <a:path w="458470" h="2058670">
                <a:moveTo>
                  <a:pt x="344580" y="0"/>
                </a:moveTo>
                <a:lnTo>
                  <a:pt x="337640" y="3354"/>
                </a:lnTo>
                <a:lnTo>
                  <a:pt x="333217" y="16048"/>
                </a:lnTo>
                <a:lnTo>
                  <a:pt x="336571" y="22987"/>
                </a:lnTo>
                <a:lnTo>
                  <a:pt x="380791" y="38385"/>
                </a:lnTo>
                <a:lnTo>
                  <a:pt x="327369" y="51262"/>
                </a:lnTo>
                <a:lnTo>
                  <a:pt x="268740" y="71032"/>
                </a:lnTo>
                <a:lnTo>
                  <a:pt x="213267" y="98638"/>
                </a:lnTo>
                <a:lnTo>
                  <a:pt x="162107" y="136784"/>
                </a:lnTo>
                <a:lnTo>
                  <a:pt x="116776" y="187954"/>
                </a:lnTo>
                <a:lnTo>
                  <a:pt x="96173" y="220159"/>
                </a:lnTo>
                <a:lnTo>
                  <a:pt x="78743" y="254377"/>
                </a:lnTo>
                <a:lnTo>
                  <a:pt x="62857" y="293977"/>
                </a:lnTo>
                <a:lnTo>
                  <a:pt x="49231" y="338206"/>
                </a:lnTo>
                <a:lnTo>
                  <a:pt x="37545" y="389342"/>
                </a:lnTo>
                <a:lnTo>
                  <a:pt x="27541" y="448010"/>
                </a:lnTo>
                <a:lnTo>
                  <a:pt x="19107" y="513434"/>
                </a:lnTo>
                <a:lnTo>
                  <a:pt x="12230" y="584514"/>
                </a:lnTo>
                <a:lnTo>
                  <a:pt x="6877" y="660397"/>
                </a:lnTo>
                <a:lnTo>
                  <a:pt x="3056" y="739927"/>
                </a:lnTo>
                <a:lnTo>
                  <a:pt x="759" y="822614"/>
                </a:lnTo>
                <a:lnTo>
                  <a:pt x="0" y="905926"/>
                </a:lnTo>
                <a:lnTo>
                  <a:pt x="760" y="989829"/>
                </a:lnTo>
                <a:lnTo>
                  <a:pt x="3046" y="1073360"/>
                </a:lnTo>
                <a:lnTo>
                  <a:pt x="6860" y="1155233"/>
                </a:lnTo>
                <a:lnTo>
                  <a:pt x="12200" y="1234387"/>
                </a:lnTo>
                <a:lnTo>
                  <a:pt x="19071" y="1309763"/>
                </a:lnTo>
                <a:lnTo>
                  <a:pt x="27476" y="1380305"/>
                </a:lnTo>
                <a:lnTo>
                  <a:pt x="37442" y="1445087"/>
                </a:lnTo>
                <a:lnTo>
                  <a:pt x="48962" y="1502879"/>
                </a:lnTo>
                <a:lnTo>
                  <a:pt x="62372" y="1554984"/>
                </a:lnTo>
                <a:lnTo>
                  <a:pt x="77997" y="1603910"/>
                </a:lnTo>
                <a:lnTo>
                  <a:pt x="95665" y="1649718"/>
                </a:lnTo>
                <a:lnTo>
                  <a:pt x="115230" y="1692616"/>
                </a:lnTo>
                <a:lnTo>
                  <a:pt x="136547" y="1732814"/>
                </a:lnTo>
                <a:lnTo>
                  <a:pt x="159465" y="1770524"/>
                </a:lnTo>
                <a:lnTo>
                  <a:pt x="183828" y="1805956"/>
                </a:lnTo>
                <a:lnTo>
                  <a:pt x="209483" y="1839327"/>
                </a:lnTo>
                <a:lnTo>
                  <a:pt x="236275" y="1870850"/>
                </a:lnTo>
                <a:lnTo>
                  <a:pt x="264046" y="1900750"/>
                </a:lnTo>
                <a:lnTo>
                  <a:pt x="321771" y="1956428"/>
                </a:lnTo>
                <a:lnTo>
                  <a:pt x="381784" y="2008489"/>
                </a:lnTo>
                <a:lnTo>
                  <a:pt x="442713" y="2058540"/>
                </a:lnTo>
                <a:lnTo>
                  <a:pt x="458170" y="2039733"/>
                </a:lnTo>
                <a:lnTo>
                  <a:pt x="397615" y="1989993"/>
                </a:lnTo>
                <a:lnTo>
                  <a:pt x="338442" y="1938684"/>
                </a:lnTo>
                <a:lnTo>
                  <a:pt x="281655" y="1883935"/>
                </a:lnTo>
                <a:lnTo>
                  <a:pt x="254652" y="1854880"/>
                </a:lnTo>
                <a:lnTo>
                  <a:pt x="228601" y="1824249"/>
                </a:lnTo>
                <a:lnTo>
                  <a:pt x="203704" y="1791892"/>
                </a:lnTo>
                <a:lnTo>
                  <a:pt x="180089" y="1757583"/>
                </a:lnTo>
                <a:lnTo>
                  <a:pt x="157887" y="1721088"/>
                </a:lnTo>
                <a:lnTo>
                  <a:pt x="137229" y="1682177"/>
                </a:lnTo>
                <a:lnTo>
                  <a:pt x="118247" y="1640611"/>
                </a:lnTo>
                <a:lnTo>
                  <a:pt x="101079" y="1596156"/>
                </a:lnTo>
                <a:lnTo>
                  <a:pt x="85863" y="1548575"/>
                </a:lnTo>
                <a:lnTo>
                  <a:pt x="72722" y="1497556"/>
                </a:lnTo>
                <a:lnTo>
                  <a:pt x="61448" y="1441015"/>
                </a:lnTo>
                <a:lnTo>
                  <a:pt x="51635" y="1377275"/>
                </a:lnTo>
                <a:lnTo>
                  <a:pt x="43303" y="1307384"/>
                </a:lnTo>
                <a:lnTo>
                  <a:pt x="36484" y="1232606"/>
                </a:lnTo>
                <a:lnTo>
                  <a:pt x="31175" y="1153974"/>
                </a:lnTo>
                <a:lnTo>
                  <a:pt x="27382" y="1072577"/>
                </a:lnTo>
                <a:lnTo>
                  <a:pt x="25106" y="989497"/>
                </a:lnTo>
                <a:lnTo>
                  <a:pt x="24347" y="905816"/>
                </a:lnTo>
                <a:lnTo>
                  <a:pt x="25122" y="822050"/>
                </a:lnTo>
                <a:lnTo>
                  <a:pt x="27382" y="740972"/>
                </a:lnTo>
                <a:lnTo>
                  <a:pt x="31174" y="661972"/>
                </a:lnTo>
                <a:lnTo>
                  <a:pt x="36479" y="586700"/>
                </a:lnTo>
                <a:lnTo>
                  <a:pt x="43299" y="516195"/>
                </a:lnTo>
                <a:lnTo>
                  <a:pt x="51607" y="451703"/>
                </a:lnTo>
                <a:lnTo>
                  <a:pt x="61401" y="394210"/>
                </a:lnTo>
                <a:lnTo>
                  <a:pt x="72608" y="345019"/>
                </a:lnTo>
                <a:lnTo>
                  <a:pt x="85652" y="302545"/>
                </a:lnTo>
                <a:lnTo>
                  <a:pt x="100691" y="264929"/>
                </a:lnTo>
                <a:lnTo>
                  <a:pt x="136225" y="202611"/>
                </a:lnTo>
                <a:lnTo>
                  <a:pt x="178109" y="155140"/>
                </a:lnTo>
                <a:lnTo>
                  <a:pt x="225479" y="119703"/>
                </a:lnTo>
                <a:lnTo>
                  <a:pt x="277581" y="93717"/>
                </a:lnTo>
                <a:lnTo>
                  <a:pt x="333438" y="74838"/>
                </a:lnTo>
                <a:lnTo>
                  <a:pt x="384389" y="62557"/>
                </a:lnTo>
                <a:lnTo>
                  <a:pt x="421272" y="62557"/>
                </a:lnTo>
                <a:lnTo>
                  <a:pt x="450496" y="36882"/>
                </a:lnTo>
                <a:lnTo>
                  <a:pt x="344580" y="0"/>
                </a:lnTo>
                <a:close/>
              </a:path>
              <a:path w="458470" h="2058670">
                <a:moveTo>
                  <a:pt x="421272" y="62557"/>
                </a:moveTo>
                <a:lnTo>
                  <a:pt x="384389" y="62557"/>
                </a:lnTo>
                <a:lnTo>
                  <a:pt x="350177" y="92616"/>
                </a:lnTo>
                <a:lnTo>
                  <a:pt x="349680" y="100305"/>
                </a:lnTo>
                <a:lnTo>
                  <a:pt x="358556" y="110403"/>
                </a:lnTo>
                <a:lnTo>
                  <a:pt x="366248" y="110900"/>
                </a:lnTo>
                <a:lnTo>
                  <a:pt x="421272" y="6255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490458" y="4961337"/>
            <a:ext cx="455930" cy="1223645"/>
          </a:xfrm>
          <a:custGeom>
            <a:avLst/>
            <a:gdLst/>
            <a:ahLst/>
            <a:cxnLst/>
            <a:rect l="l" t="t" r="r" b="b"/>
            <a:pathLst>
              <a:path w="455929" h="1223645">
                <a:moveTo>
                  <a:pt x="350937" y="0"/>
                </a:moveTo>
                <a:lnTo>
                  <a:pt x="347602" y="19"/>
                </a:lnTo>
                <a:lnTo>
                  <a:pt x="341793" y="2273"/>
                </a:lnTo>
                <a:lnTo>
                  <a:pt x="339319" y="4508"/>
                </a:lnTo>
                <a:lnTo>
                  <a:pt x="335252" y="13735"/>
                </a:lnTo>
                <a:lnTo>
                  <a:pt x="338042" y="20919"/>
                </a:lnTo>
                <a:lnTo>
                  <a:pt x="380729" y="39728"/>
                </a:lnTo>
                <a:lnTo>
                  <a:pt x="328529" y="47033"/>
                </a:lnTo>
                <a:lnTo>
                  <a:pt x="270615" y="58381"/>
                </a:lnTo>
                <a:lnTo>
                  <a:pt x="215739" y="74227"/>
                </a:lnTo>
                <a:lnTo>
                  <a:pt x="164590" y="96349"/>
                </a:lnTo>
                <a:lnTo>
                  <a:pt x="119119" y="126155"/>
                </a:lnTo>
                <a:lnTo>
                  <a:pt x="80435" y="165336"/>
                </a:lnTo>
                <a:lnTo>
                  <a:pt x="50101" y="215215"/>
                </a:lnTo>
                <a:lnTo>
                  <a:pt x="27877" y="280268"/>
                </a:lnTo>
                <a:lnTo>
                  <a:pt x="19305" y="318781"/>
                </a:lnTo>
                <a:lnTo>
                  <a:pt x="12332" y="360528"/>
                </a:lnTo>
                <a:lnTo>
                  <a:pt x="6930" y="404939"/>
                </a:lnTo>
                <a:lnTo>
                  <a:pt x="3078" y="451424"/>
                </a:lnTo>
                <a:lnTo>
                  <a:pt x="0" y="548024"/>
                </a:lnTo>
                <a:lnTo>
                  <a:pt x="0" y="548791"/>
                </a:lnTo>
                <a:lnTo>
                  <a:pt x="3009" y="644822"/>
                </a:lnTo>
                <a:lnTo>
                  <a:pt x="6880" y="693877"/>
                </a:lnTo>
                <a:lnTo>
                  <a:pt x="12249" y="740122"/>
                </a:lnTo>
                <a:lnTo>
                  <a:pt x="19163" y="784205"/>
                </a:lnTo>
                <a:lnTo>
                  <a:pt x="27633" y="825530"/>
                </a:lnTo>
                <a:lnTo>
                  <a:pt x="37683" y="863509"/>
                </a:lnTo>
                <a:lnTo>
                  <a:pt x="63027" y="928517"/>
                </a:lnTo>
                <a:lnTo>
                  <a:pt x="96879" y="984547"/>
                </a:lnTo>
                <a:lnTo>
                  <a:pt x="138310" y="1033500"/>
                </a:lnTo>
                <a:lnTo>
                  <a:pt x="211533" y="1095651"/>
                </a:lnTo>
                <a:lnTo>
                  <a:pt x="266301" y="1131492"/>
                </a:lnTo>
                <a:lnTo>
                  <a:pt x="324269" y="1163975"/>
                </a:lnTo>
                <a:lnTo>
                  <a:pt x="384280" y="1194203"/>
                </a:lnTo>
                <a:lnTo>
                  <a:pt x="445194" y="1223258"/>
                </a:lnTo>
                <a:lnTo>
                  <a:pt x="455678" y="1201289"/>
                </a:lnTo>
                <a:lnTo>
                  <a:pt x="395114" y="1172404"/>
                </a:lnTo>
                <a:lnTo>
                  <a:pt x="335934" y="1142606"/>
                </a:lnTo>
                <a:lnTo>
                  <a:pt x="279271" y="1110886"/>
                </a:lnTo>
                <a:lnTo>
                  <a:pt x="226270" y="1076266"/>
                </a:lnTo>
                <a:lnTo>
                  <a:pt x="177877" y="1037650"/>
                </a:lnTo>
                <a:lnTo>
                  <a:pt x="135591" y="994448"/>
                </a:lnTo>
                <a:lnTo>
                  <a:pt x="100007" y="945287"/>
                </a:lnTo>
                <a:lnTo>
                  <a:pt x="72207" y="889167"/>
                </a:lnTo>
                <a:lnTo>
                  <a:pt x="51415" y="820298"/>
                </a:lnTo>
                <a:lnTo>
                  <a:pt x="43172" y="780149"/>
                </a:lnTo>
                <a:lnTo>
                  <a:pt x="36407" y="737069"/>
                </a:lnTo>
                <a:lnTo>
                  <a:pt x="31134" y="691714"/>
                </a:lnTo>
                <a:lnTo>
                  <a:pt x="27369" y="644822"/>
                </a:lnTo>
                <a:lnTo>
                  <a:pt x="24360" y="548791"/>
                </a:lnTo>
                <a:lnTo>
                  <a:pt x="24360" y="548024"/>
                </a:lnTo>
                <a:lnTo>
                  <a:pt x="27369" y="453120"/>
                </a:lnTo>
                <a:lnTo>
                  <a:pt x="31128" y="407639"/>
                </a:lnTo>
                <a:lnTo>
                  <a:pt x="36395" y="364261"/>
                </a:lnTo>
                <a:lnTo>
                  <a:pt x="43145" y="323735"/>
                </a:lnTo>
                <a:lnTo>
                  <a:pt x="60981" y="253926"/>
                </a:lnTo>
                <a:lnTo>
                  <a:pt x="84587" y="202087"/>
                </a:lnTo>
                <a:lnTo>
                  <a:pt x="115713" y="162038"/>
                </a:lnTo>
                <a:lnTo>
                  <a:pt x="153998" y="130831"/>
                </a:lnTo>
                <a:lnTo>
                  <a:pt x="198711" y="106970"/>
                </a:lnTo>
                <a:lnTo>
                  <a:pt x="275832" y="82163"/>
                </a:lnTo>
                <a:lnTo>
                  <a:pt x="332235" y="71094"/>
                </a:lnTo>
                <a:lnTo>
                  <a:pt x="382755" y="64023"/>
                </a:lnTo>
                <a:lnTo>
                  <a:pt x="423471" y="64023"/>
                </a:lnTo>
                <a:lnTo>
                  <a:pt x="450493" y="43867"/>
                </a:lnTo>
                <a:lnTo>
                  <a:pt x="350937" y="0"/>
                </a:lnTo>
                <a:close/>
              </a:path>
              <a:path w="455929" h="1223645">
                <a:moveTo>
                  <a:pt x="423471" y="64023"/>
                </a:moveTo>
                <a:lnTo>
                  <a:pt x="382755" y="64023"/>
                </a:lnTo>
                <a:lnTo>
                  <a:pt x="346039" y="91410"/>
                </a:lnTo>
                <a:lnTo>
                  <a:pt x="344930" y="99037"/>
                </a:lnTo>
                <a:lnTo>
                  <a:pt x="352971" y="109811"/>
                </a:lnTo>
                <a:lnTo>
                  <a:pt x="360599" y="110920"/>
                </a:lnTo>
                <a:lnTo>
                  <a:pt x="423471" y="6402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3269265" y="4678289"/>
            <a:ext cx="111188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0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阻</a:t>
            </a:r>
            <a:r>
              <a:rPr sz="2300" b="1" spc="-2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塞</a:t>
            </a:r>
            <a:r>
              <a:rPr sz="2925" b="1" spc="127" baseline="-6000" dirty="0">
                <a:latin typeface="宋体" panose="02010600030101010101" pitchFamily="2" charset="-122"/>
                <a:cs typeface="宋体" panose="02010600030101010101" pitchFamily="2" charset="-122"/>
              </a:rPr>
              <a:t>内</a:t>
            </a:r>
            <a:r>
              <a:rPr sz="2925" b="1" spc="112" baseline="-6000" dirty="0">
                <a:latin typeface="宋体" panose="02010600030101010101" pitchFamily="2" charset="-122"/>
                <a:cs typeface="宋体" panose="02010600030101010101" pitchFamily="2" charset="-122"/>
              </a:rPr>
              <a:t>核</a:t>
            </a:r>
            <a:endParaRPr sz="2925" baseline="-6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268987" y="4740449"/>
            <a:ext cx="80327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内核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栈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204051" y="5849054"/>
            <a:ext cx="1623695" cy="446405"/>
          </a:xfrm>
          <a:custGeom>
            <a:avLst/>
            <a:gdLst/>
            <a:ahLst/>
            <a:cxnLst/>
            <a:rect l="l" t="t" r="r" b="b"/>
            <a:pathLst>
              <a:path w="1623695" h="446404">
                <a:moveTo>
                  <a:pt x="0" y="0"/>
                </a:moveTo>
                <a:lnTo>
                  <a:pt x="1623218" y="0"/>
                </a:lnTo>
                <a:lnTo>
                  <a:pt x="1623218" y="446263"/>
                </a:lnTo>
                <a:lnTo>
                  <a:pt x="0" y="446263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3328631" y="5923256"/>
            <a:ext cx="13747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du</a:t>
            </a: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054508" y="4990885"/>
            <a:ext cx="864235" cy="923290"/>
          </a:xfrm>
          <a:custGeom>
            <a:avLst/>
            <a:gdLst/>
            <a:ahLst/>
            <a:cxnLst/>
            <a:rect l="l" t="t" r="r" b="b"/>
            <a:pathLst>
              <a:path w="864235" h="923289">
                <a:moveTo>
                  <a:pt x="652705" y="856724"/>
                </a:moveTo>
                <a:lnTo>
                  <a:pt x="642633" y="861309"/>
                </a:lnTo>
                <a:lnTo>
                  <a:pt x="635627" y="872199"/>
                </a:lnTo>
                <a:lnTo>
                  <a:pt x="633240" y="889909"/>
                </a:lnTo>
                <a:lnTo>
                  <a:pt x="641193" y="900289"/>
                </a:lnTo>
                <a:lnTo>
                  <a:pt x="653756" y="905093"/>
                </a:lnTo>
                <a:lnTo>
                  <a:pt x="863851" y="923146"/>
                </a:lnTo>
                <a:lnTo>
                  <a:pt x="836473" y="863442"/>
                </a:lnTo>
                <a:lnTo>
                  <a:pt x="737680" y="863442"/>
                </a:lnTo>
                <a:lnTo>
                  <a:pt x="652705" y="856724"/>
                </a:lnTo>
                <a:close/>
              </a:path>
              <a:path w="864235" h="923289">
                <a:moveTo>
                  <a:pt x="39370" y="0"/>
                </a:moveTo>
                <a:lnTo>
                  <a:pt x="0" y="28652"/>
                </a:lnTo>
                <a:lnTo>
                  <a:pt x="117430" y="189915"/>
                </a:lnTo>
                <a:lnTo>
                  <a:pt x="175776" y="268792"/>
                </a:lnTo>
                <a:lnTo>
                  <a:pt x="233582" y="345423"/>
                </a:lnTo>
                <a:lnTo>
                  <a:pt x="290685" y="419084"/>
                </a:lnTo>
                <a:lnTo>
                  <a:pt x="346909" y="489023"/>
                </a:lnTo>
                <a:lnTo>
                  <a:pt x="402083" y="554497"/>
                </a:lnTo>
                <a:lnTo>
                  <a:pt x="456046" y="614763"/>
                </a:lnTo>
                <a:lnTo>
                  <a:pt x="508693" y="669312"/>
                </a:lnTo>
                <a:lnTo>
                  <a:pt x="560061" y="718540"/>
                </a:lnTo>
                <a:lnTo>
                  <a:pt x="610290" y="763156"/>
                </a:lnTo>
                <a:lnTo>
                  <a:pt x="659541" y="803902"/>
                </a:lnTo>
                <a:lnTo>
                  <a:pt x="707965" y="841515"/>
                </a:lnTo>
                <a:lnTo>
                  <a:pt x="737680" y="863442"/>
                </a:lnTo>
                <a:lnTo>
                  <a:pt x="836473" y="863442"/>
                </a:lnTo>
                <a:lnTo>
                  <a:pt x="817734" y="822577"/>
                </a:lnTo>
                <a:lnTo>
                  <a:pt x="764301" y="822577"/>
                </a:lnTo>
                <a:lnTo>
                  <a:pt x="737598" y="802882"/>
                </a:lnTo>
                <a:lnTo>
                  <a:pt x="690289" y="766150"/>
                </a:lnTo>
                <a:lnTo>
                  <a:pt x="642306" y="726471"/>
                </a:lnTo>
                <a:lnTo>
                  <a:pt x="593417" y="683069"/>
                </a:lnTo>
                <a:lnTo>
                  <a:pt x="543399" y="635160"/>
                </a:lnTo>
                <a:lnTo>
                  <a:pt x="492020" y="581948"/>
                </a:lnTo>
                <a:lnTo>
                  <a:pt x="439085" y="522847"/>
                </a:lnTo>
                <a:lnTo>
                  <a:pt x="384688" y="458304"/>
                </a:lnTo>
                <a:lnTo>
                  <a:pt x="329044" y="389091"/>
                </a:lnTo>
                <a:lnTo>
                  <a:pt x="272366" y="315983"/>
                </a:lnTo>
                <a:lnTo>
                  <a:pt x="214862" y="239754"/>
                </a:lnTo>
                <a:lnTo>
                  <a:pt x="156745" y="161189"/>
                </a:lnTo>
                <a:lnTo>
                  <a:pt x="39370" y="0"/>
                </a:lnTo>
                <a:close/>
              </a:path>
              <a:path w="864235" h="923289">
                <a:moveTo>
                  <a:pt x="754964" y="717494"/>
                </a:moveTo>
                <a:lnTo>
                  <a:pt x="742411" y="720151"/>
                </a:lnTo>
                <a:lnTo>
                  <a:pt x="733518" y="728404"/>
                </a:lnTo>
                <a:lnTo>
                  <a:pt x="729735" y="739635"/>
                </a:lnTo>
                <a:lnTo>
                  <a:pt x="731869" y="751676"/>
                </a:lnTo>
                <a:lnTo>
                  <a:pt x="764301" y="822577"/>
                </a:lnTo>
                <a:lnTo>
                  <a:pt x="817734" y="822577"/>
                </a:lnTo>
                <a:lnTo>
                  <a:pt x="774669" y="728663"/>
                </a:lnTo>
                <a:lnTo>
                  <a:pt x="766273" y="720613"/>
                </a:lnTo>
                <a:lnTo>
                  <a:pt x="754964" y="717494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600640" y="3577166"/>
            <a:ext cx="219075" cy="2077720"/>
          </a:xfrm>
          <a:custGeom>
            <a:avLst/>
            <a:gdLst/>
            <a:ahLst/>
            <a:cxnLst/>
            <a:rect l="l" t="t" r="r" b="b"/>
            <a:pathLst>
              <a:path w="219075" h="2077720">
                <a:moveTo>
                  <a:pt x="22621" y="1858950"/>
                </a:moveTo>
                <a:lnTo>
                  <a:pt x="10413" y="1862943"/>
                </a:lnTo>
                <a:lnTo>
                  <a:pt x="2557" y="1872035"/>
                </a:lnTo>
                <a:lnTo>
                  <a:pt x="0" y="1883506"/>
                </a:lnTo>
                <a:lnTo>
                  <a:pt x="3313" y="1895174"/>
                </a:lnTo>
                <a:lnTo>
                  <a:pt x="109564" y="2077267"/>
                </a:lnTo>
                <a:lnTo>
                  <a:pt x="190068" y="1938920"/>
                </a:lnTo>
                <a:lnTo>
                  <a:pt x="85216" y="1938920"/>
                </a:lnTo>
                <a:lnTo>
                  <a:pt x="43257" y="1867576"/>
                </a:lnTo>
                <a:lnTo>
                  <a:pt x="34106" y="1860718"/>
                </a:lnTo>
                <a:lnTo>
                  <a:pt x="22621" y="1858950"/>
                </a:lnTo>
                <a:close/>
              </a:path>
              <a:path w="219075" h="2077720">
                <a:moveTo>
                  <a:pt x="133911" y="0"/>
                </a:moveTo>
                <a:lnTo>
                  <a:pt x="85214" y="0"/>
                </a:lnTo>
                <a:lnTo>
                  <a:pt x="85216" y="1938920"/>
                </a:lnTo>
                <a:lnTo>
                  <a:pt x="133913" y="1938920"/>
                </a:lnTo>
                <a:lnTo>
                  <a:pt x="133911" y="0"/>
                </a:lnTo>
                <a:close/>
              </a:path>
              <a:path w="219075" h="2077720">
                <a:moveTo>
                  <a:pt x="193523" y="1858596"/>
                </a:moveTo>
                <a:lnTo>
                  <a:pt x="182278" y="1862017"/>
                </a:lnTo>
                <a:lnTo>
                  <a:pt x="173751" y="1870643"/>
                </a:lnTo>
                <a:lnTo>
                  <a:pt x="133913" y="1938920"/>
                </a:lnTo>
                <a:lnTo>
                  <a:pt x="190068" y="1938920"/>
                </a:lnTo>
                <a:lnTo>
                  <a:pt x="217373" y="1891996"/>
                </a:lnTo>
                <a:lnTo>
                  <a:pt x="218923" y="1880602"/>
                </a:lnTo>
                <a:lnTo>
                  <a:pt x="214830" y="1869668"/>
                </a:lnTo>
                <a:lnTo>
                  <a:pt x="205306" y="1860956"/>
                </a:lnTo>
                <a:lnTo>
                  <a:pt x="193523" y="1858596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965477" y="3569746"/>
            <a:ext cx="2680335" cy="2231390"/>
          </a:xfrm>
          <a:custGeom>
            <a:avLst/>
            <a:gdLst/>
            <a:ahLst/>
            <a:cxnLst/>
            <a:rect l="l" t="t" r="r" b="b"/>
            <a:pathLst>
              <a:path w="2680334" h="2231390">
                <a:moveTo>
                  <a:pt x="2469156" y="0"/>
                </a:moveTo>
                <a:lnTo>
                  <a:pt x="2455821" y="3425"/>
                </a:lnTo>
                <a:lnTo>
                  <a:pt x="2446647" y="13193"/>
                </a:lnTo>
                <a:lnTo>
                  <a:pt x="2447033" y="30456"/>
                </a:lnTo>
                <a:lnTo>
                  <a:pt x="2452572" y="41898"/>
                </a:lnTo>
                <a:lnTo>
                  <a:pt x="2461779" y="47748"/>
                </a:lnTo>
                <a:lnTo>
                  <a:pt x="2546473" y="51415"/>
                </a:lnTo>
                <a:lnTo>
                  <a:pt x="2520819" y="65199"/>
                </a:lnTo>
                <a:lnTo>
                  <a:pt x="2372606" y="146359"/>
                </a:lnTo>
                <a:lnTo>
                  <a:pt x="2223188" y="231225"/>
                </a:lnTo>
                <a:lnTo>
                  <a:pt x="2147743" y="275682"/>
                </a:lnTo>
                <a:lnTo>
                  <a:pt x="2071748" y="321777"/>
                </a:lnTo>
                <a:lnTo>
                  <a:pt x="1995130" y="369738"/>
                </a:lnTo>
                <a:lnTo>
                  <a:pt x="1917820" y="419798"/>
                </a:lnTo>
                <a:lnTo>
                  <a:pt x="1839744" y="472184"/>
                </a:lnTo>
                <a:lnTo>
                  <a:pt x="1760835" y="527126"/>
                </a:lnTo>
                <a:lnTo>
                  <a:pt x="1681020" y="584855"/>
                </a:lnTo>
                <a:lnTo>
                  <a:pt x="1600227" y="645596"/>
                </a:lnTo>
                <a:lnTo>
                  <a:pt x="1518386" y="709583"/>
                </a:lnTo>
                <a:lnTo>
                  <a:pt x="1435430" y="777034"/>
                </a:lnTo>
                <a:lnTo>
                  <a:pt x="1351338" y="848081"/>
                </a:lnTo>
                <a:lnTo>
                  <a:pt x="1266162" y="922566"/>
                </a:lnTo>
                <a:lnTo>
                  <a:pt x="1179970" y="1000258"/>
                </a:lnTo>
                <a:lnTo>
                  <a:pt x="1092835" y="1080928"/>
                </a:lnTo>
                <a:lnTo>
                  <a:pt x="1004826" y="1164349"/>
                </a:lnTo>
                <a:lnTo>
                  <a:pt x="916016" y="1250290"/>
                </a:lnTo>
                <a:lnTo>
                  <a:pt x="826477" y="1338522"/>
                </a:lnTo>
                <a:lnTo>
                  <a:pt x="736285" y="1428814"/>
                </a:lnTo>
                <a:lnTo>
                  <a:pt x="645509" y="1520936"/>
                </a:lnTo>
                <a:lnTo>
                  <a:pt x="554191" y="1614695"/>
                </a:lnTo>
                <a:lnTo>
                  <a:pt x="370406" y="1806008"/>
                </a:lnTo>
                <a:lnTo>
                  <a:pt x="0" y="2197703"/>
                </a:lnTo>
                <a:lnTo>
                  <a:pt x="35438" y="2231092"/>
                </a:lnTo>
                <a:lnTo>
                  <a:pt x="405687" y="1839564"/>
                </a:lnTo>
                <a:lnTo>
                  <a:pt x="589252" y="1648481"/>
                </a:lnTo>
                <a:lnTo>
                  <a:pt x="680352" y="1554947"/>
                </a:lnTo>
                <a:lnTo>
                  <a:pt x="770917" y="1463038"/>
                </a:lnTo>
                <a:lnTo>
                  <a:pt x="860868" y="1372990"/>
                </a:lnTo>
                <a:lnTo>
                  <a:pt x="950123" y="1285038"/>
                </a:lnTo>
                <a:lnTo>
                  <a:pt x="1038599" y="1199422"/>
                </a:lnTo>
                <a:lnTo>
                  <a:pt x="1126232" y="1116360"/>
                </a:lnTo>
                <a:lnTo>
                  <a:pt x="1212938" y="1036088"/>
                </a:lnTo>
                <a:lnTo>
                  <a:pt x="1298637" y="958843"/>
                </a:lnTo>
                <a:lnTo>
                  <a:pt x="1383243" y="884861"/>
                </a:lnTo>
                <a:lnTo>
                  <a:pt x="1466684" y="814368"/>
                </a:lnTo>
                <a:lnTo>
                  <a:pt x="1548932" y="747497"/>
                </a:lnTo>
                <a:lnTo>
                  <a:pt x="1630043" y="684089"/>
                </a:lnTo>
                <a:lnTo>
                  <a:pt x="1710107" y="623900"/>
                </a:lnTo>
                <a:lnTo>
                  <a:pt x="1789202" y="566698"/>
                </a:lnTo>
                <a:lnTo>
                  <a:pt x="1867405" y="512253"/>
                </a:lnTo>
                <a:lnTo>
                  <a:pt x="1944785" y="460336"/>
                </a:lnTo>
                <a:lnTo>
                  <a:pt x="2021453" y="410696"/>
                </a:lnTo>
                <a:lnTo>
                  <a:pt x="2097434" y="363137"/>
                </a:lnTo>
                <a:lnTo>
                  <a:pt x="2172872" y="317383"/>
                </a:lnTo>
                <a:lnTo>
                  <a:pt x="2247755" y="273259"/>
                </a:lnTo>
                <a:lnTo>
                  <a:pt x="2396487" y="188786"/>
                </a:lnTo>
                <a:lnTo>
                  <a:pt x="2544137" y="107938"/>
                </a:lnTo>
                <a:lnTo>
                  <a:pt x="2569524" y="94298"/>
                </a:lnTo>
                <a:lnTo>
                  <a:pt x="2626469" y="94298"/>
                </a:lnTo>
                <a:lnTo>
                  <a:pt x="2679896" y="7367"/>
                </a:lnTo>
                <a:lnTo>
                  <a:pt x="2469156" y="0"/>
                </a:lnTo>
                <a:close/>
              </a:path>
              <a:path w="2680334" h="2231390">
                <a:moveTo>
                  <a:pt x="2626469" y="94298"/>
                </a:moveTo>
                <a:lnTo>
                  <a:pt x="2569524" y="94298"/>
                </a:lnTo>
                <a:lnTo>
                  <a:pt x="2528225" y="161702"/>
                </a:lnTo>
                <a:lnTo>
                  <a:pt x="2524661" y="173288"/>
                </a:lnTo>
                <a:lnTo>
                  <a:pt x="2526964" y="184804"/>
                </a:lnTo>
                <a:lnTo>
                  <a:pt x="2534608" y="194062"/>
                </a:lnTo>
                <a:lnTo>
                  <a:pt x="2546725" y="198326"/>
                </a:lnTo>
                <a:lnTo>
                  <a:pt x="2558240" y="196822"/>
                </a:lnTo>
                <a:lnTo>
                  <a:pt x="2567536" y="190188"/>
                </a:lnTo>
                <a:lnTo>
                  <a:pt x="2626469" y="94298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684548" y="5001416"/>
            <a:ext cx="414020" cy="977900"/>
          </a:xfrm>
          <a:custGeom>
            <a:avLst/>
            <a:gdLst/>
            <a:ahLst/>
            <a:cxnLst/>
            <a:rect l="l" t="t" r="r" b="b"/>
            <a:pathLst>
              <a:path w="414019" h="977900">
                <a:moveTo>
                  <a:pt x="52253" y="751052"/>
                </a:moveTo>
                <a:lnTo>
                  <a:pt x="41807" y="758132"/>
                </a:lnTo>
                <a:lnTo>
                  <a:pt x="36240" y="769874"/>
                </a:lnTo>
                <a:lnTo>
                  <a:pt x="0" y="977548"/>
                </a:lnTo>
                <a:lnTo>
                  <a:pt x="200587" y="906084"/>
                </a:lnTo>
                <a:lnTo>
                  <a:pt x="209916" y="898543"/>
                </a:lnTo>
                <a:lnTo>
                  <a:pt x="214220" y="887968"/>
                </a:lnTo>
                <a:lnTo>
                  <a:pt x="106528" y="887968"/>
                </a:lnTo>
                <a:lnTo>
                  <a:pt x="126986" y="862249"/>
                </a:lnTo>
                <a:lnTo>
                  <a:pt x="132710" y="854548"/>
                </a:lnTo>
                <a:lnTo>
                  <a:pt x="70896" y="854548"/>
                </a:lnTo>
                <a:lnTo>
                  <a:pt x="84423" y="771819"/>
                </a:lnTo>
                <a:lnTo>
                  <a:pt x="80245" y="761947"/>
                </a:lnTo>
                <a:lnTo>
                  <a:pt x="69753" y="754564"/>
                </a:lnTo>
                <a:lnTo>
                  <a:pt x="52253" y="751052"/>
                </a:lnTo>
                <a:close/>
              </a:path>
              <a:path w="414019" h="977900">
                <a:moveTo>
                  <a:pt x="194693" y="859948"/>
                </a:moveTo>
                <a:lnTo>
                  <a:pt x="182333" y="860997"/>
                </a:lnTo>
                <a:lnTo>
                  <a:pt x="106528" y="887968"/>
                </a:lnTo>
                <a:lnTo>
                  <a:pt x="214220" y="887968"/>
                </a:lnTo>
                <a:lnTo>
                  <a:pt x="214415" y="887491"/>
                </a:lnTo>
                <a:lnTo>
                  <a:pt x="213051" y="874758"/>
                </a:lnTo>
                <a:lnTo>
                  <a:pt x="205661" y="864881"/>
                </a:lnTo>
                <a:lnTo>
                  <a:pt x="194693" y="859948"/>
                </a:lnTo>
                <a:close/>
              </a:path>
              <a:path w="414019" h="977900">
                <a:moveTo>
                  <a:pt x="365593" y="0"/>
                </a:moveTo>
                <a:lnTo>
                  <a:pt x="340766" y="157281"/>
                </a:lnTo>
                <a:lnTo>
                  <a:pt x="327456" y="234189"/>
                </a:lnTo>
                <a:lnTo>
                  <a:pt x="313037" y="309253"/>
                </a:lnTo>
                <a:lnTo>
                  <a:pt x="297150" y="381855"/>
                </a:lnTo>
                <a:lnTo>
                  <a:pt x="279439" y="451397"/>
                </a:lnTo>
                <a:lnTo>
                  <a:pt x="259560" y="517279"/>
                </a:lnTo>
                <a:lnTo>
                  <a:pt x="237175" y="578933"/>
                </a:lnTo>
                <a:lnTo>
                  <a:pt x="212013" y="636131"/>
                </a:lnTo>
                <a:lnTo>
                  <a:pt x="184252" y="689443"/>
                </a:lnTo>
                <a:lnTo>
                  <a:pt x="154211" y="739510"/>
                </a:lnTo>
                <a:lnTo>
                  <a:pt x="122219" y="786926"/>
                </a:lnTo>
                <a:lnTo>
                  <a:pt x="88610" y="832276"/>
                </a:lnTo>
                <a:lnTo>
                  <a:pt x="70896" y="854548"/>
                </a:lnTo>
                <a:lnTo>
                  <a:pt x="132710" y="854548"/>
                </a:lnTo>
                <a:lnTo>
                  <a:pt x="161667" y="815474"/>
                </a:lnTo>
                <a:lnTo>
                  <a:pt x="194943" y="766198"/>
                </a:lnTo>
                <a:lnTo>
                  <a:pt x="226390" y="713858"/>
                </a:lnTo>
                <a:lnTo>
                  <a:pt x="255577" y="657901"/>
                </a:lnTo>
                <a:lnTo>
                  <a:pt x="282075" y="597794"/>
                </a:lnTo>
                <a:lnTo>
                  <a:pt x="305564" y="533259"/>
                </a:lnTo>
                <a:lnTo>
                  <a:pt x="326214" y="464949"/>
                </a:lnTo>
                <a:lnTo>
                  <a:pt x="344444" y="393467"/>
                </a:lnTo>
                <a:lnTo>
                  <a:pt x="360676" y="319352"/>
                </a:lnTo>
                <a:lnTo>
                  <a:pt x="375321" y="243149"/>
                </a:lnTo>
                <a:lnTo>
                  <a:pt x="388781" y="165404"/>
                </a:lnTo>
                <a:lnTo>
                  <a:pt x="413694" y="7589"/>
                </a:lnTo>
                <a:lnTo>
                  <a:pt x="3655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163636" y="3641973"/>
            <a:ext cx="508634" cy="2207895"/>
          </a:xfrm>
          <a:custGeom>
            <a:avLst/>
            <a:gdLst/>
            <a:ahLst/>
            <a:cxnLst/>
            <a:rect l="l" t="t" r="r" b="b"/>
            <a:pathLst>
              <a:path w="508634" h="2207895">
                <a:moveTo>
                  <a:pt x="496598" y="117783"/>
                </a:moveTo>
                <a:lnTo>
                  <a:pt x="405114" y="117783"/>
                </a:lnTo>
                <a:lnTo>
                  <a:pt x="400550" y="128512"/>
                </a:lnTo>
                <a:lnTo>
                  <a:pt x="342762" y="266580"/>
                </a:lnTo>
                <a:lnTo>
                  <a:pt x="286823" y="404782"/>
                </a:lnTo>
                <a:lnTo>
                  <a:pt x="233686" y="543123"/>
                </a:lnTo>
                <a:lnTo>
                  <a:pt x="184310" y="681612"/>
                </a:lnTo>
                <a:lnTo>
                  <a:pt x="139651" y="820261"/>
                </a:lnTo>
                <a:lnTo>
                  <a:pt x="119326" y="889871"/>
                </a:lnTo>
                <a:lnTo>
                  <a:pt x="100608" y="959324"/>
                </a:lnTo>
                <a:lnTo>
                  <a:pt x="83553" y="1028826"/>
                </a:lnTo>
                <a:lnTo>
                  <a:pt x="68284" y="1098376"/>
                </a:lnTo>
                <a:lnTo>
                  <a:pt x="54884" y="1167961"/>
                </a:lnTo>
                <a:lnTo>
                  <a:pt x="43287" y="1237529"/>
                </a:lnTo>
                <a:lnTo>
                  <a:pt x="33376" y="1307064"/>
                </a:lnTo>
                <a:lnTo>
                  <a:pt x="25027" y="1376564"/>
                </a:lnTo>
                <a:lnTo>
                  <a:pt x="12556" y="1515223"/>
                </a:lnTo>
                <a:lnTo>
                  <a:pt x="4855" y="1653990"/>
                </a:lnTo>
                <a:lnTo>
                  <a:pt x="991" y="1792596"/>
                </a:lnTo>
                <a:lnTo>
                  <a:pt x="0" y="1931371"/>
                </a:lnTo>
                <a:lnTo>
                  <a:pt x="919" y="2069307"/>
                </a:lnTo>
                <a:lnTo>
                  <a:pt x="2791" y="2207411"/>
                </a:lnTo>
                <a:lnTo>
                  <a:pt x="51483" y="2206751"/>
                </a:lnTo>
                <a:lnTo>
                  <a:pt x="49613" y="2068899"/>
                </a:lnTo>
                <a:lnTo>
                  <a:pt x="48696" y="1931215"/>
                </a:lnTo>
                <a:lnTo>
                  <a:pt x="49676" y="1793698"/>
                </a:lnTo>
                <a:lnTo>
                  <a:pt x="53496" y="1656349"/>
                </a:lnTo>
                <a:lnTo>
                  <a:pt x="61094" y="1519163"/>
                </a:lnTo>
                <a:lnTo>
                  <a:pt x="73421" y="1382005"/>
                </a:lnTo>
                <a:lnTo>
                  <a:pt x="81624" y="1313662"/>
                </a:lnTo>
                <a:lnTo>
                  <a:pt x="91370" y="1245243"/>
                </a:lnTo>
                <a:lnTo>
                  <a:pt x="102762" y="1176859"/>
                </a:lnTo>
                <a:lnTo>
                  <a:pt x="115916" y="1108500"/>
                </a:lnTo>
                <a:lnTo>
                  <a:pt x="130919" y="1040132"/>
                </a:lnTo>
                <a:lnTo>
                  <a:pt x="147700" y="971721"/>
                </a:lnTo>
                <a:lnTo>
                  <a:pt x="166145" y="903263"/>
                </a:lnTo>
                <a:lnTo>
                  <a:pt x="186108" y="834859"/>
                </a:lnTo>
                <a:lnTo>
                  <a:pt x="230306" y="697602"/>
                </a:lnTo>
                <a:lnTo>
                  <a:pt x="279253" y="560297"/>
                </a:lnTo>
                <a:lnTo>
                  <a:pt x="332045" y="422841"/>
                </a:lnTo>
                <a:lnTo>
                  <a:pt x="387741" y="285238"/>
                </a:lnTo>
                <a:lnTo>
                  <a:pt x="445390" y="147499"/>
                </a:lnTo>
                <a:lnTo>
                  <a:pt x="449926" y="136837"/>
                </a:lnTo>
                <a:lnTo>
                  <a:pt x="499011" y="136837"/>
                </a:lnTo>
                <a:lnTo>
                  <a:pt x="496598" y="117783"/>
                </a:lnTo>
                <a:close/>
              </a:path>
              <a:path w="508634" h="2207895">
                <a:moveTo>
                  <a:pt x="499011" y="136837"/>
                </a:moveTo>
                <a:lnTo>
                  <a:pt x="449926" y="136837"/>
                </a:lnTo>
                <a:lnTo>
                  <a:pt x="462178" y="222766"/>
                </a:lnTo>
                <a:lnTo>
                  <a:pt x="469288" y="230247"/>
                </a:lnTo>
                <a:lnTo>
                  <a:pt x="481173" y="233796"/>
                </a:lnTo>
                <a:lnTo>
                  <a:pt x="498013" y="232119"/>
                </a:lnTo>
                <a:lnTo>
                  <a:pt x="506205" y="222219"/>
                </a:lnTo>
                <a:lnTo>
                  <a:pt x="508167" y="209142"/>
                </a:lnTo>
                <a:lnTo>
                  <a:pt x="499011" y="136837"/>
                </a:lnTo>
                <a:close/>
              </a:path>
              <a:path w="508634" h="2207895">
                <a:moveTo>
                  <a:pt x="481683" y="0"/>
                </a:moveTo>
                <a:lnTo>
                  <a:pt x="309860" y="128389"/>
                </a:lnTo>
                <a:lnTo>
                  <a:pt x="304031" y="138255"/>
                </a:lnTo>
                <a:lnTo>
                  <a:pt x="303539" y="149878"/>
                </a:lnTo>
                <a:lnTo>
                  <a:pt x="308870" y="161566"/>
                </a:lnTo>
                <a:lnTo>
                  <a:pt x="318791" y="168366"/>
                </a:lnTo>
                <a:lnTo>
                  <a:pt x="330488" y="169628"/>
                </a:lnTo>
                <a:lnTo>
                  <a:pt x="341722" y="165025"/>
                </a:lnTo>
                <a:lnTo>
                  <a:pt x="405114" y="117783"/>
                </a:lnTo>
                <a:lnTo>
                  <a:pt x="496598" y="117783"/>
                </a:lnTo>
                <a:lnTo>
                  <a:pt x="4816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ct val="100000"/>
              </a:lnSpc>
            </a:pPr>
            <a:r>
              <a:rPr sz="2950" spc="100" dirty="0"/>
              <a:t>整个故事要从进入内核开始</a:t>
            </a:r>
            <a:r>
              <a:rPr sz="3050" spc="15" dirty="0">
                <a:latin typeface="Arial" panose="020B0604020202020204"/>
                <a:cs typeface="Arial" panose="020B0604020202020204"/>
              </a:rPr>
              <a:t>——</a:t>
            </a:r>
            <a:r>
              <a:rPr sz="2950" spc="100" dirty="0"/>
              <a:t>某个中断开始</a:t>
            </a:r>
            <a:r>
              <a:rPr sz="3050" spc="15" dirty="0">
                <a:latin typeface="Arial" panose="020B0604020202020204"/>
                <a:cs typeface="Arial" panose="020B0604020202020204"/>
              </a:rPr>
              <a:t>…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7043" y="1889478"/>
            <a:ext cx="1298575" cy="3739515"/>
          </a:xfrm>
          <a:custGeom>
            <a:avLst/>
            <a:gdLst/>
            <a:ahLst/>
            <a:cxnLst/>
            <a:rect l="l" t="t" r="r" b="b"/>
            <a:pathLst>
              <a:path w="1298575" h="3739515">
                <a:moveTo>
                  <a:pt x="0" y="0"/>
                </a:moveTo>
                <a:lnTo>
                  <a:pt x="1298575" y="0"/>
                </a:lnTo>
                <a:lnTo>
                  <a:pt x="1298575" y="3739150"/>
                </a:lnTo>
                <a:lnTo>
                  <a:pt x="0" y="3739150"/>
                </a:lnTo>
                <a:lnTo>
                  <a:pt x="0" y="0"/>
                </a:lnTo>
                <a:close/>
              </a:path>
            </a:pathLst>
          </a:custGeom>
          <a:ln w="243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85397" y="1991555"/>
            <a:ext cx="931544" cy="3198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Tahoma" panose="020B0604030504040204"/>
                <a:cs typeface="Tahoma" panose="020B0604030504040204"/>
              </a:rPr>
              <a:t>m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a</a:t>
            </a:r>
            <a:r>
              <a:rPr sz="1700" b="1" spc="-10" dirty="0">
                <a:latin typeface="Tahoma" panose="020B0604030504040204"/>
                <a:cs typeface="Tahoma" panose="020B0604030504040204"/>
              </a:rPr>
              <a:t>i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n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(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)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700" b="1" dirty="0">
                <a:latin typeface="Tahoma" panose="020B0604030504040204"/>
                <a:cs typeface="Tahoma" panose="020B0604030504040204"/>
              </a:rPr>
              <a:t>{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 marL="203200">
              <a:lnSpc>
                <a:spcPct val="100000"/>
              </a:lnSpc>
              <a:spcBef>
                <a:spcPts val="825"/>
              </a:spcBef>
            </a:pPr>
            <a:r>
              <a:rPr sz="1700" b="1" spc="5" dirty="0">
                <a:latin typeface="Tahoma" panose="020B0604030504040204"/>
                <a:cs typeface="Tahoma" panose="020B0604030504040204"/>
              </a:rPr>
              <a:t>A(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)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;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 marL="203200">
              <a:lnSpc>
                <a:spcPct val="100000"/>
              </a:lnSpc>
              <a:spcBef>
                <a:spcPts val="790"/>
              </a:spcBef>
            </a:pPr>
            <a:r>
              <a:rPr sz="1700" b="1" spc="5" dirty="0">
                <a:latin typeface="Tahoma" panose="020B0604030504040204"/>
                <a:cs typeface="Tahoma" panose="020B0604030504040204"/>
              </a:rPr>
              <a:t>B();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 marL="12700" marR="486410">
              <a:lnSpc>
                <a:spcPct val="141000"/>
              </a:lnSpc>
            </a:pPr>
            <a:r>
              <a:rPr sz="1700" b="1" dirty="0">
                <a:latin typeface="Tahoma" panose="020B0604030504040204"/>
                <a:cs typeface="Tahoma" panose="020B0604030504040204"/>
              </a:rPr>
              <a:t>} 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A(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)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700" b="1" dirty="0">
                <a:latin typeface="Tahoma" panose="020B0604030504040204"/>
                <a:cs typeface="Tahoma" panose="020B0604030504040204"/>
              </a:rPr>
              <a:t>{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 marL="203200">
              <a:lnSpc>
                <a:spcPct val="100000"/>
              </a:lnSpc>
              <a:spcBef>
                <a:spcPts val="825"/>
              </a:spcBef>
            </a:pPr>
            <a:r>
              <a:rPr sz="1700" b="1" spc="-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f</a:t>
            </a:r>
            <a:r>
              <a:rPr sz="1700" b="1" spc="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o</a:t>
            </a:r>
            <a:r>
              <a:rPr sz="1700" b="1" spc="-10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r</a:t>
            </a:r>
            <a:r>
              <a:rPr sz="1700" b="1" spc="-10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k</a:t>
            </a:r>
            <a:r>
              <a:rPr sz="1700" b="1" spc="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()</a:t>
            </a:r>
            <a:r>
              <a:rPr sz="1700" b="1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;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700" b="1" dirty="0">
                <a:latin typeface="Tahoma" panose="020B0604030504040204"/>
                <a:cs typeface="Tahoma" panose="020B0604030504040204"/>
              </a:rPr>
              <a:t>}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24906" y="1889478"/>
            <a:ext cx="1948180" cy="649605"/>
          </a:xfrm>
          <a:custGeom>
            <a:avLst/>
            <a:gdLst/>
            <a:ahLst/>
            <a:cxnLst/>
            <a:rect l="l" t="t" r="r" b="b"/>
            <a:pathLst>
              <a:path w="1948179" h="649605">
                <a:moveTo>
                  <a:pt x="0" y="0"/>
                </a:moveTo>
                <a:lnTo>
                  <a:pt x="1947862" y="0"/>
                </a:lnTo>
                <a:lnTo>
                  <a:pt x="1947862" y="649111"/>
                </a:lnTo>
                <a:lnTo>
                  <a:pt x="0" y="649111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424906" y="2538589"/>
            <a:ext cx="1948180" cy="519430"/>
          </a:xfrm>
          <a:custGeom>
            <a:avLst/>
            <a:gdLst/>
            <a:ahLst/>
            <a:cxnLst/>
            <a:rect l="l" t="t" r="r" b="b"/>
            <a:pathLst>
              <a:path w="1948179" h="519430">
                <a:moveTo>
                  <a:pt x="0" y="519288"/>
                </a:moveTo>
                <a:lnTo>
                  <a:pt x="1947862" y="519288"/>
                </a:lnTo>
                <a:lnTo>
                  <a:pt x="1947862" y="0"/>
                </a:lnTo>
                <a:lnTo>
                  <a:pt x="0" y="0"/>
                </a:lnTo>
                <a:lnTo>
                  <a:pt x="0" y="5192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424906" y="2538589"/>
            <a:ext cx="1948180" cy="519430"/>
          </a:xfrm>
          <a:custGeom>
            <a:avLst/>
            <a:gdLst/>
            <a:ahLst/>
            <a:cxnLst/>
            <a:rect l="l" t="t" r="r" b="b"/>
            <a:pathLst>
              <a:path w="1948179" h="519430">
                <a:moveTo>
                  <a:pt x="0" y="0"/>
                </a:moveTo>
                <a:lnTo>
                  <a:pt x="1947862" y="0"/>
                </a:lnTo>
                <a:lnTo>
                  <a:pt x="1947862" y="519288"/>
                </a:lnTo>
                <a:lnTo>
                  <a:pt x="0" y="519288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490120" y="1928279"/>
            <a:ext cx="1736089" cy="1023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main: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2700" indent="466090">
              <a:lnSpc>
                <a:spcPct val="100000"/>
              </a:lnSpc>
              <a:spcBef>
                <a:spcPts val="65"/>
              </a:spcBef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ret=exit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A:</a:t>
            </a:r>
            <a:r>
              <a:rPr sz="2000" b="1" spc="2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ret=B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02626" y="2084210"/>
            <a:ext cx="65405" cy="649605"/>
          </a:xfrm>
          <a:custGeom>
            <a:avLst/>
            <a:gdLst/>
            <a:ahLst/>
            <a:cxnLst/>
            <a:rect l="l" t="t" r="r" b="b"/>
            <a:pathLst>
              <a:path w="65404" h="649605">
                <a:moveTo>
                  <a:pt x="64928" y="486832"/>
                </a:moveTo>
                <a:lnTo>
                  <a:pt x="0" y="486832"/>
                </a:lnTo>
                <a:lnTo>
                  <a:pt x="32463" y="649110"/>
                </a:lnTo>
                <a:lnTo>
                  <a:pt x="64928" y="486832"/>
                </a:lnTo>
                <a:close/>
              </a:path>
              <a:path w="65404" h="649605">
                <a:moveTo>
                  <a:pt x="48696" y="0"/>
                </a:moveTo>
                <a:lnTo>
                  <a:pt x="16231" y="0"/>
                </a:lnTo>
                <a:lnTo>
                  <a:pt x="16231" y="486832"/>
                </a:lnTo>
                <a:lnTo>
                  <a:pt x="48696" y="486832"/>
                </a:lnTo>
                <a:lnTo>
                  <a:pt x="486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02626" y="2084210"/>
            <a:ext cx="65405" cy="649605"/>
          </a:xfrm>
          <a:custGeom>
            <a:avLst/>
            <a:gdLst/>
            <a:ahLst/>
            <a:cxnLst/>
            <a:rect l="l" t="t" r="r" b="b"/>
            <a:pathLst>
              <a:path w="65404" h="649605">
                <a:moveTo>
                  <a:pt x="48696" y="0"/>
                </a:moveTo>
                <a:lnTo>
                  <a:pt x="48696" y="486833"/>
                </a:lnTo>
                <a:lnTo>
                  <a:pt x="64928" y="486833"/>
                </a:lnTo>
                <a:lnTo>
                  <a:pt x="32464" y="649111"/>
                </a:lnTo>
                <a:lnTo>
                  <a:pt x="0" y="486833"/>
                </a:lnTo>
                <a:lnTo>
                  <a:pt x="16232" y="486833"/>
                </a:lnTo>
                <a:lnTo>
                  <a:pt x="16232" y="0"/>
                </a:lnTo>
                <a:lnTo>
                  <a:pt x="48696" y="0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928113" y="2110839"/>
            <a:ext cx="235585" cy="666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1670"/>
              </a:lnSpc>
            </a:pPr>
            <a:r>
              <a:rPr sz="1700" b="1" spc="-45" dirty="0">
                <a:latin typeface="宋体" panose="02010600030101010101" pitchFamily="2" charset="-122"/>
                <a:cs typeface="宋体" panose="02010600030101010101" pitchFamily="2" charset="-122"/>
              </a:rPr>
              <a:t>用 户 栈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054520" y="2019300"/>
            <a:ext cx="1948180" cy="649605"/>
          </a:xfrm>
          <a:custGeom>
            <a:avLst/>
            <a:gdLst/>
            <a:ahLst/>
            <a:cxnLst/>
            <a:rect l="l" t="t" r="r" b="b"/>
            <a:pathLst>
              <a:path w="1948179" h="649605">
                <a:moveTo>
                  <a:pt x="0" y="0"/>
                </a:moveTo>
                <a:lnTo>
                  <a:pt x="1947862" y="0"/>
                </a:lnTo>
                <a:lnTo>
                  <a:pt x="1947862" y="649111"/>
                </a:lnTo>
                <a:lnTo>
                  <a:pt x="0" y="649111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054520" y="2668411"/>
            <a:ext cx="1948180" cy="519430"/>
          </a:xfrm>
          <a:custGeom>
            <a:avLst/>
            <a:gdLst/>
            <a:ahLst/>
            <a:cxnLst/>
            <a:rect l="l" t="t" r="r" b="b"/>
            <a:pathLst>
              <a:path w="1948179" h="519430">
                <a:moveTo>
                  <a:pt x="0" y="519288"/>
                </a:moveTo>
                <a:lnTo>
                  <a:pt x="1947862" y="519288"/>
                </a:lnTo>
                <a:lnTo>
                  <a:pt x="1947862" y="0"/>
                </a:lnTo>
                <a:lnTo>
                  <a:pt x="0" y="0"/>
                </a:lnTo>
                <a:lnTo>
                  <a:pt x="0" y="5192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054520" y="2668410"/>
            <a:ext cx="1948180" cy="519430"/>
          </a:xfrm>
          <a:custGeom>
            <a:avLst/>
            <a:gdLst/>
            <a:ahLst/>
            <a:cxnLst/>
            <a:rect l="l" t="t" r="r" b="b"/>
            <a:pathLst>
              <a:path w="1948179" h="519430">
                <a:moveTo>
                  <a:pt x="0" y="0"/>
                </a:moveTo>
                <a:lnTo>
                  <a:pt x="1947862" y="0"/>
                </a:lnTo>
                <a:lnTo>
                  <a:pt x="1947862" y="519288"/>
                </a:lnTo>
                <a:lnTo>
                  <a:pt x="0" y="519288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119734" y="2058066"/>
            <a:ext cx="1736089" cy="1023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main: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2700" indent="466090">
              <a:lnSpc>
                <a:spcPct val="100000"/>
              </a:lnSpc>
              <a:spcBef>
                <a:spcPts val="65"/>
              </a:spcBef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ret=exit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A:</a:t>
            </a:r>
            <a:r>
              <a:rPr sz="2000" b="1" spc="2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ret=B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132241" y="2214032"/>
            <a:ext cx="65405" cy="649605"/>
          </a:xfrm>
          <a:custGeom>
            <a:avLst/>
            <a:gdLst/>
            <a:ahLst/>
            <a:cxnLst/>
            <a:rect l="l" t="t" r="r" b="b"/>
            <a:pathLst>
              <a:path w="65404" h="649605">
                <a:moveTo>
                  <a:pt x="64928" y="486834"/>
                </a:moveTo>
                <a:lnTo>
                  <a:pt x="0" y="486834"/>
                </a:lnTo>
                <a:lnTo>
                  <a:pt x="32463" y="649110"/>
                </a:lnTo>
                <a:lnTo>
                  <a:pt x="64928" y="486834"/>
                </a:lnTo>
                <a:close/>
              </a:path>
              <a:path w="65404" h="649605">
                <a:moveTo>
                  <a:pt x="48695" y="0"/>
                </a:moveTo>
                <a:lnTo>
                  <a:pt x="16231" y="0"/>
                </a:lnTo>
                <a:lnTo>
                  <a:pt x="16231" y="486834"/>
                </a:lnTo>
                <a:lnTo>
                  <a:pt x="48695" y="486834"/>
                </a:lnTo>
                <a:lnTo>
                  <a:pt x="486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132241" y="2214032"/>
            <a:ext cx="65405" cy="649605"/>
          </a:xfrm>
          <a:custGeom>
            <a:avLst/>
            <a:gdLst/>
            <a:ahLst/>
            <a:cxnLst/>
            <a:rect l="l" t="t" r="r" b="b"/>
            <a:pathLst>
              <a:path w="65404" h="649605">
                <a:moveTo>
                  <a:pt x="48696" y="0"/>
                </a:moveTo>
                <a:lnTo>
                  <a:pt x="48696" y="486833"/>
                </a:lnTo>
                <a:lnTo>
                  <a:pt x="64928" y="486833"/>
                </a:lnTo>
                <a:lnTo>
                  <a:pt x="32464" y="649111"/>
                </a:lnTo>
                <a:lnTo>
                  <a:pt x="0" y="486833"/>
                </a:lnTo>
                <a:lnTo>
                  <a:pt x="16232" y="486833"/>
                </a:lnTo>
                <a:lnTo>
                  <a:pt x="16232" y="0"/>
                </a:lnTo>
                <a:lnTo>
                  <a:pt x="48696" y="0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384835" y="2013499"/>
            <a:ext cx="235585" cy="666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1670"/>
              </a:lnSpc>
            </a:pPr>
            <a:r>
              <a:rPr sz="1700" b="1" spc="-45" dirty="0">
                <a:latin typeface="宋体" panose="02010600030101010101" pitchFamily="2" charset="-122"/>
                <a:cs typeface="宋体" panose="02010600030101010101" pitchFamily="2" charset="-122"/>
              </a:rPr>
              <a:t>用 户 栈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340303" y="3382433"/>
            <a:ext cx="2856865" cy="0"/>
          </a:xfrm>
          <a:custGeom>
            <a:avLst/>
            <a:gdLst/>
            <a:ahLst/>
            <a:cxnLst/>
            <a:rect l="l" t="t" r="r" b="b"/>
            <a:pathLst>
              <a:path w="2856865">
                <a:moveTo>
                  <a:pt x="0" y="0"/>
                </a:moveTo>
                <a:lnTo>
                  <a:pt x="2856865" y="0"/>
                </a:lnTo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054520" y="4031543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132241" y="3966633"/>
            <a:ext cx="65405" cy="649605"/>
          </a:xfrm>
          <a:custGeom>
            <a:avLst/>
            <a:gdLst/>
            <a:ahLst/>
            <a:cxnLst/>
            <a:rect l="l" t="t" r="r" b="b"/>
            <a:pathLst>
              <a:path w="65404" h="649604">
                <a:moveTo>
                  <a:pt x="64928" y="486834"/>
                </a:moveTo>
                <a:lnTo>
                  <a:pt x="0" y="486834"/>
                </a:lnTo>
                <a:lnTo>
                  <a:pt x="32463" y="649110"/>
                </a:lnTo>
                <a:lnTo>
                  <a:pt x="64928" y="486834"/>
                </a:lnTo>
                <a:close/>
              </a:path>
              <a:path w="65404" h="649604">
                <a:moveTo>
                  <a:pt x="48695" y="0"/>
                </a:moveTo>
                <a:lnTo>
                  <a:pt x="16231" y="0"/>
                </a:lnTo>
                <a:lnTo>
                  <a:pt x="16231" y="486834"/>
                </a:lnTo>
                <a:lnTo>
                  <a:pt x="48695" y="486834"/>
                </a:lnTo>
                <a:lnTo>
                  <a:pt x="486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132241" y="3966633"/>
            <a:ext cx="65405" cy="649605"/>
          </a:xfrm>
          <a:custGeom>
            <a:avLst/>
            <a:gdLst/>
            <a:ahLst/>
            <a:cxnLst/>
            <a:rect l="l" t="t" r="r" b="b"/>
            <a:pathLst>
              <a:path w="65404" h="649604">
                <a:moveTo>
                  <a:pt x="48696" y="0"/>
                </a:moveTo>
                <a:lnTo>
                  <a:pt x="48696" y="486833"/>
                </a:lnTo>
                <a:lnTo>
                  <a:pt x="64928" y="486833"/>
                </a:lnTo>
                <a:lnTo>
                  <a:pt x="32464" y="649111"/>
                </a:lnTo>
                <a:lnTo>
                  <a:pt x="0" y="486833"/>
                </a:lnTo>
                <a:lnTo>
                  <a:pt x="16232" y="486833"/>
                </a:lnTo>
                <a:lnTo>
                  <a:pt x="16232" y="0"/>
                </a:lnTo>
                <a:lnTo>
                  <a:pt x="48696" y="0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054520" y="3577166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054520" y="3577166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548958" y="3673914"/>
            <a:ext cx="958850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9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SS:</a:t>
            </a:r>
            <a:r>
              <a:rPr sz="2000" b="1" spc="2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SP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EFLAGS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84835" y="3538496"/>
            <a:ext cx="235585" cy="666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1670"/>
              </a:lnSpc>
            </a:pPr>
            <a:r>
              <a:rPr sz="1700" b="1" spc="-45" dirty="0">
                <a:latin typeface="宋体" panose="02010600030101010101" pitchFamily="2" charset="-122"/>
                <a:cs typeface="宋体" panose="02010600030101010101" pitchFamily="2" charset="-122"/>
              </a:rPr>
              <a:t>内 核 栈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054520" y="4485922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054520" y="4485921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548958" y="4582423"/>
            <a:ext cx="95885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ret=??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054520" y="4940300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054520" y="4940300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5160168" y="5036677"/>
            <a:ext cx="1736089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system_call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676332" y="3163299"/>
            <a:ext cx="607695" cy="685800"/>
          </a:xfrm>
          <a:custGeom>
            <a:avLst/>
            <a:gdLst/>
            <a:ahLst/>
            <a:cxnLst/>
            <a:rect l="l" t="t" r="r" b="b"/>
            <a:pathLst>
              <a:path w="607695" h="685800">
                <a:moveTo>
                  <a:pt x="449384" y="48176"/>
                </a:moveTo>
                <a:lnTo>
                  <a:pt x="335909" y="48176"/>
                </a:lnTo>
                <a:lnTo>
                  <a:pt x="367539" y="53595"/>
                </a:lnTo>
                <a:lnTo>
                  <a:pt x="415852" y="63981"/>
                </a:lnTo>
                <a:lnTo>
                  <a:pt x="460126" y="76516"/>
                </a:lnTo>
                <a:lnTo>
                  <a:pt x="499244" y="91908"/>
                </a:lnTo>
                <a:lnTo>
                  <a:pt x="544484" y="120971"/>
                </a:lnTo>
                <a:lnTo>
                  <a:pt x="571684" y="158856"/>
                </a:lnTo>
                <a:lnTo>
                  <a:pt x="582452" y="215530"/>
                </a:lnTo>
                <a:lnTo>
                  <a:pt x="582782" y="239185"/>
                </a:lnTo>
                <a:lnTo>
                  <a:pt x="581460" y="264480"/>
                </a:lnTo>
                <a:lnTo>
                  <a:pt x="573961" y="318311"/>
                </a:lnTo>
                <a:lnTo>
                  <a:pt x="551138" y="401054"/>
                </a:lnTo>
                <a:lnTo>
                  <a:pt x="528671" y="453120"/>
                </a:lnTo>
                <a:lnTo>
                  <a:pt x="501206" y="498486"/>
                </a:lnTo>
                <a:lnTo>
                  <a:pt x="469077" y="534635"/>
                </a:lnTo>
                <a:lnTo>
                  <a:pt x="430437" y="562801"/>
                </a:lnTo>
                <a:lnTo>
                  <a:pt x="383877" y="586237"/>
                </a:lnTo>
                <a:lnTo>
                  <a:pt x="330567" y="605424"/>
                </a:lnTo>
                <a:lnTo>
                  <a:pt x="271274" y="621078"/>
                </a:lnTo>
                <a:lnTo>
                  <a:pt x="207535" y="633760"/>
                </a:lnTo>
                <a:lnTo>
                  <a:pt x="140333" y="644218"/>
                </a:lnTo>
                <a:lnTo>
                  <a:pt x="70789" y="653190"/>
                </a:lnTo>
                <a:lnTo>
                  <a:pt x="0" y="661422"/>
                </a:lnTo>
                <a:lnTo>
                  <a:pt x="2813" y="685600"/>
                </a:lnTo>
                <a:lnTo>
                  <a:pt x="73676" y="677360"/>
                </a:lnTo>
                <a:lnTo>
                  <a:pt x="143607" y="668340"/>
                </a:lnTo>
                <a:lnTo>
                  <a:pt x="211533" y="657772"/>
                </a:lnTo>
                <a:lnTo>
                  <a:pt x="276396" y="644879"/>
                </a:lnTo>
                <a:lnTo>
                  <a:pt x="337150" y="628862"/>
                </a:lnTo>
                <a:lnTo>
                  <a:pt x="393063" y="608783"/>
                </a:lnTo>
                <a:lnTo>
                  <a:pt x="442598" y="583895"/>
                </a:lnTo>
                <a:lnTo>
                  <a:pt x="484875" y="553170"/>
                </a:lnTo>
                <a:lnTo>
                  <a:pt x="520569" y="513255"/>
                </a:lnTo>
                <a:lnTo>
                  <a:pt x="550260" y="464393"/>
                </a:lnTo>
                <a:lnTo>
                  <a:pt x="573766" y="410066"/>
                </a:lnTo>
                <a:lnTo>
                  <a:pt x="591327" y="352491"/>
                </a:lnTo>
                <a:lnTo>
                  <a:pt x="602580" y="294664"/>
                </a:lnTo>
                <a:lnTo>
                  <a:pt x="607118" y="240054"/>
                </a:lnTo>
                <a:lnTo>
                  <a:pt x="607132" y="239185"/>
                </a:lnTo>
                <a:lnTo>
                  <a:pt x="606803" y="215530"/>
                </a:lnTo>
                <a:lnTo>
                  <a:pt x="600628" y="169637"/>
                </a:lnTo>
                <a:lnTo>
                  <a:pt x="586027" y="133252"/>
                </a:lnTo>
                <a:lnTo>
                  <a:pt x="561450" y="103494"/>
                </a:lnTo>
                <a:lnTo>
                  <a:pt x="528745" y="79866"/>
                </a:lnTo>
                <a:lnTo>
                  <a:pt x="468482" y="53644"/>
                </a:lnTo>
                <a:lnTo>
                  <a:pt x="467340" y="53259"/>
                </a:lnTo>
                <a:lnTo>
                  <a:pt x="449384" y="48176"/>
                </a:lnTo>
                <a:close/>
              </a:path>
              <a:path w="607695" h="685800">
                <a:moveTo>
                  <a:pt x="343693" y="0"/>
                </a:moveTo>
                <a:lnTo>
                  <a:pt x="265758" y="24400"/>
                </a:lnTo>
                <a:lnTo>
                  <a:pt x="332045" y="72090"/>
                </a:lnTo>
                <a:lnTo>
                  <a:pt x="335909" y="48176"/>
                </a:lnTo>
                <a:lnTo>
                  <a:pt x="449384" y="48176"/>
                </a:lnTo>
                <a:lnTo>
                  <a:pt x="422111" y="40454"/>
                </a:lnTo>
                <a:lnTo>
                  <a:pt x="421354" y="40266"/>
                </a:lnTo>
                <a:lnTo>
                  <a:pt x="372407" y="29743"/>
                </a:lnTo>
                <a:lnTo>
                  <a:pt x="339792" y="24145"/>
                </a:lnTo>
                <a:lnTo>
                  <a:pt x="3436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277934" y="2018912"/>
            <a:ext cx="1170940" cy="1829435"/>
          </a:xfrm>
          <a:custGeom>
            <a:avLst/>
            <a:gdLst/>
            <a:ahLst/>
            <a:cxnLst/>
            <a:rect l="l" t="t" r="r" b="b"/>
            <a:pathLst>
              <a:path w="1170939" h="1829435">
                <a:moveTo>
                  <a:pt x="694921" y="0"/>
                </a:moveTo>
                <a:lnTo>
                  <a:pt x="705705" y="21823"/>
                </a:lnTo>
                <a:lnTo>
                  <a:pt x="655951" y="46399"/>
                </a:lnTo>
                <a:lnTo>
                  <a:pt x="543029" y="104161"/>
                </a:lnTo>
                <a:lnTo>
                  <a:pt x="488129" y="133639"/>
                </a:lnTo>
                <a:lnTo>
                  <a:pt x="434789" y="163591"/>
                </a:lnTo>
                <a:lnTo>
                  <a:pt x="383256" y="194144"/>
                </a:lnTo>
                <a:lnTo>
                  <a:pt x="333836" y="225405"/>
                </a:lnTo>
                <a:lnTo>
                  <a:pt x="286834" y="257475"/>
                </a:lnTo>
                <a:lnTo>
                  <a:pt x="242557" y="290462"/>
                </a:lnTo>
                <a:lnTo>
                  <a:pt x="201308" y="324478"/>
                </a:lnTo>
                <a:lnTo>
                  <a:pt x="163400" y="359636"/>
                </a:lnTo>
                <a:lnTo>
                  <a:pt x="129145" y="396053"/>
                </a:lnTo>
                <a:lnTo>
                  <a:pt x="98864" y="433852"/>
                </a:lnTo>
                <a:lnTo>
                  <a:pt x="72889" y="473152"/>
                </a:lnTo>
                <a:lnTo>
                  <a:pt x="51565" y="514068"/>
                </a:lnTo>
                <a:lnTo>
                  <a:pt x="34436" y="557230"/>
                </a:lnTo>
                <a:lnTo>
                  <a:pt x="20774" y="602918"/>
                </a:lnTo>
                <a:lnTo>
                  <a:pt x="10518" y="650826"/>
                </a:lnTo>
                <a:lnTo>
                  <a:pt x="3642" y="700581"/>
                </a:lnTo>
                <a:lnTo>
                  <a:pt x="133" y="751808"/>
                </a:lnTo>
                <a:lnTo>
                  <a:pt x="0" y="804905"/>
                </a:lnTo>
                <a:lnTo>
                  <a:pt x="3171" y="857201"/>
                </a:lnTo>
                <a:lnTo>
                  <a:pt x="9706" y="910625"/>
                </a:lnTo>
                <a:lnTo>
                  <a:pt x="19584" y="964037"/>
                </a:lnTo>
                <a:lnTo>
                  <a:pt x="32805" y="1017064"/>
                </a:lnTo>
                <a:lnTo>
                  <a:pt x="49371" y="1069333"/>
                </a:lnTo>
                <a:lnTo>
                  <a:pt x="69288" y="1120468"/>
                </a:lnTo>
                <a:lnTo>
                  <a:pt x="92565" y="1170092"/>
                </a:lnTo>
                <a:lnTo>
                  <a:pt x="119207" y="1217828"/>
                </a:lnTo>
                <a:lnTo>
                  <a:pt x="149227" y="1263293"/>
                </a:lnTo>
                <a:lnTo>
                  <a:pt x="182634" y="1306102"/>
                </a:lnTo>
                <a:lnTo>
                  <a:pt x="220212" y="1346706"/>
                </a:lnTo>
                <a:lnTo>
                  <a:pt x="262430" y="1385769"/>
                </a:lnTo>
                <a:lnTo>
                  <a:pt x="308921" y="1423365"/>
                </a:lnTo>
                <a:lnTo>
                  <a:pt x="359368" y="1459616"/>
                </a:lnTo>
                <a:lnTo>
                  <a:pt x="413461" y="1494637"/>
                </a:lnTo>
                <a:lnTo>
                  <a:pt x="470894" y="1528545"/>
                </a:lnTo>
                <a:lnTo>
                  <a:pt x="531362" y="1561448"/>
                </a:lnTo>
                <a:lnTo>
                  <a:pt x="594560" y="1593453"/>
                </a:lnTo>
                <a:lnTo>
                  <a:pt x="660185" y="1624662"/>
                </a:lnTo>
                <a:lnTo>
                  <a:pt x="727929" y="1655180"/>
                </a:lnTo>
                <a:lnTo>
                  <a:pt x="797490" y="1685104"/>
                </a:lnTo>
                <a:lnTo>
                  <a:pt x="868560" y="1714534"/>
                </a:lnTo>
                <a:lnTo>
                  <a:pt x="1013957" y="1772285"/>
                </a:lnTo>
                <a:lnTo>
                  <a:pt x="1161780" y="1829254"/>
                </a:lnTo>
                <a:lnTo>
                  <a:pt x="1170538" y="1806541"/>
                </a:lnTo>
                <a:lnTo>
                  <a:pt x="1022889" y="1749640"/>
                </a:lnTo>
                <a:lnTo>
                  <a:pt x="877794" y="1692010"/>
                </a:lnTo>
                <a:lnTo>
                  <a:pt x="807034" y="1662710"/>
                </a:lnTo>
                <a:lnTo>
                  <a:pt x="737839" y="1632945"/>
                </a:lnTo>
                <a:lnTo>
                  <a:pt x="670529" y="1602626"/>
                </a:lnTo>
                <a:lnTo>
                  <a:pt x="605429" y="1571670"/>
                </a:lnTo>
                <a:lnTo>
                  <a:pt x="542843" y="1539982"/>
                </a:lnTo>
                <a:lnTo>
                  <a:pt x="483090" y="1507476"/>
                </a:lnTo>
                <a:lnTo>
                  <a:pt x="426479" y="1474066"/>
                </a:lnTo>
                <a:lnTo>
                  <a:pt x="373334" y="1439674"/>
                </a:lnTo>
                <a:lnTo>
                  <a:pt x="323955" y="1404216"/>
                </a:lnTo>
                <a:lnTo>
                  <a:pt x="278660" y="1367619"/>
                </a:lnTo>
                <a:lnTo>
                  <a:pt x="237751" y="1329815"/>
                </a:lnTo>
                <a:lnTo>
                  <a:pt x="201505" y="1290713"/>
                </a:lnTo>
                <a:lnTo>
                  <a:pt x="169273" y="1249469"/>
                </a:lnTo>
                <a:lnTo>
                  <a:pt x="140242" y="1205560"/>
                </a:lnTo>
                <a:lnTo>
                  <a:pt x="114421" y="1159358"/>
                </a:lnTo>
                <a:lnTo>
                  <a:pt x="91826" y="1111244"/>
                </a:lnTo>
                <a:lnTo>
                  <a:pt x="72459" y="1061595"/>
                </a:lnTo>
                <a:lnTo>
                  <a:pt x="56335" y="1010798"/>
                </a:lnTo>
                <a:lnTo>
                  <a:pt x="43456" y="959234"/>
                </a:lnTo>
                <a:lnTo>
                  <a:pt x="33827" y="907290"/>
                </a:lnTo>
                <a:lnTo>
                  <a:pt x="27451" y="855355"/>
                </a:lnTo>
                <a:lnTo>
                  <a:pt x="24392" y="804905"/>
                </a:lnTo>
                <a:lnTo>
                  <a:pt x="24452" y="753061"/>
                </a:lnTo>
                <a:lnTo>
                  <a:pt x="27820" y="703480"/>
                </a:lnTo>
                <a:lnTo>
                  <a:pt x="34423" y="655466"/>
                </a:lnTo>
                <a:lnTo>
                  <a:pt x="44248" y="609404"/>
                </a:lnTo>
                <a:lnTo>
                  <a:pt x="57274" y="565684"/>
                </a:lnTo>
                <a:lnTo>
                  <a:pt x="73463" y="524729"/>
                </a:lnTo>
                <a:lnTo>
                  <a:pt x="93565" y="486021"/>
                </a:lnTo>
                <a:lnTo>
                  <a:pt x="118229" y="448617"/>
                </a:lnTo>
                <a:lnTo>
                  <a:pt x="147224" y="412365"/>
                </a:lnTo>
                <a:lnTo>
                  <a:pt x="180272" y="377191"/>
                </a:lnTo>
                <a:lnTo>
                  <a:pt x="217081" y="343025"/>
                </a:lnTo>
                <a:lnTo>
                  <a:pt x="257351" y="309798"/>
                </a:lnTo>
                <a:lnTo>
                  <a:pt x="300771" y="277436"/>
                </a:lnTo>
                <a:lnTo>
                  <a:pt x="347035" y="245861"/>
                </a:lnTo>
                <a:lnTo>
                  <a:pt x="395829" y="214991"/>
                </a:lnTo>
                <a:lnTo>
                  <a:pt x="446838" y="184743"/>
                </a:lnTo>
                <a:lnTo>
                  <a:pt x="499751" y="155028"/>
                </a:lnTo>
                <a:lnTo>
                  <a:pt x="554228" y="125775"/>
                </a:lnTo>
                <a:lnTo>
                  <a:pt x="666813" y="68185"/>
                </a:lnTo>
                <a:lnTo>
                  <a:pt x="716492" y="43646"/>
                </a:lnTo>
                <a:lnTo>
                  <a:pt x="743811" y="43646"/>
                </a:lnTo>
                <a:lnTo>
                  <a:pt x="776587" y="387"/>
                </a:lnTo>
                <a:lnTo>
                  <a:pt x="694921" y="0"/>
                </a:lnTo>
                <a:close/>
              </a:path>
              <a:path w="1170939" h="1829435">
                <a:moveTo>
                  <a:pt x="743811" y="43646"/>
                </a:moveTo>
                <a:lnTo>
                  <a:pt x="716492" y="43646"/>
                </a:lnTo>
                <a:lnTo>
                  <a:pt x="727276" y="65469"/>
                </a:lnTo>
                <a:lnTo>
                  <a:pt x="743811" y="4364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268979" y="3144426"/>
            <a:ext cx="194945" cy="259715"/>
          </a:xfrm>
          <a:custGeom>
            <a:avLst/>
            <a:gdLst/>
            <a:ahLst/>
            <a:cxnLst/>
            <a:rect l="l" t="t" r="r" b="b"/>
            <a:pathLst>
              <a:path w="194945" h="259714">
                <a:moveTo>
                  <a:pt x="0" y="194733"/>
                </a:moveTo>
                <a:lnTo>
                  <a:pt x="48696" y="194733"/>
                </a:lnTo>
                <a:lnTo>
                  <a:pt x="48696" y="0"/>
                </a:lnTo>
                <a:lnTo>
                  <a:pt x="146089" y="0"/>
                </a:lnTo>
                <a:lnTo>
                  <a:pt x="146089" y="194733"/>
                </a:lnTo>
                <a:lnTo>
                  <a:pt x="194786" y="194733"/>
                </a:lnTo>
                <a:lnTo>
                  <a:pt x="97393" y="259644"/>
                </a:lnTo>
                <a:lnTo>
                  <a:pt x="0" y="194733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905476" y="3533893"/>
            <a:ext cx="2922270" cy="393700"/>
          </a:xfrm>
          <a:custGeom>
            <a:avLst/>
            <a:gdLst/>
            <a:ahLst/>
            <a:cxnLst/>
            <a:rect l="l" t="t" r="r" b="b"/>
            <a:pathLst>
              <a:path w="2922270" h="393700">
                <a:moveTo>
                  <a:pt x="0" y="0"/>
                </a:moveTo>
                <a:lnTo>
                  <a:pt x="2921793" y="0"/>
                </a:lnTo>
                <a:lnTo>
                  <a:pt x="2921793" y="393524"/>
                </a:lnTo>
                <a:lnTo>
                  <a:pt x="0" y="393524"/>
                </a:lnTo>
                <a:lnTo>
                  <a:pt x="0" y="0"/>
                </a:lnTo>
                <a:close/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970690" y="3593998"/>
            <a:ext cx="269430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)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中执行，遇到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fo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k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268979" y="4053182"/>
            <a:ext cx="194945" cy="259715"/>
          </a:xfrm>
          <a:custGeom>
            <a:avLst/>
            <a:gdLst/>
            <a:ahLst/>
            <a:cxnLst/>
            <a:rect l="l" t="t" r="r" b="b"/>
            <a:pathLst>
              <a:path w="194945" h="259714">
                <a:moveTo>
                  <a:pt x="0" y="194733"/>
                </a:moveTo>
                <a:lnTo>
                  <a:pt x="48696" y="194733"/>
                </a:lnTo>
                <a:lnTo>
                  <a:pt x="48696" y="0"/>
                </a:lnTo>
                <a:lnTo>
                  <a:pt x="146089" y="0"/>
                </a:lnTo>
                <a:lnTo>
                  <a:pt x="146089" y="194733"/>
                </a:lnTo>
                <a:lnTo>
                  <a:pt x="194786" y="194733"/>
                </a:lnTo>
                <a:lnTo>
                  <a:pt x="97393" y="259644"/>
                </a:lnTo>
                <a:lnTo>
                  <a:pt x="0" y="194733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840547" y="4388556"/>
            <a:ext cx="3051810" cy="1223010"/>
          </a:xfrm>
          <a:custGeom>
            <a:avLst/>
            <a:gdLst/>
            <a:ahLst/>
            <a:cxnLst/>
            <a:rect l="l" t="t" r="r" b="b"/>
            <a:pathLst>
              <a:path w="3051810" h="1223010">
                <a:moveTo>
                  <a:pt x="0" y="0"/>
                </a:moveTo>
                <a:lnTo>
                  <a:pt x="3051651" y="0"/>
                </a:lnTo>
                <a:lnTo>
                  <a:pt x="3051651" y="1222492"/>
                </a:lnTo>
                <a:lnTo>
                  <a:pt x="0" y="1222492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905761" y="4458587"/>
            <a:ext cx="1758314" cy="1092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79705">
              <a:lnSpc>
                <a:spcPct val="132000"/>
              </a:lnSpc>
              <a:tabLst>
                <a:tab pos="689610" algn="l"/>
              </a:tabLst>
            </a:pPr>
            <a:r>
              <a:rPr sz="2000" b="1" spc="35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v</a:t>
            </a:r>
            <a:r>
              <a:rPr sz="2000" b="1" dirty="0">
                <a:latin typeface="Arial" panose="020B0604020202020204"/>
                <a:cs typeface="Arial" panose="020B0604020202020204"/>
              </a:rPr>
              <a:t>	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%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eax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u="heavy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0x8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000" b="1" spc="35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v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es</a:t>
            </a:r>
            <a:r>
              <a:rPr sz="2000" b="1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%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ea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x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463698" y="4540502"/>
            <a:ext cx="103568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NR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_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f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k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245791" y="3777161"/>
            <a:ext cx="2376170" cy="1367155"/>
          </a:xfrm>
          <a:custGeom>
            <a:avLst/>
            <a:gdLst/>
            <a:ahLst/>
            <a:cxnLst/>
            <a:rect l="l" t="t" r="r" b="b"/>
            <a:pathLst>
              <a:path w="2376170" h="1367154">
                <a:moveTo>
                  <a:pt x="2375758" y="0"/>
                </a:moveTo>
                <a:lnTo>
                  <a:pt x="1767738" y="309966"/>
                </a:lnTo>
                <a:lnTo>
                  <a:pt x="1775792" y="324057"/>
                </a:lnTo>
                <a:lnTo>
                  <a:pt x="0" y="1338519"/>
                </a:lnTo>
                <a:lnTo>
                  <a:pt x="16106" y="1366697"/>
                </a:lnTo>
                <a:lnTo>
                  <a:pt x="1791898" y="352234"/>
                </a:lnTo>
                <a:lnTo>
                  <a:pt x="1822101" y="352234"/>
                </a:lnTo>
                <a:lnTo>
                  <a:pt x="2375758" y="0"/>
                </a:lnTo>
                <a:close/>
              </a:path>
              <a:path w="2376170" h="1367154">
                <a:moveTo>
                  <a:pt x="1822101" y="352234"/>
                </a:moveTo>
                <a:lnTo>
                  <a:pt x="1791898" y="352234"/>
                </a:lnTo>
                <a:lnTo>
                  <a:pt x="1799953" y="366325"/>
                </a:lnTo>
                <a:lnTo>
                  <a:pt x="1822101" y="35223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245791" y="3777162"/>
            <a:ext cx="2376170" cy="1367155"/>
          </a:xfrm>
          <a:custGeom>
            <a:avLst/>
            <a:gdLst/>
            <a:ahLst/>
            <a:cxnLst/>
            <a:rect l="l" t="t" r="r" b="b"/>
            <a:pathLst>
              <a:path w="2376170" h="1367154">
                <a:moveTo>
                  <a:pt x="16106" y="1366697"/>
                </a:moveTo>
                <a:lnTo>
                  <a:pt x="1791897" y="352234"/>
                </a:lnTo>
                <a:lnTo>
                  <a:pt x="1799951" y="366325"/>
                </a:lnTo>
                <a:lnTo>
                  <a:pt x="2375757" y="0"/>
                </a:lnTo>
                <a:lnTo>
                  <a:pt x="1767738" y="309966"/>
                </a:lnTo>
                <a:lnTo>
                  <a:pt x="1775791" y="324056"/>
                </a:lnTo>
                <a:lnTo>
                  <a:pt x="0" y="1338519"/>
                </a:lnTo>
                <a:lnTo>
                  <a:pt x="16106" y="1366697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897522" y="4770113"/>
            <a:ext cx="2043430" cy="676910"/>
          </a:xfrm>
          <a:custGeom>
            <a:avLst/>
            <a:gdLst/>
            <a:ahLst/>
            <a:cxnLst/>
            <a:rect l="l" t="t" r="r" b="b"/>
            <a:pathLst>
              <a:path w="2043429" h="676910">
                <a:moveTo>
                  <a:pt x="499490" y="480392"/>
                </a:moveTo>
                <a:lnTo>
                  <a:pt x="0" y="676540"/>
                </a:lnTo>
                <a:lnTo>
                  <a:pt x="519529" y="542135"/>
                </a:lnTo>
                <a:lnTo>
                  <a:pt x="514520" y="526699"/>
                </a:lnTo>
                <a:lnTo>
                  <a:pt x="609693" y="495827"/>
                </a:lnTo>
                <a:lnTo>
                  <a:pt x="504499" y="495827"/>
                </a:lnTo>
                <a:lnTo>
                  <a:pt x="499490" y="480392"/>
                </a:lnTo>
                <a:close/>
              </a:path>
              <a:path w="2043429" h="676910">
                <a:moveTo>
                  <a:pt x="2033040" y="0"/>
                </a:moveTo>
                <a:lnTo>
                  <a:pt x="504499" y="495827"/>
                </a:lnTo>
                <a:lnTo>
                  <a:pt x="609693" y="495827"/>
                </a:lnTo>
                <a:lnTo>
                  <a:pt x="2043060" y="30872"/>
                </a:lnTo>
                <a:lnTo>
                  <a:pt x="20330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897521" y="4770113"/>
            <a:ext cx="2043430" cy="676910"/>
          </a:xfrm>
          <a:custGeom>
            <a:avLst/>
            <a:gdLst/>
            <a:ahLst/>
            <a:cxnLst/>
            <a:rect l="l" t="t" r="r" b="b"/>
            <a:pathLst>
              <a:path w="2043429" h="676910">
                <a:moveTo>
                  <a:pt x="2033040" y="0"/>
                </a:moveTo>
                <a:lnTo>
                  <a:pt x="504499" y="495827"/>
                </a:lnTo>
                <a:lnTo>
                  <a:pt x="499490" y="480392"/>
                </a:lnTo>
                <a:lnTo>
                  <a:pt x="0" y="676540"/>
                </a:lnTo>
                <a:lnTo>
                  <a:pt x="519529" y="542135"/>
                </a:lnTo>
                <a:lnTo>
                  <a:pt x="514519" y="526700"/>
                </a:lnTo>
                <a:lnTo>
                  <a:pt x="2043059" y="30872"/>
                </a:lnTo>
                <a:lnTo>
                  <a:pt x="203304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931544" y="5459595"/>
            <a:ext cx="4155440" cy="681990"/>
          </a:xfrm>
          <a:custGeom>
            <a:avLst/>
            <a:gdLst/>
            <a:ahLst/>
            <a:cxnLst/>
            <a:rect l="l" t="t" r="r" b="b"/>
            <a:pathLst>
              <a:path w="4155440" h="681989">
                <a:moveTo>
                  <a:pt x="321837" y="0"/>
                </a:moveTo>
                <a:lnTo>
                  <a:pt x="692572" y="259637"/>
                </a:lnTo>
                <a:lnTo>
                  <a:pt x="58241" y="260673"/>
                </a:lnTo>
                <a:lnTo>
                  <a:pt x="44598" y="264495"/>
                </a:lnTo>
                <a:lnTo>
                  <a:pt x="12506" y="289920"/>
                </a:lnTo>
                <a:lnTo>
                  <a:pt x="0" y="329958"/>
                </a:lnTo>
                <a:lnTo>
                  <a:pt x="0" y="435438"/>
                </a:lnTo>
                <a:lnTo>
                  <a:pt x="1036" y="623334"/>
                </a:lnTo>
                <a:lnTo>
                  <a:pt x="19787" y="660136"/>
                </a:lnTo>
                <a:lnTo>
                  <a:pt x="55868" y="680071"/>
                </a:lnTo>
                <a:lnTo>
                  <a:pt x="70338" y="681560"/>
                </a:lnTo>
                <a:lnTo>
                  <a:pt x="1731432" y="681560"/>
                </a:lnTo>
                <a:lnTo>
                  <a:pt x="4097198" y="680524"/>
                </a:lnTo>
                <a:lnTo>
                  <a:pt x="4134010" y="661777"/>
                </a:lnTo>
                <a:lnTo>
                  <a:pt x="4153949" y="625706"/>
                </a:lnTo>
                <a:lnTo>
                  <a:pt x="4155440" y="611239"/>
                </a:lnTo>
                <a:lnTo>
                  <a:pt x="4155440" y="329958"/>
                </a:lnTo>
                <a:lnTo>
                  <a:pt x="4144230" y="291856"/>
                </a:lnTo>
                <a:lnTo>
                  <a:pt x="4113021" y="265395"/>
                </a:lnTo>
                <a:lnTo>
                  <a:pt x="4085101" y="259637"/>
                </a:lnTo>
                <a:lnTo>
                  <a:pt x="1731432" y="259637"/>
                </a:lnTo>
                <a:lnTo>
                  <a:pt x="3218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931544" y="5459595"/>
            <a:ext cx="4155440" cy="681990"/>
          </a:xfrm>
          <a:custGeom>
            <a:avLst/>
            <a:gdLst/>
            <a:ahLst/>
            <a:cxnLst/>
            <a:rect l="l" t="t" r="r" b="b"/>
            <a:pathLst>
              <a:path w="4155440" h="681989">
                <a:moveTo>
                  <a:pt x="0" y="329957"/>
                </a:moveTo>
                <a:lnTo>
                  <a:pt x="12506" y="289920"/>
                </a:lnTo>
                <a:lnTo>
                  <a:pt x="44598" y="264494"/>
                </a:lnTo>
                <a:lnTo>
                  <a:pt x="692573" y="259637"/>
                </a:lnTo>
                <a:lnTo>
                  <a:pt x="321837" y="0"/>
                </a:lnTo>
                <a:lnTo>
                  <a:pt x="1731433" y="259637"/>
                </a:lnTo>
                <a:lnTo>
                  <a:pt x="4085101" y="259637"/>
                </a:lnTo>
                <a:lnTo>
                  <a:pt x="4099572" y="261127"/>
                </a:lnTo>
                <a:lnTo>
                  <a:pt x="4135652" y="281061"/>
                </a:lnTo>
                <a:lnTo>
                  <a:pt x="4154403" y="317864"/>
                </a:lnTo>
                <a:lnTo>
                  <a:pt x="4155440" y="329957"/>
                </a:lnTo>
                <a:lnTo>
                  <a:pt x="4155440" y="435438"/>
                </a:lnTo>
                <a:lnTo>
                  <a:pt x="4155440" y="611239"/>
                </a:lnTo>
                <a:lnTo>
                  <a:pt x="4153949" y="625706"/>
                </a:lnTo>
                <a:lnTo>
                  <a:pt x="4134010" y="661777"/>
                </a:lnTo>
                <a:lnTo>
                  <a:pt x="4097198" y="680523"/>
                </a:lnTo>
                <a:lnTo>
                  <a:pt x="1731433" y="681559"/>
                </a:lnTo>
                <a:lnTo>
                  <a:pt x="692573" y="681559"/>
                </a:lnTo>
                <a:lnTo>
                  <a:pt x="70338" y="681559"/>
                </a:lnTo>
                <a:lnTo>
                  <a:pt x="55867" y="680069"/>
                </a:lnTo>
                <a:lnTo>
                  <a:pt x="19787" y="660135"/>
                </a:lnTo>
                <a:lnTo>
                  <a:pt x="1036" y="623333"/>
                </a:lnTo>
                <a:lnTo>
                  <a:pt x="0" y="435438"/>
                </a:lnTo>
                <a:lnTo>
                  <a:pt x="0" y="329957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1192715" y="5799335"/>
            <a:ext cx="3630929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15" dirty="0">
                <a:latin typeface="Arial" panose="020B0604020202020204"/>
                <a:cs typeface="Arial" panose="020B0604020202020204"/>
              </a:rPr>
              <a:t>fo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k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是系统调用，会引起中断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6623050" cy="0"/>
          </a:xfrm>
          <a:custGeom>
            <a:avLst/>
            <a:gdLst/>
            <a:ahLst/>
            <a:cxnLst/>
            <a:rect l="l" t="t" r="r" b="b"/>
            <a:pathLst>
              <a:path w="6623050">
                <a:moveTo>
                  <a:pt x="0" y="0"/>
                </a:moveTo>
                <a:lnTo>
                  <a:pt x="6622732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70"/>
              </a:lnSpc>
            </a:pPr>
            <a:r>
              <a:rPr spc="100" dirty="0"/>
              <a:t>切换五段论中的中断入口和中断出口</a:t>
            </a:r>
            <a:endParaRPr spc="100" dirty="0"/>
          </a:p>
        </p:txBody>
      </p:sp>
      <p:sp>
        <p:nvSpPr>
          <p:cNvPr id="4" name="object 4"/>
          <p:cNvSpPr txBox="1"/>
          <p:nvPr/>
        </p:nvSpPr>
        <p:spPr>
          <a:xfrm>
            <a:off x="394530" y="1954389"/>
            <a:ext cx="4934585" cy="584200"/>
          </a:xfrm>
          <a:prstGeom prst="rect">
            <a:avLst/>
          </a:prstGeom>
          <a:ln w="10818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112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void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sched_init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(void)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71120">
              <a:lnSpc>
                <a:spcPct val="100000"/>
              </a:lnSpc>
              <a:spcBef>
                <a:spcPts val="225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{set_system_gate(0x80,&amp;system_call);}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75132" y="1954389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0"/>
                </a:moveTo>
                <a:lnTo>
                  <a:pt x="1688147" y="0"/>
                </a:lnTo>
                <a:lnTo>
                  <a:pt x="1688147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75132" y="1500011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454377"/>
                </a:moveTo>
                <a:lnTo>
                  <a:pt x="1688147" y="454377"/>
                </a:lnTo>
                <a:lnTo>
                  <a:pt x="1688147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75132" y="1500010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0"/>
                </a:moveTo>
                <a:lnTo>
                  <a:pt x="1688147" y="0"/>
                </a:lnTo>
                <a:lnTo>
                  <a:pt x="1688147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139749" y="1597323"/>
            <a:ext cx="958850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9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SS:</a:t>
            </a:r>
            <a:r>
              <a:rPr sz="2000" b="1" spc="2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SP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EFLAGS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90614" y="1916159"/>
            <a:ext cx="235585" cy="666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1670"/>
              </a:lnSpc>
            </a:pPr>
            <a:r>
              <a:rPr sz="1700" b="1" spc="-45" dirty="0">
                <a:latin typeface="宋体" panose="02010600030101010101" pitchFamily="2" charset="-122"/>
                <a:cs typeface="宋体" panose="02010600030101010101" pitchFamily="2" charset="-122"/>
              </a:rPr>
              <a:t>内 核 栈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775132" y="2408766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454377"/>
                </a:moveTo>
                <a:lnTo>
                  <a:pt x="1688147" y="454377"/>
                </a:lnTo>
                <a:lnTo>
                  <a:pt x="1688147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775132" y="2408767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0"/>
                </a:moveTo>
                <a:lnTo>
                  <a:pt x="1688147" y="0"/>
                </a:lnTo>
                <a:lnTo>
                  <a:pt x="1688147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061991" y="2505832"/>
            <a:ext cx="11144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ret=??1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75132" y="2873962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0"/>
                </a:moveTo>
                <a:lnTo>
                  <a:pt x="1688147" y="0"/>
                </a:lnTo>
                <a:lnTo>
                  <a:pt x="1688147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450781" y="2970902"/>
            <a:ext cx="33655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ds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775132" y="3317522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454377"/>
                </a:moveTo>
                <a:lnTo>
                  <a:pt x="1688147" y="454377"/>
                </a:lnTo>
                <a:lnTo>
                  <a:pt x="1688147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775132" y="3317521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0"/>
                </a:moveTo>
                <a:lnTo>
                  <a:pt x="1688147" y="0"/>
                </a:lnTo>
                <a:lnTo>
                  <a:pt x="1688147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450781" y="3414340"/>
            <a:ext cx="33655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es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463280" y="1738018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454377"/>
                </a:moveTo>
                <a:lnTo>
                  <a:pt x="1688147" y="454377"/>
                </a:lnTo>
                <a:lnTo>
                  <a:pt x="1688147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463280" y="1738019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0"/>
                </a:moveTo>
                <a:lnTo>
                  <a:pt x="1688147" y="0"/>
                </a:lnTo>
                <a:lnTo>
                  <a:pt x="1688147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9138928" y="1835265"/>
            <a:ext cx="33655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fs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463280" y="2192396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454377"/>
                </a:moveTo>
                <a:lnTo>
                  <a:pt x="1688147" y="454377"/>
                </a:lnTo>
                <a:lnTo>
                  <a:pt x="1688147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463280" y="2192395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0"/>
                </a:moveTo>
                <a:lnTo>
                  <a:pt x="1688147" y="0"/>
                </a:lnTo>
                <a:lnTo>
                  <a:pt x="1688147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9061171" y="2289520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edx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463280" y="2646774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454377"/>
                </a:moveTo>
                <a:lnTo>
                  <a:pt x="1688147" y="454377"/>
                </a:lnTo>
                <a:lnTo>
                  <a:pt x="1688147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463280" y="2646773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0"/>
                </a:moveTo>
                <a:lnTo>
                  <a:pt x="1688147" y="0"/>
                </a:lnTo>
                <a:lnTo>
                  <a:pt x="1688147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9061171" y="2743774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ecx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463280" y="3101152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454377"/>
                </a:moveTo>
                <a:lnTo>
                  <a:pt x="1688147" y="454377"/>
                </a:lnTo>
                <a:lnTo>
                  <a:pt x="1688147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463280" y="3101151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0"/>
                </a:moveTo>
                <a:lnTo>
                  <a:pt x="1688147" y="0"/>
                </a:lnTo>
                <a:lnTo>
                  <a:pt x="1688147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9061171" y="3198029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ebx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460575" y="3555529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454377"/>
                </a:moveTo>
                <a:lnTo>
                  <a:pt x="1688147" y="454377"/>
                </a:lnTo>
                <a:lnTo>
                  <a:pt x="1688147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460575" y="3555530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0"/>
                </a:moveTo>
                <a:lnTo>
                  <a:pt x="1688147" y="0"/>
                </a:lnTo>
                <a:lnTo>
                  <a:pt x="1688147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9058466" y="3652282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??2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003537" y="4189190"/>
            <a:ext cx="18097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)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90848" y="2649257"/>
            <a:ext cx="3659504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初始化时将各种中断处理设置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好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58007" y="2750902"/>
            <a:ext cx="160969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394530" y="5264854"/>
            <a:ext cx="4415155" cy="1103630"/>
          </a:xfrm>
          <a:prstGeom prst="rect">
            <a:avLst/>
          </a:prstGeom>
          <a:ln w="10818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112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reschedule: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226695" marR="436880">
              <a:lnSpc>
                <a:spcPct val="111000"/>
              </a:lnSpc>
              <a:spcBef>
                <a:spcPts val="30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pushl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$ret_from_sys_call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jmp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_schedule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graphicFrame>
        <p:nvGraphicFramePr>
          <p:cNvPr id="32" name="object 32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89120" y="2987557"/>
          <a:ext cx="5762625" cy="2218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8595"/>
                <a:gridCol w="3327598"/>
              </a:tblGrid>
              <a:tr h="129821">
                <a:tc rowSpan="2">
                  <a:txBody>
                    <a:bodyPr/>
                    <a:lstStyle/>
                    <a:p>
                      <a:pPr marL="226695" marR="151130" indent="-155575">
                        <a:lnSpc>
                          <a:spcPct val="112000"/>
                        </a:lnSpc>
                      </a:pP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_system_call: push</a:t>
                      </a:r>
                      <a:r>
                        <a:rPr sz="2000" b="1" spc="2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%ds..%fs</a:t>
                      </a: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 pushl</a:t>
                      </a:r>
                      <a:r>
                        <a:rPr sz="2000" b="1" spc="2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%edx...</a:t>
                      </a: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call</a:t>
                      </a:r>
                      <a:r>
                        <a:rPr sz="2000" b="1" spc="25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sys_fork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pushl</a:t>
                      </a:r>
                      <a:r>
                        <a:rPr sz="2000" b="1" spc="2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%eax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10819">
                      <a:solidFill>
                        <a:srgbClr val="FF0000"/>
                      </a:solidFill>
                      <a:prstDash val="solid"/>
                    </a:lnL>
                    <a:lnR w="10819">
                      <a:solidFill>
                        <a:srgbClr val="FF0000"/>
                      </a:solidFill>
                      <a:prstDash val="solid"/>
                    </a:lnR>
                    <a:lnT w="10819">
                      <a:solidFill>
                        <a:srgbClr val="FF0000"/>
                      </a:solidFill>
                      <a:prstDash val="solid"/>
                    </a:lnT>
                    <a:lnB w="10819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10819">
                      <a:solidFill>
                        <a:srgbClr val="FF0000"/>
                      </a:solidFill>
                      <a:prstDash val="solid"/>
                    </a:lnL>
                    <a:lnB w="10819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1622778">
                <a:tc vMerge="1">
                  <a:tcPr marL="0" marR="0" marT="0" marB="0">
                    <a:lnL w="10819">
                      <a:solidFill>
                        <a:srgbClr val="FF0000"/>
                      </a:solidFill>
                      <a:prstDash val="solid"/>
                    </a:lnL>
                    <a:lnR w="10819">
                      <a:solidFill>
                        <a:srgbClr val="FF0000"/>
                      </a:solidFill>
                      <a:prstDash val="solid"/>
                    </a:lnR>
                    <a:lnT w="10819">
                      <a:solidFill>
                        <a:srgbClr val="FF0000"/>
                      </a:solidFill>
                      <a:prstDash val="solid"/>
                    </a:lnT>
                    <a:lnB w="10819">
                      <a:solidFill>
                        <a:srgbClr val="FF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7630" marR="266065">
                        <a:lnSpc>
                          <a:spcPct val="112000"/>
                        </a:lnSpc>
                      </a:pP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movl</a:t>
                      </a:r>
                      <a:r>
                        <a:rPr sz="2000" b="1" spc="2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_current,%eax 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cmpl</a:t>
                      </a:r>
                      <a:r>
                        <a:rPr sz="2000" b="1" spc="25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$0,state(%eax)</a:t>
                      </a: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 jne</a:t>
                      </a:r>
                      <a:r>
                        <a:rPr sz="2000" b="1" spc="2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reschedule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87630" marR="110490">
                        <a:lnSpc>
                          <a:spcPct val="113000"/>
                        </a:lnSpc>
                      </a:pP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cmpl</a:t>
                      </a:r>
                      <a:r>
                        <a:rPr sz="2000" b="1" spc="2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$0,counter(%eax 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je</a:t>
                      </a:r>
                      <a:r>
                        <a:rPr sz="2000" b="1" spc="25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reschedule</a:t>
                      </a: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ret_from_sys_call: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10819">
                      <a:solidFill>
                        <a:srgbClr val="FF0000"/>
                      </a:solidFill>
                      <a:prstDash val="solid"/>
                    </a:lnL>
                    <a:lnR w="10819">
                      <a:solidFill>
                        <a:srgbClr val="FF0000"/>
                      </a:solidFill>
                      <a:prstDash val="solid"/>
                    </a:lnR>
                    <a:lnT w="10819">
                      <a:solidFill>
                        <a:srgbClr val="FF0000"/>
                      </a:solidFill>
                      <a:prstDash val="solid"/>
                    </a:lnT>
                    <a:lnB w="10819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454377">
                <a:tc>
                  <a:txBody>
                    <a:bodyPr/>
                    <a:lstStyle/>
                    <a:p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R w="10819">
                      <a:solidFill>
                        <a:srgbClr val="FF0000"/>
                      </a:solidFill>
                      <a:prstDash val="solid"/>
                    </a:lnR>
                    <a:lnT w="10819">
                      <a:solidFill>
                        <a:srgbClr val="FF0000"/>
                      </a:solidFill>
                      <a:prstDash val="solid"/>
                    </a:lnT>
                  </a:tcPr>
                </a:tc>
                <a:tc vMerge="1">
                  <a:tcPr marL="0" marR="0" marT="0" marB="0">
                    <a:lnL w="10819">
                      <a:solidFill>
                        <a:srgbClr val="FF0000"/>
                      </a:solidFill>
                      <a:prstDash val="solid"/>
                    </a:lnL>
                    <a:lnR w="10819">
                      <a:solidFill>
                        <a:srgbClr val="FF0000"/>
                      </a:solidFill>
                      <a:prstDash val="solid"/>
                    </a:lnR>
                    <a:lnT w="10819">
                      <a:solidFill>
                        <a:srgbClr val="FF0000"/>
                      </a:solidFill>
                      <a:prstDash val="solid"/>
                    </a:lnT>
                    <a:lnB w="10819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1" name="object 9"/>
          <p:cNvSpPr txBox="1"/>
          <p:nvPr>
            <p:custDataLst>
              <p:tags r:id="rId3"/>
            </p:custDataLst>
          </p:nvPr>
        </p:nvSpPr>
        <p:spPr>
          <a:xfrm>
            <a:off x="6870700" y="3891280"/>
            <a:ext cx="1668780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 marR="5080" algn="just">
              <a:lnSpc>
                <a:spcPts val="1670"/>
              </a:lnSpc>
            </a:pPr>
            <a:r>
              <a:rPr lang="zh-CN" sz="1700" b="1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用户态现场保护</a:t>
            </a:r>
            <a:endParaRPr lang="zh-CN" sz="1700" b="1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47186" y="2992967"/>
            <a:ext cx="5713730" cy="779145"/>
          </a:xfrm>
          <a:custGeom>
            <a:avLst/>
            <a:gdLst/>
            <a:ahLst/>
            <a:cxnLst/>
            <a:rect l="l" t="t" r="r" b="b"/>
            <a:pathLst>
              <a:path w="5713730" h="779145">
                <a:moveTo>
                  <a:pt x="0" y="0"/>
                </a:moveTo>
                <a:lnTo>
                  <a:pt x="5713730" y="0"/>
                </a:lnTo>
                <a:lnTo>
                  <a:pt x="5713730" y="778933"/>
                </a:lnTo>
                <a:lnTo>
                  <a:pt x="0" y="778933"/>
                </a:lnTo>
                <a:lnTo>
                  <a:pt x="0" y="0"/>
                </a:lnTo>
                <a:close/>
              </a:path>
            </a:pathLst>
          </a:custGeom>
          <a:ln w="1081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11581" y="3035195"/>
            <a:ext cx="5468620" cy="626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 marR="5080" indent="-130175">
              <a:lnSpc>
                <a:spcPct val="113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reschedule:pushl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$ret_from_sys_call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jmp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_schedule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50" spc="100" dirty="0"/>
              <a:t>切换五段论中的</a:t>
            </a:r>
            <a:r>
              <a:rPr sz="3050" dirty="0">
                <a:latin typeface="Arial" panose="020B0604020202020204"/>
                <a:cs typeface="Arial" panose="020B0604020202020204"/>
              </a:rPr>
              <a:t>sc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h</a:t>
            </a:r>
            <a:r>
              <a:rPr sz="3050" dirty="0">
                <a:latin typeface="Arial" panose="020B0604020202020204"/>
                <a:cs typeface="Arial" panose="020B0604020202020204"/>
              </a:rPr>
              <a:t>e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d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u</a:t>
            </a:r>
            <a:r>
              <a:rPr sz="3050" spc="-5" dirty="0">
                <a:latin typeface="Arial" panose="020B0604020202020204"/>
                <a:cs typeface="Arial" panose="020B0604020202020204"/>
              </a:rPr>
              <a:t>l</a:t>
            </a:r>
            <a:r>
              <a:rPr sz="3050" spc="-5" dirty="0">
                <a:latin typeface="Arial" panose="020B0604020202020204"/>
                <a:cs typeface="Arial" panose="020B0604020202020204"/>
              </a:rPr>
              <a:t>e</a:t>
            </a:r>
            <a:r>
              <a:rPr sz="2950" spc="100" dirty="0"/>
              <a:t>和中断出口</a:t>
            </a:r>
            <a:endParaRPr sz="2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7186" y="1824567"/>
            <a:ext cx="2402840" cy="1082040"/>
          </a:xfrm>
          <a:custGeom>
            <a:avLst/>
            <a:gdLst/>
            <a:ahLst/>
            <a:cxnLst/>
            <a:rect l="l" t="t" r="r" b="b"/>
            <a:pathLst>
              <a:path w="2402840" h="1082039">
                <a:moveTo>
                  <a:pt x="0" y="0"/>
                </a:moveTo>
                <a:lnTo>
                  <a:pt x="2402363" y="0"/>
                </a:lnTo>
                <a:lnTo>
                  <a:pt x="2402363" y="1081851"/>
                </a:lnTo>
                <a:lnTo>
                  <a:pt x="0" y="1081851"/>
                </a:lnTo>
                <a:lnTo>
                  <a:pt x="0" y="0"/>
                </a:lnTo>
                <a:close/>
              </a:path>
            </a:pathLst>
          </a:custGeom>
          <a:ln w="1081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143430" y="2278943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0"/>
                </a:moveTo>
                <a:lnTo>
                  <a:pt x="1688147" y="0"/>
                </a:lnTo>
                <a:lnTo>
                  <a:pt x="1688147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143430" y="1824566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454377"/>
                </a:moveTo>
                <a:lnTo>
                  <a:pt x="1688147" y="454377"/>
                </a:lnTo>
                <a:lnTo>
                  <a:pt x="1688147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143430" y="1824567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0"/>
                </a:moveTo>
                <a:lnTo>
                  <a:pt x="1688147" y="0"/>
                </a:lnTo>
                <a:lnTo>
                  <a:pt x="1688147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143430" y="2733322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454377"/>
                </a:moveTo>
                <a:lnTo>
                  <a:pt x="1688147" y="454377"/>
                </a:lnTo>
                <a:lnTo>
                  <a:pt x="1688147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143430" y="2733321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0"/>
                </a:moveTo>
                <a:lnTo>
                  <a:pt x="1688147" y="0"/>
                </a:lnTo>
                <a:lnTo>
                  <a:pt x="1688147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842399" y="2053108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0"/>
                </a:moveTo>
                <a:lnTo>
                  <a:pt x="1688147" y="0"/>
                </a:lnTo>
                <a:lnTo>
                  <a:pt x="1688147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842399" y="2496667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454377"/>
                </a:moveTo>
                <a:lnTo>
                  <a:pt x="1688147" y="454377"/>
                </a:lnTo>
                <a:lnTo>
                  <a:pt x="1688147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842399" y="2496667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0"/>
                </a:moveTo>
                <a:lnTo>
                  <a:pt x="1688147" y="0"/>
                </a:lnTo>
                <a:lnTo>
                  <a:pt x="1688147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782015" y="1824567"/>
            <a:ext cx="3311525" cy="1082040"/>
          </a:xfrm>
          <a:custGeom>
            <a:avLst/>
            <a:gdLst/>
            <a:ahLst/>
            <a:cxnLst/>
            <a:rect l="l" t="t" r="r" b="b"/>
            <a:pathLst>
              <a:path w="3311525" h="1082039">
                <a:moveTo>
                  <a:pt x="0" y="0"/>
                </a:moveTo>
                <a:lnTo>
                  <a:pt x="3311366" y="0"/>
                </a:lnTo>
                <a:lnTo>
                  <a:pt x="3311366" y="1081851"/>
                </a:lnTo>
                <a:lnTo>
                  <a:pt x="0" y="1081851"/>
                </a:lnTo>
                <a:lnTo>
                  <a:pt x="0" y="0"/>
                </a:lnTo>
                <a:close/>
              </a:path>
            </a:pathLst>
          </a:custGeom>
          <a:ln w="1081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11581" y="1867113"/>
            <a:ext cx="572643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447290" algn="l"/>
              </a:tabLst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_system_call: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cmpl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$0,counter(%eax)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7097" y="2209924"/>
            <a:ext cx="803275" cy="622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1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call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pushl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44637" y="2209924"/>
            <a:ext cx="4326890" cy="622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513840" algn="l"/>
              </a:tabLst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sys_fork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	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je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reschedule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67640">
              <a:lnSpc>
                <a:spcPct val="100000"/>
              </a:lnSpc>
              <a:spcBef>
                <a:spcPts val="265"/>
              </a:spcBef>
              <a:tabLst>
                <a:tab pos="1513840" algn="l"/>
              </a:tabLst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%eax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ret_from_sys_call: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08047" y="1921790"/>
            <a:ext cx="958850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9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SS: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SP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EFLAGS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30289" y="2830299"/>
            <a:ext cx="11144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ret=??1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51500" y="2150270"/>
            <a:ext cx="127000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ds,es,fs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18226" y="2593708"/>
            <a:ext cx="1736089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edx,ecx,ebx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846457" y="2951044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454377"/>
                </a:moveTo>
                <a:lnTo>
                  <a:pt x="1688147" y="454377"/>
                </a:lnTo>
                <a:lnTo>
                  <a:pt x="1688147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846457" y="2951045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0"/>
                </a:moveTo>
                <a:lnTo>
                  <a:pt x="1688147" y="0"/>
                </a:lnTo>
                <a:lnTo>
                  <a:pt x="1688147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8366590" y="3047963"/>
            <a:ext cx="64770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eax?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846457" y="3405422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454377"/>
                </a:moveTo>
                <a:lnTo>
                  <a:pt x="1688147" y="454377"/>
                </a:lnTo>
                <a:lnTo>
                  <a:pt x="1688147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846457" y="3405423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0"/>
                </a:moveTo>
                <a:lnTo>
                  <a:pt x="1688147" y="0"/>
                </a:lnTo>
                <a:lnTo>
                  <a:pt x="1688147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8444348" y="3502216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??3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47186" y="3836811"/>
            <a:ext cx="5713730" cy="714375"/>
          </a:xfrm>
          <a:prstGeom prst="rect">
            <a:avLst/>
          </a:prstGeom>
          <a:ln w="10818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82270" marR="1269365" indent="-311150">
              <a:lnSpc>
                <a:spcPct val="113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void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schedule(void){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next=i;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switch_to(next);</a:t>
            </a:r>
            <a:r>
              <a:rPr sz="2000" b="1" spc="3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47186" y="4615743"/>
            <a:ext cx="5259705" cy="1493520"/>
          </a:xfrm>
          <a:custGeom>
            <a:avLst/>
            <a:gdLst/>
            <a:ahLst/>
            <a:cxnLst/>
            <a:rect l="l" t="t" r="r" b="b"/>
            <a:pathLst>
              <a:path w="5259705" h="1493520">
                <a:moveTo>
                  <a:pt x="0" y="0"/>
                </a:moveTo>
                <a:lnTo>
                  <a:pt x="5259228" y="0"/>
                </a:lnTo>
                <a:lnTo>
                  <a:pt x="5259228" y="1492955"/>
                </a:lnTo>
                <a:lnTo>
                  <a:pt x="0" y="1492955"/>
                </a:lnTo>
                <a:lnTo>
                  <a:pt x="0" y="0"/>
                </a:lnTo>
                <a:close/>
              </a:path>
            </a:pathLst>
          </a:custGeom>
          <a:ln w="1081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411581" y="4657533"/>
            <a:ext cx="282511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ret_from_sys_call: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34784" y="5051124"/>
            <a:ext cx="64770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popl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12324" y="5021500"/>
            <a:ext cx="1891664" cy="313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%eax</a:t>
            </a:r>
            <a:r>
              <a:rPr sz="2000" b="1" spc="2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/</a:t>
            </a:r>
            <a:r>
              <a:rPr sz="2000" b="1" spc="2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/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返回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值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535428" y="5051124"/>
            <a:ext cx="2047239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popl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%ebx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...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3681" y="5398130"/>
            <a:ext cx="1736089" cy="631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4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pop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%fs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...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iret//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重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要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143430" y="3171470"/>
            <a:ext cx="1948180" cy="1092835"/>
          </a:xfrm>
          <a:custGeom>
            <a:avLst/>
            <a:gdLst/>
            <a:ahLst/>
            <a:cxnLst/>
            <a:rect l="l" t="t" r="r" b="b"/>
            <a:pathLst>
              <a:path w="1948179" h="1092835">
                <a:moveTo>
                  <a:pt x="1858045" y="0"/>
                </a:moveTo>
                <a:lnTo>
                  <a:pt x="1136252" y="313738"/>
                </a:lnTo>
                <a:lnTo>
                  <a:pt x="123077" y="313912"/>
                </a:lnTo>
                <a:lnTo>
                  <a:pt x="108614" y="315467"/>
                </a:lnTo>
                <a:lnTo>
                  <a:pt x="68691" y="329013"/>
                </a:lnTo>
                <a:lnTo>
                  <a:pt x="35825" y="354025"/>
                </a:lnTo>
                <a:lnTo>
                  <a:pt x="12405" y="388114"/>
                </a:lnTo>
                <a:lnTo>
                  <a:pt x="819" y="428895"/>
                </a:lnTo>
                <a:lnTo>
                  <a:pt x="0" y="638294"/>
                </a:lnTo>
                <a:lnTo>
                  <a:pt x="174" y="969627"/>
                </a:lnTo>
                <a:lnTo>
                  <a:pt x="9370" y="1011360"/>
                </a:lnTo>
                <a:lnTo>
                  <a:pt x="30831" y="1046834"/>
                </a:lnTo>
                <a:lnTo>
                  <a:pt x="62168" y="1073661"/>
                </a:lnTo>
                <a:lnTo>
                  <a:pt x="100994" y="1089453"/>
                </a:lnTo>
                <a:lnTo>
                  <a:pt x="129858" y="1092672"/>
                </a:lnTo>
                <a:lnTo>
                  <a:pt x="1623218" y="1092672"/>
                </a:lnTo>
                <a:lnTo>
                  <a:pt x="1824785" y="1092498"/>
                </a:lnTo>
                <a:lnTo>
                  <a:pt x="1866529" y="1083304"/>
                </a:lnTo>
                <a:lnTo>
                  <a:pt x="1902012" y="1061848"/>
                </a:lnTo>
                <a:lnTo>
                  <a:pt x="1928846" y="1030519"/>
                </a:lnTo>
                <a:lnTo>
                  <a:pt x="1944643" y="991704"/>
                </a:lnTo>
                <a:lnTo>
                  <a:pt x="1947862" y="962847"/>
                </a:lnTo>
                <a:lnTo>
                  <a:pt x="1947862" y="443560"/>
                </a:lnTo>
                <a:lnTo>
                  <a:pt x="1938491" y="395048"/>
                </a:lnTo>
                <a:lnTo>
                  <a:pt x="1917030" y="359575"/>
                </a:lnTo>
                <a:lnTo>
                  <a:pt x="1885692" y="332748"/>
                </a:lnTo>
                <a:lnTo>
                  <a:pt x="1846866" y="316956"/>
                </a:lnTo>
                <a:lnTo>
                  <a:pt x="1818002" y="313738"/>
                </a:lnTo>
                <a:lnTo>
                  <a:pt x="1623218" y="313738"/>
                </a:lnTo>
                <a:lnTo>
                  <a:pt x="18580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143430" y="3171469"/>
            <a:ext cx="1948180" cy="1092835"/>
          </a:xfrm>
          <a:custGeom>
            <a:avLst/>
            <a:gdLst/>
            <a:ahLst/>
            <a:cxnLst/>
            <a:rect l="l" t="t" r="r" b="b"/>
            <a:pathLst>
              <a:path w="1948179" h="1092835">
                <a:moveTo>
                  <a:pt x="0" y="443563"/>
                </a:moveTo>
                <a:lnTo>
                  <a:pt x="7111" y="401083"/>
                </a:lnTo>
                <a:lnTo>
                  <a:pt x="26851" y="364498"/>
                </a:lnTo>
                <a:lnTo>
                  <a:pt x="56834" y="336195"/>
                </a:lnTo>
                <a:lnTo>
                  <a:pt x="94670" y="318562"/>
                </a:lnTo>
                <a:lnTo>
                  <a:pt x="1136253" y="313739"/>
                </a:lnTo>
                <a:lnTo>
                  <a:pt x="1858046" y="0"/>
                </a:lnTo>
                <a:lnTo>
                  <a:pt x="1623218" y="313739"/>
                </a:lnTo>
                <a:lnTo>
                  <a:pt x="1818003" y="313739"/>
                </a:lnTo>
                <a:lnTo>
                  <a:pt x="1832674" y="314558"/>
                </a:lnTo>
                <a:lnTo>
                  <a:pt x="1873465" y="326141"/>
                </a:lnTo>
                <a:lnTo>
                  <a:pt x="1907564" y="349555"/>
                </a:lnTo>
                <a:lnTo>
                  <a:pt x="1932583" y="382412"/>
                </a:lnTo>
                <a:lnTo>
                  <a:pt x="1946133" y="422324"/>
                </a:lnTo>
                <a:lnTo>
                  <a:pt x="1947862" y="443561"/>
                </a:lnTo>
                <a:lnTo>
                  <a:pt x="1947862" y="638294"/>
                </a:lnTo>
                <a:lnTo>
                  <a:pt x="1947862" y="962848"/>
                </a:lnTo>
                <a:lnTo>
                  <a:pt x="1947042" y="977515"/>
                </a:lnTo>
                <a:lnTo>
                  <a:pt x="1935456" y="1018295"/>
                </a:lnTo>
                <a:lnTo>
                  <a:pt x="1912036" y="1052385"/>
                </a:lnTo>
                <a:lnTo>
                  <a:pt x="1879170" y="1077397"/>
                </a:lnTo>
                <a:lnTo>
                  <a:pt x="1839248" y="1090943"/>
                </a:lnTo>
                <a:lnTo>
                  <a:pt x="1623218" y="1092672"/>
                </a:lnTo>
                <a:lnTo>
                  <a:pt x="1136253" y="1092672"/>
                </a:lnTo>
                <a:lnTo>
                  <a:pt x="129859" y="1092672"/>
                </a:lnTo>
                <a:lnTo>
                  <a:pt x="115188" y="1091853"/>
                </a:lnTo>
                <a:lnTo>
                  <a:pt x="74397" y="1080269"/>
                </a:lnTo>
                <a:lnTo>
                  <a:pt x="40298" y="1056856"/>
                </a:lnTo>
                <a:lnTo>
                  <a:pt x="15279" y="1023999"/>
                </a:lnTo>
                <a:lnTo>
                  <a:pt x="1729" y="984087"/>
                </a:lnTo>
                <a:lnTo>
                  <a:pt x="0" y="638294"/>
                </a:lnTo>
                <a:lnTo>
                  <a:pt x="0" y="443561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6282221" y="3583342"/>
            <a:ext cx="166878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进入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sc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h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u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e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714962" y="3896523"/>
            <a:ext cx="80327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时的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栈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163881" y="5654321"/>
            <a:ext cx="3637915" cy="779145"/>
          </a:xfrm>
          <a:custGeom>
            <a:avLst/>
            <a:gdLst/>
            <a:ahLst/>
            <a:cxnLst/>
            <a:rect l="l" t="t" r="r" b="b"/>
            <a:pathLst>
              <a:path w="3637915" h="779145">
                <a:moveTo>
                  <a:pt x="3507460" y="0"/>
                </a:moveTo>
                <a:lnTo>
                  <a:pt x="715525" y="0"/>
                </a:lnTo>
                <a:lnTo>
                  <a:pt x="254245" y="173"/>
                </a:lnTo>
                <a:lnTo>
                  <a:pt x="212500" y="9367"/>
                </a:lnTo>
                <a:lnTo>
                  <a:pt x="177016" y="30822"/>
                </a:lnTo>
                <a:lnTo>
                  <a:pt x="150182" y="62151"/>
                </a:lnTo>
                <a:lnTo>
                  <a:pt x="134386" y="100966"/>
                </a:lnTo>
                <a:lnTo>
                  <a:pt x="131166" y="129823"/>
                </a:lnTo>
                <a:lnTo>
                  <a:pt x="0" y="251712"/>
                </a:lnTo>
                <a:lnTo>
                  <a:pt x="131166" y="324557"/>
                </a:lnTo>
                <a:lnTo>
                  <a:pt x="131340" y="655888"/>
                </a:lnTo>
                <a:lnTo>
                  <a:pt x="132895" y="670347"/>
                </a:lnTo>
                <a:lnTo>
                  <a:pt x="146445" y="710260"/>
                </a:lnTo>
                <a:lnTo>
                  <a:pt x="171464" y="743116"/>
                </a:lnTo>
                <a:lnTo>
                  <a:pt x="205562" y="766530"/>
                </a:lnTo>
                <a:lnTo>
                  <a:pt x="246354" y="778114"/>
                </a:lnTo>
                <a:lnTo>
                  <a:pt x="261025" y="778933"/>
                </a:lnTo>
                <a:lnTo>
                  <a:pt x="1592064" y="778933"/>
                </a:lnTo>
                <a:lnTo>
                  <a:pt x="3514241" y="778759"/>
                </a:lnTo>
                <a:lnTo>
                  <a:pt x="3555986" y="769565"/>
                </a:lnTo>
                <a:lnTo>
                  <a:pt x="3591469" y="748110"/>
                </a:lnTo>
                <a:lnTo>
                  <a:pt x="3618303" y="716781"/>
                </a:lnTo>
                <a:lnTo>
                  <a:pt x="3634099" y="677966"/>
                </a:lnTo>
                <a:lnTo>
                  <a:pt x="3637319" y="649109"/>
                </a:lnTo>
                <a:lnTo>
                  <a:pt x="3637319" y="129823"/>
                </a:lnTo>
                <a:lnTo>
                  <a:pt x="3627949" y="81311"/>
                </a:lnTo>
                <a:lnTo>
                  <a:pt x="3606488" y="45837"/>
                </a:lnTo>
                <a:lnTo>
                  <a:pt x="3575151" y="19010"/>
                </a:lnTo>
                <a:lnTo>
                  <a:pt x="3536325" y="3218"/>
                </a:lnTo>
                <a:lnTo>
                  <a:pt x="3522132" y="819"/>
                </a:lnTo>
                <a:lnTo>
                  <a:pt x="35074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163882" y="5654321"/>
            <a:ext cx="3637915" cy="779145"/>
          </a:xfrm>
          <a:custGeom>
            <a:avLst/>
            <a:gdLst/>
            <a:ahLst/>
            <a:cxnLst/>
            <a:rect l="l" t="t" r="r" b="b"/>
            <a:pathLst>
              <a:path w="3637915" h="779145">
                <a:moveTo>
                  <a:pt x="131166" y="129823"/>
                </a:moveTo>
                <a:lnTo>
                  <a:pt x="138277" y="87343"/>
                </a:lnTo>
                <a:lnTo>
                  <a:pt x="158018" y="50758"/>
                </a:lnTo>
                <a:lnTo>
                  <a:pt x="188001" y="22455"/>
                </a:lnTo>
                <a:lnTo>
                  <a:pt x="225836" y="4822"/>
                </a:lnTo>
                <a:lnTo>
                  <a:pt x="715525" y="0"/>
                </a:lnTo>
                <a:lnTo>
                  <a:pt x="1592063" y="0"/>
                </a:lnTo>
                <a:lnTo>
                  <a:pt x="3507459" y="0"/>
                </a:lnTo>
                <a:lnTo>
                  <a:pt x="3522131" y="819"/>
                </a:lnTo>
                <a:lnTo>
                  <a:pt x="3562922" y="12402"/>
                </a:lnTo>
                <a:lnTo>
                  <a:pt x="3597021" y="35816"/>
                </a:lnTo>
                <a:lnTo>
                  <a:pt x="3622039" y="68673"/>
                </a:lnTo>
                <a:lnTo>
                  <a:pt x="3635589" y="108585"/>
                </a:lnTo>
                <a:lnTo>
                  <a:pt x="3637318" y="129823"/>
                </a:lnTo>
                <a:lnTo>
                  <a:pt x="3637318" y="324556"/>
                </a:lnTo>
                <a:lnTo>
                  <a:pt x="3637318" y="649109"/>
                </a:lnTo>
                <a:lnTo>
                  <a:pt x="3636499" y="663777"/>
                </a:lnTo>
                <a:lnTo>
                  <a:pt x="3624912" y="704557"/>
                </a:lnTo>
                <a:lnTo>
                  <a:pt x="3601492" y="738646"/>
                </a:lnTo>
                <a:lnTo>
                  <a:pt x="3568627" y="763658"/>
                </a:lnTo>
                <a:lnTo>
                  <a:pt x="3528703" y="777204"/>
                </a:lnTo>
                <a:lnTo>
                  <a:pt x="1592063" y="778933"/>
                </a:lnTo>
                <a:lnTo>
                  <a:pt x="715525" y="778933"/>
                </a:lnTo>
                <a:lnTo>
                  <a:pt x="261025" y="778933"/>
                </a:lnTo>
                <a:lnTo>
                  <a:pt x="246353" y="778113"/>
                </a:lnTo>
                <a:lnTo>
                  <a:pt x="205562" y="766530"/>
                </a:lnTo>
                <a:lnTo>
                  <a:pt x="171463" y="743116"/>
                </a:lnTo>
                <a:lnTo>
                  <a:pt x="146445" y="710260"/>
                </a:lnTo>
                <a:lnTo>
                  <a:pt x="132895" y="670347"/>
                </a:lnTo>
                <a:lnTo>
                  <a:pt x="131166" y="324556"/>
                </a:lnTo>
                <a:lnTo>
                  <a:pt x="0" y="251712"/>
                </a:lnTo>
                <a:lnTo>
                  <a:pt x="131166" y="129823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2512950" y="5751865"/>
            <a:ext cx="3068320" cy="60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7325" marR="5080" indent="-175260">
              <a:lnSpc>
                <a:spcPct val="103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返回到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0x80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后面执行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spc="3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v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es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,</a:t>
            </a:r>
            <a:r>
              <a:rPr sz="2000" b="1" spc="4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%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eax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res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2"/>
          <p:cNvSpPr>
            <a:spLocks noGrp="1"/>
          </p:cNvSpPr>
          <p:nvPr>
            <p:ph type="title"/>
          </p:nvPr>
        </p:nvSpPr>
        <p:spPr>
          <a:xfrm>
            <a:off x="728839" y="431562"/>
            <a:ext cx="9655528" cy="553720"/>
          </a:xfrm>
        </p:spPr>
        <p:txBody>
          <a:bodyPr vert="horz" wrap="square" lIns="100753" tIns="50376" rIns="100753" bIns="50376" anchor="ctr" anchorCtr="0"/>
          <a:p>
            <a:pPr eaLnBrk="1" hangingPunct="1"/>
            <a:r>
              <a:rPr lang="en-US" altLang="zh-CN" dirty="0"/>
              <a:t>Linux 0.11</a:t>
            </a:r>
            <a:r>
              <a:rPr lang="zh-CN" altLang="en-US" dirty="0"/>
              <a:t>的</a:t>
            </a:r>
            <a:r>
              <a:rPr lang="en-US" altLang="zh-CN" dirty="0"/>
              <a:t>switch_to</a:t>
            </a:r>
            <a:endParaRPr lang="en-US" altLang="zh-CN" dirty="0"/>
          </a:p>
        </p:txBody>
      </p:sp>
      <p:pic>
        <p:nvPicPr>
          <p:cNvPr id="235531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100" y="1187450"/>
            <a:ext cx="6153785" cy="552323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35538" name="Group 18"/>
          <p:cNvGrpSpPr/>
          <p:nvPr/>
        </p:nvGrpSpPr>
        <p:grpSpPr>
          <a:xfrm>
            <a:off x="6413706" y="1262915"/>
            <a:ext cx="4030133" cy="1233179"/>
            <a:chOff x="3490" y="722"/>
            <a:chExt cx="2304" cy="705"/>
          </a:xfrm>
        </p:grpSpPr>
        <p:sp>
          <p:nvSpPr>
            <p:cNvPr id="59403" name="Rectangle 14"/>
            <p:cNvSpPr/>
            <p:nvPr/>
          </p:nvSpPr>
          <p:spPr>
            <a:xfrm>
              <a:off x="3490" y="722"/>
              <a:ext cx="2304" cy="70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p>
              <a:pPr lvl="1" eaLnBrk="1" hangingPunct="1">
                <a:lnSpc>
                  <a:spcPct val="140000"/>
                </a:lnSpc>
              </a:pPr>
              <a:r>
                <a:rPr lang="en-US" altLang="zh-CN" sz="2645" b="1" dirty="0">
                  <a:latin typeface="Arial" panose="020B0604020202020204" pitchFamily="34" charset="0"/>
                </a:rPr>
                <a:t>Linux 0.11</a:t>
              </a:r>
              <a:r>
                <a:rPr lang="zh-CN" altLang="en-US" sz="2645" b="1" dirty="0">
                  <a:latin typeface="Arial" panose="020B0604020202020204" pitchFamily="34" charset="0"/>
                </a:rPr>
                <a:t>作了简化，由</a:t>
              </a:r>
              <a:r>
                <a:rPr lang="en-US" altLang="zh-CN" sz="2645" b="1" dirty="0">
                  <a:latin typeface="Arial" panose="020B0604020202020204" pitchFamily="34" charset="0"/>
                </a:rPr>
                <a:t>tss</a:t>
              </a:r>
              <a:r>
                <a:rPr lang="zh-CN" altLang="en-US" sz="2645" b="1" dirty="0">
                  <a:latin typeface="Arial" panose="020B0604020202020204" pitchFamily="34" charset="0"/>
                </a:rPr>
                <a:t>完成切换</a:t>
              </a:r>
              <a:endParaRPr lang="zh-CN" altLang="en-US" sz="2645" b="1" dirty="0">
                <a:latin typeface="Arial" panose="020B0604020202020204" pitchFamily="34" charset="0"/>
              </a:endParaRPr>
            </a:p>
          </p:txBody>
        </p:sp>
        <p:pic>
          <p:nvPicPr>
            <p:cNvPr id="59404" name="Picture 15" descr="j01158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90" y="853"/>
              <a:ext cx="137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235539" name="Group 19"/>
          <p:cNvGrpSpPr/>
          <p:nvPr/>
        </p:nvGrpSpPr>
        <p:grpSpPr>
          <a:xfrm>
            <a:off x="6261100" y="2815890"/>
            <a:ext cx="4282017" cy="1233179"/>
            <a:chOff x="3312" y="2802"/>
            <a:chExt cx="2448" cy="705"/>
          </a:xfrm>
        </p:grpSpPr>
        <p:sp>
          <p:nvSpPr>
            <p:cNvPr id="59401" name="Rectangle 16"/>
            <p:cNvSpPr/>
            <p:nvPr/>
          </p:nvSpPr>
          <p:spPr>
            <a:xfrm>
              <a:off x="3312" y="2802"/>
              <a:ext cx="2448" cy="70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p>
              <a:pPr lvl="1" eaLnBrk="1" hangingPunct="1">
                <a:lnSpc>
                  <a:spcPct val="140000"/>
                </a:lnSpc>
              </a:pPr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别忘了，</a:t>
              </a:r>
              <a:r>
                <a:rPr lang="en-US" altLang="zh-CN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tss</a:t>
              </a:r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的信息是从内核栈中取出来的</a:t>
              </a:r>
              <a:endParaRPr lang="zh-CN" altLang="en-US" sz="2645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59402" name="Picture 17" descr="j01158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56" y="2969"/>
              <a:ext cx="137" cy="12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</p:pic>
      </p:grpSp>
      <p:sp>
        <p:nvSpPr>
          <p:cNvPr id="235540" name="AutoShape 20"/>
          <p:cNvSpPr/>
          <p:nvPr/>
        </p:nvSpPr>
        <p:spPr>
          <a:xfrm>
            <a:off x="6870629" y="4387779"/>
            <a:ext cx="2854678" cy="1007533"/>
          </a:xfrm>
          <a:prstGeom prst="wedgeRoundRectCallout">
            <a:avLst>
              <a:gd name="adj1" fmla="val -24880"/>
              <a:gd name="adj2" fmla="val -83162"/>
              <a:gd name="adj3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en-US" sz="2645" b="1" dirty="0">
                <a:latin typeface="Arial" panose="020B0604020202020204" pitchFamily="34" charset="0"/>
              </a:rPr>
              <a:t>现代</a:t>
            </a:r>
            <a:r>
              <a:rPr lang="en-US" altLang="zh-CN" sz="2645" b="1" dirty="0">
                <a:latin typeface="Arial" panose="020B0604020202020204" pitchFamily="34" charset="0"/>
              </a:rPr>
              <a:t>Linux</a:t>
            </a:r>
            <a:r>
              <a:rPr lang="zh-CN" altLang="en-US" sz="2645" b="1" dirty="0">
                <a:latin typeface="Arial" panose="020B0604020202020204" pitchFamily="34" charset="0"/>
              </a:rPr>
              <a:t>已不用</a:t>
            </a:r>
            <a:r>
              <a:rPr lang="en-US" altLang="zh-CN" sz="2645" b="1" dirty="0">
                <a:latin typeface="Arial" panose="020B0604020202020204" pitchFamily="34" charset="0"/>
              </a:rPr>
              <a:t>tss</a:t>
            </a:r>
            <a:r>
              <a:rPr lang="zh-CN" altLang="en-US" sz="2645" b="1" dirty="0">
                <a:latin typeface="Arial" panose="020B0604020202020204" pitchFamily="34" charset="0"/>
              </a:rPr>
              <a:t>来切换</a:t>
            </a:r>
            <a:endParaRPr lang="zh-CN" altLang="en-US" sz="2645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0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77043" y="4810478"/>
            <a:ext cx="6233160" cy="1623060"/>
          </a:xfrm>
          <a:custGeom>
            <a:avLst/>
            <a:gdLst/>
            <a:ahLst/>
            <a:cxnLst/>
            <a:rect l="l" t="t" r="r" b="b"/>
            <a:pathLst>
              <a:path w="6233159" h="1623060">
                <a:moveTo>
                  <a:pt x="0" y="0"/>
                </a:moveTo>
                <a:lnTo>
                  <a:pt x="6233160" y="0"/>
                </a:lnTo>
                <a:lnTo>
                  <a:pt x="6233160" y="1622777"/>
                </a:lnTo>
                <a:lnTo>
                  <a:pt x="0" y="1622777"/>
                </a:lnTo>
                <a:lnTo>
                  <a:pt x="0" y="0"/>
                </a:lnTo>
                <a:close/>
              </a:path>
            </a:pathLst>
          </a:custGeom>
          <a:ln w="1081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54138" y="4886058"/>
            <a:ext cx="6045835" cy="150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0515" marR="906145" indent="-311150">
              <a:lnSpc>
                <a:spcPct val="103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int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copy_process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(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int</a:t>
            </a:r>
            <a:r>
              <a:rPr sz="2000" b="1" spc="2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nr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,long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ebp,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long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edi,long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esi,long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gs,long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292100">
              <a:lnSpc>
                <a:spcPct val="100000"/>
              </a:lnSpc>
              <a:spcBef>
                <a:spcPts val="30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none,long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ebx,long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ecx,long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edx,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long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292100" marR="769620">
              <a:lnSpc>
                <a:spcPct val="101000"/>
              </a:lnSpc>
              <a:spcBef>
                <a:spcPts val="30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fs,long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es,long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ds,long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eip,long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cs,long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eflags,long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esp,long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ss)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50" spc="100" dirty="0"/>
              <a:t>另一个故事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Thr</a:t>
            </a:r>
            <a:r>
              <a:rPr sz="3050" dirty="0">
                <a:latin typeface="Arial" panose="020B0604020202020204"/>
                <a:cs typeface="Arial" panose="020B0604020202020204"/>
              </a:rPr>
              <a:t>e</a:t>
            </a:r>
            <a:r>
              <a:rPr sz="3050" dirty="0">
                <a:latin typeface="Arial" panose="020B0604020202020204"/>
                <a:cs typeface="Arial" panose="020B0604020202020204"/>
              </a:rPr>
              <a:t>a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dCr</a:t>
            </a:r>
            <a:r>
              <a:rPr sz="3050" spc="-5" dirty="0">
                <a:latin typeface="Arial" panose="020B0604020202020204"/>
                <a:cs typeface="Arial" panose="020B0604020202020204"/>
              </a:rPr>
              <a:t>e</a:t>
            </a:r>
            <a:r>
              <a:rPr sz="3050" dirty="0">
                <a:latin typeface="Arial" panose="020B0604020202020204"/>
                <a:cs typeface="Arial" panose="020B0604020202020204"/>
              </a:rPr>
              <a:t>a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te</a:t>
            </a:r>
            <a:r>
              <a:rPr sz="2950" spc="100" dirty="0"/>
              <a:t>就顺了</a:t>
            </a:r>
            <a:r>
              <a:rPr sz="3050" spc="15" dirty="0">
                <a:latin typeface="Arial" panose="020B0604020202020204"/>
                <a:cs typeface="Arial" panose="020B0604020202020204"/>
              </a:rPr>
              <a:t>…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7043" y="2343856"/>
            <a:ext cx="3701415" cy="2402205"/>
          </a:xfrm>
          <a:custGeom>
            <a:avLst/>
            <a:gdLst/>
            <a:ahLst/>
            <a:cxnLst/>
            <a:rect l="l" t="t" r="r" b="b"/>
            <a:pathLst>
              <a:path w="3701415" h="2402204">
                <a:moveTo>
                  <a:pt x="0" y="0"/>
                </a:moveTo>
                <a:lnTo>
                  <a:pt x="3700938" y="0"/>
                </a:lnTo>
                <a:lnTo>
                  <a:pt x="3700938" y="2401711"/>
                </a:lnTo>
                <a:lnTo>
                  <a:pt x="0" y="2401711"/>
                </a:lnTo>
                <a:lnTo>
                  <a:pt x="0" y="0"/>
                </a:lnTo>
                <a:close/>
              </a:path>
            </a:pathLst>
          </a:custGeom>
          <a:ln w="1081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43504" y="1957060"/>
            <a:ext cx="3549015" cy="700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从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sys_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f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k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开始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rea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Th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0160">
              <a:lnSpc>
                <a:spcPct val="100000"/>
              </a:lnSpc>
              <a:spcBef>
                <a:spcPts val="745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_sys_fork: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9654" y="2741772"/>
            <a:ext cx="1400175" cy="196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push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%gs;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...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R="614045">
              <a:lnSpc>
                <a:spcPct val="113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pushl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call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addl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ret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64816" y="2741772"/>
            <a:ext cx="1555115" cy="258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pushl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%esi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87195" y="3423168"/>
            <a:ext cx="2021839" cy="9442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494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%eax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_copy_process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$20,%esp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10545" y="1824566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4" h="454660">
                <a:moveTo>
                  <a:pt x="0" y="454377"/>
                </a:moveTo>
                <a:lnTo>
                  <a:pt x="1688147" y="454377"/>
                </a:lnTo>
                <a:lnTo>
                  <a:pt x="1688147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310545" y="2733322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4" h="454660">
                <a:moveTo>
                  <a:pt x="0" y="454377"/>
                </a:moveTo>
                <a:lnTo>
                  <a:pt x="1688147" y="454377"/>
                </a:lnTo>
                <a:lnTo>
                  <a:pt x="1688147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310545" y="3642076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4" h="454660">
                <a:moveTo>
                  <a:pt x="0" y="454377"/>
                </a:moveTo>
                <a:lnTo>
                  <a:pt x="1688147" y="454377"/>
                </a:lnTo>
                <a:lnTo>
                  <a:pt x="1688147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307840" y="4096454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4" h="454660">
                <a:moveTo>
                  <a:pt x="0" y="454377"/>
                </a:moveTo>
                <a:lnTo>
                  <a:pt x="1688147" y="454377"/>
                </a:lnTo>
                <a:lnTo>
                  <a:pt x="1688147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047389" y="2408766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454377"/>
                </a:moveTo>
                <a:lnTo>
                  <a:pt x="1688147" y="454377"/>
                </a:lnTo>
                <a:lnTo>
                  <a:pt x="1688147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047389" y="3317522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454377"/>
                </a:moveTo>
                <a:lnTo>
                  <a:pt x="1688147" y="454377"/>
                </a:lnTo>
                <a:lnTo>
                  <a:pt x="1688147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047389" y="3771900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454377"/>
                </a:moveTo>
                <a:lnTo>
                  <a:pt x="1688147" y="454377"/>
                </a:lnTo>
                <a:lnTo>
                  <a:pt x="1688147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046036" y="4226276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454377"/>
                </a:moveTo>
                <a:lnTo>
                  <a:pt x="1688147" y="454377"/>
                </a:lnTo>
                <a:lnTo>
                  <a:pt x="1688147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10664" y="1984140"/>
            <a:ext cx="160968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298374" y="1812395"/>
          <a:ext cx="1724660" cy="2750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8147"/>
              </a:tblGrid>
              <a:tr h="454377"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SS:</a:t>
                      </a:r>
                      <a:r>
                        <a:rPr sz="2000" b="1" spc="25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SP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4377"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EFLAGS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9786">
                <a:tc>
                  <a:txBody>
                    <a:bodyPr/>
                    <a:lstStyle/>
                    <a:p>
                      <a:pPr marL="287020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ret=??1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4378">
                <a:tc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ds,es,fs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89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edx,ecx,ebx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437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??2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6035218" y="2396595"/>
          <a:ext cx="1724660" cy="2296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8147"/>
              </a:tblGrid>
              <a:tr h="45437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gs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4377">
                <a:tc>
                  <a:txBody>
                    <a:bodyPr/>
                    <a:lstStyle/>
                    <a:p>
                      <a:pPr marL="287020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esi,edi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43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ebp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43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eax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437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??4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50" dirty="0">
                <a:latin typeface="Arial" panose="020B0604020202020204"/>
                <a:cs typeface="Arial" panose="020B0604020202020204"/>
              </a:rPr>
              <a:t>c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o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p</a:t>
            </a:r>
            <a:r>
              <a:rPr sz="3050" dirty="0">
                <a:latin typeface="Arial" panose="020B0604020202020204"/>
                <a:cs typeface="Arial" panose="020B0604020202020204"/>
              </a:rPr>
              <a:t>y_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p</a:t>
            </a:r>
            <a:r>
              <a:rPr sz="3050" dirty="0">
                <a:latin typeface="Arial" panose="020B0604020202020204"/>
                <a:cs typeface="Arial" panose="020B0604020202020204"/>
              </a:rPr>
              <a:t>r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o</a:t>
            </a:r>
            <a:r>
              <a:rPr sz="3050" dirty="0">
                <a:latin typeface="Arial" panose="020B0604020202020204"/>
                <a:cs typeface="Arial" panose="020B0604020202020204"/>
              </a:rPr>
              <a:t>ces</a:t>
            </a:r>
            <a:r>
              <a:rPr sz="3050" spc="-5" dirty="0">
                <a:latin typeface="Arial" panose="020B0604020202020204"/>
                <a:cs typeface="Arial" panose="020B0604020202020204"/>
              </a:rPr>
              <a:t>s</a:t>
            </a:r>
            <a:r>
              <a:rPr sz="2950" spc="100" dirty="0"/>
              <a:t>的细节：创建栈</a:t>
            </a:r>
            <a:endParaRPr sz="2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2115" y="1824567"/>
            <a:ext cx="6752590" cy="2856230"/>
          </a:xfrm>
          <a:custGeom>
            <a:avLst/>
            <a:gdLst/>
            <a:ahLst/>
            <a:cxnLst/>
            <a:rect l="l" t="t" r="r" b="b"/>
            <a:pathLst>
              <a:path w="6752590" h="2856229">
                <a:moveTo>
                  <a:pt x="0" y="0"/>
                </a:moveTo>
                <a:lnTo>
                  <a:pt x="6752590" y="0"/>
                </a:lnTo>
                <a:lnTo>
                  <a:pt x="6752590" y="2856088"/>
                </a:lnTo>
                <a:lnTo>
                  <a:pt x="0" y="2856088"/>
                </a:lnTo>
                <a:lnTo>
                  <a:pt x="0" y="0"/>
                </a:lnTo>
                <a:close/>
              </a:path>
            </a:pathLst>
          </a:custGeom>
          <a:ln w="1081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00242" y="1900957"/>
            <a:ext cx="6221095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p=(struct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task_struct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*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)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get_free_page();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310515">
              <a:lnSpc>
                <a:spcPct val="100000"/>
              </a:lnSpc>
              <a:spcBef>
                <a:spcPts val="365"/>
              </a:spcBef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申请内存空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间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1050" y="2586355"/>
            <a:ext cx="5988685" cy="694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" indent="-19050">
              <a:lnSpc>
                <a:spcPct val="113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p-&gt;tss.esp0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PAGE_SIZE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+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(long)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p; p-&gt;tss.ss0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0x10;</a:t>
            </a:r>
            <a:r>
              <a:rPr lang="en-US" sz="2000" b="1" spc="20" dirty="0">
                <a:latin typeface="Courier New" panose="02070309020205020404"/>
                <a:cs typeface="Courier New" panose="02070309020205020404"/>
              </a:rPr>
              <a:t>//</a:t>
            </a:r>
            <a:r>
              <a:rPr lang="zh-CN" altLang="en-US" sz="2000" b="1" spc="20" dirty="0">
                <a:latin typeface="Courier New" panose="02070309020205020404"/>
                <a:cs typeface="Courier New" panose="02070309020205020404"/>
              </a:rPr>
              <a:t>数据段选择符</a:t>
            </a:r>
            <a:r>
              <a:rPr lang="en-US" altLang="zh-CN" sz="2000" b="1" spc="20" dirty="0">
                <a:latin typeface="Courier New" panose="02070309020205020404"/>
                <a:cs typeface="Courier New" panose="02070309020205020404"/>
              </a:rPr>
              <a:t>-&gt;</a:t>
            </a:r>
            <a:r>
              <a:rPr lang="zh-CN" altLang="en-US"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内核数据</a:t>
            </a:r>
            <a:r>
              <a:rPr lang="zh-CN" altLang="en-US"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段</a:t>
            </a:r>
            <a:endParaRPr lang="zh-CN" altLang="en-US" sz="2000" b="1" spc="20" dirty="0">
              <a:solidFill>
                <a:srgbClr val="FF0000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5960" y="3061970"/>
            <a:ext cx="1608455" cy="3911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2000" b="1" spc="20" dirty="0">
              <a:solidFill>
                <a:srgbClr val="FF0000"/>
              </a:solidFill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创建内核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栈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1309" y="3674202"/>
            <a:ext cx="1555115" cy="596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1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p-&gt;tss.ss p-&gt;tss.esp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36407" y="3674202"/>
            <a:ext cx="2177415" cy="596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ss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&amp;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0xffff;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54940">
              <a:lnSpc>
                <a:spcPct val="100000"/>
              </a:lnSpc>
              <a:spcBef>
                <a:spcPts val="265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esp;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11274" y="4334500"/>
            <a:ext cx="373761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创建用户栈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(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和父进程共用栈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)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94562" y="1824567"/>
            <a:ext cx="2662555" cy="1891030"/>
          </a:xfrm>
          <a:prstGeom prst="rect">
            <a:avLst/>
          </a:prstGeom>
          <a:ln w="1081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1120" marR="80010">
              <a:lnSpc>
                <a:spcPct val="123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申请内存空间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; </a:t>
            </a:r>
            <a:endParaRPr sz="2000" b="1" spc="20" dirty="0">
              <a:solidFill>
                <a:srgbClr val="FF0000"/>
              </a:solidFill>
              <a:latin typeface="Courier New" panose="02070309020205020404"/>
              <a:cs typeface="Courier New" panose="02070309020205020404"/>
            </a:endParaRPr>
          </a:p>
          <a:p>
            <a:pPr marL="71120" marR="80010">
              <a:lnSpc>
                <a:spcPct val="123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创建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TCB; </a:t>
            </a:r>
            <a:endParaRPr sz="2000" b="1" spc="20" dirty="0">
              <a:solidFill>
                <a:srgbClr val="FF0000"/>
              </a:solidFill>
              <a:latin typeface="Courier New" panose="02070309020205020404"/>
              <a:cs typeface="Courier New" panose="02070309020205020404"/>
            </a:endParaRPr>
          </a:p>
          <a:p>
            <a:pPr marL="71120" marR="80010">
              <a:lnSpc>
                <a:spcPct val="123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创建内核栈和用户栈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; </a:t>
            </a:r>
            <a:r>
              <a:rPr sz="3000" b="1" i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填写两</a:t>
            </a:r>
            <a:r>
              <a:rPr sz="3000" b="1" i="1" spc="3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个</a:t>
            </a:r>
            <a:r>
              <a:rPr sz="2000" b="1" i="1" spc="20" dirty="0">
                <a:latin typeface="Courier New" panose="02070309020205020404"/>
                <a:cs typeface="Courier New" panose="02070309020205020404"/>
              </a:rPr>
              <a:t>stack; </a:t>
            </a:r>
            <a:endParaRPr sz="2000" b="1" i="1" spc="20" dirty="0">
              <a:latin typeface="Courier New" panose="02070309020205020404"/>
              <a:cs typeface="Courier New" panose="02070309020205020404"/>
            </a:endParaRPr>
          </a:p>
          <a:p>
            <a:pPr marL="71120" marR="80010">
              <a:lnSpc>
                <a:spcPct val="123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关联栈和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TCB;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61402" y="5822009"/>
            <a:ext cx="1883410" cy="454659"/>
          </a:xfrm>
          <a:custGeom>
            <a:avLst/>
            <a:gdLst/>
            <a:ahLst/>
            <a:cxnLst/>
            <a:rect l="l" t="t" r="r" b="b"/>
            <a:pathLst>
              <a:path w="1883410" h="454660">
                <a:moveTo>
                  <a:pt x="0" y="454377"/>
                </a:moveTo>
                <a:lnTo>
                  <a:pt x="1882933" y="454377"/>
                </a:lnTo>
                <a:lnTo>
                  <a:pt x="1882933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61402" y="5822008"/>
            <a:ext cx="1883410" cy="454659"/>
          </a:xfrm>
          <a:custGeom>
            <a:avLst/>
            <a:gdLst/>
            <a:ahLst/>
            <a:cxnLst/>
            <a:rect l="l" t="t" r="r" b="b"/>
            <a:pathLst>
              <a:path w="1883410" h="454660">
                <a:moveTo>
                  <a:pt x="0" y="0"/>
                </a:moveTo>
                <a:lnTo>
                  <a:pt x="1882933" y="0"/>
                </a:lnTo>
                <a:lnTo>
                  <a:pt x="1882933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50998" y="4848343"/>
            <a:ext cx="310515" cy="1428115"/>
          </a:xfrm>
          <a:custGeom>
            <a:avLst/>
            <a:gdLst/>
            <a:ahLst/>
            <a:cxnLst/>
            <a:rect l="l" t="t" r="r" b="b"/>
            <a:pathLst>
              <a:path w="310515" h="1428114">
                <a:moveTo>
                  <a:pt x="310403" y="0"/>
                </a:moveTo>
                <a:lnTo>
                  <a:pt x="261696" y="5450"/>
                </a:lnTo>
                <a:lnTo>
                  <a:pt x="218905" y="20694"/>
                </a:lnTo>
                <a:lnTo>
                  <a:pt x="184297" y="44069"/>
                </a:lnTo>
                <a:lnTo>
                  <a:pt x="160139" y="73913"/>
                </a:lnTo>
                <a:lnTo>
                  <a:pt x="148081" y="595016"/>
                </a:lnTo>
                <a:lnTo>
                  <a:pt x="147227" y="607299"/>
                </a:lnTo>
                <a:lnTo>
                  <a:pt x="128130" y="652225"/>
                </a:lnTo>
                <a:lnTo>
                  <a:pt x="99691" y="679782"/>
                </a:lnTo>
                <a:lnTo>
                  <a:pt x="61674" y="700232"/>
                </a:lnTo>
                <a:lnTo>
                  <a:pt x="16343" y="711913"/>
                </a:lnTo>
                <a:lnTo>
                  <a:pt x="0" y="713570"/>
                </a:lnTo>
                <a:lnTo>
                  <a:pt x="15043" y="714355"/>
                </a:lnTo>
                <a:lnTo>
                  <a:pt x="58486" y="724462"/>
                </a:lnTo>
                <a:lnTo>
                  <a:pt x="96779" y="744686"/>
                </a:lnTo>
                <a:lnTo>
                  <a:pt x="126550" y="773081"/>
                </a:lnTo>
                <a:lnTo>
                  <a:pt x="144431" y="807700"/>
                </a:lnTo>
                <a:lnTo>
                  <a:pt x="148081" y="1309039"/>
                </a:lnTo>
                <a:lnTo>
                  <a:pt x="148935" y="1321321"/>
                </a:lnTo>
                <a:lnTo>
                  <a:pt x="168033" y="1366247"/>
                </a:lnTo>
                <a:lnTo>
                  <a:pt x="196471" y="1393804"/>
                </a:lnTo>
                <a:lnTo>
                  <a:pt x="234489" y="1414254"/>
                </a:lnTo>
                <a:lnTo>
                  <a:pt x="279820" y="1425935"/>
                </a:lnTo>
                <a:lnTo>
                  <a:pt x="296163" y="1427592"/>
                </a:lnTo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12400" y="4961303"/>
            <a:ext cx="283845" cy="1199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3000"/>
              </a:lnSpc>
            </a:pPr>
            <a:r>
              <a:rPr sz="1950" b="1" spc="55" dirty="0">
                <a:latin typeface="宋体" panose="02010600030101010101" pitchFamily="2" charset="-122"/>
                <a:cs typeface="宋体" panose="02010600030101010101" pitchFamily="2" charset="-122"/>
              </a:rPr>
              <a:t>一 页 内 存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61402" y="4848343"/>
            <a:ext cx="1883410" cy="974090"/>
          </a:xfrm>
          <a:custGeom>
            <a:avLst/>
            <a:gdLst/>
            <a:ahLst/>
            <a:cxnLst/>
            <a:rect l="l" t="t" r="r" b="b"/>
            <a:pathLst>
              <a:path w="1883410" h="974089">
                <a:moveTo>
                  <a:pt x="0" y="0"/>
                </a:moveTo>
                <a:lnTo>
                  <a:pt x="1882933" y="0"/>
                </a:lnTo>
                <a:lnTo>
                  <a:pt x="1882933" y="973666"/>
                </a:lnTo>
                <a:lnTo>
                  <a:pt x="0" y="973666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256474" y="5929505"/>
            <a:ext cx="141224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ask_s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u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44336" y="6238521"/>
            <a:ext cx="519430" cy="65405"/>
          </a:xfrm>
          <a:custGeom>
            <a:avLst/>
            <a:gdLst/>
            <a:ahLst/>
            <a:cxnLst/>
            <a:rect l="l" t="t" r="r" b="b"/>
            <a:pathLst>
              <a:path w="519429" h="65404">
                <a:moveTo>
                  <a:pt x="129857" y="0"/>
                </a:moveTo>
                <a:lnTo>
                  <a:pt x="0" y="32456"/>
                </a:lnTo>
                <a:lnTo>
                  <a:pt x="129857" y="64911"/>
                </a:lnTo>
                <a:lnTo>
                  <a:pt x="129857" y="48683"/>
                </a:lnTo>
                <a:lnTo>
                  <a:pt x="519430" y="48683"/>
                </a:lnTo>
                <a:lnTo>
                  <a:pt x="519430" y="16228"/>
                </a:lnTo>
                <a:lnTo>
                  <a:pt x="129857" y="16228"/>
                </a:lnTo>
                <a:lnTo>
                  <a:pt x="1298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944336" y="6238521"/>
            <a:ext cx="519430" cy="65405"/>
          </a:xfrm>
          <a:custGeom>
            <a:avLst/>
            <a:gdLst/>
            <a:ahLst/>
            <a:cxnLst/>
            <a:rect l="l" t="t" r="r" b="b"/>
            <a:pathLst>
              <a:path w="519429" h="65404">
                <a:moveTo>
                  <a:pt x="0" y="32455"/>
                </a:moveTo>
                <a:lnTo>
                  <a:pt x="129857" y="0"/>
                </a:lnTo>
                <a:lnTo>
                  <a:pt x="129857" y="16227"/>
                </a:lnTo>
                <a:lnTo>
                  <a:pt x="519430" y="16227"/>
                </a:lnTo>
                <a:lnTo>
                  <a:pt x="519430" y="48683"/>
                </a:lnTo>
                <a:lnTo>
                  <a:pt x="129857" y="48683"/>
                </a:lnTo>
                <a:lnTo>
                  <a:pt x="129857" y="64911"/>
                </a:lnTo>
                <a:lnTo>
                  <a:pt x="0" y="32455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528980" y="6103213"/>
            <a:ext cx="70294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指针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p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944336" y="4821296"/>
            <a:ext cx="519430" cy="65405"/>
          </a:xfrm>
          <a:custGeom>
            <a:avLst/>
            <a:gdLst/>
            <a:ahLst/>
            <a:cxnLst/>
            <a:rect l="l" t="t" r="r" b="b"/>
            <a:pathLst>
              <a:path w="519429" h="65404">
                <a:moveTo>
                  <a:pt x="129857" y="0"/>
                </a:moveTo>
                <a:lnTo>
                  <a:pt x="0" y="32456"/>
                </a:lnTo>
                <a:lnTo>
                  <a:pt x="129857" y="64910"/>
                </a:lnTo>
                <a:lnTo>
                  <a:pt x="129857" y="48684"/>
                </a:lnTo>
                <a:lnTo>
                  <a:pt x="519430" y="48684"/>
                </a:lnTo>
                <a:lnTo>
                  <a:pt x="519430" y="16228"/>
                </a:lnTo>
                <a:lnTo>
                  <a:pt x="129857" y="16228"/>
                </a:lnTo>
                <a:lnTo>
                  <a:pt x="12985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944336" y="4821296"/>
            <a:ext cx="519430" cy="65405"/>
          </a:xfrm>
          <a:custGeom>
            <a:avLst/>
            <a:gdLst/>
            <a:ahLst/>
            <a:cxnLst/>
            <a:rect l="l" t="t" r="r" b="b"/>
            <a:pathLst>
              <a:path w="519429" h="65404">
                <a:moveTo>
                  <a:pt x="0" y="32455"/>
                </a:moveTo>
                <a:lnTo>
                  <a:pt x="129857" y="0"/>
                </a:lnTo>
                <a:lnTo>
                  <a:pt x="129857" y="16227"/>
                </a:lnTo>
                <a:lnTo>
                  <a:pt x="519430" y="16227"/>
                </a:lnTo>
                <a:lnTo>
                  <a:pt x="519430" y="48683"/>
                </a:lnTo>
                <a:lnTo>
                  <a:pt x="129857" y="48683"/>
                </a:lnTo>
                <a:lnTo>
                  <a:pt x="129857" y="64911"/>
                </a:lnTo>
                <a:lnTo>
                  <a:pt x="0" y="32455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528980" y="4699025"/>
            <a:ext cx="616585" cy="590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25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针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ts val="2385"/>
              </a:lnSpc>
            </a:pP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es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7329" y="1202167"/>
            <a:ext cx="9738741" cy="469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ct val="100000"/>
              </a:lnSpc>
            </a:pPr>
            <a:r>
              <a:rPr sz="3050" dirty="0">
                <a:latin typeface="Arial" panose="020B0604020202020204"/>
                <a:cs typeface="Arial" panose="020B0604020202020204"/>
              </a:rPr>
              <a:t>c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o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p</a:t>
            </a:r>
            <a:r>
              <a:rPr sz="3050" dirty="0">
                <a:latin typeface="Arial" panose="020B0604020202020204"/>
                <a:cs typeface="Arial" panose="020B0604020202020204"/>
              </a:rPr>
              <a:t>y_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p</a:t>
            </a:r>
            <a:r>
              <a:rPr sz="3050" dirty="0">
                <a:latin typeface="Arial" panose="020B0604020202020204"/>
                <a:cs typeface="Arial" panose="020B0604020202020204"/>
              </a:rPr>
              <a:t>r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o</a:t>
            </a:r>
            <a:r>
              <a:rPr sz="3050" dirty="0">
                <a:latin typeface="Arial" panose="020B0604020202020204"/>
                <a:cs typeface="Arial" panose="020B0604020202020204"/>
              </a:rPr>
              <a:t>ces</a:t>
            </a:r>
            <a:r>
              <a:rPr sz="3050" spc="-5" dirty="0">
                <a:latin typeface="Arial" panose="020B0604020202020204"/>
                <a:cs typeface="Arial" panose="020B0604020202020204"/>
              </a:rPr>
              <a:t>s</a:t>
            </a:r>
            <a:r>
              <a:rPr sz="2950" spc="100" dirty="0"/>
              <a:t>的细节</a:t>
            </a:r>
            <a:r>
              <a:rPr lang="zh-CN" sz="2950" spc="100" dirty="0"/>
              <a:t>：执行前的准备</a:t>
            </a:r>
            <a:endParaRPr lang="zh-CN" sz="2950" spc="1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7186" y="1824567"/>
            <a:ext cx="4610100" cy="4479290"/>
          </a:xfrm>
          <a:custGeom>
            <a:avLst/>
            <a:gdLst/>
            <a:ahLst/>
            <a:cxnLst/>
            <a:rect l="l" t="t" r="r" b="b"/>
            <a:pathLst>
              <a:path w="4610100" h="4479290">
                <a:moveTo>
                  <a:pt x="0" y="0"/>
                </a:moveTo>
                <a:lnTo>
                  <a:pt x="4609941" y="0"/>
                </a:lnTo>
                <a:lnTo>
                  <a:pt x="4609941" y="4478866"/>
                </a:lnTo>
                <a:lnTo>
                  <a:pt x="0" y="4478866"/>
                </a:lnTo>
                <a:lnTo>
                  <a:pt x="0" y="0"/>
                </a:lnTo>
                <a:close/>
              </a:path>
            </a:pathLst>
          </a:custGeom>
          <a:ln w="1081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22613" y="1888257"/>
            <a:ext cx="3757929" cy="626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p-&gt;tss.eip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eip;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p-&gt;tss.cs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cs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&amp;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0xffff;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2613" y="2552747"/>
            <a:ext cx="3811904" cy="313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将执行地址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cs:eip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放在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tss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2613" y="2916633"/>
            <a:ext cx="1580515" cy="626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3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p-&gt;tss.eax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p-&gt;tss.ecx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33320" y="2954655"/>
            <a:ext cx="2047240" cy="653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2000" b="1" spc="2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0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;</a:t>
            </a:r>
            <a:r>
              <a:rPr lang="zh-CN"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？？思考</a:t>
            </a:r>
            <a:endParaRPr sz="2000">
              <a:solidFill>
                <a:srgbClr val="FF0000"/>
              </a:solidFill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ecx;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2613" y="3581099"/>
            <a:ext cx="3451225" cy="313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执行时的寄存器也放进去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了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8271" y="3945093"/>
            <a:ext cx="3866515" cy="2277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80" marR="5080" indent="18415">
              <a:lnSpc>
                <a:spcPct val="111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p-&gt;tss.ldt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_LDT(nr);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se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_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ss_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esc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gd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t+(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&lt;&lt;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+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F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_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_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-4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-200" dirty="0">
                <a:latin typeface="Arial" panose="020B0604020202020204"/>
                <a:cs typeface="Arial" panose="020B0604020202020204"/>
              </a:rPr>
              <a:t>Y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&amp;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-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&gt;ts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));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7780" marR="64135" indent="-5715">
              <a:lnSpc>
                <a:spcPct val="103000"/>
              </a:lnSpc>
              <a:spcBef>
                <a:spcPts val="235"/>
              </a:spcBef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se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_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_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esc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gd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t+(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&lt;&lt;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+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F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_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_E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-4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-200" dirty="0">
                <a:latin typeface="Arial" panose="020B0604020202020204"/>
                <a:cs typeface="Arial" panose="020B0604020202020204"/>
              </a:rPr>
              <a:t>Y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&amp;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-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&gt;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t));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426085">
              <a:lnSpc>
                <a:spcPct val="100000"/>
              </a:lnSpc>
              <a:spcBef>
                <a:spcPts val="165"/>
              </a:spcBef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内存跟着切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换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6830">
              <a:lnSpc>
                <a:spcPct val="100000"/>
              </a:lnSpc>
              <a:spcBef>
                <a:spcPts val="230"/>
              </a:spcBef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p-&gt;state</a:t>
            </a:r>
            <a:r>
              <a:rPr sz="2000" b="1" spc="2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2000" b="1" spc="2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TASK_RUNNING;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22056" y="3252611"/>
            <a:ext cx="2662555" cy="779145"/>
          </a:xfrm>
          <a:prstGeom prst="rect">
            <a:avLst/>
          </a:prstGeom>
          <a:ln w="10818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1120">
              <a:lnSpc>
                <a:spcPct val="100000"/>
              </a:lnSpc>
            </a:pPr>
            <a:r>
              <a:rPr sz="2000" b="1" i="1" spc="20" dirty="0">
                <a:latin typeface="Courier New" panose="02070309020205020404"/>
                <a:cs typeface="Courier New" panose="02070309020205020404"/>
              </a:rPr>
              <a:t>...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71120">
              <a:lnSpc>
                <a:spcPct val="100000"/>
              </a:lnSpc>
              <a:spcBef>
                <a:spcPts val="630"/>
              </a:spcBef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填写两个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stack;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22056" y="1824567"/>
            <a:ext cx="2662555" cy="1363345"/>
          </a:xfrm>
          <a:prstGeom prst="rect">
            <a:avLst/>
          </a:prstGeom>
          <a:ln w="1081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63220" marR="234950" indent="-2921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copy_process(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...,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long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eip,long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cs,long eflags,long esp,long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ss)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813992" y="1848908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454377"/>
                </a:moveTo>
                <a:lnTo>
                  <a:pt x="1688147" y="454377"/>
                </a:lnTo>
                <a:lnTo>
                  <a:pt x="1688147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813992" y="2757664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454377"/>
                </a:moveTo>
                <a:lnTo>
                  <a:pt x="1688147" y="454377"/>
                </a:lnTo>
                <a:lnTo>
                  <a:pt x="1688147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813992" y="3666419"/>
            <a:ext cx="1688464" cy="454659"/>
          </a:xfrm>
          <a:custGeom>
            <a:avLst/>
            <a:gdLst/>
            <a:ahLst/>
            <a:cxnLst/>
            <a:rect l="l" t="t" r="r" b="b"/>
            <a:pathLst>
              <a:path w="1688465" h="454660">
                <a:moveTo>
                  <a:pt x="0" y="454377"/>
                </a:moveTo>
                <a:lnTo>
                  <a:pt x="1688147" y="454377"/>
                </a:lnTo>
                <a:lnTo>
                  <a:pt x="1688147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7801821" y="1836736"/>
          <a:ext cx="1724660" cy="2296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8147"/>
              </a:tblGrid>
              <a:tr h="454377"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SS:</a:t>
                      </a:r>
                      <a:r>
                        <a:rPr sz="2000" b="1" spc="25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SP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4378"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EFLAGS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9786">
                <a:tc>
                  <a:txBody>
                    <a:bodyPr/>
                    <a:lstStyle/>
                    <a:p>
                      <a:pPr marL="287020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ret=??1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4377">
                <a:tc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ds,es,fs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89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edx,ecx,ebx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6559" y="2505607"/>
            <a:ext cx="235585" cy="666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1670"/>
              </a:lnSpc>
            </a:pPr>
            <a:r>
              <a:rPr sz="1700" b="1" spc="-45" dirty="0">
                <a:latin typeface="宋体" panose="02010600030101010101" pitchFamily="2" charset="-122"/>
                <a:cs typeface="宋体" panose="02010600030101010101" pitchFamily="2" charset="-122"/>
              </a:rPr>
              <a:t>内 核 栈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75618" y="2089620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75618" y="2089619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75618" y="2998376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75618" y="2998376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503332" y="3095281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304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07840" y="2930759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385559" y="2865848"/>
            <a:ext cx="65405" cy="649605"/>
          </a:xfrm>
          <a:custGeom>
            <a:avLst/>
            <a:gdLst/>
            <a:ahLst/>
            <a:cxnLst/>
            <a:rect l="l" t="t" r="r" b="b"/>
            <a:pathLst>
              <a:path w="65404" h="649604">
                <a:moveTo>
                  <a:pt x="64928" y="486832"/>
                </a:moveTo>
                <a:lnTo>
                  <a:pt x="0" y="486832"/>
                </a:lnTo>
                <a:lnTo>
                  <a:pt x="32465" y="649110"/>
                </a:lnTo>
                <a:lnTo>
                  <a:pt x="64928" y="486832"/>
                </a:lnTo>
                <a:close/>
              </a:path>
              <a:path w="65404" h="649604">
                <a:moveTo>
                  <a:pt x="48696" y="0"/>
                </a:moveTo>
                <a:lnTo>
                  <a:pt x="16231" y="0"/>
                </a:lnTo>
                <a:lnTo>
                  <a:pt x="16231" y="486832"/>
                </a:lnTo>
                <a:lnTo>
                  <a:pt x="48696" y="486832"/>
                </a:lnTo>
                <a:lnTo>
                  <a:pt x="486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385559" y="2865848"/>
            <a:ext cx="65405" cy="649605"/>
          </a:xfrm>
          <a:custGeom>
            <a:avLst/>
            <a:gdLst/>
            <a:ahLst/>
            <a:cxnLst/>
            <a:rect l="l" t="t" r="r" b="b"/>
            <a:pathLst>
              <a:path w="65404" h="649604">
                <a:moveTo>
                  <a:pt x="48696" y="0"/>
                </a:moveTo>
                <a:lnTo>
                  <a:pt x="48696" y="486833"/>
                </a:lnTo>
                <a:lnTo>
                  <a:pt x="64928" y="486833"/>
                </a:lnTo>
                <a:lnTo>
                  <a:pt x="32464" y="649111"/>
                </a:lnTo>
                <a:lnTo>
                  <a:pt x="0" y="486833"/>
                </a:lnTo>
                <a:lnTo>
                  <a:pt x="16232" y="486833"/>
                </a:lnTo>
                <a:lnTo>
                  <a:pt x="16232" y="0"/>
                </a:lnTo>
                <a:lnTo>
                  <a:pt x="48696" y="0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307840" y="2476382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307840" y="2476381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802278" y="2573429"/>
            <a:ext cx="958850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9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SS: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SP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EFLAGS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05833" y="2830075"/>
            <a:ext cx="235585" cy="666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1670"/>
              </a:lnSpc>
            </a:pPr>
            <a:r>
              <a:rPr sz="1700" b="1" spc="-45" dirty="0">
                <a:latin typeface="宋体" panose="02010600030101010101" pitchFamily="2" charset="-122"/>
                <a:cs typeface="宋体" panose="02010600030101010101" pitchFamily="2" charset="-122"/>
              </a:rPr>
              <a:t>内 核 栈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307840" y="3385138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307840" y="3385137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880037" y="3481937"/>
            <a:ext cx="80327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PC=??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85845" y="2474585"/>
            <a:ext cx="70294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线程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03854" y="4763147"/>
            <a:ext cx="1253490" cy="389890"/>
          </a:xfrm>
          <a:custGeom>
            <a:avLst/>
            <a:gdLst/>
            <a:ahLst/>
            <a:cxnLst/>
            <a:rect l="l" t="t" r="r" b="b"/>
            <a:pathLst>
              <a:path w="1253489" h="389889">
                <a:moveTo>
                  <a:pt x="389571" y="0"/>
                </a:moveTo>
                <a:lnTo>
                  <a:pt x="0" y="0"/>
                </a:lnTo>
                <a:lnTo>
                  <a:pt x="2862" y="31942"/>
                </a:lnTo>
                <a:lnTo>
                  <a:pt x="25097" y="93593"/>
                </a:lnTo>
                <a:lnTo>
                  <a:pt x="67862" y="151597"/>
                </a:lnTo>
                <a:lnTo>
                  <a:pt x="96388" y="178981"/>
                </a:lnTo>
                <a:lnTo>
                  <a:pt x="129380" y="205153"/>
                </a:lnTo>
                <a:lnTo>
                  <a:pt x="166615" y="230013"/>
                </a:lnTo>
                <a:lnTo>
                  <a:pt x="207872" y="253460"/>
                </a:lnTo>
                <a:lnTo>
                  <a:pt x="252928" y="275393"/>
                </a:lnTo>
                <a:lnTo>
                  <a:pt x="301562" y="295714"/>
                </a:lnTo>
                <a:lnTo>
                  <a:pt x="353549" y="314321"/>
                </a:lnTo>
                <a:lnTo>
                  <a:pt x="408670" y="331114"/>
                </a:lnTo>
                <a:lnTo>
                  <a:pt x="466700" y="345994"/>
                </a:lnTo>
                <a:lnTo>
                  <a:pt x="527419" y="358859"/>
                </a:lnTo>
                <a:lnTo>
                  <a:pt x="590603" y="369610"/>
                </a:lnTo>
                <a:lnTo>
                  <a:pt x="656031" y="378146"/>
                </a:lnTo>
                <a:lnTo>
                  <a:pt x="723480" y="384368"/>
                </a:lnTo>
                <a:lnTo>
                  <a:pt x="792728" y="388174"/>
                </a:lnTo>
                <a:lnTo>
                  <a:pt x="863553" y="389465"/>
                </a:lnTo>
                <a:lnTo>
                  <a:pt x="1253125" y="389465"/>
                </a:lnTo>
                <a:lnTo>
                  <a:pt x="1182300" y="388174"/>
                </a:lnTo>
                <a:lnTo>
                  <a:pt x="1113052" y="384368"/>
                </a:lnTo>
                <a:lnTo>
                  <a:pt x="1045603" y="378146"/>
                </a:lnTo>
                <a:lnTo>
                  <a:pt x="980175" y="369610"/>
                </a:lnTo>
                <a:lnTo>
                  <a:pt x="916991" y="358859"/>
                </a:lnTo>
                <a:lnTo>
                  <a:pt x="856272" y="345994"/>
                </a:lnTo>
                <a:lnTo>
                  <a:pt x="798241" y="331114"/>
                </a:lnTo>
                <a:lnTo>
                  <a:pt x="743121" y="314321"/>
                </a:lnTo>
                <a:lnTo>
                  <a:pt x="691133" y="295714"/>
                </a:lnTo>
                <a:lnTo>
                  <a:pt x="642500" y="275393"/>
                </a:lnTo>
                <a:lnTo>
                  <a:pt x="597444" y="253460"/>
                </a:lnTo>
                <a:lnTo>
                  <a:pt x="556187" y="230013"/>
                </a:lnTo>
                <a:lnTo>
                  <a:pt x="518951" y="205153"/>
                </a:lnTo>
                <a:lnTo>
                  <a:pt x="485959" y="178981"/>
                </a:lnTo>
                <a:lnTo>
                  <a:pt x="457433" y="151597"/>
                </a:lnTo>
                <a:lnTo>
                  <a:pt x="414668" y="93593"/>
                </a:lnTo>
                <a:lnTo>
                  <a:pt x="392433" y="31942"/>
                </a:lnTo>
                <a:lnTo>
                  <a:pt x="389571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003854" y="4763147"/>
            <a:ext cx="2353310" cy="389890"/>
          </a:xfrm>
          <a:custGeom>
            <a:avLst/>
            <a:gdLst/>
            <a:ahLst/>
            <a:cxnLst/>
            <a:rect l="l" t="t" r="r" b="b"/>
            <a:pathLst>
              <a:path w="2353310" h="389889">
                <a:moveTo>
                  <a:pt x="1058337" y="379430"/>
                </a:moveTo>
                <a:lnTo>
                  <a:pt x="1101041" y="374451"/>
                </a:lnTo>
                <a:lnTo>
                  <a:pt x="1142876" y="368535"/>
                </a:lnTo>
                <a:lnTo>
                  <a:pt x="1183780" y="361706"/>
                </a:lnTo>
                <a:lnTo>
                  <a:pt x="1223693" y="353989"/>
                </a:lnTo>
                <a:lnTo>
                  <a:pt x="1262554" y="345409"/>
                </a:lnTo>
                <a:lnTo>
                  <a:pt x="1300302" y="335990"/>
                </a:lnTo>
                <a:lnTo>
                  <a:pt x="1372214" y="314734"/>
                </a:lnTo>
                <a:lnTo>
                  <a:pt x="1438941" y="290418"/>
                </a:lnTo>
                <a:lnTo>
                  <a:pt x="1499995" y="263239"/>
                </a:lnTo>
                <a:lnTo>
                  <a:pt x="1554887" y="233393"/>
                </a:lnTo>
                <a:lnTo>
                  <a:pt x="1603131" y="201077"/>
                </a:lnTo>
                <a:lnTo>
                  <a:pt x="1644237" y="166488"/>
                </a:lnTo>
                <a:lnTo>
                  <a:pt x="1677718" y="129822"/>
                </a:lnTo>
                <a:lnTo>
                  <a:pt x="1392030" y="129822"/>
                </a:lnTo>
                <a:lnTo>
                  <a:pt x="1921891" y="0"/>
                </a:lnTo>
                <a:lnTo>
                  <a:pt x="2352976" y="129822"/>
                </a:lnTo>
                <a:lnTo>
                  <a:pt x="2067291" y="129822"/>
                </a:lnTo>
                <a:lnTo>
                  <a:pt x="2047482" y="152770"/>
                </a:lnTo>
                <a:lnTo>
                  <a:pt x="1999167" y="196188"/>
                </a:lnTo>
                <a:lnTo>
                  <a:pt x="1940078" y="236040"/>
                </a:lnTo>
                <a:lnTo>
                  <a:pt x="1871202" y="272010"/>
                </a:lnTo>
                <a:lnTo>
                  <a:pt x="1833403" y="288441"/>
                </a:lnTo>
                <a:lnTo>
                  <a:pt x="1793527" y="303783"/>
                </a:lnTo>
                <a:lnTo>
                  <a:pt x="1751698" y="317998"/>
                </a:lnTo>
                <a:lnTo>
                  <a:pt x="1708039" y="331046"/>
                </a:lnTo>
                <a:lnTo>
                  <a:pt x="1662674" y="342888"/>
                </a:lnTo>
                <a:lnTo>
                  <a:pt x="1615725" y="353484"/>
                </a:lnTo>
                <a:lnTo>
                  <a:pt x="1567317" y="362794"/>
                </a:lnTo>
                <a:lnTo>
                  <a:pt x="1517573" y="370780"/>
                </a:lnTo>
                <a:lnTo>
                  <a:pt x="1466616" y="377403"/>
                </a:lnTo>
                <a:lnTo>
                  <a:pt x="1414569" y="382622"/>
                </a:lnTo>
                <a:lnTo>
                  <a:pt x="1361556" y="386399"/>
                </a:lnTo>
                <a:lnTo>
                  <a:pt x="1307700" y="388694"/>
                </a:lnTo>
                <a:lnTo>
                  <a:pt x="1253124" y="389467"/>
                </a:lnTo>
                <a:lnTo>
                  <a:pt x="863553" y="389466"/>
                </a:lnTo>
                <a:lnTo>
                  <a:pt x="792728" y="388175"/>
                </a:lnTo>
                <a:lnTo>
                  <a:pt x="723480" y="384369"/>
                </a:lnTo>
                <a:lnTo>
                  <a:pt x="656031" y="378147"/>
                </a:lnTo>
                <a:lnTo>
                  <a:pt x="590603" y="369611"/>
                </a:lnTo>
                <a:lnTo>
                  <a:pt x="527419" y="358860"/>
                </a:lnTo>
                <a:lnTo>
                  <a:pt x="466700" y="345995"/>
                </a:lnTo>
                <a:lnTo>
                  <a:pt x="408670" y="331115"/>
                </a:lnTo>
                <a:lnTo>
                  <a:pt x="353549" y="314322"/>
                </a:lnTo>
                <a:lnTo>
                  <a:pt x="301562" y="295715"/>
                </a:lnTo>
                <a:lnTo>
                  <a:pt x="252928" y="275394"/>
                </a:lnTo>
                <a:lnTo>
                  <a:pt x="207872" y="253460"/>
                </a:lnTo>
                <a:lnTo>
                  <a:pt x="166615" y="230013"/>
                </a:lnTo>
                <a:lnTo>
                  <a:pt x="129380" y="205154"/>
                </a:lnTo>
                <a:lnTo>
                  <a:pt x="96388" y="178982"/>
                </a:lnTo>
                <a:lnTo>
                  <a:pt x="67862" y="151598"/>
                </a:lnTo>
                <a:lnTo>
                  <a:pt x="25097" y="93593"/>
                </a:lnTo>
                <a:lnTo>
                  <a:pt x="2862" y="31942"/>
                </a:lnTo>
                <a:lnTo>
                  <a:pt x="0" y="0"/>
                </a:lnTo>
                <a:lnTo>
                  <a:pt x="389572" y="0"/>
                </a:lnTo>
                <a:lnTo>
                  <a:pt x="392434" y="31942"/>
                </a:lnTo>
                <a:lnTo>
                  <a:pt x="400874" y="63173"/>
                </a:lnTo>
                <a:lnTo>
                  <a:pt x="433596" y="123101"/>
                </a:lnTo>
                <a:lnTo>
                  <a:pt x="485960" y="178982"/>
                </a:lnTo>
                <a:lnTo>
                  <a:pt x="518952" y="205154"/>
                </a:lnTo>
                <a:lnTo>
                  <a:pt x="556187" y="230013"/>
                </a:lnTo>
                <a:lnTo>
                  <a:pt x="597444" y="253460"/>
                </a:lnTo>
                <a:lnTo>
                  <a:pt x="642501" y="275394"/>
                </a:lnTo>
                <a:lnTo>
                  <a:pt x="691134" y="295715"/>
                </a:lnTo>
                <a:lnTo>
                  <a:pt x="743122" y="314322"/>
                </a:lnTo>
                <a:lnTo>
                  <a:pt x="798242" y="331115"/>
                </a:lnTo>
                <a:lnTo>
                  <a:pt x="856273" y="345995"/>
                </a:lnTo>
                <a:lnTo>
                  <a:pt x="916991" y="358860"/>
                </a:lnTo>
                <a:lnTo>
                  <a:pt x="980175" y="369611"/>
                </a:lnTo>
                <a:lnTo>
                  <a:pt x="1045603" y="378147"/>
                </a:lnTo>
                <a:lnTo>
                  <a:pt x="1113052" y="384369"/>
                </a:lnTo>
                <a:lnTo>
                  <a:pt x="1182300" y="388175"/>
                </a:lnTo>
                <a:lnTo>
                  <a:pt x="1253125" y="389466"/>
                </a:lnTo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637196" y="4793869"/>
            <a:ext cx="83375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sw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ch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775618" y="3452753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775618" y="3452753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581090" y="3549535"/>
            <a:ext cx="33655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CS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775618" y="3907131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775618" y="3907132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425574" y="4003789"/>
            <a:ext cx="64770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1000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307840" y="3842219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880037" y="3938896"/>
            <a:ext cx="80327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CS=??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126331" y="4556243"/>
            <a:ext cx="649605" cy="41910"/>
          </a:xfrm>
          <a:custGeom>
            <a:avLst/>
            <a:gdLst/>
            <a:ahLst/>
            <a:cxnLst/>
            <a:rect l="l" t="t" r="r" b="b"/>
            <a:pathLst>
              <a:path w="649605" h="41910">
                <a:moveTo>
                  <a:pt x="486964" y="0"/>
                </a:moveTo>
                <a:lnTo>
                  <a:pt x="486964" y="10480"/>
                </a:lnTo>
                <a:lnTo>
                  <a:pt x="0" y="10480"/>
                </a:lnTo>
                <a:lnTo>
                  <a:pt x="0" y="31441"/>
                </a:lnTo>
                <a:lnTo>
                  <a:pt x="486964" y="31441"/>
                </a:lnTo>
                <a:lnTo>
                  <a:pt x="486964" y="41921"/>
                </a:lnTo>
                <a:lnTo>
                  <a:pt x="649287" y="20961"/>
                </a:lnTo>
                <a:lnTo>
                  <a:pt x="486964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126331" y="4556243"/>
            <a:ext cx="649605" cy="41910"/>
          </a:xfrm>
          <a:custGeom>
            <a:avLst/>
            <a:gdLst/>
            <a:ahLst/>
            <a:cxnLst/>
            <a:rect l="l" t="t" r="r" b="b"/>
            <a:pathLst>
              <a:path w="649605" h="41910">
                <a:moveTo>
                  <a:pt x="0" y="10480"/>
                </a:moveTo>
                <a:lnTo>
                  <a:pt x="486965" y="10480"/>
                </a:lnTo>
                <a:lnTo>
                  <a:pt x="486965" y="0"/>
                </a:lnTo>
                <a:lnTo>
                  <a:pt x="649287" y="20961"/>
                </a:lnTo>
                <a:lnTo>
                  <a:pt x="486965" y="41922"/>
                </a:lnTo>
                <a:lnTo>
                  <a:pt x="486965" y="31441"/>
                </a:lnTo>
                <a:lnTo>
                  <a:pt x="0" y="31441"/>
                </a:lnTo>
                <a:lnTo>
                  <a:pt x="0" y="10480"/>
                </a:lnTo>
                <a:close/>
              </a:path>
            </a:pathLst>
          </a:custGeom>
          <a:ln w="8113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126616" y="4236868"/>
            <a:ext cx="473709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esp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47186" y="4852399"/>
            <a:ext cx="1428750" cy="294005"/>
          </a:xfrm>
          <a:custGeom>
            <a:avLst/>
            <a:gdLst/>
            <a:ahLst/>
            <a:cxnLst/>
            <a:rect l="l" t="t" r="r" b="b"/>
            <a:pathLst>
              <a:path w="1428750" h="294004">
                <a:moveTo>
                  <a:pt x="0" y="0"/>
                </a:moveTo>
                <a:lnTo>
                  <a:pt x="1428432" y="0"/>
                </a:lnTo>
                <a:lnTo>
                  <a:pt x="1428432" y="293452"/>
                </a:lnTo>
                <a:lnTo>
                  <a:pt x="0" y="293452"/>
                </a:lnTo>
                <a:lnTo>
                  <a:pt x="0" y="0"/>
                </a:lnTo>
                <a:close/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815255" y="4868360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esp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47472" y="5204862"/>
            <a:ext cx="70358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1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24951" y="4562435"/>
            <a:ext cx="584835" cy="443230"/>
          </a:xfrm>
          <a:custGeom>
            <a:avLst/>
            <a:gdLst/>
            <a:ahLst/>
            <a:cxnLst/>
            <a:rect l="l" t="t" r="r" b="b"/>
            <a:pathLst>
              <a:path w="584835" h="443229">
                <a:moveTo>
                  <a:pt x="19982" y="241956"/>
                </a:moveTo>
                <a:lnTo>
                  <a:pt x="7667" y="243110"/>
                </a:lnTo>
                <a:lnTo>
                  <a:pt x="0" y="252186"/>
                </a:lnTo>
                <a:lnTo>
                  <a:pt x="600" y="264118"/>
                </a:lnTo>
                <a:lnTo>
                  <a:pt x="81950" y="442761"/>
                </a:lnTo>
                <a:lnTo>
                  <a:pt x="145237" y="347461"/>
                </a:lnTo>
                <a:lnTo>
                  <a:pt x="106369" y="347461"/>
                </a:lnTo>
                <a:lnTo>
                  <a:pt x="106448" y="346621"/>
                </a:lnTo>
                <a:lnTo>
                  <a:pt x="73840" y="346621"/>
                </a:lnTo>
                <a:lnTo>
                  <a:pt x="29164" y="248831"/>
                </a:lnTo>
                <a:lnTo>
                  <a:pt x="19982" y="241956"/>
                </a:lnTo>
                <a:close/>
              </a:path>
              <a:path w="584835" h="443229">
                <a:moveTo>
                  <a:pt x="173365" y="254569"/>
                </a:moveTo>
                <a:lnTo>
                  <a:pt x="163662" y="261355"/>
                </a:lnTo>
                <a:lnTo>
                  <a:pt x="106369" y="347461"/>
                </a:lnTo>
                <a:lnTo>
                  <a:pt x="145237" y="347461"/>
                </a:lnTo>
                <a:lnTo>
                  <a:pt x="191879" y="277225"/>
                </a:lnTo>
                <a:lnTo>
                  <a:pt x="192642" y="265923"/>
                </a:lnTo>
                <a:lnTo>
                  <a:pt x="185021" y="256135"/>
                </a:lnTo>
                <a:lnTo>
                  <a:pt x="173365" y="254569"/>
                </a:lnTo>
                <a:close/>
              </a:path>
              <a:path w="584835" h="443229">
                <a:moveTo>
                  <a:pt x="291678" y="0"/>
                </a:moveTo>
                <a:lnTo>
                  <a:pt x="247918" y="5358"/>
                </a:lnTo>
                <a:lnTo>
                  <a:pt x="208255" y="18237"/>
                </a:lnTo>
                <a:lnTo>
                  <a:pt x="173288" y="40269"/>
                </a:lnTo>
                <a:lnTo>
                  <a:pt x="144602" y="72015"/>
                </a:lnTo>
                <a:lnTo>
                  <a:pt x="122454" y="111498"/>
                </a:lnTo>
                <a:lnTo>
                  <a:pt x="105622" y="157176"/>
                </a:lnTo>
                <a:lnTo>
                  <a:pt x="93025" y="207611"/>
                </a:lnTo>
                <a:lnTo>
                  <a:pt x="83486" y="262586"/>
                </a:lnTo>
                <a:lnTo>
                  <a:pt x="76295" y="320597"/>
                </a:lnTo>
                <a:lnTo>
                  <a:pt x="73840" y="346621"/>
                </a:lnTo>
                <a:lnTo>
                  <a:pt x="106448" y="346621"/>
                </a:lnTo>
                <a:lnTo>
                  <a:pt x="108543" y="324344"/>
                </a:lnTo>
                <a:lnTo>
                  <a:pt x="115543" y="267724"/>
                </a:lnTo>
                <a:lnTo>
                  <a:pt x="124672" y="214873"/>
                </a:lnTo>
                <a:lnTo>
                  <a:pt x="136636" y="166790"/>
                </a:lnTo>
                <a:lnTo>
                  <a:pt x="151800" y="125392"/>
                </a:lnTo>
                <a:lnTo>
                  <a:pt x="170707" y="91329"/>
                </a:lnTo>
                <a:lnTo>
                  <a:pt x="206641" y="55960"/>
                </a:lnTo>
                <a:lnTo>
                  <a:pt x="254077" y="37233"/>
                </a:lnTo>
                <a:lnTo>
                  <a:pt x="292057" y="32462"/>
                </a:lnTo>
                <a:lnTo>
                  <a:pt x="579585" y="32462"/>
                </a:lnTo>
                <a:lnTo>
                  <a:pt x="576527" y="27291"/>
                </a:lnTo>
                <a:lnTo>
                  <a:pt x="495841" y="27291"/>
                </a:lnTo>
                <a:lnTo>
                  <a:pt x="488144" y="25515"/>
                </a:lnTo>
                <a:lnTo>
                  <a:pt x="436642" y="14612"/>
                </a:lnTo>
                <a:lnTo>
                  <a:pt x="386298" y="5938"/>
                </a:lnTo>
                <a:lnTo>
                  <a:pt x="385289" y="5797"/>
                </a:lnTo>
                <a:lnTo>
                  <a:pt x="337772" y="662"/>
                </a:lnTo>
                <a:lnTo>
                  <a:pt x="336236" y="570"/>
                </a:lnTo>
                <a:lnTo>
                  <a:pt x="291678" y="0"/>
                </a:lnTo>
                <a:close/>
              </a:path>
              <a:path w="584835" h="443229">
                <a:moveTo>
                  <a:pt x="579585" y="32462"/>
                </a:moveTo>
                <a:lnTo>
                  <a:pt x="292057" y="32462"/>
                </a:lnTo>
                <a:lnTo>
                  <a:pt x="335050" y="33012"/>
                </a:lnTo>
                <a:lnTo>
                  <a:pt x="381293" y="38009"/>
                </a:lnTo>
                <a:lnTo>
                  <a:pt x="430221" y="46428"/>
                </a:lnTo>
                <a:lnTo>
                  <a:pt x="480990" y="57174"/>
                </a:lnTo>
                <a:lnTo>
                  <a:pt x="488545" y="58915"/>
                </a:lnTo>
                <a:lnTo>
                  <a:pt x="489890" y="67581"/>
                </a:lnTo>
                <a:lnTo>
                  <a:pt x="495198" y="78992"/>
                </a:lnTo>
                <a:lnTo>
                  <a:pt x="503585" y="88785"/>
                </a:lnTo>
                <a:lnTo>
                  <a:pt x="514942" y="96442"/>
                </a:lnTo>
                <a:lnTo>
                  <a:pt x="529158" y="101444"/>
                </a:lnTo>
                <a:lnTo>
                  <a:pt x="541481" y="101702"/>
                </a:lnTo>
                <a:lnTo>
                  <a:pt x="553198" y="98801"/>
                </a:lnTo>
                <a:lnTo>
                  <a:pt x="563848" y="92923"/>
                </a:lnTo>
                <a:lnTo>
                  <a:pt x="572970" y="84250"/>
                </a:lnTo>
                <a:lnTo>
                  <a:pt x="580104" y="72961"/>
                </a:lnTo>
                <a:lnTo>
                  <a:pt x="584786" y="59238"/>
                </a:lnTo>
                <a:lnTo>
                  <a:pt x="584700" y="47179"/>
                </a:lnTo>
                <a:lnTo>
                  <a:pt x="581522" y="35738"/>
                </a:lnTo>
                <a:lnTo>
                  <a:pt x="579585" y="32462"/>
                </a:lnTo>
                <a:close/>
              </a:path>
              <a:path w="584835" h="443229">
                <a:moveTo>
                  <a:pt x="540414" y="4780"/>
                </a:moveTo>
                <a:lnTo>
                  <a:pt x="496989" y="24761"/>
                </a:lnTo>
                <a:lnTo>
                  <a:pt x="495841" y="27291"/>
                </a:lnTo>
                <a:lnTo>
                  <a:pt x="576527" y="27291"/>
                </a:lnTo>
                <a:lnTo>
                  <a:pt x="575378" y="25346"/>
                </a:lnTo>
                <a:lnTo>
                  <a:pt x="566394" y="16434"/>
                </a:lnTo>
                <a:lnTo>
                  <a:pt x="554697" y="9435"/>
                </a:lnTo>
                <a:lnTo>
                  <a:pt x="540414" y="478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221886" y="4523787"/>
            <a:ext cx="649605" cy="42545"/>
          </a:xfrm>
          <a:custGeom>
            <a:avLst/>
            <a:gdLst/>
            <a:ahLst/>
            <a:cxnLst/>
            <a:rect l="l" t="t" r="r" b="b"/>
            <a:pathLst>
              <a:path w="649604" h="42545">
                <a:moveTo>
                  <a:pt x="162321" y="0"/>
                </a:moveTo>
                <a:lnTo>
                  <a:pt x="0" y="20961"/>
                </a:lnTo>
                <a:lnTo>
                  <a:pt x="162321" y="41922"/>
                </a:lnTo>
                <a:lnTo>
                  <a:pt x="162321" y="31441"/>
                </a:lnTo>
                <a:lnTo>
                  <a:pt x="649287" y="31441"/>
                </a:lnTo>
                <a:lnTo>
                  <a:pt x="649287" y="10481"/>
                </a:lnTo>
                <a:lnTo>
                  <a:pt x="162321" y="10481"/>
                </a:lnTo>
                <a:lnTo>
                  <a:pt x="16232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221886" y="4523787"/>
            <a:ext cx="649605" cy="41910"/>
          </a:xfrm>
          <a:custGeom>
            <a:avLst/>
            <a:gdLst/>
            <a:ahLst/>
            <a:cxnLst/>
            <a:rect l="l" t="t" r="r" b="b"/>
            <a:pathLst>
              <a:path w="649604" h="41910">
                <a:moveTo>
                  <a:pt x="649287" y="31441"/>
                </a:moveTo>
                <a:lnTo>
                  <a:pt x="162321" y="31441"/>
                </a:lnTo>
                <a:lnTo>
                  <a:pt x="162321" y="41922"/>
                </a:lnTo>
                <a:lnTo>
                  <a:pt x="0" y="20960"/>
                </a:lnTo>
                <a:lnTo>
                  <a:pt x="162321" y="0"/>
                </a:lnTo>
                <a:lnTo>
                  <a:pt x="162321" y="10480"/>
                </a:lnTo>
                <a:lnTo>
                  <a:pt x="649287" y="10480"/>
                </a:lnTo>
                <a:lnTo>
                  <a:pt x="649287" y="31441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6370966" y="4217940"/>
            <a:ext cx="473709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esp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420730" y="3734034"/>
            <a:ext cx="1428750" cy="294005"/>
          </a:xfrm>
          <a:custGeom>
            <a:avLst/>
            <a:gdLst/>
            <a:ahLst/>
            <a:cxnLst/>
            <a:rect l="l" t="t" r="r" b="b"/>
            <a:pathLst>
              <a:path w="1428750" h="294004">
                <a:moveTo>
                  <a:pt x="0" y="0"/>
                </a:moveTo>
                <a:lnTo>
                  <a:pt x="1428432" y="0"/>
                </a:lnTo>
                <a:lnTo>
                  <a:pt x="1428432" y="293452"/>
                </a:lnTo>
                <a:lnTo>
                  <a:pt x="0" y="293452"/>
                </a:lnTo>
                <a:lnTo>
                  <a:pt x="0" y="0"/>
                </a:lnTo>
                <a:close/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6888798" y="3750300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esp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886338" y="4088153"/>
            <a:ext cx="70358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2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260855" y="3870028"/>
            <a:ext cx="526415" cy="990600"/>
          </a:xfrm>
          <a:custGeom>
            <a:avLst/>
            <a:gdLst/>
            <a:ahLst/>
            <a:cxnLst/>
            <a:rect l="l" t="t" r="r" b="b"/>
            <a:pathLst>
              <a:path w="526415" h="990600">
                <a:moveTo>
                  <a:pt x="0" y="788541"/>
                </a:moveTo>
                <a:lnTo>
                  <a:pt x="53087" y="982166"/>
                </a:lnTo>
                <a:lnTo>
                  <a:pt x="55913" y="985597"/>
                </a:lnTo>
                <a:lnTo>
                  <a:pt x="63131" y="989709"/>
                </a:lnTo>
                <a:lnTo>
                  <a:pt x="67525" y="990389"/>
                </a:lnTo>
                <a:lnTo>
                  <a:pt x="72082" y="989138"/>
                </a:lnTo>
                <a:lnTo>
                  <a:pt x="81716" y="981488"/>
                </a:lnTo>
                <a:lnTo>
                  <a:pt x="83211" y="969264"/>
                </a:lnTo>
                <a:lnTo>
                  <a:pt x="54466" y="864420"/>
                </a:lnTo>
                <a:lnTo>
                  <a:pt x="108038" y="864420"/>
                </a:lnTo>
                <a:lnTo>
                  <a:pt x="102830" y="861173"/>
                </a:lnTo>
                <a:lnTo>
                  <a:pt x="88177" y="850319"/>
                </a:lnTo>
                <a:lnTo>
                  <a:pt x="85030" y="847681"/>
                </a:lnTo>
                <a:lnTo>
                  <a:pt x="192168" y="847681"/>
                </a:lnTo>
                <a:lnTo>
                  <a:pt x="188192" y="844493"/>
                </a:lnTo>
                <a:lnTo>
                  <a:pt x="0" y="788541"/>
                </a:lnTo>
                <a:close/>
              </a:path>
              <a:path w="526415" h="990600">
                <a:moveTo>
                  <a:pt x="108038" y="864420"/>
                </a:moveTo>
                <a:lnTo>
                  <a:pt x="54466" y="864420"/>
                </a:lnTo>
                <a:lnTo>
                  <a:pt x="67819" y="875602"/>
                </a:lnTo>
                <a:lnTo>
                  <a:pt x="100629" y="898052"/>
                </a:lnTo>
                <a:lnTo>
                  <a:pt x="137746" y="912944"/>
                </a:lnTo>
                <a:lnTo>
                  <a:pt x="156357" y="915417"/>
                </a:lnTo>
                <a:lnTo>
                  <a:pt x="171697" y="914659"/>
                </a:lnTo>
                <a:lnTo>
                  <a:pt x="208810" y="900920"/>
                </a:lnTo>
                <a:lnTo>
                  <a:pt x="231026" y="882921"/>
                </a:lnTo>
                <a:lnTo>
                  <a:pt x="156368" y="882921"/>
                </a:lnTo>
                <a:lnTo>
                  <a:pt x="143927" y="881052"/>
                </a:lnTo>
                <a:lnTo>
                  <a:pt x="130826" y="876745"/>
                </a:lnTo>
                <a:lnTo>
                  <a:pt x="117088" y="870064"/>
                </a:lnTo>
                <a:lnTo>
                  <a:pt x="108038" y="864420"/>
                </a:lnTo>
                <a:close/>
              </a:path>
              <a:path w="526415" h="990600">
                <a:moveTo>
                  <a:pt x="238855" y="874542"/>
                </a:moveTo>
                <a:lnTo>
                  <a:pt x="189132" y="874542"/>
                </a:lnTo>
                <a:lnTo>
                  <a:pt x="180272" y="879099"/>
                </a:lnTo>
                <a:lnTo>
                  <a:pt x="168343" y="882330"/>
                </a:lnTo>
                <a:lnTo>
                  <a:pt x="156368" y="882921"/>
                </a:lnTo>
                <a:lnTo>
                  <a:pt x="231026" y="882921"/>
                </a:lnTo>
                <a:lnTo>
                  <a:pt x="238855" y="874542"/>
                </a:lnTo>
                <a:close/>
              </a:path>
              <a:path w="526415" h="990600">
                <a:moveTo>
                  <a:pt x="192168" y="847681"/>
                </a:moveTo>
                <a:lnTo>
                  <a:pt x="85030" y="847681"/>
                </a:lnTo>
                <a:lnTo>
                  <a:pt x="178937" y="875602"/>
                </a:lnTo>
                <a:lnTo>
                  <a:pt x="189132" y="874542"/>
                </a:lnTo>
                <a:lnTo>
                  <a:pt x="238855" y="874542"/>
                </a:lnTo>
                <a:lnTo>
                  <a:pt x="243298" y="869786"/>
                </a:lnTo>
                <a:lnTo>
                  <a:pt x="196408" y="869786"/>
                </a:lnTo>
                <a:lnTo>
                  <a:pt x="199232" y="864293"/>
                </a:lnTo>
                <a:lnTo>
                  <a:pt x="197750" y="852159"/>
                </a:lnTo>
                <a:lnTo>
                  <a:pt x="192168" y="847681"/>
                </a:lnTo>
                <a:close/>
              </a:path>
              <a:path w="526415" h="990600">
                <a:moveTo>
                  <a:pt x="483659" y="0"/>
                </a:moveTo>
                <a:lnTo>
                  <a:pt x="440829" y="18444"/>
                </a:lnTo>
                <a:lnTo>
                  <a:pt x="429216" y="44443"/>
                </a:lnTo>
                <a:lnTo>
                  <a:pt x="429854" y="57113"/>
                </a:lnTo>
                <a:lnTo>
                  <a:pt x="433641" y="68932"/>
                </a:lnTo>
                <a:lnTo>
                  <a:pt x="440236" y="79355"/>
                </a:lnTo>
                <a:lnTo>
                  <a:pt x="449298" y="87842"/>
                </a:lnTo>
                <a:lnTo>
                  <a:pt x="451829" y="88983"/>
                </a:lnTo>
                <a:lnTo>
                  <a:pt x="433518" y="169169"/>
                </a:lnTo>
                <a:lnTo>
                  <a:pt x="405066" y="291112"/>
                </a:lnTo>
                <a:lnTo>
                  <a:pt x="390823" y="350334"/>
                </a:lnTo>
                <a:lnTo>
                  <a:pt x="376556" y="408010"/>
                </a:lnTo>
                <a:lnTo>
                  <a:pt x="362263" y="463813"/>
                </a:lnTo>
                <a:lnTo>
                  <a:pt x="347943" y="517431"/>
                </a:lnTo>
                <a:lnTo>
                  <a:pt x="333590" y="568549"/>
                </a:lnTo>
                <a:lnTo>
                  <a:pt x="319208" y="616851"/>
                </a:lnTo>
                <a:lnTo>
                  <a:pt x="304796" y="662016"/>
                </a:lnTo>
                <a:lnTo>
                  <a:pt x="290360" y="703718"/>
                </a:lnTo>
                <a:lnTo>
                  <a:pt x="275913" y="741623"/>
                </a:lnTo>
                <a:lnTo>
                  <a:pt x="247125" y="804622"/>
                </a:lnTo>
                <a:lnTo>
                  <a:pt x="219020" y="848225"/>
                </a:lnTo>
                <a:lnTo>
                  <a:pt x="196408" y="869786"/>
                </a:lnTo>
                <a:lnTo>
                  <a:pt x="243298" y="869786"/>
                </a:lnTo>
                <a:lnTo>
                  <a:pt x="275465" y="820464"/>
                </a:lnTo>
                <a:lnTo>
                  <a:pt x="305893" y="754079"/>
                </a:lnTo>
                <a:lnTo>
                  <a:pt x="320785" y="715040"/>
                </a:lnTo>
                <a:lnTo>
                  <a:pt x="335539" y="672444"/>
                </a:lnTo>
                <a:lnTo>
                  <a:pt x="350184" y="626566"/>
                </a:lnTo>
                <a:lnTo>
                  <a:pt x="364742" y="577687"/>
                </a:lnTo>
                <a:lnTo>
                  <a:pt x="379227" y="526102"/>
                </a:lnTo>
                <a:lnTo>
                  <a:pt x="393650" y="472106"/>
                </a:lnTo>
                <a:lnTo>
                  <a:pt x="408023" y="415996"/>
                </a:lnTo>
                <a:lnTo>
                  <a:pt x="422351" y="358075"/>
                </a:lnTo>
                <a:lnTo>
                  <a:pt x="436643" y="298645"/>
                </a:lnTo>
                <a:lnTo>
                  <a:pt x="465142" y="176504"/>
                </a:lnTo>
                <a:lnTo>
                  <a:pt x="483480" y="96207"/>
                </a:lnTo>
                <a:lnTo>
                  <a:pt x="492068" y="94867"/>
                </a:lnTo>
                <a:lnTo>
                  <a:pt x="520939" y="69805"/>
                </a:lnTo>
                <a:lnTo>
                  <a:pt x="526169" y="43278"/>
                </a:lnTo>
                <a:lnTo>
                  <a:pt x="523260" y="31548"/>
                </a:lnTo>
                <a:lnTo>
                  <a:pt x="517371" y="20893"/>
                </a:lnTo>
                <a:lnTo>
                  <a:pt x="508684" y="11774"/>
                </a:lnTo>
                <a:lnTo>
                  <a:pt x="497386" y="4655"/>
                </a:lnTo>
                <a:lnTo>
                  <a:pt x="48365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307840" y="4296598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307840" y="4296597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4957795" y="4393149"/>
            <a:ext cx="64770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????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775618" y="4361509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775618" y="4361508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2503332" y="4458044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???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154737" y="5424429"/>
            <a:ext cx="160968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1386226" y="5361263"/>
            <a:ext cx="5634990" cy="788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理解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sw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h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_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对应的栈切换，将自己变成计算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机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Th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ea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的目的就是初始化这样一套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栈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154737" y="5919376"/>
            <a:ext cx="160968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775618" y="915810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59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349500" y="897466"/>
            <a:ext cx="821266" cy="5926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775618" y="1370189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775618" y="1370189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349500" y="1350433"/>
            <a:ext cx="821266" cy="5926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2270057" y="1467535"/>
            <a:ext cx="958850" cy="145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204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 marR="5080" algn="ctr">
              <a:lnSpc>
                <a:spcPct val="149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SS: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SP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EFLAGS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37044" y="2279905"/>
            <a:ext cx="71755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线程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503332" y="1013282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104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855794" y="1082146"/>
            <a:ext cx="65405" cy="649605"/>
          </a:xfrm>
          <a:custGeom>
            <a:avLst/>
            <a:gdLst/>
            <a:ahLst/>
            <a:cxnLst/>
            <a:rect l="l" t="t" r="r" b="b"/>
            <a:pathLst>
              <a:path w="65405" h="649605">
                <a:moveTo>
                  <a:pt x="64928" y="486832"/>
                </a:moveTo>
                <a:lnTo>
                  <a:pt x="0" y="486832"/>
                </a:lnTo>
                <a:lnTo>
                  <a:pt x="32464" y="649110"/>
                </a:lnTo>
                <a:lnTo>
                  <a:pt x="64928" y="486832"/>
                </a:lnTo>
                <a:close/>
              </a:path>
              <a:path w="65405" h="649605">
                <a:moveTo>
                  <a:pt x="48696" y="0"/>
                </a:moveTo>
                <a:lnTo>
                  <a:pt x="16232" y="0"/>
                </a:lnTo>
                <a:lnTo>
                  <a:pt x="16232" y="486832"/>
                </a:lnTo>
                <a:lnTo>
                  <a:pt x="48696" y="486832"/>
                </a:lnTo>
                <a:lnTo>
                  <a:pt x="486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855794" y="1082146"/>
            <a:ext cx="65405" cy="649605"/>
          </a:xfrm>
          <a:custGeom>
            <a:avLst/>
            <a:gdLst/>
            <a:ahLst/>
            <a:cxnLst/>
            <a:rect l="l" t="t" r="r" b="b"/>
            <a:pathLst>
              <a:path w="65405" h="649605">
                <a:moveTo>
                  <a:pt x="48696" y="0"/>
                </a:moveTo>
                <a:lnTo>
                  <a:pt x="48696" y="486833"/>
                </a:lnTo>
                <a:lnTo>
                  <a:pt x="64928" y="486833"/>
                </a:lnTo>
                <a:lnTo>
                  <a:pt x="32464" y="649111"/>
                </a:lnTo>
                <a:lnTo>
                  <a:pt x="0" y="486833"/>
                </a:lnTo>
                <a:lnTo>
                  <a:pt x="16232" y="486833"/>
                </a:lnTo>
                <a:lnTo>
                  <a:pt x="16232" y="0"/>
                </a:lnTo>
                <a:lnTo>
                  <a:pt x="48696" y="0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1343755" y="942757"/>
            <a:ext cx="235585" cy="666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1670"/>
              </a:lnSpc>
            </a:pPr>
            <a:r>
              <a:rPr sz="1700" b="1" spc="-45" dirty="0">
                <a:latin typeface="宋体" panose="02010600030101010101" pitchFamily="2" charset="-122"/>
                <a:cs typeface="宋体" panose="02010600030101010101" pitchFamily="2" charset="-122"/>
              </a:rPr>
              <a:t>用 户 栈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4307840" y="1240367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881033" y="1223433"/>
            <a:ext cx="821266" cy="5884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5035553" y="1337749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4307840" y="1694744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454377"/>
                </a:moveTo>
                <a:lnTo>
                  <a:pt x="1947862" y="454377"/>
                </a:lnTo>
                <a:lnTo>
                  <a:pt x="1947862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307840" y="1694743"/>
            <a:ext cx="1948180" cy="454659"/>
          </a:xfrm>
          <a:custGeom>
            <a:avLst/>
            <a:gdLst/>
            <a:ahLst/>
            <a:cxnLst/>
            <a:rect l="l" t="t" r="r" b="b"/>
            <a:pathLst>
              <a:path w="1948179" h="454660">
                <a:moveTo>
                  <a:pt x="0" y="0"/>
                </a:moveTo>
                <a:lnTo>
                  <a:pt x="1947862" y="0"/>
                </a:lnTo>
                <a:lnTo>
                  <a:pt x="1947862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881033" y="1676400"/>
            <a:ext cx="821266" cy="59266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5035553" y="1792003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6385559" y="1370189"/>
            <a:ext cx="65405" cy="649605"/>
          </a:xfrm>
          <a:custGeom>
            <a:avLst/>
            <a:gdLst/>
            <a:ahLst/>
            <a:cxnLst/>
            <a:rect l="l" t="t" r="r" b="b"/>
            <a:pathLst>
              <a:path w="65404" h="649605">
                <a:moveTo>
                  <a:pt x="64928" y="486832"/>
                </a:moveTo>
                <a:lnTo>
                  <a:pt x="0" y="486832"/>
                </a:lnTo>
                <a:lnTo>
                  <a:pt x="32465" y="649110"/>
                </a:lnTo>
                <a:lnTo>
                  <a:pt x="64928" y="486832"/>
                </a:lnTo>
                <a:close/>
              </a:path>
              <a:path w="65404" h="649605">
                <a:moveTo>
                  <a:pt x="48696" y="0"/>
                </a:moveTo>
                <a:lnTo>
                  <a:pt x="16231" y="0"/>
                </a:lnTo>
                <a:lnTo>
                  <a:pt x="16231" y="486832"/>
                </a:lnTo>
                <a:lnTo>
                  <a:pt x="48696" y="486832"/>
                </a:lnTo>
                <a:lnTo>
                  <a:pt x="486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385559" y="1370189"/>
            <a:ext cx="65405" cy="649605"/>
          </a:xfrm>
          <a:custGeom>
            <a:avLst/>
            <a:gdLst/>
            <a:ahLst/>
            <a:cxnLst/>
            <a:rect l="l" t="t" r="r" b="b"/>
            <a:pathLst>
              <a:path w="65404" h="649605">
                <a:moveTo>
                  <a:pt x="48696" y="0"/>
                </a:moveTo>
                <a:lnTo>
                  <a:pt x="48696" y="486833"/>
                </a:lnTo>
                <a:lnTo>
                  <a:pt x="64928" y="486833"/>
                </a:lnTo>
                <a:lnTo>
                  <a:pt x="32464" y="649111"/>
                </a:lnTo>
                <a:lnTo>
                  <a:pt x="0" y="486833"/>
                </a:lnTo>
                <a:lnTo>
                  <a:pt x="16232" y="486833"/>
                </a:lnTo>
                <a:lnTo>
                  <a:pt x="16232" y="0"/>
                </a:lnTo>
                <a:lnTo>
                  <a:pt x="48696" y="0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3875976" y="1267224"/>
            <a:ext cx="235585" cy="666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1670"/>
              </a:lnSpc>
            </a:pPr>
            <a:r>
              <a:rPr sz="1700" b="1" spc="-45" dirty="0">
                <a:latin typeface="宋体" panose="02010600030101010101" pitchFamily="2" charset="-122"/>
                <a:cs typeface="宋体" panose="02010600030101010101" pitchFamily="2" charset="-122"/>
              </a:rPr>
              <a:t>用 户 栈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3462360" y="1605432"/>
            <a:ext cx="607695" cy="685800"/>
          </a:xfrm>
          <a:custGeom>
            <a:avLst/>
            <a:gdLst/>
            <a:ahLst/>
            <a:cxnLst/>
            <a:rect l="l" t="t" r="r" b="b"/>
            <a:pathLst>
              <a:path w="607695" h="685800">
                <a:moveTo>
                  <a:pt x="449382" y="48176"/>
                </a:moveTo>
                <a:lnTo>
                  <a:pt x="335908" y="48176"/>
                </a:lnTo>
                <a:lnTo>
                  <a:pt x="367539" y="53595"/>
                </a:lnTo>
                <a:lnTo>
                  <a:pt x="415852" y="63982"/>
                </a:lnTo>
                <a:lnTo>
                  <a:pt x="460126" y="76516"/>
                </a:lnTo>
                <a:lnTo>
                  <a:pt x="499243" y="91909"/>
                </a:lnTo>
                <a:lnTo>
                  <a:pt x="544484" y="120971"/>
                </a:lnTo>
                <a:lnTo>
                  <a:pt x="571684" y="158856"/>
                </a:lnTo>
                <a:lnTo>
                  <a:pt x="582452" y="215530"/>
                </a:lnTo>
                <a:lnTo>
                  <a:pt x="582781" y="239185"/>
                </a:lnTo>
                <a:lnTo>
                  <a:pt x="581459" y="264481"/>
                </a:lnTo>
                <a:lnTo>
                  <a:pt x="573961" y="318311"/>
                </a:lnTo>
                <a:lnTo>
                  <a:pt x="551138" y="401055"/>
                </a:lnTo>
                <a:lnTo>
                  <a:pt x="528671" y="453120"/>
                </a:lnTo>
                <a:lnTo>
                  <a:pt x="501205" y="498487"/>
                </a:lnTo>
                <a:lnTo>
                  <a:pt x="469077" y="534635"/>
                </a:lnTo>
                <a:lnTo>
                  <a:pt x="430437" y="562801"/>
                </a:lnTo>
                <a:lnTo>
                  <a:pt x="383877" y="586238"/>
                </a:lnTo>
                <a:lnTo>
                  <a:pt x="330567" y="605424"/>
                </a:lnTo>
                <a:lnTo>
                  <a:pt x="271274" y="621079"/>
                </a:lnTo>
                <a:lnTo>
                  <a:pt x="207535" y="633760"/>
                </a:lnTo>
                <a:lnTo>
                  <a:pt x="140333" y="644220"/>
                </a:lnTo>
                <a:lnTo>
                  <a:pt x="70789" y="653190"/>
                </a:lnTo>
                <a:lnTo>
                  <a:pt x="0" y="661422"/>
                </a:lnTo>
                <a:lnTo>
                  <a:pt x="2813" y="685601"/>
                </a:lnTo>
                <a:lnTo>
                  <a:pt x="73676" y="677360"/>
                </a:lnTo>
                <a:lnTo>
                  <a:pt x="143607" y="668341"/>
                </a:lnTo>
                <a:lnTo>
                  <a:pt x="211533" y="657773"/>
                </a:lnTo>
                <a:lnTo>
                  <a:pt x="276396" y="644879"/>
                </a:lnTo>
                <a:lnTo>
                  <a:pt x="337149" y="628862"/>
                </a:lnTo>
                <a:lnTo>
                  <a:pt x="393062" y="608784"/>
                </a:lnTo>
                <a:lnTo>
                  <a:pt x="442598" y="583896"/>
                </a:lnTo>
                <a:lnTo>
                  <a:pt x="484875" y="553170"/>
                </a:lnTo>
                <a:lnTo>
                  <a:pt x="520569" y="513255"/>
                </a:lnTo>
                <a:lnTo>
                  <a:pt x="550260" y="464393"/>
                </a:lnTo>
                <a:lnTo>
                  <a:pt x="573765" y="410067"/>
                </a:lnTo>
                <a:lnTo>
                  <a:pt x="591327" y="352491"/>
                </a:lnTo>
                <a:lnTo>
                  <a:pt x="602580" y="294664"/>
                </a:lnTo>
                <a:lnTo>
                  <a:pt x="607118" y="240054"/>
                </a:lnTo>
                <a:lnTo>
                  <a:pt x="607132" y="239185"/>
                </a:lnTo>
                <a:lnTo>
                  <a:pt x="606803" y="215530"/>
                </a:lnTo>
                <a:lnTo>
                  <a:pt x="600628" y="169637"/>
                </a:lnTo>
                <a:lnTo>
                  <a:pt x="586026" y="133253"/>
                </a:lnTo>
                <a:lnTo>
                  <a:pt x="561450" y="103496"/>
                </a:lnTo>
                <a:lnTo>
                  <a:pt x="528745" y="79866"/>
                </a:lnTo>
                <a:lnTo>
                  <a:pt x="468482" y="53644"/>
                </a:lnTo>
                <a:lnTo>
                  <a:pt x="467340" y="53259"/>
                </a:lnTo>
                <a:lnTo>
                  <a:pt x="449382" y="48176"/>
                </a:lnTo>
                <a:close/>
              </a:path>
              <a:path w="607695" h="685800">
                <a:moveTo>
                  <a:pt x="343692" y="0"/>
                </a:moveTo>
                <a:lnTo>
                  <a:pt x="265758" y="24400"/>
                </a:lnTo>
                <a:lnTo>
                  <a:pt x="332045" y="72090"/>
                </a:lnTo>
                <a:lnTo>
                  <a:pt x="335908" y="48176"/>
                </a:lnTo>
                <a:lnTo>
                  <a:pt x="449382" y="48176"/>
                </a:lnTo>
                <a:lnTo>
                  <a:pt x="422111" y="40455"/>
                </a:lnTo>
                <a:lnTo>
                  <a:pt x="421354" y="40266"/>
                </a:lnTo>
                <a:lnTo>
                  <a:pt x="372407" y="29744"/>
                </a:lnTo>
                <a:lnTo>
                  <a:pt x="339792" y="24145"/>
                </a:lnTo>
                <a:lnTo>
                  <a:pt x="3436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090057" y="975920"/>
            <a:ext cx="1014094" cy="1379855"/>
          </a:xfrm>
          <a:custGeom>
            <a:avLst/>
            <a:gdLst/>
            <a:ahLst/>
            <a:cxnLst/>
            <a:rect l="l" t="t" r="r" b="b"/>
            <a:pathLst>
              <a:path w="1014094" h="1379855">
                <a:moveTo>
                  <a:pt x="591752" y="0"/>
                </a:moveTo>
                <a:lnTo>
                  <a:pt x="601340" y="22374"/>
                </a:lnTo>
                <a:lnTo>
                  <a:pt x="568813" y="36308"/>
                </a:lnTo>
                <a:lnTo>
                  <a:pt x="471140" y="79634"/>
                </a:lnTo>
                <a:lnTo>
                  <a:pt x="423642" y="101749"/>
                </a:lnTo>
                <a:lnTo>
                  <a:pt x="377494" y="124221"/>
                </a:lnTo>
                <a:lnTo>
                  <a:pt x="332902" y="147148"/>
                </a:lnTo>
                <a:lnTo>
                  <a:pt x="290131" y="170609"/>
                </a:lnTo>
                <a:lnTo>
                  <a:pt x="249442" y="194684"/>
                </a:lnTo>
                <a:lnTo>
                  <a:pt x="211096" y="219455"/>
                </a:lnTo>
                <a:lnTo>
                  <a:pt x="175356" y="245013"/>
                </a:lnTo>
                <a:lnTo>
                  <a:pt x="142483" y="271447"/>
                </a:lnTo>
                <a:lnTo>
                  <a:pt x="112743" y="298858"/>
                </a:lnTo>
                <a:lnTo>
                  <a:pt x="86411" y="327351"/>
                </a:lnTo>
                <a:lnTo>
                  <a:pt x="63019" y="358148"/>
                </a:lnTo>
                <a:lnTo>
                  <a:pt x="30130" y="420742"/>
                </a:lnTo>
                <a:lnTo>
                  <a:pt x="9206" y="491629"/>
                </a:lnTo>
                <a:lnTo>
                  <a:pt x="3191" y="529285"/>
                </a:lnTo>
                <a:lnTo>
                  <a:pt x="117" y="568036"/>
                </a:lnTo>
                <a:lnTo>
                  <a:pt x="0" y="608487"/>
                </a:lnTo>
                <a:lnTo>
                  <a:pt x="2741" y="647710"/>
                </a:lnTo>
                <a:lnTo>
                  <a:pt x="8425" y="688074"/>
                </a:lnTo>
                <a:lnTo>
                  <a:pt x="17019" y="728419"/>
                </a:lnTo>
                <a:lnTo>
                  <a:pt x="28522" y="768466"/>
                </a:lnTo>
                <a:lnTo>
                  <a:pt x="42937" y="807933"/>
                </a:lnTo>
                <a:lnTo>
                  <a:pt x="60266" y="846538"/>
                </a:lnTo>
                <a:lnTo>
                  <a:pt x="80515" y="883997"/>
                </a:lnTo>
                <a:lnTo>
                  <a:pt x="103690" y="920022"/>
                </a:lnTo>
                <a:lnTo>
                  <a:pt x="129797" y="954326"/>
                </a:lnTo>
                <a:lnTo>
                  <a:pt x="158841" y="986616"/>
                </a:lnTo>
                <a:lnTo>
                  <a:pt x="191494" y="1017224"/>
                </a:lnTo>
                <a:lnTo>
                  <a:pt x="228133" y="1046632"/>
                </a:lnTo>
                <a:lnTo>
                  <a:pt x="268440" y="1074902"/>
                </a:lnTo>
                <a:lnTo>
                  <a:pt x="312145" y="1102140"/>
                </a:lnTo>
                <a:lnTo>
                  <a:pt x="358985" y="1128440"/>
                </a:lnTo>
                <a:lnTo>
                  <a:pt x="408699" y="1153894"/>
                </a:lnTo>
                <a:lnTo>
                  <a:pt x="461028" y="1178586"/>
                </a:lnTo>
                <a:lnTo>
                  <a:pt x="515711" y="1202602"/>
                </a:lnTo>
                <a:lnTo>
                  <a:pt x="572486" y="1226017"/>
                </a:lnTo>
                <a:lnTo>
                  <a:pt x="631090" y="1248910"/>
                </a:lnTo>
                <a:lnTo>
                  <a:pt x="691261" y="1271357"/>
                </a:lnTo>
                <a:lnTo>
                  <a:pt x="752734" y="1293432"/>
                </a:lnTo>
                <a:lnTo>
                  <a:pt x="878492" y="1336749"/>
                </a:lnTo>
                <a:lnTo>
                  <a:pt x="1006345" y="1379477"/>
                </a:lnTo>
                <a:lnTo>
                  <a:pt x="1014064" y="1356393"/>
                </a:lnTo>
                <a:lnTo>
                  <a:pt x="886374" y="1313718"/>
                </a:lnTo>
                <a:lnTo>
                  <a:pt x="760889" y="1270496"/>
                </a:lnTo>
                <a:lnTo>
                  <a:pt x="699706" y="1248526"/>
                </a:lnTo>
                <a:lnTo>
                  <a:pt x="639861" y="1226202"/>
                </a:lnTo>
                <a:lnTo>
                  <a:pt x="581667" y="1203472"/>
                </a:lnTo>
                <a:lnTo>
                  <a:pt x="525374" y="1180259"/>
                </a:lnTo>
                <a:lnTo>
                  <a:pt x="471269" y="1156502"/>
                </a:lnTo>
                <a:lnTo>
                  <a:pt x="419621" y="1132137"/>
                </a:lnTo>
                <a:lnTo>
                  <a:pt x="370698" y="1107099"/>
                </a:lnTo>
                <a:lnTo>
                  <a:pt x="324783" y="1081332"/>
                </a:lnTo>
                <a:lnTo>
                  <a:pt x="282144" y="1054779"/>
                </a:lnTo>
                <a:lnTo>
                  <a:pt x="243057" y="1027394"/>
                </a:lnTo>
                <a:lnTo>
                  <a:pt x="207789" y="999131"/>
                </a:lnTo>
                <a:lnTo>
                  <a:pt x="176582" y="969935"/>
                </a:lnTo>
                <a:lnTo>
                  <a:pt x="148858" y="939173"/>
                </a:lnTo>
                <a:lnTo>
                  <a:pt x="123898" y="906435"/>
                </a:lnTo>
                <a:lnTo>
                  <a:pt x="101706" y="871999"/>
                </a:lnTo>
                <a:lnTo>
                  <a:pt x="82289" y="836146"/>
                </a:lnTo>
                <a:lnTo>
                  <a:pt x="65652" y="799157"/>
                </a:lnTo>
                <a:lnTo>
                  <a:pt x="51801" y="761319"/>
                </a:lnTo>
                <a:lnTo>
                  <a:pt x="40741" y="722917"/>
                </a:lnTo>
                <a:lnTo>
                  <a:pt x="32474" y="684241"/>
                </a:lnTo>
                <a:lnTo>
                  <a:pt x="27000" y="645582"/>
                </a:lnTo>
                <a:lnTo>
                  <a:pt x="24407" y="608487"/>
                </a:lnTo>
                <a:lnTo>
                  <a:pt x="24426" y="569479"/>
                </a:lnTo>
                <a:lnTo>
                  <a:pt x="32972" y="496945"/>
                </a:lnTo>
                <a:lnTo>
                  <a:pt x="52531" y="430300"/>
                </a:lnTo>
                <a:lnTo>
                  <a:pt x="83563" y="371229"/>
                </a:lnTo>
                <a:lnTo>
                  <a:pt x="129620" y="316411"/>
                </a:lnTo>
                <a:lnTo>
                  <a:pt x="158073" y="290149"/>
                </a:lnTo>
                <a:lnTo>
                  <a:pt x="189807" y="264607"/>
                </a:lnTo>
                <a:lnTo>
                  <a:pt x="224558" y="239741"/>
                </a:lnTo>
                <a:lnTo>
                  <a:pt x="262052" y="215508"/>
                </a:lnTo>
                <a:lnTo>
                  <a:pt x="302019" y="191853"/>
                </a:lnTo>
                <a:lnTo>
                  <a:pt x="344184" y="168719"/>
                </a:lnTo>
                <a:lnTo>
                  <a:pt x="388275" y="146046"/>
                </a:lnTo>
                <a:lnTo>
                  <a:pt x="434018" y="123770"/>
                </a:lnTo>
                <a:lnTo>
                  <a:pt x="481117" y="101838"/>
                </a:lnTo>
                <a:lnTo>
                  <a:pt x="578473" y="58652"/>
                </a:lnTo>
                <a:lnTo>
                  <a:pt x="610930" y="44749"/>
                </a:lnTo>
                <a:lnTo>
                  <a:pt x="639459" y="44749"/>
                </a:lnTo>
                <a:lnTo>
                  <a:pt x="673277" y="4801"/>
                </a:lnTo>
                <a:lnTo>
                  <a:pt x="591752" y="0"/>
                </a:lnTo>
                <a:close/>
              </a:path>
              <a:path w="1014094" h="1379855">
                <a:moveTo>
                  <a:pt x="639459" y="44749"/>
                </a:moveTo>
                <a:lnTo>
                  <a:pt x="610930" y="44749"/>
                </a:lnTo>
                <a:lnTo>
                  <a:pt x="620519" y="67123"/>
                </a:lnTo>
                <a:lnTo>
                  <a:pt x="639459" y="447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994580" y="1994899"/>
            <a:ext cx="607695" cy="685800"/>
          </a:xfrm>
          <a:custGeom>
            <a:avLst/>
            <a:gdLst/>
            <a:ahLst/>
            <a:cxnLst/>
            <a:rect l="l" t="t" r="r" b="b"/>
            <a:pathLst>
              <a:path w="607695" h="685800">
                <a:moveTo>
                  <a:pt x="449385" y="48176"/>
                </a:moveTo>
                <a:lnTo>
                  <a:pt x="335909" y="48176"/>
                </a:lnTo>
                <a:lnTo>
                  <a:pt x="367539" y="53595"/>
                </a:lnTo>
                <a:lnTo>
                  <a:pt x="415853" y="63981"/>
                </a:lnTo>
                <a:lnTo>
                  <a:pt x="460127" y="76516"/>
                </a:lnTo>
                <a:lnTo>
                  <a:pt x="499244" y="91908"/>
                </a:lnTo>
                <a:lnTo>
                  <a:pt x="544485" y="120971"/>
                </a:lnTo>
                <a:lnTo>
                  <a:pt x="571685" y="158856"/>
                </a:lnTo>
                <a:lnTo>
                  <a:pt x="582453" y="215530"/>
                </a:lnTo>
                <a:lnTo>
                  <a:pt x="582782" y="239185"/>
                </a:lnTo>
                <a:lnTo>
                  <a:pt x="581460" y="264480"/>
                </a:lnTo>
                <a:lnTo>
                  <a:pt x="573962" y="318311"/>
                </a:lnTo>
                <a:lnTo>
                  <a:pt x="551139" y="401054"/>
                </a:lnTo>
                <a:lnTo>
                  <a:pt x="528673" y="453120"/>
                </a:lnTo>
                <a:lnTo>
                  <a:pt x="501206" y="498486"/>
                </a:lnTo>
                <a:lnTo>
                  <a:pt x="469078" y="534635"/>
                </a:lnTo>
                <a:lnTo>
                  <a:pt x="430438" y="562801"/>
                </a:lnTo>
                <a:lnTo>
                  <a:pt x="383879" y="586237"/>
                </a:lnTo>
                <a:lnTo>
                  <a:pt x="330568" y="605424"/>
                </a:lnTo>
                <a:lnTo>
                  <a:pt x="271275" y="621078"/>
                </a:lnTo>
                <a:lnTo>
                  <a:pt x="207537" y="633760"/>
                </a:lnTo>
                <a:lnTo>
                  <a:pt x="140335" y="644218"/>
                </a:lnTo>
                <a:lnTo>
                  <a:pt x="70791" y="653190"/>
                </a:lnTo>
                <a:lnTo>
                  <a:pt x="0" y="661422"/>
                </a:lnTo>
                <a:lnTo>
                  <a:pt x="2814" y="685600"/>
                </a:lnTo>
                <a:lnTo>
                  <a:pt x="73677" y="677360"/>
                </a:lnTo>
                <a:lnTo>
                  <a:pt x="143609" y="668340"/>
                </a:lnTo>
                <a:lnTo>
                  <a:pt x="211535" y="657772"/>
                </a:lnTo>
                <a:lnTo>
                  <a:pt x="276397" y="644879"/>
                </a:lnTo>
                <a:lnTo>
                  <a:pt x="337150" y="628862"/>
                </a:lnTo>
                <a:lnTo>
                  <a:pt x="393063" y="608783"/>
                </a:lnTo>
                <a:lnTo>
                  <a:pt x="442600" y="583895"/>
                </a:lnTo>
                <a:lnTo>
                  <a:pt x="484877" y="553170"/>
                </a:lnTo>
                <a:lnTo>
                  <a:pt x="520570" y="513255"/>
                </a:lnTo>
                <a:lnTo>
                  <a:pt x="550261" y="464393"/>
                </a:lnTo>
                <a:lnTo>
                  <a:pt x="573766" y="410066"/>
                </a:lnTo>
                <a:lnTo>
                  <a:pt x="591328" y="352491"/>
                </a:lnTo>
                <a:lnTo>
                  <a:pt x="602581" y="294664"/>
                </a:lnTo>
                <a:lnTo>
                  <a:pt x="607119" y="240054"/>
                </a:lnTo>
                <a:lnTo>
                  <a:pt x="607134" y="239185"/>
                </a:lnTo>
                <a:lnTo>
                  <a:pt x="606804" y="215530"/>
                </a:lnTo>
                <a:lnTo>
                  <a:pt x="600629" y="169637"/>
                </a:lnTo>
                <a:lnTo>
                  <a:pt x="586027" y="133252"/>
                </a:lnTo>
                <a:lnTo>
                  <a:pt x="561451" y="103494"/>
                </a:lnTo>
                <a:lnTo>
                  <a:pt x="528746" y="79866"/>
                </a:lnTo>
                <a:lnTo>
                  <a:pt x="468483" y="53644"/>
                </a:lnTo>
                <a:lnTo>
                  <a:pt x="467342" y="53259"/>
                </a:lnTo>
                <a:lnTo>
                  <a:pt x="449385" y="48176"/>
                </a:lnTo>
                <a:close/>
              </a:path>
              <a:path w="607695" h="685800">
                <a:moveTo>
                  <a:pt x="343693" y="0"/>
                </a:moveTo>
                <a:lnTo>
                  <a:pt x="265760" y="24400"/>
                </a:lnTo>
                <a:lnTo>
                  <a:pt x="332046" y="72090"/>
                </a:lnTo>
                <a:lnTo>
                  <a:pt x="335909" y="48176"/>
                </a:lnTo>
                <a:lnTo>
                  <a:pt x="449385" y="48176"/>
                </a:lnTo>
                <a:lnTo>
                  <a:pt x="422112" y="40454"/>
                </a:lnTo>
                <a:lnTo>
                  <a:pt x="421354" y="40266"/>
                </a:lnTo>
                <a:lnTo>
                  <a:pt x="372408" y="29743"/>
                </a:lnTo>
                <a:lnTo>
                  <a:pt x="339792" y="24145"/>
                </a:lnTo>
                <a:lnTo>
                  <a:pt x="3436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3806852" y="1370189"/>
            <a:ext cx="765810" cy="1374775"/>
          </a:xfrm>
          <a:custGeom>
            <a:avLst/>
            <a:gdLst/>
            <a:ahLst/>
            <a:cxnLst/>
            <a:rect l="l" t="t" r="r" b="b"/>
            <a:pathLst>
              <a:path w="765810" h="1374775">
                <a:moveTo>
                  <a:pt x="508006" y="0"/>
                </a:moveTo>
                <a:lnTo>
                  <a:pt x="426464" y="4519"/>
                </a:lnTo>
                <a:lnTo>
                  <a:pt x="438542" y="25655"/>
                </a:lnTo>
                <a:lnTo>
                  <a:pt x="427215" y="32124"/>
                </a:lnTo>
                <a:lnTo>
                  <a:pt x="353908" y="75481"/>
                </a:lnTo>
                <a:lnTo>
                  <a:pt x="283640" y="120087"/>
                </a:lnTo>
                <a:lnTo>
                  <a:pt x="250016" y="143132"/>
                </a:lnTo>
                <a:lnTo>
                  <a:pt x="217850" y="166654"/>
                </a:lnTo>
                <a:lnTo>
                  <a:pt x="187238" y="190802"/>
                </a:lnTo>
                <a:lnTo>
                  <a:pt x="157923" y="216070"/>
                </a:lnTo>
                <a:lnTo>
                  <a:pt x="106729" y="267830"/>
                </a:lnTo>
                <a:lnTo>
                  <a:pt x="64556" y="323876"/>
                </a:lnTo>
                <a:lnTo>
                  <a:pt x="33625" y="384481"/>
                </a:lnTo>
                <a:lnTo>
                  <a:pt x="13529" y="451468"/>
                </a:lnTo>
                <a:lnTo>
                  <a:pt x="2371" y="524950"/>
                </a:lnTo>
                <a:lnTo>
                  <a:pt x="86" y="563471"/>
                </a:lnTo>
                <a:lnTo>
                  <a:pt x="0" y="603473"/>
                </a:lnTo>
                <a:lnTo>
                  <a:pt x="2056" y="642696"/>
                </a:lnTo>
                <a:lnTo>
                  <a:pt x="6303" y="682851"/>
                </a:lnTo>
                <a:lnTo>
                  <a:pt x="12721" y="723000"/>
                </a:lnTo>
                <a:lnTo>
                  <a:pt x="21315" y="762866"/>
                </a:lnTo>
                <a:lnTo>
                  <a:pt x="32086" y="802170"/>
                </a:lnTo>
                <a:lnTo>
                  <a:pt x="45040" y="840633"/>
                </a:lnTo>
                <a:lnTo>
                  <a:pt x="60185" y="877978"/>
                </a:lnTo>
                <a:lnTo>
                  <a:pt x="77530" y="913923"/>
                </a:lnTo>
                <a:lnTo>
                  <a:pt x="97088" y="948185"/>
                </a:lnTo>
                <a:lnTo>
                  <a:pt x="118875" y="980480"/>
                </a:lnTo>
                <a:lnTo>
                  <a:pt x="143408" y="1011146"/>
                </a:lnTo>
                <a:lnTo>
                  <a:pt x="170969" y="1040649"/>
                </a:lnTo>
                <a:lnTo>
                  <a:pt x="201307" y="1069026"/>
                </a:lnTo>
                <a:lnTo>
                  <a:pt x="234207" y="1096370"/>
                </a:lnTo>
                <a:lnTo>
                  <a:pt x="269462" y="1122768"/>
                </a:lnTo>
                <a:lnTo>
                  <a:pt x="306871" y="1148309"/>
                </a:lnTo>
                <a:lnTo>
                  <a:pt x="346233" y="1173079"/>
                </a:lnTo>
                <a:lnTo>
                  <a:pt x="387351" y="1197159"/>
                </a:lnTo>
                <a:lnTo>
                  <a:pt x="430028" y="1220628"/>
                </a:lnTo>
                <a:lnTo>
                  <a:pt x="474064" y="1243566"/>
                </a:lnTo>
                <a:lnTo>
                  <a:pt x="565346" y="1288114"/>
                </a:lnTo>
                <a:lnTo>
                  <a:pt x="659810" y="1331499"/>
                </a:lnTo>
                <a:lnTo>
                  <a:pt x="755746" y="1374249"/>
                </a:lnTo>
                <a:lnTo>
                  <a:pt x="765658" y="1352016"/>
                </a:lnTo>
                <a:lnTo>
                  <a:pt x="669909" y="1309350"/>
                </a:lnTo>
                <a:lnTo>
                  <a:pt x="575900" y="1266177"/>
                </a:lnTo>
                <a:lnTo>
                  <a:pt x="485174" y="1221905"/>
                </a:lnTo>
                <a:lnTo>
                  <a:pt x="441642" y="1199233"/>
                </a:lnTo>
                <a:lnTo>
                  <a:pt x="399514" y="1176070"/>
                </a:lnTo>
                <a:lnTo>
                  <a:pt x="359034" y="1152372"/>
                </a:lnTo>
                <a:lnTo>
                  <a:pt x="320409" y="1128077"/>
                </a:lnTo>
                <a:lnTo>
                  <a:pt x="283841" y="1103123"/>
                </a:lnTo>
                <a:lnTo>
                  <a:pt x="249525" y="1077447"/>
                </a:lnTo>
                <a:lnTo>
                  <a:pt x="217671" y="1050998"/>
                </a:lnTo>
                <a:lnTo>
                  <a:pt x="188470" y="1023720"/>
                </a:lnTo>
                <a:lnTo>
                  <a:pt x="162116" y="995560"/>
                </a:lnTo>
                <a:lnTo>
                  <a:pt x="118000" y="935710"/>
                </a:lnTo>
                <a:lnTo>
                  <a:pt x="82596" y="868457"/>
                </a:lnTo>
                <a:lnTo>
                  <a:pt x="67994" y="832506"/>
                </a:lnTo>
                <a:lnTo>
                  <a:pt x="55473" y="795390"/>
                </a:lnTo>
                <a:lnTo>
                  <a:pt x="45044" y="757398"/>
                </a:lnTo>
                <a:lnTo>
                  <a:pt x="36711" y="718825"/>
                </a:lnTo>
                <a:lnTo>
                  <a:pt x="30479" y="679959"/>
                </a:lnTo>
                <a:lnTo>
                  <a:pt x="26353" y="641097"/>
                </a:lnTo>
                <a:lnTo>
                  <a:pt x="24381" y="603473"/>
                </a:lnTo>
                <a:lnTo>
                  <a:pt x="24476" y="563471"/>
                </a:lnTo>
                <a:lnTo>
                  <a:pt x="30862" y="491557"/>
                </a:lnTo>
                <a:lnTo>
                  <a:pt x="45627" y="424478"/>
                </a:lnTo>
                <a:lnTo>
                  <a:pt x="69013" y="365117"/>
                </a:lnTo>
                <a:lnTo>
                  <a:pt x="103545" y="310307"/>
                </a:lnTo>
                <a:lnTo>
                  <a:pt x="148544" y="258665"/>
                </a:lnTo>
                <a:lnTo>
                  <a:pt x="202531" y="209745"/>
                </a:lnTo>
                <a:lnTo>
                  <a:pt x="263940" y="163101"/>
                </a:lnTo>
                <a:lnTo>
                  <a:pt x="296875" y="140520"/>
                </a:lnTo>
                <a:lnTo>
                  <a:pt x="366471" y="96333"/>
                </a:lnTo>
                <a:lnTo>
                  <a:pt x="439373" y="53215"/>
                </a:lnTo>
                <a:lnTo>
                  <a:pt x="450621" y="46791"/>
                </a:lnTo>
                <a:lnTo>
                  <a:pt x="476796" y="46791"/>
                </a:lnTo>
                <a:lnTo>
                  <a:pt x="508006" y="0"/>
                </a:lnTo>
                <a:close/>
              </a:path>
              <a:path w="765810" h="1374775">
                <a:moveTo>
                  <a:pt x="476796" y="46791"/>
                </a:moveTo>
                <a:lnTo>
                  <a:pt x="450621" y="46791"/>
                </a:lnTo>
                <a:lnTo>
                  <a:pt x="462699" y="67927"/>
                </a:lnTo>
                <a:lnTo>
                  <a:pt x="476796" y="467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79" name="object 7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1010" name="标题 171009"/>
          <p:cNvSpPr>
            <a:spLocks noGrp="1"/>
          </p:cNvSpPr>
          <p:nvPr>
            <p:ph type="title"/>
          </p:nvPr>
        </p:nvSpPr>
        <p:spPr>
          <a:xfrm>
            <a:off x="469900" y="282892"/>
            <a:ext cx="9089390" cy="453390"/>
          </a:xfrm>
        </p:spPr>
        <p:txBody>
          <a:bodyPr anchor="ctr" anchorCtr="0"/>
          <a:p>
            <a:r>
              <a:rPr lang="zh-CN" altLang="en-US" dirty="0"/>
              <a:t>进程与线程小结</a:t>
            </a:r>
            <a:endParaRPr lang="zh-CN" altLang="en-US" dirty="0"/>
          </a:p>
        </p:txBody>
      </p:sp>
      <p:pic>
        <p:nvPicPr>
          <p:cNvPr id="171012" name="图片 171011" descr="j02977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6435" y="0"/>
            <a:ext cx="1227931" cy="1511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1013" name="矩形 171012"/>
          <p:cNvSpPr/>
          <p:nvPr/>
        </p:nvSpPr>
        <p:spPr>
          <a:xfrm>
            <a:off x="648376" y="1397603"/>
            <a:ext cx="8728457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2645" dirty="0"/>
              <a:t>进程 </a:t>
            </a:r>
            <a:r>
              <a:rPr lang="en-US" altLang="zh-CN" sz="2645"/>
              <a:t>= </a:t>
            </a:r>
            <a:r>
              <a:rPr lang="zh-CN" altLang="en-US" sz="2645" dirty="0"/>
              <a:t>地址空间 </a:t>
            </a:r>
            <a:r>
              <a:rPr lang="en-US" altLang="zh-CN" sz="2645"/>
              <a:t>+ </a:t>
            </a:r>
            <a:r>
              <a:rPr lang="zh-CN" altLang="en-US" sz="2645" dirty="0"/>
              <a:t>指令执行序列</a:t>
            </a:r>
            <a:r>
              <a:rPr lang="zh-CN" altLang="en-US" sz="2645">
                <a:solidFill>
                  <a:srgbClr val="FF0000"/>
                </a:solidFill>
              </a:rPr>
              <a:t> </a:t>
            </a:r>
            <a:endParaRPr lang="zh-CN" altLang="en-US" sz="2645">
              <a:solidFill>
                <a:srgbClr val="FF0000"/>
              </a:solidFill>
            </a:endParaRPr>
          </a:p>
        </p:txBody>
      </p:sp>
      <p:sp>
        <p:nvSpPr>
          <p:cNvPr id="171014" name="矩形 171013"/>
          <p:cNvSpPr/>
          <p:nvPr/>
        </p:nvSpPr>
        <p:spPr>
          <a:xfrm>
            <a:off x="644878" y="2099028"/>
            <a:ext cx="9487606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2645" dirty="0">
                <a:sym typeface="Symbol" panose="05050102010706020507" pitchFamily="18" charset="2"/>
              </a:rPr>
              <a:t>一个地址空间</a:t>
            </a:r>
            <a:r>
              <a:rPr lang="en-US" altLang="zh-CN" sz="2645">
                <a:sym typeface="Symbol" panose="05050102010706020507" pitchFamily="18" charset="2"/>
              </a:rPr>
              <a:t>+</a:t>
            </a:r>
            <a:r>
              <a:rPr lang="zh-CN" altLang="en-US" sz="2645" dirty="0">
                <a:sym typeface="Symbol" panose="05050102010706020507" pitchFamily="18" charset="2"/>
              </a:rPr>
              <a:t>多个指令执行序列 </a:t>
            </a:r>
            <a:r>
              <a:rPr lang="en-US" altLang="zh-CN" sz="2645" dirty="0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引出线程</a:t>
            </a:r>
            <a:endParaRPr lang="zh-CN" altLang="en-US" sz="2645">
              <a:sym typeface="Symbol" panose="05050102010706020507" pitchFamily="18" charset="2"/>
            </a:endParaRPr>
          </a:p>
        </p:txBody>
      </p:sp>
      <p:sp>
        <p:nvSpPr>
          <p:cNvPr id="171015" name="矩形 171014"/>
          <p:cNvSpPr/>
          <p:nvPr/>
        </p:nvSpPr>
        <p:spPr>
          <a:xfrm>
            <a:off x="622018" y="2787862"/>
            <a:ext cx="9487606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2645" dirty="0">
                <a:sym typeface="Symbol" panose="05050102010706020507" pitchFamily="18" charset="2"/>
              </a:rPr>
              <a:t>线程具有并发的优点，却比进程的代价低得多</a:t>
            </a:r>
            <a:endParaRPr lang="zh-CN" altLang="en-US" sz="2645">
              <a:sym typeface="Symbol" panose="05050102010706020507" pitchFamily="18" charset="2"/>
            </a:endParaRPr>
          </a:p>
        </p:txBody>
      </p:sp>
      <p:sp>
        <p:nvSpPr>
          <p:cNvPr id="171017" name="矩形 171016"/>
          <p:cNvSpPr/>
          <p:nvPr/>
        </p:nvSpPr>
        <p:spPr>
          <a:xfrm>
            <a:off x="644878" y="3526367"/>
            <a:ext cx="9487606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en-US" altLang="zh-CN" sz="2645" err="1">
                <a:sym typeface="Symbol" panose="05050102010706020507" pitchFamily="18" charset="2"/>
              </a:rPr>
              <a:t>WebExplorer</a:t>
            </a:r>
            <a:r>
              <a:rPr lang="zh-CN" altLang="en-US" sz="2645" dirty="0">
                <a:sym typeface="Symbol" panose="05050102010706020507" pitchFamily="18" charset="2"/>
              </a:rPr>
              <a:t>表明线程简单实用 </a:t>
            </a:r>
            <a:r>
              <a:rPr lang="en-US" altLang="zh-CN" sz="2645" dirty="0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线程怎么实现</a:t>
            </a:r>
            <a:endParaRPr lang="zh-CN" altLang="en-US" sz="2645" dirty="0">
              <a:sym typeface="Symbol" panose="05050102010706020507" pitchFamily="18" charset="2"/>
            </a:endParaRPr>
          </a:p>
        </p:txBody>
      </p:sp>
      <p:sp>
        <p:nvSpPr>
          <p:cNvPr id="171018" name="矩形 171017"/>
          <p:cNvSpPr/>
          <p:nvPr/>
        </p:nvSpPr>
        <p:spPr>
          <a:xfrm>
            <a:off x="644878" y="4282017"/>
            <a:ext cx="9487606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2645" dirty="0">
                <a:sym typeface="Symbol" panose="05050102010706020507" pitchFamily="18" charset="2"/>
              </a:rPr>
              <a:t>线程在同一地址空间中 </a:t>
            </a:r>
            <a:r>
              <a:rPr lang="en-US" altLang="zh-CN" sz="2645" dirty="0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线程库可以用户级实现</a:t>
            </a:r>
            <a:endParaRPr lang="zh-CN" altLang="en-US" sz="2645" dirty="0">
              <a:sym typeface="Symbol" panose="05050102010706020507" pitchFamily="18" charset="2"/>
            </a:endParaRPr>
          </a:p>
        </p:txBody>
      </p:sp>
      <p:sp>
        <p:nvSpPr>
          <p:cNvPr id="171019" name="矩形 171018"/>
          <p:cNvSpPr/>
          <p:nvPr/>
        </p:nvSpPr>
        <p:spPr>
          <a:xfrm>
            <a:off x="644878" y="5037667"/>
            <a:ext cx="9487606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2645" dirty="0">
                <a:sym typeface="Symbol" panose="05050102010706020507" pitchFamily="18" charset="2"/>
              </a:rPr>
              <a:t>用户级线程，核心级线程，两者都有</a:t>
            </a:r>
            <a:r>
              <a:rPr lang="zh-CN" altLang="en-US" sz="2645">
                <a:sym typeface="Symbol" panose="05050102010706020507" pitchFamily="18" charset="2"/>
              </a:rPr>
              <a:t> </a:t>
            </a:r>
            <a:endParaRPr lang="zh-CN" altLang="en-US" sz="2645">
              <a:sym typeface="Symbol" panose="05050102010706020507" pitchFamily="18" charset="2"/>
            </a:endParaRPr>
          </a:p>
        </p:txBody>
      </p:sp>
      <p:sp>
        <p:nvSpPr>
          <p:cNvPr id="171022" name="矩形 171021"/>
          <p:cNvSpPr/>
          <p:nvPr/>
        </p:nvSpPr>
        <p:spPr>
          <a:xfrm>
            <a:off x="644878" y="5793317"/>
            <a:ext cx="9487606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2645" dirty="0">
                <a:sym typeface="Symbol" panose="05050102010706020507" pitchFamily="18" charset="2"/>
              </a:rPr>
              <a:t>各类线程的实现细节，其中上下文切换是核心</a:t>
            </a:r>
            <a:endParaRPr lang="zh-CN" altLang="en-US" sz="2645" dirty="0">
              <a:sym typeface="Symbol" panose="05050102010706020507" pitchFamily="18" charset="2"/>
            </a:endParaRPr>
          </a:p>
        </p:txBody>
      </p:sp>
      <p:sp>
        <p:nvSpPr>
          <p:cNvPr id="2" name="object 2"/>
          <p:cNvSpPr/>
          <p:nvPr>
            <p:custDataLst>
              <p:tags r:id="rId2"/>
            </p:custDataLst>
          </p:nvPr>
        </p:nvSpPr>
        <p:spPr>
          <a:xfrm>
            <a:off x="88900" y="882721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3" grpId="0"/>
      <p:bldP spid="171014" grpId="0"/>
      <p:bldP spid="171015" grpId="0"/>
      <p:bldP spid="171017" grpId="0"/>
      <p:bldP spid="171018" grpId="0"/>
      <p:bldP spid="171019" grpId="0"/>
      <p:bldP spid="1710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89159" y="1736706"/>
            <a:ext cx="306070" cy="306070"/>
          </a:xfrm>
          <a:custGeom>
            <a:avLst/>
            <a:gdLst/>
            <a:ahLst/>
            <a:cxnLst/>
            <a:rect l="l" t="t" r="r" b="b"/>
            <a:pathLst>
              <a:path w="306070" h="306069">
                <a:moveTo>
                  <a:pt x="297974" y="38249"/>
                </a:moveTo>
                <a:lnTo>
                  <a:pt x="38259" y="297893"/>
                </a:lnTo>
                <a:lnTo>
                  <a:pt x="45911" y="305544"/>
                </a:lnTo>
                <a:lnTo>
                  <a:pt x="305626" y="45899"/>
                </a:lnTo>
                <a:lnTo>
                  <a:pt x="297974" y="38249"/>
                </a:lnTo>
                <a:close/>
              </a:path>
              <a:path w="306070" h="306069">
                <a:moveTo>
                  <a:pt x="275018" y="15299"/>
                </a:moveTo>
                <a:lnTo>
                  <a:pt x="15303" y="274943"/>
                </a:lnTo>
                <a:lnTo>
                  <a:pt x="30607" y="290243"/>
                </a:lnTo>
                <a:lnTo>
                  <a:pt x="290322" y="30599"/>
                </a:lnTo>
                <a:lnTo>
                  <a:pt x="275018" y="15299"/>
                </a:lnTo>
                <a:close/>
              </a:path>
              <a:path w="306070" h="306069">
                <a:moveTo>
                  <a:pt x="259715" y="0"/>
                </a:moveTo>
                <a:lnTo>
                  <a:pt x="0" y="259643"/>
                </a:lnTo>
                <a:lnTo>
                  <a:pt x="7651" y="267294"/>
                </a:lnTo>
                <a:lnTo>
                  <a:pt x="267366" y="7650"/>
                </a:lnTo>
                <a:lnTo>
                  <a:pt x="259715" y="0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1830" y="1786702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1830" y="1759656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21638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1830" y="1732609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077847" y="2025565"/>
            <a:ext cx="2104390" cy="532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50" b="1" spc="13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操作系</a:t>
            </a:r>
            <a:r>
              <a:rPr sz="3950" b="1" spc="145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统</a:t>
            </a:r>
            <a:endParaRPr sz="3950">
              <a:latin typeface="华文琥珀" panose="02010800040101010101" charset="-122"/>
              <a:cs typeface="华文琥珀" panose="02010800040101010101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60624" y="2025573"/>
            <a:ext cx="4747895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22245" algn="l"/>
              </a:tabLst>
            </a:pP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p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er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g	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endParaRPr sz="4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object 2"/>
          <p:cNvSpPr txBox="1"/>
          <p:nvPr>
            <p:custDataLst>
              <p:tags r:id="rId1"/>
            </p:custDataLst>
          </p:nvPr>
        </p:nvSpPr>
        <p:spPr>
          <a:xfrm>
            <a:off x="672062" y="1406818"/>
            <a:ext cx="339852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ct val="100000"/>
              </a:lnSpc>
            </a:pPr>
            <a:r>
              <a:rPr lang="zh-CN" altLang="en-US" sz="1950" b="1">
                <a:latin typeface="华文隶书" panose="02010800040101010101" charset="-122"/>
                <a:cs typeface="华文隶书" panose="02010800040101010101" charset="-122"/>
              </a:rPr>
              <a:t>苏州大学未来科学与工程学院</a:t>
            </a:r>
            <a:endParaRPr lang="zh-CN" altLang="en-US" sz="1950" b="1">
              <a:latin typeface="华文隶书" panose="02010800040101010101" charset="-122"/>
              <a:cs typeface="华文隶书" panose="02010800040101010101" charset="-122"/>
            </a:endParaRPr>
          </a:p>
        </p:txBody>
      </p:sp>
      <p:sp>
        <p:nvSpPr>
          <p:cNvPr id="25" name="object 25"/>
          <p:cNvSpPr txBox="1"/>
          <p:nvPr>
            <p:custDataLst>
              <p:tags r:id="rId2"/>
            </p:custDataLst>
          </p:nvPr>
        </p:nvSpPr>
        <p:spPr>
          <a:xfrm>
            <a:off x="1155805" y="3092505"/>
            <a:ext cx="8833485" cy="157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ct val="100000"/>
              </a:lnSpc>
            </a:pPr>
            <a:r>
              <a:rPr sz="5600" b="1" spc="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L1</a:t>
            </a:r>
            <a:r>
              <a:rPr sz="5600" b="1" spc="2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3</a:t>
            </a:r>
            <a:r>
              <a:rPr sz="5600" b="1" spc="-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8175" b="1" spc="217" baseline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操作系统的那棵“树</a:t>
            </a:r>
            <a:r>
              <a:rPr sz="8175" b="1" spc="240" baseline="10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”</a:t>
            </a:r>
            <a:endParaRPr sz="8175" baseline="1000">
              <a:latin typeface="黑体" panose="02010609060101010101" charset="-122"/>
              <a:cs typeface="黑体" panose="02010609060101010101" charset="-122"/>
            </a:endParaRPr>
          </a:p>
          <a:p>
            <a:pPr marL="2369820">
              <a:lnSpc>
                <a:spcPct val="100000"/>
              </a:lnSpc>
              <a:spcBef>
                <a:spcPts val="1460"/>
              </a:spcBef>
            </a:pPr>
            <a:r>
              <a:rPr lang="en-US" sz="3400" b="1" dirty="0">
                <a:latin typeface="Times New Roman" panose="02020603050405020304"/>
                <a:cs typeface="Times New Roman" panose="02020603050405020304"/>
              </a:rPr>
              <a:t>       </a:t>
            </a:r>
            <a:r>
              <a:rPr sz="3400" b="1" dirty="0">
                <a:latin typeface="Times New Roman" panose="02020603050405020304"/>
                <a:cs typeface="Times New Roman" panose="02020603050405020304"/>
              </a:rPr>
              <a:t>Th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4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b="1" spc="-254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400" b="1" spc="-6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</a:rPr>
              <a:t>ee </a:t>
            </a:r>
            <a:r>
              <a:rPr sz="3400" b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400" b="1" spc="5" dirty="0">
                <a:latin typeface="Times New Roman" panose="02020603050405020304"/>
                <a:cs typeface="Times New Roman" panose="02020603050405020304"/>
              </a:rPr>
              <a:t> O</a:t>
            </a:r>
            <a:r>
              <a:rPr sz="3400" b="1" dirty="0">
                <a:latin typeface="Times New Roman" panose="02020603050405020304"/>
                <a:cs typeface="Times New Roman" panose="02020603050405020304"/>
              </a:rPr>
              <a:t>S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62387" y="1175456"/>
            <a:ext cx="4323172" cy="503466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3955" y="2483901"/>
            <a:ext cx="1054100" cy="1417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99000"/>
              </a:lnSpc>
            </a:pP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Linux 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K</a:t>
            </a:r>
            <a:r>
              <a:rPr sz="2400" spc="-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rn</a:t>
            </a:r>
            <a:r>
              <a:rPr sz="2400" spc="-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400" spc="-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400" spc="-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400" spc="-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4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400" spc="-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e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5" name="object 5"/>
          <p:cNvSpPr txBox="1"/>
          <p:nvPr/>
        </p:nvSpPr>
        <p:spPr>
          <a:xfrm>
            <a:off x="561195" y="5246893"/>
            <a:ext cx="1396365" cy="220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1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Linus</a:t>
            </a:r>
            <a:r>
              <a:rPr sz="1500" b="1" spc="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b="1" spc="-9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500" b="1" spc="1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1500" b="1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v</a:t>
            </a:r>
            <a:r>
              <a:rPr sz="1500" b="1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500" b="1" spc="1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lds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4194" y="2041472"/>
            <a:ext cx="956310" cy="415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50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IDEA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437697" y="2538589"/>
            <a:ext cx="1947862" cy="194733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125845" y="2603500"/>
            <a:ext cx="2498404" cy="16876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30220">
              <a:lnSpc>
                <a:spcPct val="100000"/>
              </a:lnSpc>
            </a:pPr>
            <a:r>
              <a:rPr sz="2950" spc="100" dirty="0"/>
              <a:t>运转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C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P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U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04186" y="3374336"/>
            <a:ext cx="93345" cy="259715"/>
          </a:xfrm>
          <a:custGeom>
            <a:avLst/>
            <a:gdLst/>
            <a:ahLst/>
            <a:cxnLst/>
            <a:rect l="l" t="t" r="r" b="b"/>
            <a:pathLst>
              <a:path w="93345" h="259714">
                <a:moveTo>
                  <a:pt x="46417" y="259626"/>
                </a:moveTo>
                <a:lnTo>
                  <a:pt x="15405" y="227048"/>
                </a:lnTo>
                <a:lnTo>
                  <a:pt x="3688" y="182893"/>
                </a:lnTo>
                <a:lnTo>
                  <a:pt x="0" y="146673"/>
                </a:lnTo>
                <a:lnTo>
                  <a:pt x="328" y="125411"/>
                </a:lnTo>
                <a:lnTo>
                  <a:pt x="3375" y="86981"/>
                </a:lnTo>
                <a:lnTo>
                  <a:pt x="13089" y="40964"/>
                </a:lnTo>
                <a:lnTo>
                  <a:pt x="33321" y="5221"/>
                </a:lnTo>
                <a:lnTo>
                  <a:pt x="45562" y="0"/>
                </a:lnTo>
                <a:lnTo>
                  <a:pt x="52761" y="1430"/>
                </a:lnTo>
                <a:lnTo>
                  <a:pt x="77237" y="32423"/>
                </a:lnTo>
                <a:lnTo>
                  <a:pt x="89080" y="76407"/>
                </a:lnTo>
                <a:lnTo>
                  <a:pt x="92813" y="112500"/>
                </a:lnTo>
                <a:lnTo>
                  <a:pt x="92491" y="133805"/>
                </a:lnTo>
                <a:lnTo>
                  <a:pt x="89467" y="172296"/>
                </a:lnTo>
                <a:lnTo>
                  <a:pt x="79808" y="218377"/>
                </a:lnTo>
                <a:lnTo>
                  <a:pt x="59670" y="254250"/>
                </a:lnTo>
                <a:lnTo>
                  <a:pt x="46417" y="259626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56580" y="3374318"/>
            <a:ext cx="3394075" cy="259715"/>
          </a:xfrm>
          <a:custGeom>
            <a:avLst/>
            <a:gdLst/>
            <a:ahLst/>
            <a:cxnLst/>
            <a:rect l="l" t="t" r="r" b="b"/>
            <a:pathLst>
              <a:path w="3394075" h="259714">
                <a:moveTo>
                  <a:pt x="3394023" y="259644"/>
                </a:moveTo>
                <a:lnTo>
                  <a:pt x="46417" y="259644"/>
                </a:lnTo>
                <a:lnTo>
                  <a:pt x="39417" y="258202"/>
                </a:lnTo>
                <a:lnTo>
                  <a:pt x="15405" y="227066"/>
                </a:lnTo>
                <a:lnTo>
                  <a:pt x="3688" y="182910"/>
                </a:lnTo>
                <a:lnTo>
                  <a:pt x="0" y="146691"/>
                </a:lnTo>
                <a:lnTo>
                  <a:pt x="328" y="125429"/>
                </a:lnTo>
                <a:lnTo>
                  <a:pt x="3375" y="86998"/>
                </a:lnTo>
                <a:lnTo>
                  <a:pt x="13089" y="40982"/>
                </a:lnTo>
                <a:lnTo>
                  <a:pt x="33321" y="5239"/>
                </a:lnTo>
                <a:lnTo>
                  <a:pt x="45562" y="17"/>
                </a:lnTo>
                <a:lnTo>
                  <a:pt x="3394023" y="0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08463" y="2536306"/>
            <a:ext cx="743685" cy="84207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60716" y="2831782"/>
            <a:ext cx="731188" cy="5465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957127" y="2205918"/>
            <a:ext cx="2143125" cy="2708910"/>
          </a:xfrm>
          <a:prstGeom prst="rect">
            <a:avLst/>
          </a:prstGeom>
          <a:ln w="8115">
            <a:solidFill>
              <a:srgbClr val="0000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239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50: 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mo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v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a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x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,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[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100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]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 marL="72390" marR="96520">
              <a:lnSpc>
                <a:spcPct val="150000"/>
              </a:lnSpc>
            </a:pPr>
            <a:r>
              <a:rPr sz="1700" b="1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51: 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mo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v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b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x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,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[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101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]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52: 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a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d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d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ax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,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 b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x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 marL="76200" indent="59055">
              <a:lnSpc>
                <a:spcPct val="100000"/>
              </a:lnSpc>
              <a:spcBef>
                <a:spcPts val="1025"/>
              </a:spcBef>
            </a:pPr>
            <a:r>
              <a:rPr sz="1700" b="1" dirty="0">
                <a:latin typeface="Tahoma" panose="020B0604030504040204"/>
                <a:cs typeface="Tahoma" panose="020B0604030504040204"/>
              </a:rPr>
              <a:t>……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50">
              <a:latin typeface="Times New Roman" panose="02020603050405020304"/>
              <a:cs typeface="Times New Roman" panose="02020603050405020304"/>
            </a:endParaRPr>
          </a:p>
          <a:p>
            <a:pPr marL="762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100: 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0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 marL="72390">
              <a:lnSpc>
                <a:spcPct val="100000"/>
              </a:lnSpc>
              <a:spcBef>
                <a:spcPts val="1025"/>
              </a:spcBef>
            </a:pPr>
            <a:r>
              <a:rPr sz="1700" b="1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101: 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1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65191" y="2725207"/>
            <a:ext cx="0" cy="519430"/>
          </a:xfrm>
          <a:custGeom>
            <a:avLst/>
            <a:gdLst/>
            <a:ahLst/>
            <a:cxnLst/>
            <a:rect l="l" t="t" r="r" b="b"/>
            <a:pathLst>
              <a:path h="519430">
                <a:moveTo>
                  <a:pt x="0" y="0"/>
                </a:moveTo>
                <a:lnTo>
                  <a:pt x="0" y="519288"/>
                </a:lnTo>
              </a:path>
            </a:pathLst>
          </a:custGeom>
          <a:ln w="243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165191" y="3207985"/>
            <a:ext cx="1819910" cy="73025"/>
          </a:xfrm>
          <a:custGeom>
            <a:avLst/>
            <a:gdLst/>
            <a:ahLst/>
            <a:cxnLst/>
            <a:rect l="l" t="t" r="r" b="b"/>
            <a:pathLst>
              <a:path w="1819910" h="73025">
                <a:moveTo>
                  <a:pt x="0" y="24340"/>
                </a:moveTo>
                <a:lnTo>
                  <a:pt x="0" y="48682"/>
                </a:lnTo>
                <a:lnTo>
                  <a:pt x="1746313" y="48682"/>
                </a:lnTo>
                <a:lnTo>
                  <a:pt x="1746313" y="73025"/>
                </a:lnTo>
                <a:lnTo>
                  <a:pt x="1819357" y="36512"/>
                </a:lnTo>
                <a:lnTo>
                  <a:pt x="1795010" y="24342"/>
                </a:lnTo>
                <a:lnTo>
                  <a:pt x="0" y="24340"/>
                </a:lnTo>
                <a:close/>
              </a:path>
              <a:path w="1819910" h="73025">
                <a:moveTo>
                  <a:pt x="1746313" y="0"/>
                </a:moveTo>
                <a:lnTo>
                  <a:pt x="1746313" y="24342"/>
                </a:lnTo>
                <a:lnTo>
                  <a:pt x="1795010" y="24342"/>
                </a:lnTo>
                <a:lnTo>
                  <a:pt x="17463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425192" y="2860584"/>
            <a:ext cx="969644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=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5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97412" y="2400653"/>
            <a:ext cx="259715" cy="1905"/>
          </a:xfrm>
          <a:custGeom>
            <a:avLst/>
            <a:gdLst/>
            <a:ahLst/>
            <a:cxnLst/>
            <a:rect l="l" t="t" r="r" b="b"/>
            <a:pathLst>
              <a:path w="259714" h="1905">
                <a:moveTo>
                  <a:pt x="0" y="0"/>
                </a:moveTo>
                <a:lnTo>
                  <a:pt x="259715" y="1352"/>
                </a:lnTo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69539" y="2401987"/>
            <a:ext cx="112395" cy="1947545"/>
          </a:xfrm>
          <a:custGeom>
            <a:avLst/>
            <a:gdLst/>
            <a:ahLst/>
            <a:cxnLst/>
            <a:rect l="l" t="t" r="r" b="b"/>
            <a:pathLst>
              <a:path w="112395" h="1947545">
                <a:moveTo>
                  <a:pt x="13596" y="1836267"/>
                </a:moveTo>
                <a:lnTo>
                  <a:pt x="1972" y="1843025"/>
                </a:lnTo>
                <a:lnTo>
                  <a:pt x="0" y="1850475"/>
                </a:lnTo>
                <a:lnTo>
                  <a:pt x="56379" y="1947406"/>
                </a:lnTo>
                <a:lnTo>
                  <a:pt x="96860" y="1878249"/>
                </a:lnTo>
                <a:lnTo>
                  <a:pt x="68648" y="1878249"/>
                </a:lnTo>
                <a:lnTo>
                  <a:pt x="44300" y="1878216"/>
                </a:lnTo>
                <a:lnTo>
                  <a:pt x="21048" y="1838239"/>
                </a:lnTo>
                <a:lnTo>
                  <a:pt x="13596" y="1836267"/>
                </a:lnTo>
                <a:close/>
              </a:path>
              <a:path w="112395" h="1947545">
                <a:moveTo>
                  <a:pt x="99468" y="1836386"/>
                </a:moveTo>
                <a:lnTo>
                  <a:pt x="92011" y="1838337"/>
                </a:lnTo>
                <a:lnTo>
                  <a:pt x="68648" y="1878249"/>
                </a:lnTo>
                <a:lnTo>
                  <a:pt x="96860" y="1878249"/>
                </a:lnTo>
                <a:lnTo>
                  <a:pt x="110479" y="1854983"/>
                </a:lnTo>
                <a:lnTo>
                  <a:pt x="110994" y="1853429"/>
                </a:lnTo>
                <a:lnTo>
                  <a:pt x="111809" y="1847157"/>
                </a:lnTo>
                <a:lnTo>
                  <a:pt x="109623" y="1842328"/>
                </a:lnTo>
                <a:lnTo>
                  <a:pt x="99468" y="1836386"/>
                </a:lnTo>
                <a:close/>
              </a:path>
              <a:path w="112395" h="1947545">
                <a:moveTo>
                  <a:pt x="46909" y="0"/>
                </a:moveTo>
                <a:lnTo>
                  <a:pt x="44300" y="1878216"/>
                </a:lnTo>
                <a:lnTo>
                  <a:pt x="68648" y="1878216"/>
                </a:lnTo>
                <a:lnTo>
                  <a:pt x="71258" y="34"/>
                </a:lnTo>
                <a:lnTo>
                  <a:pt x="469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51075">
              <a:lnSpc>
                <a:spcPct val="100000"/>
              </a:lnSpc>
            </a:pPr>
            <a:r>
              <a:rPr sz="3050" spc="10" dirty="0">
                <a:latin typeface="Arial" panose="020B0604020202020204"/>
                <a:cs typeface="Arial" panose="020B0604020202020204"/>
              </a:rPr>
              <a:t>C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P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U</a:t>
            </a:r>
            <a:r>
              <a:rPr sz="2950" spc="100" dirty="0"/>
              <a:t>没有好好运转</a:t>
            </a:r>
            <a:endParaRPr sz="2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10689" y="2214032"/>
            <a:ext cx="259715" cy="1905"/>
          </a:xfrm>
          <a:custGeom>
            <a:avLst/>
            <a:gdLst/>
            <a:ahLst/>
            <a:cxnLst/>
            <a:rect l="l" t="t" r="r" b="b"/>
            <a:pathLst>
              <a:path w="259714" h="1905">
                <a:moveTo>
                  <a:pt x="0" y="0"/>
                </a:moveTo>
                <a:lnTo>
                  <a:pt x="259715" y="1352"/>
                </a:lnTo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82796" y="2214018"/>
            <a:ext cx="112395" cy="2288540"/>
          </a:xfrm>
          <a:custGeom>
            <a:avLst/>
            <a:gdLst/>
            <a:ahLst/>
            <a:cxnLst/>
            <a:rect l="l" t="t" r="r" b="b"/>
            <a:pathLst>
              <a:path w="112394" h="2288540">
                <a:moveTo>
                  <a:pt x="13594" y="2177056"/>
                </a:moveTo>
                <a:lnTo>
                  <a:pt x="1971" y="2183817"/>
                </a:lnTo>
                <a:lnTo>
                  <a:pt x="0" y="2191266"/>
                </a:lnTo>
                <a:lnTo>
                  <a:pt x="56398" y="2288186"/>
                </a:lnTo>
                <a:lnTo>
                  <a:pt x="96861" y="2219027"/>
                </a:lnTo>
                <a:lnTo>
                  <a:pt x="68654" y="2219027"/>
                </a:lnTo>
                <a:lnTo>
                  <a:pt x="44306" y="2218998"/>
                </a:lnTo>
                <a:lnTo>
                  <a:pt x="21046" y="2179026"/>
                </a:lnTo>
                <a:lnTo>
                  <a:pt x="13594" y="2177056"/>
                </a:lnTo>
                <a:close/>
              </a:path>
              <a:path w="112394" h="2288540">
                <a:moveTo>
                  <a:pt x="99466" y="2177158"/>
                </a:moveTo>
                <a:lnTo>
                  <a:pt x="92008" y="2179110"/>
                </a:lnTo>
                <a:lnTo>
                  <a:pt x="68654" y="2219027"/>
                </a:lnTo>
                <a:lnTo>
                  <a:pt x="96861" y="2219027"/>
                </a:lnTo>
                <a:lnTo>
                  <a:pt x="110479" y="2195752"/>
                </a:lnTo>
                <a:lnTo>
                  <a:pt x="110994" y="2194198"/>
                </a:lnTo>
                <a:lnTo>
                  <a:pt x="111809" y="2187926"/>
                </a:lnTo>
                <a:lnTo>
                  <a:pt x="109622" y="2183096"/>
                </a:lnTo>
                <a:lnTo>
                  <a:pt x="99466" y="2177158"/>
                </a:lnTo>
                <a:close/>
              </a:path>
              <a:path w="112394" h="2288540">
                <a:moveTo>
                  <a:pt x="46930" y="0"/>
                </a:moveTo>
                <a:lnTo>
                  <a:pt x="44306" y="2218998"/>
                </a:lnTo>
                <a:lnTo>
                  <a:pt x="68654" y="2218998"/>
                </a:lnTo>
                <a:lnTo>
                  <a:pt x="71278" y="27"/>
                </a:lnTo>
                <a:lnTo>
                  <a:pt x="469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970404" y="2019300"/>
            <a:ext cx="3246755" cy="3700145"/>
          </a:xfrm>
          <a:custGeom>
            <a:avLst/>
            <a:gdLst/>
            <a:ahLst/>
            <a:cxnLst/>
            <a:rect l="l" t="t" r="r" b="b"/>
            <a:pathLst>
              <a:path w="3246754" h="3700145">
                <a:moveTo>
                  <a:pt x="0" y="3699932"/>
                </a:moveTo>
                <a:lnTo>
                  <a:pt x="3246437" y="3699932"/>
                </a:lnTo>
                <a:lnTo>
                  <a:pt x="3246437" y="0"/>
                </a:lnTo>
                <a:lnTo>
                  <a:pt x="0" y="0"/>
                </a:lnTo>
                <a:lnTo>
                  <a:pt x="0" y="36999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970404" y="2019300"/>
            <a:ext cx="3246755" cy="3700145"/>
          </a:xfrm>
          <a:custGeom>
            <a:avLst/>
            <a:gdLst/>
            <a:ahLst/>
            <a:cxnLst/>
            <a:rect l="l" t="t" r="r" b="b"/>
            <a:pathLst>
              <a:path w="3246754" h="3700145">
                <a:moveTo>
                  <a:pt x="0" y="0"/>
                </a:moveTo>
                <a:lnTo>
                  <a:pt x="3246437" y="0"/>
                </a:lnTo>
                <a:lnTo>
                  <a:pt x="3246437" y="3699933"/>
                </a:lnTo>
                <a:lnTo>
                  <a:pt x="0" y="3699933"/>
                </a:lnTo>
                <a:lnTo>
                  <a:pt x="0" y="0"/>
                </a:lnTo>
                <a:close/>
              </a:path>
            </a:pathLst>
          </a:custGeom>
          <a:ln w="8115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100548" y="2143424"/>
            <a:ext cx="3090545" cy="3373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10" dirty="0">
                <a:latin typeface="Tahoma" panose="020B0604030504040204"/>
                <a:cs typeface="Tahoma" panose="020B0604030504040204"/>
              </a:rPr>
              <a:t>in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t</a:t>
            </a:r>
            <a:r>
              <a:rPr sz="15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25" dirty="0">
                <a:latin typeface="Tahoma" panose="020B0604030504040204"/>
                <a:cs typeface="Tahoma" panose="020B0604030504040204"/>
              </a:rPr>
              <a:t>m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a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in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(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in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t</a:t>
            </a:r>
            <a:r>
              <a:rPr sz="15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a</a:t>
            </a:r>
            <a:r>
              <a:rPr sz="1500" b="1" spc="5" dirty="0">
                <a:latin typeface="Tahoma" panose="020B0604030504040204"/>
                <a:cs typeface="Tahoma" panose="020B0604030504040204"/>
              </a:rPr>
              <a:t>r</a:t>
            </a:r>
            <a:r>
              <a:rPr sz="1500" b="1" spc="20" dirty="0">
                <a:latin typeface="Tahoma" panose="020B0604030504040204"/>
                <a:cs typeface="Tahoma" panose="020B0604030504040204"/>
              </a:rPr>
              <a:t>g</a:t>
            </a:r>
            <a:r>
              <a:rPr sz="1500" b="1" spc="15" dirty="0">
                <a:latin typeface="Tahoma" panose="020B0604030504040204"/>
                <a:cs typeface="Tahoma" panose="020B0604030504040204"/>
              </a:rPr>
              <a:t>c</a:t>
            </a:r>
            <a:r>
              <a:rPr sz="1500" b="1" spc="5" dirty="0">
                <a:latin typeface="Tahoma" panose="020B0604030504040204"/>
                <a:cs typeface="Tahoma" panose="020B0604030504040204"/>
              </a:rPr>
              <a:t>,</a:t>
            </a:r>
            <a:r>
              <a:rPr sz="15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15" dirty="0">
                <a:latin typeface="Tahoma" panose="020B0604030504040204"/>
                <a:cs typeface="Tahoma" panose="020B0604030504040204"/>
              </a:rPr>
              <a:t>c</a:t>
            </a:r>
            <a:r>
              <a:rPr sz="1500" b="1" spc="15" dirty="0">
                <a:latin typeface="Tahoma" panose="020B0604030504040204"/>
                <a:cs typeface="Tahoma" panose="020B0604030504040204"/>
              </a:rPr>
              <a:t>h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ar</a:t>
            </a:r>
            <a:r>
              <a:rPr sz="1500" b="1" spc="20" dirty="0">
                <a:latin typeface="Tahoma" panose="020B0604030504040204"/>
                <a:cs typeface="Tahoma" panose="020B0604030504040204"/>
              </a:rPr>
              <a:t>*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a</a:t>
            </a:r>
            <a:r>
              <a:rPr sz="1500" b="1" spc="5" dirty="0">
                <a:latin typeface="Tahoma" panose="020B0604030504040204"/>
                <a:cs typeface="Tahoma" panose="020B0604030504040204"/>
              </a:rPr>
              <a:t>r</a:t>
            </a:r>
            <a:r>
              <a:rPr sz="1500" b="1" spc="20" dirty="0">
                <a:latin typeface="Tahoma" panose="020B0604030504040204"/>
                <a:cs typeface="Tahoma" panose="020B0604030504040204"/>
              </a:rPr>
              <a:t>g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v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[]</a:t>
            </a:r>
            <a:r>
              <a:rPr sz="1500" b="1" spc="15" dirty="0">
                <a:latin typeface="Tahoma" panose="020B0604030504040204"/>
                <a:cs typeface="Tahoma" panose="020B0604030504040204"/>
              </a:rPr>
              <a:t>)</a:t>
            </a:r>
            <a:endParaRPr sz="15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500" b="1" spc="20" dirty="0">
                <a:latin typeface="Tahoma" panose="020B0604030504040204"/>
                <a:cs typeface="Tahoma" panose="020B0604030504040204"/>
              </a:rPr>
              <a:t>{</a:t>
            </a:r>
            <a:endParaRPr sz="1500">
              <a:latin typeface="Tahoma" panose="020B0604030504040204"/>
              <a:cs typeface="Tahoma" panose="020B0604030504040204"/>
            </a:endParaRPr>
          </a:p>
          <a:p>
            <a:pPr marL="296545" marR="539115">
              <a:lnSpc>
                <a:spcPts val="2770"/>
              </a:lnSpc>
              <a:spcBef>
                <a:spcPts val="215"/>
              </a:spcBef>
            </a:pPr>
            <a:r>
              <a:rPr sz="1500" b="1" spc="10" dirty="0">
                <a:latin typeface="Tahoma" panose="020B0604030504040204"/>
                <a:cs typeface="Tahoma" panose="020B0604030504040204"/>
              </a:rPr>
              <a:t>in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t</a:t>
            </a:r>
            <a:r>
              <a:rPr sz="1500" b="1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5" dirty="0">
                <a:latin typeface="Tahoma" panose="020B0604030504040204"/>
                <a:cs typeface="Tahoma" panose="020B0604030504040204"/>
              </a:rPr>
              <a:t>i</a:t>
            </a:r>
            <a:r>
              <a:rPr sz="1500" b="1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5" dirty="0">
                <a:latin typeface="Tahoma" panose="020B0604030504040204"/>
                <a:cs typeface="Tahoma" panose="020B0604030504040204"/>
              </a:rPr>
              <a:t>,</a:t>
            </a:r>
            <a:r>
              <a:rPr sz="15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t</a:t>
            </a:r>
            <a:r>
              <a:rPr sz="1500" b="1" spc="20" dirty="0">
                <a:latin typeface="Tahoma" panose="020B0604030504040204"/>
                <a:cs typeface="Tahoma" panose="020B0604030504040204"/>
              </a:rPr>
              <a:t>o</a:t>
            </a:r>
            <a:r>
              <a:rPr sz="1500" b="1" spc="5" dirty="0">
                <a:latin typeface="Tahoma" panose="020B0604030504040204"/>
                <a:cs typeface="Tahoma" panose="020B0604030504040204"/>
              </a:rPr>
              <a:t>,</a:t>
            </a:r>
            <a:r>
              <a:rPr sz="15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20" dirty="0">
                <a:latin typeface="Tahoma" panose="020B0604030504040204"/>
                <a:cs typeface="Tahoma" panose="020B0604030504040204"/>
              </a:rPr>
              <a:t>*</a:t>
            </a:r>
            <a:r>
              <a:rPr sz="1500" b="1" spc="5" dirty="0">
                <a:latin typeface="Tahoma" panose="020B0604030504040204"/>
                <a:cs typeface="Tahoma" panose="020B0604030504040204"/>
              </a:rPr>
              <a:t>f</a:t>
            </a:r>
            <a:r>
              <a:rPr sz="1500" b="1" spc="20" dirty="0">
                <a:latin typeface="Tahoma" panose="020B0604030504040204"/>
                <a:cs typeface="Tahoma" panose="020B0604030504040204"/>
              </a:rPr>
              <a:t>p</a:t>
            </a:r>
            <a:r>
              <a:rPr sz="1500" b="1" spc="5" dirty="0">
                <a:latin typeface="Tahoma" panose="020B0604030504040204"/>
                <a:cs typeface="Tahoma" panose="020B0604030504040204"/>
              </a:rPr>
              <a:t>,</a:t>
            </a:r>
            <a:r>
              <a:rPr sz="15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s</a:t>
            </a:r>
            <a:r>
              <a:rPr sz="1500" b="1" spc="15" dirty="0">
                <a:latin typeface="Tahoma" panose="020B0604030504040204"/>
                <a:cs typeface="Tahoma" panose="020B0604030504040204"/>
              </a:rPr>
              <a:t>u</a:t>
            </a:r>
            <a:r>
              <a:rPr sz="1500" b="1" spc="30" dirty="0">
                <a:latin typeface="Tahoma" panose="020B0604030504040204"/>
                <a:cs typeface="Tahoma" panose="020B0604030504040204"/>
              </a:rPr>
              <a:t>m</a:t>
            </a:r>
            <a:r>
              <a:rPr sz="1500" b="1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25" dirty="0">
                <a:latin typeface="Tahoma" panose="020B0604030504040204"/>
                <a:cs typeface="Tahoma" panose="020B0604030504040204"/>
              </a:rPr>
              <a:t>=</a:t>
            </a:r>
            <a:r>
              <a:rPr sz="15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20" dirty="0">
                <a:latin typeface="Tahoma" panose="020B0604030504040204"/>
                <a:cs typeface="Tahoma" panose="020B0604030504040204"/>
              </a:rPr>
              <a:t>0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;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15" dirty="0">
                <a:latin typeface="Tahoma" panose="020B0604030504040204"/>
                <a:cs typeface="Tahoma" panose="020B0604030504040204"/>
              </a:rPr>
              <a:t>to</a:t>
            </a:r>
            <a:r>
              <a:rPr sz="15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25" dirty="0">
                <a:latin typeface="Tahoma" panose="020B0604030504040204"/>
                <a:cs typeface="Tahoma" panose="020B0604030504040204"/>
              </a:rPr>
              <a:t>=</a:t>
            </a:r>
            <a:r>
              <a:rPr sz="15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a</a:t>
            </a:r>
            <a:r>
              <a:rPr sz="1500" b="1" spc="15" dirty="0">
                <a:latin typeface="Tahoma" panose="020B0604030504040204"/>
                <a:cs typeface="Tahoma" panose="020B0604030504040204"/>
              </a:rPr>
              <a:t>to</a:t>
            </a:r>
            <a:r>
              <a:rPr sz="1500" b="1" spc="-5" dirty="0">
                <a:latin typeface="Tahoma" panose="020B0604030504040204"/>
                <a:cs typeface="Tahoma" panose="020B0604030504040204"/>
              </a:rPr>
              <a:t>i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(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a</a:t>
            </a:r>
            <a:r>
              <a:rPr sz="1500" b="1" spc="5" dirty="0">
                <a:latin typeface="Tahoma" panose="020B0604030504040204"/>
                <a:cs typeface="Tahoma" panose="020B0604030504040204"/>
              </a:rPr>
              <a:t>r</a:t>
            </a:r>
            <a:r>
              <a:rPr sz="1500" b="1" spc="20" dirty="0">
                <a:latin typeface="Tahoma" panose="020B0604030504040204"/>
                <a:cs typeface="Tahoma" panose="020B0604030504040204"/>
              </a:rPr>
              <a:t>g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v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[</a:t>
            </a:r>
            <a:r>
              <a:rPr sz="1500" b="1" spc="20" dirty="0">
                <a:latin typeface="Tahoma" panose="020B0604030504040204"/>
                <a:cs typeface="Tahoma" panose="020B0604030504040204"/>
              </a:rPr>
              <a:t>1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])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;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5" dirty="0">
                <a:latin typeface="Tahoma" panose="020B0604030504040204"/>
                <a:cs typeface="Tahoma" panose="020B0604030504040204"/>
              </a:rPr>
              <a:t>f</a:t>
            </a:r>
            <a:r>
              <a:rPr sz="1500" b="1" spc="20" dirty="0">
                <a:latin typeface="Tahoma" panose="020B0604030504040204"/>
                <a:cs typeface="Tahoma" panose="020B0604030504040204"/>
              </a:rPr>
              <a:t>o</a:t>
            </a:r>
            <a:r>
              <a:rPr sz="1500" b="1" spc="5" dirty="0">
                <a:latin typeface="Tahoma" panose="020B0604030504040204"/>
                <a:cs typeface="Tahoma" panose="020B0604030504040204"/>
              </a:rPr>
              <a:t>r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(</a:t>
            </a:r>
            <a:r>
              <a:rPr sz="1500" b="1" dirty="0">
                <a:latin typeface="Tahoma" panose="020B0604030504040204"/>
                <a:cs typeface="Tahoma" panose="020B0604030504040204"/>
              </a:rPr>
              <a:t>i</a:t>
            </a:r>
            <a:r>
              <a:rPr sz="1500" b="1" spc="25" dirty="0">
                <a:latin typeface="Tahoma" panose="020B0604030504040204"/>
                <a:cs typeface="Tahoma" panose="020B0604030504040204"/>
              </a:rPr>
              <a:t>=</a:t>
            </a:r>
            <a:r>
              <a:rPr sz="1500" b="1" spc="20" dirty="0">
                <a:latin typeface="Tahoma" panose="020B0604030504040204"/>
                <a:cs typeface="Tahoma" panose="020B0604030504040204"/>
              </a:rPr>
              <a:t>1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;</a:t>
            </a:r>
            <a:r>
              <a:rPr sz="1500" b="1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dirty="0">
                <a:latin typeface="Tahoma" panose="020B0604030504040204"/>
                <a:cs typeface="Tahoma" panose="020B0604030504040204"/>
              </a:rPr>
              <a:t>i</a:t>
            </a:r>
            <a:r>
              <a:rPr sz="1500" b="1" spc="25" dirty="0">
                <a:latin typeface="Tahoma" panose="020B0604030504040204"/>
                <a:cs typeface="Tahoma" panose="020B0604030504040204"/>
              </a:rPr>
              <a:t>&lt;=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t</a:t>
            </a:r>
            <a:r>
              <a:rPr sz="1500" b="1" spc="20" dirty="0">
                <a:latin typeface="Tahoma" panose="020B0604030504040204"/>
                <a:cs typeface="Tahoma" panose="020B0604030504040204"/>
              </a:rPr>
              <a:t>o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;</a:t>
            </a:r>
            <a:r>
              <a:rPr sz="1500" b="1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dirty="0">
                <a:latin typeface="Tahoma" panose="020B0604030504040204"/>
                <a:cs typeface="Tahoma" panose="020B0604030504040204"/>
              </a:rPr>
              <a:t>i</a:t>
            </a:r>
            <a:r>
              <a:rPr sz="1500" b="1" spc="25" dirty="0">
                <a:latin typeface="Tahoma" panose="020B0604030504040204"/>
                <a:cs typeface="Tahoma" panose="020B0604030504040204"/>
              </a:rPr>
              <a:t>++</a:t>
            </a:r>
            <a:r>
              <a:rPr sz="1500" b="1" spc="15" dirty="0">
                <a:latin typeface="Tahoma" panose="020B0604030504040204"/>
                <a:cs typeface="Tahoma" panose="020B0604030504040204"/>
              </a:rPr>
              <a:t>)</a:t>
            </a:r>
            <a:endParaRPr sz="1500">
              <a:latin typeface="Tahoma" panose="020B0604030504040204"/>
              <a:cs typeface="Tahoma" panose="020B0604030504040204"/>
            </a:endParaRPr>
          </a:p>
          <a:p>
            <a:pPr marL="296545">
              <a:lnSpc>
                <a:spcPct val="100000"/>
              </a:lnSpc>
              <a:spcBef>
                <a:spcPts val="710"/>
              </a:spcBef>
            </a:pPr>
            <a:r>
              <a:rPr sz="1500" b="1" spc="20" dirty="0">
                <a:latin typeface="Tahoma" panose="020B0604030504040204"/>
                <a:cs typeface="Tahoma" panose="020B0604030504040204"/>
              </a:rPr>
              <a:t>{</a:t>
            </a:r>
            <a:endParaRPr sz="1500">
              <a:latin typeface="Tahoma" panose="020B0604030504040204"/>
              <a:cs typeface="Tahoma" panose="020B0604030504040204"/>
            </a:endParaRPr>
          </a:p>
          <a:p>
            <a:pPr marL="580390" marR="303530">
              <a:lnSpc>
                <a:spcPct val="152000"/>
              </a:lnSpc>
              <a:spcBef>
                <a:spcPts val="30"/>
              </a:spcBef>
            </a:pPr>
            <a:r>
              <a:rPr sz="1500" b="1" spc="10" dirty="0">
                <a:latin typeface="Tahoma" panose="020B0604030504040204"/>
                <a:cs typeface="Tahoma" panose="020B0604030504040204"/>
              </a:rPr>
              <a:t>su</a:t>
            </a:r>
            <a:r>
              <a:rPr sz="1500" b="1" spc="30" dirty="0">
                <a:latin typeface="Tahoma" panose="020B0604030504040204"/>
                <a:cs typeface="Tahoma" panose="020B0604030504040204"/>
              </a:rPr>
              <a:t>m</a:t>
            </a:r>
            <a:r>
              <a:rPr sz="1500" b="1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25" dirty="0">
                <a:latin typeface="Tahoma" panose="020B0604030504040204"/>
                <a:cs typeface="Tahoma" panose="020B0604030504040204"/>
              </a:rPr>
              <a:t>=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su</a:t>
            </a:r>
            <a:r>
              <a:rPr sz="1500" b="1" spc="30" dirty="0">
                <a:latin typeface="Tahoma" panose="020B0604030504040204"/>
                <a:cs typeface="Tahoma" panose="020B0604030504040204"/>
              </a:rPr>
              <a:t>m</a:t>
            </a:r>
            <a:r>
              <a:rPr sz="1500" b="1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25" dirty="0">
                <a:latin typeface="Tahoma" panose="020B0604030504040204"/>
                <a:cs typeface="Tahoma" panose="020B0604030504040204"/>
              </a:rPr>
              <a:t>+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dirty="0">
                <a:latin typeface="Tahoma" panose="020B0604030504040204"/>
                <a:cs typeface="Tahoma" panose="020B0604030504040204"/>
              </a:rPr>
              <a:t>i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;</a:t>
            </a:r>
            <a:r>
              <a:rPr sz="1500" b="1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f</a:t>
            </a:r>
            <a:r>
              <a:rPr sz="1500" b="1" spc="20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p</a:t>
            </a:r>
            <a:r>
              <a:rPr sz="1500" b="1" spc="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r</a:t>
            </a:r>
            <a:r>
              <a:rPr sz="1500" b="1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i</a:t>
            </a:r>
            <a:r>
              <a:rPr sz="1500" b="1" spc="1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n</a:t>
            </a:r>
            <a:r>
              <a:rPr sz="1500" b="1" spc="10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t</a:t>
            </a:r>
            <a:r>
              <a:rPr sz="1500" b="1" spc="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f(</a:t>
            </a:r>
            <a:r>
              <a:rPr sz="1500" b="1" spc="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f</a:t>
            </a:r>
            <a:r>
              <a:rPr sz="1500" b="1" spc="20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p</a:t>
            </a:r>
            <a:r>
              <a:rPr sz="1500" b="1" spc="10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,</a:t>
            </a:r>
            <a:r>
              <a:rPr sz="1500" b="1" spc="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“</a:t>
            </a:r>
            <a:r>
              <a:rPr sz="1500" b="1" spc="3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%</a:t>
            </a:r>
            <a:r>
              <a:rPr sz="1500" b="1" spc="20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d</a:t>
            </a:r>
            <a:r>
              <a:rPr sz="1500" b="1" spc="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”</a:t>
            </a:r>
            <a:r>
              <a:rPr sz="1500" b="1" spc="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,</a:t>
            </a:r>
            <a:r>
              <a:rPr sz="1500" b="1" spc="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b="1" spc="10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s</a:t>
            </a:r>
            <a:r>
              <a:rPr sz="1500" b="1" spc="1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u</a:t>
            </a:r>
            <a:r>
              <a:rPr sz="1500" b="1" spc="2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m</a:t>
            </a:r>
            <a:r>
              <a:rPr sz="1500" b="1" spc="10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)</a:t>
            </a:r>
            <a:r>
              <a:rPr sz="1500" b="1" spc="10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;</a:t>
            </a:r>
            <a:endParaRPr sz="1500">
              <a:latin typeface="Tahoma" panose="020B0604030504040204"/>
              <a:cs typeface="Tahoma" panose="020B0604030504040204"/>
            </a:endParaRPr>
          </a:p>
          <a:p>
            <a:pPr marL="353060">
              <a:lnSpc>
                <a:spcPct val="100000"/>
              </a:lnSpc>
              <a:spcBef>
                <a:spcPts val="965"/>
              </a:spcBef>
            </a:pPr>
            <a:r>
              <a:rPr sz="1500" b="1" spc="20" dirty="0">
                <a:latin typeface="Tahoma" panose="020B0604030504040204"/>
                <a:cs typeface="Tahoma" panose="020B0604030504040204"/>
              </a:rPr>
              <a:t>}</a:t>
            </a:r>
            <a:endParaRPr sz="15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500" b="1" spc="20" dirty="0">
                <a:latin typeface="Tahoma" panose="020B0604030504040204"/>
                <a:cs typeface="Tahoma" panose="020B0604030504040204"/>
              </a:rPr>
              <a:t>}</a:t>
            </a:r>
            <a:endParaRPr sz="15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90960" y="3178950"/>
            <a:ext cx="1092835" cy="60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3000"/>
              </a:lnSpc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U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工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作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了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10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毫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秒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96651" y="2149121"/>
            <a:ext cx="584835" cy="1905"/>
          </a:xfrm>
          <a:custGeom>
            <a:avLst/>
            <a:gdLst/>
            <a:ahLst/>
            <a:cxnLst/>
            <a:rect l="l" t="t" r="r" b="b"/>
            <a:pathLst>
              <a:path w="584835" h="1905">
                <a:moveTo>
                  <a:pt x="0" y="0"/>
                </a:moveTo>
                <a:lnTo>
                  <a:pt x="584358" y="1352"/>
                </a:lnTo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479502" y="4514320"/>
            <a:ext cx="722630" cy="74295"/>
          </a:xfrm>
          <a:custGeom>
            <a:avLst/>
            <a:gdLst/>
            <a:ahLst/>
            <a:cxnLst/>
            <a:rect l="l" t="t" r="r" b="b"/>
            <a:pathLst>
              <a:path w="722630" h="74295">
                <a:moveTo>
                  <a:pt x="719781" y="48755"/>
                </a:moveTo>
                <a:lnTo>
                  <a:pt x="70439" y="48755"/>
                </a:lnTo>
                <a:lnTo>
                  <a:pt x="651599" y="49965"/>
                </a:lnTo>
                <a:lnTo>
                  <a:pt x="654342" y="56603"/>
                </a:lnTo>
                <a:lnTo>
                  <a:pt x="662568" y="65916"/>
                </a:lnTo>
                <a:lnTo>
                  <a:pt x="674244" y="72063"/>
                </a:lnTo>
                <a:lnTo>
                  <a:pt x="689098" y="74220"/>
                </a:lnTo>
                <a:lnTo>
                  <a:pt x="702085" y="70421"/>
                </a:lnTo>
                <a:lnTo>
                  <a:pt x="712574" y="62104"/>
                </a:lnTo>
                <a:lnTo>
                  <a:pt x="719573" y="50007"/>
                </a:lnTo>
                <a:lnTo>
                  <a:pt x="719781" y="48755"/>
                </a:lnTo>
                <a:close/>
              </a:path>
              <a:path w="722630" h="74295">
                <a:moveTo>
                  <a:pt x="36477" y="0"/>
                </a:moveTo>
                <a:lnTo>
                  <a:pt x="2516" y="24370"/>
                </a:lnTo>
                <a:lnTo>
                  <a:pt x="0" y="39508"/>
                </a:lnTo>
                <a:lnTo>
                  <a:pt x="3688" y="52640"/>
                </a:lnTo>
                <a:lnTo>
                  <a:pt x="11930" y="63264"/>
                </a:lnTo>
                <a:lnTo>
                  <a:pt x="23930" y="70368"/>
                </a:lnTo>
                <a:lnTo>
                  <a:pt x="38892" y="72941"/>
                </a:lnTo>
                <a:lnTo>
                  <a:pt x="52026" y="69524"/>
                </a:lnTo>
                <a:lnTo>
                  <a:pt x="62732" y="61814"/>
                </a:lnTo>
                <a:lnTo>
                  <a:pt x="70023" y="50794"/>
                </a:lnTo>
                <a:lnTo>
                  <a:pt x="70439" y="48755"/>
                </a:lnTo>
                <a:lnTo>
                  <a:pt x="719781" y="48755"/>
                </a:lnTo>
                <a:lnTo>
                  <a:pt x="722089" y="34868"/>
                </a:lnTo>
                <a:lnTo>
                  <a:pt x="719493" y="25623"/>
                </a:lnTo>
                <a:lnTo>
                  <a:pt x="651650" y="25623"/>
                </a:lnTo>
                <a:lnTo>
                  <a:pt x="70490" y="24413"/>
                </a:lnTo>
                <a:lnTo>
                  <a:pt x="69082" y="20195"/>
                </a:lnTo>
                <a:lnTo>
                  <a:pt x="61143" y="9655"/>
                </a:lnTo>
                <a:lnTo>
                  <a:pt x="49946" y="2593"/>
                </a:lnTo>
                <a:lnTo>
                  <a:pt x="36477" y="0"/>
                </a:lnTo>
                <a:close/>
              </a:path>
              <a:path w="722630" h="74295">
                <a:moveTo>
                  <a:pt x="683196" y="1437"/>
                </a:moveTo>
                <a:lnTo>
                  <a:pt x="670062" y="4854"/>
                </a:lnTo>
                <a:lnTo>
                  <a:pt x="659356" y="12564"/>
                </a:lnTo>
                <a:lnTo>
                  <a:pt x="652065" y="23583"/>
                </a:lnTo>
                <a:lnTo>
                  <a:pt x="651650" y="25623"/>
                </a:lnTo>
                <a:lnTo>
                  <a:pt x="719493" y="25623"/>
                </a:lnTo>
                <a:lnTo>
                  <a:pt x="718401" y="21737"/>
                </a:lnTo>
                <a:lnTo>
                  <a:pt x="710159" y="11114"/>
                </a:lnTo>
                <a:lnTo>
                  <a:pt x="698159" y="4010"/>
                </a:lnTo>
                <a:lnTo>
                  <a:pt x="683196" y="143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296651" y="4421011"/>
            <a:ext cx="584835" cy="1905"/>
          </a:xfrm>
          <a:custGeom>
            <a:avLst/>
            <a:gdLst/>
            <a:ahLst/>
            <a:cxnLst/>
            <a:rect l="l" t="t" r="r" b="b"/>
            <a:pathLst>
              <a:path w="584835" h="1904">
                <a:moveTo>
                  <a:pt x="0" y="0"/>
                </a:moveTo>
                <a:lnTo>
                  <a:pt x="584358" y="1352"/>
                </a:lnTo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556363" y="2214032"/>
            <a:ext cx="454659" cy="2142490"/>
          </a:xfrm>
          <a:custGeom>
            <a:avLst/>
            <a:gdLst/>
            <a:ahLst/>
            <a:cxnLst/>
            <a:rect l="l" t="t" r="r" b="b"/>
            <a:pathLst>
              <a:path w="454660" h="2142490">
                <a:moveTo>
                  <a:pt x="2" y="2142066"/>
                </a:moveTo>
                <a:lnTo>
                  <a:pt x="54613" y="2134181"/>
                </a:lnTo>
                <a:lnTo>
                  <a:pt x="104437" y="2111781"/>
                </a:lnTo>
                <a:lnTo>
                  <a:pt x="147895" y="2076753"/>
                </a:lnTo>
                <a:lnTo>
                  <a:pt x="172550" y="2047316"/>
                </a:lnTo>
                <a:lnTo>
                  <a:pt x="193206" y="2013663"/>
                </a:lnTo>
                <a:lnTo>
                  <a:pt x="209395" y="1976353"/>
                </a:lnTo>
                <a:lnTo>
                  <a:pt x="220649" y="1935943"/>
                </a:lnTo>
                <a:lnTo>
                  <a:pt x="226500" y="1892993"/>
                </a:lnTo>
                <a:lnTo>
                  <a:pt x="227254" y="1870740"/>
                </a:lnTo>
                <a:lnTo>
                  <a:pt x="227251" y="1342359"/>
                </a:lnTo>
                <a:lnTo>
                  <a:pt x="228005" y="1320106"/>
                </a:lnTo>
                <a:lnTo>
                  <a:pt x="233856" y="1277156"/>
                </a:lnTo>
                <a:lnTo>
                  <a:pt x="245110" y="1236746"/>
                </a:lnTo>
                <a:lnTo>
                  <a:pt x="261299" y="1199436"/>
                </a:lnTo>
                <a:lnTo>
                  <a:pt x="281955" y="1165783"/>
                </a:lnTo>
                <a:lnTo>
                  <a:pt x="306610" y="1136346"/>
                </a:lnTo>
                <a:lnTo>
                  <a:pt x="350068" y="1101318"/>
                </a:lnTo>
                <a:lnTo>
                  <a:pt x="399892" y="1078918"/>
                </a:lnTo>
                <a:lnTo>
                  <a:pt x="454503" y="1071033"/>
                </a:lnTo>
                <a:lnTo>
                  <a:pt x="435865" y="1070133"/>
                </a:lnTo>
                <a:lnTo>
                  <a:pt x="382674" y="1057200"/>
                </a:lnTo>
                <a:lnTo>
                  <a:pt x="334797" y="1030382"/>
                </a:lnTo>
                <a:lnTo>
                  <a:pt x="293812" y="991563"/>
                </a:lnTo>
                <a:lnTo>
                  <a:pt x="271098" y="959949"/>
                </a:lnTo>
                <a:lnTo>
                  <a:pt x="252617" y="924397"/>
                </a:lnTo>
                <a:lnTo>
                  <a:pt x="238837" y="885467"/>
                </a:lnTo>
                <a:lnTo>
                  <a:pt x="230226" y="843717"/>
                </a:lnTo>
                <a:lnTo>
                  <a:pt x="227251" y="799707"/>
                </a:lnTo>
                <a:lnTo>
                  <a:pt x="227251" y="271326"/>
                </a:lnTo>
                <a:lnTo>
                  <a:pt x="226498" y="249073"/>
                </a:lnTo>
                <a:lnTo>
                  <a:pt x="220647" y="206123"/>
                </a:lnTo>
                <a:lnTo>
                  <a:pt x="209393" y="165713"/>
                </a:lnTo>
                <a:lnTo>
                  <a:pt x="193204" y="128403"/>
                </a:lnTo>
                <a:lnTo>
                  <a:pt x="172548" y="94749"/>
                </a:lnTo>
                <a:lnTo>
                  <a:pt x="147893" y="65313"/>
                </a:lnTo>
                <a:lnTo>
                  <a:pt x="104435" y="30284"/>
                </a:lnTo>
                <a:lnTo>
                  <a:pt x="54611" y="7885"/>
                </a:lnTo>
                <a:lnTo>
                  <a:pt x="18638" y="899"/>
                </a:lnTo>
                <a:lnTo>
                  <a:pt x="0" y="0"/>
                </a:lnTo>
              </a:path>
            </a:pathLst>
          </a:custGeom>
          <a:ln w="243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141010" y="4675556"/>
            <a:ext cx="1092835" cy="60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3000"/>
              </a:lnSpc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U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停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留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了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10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秒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钟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296651" y="4485921"/>
            <a:ext cx="584835" cy="1905"/>
          </a:xfrm>
          <a:custGeom>
            <a:avLst/>
            <a:gdLst/>
            <a:ahLst/>
            <a:cxnLst/>
            <a:rect l="l" t="t" r="r" b="b"/>
            <a:pathLst>
              <a:path w="584835" h="1904">
                <a:moveTo>
                  <a:pt x="0" y="0"/>
                </a:moveTo>
                <a:lnTo>
                  <a:pt x="584358" y="1352"/>
                </a:lnTo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296651" y="5135033"/>
            <a:ext cx="584835" cy="1905"/>
          </a:xfrm>
          <a:custGeom>
            <a:avLst/>
            <a:gdLst/>
            <a:ahLst/>
            <a:cxnLst/>
            <a:rect l="l" t="t" r="r" b="b"/>
            <a:pathLst>
              <a:path w="584835" h="1904">
                <a:moveTo>
                  <a:pt x="0" y="0"/>
                </a:moveTo>
                <a:lnTo>
                  <a:pt x="584358" y="1352"/>
                </a:lnTo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621295" y="4550919"/>
            <a:ext cx="318770" cy="519430"/>
          </a:xfrm>
          <a:custGeom>
            <a:avLst/>
            <a:gdLst/>
            <a:ahLst/>
            <a:cxnLst/>
            <a:rect l="l" t="t" r="r" b="b"/>
            <a:pathLst>
              <a:path w="318770" h="519429">
                <a:moveTo>
                  <a:pt x="0" y="519202"/>
                </a:moveTo>
                <a:lnTo>
                  <a:pt x="47244" y="513617"/>
                </a:lnTo>
                <a:lnTo>
                  <a:pt x="89008" y="497961"/>
                </a:lnTo>
                <a:lnTo>
                  <a:pt x="123233" y="473880"/>
                </a:lnTo>
                <a:lnTo>
                  <a:pt x="147862" y="443019"/>
                </a:lnTo>
                <a:lnTo>
                  <a:pt x="160834" y="407026"/>
                </a:lnTo>
                <a:lnTo>
                  <a:pt x="162321" y="389379"/>
                </a:lnTo>
                <a:lnTo>
                  <a:pt x="163123" y="376399"/>
                </a:lnTo>
                <a:lnTo>
                  <a:pt x="174532" y="339892"/>
                </a:lnTo>
                <a:lnTo>
                  <a:pt x="197847" y="308316"/>
                </a:lnTo>
                <a:lnTo>
                  <a:pt x="231011" y="283319"/>
                </a:lnTo>
                <a:lnTo>
                  <a:pt x="271965" y="266546"/>
                </a:lnTo>
                <a:lnTo>
                  <a:pt x="318651" y="259644"/>
                </a:lnTo>
                <a:lnTo>
                  <a:pt x="303114" y="258959"/>
                </a:lnTo>
                <a:lnTo>
                  <a:pt x="258949" y="249398"/>
                </a:lnTo>
                <a:lnTo>
                  <a:pt x="220350" y="229944"/>
                </a:lnTo>
                <a:lnTo>
                  <a:pt x="189753" y="202356"/>
                </a:lnTo>
                <a:lnTo>
                  <a:pt x="169598" y="168389"/>
                </a:lnTo>
                <a:lnTo>
                  <a:pt x="162321" y="129800"/>
                </a:lnTo>
                <a:lnTo>
                  <a:pt x="161520" y="116754"/>
                </a:lnTo>
                <a:lnTo>
                  <a:pt x="150111" y="80247"/>
                </a:lnTo>
                <a:lnTo>
                  <a:pt x="126796" y="48672"/>
                </a:lnTo>
                <a:lnTo>
                  <a:pt x="93632" y="23675"/>
                </a:lnTo>
                <a:lnTo>
                  <a:pt x="52678" y="6902"/>
                </a:lnTo>
                <a:lnTo>
                  <a:pt x="22064" y="1102"/>
                </a:lnTo>
                <a:lnTo>
                  <a:pt x="5992" y="0"/>
                </a:lnTo>
              </a:path>
            </a:pathLst>
          </a:custGeom>
          <a:ln w="243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51075">
              <a:lnSpc>
                <a:spcPct val="100000"/>
              </a:lnSpc>
            </a:pPr>
            <a:r>
              <a:rPr sz="2950" spc="100" dirty="0"/>
              <a:t>得让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C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P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U</a:t>
            </a:r>
            <a:r>
              <a:rPr sz="2950" spc="100" dirty="0"/>
              <a:t>好好运转</a:t>
            </a:r>
            <a:endParaRPr sz="2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54763" y="2631898"/>
            <a:ext cx="2191385" cy="1673225"/>
          </a:xfrm>
          <a:custGeom>
            <a:avLst/>
            <a:gdLst/>
            <a:ahLst/>
            <a:cxnLst/>
            <a:rect l="l" t="t" r="r" b="b"/>
            <a:pathLst>
              <a:path w="2191385" h="1673225">
                <a:moveTo>
                  <a:pt x="0" y="0"/>
                </a:moveTo>
                <a:lnTo>
                  <a:pt x="2191207" y="0"/>
                </a:lnTo>
                <a:lnTo>
                  <a:pt x="2191207" y="1672813"/>
                </a:lnTo>
                <a:lnTo>
                  <a:pt x="0" y="1672813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19978" y="2731071"/>
            <a:ext cx="1613535" cy="140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94030" algn="l"/>
              </a:tabLst>
            </a:pPr>
            <a:r>
              <a:rPr sz="1700" b="1" dirty="0">
                <a:solidFill>
                  <a:srgbClr val="FF3300"/>
                </a:solidFill>
                <a:latin typeface="Tahoma" panose="020B0604030504040204"/>
                <a:cs typeface="Tahoma" panose="020B0604030504040204"/>
              </a:rPr>
              <a:t>50:	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mo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v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a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x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,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1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 marL="12700" marR="5080">
              <a:lnSpc>
                <a:spcPct val="150000"/>
              </a:lnSpc>
            </a:pPr>
            <a:r>
              <a:rPr sz="1700" b="1" dirty="0">
                <a:solidFill>
                  <a:srgbClr val="FF3300"/>
                </a:solidFill>
                <a:latin typeface="Tahoma" panose="020B0604030504040204"/>
                <a:cs typeface="Tahoma" panose="020B0604030504040204"/>
              </a:rPr>
              <a:t>51: </a:t>
            </a:r>
            <a:r>
              <a:rPr sz="1700" b="1" spc="-145" dirty="0">
                <a:solidFill>
                  <a:srgbClr val="FF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mo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v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b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x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,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1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dirty="0">
                <a:solidFill>
                  <a:srgbClr val="FF3300"/>
                </a:solidFill>
                <a:latin typeface="Tahoma" panose="020B0604030504040204"/>
                <a:cs typeface="Tahoma" panose="020B0604030504040204"/>
              </a:rPr>
              <a:t>52: </a:t>
            </a:r>
            <a:r>
              <a:rPr sz="1700" b="1" spc="-145" dirty="0">
                <a:solidFill>
                  <a:srgbClr val="FF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a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d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d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ax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,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 b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x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 marL="139700">
              <a:lnSpc>
                <a:spcPct val="100000"/>
              </a:lnSpc>
              <a:spcBef>
                <a:spcPts val="1025"/>
              </a:spcBef>
            </a:pPr>
            <a:r>
              <a:rPr sz="1700" b="1" dirty="0">
                <a:latin typeface="Tahoma" panose="020B0604030504040204"/>
                <a:cs typeface="Tahoma" panose="020B0604030504040204"/>
              </a:rPr>
              <a:t>……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04603" y="2268114"/>
            <a:ext cx="578485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程序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72072" y="2645422"/>
            <a:ext cx="2191385" cy="1673225"/>
          </a:xfrm>
          <a:prstGeom prst="rect">
            <a:avLst/>
          </a:prstGeom>
          <a:ln w="8114">
            <a:solidFill>
              <a:srgbClr val="0000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  <a:tabLst>
                <a:tab pos="692785" algn="l"/>
              </a:tabLst>
            </a:pPr>
            <a:r>
              <a:rPr sz="1700" b="1" dirty="0">
                <a:solidFill>
                  <a:srgbClr val="FF3300"/>
                </a:solidFill>
                <a:latin typeface="Tahoma" panose="020B0604030504040204"/>
                <a:cs typeface="Tahoma" panose="020B0604030504040204"/>
              </a:rPr>
              <a:t>200:	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mo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v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a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x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,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10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 marL="73660" marR="277495">
              <a:lnSpc>
                <a:spcPct val="150000"/>
              </a:lnSpc>
              <a:tabLst>
                <a:tab pos="692785" algn="l"/>
              </a:tabLst>
            </a:pPr>
            <a:r>
              <a:rPr sz="1700" b="1" dirty="0">
                <a:solidFill>
                  <a:srgbClr val="FF3300"/>
                </a:solidFill>
                <a:latin typeface="Tahoma" panose="020B0604030504040204"/>
                <a:cs typeface="Tahoma" panose="020B0604030504040204"/>
              </a:rPr>
              <a:t>201:	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mo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v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b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x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,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10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dirty="0">
                <a:solidFill>
                  <a:srgbClr val="FF3300"/>
                </a:solidFill>
                <a:latin typeface="Tahoma" panose="020B0604030504040204"/>
                <a:cs typeface="Tahoma" panose="020B0604030504040204"/>
              </a:rPr>
              <a:t>202: 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a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d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d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ax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,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 b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x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 marL="200660">
              <a:lnSpc>
                <a:spcPct val="100000"/>
              </a:lnSpc>
              <a:spcBef>
                <a:spcPts val="1025"/>
              </a:spcBef>
            </a:pPr>
            <a:r>
              <a:rPr sz="1700" b="1" dirty="0">
                <a:latin typeface="Tahoma" panose="020B0604030504040204"/>
                <a:cs typeface="Tahoma" panose="020B0604030504040204"/>
              </a:rPr>
              <a:t>……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21912" y="2281633"/>
            <a:ext cx="578485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程序</a:t>
            </a:r>
            <a:r>
              <a:rPr sz="1700" b="1" dirty="0">
                <a:latin typeface="Arial" panose="020B0604020202020204"/>
                <a:cs typeface="Arial" panose="020B0604020202020204"/>
              </a:rPr>
              <a:t>2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45761" y="3439231"/>
            <a:ext cx="526415" cy="398145"/>
          </a:xfrm>
          <a:prstGeom prst="rect">
            <a:avLst/>
          </a:prstGeom>
          <a:ln w="8114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PC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71955" y="3629907"/>
            <a:ext cx="325120" cy="65405"/>
          </a:xfrm>
          <a:custGeom>
            <a:avLst/>
            <a:gdLst/>
            <a:ahLst/>
            <a:cxnLst/>
            <a:rect l="l" t="t" r="r" b="b"/>
            <a:pathLst>
              <a:path w="325119" h="65404">
                <a:moveTo>
                  <a:pt x="243483" y="0"/>
                </a:moveTo>
                <a:lnTo>
                  <a:pt x="243483" y="16228"/>
                </a:lnTo>
                <a:lnTo>
                  <a:pt x="0" y="16228"/>
                </a:lnTo>
                <a:lnTo>
                  <a:pt x="0" y="48682"/>
                </a:lnTo>
                <a:lnTo>
                  <a:pt x="243483" y="48682"/>
                </a:lnTo>
                <a:lnTo>
                  <a:pt x="243483" y="64910"/>
                </a:lnTo>
                <a:lnTo>
                  <a:pt x="324643" y="32454"/>
                </a:lnTo>
                <a:lnTo>
                  <a:pt x="243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171955" y="3629907"/>
            <a:ext cx="325120" cy="65405"/>
          </a:xfrm>
          <a:custGeom>
            <a:avLst/>
            <a:gdLst/>
            <a:ahLst/>
            <a:cxnLst/>
            <a:rect l="l" t="t" r="r" b="b"/>
            <a:pathLst>
              <a:path w="325119" h="65404">
                <a:moveTo>
                  <a:pt x="0" y="16227"/>
                </a:moveTo>
                <a:lnTo>
                  <a:pt x="243482" y="16227"/>
                </a:lnTo>
                <a:lnTo>
                  <a:pt x="243482" y="0"/>
                </a:lnTo>
                <a:lnTo>
                  <a:pt x="324643" y="32455"/>
                </a:lnTo>
                <a:lnTo>
                  <a:pt x="243482" y="64911"/>
                </a:lnTo>
                <a:lnTo>
                  <a:pt x="243482" y="48683"/>
                </a:lnTo>
                <a:lnTo>
                  <a:pt x="0" y="48683"/>
                </a:lnTo>
                <a:lnTo>
                  <a:pt x="0" y="16227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346700" y="2538589"/>
            <a:ext cx="526415" cy="398145"/>
          </a:xfrm>
          <a:custGeom>
            <a:avLst/>
            <a:gdLst/>
            <a:ahLst/>
            <a:cxnLst/>
            <a:rect l="l" t="t" r="r" b="b"/>
            <a:pathLst>
              <a:path w="526414" h="398144">
                <a:moveTo>
                  <a:pt x="0" y="0"/>
                </a:moveTo>
                <a:lnTo>
                  <a:pt x="526193" y="0"/>
                </a:lnTo>
                <a:lnTo>
                  <a:pt x="526193" y="397580"/>
                </a:lnTo>
                <a:lnTo>
                  <a:pt x="0" y="397580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411914" y="2609123"/>
            <a:ext cx="38608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PC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72893" y="2729265"/>
            <a:ext cx="325120" cy="65405"/>
          </a:xfrm>
          <a:custGeom>
            <a:avLst/>
            <a:gdLst/>
            <a:ahLst/>
            <a:cxnLst/>
            <a:rect l="l" t="t" r="r" b="b"/>
            <a:pathLst>
              <a:path w="325120" h="65405">
                <a:moveTo>
                  <a:pt x="243483" y="0"/>
                </a:moveTo>
                <a:lnTo>
                  <a:pt x="243483" y="16228"/>
                </a:lnTo>
                <a:lnTo>
                  <a:pt x="0" y="16228"/>
                </a:lnTo>
                <a:lnTo>
                  <a:pt x="0" y="48682"/>
                </a:lnTo>
                <a:lnTo>
                  <a:pt x="243483" y="48682"/>
                </a:lnTo>
                <a:lnTo>
                  <a:pt x="243483" y="64910"/>
                </a:lnTo>
                <a:lnTo>
                  <a:pt x="324643" y="32456"/>
                </a:lnTo>
                <a:lnTo>
                  <a:pt x="243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872893" y="2729265"/>
            <a:ext cx="325120" cy="65405"/>
          </a:xfrm>
          <a:custGeom>
            <a:avLst/>
            <a:gdLst/>
            <a:ahLst/>
            <a:cxnLst/>
            <a:rect l="l" t="t" r="r" b="b"/>
            <a:pathLst>
              <a:path w="325120" h="65405">
                <a:moveTo>
                  <a:pt x="0" y="16227"/>
                </a:moveTo>
                <a:lnTo>
                  <a:pt x="243482" y="16227"/>
                </a:lnTo>
                <a:lnTo>
                  <a:pt x="243482" y="0"/>
                </a:lnTo>
                <a:lnTo>
                  <a:pt x="324643" y="32455"/>
                </a:lnTo>
                <a:lnTo>
                  <a:pt x="243482" y="64911"/>
                </a:lnTo>
                <a:lnTo>
                  <a:pt x="243482" y="48683"/>
                </a:lnTo>
                <a:lnTo>
                  <a:pt x="0" y="48683"/>
                </a:lnTo>
                <a:lnTo>
                  <a:pt x="0" y="16227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424906" y="2668410"/>
            <a:ext cx="65405" cy="909319"/>
          </a:xfrm>
          <a:custGeom>
            <a:avLst/>
            <a:gdLst/>
            <a:ahLst/>
            <a:cxnLst/>
            <a:rect l="l" t="t" r="r" b="b"/>
            <a:pathLst>
              <a:path w="65405" h="909320">
                <a:moveTo>
                  <a:pt x="64928" y="681568"/>
                </a:moveTo>
                <a:lnTo>
                  <a:pt x="0" y="681568"/>
                </a:lnTo>
                <a:lnTo>
                  <a:pt x="32465" y="908756"/>
                </a:lnTo>
                <a:lnTo>
                  <a:pt x="64928" y="681568"/>
                </a:lnTo>
                <a:close/>
              </a:path>
              <a:path w="65405" h="909320">
                <a:moveTo>
                  <a:pt x="48695" y="0"/>
                </a:moveTo>
                <a:lnTo>
                  <a:pt x="16231" y="0"/>
                </a:lnTo>
                <a:lnTo>
                  <a:pt x="16231" y="681568"/>
                </a:lnTo>
                <a:lnTo>
                  <a:pt x="48695" y="681568"/>
                </a:lnTo>
                <a:lnTo>
                  <a:pt x="48695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424906" y="2668410"/>
            <a:ext cx="65405" cy="909319"/>
          </a:xfrm>
          <a:custGeom>
            <a:avLst/>
            <a:gdLst/>
            <a:ahLst/>
            <a:cxnLst/>
            <a:rect l="l" t="t" r="r" b="b"/>
            <a:pathLst>
              <a:path w="65405" h="909320">
                <a:moveTo>
                  <a:pt x="48696" y="0"/>
                </a:moveTo>
                <a:lnTo>
                  <a:pt x="48696" y="681567"/>
                </a:lnTo>
                <a:lnTo>
                  <a:pt x="64928" y="681567"/>
                </a:lnTo>
                <a:lnTo>
                  <a:pt x="32464" y="908755"/>
                </a:lnTo>
                <a:lnTo>
                  <a:pt x="0" y="681567"/>
                </a:lnTo>
                <a:lnTo>
                  <a:pt x="16231" y="681567"/>
                </a:lnTo>
                <a:lnTo>
                  <a:pt x="16231" y="0"/>
                </a:lnTo>
                <a:lnTo>
                  <a:pt x="48696" y="0"/>
                </a:lnTo>
                <a:close/>
              </a:path>
            </a:pathLst>
          </a:custGeom>
          <a:ln w="8113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125845" y="2798232"/>
            <a:ext cx="65405" cy="909319"/>
          </a:xfrm>
          <a:custGeom>
            <a:avLst/>
            <a:gdLst/>
            <a:ahLst/>
            <a:cxnLst/>
            <a:rect l="l" t="t" r="r" b="b"/>
            <a:pathLst>
              <a:path w="65404" h="909320">
                <a:moveTo>
                  <a:pt x="64928" y="681568"/>
                </a:moveTo>
                <a:lnTo>
                  <a:pt x="0" y="681568"/>
                </a:lnTo>
                <a:lnTo>
                  <a:pt x="32463" y="908756"/>
                </a:lnTo>
                <a:lnTo>
                  <a:pt x="64928" y="681568"/>
                </a:lnTo>
                <a:close/>
              </a:path>
              <a:path w="65404" h="909320">
                <a:moveTo>
                  <a:pt x="48695" y="0"/>
                </a:moveTo>
                <a:lnTo>
                  <a:pt x="16231" y="0"/>
                </a:lnTo>
                <a:lnTo>
                  <a:pt x="16231" y="681568"/>
                </a:lnTo>
                <a:lnTo>
                  <a:pt x="48695" y="681568"/>
                </a:lnTo>
                <a:lnTo>
                  <a:pt x="48695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125845" y="2798232"/>
            <a:ext cx="65405" cy="909319"/>
          </a:xfrm>
          <a:custGeom>
            <a:avLst/>
            <a:gdLst/>
            <a:ahLst/>
            <a:cxnLst/>
            <a:rect l="l" t="t" r="r" b="b"/>
            <a:pathLst>
              <a:path w="65404" h="909320">
                <a:moveTo>
                  <a:pt x="48696" y="0"/>
                </a:moveTo>
                <a:lnTo>
                  <a:pt x="48696" y="681567"/>
                </a:lnTo>
                <a:lnTo>
                  <a:pt x="64928" y="681567"/>
                </a:lnTo>
                <a:lnTo>
                  <a:pt x="32464" y="908755"/>
                </a:lnTo>
                <a:lnTo>
                  <a:pt x="0" y="681567"/>
                </a:lnTo>
                <a:lnTo>
                  <a:pt x="16231" y="681567"/>
                </a:lnTo>
                <a:lnTo>
                  <a:pt x="16231" y="0"/>
                </a:lnTo>
                <a:lnTo>
                  <a:pt x="48696" y="0"/>
                </a:lnTo>
                <a:close/>
              </a:path>
            </a:pathLst>
          </a:custGeom>
          <a:ln w="8113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424906" y="3702758"/>
            <a:ext cx="3701415" cy="164465"/>
          </a:xfrm>
          <a:custGeom>
            <a:avLst/>
            <a:gdLst/>
            <a:ahLst/>
            <a:cxnLst/>
            <a:rect l="l" t="t" r="r" b="b"/>
            <a:pathLst>
              <a:path w="3701415" h="164464">
                <a:moveTo>
                  <a:pt x="63750" y="99340"/>
                </a:moveTo>
                <a:lnTo>
                  <a:pt x="0" y="134052"/>
                </a:lnTo>
                <a:lnTo>
                  <a:pt x="66027" y="164212"/>
                </a:lnTo>
                <a:lnTo>
                  <a:pt x="65037" y="136006"/>
                </a:lnTo>
                <a:lnTo>
                  <a:pt x="306234" y="127546"/>
                </a:lnTo>
                <a:lnTo>
                  <a:pt x="64740" y="127546"/>
                </a:lnTo>
                <a:lnTo>
                  <a:pt x="63750" y="99340"/>
                </a:lnTo>
                <a:close/>
              </a:path>
              <a:path w="3701415" h="164464">
                <a:moveTo>
                  <a:pt x="3700790" y="0"/>
                </a:moveTo>
                <a:lnTo>
                  <a:pt x="64740" y="127546"/>
                </a:lnTo>
                <a:lnTo>
                  <a:pt x="306234" y="127546"/>
                </a:lnTo>
                <a:lnTo>
                  <a:pt x="3701087" y="8460"/>
                </a:lnTo>
                <a:lnTo>
                  <a:pt x="37007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424906" y="3836811"/>
            <a:ext cx="65405" cy="584200"/>
          </a:xfrm>
          <a:custGeom>
            <a:avLst/>
            <a:gdLst/>
            <a:ahLst/>
            <a:cxnLst/>
            <a:rect l="l" t="t" r="r" b="b"/>
            <a:pathLst>
              <a:path w="65405" h="584200">
                <a:moveTo>
                  <a:pt x="64928" y="438150"/>
                </a:moveTo>
                <a:lnTo>
                  <a:pt x="0" y="438150"/>
                </a:lnTo>
                <a:lnTo>
                  <a:pt x="32465" y="584199"/>
                </a:lnTo>
                <a:lnTo>
                  <a:pt x="64928" y="438150"/>
                </a:lnTo>
                <a:close/>
              </a:path>
              <a:path w="65405" h="584200">
                <a:moveTo>
                  <a:pt x="48696" y="0"/>
                </a:moveTo>
                <a:lnTo>
                  <a:pt x="16231" y="0"/>
                </a:lnTo>
                <a:lnTo>
                  <a:pt x="16231" y="438150"/>
                </a:lnTo>
                <a:lnTo>
                  <a:pt x="48696" y="438150"/>
                </a:lnTo>
                <a:lnTo>
                  <a:pt x="48696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424906" y="3836811"/>
            <a:ext cx="65405" cy="584200"/>
          </a:xfrm>
          <a:custGeom>
            <a:avLst/>
            <a:gdLst/>
            <a:ahLst/>
            <a:cxnLst/>
            <a:rect l="l" t="t" r="r" b="b"/>
            <a:pathLst>
              <a:path w="65405" h="584200">
                <a:moveTo>
                  <a:pt x="48696" y="0"/>
                </a:moveTo>
                <a:lnTo>
                  <a:pt x="48696" y="438150"/>
                </a:lnTo>
                <a:lnTo>
                  <a:pt x="64928" y="438150"/>
                </a:lnTo>
                <a:lnTo>
                  <a:pt x="32464" y="584200"/>
                </a:lnTo>
                <a:lnTo>
                  <a:pt x="0" y="438150"/>
                </a:lnTo>
                <a:lnTo>
                  <a:pt x="16232" y="438150"/>
                </a:lnTo>
                <a:lnTo>
                  <a:pt x="16232" y="0"/>
                </a:lnTo>
                <a:lnTo>
                  <a:pt x="48696" y="0"/>
                </a:lnTo>
                <a:close/>
              </a:path>
            </a:pathLst>
          </a:custGeom>
          <a:ln w="8113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553845" y="2780632"/>
            <a:ext cx="3507104" cy="800735"/>
          </a:xfrm>
          <a:custGeom>
            <a:avLst/>
            <a:gdLst/>
            <a:ahLst/>
            <a:cxnLst/>
            <a:rect l="l" t="t" r="r" b="b"/>
            <a:pathLst>
              <a:path w="3507104" h="800735">
                <a:moveTo>
                  <a:pt x="3436645" y="0"/>
                </a:moveTo>
                <a:lnTo>
                  <a:pt x="3442769" y="27550"/>
                </a:lnTo>
                <a:lnTo>
                  <a:pt x="0" y="792402"/>
                </a:lnTo>
                <a:lnTo>
                  <a:pt x="1836" y="800667"/>
                </a:lnTo>
                <a:lnTo>
                  <a:pt x="3444607" y="35815"/>
                </a:lnTo>
                <a:lnTo>
                  <a:pt x="3484647" y="35815"/>
                </a:lnTo>
                <a:lnTo>
                  <a:pt x="3507070" y="17600"/>
                </a:lnTo>
                <a:lnTo>
                  <a:pt x="3436645" y="0"/>
                </a:lnTo>
                <a:close/>
              </a:path>
              <a:path w="3507104" h="800735">
                <a:moveTo>
                  <a:pt x="3484647" y="35815"/>
                </a:moveTo>
                <a:lnTo>
                  <a:pt x="3444607" y="35815"/>
                </a:lnTo>
                <a:lnTo>
                  <a:pt x="3450730" y="63365"/>
                </a:lnTo>
                <a:lnTo>
                  <a:pt x="3484647" y="358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02790">
              <a:lnSpc>
                <a:spcPct val="100000"/>
              </a:lnSpc>
            </a:pPr>
            <a:r>
              <a:rPr sz="2950" spc="100" dirty="0"/>
              <a:t>从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A</a:t>
            </a:r>
            <a:r>
              <a:rPr sz="2950" spc="100" dirty="0"/>
              <a:t>跳到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B</a:t>
            </a:r>
            <a:r>
              <a:rPr sz="2950" spc="100" dirty="0"/>
              <a:t>我们并不陌生</a:t>
            </a:r>
            <a:endParaRPr sz="2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19692" y="2408767"/>
            <a:ext cx="1558290" cy="2466975"/>
          </a:xfrm>
          <a:prstGeom prst="rect">
            <a:avLst/>
          </a:prstGeom>
          <a:ln w="2434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0330">
              <a:lnSpc>
                <a:spcPts val="2035"/>
              </a:lnSpc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0033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398145" marR="744855">
              <a:lnSpc>
                <a:spcPts val="2070"/>
              </a:lnSpc>
              <a:spcBef>
                <a:spcPts val="40"/>
              </a:spcBef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)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i+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+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00330">
              <a:lnSpc>
                <a:spcPts val="195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00330">
              <a:lnSpc>
                <a:spcPts val="2035"/>
              </a:lnSpc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00330">
              <a:lnSpc>
                <a:spcPct val="100000"/>
              </a:lnSpc>
              <a:spcBef>
                <a:spcPts val="25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 panose="02020603050405020304"/>
              <a:cs typeface="Times New Roman" panose="02020603050405020304"/>
            </a:endParaRPr>
          </a:p>
          <a:p>
            <a:pPr marL="10033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51913" y="2408767"/>
            <a:ext cx="1233805" cy="454659"/>
          </a:xfrm>
          <a:custGeom>
            <a:avLst/>
            <a:gdLst/>
            <a:ahLst/>
            <a:cxnLst/>
            <a:rect l="l" t="t" r="r" b="b"/>
            <a:pathLst>
              <a:path w="1233804" h="454660">
                <a:moveTo>
                  <a:pt x="0" y="0"/>
                </a:moveTo>
                <a:lnTo>
                  <a:pt x="1233646" y="0"/>
                </a:lnTo>
                <a:lnTo>
                  <a:pt x="1233646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522616" y="2505832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104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02626" y="2602148"/>
            <a:ext cx="649605" cy="65405"/>
          </a:xfrm>
          <a:custGeom>
            <a:avLst/>
            <a:gdLst/>
            <a:ahLst/>
            <a:cxnLst/>
            <a:rect l="l" t="t" r="r" b="b"/>
            <a:pathLst>
              <a:path w="649604" h="65405">
                <a:moveTo>
                  <a:pt x="486966" y="0"/>
                </a:moveTo>
                <a:lnTo>
                  <a:pt x="486966" y="16226"/>
                </a:lnTo>
                <a:lnTo>
                  <a:pt x="0" y="16226"/>
                </a:lnTo>
                <a:lnTo>
                  <a:pt x="0" y="48682"/>
                </a:lnTo>
                <a:lnTo>
                  <a:pt x="486966" y="48682"/>
                </a:lnTo>
                <a:lnTo>
                  <a:pt x="486966" y="64910"/>
                </a:lnTo>
                <a:lnTo>
                  <a:pt x="649287" y="32454"/>
                </a:lnTo>
                <a:lnTo>
                  <a:pt x="4869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02626" y="2602148"/>
            <a:ext cx="649605" cy="65405"/>
          </a:xfrm>
          <a:custGeom>
            <a:avLst/>
            <a:gdLst/>
            <a:ahLst/>
            <a:cxnLst/>
            <a:rect l="l" t="t" r="r" b="b"/>
            <a:pathLst>
              <a:path w="649604" h="65405">
                <a:moveTo>
                  <a:pt x="0" y="16227"/>
                </a:moveTo>
                <a:lnTo>
                  <a:pt x="486965" y="16227"/>
                </a:lnTo>
                <a:lnTo>
                  <a:pt x="486965" y="0"/>
                </a:lnTo>
                <a:lnTo>
                  <a:pt x="649287" y="32455"/>
                </a:lnTo>
                <a:lnTo>
                  <a:pt x="486965" y="64911"/>
                </a:lnTo>
                <a:lnTo>
                  <a:pt x="486965" y="48683"/>
                </a:lnTo>
                <a:lnTo>
                  <a:pt x="0" y="48683"/>
                </a:lnTo>
                <a:lnTo>
                  <a:pt x="0" y="16227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73054" y="2672665"/>
            <a:ext cx="473709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esp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00548" y="3313550"/>
            <a:ext cx="45910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104: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00548" y="2469935"/>
            <a:ext cx="45910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100: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00548" y="3832698"/>
            <a:ext cx="45910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200: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00548" y="4547878"/>
            <a:ext cx="45910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208: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52199" y="2014923"/>
            <a:ext cx="117919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从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A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跳到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B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22341" y="4087459"/>
            <a:ext cx="143891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从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B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再跳到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151913" y="4485921"/>
            <a:ext cx="1233805" cy="454659"/>
          </a:xfrm>
          <a:custGeom>
            <a:avLst/>
            <a:gdLst/>
            <a:ahLst/>
            <a:cxnLst/>
            <a:rect l="l" t="t" r="r" b="b"/>
            <a:pathLst>
              <a:path w="1233804" h="454660">
                <a:moveTo>
                  <a:pt x="0" y="0"/>
                </a:moveTo>
                <a:lnTo>
                  <a:pt x="1233646" y="0"/>
                </a:lnTo>
                <a:lnTo>
                  <a:pt x="1233646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522616" y="4582423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104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502626" y="4679303"/>
            <a:ext cx="649605" cy="65405"/>
          </a:xfrm>
          <a:custGeom>
            <a:avLst/>
            <a:gdLst/>
            <a:ahLst/>
            <a:cxnLst/>
            <a:rect l="l" t="t" r="r" b="b"/>
            <a:pathLst>
              <a:path w="649604" h="65404">
                <a:moveTo>
                  <a:pt x="486966" y="0"/>
                </a:moveTo>
                <a:lnTo>
                  <a:pt x="486966" y="16228"/>
                </a:lnTo>
                <a:lnTo>
                  <a:pt x="0" y="16228"/>
                </a:lnTo>
                <a:lnTo>
                  <a:pt x="0" y="48684"/>
                </a:lnTo>
                <a:lnTo>
                  <a:pt x="486966" y="48684"/>
                </a:lnTo>
                <a:lnTo>
                  <a:pt x="486966" y="64910"/>
                </a:lnTo>
                <a:lnTo>
                  <a:pt x="649287" y="32456"/>
                </a:lnTo>
                <a:lnTo>
                  <a:pt x="4869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502626" y="4679303"/>
            <a:ext cx="649605" cy="65405"/>
          </a:xfrm>
          <a:custGeom>
            <a:avLst/>
            <a:gdLst/>
            <a:ahLst/>
            <a:cxnLst/>
            <a:rect l="l" t="t" r="r" b="b"/>
            <a:pathLst>
              <a:path w="649604" h="65404">
                <a:moveTo>
                  <a:pt x="0" y="16227"/>
                </a:moveTo>
                <a:lnTo>
                  <a:pt x="486965" y="16227"/>
                </a:lnTo>
                <a:lnTo>
                  <a:pt x="486965" y="0"/>
                </a:lnTo>
                <a:lnTo>
                  <a:pt x="649287" y="32455"/>
                </a:lnTo>
                <a:lnTo>
                  <a:pt x="486965" y="64911"/>
                </a:lnTo>
                <a:lnTo>
                  <a:pt x="486965" y="48683"/>
                </a:lnTo>
                <a:lnTo>
                  <a:pt x="0" y="48683"/>
                </a:lnTo>
                <a:lnTo>
                  <a:pt x="0" y="16227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373054" y="4749256"/>
            <a:ext cx="473709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esp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17116" y="2483901"/>
            <a:ext cx="12706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PC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16440" y="4560492"/>
            <a:ext cx="110172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PC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125845" y="2603500"/>
            <a:ext cx="519430" cy="65405"/>
          </a:xfrm>
          <a:custGeom>
            <a:avLst/>
            <a:gdLst/>
            <a:ahLst/>
            <a:cxnLst/>
            <a:rect l="l" t="t" r="r" b="b"/>
            <a:pathLst>
              <a:path w="519429" h="65405">
                <a:moveTo>
                  <a:pt x="162321" y="0"/>
                </a:moveTo>
                <a:lnTo>
                  <a:pt x="0" y="32456"/>
                </a:lnTo>
                <a:lnTo>
                  <a:pt x="162321" y="64910"/>
                </a:lnTo>
                <a:lnTo>
                  <a:pt x="162321" y="48682"/>
                </a:lnTo>
                <a:lnTo>
                  <a:pt x="519429" y="48682"/>
                </a:lnTo>
                <a:lnTo>
                  <a:pt x="519429" y="16228"/>
                </a:lnTo>
                <a:lnTo>
                  <a:pt x="162321" y="16228"/>
                </a:lnTo>
                <a:lnTo>
                  <a:pt x="16232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125845" y="2603499"/>
            <a:ext cx="519430" cy="65405"/>
          </a:xfrm>
          <a:custGeom>
            <a:avLst/>
            <a:gdLst/>
            <a:ahLst/>
            <a:cxnLst/>
            <a:rect l="l" t="t" r="r" b="b"/>
            <a:pathLst>
              <a:path w="519429" h="65405">
                <a:moveTo>
                  <a:pt x="519430" y="48683"/>
                </a:moveTo>
                <a:lnTo>
                  <a:pt x="162321" y="48683"/>
                </a:lnTo>
                <a:lnTo>
                  <a:pt x="162321" y="64911"/>
                </a:lnTo>
                <a:lnTo>
                  <a:pt x="0" y="32455"/>
                </a:lnTo>
                <a:lnTo>
                  <a:pt x="162321" y="0"/>
                </a:lnTo>
                <a:lnTo>
                  <a:pt x="162321" y="16227"/>
                </a:lnTo>
                <a:lnTo>
                  <a:pt x="519430" y="16227"/>
                </a:lnTo>
                <a:lnTo>
                  <a:pt x="519430" y="48683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125845" y="4680656"/>
            <a:ext cx="519430" cy="65405"/>
          </a:xfrm>
          <a:custGeom>
            <a:avLst/>
            <a:gdLst/>
            <a:ahLst/>
            <a:cxnLst/>
            <a:rect l="l" t="t" r="r" b="b"/>
            <a:pathLst>
              <a:path w="519429" h="65404">
                <a:moveTo>
                  <a:pt x="357108" y="0"/>
                </a:moveTo>
                <a:lnTo>
                  <a:pt x="357108" y="16226"/>
                </a:lnTo>
                <a:lnTo>
                  <a:pt x="0" y="16226"/>
                </a:lnTo>
                <a:lnTo>
                  <a:pt x="0" y="48682"/>
                </a:lnTo>
                <a:lnTo>
                  <a:pt x="357108" y="48682"/>
                </a:lnTo>
                <a:lnTo>
                  <a:pt x="357108" y="64910"/>
                </a:lnTo>
                <a:lnTo>
                  <a:pt x="519429" y="32454"/>
                </a:lnTo>
                <a:lnTo>
                  <a:pt x="35710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125845" y="4680656"/>
            <a:ext cx="519430" cy="65405"/>
          </a:xfrm>
          <a:custGeom>
            <a:avLst/>
            <a:gdLst/>
            <a:ahLst/>
            <a:cxnLst/>
            <a:rect l="l" t="t" r="r" b="b"/>
            <a:pathLst>
              <a:path w="519429" h="65404">
                <a:moveTo>
                  <a:pt x="0" y="16227"/>
                </a:moveTo>
                <a:lnTo>
                  <a:pt x="357108" y="16227"/>
                </a:lnTo>
                <a:lnTo>
                  <a:pt x="357108" y="0"/>
                </a:lnTo>
                <a:lnTo>
                  <a:pt x="519430" y="32455"/>
                </a:lnTo>
                <a:lnTo>
                  <a:pt x="357108" y="64911"/>
                </a:lnTo>
                <a:lnTo>
                  <a:pt x="357108" y="48683"/>
                </a:lnTo>
                <a:lnTo>
                  <a:pt x="0" y="48683"/>
                </a:lnTo>
                <a:lnTo>
                  <a:pt x="0" y="16227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6905">
              <a:lnSpc>
                <a:spcPct val="100000"/>
              </a:lnSpc>
            </a:pPr>
            <a:r>
              <a:rPr sz="2950" spc="100" dirty="0"/>
              <a:t>一个栈</a:t>
            </a:r>
            <a:r>
              <a:rPr sz="3050" dirty="0">
                <a:latin typeface="Arial" panose="020B0604020202020204"/>
                <a:cs typeface="Arial" panose="020B0604020202020204"/>
              </a:rPr>
              <a:t>+</a:t>
            </a:r>
            <a:r>
              <a:rPr sz="3050" spc="-110" dirty="0">
                <a:latin typeface="Arial" panose="020B0604020202020204"/>
                <a:cs typeface="Arial" panose="020B0604020202020204"/>
              </a:rPr>
              <a:t>Y</a:t>
            </a:r>
            <a:r>
              <a:rPr sz="3050" dirty="0">
                <a:latin typeface="Arial" panose="020B0604020202020204"/>
                <a:cs typeface="Arial" panose="020B0604020202020204"/>
              </a:rPr>
              <a:t>iel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d</a:t>
            </a:r>
            <a:r>
              <a:rPr sz="2950" spc="100" dirty="0"/>
              <a:t>造成的混乱</a:t>
            </a:r>
            <a:endParaRPr sz="2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19692" y="2020652"/>
            <a:ext cx="1558290" cy="2725420"/>
          </a:xfrm>
          <a:custGeom>
            <a:avLst/>
            <a:gdLst/>
            <a:ahLst/>
            <a:cxnLst/>
            <a:rect l="l" t="t" r="r" b="b"/>
            <a:pathLst>
              <a:path w="1558289" h="2725420">
                <a:moveTo>
                  <a:pt x="0" y="0"/>
                </a:moveTo>
                <a:lnTo>
                  <a:pt x="1558290" y="0"/>
                </a:lnTo>
                <a:lnTo>
                  <a:pt x="1558290" y="2724913"/>
                </a:lnTo>
                <a:lnTo>
                  <a:pt x="0" y="2724913"/>
                </a:lnTo>
                <a:lnTo>
                  <a:pt x="0" y="0"/>
                </a:lnTo>
                <a:close/>
              </a:path>
            </a:pathLst>
          </a:custGeom>
          <a:ln w="243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719984" y="2107782"/>
            <a:ext cx="983615" cy="2577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100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250190" marR="291465" indent="59055">
              <a:lnSpc>
                <a:spcPts val="2070"/>
              </a:lnSpc>
              <a:spcBef>
                <a:spcPts val="40"/>
              </a:spcBef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)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104: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5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200: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35"/>
              </a:lnSpc>
              <a:spcBef>
                <a:spcPts val="25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309880" marR="5080" indent="-63500">
              <a:lnSpc>
                <a:spcPts val="2030"/>
              </a:lnSpc>
              <a:spcBef>
                <a:spcPts val="70"/>
              </a:spcBef>
            </a:pPr>
            <a:r>
              <a:rPr sz="1700" b="1" spc="-60" dirty="0">
                <a:latin typeface="Arial" panose="020B0604020202020204"/>
                <a:cs typeface="Arial" panose="020B0604020202020204"/>
              </a:rPr>
              <a:t>Y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()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204: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00"/>
              </a:lnSpc>
            </a:pP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32483" y="2019300"/>
            <a:ext cx="1558290" cy="2725420"/>
          </a:xfrm>
          <a:prstGeom prst="rect">
            <a:avLst/>
          </a:prstGeom>
          <a:ln w="2434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033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300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C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0033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338455" marR="753745" indent="59055">
              <a:lnSpc>
                <a:spcPts val="2070"/>
              </a:lnSpc>
              <a:spcBef>
                <a:spcPts val="40"/>
              </a:spcBef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)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304: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00330">
              <a:lnSpc>
                <a:spcPts val="195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0033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400: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00330">
              <a:lnSpc>
                <a:spcPts val="2035"/>
              </a:lnSpc>
              <a:spcBef>
                <a:spcPts val="25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398145" marR="466725" indent="-63500">
              <a:lnSpc>
                <a:spcPts val="2030"/>
              </a:lnSpc>
              <a:spcBef>
                <a:spcPts val="70"/>
              </a:spcBef>
            </a:pPr>
            <a:r>
              <a:rPr sz="1700" b="1" spc="-60" dirty="0">
                <a:latin typeface="Arial" panose="020B0604020202020204"/>
                <a:cs typeface="Arial" panose="020B0604020202020204"/>
              </a:rPr>
              <a:t>Y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()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404: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00330">
              <a:lnSpc>
                <a:spcPts val="2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97734" y="3638021"/>
            <a:ext cx="649605" cy="65405"/>
          </a:xfrm>
          <a:custGeom>
            <a:avLst/>
            <a:gdLst/>
            <a:ahLst/>
            <a:cxnLst/>
            <a:rect l="l" t="t" r="r" b="b"/>
            <a:pathLst>
              <a:path w="649604" h="65404">
                <a:moveTo>
                  <a:pt x="486966" y="0"/>
                </a:moveTo>
                <a:lnTo>
                  <a:pt x="486966" y="16228"/>
                </a:lnTo>
                <a:lnTo>
                  <a:pt x="0" y="16228"/>
                </a:lnTo>
                <a:lnTo>
                  <a:pt x="0" y="48682"/>
                </a:lnTo>
                <a:lnTo>
                  <a:pt x="486966" y="48682"/>
                </a:lnTo>
                <a:lnTo>
                  <a:pt x="486966" y="64910"/>
                </a:lnTo>
                <a:lnTo>
                  <a:pt x="649287" y="32454"/>
                </a:lnTo>
                <a:lnTo>
                  <a:pt x="4869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397734" y="3638021"/>
            <a:ext cx="649605" cy="65405"/>
          </a:xfrm>
          <a:custGeom>
            <a:avLst/>
            <a:gdLst/>
            <a:ahLst/>
            <a:cxnLst/>
            <a:rect l="l" t="t" r="r" b="b"/>
            <a:pathLst>
              <a:path w="649604" h="65404">
                <a:moveTo>
                  <a:pt x="0" y="16227"/>
                </a:moveTo>
                <a:lnTo>
                  <a:pt x="486965" y="16227"/>
                </a:lnTo>
                <a:lnTo>
                  <a:pt x="486965" y="0"/>
                </a:lnTo>
                <a:lnTo>
                  <a:pt x="649287" y="32455"/>
                </a:lnTo>
                <a:lnTo>
                  <a:pt x="486965" y="64911"/>
                </a:lnTo>
                <a:lnTo>
                  <a:pt x="486965" y="48683"/>
                </a:lnTo>
                <a:lnTo>
                  <a:pt x="0" y="48683"/>
                </a:lnTo>
                <a:lnTo>
                  <a:pt x="0" y="16227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111950" y="3443287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90" h="454660">
                <a:moveTo>
                  <a:pt x="0" y="454377"/>
                </a:moveTo>
                <a:lnTo>
                  <a:pt x="973931" y="454377"/>
                </a:lnTo>
                <a:lnTo>
                  <a:pt x="973931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462948" y="3318895"/>
            <a:ext cx="473709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esp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89835" y="2019300"/>
            <a:ext cx="65405" cy="2077720"/>
          </a:xfrm>
          <a:custGeom>
            <a:avLst/>
            <a:gdLst/>
            <a:ahLst/>
            <a:cxnLst/>
            <a:rect l="l" t="t" r="r" b="b"/>
            <a:pathLst>
              <a:path w="65405" h="2077720">
                <a:moveTo>
                  <a:pt x="64928" y="1914828"/>
                </a:moveTo>
                <a:lnTo>
                  <a:pt x="0" y="1914828"/>
                </a:lnTo>
                <a:lnTo>
                  <a:pt x="32463" y="2077156"/>
                </a:lnTo>
                <a:lnTo>
                  <a:pt x="64928" y="1914828"/>
                </a:lnTo>
                <a:close/>
              </a:path>
              <a:path w="65405" h="2077720">
                <a:moveTo>
                  <a:pt x="48695" y="0"/>
                </a:moveTo>
                <a:lnTo>
                  <a:pt x="16233" y="0"/>
                </a:lnTo>
                <a:lnTo>
                  <a:pt x="16233" y="1914828"/>
                </a:lnTo>
                <a:lnTo>
                  <a:pt x="48695" y="1914828"/>
                </a:lnTo>
                <a:lnTo>
                  <a:pt x="486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489835" y="2019300"/>
            <a:ext cx="65405" cy="2077720"/>
          </a:xfrm>
          <a:custGeom>
            <a:avLst/>
            <a:gdLst/>
            <a:ahLst/>
            <a:cxnLst/>
            <a:rect l="l" t="t" r="r" b="b"/>
            <a:pathLst>
              <a:path w="65405" h="2077720">
                <a:moveTo>
                  <a:pt x="48695" y="0"/>
                </a:moveTo>
                <a:lnTo>
                  <a:pt x="48695" y="1914829"/>
                </a:lnTo>
                <a:lnTo>
                  <a:pt x="64928" y="1914829"/>
                </a:lnTo>
                <a:lnTo>
                  <a:pt x="32463" y="2077155"/>
                </a:lnTo>
                <a:lnTo>
                  <a:pt x="0" y="1914829"/>
                </a:lnTo>
                <a:lnTo>
                  <a:pt x="16232" y="1914829"/>
                </a:lnTo>
                <a:lnTo>
                  <a:pt x="16232" y="0"/>
                </a:lnTo>
                <a:lnTo>
                  <a:pt x="48695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02626" y="2019300"/>
            <a:ext cx="65405" cy="2012314"/>
          </a:xfrm>
          <a:custGeom>
            <a:avLst/>
            <a:gdLst/>
            <a:ahLst/>
            <a:cxnLst/>
            <a:rect l="l" t="t" r="r" b="b"/>
            <a:pathLst>
              <a:path w="65404" h="2012314">
                <a:moveTo>
                  <a:pt x="64928" y="1849964"/>
                </a:moveTo>
                <a:lnTo>
                  <a:pt x="0" y="1849964"/>
                </a:lnTo>
                <a:lnTo>
                  <a:pt x="32463" y="2012243"/>
                </a:lnTo>
                <a:lnTo>
                  <a:pt x="64928" y="1849964"/>
                </a:lnTo>
                <a:close/>
              </a:path>
              <a:path w="65404" h="2012314">
                <a:moveTo>
                  <a:pt x="48696" y="0"/>
                </a:moveTo>
                <a:lnTo>
                  <a:pt x="16231" y="0"/>
                </a:lnTo>
                <a:lnTo>
                  <a:pt x="16231" y="1849964"/>
                </a:lnTo>
                <a:lnTo>
                  <a:pt x="48696" y="1849964"/>
                </a:lnTo>
                <a:lnTo>
                  <a:pt x="486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02626" y="2019300"/>
            <a:ext cx="65405" cy="2012314"/>
          </a:xfrm>
          <a:custGeom>
            <a:avLst/>
            <a:gdLst/>
            <a:ahLst/>
            <a:cxnLst/>
            <a:rect l="l" t="t" r="r" b="b"/>
            <a:pathLst>
              <a:path w="65404" h="2012314">
                <a:moveTo>
                  <a:pt x="48696" y="0"/>
                </a:moveTo>
                <a:lnTo>
                  <a:pt x="48696" y="1849964"/>
                </a:lnTo>
                <a:lnTo>
                  <a:pt x="64928" y="1849964"/>
                </a:lnTo>
                <a:lnTo>
                  <a:pt x="32464" y="2012244"/>
                </a:lnTo>
                <a:lnTo>
                  <a:pt x="0" y="1849964"/>
                </a:lnTo>
                <a:lnTo>
                  <a:pt x="16232" y="1849964"/>
                </a:lnTo>
                <a:lnTo>
                  <a:pt x="16232" y="0"/>
                </a:lnTo>
                <a:lnTo>
                  <a:pt x="48696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610530" y="2019258"/>
            <a:ext cx="1827530" cy="2085339"/>
          </a:xfrm>
          <a:custGeom>
            <a:avLst/>
            <a:gdLst/>
            <a:ahLst/>
            <a:cxnLst/>
            <a:rect l="l" t="t" r="r" b="b"/>
            <a:pathLst>
              <a:path w="1827529" h="2085339">
                <a:moveTo>
                  <a:pt x="1818696" y="44043"/>
                </a:moveTo>
                <a:lnTo>
                  <a:pt x="1772478" y="44043"/>
                </a:lnTo>
                <a:lnTo>
                  <a:pt x="0" y="2069183"/>
                </a:lnTo>
                <a:lnTo>
                  <a:pt x="18323" y="2085211"/>
                </a:lnTo>
                <a:lnTo>
                  <a:pt x="1790801" y="60072"/>
                </a:lnTo>
                <a:lnTo>
                  <a:pt x="1815600" y="60072"/>
                </a:lnTo>
                <a:lnTo>
                  <a:pt x="1818696" y="44043"/>
                </a:lnTo>
                <a:close/>
              </a:path>
              <a:path w="1827529" h="2085339">
                <a:moveTo>
                  <a:pt x="1815600" y="60072"/>
                </a:moveTo>
                <a:lnTo>
                  <a:pt x="1790801" y="60072"/>
                </a:lnTo>
                <a:lnTo>
                  <a:pt x="1782032" y="105477"/>
                </a:lnTo>
                <a:lnTo>
                  <a:pt x="1786350" y="111861"/>
                </a:lnTo>
                <a:lnTo>
                  <a:pt x="1799553" y="114410"/>
                </a:lnTo>
                <a:lnTo>
                  <a:pt x="1805938" y="110092"/>
                </a:lnTo>
                <a:lnTo>
                  <a:pt x="1815600" y="60072"/>
                </a:lnTo>
                <a:close/>
              </a:path>
              <a:path w="1827529" h="2085339">
                <a:moveTo>
                  <a:pt x="1827203" y="0"/>
                </a:moveTo>
                <a:lnTo>
                  <a:pt x="1720877" y="35684"/>
                </a:lnTo>
                <a:lnTo>
                  <a:pt x="1717445" y="42584"/>
                </a:lnTo>
                <a:lnTo>
                  <a:pt x="1721725" y="55328"/>
                </a:lnTo>
                <a:lnTo>
                  <a:pt x="1728626" y="58760"/>
                </a:lnTo>
                <a:lnTo>
                  <a:pt x="1772478" y="44043"/>
                </a:lnTo>
                <a:lnTo>
                  <a:pt x="1818696" y="44043"/>
                </a:lnTo>
                <a:lnTo>
                  <a:pt x="182720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554707" y="4019438"/>
            <a:ext cx="1884680" cy="253365"/>
          </a:xfrm>
          <a:custGeom>
            <a:avLst/>
            <a:gdLst/>
            <a:ahLst/>
            <a:cxnLst/>
            <a:rect l="l" t="t" r="r" b="b"/>
            <a:pathLst>
              <a:path w="1884679" h="253364">
                <a:moveTo>
                  <a:pt x="90549" y="140681"/>
                </a:moveTo>
                <a:lnTo>
                  <a:pt x="0" y="206844"/>
                </a:lnTo>
                <a:lnTo>
                  <a:pt x="102180" y="253076"/>
                </a:lnTo>
                <a:lnTo>
                  <a:pt x="109392" y="250358"/>
                </a:lnTo>
                <a:lnTo>
                  <a:pt x="114937" y="238112"/>
                </a:lnTo>
                <a:lnTo>
                  <a:pt x="112219" y="230901"/>
                </a:lnTo>
                <a:lnTo>
                  <a:pt x="70077" y="211833"/>
                </a:lnTo>
                <a:lnTo>
                  <a:pt x="304195" y="187620"/>
                </a:lnTo>
                <a:lnTo>
                  <a:pt x="67572" y="187620"/>
                </a:lnTo>
                <a:lnTo>
                  <a:pt x="104917" y="160333"/>
                </a:lnTo>
                <a:lnTo>
                  <a:pt x="106102" y="152718"/>
                </a:lnTo>
                <a:lnTo>
                  <a:pt x="98167" y="141865"/>
                </a:lnTo>
                <a:lnTo>
                  <a:pt x="90549" y="140681"/>
                </a:lnTo>
                <a:close/>
              </a:path>
              <a:path w="1884679" h="253364">
                <a:moveTo>
                  <a:pt x="1881737" y="0"/>
                </a:moveTo>
                <a:lnTo>
                  <a:pt x="67572" y="187620"/>
                </a:lnTo>
                <a:lnTo>
                  <a:pt x="304195" y="187620"/>
                </a:lnTo>
                <a:lnTo>
                  <a:pt x="1884241" y="24212"/>
                </a:lnTo>
                <a:lnTo>
                  <a:pt x="188173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489835" y="4226278"/>
            <a:ext cx="65405" cy="519430"/>
          </a:xfrm>
          <a:custGeom>
            <a:avLst/>
            <a:gdLst/>
            <a:ahLst/>
            <a:cxnLst/>
            <a:rect l="l" t="t" r="r" b="b"/>
            <a:pathLst>
              <a:path w="65405" h="519429">
                <a:moveTo>
                  <a:pt x="64928" y="357010"/>
                </a:moveTo>
                <a:lnTo>
                  <a:pt x="0" y="357010"/>
                </a:lnTo>
                <a:lnTo>
                  <a:pt x="32463" y="519289"/>
                </a:lnTo>
                <a:lnTo>
                  <a:pt x="64928" y="357010"/>
                </a:lnTo>
                <a:close/>
              </a:path>
              <a:path w="65405" h="519429">
                <a:moveTo>
                  <a:pt x="48696" y="0"/>
                </a:moveTo>
                <a:lnTo>
                  <a:pt x="16231" y="0"/>
                </a:lnTo>
                <a:lnTo>
                  <a:pt x="16231" y="357010"/>
                </a:lnTo>
                <a:lnTo>
                  <a:pt x="48696" y="357010"/>
                </a:lnTo>
                <a:lnTo>
                  <a:pt x="486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489835" y="4226278"/>
            <a:ext cx="65405" cy="519430"/>
          </a:xfrm>
          <a:custGeom>
            <a:avLst/>
            <a:gdLst/>
            <a:ahLst/>
            <a:cxnLst/>
            <a:rect l="l" t="t" r="r" b="b"/>
            <a:pathLst>
              <a:path w="65405" h="519429">
                <a:moveTo>
                  <a:pt x="48696" y="0"/>
                </a:moveTo>
                <a:lnTo>
                  <a:pt x="48696" y="357011"/>
                </a:lnTo>
                <a:lnTo>
                  <a:pt x="64928" y="357011"/>
                </a:lnTo>
                <a:lnTo>
                  <a:pt x="32464" y="519288"/>
                </a:lnTo>
                <a:lnTo>
                  <a:pt x="0" y="357011"/>
                </a:lnTo>
                <a:lnTo>
                  <a:pt x="16232" y="357011"/>
                </a:lnTo>
                <a:lnTo>
                  <a:pt x="16232" y="0"/>
                </a:lnTo>
                <a:lnTo>
                  <a:pt x="48696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165476" y="2860648"/>
            <a:ext cx="28956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09380" y="3120222"/>
            <a:ext cx="28956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65476" y="4353197"/>
            <a:ext cx="28956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111950" y="2534532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90" h="454660">
                <a:moveTo>
                  <a:pt x="0" y="454377"/>
                </a:moveTo>
                <a:lnTo>
                  <a:pt x="973931" y="454377"/>
                </a:lnTo>
                <a:lnTo>
                  <a:pt x="973931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24" name="object 24"/>
          <p:cNvSpPr txBox="1"/>
          <p:nvPr/>
        </p:nvSpPr>
        <p:spPr>
          <a:xfrm>
            <a:off x="776272" y="5081170"/>
            <a:ext cx="5798820" cy="342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面对这样的栈你怎么可能从</a:t>
            </a:r>
            <a:r>
              <a:rPr sz="2400" b="1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顺利的回到</a:t>
            </a:r>
            <a:r>
              <a:rPr sz="2400" b="1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A?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7099779" y="2067983"/>
          <a:ext cx="1010919" cy="1842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931"/>
              </a:tblGrid>
              <a:tr h="454377"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104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4378"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204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4377"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304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4377"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404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59635">
              <a:lnSpc>
                <a:spcPct val="100000"/>
              </a:lnSpc>
            </a:pPr>
            <a:r>
              <a:rPr sz="2950" spc="100" dirty="0"/>
              <a:t>两个栈</a:t>
            </a:r>
            <a:r>
              <a:rPr sz="3050" dirty="0">
                <a:latin typeface="Arial" panose="020B0604020202020204"/>
                <a:cs typeface="Arial" panose="020B0604020202020204"/>
              </a:rPr>
              <a:t>+</a:t>
            </a:r>
            <a:r>
              <a:rPr sz="2950" spc="100" dirty="0"/>
              <a:t>两个用户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TCB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10689" y="1890830"/>
            <a:ext cx="1558290" cy="2725420"/>
          </a:xfrm>
          <a:custGeom>
            <a:avLst/>
            <a:gdLst/>
            <a:ahLst/>
            <a:cxnLst/>
            <a:rect l="l" t="t" r="r" b="b"/>
            <a:pathLst>
              <a:path w="1558289" h="2725420">
                <a:moveTo>
                  <a:pt x="0" y="0"/>
                </a:moveTo>
                <a:lnTo>
                  <a:pt x="1558290" y="0"/>
                </a:lnTo>
                <a:lnTo>
                  <a:pt x="1558290" y="2724913"/>
                </a:lnTo>
                <a:lnTo>
                  <a:pt x="0" y="2724913"/>
                </a:lnTo>
                <a:lnTo>
                  <a:pt x="0" y="0"/>
                </a:lnTo>
                <a:close/>
              </a:path>
            </a:pathLst>
          </a:custGeom>
          <a:ln w="243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810981" y="1977995"/>
            <a:ext cx="983615" cy="2577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100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250190" marR="291465" indent="59055">
              <a:lnSpc>
                <a:spcPts val="2070"/>
              </a:lnSpc>
              <a:spcBef>
                <a:spcPts val="40"/>
              </a:spcBef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)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104: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5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200: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35"/>
              </a:lnSpc>
              <a:spcBef>
                <a:spcPts val="25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309880" marR="5080" indent="-63500">
              <a:lnSpc>
                <a:spcPts val="2030"/>
              </a:lnSpc>
              <a:spcBef>
                <a:spcPts val="70"/>
              </a:spcBef>
            </a:pPr>
            <a:r>
              <a:rPr sz="1700" b="1" spc="-60" dirty="0">
                <a:latin typeface="Arial" panose="020B0604020202020204"/>
                <a:cs typeface="Arial" panose="020B0604020202020204"/>
              </a:rPr>
              <a:t>Y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()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204: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00"/>
              </a:lnSpc>
            </a:pP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23481" y="1889478"/>
            <a:ext cx="1558290" cy="2725420"/>
          </a:xfrm>
          <a:prstGeom prst="rect">
            <a:avLst/>
          </a:prstGeom>
          <a:ln w="2434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033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300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C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0033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338455" marR="753745" indent="59055">
              <a:lnSpc>
                <a:spcPts val="2070"/>
              </a:lnSpc>
              <a:spcBef>
                <a:spcPts val="40"/>
              </a:spcBef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)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304: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00330">
              <a:lnSpc>
                <a:spcPts val="195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0033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400: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00330">
              <a:lnSpc>
                <a:spcPts val="2035"/>
              </a:lnSpc>
              <a:spcBef>
                <a:spcPts val="25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398145" marR="466725" indent="-63500">
              <a:lnSpc>
                <a:spcPts val="2030"/>
              </a:lnSpc>
              <a:spcBef>
                <a:spcPts val="70"/>
              </a:spcBef>
            </a:pPr>
            <a:r>
              <a:rPr sz="1700" b="1" spc="-6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Y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()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404: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00330">
              <a:lnSpc>
                <a:spcPts val="2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0910" y="5008880"/>
            <a:ext cx="836739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Yield()</a:t>
            </a: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找到下一个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TCB</a:t>
            </a:r>
            <a:r>
              <a:rPr lang="en-US"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--&gt;</a:t>
            </a: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找到新的</a:t>
            </a:r>
            <a:r>
              <a:rPr sz="3450" b="1" spc="135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栈</a:t>
            </a:r>
            <a:r>
              <a:rPr lang="en-US"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--&gt;</a:t>
            </a:r>
            <a:r>
              <a:rPr sz="2300" b="1" spc="7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切到新的</a:t>
            </a:r>
            <a:r>
              <a:rPr sz="2300" b="1" spc="9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栈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59491" y="3057878"/>
            <a:ext cx="649605" cy="65405"/>
          </a:xfrm>
          <a:custGeom>
            <a:avLst/>
            <a:gdLst/>
            <a:ahLst/>
            <a:cxnLst/>
            <a:rect l="l" t="t" r="r" b="b"/>
            <a:pathLst>
              <a:path w="649604" h="65405">
                <a:moveTo>
                  <a:pt x="486966" y="0"/>
                </a:moveTo>
                <a:lnTo>
                  <a:pt x="486966" y="16226"/>
                </a:lnTo>
                <a:lnTo>
                  <a:pt x="0" y="16226"/>
                </a:lnTo>
                <a:lnTo>
                  <a:pt x="0" y="48682"/>
                </a:lnTo>
                <a:lnTo>
                  <a:pt x="486966" y="48682"/>
                </a:lnTo>
                <a:lnTo>
                  <a:pt x="486966" y="64910"/>
                </a:lnTo>
                <a:lnTo>
                  <a:pt x="649287" y="32454"/>
                </a:lnTo>
                <a:lnTo>
                  <a:pt x="4869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359491" y="3057878"/>
            <a:ext cx="649605" cy="65405"/>
          </a:xfrm>
          <a:custGeom>
            <a:avLst/>
            <a:gdLst/>
            <a:ahLst/>
            <a:cxnLst/>
            <a:rect l="l" t="t" r="r" b="b"/>
            <a:pathLst>
              <a:path w="649604" h="65405">
                <a:moveTo>
                  <a:pt x="0" y="16227"/>
                </a:moveTo>
                <a:lnTo>
                  <a:pt x="486965" y="16227"/>
                </a:lnTo>
                <a:lnTo>
                  <a:pt x="486965" y="0"/>
                </a:lnTo>
                <a:lnTo>
                  <a:pt x="649287" y="32455"/>
                </a:lnTo>
                <a:lnTo>
                  <a:pt x="486965" y="64911"/>
                </a:lnTo>
                <a:lnTo>
                  <a:pt x="486965" y="48683"/>
                </a:lnTo>
                <a:lnTo>
                  <a:pt x="0" y="48683"/>
                </a:lnTo>
                <a:lnTo>
                  <a:pt x="0" y="16227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073707" y="2408767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90" h="454660">
                <a:moveTo>
                  <a:pt x="0" y="0"/>
                </a:moveTo>
                <a:lnTo>
                  <a:pt x="973931" y="0"/>
                </a:lnTo>
                <a:lnTo>
                  <a:pt x="973931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314588" y="2505832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304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073707" y="2863144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90" h="454660">
                <a:moveTo>
                  <a:pt x="0" y="454377"/>
                </a:moveTo>
                <a:lnTo>
                  <a:pt x="973931" y="454377"/>
                </a:lnTo>
                <a:lnTo>
                  <a:pt x="973931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073707" y="2863143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90" h="454660">
                <a:moveTo>
                  <a:pt x="0" y="0"/>
                </a:moveTo>
                <a:lnTo>
                  <a:pt x="973931" y="0"/>
                </a:lnTo>
                <a:lnTo>
                  <a:pt x="973931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314588" y="2960085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404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580832" y="1889478"/>
            <a:ext cx="65405" cy="2077720"/>
          </a:xfrm>
          <a:custGeom>
            <a:avLst/>
            <a:gdLst/>
            <a:ahLst/>
            <a:cxnLst/>
            <a:rect l="l" t="t" r="r" b="b"/>
            <a:pathLst>
              <a:path w="65405" h="2077720">
                <a:moveTo>
                  <a:pt x="64928" y="1914828"/>
                </a:moveTo>
                <a:lnTo>
                  <a:pt x="0" y="1914828"/>
                </a:lnTo>
                <a:lnTo>
                  <a:pt x="32463" y="2077154"/>
                </a:lnTo>
                <a:lnTo>
                  <a:pt x="64928" y="1914828"/>
                </a:lnTo>
                <a:close/>
              </a:path>
              <a:path w="65405" h="2077720">
                <a:moveTo>
                  <a:pt x="48695" y="0"/>
                </a:moveTo>
                <a:lnTo>
                  <a:pt x="16233" y="0"/>
                </a:lnTo>
                <a:lnTo>
                  <a:pt x="16233" y="1914828"/>
                </a:lnTo>
                <a:lnTo>
                  <a:pt x="48695" y="1914828"/>
                </a:lnTo>
                <a:lnTo>
                  <a:pt x="486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80832" y="1889478"/>
            <a:ext cx="65405" cy="2077720"/>
          </a:xfrm>
          <a:custGeom>
            <a:avLst/>
            <a:gdLst/>
            <a:ahLst/>
            <a:cxnLst/>
            <a:rect l="l" t="t" r="r" b="b"/>
            <a:pathLst>
              <a:path w="65405" h="2077720">
                <a:moveTo>
                  <a:pt x="48695" y="0"/>
                </a:moveTo>
                <a:lnTo>
                  <a:pt x="48695" y="1914829"/>
                </a:lnTo>
                <a:lnTo>
                  <a:pt x="64928" y="1914829"/>
                </a:lnTo>
                <a:lnTo>
                  <a:pt x="32463" y="2077155"/>
                </a:lnTo>
                <a:lnTo>
                  <a:pt x="0" y="1914829"/>
                </a:lnTo>
                <a:lnTo>
                  <a:pt x="16232" y="1914829"/>
                </a:lnTo>
                <a:lnTo>
                  <a:pt x="16232" y="0"/>
                </a:lnTo>
                <a:lnTo>
                  <a:pt x="48695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593623" y="1889478"/>
            <a:ext cx="65405" cy="2012314"/>
          </a:xfrm>
          <a:custGeom>
            <a:avLst/>
            <a:gdLst/>
            <a:ahLst/>
            <a:cxnLst/>
            <a:rect l="l" t="t" r="r" b="b"/>
            <a:pathLst>
              <a:path w="65404" h="2012314">
                <a:moveTo>
                  <a:pt x="64928" y="1849964"/>
                </a:moveTo>
                <a:lnTo>
                  <a:pt x="0" y="1849964"/>
                </a:lnTo>
                <a:lnTo>
                  <a:pt x="32463" y="2012243"/>
                </a:lnTo>
                <a:lnTo>
                  <a:pt x="64928" y="1849964"/>
                </a:lnTo>
                <a:close/>
              </a:path>
              <a:path w="65404" h="2012314">
                <a:moveTo>
                  <a:pt x="48696" y="0"/>
                </a:moveTo>
                <a:lnTo>
                  <a:pt x="16231" y="0"/>
                </a:lnTo>
                <a:lnTo>
                  <a:pt x="16231" y="1849964"/>
                </a:lnTo>
                <a:lnTo>
                  <a:pt x="48696" y="1849964"/>
                </a:lnTo>
                <a:lnTo>
                  <a:pt x="486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593623" y="1889478"/>
            <a:ext cx="65405" cy="2012314"/>
          </a:xfrm>
          <a:custGeom>
            <a:avLst/>
            <a:gdLst/>
            <a:ahLst/>
            <a:cxnLst/>
            <a:rect l="l" t="t" r="r" b="b"/>
            <a:pathLst>
              <a:path w="65404" h="2012314">
                <a:moveTo>
                  <a:pt x="48696" y="0"/>
                </a:moveTo>
                <a:lnTo>
                  <a:pt x="48696" y="1849964"/>
                </a:lnTo>
                <a:lnTo>
                  <a:pt x="64928" y="1849964"/>
                </a:lnTo>
                <a:lnTo>
                  <a:pt x="32464" y="2012244"/>
                </a:lnTo>
                <a:lnTo>
                  <a:pt x="0" y="1849964"/>
                </a:lnTo>
                <a:lnTo>
                  <a:pt x="16232" y="1849964"/>
                </a:lnTo>
                <a:lnTo>
                  <a:pt x="16232" y="0"/>
                </a:lnTo>
                <a:lnTo>
                  <a:pt x="48696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701528" y="1889434"/>
            <a:ext cx="1827530" cy="2085339"/>
          </a:xfrm>
          <a:custGeom>
            <a:avLst/>
            <a:gdLst/>
            <a:ahLst/>
            <a:cxnLst/>
            <a:rect l="l" t="t" r="r" b="b"/>
            <a:pathLst>
              <a:path w="1827529" h="2085339">
                <a:moveTo>
                  <a:pt x="1818696" y="44043"/>
                </a:moveTo>
                <a:lnTo>
                  <a:pt x="1772478" y="44043"/>
                </a:lnTo>
                <a:lnTo>
                  <a:pt x="0" y="2069184"/>
                </a:lnTo>
                <a:lnTo>
                  <a:pt x="18323" y="2085213"/>
                </a:lnTo>
                <a:lnTo>
                  <a:pt x="1790801" y="60073"/>
                </a:lnTo>
                <a:lnTo>
                  <a:pt x="1815600" y="60073"/>
                </a:lnTo>
                <a:lnTo>
                  <a:pt x="1818696" y="44043"/>
                </a:lnTo>
                <a:close/>
              </a:path>
              <a:path w="1827529" h="2085339">
                <a:moveTo>
                  <a:pt x="1815600" y="60073"/>
                </a:moveTo>
                <a:lnTo>
                  <a:pt x="1790801" y="60073"/>
                </a:lnTo>
                <a:lnTo>
                  <a:pt x="1782032" y="105478"/>
                </a:lnTo>
                <a:lnTo>
                  <a:pt x="1786350" y="111861"/>
                </a:lnTo>
                <a:lnTo>
                  <a:pt x="1799553" y="114410"/>
                </a:lnTo>
                <a:lnTo>
                  <a:pt x="1805938" y="110093"/>
                </a:lnTo>
                <a:lnTo>
                  <a:pt x="1815600" y="60073"/>
                </a:lnTo>
                <a:close/>
              </a:path>
              <a:path w="1827529" h="2085339">
                <a:moveTo>
                  <a:pt x="1827203" y="0"/>
                </a:moveTo>
                <a:lnTo>
                  <a:pt x="1720877" y="35685"/>
                </a:lnTo>
                <a:lnTo>
                  <a:pt x="1717445" y="42585"/>
                </a:lnTo>
                <a:lnTo>
                  <a:pt x="1721725" y="55330"/>
                </a:lnTo>
                <a:lnTo>
                  <a:pt x="1728626" y="58761"/>
                </a:lnTo>
                <a:lnTo>
                  <a:pt x="1772478" y="44043"/>
                </a:lnTo>
                <a:lnTo>
                  <a:pt x="1818696" y="44043"/>
                </a:lnTo>
                <a:lnTo>
                  <a:pt x="182720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645705" y="3889616"/>
            <a:ext cx="1884680" cy="253365"/>
          </a:xfrm>
          <a:custGeom>
            <a:avLst/>
            <a:gdLst/>
            <a:ahLst/>
            <a:cxnLst/>
            <a:rect l="l" t="t" r="r" b="b"/>
            <a:pathLst>
              <a:path w="1884679" h="253364">
                <a:moveTo>
                  <a:pt x="90549" y="140681"/>
                </a:moveTo>
                <a:lnTo>
                  <a:pt x="0" y="206844"/>
                </a:lnTo>
                <a:lnTo>
                  <a:pt x="102180" y="253076"/>
                </a:lnTo>
                <a:lnTo>
                  <a:pt x="109392" y="250358"/>
                </a:lnTo>
                <a:lnTo>
                  <a:pt x="114937" y="238111"/>
                </a:lnTo>
                <a:lnTo>
                  <a:pt x="112219" y="230899"/>
                </a:lnTo>
                <a:lnTo>
                  <a:pt x="70077" y="211833"/>
                </a:lnTo>
                <a:lnTo>
                  <a:pt x="304195" y="187620"/>
                </a:lnTo>
                <a:lnTo>
                  <a:pt x="67571" y="187620"/>
                </a:lnTo>
                <a:lnTo>
                  <a:pt x="104917" y="160333"/>
                </a:lnTo>
                <a:lnTo>
                  <a:pt x="106102" y="152718"/>
                </a:lnTo>
                <a:lnTo>
                  <a:pt x="98167" y="141865"/>
                </a:lnTo>
                <a:lnTo>
                  <a:pt x="90549" y="140681"/>
                </a:lnTo>
                <a:close/>
              </a:path>
              <a:path w="1884679" h="253364">
                <a:moveTo>
                  <a:pt x="1881737" y="0"/>
                </a:moveTo>
                <a:lnTo>
                  <a:pt x="67571" y="187620"/>
                </a:lnTo>
                <a:lnTo>
                  <a:pt x="304195" y="187620"/>
                </a:lnTo>
                <a:lnTo>
                  <a:pt x="1884241" y="24212"/>
                </a:lnTo>
                <a:lnTo>
                  <a:pt x="188173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580832" y="4096456"/>
            <a:ext cx="65405" cy="519430"/>
          </a:xfrm>
          <a:custGeom>
            <a:avLst/>
            <a:gdLst/>
            <a:ahLst/>
            <a:cxnLst/>
            <a:rect l="l" t="t" r="r" b="b"/>
            <a:pathLst>
              <a:path w="65405" h="519429">
                <a:moveTo>
                  <a:pt x="64928" y="357010"/>
                </a:moveTo>
                <a:lnTo>
                  <a:pt x="0" y="357010"/>
                </a:lnTo>
                <a:lnTo>
                  <a:pt x="32465" y="519289"/>
                </a:lnTo>
                <a:lnTo>
                  <a:pt x="64928" y="357010"/>
                </a:lnTo>
                <a:close/>
              </a:path>
              <a:path w="65405" h="519429">
                <a:moveTo>
                  <a:pt x="48696" y="0"/>
                </a:moveTo>
                <a:lnTo>
                  <a:pt x="16231" y="0"/>
                </a:lnTo>
                <a:lnTo>
                  <a:pt x="16231" y="357010"/>
                </a:lnTo>
                <a:lnTo>
                  <a:pt x="48696" y="357010"/>
                </a:lnTo>
                <a:lnTo>
                  <a:pt x="486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580832" y="4096456"/>
            <a:ext cx="65405" cy="519430"/>
          </a:xfrm>
          <a:custGeom>
            <a:avLst/>
            <a:gdLst/>
            <a:ahLst/>
            <a:cxnLst/>
            <a:rect l="l" t="t" r="r" b="b"/>
            <a:pathLst>
              <a:path w="65405" h="519429">
                <a:moveTo>
                  <a:pt x="48696" y="0"/>
                </a:moveTo>
                <a:lnTo>
                  <a:pt x="48696" y="357011"/>
                </a:lnTo>
                <a:lnTo>
                  <a:pt x="64928" y="357011"/>
                </a:lnTo>
                <a:lnTo>
                  <a:pt x="32464" y="519288"/>
                </a:lnTo>
                <a:lnTo>
                  <a:pt x="0" y="357011"/>
                </a:lnTo>
                <a:lnTo>
                  <a:pt x="16232" y="357011"/>
                </a:lnTo>
                <a:lnTo>
                  <a:pt x="16232" y="0"/>
                </a:lnTo>
                <a:lnTo>
                  <a:pt x="48696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320631" y="2408767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90" h="454660">
                <a:moveTo>
                  <a:pt x="0" y="0"/>
                </a:moveTo>
                <a:lnTo>
                  <a:pt x="973931" y="0"/>
                </a:lnTo>
                <a:lnTo>
                  <a:pt x="973931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359777" y="2738909"/>
            <a:ext cx="604520" cy="673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64770">
              <a:lnSpc>
                <a:spcPct val="128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esp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2000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56474" y="2730860"/>
            <a:ext cx="28956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00378" y="2990434"/>
            <a:ext cx="28956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56474" y="4223410"/>
            <a:ext cx="28956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61511" y="2505832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104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320631" y="2863144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90" h="454660">
                <a:moveTo>
                  <a:pt x="0" y="454377"/>
                </a:moveTo>
                <a:lnTo>
                  <a:pt x="973931" y="454377"/>
                </a:lnTo>
                <a:lnTo>
                  <a:pt x="973931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320631" y="2863143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90" h="454660">
                <a:moveTo>
                  <a:pt x="0" y="0"/>
                </a:moveTo>
                <a:lnTo>
                  <a:pt x="973931" y="0"/>
                </a:lnTo>
                <a:lnTo>
                  <a:pt x="973931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6561511" y="2960085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204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606415" y="3084923"/>
            <a:ext cx="649605" cy="65405"/>
          </a:xfrm>
          <a:custGeom>
            <a:avLst/>
            <a:gdLst/>
            <a:ahLst/>
            <a:cxnLst/>
            <a:rect l="l" t="t" r="r" b="b"/>
            <a:pathLst>
              <a:path w="649604" h="65405">
                <a:moveTo>
                  <a:pt x="486964" y="0"/>
                </a:moveTo>
                <a:lnTo>
                  <a:pt x="486964" y="16228"/>
                </a:lnTo>
                <a:lnTo>
                  <a:pt x="0" y="16228"/>
                </a:lnTo>
                <a:lnTo>
                  <a:pt x="0" y="48682"/>
                </a:lnTo>
                <a:lnTo>
                  <a:pt x="486964" y="48682"/>
                </a:lnTo>
                <a:lnTo>
                  <a:pt x="486964" y="64910"/>
                </a:lnTo>
                <a:lnTo>
                  <a:pt x="649287" y="32456"/>
                </a:lnTo>
                <a:lnTo>
                  <a:pt x="4869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606415" y="3084923"/>
            <a:ext cx="649605" cy="65405"/>
          </a:xfrm>
          <a:custGeom>
            <a:avLst/>
            <a:gdLst/>
            <a:ahLst/>
            <a:cxnLst/>
            <a:rect l="l" t="t" r="r" b="b"/>
            <a:pathLst>
              <a:path w="649604" h="65405">
                <a:moveTo>
                  <a:pt x="0" y="16227"/>
                </a:moveTo>
                <a:lnTo>
                  <a:pt x="486965" y="16227"/>
                </a:lnTo>
                <a:lnTo>
                  <a:pt x="486965" y="0"/>
                </a:lnTo>
                <a:lnTo>
                  <a:pt x="649287" y="32455"/>
                </a:lnTo>
                <a:lnTo>
                  <a:pt x="486965" y="64911"/>
                </a:lnTo>
                <a:lnTo>
                  <a:pt x="486965" y="48683"/>
                </a:lnTo>
                <a:lnTo>
                  <a:pt x="0" y="48683"/>
                </a:lnTo>
                <a:lnTo>
                  <a:pt x="0" y="16227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606700" y="2803802"/>
            <a:ext cx="60452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1000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66129" y="3577166"/>
            <a:ext cx="1428750" cy="454659"/>
          </a:xfrm>
          <a:prstGeom prst="rect">
            <a:avLst/>
          </a:prstGeom>
          <a:ln w="2434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ct val="100000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esp=1000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801486" y="4101672"/>
            <a:ext cx="70358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1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554277" y="3577166"/>
            <a:ext cx="1428750" cy="454659"/>
          </a:xfrm>
          <a:prstGeom prst="rect">
            <a:avLst/>
          </a:prstGeom>
          <a:ln w="2434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ct val="100000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esp=2000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489634" y="4101672"/>
            <a:ext cx="70358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2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635444" y="2084210"/>
            <a:ext cx="930910" cy="259715"/>
          </a:xfrm>
          <a:custGeom>
            <a:avLst/>
            <a:gdLst/>
            <a:ahLst/>
            <a:cxnLst/>
            <a:rect l="l" t="t" r="r" b="b"/>
            <a:pathLst>
              <a:path w="930909" h="259714">
                <a:moveTo>
                  <a:pt x="930375" y="194732"/>
                </a:moveTo>
                <a:lnTo>
                  <a:pt x="800505" y="194732"/>
                </a:lnTo>
                <a:lnTo>
                  <a:pt x="892759" y="259645"/>
                </a:lnTo>
                <a:lnTo>
                  <a:pt x="930375" y="194732"/>
                </a:lnTo>
                <a:close/>
              </a:path>
              <a:path w="930909" h="259714">
                <a:moveTo>
                  <a:pt x="64891" y="0"/>
                </a:moveTo>
                <a:lnTo>
                  <a:pt x="0" y="0"/>
                </a:lnTo>
                <a:lnTo>
                  <a:pt x="58448" y="595"/>
                </a:lnTo>
                <a:lnTo>
                  <a:pt x="116005" y="2357"/>
                </a:lnTo>
                <a:lnTo>
                  <a:pt x="172524" y="5252"/>
                </a:lnTo>
                <a:lnTo>
                  <a:pt x="227859" y="9247"/>
                </a:lnTo>
                <a:lnTo>
                  <a:pt x="281865" y="14306"/>
                </a:lnTo>
                <a:lnTo>
                  <a:pt x="334395" y="20396"/>
                </a:lnTo>
                <a:lnTo>
                  <a:pt x="385303" y="27482"/>
                </a:lnTo>
                <a:lnTo>
                  <a:pt x="434442" y="35530"/>
                </a:lnTo>
                <a:lnTo>
                  <a:pt x="481667" y="44507"/>
                </a:lnTo>
                <a:lnTo>
                  <a:pt x="526831" y="54377"/>
                </a:lnTo>
                <a:lnTo>
                  <a:pt x="569789" y="65108"/>
                </a:lnTo>
                <a:lnTo>
                  <a:pt x="610394" y="76663"/>
                </a:lnTo>
                <a:lnTo>
                  <a:pt x="648500" y="89011"/>
                </a:lnTo>
                <a:lnTo>
                  <a:pt x="716630" y="115943"/>
                </a:lnTo>
                <a:lnTo>
                  <a:pt x="773011" y="145631"/>
                </a:lnTo>
                <a:lnTo>
                  <a:pt x="816473" y="177802"/>
                </a:lnTo>
                <a:lnTo>
                  <a:pt x="832994" y="194732"/>
                </a:lnTo>
                <a:lnTo>
                  <a:pt x="897886" y="194732"/>
                </a:lnTo>
                <a:lnTo>
                  <a:pt x="861322" y="161423"/>
                </a:lnTo>
                <a:lnTo>
                  <a:pt x="811254" y="130459"/>
                </a:lnTo>
                <a:lnTo>
                  <a:pt x="748853" y="102115"/>
                </a:lnTo>
                <a:lnTo>
                  <a:pt x="675286" y="76663"/>
                </a:lnTo>
                <a:lnTo>
                  <a:pt x="634681" y="65107"/>
                </a:lnTo>
                <a:lnTo>
                  <a:pt x="591723" y="54377"/>
                </a:lnTo>
                <a:lnTo>
                  <a:pt x="546559" y="44506"/>
                </a:lnTo>
                <a:lnTo>
                  <a:pt x="499334" y="35530"/>
                </a:lnTo>
                <a:lnTo>
                  <a:pt x="450195" y="27481"/>
                </a:lnTo>
                <a:lnTo>
                  <a:pt x="399287" y="20395"/>
                </a:lnTo>
                <a:lnTo>
                  <a:pt x="346757" y="14306"/>
                </a:lnTo>
                <a:lnTo>
                  <a:pt x="292751" y="9246"/>
                </a:lnTo>
                <a:lnTo>
                  <a:pt x="237416" y="5252"/>
                </a:lnTo>
                <a:lnTo>
                  <a:pt x="180897" y="2357"/>
                </a:lnTo>
                <a:lnTo>
                  <a:pt x="123340" y="595"/>
                </a:lnTo>
                <a:lnTo>
                  <a:pt x="648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775132" y="2084210"/>
            <a:ext cx="892810" cy="259715"/>
          </a:xfrm>
          <a:custGeom>
            <a:avLst/>
            <a:gdLst/>
            <a:ahLst/>
            <a:cxnLst/>
            <a:rect l="l" t="t" r="r" b="b"/>
            <a:pathLst>
              <a:path w="892809" h="259714">
                <a:moveTo>
                  <a:pt x="860311" y="0"/>
                </a:moveTo>
                <a:lnTo>
                  <a:pt x="789752" y="860"/>
                </a:lnTo>
                <a:lnTo>
                  <a:pt x="720764" y="3398"/>
                </a:lnTo>
                <a:lnTo>
                  <a:pt x="653568" y="7545"/>
                </a:lnTo>
                <a:lnTo>
                  <a:pt x="588386" y="13236"/>
                </a:lnTo>
                <a:lnTo>
                  <a:pt x="525439" y="20404"/>
                </a:lnTo>
                <a:lnTo>
                  <a:pt x="464948" y="28981"/>
                </a:lnTo>
                <a:lnTo>
                  <a:pt x="407136" y="38900"/>
                </a:lnTo>
                <a:lnTo>
                  <a:pt x="352222" y="50096"/>
                </a:lnTo>
                <a:lnTo>
                  <a:pt x="300430" y="62501"/>
                </a:lnTo>
                <a:lnTo>
                  <a:pt x="251979" y="76048"/>
                </a:lnTo>
                <a:lnTo>
                  <a:pt x="207092" y="90670"/>
                </a:lnTo>
                <a:lnTo>
                  <a:pt x="165990" y="106302"/>
                </a:lnTo>
                <a:lnTo>
                  <a:pt x="128894" y="122875"/>
                </a:lnTo>
                <a:lnTo>
                  <a:pt x="67607" y="158579"/>
                </a:lnTo>
                <a:lnTo>
                  <a:pt x="25002" y="197249"/>
                </a:lnTo>
                <a:lnTo>
                  <a:pt x="2851" y="238350"/>
                </a:lnTo>
                <a:lnTo>
                  <a:pt x="0" y="259645"/>
                </a:lnTo>
                <a:lnTo>
                  <a:pt x="64893" y="259645"/>
                </a:lnTo>
                <a:lnTo>
                  <a:pt x="67602" y="238904"/>
                </a:lnTo>
                <a:lnTo>
                  <a:pt x="75594" y="218602"/>
                </a:lnTo>
                <a:lnTo>
                  <a:pt x="106621" y="179564"/>
                </a:lnTo>
                <a:lnTo>
                  <a:pt x="156359" y="143038"/>
                </a:lnTo>
                <a:lnTo>
                  <a:pt x="223193" y="109529"/>
                </a:lnTo>
                <a:lnTo>
                  <a:pt x="262516" y="94064"/>
                </a:lnTo>
                <a:lnTo>
                  <a:pt x="305507" y="79543"/>
                </a:lnTo>
                <a:lnTo>
                  <a:pt x="351965" y="66030"/>
                </a:lnTo>
                <a:lnTo>
                  <a:pt x="401687" y="53587"/>
                </a:lnTo>
                <a:lnTo>
                  <a:pt x="454471" y="42279"/>
                </a:lnTo>
                <a:lnTo>
                  <a:pt x="510117" y="32168"/>
                </a:lnTo>
                <a:lnTo>
                  <a:pt x="568421" y="23317"/>
                </a:lnTo>
                <a:lnTo>
                  <a:pt x="629182" y="15790"/>
                </a:lnTo>
                <a:lnTo>
                  <a:pt x="692198" y="9650"/>
                </a:lnTo>
                <a:lnTo>
                  <a:pt x="757268" y="4960"/>
                </a:lnTo>
                <a:lnTo>
                  <a:pt x="824189" y="1784"/>
                </a:lnTo>
                <a:lnTo>
                  <a:pt x="892759" y="185"/>
                </a:lnTo>
                <a:lnTo>
                  <a:pt x="860311" y="0"/>
                </a:lnTo>
                <a:close/>
              </a:path>
            </a:pathLst>
          </a:custGeom>
          <a:solidFill>
            <a:srgbClr val="CD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775132" y="2084210"/>
            <a:ext cx="1790700" cy="259715"/>
          </a:xfrm>
          <a:custGeom>
            <a:avLst/>
            <a:gdLst/>
            <a:ahLst/>
            <a:cxnLst/>
            <a:rect l="l" t="t" r="r" b="b"/>
            <a:pathLst>
              <a:path w="1790700" h="259714">
                <a:moveTo>
                  <a:pt x="892759" y="184"/>
                </a:moveTo>
                <a:lnTo>
                  <a:pt x="824189" y="1784"/>
                </a:lnTo>
                <a:lnTo>
                  <a:pt x="757268" y="4960"/>
                </a:lnTo>
                <a:lnTo>
                  <a:pt x="692199" y="9649"/>
                </a:lnTo>
                <a:lnTo>
                  <a:pt x="629182" y="15789"/>
                </a:lnTo>
                <a:lnTo>
                  <a:pt x="568421" y="23316"/>
                </a:lnTo>
                <a:lnTo>
                  <a:pt x="510117" y="32167"/>
                </a:lnTo>
                <a:lnTo>
                  <a:pt x="454472" y="42279"/>
                </a:lnTo>
                <a:lnTo>
                  <a:pt x="401687" y="53587"/>
                </a:lnTo>
                <a:lnTo>
                  <a:pt x="351965" y="66030"/>
                </a:lnTo>
                <a:lnTo>
                  <a:pt x="305507" y="79543"/>
                </a:lnTo>
                <a:lnTo>
                  <a:pt x="262516" y="94064"/>
                </a:lnTo>
                <a:lnTo>
                  <a:pt x="223193" y="109529"/>
                </a:lnTo>
                <a:lnTo>
                  <a:pt x="187740" y="125874"/>
                </a:lnTo>
                <a:lnTo>
                  <a:pt x="129252" y="160955"/>
                </a:lnTo>
                <a:lnTo>
                  <a:pt x="88668" y="198801"/>
                </a:lnTo>
                <a:lnTo>
                  <a:pt x="67602" y="238904"/>
                </a:lnTo>
                <a:lnTo>
                  <a:pt x="64893" y="259644"/>
                </a:lnTo>
                <a:lnTo>
                  <a:pt x="0" y="259644"/>
                </a:lnTo>
                <a:lnTo>
                  <a:pt x="11260" y="217528"/>
                </a:lnTo>
                <a:lnTo>
                  <a:pt x="43859" y="177576"/>
                </a:lnTo>
                <a:lnTo>
                  <a:pt x="96026" y="140322"/>
                </a:lnTo>
                <a:lnTo>
                  <a:pt x="165990" y="106301"/>
                </a:lnTo>
                <a:lnTo>
                  <a:pt x="207092" y="90670"/>
                </a:lnTo>
                <a:lnTo>
                  <a:pt x="251979" y="76048"/>
                </a:lnTo>
                <a:lnTo>
                  <a:pt x="300430" y="62501"/>
                </a:lnTo>
                <a:lnTo>
                  <a:pt x="352222" y="50096"/>
                </a:lnTo>
                <a:lnTo>
                  <a:pt x="407136" y="38900"/>
                </a:lnTo>
                <a:lnTo>
                  <a:pt x="464949" y="28981"/>
                </a:lnTo>
                <a:lnTo>
                  <a:pt x="525439" y="20404"/>
                </a:lnTo>
                <a:lnTo>
                  <a:pt x="588386" y="13236"/>
                </a:lnTo>
                <a:lnTo>
                  <a:pt x="653568" y="7545"/>
                </a:lnTo>
                <a:lnTo>
                  <a:pt x="720764" y="3398"/>
                </a:lnTo>
                <a:lnTo>
                  <a:pt x="789752" y="860"/>
                </a:lnTo>
                <a:lnTo>
                  <a:pt x="860311" y="0"/>
                </a:lnTo>
                <a:lnTo>
                  <a:pt x="925204" y="0"/>
                </a:lnTo>
                <a:lnTo>
                  <a:pt x="983652" y="595"/>
                </a:lnTo>
                <a:lnTo>
                  <a:pt x="1041208" y="2357"/>
                </a:lnTo>
                <a:lnTo>
                  <a:pt x="1097728" y="5252"/>
                </a:lnTo>
                <a:lnTo>
                  <a:pt x="1153063" y="9247"/>
                </a:lnTo>
                <a:lnTo>
                  <a:pt x="1207069" y="14306"/>
                </a:lnTo>
                <a:lnTo>
                  <a:pt x="1259599" y="20395"/>
                </a:lnTo>
                <a:lnTo>
                  <a:pt x="1310506" y="27482"/>
                </a:lnTo>
                <a:lnTo>
                  <a:pt x="1359646" y="35530"/>
                </a:lnTo>
                <a:lnTo>
                  <a:pt x="1406871" y="44506"/>
                </a:lnTo>
                <a:lnTo>
                  <a:pt x="1452035" y="54377"/>
                </a:lnTo>
                <a:lnTo>
                  <a:pt x="1494993" y="65107"/>
                </a:lnTo>
                <a:lnTo>
                  <a:pt x="1535598" y="76663"/>
                </a:lnTo>
                <a:lnTo>
                  <a:pt x="1573703" y="89011"/>
                </a:lnTo>
                <a:lnTo>
                  <a:pt x="1641834" y="115943"/>
                </a:lnTo>
                <a:lnTo>
                  <a:pt x="1698214" y="145631"/>
                </a:lnTo>
                <a:lnTo>
                  <a:pt x="1741676" y="177802"/>
                </a:lnTo>
                <a:lnTo>
                  <a:pt x="1758197" y="194733"/>
                </a:lnTo>
                <a:lnTo>
                  <a:pt x="1790687" y="194733"/>
                </a:lnTo>
                <a:lnTo>
                  <a:pt x="1753070" y="259644"/>
                </a:lnTo>
                <a:lnTo>
                  <a:pt x="1660816" y="194733"/>
                </a:lnTo>
                <a:lnTo>
                  <a:pt x="1693305" y="194733"/>
                </a:lnTo>
                <a:lnTo>
                  <a:pt x="1676784" y="177802"/>
                </a:lnTo>
                <a:lnTo>
                  <a:pt x="1633322" y="145631"/>
                </a:lnTo>
                <a:lnTo>
                  <a:pt x="1576942" y="115943"/>
                </a:lnTo>
                <a:lnTo>
                  <a:pt x="1508811" y="89011"/>
                </a:lnTo>
                <a:lnTo>
                  <a:pt x="1470705" y="76663"/>
                </a:lnTo>
                <a:lnTo>
                  <a:pt x="1430101" y="65107"/>
                </a:lnTo>
                <a:lnTo>
                  <a:pt x="1387143" y="54377"/>
                </a:lnTo>
                <a:lnTo>
                  <a:pt x="1341979" y="44507"/>
                </a:lnTo>
                <a:lnTo>
                  <a:pt x="1294754" y="35530"/>
                </a:lnTo>
                <a:lnTo>
                  <a:pt x="1245614" y="27482"/>
                </a:lnTo>
                <a:lnTo>
                  <a:pt x="1194707" y="20395"/>
                </a:lnTo>
                <a:lnTo>
                  <a:pt x="1142177" y="14306"/>
                </a:lnTo>
                <a:lnTo>
                  <a:pt x="1088172" y="9247"/>
                </a:lnTo>
                <a:lnTo>
                  <a:pt x="1032836" y="5252"/>
                </a:lnTo>
                <a:lnTo>
                  <a:pt x="976317" y="2357"/>
                </a:lnTo>
                <a:lnTo>
                  <a:pt x="918760" y="595"/>
                </a:lnTo>
                <a:lnTo>
                  <a:pt x="860312" y="0"/>
                </a:lnTo>
              </a:path>
            </a:pathLst>
          </a:custGeom>
          <a:ln w="2163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7359777" y="1821700"/>
            <a:ext cx="67500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Yield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44" name="object 44"/>
          <p:cNvSpPr txBox="1"/>
          <p:nvPr/>
        </p:nvSpPr>
        <p:spPr>
          <a:xfrm>
            <a:off x="5131033" y="6459594"/>
            <a:ext cx="43116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r>
              <a:rPr sz="135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dirty="0">
                <a:latin typeface="Arial" panose="020B0604020202020204"/>
                <a:cs typeface="Arial" panose="020B0604020202020204"/>
              </a:rPr>
              <a:t>1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0</a:t>
            </a:r>
            <a:r>
              <a:rPr sz="1350" b="1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70405">
              <a:lnSpc>
                <a:spcPct val="100000"/>
              </a:lnSpc>
            </a:pPr>
            <a:r>
              <a:rPr sz="2950" spc="100" dirty="0"/>
              <a:t>一直在用户态那怎么行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?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895888" y="2408767"/>
            <a:ext cx="1200150" cy="1159510"/>
          </a:xfrm>
          <a:custGeom>
            <a:avLst/>
            <a:gdLst/>
            <a:ahLst/>
            <a:cxnLst/>
            <a:rect l="l" t="t" r="r" b="b"/>
            <a:pathLst>
              <a:path w="1200150" h="1159510">
                <a:moveTo>
                  <a:pt x="0" y="0"/>
                </a:moveTo>
                <a:lnTo>
                  <a:pt x="1199829" y="0"/>
                </a:lnTo>
                <a:lnTo>
                  <a:pt x="1199829" y="1158934"/>
                </a:lnTo>
                <a:lnTo>
                  <a:pt x="0" y="1158934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29654" y="2408767"/>
            <a:ext cx="2108835" cy="1159510"/>
          </a:xfrm>
          <a:custGeom>
            <a:avLst/>
            <a:gdLst/>
            <a:ahLst/>
            <a:cxnLst/>
            <a:rect l="l" t="t" r="r" b="b"/>
            <a:pathLst>
              <a:path w="2108835" h="1159510">
                <a:moveTo>
                  <a:pt x="0" y="0"/>
                </a:moveTo>
                <a:lnTo>
                  <a:pt x="2108831" y="0"/>
                </a:lnTo>
                <a:lnTo>
                  <a:pt x="2108831" y="1158934"/>
                </a:lnTo>
                <a:lnTo>
                  <a:pt x="0" y="1158934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64895" y="3567701"/>
            <a:ext cx="5708650" cy="0"/>
          </a:xfrm>
          <a:custGeom>
            <a:avLst/>
            <a:gdLst/>
            <a:ahLst/>
            <a:cxnLst/>
            <a:rect l="l" t="t" r="r" b="b"/>
            <a:pathLst>
              <a:path w="5708650">
                <a:moveTo>
                  <a:pt x="0" y="0"/>
                </a:moveTo>
                <a:lnTo>
                  <a:pt x="5708464" y="0"/>
                </a:lnTo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97397" y="2533556"/>
            <a:ext cx="3323220" cy="243839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133998" y="2070354"/>
            <a:ext cx="1350645" cy="56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搜狗浏览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器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90245">
              <a:lnSpc>
                <a:spcPct val="100000"/>
              </a:lnSpc>
              <a:spcBef>
                <a:spcPts val="125"/>
              </a:spcBef>
            </a:pPr>
            <a:r>
              <a:rPr sz="1700" b="1" spc="-5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1700" b="1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700" b="1" dirty="0">
                <a:latin typeface="Times New Roman" panose="02020603050405020304"/>
                <a:cs typeface="Times New Roman" panose="02020603050405020304"/>
              </a:rPr>
              <a:t>og</a:t>
            </a:r>
            <a:r>
              <a:rPr sz="1700" b="1" spc="-1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700" b="1" dirty="0">
                <a:latin typeface="Times New Roman" panose="02020603050405020304"/>
                <a:cs typeface="Times New Roman" panose="02020603050405020304"/>
              </a:rPr>
              <a:t>e</a:t>
            </a:r>
            <a:endParaRPr sz="1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8" name="object 8"/>
          <p:cNvSpPr txBox="1"/>
          <p:nvPr/>
        </p:nvSpPr>
        <p:spPr>
          <a:xfrm>
            <a:off x="1850302" y="3266826"/>
            <a:ext cx="54356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户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63829" y="4292955"/>
            <a:ext cx="54356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内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核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89411" y="2077696"/>
            <a:ext cx="4286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30" dirty="0">
                <a:latin typeface="Times New Roman" panose="02020603050405020304"/>
                <a:cs typeface="Times New Roman" panose="02020603050405020304"/>
              </a:rPr>
              <a:t>QQ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01631" y="4377152"/>
            <a:ext cx="620395" cy="251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进程</a:t>
            </a:r>
            <a:r>
              <a:rPr sz="1650" b="1" spc="-40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b="1" dirty="0">
                <a:latin typeface="Times New Roman" panose="02020603050405020304"/>
                <a:cs typeface="Times New Roman" panose="02020603050405020304"/>
              </a:rPr>
              <a:t>1</a:t>
            </a:r>
            <a:endParaRPr sz="1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41771" y="4400135"/>
            <a:ext cx="620395" cy="251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进程</a:t>
            </a:r>
            <a:r>
              <a:rPr sz="1650" b="1" spc="-40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b="1" dirty="0">
                <a:latin typeface="Times New Roman" panose="02020603050405020304"/>
                <a:cs typeface="Times New Roman" panose="02020603050405020304"/>
              </a:rPr>
              <a:t>2</a:t>
            </a:r>
            <a:endParaRPr sz="1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37760" y="2588610"/>
            <a:ext cx="55435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Times New Roman" panose="02020603050405020304"/>
                <a:cs typeface="Times New Roman" panose="02020603050405020304"/>
              </a:rPr>
              <a:t>ba</a:t>
            </a:r>
            <a:r>
              <a:rPr sz="1700" b="1" spc="-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700" b="1" dirty="0">
                <a:latin typeface="Times New Roman" panose="02020603050405020304"/>
                <a:cs typeface="Times New Roman" panose="02020603050405020304"/>
              </a:rPr>
              <a:t>du</a:t>
            </a:r>
            <a:endParaRPr sz="1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80409" y="2648011"/>
            <a:ext cx="457834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线程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8405">
              <a:lnSpc>
                <a:spcPts val="3470"/>
              </a:lnSpc>
            </a:pPr>
            <a:r>
              <a:rPr spc="100" dirty="0"/>
              <a:t>引入内核栈的切换</a:t>
            </a:r>
            <a:endParaRPr spc="100" dirty="0"/>
          </a:p>
        </p:txBody>
      </p:sp>
      <p:sp>
        <p:nvSpPr>
          <p:cNvPr id="3" name="object 3"/>
          <p:cNvSpPr/>
          <p:nvPr/>
        </p:nvSpPr>
        <p:spPr>
          <a:xfrm>
            <a:off x="736758" y="1890830"/>
            <a:ext cx="1167765" cy="2725420"/>
          </a:xfrm>
          <a:custGeom>
            <a:avLst/>
            <a:gdLst/>
            <a:ahLst/>
            <a:cxnLst/>
            <a:rect l="l" t="t" r="r" b="b"/>
            <a:pathLst>
              <a:path w="1167764" h="2725420">
                <a:moveTo>
                  <a:pt x="0" y="0"/>
                </a:moveTo>
                <a:lnTo>
                  <a:pt x="1167365" y="0"/>
                </a:lnTo>
                <a:lnTo>
                  <a:pt x="1167365" y="2724913"/>
                </a:lnTo>
                <a:lnTo>
                  <a:pt x="0" y="2724913"/>
                </a:lnTo>
                <a:lnTo>
                  <a:pt x="0" y="0"/>
                </a:lnTo>
                <a:close/>
              </a:path>
            </a:pathLst>
          </a:custGeom>
          <a:ln w="243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28251" y="1977995"/>
            <a:ext cx="817880" cy="1798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100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250190" marR="125730" indent="57150" algn="ctr">
              <a:lnSpc>
                <a:spcPts val="2070"/>
              </a:lnSpc>
              <a:spcBef>
                <a:spcPts val="40"/>
              </a:spcBef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)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104: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5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200: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8251" y="4051778"/>
            <a:ext cx="756285" cy="762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ea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();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309880">
              <a:lnSpc>
                <a:spcPts val="2035"/>
              </a:lnSpc>
              <a:spcBef>
                <a:spcPts val="25"/>
              </a:spcBef>
            </a:pP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204: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35"/>
              </a:lnSpc>
            </a:pP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58723" y="1889478"/>
            <a:ext cx="1315085" cy="2725420"/>
          </a:xfrm>
          <a:prstGeom prst="rect">
            <a:avLst/>
          </a:prstGeom>
          <a:ln w="2434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525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300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C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9525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332740" marR="515620" indent="59055">
              <a:lnSpc>
                <a:spcPts val="2070"/>
              </a:lnSpc>
              <a:spcBef>
                <a:spcPts val="40"/>
              </a:spcBef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)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304: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95250">
              <a:lnSpc>
                <a:spcPts val="195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9525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400: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95250">
              <a:lnSpc>
                <a:spcPts val="2035"/>
              </a:lnSpc>
              <a:spcBef>
                <a:spcPts val="25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392430" marR="217170">
              <a:lnSpc>
                <a:spcPts val="2030"/>
              </a:lnSpc>
              <a:spcBef>
                <a:spcPts val="70"/>
              </a:spcBef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ea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();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404: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95250">
              <a:lnSpc>
                <a:spcPts val="2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25845" y="2278943"/>
            <a:ext cx="1169035" cy="454659"/>
          </a:xfrm>
          <a:custGeom>
            <a:avLst/>
            <a:gdLst/>
            <a:ahLst/>
            <a:cxnLst/>
            <a:rect l="l" t="t" r="r" b="b"/>
            <a:pathLst>
              <a:path w="1169034" h="454660">
                <a:moveTo>
                  <a:pt x="0" y="0"/>
                </a:moveTo>
                <a:lnTo>
                  <a:pt x="1168717" y="0"/>
                </a:lnTo>
                <a:lnTo>
                  <a:pt x="1168717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464091" y="2376044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304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6901" y="1889478"/>
            <a:ext cx="65405" cy="2077720"/>
          </a:xfrm>
          <a:custGeom>
            <a:avLst/>
            <a:gdLst/>
            <a:ahLst/>
            <a:cxnLst/>
            <a:rect l="l" t="t" r="r" b="b"/>
            <a:pathLst>
              <a:path w="65404" h="2077720">
                <a:moveTo>
                  <a:pt x="64928" y="1914828"/>
                </a:moveTo>
                <a:lnTo>
                  <a:pt x="0" y="1914828"/>
                </a:lnTo>
                <a:lnTo>
                  <a:pt x="32463" y="2077154"/>
                </a:lnTo>
                <a:lnTo>
                  <a:pt x="64928" y="1914828"/>
                </a:lnTo>
                <a:close/>
              </a:path>
              <a:path w="65404" h="2077720">
                <a:moveTo>
                  <a:pt x="48695" y="0"/>
                </a:moveTo>
                <a:lnTo>
                  <a:pt x="16232" y="0"/>
                </a:lnTo>
                <a:lnTo>
                  <a:pt x="16232" y="1914828"/>
                </a:lnTo>
                <a:lnTo>
                  <a:pt x="48695" y="1914828"/>
                </a:lnTo>
                <a:lnTo>
                  <a:pt x="486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06901" y="1889478"/>
            <a:ext cx="65405" cy="2077720"/>
          </a:xfrm>
          <a:custGeom>
            <a:avLst/>
            <a:gdLst/>
            <a:ahLst/>
            <a:cxnLst/>
            <a:rect l="l" t="t" r="r" b="b"/>
            <a:pathLst>
              <a:path w="65404" h="2077720">
                <a:moveTo>
                  <a:pt x="48695" y="0"/>
                </a:moveTo>
                <a:lnTo>
                  <a:pt x="48695" y="1914829"/>
                </a:lnTo>
                <a:lnTo>
                  <a:pt x="64928" y="1914829"/>
                </a:lnTo>
                <a:lnTo>
                  <a:pt x="32463" y="2077155"/>
                </a:lnTo>
                <a:lnTo>
                  <a:pt x="0" y="1914829"/>
                </a:lnTo>
                <a:lnTo>
                  <a:pt x="16232" y="1914829"/>
                </a:lnTo>
                <a:lnTo>
                  <a:pt x="16232" y="0"/>
                </a:lnTo>
                <a:lnTo>
                  <a:pt x="48695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328866" y="1889478"/>
            <a:ext cx="65405" cy="2012314"/>
          </a:xfrm>
          <a:custGeom>
            <a:avLst/>
            <a:gdLst/>
            <a:ahLst/>
            <a:cxnLst/>
            <a:rect l="l" t="t" r="r" b="b"/>
            <a:pathLst>
              <a:path w="65405" h="2012314">
                <a:moveTo>
                  <a:pt x="64928" y="1849964"/>
                </a:moveTo>
                <a:lnTo>
                  <a:pt x="0" y="1849964"/>
                </a:lnTo>
                <a:lnTo>
                  <a:pt x="32463" y="2012243"/>
                </a:lnTo>
                <a:lnTo>
                  <a:pt x="64928" y="1849964"/>
                </a:lnTo>
                <a:close/>
              </a:path>
              <a:path w="65405" h="2012314">
                <a:moveTo>
                  <a:pt x="48696" y="0"/>
                </a:moveTo>
                <a:lnTo>
                  <a:pt x="16231" y="0"/>
                </a:lnTo>
                <a:lnTo>
                  <a:pt x="16231" y="1849964"/>
                </a:lnTo>
                <a:lnTo>
                  <a:pt x="48696" y="1849964"/>
                </a:lnTo>
                <a:lnTo>
                  <a:pt x="486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328866" y="1889478"/>
            <a:ext cx="65405" cy="2012314"/>
          </a:xfrm>
          <a:custGeom>
            <a:avLst/>
            <a:gdLst/>
            <a:ahLst/>
            <a:cxnLst/>
            <a:rect l="l" t="t" r="r" b="b"/>
            <a:pathLst>
              <a:path w="65405" h="2012314">
                <a:moveTo>
                  <a:pt x="48696" y="0"/>
                </a:moveTo>
                <a:lnTo>
                  <a:pt x="48696" y="1849964"/>
                </a:lnTo>
                <a:lnTo>
                  <a:pt x="64928" y="1849964"/>
                </a:lnTo>
                <a:lnTo>
                  <a:pt x="32464" y="2012244"/>
                </a:lnTo>
                <a:lnTo>
                  <a:pt x="0" y="1849964"/>
                </a:lnTo>
                <a:lnTo>
                  <a:pt x="16232" y="1849964"/>
                </a:lnTo>
                <a:lnTo>
                  <a:pt x="16232" y="0"/>
                </a:lnTo>
                <a:lnTo>
                  <a:pt x="48696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27168" y="1889433"/>
            <a:ext cx="1634489" cy="2084705"/>
          </a:xfrm>
          <a:custGeom>
            <a:avLst/>
            <a:gdLst/>
            <a:ahLst/>
            <a:cxnLst/>
            <a:rect l="l" t="t" r="r" b="b"/>
            <a:pathLst>
              <a:path w="1634489" h="2084704">
                <a:moveTo>
                  <a:pt x="1627786" y="46996"/>
                </a:moveTo>
                <a:lnTo>
                  <a:pt x="1581986" y="46996"/>
                </a:lnTo>
                <a:lnTo>
                  <a:pt x="0" y="2069702"/>
                </a:lnTo>
                <a:lnTo>
                  <a:pt x="19180" y="2084696"/>
                </a:lnTo>
                <a:lnTo>
                  <a:pt x="1601167" y="61989"/>
                </a:lnTo>
                <a:lnTo>
                  <a:pt x="1625741" y="61989"/>
                </a:lnTo>
                <a:lnTo>
                  <a:pt x="1627786" y="46996"/>
                </a:lnTo>
                <a:close/>
              </a:path>
              <a:path w="1634489" h="2084704">
                <a:moveTo>
                  <a:pt x="1625741" y="61989"/>
                </a:moveTo>
                <a:lnTo>
                  <a:pt x="1601167" y="61989"/>
                </a:lnTo>
                <a:lnTo>
                  <a:pt x="1594917" y="107810"/>
                </a:lnTo>
                <a:lnTo>
                  <a:pt x="1599580" y="113945"/>
                </a:lnTo>
                <a:lnTo>
                  <a:pt x="1612905" y="115761"/>
                </a:lnTo>
                <a:lnTo>
                  <a:pt x="1619042" y="111098"/>
                </a:lnTo>
                <a:lnTo>
                  <a:pt x="1625741" y="61989"/>
                </a:lnTo>
                <a:close/>
              </a:path>
              <a:path w="1634489" h="2084704">
                <a:moveTo>
                  <a:pt x="1634197" y="0"/>
                </a:moveTo>
                <a:lnTo>
                  <a:pt x="1530002" y="41497"/>
                </a:lnTo>
                <a:lnTo>
                  <a:pt x="1526957" y="48576"/>
                </a:lnTo>
                <a:lnTo>
                  <a:pt x="1531934" y="61065"/>
                </a:lnTo>
                <a:lnTo>
                  <a:pt x="1539014" y="64110"/>
                </a:lnTo>
                <a:lnTo>
                  <a:pt x="1581986" y="46996"/>
                </a:lnTo>
                <a:lnTo>
                  <a:pt x="1627786" y="46996"/>
                </a:lnTo>
                <a:lnTo>
                  <a:pt x="163419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71773" y="3889631"/>
            <a:ext cx="1691005" cy="252095"/>
          </a:xfrm>
          <a:custGeom>
            <a:avLst/>
            <a:gdLst/>
            <a:ahLst/>
            <a:cxnLst/>
            <a:rect l="l" t="t" r="r" b="b"/>
            <a:pathLst>
              <a:path w="1691005" h="252095">
                <a:moveTo>
                  <a:pt x="89769" y="139611"/>
                </a:moveTo>
                <a:lnTo>
                  <a:pt x="0" y="206830"/>
                </a:lnTo>
                <a:lnTo>
                  <a:pt x="102714" y="251863"/>
                </a:lnTo>
                <a:lnTo>
                  <a:pt x="109895" y="249062"/>
                </a:lnTo>
                <a:lnTo>
                  <a:pt x="115296" y="236749"/>
                </a:lnTo>
                <a:lnTo>
                  <a:pt x="112493" y="229571"/>
                </a:lnTo>
                <a:lnTo>
                  <a:pt x="70131" y="210999"/>
                </a:lnTo>
                <a:lnTo>
                  <a:pt x="279934" y="186817"/>
                </a:lnTo>
                <a:lnTo>
                  <a:pt x="67342" y="186817"/>
                </a:lnTo>
                <a:lnTo>
                  <a:pt x="104365" y="159094"/>
                </a:lnTo>
                <a:lnTo>
                  <a:pt x="105460" y="151466"/>
                </a:lnTo>
                <a:lnTo>
                  <a:pt x="97399" y="140705"/>
                </a:lnTo>
                <a:lnTo>
                  <a:pt x="89769" y="139611"/>
                </a:lnTo>
                <a:close/>
              </a:path>
              <a:path w="1691005" h="252095">
                <a:moveTo>
                  <a:pt x="1688161" y="0"/>
                </a:moveTo>
                <a:lnTo>
                  <a:pt x="67342" y="186817"/>
                </a:lnTo>
                <a:lnTo>
                  <a:pt x="279934" y="186817"/>
                </a:lnTo>
                <a:lnTo>
                  <a:pt x="1690950" y="24182"/>
                </a:lnTo>
                <a:lnTo>
                  <a:pt x="168816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06901" y="4096456"/>
            <a:ext cx="65405" cy="519430"/>
          </a:xfrm>
          <a:custGeom>
            <a:avLst/>
            <a:gdLst/>
            <a:ahLst/>
            <a:cxnLst/>
            <a:rect l="l" t="t" r="r" b="b"/>
            <a:pathLst>
              <a:path w="65404" h="519429">
                <a:moveTo>
                  <a:pt x="64928" y="357010"/>
                </a:moveTo>
                <a:lnTo>
                  <a:pt x="0" y="357010"/>
                </a:lnTo>
                <a:lnTo>
                  <a:pt x="32464" y="519289"/>
                </a:lnTo>
                <a:lnTo>
                  <a:pt x="64928" y="357010"/>
                </a:lnTo>
                <a:close/>
              </a:path>
              <a:path w="65404" h="519429">
                <a:moveTo>
                  <a:pt x="48696" y="0"/>
                </a:moveTo>
                <a:lnTo>
                  <a:pt x="16232" y="0"/>
                </a:lnTo>
                <a:lnTo>
                  <a:pt x="16232" y="357010"/>
                </a:lnTo>
                <a:lnTo>
                  <a:pt x="48696" y="357010"/>
                </a:lnTo>
                <a:lnTo>
                  <a:pt x="486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06901" y="4096456"/>
            <a:ext cx="65405" cy="519430"/>
          </a:xfrm>
          <a:custGeom>
            <a:avLst/>
            <a:gdLst/>
            <a:ahLst/>
            <a:cxnLst/>
            <a:rect l="l" t="t" r="r" b="b"/>
            <a:pathLst>
              <a:path w="65404" h="519429">
                <a:moveTo>
                  <a:pt x="48696" y="0"/>
                </a:moveTo>
                <a:lnTo>
                  <a:pt x="48696" y="357011"/>
                </a:lnTo>
                <a:lnTo>
                  <a:pt x="64928" y="357011"/>
                </a:lnTo>
                <a:lnTo>
                  <a:pt x="32464" y="519288"/>
                </a:lnTo>
                <a:lnTo>
                  <a:pt x="0" y="357011"/>
                </a:lnTo>
                <a:lnTo>
                  <a:pt x="16232" y="357011"/>
                </a:lnTo>
                <a:lnTo>
                  <a:pt x="16232" y="0"/>
                </a:lnTo>
                <a:lnTo>
                  <a:pt x="48696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82543" y="2730860"/>
            <a:ext cx="28956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35619" y="2990434"/>
            <a:ext cx="28956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2543" y="4223410"/>
            <a:ext cx="28956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307840" y="2278943"/>
            <a:ext cx="1233805" cy="454659"/>
          </a:xfrm>
          <a:custGeom>
            <a:avLst/>
            <a:gdLst/>
            <a:ahLst/>
            <a:cxnLst/>
            <a:rect l="l" t="t" r="r" b="b"/>
            <a:pathLst>
              <a:path w="1233804" h="454660">
                <a:moveTo>
                  <a:pt x="0" y="0"/>
                </a:moveTo>
                <a:lnTo>
                  <a:pt x="1233646" y="0"/>
                </a:lnTo>
                <a:lnTo>
                  <a:pt x="1233646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678542" y="2376044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104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204051" y="5394678"/>
            <a:ext cx="1233805" cy="454659"/>
          </a:xfrm>
          <a:custGeom>
            <a:avLst/>
            <a:gdLst/>
            <a:ahLst/>
            <a:cxnLst/>
            <a:rect l="l" t="t" r="r" b="b"/>
            <a:pathLst>
              <a:path w="1233804" h="454660">
                <a:moveTo>
                  <a:pt x="0" y="0"/>
                </a:moveTo>
                <a:lnTo>
                  <a:pt x="1233646" y="0"/>
                </a:lnTo>
                <a:lnTo>
                  <a:pt x="1233646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496995" y="5490931"/>
            <a:ext cx="64770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esp=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44622" y="5918689"/>
            <a:ext cx="70358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1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125845" y="5394678"/>
            <a:ext cx="1233805" cy="454659"/>
          </a:xfrm>
          <a:custGeom>
            <a:avLst/>
            <a:gdLst/>
            <a:ahLst/>
            <a:cxnLst/>
            <a:rect l="l" t="t" r="r" b="b"/>
            <a:pathLst>
              <a:path w="1233804" h="454660">
                <a:moveTo>
                  <a:pt x="0" y="0"/>
                </a:moveTo>
                <a:lnTo>
                  <a:pt x="1233646" y="0"/>
                </a:lnTo>
                <a:lnTo>
                  <a:pt x="1233646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418789" y="5490931"/>
            <a:ext cx="64770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esp=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66415" y="5918689"/>
            <a:ext cx="70358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2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918267" y="3057878"/>
            <a:ext cx="3506470" cy="0"/>
          </a:xfrm>
          <a:custGeom>
            <a:avLst/>
            <a:gdLst/>
            <a:ahLst/>
            <a:cxnLst/>
            <a:rect l="l" t="t" r="r" b="b"/>
            <a:pathLst>
              <a:path w="3506470">
                <a:moveTo>
                  <a:pt x="0" y="0"/>
                </a:moveTo>
                <a:lnTo>
                  <a:pt x="3506152" y="0"/>
                </a:lnTo>
              </a:path>
            </a:pathLst>
          </a:custGeom>
          <a:ln w="32455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906367" y="2473678"/>
            <a:ext cx="3530223" cy="315165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519004" y="3099880"/>
            <a:ext cx="1228725" cy="489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437515">
              <a:lnSpc>
                <a:spcPts val="202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内核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栈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31" name="object 31"/>
          <p:cNvSpPr txBox="1"/>
          <p:nvPr/>
        </p:nvSpPr>
        <p:spPr>
          <a:xfrm>
            <a:off x="4279703" y="3698447"/>
            <a:ext cx="1076960" cy="673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1310" marR="5080" indent="-309245">
              <a:lnSpc>
                <a:spcPct val="128000"/>
              </a:lnSpc>
            </a:pP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204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44395" y="1950029"/>
            <a:ext cx="80327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用户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栈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50083" y="3691462"/>
            <a:ext cx="1076960" cy="673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1310" marR="5080" indent="-309245">
              <a:lnSpc>
                <a:spcPct val="128000"/>
              </a:lnSpc>
            </a:pP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404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569665" y="3095824"/>
            <a:ext cx="44323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901121" y="5269755"/>
            <a:ext cx="114935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sc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83084" y="1202167"/>
            <a:ext cx="3530600" cy="430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50" b="1" spc="100" dirty="0">
                <a:latin typeface="宋体" panose="02010600030101010101" pitchFamily="2" charset="-122"/>
                <a:cs typeface="宋体" panose="02010600030101010101" pitchFamily="2" charset="-122"/>
              </a:rPr>
              <a:t>到实现</a:t>
            </a:r>
            <a:r>
              <a:rPr sz="3050" b="1" spc="5" dirty="0">
                <a:latin typeface="Arial" panose="020B0604020202020204"/>
                <a:cs typeface="Arial" panose="020B0604020202020204"/>
              </a:rPr>
              <a:t>ide</a:t>
            </a:r>
            <a:r>
              <a:rPr sz="3050" b="1" dirty="0">
                <a:latin typeface="Arial" panose="020B0604020202020204"/>
                <a:cs typeface="Arial" panose="020B0604020202020204"/>
              </a:rPr>
              <a:t>a</a:t>
            </a:r>
            <a:r>
              <a:rPr sz="2950" b="1" spc="100" dirty="0">
                <a:latin typeface="宋体" panose="02010600030101010101" pitchFamily="2" charset="-122"/>
                <a:cs typeface="宋体" panose="02010600030101010101" pitchFamily="2" charset="-122"/>
              </a:rPr>
              <a:t>的时候了</a:t>
            </a:r>
            <a:endParaRPr sz="2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1402" y="2278944"/>
            <a:ext cx="5989676" cy="41624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13725" y="1869858"/>
            <a:ext cx="4874260" cy="321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30"/>
              </a:lnSpc>
            </a:pPr>
            <a:r>
              <a:rPr sz="2300" b="1" spc="7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从一个简单、清晰、明确的目标开</a:t>
            </a:r>
            <a:r>
              <a:rPr sz="2300" b="1" spc="9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始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73350">
              <a:lnSpc>
                <a:spcPts val="3470"/>
              </a:lnSpc>
            </a:pPr>
            <a:r>
              <a:rPr spc="100" dirty="0"/>
              <a:t>从用户代码开始</a:t>
            </a:r>
            <a:endParaRPr spc="10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4" name="object 4"/>
          <p:cNvSpPr txBox="1"/>
          <p:nvPr/>
        </p:nvSpPr>
        <p:spPr>
          <a:xfrm>
            <a:off x="2099729" y="2216582"/>
            <a:ext cx="1113155" cy="766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main()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99729" y="3088442"/>
            <a:ext cx="6367780" cy="163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if(!fork()){while(1)printf(“A”);}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374650" marR="5080">
              <a:lnSpc>
                <a:spcPct val="119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if(!fork()){while(1)printf(“B”);} wait();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87270" y="2166765"/>
            <a:ext cx="961390" cy="415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50" b="1" spc="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AB.c</a:t>
            </a:r>
            <a:endParaRPr sz="305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50925">
              <a:lnSpc>
                <a:spcPct val="100000"/>
              </a:lnSpc>
            </a:pPr>
            <a:r>
              <a:rPr sz="2950" spc="100" dirty="0"/>
              <a:t>程序是什么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?</a:t>
            </a:r>
            <a:r>
              <a:rPr sz="2950" spc="100" dirty="0"/>
              <a:t>就是人的思维的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C</a:t>
            </a:r>
            <a:r>
              <a:rPr sz="2950" spc="100" dirty="0"/>
              <a:t>表达</a:t>
            </a:r>
            <a:endParaRPr sz="2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29586" y="1827222"/>
            <a:ext cx="1475105" cy="163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main(){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918210" marR="5080">
              <a:lnSpc>
                <a:spcPct val="119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mov int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100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: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mov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22739" y="2263167"/>
            <a:ext cx="147510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NR_fork,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53691" y="2263167"/>
            <a:ext cx="974090" cy="967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%eax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25400">
              <a:lnSpc>
                <a:spcPct val="100000"/>
              </a:lnSpc>
              <a:spcBef>
                <a:spcPts val="1310"/>
              </a:spcBef>
            </a:pPr>
            <a:r>
              <a:rPr sz="3050" b="1" spc="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AB.c</a:t>
            </a:r>
            <a:endParaRPr sz="30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60419" y="2699082"/>
            <a:ext cx="1656714" cy="766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0x80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%eax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,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res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35637" y="3570911"/>
            <a:ext cx="1837689" cy="766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cmp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l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res,0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jn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e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208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29586" y="4442741"/>
            <a:ext cx="75057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200: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29586" y="4442741"/>
            <a:ext cx="2924810" cy="2073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8210" marR="5080" indent="-635">
              <a:lnSpc>
                <a:spcPct val="119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printf(“A”) jm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p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200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208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: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304: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35604" y="5750486"/>
            <a:ext cx="111315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wait()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88024" y="1869858"/>
            <a:ext cx="3359785" cy="321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30"/>
              </a:lnSpc>
            </a:pPr>
            <a:r>
              <a:rPr sz="230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把自己变成计算机跑一</a:t>
            </a:r>
            <a:r>
              <a:rPr sz="2300" b="1" spc="9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遍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73151" y="2576008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0" y="0"/>
                </a:moveTo>
                <a:lnTo>
                  <a:pt x="362347" y="0"/>
                </a:lnTo>
              </a:path>
            </a:pathLst>
          </a:custGeom>
          <a:ln w="30479">
            <a:solidFill>
              <a:srgbClr val="3232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43860">
              <a:lnSpc>
                <a:spcPct val="100000"/>
              </a:lnSpc>
            </a:pPr>
            <a:r>
              <a:rPr sz="3050" spc="5" dirty="0">
                <a:latin typeface="Arial" panose="020B0604020202020204"/>
                <a:cs typeface="Arial" panose="020B0604020202020204"/>
              </a:rPr>
              <a:t>INT</a:t>
            </a:r>
            <a:r>
              <a:rPr sz="2950" spc="100" dirty="0"/>
              <a:t>进入内核</a:t>
            </a:r>
            <a:endParaRPr sz="2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509" y="1827222"/>
            <a:ext cx="1475105" cy="163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main(){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918210" marR="5080">
              <a:lnSpc>
                <a:spcPct val="119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mov int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100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: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mov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69662" y="2263167"/>
            <a:ext cx="147510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NR_fork,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0614" y="2263167"/>
            <a:ext cx="75057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%eax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7342" y="2699082"/>
            <a:ext cx="1656714" cy="766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0x80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%eax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,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res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82560" y="3570911"/>
            <a:ext cx="75057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cmpl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88578" y="3570911"/>
            <a:ext cx="931544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res,0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16842" y="2408767"/>
            <a:ext cx="1558290" cy="454659"/>
          </a:xfrm>
          <a:custGeom>
            <a:avLst/>
            <a:gdLst/>
            <a:ahLst/>
            <a:cxnLst/>
            <a:rect l="l" t="t" r="r" b="b"/>
            <a:pathLst>
              <a:path w="1558290" h="454660">
                <a:moveTo>
                  <a:pt x="0" y="0"/>
                </a:moveTo>
                <a:lnTo>
                  <a:pt x="1558290" y="0"/>
                </a:lnTo>
                <a:lnTo>
                  <a:pt x="1558290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827270" y="3187700"/>
            <a:ext cx="2012950" cy="0"/>
          </a:xfrm>
          <a:custGeom>
            <a:avLst/>
            <a:gdLst/>
            <a:ahLst/>
            <a:cxnLst/>
            <a:rect l="l" t="t" r="r" b="b"/>
            <a:pathLst>
              <a:path w="2012950">
                <a:moveTo>
                  <a:pt x="0" y="0"/>
                </a:moveTo>
                <a:lnTo>
                  <a:pt x="2012791" y="0"/>
                </a:lnTo>
              </a:path>
            </a:pathLst>
          </a:custGeom>
          <a:ln w="32455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216842" y="4031544"/>
            <a:ext cx="1558290" cy="389890"/>
          </a:xfrm>
          <a:custGeom>
            <a:avLst/>
            <a:gdLst/>
            <a:ahLst/>
            <a:cxnLst/>
            <a:rect l="l" t="t" r="r" b="b"/>
            <a:pathLst>
              <a:path w="1558290" h="389889">
                <a:moveTo>
                  <a:pt x="0" y="389466"/>
                </a:moveTo>
                <a:lnTo>
                  <a:pt x="1558290" y="389466"/>
                </a:lnTo>
                <a:lnTo>
                  <a:pt x="1558290" y="0"/>
                </a:lnTo>
                <a:lnTo>
                  <a:pt x="0" y="0"/>
                </a:lnTo>
                <a:lnTo>
                  <a:pt x="0" y="3894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216842" y="4421011"/>
            <a:ext cx="1558290" cy="389890"/>
          </a:xfrm>
          <a:custGeom>
            <a:avLst/>
            <a:gdLst/>
            <a:ahLst/>
            <a:cxnLst/>
            <a:rect l="l" t="t" r="r" b="b"/>
            <a:pathLst>
              <a:path w="1558290" h="389889">
                <a:moveTo>
                  <a:pt x="0" y="389466"/>
                </a:moveTo>
                <a:lnTo>
                  <a:pt x="1558290" y="389466"/>
                </a:lnTo>
                <a:lnTo>
                  <a:pt x="1558290" y="0"/>
                </a:lnTo>
                <a:lnTo>
                  <a:pt x="0" y="0"/>
                </a:lnTo>
                <a:lnTo>
                  <a:pt x="0" y="3894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965355" y="2603500"/>
            <a:ext cx="518159" cy="1308735"/>
          </a:xfrm>
          <a:custGeom>
            <a:avLst/>
            <a:gdLst/>
            <a:ahLst/>
            <a:cxnLst/>
            <a:rect l="l" t="t" r="r" b="b"/>
            <a:pathLst>
              <a:path w="518160" h="1308735">
                <a:moveTo>
                  <a:pt x="342737" y="0"/>
                </a:moveTo>
                <a:lnTo>
                  <a:pt x="263091" y="18047"/>
                </a:lnTo>
                <a:lnTo>
                  <a:pt x="278620" y="36991"/>
                </a:lnTo>
                <a:lnTo>
                  <a:pt x="236305" y="72546"/>
                </a:lnTo>
                <a:lnTo>
                  <a:pt x="189331" y="115139"/>
                </a:lnTo>
                <a:lnTo>
                  <a:pt x="145434" y="159518"/>
                </a:lnTo>
                <a:lnTo>
                  <a:pt x="105671" y="206289"/>
                </a:lnTo>
                <a:lnTo>
                  <a:pt x="70961" y="256329"/>
                </a:lnTo>
                <a:lnTo>
                  <a:pt x="42821" y="309744"/>
                </a:lnTo>
                <a:lnTo>
                  <a:pt x="22273" y="367271"/>
                </a:lnTo>
                <a:lnTo>
                  <a:pt x="8964" y="430701"/>
                </a:lnTo>
                <a:lnTo>
                  <a:pt x="1574" y="500312"/>
                </a:lnTo>
                <a:lnTo>
                  <a:pt x="0" y="573873"/>
                </a:lnTo>
                <a:lnTo>
                  <a:pt x="16" y="574805"/>
                </a:lnTo>
                <a:lnTo>
                  <a:pt x="4183" y="649786"/>
                </a:lnTo>
                <a:lnTo>
                  <a:pt x="14140" y="725680"/>
                </a:lnTo>
                <a:lnTo>
                  <a:pt x="29879" y="799444"/>
                </a:lnTo>
                <a:lnTo>
                  <a:pt x="51528" y="869260"/>
                </a:lnTo>
                <a:lnTo>
                  <a:pt x="79037" y="932505"/>
                </a:lnTo>
                <a:lnTo>
                  <a:pt x="113789" y="989843"/>
                </a:lnTo>
                <a:lnTo>
                  <a:pt x="156081" y="1043089"/>
                </a:lnTo>
                <a:lnTo>
                  <a:pt x="204724" y="1092768"/>
                </a:lnTo>
                <a:lnTo>
                  <a:pt x="258427" y="1139344"/>
                </a:lnTo>
                <a:lnTo>
                  <a:pt x="316464" y="1183737"/>
                </a:lnTo>
                <a:lnTo>
                  <a:pt x="377560" y="1226342"/>
                </a:lnTo>
                <a:lnTo>
                  <a:pt x="440649" y="1267738"/>
                </a:lnTo>
                <a:lnTo>
                  <a:pt x="504662" y="1308488"/>
                </a:lnTo>
                <a:lnTo>
                  <a:pt x="517740" y="1287956"/>
                </a:lnTo>
                <a:lnTo>
                  <a:pt x="453939" y="1247341"/>
                </a:lnTo>
                <a:lnTo>
                  <a:pt x="391345" y="1206276"/>
                </a:lnTo>
                <a:lnTo>
                  <a:pt x="331042" y="1164238"/>
                </a:lnTo>
                <a:lnTo>
                  <a:pt x="274095" y="1120707"/>
                </a:lnTo>
                <a:lnTo>
                  <a:pt x="221466" y="1075091"/>
                </a:lnTo>
                <a:lnTo>
                  <a:pt x="174495" y="1027160"/>
                </a:lnTo>
                <a:lnTo>
                  <a:pt x="133946" y="976185"/>
                </a:lnTo>
                <a:lnTo>
                  <a:pt x="100865" y="921715"/>
                </a:lnTo>
                <a:lnTo>
                  <a:pt x="74488" y="861146"/>
                </a:lnTo>
                <a:lnTo>
                  <a:pt x="53605" y="793959"/>
                </a:lnTo>
                <a:lnTo>
                  <a:pt x="38216" y="722021"/>
                </a:lnTo>
                <a:lnTo>
                  <a:pt x="28469" y="647978"/>
                </a:lnTo>
                <a:lnTo>
                  <a:pt x="24353" y="573873"/>
                </a:lnTo>
                <a:lnTo>
                  <a:pt x="25869" y="501956"/>
                </a:lnTo>
                <a:lnTo>
                  <a:pt x="32980" y="434722"/>
                </a:lnTo>
                <a:lnTo>
                  <a:pt x="45628" y="374164"/>
                </a:lnTo>
                <a:lnTo>
                  <a:pt x="64926" y="319959"/>
                </a:lnTo>
                <a:lnTo>
                  <a:pt x="91558" y="269314"/>
                </a:lnTo>
                <a:lnTo>
                  <a:pt x="124513" y="221714"/>
                </a:lnTo>
                <a:lnTo>
                  <a:pt x="163075" y="176301"/>
                </a:lnTo>
                <a:lnTo>
                  <a:pt x="205938" y="132944"/>
                </a:lnTo>
                <a:lnTo>
                  <a:pt x="252147" y="91032"/>
                </a:lnTo>
                <a:lnTo>
                  <a:pt x="294054" y="55819"/>
                </a:lnTo>
                <a:lnTo>
                  <a:pt x="317763" y="55819"/>
                </a:lnTo>
                <a:lnTo>
                  <a:pt x="342737" y="0"/>
                </a:lnTo>
                <a:close/>
              </a:path>
              <a:path w="518160" h="1308735">
                <a:moveTo>
                  <a:pt x="317763" y="55819"/>
                </a:moveTo>
                <a:lnTo>
                  <a:pt x="294054" y="55819"/>
                </a:lnTo>
                <a:lnTo>
                  <a:pt x="309392" y="74528"/>
                </a:lnTo>
                <a:lnTo>
                  <a:pt x="317763" y="558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641056" y="2062890"/>
            <a:ext cx="1374140" cy="313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AB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的用户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栈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41056" y="3295866"/>
            <a:ext cx="1374140" cy="313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AB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的内核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栈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43196" y="3029216"/>
            <a:ext cx="5695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(1)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1776" y="4813407"/>
            <a:ext cx="6004560" cy="1496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80" marR="179705">
              <a:lnSpc>
                <a:spcPts val="2870"/>
              </a:lnSpc>
            </a:pPr>
            <a:r>
              <a:rPr sz="2400" b="1" spc="-1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(2)set_system_gate(0x80,&amp;system_ call);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2875"/>
              </a:lnSpc>
              <a:spcBef>
                <a:spcPts val="470"/>
              </a:spcBef>
            </a:pPr>
            <a:r>
              <a:rPr sz="2400" b="1" spc="-1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(3)system_call: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918210">
              <a:lnSpc>
                <a:spcPts val="2875"/>
              </a:lnSpc>
            </a:pPr>
            <a:r>
              <a:rPr sz="2400" b="1" spc="-1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cal</a:t>
            </a:r>
            <a:r>
              <a:rPr sz="24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l</a:t>
            </a:r>
            <a:r>
              <a:rPr sz="2400" b="1" spc="-3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sys_call_table(,%eax,4)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120074" y="2576008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0" y="0"/>
                </a:moveTo>
                <a:lnTo>
                  <a:pt x="362347" y="0"/>
                </a:lnTo>
              </a:path>
            </a:pathLst>
          </a:custGeom>
          <a:ln w="30479">
            <a:solidFill>
              <a:srgbClr val="3232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5204671" y="3629907"/>
          <a:ext cx="1595120" cy="1193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8290"/>
              </a:tblGrid>
              <a:tr h="389466">
                <a:tc>
                  <a:txBody>
                    <a:bodyPr/>
                    <a:lstStyle/>
                    <a:p>
                      <a:endParaRPr sz="24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9466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</a:pPr>
                      <a:r>
                        <a:rPr sz="2000" b="1" spc="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L</a:t>
                      </a:r>
                      <a:r>
                        <a:rPr sz="2000" b="1" spc="1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2000" b="1" spc="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G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S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94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spc="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100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46705">
              <a:lnSpc>
                <a:spcPct val="100000"/>
              </a:lnSpc>
            </a:pPr>
            <a:r>
              <a:rPr sz="2950" spc="100" dirty="0"/>
              <a:t>开始</a:t>
            </a:r>
            <a:r>
              <a:rPr sz="3050" dirty="0">
                <a:latin typeface="Arial" panose="020B0604020202020204"/>
                <a:cs typeface="Arial" panose="020B0604020202020204"/>
              </a:rPr>
              <a:t>sys_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f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o</a:t>
            </a:r>
            <a:r>
              <a:rPr sz="3050" dirty="0">
                <a:latin typeface="Arial" panose="020B0604020202020204"/>
                <a:cs typeface="Arial" panose="020B0604020202020204"/>
              </a:rPr>
              <a:t>rk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4800" y="2476156"/>
            <a:ext cx="1656714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sys_fork: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7220" y="2912101"/>
            <a:ext cx="1656714" cy="1202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push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l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...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call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ret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03238" y="3348018"/>
            <a:ext cx="22002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copy_process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11924" y="2278943"/>
            <a:ext cx="1558290" cy="454659"/>
          </a:xfrm>
          <a:custGeom>
            <a:avLst/>
            <a:gdLst/>
            <a:ahLst/>
            <a:cxnLst/>
            <a:rect l="l" t="t" r="r" b="b"/>
            <a:pathLst>
              <a:path w="1558290" h="454660">
                <a:moveTo>
                  <a:pt x="0" y="0"/>
                </a:moveTo>
                <a:lnTo>
                  <a:pt x="1558290" y="0"/>
                </a:lnTo>
                <a:lnTo>
                  <a:pt x="1558290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322351" y="3057878"/>
            <a:ext cx="2012950" cy="0"/>
          </a:xfrm>
          <a:custGeom>
            <a:avLst/>
            <a:gdLst/>
            <a:ahLst/>
            <a:cxnLst/>
            <a:rect l="l" t="t" r="r" b="b"/>
            <a:pathLst>
              <a:path w="2012950">
                <a:moveTo>
                  <a:pt x="0" y="0"/>
                </a:moveTo>
                <a:lnTo>
                  <a:pt x="2012791" y="0"/>
                </a:lnTo>
              </a:path>
            </a:pathLst>
          </a:custGeom>
          <a:ln w="32455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11924" y="3901722"/>
            <a:ext cx="1558290" cy="389890"/>
          </a:xfrm>
          <a:custGeom>
            <a:avLst/>
            <a:gdLst/>
            <a:ahLst/>
            <a:cxnLst/>
            <a:rect l="l" t="t" r="r" b="b"/>
            <a:pathLst>
              <a:path w="1558290" h="389889">
                <a:moveTo>
                  <a:pt x="0" y="389466"/>
                </a:moveTo>
                <a:lnTo>
                  <a:pt x="1558290" y="389466"/>
                </a:lnTo>
                <a:lnTo>
                  <a:pt x="1558290" y="0"/>
                </a:lnTo>
                <a:lnTo>
                  <a:pt x="0" y="0"/>
                </a:lnTo>
                <a:lnTo>
                  <a:pt x="0" y="3894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711924" y="4291189"/>
            <a:ext cx="1558290" cy="389890"/>
          </a:xfrm>
          <a:custGeom>
            <a:avLst/>
            <a:gdLst/>
            <a:ahLst/>
            <a:cxnLst/>
            <a:rect l="l" t="t" r="r" b="b"/>
            <a:pathLst>
              <a:path w="1558290" h="389889">
                <a:moveTo>
                  <a:pt x="0" y="389466"/>
                </a:moveTo>
                <a:lnTo>
                  <a:pt x="1558290" y="389466"/>
                </a:lnTo>
                <a:lnTo>
                  <a:pt x="1558290" y="0"/>
                </a:lnTo>
                <a:lnTo>
                  <a:pt x="0" y="0"/>
                </a:lnTo>
                <a:lnTo>
                  <a:pt x="0" y="3894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460437" y="2473678"/>
            <a:ext cx="518159" cy="1308735"/>
          </a:xfrm>
          <a:custGeom>
            <a:avLst/>
            <a:gdLst/>
            <a:ahLst/>
            <a:cxnLst/>
            <a:rect l="l" t="t" r="r" b="b"/>
            <a:pathLst>
              <a:path w="518160" h="1308735">
                <a:moveTo>
                  <a:pt x="342738" y="0"/>
                </a:moveTo>
                <a:lnTo>
                  <a:pt x="263091" y="18047"/>
                </a:lnTo>
                <a:lnTo>
                  <a:pt x="278620" y="36991"/>
                </a:lnTo>
                <a:lnTo>
                  <a:pt x="236305" y="72546"/>
                </a:lnTo>
                <a:lnTo>
                  <a:pt x="189331" y="115139"/>
                </a:lnTo>
                <a:lnTo>
                  <a:pt x="145435" y="159518"/>
                </a:lnTo>
                <a:lnTo>
                  <a:pt x="105671" y="206289"/>
                </a:lnTo>
                <a:lnTo>
                  <a:pt x="70961" y="256329"/>
                </a:lnTo>
                <a:lnTo>
                  <a:pt x="42823" y="309744"/>
                </a:lnTo>
                <a:lnTo>
                  <a:pt x="22274" y="367271"/>
                </a:lnTo>
                <a:lnTo>
                  <a:pt x="8964" y="430701"/>
                </a:lnTo>
                <a:lnTo>
                  <a:pt x="1574" y="500312"/>
                </a:lnTo>
                <a:lnTo>
                  <a:pt x="0" y="573873"/>
                </a:lnTo>
                <a:lnTo>
                  <a:pt x="16" y="574804"/>
                </a:lnTo>
                <a:lnTo>
                  <a:pt x="4184" y="649786"/>
                </a:lnTo>
                <a:lnTo>
                  <a:pt x="14140" y="725680"/>
                </a:lnTo>
                <a:lnTo>
                  <a:pt x="29879" y="799444"/>
                </a:lnTo>
                <a:lnTo>
                  <a:pt x="51530" y="869260"/>
                </a:lnTo>
                <a:lnTo>
                  <a:pt x="79037" y="932505"/>
                </a:lnTo>
                <a:lnTo>
                  <a:pt x="113789" y="989843"/>
                </a:lnTo>
                <a:lnTo>
                  <a:pt x="156081" y="1043089"/>
                </a:lnTo>
                <a:lnTo>
                  <a:pt x="204724" y="1092768"/>
                </a:lnTo>
                <a:lnTo>
                  <a:pt x="258428" y="1139344"/>
                </a:lnTo>
                <a:lnTo>
                  <a:pt x="316464" y="1183736"/>
                </a:lnTo>
                <a:lnTo>
                  <a:pt x="377562" y="1226342"/>
                </a:lnTo>
                <a:lnTo>
                  <a:pt x="440649" y="1267736"/>
                </a:lnTo>
                <a:lnTo>
                  <a:pt x="504663" y="1308488"/>
                </a:lnTo>
                <a:lnTo>
                  <a:pt x="517740" y="1287955"/>
                </a:lnTo>
                <a:lnTo>
                  <a:pt x="453939" y="1247341"/>
                </a:lnTo>
                <a:lnTo>
                  <a:pt x="391346" y="1206276"/>
                </a:lnTo>
                <a:lnTo>
                  <a:pt x="331042" y="1164238"/>
                </a:lnTo>
                <a:lnTo>
                  <a:pt x="274095" y="1120707"/>
                </a:lnTo>
                <a:lnTo>
                  <a:pt x="221466" y="1075091"/>
                </a:lnTo>
                <a:lnTo>
                  <a:pt x="174495" y="1027160"/>
                </a:lnTo>
                <a:lnTo>
                  <a:pt x="133946" y="976185"/>
                </a:lnTo>
                <a:lnTo>
                  <a:pt x="100867" y="921715"/>
                </a:lnTo>
                <a:lnTo>
                  <a:pt x="74488" y="861146"/>
                </a:lnTo>
                <a:lnTo>
                  <a:pt x="53605" y="793959"/>
                </a:lnTo>
                <a:lnTo>
                  <a:pt x="38216" y="722021"/>
                </a:lnTo>
                <a:lnTo>
                  <a:pt x="28469" y="647978"/>
                </a:lnTo>
                <a:lnTo>
                  <a:pt x="24354" y="573873"/>
                </a:lnTo>
                <a:lnTo>
                  <a:pt x="25871" y="501956"/>
                </a:lnTo>
                <a:lnTo>
                  <a:pt x="32980" y="434720"/>
                </a:lnTo>
                <a:lnTo>
                  <a:pt x="45628" y="374164"/>
                </a:lnTo>
                <a:lnTo>
                  <a:pt x="64927" y="319959"/>
                </a:lnTo>
                <a:lnTo>
                  <a:pt x="91558" y="269314"/>
                </a:lnTo>
                <a:lnTo>
                  <a:pt x="124513" y="221714"/>
                </a:lnTo>
                <a:lnTo>
                  <a:pt x="163076" y="176301"/>
                </a:lnTo>
                <a:lnTo>
                  <a:pt x="205938" y="132944"/>
                </a:lnTo>
                <a:lnTo>
                  <a:pt x="252148" y="91032"/>
                </a:lnTo>
                <a:lnTo>
                  <a:pt x="294055" y="55819"/>
                </a:lnTo>
                <a:lnTo>
                  <a:pt x="317763" y="55819"/>
                </a:lnTo>
                <a:lnTo>
                  <a:pt x="342738" y="0"/>
                </a:lnTo>
                <a:close/>
              </a:path>
              <a:path w="518160" h="1308735">
                <a:moveTo>
                  <a:pt x="317763" y="55819"/>
                </a:moveTo>
                <a:lnTo>
                  <a:pt x="294055" y="55819"/>
                </a:lnTo>
                <a:lnTo>
                  <a:pt x="309392" y="74528"/>
                </a:lnTo>
                <a:lnTo>
                  <a:pt x="317763" y="558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711924" y="4680655"/>
            <a:ext cx="1558290" cy="779145"/>
          </a:xfrm>
          <a:custGeom>
            <a:avLst/>
            <a:gdLst/>
            <a:ahLst/>
            <a:cxnLst/>
            <a:rect l="l" t="t" r="r" b="b"/>
            <a:pathLst>
              <a:path w="1558290" h="779145">
                <a:moveTo>
                  <a:pt x="0" y="778933"/>
                </a:moveTo>
                <a:lnTo>
                  <a:pt x="1558290" y="778933"/>
                </a:lnTo>
                <a:lnTo>
                  <a:pt x="1558290" y="0"/>
                </a:lnTo>
                <a:lnTo>
                  <a:pt x="0" y="0"/>
                </a:lnTo>
                <a:lnTo>
                  <a:pt x="0" y="7789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13" name="object 13"/>
          <p:cNvSpPr txBox="1"/>
          <p:nvPr/>
        </p:nvSpPr>
        <p:spPr>
          <a:xfrm>
            <a:off x="6136137" y="1933104"/>
            <a:ext cx="1374140" cy="313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AB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的用户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栈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36137" y="3166079"/>
            <a:ext cx="1374140" cy="313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AB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的内核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栈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5699752" y="3500085"/>
          <a:ext cx="1595120" cy="1971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8290"/>
              </a:tblGrid>
              <a:tr h="389466">
                <a:tc>
                  <a:txBody>
                    <a:bodyPr/>
                    <a:lstStyle/>
                    <a:p>
                      <a:endParaRPr sz="24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9466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</a:pPr>
                      <a:r>
                        <a:rPr sz="2000" b="1" spc="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E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L</a:t>
                      </a:r>
                      <a:r>
                        <a:rPr sz="2000" b="1" spc="1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2000" b="1" spc="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G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S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94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spc="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100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8933">
                <a:tc>
                  <a:txBody>
                    <a:bodyPr/>
                    <a:lstStyle/>
                    <a:p>
                      <a:pPr marL="506730">
                        <a:lnSpc>
                          <a:spcPct val="100000"/>
                        </a:lnSpc>
                      </a:pPr>
                      <a:r>
                        <a:rPr sz="2000" b="1" spc="1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……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2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371416" y="4859161"/>
            <a:ext cx="1818005" cy="1558290"/>
          </a:xfrm>
          <a:custGeom>
            <a:avLst/>
            <a:gdLst/>
            <a:ahLst/>
            <a:cxnLst/>
            <a:rect l="l" t="t" r="r" b="b"/>
            <a:pathLst>
              <a:path w="1818004" h="1558289">
                <a:moveTo>
                  <a:pt x="0" y="0"/>
                </a:moveTo>
                <a:lnTo>
                  <a:pt x="1818005" y="0"/>
                </a:lnTo>
                <a:lnTo>
                  <a:pt x="1818005" y="1557866"/>
                </a:lnTo>
                <a:lnTo>
                  <a:pt x="0" y="1557866"/>
                </a:lnTo>
                <a:lnTo>
                  <a:pt x="0" y="0"/>
                </a:lnTo>
                <a:close/>
              </a:path>
            </a:pathLst>
          </a:custGeom>
          <a:ln w="243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38070">
              <a:lnSpc>
                <a:spcPct val="100000"/>
              </a:lnSpc>
            </a:pPr>
            <a:r>
              <a:rPr sz="2950" spc="100" dirty="0"/>
              <a:t>开始</a:t>
            </a:r>
            <a:r>
              <a:rPr sz="3050" dirty="0">
                <a:latin typeface="Arial" panose="020B0604020202020204"/>
                <a:cs typeface="Arial" panose="020B0604020202020204"/>
              </a:rPr>
              <a:t>c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o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p</a:t>
            </a:r>
            <a:r>
              <a:rPr sz="3050" dirty="0">
                <a:latin typeface="Arial" panose="020B0604020202020204"/>
                <a:cs typeface="Arial" panose="020B0604020202020204"/>
              </a:rPr>
              <a:t>y_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p</a:t>
            </a:r>
            <a:r>
              <a:rPr sz="3050" dirty="0">
                <a:latin typeface="Arial" panose="020B0604020202020204"/>
                <a:cs typeface="Arial" panose="020B0604020202020204"/>
              </a:rPr>
              <a:t>r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o</a:t>
            </a:r>
            <a:r>
              <a:rPr sz="3050" dirty="0">
                <a:latin typeface="Arial" panose="020B0604020202020204"/>
                <a:cs typeface="Arial" panose="020B0604020202020204"/>
              </a:rPr>
              <a:t>cess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10156" y="1924562"/>
            <a:ext cx="36493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copy_process(...long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15431" y="1924562"/>
            <a:ext cx="1837689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eip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,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...){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72576" y="2360507"/>
            <a:ext cx="147510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p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(PCB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03408" y="2360507"/>
            <a:ext cx="32873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*)get_free_page();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72576" y="2796422"/>
            <a:ext cx="2381250" cy="766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000"/>
              </a:lnSpc>
            </a:pP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p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-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&gt;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tss.esp0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p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-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&gt;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tss.esp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09445" y="2796422"/>
            <a:ext cx="1294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p+4k;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28242" y="3232337"/>
            <a:ext cx="111252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esp;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72576" y="3668252"/>
            <a:ext cx="27432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p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-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&gt;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tss.eax=0;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71853" y="3668252"/>
            <a:ext cx="22002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p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-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&gt;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tss.eip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27605" y="3668252"/>
            <a:ext cx="1837689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eip;...}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61993" y="4307416"/>
            <a:ext cx="1363980" cy="321945"/>
          </a:xfrm>
          <a:custGeom>
            <a:avLst/>
            <a:gdLst/>
            <a:ahLst/>
            <a:cxnLst/>
            <a:rect l="l" t="t" r="r" b="b"/>
            <a:pathLst>
              <a:path w="1363980" h="321945">
                <a:moveTo>
                  <a:pt x="0" y="0"/>
                </a:moveTo>
                <a:lnTo>
                  <a:pt x="1363503" y="0"/>
                </a:lnTo>
                <a:lnTo>
                  <a:pt x="1363503" y="321850"/>
                </a:lnTo>
                <a:lnTo>
                  <a:pt x="0" y="321850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321117" y="4860513"/>
            <a:ext cx="1761489" cy="0"/>
          </a:xfrm>
          <a:custGeom>
            <a:avLst/>
            <a:gdLst/>
            <a:ahLst/>
            <a:cxnLst/>
            <a:rect l="l" t="t" r="r" b="b"/>
            <a:pathLst>
              <a:path w="1761489">
                <a:moveTo>
                  <a:pt x="0" y="0"/>
                </a:moveTo>
                <a:lnTo>
                  <a:pt x="1761192" y="0"/>
                </a:lnTo>
              </a:path>
            </a:pathLst>
          </a:custGeom>
          <a:ln w="32455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661993" y="5182364"/>
            <a:ext cx="1363980" cy="276225"/>
          </a:xfrm>
          <a:custGeom>
            <a:avLst/>
            <a:gdLst/>
            <a:ahLst/>
            <a:cxnLst/>
            <a:rect l="l" t="t" r="r" b="b"/>
            <a:pathLst>
              <a:path w="1363980" h="276225">
                <a:moveTo>
                  <a:pt x="0" y="0"/>
                </a:moveTo>
                <a:lnTo>
                  <a:pt x="1363503" y="0"/>
                </a:lnTo>
                <a:lnTo>
                  <a:pt x="1363503" y="275872"/>
                </a:lnTo>
                <a:lnTo>
                  <a:pt x="0" y="275872"/>
                </a:lnTo>
                <a:lnTo>
                  <a:pt x="0" y="0"/>
                </a:lnTo>
                <a:close/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661993" y="5458237"/>
            <a:ext cx="1363980" cy="276225"/>
          </a:xfrm>
          <a:custGeom>
            <a:avLst/>
            <a:gdLst/>
            <a:ahLst/>
            <a:cxnLst/>
            <a:rect l="l" t="t" r="r" b="b"/>
            <a:pathLst>
              <a:path w="1363980" h="276225">
                <a:moveTo>
                  <a:pt x="0" y="275872"/>
                </a:moveTo>
                <a:lnTo>
                  <a:pt x="1363503" y="275872"/>
                </a:lnTo>
                <a:lnTo>
                  <a:pt x="1363503" y="0"/>
                </a:lnTo>
                <a:lnTo>
                  <a:pt x="0" y="0"/>
                </a:lnTo>
                <a:lnTo>
                  <a:pt x="0" y="2758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661993" y="5458236"/>
            <a:ext cx="1363980" cy="276225"/>
          </a:xfrm>
          <a:custGeom>
            <a:avLst/>
            <a:gdLst/>
            <a:ahLst/>
            <a:cxnLst/>
            <a:rect l="l" t="t" r="r" b="b"/>
            <a:pathLst>
              <a:path w="1363980" h="276225">
                <a:moveTo>
                  <a:pt x="0" y="0"/>
                </a:moveTo>
                <a:lnTo>
                  <a:pt x="1363503" y="0"/>
                </a:lnTo>
                <a:lnTo>
                  <a:pt x="1363503" y="275872"/>
                </a:lnTo>
                <a:lnTo>
                  <a:pt x="0" y="275872"/>
                </a:lnTo>
                <a:lnTo>
                  <a:pt x="0" y="0"/>
                </a:lnTo>
                <a:close/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891379" y="5489104"/>
            <a:ext cx="90424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EFLA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661993" y="5734108"/>
            <a:ext cx="1363980" cy="277495"/>
          </a:xfrm>
          <a:custGeom>
            <a:avLst/>
            <a:gdLst/>
            <a:ahLst/>
            <a:cxnLst/>
            <a:rect l="l" t="t" r="r" b="b"/>
            <a:pathLst>
              <a:path w="1363980" h="277495">
                <a:moveTo>
                  <a:pt x="0" y="277224"/>
                </a:moveTo>
                <a:lnTo>
                  <a:pt x="1363503" y="277224"/>
                </a:lnTo>
                <a:lnTo>
                  <a:pt x="1363503" y="0"/>
                </a:lnTo>
                <a:lnTo>
                  <a:pt x="0" y="0"/>
                </a:lnTo>
                <a:lnTo>
                  <a:pt x="0" y="2772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661993" y="5734109"/>
            <a:ext cx="1363980" cy="277495"/>
          </a:xfrm>
          <a:custGeom>
            <a:avLst/>
            <a:gdLst/>
            <a:ahLst/>
            <a:cxnLst/>
            <a:rect l="l" t="t" r="r" b="b"/>
            <a:pathLst>
              <a:path w="1363980" h="277495">
                <a:moveTo>
                  <a:pt x="0" y="0"/>
                </a:moveTo>
                <a:lnTo>
                  <a:pt x="1363503" y="0"/>
                </a:lnTo>
                <a:lnTo>
                  <a:pt x="1363503" y="277224"/>
                </a:lnTo>
                <a:lnTo>
                  <a:pt x="0" y="277224"/>
                </a:lnTo>
                <a:lnTo>
                  <a:pt x="0" y="0"/>
                </a:lnTo>
                <a:close/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150347" y="5765577"/>
            <a:ext cx="38671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100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661993" y="6011333"/>
            <a:ext cx="1363980" cy="551815"/>
          </a:xfrm>
          <a:custGeom>
            <a:avLst/>
            <a:gdLst/>
            <a:ahLst/>
            <a:cxnLst/>
            <a:rect l="l" t="t" r="r" b="b"/>
            <a:pathLst>
              <a:path w="1363980" h="551815">
                <a:moveTo>
                  <a:pt x="0" y="551744"/>
                </a:moveTo>
                <a:lnTo>
                  <a:pt x="1363503" y="551744"/>
                </a:lnTo>
                <a:lnTo>
                  <a:pt x="1363503" y="0"/>
                </a:lnTo>
                <a:lnTo>
                  <a:pt x="0" y="0"/>
                </a:lnTo>
                <a:lnTo>
                  <a:pt x="0" y="5517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661993" y="6011333"/>
            <a:ext cx="1363980" cy="551815"/>
          </a:xfrm>
          <a:custGeom>
            <a:avLst/>
            <a:gdLst/>
            <a:ahLst/>
            <a:cxnLst/>
            <a:rect l="l" t="t" r="r" b="b"/>
            <a:pathLst>
              <a:path w="1363980" h="551815">
                <a:moveTo>
                  <a:pt x="0" y="0"/>
                </a:moveTo>
                <a:lnTo>
                  <a:pt x="1363503" y="0"/>
                </a:lnTo>
                <a:lnTo>
                  <a:pt x="1363503" y="551744"/>
                </a:lnTo>
                <a:lnTo>
                  <a:pt x="0" y="551744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059153" y="4072423"/>
            <a:ext cx="5355590" cy="1351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AB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的用户栈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indent="4335145">
              <a:lnSpc>
                <a:spcPct val="100000"/>
              </a:lnSpc>
              <a:spcBef>
                <a:spcPts val="385"/>
              </a:spcBef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的内核栈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91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AB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的内核栈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567305">
              <a:lnSpc>
                <a:spcPts val="1910"/>
              </a:lnSpc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ss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-&gt;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00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14510" y="6179949"/>
            <a:ext cx="45847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……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36558" y="1763774"/>
            <a:ext cx="64770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=100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372768" y="4096455"/>
            <a:ext cx="1818005" cy="763270"/>
          </a:xfrm>
          <a:custGeom>
            <a:avLst/>
            <a:gdLst/>
            <a:ahLst/>
            <a:cxnLst/>
            <a:rect l="l" t="t" r="r" b="b"/>
            <a:pathLst>
              <a:path w="1818004" h="763270">
                <a:moveTo>
                  <a:pt x="0" y="762705"/>
                </a:moveTo>
                <a:lnTo>
                  <a:pt x="1818004" y="762705"/>
                </a:lnTo>
                <a:lnTo>
                  <a:pt x="1818004" y="0"/>
                </a:lnTo>
                <a:lnTo>
                  <a:pt x="0" y="0"/>
                </a:lnTo>
                <a:lnTo>
                  <a:pt x="0" y="7627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372768" y="4096456"/>
            <a:ext cx="1818005" cy="763270"/>
          </a:xfrm>
          <a:custGeom>
            <a:avLst/>
            <a:gdLst/>
            <a:ahLst/>
            <a:cxnLst/>
            <a:rect l="l" t="t" r="r" b="b"/>
            <a:pathLst>
              <a:path w="1818004" h="763270">
                <a:moveTo>
                  <a:pt x="0" y="0"/>
                </a:moveTo>
                <a:lnTo>
                  <a:pt x="1818005" y="0"/>
                </a:lnTo>
                <a:lnTo>
                  <a:pt x="1818005" y="762705"/>
                </a:lnTo>
                <a:lnTo>
                  <a:pt x="0" y="762705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372768" y="5183716"/>
            <a:ext cx="1818005" cy="989965"/>
          </a:xfrm>
          <a:custGeom>
            <a:avLst/>
            <a:gdLst/>
            <a:ahLst/>
            <a:cxnLst/>
            <a:rect l="l" t="t" r="r" b="b"/>
            <a:pathLst>
              <a:path w="1818004" h="989964">
                <a:moveTo>
                  <a:pt x="0" y="989894"/>
                </a:moveTo>
                <a:lnTo>
                  <a:pt x="1818004" y="989894"/>
                </a:lnTo>
                <a:lnTo>
                  <a:pt x="1818004" y="0"/>
                </a:lnTo>
                <a:lnTo>
                  <a:pt x="0" y="0"/>
                </a:lnTo>
                <a:lnTo>
                  <a:pt x="0" y="9898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372768" y="5183716"/>
            <a:ext cx="1818005" cy="989965"/>
          </a:xfrm>
          <a:custGeom>
            <a:avLst/>
            <a:gdLst/>
            <a:ahLst/>
            <a:cxnLst/>
            <a:rect l="l" t="t" r="r" b="b"/>
            <a:pathLst>
              <a:path w="1818004" h="989964">
                <a:moveTo>
                  <a:pt x="0" y="0"/>
                </a:moveTo>
                <a:lnTo>
                  <a:pt x="1818005" y="0"/>
                </a:lnTo>
                <a:lnTo>
                  <a:pt x="1818005" y="989894"/>
                </a:lnTo>
                <a:lnTo>
                  <a:pt x="0" y="989894"/>
                </a:lnTo>
                <a:lnTo>
                  <a:pt x="0" y="0"/>
                </a:lnTo>
                <a:close/>
              </a:path>
            </a:pathLst>
          </a:custGeom>
          <a:ln w="243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514929" y="5440375"/>
            <a:ext cx="1532890" cy="762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 marR="5080" indent="-63500" algn="just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ss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-&gt;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+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k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ss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-&gt;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ss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-&gt;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ax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391119" y="5500080"/>
            <a:ext cx="761365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PCB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190773" y="4859161"/>
            <a:ext cx="121285" cy="1508760"/>
          </a:xfrm>
          <a:custGeom>
            <a:avLst/>
            <a:gdLst/>
            <a:ahLst/>
            <a:cxnLst/>
            <a:rect l="l" t="t" r="r" b="b"/>
            <a:pathLst>
              <a:path w="121285" h="1508760">
                <a:moveTo>
                  <a:pt x="0" y="0"/>
                </a:moveTo>
                <a:lnTo>
                  <a:pt x="42858" y="22372"/>
                </a:lnTo>
                <a:lnTo>
                  <a:pt x="61667" y="61704"/>
                </a:lnTo>
                <a:lnTo>
                  <a:pt x="64928" y="664669"/>
                </a:lnTo>
                <a:lnTo>
                  <a:pt x="66038" y="681313"/>
                </a:lnTo>
                <a:lnTo>
                  <a:pt x="81082" y="724025"/>
                </a:lnTo>
                <a:lnTo>
                  <a:pt x="109482" y="750075"/>
                </a:lnTo>
                <a:lnTo>
                  <a:pt x="120981" y="753758"/>
                </a:lnTo>
                <a:lnTo>
                  <a:pt x="111307" y="755681"/>
                </a:lnTo>
                <a:lnTo>
                  <a:pt x="77147" y="790828"/>
                </a:lnTo>
                <a:lnTo>
                  <a:pt x="65122" y="837499"/>
                </a:lnTo>
                <a:lnTo>
                  <a:pt x="64928" y="1419261"/>
                </a:lnTo>
                <a:lnTo>
                  <a:pt x="63818" y="1435904"/>
                </a:lnTo>
                <a:lnTo>
                  <a:pt x="48774" y="1478617"/>
                </a:lnTo>
                <a:lnTo>
                  <a:pt x="20374" y="1504666"/>
                </a:lnTo>
                <a:lnTo>
                  <a:pt x="8876" y="1508350"/>
                </a:lnTo>
              </a:path>
            </a:pathLst>
          </a:custGeom>
          <a:ln w="24348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190773" y="4080228"/>
            <a:ext cx="121285" cy="794385"/>
          </a:xfrm>
          <a:custGeom>
            <a:avLst/>
            <a:gdLst/>
            <a:ahLst/>
            <a:cxnLst/>
            <a:rect l="l" t="t" r="r" b="b"/>
            <a:pathLst>
              <a:path w="121285" h="794385">
                <a:moveTo>
                  <a:pt x="0" y="0"/>
                </a:moveTo>
                <a:lnTo>
                  <a:pt x="42855" y="22371"/>
                </a:lnTo>
                <a:lnTo>
                  <a:pt x="61665" y="61703"/>
                </a:lnTo>
                <a:lnTo>
                  <a:pt x="64929" y="307646"/>
                </a:lnTo>
                <a:lnTo>
                  <a:pt x="66038" y="324290"/>
                </a:lnTo>
                <a:lnTo>
                  <a:pt x="81080" y="367006"/>
                </a:lnTo>
                <a:lnTo>
                  <a:pt x="109476" y="393060"/>
                </a:lnTo>
                <a:lnTo>
                  <a:pt x="120973" y="396745"/>
                </a:lnTo>
                <a:lnTo>
                  <a:pt x="111303" y="398669"/>
                </a:lnTo>
                <a:lnTo>
                  <a:pt x="77149" y="433817"/>
                </a:lnTo>
                <a:lnTo>
                  <a:pt x="65123" y="480490"/>
                </a:lnTo>
                <a:lnTo>
                  <a:pt x="64929" y="705227"/>
                </a:lnTo>
                <a:lnTo>
                  <a:pt x="63819" y="721871"/>
                </a:lnTo>
                <a:lnTo>
                  <a:pt x="48777" y="764587"/>
                </a:lnTo>
                <a:lnTo>
                  <a:pt x="20381" y="790641"/>
                </a:lnTo>
                <a:lnTo>
                  <a:pt x="8884" y="794326"/>
                </a:lnTo>
              </a:path>
            </a:pathLst>
          </a:custGeom>
          <a:ln w="24348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190717" y="6313068"/>
            <a:ext cx="520065" cy="112395"/>
          </a:xfrm>
          <a:custGeom>
            <a:avLst/>
            <a:gdLst/>
            <a:ahLst/>
            <a:cxnLst/>
            <a:rect l="l" t="t" r="r" b="b"/>
            <a:pathLst>
              <a:path w="520065" h="112395">
                <a:moveTo>
                  <a:pt x="100351" y="0"/>
                </a:moveTo>
                <a:lnTo>
                  <a:pt x="94077" y="806"/>
                </a:lnTo>
                <a:lnTo>
                  <a:pt x="92523" y="1319"/>
                </a:lnTo>
                <a:lnTo>
                  <a:pt x="0" y="55276"/>
                </a:lnTo>
                <a:lnTo>
                  <a:pt x="96879" y="111774"/>
                </a:lnTo>
                <a:lnTo>
                  <a:pt x="104333" y="109813"/>
                </a:lnTo>
                <a:lnTo>
                  <a:pt x="111109" y="98201"/>
                </a:lnTo>
                <a:lnTo>
                  <a:pt x="109147" y="90748"/>
                </a:lnTo>
                <a:lnTo>
                  <a:pt x="69192" y="67447"/>
                </a:lnTo>
                <a:lnTo>
                  <a:pt x="519485" y="67446"/>
                </a:lnTo>
                <a:lnTo>
                  <a:pt x="519485" y="43105"/>
                </a:lnTo>
                <a:lnTo>
                  <a:pt x="69192" y="43105"/>
                </a:lnTo>
                <a:lnTo>
                  <a:pt x="109147" y="19804"/>
                </a:lnTo>
                <a:lnTo>
                  <a:pt x="111109" y="12352"/>
                </a:lnTo>
                <a:lnTo>
                  <a:pt x="105180" y="2191"/>
                </a:lnTo>
                <a:lnTo>
                  <a:pt x="100351" y="0"/>
                </a:lnTo>
                <a:close/>
              </a:path>
              <a:path w="520065" h="112395">
                <a:moveTo>
                  <a:pt x="519485" y="43105"/>
                </a:moveTo>
                <a:lnTo>
                  <a:pt x="69192" y="43105"/>
                </a:lnTo>
                <a:lnTo>
                  <a:pt x="519485" y="4310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6776635" y="6214015"/>
            <a:ext cx="15557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p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570280" y="4575175"/>
            <a:ext cx="454659" cy="932180"/>
          </a:xfrm>
          <a:custGeom>
            <a:avLst/>
            <a:gdLst/>
            <a:ahLst/>
            <a:cxnLst/>
            <a:rect l="l" t="t" r="r" b="b"/>
            <a:pathLst>
              <a:path w="454660" h="932179">
                <a:moveTo>
                  <a:pt x="301415" y="0"/>
                </a:moveTo>
                <a:lnTo>
                  <a:pt x="220390" y="10217"/>
                </a:lnTo>
                <a:lnTo>
                  <a:pt x="233975" y="30539"/>
                </a:lnTo>
                <a:lnTo>
                  <a:pt x="208292" y="48009"/>
                </a:lnTo>
                <a:lnTo>
                  <a:pt x="167129" y="78267"/>
                </a:lnTo>
                <a:lnTo>
                  <a:pt x="128630" y="109816"/>
                </a:lnTo>
                <a:lnTo>
                  <a:pt x="93695" y="143122"/>
                </a:lnTo>
                <a:lnTo>
                  <a:pt x="63275" y="178647"/>
                </a:lnTo>
                <a:lnTo>
                  <a:pt x="38125" y="217247"/>
                </a:lnTo>
                <a:lnTo>
                  <a:pt x="19820" y="258721"/>
                </a:lnTo>
                <a:lnTo>
                  <a:pt x="8058" y="304024"/>
                </a:lnTo>
                <a:lnTo>
                  <a:pt x="1441" y="354051"/>
                </a:lnTo>
                <a:lnTo>
                  <a:pt x="0" y="406957"/>
                </a:lnTo>
                <a:lnTo>
                  <a:pt x="24" y="408105"/>
                </a:lnTo>
                <a:lnTo>
                  <a:pt x="3671" y="461295"/>
                </a:lnTo>
                <a:lnTo>
                  <a:pt x="12437" y="515603"/>
                </a:lnTo>
                <a:lnTo>
                  <a:pt x="26309" y="568405"/>
                </a:lnTo>
                <a:lnTo>
                  <a:pt x="45331" y="618220"/>
                </a:lnTo>
                <a:lnTo>
                  <a:pt x="69582" y="663563"/>
                </a:lnTo>
                <a:lnTo>
                  <a:pt x="100526" y="705088"/>
                </a:lnTo>
                <a:lnTo>
                  <a:pt x="137797" y="743149"/>
                </a:lnTo>
                <a:lnTo>
                  <a:pt x="180328" y="778379"/>
                </a:lnTo>
                <a:lnTo>
                  <a:pt x="227622" y="811657"/>
                </a:lnTo>
                <a:lnTo>
                  <a:pt x="278483" y="843199"/>
                </a:lnTo>
                <a:lnTo>
                  <a:pt x="331988" y="873450"/>
                </a:lnTo>
                <a:lnTo>
                  <a:pt x="387214" y="902827"/>
                </a:lnTo>
                <a:lnTo>
                  <a:pt x="443237" y="931741"/>
                </a:lnTo>
                <a:lnTo>
                  <a:pt x="454406" y="910112"/>
                </a:lnTo>
                <a:lnTo>
                  <a:pt x="398583" y="881302"/>
                </a:lnTo>
                <a:lnTo>
                  <a:pt x="343835" y="852183"/>
                </a:lnTo>
                <a:lnTo>
                  <a:pt x="291101" y="822380"/>
                </a:lnTo>
                <a:lnTo>
                  <a:pt x="241335" y="791540"/>
                </a:lnTo>
                <a:lnTo>
                  <a:pt x="195483" y="759320"/>
                </a:lnTo>
                <a:lnTo>
                  <a:pt x="154348" y="725290"/>
                </a:lnTo>
                <a:lnTo>
                  <a:pt x="119212" y="689477"/>
                </a:lnTo>
                <a:lnTo>
                  <a:pt x="90707" y="651442"/>
                </a:lnTo>
                <a:lnTo>
                  <a:pt x="67790" y="608787"/>
                </a:lnTo>
                <a:lnTo>
                  <a:pt x="49684" y="561559"/>
                </a:lnTo>
                <a:lnTo>
                  <a:pt x="36376" y="511120"/>
                </a:lnTo>
                <a:lnTo>
                  <a:pt x="27923" y="459069"/>
                </a:lnTo>
                <a:lnTo>
                  <a:pt x="24356" y="406957"/>
                </a:lnTo>
                <a:lnTo>
                  <a:pt x="25667" y="356572"/>
                </a:lnTo>
                <a:lnTo>
                  <a:pt x="31823" y="309374"/>
                </a:lnTo>
                <a:lnTo>
                  <a:pt x="42782" y="266853"/>
                </a:lnTo>
                <a:lnTo>
                  <a:pt x="59282" y="229303"/>
                </a:lnTo>
                <a:lnTo>
                  <a:pt x="82167" y="194011"/>
                </a:lnTo>
                <a:lnTo>
                  <a:pt x="110959" y="160298"/>
                </a:lnTo>
                <a:lnTo>
                  <a:pt x="144428" y="128346"/>
                </a:lnTo>
                <a:lnTo>
                  <a:pt x="181815" y="97685"/>
                </a:lnTo>
                <a:lnTo>
                  <a:pt x="222173" y="68008"/>
                </a:lnTo>
                <a:lnTo>
                  <a:pt x="247505" y="50778"/>
                </a:lnTo>
                <a:lnTo>
                  <a:pt x="272466" y="50778"/>
                </a:lnTo>
                <a:lnTo>
                  <a:pt x="301415" y="0"/>
                </a:lnTo>
                <a:close/>
              </a:path>
              <a:path w="454660" h="932179">
                <a:moveTo>
                  <a:pt x="272466" y="50778"/>
                </a:moveTo>
                <a:lnTo>
                  <a:pt x="247505" y="50778"/>
                </a:lnTo>
                <a:lnTo>
                  <a:pt x="260977" y="70932"/>
                </a:lnTo>
                <a:lnTo>
                  <a:pt x="272466" y="507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897316" y="4591367"/>
            <a:ext cx="2606040" cy="1254760"/>
          </a:xfrm>
          <a:custGeom>
            <a:avLst/>
            <a:gdLst/>
            <a:ahLst/>
            <a:cxnLst/>
            <a:rect l="l" t="t" r="r" b="b"/>
            <a:pathLst>
              <a:path w="2606040" h="1254760">
                <a:moveTo>
                  <a:pt x="84456" y="53148"/>
                </a:moveTo>
                <a:lnTo>
                  <a:pt x="45929" y="53148"/>
                </a:lnTo>
                <a:lnTo>
                  <a:pt x="379007" y="322953"/>
                </a:lnTo>
                <a:lnTo>
                  <a:pt x="474798" y="398983"/>
                </a:lnTo>
                <a:lnTo>
                  <a:pt x="569998" y="473442"/>
                </a:lnTo>
                <a:lnTo>
                  <a:pt x="664489" y="546017"/>
                </a:lnTo>
                <a:lnTo>
                  <a:pt x="758148" y="616390"/>
                </a:lnTo>
                <a:lnTo>
                  <a:pt x="850859" y="684249"/>
                </a:lnTo>
                <a:lnTo>
                  <a:pt x="942503" y="749277"/>
                </a:lnTo>
                <a:lnTo>
                  <a:pt x="1032963" y="811156"/>
                </a:lnTo>
                <a:lnTo>
                  <a:pt x="1122123" y="869575"/>
                </a:lnTo>
                <a:lnTo>
                  <a:pt x="1209866" y="924215"/>
                </a:lnTo>
                <a:lnTo>
                  <a:pt x="1296080" y="974763"/>
                </a:lnTo>
                <a:lnTo>
                  <a:pt x="1380653" y="1020899"/>
                </a:lnTo>
                <a:lnTo>
                  <a:pt x="1463465" y="1062304"/>
                </a:lnTo>
                <a:lnTo>
                  <a:pt x="1544402" y="1098743"/>
                </a:lnTo>
                <a:lnTo>
                  <a:pt x="1623531" y="1130420"/>
                </a:lnTo>
                <a:lnTo>
                  <a:pt x="1700965" y="1157650"/>
                </a:lnTo>
                <a:lnTo>
                  <a:pt x="1776820" y="1180746"/>
                </a:lnTo>
                <a:lnTo>
                  <a:pt x="1851210" y="1200024"/>
                </a:lnTo>
                <a:lnTo>
                  <a:pt x="1924249" y="1215800"/>
                </a:lnTo>
                <a:lnTo>
                  <a:pt x="1996048" y="1228392"/>
                </a:lnTo>
                <a:lnTo>
                  <a:pt x="2066724" y="1238117"/>
                </a:lnTo>
                <a:lnTo>
                  <a:pt x="2136390" y="1245297"/>
                </a:lnTo>
                <a:lnTo>
                  <a:pt x="2205161" y="1250250"/>
                </a:lnTo>
                <a:lnTo>
                  <a:pt x="2273156" y="1253295"/>
                </a:lnTo>
                <a:lnTo>
                  <a:pt x="2340579" y="1254753"/>
                </a:lnTo>
                <a:lnTo>
                  <a:pt x="2473690" y="1254182"/>
                </a:lnTo>
                <a:lnTo>
                  <a:pt x="2605595" y="1251084"/>
                </a:lnTo>
                <a:lnTo>
                  <a:pt x="2605110" y="1230411"/>
                </a:lnTo>
                <a:lnTo>
                  <a:pt x="2340475" y="1230411"/>
                </a:lnTo>
                <a:lnTo>
                  <a:pt x="2273684" y="1228959"/>
                </a:lnTo>
                <a:lnTo>
                  <a:pt x="2206252" y="1225933"/>
                </a:lnTo>
                <a:lnTo>
                  <a:pt x="2138141" y="1221018"/>
                </a:lnTo>
                <a:lnTo>
                  <a:pt x="2069222" y="1213905"/>
                </a:lnTo>
                <a:lnTo>
                  <a:pt x="1999371" y="1204278"/>
                </a:lnTo>
                <a:lnTo>
                  <a:pt x="1928458" y="1191825"/>
                </a:lnTo>
                <a:lnTo>
                  <a:pt x="1856355" y="1176232"/>
                </a:lnTo>
                <a:lnTo>
                  <a:pt x="1782933" y="1157184"/>
                </a:lnTo>
                <a:lnTo>
                  <a:pt x="1708062" y="1134366"/>
                </a:lnTo>
                <a:lnTo>
                  <a:pt x="1631613" y="1107460"/>
                </a:lnTo>
                <a:lnTo>
                  <a:pt x="1553456" y="1076147"/>
                </a:lnTo>
                <a:lnTo>
                  <a:pt x="1473466" y="1040110"/>
                </a:lnTo>
                <a:lnTo>
                  <a:pt x="1391546" y="999130"/>
                </a:lnTo>
                <a:lnTo>
                  <a:pt x="1307745" y="953396"/>
                </a:lnTo>
                <a:lnTo>
                  <a:pt x="1222185" y="903220"/>
                </a:lnTo>
                <a:lnTo>
                  <a:pt x="1134997" y="848914"/>
                </a:lnTo>
                <a:lnTo>
                  <a:pt x="1046311" y="790798"/>
                </a:lnTo>
                <a:lnTo>
                  <a:pt x="956254" y="729188"/>
                </a:lnTo>
                <a:lnTo>
                  <a:pt x="864952" y="664399"/>
                </a:lnTo>
                <a:lnTo>
                  <a:pt x="772532" y="596751"/>
                </a:lnTo>
                <a:lnTo>
                  <a:pt x="679117" y="526558"/>
                </a:lnTo>
                <a:lnTo>
                  <a:pt x="584833" y="454139"/>
                </a:lnTo>
                <a:lnTo>
                  <a:pt x="489802" y="379811"/>
                </a:lnTo>
                <a:lnTo>
                  <a:pt x="394147" y="303889"/>
                </a:lnTo>
                <a:lnTo>
                  <a:pt x="84456" y="53148"/>
                </a:lnTo>
                <a:close/>
              </a:path>
              <a:path w="2606040" h="1254760">
                <a:moveTo>
                  <a:pt x="2605023" y="1226748"/>
                </a:moveTo>
                <a:lnTo>
                  <a:pt x="2473117" y="1229847"/>
                </a:lnTo>
                <a:lnTo>
                  <a:pt x="2340475" y="1230411"/>
                </a:lnTo>
                <a:lnTo>
                  <a:pt x="2605110" y="1230411"/>
                </a:lnTo>
                <a:lnTo>
                  <a:pt x="2605023" y="1226748"/>
                </a:lnTo>
                <a:close/>
              </a:path>
              <a:path w="2606040" h="1254760">
                <a:moveTo>
                  <a:pt x="0" y="0"/>
                </a:moveTo>
                <a:lnTo>
                  <a:pt x="39364" y="104993"/>
                </a:lnTo>
                <a:lnTo>
                  <a:pt x="46381" y="108183"/>
                </a:lnTo>
                <a:lnTo>
                  <a:pt x="58973" y="103465"/>
                </a:lnTo>
                <a:lnTo>
                  <a:pt x="62163" y="96450"/>
                </a:lnTo>
                <a:lnTo>
                  <a:pt x="45929" y="53148"/>
                </a:lnTo>
                <a:lnTo>
                  <a:pt x="84456" y="53148"/>
                </a:lnTo>
                <a:lnTo>
                  <a:pt x="61316" y="34283"/>
                </a:lnTo>
                <a:lnTo>
                  <a:pt x="113660" y="34283"/>
                </a:lnTo>
                <a:lnTo>
                  <a:pt x="115332" y="23653"/>
                </a:lnTo>
                <a:lnTo>
                  <a:pt x="110794" y="17424"/>
                </a:lnTo>
                <a:lnTo>
                  <a:pt x="0" y="0"/>
                </a:lnTo>
                <a:close/>
              </a:path>
              <a:path w="2606040" h="1254760">
                <a:moveTo>
                  <a:pt x="113660" y="34283"/>
                </a:moveTo>
                <a:lnTo>
                  <a:pt x="61316" y="34283"/>
                </a:lnTo>
                <a:lnTo>
                  <a:pt x="107011" y="41470"/>
                </a:lnTo>
                <a:lnTo>
                  <a:pt x="113243" y="36934"/>
                </a:lnTo>
                <a:lnTo>
                  <a:pt x="113660" y="34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62605">
              <a:lnSpc>
                <a:spcPct val="100000"/>
              </a:lnSpc>
            </a:pPr>
            <a:r>
              <a:rPr sz="2950" spc="100" dirty="0"/>
              <a:t>开始返回</a:t>
            </a:r>
            <a:r>
              <a:rPr sz="3050" spc="15" dirty="0">
                <a:latin typeface="Arial" panose="020B0604020202020204"/>
                <a:cs typeface="Arial" panose="020B0604020202020204"/>
              </a:rPr>
              <a:t>…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1296" y="1772517"/>
            <a:ext cx="5647690" cy="365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copy_process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(){..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.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}//ret</a:t>
            </a: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到哪里</a:t>
            </a:r>
            <a:r>
              <a:rPr sz="24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?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1296" y="2230721"/>
            <a:ext cx="165798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sys_fork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: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3716" y="2666636"/>
            <a:ext cx="1475105" cy="779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3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..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.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call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ret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64548" y="2666636"/>
            <a:ext cx="292481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copy_proces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s</a:t>
            </a:r>
            <a:r>
              <a:rPr sz="2400" b="1" spc="-2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58530" y="3080292"/>
            <a:ext cx="1479550" cy="365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到哪里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?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1296" y="3538465"/>
            <a:ext cx="22021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system_call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: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3716" y="3974380"/>
            <a:ext cx="1294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...call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83345" y="3974380"/>
            <a:ext cx="41935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sys_call_table(,%eax,4)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3716" y="4410295"/>
            <a:ext cx="4011929" cy="741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2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cmp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l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$0,state(current)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jne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277421" y="2123459"/>
            <a:ext cx="1385570" cy="349250"/>
          </a:xfrm>
          <a:custGeom>
            <a:avLst/>
            <a:gdLst/>
            <a:ahLst/>
            <a:cxnLst/>
            <a:rect l="l" t="t" r="r" b="b"/>
            <a:pathLst>
              <a:path w="1385570" h="349250">
                <a:moveTo>
                  <a:pt x="0" y="0"/>
                </a:moveTo>
                <a:lnTo>
                  <a:pt x="1385453" y="0"/>
                </a:lnTo>
                <a:lnTo>
                  <a:pt x="1385453" y="348708"/>
                </a:lnTo>
                <a:lnTo>
                  <a:pt x="0" y="348708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931058" y="2721245"/>
            <a:ext cx="1790064" cy="0"/>
          </a:xfrm>
          <a:custGeom>
            <a:avLst/>
            <a:gdLst/>
            <a:ahLst/>
            <a:cxnLst/>
            <a:rect l="l" t="t" r="r" b="b"/>
            <a:pathLst>
              <a:path w="1790065">
                <a:moveTo>
                  <a:pt x="0" y="0"/>
                </a:moveTo>
                <a:lnTo>
                  <a:pt x="1789544" y="0"/>
                </a:lnTo>
              </a:path>
            </a:pathLst>
          </a:custGeom>
          <a:ln w="32455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277421" y="3368847"/>
            <a:ext cx="1385570" cy="299085"/>
          </a:xfrm>
          <a:custGeom>
            <a:avLst/>
            <a:gdLst/>
            <a:ahLst/>
            <a:cxnLst/>
            <a:rect l="l" t="t" r="r" b="b"/>
            <a:pathLst>
              <a:path w="1385570" h="299085">
                <a:moveTo>
                  <a:pt x="0" y="298892"/>
                </a:moveTo>
                <a:lnTo>
                  <a:pt x="1385453" y="298892"/>
                </a:lnTo>
                <a:lnTo>
                  <a:pt x="1385453" y="0"/>
                </a:lnTo>
                <a:lnTo>
                  <a:pt x="0" y="0"/>
                </a:lnTo>
                <a:lnTo>
                  <a:pt x="0" y="2988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277421" y="3667740"/>
            <a:ext cx="1385570" cy="299085"/>
          </a:xfrm>
          <a:custGeom>
            <a:avLst/>
            <a:gdLst/>
            <a:ahLst/>
            <a:cxnLst/>
            <a:rect l="l" t="t" r="r" b="b"/>
            <a:pathLst>
              <a:path w="1385570" h="299085">
                <a:moveTo>
                  <a:pt x="0" y="298892"/>
                </a:moveTo>
                <a:lnTo>
                  <a:pt x="1385453" y="298892"/>
                </a:lnTo>
                <a:lnTo>
                  <a:pt x="1385453" y="0"/>
                </a:lnTo>
                <a:lnTo>
                  <a:pt x="0" y="0"/>
                </a:lnTo>
                <a:lnTo>
                  <a:pt x="0" y="2988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758530" y="4820793"/>
            <a:ext cx="2029460" cy="365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reschedul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e</a:t>
            </a:r>
            <a:r>
              <a:rPr sz="2400" b="1" spc="-76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25" b="1" spc="15" baseline="-2300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sz="2025" baseline="-23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33716" y="5192158"/>
            <a:ext cx="238569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ire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t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1296" y="5646092"/>
            <a:ext cx="1112520" cy="766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main: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374650">
              <a:lnSpc>
                <a:spcPct val="100000"/>
              </a:lnSpc>
              <a:spcBef>
                <a:spcPts val="550"/>
              </a:spcBef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100: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58557" y="5646092"/>
            <a:ext cx="1475105" cy="766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3675" marR="5080" indent="-181610">
              <a:lnSpc>
                <a:spcPct val="119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in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t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0x80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mov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64548" y="6082007"/>
            <a:ext cx="3649979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%eax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,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re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s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cmp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l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res,0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052480" y="2272906"/>
            <a:ext cx="462280" cy="1007110"/>
          </a:xfrm>
          <a:custGeom>
            <a:avLst/>
            <a:gdLst/>
            <a:ahLst/>
            <a:cxnLst/>
            <a:rect l="l" t="t" r="r" b="b"/>
            <a:pathLst>
              <a:path w="462279" h="1007110">
                <a:moveTo>
                  <a:pt x="306072" y="0"/>
                </a:moveTo>
                <a:lnTo>
                  <a:pt x="225375" y="12551"/>
                </a:lnTo>
                <a:lnTo>
                  <a:pt x="239547" y="32480"/>
                </a:lnTo>
                <a:lnTo>
                  <a:pt x="211264" y="52970"/>
                </a:lnTo>
                <a:lnTo>
                  <a:pt x="169447" y="85698"/>
                </a:lnTo>
                <a:lnTo>
                  <a:pt x="130342" y="119819"/>
                </a:lnTo>
                <a:lnTo>
                  <a:pt x="94871" y="155826"/>
                </a:lnTo>
                <a:lnTo>
                  <a:pt x="64007" y="194205"/>
                </a:lnTo>
                <a:lnTo>
                  <a:pt x="38545" y="235827"/>
                </a:lnTo>
                <a:lnTo>
                  <a:pt x="20038" y="280496"/>
                </a:lnTo>
                <a:lnTo>
                  <a:pt x="8054" y="329707"/>
                </a:lnTo>
                <a:lnTo>
                  <a:pt x="1451" y="383256"/>
                </a:lnTo>
                <a:lnTo>
                  <a:pt x="0" y="440314"/>
                </a:lnTo>
                <a:lnTo>
                  <a:pt x="21" y="441393"/>
                </a:lnTo>
                <a:lnTo>
                  <a:pt x="3726" y="498937"/>
                </a:lnTo>
                <a:lnTo>
                  <a:pt x="12616" y="557532"/>
                </a:lnTo>
                <a:lnTo>
                  <a:pt x="26681" y="614500"/>
                </a:lnTo>
                <a:lnTo>
                  <a:pt x="45961" y="668235"/>
                </a:lnTo>
                <a:lnTo>
                  <a:pt x="70727" y="717499"/>
                </a:lnTo>
                <a:lnTo>
                  <a:pt x="101873" y="761886"/>
                </a:lnTo>
                <a:lnTo>
                  <a:pt x="139684" y="802993"/>
                </a:lnTo>
                <a:lnTo>
                  <a:pt x="182873" y="841081"/>
                </a:lnTo>
                <a:lnTo>
                  <a:pt x="230908" y="877067"/>
                </a:lnTo>
                <a:lnTo>
                  <a:pt x="282581" y="911186"/>
                </a:lnTo>
                <a:lnTo>
                  <a:pt x="336946" y="943912"/>
                </a:lnTo>
                <a:lnTo>
                  <a:pt x="393061" y="975695"/>
                </a:lnTo>
                <a:lnTo>
                  <a:pt x="449986" y="1006975"/>
                </a:lnTo>
                <a:lnTo>
                  <a:pt x="461714" y="985644"/>
                </a:lnTo>
                <a:lnTo>
                  <a:pt x="404997" y="954479"/>
                </a:lnTo>
                <a:lnTo>
                  <a:pt x="349364" y="922973"/>
                </a:lnTo>
                <a:lnTo>
                  <a:pt x="295782" y="890732"/>
                </a:lnTo>
                <a:lnTo>
                  <a:pt x="245210" y="857364"/>
                </a:lnTo>
                <a:lnTo>
                  <a:pt x="198605" y="822496"/>
                </a:lnTo>
                <a:lnTo>
                  <a:pt x="156785" y="785660"/>
                </a:lnTo>
                <a:lnTo>
                  <a:pt x="121028" y="746853"/>
                </a:lnTo>
                <a:lnTo>
                  <a:pt x="91860" y="705399"/>
                </a:lnTo>
                <a:lnTo>
                  <a:pt x="68687" y="659484"/>
                </a:lnTo>
                <a:lnTo>
                  <a:pt x="50164" y="608040"/>
                </a:lnTo>
                <a:lnTo>
                  <a:pt x="36602" y="553312"/>
                </a:lnTo>
                <a:lnTo>
                  <a:pt x="27990" y="496844"/>
                </a:lnTo>
                <a:lnTo>
                  <a:pt x="24354" y="440314"/>
                </a:lnTo>
                <a:lnTo>
                  <a:pt x="25690" y="385626"/>
                </a:lnTo>
                <a:lnTo>
                  <a:pt x="31992" y="334183"/>
                </a:lnTo>
                <a:lnTo>
                  <a:pt x="43080" y="288373"/>
                </a:lnTo>
                <a:lnTo>
                  <a:pt x="60015" y="247319"/>
                </a:lnTo>
                <a:lnTo>
                  <a:pt x="83358" y="208989"/>
                </a:lnTo>
                <a:lnTo>
                  <a:pt x="112662" y="172455"/>
                </a:lnTo>
                <a:lnTo>
                  <a:pt x="146706" y="137849"/>
                </a:lnTo>
                <a:lnTo>
                  <a:pt x="184716" y="104661"/>
                </a:lnTo>
                <a:lnTo>
                  <a:pt x="225736" y="72547"/>
                </a:lnTo>
                <a:lnTo>
                  <a:pt x="253654" y="52321"/>
                </a:lnTo>
                <a:lnTo>
                  <a:pt x="278213" y="52321"/>
                </a:lnTo>
                <a:lnTo>
                  <a:pt x="306072" y="0"/>
                </a:lnTo>
                <a:close/>
              </a:path>
              <a:path w="462279" h="1007110">
                <a:moveTo>
                  <a:pt x="278213" y="52321"/>
                </a:moveTo>
                <a:lnTo>
                  <a:pt x="253654" y="52321"/>
                </a:lnTo>
                <a:lnTo>
                  <a:pt x="267698" y="72069"/>
                </a:lnTo>
                <a:lnTo>
                  <a:pt x="278213" y="523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690383" y="1866044"/>
            <a:ext cx="1150620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AB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的用户栈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90383" y="2812281"/>
            <a:ext cx="1150620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AB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的内核栈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593623" y="4688768"/>
            <a:ext cx="3837940" cy="1493520"/>
          </a:xfrm>
          <a:custGeom>
            <a:avLst/>
            <a:gdLst/>
            <a:ahLst/>
            <a:cxnLst/>
            <a:rect l="l" t="t" r="r" b="b"/>
            <a:pathLst>
              <a:path w="3837940" h="1493520">
                <a:moveTo>
                  <a:pt x="0" y="0"/>
                </a:moveTo>
                <a:lnTo>
                  <a:pt x="3837560" y="0"/>
                </a:lnTo>
                <a:lnTo>
                  <a:pt x="3837560" y="1492955"/>
                </a:lnTo>
                <a:lnTo>
                  <a:pt x="0" y="1492955"/>
                </a:lnTo>
                <a:lnTo>
                  <a:pt x="0" y="0"/>
                </a:lnTo>
                <a:close/>
              </a:path>
            </a:pathLst>
          </a:custGeom>
          <a:ln w="1081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658018" y="4737692"/>
            <a:ext cx="65024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spc="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main()</a:t>
            </a:r>
            <a:endParaRPr sz="13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28" name="object 28"/>
          <p:cNvSpPr txBox="1"/>
          <p:nvPr/>
        </p:nvSpPr>
        <p:spPr>
          <a:xfrm>
            <a:off x="3866274" y="5237111"/>
            <a:ext cx="3462020" cy="69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spc="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if(!fork()){while(1)printf(“A”);}</a:t>
            </a:r>
            <a:endParaRPr sz="1350">
              <a:latin typeface="Courier New" panose="02070309020205020404"/>
              <a:cs typeface="Courier New" panose="02070309020205020404"/>
            </a:endParaRPr>
          </a:p>
          <a:p>
            <a:pPr marL="12700" marR="5080">
              <a:lnSpc>
                <a:spcPct val="121000"/>
              </a:lnSpc>
            </a:pPr>
            <a:r>
              <a:rPr sz="1350" b="1" spc="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if(!fork()){while(1)printf(“B”);} wait();</a:t>
            </a:r>
            <a:endParaRPr sz="13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58018" y="5981989"/>
            <a:ext cx="13017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spc="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1350">
              <a:latin typeface="Courier New" panose="02070309020205020404"/>
              <a:cs typeface="Courier New" panose="02070309020205020404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6265250" y="3057783"/>
          <a:ext cx="1422400" cy="9213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5453"/>
              </a:tblGrid>
              <a:tr h="298892">
                <a:tc>
                  <a:txBody>
                    <a:bodyPr/>
                    <a:lstStyle/>
                    <a:p>
                      <a:endParaRPr sz="24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24341">
                      <a:solidFill>
                        <a:srgbClr val="000000"/>
                      </a:solidFill>
                      <a:prstDash val="solid"/>
                    </a:lnL>
                    <a:lnR w="24341">
                      <a:solidFill>
                        <a:srgbClr val="000000"/>
                      </a:solidFill>
                      <a:prstDash val="solid"/>
                    </a:lnR>
                    <a:lnT w="24341">
                      <a:solidFill>
                        <a:srgbClr val="000000"/>
                      </a:solidFill>
                      <a:prstDash val="solid"/>
                    </a:lnT>
                    <a:lnB w="2434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8893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</a:pPr>
                      <a:r>
                        <a:rPr sz="1700" b="1" spc="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EFLA</a:t>
                      </a:r>
                      <a:r>
                        <a:rPr sz="1700" b="1" spc="-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G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S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1">
                      <a:solidFill>
                        <a:srgbClr val="000000"/>
                      </a:solidFill>
                      <a:prstDash val="solid"/>
                    </a:lnL>
                    <a:lnR w="24341">
                      <a:solidFill>
                        <a:srgbClr val="000000"/>
                      </a:solidFill>
                      <a:prstDash val="solid"/>
                    </a:lnR>
                    <a:lnT w="24341">
                      <a:solidFill>
                        <a:srgbClr val="000000"/>
                      </a:solidFill>
                      <a:prstDash val="solid"/>
                    </a:lnT>
                    <a:lnB w="2434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889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100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1">
                      <a:solidFill>
                        <a:srgbClr val="000000"/>
                      </a:solidFill>
                      <a:prstDash val="solid"/>
                    </a:lnL>
                    <a:lnR w="24341">
                      <a:solidFill>
                        <a:srgbClr val="000000"/>
                      </a:solidFill>
                      <a:prstDash val="solid"/>
                    </a:lnR>
                    <a:lnT w="24341">
                      <a:solidFill>
                        <a:srgbClr val="000000"/>
                      </a:solidFill>
                      <a:prstDash val="solid"/>
                    </a:lnT>
                    <a:lnB w="2434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0861" y="5517738"/>
            <a:ext cx="1363980" cy="649605"/>
          </a:xfrm>
          <a:custGeom>
            <a:avLst/>
            <a:gdLst/>
            <a:ahLst/>
            <a:cxnLst/>
            <a:rect l="l" t="t" r="r" b="b"/>
            <a:pathLst>
              <a:path w="1363980" h="649604">
                <a:moveTo>
                  <a:pt x="0" y="0"/>
                </a:moveTo>
                <a:lnTo>
                  <a:pt x="1363503" y="0"/>
                </a:lnTo>
                <a:lnTo>
                  <a:pt x="1363503" y="649111"/>
                </a:lnTo>
                <a:lnTo>
                  <a:pt x="0" y="649111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85477" y="5726665"/>
            <a:ext cx="1013460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AB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PC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B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31545">
              <a:lnSpc>
                <a:spcPct val="100000"/>
              </a:lnSpc>
            </a:pPr>
            <a:r>
              <a:rPr sz="3050" dirty="0">
                <a:latin typeface="Arial" panose="020B0604020202020204"/>
                <a:cs typeface="Arial" panose="020B0604020202020204"/>
              </a:rPr>
              <a:t>mai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n</a:t>
            </a:r>
            <a:r>
              <a:rPr sz="2950" spc="100" dirty="0"/>
              <a:t>继续执行，现在我们有了什么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?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7282" y="1794774"/>
            <a:ext cx="3836670" cy="779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main(){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556260">
              <a:lnSpc>
                <a:spcPct val="100000"/>
              </a:lnSpc>
              <a:spcBef>
                <a:spcPts val="650"/>
              </a:spcBef>
            </a:pP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又一个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fork;</a:t>
            </a: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再一次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int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29290" y="2243429"/>
            <a:ext cx="931544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0x80;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42248" y="4778021"/>
            <a:ext cx="1818005" cy="1558290"/>
          </a:xfrm>
          <a:custGeom>
            <a:avLst/>
            <a:gdLst/>
            <a:ahLst/>
            <a:cxnLst/>
            <a:rect l="l" t="t" r="r" b="b"/>
            <a:pathLst>
              <a:path w="1818004" h="1558289">
                <a:moveTo>
                  <a:pt x="0" y="0"/>
                </a:moveTo>
                <a:lnTo>
                  <a:pt x="1818005" y="0"/>
                </a:lnTo>
                <a:lnTo>
                  <a:pt x="1818005" y="1557866"/>
                </a:lnTo>
                <a:lnTo>
                  <a:pt x="0" y="1557866"/>
                </a:lnTo>
                <a:lnTo>
                  <a:pt x="0" y="0"/>
                </a:lnTo>
                <a:close/>
              </a:path>
            </a:pathLst>
          </a:custGeom>
          <a:ln w="243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43600" y="4016669"/>
            <a:ext cx="1818005" cy="761365"/>
          </a:xfrm>
          <a:custGeom>
            <a:avLst/>
            <a:gdLst/>
            <a:ahLst/>
            <a:cxnLst/>
            <a:rect l="l" t="t" r="r" b="b"/>
            <a:pathLst>
              <a:path w="1818004" h="761364">
                <a:moveTo>
                  <a:pt x="0" y="761352"/>
                </a:moveTo>
                <a:lnTo>
                  <a:pt x="1818004" y="761352"/>
                </a:lnTo>
                <a:lnTo>
                  <a:pt x="1818004" y="0"/>
                </a:lnTo>
                <a:lnTo>
                  <a:pt x="0" y="0"/>
                </a:lnTo>
                <a:lnTo>
                  <a:pt x="0" y="7613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943600" y="4016669"/>
            <a:ext cx="1818005" cy="761365"/>
          </a:xfrm>
          <a:custGeom>
            <a:avLst/>
            <a:gdLst/>
            <a:ahLst/>
            <a:cxnLst/>
            <a:rect l="l" t="t" r="r" b="b"/>
            <a:pathLst>
              <a:path w="1818004" h="761364">
                <a:moveTo>
                  <a:pt x="0" y="0"/>
                </a:moveTo>
                <a:lnTo>
                  <a:pt x="1818005" y="0"/>
                </a:lnTo>
                <a:lnTo>
                  <a:pt x="1818005" y="761352"/>
                </a:lnTo>
                <a:lnTo>
                  <a:pt x="0" y="761352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943600" y="5102577"/>
            <a:ext cx="1818005" cy="991235"/>
          </a:xfrm>
          <a:custGeom>
            <a:avLst/>
            <a:gdLst/>
            <a:ahLst/>
            <a:cxnLst/>
            <a:rect l="l" t="t" r="r" b="b"/>
            <a:pathLst>
              <a:path w="1818004" h="991235">
                <a:moveTo>
                  <a:pt x="0" y="991247"/>
                </a:moveTo>
                <a:lnTo>
                  <a:pt x="1818004" y="991247"/>
                </a:lnTo>
                <a:lnTo>
                  <a:pt x="1818004" y="0"/>
                </a:lnTo>
                <a:lnTo>
                  <a:pt x="0" y="0"/>
                </a:lnTo>
                <a:lnTo>
                  <a:pt x="0" y="9912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943600" y="5102578"/>
            <a:ext cx="1818005" cy="991235"/>
          </a:xfrm>
          <a:custGeom>
            <a:avLst/>
            <a:gdLst/>
            <a:ahLst/>
            <a:cxnLst/>
            <a:rect l="l" t="t" r="r" b="b"/>
            <a:pathLst>
              <a:path w="1818004" h="991235">
                <a:moveTo>
                  <a:pt x="0" y="0"/>
                </a:moveTo>
                <a:lnTo>
                  <a:pt x="1818005" y="0"/>
                </a:lnTo>
                <a:lnTo>
                  <a:pt x="1818005" y="991247"/>
                </a:lnTo>
                <a:lnTo>
                  <a:pt x="0" y="991247"/>
                </a:lnTo>
                <a:lnTo>
                  <a:pt x="0" y="0"/>
                </a:lnTo>
                <a:close/>
              </a:path>
            </a:pathLst>
          </a:custGeom>
          <a:ln w="243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761605" y="4778021"/>
            <a:ext cx="165100" cy="1510665"/>
          </a:xfrm>
          <a:custGeom>
            <a:avLst/>
            <a:gdLst/>
            <a:ahLst/>
            <a:cxnLst/>
            <a:rect l="l" t="t" r="r" b="b"/>
            <a:pathLst>
              <a:path w="165100" h="1510664">
                <a:moveTo>
                  <a:pt x="0" y="0"/>
                </a:moveTo>
                <a:lnTo>
                  <a:pt x="44732" y="17710"/>
                </a:lnTo>
                <a:lnTo>
                  <a:pt x="69415" y="50221"/>
                </a:lnTo>
                <a:lnTo>
                  <a:pt x="82945" y="94294"/>
                </a:lnTo>
                <a:lnTo>
                  <a:pt x="84543" y="638201"/>
                </a:lnTo>
                <a:lnTo>
                  <a:pt x="85402" y="654948"/>
                </a:lnTo>
                <a:lnTo>
                  <a:pt x="97333" y="700142"/>
                </a:lnTo>
                <a:lnTo>
                  <a:pt x="120812" y="734319"/>
                </a:lnTo>
                <a:lnTo>
                  <a:pt x="164554" y="755102"/>
                </a:lnTo>
                <a:lnTo>
                  <a:pt x="153364" y="756373"/>
                </a:lnTo>
                <a:lnTo>
                  <a:pt x="113559" y="783115"/>
                </a:lnTo>
                <a:lnTo>
                  <a:pt x="92943" y="821099"/>
                </a:lnTo>
                <a:lnTo>
                  <a:pt x="84571" y="869291"/>
                </a:lnTo>
                <a:lnTo>
                  <a:pt x="84543" y="1393469"/>
                </a:lnTo>
                <a:lnTo>
                  <a:pt x="83685" y="1410216"/>
                </a:lnTo>
                <a:lnTo>
                  <a:pt x="71753" y="1455410"/>
                </a:lnTo>
                <a:lnTo>
                  <a:pt x="48274" y="1489587"/>
                </a:lnTo>
                <a:lnTo>
                  <a:pt x="16445" y="1508322"/>
                </a:lnTo>
                <a:lnTo>
                  <a:pt x="4532" y="1510370"/>
                </a:lnTo>
              </a:path>
            </a:pathLst>
          </a:custGeom>
          <a:ln w="24348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761605" y="3999088"/>
            <a:ext cx="121285" cy="730885"/>
          </a:xfrm>
          <a:custGeom>
            <a:avLst/>
            <a:gdLst/>
            <a:ahLst/>
            <a:cxnLst/>
            <a:rect l="l" t="t" r="r" b="b"/>
            <a:pathLst>
              <a:path w="121284" h="730885">
                <a:moveTo>
                  <a:pt x="0" y="0"/>
                </a:moveTo>
                <a:lnTo>
                  <a:pt x="42857" y="22371"/>
                </a:lnTo>
                <a:lnTo>
                  <a:pt x="61667" y="61703"/>
                </a:lnTo>
                <a:lnTo>
                  <a:pt x="64929" y="275875"/>
                </a:lnTo>
                <a:lnTo>
                  <a:pt x="66039" y="292518"/>
                </a:lnTo>
                <a:lnTo>
                  <a:pt x="81082" y="335232"/>
                </a:lnTo>
                <a:lnTo>
                  <a:pt x="109481" y="361283"/>
                </a:lnTo>
                <a:lnTo>
                  <a:pt x="120978" y="364967"/>
                </a:lnTo>
                <a:lnTo>
                  <a:pt x="111306" y="366891"/>
                </a:lnTo>
                <a:lnTo>
                  <a:pt x="77148" y="402037"/>
                </a:lnTo>
                <a:lnTo>
                  <a:pt x="65122" y="448709"/>
                </a:lnTo>
                <a:lnTo>
                  <a:pt x="64929" y="641676"/>
                </a:lnTo>
                <a:lnTo>
                  <a:pt x="63819" y="658320"/>
                </a:lnTo>
                <a:lnTo>
                  <a:pt x="48776" y="701034"/>
                </a:lnTo>
                <a:lnTo>
                  <a:pt x="20377" y="727085"/>
                </a:lnTo>
                <a:lnTo>
                  <a:pt x="8879" y="730768"/>
                </a:lnTo>
              </a:path>
            </a:pathLst>
          </a:custGeom>
          <a:ln w="24348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943912" y="6207221"/>
            <a:ext cx="520700" cy="111760"/>
          </a:xfrm>
          <a:custGeom>
            <a:avLst/>
            <a:gdLst/>
            <a:ahLst/>
            <a:cxnLst/>
            <a:rect l="l" t="t" r="r" b="b"/>
            <a:pathLst>
              <a:path w="520700" h="111760">
                <a:moveTo>
                  <a:pt x="91881" y="0"/>
                </a:moveTo>
                <a:lnTo>
                  <a:pt x="88611" y="655"/>
                </a:lnTo>
                <a:lnTo>
                  <a:pt x="0" y="63761"/>
                </a:lnTo>
                <a:lnTo>
                  <a:pt x="101608" y="111234"/>
                </a:lnTo>
                <a:lnTo>
                  <a:pt x="108855" y="108604"/>
                </a:lnTo>
                <a:lnTo>
                  <a:pt x="114548" y="96425"/>
                </a:lnTo>
                <a:lnTo>
                  <a:pt x="111917" y="89182"/>
                </a:lnTo>
                <a:lnTo>
                  <a:pt x="70011" y="69602"/>
                </a:lnTo>
                <a:lnTo>
                  <a:pt x="336041" y="45361"/>
                </a:lnTo>
                <a:lnTo>
                  <a:pt x="67801" y="45361"/>
                </a:lnTo>
                <a:lnTo>
                  <a:pt x="105477" y="18530"/>
                </a:lnTo>
                <a:lnTo>
                  <a:pt x="106753" y="10930"/>
                </a:lnTo>
                <a:lnTo>
                  <a:pt x="100902" y="2719"/>
                </a:lnTo>
                <a:lnTo>
                  <a:pt x="98026" y="1031"/>
                </a:lnTo>
                <a:lnTo>
                  <a:pt x="91881" y="0"/>
                </a:lnTo>
                <a:close/>
              </a:path>
              <a:path w="520700" h="111760">
                <a:moveTo>
                  <a:pt x="518380" y="4305"/>
                </a:moveTo>
                <a:lnTo>
                  <a:pt x="67801" y="45361"/>
                </a:lnTo>
                <a:lnTo>
                  <a:pt x="336041" y="45361"/>
                </a:lnTo>
                <a:lnTo>
                  <a:pt x="520590" y="28545"/>
                </a:lnTo>
                <a:lnTo>
                  <a:pt x="518380" y="430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125963" y="4730691"/>
            <a:ext cx="1818005" cy="1558290"/>
          </a:xfrm>
          <a:custGeom>
            <a:avLst/>
            <a:gdLst/>
            <a:ahLst/>
            <a:cxnLst/>
            <a:rect l="l" t="t" r="r" b="b"/>
            <a:pathLst>
              <a:path w="1818004" h="1558289">
                <a:moveTo>
                  <a:pt x="0" y="0"/>
                </a:moveTo>
                <a:lnTo>
                  <a:pt x="1818005" y="0"/>
                </a:lnTo>
                <a:lnTo>
                  <a:pt x="1818005" y="1557866"/>
                </a:lnTo>
                <a:lnTo>
                  <a:pt x="0" y="1557866"/>
                </a:lnTo>
                <a:lnTo>
                  <a:pt x="0" y="0"/>
                </a:lnTo>
                <a:close/>
              </a:path>
            </a:pathLst>
          </a:custGeom>
          <a:ln w="243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18977" y="3268838"/>
            <a:ext cx="1363980" cy="321945"/>
          </a:xfrm>
          <a:custGeom>
            <a:avLst/>
            <a:gdLst/>
            <a:ahLst/>
            <a:cxnLst/>
            <a:rect l="l" t="t" r="r" b="b"/>
            <a:pathLst>
              <a:path w="1363980" h="321945">
                <a:moveTo>
                  <a:pt x="0" y="0"/>
                </a:moveTo>
                <a:lnTo>
                  <a:pt x="1363503" y="0"/>
                </a:lnTo>
                <a:lnTo>
                  <a:pt x="1363503" y="321850"/>
                </a:lnTo>
                <a:lnTo>
                  <a:pt x="0" y="321850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78101" y="3757024"/>
            <a:ext cx="7337425" cy="65405"/>
          </a:xfrm>
          <a:custGeom>
            <a:avLst/>
            <a:gdLst/>
            <a:ahLst/>
            <a:cxnLst/>
            <a:rect l="l" t="t" r="r" b="b"/>
            <a:pathLst>
              <a:path w="7337425" h="65404">
                <a:moveTo>
                  <a:pt x="0" y="64911"/>
                </a:moveTo>
                <a:lnTo>
                  <a:pt x="7336948" y="0"/>
                </a:lnTo>
              </a:path>
            </a:pathLst>
          </a:custGeom>
          <a:ln w="32455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18977" y="4143787"/>
            <a:ext cx="1363980" cy="276225"/>
          </a:xfrm>
          <a:custGeom>
            <a:avLst/>
            <a:gdLst/>
            <a:ahLst/>
            <a:cxnLst/>
            <a:rect l="l" t="t" r="r" b="b"/>
            <a:pathLst>
              <a:path w="1363980" h="276225">
                <a:moveTo>
                  <a:pt x="0" y="0"/>
                </a:moveTo>
                <a:lnTo>
                  <a:pt x="1363503" y="0"/>
                </a:lnTo>
                <a:lnTo>
                  <a:pt x="1363503" y="275872"/>
                </a:lnTo>
                <a:lnTo>
                  <a:pt x="0" y="275872"/>
                </a:lnTo>
                <a:lnTo>
                  <a:pt x="0" y="0"/>
                </a:lnTo>
                <a:close/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18977" y="4419659"/>
            <a:ext cx="1363980" cy="276225"/>
          </a:xfrm>
          <a:custGeom>
            <a:avLst/>
            <a:gdLst/>
            <a:ahLst/>
            <a:cxnLst/>
            <a:rect l="l" t="t" r="r" b="b"/>
            <a:pathLst>
              <a:path w="1363980" h="276225">
                <a:moveTo>
                  <a:pt x="0" y="275872"/>
                </a:moveTo>
                <a:lnTo>
                  <a:pt x="1363503" y="275872"/>
                </a:lnTo>
                <a:lnTo>
                  <a:pt x="1363503" y="0"/>
                </a:lnTo>
                <a:lnTo>
                  <a:pt x="0" y="0"/>
                </a:lnTo>
                <a:lnTo>
                  <a:pt x="0" y="2758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18977" y="4419659"/>
            <a:ext cx="1363980" cy="276225"/>
          </a:xfrm>
          <a:custGeom>
            <a:avLst/>
            <a:gdLst/>
            <a:ahLst/>
            <a:cxnLst/>
            <a:rect l="l" t="t" r="r" b="b"/>
            <a:pathLst>
              <a:path w="1363980" h="276225">
                <a:moveTo>
                  <a:pt x="0" y="0"/>
                </a:moveTo>
                <a:lnTo>
                  <a:pt x="1363503" y="0"/>
                </a:lnTo>
                <a:lnTo>
                  <a:pt x="1363503" y="275872"/>
                </a:lnTo>
                <a:lnTo>
                  <a:pt x="0" y="275872"/>
                </a:lnTo>
                <a:lnTo>
                  <a:pt x="0" y="0"/>
                </a:lnTo>
                <a:close/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18977" y="4695531"/>
            <a:ext cx="1363980" cy="277495"/>
          </a:xfrm>
          <a:custGeom>
            <a:avLst/>
            <a:gdLst/>
            <a:ahLst/>
            <a:cxnLst/>
            <a:rect l="l" t="t" r="r" b="b"/>
            <a:pathLst>
              <a:path w="1363980" h="277495">
                <a:moveTo>
                  <a:pt x="0" y="277224"/>
                </a:moveTo>
                <a:lnTo>
                  <a:pt x="1363503" y="277224"/>
                </a:lnTo>
                <a:lnTo>
                  <a:pt x="1363503" y="0"/>
                </a:lnTo>
                <a:lnTo>
                  <a:pt x="0" y="0"/>
                </a:lnTo>
                <a:lnTo>
                  <a:pt x="0" y="2772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18977" y="4695531"/>
            <a:ext cx="1363980" cy="277495"/>
          </a:xfrm>
          <a:custGeom>
            <a:avLst/>
            <a:gdLst/>
            <a:ahLst/>
            <a:cxnLst/>
            <a:rect l="l" t="t" r="r" b="b"/>
            <a:pathLst>
              <a:path w="1363980" h="277495">
                <a:moveTo>
                  <a:pt x="0" y="0"/>
                </a:moveTo>
                <a:lnTo>
                  <a:pt x="1363503" y="0"/>
                </a:lnTo>
                <a:lnTo>
                  <a:pt x="1363503" y="277224"/>
                </a:lnTo>
                <a:lnTo>
                  <a:pt x="0" y="277224"/>
                </a:lnTo>
                <a:lnTo>
                  <a:pt x="0" y="0"/>
                </a:lnTo>
                <a:close/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916137" y="2644378"/>
            <a:ext cx="5115560" cy="655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ct val="100000"/>
              </a:lnSpc>
            </a:pP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在内核中再产生一个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PCB</a:t>
            </a: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和内核栈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AB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的用户栈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83496" y="4000770"/>
            <a:ext cx="803910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B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内核栈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66900" y="5101771"/>
            <a:ext cx="137033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ss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-&gt;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??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85762" y="5359934"/>
            <a:ext cx="1532890" cy="762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 marR="5080" indent="-63500" algn="just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ss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-&gt;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+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k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ss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-&gt;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ss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-&gt;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ax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30830" y="4771379"/>
            <a:ext cx="415290" cy="516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1590">
              <a:lnSpc>
                <a:spcPts val="197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B</a:t>
            </a:r>
            <a:r>
              <a:rPr sz="1650" b="1" spc="3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PCB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957895" y="5955793"/>
            <a:ext cx="15557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p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48362" y="4450808"/>
            <a:ext cx="90424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EFLA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89074" y="4727281"/>
            <a:ext cx="42354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???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16137" y="3908837"/>
            <a:ext cx="1150620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AB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的内核栈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18977" y="4972755"/>
            <a:ext cx="1363980" cy="551815"/>
          </a:xfrm>
          <a:custGeom>
            <a:avLst/>
            <a:gdLst/>
            <a:ahLst/>
            <a:cxnLst/>
            <a:rect l="l" t="t" r="r" b="b"/>
            <a:pathLst>
              <a:path w="1363980" h="551814">
                <a:moveTo>
                  <a:pt x="0" y="551744"/>
                </a:moveTo>
                <a:lnTo>
                  <a:pt x="1363503" y="551744"/>
                </a:lnTo>
                <a:lnTo>
                  <a:pt x="1363503" y="0"/>
                </a:lnTo>
                <a:lnTo>
                  <a:pt x="0" y="0"/>
                </a:lnTo>
                <a:lnTo>
                  <a:pt x="0" y="5517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18977" y="4972756"/>
            <a:ext cx="1363980" cy="551815"/>
          </a:xfrm>
          <a:custGeom>
            <a:avLst/>
            <a:gdLst/>
            <a:ahLst/>
            <a:cxnLst/>
            <a:rect l="l" t="t" r="r" b="b"/>
            <a:pathLst>
              <a:path w="1363980" h="551814">
                <a:moveTo>
                  <a:pt x="0" y="0"/>
                </a:moveTo>
                <a:lnTo>
                  <a:pt x="1363503" y="0"/>
                </a:lnTo>
                <a:lnTo>
                  <a:pt x="1363503" y="551744"/>
                </a:lnTo>
                <a:lnTo>
                  <a:pt x="0" y="551744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971494" y="5141653"/>
            <a:ext cx="45847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……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127316" y="3967986"/>
            <a:ext cx="1818005" cy="763270"/>
          </a:xfrm>
          <a:custGeom>
            <a:avLst/>
            <a:gdLst/>
            <a:ahLst/>
            <a:cxnLst/>
            <a:rect l="l" t="t" r="r" b="b"/>
            <a:pathLst>
              <a:path w="1818004" h="763270">
                <a:moveTo>
                  <a:pt x="0" y="762705"/>
                </a:moveTo>
                <a:lnTo>
                  <a:pt x="1818005" y="762705"/>
                </a:lnTo>
                <a:lnTo>
                  <a:pt x="1818005" y="0"/>
                </a:lnTo>
                <a:lnTo>
                  <a:pt x="0" y="0"/>
                </a:lnTo>
                <a:lnTo>
                  <a:pt x="0" y="7627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127316" y="3967985"/>
            <a:ext cx="1818005" cy="763270"/>
          </a:xfrm>
          <a:custGeom>
            <a:avLst/>
            <a:gdLst/>
            <a:ahLst/>
            <a:cxnLst/>
            <a:rect l="l" t="t" r="r" b="b"/>
            <a:pathLst>
              <a:path w="1818004" h="763270">
                <a:moveTo>
                  <a:pt x="0" y="0"/>
                </a:moveTo>
                <a:lnTo>
                  <a:pt x="1818005" y="0"/>
                </a:lnTo>
                <a:lnTo>
                  <a:pt x="1818005" y="762705"/>
                </a:lnTo>
                <a:lnTo>
                  <a:pt x="0" y="762705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4053685" y="3968322"/>
            <a:ext cx="803910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内核栈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127316" y="5055247"/>
            <a:ext cx="1818005" cy="989965"/>
          </a:xfrm>
          <a:custGeom>
            <a:avLst/>
            <a:gdLst/>
            <a:ahLst/>
            <a:cxnLst/>
            <a:rect l="l" t="t" r="r" b="b"/>
            <a:pathLst>
              <a:path w="1818004" h="989964">
                <a:moveTo>
                  <a:pt x="0" y="989894"/>
                </a:moveTo>
                <a:lnTo>
                  <a:pt x="1818005" y="989894"/>
                </a:lnTo>
                <a:lnTo>
                  <a:pt x="1818005" y="0"/>
                </a:lnTo>
                <a:lnTo>
                  <a:pt x="0" y="0"/>
                </a:lnTo>
                <a:lnTo>
                  <a:pt x="0" y="9898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127316" y="5055247"/>
            <a:ext cx="1818005" cy="989965"/>
          </a:xfrm>
          <a:custGeom>
            <a:avLst/>
            <a:gdLst/>
            <a:ahLst/>
            <a:cxnLst/>
            <a:rect l="l" t="t" r="r" b="b"/>
            <a:pathLst>
              <a:path w="1818004" h="989964">
                <a:moveTo>
                  <a:pt x="0" y="0"/>
                </a:moveTo>
                <a:lnTo>
                  <a:pt x="1818005" y="0"/>
                </a:lnTo>
                <a:lnTo>
                  <a:pt x="1818005" y="989894"/>
                </a:lnTo>
                <a:lnTo>
                  <a:pt x="0" y="989894"/>
                </a:lnTo>
                <a:lnTo>
                  <a:pt x="0" y="0"/>
                </a:lnTo>
                <a:close/>
              </a:path>
            </a:pathLst>
          </a:custGeom>
          <a:ln w="243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2368899" y="5053776"/>
            <a:ext cx="133413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ss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-&gt;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00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269477" y="5311941"/>
            <a:ext cx="1532890" cy="762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 marR="5080" indent="-63500" algn="just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ss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-&gt;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+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k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ss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-&gt;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ss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-&gt;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ax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018514" y="4755156"/>
            <a:ext cx="761365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PCB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945321" y="4730691"/>
            <a:ext cx="121285" cy="1557655"/>
          </a:xfrm>
          <a:custGeom>
            <a:avLst/>
            <a:gdLst/>
            <a:ahLst/>
            <a:cxnLst/>
            <a:rect l="l" t="t" r="r" b="b"/>
            <a:pathLst>
              <a:path w="121285" h="1557654">
                <a:moveTo>
                  <a:pt x="0" y="0"/>
                </a:moveTo>
                <a:lnTo>
                  <a:pt x="42764" y="22575"/>
                </a:lnTo>
                <a:lnTo>
                  <a:pt x="61284" y="62183"/>
                </a:lnTo>
                <a:lnTo>
                  <a:pt x="64252" y="689933"/>
                </a:lnTo>
                <a:lnTo>
                  <a:pt x="65373" y="706573"/>
                </a:lnTo>
                <a:lnTo>
                  <a:pt x="80550" y="749169"/>
                </a:lnTo>
                <a:lnTo>
                  <a:pt x="109145" y="774822"/>
                </a:lnTo>
                <a:lnTo>
                  <a:pt x="120702" y="778283"/>
                </a:lnTo>
                <a:lnTo>
                  <a:pt x="110751" y="780155"/>
                </a:lnTo>
                <a:lnTo>
                  <a:pt x="76183" y="815261"/>
                </a:lnTo>
                <a:lnTo>
                  <a:pt x="64395" y="861938"/>
                </a:lnTo>
                <a:lnTo>
                  <a:pt x="64252" y="1468866"/>
                </a:lnTo>
                <a:lnTo>
                  <a:pt x="63131" y="1485506"/>
                </a:lnTo>
                <a:lnTo>
                  <a:pt x="47954" y="1528102"/>
                </a:lnTo>
                <a:lnTo>
                  <a:pt x="19359" y="1553755"/>
                </a:lnTo>
                <a:lnTo>
                  <a:pt x="7802" y="1557217"/>
                </a:lnTo>
              </a:path>
            </a:pathLst>
          </a:custGeom>
          <a:ln w="24348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945321" y="3951758"/>
            <a:ext cx="121285" cy="713740"/>
          </a:xfrm>
          <a:custGeom>
            <a:avLst/>
            <a:gdLst/>
            <a:ahLst/>
            <a:cxnLst/>
            <a:rect l="l" t="t" r="r" b="b"/>
            <a:pathLst>
              <a:path w="121285" h="713739">
                <a:moveTo>
                  <a:pt x="0" y="0"/>
                </a:moveTo>
                <a:lnTo>
                  <a:pt x="42767" y="22575"/>
                </a:lnTo>
                <a:lnTo>
                  <a:pt x="61287" y="62184"/>
                </a:lnTo>
                <a:lnTo>
                  <a:pt x="64253" y="260582"/>
                </a:lnTo>
                <a:lnTo>
                  <a:pt x="65374" y="277221"/>
                </a:lnTo>
                <a:lnTo>
                  <a:pt x="80553" y="319814"/>
                </a:lnTo>
                <a:lnTo>
                  <a:pt x="109152" y="345463"/>
                </a:lnTo>
                <a:lnTo>
                  <a:pt x="120711" y="348922"/>
                </a:lnTo>
                <a:lnTo>
                  <a:pt x="110756" y="350794"/>
                </a:lnTo>
                <a:lnTo>
                  <a:pt x="76182" y="385898"/>
                </a:lnTo>
                <a:lnTo>
                  <a:pt x="64395" y="432574"/>
                </a:lnTo>
                <a:lnTo>
                  <a:pt x="64253" y="625033"/>
                </a:lnTo>
                <a:lnTo>
                  <a:pt x="63131" y="641672"/>
                </a:lnTo>
                <a:lnTo>
                  <a:pt x="47952" y="684265"/>
                </a:lnTo>
                <a:lnTo>
                  <a:pt x="19353" y="709914"/>
                </a:lnTo>
                <a:lnTo>
                  <a:pt x="7794" y="713374"/>
                </a:lnTo>
              </a:path>
            </a:pathLst>
          </a:custGeom>
          <a:ln w="24348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27264" y="3536596"/>
            <a:ext cx="454659" cy="932180"/>
          </a:xfrm>
          <a:custGeom>
            <a:avLst/>
            <a:gdLst/>
            <a:ahLst/>
            <a:cxnLst/>
            <a:rect l="l" t="t" r="r" b="b"/>
            <a:pathLst>
              <a:path w="454659" h="932179">
                <a:moveTo>
                  <a:pt x="301415" y="0"/>
                </a:moveTo>
                <a:lnTo>
                  <a:pt x="220390" y="10217"/>
                </a:lnTo>
                <a:lnTo>
                  <a:pt x="233975" y="30539"/>
                </a:lnTo>
                <a:lnTo>
                  <a:pt x="208292" y="48009"/>
                </a:lnTo>
                <a:lnTo>
                  <a:pt x="167129" y="78267"/>
                </a:lnTo>
                <a:lnTo>
                  <a:pt x="128630" y="109818"/>
                </a:lnTo>
                <a:lnTo>
                  <a:pt x="93695" y="143122"/>
                </a:lnTo>
                <a:lnTo>
                  <a:pt x="63274" y="178647"/>
                </a:lnTo>
                <a:lnTo>
                  <a:pt x="38125" y="217247"/>
                </a:lnTo>
                <a:lnTo>
                  <a:pt x="19820" y="258723"/>
                </a:lnTo>
                <a:lnTo>
                  <a:pt x="8058" y="304025"/>
                </a:lnTo>
                <a:lnTo>
                  <a:pt x="1441" y="354053"/>
                </a:lnTo>
                <a:lnTo>
                  <a:pt x="0" y="406957"/>
                </a:lnTo>
                <a:lnTo>
                  <a:pt x="24" y="408106"/>
                </a:lnTo>
                <a:lnTo>
                  <a:pt x="3671" y="461295"/>
                </a:lnTo>
                <a:lnTo>
                  <a:pt x="12437" y="515603"/>
                </a:lnTo>
                <a:lnTo>
                  <a:pt x="26309" y="568405"/>
                </a:lnTo>
                <a:lnTo>
                  <a:pt x="45330" y="618222"/>
                </a:lnTo>
                <a:lnTo>
                  <a:pt x="69582" y="663564"/>
                </a:lnTo>
                <a:lnTo>
                  <a:pt x="100526" y="705088"/>
                </a:lnTo>
                <a:lnTo>
                  <a:pt x="137796" y="743149"/>
                </a:lnTo>
                <a:lnTo>
                  <a:pt x="180328" y="778379"/>
                </a:lnTo>
                <a:lnTo>
                  <a:pt x="227621" y="811657"/>
                </a:lnTo>
                <a:lnTo>
                  <a:pt x="278483" y="843199"/>
                </a:lnTo>
                <a:lnTo>
                  <a:pt x="331988" y="873450"/>
                </a:lnTo>
                <a:lnTo>
                  <a:pt x="387214" y="902829"/>
                </a:lnTo>
                <a:lnTo>
                  <a:pt x="443236" y="931741"/>
                </a:lnTo>
                <a:lnTo>
                  <a:pt x="454405" y="910112"/>
                </a:lnTo>
                <a:lnTo>
                  <a:pt x="398582" y="881302"/>
                </a:lnTo>
                <a:lnTo>
                  <a:pt x="343835" y="852183"/>
                </a:lnTo>
                <a:lnTo>
                  <a:pt x="291101" y="822380"/>
                </a:lnTo>
                <a:lnTo>
                  <a:pt x="241335" y="791540"/>
                </a:lnTo>
                <a:lnTo>
                  <a:pt x="195482" y="759320"/>
                </a:lnTo>
                <a:lnTo>
                  <a:pt x="154348" y="725290"/>
                </a:lnTo>
                <a:lnTo>
                  <a:pt x="119212" y="689477"/>
                </a:lnTo>
                <a:lnTo>
                  <a:pt x="90707" y="651442"/>
                </a:lnTo>
                <a:lnTo>
                  <a:pt x="67789" y="608788"/>
                </a:lnTo>
                <a:lnTo>
                  <a:pt x="49684" y="561560"/>
                </a:lnTo>
                <a:lnTo>
                  <a:pt x="36375" y="511120"/>
                </a:lnTo>
                <a:lnTo>
                  <a:pt x="27923" y="459069"/>
                </a:lnTo>
                <a:lnTo>
                  <a:pt x="24356" y="406957"/>
                </a:lnTo>
                <a:lnTo>
                  <a:pt x="25667" y="356574"/>
                </a:lnTo>
                <a:lnTo>
                  <a:pt x="31822" y="309375"/>
                </a:lnTo>
                <a:lnTo>
                  <a:pt x="42781" y="266853"/>
                </a:lnTo>
                <a:lnTo>
                  <a:pt x="59282" y="229303"/>
                </a:lnTo>
                <a:lnTo>
                  <a:pt x="82167" y="194012"/>
                </a:lnTo>
                <a:lnTo>
                  <a:pt x="110959" y="160299"/>
                </a:lnTo>
                <a:lnTo>
                  <a:pt x="144427" y="128346"/>
                </a:lnTo>
                <a:lnTo>
                  <a:pt x="181815" y="97685"/>
                </a:lnTo>
                <a:lnTo>
                  <a:pt x="222174" y="68008"/>
                </a:lnTo>
                <a:lnTo>
                  <a:pt x="247504" y="50778"/>
                </a:lnTo>
                <a:lnTo>
                  <a:pt x="272467" y="50778"/>
                </a:lnTo>
                <a:lnTo>
                  <a:pt x="301415" y="0"/>
                </a:lnTo>
                <a:close/>
              </a:path>
              <a:path w="454659" h="932179">
                <a:moveTo>
                  <a:pt x="272467" y="50778"/>
                </a:moveTo>
                <a:lnTo>
                  <a:pt x="247504" y="50778"/>
                </a:lnTo>
                <a:lnTo>
                  <a:pt x="260976" y="70933"/>
                </a:lnTo>
                <a:lnTo>
                  <a:pt x="272467" y="507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46271" y="3497328"/>
            <a:ext cx="1575435" cy="2272030"/>
          </a:xfrm>
          <a:custGeom>
            <a:avLst/>
            <a:gdLst/>
            <a:ahLst/>
            <a:cxnLst/>
            <a:rect l="l" t="t" r="r" b="b"/>
            <a:pathLst>
              <a:path w="1575435" h="2272029">
                <a:moveTo>
                  <a:pt x="57016" y="68703"/>
                </a:moveTo>
                <a:lnTo>
                  <a:pt x="30761" y="68703"/>
                </a:lnTo>
                <a:lnTo>
                  <a:pt x="120798" y="291844"/>
                </a:lnTo>
                <a:lnTo>
                  <a:pt x="178575" y="434045"/>
                </a:lnTo>
                <a:lnTo>
                  <a:pt x="236139" y="574535"/>
                </a:lnTo>
                <a:lnTo>
                  <a:pt x="293418" y="712737"/>
                </a:lnTo>
                <a:lnTo>
                  <a:pt x="350341" y="848079"/>
                </a:lnTo>
                <a:lnTo>
                  <a:pt x="406835" y="979989"/>
                </a:lnTo>
                <a:lnTo>
                  <a:pt x="462831" y="1107890"/>
                </a:lnTo>
                <a:lnTo>
                  <a:pt x="518256" y="1231216"/>
                </a:lnTo>
                <a:lnTo>
                  <a:pt x="573042" y="1349391"/>
                </a:lnTo>
                <a:lnTo>
                  <a:pt x="627096" y="1461799"/>
                </a:lnTo>
                <a:lnTo>
                  <a:pt x="653844" y="1515700"/>
                </a:lnTo>
                <a:lnTo>
                  <a:pt x="680391" y="1567958"/>
                </a:lnTo>
                <a:lnTo>
                  <a:pt x="706727" y="1618503"/>
                </a:lnTo>
                <a:lnTo>
                  <a:pt x="732846" y="1667263"/>
                </a:lnTo>
                <a:lnTo>
                  <a:pt x="758737" y="1714168"/>
                </a:lnTo>
                <a:lnTo>
                  <a:pt x="784396" y="1759148"/>
                </a:lnTo>
                <a:lnTo>
                  <a:pt x="809816" y="1802133"/>
                </a:lnTo>
                <a:lnTo>
                  <a:pt x="834988" y="1843054"/>
                </a:lnTo>
                <a:lnTo>
                  <a:pt x="859909" y="1881842"/>
                </a:lnTo>
                <a:lnTo>
                  <a:pt x="884573" y="1918425"/>
                </a:lnTo>
                <a:lnTo>
                  <a:pt x="908968" y="1952746"/>
                </a:lnTo>
                <a:lnTo>
                  <a:pt x="933103" y="1984851"/>
                </a:lnTo>
                <a:lnTo>
                  <a:pt x="956987" y="2014811"/>
                </a:lnTo>
                <a:lnTo>
                  <a:pt x="1004048" y="2068578"/>
                </a:lnTo>
                <a:lnTo>
                  <a:pt x="1050238" y="2114608"/>
                </a:lnTo>
                <a:lnTo>
                  <a:pt x="1095635" y="2153457"/>
                </a:lnTo>
                <a:lnTo>
                  <a:pt x="1162642" y="2199594"/>
                </a:lnTo>
                <a:lnTo>
                  <a:pt x="1206351" y="2222851"/>
                </a:lnTo>
                <a:lnTo>
                  <a:pt x="1249437" y="2240832"/>
                </a:lnTo>
                <a:lnTo>
                  <a:pt x="1291920" y="2254102"/>
                </a:lnTo>
                <a:lnTo>
                  <a:pt x="1333819" y="2263244"/>
                </a:lnTo>
                <a:lnTo>
                  <a:pt x="1375164" y="2268849"/>
                </a:lnTo>
                <a:lnTo>
                  <a:pt x="1415998" y="2271520"/>
                </a:lnTo>
                <a:lnTo>
                  <a:pt x="1456375" y="2271859"/>
                </a:lnTo>
                <a:lnTo>
                  <a:pt x="1496449" y="2270457"/>
                </a:lnTo>
                <a:lnTo>
                  <a:pt x="1575345" y="2264824"/>
                </a:lnTo>
                <a:lnTo>
                  <a:pt x="1574109" y="2247532"/>
                </a:lnTo>
                <a:lnTo>
                  <a:pt x="1455528" y="2247532"/>
                </a:lnTo>
                <a:lnTo>
                  <a:pt x="1416209" y="2247179"/>
                </a:lnTo>
                <a:lnTo>
                  <a:pt x="1376766" y="2244559"/>
                </a:lnTo>
                <a:lnTo>
                  <a:pt x="1337108" y="2239125"/>
                </a:lnTo>
                <a:lnTo>
                  <a:pt x="1297132" y="2230325"/>
                </a:lnTo>
                <a:lnTo>
                  <a:pt x="1256723" y="2217606"/>
                </a:lnTo>
                <a:lnTo>
                  <a:pt x="1215756" y="2200399"/>
                </a:lnTo>
                <a:lnTo>
                  <a:pt x="1174105" y="2178118"/>
                </a:lnTo>
                <a:lnTo>
                  <a:pt x="1131653" y="2150165"/>
                </a:lnTo>
                <a:lnTo>
                  <a:pt x="1088492" y="2116091"/>
                </a:lnTo>
                <a:lnTo>
                  <a:pt x="1044120" y="2074976"/>
                </a:lnTo>
                <a:lnTo>
                  <a:pt x="998692" y="2026371"/>
                </a:lnTo>
                <a:lnTo>
                  <a:pt x="952146" y="1969683"/>
                </a:lnTo>
                <a:lnTo>
                  <a:pt x="928435" y="1938125"/>
                </a:lnTo>
                <a:lnTo>
                  <a:pt x="904422" y="1904326"/>
                </a:lnTo>
                <a:lnTo>
                  <a:pt x="880101" y="1868239"/>
                </a:lnTo>
                <a:lnTo>
                  <a:pt x="855475" y="1829901"/>
                </a:lnTo>
                <a:lnTo>
                  <a:pt x="830556" y="1789383"/>
                </a:lnTo>
                <a:lnTo>
                  <a:pt x="805357" y="1746761"/>
                </a:lnTo>
                <a:lnTo>
                  <a:pt x="779888" y="1702109"/>
                </a:lnTo>
                <a:lnTo>
                  <a:pt x="754163" y="1655502"/>
                </a:lnTo>
                <a:lnTo>
                  <a:pt x="728193" y="1607012"/>
                </a:lnTo>
                <a:lnTo>
                  <a:pt x="701986" y="1556713"/>
                </a:lnTo>
                <a:lnTo>
                  <a:pt x="675554" y="1504678"/>
                </a:lnTo>
                <a:lnTo>
                  <a:pt x="648907" y="1450981"/>
                </a:lnTo>
                <a:lnTo>
                  <a:pt x="594986" y="1338845"/>
                </a:lnTo>
                <a:lnTo>
                  <a:pt x="540347" y="1220980"/>
                </a:lnTo>
                <a:lnTo>
                  <a:pt x="485040" y="1097914"/>
                </a:lnTo>
                <a:lnTo>
                  <a:pt x="429141" y="970229"/>
                </a:lnTo>
                <a:lnTo>
                  <a:pt x="372724" y="838498"/>
                </a:lnTo>
                <a:lnTo>
                  <a:pt x="315863" y="703303"/>
                </a:lnTo>
                <a:lnTo>
                  <a:pt x="258633" y="565217"/>
                </a:lnTo>
                <a:lnTo>
                  <a:pt x="201106" y="424818"/>
                </a:lnTo>
                <a:lnTo>
                  <a:pt x="143356" y="282684"/>
                </a:lnTo>
                <a:lnTo>
                  <a:pt x="57016" y="68703"/>
                </a:lnTo>
                <a:close/>
              </a:path>
              <a:path w="1575435" h="2272029">
                <a:moveTo>
                  <a:pt x="1573610" y="2240544"/>
                </a:moveTo>
                <a:lnTo>
                  <a:pt x="1494714" y="2246177"/>
                </a:lnTo>
                <a:lnTo>
                  <a:pt x="1455528" y="2247532"/>
                </a:lnTo>
                <a:lnTo>
                  <a:pt x="1574109" y="2247532"/>
                </a:lnTo>
                <a:lnTo>
                  <a:pt x="1573610" y="2240544"/>
                </a:lnTo>
                <a:close/>
              </a:path>
              <a:path w="1575435" h="2272029">
                <a:moveTo>
                  <a:pt x="16167" y="0"/>
                </a:moveTo>
                <a:lnTo>
                  <a:pt x="0" y="110956"/>
                </a:lnTo>
                <a:lnTo>
                  <a:pt x="4607" y="117133"/>
                </a:lnTo>
                <a:lnTo>
                  <a:pt x="17914" y="119071"/>
                </a:lnTo>
                <a:lnTo>
                  <a:pt x="24094" y="114465"/>
                </a:lnTo>
                <a:lnTo>
                  <a:pt x="30761" y="68703"/>
                </a:lnTo>
                <a:lnTo>
                  <a:pt x="57016" y="68703"/>
                </a:lnTo>
                <a:lnTo>
                  <a:pt x="53342" y="59597"/>
                </a:lnTo>
                <a:lnTo>
                  <a:pt x="93090" y="59597"/>
                </a:lnTo>
                <a:lnTo>
                  <a:pt x="16167" y="0"/>
                </a:lnTo>
                <a:close/>
              </a:path>
              <a:path w="1575435" h="2272029">
                <a:moveTo>
                  <a:pt x="93090" y="59597"/>
                </a:moveTo>
                <a:lnTo>
                  <a:pt x="53342" y="59597"/>
                </a:lnTo>
                <a:lnTo>
                  <a:pt x="89904" y="87924"/>
                </a:lnTo>
                <a:lnTo>
                  <a:pt x="97551" y="86955"/>
                </a:lnTo>
                <a:lnTo>
                  <a:pt x="105788" y="76329"/>
                </a:lnTo>
                <a:lnTo>
                  <a:pt x="104819" y="68684"/>
                </a:lnTo>
                <a:lnTo>
                  <a:pt x="93090" y="595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696621" y="6272132"/>
            <a:ext cx="520700" cy="111760"/>
          </a:xfrm>
          <a:custGeom>
            <a:avLst/>
            <a:gdLst/>
            <a:ahLst/>
            <a:cxnLst/>
            <a:rect l="l" t="t" r="r" b="b"/>
            <a:pathLst>
              <a:path w="520700" h="111760">
                <a:moveTo>
                  <a:pt x="91880" y="0"/>
                </a:moveTo>
                <a:lnTo>
                  <a:pt x="88611" y="655"/>
                </a:lnTo>
                <a:lnTo>
                  <a:pt x="0" y="63761"/>
                </a:lnTo>
                <a:lnTo>
                  <a:pt x="101608" y="111234"/>
                </a:lnTo>
                <a:lnTo>
                  <a:pt x="108854" y="108605"/>
                </a:lnTo>
                <a:lnTo>
                  <a:pt x="114547" y="96426"/>
                </a:lnTo>
                <a:lnTo>
                  <a:pt x="111917" y="89182"/>
                </a:lnTo>
                <a:lnTo>
                  <a:pt x="70011" y="69603"/>
                </a:lnTo>
                <a:lnTo>
                  <a:pt x="336046" y="45362"/>
                </a:lnTo>
                <a:lnTo>
                  <a:pt x="67801" y="45362"/>
                </a:lnTo>
                <a:lnTo>
                  <a:pt x="105476" y="18531"/>
                </a:lnTo>
                <a:lnTo>
                  <a:pt x="106753" y="10932"/>
                </a:lnTo>
                <a:lnTo>
                  <a:pt x="100901" y="2720"/>
                </a:lnTo>
                <a:lnTo>
                  <a:pt x="98026" y="1032"/>
                </a:lnTo>
                <a:lnTo>
                  <a:pt x="91880" y="0"/>
                </a:lnTo>
                <a:close/>
              </a:path>
              <a:path w="520700" h="111760">
                <a:moveTo>
                  <a:pt x="518380" y="4305"/>
                </a:moveTo>
                <a:lnTo>
                  <a:pt x="67801" y="45362"/>
                </a:lnTo>
                <a:lnTo>
                  <a:pt x="336046" y="45362"/>
                </a:lnTo>
                <a:lnTo>
                  <a:pt x="520590" y="28546"/>
                </a:lnTo>
                <a:lnTo>
                  <a:pt x="518380" y="430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671425" y="3562249"/>
            <a:ext cx="3376929" cy="2272030"/>
          </a:xfrm>
          <a:custGeom>
            <a:avLst/>
            <a:gdLst/>
            <a:ahLst/>
            <a:cxnLst/>
            <a:rect l="l" t="t" r="r" b="b"/>
            <a:pathLst>
              <a:path w="3376929" h="2272029">
                <a:moveTo>
                  <a:pt x="68704" y="60092"/>
                </a:moveTo>
                <a:lnTo>
                  <a:pt x="36367" y="60092"/>
                </a:lnTo>
                <a:lnTo>
                  <a:pt x="241992" y="295294"/>
                </a:lnTo>
                <a:lnTo>
                  <a:pt x="491906" y="577997"/>
                </a:lnTo>
                <a:lnTo>
                  <a:pt x="616018" y="716206"/>
                </a:lnTo>
                <a:lnTo>
                  <a:pt x="739358" y="851556"/>
                </a:lnTo>
                <a:lnTo>
                  <a:pt x="861769" y="983472"/>
                </a:lnTo>
                <a:lnTo>
                  <a:pt x="983100" y="1111383"/>
                </a:lnTo>
                <a:lnTo>
                  <a:pt x="1103194" y="1234711"/>
                </a:lnTo>
                <a:lnTo>
                  <a:pt x="1221897" y="1352887"/>
                </a:lnTo>
                <a:lnTo>
                  <a:pt x="1339006" y="1465290"/>
                </a:lnTo>
                <a:lnTo>
                  <a:pt x="1396956" y="1519186"/>
                </a:lnTo>
                <a:lnTo>
                  <a:pt x="1454464" y="1571435"/>
                </a:lnTo>
                <a:lnTo>
                  <a:pt x="1511512" y="1621966"/>
                </a:lnTo>
                <a:lnTo>
                  <a:pt x="1568079" y="1670709"/>
                </a:lnTo>
                <a:lnTo>
                  <a:pt x="1624149" y="1717589"/>
                </a:lnTo>
                <a:lnTo>
                  <a:pt x="1679703" y="1762537"/>
                </a:lnTo>
                <a:lnTo>
                  <a:pt x="1734723" y="1805482"/>
                </a:lnTo>
                <a:lnTo>
                  <a:pt x="1789193" y="1846351"/>
                </a:lnTo>
                <a:lnTo>
                  <a:pt x="1843095" y="1885072"/>
                </a:lnTo>
                <a:lnTo>
                  <a:pt x="1896407" y="1921572"/>
                </a:lnTo>
                <a:lnTo>
                  <a:pt x="1949110" y="1955796"/>
                </a:lnTo>
                <a:lnTo>
                  <a:pt x="2001213" y="1987788"/>
                </a:lnTo>
                <a:lnTo>
                  <a:pt x="2052736" y="2017621"/>
                </a:lnTo>
                <a:lnTo>
                  <a:pt x="2103697" y="2045364"/>
                </a:lnTo>
                <a:lnTo>
                  <a:pt x="2154114" y="2071089"/>
                </a:lnTo>
                <a:lnTo>
                  <a:pt x="2204007" y="2094866"/>
                </a:lnTo>
                <a:lnTo>
                  <a:pt x="2253395" y="2116767"/>
                </a:lnTo>
                <a:lnTo>
                  <a:pt x="2302294" y="2136863"/>
                </a:lnTo>
                <a:lnTo>
                  <a:pt x="2350724" y="2155225"/>
                </a:lnTo>
                <a:lnTo>
                  <a:pt x="2398857" y="2171974"/>
                </a:lnTo>
                <a:lnTo>
                  <a:pt x="2493528" y="2200663"/>
                </a:lnTo>
                <a:lnTo>
                  <a:pt x="2586602" y="2223564"/>
                </a:lnTo>
                <a:lnTo>
                  <a:pt x="2678226" y="2241255"/>
                </a:lnTo>
                <a:lnTo>
                  <a:pt x="2768545" y="2254313"/>
                </a:lnTo>
                <a:lnTo>
                  <a:pt x="2857703" y="2263321"/>
                </a:lnTo>
                <a:lnTo>
                  <a:pt x="2945850" y="2268860"/>
                </a:lnTo>
                <a:lnTo>
                  <a:pt x="3033138" y="2271511"/>
                </a:lnTo>
                <a:lnTo>
                  <a:pt x="3119719" y="2271856"/>
                </a:lnTo>
                <a:lnTo>
                  <a:pt x="3205789" y="2270471"/>
                </a:lnTo>
                <a:lnTo>
                  <a:pt x="3376733" y="2264837"/>
                </a:lnTo>
                <a:lnTo>
                  <a:pt x="3376161" y="2247516"/>
                </a:lnTo>
                <a:lnTo>
                  <a:pt x="3119328" y="2247516"/>
                </a:lnTo>
                <a:lnTo>
                  <a:pt x="3033236" y="2247169"/>
                </a:lnTo>
                <a:lnTo>
                  <a:pt x="2946590" y="2244529"/>
                </a:lnTo>
                <a:lnTo>
                  <a:pt x="2859232" y="2239027"/>
                </a:lnTo>
                <a:lnTo>
                  <a:pt x="2770995" y="2230095"/>
                </a:lnTo>
                <a:lnTo>
                  <a:pt x="2681715" y="2217164"/>
                </a:lnTo>
                <a:lnTo>
                  <a:pt x="2591222" y="2199665"/>
                </a:lnTo>
                <a:lnTo>
                  <a:pt x="2499351" y="2177028"/>
                </a:lnTo>
                <a:lnTo>
                  <a:pt x="2405924" y="2148679"/>
                </a:lnTo>
                <a:lnTo>
                  <a:pt x="2358731" y="2132238"/>
                </a:lnTo>
                <a:lnTo>
                  <a:pt x="2310930" y="2114104"/>
                </a:lnTo>
                <a:lnTo>
                  <a:pt x="2262654" y="2094254"/>
                </a:lnTo>
                <a:lnTo>
                  <a:pt x="2213883" y="2072615"/>
                </a:lnTo>
                <a:lnTo>
                  <a:pt x="2164594" y="2049117"/>
                </a:lnTo>
                <a:lnTo>
                  <a:pt x="2114767" y="2023684"/>
                </a:lnTo>
                <a:lnTo>
                  <a:pt x="2064382" y="1996244"/>
                </a:lnTo>
                <a:lnTo>
                  <a:pt x="2013418" y="1966725"/>
                </a:lnTo>
                <a:lnTo>
                  <a:pt x="1961855" y="1935055"/>
                </a:lnTo>
                <a:lnTo>
                  <a:pt x="1909672" y="1901159"/>
                </a:lnTo>
                <a:lnTo>
                  <a:pt x="1856853" y="1864989"/>
                </a:lnTo>
                <a:lnTo>
                  <a:pt x="1803402" y="1826585"/>
                </a:lnTo>
                <a:lnTo>
                  <a:pt x="1749339" y="1786014"/>
                </a:lnTo>
                <a:lnTo>
                  <a:pt x="1694687" y="1743351"/>
                </a:lnTo>
                <a:lnTo>
                  <a:pt x="1639467" y="1698668"/>
                </a:lnTo>
                <a:lnTo>
                  <a:pt x="1583700" y="1652036"/>
                </a:lnTo>
                <a:lnTo>
                  <a:pt x="1527408" y="1603528"/>
                </a:lnTo>
                <a:lnTo>
                  <a:pt x="1470613" y="1553216"/>
                </a:lnTo>
                <a:lnTo>
                  <a:pt x="1413333" y="1501173"/>
                </a:lnTo>
                <a:lnTo>
                  <a:pt x="1355591" y="1447468"/>
                </a:lnTo>
                <a:lnTo>
                  <a:pt x="1238760" y="1335328"/>
                </a:lnTo>
                <a:lnTo>
                  <a:pt x="1120374" y="1217463"/>
                </a:lnTo>
                <a:lnTo>
                  <a:pt x="1000546" y="1094403"/>
                </a:lnTo>
                <a:lnTo>
                  <a:pt x="879438" y="966724"/>
                </a:lnTo>
                <a:lnTo>
                  <a:pt x="757208" y="835002"/>
                </a:lnTo>
                <a:lnTo>
                  <a:pt x="634017" y="699813"/>
                </a:lnTo>
                <a:lnTo>
                  <a:pt x="510025" y="561736"/>
                </a:lnTo>
                <a:lnTo>
                  <a:pt x="260269" y="279213"/>
                </a:lnTo>
                <a:lnTo>
                  <a:pt x="68704" y="60092"/>
                </a:lnTo>
                <a:close/>
              </a:path>
              <a:path w="3376929" h="2272029">
                <a:moveTo>
                  <a:pt x="3375930" y="2240509"/>
                </a:moveTo>
                <a:lnTo>
                  <a:pt x="3204988" y="2246142"/>
                </a:lnTo>
                <a:lnTo>
                  <a:pt x="3119328" y="2247516"/>
                </a:lnTo>
                <a:lnTo>
                  <a:pt x="3376161" y="2247516"/>
                </a:lnTo>
                <a:lnTo>
                  <a:pt x="3375930" y="2240509"/>
                </a:lnTo>
                <a:close/>
              </a:path>
              <a:path w="3376929" h="2272029">
                <a:moveTo>
                  <a:pt x="0" y="0"/>
                </a:moveTo>
                <a:lnTo>
                  <a:pt x="21203" y="110105"/>
                </a:lnTo>
                <a:lnTo>
                  <a:pt x="27585" y="114425"/>
                </a:lnTo>
                <a:lnTo>
                  <a:pt x="40791" y="111884"/>
                </a:lnTo>
                <a:lnTo>
                  <a:pt x="45112" y="105502"/>
                </a:lnTo>
                <a:lnTo>
                  <a:pt x="36367" y="60092"/>
                </a:lnTo>
                <a:lnTo>
                  <a:pt x="68704" y="60092"/>
                </a:lnTo>
                <a:lnTo>
                  <a:pt x="54700" y="44074"/>
                </a:lnTo>
                <a:lnTo>
                  <a:pt x="109254" y="44074"/>
                </a:lnTo>
                <a:lnTo>
                  <a:pt x="109734" y="42646"/>
                </a:lnTo>
                <a:lnTo>
                  <a:pt x="106306" y="35744"/>
                </a:lnTo>
                <a:lnTo>
                  <a:pt x="0" y="0"/>
                </a:lnTo>
                <a:close/>
              </a:path>
              <a:path w="3376929" h="2272029">
                <a:moveTo>
                  <a:pt x="109254" y="44074"/>
                </a:moveTo>
                <a:lnTo>
                  <a:pt x="54700" y="44074"/>
                </a:lnTo>
                <a:lnTo>
                  <a:pt x="98544" y="58816"/>
                </a:lnTo>
                <a:lnTo>
                  <a:pt x="105448" y="55388"/>
                </a:lnTo>
                <a:lnTo>
                  <a:pt x="109254" y="440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476675" y="5973638"/>
            <a:ext cx="649605" cy="112395"/>
          </a:xfrm>
          <a:custGeom>
            <a:avLst/>
            <a:gdLst/>
            <a:ahLst/>
            <a:cxnLst/>
            <a:rect l="l" t="t" r="r" b="b"/>
            <a:pathLst>
              <a:path w="649605" h="112395">
                <a:moveTo>
                  <a:pt x="548991" y="0"/>
                </a:moveTo>
                <a:lnTo>
                  <a:pt x="544163" y="2190"/>
                </a:lnTo>
                <a:lnTo>
                  <a:pt x="538234" y="12352"/>
                </a:lnTo>
                <a:lnTo>
                  <a:pt x="540197" y="19804"/>
                </a:lnTo>
                <a:lnTo>
                  <a:pt x="580152" y="43105"/>
                </a:lnTo>
                <a:lnTo>
                  <a:pt x="0" y="43105"/>
                </a:lnTo>
                <a:lnTo>
                  <a:pt x="0" y="67445"/>
                </a:lnTo>
                <a:lnTo>
                  <a:pt x="580152" y="67447"/>
                </a:lnTo>
                <a:lnTo>
                  <a:pt x="540195" y="90747"/>
                </a:lnTo>
                <a:lnTo>
                  <a:pt x="538234" y="98200"/>
                </a:lnTo>
                <a:lnTo>
                  <a:pt x="545010" y="109813"/>
                </a:lnTo>
                <a:lnTo>
                  <a:pt x="552465" y="111773"/>
                </a:lnTo>
                <a:lnTo>
                  <a:pt x="649344" y="55276"/>
                </a:lnTo>
                <a:lnTo>
                  <a:pt x="556820" y="1318"/>
                </a:lnTo>
                <a:lnTo>
                  <a:pt x="555265" y="806"/>
                </a:lnTo>
                <a:lnTo>
                  <a:pt x="548991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879039" y="6103460"/>
            <a:ext cx="1039494" cy="112395"/>
          </a:xfrm>
          <a:custGeom>
            <a:avLst/>
            <a:gdLst/>
            <a:ahLst/>
            <a:cxnLst/>
            <a:rect l="l" t="t" r="r" b="b"/>
            <a:pathLst>
              <a:path w="1039495" h="112395">
                <a:moveTo>
                  <a:pt x="0" y="43105"/>
                </a:moveTo>
                <a:lnTo>
                  <a:pt x="0" y="67447"/>
                </a:lnTo>
                <a:lnTo>
                  <a:pt x="969725" y="67448"/>
                </a:lnTo>
                <a:lnTo>
                  <a:pt x="929769" y="90749"/>
                </a:lnTo>
                <a:lnTo>
                  <a:pt x="927807" y="98201"/>
                </a:lnTo>
                <a:lnTo>
                  <a:pt x="934582" y="109813"/>
                </a:lnTo>
                <a:lnTo>
                  <a:pt x="942037" y="111775"/>
                </a:lnTo>
                <a:lnTo>
                  <a:pt x="1038917" y="55276"/>
                </a:lnTo>
                <a:lnTo>
                  <a:pt x="1018047" y="43106"/>
                </a:lnTo>
                <a:lnTo>
                  <a:pt x="0" y="43105"/>
                </a:lnTo>
                <a:close/>
              </a:path>
              <a:path w="1039495" h="112395">
                <a:moveTo>
                  <a:pt x="938564" y="0"/>
                </a:moveTo>
                <a:lnTo>
                  <a:pt x="933735" y="2192"/>
                </a:lnTo>
                <a:lnTo>
                  <a:pt x="927807" y="12353"/>
                </a:lnTo>
                <a:lnTo>
                  <a:pt x="929769" y="19805"/>
                </a:lnTo>
                <a:lnTo>
                  <a:pt x="969725" y="43106"/>
                </a:lnTo>
                <a:lnTo>
                  <a:pt x="1018047" y="43106"/>
                </a:lnTo>
                <a:lnTo>
                  <a:pt x="946392" y="1319"/>
                </a:lnTo>
                <a:lnTo>
                  <a:pt x="944838" y="806"/>
                </a:lnTo>
                <a:lnTo>
                  <a:pt x="938564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4009182" y="5887277"/>
            <a:ext cx="890905" cy="649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solidFill>
                  <a:srgbClr val="33CC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就绪队列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73050">
              <a:lnSpc>
                <a:spcPct val="100000"/>
              </a:lnSpc>
              <a:spcBef>
                <a:spcPts val="1010"/>
              </a:spcBef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p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4" name="object 54"/>
          <p:cNvSpPr txBox="1"/>
          <p:nvPr/>
        </p:nvSpPr>
        <p:spPr>
          <a:xfrm>
            <a:off x="5131033" y="6459594"/>
            <a:ext cx="43116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r>
              <a:rPr sz="135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dirty="0">
                <a:latin typeface="Arial" panose="020B0604020202020204"/>
                <a:cs typeface="Arial" panose="020B0604020202020204"/>
              </a:rPr>
              <a:t>2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0</a:t>
            </a:r>
            <a:r>
              <a:rPr sz="1350" b="1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99945">
              <a:lnSpc>
                <a:spcPct val="100000"/>
              </a:lnSpc>
            </a:pPr>
            <a:r>
              <a:rPr sz="3050" dirty="0">
                <a:latin typeface="Arial" panose="020B0604020202020204"/>
                <a:cs typeface="Arial" panose="020B0604020202020204"/>
              </a:rPr>
              <a:t>mai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n</a:t>
            </a:r>
            <a:r>
              <a:rPr sz="2950" spc="100" dirty="0"/>
              <a:t>继续，到了哪里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?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6082" y="1957008"/>
            <a:ext cx="1294130" cy="779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main(){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556260">
              <a:lnSpc>
                <a:spcPct val="100000"/>
              </a:lnSpc>
              <a:spcBef>
                <a:spcPts val="650"/>
              </a:spcBef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5730" y="2370696"/>
            <a:ext cx="2987040" cy="788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wait()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;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又是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mov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R="66675" algn="r">
              <a:lnSpc>
                <a:spcPct val="100000"/>
              </a:lnSpc>
              <a:spcBef>
                <a:spcPts val="450"/>
              </a:spcBef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int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20864" y="2405662"/>
            <a:ext cx="1294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NR_wait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96311" y="2828869"/>
            <a:ext cx="75057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0x80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6082" y="3287326"/>
            <a:ext cx="6730365" cy="2273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system_call: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 indent="543560">
              <a:lnSpc>
                <a:spcPct val="100000"/>
              </a:lnSpc>
              <a:spcBef>
                <a:spcPts val="550"/>
              </a:spcBef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cal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l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sys_waitpid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sys_waitpid(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)</a:t>
            </a:r>
            <a:r>
              <a:rPr sz="2400" b="1" spc="-2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//exit.c</a:t>
            </a:r>
            <a:r>
              <a:rPr sz="3450" b="1" spc="135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56260" marR="5080">
              <a:lnSpc>
                <a:spcPts val="3430"/>
              </a:lnSpc>
              <a:spcBef>
                <a:spcPts val="105"/>
              </a:spcBef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current-&gt;state=TASK_INTERRUPTIBLE; schedule();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71217" y="2718503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0" y="0"/>
                </a:moveTo>
                <a:lnTo>
                  <a:pt x="362407" y="0"/>
                </a:lnTo>
              </a:path>
            </a:pathLst>
          </a:custGeom>
          <a:ln w="30479">
            <a:solidFill>
              <a:srgbClr val="3232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92780">
              <a:lnSpc>
                <a:spcPct val="100000"/>
              </a:lnSpc>
            </a:pPr>
            <a:r>
              <a:rPr sz="3050" dirty="0">
                <a:latin typeface="Arial" panose="020B0604020202020204"/>
                <a:cs typeface="Arial" panose="020B0604020202020204"/>
              </a:rPr>
              <a:t>sc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h</a:t>
            </a:r>
            <a:r>
              <a:rPr sz="3050" dirty="0">
                <a:latin typeface="Arial" panose="020B0604020202020204"/>
                <a:cs typeface="Arial" panose="020B0604020202020204"/>
              </a:rPr>
              <a:t>e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d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u</a:t>
            </a:r>
            <a:r>
              <a:rPr sz="3050" dirty="0">
                <a:latin typeface="Arial" panose="020B0604020202020204"/>
                <a:cs typeface="Arial" panose="020B0604020202020204"/>
              </a:rPr>
              <a:t>le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4" name="object 4"/>
          <p:cNvSpPr txBox="1"/>
          <p:nvPr/>
        </p:nvSpPr>
        <p:spPr>
          <a:xfrm>
            <a:off x="2034800" y="1957008"/>
            <a:ext cx="2924810" cy="766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schedule(){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93675">
              <a:lnSpc>
                <a:spcPct val="100000"/>
              </a:lnSpc>
              <a:spcBef>
                <a:spcPts val="550"/>
              </a:spcBef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f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((*p)-&gt;state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5326" y="2392955"/>
            <a:ext cx="32873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TASK_RUNNIN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G</a:t>
            </a:r>
            <a:r>
              <a:rPr sz="2400" b="1" spc="-2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&amp;&amp;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26900" y="2756946"/>
            <a:ext cx="3719829" cy="163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(*p)-&gt;counte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r</a:t>
            </a:r>
            <a:r>
              <a:rPr sz="2400" b="1" spc="-2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&gt;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c)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445135">
              <a:lnSpc>
                <a:spcPct val="100000"/>
              </a:lnSpc>
              <a:spcBef>
                <a:spcPts val="550"/>
              </a:spcBef>
            </a:pP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c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(*p)-&gt;counter,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445135">
              <a:lnSpc>
                <a:spcPct val="100000"/>
              </a:lnSpc>
              <a:spcBef>
                <a:spcPts val="550"/>
              </a:spcBef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264160">
              <a:lnSpc>
                <a:spcPct val="100000"/>
              </a:lnSpc>
              <a:spcBef>
                <a:spcPts val="550"/>
              </a:spcBef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switch_to(next);}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02568" y="3192836"/>
            <a:ext cx="1656714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nex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t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i;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8915">
              <a:lnSpc>
                <a:spcPct val="100000"/>
              </a:lnSpc>
            </a:pPr>
            <a:r>
              <a:rPr sz="3050" dirty="0">
                <a:latin typeface="Arial" panose="020B0604020202020204"/>
                <a:cs typeface="Arial" panose="020B0604020202020204"/>
              </a:rPr>
              <a:t>swi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t</a:t>
            </a:r>
            <a:r>
              <a:rPr sz="3050" dirty="0">
                <a:latin typeface="Arial" panose="020B0604020202020204"/>
                <a:cs typeface="Arial" panose="020B0604020202020204"/>
              </a:rPr>
              <a:t>c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h</a:t>
            </a:r>
            <a:r>
              <a:rPr sz="3050" dirty="0">
                <a:latin typeface="Arial" panose="020B0604020202020204"/>
                <a:cs typeface="Arial" panose="020B0604020202020204"/>
              </a:rPr>
              <a:t>_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t</a:t>
            </a:r>
            <a:r>
              <a:rPr sz="3050" dirty="0">
                <a:latin typeface="Arial" panose="020B0604020202020204"/>
                <a:cs typeface="Arial" panose="020B0604020202020204"/>
              </a:rPr>
              <a:t>o</a:t>
            </a:r>
            <a:r>
              <a:rPr sz="2950" spc="100" dirty="0"/>
              <a:t>切换</a:t>
            </a:r>
            <a:endParaRPr sz="2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0576" y="4024783"/>
            <a:ext cx="1363980" cy="649605"/>
          </a:xfrm>
          <a:prstGeom prst="rect">
            <a:avLst/>
          </a:prstGeom>
          <a:ln w="2434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4625">
              <a:lnSpc>
                <a:spcPct val="100000"/>
              </a:lnSpc>
            </a:pP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AB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PC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B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01963" y="3285066"/>
            <a:ext cx="1818005" cy="1558290"/>
          </a:xfrm>
          <a:custGeom>
            <a:avLst/>
            <a:gdLst/>
            <a:ahLst/>
            <a:cxnLst/>
            <a:rect l="l" t="t" r="r" b="b"/>
            <a:pathLst>
              <a:path w="1818004" h="1558289">
                <a:moveTo>
                  <a:pt x="0" y="0"/>
                </a:moveTo>
                <a:lnTo>
                  <a:pt x="1818005" y="0"/>
                </a:lnTo>
                <a:lnTo>
                  <a:pt x="1818005" y="1557866"/>
                </a:lnTo>
                <a:lnTo>
                  <a:pt x="0" y="1557866"/>
                </a:lnTo>
                <a:lnTo>
                  <a:pt x="0" y="0"/>
                </a:lnTo>
                <a:close/>
              </a:path>
            </a:pathLst>
          </a:custGeom>
          <a:ln w="243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03315" y="2523714"/>
            <a:ext cx="1818005" cy="761365"/>
          </a:xfrm>
          <a:custGeom>
            <a:avLst/>
            <a:gdLst/>
            <a:ahLst/>
            <a:cxnLst/>
            <a:rect l="l" t="t" r="r" b="b"/>
            <a:pathLst>
              <a:path w="1818004" h="761364">
                <a:moveTo>
                  <a:pt x="0" y="761352"/>
                </a:moveTo>
                <a:lnTo>
                  <a:pt x="1818005" y="761352"/>
                </a:lnTo>
                <a:lnTo>
                  <a:pt x="1818005" y="0"/>
                </a:lnTo>
                <a:lnTo>
                  <a:pt x="0" y="0"/>
                </a:lnTo>
                <a:lnTo>
                  <a:pt x="0" y="7613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203315" y="2523713"/>
            <a:ext cx="1818005" cy="761365"/>
          </a:xfrm>
          <a:custGeom>
            <a:avLst/>
            <a:gdLst/>
            <a:ahLst/>
            <a:cxnLst/>
            <a:rect l="l" t="t" r="r" b="b"/>
            <a:pathLst>
              <a:path w="1818004" h="761364">
                <a:moveTo>
                  <a:pt x="0" y="0"/>
                </a:moveTo>
                <a:lnTo>
                  <a:pt x="1818005" y="0"/>
                </a:lnTo>
                <a:lnTo>
                  <a:pt x="1818005" y="761352"/>
                </a:lnTo>
                <a:lnTo>
                  <a:pt x="0" y="761352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32390" y="2889469"/>
            <a:ext cx="803910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B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内核栈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03315" y="3609622"/>
            <a:ext cx="1818005" cy="991235"/>
          </a:xfrm>
          <a:custGeom>
            <a:avLst/>
            <a:gdLst/>
            <a:ahLst/>
            <a:cxnLst/>
            <a:rect l="l" t="t" r="r" b="b"/>
            <a:pathLst>
              <a:path w="1818004" h="991235">
                <a:moveTo>
                  <a:pt x="0" y="991247"/>
                </a:moveTo>
                <a:lnTo>
                  <a:pt x="1818005" y="991247"/>
                </a:lnTo>
                <a:lnTo>
                  <a:pt x="1818005" y="0"/>
                </a:lnTo>
                <a:lnTo>
                  <a:pt x="0" y="0"/>
                </a:lnTo>
                <a:lnTo>
                  <a:pt x="0" y="9912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203315" y="3609621"/>
            <a:ext cx="1818005" cy="991235"/>
          </a:xfrm>
          <a:custGeom>
            <a:avLst/>
            <a:gdLst/>
            <a:ahLst/>
            <a:cxnLst/>
            <a:rect l="l" t="t" r="r" b="b"/>
            <a:pathLst>
              <a:path w="1818004" h="991235">
                <a:moveTo>
                  <a:pt x="0" y="0"/>
                </a:moveTo>
                <a:lnTo>
                  <a:pt x="1818005" y="0"/>
                </a:lnTo>
                <a:lnTo>
                  <a:pt x="1818005" y="991247"/>
                </a:lnTo>
                <a:lnTo>
                  <a:pt x="0" y="991247"/>
                </a:lnTo>
                <a:lnTo>
                  <a:pt x="0" y="0"/>
                </a:lnTo>
                <a:close/>
              </a:path>
            </a:pathLst>
          </a:custGeom>
          <a:ln w="243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345476" y="3609221"/>
            <a:ext cx="1532890" cy="1020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</a:pP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ss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-&gt;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latin typeface="Arial" panose="020B0604020202020204"/>
                <a:cs typeface="Arial" panose="020B0604020202020204"/>
              </a:rPr>
              <a:t>?</a:t>
            </a:r>
            <a:r>
              <a:rPr sz="1700" b="1" dirty="0">
                <a:latin typeface="Arial" panose="020B0604020202020204"/>
                <a:cs typeface="Arial" panose="020B0604020202020204"/>
              </a:rPr>
              <a:t>??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ss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-&gt;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</a:t>
            </a:r>
            <a:r>
              <a:rPr sz="1700" b="1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+</a:t>
            </a:r>
            <a:r>
              <a:rPr sz="1700" b="1" dirty="0">
                <a:latin typeface="Arial" panose="020B0604020202020204"/>
                <a:cs typeface="Arial" panose="020B0604020202020204"/>
              </a:rPr>
              <a:t>4</a:t>
            </a:r>
            <a:r>
              <a:rPr sz="1700" b="1" dirty="0">
                <a:latin typeface="Arial" panose="020B0604020202020204"/>
                <a:cs typeface="Arial" panose="020B0604020202020204"/>
              </a:rPr>
              <a:t>k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ss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-&gt;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</a:t>
            </a:r>
            <a:r>
              <a:rPr sz="1700" b="1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</a:t>
            </a:r>
            <a:r>
              <a:rPr sz="1700" b="1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ss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-&gt;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ax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=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31037" y="4041328"/>
            <a:ext cx="761365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B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PCB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021321" y="3285066"/>
            <a:ext cx="165100" cy="1510665"/>
          </a:xfrm>
          <a:custGeom>
            <a:avLst/>
            <a:gdLst/>
            <a:ahLst/>
            <a:cxnLst/>
            <a:rect l="l" t="t" r="r" b="b"/>
            <a:pathLst>
              <a:path w="165100" h="1510664">
                <a:moveTo>
                  <a:pt x="0" y="0"/>
                </a:moveTo>
                <a:lnTo>
                  <a:pt x="44732" y="17710"/>
                </a:lnTo>
                <a:lnTo>
                  <a:pt x="69415" y="50221"/>
                </a:lnTo>
                <a:lnTo>
                  <a:pt x="82945" y="94294"/>
                </a:lnTo>
                <a:lnTo>
                  <a:pt x="84543" y="638201"/>
                </a:lnTo>
                <a:lnTo>
                  <a:pt x="85402" y="654948"/>
                </a:lnTo>
                <a:lnTo>
                  <a:pt x="97333" y="700142"/>
                </a:lnTo>
                <a:lnTo>
                  <a:pt x="120812" y="734319"/>
                </a:lnTo>
                <a:lnTo>
                  <a:pt x="164554" y="755102"/>
                </a:lnTo>
                <a:lnTo>
                  <a:pt x="153364" y="756373"/>
                </a:lnTo>
                <a:lnTo>
                  <a:pt x="113559" y="783115"/>
                </a:lnTo>
                <a:lnTo>
                  <a:pt x="92943" y="821099"/>
                </a:lnTo>
                <a:lnTo>
                  <a:pt x="84571" y="869291"/>
                </a:lnTo>
                <a:lnTo>
                  <a:pt x="84543" y="1393469"/>
                </a:lnTo>
                <a:lnTo>
                  <a:pt x="83685" y="1410216"/>
                </a:lnTo>
                <a:lnTo>
                  <a:pt x="71753" y="1455410"/>
                </a:lnTo>
                <a:lnTo>
                  <a:pt x="48274" y="1489587"/>
                </a:lnTo>
                <a:lnTo>
                  <a:pt x="16445" y="1508322"/>
                </a:lnTo>
                <a:lnTo>
                  <a:pt x="4532" y="1510370"/>
                </a:lnTo>
              </a:path>
            </a:pathLst>
          </a:custGeom>
          <a:ln w="24348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021321" y="2506132"/>
            <a:ext cx="121285" cy="730885"/>
          </a:xfrm>
          <a:custGeom>
            <a:avLst/>
            <a:gdLst/>
            <a:ahLst/>
            <a:cxnLst/>
            <a:rect l="l" t="t" r="r" b="b"/>
            <a:pathLst>
              <a:path w="121284" h="730885">
                <a:moveTo>
                  <a:pt x="0" y="0"/>
                </a:moveTo>
                <a:lnTo>
                  <a:pt x="42857" y="22371"/>
                </a:lnTo>
                <a:lnTo>
                  <a:pt x="61667" y="61703"/>
                </a:lnTo>
                <a:lnTo>
                  <a:pt x="64929" y="275875"/>
                </a:lnTo>
                <a:lnTo>
                  <a:pt x="66039" y="292518"/>
                </a:lnTo>
                <a:lnTo>
                  <a:pt x="81082" y="335232"/>
                </a:lnTo>
                <a:lnTo>
                  <a:pt x="109481" y="361283"/>
                </a:lnTo>
                <a:lnTo>
                  <a:pt x="120978" y="364967"/>
                </a:lnTo>
                <a:lnTo>
                  <a:pt x="111306" y="366891"/>
                </a:lnTo>
                <a:lnTo>
                  <a:pt x="77148" y="402037"/>
                </a:lnTo>
                <a:lnTo>
                  <a:pt x="65122" y="448709"/>
                </a:lnTo>
                <a:lnTo>
                  <a:pt x="64929" y="641676"/>
                </a:lnTo>
                <a:lnTo>
                  <a:pt x="63819" y="658320"/>
                </a:lnTo>
                <a:lnTo>
                  <a:pt x="48776" y="701034"/>
                </a:lnTo>
                <a:lnTo>
                  <a:pt x="20377" y="727085"/>
                </a:lnTo>
                <a:lnTo>
                  <a:pt x="8879" y="730768"/>
                </a:lnTo>
              </a:path>
            </a:pathLst>
          </a:custGeom>
          <a:ln w="24348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78692" y="1775882"/>
            <a:ext cx="1363980" cy="321945"/>
          </a:xfrm>
          <a:custGeom>
            <a:avLst/>
            <a:gdLst/>
            <a:ahLst/>
            <a:cxnLst/>
            <a:rect l="l" t="t" r="r" b="b"/>
            <a:pathLst>
              <a:path w="1363980" h="321944">
                <a:moveTo>
                  <a:pt x="0" y="0"/>
                </a:moveTo>
                <a:lnTo>
                  <a:pt x="1363503" y="0"/>
                </a:lnTo>
                <a:lnTo>
                  <a:pt x="1363503" y="321850"/>
                </a:lnTo>
                <a:lnTo>
                  <a:pt x="0" y="321850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37816" y="2278944"/>
            <a:ext cx="7376795" cy="50165"/>
          </a:xfrm>
          <a:custGeom>
            <a:avLst/>
            <a:gdLst/>
            <a:ahLst/>
            <a:cxnLst/>
            <a:rect l="l" t="t" r="r" b="b"/>
            <a:pathLst>
              <a:path w="7376795" h="50164">
                <a:moveTo>
                  <a:pt x="0" y="50036"/>
                </a:moveTo>
                <a:lnTo>
                  <a:pt x="7376176" y="0"/>
                </a:lnTo>
              </a:path>
            </a:pathLst>
          </a:custGeom>
          <a:ln w="32455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86979" y="2004372"/>
            <a:ext cx="6360041" cy="444105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008077" y="2958259"/>
            <a:ext cx="904240" cy="932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EFLA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G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635" algn="ctr">
              <a:lnSpc>
                <a:spcPct val="100000"/>
              </a:lnSpc>
              <a:spcBef>
                <a:spcPts val="135"/>
              </a:spcBef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???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635" algn="ctr">
              <a:lnSpc>
                <a:spcPct val="100000"/>
              </a:lnSpc>
              <a:spcBef>
                <a:spcPts val="1220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……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18" name="object 18"/>
          <p:cNvSpPr txBox="1"/>
          <p:nvPr/>
        </p:nvSpPr>
        <p:spPr>
          <a:xfrm>
            <a:off x="1175852" y="1541577"/>
            <a:ext cx="1150620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AB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的用户栈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75852" y="2416287"/>
            <a:ext cx="1150620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AB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的内核栈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75524" y="2873246"/>
            <a:ext cx="803910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内核栈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85678" y="3237735"/>
            <a:ext cx="1818005" cy="1558290"/>
          </a:xfrm>
          <a:prstGeom prst="rect">
            <a:avLst/>
          </a:prstGeom>
          <a:ln w="243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3510" marR="133985" algn="ctr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ss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-&gt;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00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ss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-&gt;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+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k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ss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-&gt;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ss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-&gt;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ax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68897" y="3992658"/>
            <a:ext cx="890905" cy="637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5" algn="ctr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PCB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algn="ctr">
              <a:lnSpc>
                <a:spcPct val="100000"/>
              </a:lnSpc>
              <a:spcBef>
                <a:spcPts val="1150"/>
              </a:spcBef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就绪队列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21799" y="4818806"/>
            <a:ext cx="54483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next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54505" y="4689018"/>
            <a:ext cx="934719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current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16019" y="5125430"/>
            <a:ext cx="518795" cy="1278255"/>
          </a:xfrm>
          <a:prstGeom prst="rect">
            <a:avLst/>
          </a:prstGeom>
          <a:ln w="12700" cmpd="sng">
            <a:solidFill>
              <a:schemeClr val="tx1"/>
            </a:solidFill>
            <a:prstDash val="solid"/>
          </a:ln>
        </p:spPr>
        <p:txBody>
          <a:bodyPr vert="horz" wrap="square" lIns="0" tIns="0" rIns="0" bIns="0" rtlCol="0">
            <a:spAutoFit/>
          </a:bodyPr>
          <a:lstStyle/>
          <a:p>
            <a:pPr marL="12700" marR="5080" indent="66040" algn="just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eax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eb</a:t>
            </a:r>
            <a:r>
              <a:rPr sz="1700" b="1" dirty="0">
                <a:latin typeface="Arial" panose="020B0604020202020204"/>
                <a:cs typeface="Arial" panose="020B0604020202020204"/>
              </a:rPr>
              <a:t>x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esp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esp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latin typeface="Arial" panose="020B0604020202020204"/>
                <a:cs typeface="Arial" panose="020B0604020202020204"/>
              </a:rPr>
              <a:t>p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79459" y="5473851"/>
            <a:ext cx="1522730" cy="932815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284480" algn="ctr">
              <a:lnSpc>
                <a:spcPct val="100000"/>
              </a:lnSpc>
            </a:pP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AB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PC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R="284480" algn="ctr">
              <a:lnSpc>
                <a:spcPct val="100000"/>
              </a:lnSpc>
              <a:spcBef>
                <a:spcPts val="25"/>
              </a:spcBef>
            </a:pP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ss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600710">
              <a:lnSpc>
                <a:spcPct val="100000"/>
              </a:lnSpc>
              <a:spcBef>
                <a:spcPts val="1140"/>
              </a:spcBef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current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20746" y="5125430"/>
            <a:ext cx="518795" cy="1278255"/>
          </a:xfrm>
          <a:prstGeom prst="rect">
            <a:avLst/>
          </a:prstGeom>
          <a:ln w="22225">
            <a:solidFill>
              <a:schemeClr val="tx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700" marR="5080" indent="66040" algn="just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eax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eb</a:t>
            </a:r>
            <a:r>
              <a:rPr sz="1700" b="1" dirty="0">
                <a:latin typeface="Arial" panose="020B0604020202020204"/>
                <a:cs typeface="Arial" panose="020B0604020202020204"/>
              </a:rPr>
              <a:t>x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esp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esp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latin typeface="Arial" panose="020B0604020202020204"/>
                <a:cs typeface="Arial" panose="020B0604020202020204"/>
              </a:rPr>
              <a:t>p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17635" y="5473851"/>
            <a:ext cx="1150620" cy="920115"/>
          </a:xfrm>
          <a:prstGeom prst="rect">
            <a:avLst/>
          </a:prstGeom>
          <a:ln w="22225">
            <a:solidFill>
              <a:schemeClr val="tx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71780" marR="81915" indent="-259715">
              <a:lnSpc>
                <a:spcPct val="101000"/>
              </a:lnSpc>
            </a:pP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PCB</a:t>
            </a:r>
            <a:r>
              <a:rPr sz="1650" b="1" spc="3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 的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ss</a:t>
            </a:r>
            <a:endParaRPr sz="1700" b="1" spc="5" dirty="0">
              <a:solidFill>
                <a:srgbClr val="FF0000"/>
              </a:solidFill>
              <a:latin typeface="Arial" panose="020B0604020202020204"/>
              <a:cs typeface="Arial" panose="020B0604020202020204"/>
            </a:endParaRPr>
          </a:p>
          <a:p>
            <a:pPr marL="617855">
              <a:lnSpc>
                <a:spcPct val="100000"/>
              </a:lnSpc>
              <a:spcBef>
                <a:spcPts val="1015"/>
              </a:spcBef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next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4605">
              <a:lnSpc>
                <a:spcPct val="100000"/>
              </a:lnSpc>
            </a:pPr>
            <a:r>
              <a:rPr sz="2950" spc="100" dirty="0"/>
              <a:t>接下来会怎么样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?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14614" y="2668428"/>
            <a:ext cx="93345" cy="259715"/>
          </a:xfrm>
          <a:custGeom>
            <a:avLst/>
            <a:gdLst/>
            <a:ahLst/>
            <a:cxnLst/>
            <a:rect l="l" t="t" r="r" b="b"/>
            <a:pathLst>
              <a:path w="93345" h="259714">
                <a:moveTo>
                  <a:pt x="46417" y="259626"/>
                </a:moveTo>
                <a:lnTo>
                  <a:pt x="15405" y="227048"/>
                </a:lnTo>
                <a:lnTo>
                  <a:pt x="3688" y="182893"/>
                </a:lnTo>
                <a:lnTo>
                  <a:pt x="0" y="146673"/>
                </a:lnTo>
                <a:lnTo>
                  <a:pt x="328" y="125411"/>
                </a:lnTo>
                <a:lnTo>
                  <a:pt x="3375" y="86981"/>
                </a:lnTo>
                <a:lnTo>
                  <a:pt x="13089" y="40964"/>
                </a:lnTo>
                <a:lnTo>
                  <a:pt x="33321" y="5221"/>
                </a:lnTo>
                <a:lnTo>
                  <a:pt x="45562" y="0"/>
                </a:lnTo>
                <a:lnTo>
                  <a:pt x="52761" y="1430"/>
                </a:lnTo>
                <a:lnTo>
                  <a:pt x="77237" y="32423"/>
                </a:lnTo>
                <a:lnTo>
                  <a:pt x="89080" y="76407"/>
                </a:lnTo>
                <a:lnTo>
                  <a:pt x="92813" y="112500"/>
                </a:lnTo>
                <a:lnTo>
                  <a:pt x="92491" y="133805"/>
                </a:lnTo>
                <a:lnTo>
                  <a:pt x="89467" y="172296"/>
                </a:lnTo>
                <a:lnTo>
                  <a:pt x="79808" y="218377"/>
                </a:lnTo>
                <a:lnTo>
                  <a:pt x="59670" y="254250"/>
                </a:lnTo>
                <a:lnTo>
                  <a:pt x="46417" y="259626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67007" y="2668410"/>
            <a:ext cx="3394075" cy="259715"/>
          </a:xfrm>
          <a:custGeom>
            <a:avLst/>
            <a:gdLst/>
            <a:ahLst/>
            <a:cxnLst/>
            <a:rect l="l" t="t" r="r" b="b"/>
            <a:pathLst>
              <a:path w="3394075" h="259714">
                <a:moveTo>
                  <a:pt x="3394023" y="259644"/>
                </a:moveTo>
                <a:lnTo>
                  <a:pt x="46417" y="259644"/>
                </a:lnTo>
                <a:lnTo>
                  <a:pt x="39417" y="258202"/>
                </a:lnTo>
                <a:lnTo>
                  <a:pt x="15405" y="227066"/>
                </a:lnTo>
                <a:lnTo>
                  <a:pt x="3688" y="182910"/>
                </a:lnTo>
                <a:lnTo>
                  <a:pt x="0" y="146691"/>
                </a:lnTo>
                <a:lnTo>
                  <a:pt x="328" y="125429"/>
                </a:lnTo>
                <a:lnTo>
                  <a:pt x="3375" y="86998"/>
                </a:lnTo>
                <a:lnTo>
                  <a:pt x="13089" y="40982"/>
                </a:lnTo>
                <a:lnTo>
                  <a:pt x="33321" y="5239"/>
                </a:lnTo>
                <a:lnTo>
                  <a:pt x="45562" y="17"/>
                </a:lnTo>
                <a:lnTo>
                  <a:pt x="3394023" y="0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8890" y="1830398"/>
            <a:ext cx="743685" cy="84207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63444" y="2007125"/>
            <a:ext cx="2438887" cy="6653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67554" y="1954389"/>
            <a:ext cx="3701415" cy="4154804"/>
          </a:xfrm>
          <a:custGeom>
            <a:avLst/>
            <a:gdLst/>
            <a:ahLst/>
            <a:cxnLst/>
            <a:rect l="l" t="t" r="r" b="b"/>
            <a:pathLst>
              <a:path w="3701415" h="4154804">
                <a:moveTo>
                  <a:pt x="0" y="0"/>
                </a:moveTo>
                <a:lnTo>
                  <a:pt x="3700938" y="0"/>
                </a:lnTo>
                <a:lnTo>
                  <a:pt x="3700938" y="4154311"/>
                </a:lnTo>
                <a:lnTo>
                  <a:pt x="0" y="4154311"/>
                </a:lnTo>
                <a:lnTo>
                  <a:pt x="0" y="0"/>
                </a:lnTo>
                <a:close/>
              </a:path>
            </a:pathLst>
          </a:custGeom>
          <a:ln w="1082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41438" y="3125091"/>
            <a:ext cx="3919854" cy="1905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35" indent="-127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eip=10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0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eax=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0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esp=...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3335" marR="5080">
              <a:lnSpc>
                <a:spcPct val="104000"/>
              </a:lnSpc>
              <a:spcBef>
                <a:spcPts val="1435"/>
              </a:spcBef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这就是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线程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，代码始终不曾变过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一直在内存中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3335" marR="33020">
              <a:lnSpc>
                <a:spcPct val="103000"/>
              </a:lnSpc>
              <a:spcBef>
                <a:spcPts val="1250"/>
              </a:spcBef>
            </a:pPr>
            <a:r>
              <a:rPr sz="2000" b="1" spc="15" dirty="0">
                <a:latin typeface="Arial" panose="020B0604020202020204"/>
                <a:cs typeface="Arial" panose="020B0604020202020204"/>
              </a:rPr>
              <a:t>fo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k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的代码也不曾变过，所以实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验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8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可以通过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fo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k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伪造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35619" y="2154868"/>
            <a:ext cx="969644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=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5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44650" y="2030745"/>
            <a:ext cx="1089025" cy="2129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main(){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466090" marR="147320">
              <a:lnSpc>
                <a:spcPts val="2970"/>
              </a:lnSpc>
              <a:spcBef>
                <a:spcPts val="155"/>
              </a:spcBef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mov int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100:mov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466090">
              <a:lnSpc>
                <a:spcPts val="2970"/>
              </a:lnSpc>
              <a:spcBef>
                <a:spcPts val="155"/>
              </a:spcBef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cmpl jne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33231" y="2403195"/>
            <a:ext cx="1555115" cy="635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310515">
              <a:lnSpc>
                <a:spcPct val="124000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NR_fork, 0x80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43820" y="2403195"/>
            <a:ext cx="622300" cy="258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%eax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33231" y="3152278"/>
            <a:ext cx="1555115" cy="10077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4940" indent="-635">
              <a:lnSpc>
                <a:spcPct val="122000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%eax,</a:t>
            </a:r>
            <a:r>
              <a:rPr sz="2000" b="1" spc="2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res</a:t>
            </a: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res,0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208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44650" y="4273806"/>
            <a:ext cx="2488565" cy="175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200:</a:t>
            </a:r>
            <a:r>
              <a:rPr sz="2000" b="1" spc="2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printf(“A”)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466090">
              <a:lnSpc>
                <a:spcPct val="100000"/>
              </a:lnSpc>
              <a:spcBef>
                <a:spcPts val="530"/>
              </a:spcBef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jmp</a:t>
            </a:r>
            <a:r>
              <a:rPr sz="2000" b="1" spc="2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200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208:</a:t>
            </a:r>
            <a:r>
              <a:rPr sz="2000" b="1" spc="2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304:</a:t>
            </a:r>
            <a:r>
              <a:rPr sz="2000" b="1" spc="2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wait()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1011" y="5309212"/>
            <a:ext cx="3354704" cy="365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进程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A</a:t>
            </a: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开始不断的打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A...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33231" y="2657481"/>
            <a:ext cx="311150" cy="0"/>
          </a:xfrm>
          <a:custGeom>
            <a:avLst/>
            <a:gdLst/>
            <a:ahLst/>
            <a:cxnLst/>
            <a:rect l="l" t="t" r="r" b="b"/>
            <a:pathLst>
              <a:path w="311150">
                <a:moveTo>
                  <a:pt x="0" y="0"/>
                </a:moveTo>
                <a:lnTo>
                  <a:pt x="310965" y="0"/>
                </a:lnTo>
              </a:path>
            </a:pathLst>
          </a:custGeom>
          <a:ln w="25823">
            <a:solidFill>
              <a:srgbClr val="3232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59660">
              <a:lnSpc>
                <a:spcPct val="100000"/>
              </a:lnSpc>
            </a:pPr>
            <a:r>
              <a:rPr sz="2950" spc="100" dirty="0"/>
              <a:t>我们的目标是什么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?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509" y="1869858"/>
            <a:ext cx="6700520" cy="1922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7010" marR="5080">
              <a:lnSpc>
                <a:spcPct val="142000"/>
              </a:lnSpc>
            </a:pP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交替的打出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A</a:t>
            </a: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B... </a:t>
            </a: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怎么可能打出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B?//</a:t>
            </a: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让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B</a:t>
            </a: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进程执</a:t>
            </a:r>
            <a:r>
              <a:rPr sz="3450" b="1" spc="135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行</a:t>
            </a:r>
            <a:r>
              <a:rPr sz="3450" b="1" spc="67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接下来会发生什么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?</a:t>
            </a: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把自己变成计算机想一想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中断</a:t>
            </a:r>
            <a:r>
              <a:rPr sz="2400" b="1" spc="-1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...</a:t>
            </a: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什么中断</a:t>
            </a:r>
            <a:r>
              <a:rPr sz="24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?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23724" y="3885494"/>
            <a:ext cx="2031728" cy="240171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53338" y="3447344"/>
            <a:ext cx="3151750" cy="28614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57550">
              <a:lnSpc>
                <a:spcPts val="3470"/>
              </a:lnSpc>
            </a:pPr>
            <a:r>
              <a:rPr spc="100" dirty="0"/>
              <a:t>时钟中断</a:t>
            </a:r>
            <a:endParaRPr spc="100" dirty="0"/>
          </a:p>
        </p:txBody>
      </p:sp>
      <p:sp>
        <p:nvSpPr>
          <p:cNvPr id="4" name="object 4"/>
          <p:cNvSpPr/>
          <p:nvPr/>
        </p:nvSpPr>
        <p:spPr>
          <a:xfrm>
            <a:off x="671830" y="1954389"/>
            <a:ext cx="7142480" cy="843915"/>
          </a:xfrm>
          <a:custGeom>
            <a:avLst/>
            <a:gdLst/>
            <a:ahLst/>
            <a:cxnLst/>
            <a:rect l="l" t="t" r="r" b="b"/>
            <a:pathLst>
              <a:path w="7142480" h="843914">
                <a:moveTo>
                  <a:pt x="0" y="0"/>
                </a:moveTo>
                <a:lnTo>
                  <a:pt x="7142162" y="0"/>
                </a:lnTo>
                <a:lnTo>
                  <a:pt x="7142162" y="843844"/>
                </a:lnTo>
                <a:lnTo>
                  <a:pt x="0" y="843844"/>
                </a:lnTo>
                <a:lnTo>
                  <a:pt x="0" y="0"/>
                </a:lnTo>
                <a:close/>
              </a:path>
            </a:pathLst>
          </a:custGeom>
          <a:ln w="1081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48924" y="2013457"/>
            <a:ext cx="380492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voi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d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sched_init(void)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16607" y="1978491"/>
            <a:ext cx="2239010" cy="339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sched.c</a:t>
            </a:r>
            <a:r>
              <a:rPr sz="3450" b="1" spc="135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8924" y="2407041"/>
            <a:ext cx="706755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{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set_intr_gate(0x20,&amp;timer_interrupt);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1830" y="3057878"/>
            <a:ext cx="7142480" cy="1298575"/>
          </a:xfrm>
          <a:prstGeom prst="rect">
            <a:avLst/>
          </a:prstGeom>
          <a:ln w="10818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112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voi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d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_timer_interrupt: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433705">
              <a:lnSpc>
                <a:spcPct val="100000"/>
              </a:lnSpc>
              <a:spcBef>
                <a:spcPts val="250"/>
              </a:spcBef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433705">
              <a:lnSpc>
                <a:spcPct val="100000"/>
              </a:lnSpc>
              <a:spcBef>
                <a:spcPts val="285"/>
              </a:spcBef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cal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l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do_timer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1830" y="4550833"/>
            <a:ext cx="7142480" cy="1623060"/>
          </a:xfrm>
          <a:custGeom>
            <a:avLst/>
            <a:gdLst/>
            <a:ahLst/>
            <a:cxnLst/>
            <a:rect l="l" t="t" r="r" b="b"/>
            <a:pathLst>
              <a:path w="7142480" h="1623060">
                <a:moveTo>
                  <a:pt x="0" y="0"/>
                </a:moveTo>
                <a:lnTo>
                  <a:pt x="7142162" y="0"/>
                </a:lnTo>
                <a:lnTo>
                  <a:pt x="7142162" y="1622777"/>
                </a:lnTo>
                <a:lnTo>
                  <a:pt x="0" y="1622777"/>
                </a:lnTo>
                <a:lnTo>
                  <a:pt x="0" y="0"/>
                </a:lnTo>
                <a:close/>
              </a:path>
            </a:pathLst>
          </a:custGeom>
          <a:ln w="1081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48924" y="4604978"/>
            <a:ext cx="326136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voi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d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do_timer(...)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11" name="object 11"/>
          <p:cNvSpPr txBox="1"/>
          <p:nvPr/>
        </p:nvSpPr>
        <p:spPr>
          <a:xfrm>
            <a:off x="748924" y="5002781"/>
            <a:ext cx="5073650" cy="707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3560" indent="-544195">
              <a:lnSpc>
                <a:spcPct val="110000"/>
              </a:lnSpc>
              <a:tabLst>
                <a:tab pos="542925" algn="l"/>
              </a:tabLst>
            </a:pP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{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	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if((--current-&gt;counter&gt;0)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current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-&gt;counter=0;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03941" y="5002781"/>
            <a:ext cx="126873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return;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92555" y="5802717"/>
            <a:ext cx="235775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schedule()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;</a:t>
            </a:r>
            <a:r>
              <a:rPr sz="2400" b="1" spc="-2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9941" y="4485921"/>
            <a:ext cx="2272665" cy="1168400"/>
          </a:xfrm>
          <a:custGeom>
            <a:avLst/>
            <a:gdLst/>
            <a:ahLst/>
            <a:cxnLst/>
            <a:rect l="l" t="t" r="r" b="b"/>
            <a:pathLst>
              <a:path w="2272665" h="1168400">
                <a:moveTo>
                  <a:pt x="0" y="0"/>
                </a:moveTo>
                <a:lnTo>
                  <a:pt x="2272506" y="0"/>
                </a:lnTo>
                <a:lnTo>
                  <a:pt x="2272506" y="1168400"/>
                </a:lnTo>
                <a:lnTo>
                  <a:pt x="0" y="1168400"/>
                </a:lnTo>
                <a:lnTo>
                  <a:pt x="0" y="0"/>
                </a:lnTo>
                <a:close/>
              </a:path>
            </a:pathLst>
          </a:custGeom>
          <a:ln w="243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99941" y="1970617"/>
            <a:ext cx="2273935" cy="321945"/>
          </a:xfrm>
          <a:custGeom>
            <a:avLst/>
            <a:gdLst/>
            <a:ahLst/>
            <a:cxnLst/>
            <a:rect l="l" t="t" r="r" b="b"/>
            <a:pathLst>
              <a:path w="2273935" h="321944">
                <a:moveTo>
                  <a:pt x="0" y="0"/>
                </a:moveTo>
                <a:lnTo>
                  <a:pt x="2273858" y="0"/>
                </a:lnTo>
                <a:lnTo>
                  <a:pt x="2273858" y="321850"/>
                </a:lnTo>
                <a:lnTo>
                  <a:pt x="0" y="321850"/>
                </a:lnTo>
                <a:lnTo>
                  <a:pt x="0" y="0"/>
                </a:lnTo>
                <a:close/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99941" y="2669763"/>
            <a:ext cx="2273935" cy="323215"/>
          </a:xfrm>
          <a:custGeom>
            <a:avLst/>
            <a:gdLst/>
            <a:ahLst/>
            <a:cxnLst/>
            <a:rect l="l" t="t" r="r" b="b"/>
            <a:pathLst>
              <a:path w="2273935" h="323214">
                <a:moveTo>
                  <a:pt x="0" y="323203"/>
                </a:moveTo>
                <a:lnTo>
                  <a:pt x="2273858" y="323203"/>
                </a:lnTo>
                <a:lnTo>
                  <a:pt x="2273858" y="0"/>
                </a:lnTo>
                <a:lnTo>
                  <a:pt x="0" y="0"/>
                </a:lnTo>
                <a:lnTo>
                  <a:pt x="0" y="3232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99941" y="3562291"/>
            <a:ext cx="2273935" cy="307340"/>
          </a:xfrm>
          <a:custGeom>
            <a:avLst/>
            <a:gdLst/>
            <a:ahLst/>
            <a:cxnLst/>
            <a:rect l="l" t="t" r="r" b="b"/>
            <a:pathLst>
              <a:path w="2273935" h="307339">
                <a:moveTo>
                  <a:pt x="0" y="306975"/>
                </a:moveTo>
                <a:lnTo>
                  <a:pt x="2273858" y="306975"/>
                </a:lnTo>
                <a:lnTo>
                  <a:pt x="2273858" y="0"/>
                </a:lnTo>
                <a:lnTo>
                  <a:pt x="0" y="0"/>
                </a:lnTo>
                <a:lnTo>
                  <a:pt x="0" y="3069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99941" y="4161366"/>
            <a:ext cx="2273935" cy="325120"/>
          </a:xfrm>
          <a:custGeom>
            <a:avLst/>
            <a:gdLst/>
            <a:ahLst/>
            <a:cxnLst/>
            <a:rect l="l" t="t" r="r" b="b"/>
            <a:pathLst>
              <a:path w="2273935" h="325120">
                <a:moveTo>
                  <a:pt x="0" y="324554"/>
                </a:moveTo>
                <a:lnTo>
                  <a:pt x="2273858" y="324554"/>
                </a:lnTo>
                <a:lnTo>
                  <a:pt x="2273858" y="0"/>
                </a:lnTo>
                <a:lnTo>
                  <a:pt x="0" y="0"/>
                </a:lnTo>
                <a:lnTo>
                  <a:pt x="0" y="3245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9941" y="2669763"/>
            <a:ext cx="2273935" cy="1816735"/>
          </a:xfrm>
          <a:custGeom>
            <a:avLst/>
            <a:gdLst/>
            <a:ahLst/>
            <a:cxnLst/>
            <a:rect l="l" t="t" r="r" b="b"/>
            <a:pathLst>
              <a:path w="2273935" h="1816735">
                <a:moveTo>
                  <a:pt x="0" y="0"/>
                </a:moveTo>
                <a:lnTo>
                  <a:pt x="2273858" y="0"/>
                </a:lnTo>
                <a:lnTo>
                  <a:pt x="2273858" y="1816158"/>
                </a:lnTo>
                <a:lnTo>
                  <a:pt x="0" y="1816158"/>
                </a:lnTo>
                <a:lnTo>
                  <a:pt x="0" y="0"/>
                </a:lnTo>
                <a:close/>
              </a:path>
            </a:pathLst>
          </a:custGeom>
          <a:ln w="243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57567" y="4485921"/>
            <a:ext cx="208915" cy="1168400"/>
          </a:xfrm>
          <a:custGeom>
            <a:avLst/>
            <a:gdLst/>
            <a:ahLst/>
            <a:cxnLst/>
            <a:rect l="l" t="t" r="r" b="b"/>
            <a:pathLst>
              <a:path w="208914" h="1168400">
                <a:moveTo>
                  <a:pt x="0" y="0"/>
                </a:moveTo>
                <a:lnTo>
                  <a:pt x="45805" y="14555"/>
                </a:lnTo>
                <a:lnTo>
                  <a:pt x="73721" y="41963"/>
                </a:lnTo>
                <a:lnTo>
                  <a:pt x="93810" y="80307"/>
                </a:lnTo>
                <a:lnTo>
                  <a:pt x="103992" y="126710"/>
                </a:lnTo>
                <a:lnTo>
                  <a:pt x="104833" y="439016"/>
                </a:lnTo>
                <a:lnTo>
                  <a:pt x="105528" y="455829"/>
                </a:lnTo>
                <a:lnTo>
                  <a:pt x="115343" y="502452"/>
                </a:lnTo>
                <a:lnTo>
                  <a:pt x="135133" y="541113"/>
                </a:lnTo>
                <a:lnTo>
                  <a:pt x="162821" y="568934"/>
                </a:lnTo>
                <a:lnTo>
                  <a:pt x="208430" y="584190"/>
                </a:lnTo>
                <a:lnTo>
                  <a:pt x="196488" y="585162"/>
                </a:lnTo>
                <a:lnTo>
                  <a:pt x="153290" y="606665"/>
                </a:lnTo>
                <a:lnTo>
                  <a:pt x="127947" y="638264"/>
                </a:lnTo>
                <a:lnTo>
                  <a:pt x="111070" y="679888"/>
                </a:lnTo>
                <a:lnTo>
                  <a:pt x="104834" y="728624"/>
                </a:lnTo>
                <a:lnTo>
                  <a:pt x="104833" y="1023216"/>
                </a:lnTo>
                <a:lnTo>
                  <a:pt x="104137" y="1040029"/>
                </a:lnTo>
                <a:lnTo>
                  <a:pt x="94323" y="1086652"/>
                </a:lnTo>
                <a:lnTo>
                  <a:pt x="74532" y="1125313"/>
                </a:lnTo>
                <a:lnTo>
                  <a:pt x="46844" y="1153134"/>
                </a:lnTo>
                <a:lnTo>
                  <a:pt x="13338" y="1167235"/>
                </a:lnTo>
                <a:lnTo>
                  <a:pt x="1236" y="1168390"/>
                </a:lnTo>
              </a:path>
            </a:pathLst>
          </a:custGeom>
          <a:ln w="24348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641335" y="2653535"/>
            <a:ext cx="284480" cy="1832610"/>
          </a:xfrm>
          <a:custGeom>
            <a:avLst/>
            <a:gdLst/>
            <a:ahLst/>
            <a:cxnLst/>
            <a:rect l="l" t="t" r="r" b="b"/>
            <a:pathLst>
              <a:path w="284480" h="1832610">
                <a:moveTo>
                  <a:pt x="0" y="0"/>
                </a:moveTo>
                <a:lnTo>
                  <a:pt x="46937" y="10721"/>
                </a:lnTo>
                <a:lnTo>
                  <a:pt x="87497" y="40523"/>
                </a:lnTo>
                <a:lnTo>
                  <a:pt x="112193" y="73262"/>
                </a:lnTo>
                <a:lnTo>
                  <a:pt x="130781" y="113242"/>
                </a:lnTo>
                <a:lnTo>
                  <a:pt x="142182" y="158967"/>
                </a:lnTo>
                <a:lnTo>
                  <a:pt x="145414" y="695707"/>
                </a:lnTo>
                <a:lnTo>
                  <a:pt x="145918" y="712592"/>
                </a:lnTo>
                <a:lnTo>
                  <a:pt x="153156" y="760713"/>
                </a:lnTo>
                <a:lnTo>
                  <a:pt x="168143" y="803866"/>
                </a:lnTo>
                <a:lnTo>
                  <a:pt x="189799" y="840555"/>
                </a:lnTo>
                <a:lnTo>
                  <a:pt x="217044" y="869284"/>
                </a:lnTo>
                <a:lnTo>
                  <a:pt x="260196" y="892623"/>
                </a:lnTo>
                <a:lnTo>
                  <a:pt x="283978" y="896880"/>
                </a:lnTo>
                <a:lnTo>
                  <a:pt x="272612" y="897631"/>
                </a:lnTo>
                <a:lnTo>
                  <a:pt x="229456" y="914027"/>
                </a:lnTo>
                <a:lnTo>
                  <a:pt x="192272" y="949067"/>
                </a:lnTo>
                <a:lnTo>
                  <a:pt x="170137" y="985357"/>
                </a:lnTo>
                <a:lnTo>
                  <a:pt x="154364" y="1028491"/>
                </a:lnTo>
                <a:lnTo>
                  <a:pt x="146237" y="1076909"/>
                </a:lnTo>
                <a:lnTo>
                  <a:pt x="145414" y="1630993"/>
                </a:lnTo>
                <a:lnTo>
                  <a:pt x="144910" y="1647879"/>
                </a:lnTo>
                <a:lnTo>
                  <a:pt x="137672" y="1695999"/>
                </a:lnTo>
                <a:lnTo>
                  <a:pt x="122685" y="1739152"/>
                </a:lnTo>
                <a:lnTo>
                  <a:pt x="101029" y="1775841"/>
                </a:lnTo>
                <a:lnTo>
                  <a:pt x="73785" y="1804571"/>
                </a:lnTo>
                <a:lnTo>
                  <a:pt x="30632" y="1827909"/>
                </a:lnTo>
                <a:lnTo>
                  <a:pt x="18892" y="1830701"/>
                </a:lnTo>
                <a:lnTo>
                  <a:pt x="6851" y="1832166"/>
                </a:lnTo>
              </a:path>
            </a:pathLst>
          </a:custGeom>
          <a:ln w="24348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2400" y="2473678"/>
            <a:ext cx="3104515" cy="0"/>
          </a:xfrm>
          <a:custGeom>
            <a:avLst/>
            <a:gdLst/>
            <a:ahLst/>
            <a:cxnLst/>
            <a:rect l="l" t="t" r="r" b="b"/>
            <a:pathLst>
              <a:path w="3104515">
                <a:moveTo>
                  <a:pt x="0" y="0"/>
                </a:moveTo>
                <a:lnTo>
                  <a:pt x="3104406" y="0"/>
                </a:lnTo>
              </a:path>
            </a:pathLst>
          </a:custGeom>
          <a:ln w="32455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91251" y="2143264"/>
            <a:ext cx="561975" cy="731520"/>
          </a:xfrm>
          <a:custGeom>
            <a:avLst/>
            <a:gdLst/>
            <a:ahLst/>
            <a:cxnLst/>
            <a:rect l="l" t="t" r="r" b="b"/>
            <a:pathLst>
              <a:path w="561975" h="731519">
                <a:moveTo>
                  <a:pt x="292264" y="0"/>
                </a:moveTo>
                <a:lnTo>
                  <a:pt x="301598" y="22584"/>
                </a:lnTo>
                <a:lnTo>
                  <a:pt x="261139" y="39670"/>
                </a:lnTo>
                <a:lnTo>
                  <a:pt x="209826" y="63069"/>
                </a:lnTo>
                <a:lnTo>
                  <a:pt x="161869" y="87450"/>
                </a:lnTo>
                <a:lnTo>
                  <a:pt x="118375" y="113177"/>
                </a:lnTo>
                <a:lnTo>
                  <a:pt x="80183" y="140856"/>
                </a:lnTo>
                <a:lnTo>
                  <a:pt x="48902" y="170693"/>
                </a:lnTo>
                <a:lnTo>
                  <a:pt x="25592" y="203412"/>
                </a:lnTo>
                <a:lnTo>
                  <a:pt x="10517" y="239262"/>
                </a:lnTo>
                <a:lnTo>
                  <a:pt x="1929" y="279081"/>
                </a:lnTo>
                <a:lnTo>
                  <a:pt x="0" y="321119"/>
                </a:lnTo>
                <a:lnTo>
                  <a:pt x="62" y="322966"/>
                </a:lnTo>
                <a:lnTo>
                  <a:pt x="4621" y="364205"/>
                </a:lnTo>
                <a:lnTo>
                  <a:pt x="15740" y="407189"/>
                </a:lnTo>
                <a:lnTo>
                  <a:pt x="33349" y="448915"/>
                </a:lnTo>
                <a:lnTo>
                  <a:pt x="57467" y="488203"/>
                </a:lnTo>
                <a:lnTo>
                  <a:pt x="88131" y="523840"/>
                </a:lnTo>
                <a:lnTo>
                  <a:pt x="127032" y="556257"/>
                </a:lnTo>
                <a:lnTo>
                  <a:pt x="173508" y="585694"/>
                </a:lnTo>
                <a:lnTo>
                  <a:pt x="226703" y="613016"/>
                </a:lnTo>
                <a:lnTo>
                  <a:pt x="285363" y="638595"/>
                </a:lnTo>
                <a:lnTo>
                  <a:pt x="348703" y="662955"/>
                </a:lnTo>
                <a:lnTo>
                  <a:pt x="415396" y="686339"/>
                </a:lnTo>
                <a:lnTo>
                  <a:pt x="554265" y="731470"/>
                </a:lnTo>
                <a:lnTo>
                  <a:pt x="561690" y="708289"/>
                </a:lnTo>
                <a:lnTo>
                  <a:pt x="423347" y="663332"/>
                </a:lnTo>
                <a:lnTo>
                  <a:pt x="357271" y="640170"/>
                </a:lnTo>
                <a:lnTo>
                  <a:pt x="294847" y="616174"/>
                </a:lnTo>
                <a:lnTo>
                  <a:pt x="237178" y="591040"/>
                </a:lnTo>
                <a:lnTo>
                  <a:pt x="185750" y="564650"/>
                </a:lnTo>
                <a:lnTo>
                  <a:pt x="141553" y="536714"/>
                </a:lnTo>
                <a:lnTo>
                  <a:pt x="106033" y="507324"/>
                </a:lnTo>
                <a:lnTo>
                  <a:pt x="77667" y="474577"/>
                </a:lnTo>
                <a:lnTo>
                  <a:pt x="55394" y="438539"/>
                </a:lnTo>
                <a:lnTo>
                  <a:pt x="39070" y="400164"/>
                </a:lnTo>
                <a:lnTo>
                  <a:pt x="28724" y="360648"/>
                </a:lnTo>
                <a:lnTo>
                  <a:pt x="24365" y="321213"/>
                </a:lnTo>
                <a:lnTo>
                  <a:pt x="25964" y="283102"/>
                </a:lnTo>
                <a:lnTo>
                  <a:pt x="46772" y="215461"/>
                </a:lnTo>
                <a:lnTo>
                  <a:pt x="80126" y="173365"/>
                </a:lnTo>
                <a:lnTo>
                  <a:pt x="112459" y="146712"/>
                </a:lnTo>
                <a:lnTo>
                  <a:pt x="173259" y="108968"/>
                </a:lnTo>
                <a:lnTo>
                  <a:pt x="220168" y="85106"/>
                </a:lnTo>
                <a:lnTo>
                  <a:pt x="270773" y="62026"/>
                </a:lnTo>
                <a:lnTo>
                  <a:pt x="310897" y="45082"/>
                </a:lnTo>
                <a:lnTo>
                  <a:pt x="339632" y="45082"/>
                </a:lnTo>
                <a:lnTo>
                  <a:pt x="373720" y="5857"/>
                </a:lnTo>
                <a:lnTo>
                  <a:pt x="292264" y="0"/>
                </a:lnTo>
                <a:close/>
              </a:path>
              <a:path w="561975" h="731519">
                <a:moveTo>
                  <a:pt x="339632" y="45082"/>
                </a:moveTo>
                <a:lnTo>
                  <a:pt x="310897" y="45082"/>
                </a:lnTo>
                <a:lnTo>
                  <a:pt x="320159" y="67490"/>
                </a:lnTo>
                <a:lnTo>
                  <a:pt x="339632" y="450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98588" y="2992967"/>
            <a:ext cx="2273935" cy="292100"/>
          </a:xfrm>
          <a:custGeom>
            <a:avLst/>
            <a:gdLst/>
            <a:ahLst/>
            <a:cxnLst/>
            <a:rect l="l" t="t" r="r" b="b"/>
            <a:pathLst>
              <a:path w="2273935" h="292100">
                <a:moveTo>
                  <a:pt x="0" y="292100"/>
                </a:moveTo>
                <a:lnTo>
                  <a:pt x="2273860" y="292100"/>
                </a:lnTo>
                <a:lnTo>
                  <a:pt x="2273860" y="0"/>
                </a:lnTo>
                <a:lnTo>
                  <a:pt x="0" y="0"/>
                </a:lnTo>
                <a:lnTo>
                  <a:pt x="0" y="292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98588" y="2992967"/>
            <a:ext cx="2273935" cy="292100"/>
          </a:xfrm>
          <a:custGeom>
            <a:avLst/>
            <a:gdLst/>
            <a:ahLst/>
            <a:cxnLst/>
            <a:rect l="l" t="t" r="r" b="b"/>
            <a:pathLst>
              <a:path w="2273935" h="292100">
                <a:moveTo>
                  <a:pt x="0" y="0"/>
                </a:moveTo>
                <a:lnTo>
                  <a:pt x="2273859" y="0"/>
                </a:lnTo>
                <a:lnTo>
                  <a:pt x="2273859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98588" y="3268838"/>
            <a:ext cx="2273935" cy="294005"/>
          </a:xfrm>
          <a:custGeom>
            <a:avLst/>
            <a:gdLst/>
            <a:ahLst/>
            <a:cxnLst/>
            <a:rect l="l" t="t" r="r" b="b"/>
            <a:pathLst>
              <a:path w="2273935" h="294004">
                <a:moveTo>
                  <a:pt x="0" y="293452"/>
                </a:moveTo>
                <a:lnTo>
                  <a:pt x="2273860" y="293452"/>
                </a:lnTo>
                <a:lnTo>
                  <a:pt x="2273860" y="0"/>
                </a:lnTo>
                <a:lnTo>
                  <a:pt x="0" y="0"/>
                </a:lnTo>
                <a:lnTo>
                  <a:pt x="0" y="2934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98588" y="3268838"/>
            <a:ext cx="2273935" cy="294005"/>
          </a:xfrm>
          <a:custGeom>
            <a:avLst/>
            <a:gdLst/>
            <a:ahLst/>
            <a:cxnLst/>
            <a:rect l="l" t="t" r="r" b="b"/>
            <a:pathLst>
              <a:path w="2273935" h="294004">
                <a:moveTo>
                  <a:pt x="0" y="0"/>
                </a:moveTo>
                <a:lnTo>
                  <a:pt x="2273859" y="0"/>
                </a:lnTo>
                <a:lnTo>
                  <a:pt x="2273859" y="293452"/>
                </a:lnTo>
                <a:lnTo>
                  <a:pt x="0" y="293452"/>
                </a:lnTo>
                <a:lnTo>
                  <a:pt x="0" y="0"/>
                </a:lnTo>
                <a:close/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98588" y="3869266"/>
            <a:ext cx="2273935" cy="292100"/>
          </a:xfrm>
          <a:custGeom>
            <a:avLst/>
            <a:gdLst/>
            <a:ahLst/>
            <a:cxnLst/>
            <a:rect l="l" t="t" r="r" b="b"/>
            <a:pathLst>
              <a:path w="2273935" h="292100">
                <a:moveTo>
                  <a:pt x="0" y="292100"/>
                </a:moveTo>
                <a:lnTo>
                  <a:pt x="2273860" y="292100"/>
                </a:lnTo>
                <a:lnTo>
                  <a:pt x="2273860" y="0"/>
                </a:lnTo>
                <a:lnTo>
                  <a:pt x="0" y="0"/>
                </a:lnTo>
                <a:lnTo>
                  <a:pt x="0" y="292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98588" y="3869266"/>
            <a:ext cx="2273935" cy="292100"/>
          </a:xfrm>
          <a:custGeom>
            <a:avLst/>
            <a:gdLst/>
            <a:ahLst/>
            <a:cxnLst/>
            <a:rect l="l" t="t" r="r" b="b"/>
            <a:pathLst>
              <a:path w="2273935" h="292100">
                <a:moveTo>
                  <a:pt x="0" y="0"/>
                </a:moveTo>
                <a:lnTo>
                  <a:pt x="2273859" y="0"/>
                </a:lnTo>
                <a:lnTo>
                  <a:pt x="2273859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231874" y="730387"/>
            <a:ext cx="8270290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4095">
              <a:lnSpc>
                <a:spcPts val="3470"/>
              </a:lnSpc>
            </a:pPr>
            <a:r>
              <a:rPr spc="100" dirty="0"/>
              <a:t>有那么一次时钟中断</a:t>
            </a:r>
            <a:endParaRPr spc="100" dirty="0"/>
          </a:p>
        </p:txBody>
      </p:sp>
      <p:sp>
        <p:nvSpPr>
          <p:cNvPr id="22" name="object 22"/>
          <p:cNvSpPr/>
          <p:nvPr/>
        </p:nvSpPr>
        <p:spPr>
          <a:xfrm>
            <a:off x="4878335" y="2397907"/>
            <a:ext cx="311150" cy="0"/>
          </a:xfrm>
          <a:custGeom>
            <a:avLst/>
            <a:gdLst/>
            <a:ahLst/>
            <a:cxnLst/>
            <a:rect l="l" t="t" r="r" b="b"/>
            <a:pathLst>
              <a:path w="311150">
                <a:moveTo>
                  <a:pt x="0" y="0"/>
                </a:moveTo>
                <a:lnTo>
                  <a:pt x="310965" y="0"/>
                </a:lnTo>
              </a:path>
            </a:pathLst>
          </a:custGeom>
          <a:ln w="25823">
            <a:solidFill>
              <a:srgbClr val="3232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graphicFrame>
        <p:nvGraphicFramePr>
          <p:cNvPr id="18" name="object 1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70180" y="1409700"/>
          <a:ext cx="8394065" cy="4662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8505"/>
                <a:gridCol w="3596640"/>
                <a:gridCol w="1518920"/>
              </a:tblGrid>
              <a:tr h="304800">
                <a:tc>
                  <a:txBody>
                    <a:bodyPr/>
                    <a:lstStyle/>
                    <a:p/>
                  </a:txBody>
                  <a:tcPr marL="0" marR="0" marT="0" marB="0">
                    <a:lnR w="10820">
                      <a:solidFill>
                        <a:srgbClr val="FF0000"/>
                      </a:solidFill>
                      <a:prstDash val="solid"/>
                    </a:lnR>
                    <a:lnB w="43274">
                      <a:solidFill>
                        <a:srgbClr val="C1C43C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main(){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537845" marR="394970">
                        <a:lnSpc>
                          <a:spcPts val="2970"/>
                        </a:lnSpc>
                        <a:spcBef>
                          <a:spcPts val="155"/>
                        </a:spcBef>
                        <a:tabLst>
                          <a:tab pos="1470660" algn="l"/>
                        </a:tabLst>
                      </a:pPr>
                      <a:r>
                        <a:rPr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mov</a:t>
                      </a:r>
                      <a:r>
                        <a:rPr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	</a:t>
                      </a:r>
                      <a:r>
                        <a:rPr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NR_fork,</a:t>
                      </a:r>
                      <a:r>
                        <a:rPr sz="2000" b="1" spc="30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%eax</a:t>
                      </a:r>
                      <a:r>
                        <a:rPr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int</a:t>
                      </a:r>
                      <a:r>
                        <a:rPr sz="2000" b="1" spc="25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0x80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537845" indent="-4667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100:mov</a:t>
                      </a:r>
                      <a:r>
                        <a:rPr sz="2000" b="1" spc="30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%eax,</a:t>
                      </a:r>
                      <a:r>
                        <a:rPr sz="2000" b="1" spc="25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res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537845" marR="1794510">
                        <a:lnSpc>
                          <a:spcPts val="2970"/>
                        </a:lnSpc>
                        <a:spcBef>
                          <a:spcPts val="155"/>
                        </a:spcBef>
                      </a:pPr>
                      <a:r>
                        <a:rPr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cmpl</a:t>
                      </a:r>
                      <a:r>
                        <a:rPr sz="2000" b="1" spc="25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res,0</a:t>
                      </a:r>
                      <a:r>
                        <a:rPr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jne</a:t>
                      </a:r>
                      <a:r>
                        <a:rPr sz="2000" b="1" spc="25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208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200:</a:t>
                      </a:r>
                      <a:r>
                        <a:rPr sz="2000" b="1" spc="25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printf(“A”)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53784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jmp</a:t>
                      </a:r>
                      <a:r>
                        <a:rPr sz="2000" b="1" spc="25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200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208:</a:t>
                      </a:r>
                      <a:r>
                        <a:rPr sz="2000" b="1" spc="25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...</a:t>
                      </a:r>
                      <a:r>
                        <a:rPr sz="2000" b="1" spc="25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300:printf(“B”)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193738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jmp</a:t>
                      </a:r>
                      <a:r>
                        <a:rPr sz="2000" b="1" spc="25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300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308:</a:t>
                      </a:r>
                      <a:r>
                        <a:rPr sz="2000" b="1" spc="25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wait(</a:t>
                      </a:r>
                      <a:r>
                        <a:rPr lang="en-US"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)</a:t>
                      </a:r>
                      <a:endParaRPr lang="en-US" sz="2000" b="1" dirty="0">
                        <a:solidFill>
                          <a:srgbClr val="333399"/>
                        </a:solidFill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000" b="1" dirty="0">
                          <a:solidFill>
                            <a:srgbClr val="333399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}</a:t>
                      </a:r>
                      <a:endParaRPr sz="2000" b="1" dirty="0">
                        <a:solidFill>
                          <a:srgbClr val="333399"/>
                        </a:solidFill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10820">
                      <a:solidFill>
                        <a:srgbClr val="FF0000"/>
                      </a:solidFill>
                      <a:prstDash val="solid"/>
                    </a:lnL>
                    <a:lnR w="10820">
                      <a:solidFill>
                        <a:srgbClr val="FF0000"/>
                      </a:solidFill>
                      <a:prstDash val="solid"/>
                    </a:lnR>
                    <a:lnT w="10820">
                      <a:solidFill>
                        <a:srgbClr val="FF0000"/>
                      </a:solidFill>
                      <a:prstDash val="solid"/>
                    </a:lnT>
                    <a:lnB w="1082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10820">
                      <a:solidFill>
                        <a:srgbClr val="FF0000"/>
                      </a:solidFill>
                      <a:prstDash val="solid"/>
                    </a:lnL>
                    <a:lnB w="43274">
                      <a:solidFill>
                        <a:srgbClr val="C1C43C"/>
                      </a:solidFill>
                      <a:prstDash val="solid"/>
                    </a:lnB>
                  </a:tcPr>
                </a:tc>
              </a:tr>
              <a:tr h="4357370">
                <a:tc>
                  <a:txBody>
                    <a:bodyPr/>
                    <a:lstStyle/>
                    <a:p>
                      <a:pPr marL="942975" indent="88265">
                        <a:lnSpc>
                          <a:spcPct val="100000"/>
                        </a:lnSpc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B</a:t>
                      </a:r>
                      <a:r>
                        <a:rPr sz="165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的用户栈</a:t>
                      </a:r>
                      <a:endParaRPr sz="16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42975" marR="1725295" algn="ctr">
                        <a:lnSpc>
                          <a:spcPct val="107000"/>
                        </a:lnSpc>
                        <a:spcBef>
                          <a:spcPts val="1410"/>
                        </a:spcBef>
                      </a:pPr>
                      <a:r>
                        <a:rPr sz="1700" b="1" spc="5" dirty="0">
                          <a:latin typeface="Arial" panose="020B0604020202020204"/>
                          <a:cs typeface="Arial" panose="020B0604020202020204"/>
                        </a:rPr>
                        <a:t>EFLA</a:t>
                      </a:r>
                      <a:r>
                        <a:rPr sz="1700" b="1" spc="-5" dirty="0">
                          <a:latin typeface="Arial" panose="020B0604020202020204"/>
                          <a:cs typeface="Arial" panose="020B0604020202020204"/>
                        </a:rPr>
                        <a:t>G</a:t>
                      </a: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S</a:t>
                      </a: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300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781685" algn="ctr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ca</a:t>
                      </a:r>
                      <a:r>
                        <a:rPr sz="1700" b="1" spc="-5" dirty="0">
                          <a:latin typeface="Arial" panose="020B0604020202020204"/>
                          <a:cs typeface="Arial" panose="020B0604020202020204"/>
                        </a:rPr>
                        <a:t>l</a:t>
                      </a: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l</a:t>
                      </a:r>
                      <a:r>
                        <a:rPr sz="1700" b="1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do</a:t>
                      </a: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_</a:t>
                      </a:r>
                      <a:r>
                        <a:rPr sz="1700" b="1" spc="-5" dirty="0"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r>
                        <a:rPr sz="1700" b="1" spc="-5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er</a:t>
                      </a:r>
                      <a:r>
                        <a:rPr sz="165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压的栈</a:t>
                      </a:r>
                      <a:endParaRPr sz="16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lang="en-US"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R w="10820">
                      <a:solidFill>
                        <a:srgbClr val="FF0000"/>
                      </a:solidFill>
                      <a:prstDash val="solid"/>
                    </a:lnR>
                    <a:lnT w="43274">
                      <a:solidFill>
                        <a:srgbClr val="C1C43C"/>
                      </a:solidFill>
                      <a:prstDash val="solid"/>
                    </a:lnT>
                  </a:tcPr>
                </a:tc>
                <a:tc vMerge="1">
                  <a:tcPr marL="0" marR="0" marT="0" marB="0">
                    <a:lnL w="10820">
                      <a:solidFill>
                        <a:srgbClr val="FF0000"/>
                      </a:solidFill>
                      <a:prstDash val="solid"/>
                    </a:lnL>
                    <a:lnR w="10820">
                      <a:solidFill>
                        <a:srgbClr val="FF0000"/>
                      </a:solidFill>
                      <a:prstDash val="solid"/>
                    </a:lnR>
                    <a:lnT w="10820">
                      <a:solidFill>
                        <a:srgbClr val="FF0000"/>
                      </a:solidFill>
                      <a:prstDash val="solid"/>
                    </a:lnT>
                    <a:lnB w="1082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10820">
                      <a:solidFill>
                        <a:srgbClr val="FF0000"/>
                      </a:solidFill>
                      <a:prstDash val="solid"/>
                    </a:lnL>
                    <a:lnT w="43274">
                      <a:solidFill>
                        <a:srgbClr val="C1C43C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57127" y="3285066"/>
            <a:ext cx="1818005" cy="1558290"/>
          </a:xfrm>
          <a:custGeom>
            <a:avLst/>
            <a:gdLst/>
            <a:ahLst/>
            <a:cxnLst/>
            <a:rect l="l" t="t" r="r" b="b"/>
            <a:pathLst>
              <a:path w="1818004" h="1558289">
                <a:moveTo>
                  <a:pt x="0" y="0"/>
                </a:moveTo>
                <a:lnTo>
                  <a:pt x="1818005" y="0"/>
                </a:lnTo>
                <a:lnTo>
                  <a:pt x="1818005" y="1557866"/>
                </a:lnTo>
                <a:lnTo>
                  <a:pt x="0" y="1557866"/>
                </a:lnTo>
                <a:lnTo>
                  <a:pt x="0" y="0"/>
                </a:lnTo>
                <a:close/>
              </a:path>
            </a:pathLst>
          </a:custGeom>
          <a:ln w="243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958481" y="2523714"/>
            <a:ext cx="1818005" cy="761365"/>
          </a:xfrm>
          <a:custGeom>
            <a:avLst/>
            <a:gdLst/>
            <a:ahLst/>
            <a:cxnLst/>
            <a:rect l="l" t="t" r="r" b="b"/>
            <a:pathLst>
              <a:path w="1818004" h="761364">
                <a:moveTo>
                  <a:pt x="0" y="761352"/>
                </a:moveTo>
                <a:lnTo>
                  <a:pt x="1818004" y="761352"/>
                </a:lnTo>
                <a:lnTo>
                  <a:pt x="1818004" y="0"/>
                </a:lnTo>
                <a:lnTo>
                  <a:pt x="0" y="0"/>
                </a:lnTo>
                <a:lnTo>
                  <a:pt x="0" y="7613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958481" y="2523713"/>
            <a:ext cx="1818005" cy="761365"/>
          </a:xfrm>
          <a:custGeom>
            <a:avLst/>
            <a:gdLst/>
            <a:ahLst/>
            <a:cxnLst/>
            <a:rect l="l" t="t" r="r" b="b"/>
            <a:pathLst>
              <a:path w="1818004" h="761364">
                <a:moveTo>
                  <a:pt x="0" y="0"/>
                </a:moveTo>
                <a:lnTo>
                  <a:pt x="1818005" y="0"/>
                </a:lnTo>
                <a:lnTo>
                  <a:pt x="1818005" y="761352"/>
                </a:lnTo>
                <a:lnTo>
                  <a:pt x="0" y="761352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887554" y="2889469"/>
            <a:ext cx="803910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B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内核栈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58481" y="3609622"/>
            <a:ext cx="1818005" cy="991235"/>
          </a:xfrm>
          <a:custGeom>
            <a:avLst/>
            <a:gdLst/>
            <a:ahLst/>
            <a:cxnLst/>
            <a:rect l="l" t="t" r="r" b="b"/>
            <a:pathLst>
              <a:path w="1818004" h="991235">
                <a:moveTo>
                  <a:pt x="0" y="991247"/>
                </a:moveTo>
                <a:lnTo>
                  <a:pt x="1818004" y="991247"/>
                </a:lnTo>
                <a:lnTo>
                  <a:pt x="1818004" y="0"/>
                </a:lnTo>
                <a:lnTo>
                  <a:pt x="0" y="0"/>
                </a:lnTo>
                <a:lnTo>
                  <a:pt x="0" y="9912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958481" y="3609621"/>
            <a:ext cx="1818005" cy="991235"/>
          </a:xfrm>
          <a:custGeom>
            <a:avLst/>
            <a:gdLst/>
            <a:ahLst/>
            <a:cxnLst/>
            <a:rect l="l" t="t" r="r" b="b"/>
            <a:pathLst>
              <a:path w="1818004" h="991235">
                <a:moveTo>
                  <a:pt x="0" y="0"/>
                </a:moveTo>
                <a:lnTo>
                  <a:pt x="1818005" y="0"/>
                </a:lnTo>
                <a:lnTo>
                  <a:pt x="1818005" y="991247"/>
                </a:lnTo>
                <a:lnTo>
                  <a:pt x="0" y="991247"/>
                </a:lnTo>
                <a:lnTo>
                  <a:pt x="0" y="0"/>
                </a:lnTo>
                <a:close/>
              </a:path>
            </a:pathLst>
          </a:custGeom>
          <a:ln w="243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100642" y="3609221"/>
            <a:ext cx="1532890" cy="1020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</a:pP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ss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-&gt;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latin typeface="Arial" panose="020B0604020202020204"/>
                <a:cs typeface="Arial" panose="020B0604020202020204"/>
              </a:rPr>
              <a:t>?</a:t>
            </a:r>
            <a:r>
              <a:rPr sz="1700" b="1" dirty="0">
                <a:latin typeface="Arial" panose="020B0604020202020204"/>
                <a:cs typeface="Arial" panose="020B0604020202020204"/>
              </a:rPr>
              <a:t>??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ss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-&gt;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</a:t>
            </a:r>
            <a:r>
              <a:rPr sz="1700" b="1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+</a:t>
            </a:r>
            <a:r>
              <a:rPr sz="1700" b="1" dirty="0">
                <a:latin typeface="Arial" panose="020B0604020202020204"/>
                <a:cs typeface="Arial" panose="020B0604020202020204"/>
              </a:rPr>
              <a:t>4</a:t>
            </a:r>
            <a:r>
              <a:rPr sz="1700" b="1" dirty="0">
                <a:latin typeface="Arial" panose="020B0604020202020204"/>
                <a:cs typeface="Arial" panose="020B0604020202020204"/>
              </a:rPr>
              <a:t>k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ss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-&gt;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</a:t>
            </a:r>
            <a:r>
              <a:rPr sz="1700" b="1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</a:t>
            </a:r>
            <a:r>
              <a:rPr sz="1700" b="1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latin typeface="Arial" panose="020B0604020202020204"/>
                <a:cs typeface="Arial" panose="020B0604020202020204"/>
              </a:rPr>
              <a:t>ss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-&gt;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ax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=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86201" y="4041328"/>
            <a:ext cx="761365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B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PCB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776484" y="3285066"/>
            <a:ext cx="165100" cy="1510665"/>
          </a:xfrm>
          <a:custGeom>
            <a:avLst/>
            <a:gdLst/>
            <a:ahLst/>
            <a:cxnLst/>
            <a:rect l="l" t="t" r="r" b="b"/>
            <a:pathLst>
              <a:path w="165100" h="1510664">
                <a:moveTo>
                  <a:pt x="0" y="0"/>
                </a:moveTo>
                <a:lnTo>
                  <a:pt x="44732" y="17710"/>
                </a:lnTo>
                <a:lnTo>
                  <a:pt x="69414" y="50221"/>
                </a:lnTo>
                <a:lnTo>
                  <a:pt x="82944" y="94294"/>
                </a:lnTo>
                <a:lnTo>
                  <a:pt x="84543" y="638201"/>
                </a:lnTo>
                <a:lnTo>
                  <a:pt x="85401" y="654948"/>
                </a:lnTo>
                <a:lnTo>
                  <a:pt x="97333" y="700142"/>
                </a:lnTo>
                <a:lnTo>
                  <a:pt x="120812" y="734319"/>
                </a:lnTo>
                <a:lnTo>
                  <a:pt x="164553" y="755102"/>
                </a:lnTo>
                <a:lnTo>
                  <a:pt x="153364" y="756373"/>
                </a:lnTo>
                <a:lnTo>
                  <a:pt x="113559" y="783115"/>
                </a:lnTo>
                <a:lnTo>
                  <a:pt x="92943" y="821100"/>
                </a:lnTo>
                <a:lnTo>
                  <a:pt x="84571" y="869292"/>
                </a:lnTo>
                <a:lnTo>
                  <a:pt x="84543" y="1393469"/>
                </a:lnTo>
                <a:lnTo>
                  <a:pt x="83684" y="1410216"/>
                </a:lnTo>
                <a:lnTo>
                  <a:pt x="71753" y="1455410"/>
                </a:lnTo>
                <a:lnTo>
                  <a:pt x="48274" y="1489587"/>
                </a:lnTo>
                <a:lnTo>
                  <a:pt x="16445" y="1508322"/>
                </a:lnTo>
                <a:lnTo>
                  <a:pt x="4532" y="1510370"/>
                </a:lnTo>
              </a:path>
            </a:pathLst>
          </a:custGeom>
          <a:ln w="24348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776484" y="2506132"/>
            <a:ext cx="121285" cy="730885"/>
          </a:xfrm>
          <a:custGeom>
            <a:avLst/>
            <a:gdLst/>
            <a:ahLst/>
            <a:cxnLst/>
            <a:rect l="l" t="t" r="r" b="b"/>
            <a:pathLst>
              <a:path w="121284" h="730885">
                <a:moveTo>
                  <a:pt x="0" y="0"/>
                </a:moveTo>
                <a:lnTo>
                  <a:pt x="42857" y="22371"/>
                </a:lnTo>
                <a:lnTo>
                  <a:pt x="61667" y="61703"/>
                </a:lnTo>
                <a:lnTo>
                  <a:pt x="64929" y="275875"/>
                </a:lnTo>
                <a:lnTo>
                  <a:pt x="66039" y="292518"/>
                </a:lnTo>
                <a:lnTo>
                  <a:pt x="81082" y="335232"/>
                </a:lnTo>
                <a:lnTo>
                  <a:pt x="109481" y="361283"/>
                </a:lnTo>
                <a:lnTo>
                  <a:pt x="120978" y="364967"/>
                </a:lnTo>
                <a:lnTo>
                  <a:pt x="111306" y="366891"/>
                </a:lnTo>
                <a:lnTo>
                  <a:pt x="77148" y="402037"/>
                </a:lnTo>
                <a:lnTo>
                  <a:pt x="65122" y="448709"/>
                </a:lnTo>
                <a:lnTo>
                  <a:pt x="64929" y="641676"/>
                </a:lnTo>
                <a:lnTo>
                  <a:pt x="63819" y="658320"/>
                </a:lnTo>
                <a:lnTo>
                  <a:pt x="48776" y="701034"/>
                </a:lnTo>
                <a:lnTo>
                  <a:pt x="20377" y="727085"/>
                </a:lnTo>
                <a:lnTo>
                  <a:pt x="8879" y="730768"/>
                </a:lnTo>
              </a:path>
            </a:pathLst>
          </a:custGeom>
          <a:ln w="24348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1972" y="1775882"/>
            <a:ext cx="1363980" cy="321945"/>
          </a:xfrm>
          <a:custGeom>
            <a:avLst/>
            <a:gdLst/>
            <a:ahLst/>
            <a:cxnLst/>
            <a:rect l="l" t="t" r="r" b="b"/>
            <a:pathLst>
              <a:path w="1363980" h="321944">
                <a:moveTo>
                  <a:pt x="0" y="0"/>
                </a:moveTo>
                <a:lnTo>
                  <a:pt x="1363503" y="0"/>
                </a:lnTo>
                <a:lnTo>
                  <a:pt x="1363503" y="321850"/>
                </a:lnTo>
                <a:lnTo>
                  <a:pt x="0" y="321850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7958" y="2278944"/>
            <a:ext cx="7376795" cy="50165"/>
          </a:xfrm>
          <a:custGeom>
            <a:avLst/>
            <a:gdLst/>
            <a:ahLst/>
            <a:cxnLst/>
            <a:rect l="l" t="t" r="r" b="b"/>
            <a:pathLst>
              <a:path w="7376795" h="50164">
                <a:moveTo>
                  <a:pt x="0" y="50036"/>
                </a:moveTo>
                <a:lnTo>
                  <a:pt x="7376176" y="0"/>
                </a:lnTo>
              </a:path>
            </a:pathLst>
          </a:custGeom>
          <a:ln w="32455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004062" y="1541577"/>
            <a:ext cx="1020444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B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的用户栈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03734" y="3327499"/>
            <a:ext cx="803910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内核栈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41609" y="4446912"/>
            <a:ext cx="761365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PCB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02265" y="1907646"/>
            <a:ext cx="6790828" cy="460269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491390" y="4777991"/>
            <a:ext cx="396240" cy="263525"/>
          </a:xfrm>
          <a:custGeom>
            <a:avLst/>
            <a:gdLst/>
            <a:ahLst/>
            <a:cxnLst/>
            <a:rect l="l" t="t" r="r" b="b"/>
            <a:pathLst>
              <a:path w="396239" h="263525">
                <a:moveTo>
                  <a:pt x="96114" y="47879"/>
                </a:moveTo>
                <a:lnTo>
                  <a:pt x="51403" y="47879"/>
                </a:lnTo>
                <a:lnTo>
                  <a:pt x="382990" y="263122"/>
                </a:lnTo>
                <a:lnTo>
                  <a:pt x="396250" y="242705"/>
                </a:lnTo>
                <a:lnTo>
                  <a:pt x="96114" y="47879"/>
                </a:lnTo>
                <a:close/>
              </a:path>
              <a:path w="396239" h="263525">
                <a:moveTo>
                  <a:pt x="0" y="0"/>
                </a:moveTo>
                <a:lnTo>
                  <a:pt x="50478" y="100129"/>
                </a:lnTo>
                <a:lnTo>
                  <a:pt x="57798" y="102543"/>
                </a:lnTo>
                <a:lnTo>
                  <a:pt x="69806" y="96492"/>
                </a:lnTo>
                <a:lnTo>
                  <a:pt x="72221" y="89174"/>
                </a:lnTo>
                <a:lnTo>
                  <a:pt x="51403" y="47879"/>
                </a:lnTo>
                <a:lnTo>
                  <a:pt x="96114" y="47879"/>
                </a:lnTo>
                <a:lnTo>
                  <a:pt x="64662" y="27462"/>
                </a:lnTo>
                <a:lnTo>
                  <a:pt x="113299" y="27462"/>
                </a:lnTo>
                <a:lnTo>
                  <a:pt x="116570" y="24490"/>
                </a:lnTo>
                <a:lnTo>
                  <a:pt x="117213" y="11062"/>
                </a:lnTo>
                <a:lnTo>
                  <a:pt x="112030" y="5359"/>
                </a:lnTo>
                <a:lnTo>
                  <a:pt x="0" y="0"/>
                </a:lnTo>
                <a:close/>
              </a:path>
              <a:path w="396239" h="263525">
                <a:moveTo>
                  <a:pt x="113299" y="27462"/>
                </a:moveTo>
                <a:lnTo>
                  <a:pt x="64662" y="27462"/>
                </a:lnTo>
                <a:lnTo>
                  <a:pt x="110865" y="29673"/>
                </a:lnTo>
                <a:lnTo>
                  <a:pt x="113299" y="274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718395" y="1213270"/>
            <a:ext cx="4399280" cy="747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4370">
              <a:lnSpc>
                <a:spcPct val="100000"/>
              </a:lnSpc>
            </a:pPr>
            <a:r>
              <a:rPr sz="3050" dirty="0">
                <a:latin typeface="Arial" panose="020B0604020202020204"/>
                <a:cs typeface="Arial" panose="020B0604020202020204"/>
              </a:rPr>
              <a:t>sc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h</a:t>
            </a:r>
            <a:r>
              <a:rPr sz="3050" dirty="0">
                <a:latin typeface="Arial" panose="020B0604020202020204"/>
                <a:cs typeface="Arial" panose="020B0604020202020204"/>
              </a:rPr>
              <a:t>e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d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u</a:t>
            </a:r>
            <a:r>
              <a:rPr sz="3050" dirty="0">
                <a:latin typeface="Arial" panose="020B0604020202020204"/>
                <a:cs typeface="Arial" panose="020B0604020202020204"/>
              </a:rPr>
              <a:t>le+switc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h</a:t>
            </a:r>
            <a:r>
              <a:rPr sz="3050" dirty="0">
                <a:latin typeface="Arial" panose="020B0604020202020204"/>
                <a:cs typeface="Arial" panose="020B0604020202020204"/>
              </a:rPr>
              <a:t>_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t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o</a:t>
            </a:r>
            <a:endParaRPr sz="30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500" spc="1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</a:t>
            </a:r>
            <a:r>
              <a:rPr sz="1500" spc="25" dirty="0">
                <a:solidFill>
                  <a:srgbClr val="FF0000"/>
                </a:solidFill>
              </a:rPr>
              <a:t>的用户栈</a:t>
            </a:r>
            <a:endParaRPr sz="15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20" name="object 20"/>
          <p:cNvSpPr txBox="1"/>
          <p:nvPr/>
        </p:nvSpPr>
        <p:spPr>
          <a:xfrm>
            <a:off x="5949469" y="4917497"/>
            <a:ext cx="695325" cy="155130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next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88595" marR="5080" indent="66040" algn="just">
              <a:lnSpc>
                <a:spcPct val="100000"/>
              </a:lnSpc>
              <a:spcBef>
                <a:spcPts val="235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eax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eb</a:t>
            </a:r>
            <a:r>
              <a:rPr sz="1700" b="1" dirty="0">
                <a:latin typeface="Arial" panose="020B0604020202020204"/>
                <a:cs typeface="Arial" panose="020B0604020202020204"/>
              </a:rPr>
              <a:t>x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esp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esp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latin typeface="Arial" panose="020B0604020202020204"/>
                <a:cs typeface="Arial" panose="020B0604020202020204"/>
              </a:rPr>
              <a:t>p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37983" y="4978768"/>
            <a:ext cx="89090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就绪队列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50846" y="2837620"/>
            <a:ext cx="815340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5110" marR="5080" indent="-233045">
              <a:lnSpc>
                <a:spcPct val="105000"/>
              </a:lnSpc>
            </a:pPr>
            <a:r>
              <a:rPr sz="1500" b="1" spc="15" dirty="0">
                <a:latin typeface="Arial" panose="020B0604020202020204"/>
                <a:cs typeface="Arial" panose="020B0604020202020204"/>
              </a:rPr>
              <a:t>EFL</a:t>
            </a:r>
            <a:r>
              <a:rPr sz="15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1500" b="1" spc="15" dirty="0">
                <a:latin typeface="Arial" panose="020B0604020202020204"/>
                <a:cs typeface="Arial" panose="020B0604020202020204"/>
              </a:rPr>
              <a:t>GS</a:t>
            </a:r>
            <a:r>
              <a:rPr sz="1500" b="1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200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53196" y="3590617"/>
            <a:ext cx="181102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10" dirty="0">
                <a:latin typeface="Arial" panose="020B0604020202020204"/>
                <a:cs typeface="Arial" panose="020B0604020202020204"/>
              </a:rPr>
              <a:t>cal</a:t>
            </a:r>
            <a:r>
              <a:rPr sz="1500" b="1" spc="5" dirty="0">
                <a:latin typeface="Arial" panose="020B0604020202020204"/>
                <a:cs typeface="Arial" panose="020B0604020202020204"/>
              </a:rPr>
              <a:t>l</a:t>
            </a:r>
            <a:r>
              <a:rPr sz="15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spc="20" dirty="0">
                <a:latin typeface="Arial" panose="020B0604020202020204"/>
                <a:cs typeface="Arial" panose="020B0604020202020204"/>
              </a:rPr>
              <a:t>do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_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imer</a:t>
            </a:r>
            <a:r>
              <a:rPr sz="1500" b="1" spc="25" dirty="0">
                <a:latin typeface="宋体" panose="02010600030101010101" pitchFamily="2" charset="-122"/>
                <a:cs typeface="宋体" panose="02010600030101010101" pitchFamily="2" charset="-122"/>
              </a:rPr>
              <a:t>压的栈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63107" y="5160848"/>
            <a:ext cx="1444625" cy="131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1689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current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271780" marR="375920" indent="-259715">
              <a:lnSpc>
                <a:spcPct val="101000"/>
              </a:lnSpc>
              <a:spcBef>
                <a:spcPts val="1105"/>
              </a:spcBef>
            </a:pP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PC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1650" b="1" spc="3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 的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ss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522605">
              <a:lnSpc>
                <a:spcPct val="100000"/>
              </a:lnSpc>
              <a:spcBef>
                <a:spcPts val="1140"/>
              </a:spcBef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current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82691" y="5190323"/>
            <a:ext cx="595630" cy="1278255"/>
          </a:xfrm>
          <a:prstGeom prst="rect">
            <a:avLst/>
          </a:prstGeom>
          <a:ln w="12700" cmpd="sng">
            <a:solidFill>
              <a:schemeClr val="tx1"/>
            </a:solidFill>
            <a:prstDash val="solid"/>
          </a:ln>
        </p:spPr>
        <p:txBody>
          <a:bodyPr vert="horz" wrap="square" lIns="0" tIns="0" rIns="0" bIns="0" rtlCol="0">
            <a:spAutoFit/>
          </a:bodyPr>
          <a:lstStyle/>
          <a:p>
            <a:pPr marL="12700" marR="5080" indent="104775" algn="just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eax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eb</a:t>
            </a:r>
            <a:r>
              <a:rPr sz="1700" b="1" dirty="0">
                <a:latin typeface="Arial" panose="020B0604020202020204"/>
                <a:cs typeface="Arial" panose="020B0604020202020204"/>
              </a:rPr>
              <a:t>x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esp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esp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latin typeface="Arial" panose="020B0604020202020204"/>
                <a:cs typeface="Arial" panose="020B0604020202020204"/>
              </a:rPr>
              <a:t>?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22848" y="5538745"/>
            <a:ext cx="1150620" cy="916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1780" marR="81915" indent="-259715">
              <a:lnSpc>
                <a:spcPct val="101000"/>
              </a:lnSpc>
            </a:pP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PC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1650" b="1" spc="3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 的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ss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617855">
              <a:lnSpc>
                <a:spcPct val="100000"/>
              </a:lnSpc>
              <a:spcBef>
                <a:spcPts val="1015"/>
              </a:spcBef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next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4605">
              <a:lnSpc>
                <a:spcPct val="100000"/>
              </a:lnSpc>
            </a:pPr>
            <a:r>
              <a:rPr sz="2950" spc="100" dirty="0"/>
              <a:t>接下来会怎么样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?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1581" y="3125091"/>
            <a:ext cx="1294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eip=???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61209" y="3125091"/>
            <a:ext cx="931544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eax=0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48431" y="3125091"/>
            <a:ext cx="1294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esp=...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84756" y="2668428"/>
            <a:ext cx="93345" cy="259715"/>
          </a:xfrm>
          <a:custGeom>
            <a:avLst/>
            <a:gdLst/>
            <a:ahLst/>
            <a:cxnLst/>
            <a:rect l="l" t="t" r="r" b="b"/>
            <a:pathLst>
              <a:path w="93345" h="259714">
                <a:moveTo>
                  <a:pt x="46417" y="259626"/>
                </a:moveTo>
                <a:lnTo>
                  <a:pt x="15405" y="227048"/>
                </a:lnTo>
                <a:lnTo>
                  <a:pt x="3688" y="182893"/>
                </a:lnTo>
                <a:lnTo>
                  <a:pt x="0" y="146673"/>
                </a:lnTo>
                <a:lnTo>
                  <a:pt x="328" y="125411"/>
                </a:lnTo>
                <a:lnTo>
                  <a:pt x="3375" y="86981"/>
                </a:lnTo>
                <a:lnTo>
                  <a:pt x="13089" y="40964"/>
                </a:lnTo>
                <a:lnTo>
                  <a:pt x="33321" y="5221"/>
                </a:lnTo>
                <a:lnTo>
                  <a:pt x="45562" y="0"/>
                </a:lnTo>
                <a:lnTo>
                  <a:pt x="52761" y="1430"/>
                </a:lnTo>
                <a:lnTo>
                  <a:pt x="77237" y="32423"/>
                </a:lnTo>
                <a:lnTo>
                  <a:pt x="89080" y="76407"/>
                </a:lnTo>
                <a:lnTo>
                  <a:pt x="92813" y="112500"/>
                </a:lnTo>
                <a:lnTo>
                  <a:pt x="92491" y="133805"/>
                </a:lnTo>
                <a:lnTo>
                  <a:pt x="89467" y="172296"/>
                </a:lnTo>
                <a:lnTo>
                  <a:pt x="79808" y="218377"/>
                </a:lnTo>
                <a:lnTo>
                  <a:pt x="59670" y="254250"/>
                </a:lnTo>
                <a:lnTo>
                  <a:pt x="46417" y="259626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37150" y="2668410"/>
            <a:ext cx="3394075" cy="259715"/>
          </a:xfrm>
          <a:custGeom>
            <a:avLst/>
            <a:gdLst/>
            <a:ahLst/>
            <a:cxnLst/>
            <a:rect l="l" t="t" r="r" b="b"/>
            <a:pathLst>
              <a:path w="3394075" h="259714">
                <a:moveTo>
                  <a:pt x="3394023" y="259644"/>
                </a:moveTo>
                <a:lnTo>
                  <a:pt x="46417" y="259644"/>
                </a:lnTo>
                <a:lnTo>
                  <a:pt x="39417" y="258202"/>
                </a:lnTo>
                <a:lnTo>
                  <a:pt x="15405" y="227066"/>
                </a:lnTo>
                <a:lnTo>
                  <a:pt x="3688" y="182910"/>
                </a:lnTo>
                <a:lnTo>
                  <a:pt x="0" y="146691"/>
                </a:lnTo>
                <a:lnTo>
                  <a:pt x="328" y="125429"/>
                </a:lnTo>
                <a:lnTo>
                  <a:pt x="3375" y="86998"/>
                </a:lnTo>
                <a:lnTo>
                  <a:pt x="13089" y="40982"/>
                </a:lnTo>
                <a:lnTo>
                  <a:pt x="33321" y="5239"/>
                </a:lnTo>
                <a:lnTo>
                  <a:pt x="45562" y="17"/>
                </a:lnTo>
                <a:lnTo>
                  <a:pt x="3394023" y="0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89033" y="1830398"/>
            <a:ext cx="743685" cy="84207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33587" y="2007125"/>
            <a:ext cx="2438887" cy="6653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905761" y="2154868"/>
            <a:ext cx="969644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=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5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437697" y="1954389"/>
            <a:ext cx="3702685" cy="4480560"/>
          </a:xfrm>
          <a:custGeom>
            <a:avLst/>
            <a:gdLst/>
            <a:ahLst/>
            <a:cxnLst/>
            <a:rect l="l" t="t" r="r" b="b"/>
            <a:pathLst>
              <a:path w="3702684" h="4480560">
                <a:moveTo>
                  <a:pt x="0" y="0"/>
                </a:moveTo>
                <a:lnTo>
                  <a:pt x="3702291" y="0"/>
                </a:lnTo>
                <a:lnTo>
                  <a:pt x="3702291" y="4480219"/>
                </a:lnTo>
                <a:lnTo>
                  <a:pt x="0" y="4480219"/>
                </a:lnTo>
                <a:lnTo>
                  <a:pt x="0" y="0"/>
                </a:lnTo>
                <a:close/>
              </a:path>
            </a:pathLst>
          </a:custGeom>
          <a:ln w="1082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514793" y="2030745"/>
            <a:ext cx="1089025" cy="2129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main(){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466090" marR="147320">
              <a:lnSpc>
                <a:spcPts val="2970"/>
              </a:lnSpc>
              <a:spcBef>
                <a:spcPts val="155"/>
              </a:spcBef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mov int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100:mov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466090">
              <a:lnSpc>
                <a:spcPts val="2970"/>
              </a:lnSpc>
              <a:spcBef>
                <a:spcPts val="155"/>
              </a:spcBef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cmpl jne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03373" y="2403195"/>
            <a:ext cx="1555115" cy="635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310515">
              <a:lnSpc>
                <a:spcPct val="124000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NR_fork, 0x80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13962" y="2403195"/>
            <a:ext cx="622300" cy="258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%eax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03406" y="3152278"/>
            <a:ext cx="1555115" cy="10077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4940" indent="-635">
              <a:lnSpc>
                <a:spcPct val="122000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%eax,</a:t>
            </a:r>
            <a:r>
              <a:rPr sz="2000" b="1" spc="2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res</a:t>
            </a: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res,0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304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14793" y="4273806"/>
            <a:ext cx="3576954" cy="2129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200:</a:t>
            </a:r>
            <a:r>
              <a:rPr sz="2000" b="1" spc="2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printf(“A”)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466090">
              <a:lnSpc>
                <a:spcPct val="100000"/>
              </a:lnSpc>
              <a:spcBef>
                <a:spcPts val="530"/>
              </a:spcBef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jmp</a:t>
            </a:r>
            <a:r>
              <a:rPr sz="2000" b="1" spc="2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200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208:</a:t>
            </a:r>
            <a:r>
              <a:rPr sz="2000" b="1" spc="2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...300:printf(“B”)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865630">
              <a:lnSpc>
                <a:spcPct val="100000"/>
              </a:lnSpc>
              <a:spcBef>
                <a:spcPts val="530"/>
              </a:spcBef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jmp</a:t>
            </a:r>
            <a:r>
              <a:rPr sz="2000" b="1" spc="2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300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304:</a:t>
            </a:r>
            <a:r>
              <a:rPr sz="2000" b="1" spc="2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wait()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31830" y="4026621"/>
            <a:ext cx="2880360" cy="60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4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代码始终不曾变过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如同对操作系统的热爱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1153" y="5244319"/>
            <a:ext cx="3354704" cy="365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进程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B</a:t>
            </a: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开始不断的打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B...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603373" y="2657481"/>
            <a:ext cx="311150" cy="0"/>
          </a:xfrm>
          <a:custGeom>
            <a:avLst/>
            <a:gdLst/>
            <a:ahLst/>
            <a:cxnLst/>
            <a:rect l="l" t="t" r="r" b="b"/>
            <a:pathLst>
              <a:path w="311150">
                <a:moveTo>
                  <a:pt x="0" y="0"/>
                </a:moveTo>
                <a:lnTo>
                  <a:pt x="310965" y="0"/>
                </a:lnTo>
              </a:path>
            </a:pathLst>
          </a:custGeom>
          <a:ln w="25823">
            <a:solidFill>
              <a:srgbClr val="3232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64715">
              <a:lnSpc>
                <a:spcPct val="100000"/>
              </a:lnSpc>
            </a:pPr>
            <a:r>
              <a:rPr sz="2950" spc="100" dirty="0"/>
              <a:t>我们的目标达到了吗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?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6" name="object 6"/>
          <p:cNvSpPr txBox="1"/>
          <p:nvPr/>
        </p:nvSpPr>
        <p:spPr>
          <a:xfrm>
            <a:off x="5131033" y="6459594"/>
            <a:ext cx="43116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r>
              <a:rPr sz="135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dirty="0">
                <a:latin typeface="Arial" panose="020B0604020202020204"/>
                <a:cs typeface="Arial" panose="020B0604020202020204"/>
              </a:rPr>
              <a:t>3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0</a:t>
            </a:r>
            <a:r>
              <a:rPr sz="1350" b="1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517650">
              <a:lnSpc>
                <a:spcPct val="142000"/>
              </a:lnSpc>
            </a:pPr>
            <a:r>
              <a:rPr sz="3450" spc="112" baseline="1000" dirty="0"/>
              <a:t>交替的打出</a:t>
            </a:r>
            <a:r>
              <a:rPr sz="2400" spc="-15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3450" spc="112" baseline="1000" dirty="0"/>
              <a:t>和</a:t>
            </a:r>
            <a:r>
              <a:rPr sz="2400" spc="-15" dirty="0">
                <a:latin typeface="Courier New" panose="02070309020205020404"/>
                <a:cs typeface="Courier New" panose="02070309020205020404"/>
              </a:rPr>
              <a:t>B... </a:t>
            </a:r>
            <a:r>
              <a:rPr sz="3450" spc="112" baseline="1000" dirty="0"/>
              <a:t>已经打出了</a:t>
            </a:r>
            <a:r>
              <a:rPr sz="2400" spc="-15" dirty="0">
                <a:latin typeface="Courier New" panose="02070309020205020404"/>
                <a:cs typeface="Courier New" panose="02070309020205020404"/>
              </a:rPr>
              <a:t>B</a:t>
            </a:r>
            <a:r>
              <a:rPr sz="3450" spc="112" baseline="1000" dirty="0"/>
              <a:t>，完事了吗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?</a:t>
            </a:r>
            <a:r>
              <a:rPr sz="2400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3450" spc="112" baseline="1000" dirty="0"/>
              <a:t>何为交替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?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77470" indent="-65405">
              <a:lnSpc>
                <a:spcPct val="100000"/>
              </a:lnSpc>
              <a:spcBef>
                <a:spcPts val="1205"/>
              </a:spcBef>
            </a:pPr>
            <a:r>
              <a:rPr sz="3450" spc="112" baseline="1000" dirty="0"/>
              <a:t>接下来会发生什么</a:t>
            </a:r>
            <a:r>
              <a:rPr sz="2400" spc="-15" dirty="0">
                <a:latin typeface="Courier New" panose="02070309020205020404"/>
                <a:cs typeface="Courier New" panose="02070309020205020404"/>
              </a:rPr>
              <a:t>?</a:t>
            </a:r>
            <a:r>
              <a:rPr sz="3450" spc="112" baseline="1000" dirty="0"/>
              <a:t>把自己变成计算机想一想</a:t>
            </a:r>
            <a:r>
              <a:rPr sz="2400" spc="-15" dirty="0">
                <a:latin typeface="Courier New" panose="02070309020205020404"/>
                <a:cs typeface="Courier New" panose="02070309020205020404"/>
              </a:rPr>
              <a:t>...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700">
              <a:latin typeface="Times New Roman" panose="02020603050405020304"/>
              <a:cs typeface="Times New Roman" panose="02020603050405020304"/>
            </a:endParaRPr>
          </a:p>
          <a:p>
            <a:pPr marL="77470">
              <a:lnSpc>
                <a:spcPct val="100000"/>
              </a:lnSpc>
            </a:pPr>
            <a:r>
              <a:rPr sz="3450" spc="112" baseline="1000" dirty="0">
                <a:solidFill>
                  <a:srgbClr val="FF0000"/>
                </a:solidFill>
              </a:rPr>
              <a:t>中断</a:t>
            </a:r>
            <a:r>
              <a:rPr sz="2400" spc="-1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,</a:t>
            </a:r>
            <a:r>
              <a:rPr sz="3450" spc="112" baseline="1000" dirty="0">
                <a:solidFill>
                  <a:srgbClr val="FF0000"/>
                </a:solidFill>
              </a:rPr>
              <a:t>仍然是中断</a:t>
            </a:r>
            <a:r>
              <a:rPr sz="2400" spc="-1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...</a:t>
            </a:r>
            <a:r>
              <a:rPr sz="3450" spc="112" baseline="1000" dirty="0">
                <a:solidFill>
                  <a:srgbClr val="FF0000"/>
                </a:solidFill>
              </a:rPr>
              <a:t>什么中断</a:t>
            </a:r>
            <a:r>
              <a:rPr sz="240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?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75" spc="89" baseline="1000" dirty="0"/>
              <a:t>又有那么一次时钟中断</a:t>
            </a:r>
            <a:r>
              <a:rPr sz="2700" spc="5" dirty="0">
                <a:latin typeface="Arial" panose="020B0604020202020204"/>
                <a:cs typeface="Arial" panose="020B0604020202020204"/>
              </a:rPr>
              <a:t>,</a:t>
            </a:r>
            <a:r>
              <a:rPr sz="2700" dirty="0">
                <a:latin typeface="Arial" panose="020B0604020202020204"/>
                <a:cs typeface="Arial" panose="020B0604020202020204"/>
              </a:rPr>
              <a:t> </a:t>
            </a:r>
            <a:r>
              <a:rPr sz="3975" spc="89" baseline="1000" dirty="0"/>
              <a:t>再一次</a:t>
            </a:r>
            <a:r>
              <a:rPr sz="2700" spc="5" dirty="0">
                <a:latin typeface="Arial" panose="020B0604020202020204"/>
                <a:cs typeface="Arial" panose="020B0604020202020204"/>
              </a:rPr>
              <a:t>sched</a:t>
            </a:r>
            <a:r>
              <a:rPr sz="2700" spc="10" dirty="0">
                <a:latin typeface="Arial" panose="020B0604020202020204"/>
                <a:cs typeface="Arial" panose="020B0604020202020204"/>
              </a:rPr>
              <a:t>u</a:t>
            </a:r>
            <a:r>
              <a:rPr sz="2700" dirty="0">
                <a:latin typeface="Arial" panose="020B0604020202020204"/>
                <a:cs typeface="Arial" panose="020B0604020202020204"/>
              </a:rPr>
              <a:t>l</a:t>
            </a:r>
            <a:r>
              <a:rPr sz="2700" spc="5" dirty="0">
                <a:latin typeface="Arial" panose="020B0604020202020204"/>
                <a:cs typeface="Arial" panose="020B0604020202020204"/>
              </a:rPr>
              <a:t>e</a:t>
            </a:r>
            <a:r>
              <a:rPr sz="2700" spc="15" dirty="0">
                <a:latin typeface="Arial" panose="020B0604020202020204"/>
                <a:cs typeface="Arial" panose="020B0604020202020204"/>
              </a:rPr>
              <a:t>+</a:t>
            </a:r>
            <a:r>
              <a:rPr sz="2700" spc="10" dirty="0">
                <a:latin typeface="Arial" panose="020B0604020202020204"/>
                <a:cs typeface="Arial" panose="020B0604020202020204"/>
              </a:rPr>
              <a:t>sw</a:t>
            </a:r>
            <a:r>
              <a:rPr sz="2700" dirty="0">
                <a:latin typeface="Arial" panose="020B0604020202020204"/>
                <a:cs typeface="Arial" panose="020B0604020202020204"/>
              </a:rPr>
              <a:t>i</a:t>
            </a:r>
            <a:r>
              <a:rPr sz="2700" spc="5" dirty="0">
                <a:latin typeface="Arial" panose="020B0604020202020204"/>
                <a:cs typeface="Arial" panose="020B0604020202020204"/>
              </a:rPr>
              <a:t>t</a:t>
            </a:r>
            <a:r>
              <a:rPr sz="2700" spc="5" dirty="0">
                <a:latin typeface="Arial" panose="020B0604020202020204"/>
                <a:cs typeface="Arial" panose="020B0604020202020204"/>
              </a:rPr>
              <a:t>ch</a:t>
            </a:r>
            <a:r>
              <a:rPr sz="2700" spc="5" dirty="0">
                <a:latin typeface="Arial" panose="020B0604020202020204"/>
                <a:cs typeface="Arial" panose="020B0604020202020204"/>
              </a:rPr>
              <a:t>_</a:t>
            </a:r>
            <a:r>
              <a:rPr sz="2700" spc="5" dirty="0">
                <a:latin typeface="Arial" panose="020B0604020202020204"/>
                <a:cs typeface="Arial" panose="020B0604020202020204"/>
              </a:rPr>
              <a:t>t</a:t>
            </a:r>
            <a:r>
              <a:rPr sz="2700" spc="20" dirty="0">
                <a:latin typeface="Arial" panose="020B0604020202020204"/>
                <a:cs typeface="Arial" panose="020B0604020202020204"/>
              </a:rPr>
              <a:t>o</a:t>
            </a:r>
            <a:endParaRPr sz="2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25176" y="2343856"/>
            <a:ext cx="5908675" cy="0"/>
          </a:xfrm>
          <a:custGeom>
            <a:avLst/>
            <a:gdLst/>
            <a:ahLst/>
            <a:cxnLst/>
            <a:rect l="l" t="t" r="r" b="b"/>
            <a:pathLst>
              <a:path w="5908675">
                <a:moveTo>
                  <a:pt x="0" y="0"/>
                </a:moveTo>
                <a:lnTo>
                  <a:pt x="5908516" y="0"/>
                </a:lnTo>
              </a:path>
            </a:pathLst>
          </a:custGeom>
          <a:ln w="32455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25572" y="1890574"/>
            <a:ext cx="5487614" cy="442503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662897" y="4446912"/>
            <a:ext cx="890905" cy="588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515" algn="ctr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PCB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就绪队列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6707" y="4727028"/>
            <a:ext cx="1475000" cy="15885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56892" y="4995643"/>
            <a:ext cx="595630" cy="1278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04775" algn="just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eax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eb</a:t>
            </a:r>
            <a:r>
              <a:rPr sz="1700" b="1" dirty="0">
                <a:latin typeface="Arial" panose="020B0604020202020204"/>
                <a:cs typeface="Arial" panose="020B0604020202020204"/>
              </a:rPr>
              <a:t>x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esp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esp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latin typeface="Arial" panose="020B0604020202020204"/>
                <a:cs typeface="Arial" panose="020B0604020202020204"/>
              </a:rPr>
              <a:t>?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92441" y="5264854"/>
            <a:ext cx="1363980" cy="649605"/>
          </a:xfrm>
          <a:custGeom>
            <a:avLst/>
            <a:gdLst/>
            <a:ahLst/>
            <a:cxnLst/>
            <a:rect l="l" t="t" r="r" b="b"/>
            <a:pathLst>
              <a:path w="1363979" h="649604">
                <a:moveTo>
                  <a:pt x="0" y="0"/>
                </a:moveTo>
                <a:lnTo>
                  <a:pt x="1363503" y="0"/>
                </a:lnTo>
                <a:lnTo>
                  <a:pt x="1363503" y="649111"/>
                </a:lnTo>
                <a:lnTo>
                  <a:pt x="0" y="649111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537307" y="5344064"/>
            <a:ext cx="1073150" cy="512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1780" marR="5080" indent="-259715">
              <a:lnSpc>
                <a:spcPct val="101000"/>
              </a:lnSpc>
            </a:pP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PC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1650" b="1" spc="3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 的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ss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47288" y="6035558"/>
            <a:ext cx="934719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current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81979" y="5849010"/>
            <a:ext cx="203200" cy="259079"/>
          </a:xfrm>
          <a:custGeom>
            <a:avLst/>
            <a:gdLst/>
            <a:ahLst/>
            <a:cxnLst/>
            <a:rect l="l" t="t" r="r" b="b"/>
            <a:pathLst>
              <a:path w="203200" h="259079">
                <a:moveTo>
                  <a:pt x="63234" y="62257"/>
                </a:moveTo>
                <a:lnTo>
                  <a:pt x="32522" y="62257"/>
                </a:lnTo>
                <a:lnTo>
                  <a:pt x="183817" y="258993"/>
                </a:lnTo>
                <a:lnTo>
                  <a:pt x="203119" y="244157"/>
                </a:lnTo>
                <a:lnTo>
                  <a:pt x="63234" y="62257"/>
                </a:lnTo>
                <a:close/>
              </a:path>
              <a:path w="203200" h="259079">
                <a:moveTo>
                  <a:pt x="0" y="0"/>
                </a:moveTo>
                <a:lnTo>
                  <a:pt x="14246" y="111220"/>
                </a:lnTo>
                <a:lnTo>
                  <a:pt x="20345" y="115931"/>
                </a:lnTo>
                <a:lnTo>
                  <a:pt x="33684" y="114225"/>
                </a:lnTo>
                <a:lnTo>
                  <a:pt x="38397" y="108127"/>
                </a:lnTo>
                <a:lnTo>
                  <a:pt x="32522" y="62257"/>
                </a:lnTo>
                <a:lnTo>
                  <a:pt x="63234" y="62257"/>
                </a:lnTo>
                <a:lnTo>
                  <a:pt x="51824" y="47421"/>
                </a:lnTo>
                <a:lnTo>
                  <a:pt x="105986" y="47421"/>
                </a:lnTo>
                <a:lnTo>
                  <a:pt x="103851" y="42348"/>
                </a:lnTo>
                <a:lnTo>
                  <a:pt x="0" y="0"/>
                </a:lnTo>
                <a:close/>
              </a:path>
              <a:path w="203200" h="259079">
                <a:moveTo>
                  <a:pt x="105986" y="47421"/>
                </a:moveTo>
                <a:lnTo>
                  <a:pt x="51824" y="47421"/>
                </a:lnTo>
                <a:lnTo>
                  <a:pt x="94655" y="64886"/>
                </a:lnTo>
                <a:lnTo>
                  <a:pt x="101761" y="61899"/>
                </a:lnTo>
                <a:lnTo>
                  <a:pt x="106840" y="49451"/>
                </a:lnTo>
                <a:lnTo>
                  <a:pt x="105986" y="4742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002868" y="5589411"/>
            <a:ext cx="259715" cy="65405"/>
          </a:xfrm>
          <a:custGeom>
            <a:avLst/>
            <a:gdLst/>
            <a:ahLst/>
            <a:cxnLst/>
            <a:rect l="l" t="t" r="r" b="b"/>
            <a:pathLst>
              <a:path w="259714" h="65404">
                <a:moveTo>
                  <a:pt x="227251" y="0"/>
                </a:moveTo>
                <a:lnTo>
                  <a:pt x="227251" y="16228"/>
                </a:lnTo>
                <a:lnTo>
                  <a:pt x="0" y="16228"/>
                </a:lnTo>
                <a:lnTo>
                  <a:pt x="0" y="48684"/>
                </a:lnTo>
                <a:lnTo>
                  <a:pt x="227251" y="48684"/>
                </a:lnTo>
                <a:lnTo>
                  <a:pt x="227251" y="64910"/>
                </a:lnTo>
                <a:lnTo>
                  <a:pt x="259715" y="32456"/>
                </a:lnTo>
                <a:lnTo>
                  <a:pt x="22725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718219" y="2734116"/>
            <a:ext cx="2691130" cy="909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23060" marR="502285" indent="-233045">
              <a:lnSpc>
                <a:spcPts val="1710"/>
              </a:lnSpc>
            </a:pPr>
            <a:r>
              <a:rPr sz="1500" b="1" spc="15" dirty="0">
                <a:latin typeface="Arial" panose="020B0604020202020204"/>
                <a:cs typeface="Arial" panose="020B0604020202020204"/>
              </a:rPr>
              <a:t>EFL</a:t>
            </a:r>
            <a:r>
              <a:rPr sz="15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1500" b="1" spc="15" dirty="0">
                <a:latin typeface="Arial" panose="020B0604020202020204"/>
                <a:cs typeface="Arial" panose="020B0604020202020204"/>
              </a:rPr>
              <a:t>GS</a:t>
            </a:r>
            <a:r>
              <a:rPr sz="1500" b="1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300</a:t>
            </a:r>
            <a:endParaRPr sz="15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550" b="1" baseline="18000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2475" b="1" spc="60" baseline="19000" dirty="0">
                <a:latin typeface="宋体" panose="02010600030101010101" pitchFamily="2" charset="-122"/>
                <a:cs typeface="宋体" panose="02010600030101010101" pitchFamily="2" charset="-122"/>
              </a:rPr>
              <a:t>内核栈</a:t>
            </a:r>
            <a:r>
              <a:rPr sz="2475" b="1" spc="-44" baseline="19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cal</a:t>
            </a:r>
            <a:r>
              <a:rPr sz="1500" b="1" spc="5" dirty="0">
                <a:latin typeface="Arial" panose="020B0604020202020204"/>
                <a:cs typeface="Arial" panose="020B0604020202020204"/>
              </a:rPr>
              <a:t>l</a:t>
            </a:r>
            <a:r>
              <a:rPr sz="15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spc="20" dirty="0">
                <a:latin typeface="Arial" panose="020B0604020202020204"/>
                <a:cs typeface="Arial" panose="020B0604020202020204"/>
              </a:rPr>
              <a:t>do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_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imer</a:t>
            </a:r>
            <a:r>
              <a:rPr sz="1500" b="1" spc="25" dirty="0">
                <a:latin typeface="宋体" panose="02010600030101010101" pitchFamily="2" charset="-122"/>
                <a:cs typeface="宋体" panose="02010600030101010101" pitchFamily="2" charset="-122"/>
              </a:rPr>
              <a:t>压的栈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32880" y="1718222"/>
            <a:ext cx="920750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1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</a:t>
            </a: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的用户栈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65333" y="2748345"/>
            <a:ext cx="815340" cy="443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5110" marR="5080" indent="-233045">
              <a:lnSpc>
                <a:spcPts val="1750"/>
              </a:lnSpc>
            </a:pPr>
            <a:r>
              <a:rPr sz="1500" b="1" spc="15" dirty="0">
                <a:latin typeface="Arial" panose="020B0604020202020204"/>
                <a:cs typeface="Arial" panose="020B0604020202020204"/>
              </a:rPr>
              <a:t>EFL</a:t>
            </a:r>
            <a:r>
              <a:rPr sz="15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1500" b="1" spc="15" dirty="0">
                <a:latin typeface="Arial" panose="020B0604020202020204"/>
                <a:cs typeface="Arial" panose="020B0604020202020204"/>
              </a:rPr>
              <a:t>GS</a:t>
            </a:r>
            <a:r>
              <a:rPr sz="1500" b="1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200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67681" y="3447224"/>
            <a:ext cx="181102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10" dirty="0">
                <a:latin typeface="Arial" panose="020B0604020202020204"/>
                <a:cs typeface="Arial" panose="020B0604020202020204"/>
              </a:rPr>
              <a:t>cal</a:t>
            </a:r>
            <a:r>
              <a:rPr sz="1500" b="1" spc="5" dirty="0">
                <a:latin typeface="Arial" panose="020B0604020202020204"/>
                <a:cs typeface="Arial" panose="020B0604020202020204"/>
              </a:rPr>
              <a:t>l</a:t>
            </a:r>
            <a:r>
              <a:rPr sz="15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spc="20" dirty="0">
                <a:latin typeface="Arial" panose="020B0604020202020204"/>
                <a:cs typeface="Arial" panose="020B0604020202020204"/>
              </a:rPr>
              <a:t>do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_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imer</a:t>
            </a:r>
            <a:r>
              <a:rPr sz="1500" b="1" spc="25" dirty="0">
                <a:latin typeface="宋体" panose="02010600030101010101" pitchFamily="2" charset="-122"/>
                <a:cs typeface="宋体" panose="02010600030101010101" pitchFamily="2" charset="-122"/>
              </a:rPr>
              <a:t>压的栈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02868" y="5589411"/>
            <a:ext cx="259715" cy="65405"/>
          </a:xfrm>
          <a:custGeom>
            <a:avLst/>
            <a:gdLst/>
            <a:ahLst/>
            <a:cxnLst/>
            <a:rect l="l" t="t" r="r" b="b"/>
            <a:pathLst>
              <a:path w="259714" h="65404">
                <a:moveTo>
                  <a:pt x="0" y="16227"/>
                </a:moveTo>
                <a:lnTo>
                  <a:pt x="227250" y="16227"/>
                </a:lnTo>
                <a:lnTo>
                  <a:pt x="227250" y="0"/>
                </a:lnTo>
                <a:lnTo>
                  <a:pt x="259715" y="32455"/>
                </a:lnTo>
                <a:lnTo>
                  <a:pt x="227250" y="64911"/>
                </a:lnTo>
                <a:lnTo>
                  <a:pt x="227250" y="48683"/>
                </a:lnTo>
                <a:lnTo>
                  <a:pt x="0" y="48683"/>
                </a:lnTo>
                <a:lnTo>
                  <a:pt x="0" y="16227"/>
                </a:lnTo>
                <a:close/>
              </a:path>
            </a:pathLst>
          </a:custGeom>
          <a:ln w="2163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931193" y="4995643"/>
            <a:ext cx="656590" cy="1278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eax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eb</a:t>
            </a:r>
            <a:r>
              <a:rPr sz="1700" b="1" dirty="0">
                <a:latin typeface="Arial" panose="020B0604020202020204"/>
                <a:cs typeface="Arial" panose="020B0604020202020204"/>
              </a:rPr>
              <a:t>x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esp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esp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20" name="object 20"/>
          <p:cNvSpPr txBox="1"/>
          <p:nvPr/>
        </p:nvSpPr>
        <p:spPr>
          <a:xfrm>
            <a:off x="4197048" y="5344064"/>
            <a:ext cx="1150620" cy="916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1780" marR="81915" indent="-259715">
              <a:lnSpc>
                <a:spcPct val="101000"/>
              </a:lnSpc>
            </a:pP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PC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1650" b="1" spc="3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 的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ss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617855">
              <a:lnSpc>
                <a:spcPct val="100000"/>
              </a:lnSpc>
              <a:spcBef>
                <a:spcPts val="1015"/>
              </a:spcBef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next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49383" y="3342371"/>
            <a:ext cx="803910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B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内核栈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87259" y="4461783"/>
            <a:ext cx="761365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B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PCB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62353" y="4543007"/>
            <a:ext cx="54483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next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64046" y="1733092"/>
            <a:ext cx="920750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1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B</a:t>
            </a: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的用户栈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91389" y="4478114"/>
            <a:ext cx="934719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current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4605">
              <a:lnSpc>
                <a:spcPct val="100000"/>
              </a:lnSpc>
            </a:pPr>
            <a:r>
              <a:rPr sz="2950" spc="100" dirty="0"/>
              <a:t>接下来会怎么样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?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54899" y="2668428"/>
            <a:ext cx="93345" cy="259715"/>
          </a:xfrm>
          <a:custGeom>
            <a:avLst/>
            <a:gdLst/>
            <a:ahLst/>
            <a:cxnLst/>
            <a:rect l="l" t="t" r="r" b="b"/>
            <a:pathLst>
              <a:path w="93345" h="259714">
                <a:moveTo>
                  <a:pt x="46417" y="259626"/>
                </a:moveTo>
                <a:lnTo>
                  <a:pt x="15405" y="227048"/>
                </a:lnTo>
                <a:lnTo>
                  <a:pt x="3688" y="182893"/>
                </a:lnTo>
                <a:lnTo>
                  <a:pt x="0" y="146673"/>
                </a:lnTo>
                <a:lnTo>
                  <a:pt x="328" y="125411"/>
                </a:lnTo>
                <a:lnTo>
                  <a:pt x="3375" y="86981"/>
                </a:lnTo>
                <a:lnTo>
                  <a:pt x="13089" y="40964"/>
                </a:lnTo>
                <a:lnTo>
                  <a:pt x="33321" y="5221"/>
                </a:lnTo>
                <a:lnTo>
                  <a:pt x="45562" y="0"/>
                </a:lnTo>
                <a:lnTo>
                  <a:pt x="52761" y="1430"/>
                </a:lnTo>
                <a:lnTo>
                  <a:pt x="77237" y="32423"/>
                </a:lnTo>
                <a:lnTo>
                  <a:pt x="89080" y="76407"/>
                </a:lnTo>
                <a:lnTo>
                  <a:pt x="92813" y="112500"/>
                </a:lnTo>
                <a:lnTo>
                  <a:pt x="92491" y="133805"/>
                </a:lnTo>
                <a:lnTo>
                  <a:pt x="89467" y="172296"/>
                </a:lnTo>
                <a:lnTo>
                  <a:pt x="79808" y="218377"/>
                </a:lnTo>
                <a:lnTo>
                  <a:pt x="59670" y="254250"/>
                </a:lnTo>
                <a:lnTo>
                  <a:pt x="46417" y="259626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07292" y="2668410"/>
            <a:ext cx="3394075" cy="259715"/>
          </a:xfrm>
          <a:custGeom>
            <a:avLst/>
            <a:gdLst/>
            <a:ahLst/>
            <a:cxnLst/>
            <a:rect l="l" t="t" r="r" b="b"/>
            <a:pathLst>
              <a:path w="3394075" h="259714">
                <a:moveTo>
                  <a:pt x="3394023" y="259644"/>
                </a:moveTo>
                <a:lnTo>
                  <a:pt x="46417" y="259644"/>
                </a:lnTo>
                <a:lnTo>
                  <a:pt x="39417" y="258202"/>
                </a:lnTo>
                <a:lnTo>
                  <a:pt x="15405" y="227066"/>
                </a:lnTo>
                <a:lnTo>
                  <a:pt x="3688" y="182910"/>
                </a:lnTo>
                <a:lnTo>
                  <a:pt x="0" y="146691"/>
                </a:lnTo>
                <a:lnTo>
                  <a:pt x="328" y="125429"/>
                </a:lnTo>
                <a:lnTo>
                  <a:pt x="3375" y="86998"/>
                </a:lnTo>
                <a:lnTo>
                  <a:pt x="13089" y="40982"/>
                </a:lnTo>
                <a:lnTo>
                  <a:pt x="33321" y="5239"/>
                </a:lnTo>
                <a:lnTo>
                  <a:pt x="45562" y="17"/>
                </a:lnTo>
                <a:lnTo>
                  <a:pt x="3394023" y="0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59175" y="1830398"/>
            <a:ext cx="743685" cy="84207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03729" y="2007125"/>
            <a:ext cx="2438887" cy="6653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775904" y="2154868"/>
            <a:ext cx="969644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=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5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1972" y="4356100"/>
            <a:ext cx="4090670" cy="1582420"/>
          </a:xfrm>
          <a:prstGeom prst="rect">
            <a:avLst/>
          </a:prstGeom>
          <a:ln w="10818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112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voi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d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_timer_interrupt: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433705">
              <a:lnSpc>
                <a:spcPct val="100000"/>
              </a:lnSpc>
              <a:spcBef>
                <a:spcPts val="250"/>
              </a:spcBef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433705">
              <a:lnSpc>
                <a:spcPct val="100000"/>
              </a:lnSpc>
              <a:spcBef>
                <a:spcPts val="285"/>
              </a:spcBef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cal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l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do_timer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433705">
              <a:lnSpc>
                <a:spcPct val="100000"/>
              </a:lnSpc>
              <a:spcBef>
                <a:spcPts val="285"/>
              </a:spcBef>
            </a:pP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1972" y="2992967"/>
            <a:ext cx="4090670" cy="1233805"/>
          </a:xfrm>
          <a:prstGeom prst="rect">
            <a:avLst/>
          </a:prstGeom>
          <a:ln w="10818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1120">
              <a:lnSpc>
                <a:spcPct val="100000"/>
              </a:lnSpc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voi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d</a:t>
            </a:r>
            <a:r>
              <a:rPr sz="2400" b="1" spc="-3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do_timer(...)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71120">
              <a:lnSpc>
                <a:spcPct val="100000"/>
              </a:lnSpc>
              <a:spcBef>
                <a:spcPts val="250"/>
              </a:spcBef>
              <a:tabLst>
                <a:tab pos="614680" algn="l"/>
              </a:tabLst>
            </a:pP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{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	</a:t>
            </a: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615315">
              <a:lnSpc>
                <a:spcPct val="100000"/>
              </a:lnSpc>
              <a:spcBef>
                <a:spcPts val="285"/>
              </a:spcBef>
            </a:pPr>
            <a:r>
              <a:rPr sz="2400" b="1" spc="-1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schedule()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;</a:t>
            </a:r>
            <a:r>
              <a:rPr sz="2400" b="1" spc="-2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18086" y="4466614"/>
            <a:ext cx="1869439" cy="942975"/>
          </a:xfrm>
          <a:custGeom>
            <a:avLst/>
            <a:gdLst/>
            <a:ahLst/>
            <a:cxnLst/>
            <a:rect l="l" t="t" r="r" b="b"/>
            <a:pathLst>
              <a:path w="1869440" h="942975">
                <a:moveTo>
                  <a:pt x="0" y="0"/>
                </a:moveTo>
                <a:lnTo>
                  <a:pt x="1869030" y="0"/>
                </a:lnTo>
                <a:lnTo>
                  <a:pt x="1869030" y="942939"/>
                </a:lnTo>
                <a:lnTo>
                  <a:pt x="0" y="942939"/>
                </a:lnTo>
                <a:lnTo>
                  <a:pt x="0" y="0"/>
                </a:lnTo>
                <a:close/>
              </a:path>
            </a:pathLst>
          </a:custGeom>
          <a:ln w="243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217884" y="2436910"/>
            <a:ext cx="1871345" cy="260350"/>
          </a:xfrm>
          <a:custGeom>
            <a:avLst/>
            <a:gdLst/>
            <a:ahLst/>
            <a:cxnLst/>
            <a:rect l="l" t="t" r="r" b="b"/>
            <a:pathLst>
              <a:path w="1871345" h="260350">
                <a:moveTo>
                  <a:pt x="0" y="0"/>
                </a:moveTo>
                <a:lnTo>
                  <a:pt x="1870796" y="0"/>
                </a:lnTo>
                <a:lnTo>
                  <a:pt x="1870796" y="260022"/>
                </a:lnTo>
                <a:lnTo>
                  <a:pt x="0" y="260022"/>
                </a:lnTo>
                <a:lnTo>
                  <a:pt x="0" y="0"/>
                </a:lnTo>
                <a:close/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811979" y="2252240"/>
            <a:ext cx="920750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1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</a:t>
            </a:r>
            <a:r>
              <a:rPr sz="1500" b="1" spc="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的用户栈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17884" y="3000767"/>
            <a:ext cx="1871345" cy="260985"/>
          </a:xfrm>
          <a:custGeom>
            <a:avLst/>
            <a:gdLst/>
            <a:ahLst/>
            <a:cxnLst/>
            <a:rect l="l" t="t" r="r" b="b"/>
            <a:pathLst>
              <a:path w="1871345" h="260985">
                <a:moveTo>
                  <a:pt x="0" y="260977"/>
                </a:moveTo>
                <a:lnTo>
                  <a:pt x="1870796" y="260977"/>
                </a:lnTo>
                <a:lnTo>
                  <a:pt x="1870796" y="0"/>
                </a:lnTo>
                <a:lnTo>
                  <a:pt x="0" y="0"/>
                </a:lnTo>
                <a:lnTo>
                  <a:pt x="0" y="2609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217884" y="3720832"/>
            <a:ext cx="1871345" cy="247650"/>
          </a:xfrm>
          <a:custGeom>
            <a:avLst/>
            <a:gdLst/>
            <a:ahLst/>
            <a:cxnLst/>
            <a:rect l="l" t="t" r="r" b="b"/>
            <a:pathLst>
              <a:path w="1871345" h="247650">
                <a:moveTo>
                  <a:pt x="0" y="247642"/>
                </a:moveTo>
                <a:lnTo>
                  <a:pt x="1870796" y="247642"/>
                </a:lnTo>
                <a:lnTo>
                  <a:pt x="1870796" y="0"/>
                </a:lnTo>
                <a:lnTo>
                  <a:pt x="0" y="0"/>
                </a:lnTo>
                <a:lnTo>
                  <a:pt x="0" y="2476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217884" y="4204685"/>
            <a:ext cx="1871345" cy="262255"/>
          </a:xfrm>
          <a:custGeom>
            <a:avLst/>
            <a:gdLst/>
            <a:ahLst/>
            <a:cxnLst/>
            <a:rect l="l" t="t" r="r" b="b"/>
            <a:pathLst>
              <a:path w="1871345" h="262254">
                <a:moveTo>
                  <a:pt x="0" y="261928"/>
                </a:moveTo>
                <a:lnTo>
                  <a:pt x="1870796" y="261928"/>
                </a:lnTo>
                <a:lnTo>
                  <a:pt x="1870796" y="0"/>
                </a:lnTo>
                <a:lnTo>
                  <a:pt x="0" y="0"/>
                </a:lnTo>
                <a:lnTo>
                  <a:pt x="0" y="2619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217884" y="3000767"/>
            <a:ext cx="1871345" cy="1466215"/>
          </a:xfrm>
          <a:custGeom>
            <a:avLst/>
            <a:gdLst/>
            <a:ahLst/>
            <a:cxnLst/>
            <a:rect l="l" t="t" r="r" b="b"/>
            <a:pathLst>
              <a:path w="1871345" h="1466214">
                <a:moveTo>
                  <a:pt x="0" y="0"/>
                </a:moveTo>
                <a:lnTo>
                  <a:pt x="1870796" y="0"/>
                </a:lnTo>
                <a:lnTo>
                  <a:pt x="1870796" y="1465846"/>
                </a:lnTo>
                <a:lnTo>
                  <a:pt x="0" y="1465846"/>
                </a:lnTo>
                <a:lnTo>
                  <a:pt x="0" y="0"/>
                </a:lnTo>
                <a:close/>
              </a:path>
            </a:pathLst>
          </a:custGeom>
          <a:ln w="243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075427" y="4466990"/>
            <a:ext cx="165735" cy="942340"/>
          </a:xfrm>
          <a:custGeom>
            <a:avLst/>
            <a:gdLst/>
            <a:ahLst/>
            <a:cxnLst/>
            <a:rect l="l" t="t" r="r" b="b"/>
            <a:pathLst>
              <a:path w="165734" h="942339">
                <a:moveTo>
                  <a:pt x="0" y="0"/>
                </a:moveTo>
                <a:lnTo>
                  <a:pt x="44863" y="17334"/>
                </a:lnTo>
                <a:lnTo>
                  <a:pt x="69958" y="49257"/>
                </a:lnTo>
                <a:lnTo>
                  <a:pt x="84336" y="92708"/>
                </a:lnTo>
                <a:lnTo>
                  <a:pt x="86571" y="351386"/>
                </a:lnTo>
                <a:lnTo>
                  <a:pt x="87410" y="368142"/>
                </a:lnTo>
                <a:lnTo>
                  <a:pt x="99088" y="413519"/>
                </a:lnTo>
                <a:lnTo>
                  <a:pt x="122138" y="448274"/>
                </a:lnTo>
                <a:lnTo>
                  <a:pt x="165293" y="470795"/>
                </a:lnTo>
                <a:lnTo>
                  <a:pt x="154762" y="472140"/>
                </a:lnTo>
                <a:lnTo>
                  <a:pt x="116301" y="499043"/>
                </a:lnTo>
                <a:lnTo>
                  <a:pt x="95646" y="537118"/>
                </a:lnTo>
                <a:lnTo>
                  <a:pt x="86666" y="585496"/>
                </a:lnTo>
                <a:lnTo>
                  <a:pt x="86571" y="822668"/>
                </a:lnTo>
                <a:lnTo>
                  <a:pt x="85732" y="839424"/>
                </a:lnTo>
                <a:lnTo>
                  <a:pt x="74054" y="884800"/>
                </a:lnTo>
                <a:lnTo>
                  <a:pt x="51004" y="919555"/>
                </a:lnTo>
                <a:lnTo>
                  <a:pt x="19630" y="939468"/>
                </a:lnTo>
                <a:lnTo>
                  <a:pt x="7849" y="942077"/>
                </a:lnTo>
              </a:path>
            </a:pathLst>
          </a:custGeom>
          <a:ln w="24348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061900" y="2987556"/>
            <a:ext cx="238125" cy="1479550"/>
          </a:xfrm>
          <a:custGeom>
            <a:avLst/>
            <a:gdLst/>
            <a:ahLst/>
            <a:cxnLst/>
            <a:rect l="l" t="t" r="r" b="b"/>
            <a:pathLst>
              <a:path w="238125" h="1479550">
                <a:moveTo>
                  <a:pt x="0" y="0"/>
                </a:moveTo>
                <a:lnTo>
                  <a:pt x="46317" y="12868"/>
                </a:lnTo>
                <a:lnTo>
                  <a:pt x="75743" y="37408"/>
                </a:lnTo>
                <a:lnTo>
                  <a:pt x="98845" y="72256"/>
                </a:lnTo>
                <a:lnTo>
                  <a:pt x="114030" y="115206"/>
                </a:lnTo>
                <a:lnTo>
                  <a:pt x="119705" y="164050"/>
                </a:lnTo>
                <a:lnTo>
                  <a:pt x="119712" y="558461"/>
                </a:lnTo>
                <a:lnTo>
                  <a:pt x="120322" y="575308"/>
                </a:lnTo>
                <a:lnTo>
                  <a:pt x="129002" y="622625"/>
                </a:lnTo>
                <a:lnTo>
                  <a:pt x="146716" y="663389"/>
                </a:lnTo>
                <a:lnTo>
                  <a:pt x="171871" y="695392"/>
                </a:lnTo>
                <a:lnTo>
                  <a:pt x="214234" y="720622"/>
                </a:lnTo>
                <a:lnTo>
                  <a:pt x="238134" y="724291"/>
                </a:lnTo>
                <a:lnTo>
                  <a:pt x="226155" y="725144"/>
                </a:lnTo>
                <a:lnTo>
                  <a:pt x="182088" y="744203"/>
                </a:lnTo>
                <a:lnTo>
                  <a:pt x="154800" y="772613"/>
                </a:lnTo>
                <a:lnTo>
                  <a:pt x="134297" y="810643"/>
                </a:lnTo>
                <a:lnTo>
                  <a:pt x="122239" y="856063"/>
                </a:lnTo>
                <a:lnTo>
                  <a:pt x="119712" y="1313593"/>
                </a:lnTo>
                <a:lnTo>
                  <a:pt x="119102" y="1330440"/>
                </a:lnTo>
                <a:lnTo>
                  <a:pt x="110423" y="1377757"/>
                </a:lnTo>
                <a:lnTo>
                  <a:pt x="92709" y="1418520"/>
                </a:lnTo>
                <a:lnTo>
                  <a:pt x="67553" y="1450524"/>
                </a:lnTo>
                <a:lnTo>
                  <a:pt x="25191" y="1475754"/>
                </a:lnTo>
                <a:lnTo>
                  <a:pt x="13418" y="1478402"/>
                </a:lnTo>
                <a:lnTo>
                  <a:pt x="1291" y="1479422"/>
                </a:lnTo>
              </a:path>
            </a:pathLst>
          </a:custGeom>
          <a:ln w="24348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290634" y="2574462"/>
            <a:ext cx="465455" cy="594360"/>
          </a:xfrm>
          <a:custGeom>
            <a:avLst/>
            <a:gdLst/>
            <a:ahLst/>
            <a:cxnLst/>
            <a:rect l="l" t="t" r="r" b="b"/>
            <a:pathLst>
              <a:path w="465454" h="594360">
                <a:moveTo>
                  <a:pt x="228272" y="0"/>
                </a:moveTo>
                <a:lnTo>
                  <a:pt x="237481" y="22603"/>
                </a:lnTo>
                <a:lnTo>
                  <a:pt x="216298" y="31358"/>
                </a:lnTo>
                <a:lnTo>
                  <a:pt x="174011" y="50267"/>
                </a:lnTo>
                <a:lnTo>
                  <a:pt x="134468" y="69982"/>
                </a:lnTo>
                <a:lnTo>
                  <a:pt x="98559" y="90807"/>
                </a:lnTo>
                <a:lnTo>
                  <a:pt x="67193" y="113084"/>
                </a:lnTo>
                <a:lnTo>
                  <a:pt x="30295" y="150628"/>
                </a:lnTo>
                <a:lnTo>
                  <a:pt x="8850" y="193657"/>
                </a:lnTo>
                <a:lnTo>
                  <a:pt x="0" y="260590"/>
                </a:lnTo>
                <a:lnTo>
                  <a:pt x="66" y="262472"/>
                </a:lnTo>
                <a:lnTo>
                  <a:pt x="13036" y="330810"/>
                </a:lnTo>
                <a:lnTo>
                  <a:pt x="28516" y="366478"/>
                </a:lnTo>
                <a:lnTo>
                  <a:pt x="73127" y="425927"/>
                </a:lnTo>
                <a:lnTo>
                  <a:pt x="105470" y="452395"/>
                </a:lnTo>
                <a:lnTo>
                  <a:pt x="143924" y="476289"/>
                </a:lnTo>
                <a:lnTo>
                  <a:pt x="187651" y="498321"/>
                </a:lnTo>
                <a:lnTo>
                  <a:pt x="236204" y="519101"/>
                </a:lnTo>
                <a:lnTo>
                  <a:pt x="288410" y="538792"/>
                </a:lnTo>
                <a:lnTo>
                  <a:pt x="343350" y="557684"/>
                </a:lnTo>
                <a:lnTo>
                  <a:pt x="457681" y="594125"/>
                </a:lnTo>
                <a:lnTo>
                  <a:pt x="464974" y="570900"/>
                </a:lnTo>
                <a:lnTo>
                  <a:pt x="351163" y="534630"/>
                </a:lnTo>
                <a:lnTo>
                  <a:pt x="296833" y="515952"/>
                </a:lnTo>
                <a:lnTo>
                  <a:pt x="245534" y="496615"/>
                </a:lnTo>
                <a:lnTo>
                  <a:pt x="198259" y="476408"/>
                </a:lnTo>
                <a:lnTo>
                  <a:pt x="155888" y="455086"/>
                </a:lnTo>
                <a:lnTo>
                  <a:pt x="119809" y="432718"/>
                </a:lnTo>
                <a:lnTo>
                  <a:pt x="67744" y="383058"/>
                </a:lnTo>
                <a:lnTo>
                  <a:pt x="36328" y="323660"/>
                </a:lnTo>
                <a:lnTo>
                  <a:pt x="24367" y="260685"/>
                </a:lnTo>
                <a:lnTo>
                  <a:pt x="25664" y="230338"/>
                </a:lnTo>
                <a:lnTo>
                  <a:pt x="42522" y="176594"/>
                </a:lnTo>
                <a:lnTo>
                  <a:pt x="69499" y="143231"/>
                </a:lnTo>
                <a:lnTo>
                  <a:pt x="111277" y="111572"/>
                </a:lnTo>
                <a:lnTo>
                  <a:pt x="145685" y="91591"/>
                </a:lnTo>
                <a:lnTo>
                  <a:pt x="184189" y="72382"/>
                </a:lnTo>
                <a:lnTo>
                  <a:pt x="225764" y="53787"/>
                </a:lnTo>
                <a:lnTo>
                  <a:pt x="246665" y="45147"/>
                </a:lnTo>
                <a:lnTo>
                  <a:pt x="275566" y="45147"/>
                </a:lnTo>
                <a:lnTo>
                  <a:pt x="309698" y="6269"/>
                </a:lnTo>
                <a:lnTo>
                  <a:pt x="228272" y="0"/>
                </a:lnTo>
                <a:close/>
              </a:path>
              <a:path w="465454" h="594360">
                <a:moveTo>
                  <a:pt x="275566" y="45147"/>
                </a:moveTo>
                <a:lnTo>
                  <a:pt x="246665" y="45147"/>
                </a:lnTo>
                <a:lnTo>
                  <a:pt x="255826" y="67631"/>
                </a:lnTo>
                <a:lnTo>
                  <a:pt x="275566" y="451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216842" y="3261745"/>
            <a:ext cx="1871345" cy="236220"/>
          </a:xfrm>
          <a:custGeom>
            <a:avLst/>
            <a:gdLst/>
            <a:ahLst/>
            <a:cxnLst/>
            <a:rect l="l" t="t" r="r" b="b"/>
            <a:pathLst>
              <a:path w="1871345" h="236220">
                <a:moveTo>
                  <a:pt x="0" y="236210"/>
                </a:moveTo>
                <a:lnTo>
                  <a:pt x="1870796" y="236210"/>
                </a:lnTo>
                <a:lnTo>
                  <a:pt x="1870796" y="0"/>
                </a:lnTo>
                <a:lnTo>
                  <a:pt x="0" y="0"/>
                </a:lnTo>
                <a:lnTo>
                  <a:pt x="0" y="2362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216842" y="3261744"/>
            <a:ext cx="1871345" cy="236220"/>
          </a:xfrm>
          <a:custGeom>
            <a:avLst/>
            <a:gdLst/>
            <a:ahLst/>
            <a:cxnLst/>
            <a:rect l="l" t="t" r="r" b="b"/>
            <a:pathLst>
              <a:path w="1871345" h="236220">
                <a:moveTo>
                  <a:pt x="0" y="0"/>
                </a:moveTo>
                <a:lnTo>
                  <a:pt x="1870796" y="0"/>
                </a:lnTo>
                <a:lnTo>
                  <a:pt x="1870796" y="236210"/>
                </a:lnTo>
                <a:lnTo>
                  <a:pt x="0" y="236210"/>
                </a:lnTo>
                <a:lnTo>
                  <a:pt x="0" y="0"/>
                </a:lnTo>
                <a:close/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744432" y="3282365"/>
            <a:ext cx="815340" cy="220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15" dirty="0">
                <a:latin typeface="Arial" panose="020B0604020202020204"/>
                <a:cs typeface="Arial" panose="020B0604020202020204"/>
              </a:rPr>
              <a:t>EFL</a:t>
            </a:r>
            <a:r>
              <a:rPr sz="15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1500" b="1" spc="15" dirty="0">
                <a:latin typeface="Arial" panose="020B0604020202020204"/>
                <a:cs typeface="Arial" panose="020B0604020202020204"/>
              </a:rPr>
              <a:t>GS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216842" y="3484621"/>
            <a:ext cx="1871345" cy="236220"/>
          </a:xfrm>
          <a:custGeom>
            <a:avLst/>
            <a:gdLst/>
            <a:ahLst/>
            <a:cxnLst/>
            <a:rect l="l" t="t" r="r" b="b"/>
            <a:pathLst>
              <a:path w="1871345" h="236220">
                <a:moveTo>
                  <a:pt x="0" y="236210"/>
                </a:moveTo>
                <a:lnTo>
                  <a:pt x="1870796" y="236210"/>
                </a:lnTo>
                <a:lnTo>
                  <a:pt x="1870796" y="0"/>
                </a:lnTo>
                <a:lnTo>
                  <a:pt x="0" y="0"/>
                </a:lnTo>
                <a:lnTo>
                  <a:pt x="0" y="2362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216842" y="3484621"/>
            <a:ext cx="1871345" cy="236220"/>
          </a:xfrm>
          <a:custGeom>
            <a:avLst/>
            <a:gdLst/>
            <a:ahLst/>
            <a:cxnLst/>
            <a:rect l="l" t="t" r="r" b="b"/>
            <a:pathLst>
              <a:path w="1871345" h="236220">
                <a:moveTo>
                  <a:pt x="0" y="0"/>
                </a:moveTo>
                <a:lnTo>
                  <a:pt x="1870796" y="0"/>
                </a:lnTo>
                <a:lnTo>
                  <a:pt x="1870796" y="236210"/>
                </a:lnTo>
                <a:lnTo>
                  <a:pt x="0" y="236210"/>
                </a:lnTo>
                <a:lnTo>
                  <a:pt x="0" y="0"/>
                </a:lnTo>
                <a:close/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977030" y="3505181"/>
            <a:ext cx="350520" cy="220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10" dirty="0">
                <a:latin typeface="Arial" panose="020B0604020202020204"/>
                <a:cs typeface="Arial" panose="020B0604020202020204"/>
              </a:rPr>
              <a:t>200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216842" y="3968474"/>
            <a:ext cx="1871345" cy="236220"/>
          </a:xfrm>
          <a:custGeom>
            <a:avLst/>
            <a:gdLst/>
            <a:ahLst/>
            <a:cxnLst/>
            <a:rect l="l" t="t" r="r" b="b"/>
            <a:pathLst>
              <a:path w="1871345" h="236220">
                <a:moveTo>
                  <a:pt x="0" y="236210"/>
                </a:moveTo>
                <a:lnTo>
                  <a:pt x="1870796" y="236210"/>
                </a:lnTo>
                <a:lnTo>
                  <a:pt x="1870796" y="0"/>
                </a:lnTo>
                <a:lnTo>
                  <a:pt x="0" y="0"/>
                </a:lnTo>
                <a:lnTo>
                  <a:pt x="0" y="2362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216842" y="3968475"/>
            <a:ext cx="1871345" cy="236220"/>
          </a:xfrm>
          <a:custGeom>
            <a:avLst/>
            <a:gdLst/>
            <a:ahLst/>
            <a:cxnLst/>
            <a:rect l="l" t="t" r="r" b="b"/>
            <a:pathLst>
              <a:path w="1871345" h="236220">
                <a:moveTo>
                  <a:pt x="0" y="0"/>
                </a:moveTo>
                <a:lnTo>
                  <a:pt x="1870796" y="0"/>
                </a:lnTo>
                <a:lnTo>
                  <a:pt x="1870796" y="236210"/>
                </a:lnTo>
                <a:lnTo>
                  <a:pt x="0" y="236210"/>
                </a:lnTo>
                <a:lnTo>
                  <a:pt x="0" y="0"/>
                </a:lnTo>
                <a:close/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246780" y="3981242"/>
            <a:ext cx="181102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10" dirty="0">
                <a:latin typeface="Arial" panose="020B0604020202020204"/>
                <a:cs typeface="Arial" panose="020B0604020202020204"/>
              </a:rPr>
              <a:t>cal</a:t>
            </a:r>
            <a:r>
              <a:rPr sz="1500" b="1" spc="5" dirty="0">
                <a:latin typeface="Arial" panose="020B0604020202020204"/>
                <a:cs typeface="Arial" panose="020B0604020202020204"/>
              </a:rPr>
              <a:t>l</a:t>
            </a:r>
            <a:r>
              <a:rPr sz="15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spc="20" dirty="0">
                <a:latin typeface="Arial" panose="020B0604020202020204"/>
                <a:cs typeface="Arial" panose="020B0604020202020204"/>
              </a:rPr>
              <a:t>do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_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imer</a:t>
            </a:r>
            <a:r>
              <a:rPr sz="1500" b="1" spc="25" dirty="0">
                <a:latin typeface="宋体" panose="02010600030101010101" pitchFamily="2" charset="-122"/>
                <a:cs typeface="宋体" panose="02010600030101010101" pitchFamily="2" charset="-122"/>
              </a:rPr>
              <a:t>压的栈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022056" y="2863143"/>
            <a:ext cx="2597150" cy="0"/>
          </a:xfrm>
          <a:custGeom>
            <a:avLst/>
            <a:gdLst/>
            <a:ahLst/>
            <a:cxnLst/>
            <a:rect l="l" t="t" r="r" b="b"/>
            <a:pathLst>
              <a:path w="2597150">
                <a:moveTo>
                  <a:pt x="0" y="0"/>
                </a:moveTo>
                <a:lnTo>
                  <a:pt x="2597150" y="0"/>
                </a:lnTo>
              </a:path>
            </a:pathLst>
          </a:custGeom>
          <a:ln w="32455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UNIT_TABLE_BEAUTIFY" val="smartTable{3cb7895a-ce5b-4032-86c8-91495ddb8026}"/>
</p:tagLst>
</file>

<file path=ppt/tags/tag3.xml><?xml version="1.0" encoding="utf-8"?>
<p:tagLst xmlns:p="http://schemas.openxmlformats.org/presentationml/2006/main">
  <p:tag name="KSO_WM_UNIT_TABLE_BEAUTIFY" val="smartTable{b505e0b3-aa3f-42e7-8aeb-e65023a53882}"/>
</p:tagLst>
</file>

<file path=ppt/tags/tag4.xml><?xml version="1.0" encoding="utf-8"?>
<p:tagLst xmlns:p="http://schemas.openxmlformats.org/presentationml/2006/main">
  <p:tag name="KSO_WM_UNIT_TABLE_BEAUTIFY" val="smartTable{94b087c5-6c95-4aec-9014-1a676437f80d}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UNIT_TABLE_BEAUTIFY" val="smartTable{e2f683d6-4cdc-44b0-bc93-5d44ba432f53}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TABLE_ENDDRAG_ORIGIN_RECT" val="660*362"/>
  <p:tag name="TABLE_ENDDRAG_RECT" val="13*111*660*362"/>
</p:tagLst>
</file>

<file path=ppt/tags/tag12.xml><?xml version="1.0" encoding="utf-8"?>
<p:tagLst xmlns:p="http://schemas.openxmlformats.org/presentationml/2006/main">
  <p:tag name="KSO_WPP_MARK_KEY" val="10a3db6e-1a48-47eb-bacf-47c9864b0217"/>
  <p:tag name="COMMONDATA" val="eyJoZGlkIjoiYWNhNTcxMTM1NDk1YWM4ODVlM2VmZjA2NGExNzU1YjI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S-Lizhiju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10228</Words>
  <Application>WPS 演示</Application>
  <PresentationFormat>On-screen Show (4:3)</PresentationFormat>
  <Paragraphs>1676</Paragraphs>
  <Slides>52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52</vt:i4>
      </vt:variant>
    </vt:vector>
  </HeadingPairs>
  <TitlesOfParts>
    <vt:vector size="77" baseType="lpstr">
      <vt:lpstr>Arial</vt:lpstr>
      <vt:lpstr>宋体</vt:lpstr>
      <vt:lpstr>Wingdings</vt:lpstr>
      <vt:lpstr>Times New Roman</vt:lpstr>
      <vt:lpstr>Arial</vt:lpstr>
      <vt:lpstr>Tahoma</vt:lpstr>
      <vt:lpstr>华文琥珀</vt:lpstr>
      <vt:lpstr>Arial Black</vt:lpstr>
      <vt:lpstr>黑体</vt:lpstr>
      <vt:lpstr>华文隶书</vt:lpstr>
      <vt:lpstr>Courier New</vt:lpstr>
      <vt:lpstr>Symbol</vt:lpstr>
      <vt:lpstr>Calibri</vt:lpstr>
      <vt:lpstr>微软雅黑</vt:lpstr>
      <vt:lpstr>Arial Unicode MS</vt:lpstr>
      <vt:lpstr>Times New Roman</vt:lpstr>
      <vt:lpstr>MS Mincho</vt:lpstr>
      <vt:lpstr>Yu Gothic</vt:lpstr>
      <vt:lpstr>Webdings</vt:lpstr>
      <vt:lpstr>Courier New</vt:lpstr>
      <vt:lpstr>Symbol</vt:lpstr>
      <vt:lpstr>Office Theme</vt:lpstr>
      <vt:lpstr>1_OS-Lizhijun</vt:lpstr>
      <vt:lpstr>1_Office Theme</vt:lpstr>
      <vt:lpstr>2_Office Theme</vt:lpstr>
      <vt:lpstr>PowerPoint 演示文稿</vt:lpstr>
      <vt:lpstr>开始核心级线程</vt:lpstr>
      <vt:lpstr>和用户级相比，核心级线程有什么不同?</vt:lpstr>
      <vt:lpstr>用户栈和内核栈之间的切换</vt:lpstr>
      <vt:lpstr>仍然是那个A()，B()，C()，D()…</vt:lpstr>
      <vt:lpstr>开始内核中的切换：switch_to</vt:lpstr>
      <vt:lpstr>回答上面的问号??, ???, ????…</vt:lpstr>
      <vt:lpstr>内核线程switch_to的五段论 第一级切换</vt:lpstr>
      <vt:lpstr>ThreadCreate! 做成那个样子…</vt:lpstr>
      <vt:lpstr>用户级线程、核心级线程的对比</vt:lpstr>
      <vt:lpstr>PowerPoint 演示文稿</vt:lpstr>
      <vt:lpstr>核心级线程的两套栈，核心是内核栈…</vt:lpstr>
      <vt:lpstr>整个故事要从进入内核开始——某个中断开始…</vt:lpstr>
      <vt:lpstr>切换五段论中的中断入口和中断出口</vt:lpstr>
      <vt:lpstr>切换五段论中的schedule和中断出口</vt:lpstr>
      <vt:lpstr>Linux 0.11的switch_to</vt:lpstr>
      <vt:lpstr>另一个故事ThreadCreate就顺了…</vt:lpstr>
      <vt:lpstr>copy_process的细节：创建栈</vt:lpstr>
      <vt:lpstr>copy_process的细节</vt:lpstr>
      <vt:lpstr>PowerPoint 演示文稿</vt:lpstr>
      <vt:lpstr>进程与线程小结</vt:lpstr>
      <vt:lpstr>PowerPoint 演示文稿</vt:lpstr>
      <vt:lpstr>Linux Kernel Source Tree</vt:lpstr>
      <vt:lpstr>IDEA</vt:lpstr>
      <vt:lpstr>运转CPU</vt:lpstr>
      <vt:lpstr>CPU没有好好运转</vt:lpstr>
      <vt:lpstr>得让CPU好好运转</vt:lpstr>
      <vt:lpstr>从A跳到B我们并不陌生</vt:lpstr>
      <vt:lpstr>一个栈+Yield造成的混乱</vt:lpstr>
      <vt:lpstr>两个栈+两个用户TCB</vt:lpstr>
      <vt:lpstr>一直在用户态那怎么行?</vt:lpstr>
      <vt:lpstr>引入内核栈的切换</vt:lpstr>
      <vt:lpstr>PowerPoint 演示文稿</vt:lpstr>
      <vt:lpstr>从用户代码开始</vt:lpstr>
      <vt:lpstr>程序是什么?就是人的思维的C表达</vt:lpstr>
      <vt:lpstr>INT进入内核</vt:lpstr>
      <vt:lpstr>开始sys_fork</vt:lpstr>
      <vt:lpstr>开始copy_process</vt:lpstr>
      <vt:lpstr>开始返回…</vt:lpstr>
      <vt:lpstr>main继续执行，现在我们有了什么?</vt:lpstr>
      <vt:lpstr>main继续，到了哪里?</vt:lpstr>
      <vt:lpstr>schedule</vt:lpstr>
      <vt:lpstr>switch_to切换</vt:lpstr>
      <vt:lpstr>接下来会怎么样?</vt:lpstr>
      <vt:lpstr>我们的目标是什么?</vt:lpstr>
      <vt:lpstr>时钟中断</vt:lpstr>
      <vt:lpstr>有那么一次时钟中断</vt:lpstr>
      <vt:lpstr>A的用户栈</vt:lpstr>
      <vt:lpstr>接下来会怎么样?</vt:lpstr>
      <vt:lpstr>我们的目标达到了吗?</vt:lpstr>
      <vt:lpstr>又有那么一次时钟中断, 再一次schedule+switch_to</vt:lpstr>
      <vt:lpstr>接下来会怎么样?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旁白</cp:lastModifiedBy>
  <cp:revision>19</cp:revision>
  <dcterms:created xsi:type="dcterms:W3CDTF">2023-09-17T14:49:00Z</dcterms:created>
  <dcterms:modified xsi:type="dcterms:W3CDTF">2025-09-21T13:13:59Z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1A785F4D929640D18D6926D4CFD5E97A_12</vt:lpwstr>
  </property>
  <property fmtid="{D5CDD505-2E9C-101B-9397-08002B2CF9AE}" pid="3" name="KSOProductBuildVer">
    <vt:lpwstr>2052-12.1.0.16120</vt:lpwstr>
  </property>
</Properties>
</file>