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3"/>
  </p:sldMasterIdLst>
  <p:notesMasterIdLst>
    <p:notesMasterId r:id="rId33"/>
  </p:notesMasterIdLst>
  <p:sldIdLst>
    <p:sldId id="26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5" r:id="rId43"/>
    <p:sldId id="306" r:id="rId44"/>
    <p:sldId id="307" r:id="rId45"/>
    <p:sldId id="308" r:id="rId46"/>
    <p:sldId id="313" r:id="rId47"/>
    <p:sldId id="314" r:id="rId48"/>
  </p:sldIdLst>
  <p:sldSz cx="10693400" cy="7556500"/>
  <p:notesSz cx="10693400" cy="7556500"/>
  <p:custDataLst>
    <p:tags r:id="rId53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60" userDrawn="1">
          <p15:clr>
            <a:srgbClr val="A4A3A4"/>
          </p15:clr>
        </p15:guide>
        <p15:guide id="2" pos="218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epone" initials="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8" d="100"/>
          <a:sy n="78" d="100"/>
        </p:scale>
        <p:origin x="-1536" y="-84"/>
      </p:cViewPr>
      <p:guideLst>
        <p:guide orient="horz" pos="2860"/>
        <p:guide pos="218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3" Type="http://schemas.openxmlformats.org/officeDocument/2006/relationships/tags" Target="tags/tag10.xml"/><Relationship Id="rId52" Type="http://schemas.openxmlformats.org/officeDocument/2006/relationships/commentAuthors" Target="commentAuthors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2.xml"/><Relationship Id="rId49" Type="http://schemas.openxmlformats.org/officeDocument/2006/relationships/presProps" Target="presProps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notesMaster" Target="notesMasters/notesMaster1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807" cy="37913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057119" y="0"/>
            <a:ext cx="4633807" cy="37913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079750" y="944563"/>
            <a:ext cx="4533900" cy="255031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69340" y="3636566"/>
            <a:ext cx="8554720" cy="297537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7177364"/>
            <a:ext cx="4633807" cy="3791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057119" y="7177364"/>
            <a:ext cx="4633807" cy="37913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79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687458" y="5524500"/>
            <a:ext cx="853541" cy="1168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79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687458" y="5524500"/>
            <a:ext cx="853541" cy="1168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687458" y="5524500"/>
            <a:ext cx="853541" cy="1168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472" y="1214867"/>
            <a:ext cx="9998455" cy="393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91439" y="2906884"/>
            <a:ext cx="8310520" cy="3502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17614" y="6456355"/>
            <a:ext cx="1427480" cy="199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179039" y="6459594"/>
            <a:ext cx="335279" cy="199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9687458" y="5524500"/>
            <a:ext cx="853541" cy="1168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2258" y="1202167"/>
            <a:ext cx="9608883" cy="4305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35514" y="3527204"/>
            <a:ext cx="6622371" cy="1631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17614" y="6456355"/>
            <a:ext cx="1427480" cy="199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131033" y="6459594"/>
            <a:ext cx="431164" cy="1993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1" i="0">
                <a:solidFill>
                  <a:schemeClr val="tx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jpeg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23.png"/><Relationship Id="rId14" Type="http://schemas.openxmlformats.org/officeDocument/2006/relationships/image" Target="../media/image22.png"/><Relationship Id="rId13" Type="http://schemas.openxmlformats.org/officeDocument/2006/relationships/image" Target="../media/image21.png"/><Relationship Id="rId12" Type="http://schemas.openxmlformats.org/officeDocument/2006/relationships/image" Target="../media/image20.png"/><Relationship Id="rId11" Type="http://schemas.openxmlformats.org/officeDocument/2006/relationships/image" Target="../media/image19.png"/><Relationship Id="rId10" Type="http://schemas.openxmlformats.org/officeDocument/2006/relationships/image" Target="../media/image18.png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tags" Target="../tags/tag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2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tags" Target="../tags/tag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7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1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image" Target="../media/image40.png"/><Relationship Id="rId7" Type="http://schemas.openxmlformats.org/officeDocument/2006/relationships/image" Target="../media/image39.png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45.png"/><Relationship Id="rId12" Type="http://schemas.openxmlformats.org/officeDocument/2006/relationships/image" Target="../media/image44.png"/><Relationship Id="rId11" Type="http://schemas.openxmlformats.org/officeDocument/2006/relationships/image" Target="../media/image43.png"/><Relationship Id="rId10" Type="http://schemas.openxmlformats.org/officeDocument/2006/relationships/image" Target="../media/image42.png"/><Relationship Id="rId1" Type="http://schemas.openxmlformats.org/officeDocument/2006/relationships/image" Target="../media/image3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1" Type="http://schemas.openxmlformats.org/officeDocument/2006/relationships/tags" Target="../tags/tag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8.xml"/><Relationship Id="rId1" Type="http://schemas.openxmlformats.org/officeDocument/2006/relationships/image" Target="../media/image47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89159" y="1736706"/>
            <a:ext cx="306070" cy="306070"/>
          </a:xfrm>
          <a:custGeom>
            <a:avLst/>
            <a:gdLst/>
            <a:ahLst/>
            <a:cxnLst/>
            <a:rect l="l" t="t" r="r" b="b"/>
            <a:pathLst>
              <a:path w="306070" h="306069">
                <a:moveTo>
                  <a:pt x="297974" y="38249"/>
                </a:moveTo>
                <a:lnTo>
                  <a:pt x="38259" y="297893"/>
                </a:lnTo>
                <a:lnTo>
                  <a:pt x="45911" y="305544"/>
                </a:lnTo>
                <a:lnTo>
                  <a:pt x="305626" y="45899"/>
                </a:lnTo>
                <a:lnTo>
                  <a:pt x="297974" y="38249"/>
                </a:lnTo>
                <a:close/>
              </a:path>
              <a:path w="306070" h="306069">
                <a:moveTo>
                  <a:pt x="275018" y="15299"/>
                </a:moveTo>
                <a:lnTo>
                  <a:pt x="15303" y="274943"/>
                </a:lnTo>
                <a:lnTo>
                  <a:pt x="30607" y="290243"/>
                </a:lnTo>
                <a:lnTo>
                  <a:pt x="290322" y="30599"/>
                </a:lnTo>
                <a:lnTo>
                  <a:pt x="275018" y="15299"/>
                </a:lnTo>
                <a:close/>
              </a:path>
              <a:path w="306070" h="306069">
                <a:moveTo>
                  <a:pt x="259715" y="0"/>
                </a:moveTo>
                <a:lnTo>
                  <a:pt x="0" y="259643"/>
                </a:lnTo>
                <a:lnTo>
                  <a:pt x="7651" y="267294"/>
                </a:lnTo>
                <a:lnTo>
                  <a:pt x="267366" y="7650"/>
                </a:lnTo>
                <a:lnTo>
                  <a:pt x="259715" y="0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1830" y="1786702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10819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71830" y="1759656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21638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1830" y="1732609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10819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077847" y="2025565"/>
            <a:ext cx="2104390" cy="532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950" b="1" spc="13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操作系</a:t>
            </a:r>
            <a:r>
              <a:rPr sz="3950" b="1" spc="145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统</a:t>
            </a:r>
            <a:endParaRPr sz="3950">
              <a:latin typeface="华文琥珀" panose="02010800040101010101" charset="-122"/>
              <a:cs typeface="华文琥珀" panose="02010800040101010101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60624" y="1949373"/>
            <a:ext cx="4747895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722245" algn="l"/>
              </a:tabLst>
            </a:pPr>
            <a:r>
              <a:rPr sz="4600" b="1" spc="-10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p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er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4600" b="1" spc="-10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g	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m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endParaRPr sz="4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55700" y="3168650"/>
            <a:ext cx="8912225" cy="2433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51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   </a:t>
            </a:r>
            <a:r>
              <a:rPr sz="5100" b="1" spc="1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lang="en-US" sz="5100" b="1" spc="1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   </a:t>
            </a:r>
            <a:r>
              <a:rPr sz="4950" b="1" spc="14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  <a:sym typeface="+mn-ea"/>
              </a:rPr>
              <a:t>进程同步与信号</a:t>
            </a:r>
            <a:r>
              <a:rPr sz="4950" b="1" spc="13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  <a:sym typeface="+mn-ea"/>
              </a:rPr>
              <a:t>量</a:t>
            </a:r>
            <a:endParaRPr sz="4950">
              <a:latin typeface="黑体" panose="02010609060101010101" charset="-122"/>
              <a:cs typeface="黑体" panose="02010609060101010101" charset="-122"/>
            </a:endParaRPr>
          </a:p>
          <a:p>
            <a:pPr marL="12700">
              <a:lnSpc>
                <a:spcPts val="4075"/>
              </a:lnSpc>
              <a:spcBef>
                <a:spcPts val="1890"/>
              </a:spcBef>
              <a:tabLst>
                <a:tab pos="5107305" algn="l"/>
              </a:tabLst>
            </a:pPr>
            <a:r>
              <a:rPr lang="en-US" sz="3400" b="1" dirty="0">
                <a:latin typeface="Times New Roman" panose="02020603050405020304"/>
                <a:cs typeface="Times New Roman" panose="02020603050405020304"/>
                <a:sym typeface="+mn-ea"/>
              </a:rPr>
              <a:t>     </a:t>
            </a:r>
            <a:r>
              <a:rPr sz="34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P</a:t>
            </a:r>
            <a:r>
              <a:rPr sz="3400" b="1" spc="-60" dirty="0">
                <a:latin typeface="Times New Roman" panose="02020603050405020304"/>
                <a:cs typeface="Times New Roman" panose="02020603050405020304"/>
                <a:sym typeface="+mn-ea"/>
              </a:rPr>
              <a:t>r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o</a:t>
            </a:r>
            <a:r>
              <a:rPr sz="34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ce</a:t>
            </a:r>
            <a:r>
              <a:rPr sz="3400" b="1" spc="5" dirty="0">
                <a:latin typeface="Times New Roman" panose="02020603050405020304"/>
                <a:cs typeface="Times New Roman" panose="02020603050405020304"/>
                <a:sym typeface="+mn-ea"/>
              </a:rPr>
              <a:t>ss</a:t>
            </a:r>
            <a:r>
              <a:rPr sz="34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e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s</a:t>
            </a:r>
            <a:r>
              <a:rPr sz="3400" b="1" spc="10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3400" b="1" spc="5" dirty="0">
                <a:latin typeface="Times New Roman" panose="02020603050405020304"/>
                <a:cs typeface="Times New Roman" panose="02020603050405020304"/>
                <a:sym typeface="+mn-ea"/>
              </a:rPr>
              <a:t>S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y</a:t>
            </a:r>
            <a:r>
              <a:rPr sz="3400" b="1" spc="5" dirty="0">
                <a:latin typeface="Times New Roman" panose="02020603050405020304"/>
                <a:cs typeface="Times New Roman" panose="02020603050405020304"/>
                <a:sym typeface="+mn-ea"/>
              </a:rPr>
              <a:t>n</a:t>
            </a:r>
            <a:r>
              <a:rPr sz="34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c</a:t>
            </a:r>
            <a:r>
              <a:rPr sz="3400" b="1" spc="5" dirty="0">
                <a:latin typeface="Times New Roman" panose="02020603050405020304"/>
                <a:cs typeface="Times New Roman" panose="02020603050405020304"/>
                <a:sym typeface="+mn-ea"/>
              </a:rPr>
              <a:t>h</a:t>
            </a:r>
            <a:r>
              <a:rPr sz="3400" b="1" spc="-65" dirty="0">
                <a:latin typeface="Times New Roman" panose="02020603050405020304"/>
                <a:cs typeface="Times New Roman" panose="02020603050405020304"/>
                <a:sym typeface="+mn-ea"/>
              </a:rPr>
              <a:t>r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o</a:t>
            </a:r>
            <a:r>
              <a:rPr sz="3400" b="1" spc="5" dirty="0">
                <a:latin typeface="Times New Roman" panose="02020603050405020304"/>
                <a:cs typeface="Times New Roman" panose="02020603050405020304"/>
                <a:sym typeface="+mn-ea"/>
              </a:rPr>
              <a:t>n</a:t>
            </a:r>
            <a:r>
              <a:rPr sz="34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iz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a</a:t>
            </a:r>
            <a:r>
              <a:rPr sz="3400" b="1" spc="5" dirty="0">
                <a:latin typeface="Times New Roman" panose="02020603050405020304"/>
                <a:cs typeface="Times New Roman" panose="02020603050405020304"/>
                <a:sym typeface="+mn-ea"/>
              </a:rPr>
              <a:t>t</a:t>
            </a:r>
            <a:r>
              <a:rPr sz="34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i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on	a</a:t>
            </a:r>
            <a:r>
              <a:rPr sz="3400" b="1" spc="5" dirty="0">
                <a:latin typeface="Times New Roman" panose="02020603050405020304"/>
                <a:cs typeface="Times New Roman" panose="02020603050405020304"/>
                <a:sym typeface="+mn-ea"/>
              </a:rPr>
              <a:t>n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d</a:t>
            </a:r>
            <a:r>
              <a:rPr lang="en-US" sz="3400" b="1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Se</a:t>
            </a:r>
            <a:r>
              <a:rPr sz="3400" b="1" spc="10" dirty="0">
                <a:latin typeface="Times New Roman" panose="02020603050405020304"/>
                <a:cs typeface="Times New Roman" panose="02020603050405020304"/>
                <a:sym typeface="+mn-ea"/>
              </a:rPr>
              <a:t>m</a:t>
            </a:r>
            <a:r>
              <a:rPr sz="3400" b="1" spc="5" dirty="0">
                <a:latin typeface="Times New Roman" panose="02020603050405020304"/>
                <a:cs typeface="Times New Roman" panose="02020603050405020304"/>
                <a:sym typeface="+mn-ea"/>
              </a:rPr>
              <a:t>apho</a:t>
            </a:r>
            <a:r>
              <a:rPr sz="3400" b="1" spc="-60" dirty="0">
                <a:latin typeface="Times New Roman" panose="02020603050405020304"/>
                <a:cs typeface="Times New Roman" panose="02020603050405020304"/>
                <a:sym typeface="+mn-ea"/>
              </a:rPr>
              <a:t>r</a:t>
            </a:r>
            <a:r>
              <a:rPr sz="34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e</a:t>
            </a:r>
            <a:endParaRPr sz="3400">
              <a:latin typeface="Times New Roman" panose="02020603050405020304"/>
              <a:cs typeface="Times New Roman" panose="02020603050405020304"/>
            </a:endParaRPr>
          </a:p>
          <a:p>
            <a:pPr marL="492125">
              <a:lnSpc>
                <a:spcPct val="100000"/>
              </a:lnSpc>
              <a:spcBef>
                <a:spcPts val="2815"/>
              </a:spcBef>
            </a:pPr>
            <a:endParaRPr lang="en-US" sz="3400" b="1" dirty="0"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sp>
        <p:nvSpPr>
          <p:cNvPr id="27" name="object 2"/>
          <p:cNvSpPr txBox="1"/>
          <p:nvPr>
            <p:custDataLst>
              <p:tags r:id="rId1"/>
            </p:custDataLst>
          </p:nvPr>
        </p:nvSpPr>
        <p:spPr>
          <a:xfrm>
            <a:off x="672062" y="1406818"/>
            <a:ext cx="3398520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ct val="100000"/>
              </a:lnSpc>
            </a:pPr>
            <a:r>
              <a:rPr lang="zh-CN" altLang="en-US" sz="1950" b="1">
                <a:latin typeface="华文隶书" panose="02010800040101010101" charset="-122"/>
                <a:cs typeface="华文隶书" panose="02010800040101010101" charset="-122"/>
              </a:rPr>
              <a:t>苏州大学未来科学与工程学院</a:t>
            </a:r>
            <a:endParaRPr lang="zh-CN" altLang="en-US" sz="1950" b="1">
              <a:latin typeface="华文隶书" panose="02010800040101010101" charset="-122"/>
              <a:cs typeface="华文隶书" panose="020108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5595">
              <a:lnSpc>
                <a:spcPts val="3470"/>
              </a:lnSpc>
            </a:pPr>
            <a:r>
              <a:rPr spc="100" dirty="0"/>
              <a:t>进程合作：多进程共同完成一个任务</a:t>
            </a:r>
            <a:endParaRPr spc="100" dirty="0"/>
          </a:p>
        </p:txBody>
      </p:sp>
      <p:sp>
        <p:nvSpPr>
          <p:cNvPr id="3" name="object 3"/>
          <p:cNvSpPr/>
          <p:nvPr/>
        </p:nvSpPr>
        <p:spPr>
          <a:xfrm>
            <a:off x="8258102" y="851789"/>
            <a:ext cx="987010" cy="104012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450975" y="1854318"/>
            <a:ext cx="2012950" cy="1657985"/>
          </a:xfrm>
          <a:custGeom>
            <a:avLst/>
            <a:gdLst/>
            <a:ahLst/>
            <a:cxnLst/>
            <a:rect l="l" t="t" r="r" b="b"/>
            <a:pathLst>
              <a:path w="2012950" h="1657985">
                <a:moveTo>
                  <a:pt x="0" y="0"/>
                </a:moveTo>
                <a:lnTo>
                  <a:pt x="2012791" y="0"/>
                </a:lnTo>
                <a:lnTo>
                  <a:pt x="2012791" y="1657938"/>
                </a:lnTo>
                <a:lnTo>
                  <a:pt x="0" y="1657938"/>
                </a:lnTo>
                <a:lnTo>
                  <a:pt x="0" y="0"/>
                </a:lnTo>
                <a:close/>
              </a:path>
            </a:pathLst>
          </a:custGeom>
          <a:ln w="243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16189" y="1914879"/>
            <a:ext cx="1783080" cy="1542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司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机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2000" b="1" spc="30" dirty="0">
                <a:latin typeface="Arial" panose="020B0604020202020204"/>
                <a:cs typeface="Arial" panose="020B0604020202020204"/>
              </a:rPr>
              <a:t>w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h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il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(t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u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){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370840" marR="5080">
              <a:lnSpc>
                <a:spcPts val="2470"/>
              </a:lnSpc>
              <a:spcBef>
                <a:spcPts val="60"/>
              </a:spcBef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启动车辆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；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正常运行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7084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到站停车；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}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437697" y="1854318"/>
            <a:ext cx="2012950" cy="1657985"/>
          </a:xfrm>
          <a:custGeom>
            <a:avLst/>
            <a:gdLst/>
            <a:ahLst/>
            <a:cxnLst/>
            <a:rect l="l" t="t" r="r" b="b"/>
            <a:pathLst>
              <a:path w="2012950" h="1657985">
                <a:moveTo>
                  <a:pt x="0" y="0"/>
                </a:moveTo>
                <a:lnTo>
                  <a:pt x="2012791" y="0"/>
                </a:lnTo>
                <a:lnTo>
                  <a:pt x="2012791" y="1657938"/>
                </a:lnTo>
                <a:lnTo>
                  <a:pt x="0" y="1657938"/>
                </a:lnTo>
                <a:lnTo>
                  <a:pt x="0" y="0"/>
                </a:lnTo>
                <a:close/>
              </a:path>
            </a:pathLst>
          </a:custGeom>
          <a:ln w="2434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502911" y="1914879"/>
            <a:ext cx="1510030" cy="1542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售票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员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00000"/>
              </a:lnSpc>
              <a:spcBef>
                <a:spcPts val="70"/>
              </a:spcBef>
            </a:pPr>
            <a:r>
              <a:rPr sz="2000" b="1" spc="30" dirty="0">
                <a:latin typeface="Arial" panose="020B0604020202020204"/>
                <a:cs typeface="Arial" panose="020B0604020202020204"/>
              </a:rPr>
              <a:t>w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h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il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(t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u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){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370840" marR="251460" indent="-102235" algn="ctr">
              <a:lnSpc>
                <a:spcPts val="2470"/>
              </a:lnSpc>
              <a:spcBef>
                <a:spcPts val="60"/>
              </a:spcBef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关门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；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售票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；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1760" algn="ctr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开门；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}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2400" y="1885136"/>
            <a:ext cx="77660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实例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1: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31247" y="3831940"/>
            <a:ext cx="106299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00006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打印队</a:t>
            </a:r>
            <a:r>
              <a:rPr sz="1950" b="1" spc="75" dirty="0">
                <a:solidFill>
                  <a:srgbClr val="00006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列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372768" y="3771900"/>
            <a:ext cx="974090" cy="346710"/>
          </a:xfrm>
          <a:custGeom>
            <a:avLst/>
            <a:gdLst/>
            <a:ahLst/>
            <a:cxnLst/>
            <a:rect l="l" t="t" r="r" b="b"/>
            <a:pathLst>
              <a:path w="974089" h="346710">
                <a:moveTo>
                  <a:pt x="0" y="0"/>
                </a:moveTo>
                <a:lnTo>
                  <a:pt x="973931" y="0"/>
                </a:lnTo>
                <a:lnTo>
                  <a:pt x="973931" y="346192"/>
                </a:lnTo>
                <a:lnTo>
                  <a:pt x="0" y="346192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495996" y="3834050"/>
            <a:ext cx="72707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ou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372768" y="4875388"/>
            <a:ext cx="974090" cy="346710"/>
          </a:xfrm>
          <a:custGeom>
            <a:avLst/>
            <a:gdLst/>
            <a:ahLst/>
            <a:cxnLst/>
            <a:rect l="l" t="t" r="r" b="b"/>
            <a:pathLst>
              <a:path w="974089" h="346710">
                <a:moveTo>
                  <a:pt x="0" y="0"/>
                </a:moveTo>
                <a:lnTo>
                  <a:pt x="973931" y="0"/>
                </a:lnTo>
                <a:lnTo>
                  <a:pt x="973931" y="346192"/>
                </a:lnTo>
                <a:lnTo>
                  <a:pt x="0" y="346192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593623" y="5199945"/>
            <a:ext cx="1298575" cy="584200"/>
          </a:xfrm>
          <a:custGeom>
            <a:avLst/>
            <a:gdLst/>
            <a:ahLst/>
            <a:cxnLst/>
            <a:rect l="l" t="t" r="r" b="b"/>
            <a:pathLst>
              <a:path w="1298575" h="584200">
                <a:moveTo>
                  <a:pt x="0" y="292100"/>
                </a:moveTo>
                <a:lnTo>
                  <a:pt x="8498" y="244719"/>
                </a:lnTo>
                <a:lnTo>
                  <a:pt x="33101" y="199773"/>
                </a:lnTo>
                <a:lnTo>
                  <a:pt x="72472" y="157863"/>
                </a:lnTo>
                <a:lnTo>
                  <a:pt x="125274" y="119589"/>
                </a:lnTo>
                <a:lnTo>
                  <a:pt x="190171" y="85554"/>
                </a:lnTo>
                <a:lnTo>
                  <a:pt x="226738" y="70313"/>
                </a:lnTo>
                <a:lnTo>
                  <a:pt x="265826" y="56358"/>
                </a:lnTo>
                <a:lnTo>
                  <a:pt x="307270" y="43763"/>
                </a:lnTo>
                <a:lnTo>
                  <a:pt x="350902" y="32603"/>
                </a:lnTo>
                <a:lnTo>
                  <a:pt x="396555" y="22954"/>
                </a:lnTo>
                <a:lnTo>
                  <a:pt x="444062" y="14891"/>
                </a:lnTo>
                <a:lnTo>
                  <a:pt x="493256" y="8489"/>
                </a:lnTo>
                <a:lnTo>
                  <a:pt x="543969" y="3823"/>
                </a:lnTo>
                <a:lnTo>
                  <a:pt x="596035" y="968"/>
                </a:lnTo>
                <a:lnTo>
                  <a:pt x="649287" y="0"/>
                </a:lnTo>
                <a:lnTo>
                  <a:pt x="702539" y="968"/>
                </a:lnTo>
                <a:lnTo>
                  <a:pt x="754605" y="3823"/>
                </a:lnTo>
                <a:lnTo>
                  <a:pt x="805318" y="8489"/>
                </a:lnTo>
                <a:lnTo>
                  <a:pt x="854512" y="14891"/>
                </a:lnTo>
                <a:lnTo>
                  <a:pt x="902019" y="22954"/>
                </a:lnTo>
                <a:lnTo>
                  <a:pt x="947672" y="32603"/>
                </a:lnTo>
                <a:lnTo>
                  <a:pt x="991304" y="43763"/>
                </a:lnTo>
                <a:lnTo>
                  <a:pt x="1032748" y="56358"/>
                </a:lnTo>
                <a:lnTo>
                  <a:pt x="1071836" y="70313"/>
                </a:lnTo>
                <a:lnTo>
                  <a:pt x="1108403" y="85554"/>
                </a:lnTo>
                <a:lnTo>
                  <a:pt x="1173300" y="119589"/>
                </a:lnTo>
                <a:lnTo>
                  <a:pt x="1226102" y="157863"/>
                </a:lnTo>
                <a:lnTo>
                  <a:pt x="1265473" y="199773"/>
                </a:lnTo>
                <a:lnTo>
                  <a:pt x="1290076" y="244719"/>
                </a:lnTo>
                <a:lnTo>
                  <a:pt x="1298575" y="292100"/>
                </a:lnTo>
                <a:lnTo>
                  <a:pt x="1296422" y="316056"/>
                </a:lnTo>
                <a:lnTo>
                  <a:pt x="1279704" y="362295"/>
                </a:lnTo>
                <a:lnTo>
                  <a:pt x="1247550" y="405798"/>
                </a:lnTo>
                <a:lnTo>
                  <a:pt x="1201296" y="445965"/>
                </a:lnTo>
                <a:lnTo>
                  <a:pt x="1142279" y="482195"/>
                </a:lnTo>
                <a:lnTo>
                  <a:pt x="1071836" y="513886"/>
                </a:lnTo>
                <a:lnTo>
                  <a:pt x="1032748" y="527841"/>
                </a:lnTo>
                <a:lnTo>
                  <a:pt x="991304" y="540436"/>
                </a:lnTo>
                <a:lnTo>
                  <a:pt x="947672" y="551596"/>
                </a:lnTo>
                <a:lnTo>
                  <a:pt x="902019" y="561245"/>
                </a:lnTo>
                <a:lnTo>
                  <a:pt x="854512" y="569308"/>
                </a:lnTo>
                <a:lnTo>
                  <a:pt x="805318" y="575710"/>
                </a:lnTo>
                <a:lnTo>
                  <a:pt x="754605" y="580376"/>
                </a:lnTo>
                <a:lnTo>
                  <a:pt x="702539" y="583231"/>
                </a:lnTo>
                <a:lnTo>
                  <a:pt x="649287" y="584200"/>
                </a:lnTo>
                <a:lnTo>
                  <a:pt x="596035" y="583231"/>
                </a:lnTo>
                <a:lnTo>
                  <a:pt x="543969" y="580376"/>
                </a:lnTo>
                <a:lnTo>
                  <a:pt x="493256" y="575710"/>
                </a:lnTo>
                <a:lnTo>
                  <a:pt x="444062" y="569308"/>
                </a:lnTo>
                <a:lnTo>
                  <a:pt x="396555" y="561245"/>
                </a:lnTo>
                <a:lnTo>
                  <a:pt x="350902" y="551596"/>
                </a:lnTo>
                <a:lnTo>
                  <a:pt x="307270" y="540436"/>
                </a:lnTo>
                <a:lnTo>
                  <a:pt x="265826" y="527841"/>
                </a:lnTo>
                <a:lnTo>
                  <a:pt x="226738" y="513886"/>
                </a:lnTo>
                <a:lnTo>
                  <a:pt x="190171" y="498645"/>
                </a:lnTo>
                <a:lnTo>
                  <a:pt x="125274" y="464610"/>
                </a:lnTo>
                <a:lnTo>
                  <a:pt x="72472" y="426336"/>
                </a:lnTo>
                <a:lnTo>
                  <a:pt x="33101" y="384426"/>
                </a:lnTo>
                <a:lnTo>
                  <a:pt x="8498" y="339480"/>
                </a:lnTo>
                <a:lnTo>
                  <a:pt x="0" y="29210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601740" y="4096456"/>
            <a:ext cx="1298575" cy="584200"/>
          </a:xfrm>
          <a:custGeom>
            <a:avLst/>
            <a:gdLst/>
            <a:ahLst/>
            <a:cxnLst/>
            <a:rect l="l" t="t" r="r" b="b"/>
            <a:pathLst>
              <a:path w="1298575" h="584200">
                <a:moveTo>
                  <a:pt x="0" y="292100"/>
                </a:moveTo>
                <a:lnTo>
                  <a:pt x="8498" y="244719"/>
                </a:lnTo>
                <a:lnTo>
                  <a:pt x="33101" y="199773"/>
                </a:lnTo>
                <a:lnTo>
                  <a:pt x="72472" y="157863"/>
                </a:lnTo>
                <a:lnTo>
                  <a:pt x="125274" y="119589"/>
                </a:lnTo>
                <a:lnTo>
                  <a:pt x="190171" y="85554"/>
                </a:lnTo>
                <a:lnTo>
                  <a:pt x="226738" y="70313"/>
                </a:lnTo>
                <a:lnTo>
                  <a:pt x="265826" y="56358"/>
                </a:lnTo>
                <a:lnTo>
                  <a:pt x="307270" y="43763"/>
                </a:lnTo>
                <a:lnTo>
                  <a:pt x="350902" y="32603"/>
                </a:lnTo>
                <a:lnTo>
                  <a:pt x="396555" y="22954"/>
                </a:lnTo>
                <a:lnTo>
                  <a:pt x="444062" y="14891"/>
                </a:lnTo>
                <a:lnTo>
                  <a:pt x="493256" y="8489"/>
                </a:lnTo>
                <a:lnTo>
                  <a:pt x="543969" y="3823"/>
                </a:lnTo>
                <a:lnTo>
                  <a:pt x="596035" y="968"/>
                </a:lnTo>
                <a:lnTo>
                  <a:pt x="649287" y="0"/>
                </a:lnTo>
                <a:lnTo>
                  <a:pt x="702539" y="968"/>
                </a:lnTo>
                <a:lnTo>
                  <a:pt x="754605" y="3823"/>
                </a:lnTo>
                <a:lnTo>
                  <a:pt x="805318" y="8489"/>
                </a:lnTo>
                <a:lnTo>
                  <a:pt x="854512" y="14891"/>
                </a:lnTo>
                <a:lnTo>
                  <a:pt x="902019" y="22954"/>
                </a:lnTo>
                <a:lnTo>
                  <a:pt x="947672" y="32603"/>
                </a:lnTo>
                <a:lnTo>
                  <a:pt x="991304" y="43763"/>
                </a:lnTo>
                <a:lnTo>
                  <a:pt x="1032748" y="56358"/>
                </a:lnTo>
                <a:lnTo>
                  <a:pt x="1071836" y="70313"/>
                </a:lnTo>
                <a:lnTo>
                  <a:pt x="1108403" y="85554"/>
                </a:lnTo>
                <a:lnTo>
                  <a:pt x="1173300" y="119589"/>
                </a:lnTo>
                <a:lnTo>
                  <a:pt x="1226102" y="157863"/>
                </a:lnTo>
                <a:lnTo>
                  <a:pt x="1265473" y="199773"/>
                </a:lnTo>
                <a:lnTo>
                  <a:pt x="1290076" y="244719"/>
                </a:lnTo>
                <a:lnTo>
                  <a:pt x="1298575" y="292100"/>
                </a:lnTo>
                <a:lnTo>
                  <a:pt x="1296422" y="316056"/>
                </a:lnTo>
                <a:lnTo>
                  <a:pt x="1279704" y="362295"/>
                </a:lnTo>
                <a:lnTo>
                  <a:pt x="1247550" y="405798"/>
                </a:lnTo>
                <a:lnTo>
                  <a:pt x="1201296" y="445965"/>
                </a:lnTo>
                <a:lnTo>
                  <a:pt x="1142279" y="482195"/>
                </a:lnTo>
                <a:lnTo>
                  <a:pt x="1071836" y="513886"/>
                </a:lnTo>
                <a:lnTo>
                  <a:pt x="1032748" y="527841"/>
                </a:lnTo>
                <a:lnTo>
                  <a:pt x="991304" y="540436"/>
                </a:lnTo>
                <a:lnTo>
                  <a:pt x="947672" y="551596"/>
                </a:lnTo>
                <a:lnTo>
                  <a:pt x="902019" y="561245"/>
                </a:lnTo>
                <a:lnTo>
                  <a:pt x="854512" y="569308"/>
                </a:lnTo>
                <a:lnTo>
                  <a:pt x="805318" y="575710"/>
                </a:lnTo>
                <a:lnTo>
                  <a:pt x="754605" y="580376"/>
                </a:lnTo>
                <a:lnTo>
                  <a:pt x="702539" y="583231"/>
                </a:lnTo>
                <a:lnTo>
                  <a:pt x="649287" y="584200"/>
                </a:lnTo>
                <a:lnTo>
                  <a:pt x="596035" y="583231"/>
                </a:lnTo>
                <a:lnTo>
                  <a:pt x="543969" y="580376"/>
                </a:lnTo>
                <a:lnTo>
                  <a:pt x="493256" y="575710"/>
                </a:lnTo>
                <a:lnTo>
                  <a:pt x="444062" y="569308"/>
                </a:lnTo>
                <a:lnTo>
                  <a:pt x="396555" y="561245"/>
                </a:lnTo>
                <a:lnTo>
                  <a:pt x="350902" y="551596"/>
                </a:lnTo>
                <a:lnTo>
                  <a:pt x="307270" y="540436"/>
                </a:lnTo>
                <a:lnTo>
                  <a:pt x="265826" y="527841"/>
                </a:lnTo>
                <a:lnTo>
                  <a:pt x="226738" y="513886"/>
                </a:lnTo>
                <a:lnTo>
                  <a:pt x="190171" y="498645"/>
                </a:lnTo>
                <a:lnTo>
                  <a:pt x="125274" y="464610"/>
                </a:lnTo>
                <a:lnTo>
                  <a:pt x="72472" y="426336"/>
                </a:lnTo>
                <a:lnTo>
                  <a:pt x="33101" y="384426"/>
                </a:lnTo>
                <a:lnTo>
                  <a:pt x="8498" y="339480"/>
                </a:lnTo>
                <a:lnTo>
                  <a:pt x="0" y="292100"/>
                </a:lnTo>
                <a:close/>
              </a:path>
            </a:pathLst>
          </a:custGeom>
          <a:ln w="2434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785886" y="4431576"/>
            <a:ext cx="628650" cy="240665"/>
          </a:xfrm>
          <a:custGeom>
            <a:avLst/>
            <a:gdLst/>
            <a:ahLst/>
            <a:cxnLst/>
            <a:rect l="l" t="t" r="r" b="b"/>
            <a:pathLst>
              <a:path w="628650" h="240664">
                <a:moveTo>
                  <a:pt x="255554" y="72772"/>
                </a:moveTo>
                <a:lnTo>
                  <a:pt x="149559" y="72772"/>
                </a:lnTo>
                <a:lnTo>
                  <a:pt x="616424" y="240501"/>
                </a:lnTo>
                <a:lnTo>
                  <a:pt x="628548" y="206776"/>
                </a:lnTo>
                <a:lnTo>
                  <a:pt x="255554" y="72772"/>
                </a:lnTo>
                <a:close/>
              </a:path>
              <a:path w="628650" h="240664">
                <a:moveTo>
                  <a:pt x="0" y="0"/>
                </a:moveTo>
                <a:lnTo>
                  <a:pt x="143498" y="89635"/>
                </a:lnTo>
                <a:lnTo>
                  <a:pt x="149559" y="72772"/>
                </a:lnTo>
                <a:lnTo>
                  <a:pt x="255554" y="72772"/>
                </a:lnTo>
                <a:lnTo>
                  <a:pt x="161682" y="39047"/>
                </a:lnTo>
                <a:lnTo>
                  <a:pt x="167744" y="2218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85887" y="4431576"/>
            <a:ext cx="628650" cy="240665"/>
          </a:xfrm>
          <a:custGeom>
            <a:avLst/>
            <a:gdLst/>
            <a:ahLst/>
            <a:cxnLst/>
            <a:rect l="l" t="t" r="r" b="b"/>
            <a:pathLst>
              <a:path w="628650" h="240664">
                <a:moveTo>
                  <a:pt x="616425" y="240500"/>
                </a:moveTo>
                <a:lnTo>
                  <a:pt x="149559" y="72771"/>
                </a:lnTo>
                <a:lnTo>
                  <a:pt x="143498" y="89634"/>
                </a:lnTo>
                <a:lnTo>
                  <a:pt x="0" y="0"/>
                </a:lnTo>
                <a:lnTo>
                  <a:pt x="167743" y="22184"/>
                </a:lnTo>
                <a:lnTo>
                  <a:pt x="161682" y="39047"/>
                </a:lnTo>
                <a:lnTo>
                  <a:pt x="628548" y="206775"/>
                </a:lnTo>
                <a:lnTo>
                  <a:pt x="616425" y="24050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777933" y="5556101"/>
            <a:ext cx="608330" cy="246379"/>
          </a:xfrm>
          <a:custGeom>
            <a:avLst/>
            <a:gdLst/>
            <a:ahLst/>
            <a:cxnLst/>
            <a:rect l="l" t="t" r="r" b="b"/>
            <a:pathLst>
              <a:path w="608329" h="246379">
                <a:moveTo>
                  <a:pt x="11628" y="0"/>
                </a:moveTo>
                <a:lnTo>
                  <a:pt x="0" y="30302"/>
                </a:lnTo>
                <a:lnTo>
                  <a:pt x="451813" y="203589"/>
                </a:lnTo>
                <a:lnTo>
                  <a:pt x="445999" y="218740"/>
                </a:lnTo>
                <a:lnTo>
                  <a:pt x="608232" y="246202"/>
                </a:lnTo>
                <a:lnTo>
                  <a:pt x="493166" y="173287"/>
                </a:lnTo>
                <a:lnTo>
                  <a:pt x="463442" y="173287"/>
                </a:lnTo>
                <a:lnTo>
                  <a:pt x="11628" y="0"/>
                </a:lnTo>
                <a:close/>
              </a:path>
              <a:path w="608329" h="246379">
                <a:moveTo>
                  <a:pt x="469256" y="158136"/>
                </a:moveTo>
                <a:lnTo>
                  <a:pt x="463442" y="173287"/>
                </a:lnTo>
                <a:lnTo>
                  <a:pt x="493166" y="173287"/>
                </a:lnTo>
                <a:lnTo>
                  <a:pt x="469256" y="1581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777932" y="5556101"/>
            <a:ext cx="608330" cy="246379"/>
          </a:xfrm>
          <a:custGeom>
            <a:avLst/>
            <a:gdLst/>
            <a:ahLst/>
            <a:cxnLst/>
            <a:rect l="l" t="t" r="r" b="b"/>
            <a:pathLst>
              <a:path w="608329" h="246379">
                <a:moveTo>
                  <a:pt x="11628" y="0"/>
                </a:moveTo>
                <a:lnTo>
                  <a:pt x="463442" y="173287"/>
                </a:lnTo>
                <a:lnTo>
                  <a:pt x="469256" y="158136"/>
                </a:lnTo>
                <a:lnTo>
                  <a:pt x="608232" y="246201"/>
                </a:lnTo>
                <a:lnTo>
                  <a:pt x="445999" y="218740"/>
                </a:lnTo>
                <a:lnTo>
                  <a:pt x="451814" y="203589"/>
                </a:lnTo>
                <a:lnTo>
                  <a:pt x="0" y="30301"/>
                </a:lnTo>
                <a:lnTo>
                  <a:pt x="11628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812209" y="4186703"/>
            <a:ext cx="330835" cy="3302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latin typeface="Arial" panose="020B0604020202020204"/>
                <a:cs typeface="Arial" panose="020B0604020202020204"/>
              </a:rPr>
              <a:t>…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12209" y="6068614"/>
            <a:ext cx="330835" cy="33020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latin typeface="Arial" panose="020B0604020202020204"/>
                <a:cs typeface="Arial" panose="020B0604020202020204"/>
              </a:rPr>
              <a:t>…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450774" y="4620821"/>
            <a:ext cx="169545" cy="1386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15" dirty="0">
                <a:latin typeface="Arial" panose="020B0604020202020204"/>
                <a:cs typeface="Arial" panose="020B0604020202020204"/>
              </a:rPr>
              <a:t>4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2000" b="1" spc="15" dirty="0">
                <a:latin typeface="Arial" panose="020B0604020202020204"/>
                <a:cs typeface="Arial" panose="020B0604020202020204"/>
              </a:rPr>
              <a:t>5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2000" b="1" spc="15" dirty="0">
                <a:latin typeface="Arial" panose="020B0604020202020204"/>
                <a:cs typeface="Arial" panose="020B0604020202020204"/>
              </a:rPr>
              <a:t>6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2000" b="1" spc="15" dirty="0">
                <a:latin typeface="Arial" panose="020B0604020202020204"/>
                <a:cs typeface="Arial" panose="020B0604020202020204"/>
              </a:rPr>
              <a:t>7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568346" y="4937239"/>
            <a:ext cx="58229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23766" y="5348826"/>
            <a:ext cx="106299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用户进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程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95360" y="4245636"/>
            <a:ext cx="106299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打印进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程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74722" y="4026621"/>
            <a:ext cx="1885314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实例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文档打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印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5464383" y="4291188"/>
          <a:ext cx="945515" cy="20250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9002"/>
              </a:tblGrid>
              <a:tr h="251530">
                <a:tc>
                  <a:txBody>
                    <a:bodyPr/>
                    <a:lstStyle/>
                    <a:p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4349">
                      <a:solidFill>
                        <a:srgbClr val="000000"/>
                      </a:solidFill>
                      <a:prstDash val="solid"/>
                    </a:lnL>
                    <a:lnR w="24349">
                      <a:solidFill>
                        <a:srgbClr val="000000"/>
                      </a:solidFill>
                      <a:prstDash val="solid"/>
                    </a:lnR>
                    <a:lnB w="24342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358363">
                <a:tc>
                  <a:txBody>
                    <a:bodyPr/>
                    <a:lstStyle/>
                    <a:p>
                      <a:pPr marL="123190">
                        <a:lnSpc>
                          <a:spcPct val="100000"/>
                        </a:lnSpc>
                      </a:pPr>
                      <a:r>
                        <a:rPr sz="1700" b="1" dirty="0">
                          <a:latin typeface="Arial" panose="020B0604020202020204"/>
                          <a:cs typeface="Arial" panose="020B0604020202020204"/>
                        </a:rPr>
                        <a:t>m</a:t>
                      </a:r>
                      <a:r>
                        <a:rPr sz="1700" b="1" spc="-5" dirty="0">
                          <a:latin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sz="1700" b="1" dirty="0">
                          <a:latin typeface="Arial" panose="020B0604020202020204"/>
                          <a:cs typeface="Arial" panose="020B0604020202020204"/>
                        </a:rPr>
                        <a:t>do</a:t>
                      </a:r>
                      <a:r>
                        <a:rPr sz="1700" b="1" dirty="0"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4342">
                      <a:solidFill>
                        <a:srgbClr val="FF0000"/>
                      </a:solidFill>
                      <a:prstDash val="solid"/>
                    </a:lnL>
                    <a:lnR w="24349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FF0000"/>
                      </a:solidFill>
                      <a:prstDash val="solid"/>
                    </a:lnT>
                    <a:lnB w="59503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374591"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</a:pPr>
                      <a:r>
                        <a:rPr sz="1700" b="1" spc="5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700" b="1" spc="-5" dirty="0">
                          <a:latin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1700" b="1" spc="5" dirty="0">
                          <a:latin typeface="Arial" panose="020B0604020202020204"/>
                          <a:cs typeface="Arial" panose="020B0604020202020204"/>
                        </a:rPr>
                        <a:t>og</a:t>
                      </a:r>
                      <a:r>
                        <a:rPr sz="1700" b="1" spc="-5" dirty="0">
                          <a:latin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sz="1700" b="1" dirty="0"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4342">
                      <a:solidFill>
                        <a:srgbClr val="FF0000"/>
                      </a:solidFill>
                      <a:prstDash val="solid"/>
                    </a:lnL>
                    <a:lnR w="24349">
                      <a:solidFill>
                        <a:srgbClr val="000000"/>
                      </a:solidFill>
                      <a:prstDash val="solid"/>
                    </a:lnR>
                    <a:lnT w="59503">
                      <a:solidFill>
                        <a:srgbClr val="FF0000"/>
                      </a:solidFill>
                      <a:prstDash val="solid"/>
                    </a:lnT>
                    <a:lnB w="56798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367829">
                <a:tc>
                  <a:txBody>
                    <a:bodyPr/>
                    <a:lstStyle/>
                    <a:p>
                      <a:pPr marL="163830">
                        <a:lnSpc>
                          <a:spcPct val="100000"/>
                        </a:lnSpc>
                      </a:pPr>
                      <a:r>
                        <a:rPr sz="1700" b="1" spc="-65" dirty="0">
                          <a:latin typeface="Arial" panose="020B0604020202020204"/>
                          <a:cs typeface="Arial" panose="020B0604020202020204"/>
                        </a:rPr>
                        <a:t>w</a:t>
                      </a:r>
                      <a:r>
                        <a:rPr sz="1700" b="1" spc="-5" dirty="0">
                          <a:latin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sz="1700" b="1" dirty="0">
                          <a:latin typeface="Arial" panose="020B0604020202020204"/>
                          <a:cs typeface="Arial" panose="020B0604020202020204"/>
                        </a:rPr>
                        <a:t>pd</a:t>
                      </a:r>
                      <a:r>
                        <a:rPr sz="1700" b="1" dirty="0">
                          <a:latin typeface="Arial" panose="020B0604020202020204"/>
                          <a:cs typeface="Arial" panose="020B0604020202020204"/>
                        </a:rPr>
                        <a:t>f</a:t>
                      </a:r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4342">
                      <a:solidFill>
                        <a:srgbClr val="FF0000"/>
                      </a:solidFill>
                      <a:prstDash val="solid"/>
                    </a:lnL>
                    <a:lnR w="24349">
                      <a:solidFill>
                        <a:srgbClr val="000000"/>
                      </a:solidFill>
                      <a:prstDash val="solid"/>
                    </a:lnR>
                    <a:lnT w="56798">
                      <a:solidFill>
                        <a:srgbClr val="FF0000"/>
                      </a:solidFill>
                      <a:prstDash val="solid"/>
                    </a:lnT>
                    <a:lnB w="24342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351601">
                <a:tc>
                  <a:txBody>
                    <a:bodyPr/>
                    <a:lstStyle/>
                    <a:p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4342">
                      <a:solidFill>
                        <a:srgbClr val="000000"/>
                      </a:solidFill>
                      <a:prstDash val="solid"/>
                    </a:lnL>
                    <a:lnR w="24349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FF0000"/>
                      </a:solidFill>
                      <a:prstDash val="solid"/>
                    </a:lnT>
                    <a:lnB w="24342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8328">
                <a:tc>
                  <a:txBody>
                    <a:bodyPr/>
                    <a:lstStyle/>
                    <a:p>
                      <a:endParaRPr sz="17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>
                    <a:lnL w="24349">
                      <a:solidFill>
                        <a:srgbClr val="000000"/>
                      </a:solidFill>
                      <a:prstDash val="solid"/>
                    </a:lnL>
                    <a:lnR w="24349">
                      <a:solidFill>
                        <a:srgbClr val="000000"/>
                      </a:solidFill>
                      <a:prstDash val="solid"/>
                    </a:lnR>
                    <a:lnT w="24342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68" name="object 68"/>
          <p:cNvSpPr txBox="1"/>
          <p:nvPr/>
        </p:nvSpPr>
        <p:spPr>
          <a:xfrm>
            <a:off x="583692" y="4692532"/>
            <a:ext cx="2880360" cy="1216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2000"/>
              </a:lnSpc>
            </a:pPr>
            <a:r>
              <a:rPr sz="1950" b="1" u="sng" spc="85" dirty="0">
                <a:latin typeface="宋体" panose="02010600030101010101" pitchFamily="2" charset="-122"/>
                <a:cs typeface="宋体" panose="02010600030101010101" pitchFamily="2" charset="-122"/>
              </a:rPr>
              <a:t>问题：如果进程之间完</a:t>
            </a:r>
            <a:r>
              <a:rPr sz="1950" b="1" u="sng" spc="75" dirty="0">
                <a:latin typeface="宋体" panose="02010600030101010101" pitchFamily="2" charset="-122"/>
                <a:cs typeface="宋体" panose="02010600030101010101" pitchFamily="2" charset="-122"/>
              </a:rPr>
              <a:t>全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u="sng" spc="85" dirty="0">
                <a:latin typeface="宋体" panose="02010600030101010101" pitchFamily="2" charset="-122"/>
                <a:cs typeface="宋体" panose="02010600030101010101" pitchFamily="2" charset="-122"/>
              </a:rPr>
              <a:t>不知道对方的存在，则</a:t>
            </a:r>
            <a:r>
              <a:rPr sz="1950" b="1" u="sng" spc="75" dirty="0">
                <a:latin typeface="宋体" panose="02010600030101010101" pitchFamily="2" charset="-122"/>
                <a:cs typeface="宋体" panose="02010600030101010101" pitchFamily="2" charset="-122"/>
              </a:rPr>
              <a:t>可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u="sng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能会产生怎样的错误</a:t>
            </a:r>
            <a:r>
              <a:rPr sz="2000" b="1" u="sng" spc="20" dirty="0">
                <a:latin typeface="Arial" panose="020B0604020202020204"/>
                <a:cs typeface="Arial" panose="020B0604020202020204"/>
              </a:rPr>
              <a:t>?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925" b="1" u="sng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生活常识是怎么办的</a:t>
            </a:r>
            <a:r>
              <a:rPr sz="2000" b="1" u="sng" spc="20" dirty="0">
                <a:latin typeface="Arial" panose="020B0604020202020204"/>
                <a:cs typeface="Arial" panose="020B0604020202020204"/>
              </a:rPr>
              <a:t>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5606448" y="2538592"/>
            <a:ext cx="325120" cy="325120"/>
          </a:xfrm>
          <a:custGeom>
            <a:avLst/>
            <a:gdLst/>
            <a:ahLst/>
            <a:cxnLst/>
            <a:rect l="l" t="t" r="r" b="b"/>
            <a:pathLst>
              <a:path w="325120" h="325119">
                <a:moveTo>
                  <a:pt x="161203" y="0"/>
                </a:moveTo>
                <a:lnTo>
                  <a:pt x="118305" y="6024"/>
                </a:lnTo>
                <a:lnTo>
                  <a:pt x="79779" y="22494"/>
                </a:lnTo>
                <a:lnTo>
                  <a:pt x="47154" y="47882"/>
                </a:lnTo>
                <a:lnTo>
                  <a:pt x="21958" y="80660"/>
                </a:lnTo>
                <a:lnTo>
                  <a:pt x="5719" y="119300"/>
                </a:lnTo>
                <a:lnTo>
                  <a:pt x="55" y="160294"/>
                </a:lnTo>
                <a:lnTo>
                  <a:pt x="0" y="165601"/>
                </a:lnTo>
                <a:lnTo>
                  <a:pt x="937" y="180114"/>
                </a:lnTo>
                <a:lnTo>
                  <a:pt x="11027" y="221185"/>
                </a:lnTo>
                <a:lnTo>
                  <a:pt x="30935" y="257399"/>
                </a:lnTo>
                <a:lnTo>
                  <a:pt x="59241" y="287263"/>
                </a:lnTo>
                <a:lnTo>
                  <a:pt x="94529" y="309289"/>
                </a:lnTo>
                <a:lnTo>
                  <a:pt x="135380" y="321984"/>
                </a:lnTo>
                <a:lnTo>
                  <a:pt x="165005" y="324529"/>
                </a:lnTo>
                <a:lnTo>
                  <a:pt x="179569" y="323641"/>
                </a:lnTo>
                <a:lnTo>
                  <a:pt x="220796" y="313665"/>
                </a:lnTo>
                <a:lnTo>
                  <a:pt x="257157" y="293842"/>
                </a:lnTo>
                <a:lnTo>
                  <a:pt x="287152" y="265619"/>
                </a:lnTo>
                <a:lnTo>
                  <a:pt x="309279" y="230442"/>
                </a:lnTo>
                <a:lnTo>
                  <a:pt x="322038" y="189760"/>
                </a:lnTo>
                <a:lnTo>
                  <a:pt x="324598" y="160294"/>
                </a:lnTo>
                <a:lnTo>
                  <a:pt x="323771" y="145677"/>
                </a:lnTo>
                <a:lnTo>
                  <a:pt x="313927" y="104288"/>
                </a:lnTo>
                <a:lnTo>
                  <a:pt x="294194" y="67770"/>
                </a:lnTo>
                <a:lnTo>
                  <a:pt x="266054" y="37637"/>
                </a:lnTo>
                <a:lnTo>
                  <a:pt x="230992" y="15401"/>
                </a:lnTo>
                <a:lnTo>
                  <a:pt x="190492" y="2575"/>
                </a:lnTo>
                <a:lnTo>
                  <a:pt x="1612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699824" y="2635429"/>
            <a:ext cx="138430" cy="34290"/>
          </a:xfrm>
          <a:custGeom>
            <a:avLst/>
            <a:gdLst/>
            <a:ahLst/>
            <a:cxnLst/>
            <a:rect l="l" t="t" r="r" b="b"/>
            <a:pathLst>
              <a:path w="138429" h="34289">
                <a:moveTo>
                  <a:pt x="26247" y="0"/>
                </a:moveTo>
                <a:lnTo>
                  <a:pt x="7570" y="0"/>
                </a:lnTo>
                <a:lnTo>
                  <a:pt x="0" y="7569"/>
                </a:lnTo>
                <a:lnTo>
                  <a:pt x="0" y="26240"/>
                </a:lnTo>
                <a:lnTo>
                  <a:pt x="7570" y="33808"/>
                </a:lnTo>
                <a:lnTo>
                  <a:pt x="26247" y="33808"/>
                </a:lnTo>
                <a:lnTo>
                  <a:pt x="33817" y="26240"/>
                </a:lnTo>
                <a:lnTo>
                  <a:pt x="33817" y="7569"/>
                </a:lnTo>
                <a:lnTo>
                  <a:pt x="26247" y="0"/>
                </a:lnTo>
                <a:close/>
              </a:path>
              <a:path w="138429" h="34289">
                <a:moveTo>
                  <a:pt x="130253" y="0"/>
                </a:moveTo>
                <a:lnTo>
                  <a:pt x="111577" y="0"/>
                </a:lnTo>
                <a:lnTo>
                  <a:pt x="104006" y="7569"/>
                </a:lnTo>
                <a:lnTo>
                  <a:pt x="104006" y="26240"/>
                </a:lnTo>
                <a:lnTo>
                  <a:pt x="111577" y="33808"/>
                </a:lnTo>
                <a:lnTo>
                  <a:pt x="130253" y="33808"/>
                </a:lnTo>
                <a:lnTo>
                  <a:pt x="137822" y="26240"/>
                </a:lnTo>
                <a:lnTo>
                  <a:pt x="137822" y="7569"/>
                </a:lnTo>
                <a:lnTo>
                  <a:pt x="130253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5699825" y="2635429"/>
            <a:ext cx="34290" cy="34290"/>
          </a:xfrm>
          <a:custGeom>
            <a:avLst/>
            <a:gdLst/>
            <a:ahLst/>
            <a:cxnLst/>
            <a:rect l="l" t="t" r="r" b="b"/>
            <a:pathLst>
              <a:path w="34289" h="34289">
                <a:moveTo>
                  <a:pt x="0" y="16903"/>
                </a:moveTo>
                <a:lnTo>
                  <a:pt x="0" y="7568"/>
                </a:lnTo>
                <a:lnTo>
                  <a:pt x="7570" y="0"/>
                </a:lnTo>
                <a:lnTo>
                  <a:pt x="16908" y="0"/>
                </a:lnTo>
                <a:lnTo>
                  <a:pt x="26246" y="0"/>
                </a:lnTo>
                <a:lnTo>
                  <a:pt x="33817" y="7568"/>
                </a:lnTo>
                <a:lnTo>
                  <a:pt x="33817" y="16903"/>
                </a:lnTo>
                <a:lnTo>
                  <a:pt x="33817" y="26239"/>
                </a:lnTo>
                <a:lnTo>
                  <a:pt x="26246" y="33807"/>
                </a:lnTo>
                <a:lnTo>
                  <a:pt x="16908" y="33807"/>
                </a:lnTo>
                <a:lnTo>
                  <a:pt x="7570" y="33807"/>
                </a:lnTo>
                <a:lnTo>
                  <a:pt x="0" y="26239"/>
                </a:lnTo>
                <a:lnTo>
                  <a:pt x="0" y="16903"/>
                </a:lnTo>
                <a:close/>
              </a:path>
            </a:pathLst>
          </a:custGeom>
          <a:ln w="21639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5803831" y="2635429"/>
            <a:ext cx="34290" cy="34290"/>
          </a:xfrm>
          <a:custGeom>
            <a:avLst/>
            <a:gdLst/>
            <a:ahLst/>
            <a:cxnLst/>
            <a:rect l="l" t="t" r="r" b="b"/>
            <a:pathLst>
              <a:path w="34289" h="34289">
                <a:moveTo>
                  <a:pt x="0" y="16903"/>
                </a:moveTo>
                <a:lnTo>
                  <a:pt x="0" y="7568"/>
                </a:lnTo>
                <a:lnTo>
                  <a:pt x="7570" y="0"/>
                </a:lnTo>
                <a:lnTo>
                  <a:pt x="16908" y="0"/>
                </a:lnTo>
                <a:lnTo>
                  <a:pt x="26246" y="0"/>
                </a:lnTo>
                <a:lnTo>
                  <a:pt x="33817" y="7568"/>
                </a:lnTo>
                <a:lnTo>
                  <a:pt x="33817" y="16903"/>
                </a:lnTo>
                <a:lnTo>
                  <a:pt x="33817" y="26239"/>
                </a:lnTo>
                <a:lnTo>
                  <a:pt x="26246" y="33807"/>
                </a:lnTo>
                <a:lnTo>
                  <a:pt x="16908" y="33807"/>
                </a:lnTo>
                <a:lnTo>
                  <a:pt x="7570" y="33807"/>
                </a:lnTo>
                <a:lnTo>
                  <a:pt x="0" y="26239"/>
                </a:lnTo>
                <a:lnTo>
                  <a:pt x="0" y="16903"/>
                </a:lnTo>
                <a:close/>
              </a:path>
            </a:pathLst>
          </a:custGeom>
          <a:ln w="21639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5680757" y="2771637"/>
            <a:ext cx="173355" cy="30480"/>
          </a:xfrm>
          <a:custGeom>
            <a:avLst/>
            <a:gdLst/>
            <a:ahLst/>
            <a:cxnLst/>
            <a:rect l="l" t="t" r="r" b="b"/>
            <a:pathLst>
              <a:path w="173354" h="30480">
                <a:moveTo>
                  <a:pt x="0" y="0"/>
                </a:moveTo>
                <a:lnTo>
                  <a:pt x="34668" y="19116"/>
                </a:lnTo>
                <a:lnTo>
                  <a:pt x="80868" y="30008"/>
                </a:lnTo>
                <a:lnTo>
                  <a:pt x="92414" y="30124"/>
                </a:lnTo>
                <a:lnTo>
                  <a:pt x="103958" y="29197"/>
                </a:lnTo>
                <a:lnTo>
                  <a:pt x="150116" y="15064"/>
                </a:lnTo>
                <a:lnTo>
                  <a:pt x="161651" y="8924"/>
                </a:lnTo>
                <a:lnTo>
                  <a:pt x="173184" y="1742"/>
                </a:lnTo>
              </a:path>
            </a:pathLst>
          </a:custGeom>
          <a:ln w="21637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606415" y="2538592"/>
            <a:ext cx="325120" cy="325120"/>
          </a:xfrm>
          <a:custGeom>
            <a:avLst/>
            <a:gdLst/>
            <a:ahLst/>
            <a:cxnLst/>
            <a:rect l="l" t="t" r="r" b="b"/>
            <a:pathLst>
              <a:path w="325120" h="325119">
                <a:moveTo>
                  <a:pt x="0" y="162274"/>
                </a:moveTo>
                <a:lnTo>
                  <a:pt x="5752" y="119300"/>
                </a:lnTo>
                <a:lnTo>
                  <a:pt x="21991" y="80660"/>
                </a:lnTo>
                <a:lnTo>
                  <a:pt x="47187" y="47882"/>
                </a:lnTo>
                <a:lnTo>
                  <a:pt x="79813" y="22494"/>
                </a:lnTo>
                <a:lnTo>
                  <a:pt x="118339" y="6024"/>
                </a:lnTo>
                <a:lnTo>
                  <a:pt x="161236" y="0"/>
                </a:lnTo>
                <a:lnTo>
                  <a:pt x="176073" y="652"/>
                </a:lnTo>
                <a:lnTo>
                  <a:pt x="218057" y="10005"/>
                </a:lnTo>
                <a:lnTo>
                  <a:pt x="255096" y="29273"/>
                </a:lnTo>
                <a:lnTo>
                  <a:pt x="285708" y="56942"/>
                </a:lnTo>
                <a:lnTo>
                  <a:pt x="308409" y="91500"/>
                </a:lnTo>
                <a:lnTo>
                  <a:pt x="321714" y="131433"/>
                </a:lnTo>
                <a:lnTo>
                  <a:pt x="324631" y="160295"/>
                </a:lnTo>
                <a:lnTo>
                  <a:pt x="323983" y="175226"/>
                </a:lnTo>
                <a:lnTo>
                  <a:pt x="314681" y="217422"/>
                </a:lnTo>
                <a:lnTo>
                  <a:pt x="295510" y="254595"/>
                </a:lnTo>
                <a:lnTo>
                  <a:pt x="267971" y="285297"/>
                </a:lnTo>
                <a:lnTo>
                  <a:pt x="233565" y="308081"/>
                </a:lnTo>
                <a:lnTo>
                  <a:pt x="193794" y="321500"/>
                </a:lnTo>
                <a:lnTo>
                  <a:pt x="165039" y="324529"/>
                </a:lnTo>
                <a:lnTo>
                  <a:pt x="150023" y="323886"/>
                </a:lnTo>
                <a:lnTo>
                  <a:pt x="107632" y="314631"/>
                </a:lnTo>
                <a:lnTo>
                  <a:pt x="70332" y="295550"/>
                </a:lnTo>
                <a:lnTo>
                  <a:pt x="39541" y="268133"/>
                </a:lnTo>
                <a:lnTo>
                  <a:pt x="16676" y="233871"/>
                </a:lnTo>
                <a:lnTo>
                  <a:pt x="3156" y="194253"/>
                </a:lnTo>
                <a:lnTo>
                  <a:pt x="0" y="162274"/>
                </a:lnTo>
                <a:close/>
              </a:path>
            </a:pathLst>
          </a:custGeom>
          <a:ln w="21639">
            <a:solidFill>
              <a:srgbClr val="00B05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3074227" y="3187703"/>
            <a:ext cx="325120" cy="325120"/>
          </a:xfrm>
          <a:custGeom>
            <a:avLst/>
            <a:gdLst/>
            <a:ahLst/>
            <a:cxnLst/>
            <a:rect l="l" t="t" r="r" b="b"/>
            <a:pathLst>
              <a:path w="325120" h="325120">
                <a:moveTo>
                  <a:pt x="161203" y="0"/>
                </a:moveTo>
                <a:lnTo>
                  <a:pt x="118305" y="6024"/>
                </a:lnTo>
                <a:lnTo>
                  <a:pt x="79779" y="22494"/>
                </a:lnTo>
                <a:lnTo>
                  <a:pt x="47154" y="47882"/>
                </a:lnTo>
                <a:lnTo>
                  <a:pt x="21958" y="80660"/>
                </a:lnTo>
                <a:lnTo>
                  <a:pt x="5719" y="119300"/>
                </a:lnTo>
                <a:lnTo>
                  <a:pt x="55" y="160294"/>
                </a:lnTo>
                <a:lnTo>
                  <a:pt x="0" y="165603"/>
                </a:lnTo>
                <a:lnTo>
                  <a:pt x="937" y="180116"/>
                </a:lnTo>
                <a:lnTo>
                  <a:pt x="11028" y="221187"/>
                </a:lnTo>
                <a:lnTo>
                  <a:pt x="30935" y="257400"/>
                </a:lnTo>
                <a:lnTo>
                  <a:pt x="59242" y="287264"/>
                </a:lnTo>
                <a:lnTo>
                  <a:pt x="94530" y="309290"/>
                </a:lnTo>
                <a:lnTo>
                  <a:pt x="135381" y="321985"/>
                </a:lnTo>
                <a:lnTo>
                  <a:pt x="165006" y="324530"/>
                </a:lnTo>
                <a:lnTo>
                  <a:pt x="179570" y="323643"/>
                </a:lnTo>
                <a:lnTo>
                  <a:pt x="220797" y="313666"/>
                </a:lnTo>
                <a:lnTo>
                  <a:pt x="257158" y="293842"/>
                </a:lnTo>
                <a:lnTo>
                  <a:pt x="287152" y="265619"/>
                </a:lnTo>
                <a:lnTo>
                  <a:pt x="309280" y="230442"/>
                </a:lnTo>
                <a:lnTo>
                  <a:pt x="322038" y="189760"/>
                </a:lnTo>
                <a:lnTo>
                  <a:pt x="324598" y="160294"/>
                </a:lnTo>
                <a:lnTo>
                  <a:pt x="323771" y="145677"/>
                </a:lnTo>
                <a:lnTo>
                  <a:pt x="313927" y="104288"/>
                </a:lnTo>
                <a:lnTo>
                  <a:pt x="294194" y="67770"/>
                </a:lnTo>
                <a:lnTo>
                  <a:pt x="266054" y="37637"/>
                </a:lnTo>
                <a:lnTo>
                  <a:pt x="230992" y="15401"/>
                </a:lnTo>
                <a:lnTo>
                  <a:pt x="190492" y="2575"/>
                </a:lnTo>
                <a:lnTo>
                  <a:pt x="1612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3167603" y="3284540"/>
            <a:ext cx="138430" cy="34290"/>
          </a:xfrm>
          <a:custGeom>
            <a:avLst/>
            <a:gdLst/>
            <a:ahLst/>
            <a:cxnLst/>
            <a:rect l="l" t="t" r="r" b="b"/>
            <a:pathLst>
              <a:path w="138429" h="34289">
                <a:moveTo>
                  <a:pt x="26247" y="0"/>
                </a:moveTo>
                <a:lnTo>
                  <a:pt x="7570" y="0"/>
                </a:lnTo>
                <a:lnTo>
                  <a:pt x="0" y="7569"/>
                </a:lnTo>
                <a:lnTo>
                  <a:pt x="0" y="26240"/>
                </a:lnTo>
                <a:lnTo>
                  <a:pt x="7570" y="33808"/>
                </a:lnTo>
                <a:lnTo>
                  <a:pt x="26247" y="33808"/>
                </a:lnTo>
                <a:lnTo>
                  <a:pt x="33817" y="26240"/>
                </a:lnTo>
                <a:lnTo>
                  <a:pt x="33817" y="7569"/>
                </a:lnTo>
                <a:lnTo>
                  <a:pt x="26247" y="0"/>
                </a:lnTo>
                <a:close/>
              </a:path>
              <a:path w="138429" h="34289">
                <a:moveTo>
                  <a:pt x="130253" y="0"/>
                </a:moveTo>
                <a:lnTo>
                  <a:pt x="111577" y="0"/>
                </a:lnTo>
                <a:lnTo>
                  <a:pt x="104006" y="7569"/>
                </a:lnTo>
                <a:lnTo>
                  <a:pt x="104006" y="26240"/>
                </a:lnTo>
                <a:lnTo>
                  <a:pt x="111577" y="33808"/>
                </a:lnTo>
                <a:lnTo>
                  <a:pt x="130253" y="33808"/>
                </a:lnTo>
                <a:lnTo>
                  <a:pt x="137824" y="26240"/>
                </a:lnTo>
                <a:lnTo>
                  <a:pt x="137824" y="7569"/>
                </a:lnTo>
                <a:lnTo>
                  <a:pt x="130253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3167604" y="3284540"/>
            <a:ext cx="34290" cy="34290"/>
          </a:xfrm>
          <a:custGeom>
            <a:avLst/>
            <a:gdLst/>
            <a:ahLst/>
            <a:cxnLst/>
            <a:rect l="l" t="t" r="r" b="b"/>
            <a:pathLst>
              <a:path w="34289" h="34289">
                <a:moveTo>
                  <a:pt x="0" y="16903"/>
                </a:moveTo>
                <a:lnTo>
                  <a:pt x="0" y="7568"/>
                </a:lnTo>
                <a:lnTo>
                  <a:pt x="7570" y="0"/>
                </a:lnTo>
                <a:lnTo>
                  <a:pt x="16908" y="0"/>
                </a:lnTo>
                <a:lnTo>
                  <a:pt x="26246" y="0"/>
                </a:lnTo>
                <a:lnTo>
                  <a:pt x="33817" y="7568"/>
                </a:lnTo>
                <a:lnTo>
                  <a:pt x="33817" y="16903"/>
                </a:lnTo>
                <a:lnTo>
                  <a:pt x="33817" y="26239"/>
                </a:lnTo>
                <a:lnTo>
                  <a:pt x="26246" y="33807"/>
                </a:lnTo>
                <a:lnTo>
                  <a:pt x="16908" y="33807"/>
                </a:lnTo>
                <a:lnTo>
                  <a:pt x="7570" y="33807"/>
                </a:lnTo>
                <a:lnTo>
                  <a:pt x="0" y="26239"/>
                </a:lnTo>
                <a:lnTo>
                  <a:pt x="0" y="16903"/>
                </a:lnTo>
                <a:close/>
              </a:path>
            </a:pathLst>
          </a:custGeom>
          <a:ln w="21639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3271609" y="3284540"/>
            <a:ext cx="34290" cy="34290"/>
          </a:xfrm>
          <a:custGeom>
            <a:avLst/>
            <a:gdLst/>
            <a:ahLst/>
            <a:cxnLst/>
            <a:rect l="l" t="t" r="r" b="b"/>
            <a:pathLst>
              <a:path w="34289" h="34289">
                <a:moveTo>
                  <a:pt x="0" y="16903"/>
                </a:moveTo>
                <a:lnTo>
                  <a:pt x="0" y="7568"/>
                </a:lnTo>
                <a:lnTo>
                  <a:pt x="7570" y="0"/>
                </a:lnTo>
                <a:lnTo>
                  <a:pt x="16908" y="0"/>
                </a:lnTo>
                <a:lnTo>
                  <a:pt x="26246" y="0"/>
                </a:lnTo>
                <a:lnTo>
                  <a:pt x="33817" y="7568"/>
                </a:lnTo>
                <a:lnTo>
                  <a:pt x="33817" y="16903"/>
                </a:lnTo>
                <a:lnTo>
                  <a:pt x="33817" y="26239"/>
                </a:lnTo>
                <a:lnTo>
                  <a:pt x="26246" y="33807"/>
                </a:lnTo>
                <a:lnTo>
                  <a:pt x="16908" y="33807"/>
                </a:lnTo>
                <a:lnTo>
                  <a:pt x="7570" y="33807"/>
                </a:lnTo>
                <a:lnTo>
                  <a:pt x="0" y="26239"/>
                </a:lnTo>
                <a:lnTo>
                  <a:pt x="0" y="16903"/>
                </a:lnTo>
                <a:close/>
              </a:path>
            </a:pathLst>
          </a:custGeom>
          <a:ln w="21639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3148536" y="3420748"/>
            <a:ext cx="173355" cy="30480"/>
          </a:xfrm>
          <a:custGeom>
            <a:avLst/>
            <a:gdLst/>
            <a:ahLst/>
            <a:cxnLst/>
            <a:rect l="l" t="t" r="r" b="b"/>
            <a:pathLst>
              <a:path w="173354" h="30479">
                <a:moveTo>
                  <a:pt x="0" y="0"/>
                </a:moveTo>
                <a:lnTo>
                  <a:pt x="34668" y="19116"/>
                </a:lnTo>
                <a:lnTo>
                  <a:pt x="80868" y="30008"/>
                </a:lnTo>
                <a:lnTo>
                  <a:pt x="92414" y="30124"/>
                </a:lnTo>
                <a:lnTo>
                  <a:pt x="103958" y="29197"/>
                </a:lnTo>
                <a:lnTo>
                  <a:pt x="150116" y="15064"/>
                </a:lnTo>
                <a:lnTo>
                  <a:pt x="161651" y="8924"/>
                </a:lnTo>
                <a:lnTo>
                  <a:pt x="173184" y="1742"/>
                </a:lnTo>
              </a:path>
            </a:pathLst>
          </a:custGeom>
          <a:ln w="21637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3074193" y="3187703"/>
            <a:ext cx="325120" cy="325120"/>
          </a:xfrm>
          <a:custGeom>
            <a:avLst/>
            <a:gdLst/>
            <a:ahLst/>
            <a:cxnLst/>
            <a:rect l="l" t="t" r="r" b="b"/>
            <a:pathLst>
              <a:path w="325120" h="325120">
                <a:moveTo>
                  <a:pt x="0" y="162274"/>
                </a:moveTo>
                <a:lnTo>
                  <a:pt x="5752" y="119300"/>
                </a:lnTo>
                <a:lnTo>
                  <a:pt x="21991" y="80660"/>
                </a:lnTo>
                <a:lnTo>
                  <a:pt x="47187" y="47882"/>
                </a:lnTo>
                <a:lnTo>
                  <a:pt x="79813" y="22494"/>
                </a:lnTo>
                <a:lnTo>
                  <a:pt x="118339" y="6024"/>
                </a:lnTo>
                <a:lnTo>
                  <a:pt x="161236" y="0"/>
                </a:lnTo>
                <a:lnTo>
                  <a:pt x="176073" y="652"/>
                </a:lnTo>
                <a:lnTo>
                  <a:pt x="218057" y="10005"/>
                </a:lnTo>
                <a:lnTo>
                  <a:pt x="255096" y="29273"/>
                </a:lnTo>
                <a:lnTo>
                  <a:pt x="285708" y="56942"/>
                </a:lnTo>
                <a:lnTo>
                  <a:pt x="308409" y="91500"/>
                </a:lnTo>
                <a:lnTo>
                  <a:pt x="321714" y="131433"/>
                </a:lnTo>
                <a:lnTo>
                  <a:pt x="324631" y="160295"/>
                </a:lnTo>
                <a:lnTo>
                  <a:pt x="323983" y="175226"/>
                </a:lnTo>
                <a:lnTo>
                  <a:pt x="314681" y="217422"/>
                </a:lnTo>
                <a:lnTo>
                  <a:pt x="295510" y="254595"/>
                </a:lnTo>
                <a:lnTo>
                  <a:pt x="267971" y="285297"/>
                </a:lnTo>
                <a:lnTo>
                  <a:pt x="233565" y="308081"/>
                </a:lnTo>
                <a:lnTo>
                  <a:pt x="193794" y="321500"/>
                </a:lnTo>
                <a:lnTo>
                  <a:pt x="165039" y="324529"/>
                </a:lnTo>
                <a:lnTo>
                  <a:pt x="150023" y="323886"/>
                </a:lnTo>
                <a:lnTo>
                  <a:pt x="107632" y="314631"/>
                </a:lnTo>
                <a:lnTo>
                  <a:pt x="70332" y="295550"/>
                </a:lnTo>
                <a:lnTo>
                  <a:pt x="39541" y="268133"/>
                </a:lnTo>
                <a:lnTo>
                  <a:pt x="16676" y="233871"/>
                </a:lnTo>
                <a:lnTo>
                  <a:pt x="3156" y="194253"/>
                </a:lnTo>
                <a:lnTo>
                  <a:pt x="0" y="162274"/>
                </a:lnTo>
                <a:close/>
              </a:path>
            </a:pathLst>
          </a:custGeom>
          <a:ln w="21639">
            <a:solidFill>
              <a:srgbClr val="3333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723231" y="2419585"/>
            <a:ext cx="1065913" cy="5449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3709954" y="3063287"/>
            <a:ext cx="1065913" cy="5503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85" name="object 8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5595">
              <a:lnSpc>
                <a:spcPct val="100000"/>
              </a:lnSpc>
            </a:pPr>
            <a:r>
              <a:rPr spc="100" dirty="0"/>
              <a:t>从纸上到实际：生产者</a:t>
            </a:r>
            <a:r>
              <a:rPr spc="55" dirty="0">
                <a:latin typeface="Symbol" panose="05050102010706020507"/>
                <a:cs typeface="Symbol" panose="05050102010706020507"/>
              </a:rPr>
              <a:t></a:t>
            </a:r>
            <a:r>
              <a:rPr spc="100" dirty="0"/>
              <a:t>消费者实例</a:t>
            </a:r>
            <a:endParaRPr spc="100" dirty="0"/>
          </a:p>
        </p:txBody>
      </p:sp>
      <p:sp>
        <p:nvSpPr>
          <p:cNvPr id="3" name="object 3"/>
          <p:cNvSpPr/>
          <p:nvPr/>
        </p:nvSpPr>
        <p:spPr>
          <a:xfrm>
            <a:off x="1775618" y="1954389"/>
            <a:ext cx="3246755" cy="1257935"/>
          </a:xfrm>
          <a:custGeom>
            <a:avLst/>
            <a:gdLst/>
            <a:ahLst/>
            <a:cxnLst/>
            <a:rect l="l" t="t" r="r" b="b"/>
            <a:pathLst>
              <a:path w="3246754" h="1257935">
                <a:moveTo>
                  <a:pt x="0" y="0"/>
                </a:moveTo>
                <a:lnTo>
                  <a:pt x="3246437" y="0"/>
                </a:lnTo>
                <a:lnTo>
                  <a:pt x="3246437" y="1257652"/>
                </a:lnTo>
                <a:lnTo>
                  <a:pt x="0" y="1257652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905444" y="2030761"/>
            <a:ext cx="2718435" cy="1176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000"/>
              </a:lnSpc>
              <a:tabLst>
                <a:tab pos="1641475" algn="l"/>
              </a:tabLst>
            </a:pPr>
            <a:r>
              <a:rPr sz="1700" spc="-5" dirty="0">
                <a:latin typeface="Tahoma" panose="020B0604030504040204"/>
                <a:cs typeface="Tahoma" panose="020B0604030504040204"/>
              </a:rPr>
              <a:t>#d</a:t>
            </a:r>
            <a:r>
              <a:rPr sz="1700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f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n</a:t>
            </a:r>
            <a:r>
              <a:rPr sz="1700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B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U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FF</a:t>
            </a:r>
            <a:r>
              <a:rPr sz="1700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R_</a:t>
            </a:r>
            <a:r>
              <a:rPr sz="1700" dirty="0">
                <a:latin typeface="Tahoma" panose="020B0604030504040204"/>
                <a:cs typeface="Tahoma" panose="020B0604030504040204"/>
              </a:rPr>
              <a:t>S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Z</a:t>
            </a:r>
            <a:r>
              <a:rPr sz="1700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10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y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p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d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f</a:t>
            </a:r>
            <a:r>
              <a:rPr sz="1700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u</a:t>
            </a:r>
            <a:r>
              <a:rPr sz="1700" dirty="0">
                <a:latin typeface="Tahoma" panose="020B0604030504040204"/>
                <a:cs typeface="Tahoma" panose="020B0604030504040204"/>
              </a:rPr>
              <a:t>c</a:t>
            </a:r>
            <a:r>
              <a:rPr sz="1700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dirty="0">
                <a:latin typeface="Tahoma" panose="020B0604030504040204"/>
                <a:cs typeface="Tahoma" panose="020B0604030504040204"/>
              </a:rPr>
              <a:t>{</a:t>
            </a:r>
            <a:r>
              <a:rPr sz="1700" dirty="0">
                <a:latin typeface="Tahoma" panose="020B0604030504040204"/>
                <a:cs typeface="Tahoma" panose="020B0604030504040204"/>
              </a:rPr>
              <a:t>	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dirty="0">
                <a:latin typeface="Tahoma" panose="020B0604030504040204"/>
                <a:cs typeface="Tahoma" panose="020B0604030504040204"/>
              </a:rPr>
              <a:t>}</a:t>
            </a:r>
            <a:r>
              <a:rPr sz="1700" dirty="0">
                <a:latin typeface="Tahoma" panose="020B0604030504040204"/>
                <a:cs typeface="Tahoma" panose="020B0604030504040204"/>
              </a:rPr>
              <a:t> 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m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;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it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m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b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u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f</a:t>
            </a:r>
            <a:r>
              <a:rPr sz="1700" spc="-15" dirty="0">
                <a:latin typeface="Tahoma" panose="020B0604030504040204"/>
                <a:cs typeface="Tahoma" panose="020B0604030504040204"/>
              </a:rPr>
              <a:t>f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[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B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U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FF</a:t>
            </a:r>
            <a:r>
              <a:rPr sz="1700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_</a:t>
            </a:r>
            <a:r>
              <a:rPr sz="1700" dirty="0">
                <a:latin typeface="Tahoma" panose="020B0604030504040204"/>
                <a:cs typeface="Tahoma" panose="020B0604030504040204"/>
              </a:rPr>
              <a:t>S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Z</a:t>
            </a:r>
            <a:r>
              <a:rPr sz="1700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]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;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n</a:t>
            </a:r>
            <a:r>
              <a:rPr sz="1700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n</a:t>
            </a:r>
            <a:r>
              <a:rPr sz="1700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dirty="0">
                <a:latin typeface="Tahoma" panose="020B0604030504040204"/>
                <a:cs typeface="Tahoma" panose="020B0604030504040204"/>
              </a:rPr>
              <a:t>o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u</a:t>
            </a:r>
            <a:r>
              <a:rPr sz="1700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dirty="0">
                <a:latin typeface="Tahoma" panose="020B0604030504040204"/>
                <a:cs typeface="Tahoma" panose="020B0604030504040204"/>
              </a:rPr>
              <a:t>co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un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0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;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2258" y="2014923"/>
            <a:ext cx="106299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00006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共享数</a:t>
            </a:r>
            <a:r>
              <a:rPr sz="1950" b="1" spc="75" dirty="0">
                <a:solidFill>
                  <a:srgbClr val="00006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据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2115" y="3901721"/>
            <a:ext cx="3701415" cy="1917700"/>
          </a:xfrm>
          <a:custGeom>
            <a:avLst/>
            <a:gdLst/>
            <a:ahLst/>
            <a:cxnLst/>
            <a:rect l="l" t="t" r="r" b="b"/>
            <a:pathLst>
              <a:path w="3701415" h="1917700">
                <a:moveTo>
                  <a:pt x="0" y="0"/>
                </a:moveTo>
                <a:lnTo>
                  <a:pt x="3700938" y="0"/>
                </a:lnTo>
                <a:lnTo>
                  <a:pt x="3700938" y="1917582"/>
                </a:lnTo>
                <a:lnTo>
                  <a:pt x="0" y="1917582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7329" y="4093833"/>
            <a:ext cx="152209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latin typeface="Tahoma" panose="020B0604030504040204"/>
                <a:cs typeface="Tahoma" panose="020B0604030504040204"/>
              </a:rPr>
              <a:t>wh</a:t>
            </a:r>
            <a:r>
              <a:rPr sz="1700" b="1" spc="-10" dirty="0">
                <a:latin typeface="Tahoma" panose="020B0604030504040204"/>
                <a:cs typeface="Tahoma" panose="020B0604030504040204"/>
              </a:rPr>
              <a:t>il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(</a:t>
            </a:r>
            <a:r>
              <a:rPr sz="1700" b="1" spc="-10" dirty="0">
                <a:latin typeface="Tahoma" panose="020B0604030504040204"/>
                <a:cs typeface="Tahoma" panose="020B0604030504040204"/>
              </a:rPr>
              <a:t>t</a:t>
            </a:r>
            <a:r>
              <a:rPr sz="1700" b="1" spc="-10" dirty="0">
                <a:latin typeface="Tahoma" panose="020B0604030504040204"/>
                <a:cs typeface="Tahoma" panose="020B0604030504040204"/>
              </a:rPr>
              <a:t>r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u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)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{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8005" y="4351996"/>
            <a:ext cx="346075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latin typeface="Tahoma" panose="020B0604030504040204"/>
                <a:cs typeface="Tahoma" panose="020B0604030504040204"/>
              </a:rPr>
              <a:t>wh</a:t>
            </a:r>
            <a:r>
              <a:rPr sz="1700" b="1" spc="-10" dirty="0">
                <a:latin typeface="Tahoma" panose="020B0604030504040204"/>
                <a:cs typeface="Tahoma" panose="020B0604030504040204"/>
              </a:rPr>
              <a:t>il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(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c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o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un</a:t>
            </a:r>
            <a:r>
              <a:rPr sz="1700" b="1" spc="-10" dirty="0">
                <a:latin typeface="Tahoma" panose="020B0604030504040204"/>
                <a:cs typeface="Tahoma" panose="020B0604030504040204"/>
              </a:rPr>
              <a:t>t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b="1" spc="-10" dirty="0">
                <a:latin typeface="Tahoma" panose="020B0604030504040204"/>
                <a:cs typeface="Tahoma" panose="020B0604030504040204"/>
              </a:rPr>
              <a:t>r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==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B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U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FF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R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_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SI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Z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E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15415" y="3901723"/>
            <a:ext cx="3763645" cy="1917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1700" b="1" dirty="0">
                <a:latin typeface="Tahoma" panose="020B0604030504040204"/>
                <a:cs typeface="Tahoma" panose="020B0604030504040204"/>
              </a:rPr>
              <a:t>)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8005" y="4614392"/>
            <a:ext cx="3336290" cy="1020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0200">
              <a:lnSpc>
                <a:spcPts val="2035"/>
              </a:lnSpc>
            </a:pPr>
            <a:r>
              <a:rPr sz="1700" b="1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;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ts val="2035"/>
              </a:lnSpc>
            </a:pPr>
            <a:r>
              <a:rPr sz="1700" b="1" dirty="0">
                <a:latin typeface="Tahoma" panose="020B0604030504040204"/>
                <a:cs typeface="Tahoma" panose="020B0604030504040204"/>
              </a:rPr>
              <a:t>b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u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ff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b="1" spc="-10" dirty="0">
                <a:latin typeface="Tahoma" panose="020B0604030504040204"/>
                <a:cs typeface="Tahoma" panose="020B0604030504040204"/>
              </a:rPr>
              <a:t>r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[</a:t>
            </a:r>
            <a:r>
              <a:rPr sz="1700" b="1" spc="-10" dirty="0">
                <a:latin typeface="Tahoma" panose="020B0604030504040204"/>
                <a:cs typeface="Tahoma" panose="020B0604030504040204"/>
              </a:rPr>
              <a:t>i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n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]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=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spc="-10" dirty="0">
                <a:latin typeface="Tahoma" panose="020B0604030504040204"/>
                <a:cs typeface="Tahoma" panose="020B0604030504040204"/>
              </a:rPr>
              <a:t>i</a:t>
            </a:r>
            <a:r>
              <a:rPr sz="1700" b="1" spc="-10" dirty="0">
                <a:latin typeface="Tahoma" panose="020B0604030504040204"/>
                <a:cs typeface="Tahoma" panose="020B0604030504040204"/>
              </a:rPr>
              <a:t>t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m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;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ts val="2035"/>
              </a:lnSpc>
            </a:pPr>
            <a:r>
              <a:rPr sz="1700" b="1" spc="-5" dirty="0">
                <a:latin typeface="Tahoma" panose="020B0604030504040204"/>
                <a:cs typeface="Tahoma" panose="020B0604030504040204"/>
              </a:rPr>
              <a:t>i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n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=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(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i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n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+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1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)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%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B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U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FF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R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_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I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Z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E;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700" b="1" spc="-5" dirty="0">
                <a:latin typeface="Tahoma" panose="020B0604030504040204"/>
                <a:cs typeface="Tahoma" panose="020B0604030504040204"/>
              </a:rPr>
              <a:t>c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o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unt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b="1" spc="-10" dirty="0">
                <a:latin typeface="Tahoma" panose="020B0604030504040204"/>
                <a:cs typeface="Tahoma" panose="020B0604030504040204"/>
              </a:rPr>
              <a:t>r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++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;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7329" y="5651277"/>
            <a:ext cx="16002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Tahoma" panose="020B0604030504040204"/>
                <a:cs typeface="Tahoma" panose="020B0604030504040204"/>
              </a:rPr>
              <a:t>}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7329" y="3572366"/>
            <a:ext cx="132270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00006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生产者进</a:t>
            </a:r>
            <a:r>
              <a:rPr sz="1950" b="1" spc="75" dirty="0">
                <a:solidFill>
                  <a:srgbClr val="00006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程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77982" y="3901723"/>
            <a:ext cx="3701415" cy="1917700"/>
          </a:xfrm>
          <a:custGeom>
            <a:avLst/>
            <a:gdLst/>
            <a:ahLst/>
            <a:cxnLst/>
            <a:rect l="l" t="t" r="r" b="b"/>
            <a:pathLst>
              <a:path w="3701415" h="1917700">
                <a:moveTo>
                  <a:pt x="0" y="1917581"/>
                </a:moveTo>
                <a:lnTo>
                  <a:pt x="3700938" y="1917581"/>
                </a:lnTo>
                <a:lnTo>
                  <a:pt x="3700938" y="0"/>
                </a:lnTo>
                <a:lnTo>
                  <a:pt x="0" y="0"/>
                </a:lnTo>
                <a:lnTo>
                  <a:pt x="0" y="19175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279900" y="3901440"/>
            <a:ext cx="3956685" cy="1917700"/>
          </a:xfrm>
          <a:custGeom>
            <a:avLst/>
            <a:gdLst/>
            <a:ahLst/>
            <a:cxnLst/>
            <a:rect l="l" t="t" r="r" b="b"/>
            <a:pathLst>
              <a:path w="3701415" h="1917700">
                <a:moveTo>
                  <a:pt x="0" y="0"/>
                </a:moveTo>
                <a:lnTo>
                  <a:pt x="3700938" y="0"/>
                </a:lnTo>
                <a:lnTo>
                  <a:pt x="3700938" y="1917582"/>
                </a:lnTo>
                <a:lnTo>
                  <a:pt x="0" y="1917582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508626" y="3901428"/>
            <a:ext cx="2327910" cy="1020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700" marR="5080" indent="-127635">
              <a:lnSpc>
                <a:spcPct val="100000"/>
              </a:lnSpc>
            </a:pPr>
            <a:r>
              <a:rPr sz="1700" b="1" spc="-5" dirty="0">
                <a:latin typeface="Tahoma" panose="020B0604030504040204"/>
                <a:cs typeface="Tahoma" panose="020B0604030504040204"/>
              </a:rPr>
              <a:t>wh</a:t>
            </a:r>
            <a:r>
              <a:rPr sz="1700" b="1" spc="-10" dirty="0">
                <a:latin typeface="Tahoma" panose="020B0604030504040204"/>
                <a:cs typeface="Tahoma" panose="020B0604030504040204"/>
              </a:rPr>
              <a:t>il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(</a:t>
            </a:r>
            <a:r>
              <a:rPr sz="1700" b="1" spc="-10" dirty="0">
                <a:latin typeface="Tahoma" panose="020B0604030504040204"/>
                <a:cs typeface="Tahoma" panose="020B0604030504040204"/>
              </a:rPr>
              <a:t>t</a:t>
            </a:r>
            <a:r>
              <a:rPr sz="1700" b="1" spc="-10" dirty="0">
                <a:latin typeface="Tahoma" panose="020B0604030504040204"/>
                <a:cs typeface="Tahoma" panose="020B0604030504040204"/>
              </a:rPr>
              <a:t>r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u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)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{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wh</a:t>
            </a:r>
            <a:r>
              <a:rPr sz="1700" b="1" spc="-10" dirty="0">
                <a:latin typeface="Tahoma" panose="020B0604030504040204"/>
                <a:cs typeface="Tahoma" panose="020B0604030504040204"/>
              </a:rPr>
              <a:t>il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(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c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o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un</a:t>
            </a:r>
            <a:r>
              <a:rPr sz="1700" b="1" spc="-10" dirty="0">
                <a:latin typeface="Tahoma" panose="020B0604030504040204"/>
                <a:cs typeface="Tahoma" panose="020B0604030504040204"/>
              </a:rPr>
              <a:t>t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b="1" spc="-10" dirty="0">
                <a:latin typeface="Tahoma" panose="020B0604030504040204"/>
                <a:cs typeface="Tahoma" panose="020B0604030504040204"/>
              </a:rPr>
              <a:t>r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==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0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)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 marL="457200">
              <a:lnSpc>
                <a:spcPts val="2035"/>
              </a:lnSpc>
              <a:spcBef>
                <a:spcPts val="25"/>
              </a:spcBef>
            </a:pPr>
            <a:r>
              <a:rPr sz="1700" b="1" dirty="0">
                <a:solidFill>
                  <a:srgbClr val="FF0000"/>
                </a:solidFill>
                <a:latin typeface="Tahoma" panose="020B0604030504040204"/>
                <a:cs typeface="Tahoma" panose="020B0604030504040204"/>
              </a:rPr>
              <a:t>;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 marL="139700">
              <a:lnSpc>
                <a:spcPts val="2035"/>
              </a:lnSpc>
            </a:pPr>
            <a:r>
              <a:rPr sz="1700" b="1" spc="-10" dirty="0">
                <a:latin typeface="Tahoma" panose="020B0604030504040204"/>
                <a:cs typeface="Tahoma" panose="020B0604030504040204"/>
              </a:rPr>
              <a:t>it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em</a:t>
            </a:r>
            <a:r>
              <a:rPr sz="1700" b="1" spc="10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=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b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uf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f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b="1" spc="-10" dirty="0">
                <a:latin typeface="Tahoma" panose="020B0604030504040204"/>
                <a:cs typeface="Tahoma" panose="020B0604030504040204"/>
              </a:rPr>
              <a:t>r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[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o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ut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]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;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584945" y="5149768"/>
            <a:ext cx="365188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5" dirty="0">
                <a:latin typeface="Tahoma" panose="020B0604030504040204"/>
                <a:cs typeface="Tahoma" panose="020B0604030504040204"/>
              </a:rPr>
              <a:t>o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u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t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=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(o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u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t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+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1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)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%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B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U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FF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R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_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I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Z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;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43196" y="5393114"/>
            <a:ext cx="1252220" cy="499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700">
              <a:lnSpc>
                <a:spcPts val="2035"/>
              </a:lnSpc>
            </a:pPr>
            <a:r>
              <a:rPr sz="1700" b="1" spc="-5" dirty="0">
                <a:latin typeface="Tahoma" panose="020B0604030504040204"/>
                <a:cs typeface="Tahoma" panose="020B0604030504040204"/>
              </a:rPr>
              <a:t>c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o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unt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b="1" spc="-10" dirty="0">
                <a:latin typeface="Tahoma" panose="020B0604030504040204"/>
                <a:cs typeface="Tahoma" panose="020B0604030504040204"/>
              </a:rPr>
              <a:t>r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--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;</a:t>
            </a:r>
            <a:endParaRPr sz="1700">
              <a:latin typeface="Tahoma" panose="020B0604030504040204"/>
              <a:cs typeface="Tahoma" panose="020B0604030504040204"/>
            </a:endParaRPr>
          </a:p>
          <a:p>
            <a:pPr marL="12700">
              <a:lnSpc>
                <a:spcPts val="2035"/>
              </a:lnSpc>
            </a:pPr>
            <a:r>
              <a:rPr sz="1700" b="1" dirty="0">
                <a:latin typeface="Tahoma" panose="020B0604030504040204"/>
                <a:cs typeface="Tahoma" panose="020B0604030504040204"/>
              </a:rPr>
              <a:t>}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243196" y="3572366"/>
            <a:ext cx="132270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00006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消费者进</a:t>
            </a:r>
            <a:r>
              <a:rPr sz="1950" b="1" spc="75" dirty="0">
                <a:solidFill>
                  <a:srgbClr val="00006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程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970330" y="2278943"/>
            <a:ext cx="2649220" cy="779145"/>
          </a:xfrm>
          <a:custGeom>
            <a:avLst/>
            <a:gdLst/>
            <a:ahLst/>
            <a:cxnLst/>
            <a:rect l="l" t="t" r="r" b="b"/>
            <a:pathLst>
              <a:path w="2649220" h="779144">
                <a:moveTo>
                  <a:pt x="2648875" y="649112"/>
                </a:moveTo>
                <a:lnTo>
                  <a:pt x="311440" y="649112"/>
                </a:lnTo>
                <a:lnTo>
                  <a:pt x="311614" y="655890"/>
                </a:lnTo>
                <a:lnTo>
                  <a:pt x="320811" y="697623"/>
                </a:lnTo>
                <a:lnTo>
                  <a:pt x="342272" y="733096"/>
                </a:lnTo>
                <a:lnTo>
                  <a:pt x="373610" y="759923"/>
                </a:lnTo>
                <a:lnTo>
                  <a:pt x="412436" y="775715"/>
                </a:lnTo>
                <a:lnTo>
                  <a:pt x="441300" y="778934"/>
                </a:lnTo>
                <a:lnTo>
                  <a:pt x="1285372" y="778934"/>
                </a:lnTo>
                <a:lnTo>
                  <a:pt x="2525798" y="778760"/>
                </a:lnTo>
                <a:lnTo>
                  <a:pt x="2567542" y="769566"/>
                </a:lnTo>
                <a:lnTo>
                  <a:pt x="2603026" y="748110"/>
                </a:lnTo>
                <a:lnTo>
                  <a:pt x="2629860" y="716781"/>
                </a:lnTo>
                <a:lnTo>
                  <a:pt x="2645656" y="677966"/>
                </a:lnTo>
                <a:lnTo>
                  <a:pt x="2648875" y="649112"/>
                </a:lnTo>
                <a:close/>
              </a:path>
              <a:path w="2649220" h="779144">
                <a:moveTo>
                  <a:pt x="2519015" y="0"/>
                </a:moveTo>
                <a:lnTo>
                  <a:pt x="701013" y="0"/>
                </a:lnTo>
                <a:lnTo>
                  <a:pt x="434517" y="174"/>
                </a:lnTo>
                <a:lnTo>
                  <a:pt x="392773" y="9368"/>
                </a:lnTo>
                <a:lnTo>
                  <a:pt x="357290" y="30824"/>
                </a:lnTo>
                <a:lnTo>
                  <a:pt x="330456" y="62153"/>
                </a:lnTo>
                <a:lnTo>
                  <a:pt x="314660" y="100969"/>
                </a:lnTo>
                <a:lnTo>
                  <a:pt x="311440" y="129825"/>
                </a:lnTo>
                <a:lnTo>
                  <a:pt x="311440" y="454378"/>
                </a:lnTo>
                <a:lnTo>
                  <a:pt x="0" y="761986"/>
                </a:lnTo>
                <a:lnTo>
                  <a:pt x="311440" y="649112"/>
                </a:lnTo>
                <a:lnTo>
                  <a:pt x="2648875" y="649112"/>
                </a:lnTo>
                <a:lnTo>
                  <a:pt x="2648875" y="454378"/>
                </a:lnTo>
                <a:lnTo>
                  <a:pt x="2648701" y="123044"/>
                </a:lnTo>
                <a:lnTo>
                  <a:pt x="2639504" y="81311"/>
                </a:lnTo>
                <a:lnTo>
                  <a:pt x="2618043" y="45837"/>
                </a:lnTo>
                <a:lnTo>
                  <a:pt x="2586705" y="19010"/>
                </a:lnTo>
                <a:lnTo>
                  <a:pt x="2547880" y="3218"/>
                </a:lnTo>
                <a:lnTo>
                  <a:pt x="2533687" y="819"/>
                </a:lnTo>
                <a:lnTo>
                  <a:pt x="251901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970330" y="2278943"/>
            <a:ext cx="2649220" cy="779145"/>
          </a:xfrm>
          <a:custGeom>
            <a:avLst/>
            <a:gdLst/>
            <a:ahLst/>
            <a:cxnLst/>
            <a:rect l="l" t="t" r="r" b="b"/>
            <a:pathLst>
              <a:path w="2649220" h="779144">
                <a:moveTo>
                  <a:pt x="311440" y="129824"/>
                </a:moveTo>
                <a:lnTo>
                  <a:pt x="318551" y="87345"/>
                </a:lnTo>
                <a:lnTo>
                  <a:pt x="338292" y="50760"/>
                </a:lnTo>
                <a:lnTo>
                  <a:pt x="368274" y="22456"/>
                </a:lnTo>
                <a:lnTo>
                  <a:pt x="406110" y="4823"/>
                </a:lnTo>
                <a:lnTo>
                  <a:pt x="701013" y="0"/>
                </a:lnTo>
                <a:lnTo>
                  <a:pt x="1285371" y="0"/>
                </a:lnTo>
                <a:lnTo>
                  <a:pt x="2519015" y="0"/>
                </a:lnTo>
                <a:lnTo>
                  <a:pt x="2533687" y="819"/>
                </a:lnTo>
                <a:lnTo>
                  <a:pt x="2574478" y="12402"/>
                </a:lnTo>
                <a:lnTo>
                  <a:pt x="2608577" y="35816"/>
                </a:lnTo>
                <a:lnTo>
                  <a:pt x="2633596" y="68672"/>
                </a:lnTo>
                <a:lnTo>
                  <a:pt x="2647146" y="108584"/>
                </a:lnTo>
                <a:lnTo>
                  <a:pt x="2648875" y="454377"/>
                </a:lnTo>
                <a:lnTo>
                  <a:pt x="2648875" y="649111"/>
                </a:lnTo>
                <a:lnTo>
                  <a:pt x="2648056" y="663775"/>
                </a:lnTo>
                <a:lnTo>
                  <a:pt x="2636469" y="704556"/>
                </a:lnTo>
                <a:lnTo>
                  <a:pt x="2613049" y="738645"/>
                </a:lnTo>
                <a:lnTo>
                  <a:pt x="2580184" y="763657"/>
                </a:lnTo>
                <a:lnTo>
                  <a:pt x="2540261" y="777204"/>
                </a:lnTo>
                <a:lnTo>
                  <a:pt x="1285371" y="778933"/>
                </a:lnTo>
                <a:lnTo>
                  <a:pt x="701013" y="778933"/>
                </a:lnTo>
                <a:lnTo>
                  <a:pt x="441300" y="778933"/>
                </a:lnTo>
                <a:lnTo>
                  <a:pt x="426629" y="778113"/>
                </a:lnTo>
                <a:lnTo>
                  <a:pt x="385838" y="766530"/>
                </a:lnTo>
                <a:lnTo>
                  <a:pt x="351739" y="743117"/>
                </a:lnTo>
                <a:lnTo>
                  <a:pt x="326720" y="710260"/>
                </a:lnTo>
                <a:lnTo>
                  <a:pt x="313170" y="670348"/>
                </a:lnTo>
                <a:lnTo>
                  <a:pt x="311440" y="649111"/>
                </a:lnTo>
                <a:lnTo>
                  <a:pt x="0" y="761984"/>
                </a:lnTo>
                <a:lnTo>
                  <a:pt x="311440" y="454377"/>
                </a:lnTo>
                <a:lnTo>
                  <a:pt x="311440" y="129824"/>
                </a:lnTo>
                <a:close/>
              </a:path>
            </a:pathLst>
          </a:custGeom>
          <a:ln w="162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398925" y="2390981"/>
            <a:ext cx="2101215" cy="594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8315" marR="5080" indent="-476250">
              <a:lnSpc>
                <a:spcPct val="10000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注意：这些都是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r>
              <a:rPr sz="1950" b="1" spc="3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户态程序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!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5595">
              <a:lnSpc>
                <a:spcPct val="100000"/>
              </a:lnSpc>
            </a:pPr>
            <a:r>
              <a:rPr sz="2950" spc="100" dirty="0"/>
              <a:t>找到哪些地方要停，什么时候再走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?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2400" y="2012033"/>
            <a:ext cx="7654925" cy="1406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需要让“进程走走停停”来保证多进程合作的合理有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序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2416175">
              <a:lnSpc>
                <a:spcPct val="100000"/>
              </a:lnSpc>
              <a:spcBef>
                <a:spcPts val="1805"/>
              </a:spcBef>
            </a:pPr>
            <a:r>
              <a:rPr sz="230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这就是进程同</a:t>
            </a:r>
            <a:r>
              <a:rPr sz="2300" b="1" spc="9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步</a:t>
            </a:r>
            <a:endParaRPr sz="23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ts val="2330"/>
              </a:lnSpc>
              <a:spcBef>
                <a:spcPts val="1390"/>
              </a:spcBef>
              <a:tabLst>
                <a:tab pos="3778250" algn="l"/>
              </a:tabLst>
            </a:pPr>
            <a:r>
              <a:rPr sz="1950" b="1" dirty="0">
                <a:solidFill>
                  <a:srgbClr val="00006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	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69900" y="3092450"/>
            <a:ext cx="8115300" cy="32537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ts val="3470"/>
              </a:lnSpc>
            </a:pPr>
            <a:r>
              <a:rPr spc="100" dirty="0"/>
              <a:t>只发信号还不能解决全部问题</a:t>
            </a:r>
            <a:endParaRPr spc="100" dirty="0"/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69900" y="1949450"/>
            <a:ext cx="9074150" cy="4450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ts val="3470"/>
              </a:lnSpc>
            </a:pPr>
            <a:r>
              <a:rPr spc="100" dirty="0"/>
              <a:t>从信号到信号量</a:t>
            </a:r>
            <a:endParaRPr spc="100" dirty="0"/>
          </a:p>
        </p:txBody>
      </p:sp>
      <p:sp>
        <p:nvSpPr>
          <p:cNvPr id="3" name="object 3"/>
          <p:cNvSpPr/>
          <p:nvPr/>
        </p:nvSpPr>
        <p:spPr>
          <a:xfrm>
            <a:off x="959951" y="2984852"/>
            <a:ext cx="160969" cy="16362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59951" y="3394604"/>
            <a:ext cx="160969" cy="16362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59951" y="3861153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59951" y="4376384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59951" y="4883503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59951" y="5419020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91439" y="2863704"/>
            <a:ext cx="6247130" cy="3502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能记录有“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2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个进程等待”就可以了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sz="2000" b="1" i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i="1" spc="20" dirty="0">
                <a:latin typeface="Arial" panose="020B0604020202020204"/>
                <a:cs typeface="Arial" panose="020B0604020202020204"/>
              </a:rPr>
              <a:t>1</a:t>
            </a:r>
            <a:r>
              <a:rPr sz="2000" b="1" i="1" spc="10" dirty="0">
                <a:latin typeface="Arial" panose="020B0604020202020204"/>
                <a:cs typeface="Arial" panose="020B0604020202020204"/>
              </a:rPr>
              <a:t>)</a:t>
            </a:r>
            <a:r>
              <a:rPr sz="2000" b="1" i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3000" b="1" i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缓冲区满</a:t>
            </a:r>
            <a:r>
              <a:rPr sz="3000" b="1" i="1" spc="3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 b="1" i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25" b="1" i="1" spc="7" baseline="-19000" dirty="0">
                <a:latin typeface="Arial" panose="020B0604020202020204"/>
                <a:cs typeface="Arial" panose="020B0604020202020204"/>
              </a:rPr>
              <a:t>1</a:t>
            </a:r>
            <a:r>
              <a:rPr sz="3000" b="1" i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执行</a:t>
            </a:r>
            <a:r>
              <a:rPr sz="3000" b="1" i="1" spc="3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 b="1" i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25" b="1" i="1" spc="7" baseline="-19000" dirty="0">
                <a:latin typeface="Arial" panose="020B0604020202020204"/>
                <a:cs typeface="Arial" panose="020B0604020202020204"/>
              </a:rPr>
              <a:t>1</a:t>
            </a:r>
            <a:r>
              <a:rPr sz="2025" b="1" i="1" spc="277" baseline="-1900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i="1" spc="20" dirty="0">
                <a:latin typeface="Arial" panose="020B0604020202020204"/>
                <a:cs typeface="Arial" panose="020B0604020202020204"/>
              </a:rPr>
              <a:t>s</a:t>
            </a:r>
            <a:r>
              <a:rPr sz="2000" b="1" i="1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i="1" spc="20" dirty="0">
                <a:latin typeface="Arial" panose="020B0604020202020204"/>
                <a:cs typeface="Arial" panose="020B0604020202020204"/>
              </a:rPr>
              <a:t>ee</a:t>
            </a:r>
            <a:r>
              <a:rPr sz="2000" b="1" i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3000" b="1" i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，记录</a:t>
            </a:r>
            <a:r>
              <a:rPr sz="3000" b="1" i="1" spc="3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下</a:t>
            </a:r>
            <a:r>
              <a:rPr sz="2000" b="1" i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3000" b="1" i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个进程等</a:t>
            </a:r>
            <a:r>
              <a:rPr sz="3000" b="1" i="1" spc="3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待</a:t>
            </a:r>
            <a:endParaRPr sz="3000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2000" b="1" i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i="1" spc="20" dirty="0">
                <a:latin typeface="Arial" panose="020B0604020202020204"/>
                <a:cs typeface="Arial" panose="020B0604020202020204"/>
              </a:rPr>
              <a:t>2</a:t>
            </a:r>
            <a:r>
              <a:rPr sz="2000" b="1" i="1" spc="10" dirty="0">
                <a:latin typeface="Arial" panose="020B0604020202020204"/>
                <a:cs typeface="Arial" panose="020B0604020202020204"/>
              </a:rPr>
              <a:t>)</a:t>
            </a:r>
            <a:r>
              <a:rPr sz="2000" b="1" i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i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25" b="1" i="1" spc="7" baseline="-19000" dirty="0">
                <a:latin typeface="Arial" panose="020B0604020202020204"/>
                <a:cs typeface="Arial" panose="020B0604020202020204"/>
              </a:rPr>
              <a:t>2</a:t>
            </a:r>
            <a:r>
              <a:rPr sz="3000" b="1" i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执行</a:t>
            </a:r>
            <a:r>
              <a:rPr sz="3000" b="1" i="1" spc="3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3000" b="1" i="1" spc="-660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i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25" b="1" i="1" spc="7" baseline="-19000" dirty="0">
                <a:latin typeface="Arial" panose="020B0604020202020204"/>
                <a:cs typeface="Arial" panose="020B0604020202020204"/>
              </a:rPr>
              <a:t>2</a:t>
            </a:r>
            <a:r>
              <a:rPr sz="2025" b="1" i="1" spc="277" baseline="-1900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i="1" spc="20" dirty="0">
                <a:latin typeface="Arial" panose="020B0604020202020204"/>
                <a:cs typeface="Arial" panose="020B0604020202020204"/>
              </a:rPr>
              <a:t>s</a:t>
            </a:r>
            <a:r>
              <a:rPr sz="2000" b="1" i="1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i="1" spc="20" dirty="0">
                <a:latin typeface="Arial" panose="020B0604020202020204"/>
                <a:cs typeface="Arial" panose="020B0604020202020204"/>
              </a:rPr>
              <a:t>ee</a:t>
            </a:r>
            <a:r>
              <a:rPr sz="2000" b="1" i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3000" b="1" i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，记录</a:t>
            </a:r>
            <a:r>
              <a:rPr sz="3000" b="1" i="1" spc="3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下</a:t>
            </a:r>
            <a:r>
              <a:rPr sz="2000" b="1" i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3000" b="1" i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个进程等</a:t>
            </a:r>
            <a:r>
              <a:rPr sz="3000" b="1" i="1" spc="3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待</a:t>
            </a:r>
            <a:endParaRPr sz="3000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sz="2000" b="1" i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i="1" spc="20" dirty="0">
                <a:latin typeface="Arial" panose="020B0604020202020204"/>
                <a:cs typeface="Arial" panose="020B0604020202020204"/>
              </a:rPr>
              <a:t>3</a:t>
            </a:r>
            <a:r>
              <a:rPr sz="2000" b="1" i="1" spc="10" dirty="0">
                <a:latin typeface="Arial" panose="020B0604020202020204"/>
                <a:cs typeface="Arial" panose="020B0604020202020204"/>
              </a:rPr>
              <a:t>)</a:t>
            </a:r>
            <a:r>
              <a:rPr sz="2000" b="1" i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i="1" spc="30" dirty="0">
                <a:latin typeface="Arial" panose="020B0604020202020204"/>
                <a:cs typeface="Arial" panose="020B0604020202020204"/>
              </a:rPr>
              <a:t>C</a:t>
            </a:r>
            <a:r>
              <a:rPr sz="3000" b="1" i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执</a:t>
            </a:r>
            <a:r>
              <a:rPr sz="3000" b="1" i="1" spc="3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行</a:t>
            </a:r>
            <a:r>
              <a:rPr sz="2000" b="1" i="1" spc="25" dirty="0">
                <a:latin typeface="Arial" panose="020B0604020202020204"/>
                <a:cs typeface="Arial" panose="020B0604020202020204"/>
              </a:rPr>
              <a:t>1</a:t>
            </a:r>
            <a:r>
              <a:rPr sz="3000" b="1" i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次循环，发</a:t>
            </a:r>
            <a:r>
              <a:rPr sz="3000" b="1" i="1" spc="3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现</a:t>
            </a:r>
            <a:r>
              <a:rPr sz="2000" b="1" i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3000" b="1" i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个进程等待</a:t>
            </a:r>
            <a:r>
              <a:rPr sz="3000" b="1" i="1" spc="3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 b="1" i="1" spc="25" dirty="0">
                <a:latin typeface="Arial" panose="020B0604020202020204"/>
                <a:cs typeface="Arial" panose="020B0604020202020204"/>
              </a:rPr>
              <a:t>wa</a:t>
            </a:r>
            <a:r>
              <a:rPr sz="2000" b="1" i="1" spc="20" dirty="0">
                <a:latin typeface="Arial" panose="020B0604020202020204"/>
                <a:cs typeface="Arial" panose="020B0604020202020204"/>
              </a:rPr>
              <a:t>ke</a:t>
            </a:r>
            <a:r>
              <a:rPr sz="2000" b="1" i="1" spc="20" dirty="0">
                <a:latin typeface="Arial" panose="020B0604020202020204"/>
                <a:cs typeface="Arial" panose="020B0604020202020204"/>
              </a:rPr>
              <a:t>up</a:t>
            </a:r>
            <a:r>
              <a:rPr sz="2000" b="1" i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i="1" spc="25" dirty="0">
                <a:latin typeface="Arial" panose="020B0604020202020204"/>
                <a:cs typeface="Arial" panose="020B0604020202020204"/>
              </a:rPr>
              <a:t>1</a:t>
            </a:r>
            <a:r>
              <a:rPr sz="3000" b="1" i="1" spc="3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个</a:t>
            </a:r>
            <a:endParaRPr sz="3000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2000" b="1" i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i="1" spc="20" dirty="0">
                <a:latin typeface="Arial" panose="020B0604020202020204"/>
                <a:cs typeface="Arial" panose="020B0604020202020204"/>
              </a:rPr>
              <a:t>4</a:t>
            </a:r>
            <a:r>
              <a:rPr sz="2000" b="1" i="1" spc="10" dirty="0">
                <a:latin typeface="Arial" panose="020B0604020202020204"/>
                <a:cs typeface="Arial" panose="020B0604020202020204"/>
              </a:rPr>
              <a:t>)</a:t>
            </a:r>
            <a:r>
              <a:rPr sz="2000" b="1" i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i="1" spc="30" dirty="0">
                <a:latin typeface="Arial" panose="020B0604020202020204"/>
                <a:cs typeface="Arial" panose="020B0604020202020204"/>
              </a:rPr>
              <a:t>C</a:t>
            </a:r>
            <a:r>
              <a:rPr sz="3000" b="1" i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再执</a:t>
            </a:r>
            <a:r>
              <a:rPr sz="3000" b="1" i="1" spc="3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行</a:t>
            </a:r>
            <a:r>
              <a:rPr sz="2000" b="1" i="1" spc="25" dirty="0">
                <a:latin typeface="Arial" panose="020B0604020202020204"/>
                <a:cs typeface="Arial" panose="020B0604020202020204"/>
              </a:rPr>
              <a:t>1</a:t>
            </a:r>
            <a:r>
              <a:rPr sz="3000" b="1" i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次循环，发</a:t>
            </a:r>
            <a:r>
              <a:rPr sz="3000" b="1" i="1" spc="3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现</a:t>
            </a:r>
            <a:r>
              <a:rPr sz="2000" b="1" i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</a:t>
            </a:r>
            <a:r>
              <a:rPr sz="3000" b="1" i="1" spc="5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个进</a:t>
            </a:r>
            <a:r>
              <a:rPr sz="3000" b="1" i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程等待，</a:t>
            </a:r>
            <a:r>
              <a:rPr sz="3000" b="1" i="1" spc="3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再</a:t>
            </a:r>
            <a:r>
              <a:rPr sz="2000" b="1" i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 indent="-635">
              <a:lnSpc>
                <a:spcPct val="100000"/>
              </a:lnSpc>
              <a:spcBef>
                <a:spcPts val="1815"/>
              </a:spcBef>
            </a:pPr>
            <a:r>
              <a:rPr sz="2000" b="1" i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i="1" spc="20" dirty="0">
                <a:latin typeface="Arial" panose="020B0604020202020204"/>
                <a:cs typeface="Arial" panose="020B0604020202020204"/>
              </a:rPr>
              <a:t>5</a:t>
            </a:r>
            <a:r>
              <a:rPr sz="2000" b="1" i="1" spc="10" dirty="0">
                <a:latin typeface="Arial" panose="020B0604020202020204"/>
                <a:cs typeface="Arial" panose="020B0604020202020204"/>
              </a:rPr>
              <a:t>)</a:t>
            </a:r>
            <a:r>
              <a:rPr sz="2000" b="1" i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i="1" spc="30" dirty="0">
                <a:latin typeface="Arial" panose="020B0604020202020204"/>
                <a:cs typeface="Arial" panose="020B0604020202020204"/>
              </a:rPr>
              <a:t>C</a:t>
            </a:r>
            <a:r>
              <a:rPr sz="3000" b="1" i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再执</a:t>
            </a:r>
            <a:r>
              <a:rPr sz="3000" b="1" i="1" spc="3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行</a:t>
            </a:r>
            <a:r>
              <a:rPr sz="2000" b="1" i="1" spc="25" dirty="0">
                <a:latin typeface="Arial" panose="020B0604020202020204"/>
                <a:cs typeface="Arial" panose="020B0604020202020204"/>
              </a:rPr>
              <a:t>1</a:t>
            </a:r>
            <a:r>
              <a:rPr sz="3000" b="1" i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次循环，</a:t>
            </a:r>
            <a:r>
              <a:rPr sz="3000" b="1" i="1" spc="5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怎么</a:t>
            </a:r>
            <a:r>
              <a:rPr sz="3000" b="1" i="1" spc="3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办</a:t>
            </a:r>
            <a:r>
              <a:rPr sz="2000" b="1" i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</a:t>
            </a:r>
            <a:r>
              <a:rPr sz="2000" b="1" i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b="1" i="1" spc="5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此时再</a:t>
            </a:r>
            <a:r>
              <a:rPr sz="3000" b="1" i="1" spc="3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来</a:t>
            </a:r>
            <a:r>
              <a:rPr sz="2000" b="1" i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25" b="1" i="1" spc="7" baseline="-19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3000" b="1" i="1" spc="5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怎么</a:t>
            </a:r>
            <a:r>
              <a:rPr sz="3000" b="1" i="1" spc="3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办</a:t>
            </a:r>
            <a:r>
              <a:rPr sz="2000" b="1" i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 marR="819785">
              <a:lnSpc>
                <a:spcPct val="103000"/>
              </a:lnSpc>
              <a:spcBef>
                <a:spcPts val="920"/>
              </a:spcBef>
              <a:tabLst>
                <a:tab pos="1871980" algn="l"/>
              </a:tabLst>
            </a:pPr>
            <a:r>
              <a:rPr sz="2925" b="1" spc="127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什么是信号量</a:t>
            </a:r>
            <a:r>
              <a:rPr sz="2000" b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?</a:t>
            </a:r>
            <a:r>
              <a:rPr sz="20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925" b="1" spc="127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记录一些信息</a:t>
            </a:r>
            <a:r>
              <a:rPr sz="2000" b="1" spc="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量</a:t>
            </a:r>
            <a:r>
              <a:rPr sz="2000" b="1" spc="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sz="2925" b="1" spc="127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，并根据这</a:t>
            </a:r>
            <a:r>
              <a:rPr sz="2925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个</a:t>
            </a:r>
            <a:r>
              <a:rPr sz="2925" b="1" spc="5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信息决定睡眠还是唤醒</a:t>
            </a:r>
            <a:r>
              <a:rPr sz="2000" b="1" spc="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信号</a:t>
            </a:r>
            <a:r>
              <a:rPr sz="2000" b="1" spc="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sz="2925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10" name="object 10"/>
          <p:cNvSpPr txBox="1"/>
          <p:nvPr/>
        </p:nvSpPr>
        <p:spPr>
          <a:xfrm>
            <a:off x="542258" y="1882245"/>
            <a:ext cx="3836035" cy="880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不只是等待信号、发信号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305"/>
              </a:spcBef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还应该能记录一些信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息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59724" y="1868942"/>
            <a:ext cx="2247900" cy="342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对应睡眠和唤醒</a:t>
            </a:r>
            <a:r>
              <a:rPr sz="2400" b="1" dirty="0">
                <a:latin typeface="Arial" panose="020B0604020202020204"/>
                <a:cs typeface="Arial" panose="020B0604020202020204"/>
              </a:rPr>
              <a:t>!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2240">
              <a:lnSpc>
                <a:spcPct val="100000"/>
              </a:lnSpc>
            </a:pPr>
            <a:r>
              <a:rPr sz="2950" spc="100" dirty="0"/>
              <a:t>信号量开始工作</a:t>
            </a:r>
            <a:r>
              <a:rPr sz="3050" spc="15" dirty="0">
                <a:latin typeface="Arial" panose="020B0604020202020204"/>
                <a:cs typeface="Arial" panose="020B0604020202020204"/>
              </a:rPr>
              <a:t>…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70379" y="2368197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01867" y="2846159"/>
            <a:ext cx="1462405" cy="344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i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i="1" spc="20" dirty="0">
                <a:latin typeface="Arial" panose="020B0604020202020204"/>
                <a:cs typeface="Arial" panose="020B0604020202020204"/>
              </a:rPr>
              <a:t>2</a:t>
            </a:r>
            <a:r>
              <a:rPr sz="2000" b="1" i="1" spc="10" dirty="0">
                <a:latin typeface="Arial" panose="020B0604020202020204"/>
                <a:cs typeface="Arial" panose="020B0604020202020204"/>
              </a:rPr>
              <a:t>)</a:t>
            </a:r>
            <a:r>
              <a:rPr sz="2000" b="1" i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i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25" b="1" i="1" spc="7" baseline="-19000" dirty="0">
                <a:latin typeface="Arial" panose="020B0604020202020204"/>
                <a:cs typeface="Arial" panose="020B0604020202020204"/>
              </a:rPr>
              <a:t>2</a:t>
            </a:r>
            <a:r>
              <a:rPr sz="3000" b="1" i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执行</a:t>
            </a:r>
            <a:r>
              <a:rPr sz="3000" b="1" i="1" spc="3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sz="3000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70379" y="2899657"/>
            <a:ext cx="160969" cy="16362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01867" y="3388290"/>
            <a:ext cx="2305050" cy="300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i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i="1" spc="20" dirty="0">
                <a:latin typeface="Arial" panose="020B0604020202020204"/>
                <a:cs typeface="Arial" panose="020B0604020202020204"/>
              </a:rPr>
              <a:t>3</a:t>
            </a:r>
            <a:r>
              <a:rPr sz="2000" b="1" i="1" spc="10" dirty="0">
                <a:latin typeface="Arial" panose="020B0604020202020204"/>
                <a:cs typeface="Arial" panose="020B0604020202020204"/>
              </a:rPr>
              <a:t>)</a:t>
            </a:r>
            <a:r>
              <a:rPr sz="2000" b="1" i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i="1" spc="30" dirty="0">
                <a:latin typeface="Arial" panose="020B0604020202020204"/>
                <a:cs typeface="Arial" panose="020B0604020202020204"/>
              </a:rPr>
              <a:t>C</a:t>
            </a:r>
            <a:r>
              <a:rPr sz="3000" b="1" i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执</a:t>
            </a:r>
            <a:r>
              <a:rPr sz="3000" b="1" i="1" spc="3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行</a:t>
            </a:r>
            <a:r>
              <a:rPr sz="2000" b="1" i="1" spc="25" dirty="0">
                <a:latin typeface="Arial" panose="020B0604020202020204"/>
                <a:cs typeface="Arial" panose="020B0604020202020204"/>
              </a:rPr>
              <a:t>1</a:t>
            </a:r>
            <a:r>
              <a:rPr sz="3000" b="1" i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次循环</a:t>
            </a:r>
            <a:r>
              <a:rPr sz="3000" b="1" i="1" spc="3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sz="3000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70379" y="3454106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70379" y="4008555"/>
            <a:ext cx="160969" cy="16362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70379" y="4544072"/>
            <a:ext cx="160969" cy="16362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70379" y="5063361"/>
            <a:ext cx="160969" cy="16362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82543" y="1789179"/>
            <a:ext cx="4286250" cy="853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初始</a:t>
            </a:r>
            <a:r>
              <a:rPr sz="3450" b="1" spc="135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时</a:t>
            </a:r>
            <a:r>
              <a:rPr sz="3450" b="1" spc="-77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se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400" b="1" spc="-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400" b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531495">
              <a:lnSpc>
                <a:spcPct val="100000"/>
              </a:lnSpc>
              <a:spcBef>
                <a:spcPts val="1270"/>
              </a:spcBef>
            </a:pPr>
            <a:r>
              <a:rPr sz="2000" b="1" i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i="1" spc="20" dirty="0">
                <a:latin typeface="Arial" panose="020B0604020202020204"/>
                <a:cs typeface="Arial" panose="020B0604020202020204"/>
              </a:rPr>
              <a:t>1</a:t>
            </a:r>
            <a:r>
              <a:rPr sz="2000" b="1" i="1" spc="10" dirty="0">
                <a:latin typeface="Arial" panose="020B0604020202020204"/>
                <a:cs typeface="Arial" panose="020B0604020202020204"/>
              </a:rPr>
              <a:t>)</a:t>
            </a:r>
            <a:r>
              <a:rPr sz="2000" b="1" i="1" spc="15" dirty="0">
                <a:latin typeface="Arial" panose="020B0604020202020204"/>
                <a:cs typeface="Arial" panose="020B0604020202020204"/>
              </a:rPr>
              <a:t> </a:t>
            </a:r>
            <a:r>
              <a:rPr sz="3000" b="1" i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缓冲区满</a:t>
            </a:r>
            <a:r>
              <a:rPr sz="3000" b="1" i="1" spc="3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 b="1" i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25" b="1" i="1" spc="7" baseline="-19000" dirty="0">
                <a:latin typeface="Arial" panose="020B0604020202020204"/>
                <a:cs typeface="Arial" panose="020B0604020202020204"/>
              </a:rPr>
              <a:t>1</a:t>
            </a:r>
            <a:r>
              <a:rPr sz="3000" b="1" i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执行</a:t>
            </a:r>
            <a:r>
              <a:rPr sz="3000" b="1" i="1" spc="3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 b="1" i="1" spc="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25" b="1" i="1" spc="7" baseline="-19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025" b="1" i="1" spc="277" baseline="-19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i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000" b="1" i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i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eep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0762" y="3829525"/>
            <a:ext cx="3916045" cy="1400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76000"/>
              </a:lnSpc>
            </a:pPr>
            <a:r>
              <a:rPr sz="2000" b="1" i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i="1" spc="20" dirty="0">
                <a:latin typeface="Arial" panose="020B0604020202020204"/>
                <a:cs typeface="Arial" panose="020B0604020202020204"/>
              </a:rPr>
              <a:t>4</a:t>
            </a:r>
            <a:r>
              <a:rPr sz="2000" b="1" i="1" spc="10" dirty="0">
                <a:latin typeface="Arial" panose="020B0604020202020204"/>
                <a:cs typeface="Arial" panose="020B0604020202020204"/>
              </a:rPr>
              <a:t>)</a:t>
            </a:r>
            <a:r>
              <a:rPr sz="2000" b="1" i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i="1" spc="30" dirty="0">
                <a:latin typeface="Arial" panose="020B0604020202020204"/>
                <a:cs typeface="Arial" panose="020B0604020202020204"/>
              </a:rPr>
              <a:t>C</a:t>
            </a:r>
            <a:r>
              <a:rPr sz="3000" b="1" i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再执</a:t>
            </a:r>
            <a:r>
              <a:rPr sz="3000" b="1" i="1" spc="3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行</a:t>
            </a:r>
            <a:r>
              <a:rPr sz="2000" b="1" i="1" spc="25" dirty="0">
                <a:latin typeface="Arial" panose="020B0604020202020204"/>
                <a:cs typeface="Arial" panose="020B0604020202020204"/>
              </a:rPr>
              <a:t>1</a:t>
            </a:r>
            <a:r>
              <a:rPr sz="3000" b="1" i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次循环</a:t>
            </a:r>
            <a:r>
              <a:rPr sz="3000" b="1" i="1" spc="3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3000" b="1" i="1" spc="-83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000" b="1" i="1" spc="37" baseline="4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wa</a:t>
            </a:r>
            <a:r>
              <a:rPr sz="3000" b="1" i="1" spc="30" baseline="4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ke</a:t>
            </a:r>
            <a:r>
              <a:rPr sz="3000" b="1" i="1" spc="30" baseline="4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up</a:t>
            </a:r>
            <a:r>
              <a:rPr sz="3000" b="1" i="1" spc="15" baseline="4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b="1" i="1" spc="37" baseline="4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25" b="1" i="1" spc="7" baseline="-14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025" b="1" i="1" baseline="-14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i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i="1" spc="20" dirty="0">
                <a:latin typeface="Arial" panose="020B0604020202020204"/>
                <a:cs typeface="Arial" panose="020B0604020202020204"/>
              </a:rPr>
              <a:t>5</a:t>
            </a:r>
            <a:r>
              <a:rPr sz="2000" b="1" i="1" spc="10" dirty="0">
                <a:latin typeface="Arial" panose="020B0604020202020204"/>
                <a:cs typeface="Arial" panose="020B0604020202020204"/>
              </a:rPr>
              <a:t>)</a:t>
            </a:r>
            <a:r>
              <a:rPr sz="2000" b="1" i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i="1" spc="30" dirty="0">
                <a:latin typeface="Arial" panose="020B0604020202020204"/>
                <a:cs typeface="Arial" panose="020B0604020202020204"/>
              </a:rPr>
              <a:t>C</a:t>
            </a:r>
            <a:r>
              <a:rPr sz="3000" b="1" i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再执</a:t>
            </a:r>
            <a:r>
              <a:rPr sz="3000" b="1" i="1" spc="3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行</a:t>
            </a:r>
            <a:r>
              <a:rPr sz="2000" b="1" i="1" spc="25" dirty="0">
                <a:latin typeface="Arial" panose="020B0604020202020204"/>
                <a:cs typeface="Arial" panose="020B0604020202020204"/>
              </a:rPr>
              <a:t>1</a:t>
            </a:r>
            <a:r>
              <a:rPr sz="3000" b="1" i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次循环</a:t>
            </a:r>
            <a:r>
              <a:rPr sz="3000" b="1" i="1" spc="3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endParaRPr sz="3000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  <a:tabLst>
                <a:tab pos="1830070" algn="l"/>
              </a:tabLst>
            </a:pPr>
            <a:r>
              <a:rPr sz="2000" b="1" i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i="1" spc="20" dirty="0">
                <a:latin typeface="Arial" panose="020B0604020202020204"/>
                <a:cs typeface="Arial" panose="020B0604020202020204"/>
              </a:rPr>
              <a:t>6</a:t>
            </a:r>
            <a:r>
              <a:rPr sz="2000" b="1" i="1" spc="10" dirty="0">
                <a:latin typeface="Arial" panose="020B0604020202020204"/>
                <a:cs typeface="Arial" panose="020B0604020202020204"/>
              </a:rPr>
              <a:t>)</a:t>
            </a:r>
            <a:r>
              <a:rPr sz="2000" b="1" i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i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25" b="1" i="1" spc="7" baseline="-19000" dirty="0">
                <a:latin typeface="Arial" panose="020B0604020202020204"/>
                <a:cs typeface="Arial" panose="020B0604020202020204"/>
              </a:rPr>
              <a:t>3</a:t>
            </a:r>
            <a:r>
              <a:rPr sz="3000" b="1" i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执行</a:t>
            </a:r>
            <a:r>
              <a:rPr sz="3000" b="1" i="1" spc="3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3000" b="1" i="1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sz="2000" b="1" i="1" spc="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25" b="1" i="1" spc="7" baseline="-19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025" b="1" i="1" baseline="-19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25" b="1" i="1" spc="-277" baseline="-19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000" b="1" i="1" spc="5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继续执</a:t>
            </a:r>
            <a:r>
              <a:rPr sz="3000" b="1" i="1" spc="37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行</a:t>
            </a:r>
            <a:endParaRPr sz="3000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86985" y="2330450"/>
            <a:ext cx="1248410" cy="33635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se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400" b="1" spc="-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400" b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se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400" b="1" spc="-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400" b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2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se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400" b="1" spc="-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400" b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715"/>
              </a:spcBef>
            </a:pP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se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400" b="1" spc="-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400" b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se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400" b="1" spc="-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400" b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se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400" b="1" spc="-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400" b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84801" y="2834573"/>
            <a:ext cx="1031240" cy="327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i="1" spc="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25" b="1" i="1" spc="7" baseline="-19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025" b="1" i="1" spc="277" baseline="-19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i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000" b="1" i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i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eep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99017" y="3388872"/>
            <a:ext cx="1318895" cy="327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i="1" spc="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wa</a:t>
            </a:r>
            <a:r>
              <a:rPr sz="2000" b="1" i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ke</a:t>
            </a:r>
            <a:r>
              <a:rPr sz="2000" b="1" i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up</a:t>
            </a:r>
            <a:r>
              <a:rPr sz="2000" b="1" i="1" spc="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i="1" spc="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25" b="1" i="1" spc="7" baseline="-1900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1</a:t>
            </a:r>
            <a:endParaRPr sz="2025" baseline="-19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212690" y="4283075"/>
            <a:ext cx="1601470" cy="389890"/>
          </a:xfrm>
          <a:custGeom>
            <a:avLst/>
            <a:gdLst/>
            <a:ahLst/>
            <a:cxnLst/>
            <a:rect l="l" t="t" r="r" b="b"/>
            <a:pathLst>
              <a:path w="1601470" h="389889">
                <a:moveTo>
                  <a:pt x="172869" y="64911"/>
                </a:moveTo>
                <a:lnTo>
                  <a:pt x="186295" y="25379"/>
                </a:lnTo>
                <a:lnTo>
                  <a:pt x="220204" y="2411"/>
                </a:lnTo>
                <a:lnTo>
                  <a:pt x="410941" y="0"/>
                </a:lnTo>
                <a:lnTo>
                  <a:pt x="768049" y="0"/>
                </a:lnTo>
                <a:lnTo>
                  <a:pt x="1536372" y="0"/>
                </a:lnTo>
                <a:lnTo>
                  <a:pt x="1550804" y="1609"/>
                </a:lnTo>
                <a:lnTo>
                  <a:pt x="1585886" y="22918"/>
                </a:lnTo>
                <a:lnTo>
                  <a:pt x="1601214" y="61522"/>
                </a:lnTo>
                <a:lnTo>
                  <a:pt x="1601301" y="227188"/>
                </a:lnTo>
                <a:lnTo>
                  <a:pt x="1601301" y="324556"/>
                </a:lnTo>
                <a:lnTo>
                  <a:pt x="1599692" y="338983"/>
                </a:lnTo>
                <a:lnTo>
                  <a:pt x="1578377" y="374055"/>
                </a:lnTo>
                <a:lnTo>
                  <a:pt x="1539762" y="389379"/>
                </a:lnTo>
                <a:lnTo>
                  <a:pt x="768049" y="389466"/>
                </a:lnTo>
                <a:lnTo>
                  <a:pt x="410941" y="389466"/>
                </a:lnTo>
                <a:lnTo>
                  <a:pt x="237798" y="389466"/>
                </a:lnTo>
                <a:lnTo>
                  <a:pt x="223366" y="387857"/>
                </a:lnTo>
                <a:lnTo>
                  <a:pt x="188284" y="366547"/>
                </a:lnTo>
                <a:lnTo>
                  <a:pt x="172956" y="327944"/>
                </a:lnTo>
                <a:lnTo>
                  <a:pt x="172869" y="324556"/>
                </a:lnTo>
                <a:lnTo>
                  <a:pt x="0" y="340873"/>
                </a:lnTo>
                <a:lnTo>
                  <a:pt x="172869" y="227188"/>
                </a:lnTo>
                <a:lnTo>
                  <a:pt x="172869" y="64911"/>
                </a:lnTo>
                <a:close/>
              </a:path>
            </a:pathLst>
          </a:custGeom>
          <a:ln w="162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488508" y="4342977"/>
            <a:ext cx="122174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什么含义</a:t>
            </a:r>
            <a:r>
              <a:rPr sz="2000" b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277620" y="2154532"/>
            <a:ext cx="1601470" cy="389890"/>
          </a:xfrm>
          <a:custGeom>
            <a:avLst/>
            <a:gdLst/>
            <a:ahLst/>
            <a:cxnLst/>
            <a:rect l="l" t="t" r="r" b="b"/>
            <a:pathLst>
              <a:path w="1601470" h="389889">
                <a:moveTo>
                  <a:pt x="1601300" y="324556"/>
                </a:moveTo>
                <a:lnTo>
                  <a:pt x="172868" y="324556"/>
                </a:lnTo>
                <a:lnTo>
                  <a:pt x="172955" y="327944"/>
                </a:lnTo>
                <a:lnTo>
                  <a:pt x="188284" y="366547"/>
                </a:lnTo>
                <a:lnTo>
                  <a:pt x="223366" y="387856"/>
                </a:lnTo>
                <a:lnTo>
                  <a:pt x="237798" y="389465"/>
                </a:lnTo>
                <a:lnTo>
                  <a:pt x="1539762" y="389378"/>
                </a:lnTo>
                <a:lnTo>
                  <a:pt x="1578376" y="374054"/>
                </a:lnTo>
                <a:lnTo>
                  <a:pt x="1599691" y="338982"/>
                </a:lnTo>
                <a:lnTo>
                  <a:pt x="1601300" y="324556"/>
                </a:lnTo>
                <a:close/>
              </a:path>
              <a:path w="1601470" h="389889">
                <a:moveTo>
                  <a:pt x="1536372" y="0"/>
                </a:moveTo>
                <a:lnTo>
                  <a:pt x="234408" y="86"/>
                </a:lnTo>
                <a:lnTo>
                  <a:pt x="195793" y="15410"/>
                </a:lnTo>
                <a:lnTo>
                  <a:pt x="174478" y="50482"/>
                </a:lnTo>
                <a:lnTo>
                  <a:pt x="172868" y="64910"/>
                </a:lnTo>
                <a:lnTo>
                  <a:pt x="172868" y="227187"/>
                </a:lnTo>
                <a:lnTo>
                  <a:pt x="0" y="340873"/>
                </a:lnTo>
                <a:lnTo>
                  <a:pt x="172868" y="324556"/>
                </a:lnTo>
                <a:lnTo>
                  <a:pt x="1601300" y="324556"/>
                </a:lnTo>
                <a:lnTo>
                  <a:pt x="1601214" y="61522"/>
                </a:lnTo>
                <a:lnTo>
                  <a:pt x="1585886" y="22918"/>
                </a:lnTo>
                <a:lnTo>
                  <a:pt x="1550804" y="1609"/>
                </a:lnTo>
                <a:lnTo>
                  <a:pt x="153637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277619" y="2154532"/>
            <a:ext cx="1601470" cy="389890"/>
          </a:xfrm>
          <a:custGeom>
            <a:avLst/>
            <a:gdLst/>
            <a:ahLst/>
            <a:cxnLst/>
            <a:rect l="l" t="t" r="r" b="b"/>
            <a:pathLst>
              <a:path w="1601470" h="389889">
                <a:moveTo>
                  <a:pt x="172869" y="64911"/>
                </a:moveTo>
                <a:lnTo>
                  <a:pt x="186295" y="25379"/>
                </a:lnTo>
                <a:lnTo>
                  <a:pt x="220204" y="2411"/>
                </a:lnTo>
                <a:lnTo>
                  <a:pt x="410941" y="0"/>
                </a:lnTo>
                <a:lnTo>
                  <a:pt x="768049" y="0"/>
                </a:lnTo>
                <a:lnTo>
                  <a:pt x="1536372" y="0"/>
                </a:lnTo>
                <a:lnTo>
                  <a:pt x="1550804" y="1609"/>
                </a:lnTo>
                <a:lnTo>
                  <a:pt x="1585886" y="22918"/>
                </a:lnTo>
                <a:lnTo>
                  <a:pt x="1601214" y="61522"/>
                </a:lnTo>
                <a:lnTo>
                  <a:pt x="1601301" y="227188"/>
                </a:lnTo>
                <a:lnTo>
                  <a:pt x="1601301" y="324556"/>
                </a:lnTo>
                <a:lnTo>
                  <a:pt x="1599692" y="338983"/>
                </a:lnTo>
                <a:lnTo>
                  <a:pt x="1578377" y="374055"/>
                </a:lnTo>
                <a:lnTo>
                  <a:pt x="1539762" y="389379"/>
                </a:lnTo>
                <a:lnTo>
                  <a:pt x="768049" y="389466"/>
                </a:lnTo>
                <a:lnTo>
                  <a:pt x="410941" y="389466"/>
                </a:lnTo>
                <a:lnTo>
                  <a:pt x="237798" y="389466"/>
                </a:lnTo>
                <a:lnTo>
                  <a:pt x="223366" y="387857"/>
                </a:lnTo>
                <a:lnTo>
                  <a:pt x="188284" y="366547"/>
                </a:lnTo>
                <a:lnTo>
                  <a:pt x="172956" y="327944"/>
                </a:lnTo>
                <a:lnTo>
                  <a:pt x="172869" y="324556"/>
                </a:lnTo>
                <a:lnTo>
                  <a:pt x="0" y="340873"/>
                </a:lnTo>
                <a:lnTo>
                  <a:pt x="172869" y="227188"/>
                </a:lnTo>
                <a:lnTo>
                  <a:pt x="172869" y="64911"/>
                </a:lnTo>
                <a:close/>
              </a:path>
            </a:pathLst>
          </a:custGeom>
          <a:ln w="162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553438" y="2215011"/>
            <a:ext cx="122174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什么含义</a:t>
            </a:r>
            <a:r>
              <a:rPr sz="2000" b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21" name="object 21"/>
          <p:cNvSpPr txBox="1"/>
          <p:nvPr/>
        </p:nvSpPr>
        <p:spPr>
          <a:xfrm>
            <a:off x="542290" y="5582285"/>
            <a:ext cx="8542020" cy="944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0" marR="5080" indent="-292100">
              <a:lnSpc>
                <a:spcPct val="128000"/>
              </a:lnSpc>
            </a:pPr>
            <a:r>
              <a:rPr sz="2100" spc="40" dirty="0">
                <a:solidFill>
                  <a:srgbClr val="993300"/>
                </a:solidFill>
                <a:latin typeface="Lucida Sans" panose="020B0602030504020204"/>
                <a:cs typeface="Lucida Sans" panose="020B0602030504020204"/>
              </a:rPr>
              <a:t> </a:t>
            </a: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总结一下：这个整数什么时候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-1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</a:t>
            </a: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什么时候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+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什么时候睡眠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</a:t>
            </a: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什么时候唤醒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?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1545" y="2549505"/>
            <a:ext cx="6557645" cy="680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870"/>
              </a:lnSpc>
            </a:pPr>
            <a:r>
              <a:rPr sz="3450" u="sng" spc="112" baseline="1000" dirty="0"/>
              <a:t>问题：一种资源的数量是</a:t>
            </a:r>
            <a:r>
              <a:rPr sz="2400" u="sng" spc="-5" dirty="0">
                <a:latin typeface="Arial" panose="020B0604020202020204"/>
                <a:cs typeface="Arial" panose="020B0604020202020204"/>
              </a:rPr>
              <a:t>8</a:t>
            </a:r>
            <a:r>
              <a:rPr sz="3450" u="sng" spc="112" baseline="1000" dirty="0"/>
              <a:t>，这个资源对应的信</a:t>
            </a:r>
            <a:r>
              <a:rPr sz="3450" u="sng" spc="135" baseline="1000" dirty="0"/>
              <a:t>号</a:t>
            </a:r>
            <a:r>
              <a:rPr sz="3450" spc="67" baseline="1000" dirty="0"/>
              <a:t> </a:t>
            </a:r>
            <a:r>
              <a:rPr sz="3450" u="sng" spc="112" baseline="1000" dirty="0"/>
              <a:t>量的当前值是</a:t>
            </a:r>
            <a:r>
              <a:rPr sz="2400" u="sng" spc="-5" dirty="0">
                <a:latin typeface="Arial" panose="020B0604020202020204"/>
                <a:cs typeface="Arial" panose="020B0604020202020204"/>
              </a:rPr>
              <a:t>2</a:t>
            </a:r>
            <a:r>
              <a:rPr sz="3450" u="sng" spc="112" baseline="1000" dirty="0"/>
              <a:t>，说明</a:t>
            </a:r>
            <a:r>
              <a:rPr sz="2400" u="sng" spc="-5" dirty="0">
                <a:latin typeface="Arial" panose="020B0604020202020204"/>
                <a:cs typeface="Arial" panose="020B0604020202020204"/>
              </a:rPr>
              <a:t>:(</a:t>
            </a:r>
            <a:r>
              <a:rPr sz="2400" u="sng" spc="-5" dirty="0">
                <a:latin typeface="Arial" panose="020B0604020202020204"/>
                <a:cs typeface="Arial" panose="020B0604020202020204"/>
              </a:rPr>
              <a:t> </a:t>
            </a:r>
            <a:r>
              <a:rPr sz="2400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2400" u="sng" dirty="0">
                <a:latin typeface="Arial" panose="020B0604020202020204"/>
                <a:cs typeface="Arial" panose="020B0604020202020204"/>
              </a:rPr>
              <a:t>)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3" name="object 3"/>
          <p:cNvSpPr txBox="1"/>
          <p:nvPr/>
        </p:nvSpPr>
        <p:spPr>
          <a:xfrm>
            <a:off x="1581012" y="3512332"/>
            <a:ext cx="3096895" cy="16313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.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有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2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个进程等待这个资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源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B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.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有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2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个资源可以使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.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有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6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个进程等待这个资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源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ts val="2385"/>
              </a:lnSpc>
              <a:spcBef>
                <a:spcPts val="1175"/>
              </a:spcBef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.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有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6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个资源可以使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7470">
              <a:lnSpc>
                <a:spcPct val="100000"/>
              </a:lnSpc>
            </a:pPr>
            <a:r>
              <a:rPr sz="2950" spc="100" dirty="0"/>
              <a:t>什么是信号量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?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 </a:t>
            </a:r>
            <a:r>
              <a:rPr sz="2950" spc="100" dirty="0"/>
              <a:t>信号量的定义</a:t>
            </a:r>
            <a:r>
              <a:rPr sz="3050" spc="15" dirty="0">
                <a:latin typeface="Arial" panose="020B0604020202020204"/>
                <a:cs typeface="Arial" panose="020B0604020202020204"/>
              </a:rPr>
              <a:t>…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7329" y="2000809"/>
            <a:ext cx="8238490" cy="811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0" marR="5080" indent="-292100">
              <a:lnSpc>
                <a:spcPct val="132000"/>
              </a:lnSpc>
            </a:pPr>
            <a:r>
              <a:rPr sz="1800" spc="250" dirty="0">
                <a:solidFill>
                  <a:srgbClr val="993300"/>
                </a:solidFill>
                <a:latin typeface="Lucida Sans" panose="020B0602030504020204"/>
                <a:cs typeface="Lucida Sans" panose="020B0602030504020204"/>
              </a:rPr>
              <a:t> </a:t>
            </a:r>
            <a:r>
              <a:rPr sz="1800" spc="-210" dirty="0">
                <a:solidFill>
                  <a:srgbClr val="993300"/>
                </a:solidFill>
                <a:latin typeface="Lucida Sans" panose="020B0602030504020204"/>
                <a:cs typeface="Lucida Sans" panose="020B0602030504020204"/>
              </a:rPr>
              <a:t> </a:t>
            </a:r>
            <a:r>
              <a:rPr sz="2925" b="1" spc="127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信号量</a:t>
            </a:r>
            <a:r>
              <a:rPr sz="2000" b="1" spc="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2000" b="1" spc="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196</a:t>
            </a:r>
            <a:r>
              <a:rPr sz="2000" b="1" spc="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5</a:t>
            </a:r>
            <a:r>
              <a:rPr sz="2925" b="1" spc="127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年，由荷兰学者</a:t>
            </a:r>
            <a:r>
              <a:rPr sz="2000" b="1" spc="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000" b="1" spc="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j</a:t>
            </a:r>
            <a:r>
              <a:rPr sz="2000" b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ks</a:t>
            </a:r>
            <a:r>
              <a:rPr sz="2000" b="1" spc="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000" b="1" spc="1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925" b="1" spc="127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提出的一种特殊整型变量</a:t>
            </a:r>
            <a:r>
              <a:rPr sz="2925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r>
              <a:rPr sz="2925" b="1" spc="127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来记录，信号用来</a:t>
            </a:r>
            <a:r>
              <a:rPr sz="2000" b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0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ee</a:t>
            </a:r>
            <a:r>
              <a:rPr sz="2000" b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925" b="1" spc="127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sz="2000" b="1" spc="2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wa</a:t>
            </a:r>
            <a:r>
              <a:rPr sz="2000" b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ke</a:t>
            </a:r>
            <a:r>
              <a:rPr sz="2000" b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up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1687" y="2798232"/>
            <a:ext cx="3701415" cy="2596515"/>
          </a:xfrm>
          <a:custGeom>
            <a:avLst/>
            <a:gdLst/>
            <a:ahLst/>
            <a:cxnLst/>
            <a:rect l="l" t="t" r="r" b="b"/>
            <a:pathLst>
              <a:path w="3701415" h="2596515">
                <a:moveTo>
                  <a:pt x="0" y="0"/>
                </a:moveTo>
                <a:lnTo>
                  <a:pt x="3700938" y="0"/>
                </a:lnTo>
                <a:lnTo>
                  <a:pt x="3700938" y="2596444"/>
                </a:lnTo>
                <a:lnTo>
                  <a:pt x="0" y="2596444"/>
                </a:lnTo>
                <a:lnTo>
                  <a:pt x="0" y="0"/>
                </a:lnTo>
                <a:close/>
              </a:path>
            </a:pathLst>
          </a:custGeom>
          <a:ln w="10819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66082" y="2854692"/>
            <a:ext cx="3487420" cy="1798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struct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semaphore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{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304800" marR="188595">
              <a:lnSpc>
                <a:spcPct val="118000"/>
              </a:lnSpc>
              <a:spcBef>
                <a:spcPts val="10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int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value;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//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记录资源个数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PCB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*queue;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401955">
              <a:lnSpc>
                <a:spcPct val="100000"/>
              </a:lnSpc>
              <a:spcBef>
                <a:spcPts val="46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//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记录等待在该信号量上的进程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}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6082" y="4729513"/>
            <a:ext cx="1972945" cy="554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1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P(semaphore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s);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V(semaphore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s);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02854" y="4704746"/>
            <a:ext cx="1150620" cy="579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//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消费资源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//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产生资源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1973" y="5547693"/>
            <a:ext cx="4039870" cy="552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42000"/>
              </a:lnSpc>
            </a:pPr>
            <a:r>
              <a:rPr sz="1500" b="1" spc="15" dirty="0">
                <a:latin typeface="Arial" panose="020B0604020202020204"/>
                <a:cs typeface="Arial" panose="020B0604020202020204"/>
              </a:rPr>
              <a:t>P</a:t>
            </a:r>
            <a:r>
              <a:rPr sz="1500" b="1" spc="25" dirty="0">
                <a:latin typeface="宋体" panose="02010600030101010101" pitchFamily="2" charset="-122"/>
                <a:cs typeface="宋体" panose="02010600030101010101" pitchFamily="2" charset="-122"/>
              </a:rPr>
              <a:t>的名称来源于荷兰语的</a:t>
            </a:r>
            <a:r>
              <a:rPr sz="1500" b="1" spc="15" dirty="0">
                <a:latin typeface="Arial" panose="020B0604020202020204"/>
                <a:cs typeface="Arial" panose="020B0604020202020204"/>
              </a:rPr>
              <a:t>prob</a:t>
            </a:r>
            <a:r>
              <a:rPr sz="1500" b="1" spc="10" dirty="0">
                <a:latin typeface="Arial" panose="020B0604020202020204"/>
                <a:cs typeface="Arial" panose="020B0604020202020204"/>
              </a:rPr>
              <a:t>e</a:t>
            </a:r>
            <a:r>
              <a:rPr sz="1500" b="1" spc="10" dirty="0">
                <a:latin typeface="Arial" panose="020B0604020202020204"/>
                <a:cs typeface="Arial" panose="020B0604020202020204"/>
              </a:rPr>
              <a:t>r</a:t>
            </a:r>
            <a:r>
              <a:rPr sz="1500" b="1" spc="10" dirty="0">
                <a:latin typeface="Arial" panose="020B0604020202020204"/>
                <a:cs typeface="Arial" panose="020B0604020202020204"/>
              </a:rPr>
              <a:t>e</a:t>
            </a:r>
            <a:r>
              <a:rPr sz="15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1500" b="1" spc="25" dirty="0">
                <a:latin typeface="宋体" panose="02010600030101010101" pitchFamily="2" charset="-122"/>
                <a:cs typeface="宋体" panose="02010600030101010101" pitchFamily="2" charset="-122"/>
              </a:rPr>
              <a:t>，即</a:t>
            </a:r>
            <a:r>
              <a:rPr sz="15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1500" b="1" spc="10" dirty="0">
                <a:latin typeface="Arial" panose="020B0604020202020204"/>
                <a:cs typeface="Arial" panose="020B0604020202020204"/>
              </a:rPr>
              <a:t>e</a:t>
            </a:r>
            <a:r>
              <a:rPr sz="1500" b="1" spc="10" dirty="0">
                <a:latin typeface="Arial" panose="020B0604020202020204"/>
                <a:cs typeface="Arial" panose="020B0604020202020204"/>
              </a:rPr>
              <a:t>s</a:t>
            </a:r>
            <a:r>
              <a:rPr sz="15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15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1500" b="1" spc="15" dirty="0">
                <a:latin typeface="Arial" panose="020B0604020202020204"/>
                <a:cs typeface="Arial" panose="020B0604020202020204"/>
              </a:rPr>
              <a:t>V</a:t>
            </a:r>
            <a:r>
              <a:rPr sz="1500" b="1" spc="25" dirty="0">
                <a:latin typeface="宋体" panose="02010600030101010101" pitchFamily="2" charset="-122"/>
                <a:cs typeface="宋体" panose="02010600030101010101" pitchFamily="2" charset="-122"/>
              </a:rPr>
              <a:t>的名称也来源于荷兰语</a:t>
            </a:r>
            <a:r>
              <a:rPr sz="1500" b="1" spc="10" dirty="0">
                <a:latin typeface="Arial" panose="020B0604020202020204"/>
                <a:cs typeface="Arial" panose="020B0604020202020204"/>
              </a:rPr>
              <a:t>ver</a:t>
            </a:r>
            <a:r>
              <a:rPr sz="1500" b="1" spc="20" dirty="0">
                <a:latin typeface="Arial" panose="020B0604020202020204"/>
                <a:cs typeface="Arial" panose="020B0604020202020204"/>
              </a:rPr>
              <a:t>h</a:t>
            </a:r>
            <a:r>
              <a:rPr sz="1500" b="1" spc="20" dirty="0">
                <a:latin typeface="Arial" panose="020B0604020202020204"/>
                <a:cs typeface="Arial" panose="020B0604020202020204"/>
              </a:rPr>
              <a:t>og</a:t>
            </a:r>
            <a:r>
              <a:rPr sz="1500" b="1" spc="10" dirty="0">
                <a:latin typeface="Arial" panose="020B0604020202020204"/>
                <a:cs typeface="Arial" panose="020B0604020202020204"/>
              </a:rPr>
              <a:t>e</a:t>
            </a:r>
            <a:r>
              <a:rPr sz="1500" b="1" spc="15" dirty="0">
                <a:latin typeface="Arial" panose="020B0604020202020204"/>
                <a:cs typeface="Arial" panose="020B0604020202020204"/>
              </a:rPr>
              <a:t>n(</a:t>
            </a:r>
            <a:r>
              <a:rPr sz="1500" b="1" dirty="0">
                <a:latin typeface="Arial" panose="020B0604020202020204"/>
                <a:cs typeface="Arial" panose="020B0604020202020204"/>
              </a:rPr>
              <a:t>i</a:t>
            </a:r>
            <a:r>
              <a:rPr sz="15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1500" b="1" spc="10" dirty="0">
                <a:latin typeface="Arial" panose="020B0604020202020204"/>
                <a:cs typeface="Arial" panose="020B0604020202020204"/>
              </a:rPr>
              <a:t>creme</a:t>
            </a:r>
            <a:r>
              <a:rPr sz="15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1500" b="1" spc="10" dirty="0">
                <a:latin typeface="Arial" panose="020B0604020202020204"/>
                <a:cs typeface="Arial" panose="020B0604020202020204"/>
              </a:rPr>
              <a:t>t)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67554" y="2798232"/>
            <a:ext cx="2922270" cy="1882775"/>
          </a:xfrm>
          <a:prstGeom prst="rect">
            <a:avLst/>
          </a:prstGeom>
          <a:ln w="1081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112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P(semaphore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s)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71120">
              <a:lnSpc>
                <a:spcPct val="100000"/>
              </a:lnSpc>
              <a:spcBef>
                <a:spcPts val="425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{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363220" marR="332740" indent="-33020">
              <a:lnSpc>
                <a:spcPct val="101000"/>
              </a:lnSpc>
              <a:spcBef>
                <a:spcPts val="365"/>
              </a:spcBef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s.value--;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if(s.value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&lt;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0)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{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590550">
              <a:lnSpc>
                <a:spcPct val="100000"/>
              </a:lnSpc>
              <a:spcBef>
                <a:spcPts val="39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sleep(s.queue);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}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71120">
              <a:lnSpc>
                <a:spcPct val="100000"/>
              </a:lnSpc>
              <a:spcBef>
                <a:spcPts val="425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}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40560" y="4990230"/>
            <a:ext cx="275145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u="sng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问题：写出</a:t>
            </a:r>
            <a:r>
              <a:rPr sz="2000" b="1" u="sng" spc="25" dirty="0">
                <a:latin typeface="Arial" panose="020B0604020202020204"/>
                <a:cs typeface="Arial" panose="020B0604020202020204"/>
              </a:rPr>
              <a:t>V</a:t>
            </a:r>
            <a:r>
              <a:rPr sz="2000" b="1" u="sng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u="sng" spc="20" dirty="0">
                <a:latin typeface="Arial" panose="020B0604020202020204"/>
                <a:cs typeface="Arial" panose="020B0604020202020204"/>
              </a:rPr>
              <a:t>s</a:t>
            </a:r>
            <a:r>
              <a:rPr sz="2000" b="1" u="sng" spc="10" dirty="0">
                <a:latin typeface="Arial" panose="020B0604020202020204"/>
                <a:cs typeface="Arial" panose="020B0604020202020204"/>
              </a:rPr>
              <a:t>)</a:t>
            </a:r>
            <a:r>
              <a:rPr sz="2925" b="1" u="sng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的代码</a:t>
            </a:r>
            <a:r>
              <a:rPr sz="2000" b="1" u="sng" spc="20" dirty="0">
                <a:latin typeface="Arial" panose="020B0604020202020204"/>
                <a:cs typeface="Arial" panose="020B0604020202020204"/>
              </a:rPr>
              <a:t>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485"/>
              </a:lnSpc>
            </a:pPr>
            <a:r>
              <a:rPr spc="100" dirty="0"/>
              <a:t>用信号量解生产者</a:t>
            </a:r>
            <a:r>
              <a:rPr spc="55" dirty="0">
                <a:latin typeface="Symbol" panose="05050102010706020507"/>
                <a:cs typeface="Symbol" panose="05050102010706020507"/>
              </a:rPr>
              <a:t></a:t>
            </a:r>
            <a:r>
              <a:rPr spc="100" dirty="0"/>
              <a:t>消费者问题</a:t>
            </a:r>
            <a:endParaRPr spc="100" dirty="0"/>
          </a:p>
        </p:txBody>
      </p:sp>
      <p:sp>
        <p:nvSpPr>
          <p:cNvPr id="3" name="object 3"/>
          <p:cNvSpPr/>
          <p:nvPr/>
        </p:nvSpPr>
        <p:spPr>
          <a:xfrm>
            <a:off x="477043" y="2928056"/>
            <a:ext cx="6817995" cy="1038860"/>
          </a:xfrm>
          <a:custGeom>
            <a:avLst/>
            <a:gdLst/>
            <a:ahLst/>
            <a:cxnLst/>
            <a:rect l="l" t="t" r="r" b="b"/>
            <a:pathLst>
              <a:path w="6817995" h="1038860">
                <a:moveTo>
                  <a:pt x="0" y="0"/>
                </a:moveTo>
                <a:lnTo>
                  <a:pt x="6817518" y="0"/>
                </a:lnTo>
                <a:lnTo>
                  <a:pt x="6817518" y="1038577"/>
                </a:lnTo>
                <a:lnTo>
                  <a:pt x="0" y="1038577"/>
                </a:lnTo>
                <a:lnTo>
                  <a:pt x="0" y="0"/>
                </a:lnTo>
                <a:close/>
              </a:path>
            </a:pathLst>
          </a:custGeom>
          <a:ln w="1081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41438" y="2991447"/>
            <a:ext cx="1424940" cy="9696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13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semaphore semaphore semaphore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96519" y="2991447"/>
            <a:ext cx="803275" cy="9696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3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full empty mutex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74060" y="2991447"/>
            <a:ext cx="2358390" cy="9696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0;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67640">
              <a:lnSpc>
                <a:spcPct val="100000"/>
              </a:lnSpc>
              <a:spcBef>
                <a:spcPts val="300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BUFFER_SIZE;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67640">
              <a:lnSpc>
                <a:spcPct val="100000"/>
              </a:lnSpc>
              <a:spcBef>
                <a:spcPts val="300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1;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31292" y="4094636"/>
            <a:ext cx="1891030" cy="596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2120" marR="5080" indent="-440055">
              <a:lnSpc>
                <a:spcPct val="103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Consumer()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{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P(full);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71065" y="4716767"/>
            <a:ext cx="142557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P(mutex);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31292" y="5008760"/>
            <a:ext cx="3398520" cy="1240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439420">
              <a:lnSpc>
                <a:spcPct val="103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读入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out;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从文件中的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out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位置读出到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item;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打印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item;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452120">
              <a:lnSpc>
                <a:spcPts val="2365"/>
              </a:lnSpc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V(mutex);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452120">
              <a:lnSpc>
                <a:spcPct val="100000"/>
              </a:lnSpc>
              <a:spcBef>
                <a:spcPts val="65"/>
              </a:spcBef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V(empty);</a:t>
            </a:r>
            <a:r>
              <a:rPr sz="2000" b="1" spc="2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}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7043" y="4031543"/>
            <a:ext cx="3311525" cy="2272030"/>
          </a:xfrm>
          <a:prstGeom prst="rect">
            <a:avLst/>
          </a:prstGeom>
          <a:ln w="8114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61340" marR="685800" indent="-440055">
              <a:lnSpc>
                <a:spcPct val="103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Producer(item)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{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P(empty);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499745">
              <a:lnSpc>
                <a:spcPct val="100000"/>
              </a:lnSpc>
              <a:spcBef>
                <a:spcPts val="300"/>
              </a:spcBef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P(mutex);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561340">
              <a:lnSpc>
                <a:spcPct val="100000"/>
              </a:lnSpc>
              <a:spcBef>
                <a:spcPts val="100"/>
              </a:spcBef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读入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in;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将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item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写入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到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1285">
              <a:lnSpc>
                <a:spcPts val="2385"/>
              </a:lnSpc>
              <a:spcBef>
                <a:spcPts val="65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in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的位置上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;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588010">
              <a:lnSpc>
                <a:spcPts val="2385"/>
              </a:lnSpc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V(mutex);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561340">
              <a:lnSpc>
                <a:spcPct val="100000"/>
              </a:lnSpc>
              <a:spcBef>
                <a:spcPts val="65"/>
              </a:spcBef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V(full);</a:t>
            </a:r>
            <a:r>
              <a:rPr sz="2000" b="1" spc="2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}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918267" y="4031543"/>
            <a:ext cx="3376295" cy="2272030"/>
          </a:xfrm>
          <a:custGeom>
            <a:avLst/>
            <a:gdLst/>
            <a:ahLst/>
            <a:cxnLst/>
            <a:rect l="l" t="t" r="r" b="b"/>
            <a:pathLst>
              <a:path w="3376295" h="2272029">
                <a:moveTo>
                  <a:pt x="0" y="0"/>
                </a:moveTo>
                <a:lnTo>
                  <a:pt x="3376295" y="0"/>
                </a:lnTo>
                <a:lnTo>
                  <a:pt x="3376295" y="2271888"/>
                </a:lnTo>
                <a:lnTo>
                  <a:pt x="0" y="2271888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77043" y="1824567"/>
            <a:ext cx="6817995" cy="1038860"/>
          </a:xfrm>
          <a:custGeom>
            <a:avLst/>
            <a:gdLst/>
            <a:ahLst/>
            <a:cxnLst/>
            <a:rect l="l" t="t" r="r" b="b"/>
            <a:pathLst>
              <a:path w="6817995" h="1038860">
                <a:moveTo>
                  <a:pt x="0" y="0"/>
                </a:moveTo>
                <a:lnTo>
                  <a:pt x="6817518" y="0"/>
                </a:lnTo>
                <a:lnTo>
                  <a:pt x="6817518" y="1038577"/>
                </a:lnTo>
                <a:lnTo>
                  <a:pt x="0" y="1038577"/>
                </a:lnTo>
                <a:lnTo>
                  <a:pt x="0" y="0"/>
                </a:lnTo>
                <a:close/>
              </a:path>
            </a:pathLst>
          </a:custGeom>
          <a:ln w="10818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41438" y="1900957"/>
            <a:ext cx="4380230" cy="2584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int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fd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open(“buffer.txt”);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1438" y="2239563"/>
            <a:ext cx="1424940" cy="6267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3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write(fd, write(fd,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96519" y="2209940"/>
            <a:ext cx="3706495" cy="656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0,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sizeof(int));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/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/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写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in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0,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sizeof(int));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/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/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写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out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289500" y="2876668"/>
            <a:ext cx="3347085" cy="560070"/>
          </a:xfrm>
          <a:custGeom>
            <a:avLst/>
            <a:gdLst/>
            <a:ahLst/>
            <a:cxnLst/>
            <a:rect l="l" t="t" r="r" b="b"/>
            <a:pathLst>
              <a:path w="3347084" h="560070">
                <a:moveTo>
                  <a:pt x="3271170" y="0"/>
                </a:moveTo>
                <a:lnTo>
                  <a:pt x="857987" y="0"/>
                </a:lnTo>
                <a:lnTo>
                  <a:pt x="429556" y="266"/>
                </a:lnTo>
                <a:lnTo>
                  <a:pt x="390541" y="15110"/>
                </a:lnTo>
                <a:lnTo>
                  <a:pt x="365574" y="47660"/>
                </a:lnTo>
                <a:lnTo>
                  <a:pt x="360199" y="75731"/>
                </a:lnTo>
                <a:lnTo>
                  <a:pt x="360199" y="378647"/>
                </a:lnTo>
                <a:lnTo>
                  <a:pt x="375314" y="424043"/>
                </a:lnTo>
                <a:lnTo>
                  <a:pt x="407873" y="449003"/>
                </a:lnTo>
                <a:lnTo>
                  <a:pt x="435952" y="454376"/>
                </a:lnTo>
                <a:lnTo>
                  <a:pt x="857987" y="454376"/>
                </a:lnTo>
                <a:lnTo>
                  <a:pt x="0" y="560044"/>
                </a:lnTo>
                <a:lnTo>
                  <a:pt x="1604667" y="454376"/>
                </a:lnTo>
                <a:lnTo>
                  <a:pt x="3277565" y="454110"/>
                </a:lnTo>
                <a:lnTo>
                  <a:pt x="3291698" y="451563"/>
                </a:lnTo>
                <a:lnTo>
                  <a:pt x="3326810" y="430037"/>
                </a:lnTo>
                <a:lnTo>
                  <a:pt x="3345535" y="393145"/>
                </a:lnTo>
                <a:lnTo>
                  <a:pt x="3346922" y="265052"/>
                </a:lnTo>
                <a:lnTo>
                  <a:pt x="3346656" y="69337"/>
                </a:lnTo>
                <a:lnTo>
                  <a:pt x="3331808" y="30333"/>
                </a:lnTo>
                <a:lnTo>
                  <a:pt x="3299249" y="5373"/>
                </a:lnTo>
                <a:lnTo>
                  <a:pt x="3285674" y="1386"/>
                </a:lnTo>
                <a:lnTo>
                  <a:pt x="327117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289500" y="2876668"/>
            <a:ext cx="3347085" cy="560070"/>
          </a:xfrm>
          <a:custGeom>
            <a:avLst/>
            <a:gdLst/>
            <a:ahLst/>
            <a:cxnLst/>
            <a:rect l="l" t="t" r="r" b="b"/>
            <a:pathLst>
              <a:path w="3347084" h="560070">
                <a:moveTo>
                  <a:pt x="360199" y="75732"/>
                </a:moveTo>
                <a:lnTo>
                  <a:pt x="371902" y="35276"/>
                </a:lnTo>
                <a:lnTo>
                  <a:pt x="402331" y="7848"/>
                </a:lnTo>
                <a:lnTo>
                  <a:pt x="857987" y="0"/>
                </a:lnTo>
                <a:lnTo>
                  <a:pt x="1604667" y="0"/>
                </a:lnTo>
                <a:lnTo>
                  <a:pt x="3271169" y="0"/>
                </a:lnTo>
                <a:lnTo>
                  <a:pt x="3285673" y="1386"/>
                </a:lnTo>
                <a:lnTo>
                  <a:pt x="3322576" y="20106"/>
                </a:lnTo>
                <a:lnTo>
                  <a:pt x="3344107" y="55208"/>
                </a:lnTo>
                <a:lnTo>
                  <a:pt x="3346922" y="265053"/>
                </a:lnTo>
                <a:lnTo>
                  <a:pt x="3346922" y="378648"/>
                </a:lnTo>
                <a:lnTo>
                  <a:pt x="3345535" y="393145"/>
                </a:lnTo>
                <a:lnTo>
                  <a:pt x="3326810" y="430037"/>
                </a:lnTo>
                <a:lnTo>
                  <a:pt x="3291699" y="451563"/>
                </a:lnTo>
                <a:lnTo>
                  <a:pt x="1604667" y="454377"/>
                </a:lnTo>
                <a:lnTo>
                  <a:pt x="0" y="560044"/>
                </a:lnTo>
                <a:lnTo>
                  <a:pt x="857987" y="454377"/>
                </a:lnTo>
                <a:lnTo>
                  <a:pt x="435952" y="454377"/>
                </a:lnTo>
                <a:lnTo>
                  <a:pt x="421448" y="452991"/>
                </a:lnTo>
                <a:lnTo>
                  <a:pt x="384546" y="434271"/>
                </a:lnTo>
                <a:lnTo>
                  <a:pt x="363014" y="399169"/>
                </a:lnTo>
                <a:lnTo>
                  <a:pt x="360199" y="378648"/>
                </a:lnTo>
                <a:lnTo>
                  <a:pt x="360199" y="265053"/>
                </a:lnTo>
                <a:lnTo>
                  <a:pt x="360199" y="75732"/>
                </a:lnTo>
                <a:close/>
              </a:path>
            </a:pathLst>
          </a:custGeom>
          <a:ln w="1622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831761" y="2969398"/>
            <a:ext cx="262064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信号量的定义和初始</a:t>
            </a:r>
            <a:r>
              <a:rPr sz="1950" b="1" spc="75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化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606415" y="1686631"/>
            <a:ext cx="3030220" cy="815340"/>
          </a:xfrm>
          <a:custGeom>
            <a:avLst/>
            <a:gdLst/>
            <a:ahLst/>
            <a:cxnLst/>
            <a:rect l="l" t="t" r="r" b="b"/>
            <a:pathLst>
              <a:path w="3030220" h="815339">
                <a:moveTo>
                  <a:pt x="2952902" y="0"/>
                </a:moveTo>
                <a:lnTo>
                  <a:pt x="505001" y="0"/>
                </a:lnTo>
                <a:lnTo>
                  <a:pt x="68522" y="472"/>
                </a:lnTo>
                <a:lnTo>
                  <a:pt x="29902" y="16127"/>
                </a:lnTo>
                <a:lnTo>
                  <a:pt x="5286" y="48976"/>
                </a:lnTo>
                <a:lnTo>
                  <a:pt x="0" y="77083"/>
                </a:lnTo>
                <a:lnTo>
                  <a:pt x="0" y="385409"/>
                </a:lnTo>
                <a:lnTo>
                  <a:pt x="16132" y="432596"/>
                </a:lnTo>
                <a:lnTo>
                  <a:pt x="48990" y="457205"/>
                </a:lnTo>
                <a:lnTo>
                  <a:pt x="77105" y="462490"/>
                </a:lnTo>
                <a:lnTo>
                  <a:pt x="505001" y="462490"/>
                </a:lnTo>
                <a:lnTo>
                  <a:pt x="76174" y="815204"/>
                </a:lnTo>
                <a:lnTo>
                  <a:pt x="1262503" y="462490"/>
                </a:lnTo>
                <a:lnTo>
                  <a:pt x="2961485" y="462018"/>
                </a:lnTo>
                <a:lnTo>
                  <a:pt x="2975496" y="459128"/>
                </a:lnTo>
                <a:lnTo>
                  <a:pt x="3010201" y="436988"/>
                </a:lnTo>
                <a:lnTo>
                  <a:pt x="3028644" y="399913"/>
                </a:lnTo>
                <a:lnTo>
                  <a:pt x="3030007" y="269787"/>
                </a:lnTo>
                <a:lnTo>
                  <a:pt x="3029535" y="68502"/>
                </a:lnTo>
                <a:lnTo>
                  <a:pt x="3013875" y="29894"/>
                </a:lnTo>
                <a:lnTo>
                  <a:pt x="2981017" y="5284"/>
                </a:lnTo>
                <a:lnTo>
                  <a:pt x="2967413" y="1362"/>
                </a:lnTo>
                <a:lnTo>
                  <a:pt x="295290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606415" y="1686631"/>
            <a:ext cx="3030220" cy="815340"/>
          </a:xfrm>
          <a:custGeom>
            <a:avLst/>
            <a:gdLst/>
            <a:ahLst/>
            <a:cxnLst/>
            <a:rect l="l" t="t" r="r" b="b"/>
            <a:pathLst>
              <a:path w="3030220" h="815339">
                <a:moveTo>
                  <a:pt x="0" y="77084"/>
                </a:moveTo>
                <a:lnTo>
                  <a:pt x="11517" y="36535"/>
                </a:lnTo>
                <a:lnTo>
                  <a:pt x="41554" y="8664"/>
                </a:lnTo>
                <a:lnTo>
                  <a:pt x="505001" y="0"/>
                </a:lnTo>
                <a:lnTo>
                  <a:pt x="1262503" y="0"/>
                </a:lnTo>
                <a:lnTo>
                  <a:pt x="2952902" y="0"/>
                </a:lnTo>
                <a:lnTo>
                  <a:pt x="2967413" y="1362"/>
                </a:lnTo>
                <a:lnTo>
                  <a:pt x="3004499" y="19801"/>
                </a:lnTo>
                <a:lnTo>
                  <a:pt x="3026644" y="54495"/>
                </a:lnTo>
                <a:lnTo>
                  <a:pt x="3030008" y="269788"/>
                </a:lnTo>
                <a:lnTo>
                  <a:pt x="3030008" y="385410"/>
                </a:lnTo>
                <a:lnTo>
                  <a:pt x="3028645" y="399914"/>
                </a:lnTo>
                <a:lnTo>
                  <a:pt x="3010201" y="436989"/>
                </a:lnTo>
                <a:lnTo>
                  <a:pt x="2975497" y="459129"/>
                </a:lnTo>
                <a:lnTo>
                  <a:pt x="1262503" y="462491"/>
                </a:lnTo>
                <a:lnTo>
                  <a:pt x="76174" y="815205"/>
                </a:lnTo>
                <a:lnTo>
                  <a:pt x="505001" y="462491"/>
                </a:lnTo>
                <a:lnTo>
                  <a:pt x="77105" y="462491"/>
                </a:lnTo>
                <a:lnTo>
                  <a:pt x="62594" y="461128"/>
                </a:lnTo>
                <a:lnTo>
                  <a:pt x="25508" y="442690"/>
                </a:lnTo>
                <a:lnTo>
                  <a:pt x="3363" y="407995"/>
                </a:lnTo>
                <a:lnTo>
                  <a:pt x="0" y="385410"/>
                </a:lnTo>
                <a:lnTo>
                  <a:pt x="0" y="269788"/>
                </a:lnTo>
                <a:lnTo>
                  <a:pt x="0" y="77084"/>
                </a:lnTo>
                <a:close/>
              </a:path>
            </a:pathLst>
          </a:custGeom>
          <a:ln w="162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810112" y="1783740"/>
            <a:ext cx="262064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用文件定义共享缓冲</a:t>
            </a:r>
            <a:r>
              <a:rPr sz="1950" b="1" spc="75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区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23" name="object 23"/>
          <p:cNvSpPr txBox="1"/>
          <p:nvPr/>
        </p:nvSpPr>
        <p:spPr>
          <a:xfrm>
            <a:off x="5131033" y="6459594"/>
            <a:ext cx="43116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b="1" spc="5" dirty="0">
                <a:latin typeface="Arial" panose="020B0604020202020204"/>
                <a:cs typeface="Arial" panose="020B0604020202020204"/>
              </a:rPr>
              <a:t>-</a:t>
            </a:r>
            <a:r>
              <a:rPr sz="135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dirty="0">
                <a:latin typeface="Arial" panose="020B0604020202020204"/>
                <a:cs typeface="Arial" panose="020B0604020202020204"/>
              </a:rPr>
              <a:t>1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0</a:t>
            </a:r>
            <a:r>
              <a:rPr sz="1350" b="1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-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89159" y="1736706"/>
            <a:ext cx="306070" cy="306070"/>
          </a:xfrm>
          <a:custGeom>
            <a:avLst/>
            <a:gdLst/>
            <a:ahLst/>
            <a:cxnLst/>
            <a:rect l="l" t="t" r="r" b="b"/>
            <a:pathLst>
              <a:path w="306070" h="306069">
                <a:moveTo>
                  <a:pt x="297974" y="38249"/>
                </a:moveTo>
                <a:lnTo>
                  <a:pt x="38259" y="297893"/>
                </a:lnTo>
                <a:lnTo>
                  <a:pt x="45911" y="305544"/>
                </a:lnTo>
                <a:lnTo>
                  <a:pt x="305626" y="45899"/>
                </a:lnTo>
                <a:lnTo>
                  <a:pt x="297974" y="38249"/>
                </a:lnTo>
                <a:close/>
              </a:path>
              <a:path w="306070" h="306069">
                <a:moveTo>
                  <a:pt x="275018" y="15299"/>
                </a:moveTo>
                <a:lnTo>
                  <a:pt x="15303" y="274943"/>
                </a:lnTo>
                <a:lnTo>
                  <a:pt x="30607" y="290243"/>
                </a:lnTo>
                <a:lnTo>
                  <a:pt x="290322" y="30599"/>
                </a:lnTo>
                <a:lnTo>
                  <a:pt x="275018" y="15299"/>
                </a:lnTo>
                <a:close/>
              </a:path>
              <a:path w="306070" h="306069">
                <a:moveTo>
                  <a:pt x="259715" y="0"/>
                </a:moveTo>
                <a:lnTo>
                  <a:pt x="0" y="259643"/>
                </a:lnTo>
                <a:lnTo>
                  <a:pt x="7651" y="267294"/>
                </a:lnTo>
                <a:lnTo>
                  <a:pt x="267366" y="7650"/>
                </a:lnTo>
                <a:lnTo>
                  <a:pt x="259715" y="0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1830" y="1786702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10819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71830" y="1759656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21638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1830" y="1732609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10819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077847" y="2025565"/>
            <a:ext cx="2104390" cy="532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950" b="1" spc="13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操作系</a:t>
            </a:r>
            <a:r>
              <a:rPr sz="3950" b="1" spc="145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统</a:t>
            </a:r>
            <a:endParaRPr sz="3950">
              <a:latin typeface="华文琥珀" panose="02010800040101010101" charset="-122"/>
              <a:cs typeface="华文琥珀" panose="02010800040101010101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60624" y="1949373"/>
            <a:ext cx="4747895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722245" algn="l"/>
              </a:tabLst>
            </a:pPr>
            <a:r>
              <a:rPr sz="4600" b="1" spc="-10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p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er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4600" b="1" spc="-10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g	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m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endParaRPr sz="4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55700" y="3168650"/>
            <a:ext cx="8912225" cy="2433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51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   </a:t>
            </a:r>
            <a:r>
              <a:rPr sz="5100" b="1" spc="1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lang="en-US" sz="5100" b="1" spc="10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   </a:t>
            </a:r>
            <a:r>
              <a:rPr sz="4950" b="1" spc="14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  <a:sym typeface="+mn-ea"/>
              </a:rPr>
              <a:t>信号量临界区保</a:t>
            </a:r>
            <a:r>
              <a:rPr sz="4950" b="1" spc="13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  <a:sym typeface="+mn-ea"/>
              </a:rPr>
              <a:t>护</a:t>
            </a:r>
            <a:endParaRPr sz="4950">
              <a:latin typeface="黑体" panose="02010609060101010101" charset="-122"/>
              <a:cs typeface="黑体" panose="02010609060101010101" charset="-122"/>
            </a:endParaRPr>
          </a:p>
          <a:p>
            <a:pPr marL="12700" algn="ctr">
              <a:lnSpc>
                <a:spcPts val="4075"/>
              </a:lnSpc>
              <a:spcBef>
                <a:spcPts val="1890"/>
              </a:spcBef>
              <a:tabLst>
                <a:tab pos="5107305" algn="l"/>
              </a:tabLst>
            </a:pPr>
            <a:r>
              <a:rPr lang="en-US" sz="3400" b="1" dirty="0">
                <a:latin typeface="Times New Roman" panose="02020603050405020304"/>
                <a:cs typeface="Times New Roman" panose="02020603050405020304"/>
                <a:sym typeface="+mn-ea"/>
              </a:rPr>
              <a:t>     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Cr</a:t>
            </a:r>
            <a:r>
              <a:rPr sz="34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i</a:t>
            </a:r>
            <a:r>
              <a:rPr sz="3400" b="1" spc="5" dirty="0">
                <a:latin typeface="Times New Roman" panose="02020603050405020304"/>
                <a:cs typeface="Times New Roman" panose="02020603050405020304"/>
                <a:sym typeface="+mn-ea"/>
              </a:rPr>
              <a:t>t</a:t>
            </a:r>
            <a:r>
              <a:rPr sz="34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ic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al Se</a:t>
            </a:r>
            <a:r>
              <a:rPr sz="34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c</a:t>
            </a:r>
            <a:r>
              <a:rPr sz="3400" b="1" spc="5" dirty="0">
                <a:latin typeface="Times New Roman" panose="02020603050405020304"/>
                <a:cs typeface="Times New Roman" panose="02020603050405020304"/>
                <a:sym typeface="+mn-ea"/>
              </a:rPr>
              <a:t>t</a:t>
            </a:r>
            <a:r>
              <a:rPr sz="3400" b="1" spc="-5" dirty="0">
                <a:latin typeface="Times New Roman" panose="02020603050405020304"/>
                <a:cs typeface="Times New Roman" panose="02020603050405020304"/>
                <a:sym typeface="+mn-ea"/>
              </a:rPr>
              <a:t>i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on</a:t>
            </a:r>
            <a:endParaRPr sz="3400">
              <a:latin typeface="Times New Roman" panose="02020603050405020304"/>
              <a:cs typeface="Times New Roman" panose="02020603050405020304"/>
            </a:endParaRPr>
          </a:p>
          <a:p>
            <a:pPr marL="492125">
              <a:lnSpc>
                <a:spcPct val="100000"/>
              </a:lnSpc>
              <a:spcBef>
                <a:spcPts val="2815"/>
              </a:spcBef>
            </a:pPr>
            <a:endParaRPr lang="en-US" sz="3400" b="1" dirty="0"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sp>
        <p:nvSpPr>
          <p:cNvPr id="27" name="object 2"/>
          <p:cNvSpPr txBox="1"/>
          <p:nvPr>
            <p:custDataLst>
              <p:tags r:id="rId1"/>
            </p:custDataLst>
          </p:nvPr>
        </p:nvSpPr>
        <p:spPr>
          <a:xfrm>
            <a:off x="672062" y="1406818"/>
            <a:ext cx="3398520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ct val="100000"/>
              </a:lnSpc>
            </a:pPr>
            <a:r>
              <a:rPr lang="zh-CN" altLang="en-US" sz="1950" b="1">
                <a:latin typeface="华文隶书" panose="02010800040101010101" charset="-122"/>
                <a:cs typeface="华文隶书" panose="02010800040101010101" charset="-122"/>
              </a:rPr>
              <a:t>苏州大学未来科学与工程学院</a:t>
            </a:r>
            <a:endParaRPr lang="zh-CN" altLang="en-US" sz="1950" b="1">
              <a:latin typeface="华文隶书" panose="02010800040101010101" charset="-122"/>
              <a:cs typeface="华文隶书" panose="0201080004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1286" y="2659169"/>
            <a:ext cx="7297420" cy="18307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3970" algn="just">
              <a:lnSpc>
                <a:spcPct val="102000"/>
              </a:lnSpc>
            </a:pPr>
            <a:r>
              <a:rPr sz="3950" spc="114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温故而知新：什么是信号量</a:t>
            </a:r>
            <a:r>
              <a:rPr sz="4100" b="1" spc="-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?</a:t>
            </a:r>
            <a:r>
              <a:rPr sz="4100" b="1" spc="-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3950" spc="100" dirty="0">
                <a:solidFill>
                  <a:srgbClr val="333399"/>
                </a:solidFill>
                <a:latin typeface="黑体" panose="02010609060101010101" charset="-122"/>
                <a:cs typeface="黑体" panose="02010609060101010101" charset="-122"/>
              </a:rPr>
              <a:t>通 </a:t>
            </a:r>
            <a:r>
              <a:rPr sz="3950" spc="114" dirty="0">
                <a:solidFill>
                  <a:srgbClr val="333399"/>
                </a:solidFill>
                <a:latin typeface="黑体" panose="02010609060101010101" charset="-122"/>
                <a:cs typeface="黑体" panose="02010609060101010101" charset="-122"/>
              </a:rPr>
              <a:t>过对这个量的访问和修改，让</a:t>
            </a:r>
            <a:r>
              <a:rPr sz="3950" spc="130" dirty="0">
                <a:solidFill>
                  <a:srgbClr val="333399"/>
                </a:solidFill>
                <a:latin typeface="黑体" panose="02010609060101010101" charset="-122"/>
                <a:cs typeface="黑体" panose="02010609060101010101" charset="-122"/>
              </a:rPr>
              <a:t>大</a:t>
            </a:r>
            <a:r>
              <a:rPr sz="3950" spc="65" dirty="0">
                <a:solidFill>
                  <a:srgbClr val="333399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3950" spc="114" dirty="0">
                <a:solidFill>
                  <a:srgbClr val="333399"/>
                </a:solidFill>
                <a:latin typeface="黑体" panose="02010609060101010101" charset="-122"/>
                <a:cs typeface="黑体" panose="02010609060101010101" charset="-122"/>
              </a:rPr>
              <a:t>家有序推进。</a:t>
            </a:r>
            <a:r>
              <a:rPr sz="3950" spc="114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哪里还有问题吗</a:t>
            </a:r>
            <a:r>
              <a:rPr sz="4100" b="1" spc="-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?</a:t>
            </a:r>
            <a:endParaRPr sz="41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0">
              <a:lnSpc>
                <a:spcPts val="3470"/>
              </a:lnSpc>
            </a:pPr>
            <a:r>
              <a:rPr spc="100" dirty="0"/>
              <a:t>共同修改信号量引出的问题</a:t>
            </a:r>
            <a:endParaRPr spc="100" dirty="0"/>
          </a:p>
        </p:txBody>
      </p:sp>
      <p:sp>
        <p:nvSpPr>
          <p:cNvPr id="3" name="object 3"/>
          <p:cNvSpPr/>
          <p:nvPr/>
        </p:nvSpPr>
        <p:spPr>
          <a:xfrm>
            <a:off x="4570574" y="2327628"/>
            <a:ext cx="2514600" cy="909319"/>
          </a:xfrm>
          <a:custGeom>
            <a:avLst/>
            <a:gdLst/>
            <a:ahLst/>
            <a:cxnLst/>
            <a:rect l="l" t="t" r="r" b="b"/>
            <a:pathLst>
              <a:path w="2514600" h="909319">
                <a:moveTo>
                  <a:pt x="0" y="0"/>
                </a:moveTo>
                <a:lnTo>
                  <a:pt x="2514101" y="0"/>
                </a:lnTo>
                <a:lnTo>
                  <a:pt x="2514101" y="908755"/>
                </a:lnTo>
                <a:lnTo>
                  <a:pt x="0" y="908755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635789" y="2376860"/>
            <a:ext cx="2167890" cy="762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700" spc="-5" dirty="0">
                <a:latin typeface="Tahoma" panose="020B0604030504040204"/>
                <a:cs typeface="Tahoma" panose="020B0604030504040204"/>
              </a:rPr>
              <a:t>re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mp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y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;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re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re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dirty="0">
                <a:latin typeface="Tahoma" panose="020B0604030504040204"/>
                <a:cs typeface="Tahoma" panose="020B0604030504040204"/>
              </a:rPr>
              <a:t> </a:t>
            </a:r>
            <a:r>
              <a:rPr sz="1700" dirty="0">
                <a:latin typeface="Tahoma" panose="020B0604030504040204"/>
                <a:cs typeface="Tahoma" panose="020B0604030504040204"/>
              </a:rPr>
              <a:t>-</a:t>
            </a:r>
            <a:r>
              <a:rPr sz="1700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1;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em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p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t</a:t>
            </a:r>
            <a:r>
              <a:rPr sz="1700" dirty="0">
                <a:latin typeface="Tahoma" panose="020B0604030504040204"/>
                <a:cs typeface="Tahoma" panose="020B0604030504040204"/>
              </a:rPr>
              <a:t>y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;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35789" y="2014923"/>
            <a:ext cx="1074420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solidFill>
                  <a:srgbClr val="00006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生产者</a:t>
            </a:r>
            <a:r>
              <a:rPr sz="2000" b="1" spc="2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25" b="1" spc="7" baseline="-1900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1</a:t>
            </a:r>
            <a:endParaRPr sz="2025" baseline="-19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67840" y="3442580"/>
            <a:ext cx="1074420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solidFill>
                  <a:srgbClr val="00006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生产者</a:t>
            </a:r>
            <a:r>
              <a:rPr sz="2000" b="1" spc="2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25" b="1" spc="7" baseline="-1900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2</a:t>
            </a:r>
            <a:endParaRPr sz="2025" baseline="-19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38522" y="3755671"/>
            <a:ext cx="2514600" cy="909319"/>
          </a:xfrm>
          <a:prstGeom prst="rect">
            <a:avLst/>
          </a:prstGeom>
          <a:ln w="8114">
            <a:solidFill>
              <a:srgbClr val="0000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 marR="281940">
              <a:lnSpc>
                <a:spcPct val="100000"/>
              </a:lnSpc>
            </a:pPr>
            <a:r>
              <a:rPr sz="1700" spc="-5" dirty="0">
                <a:latin typeface="Tahoma" panose="020B0604030504040204"/>
                <a:cs typeface="Tahoma" panose="020B0604030504040204"/>
              </a:rPr>
              <a:t>re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mp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y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;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re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re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dirty="0">
                <a:latin typeface="Tahoma" panose="020B0604030504040204"/>
                <a:cs typeface="Tahoma" panose="020B0604030504040204"/>
              </a:rPr>
              <a:t> </a:t>
            </a:r>
            <a:r>
              <a:rPr sz="1700" dirty="0">
                <a:latin typeface="Tahoma" panose="020B0604030504040204"/>
                <a:cs typeface="Tahoma" panose="020B0604030504040204"/>
              </a:rPr>
              <a:t>-</a:t>
            </a:r>
            <a:r>
              <a:rPr sz="1700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1;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700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m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p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t</a:t>
            </a:r>
            <a:r>
              <a:rPr sz="1700" dirty="0">
                <a:latin typeface="Tahoma" panose="020B0604030504040204"/>
                <a:cs typeface="Tahoma" panose="020B0604030504040204"/>
              </a:rPr>
              <a:t>y</a:t>
            </a:r>
            <a:r>
              <a:rPr sz="1700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;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26331" y="4356100"/>
            <a:ext cx="2856865" cy="2012314"/>
          </a:xfrm>
          <a:custGeom>
            <a:avLst/>
            <a:gdLst/>
            <a:ahLst/>
            <a:cxnLst/>
            <a:rect l="l" t="t" r="r" b="b"/>
            <a:pathLst>
              <a:path w="2856865" h="2012314">
                <a:moveTo>
                  <a:pt x="0" y="0"/>
                </a:moveTo>
                <a:lnTo>
                  <a:pt x="2856865" y="0"/>
                </a:lnTo>
                <a:lnTo>
                  <a:pt x="2856865" y="2012244"/>
                </a:lnTo>
                <a:lnTo>
                  <a:pt x="0" y="2012244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191545" y="4418300"/>
            <a:ext cx="2692400" cy="18376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0000"/>
              </a:lnSpc>
            </a:pP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1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m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t</a:t>
            </a:r>
            <a:r>
              <a:rPr sz="1700" dirty="0">
                <a:latin typeface="Tahoma" panose="020B0604030504040204"/>
                <a:cs typeface="Tahoma" panose="020B0604030504040204"/>
              </a:rPr>
              <a:t>y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;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1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1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dirty="0">
                <a:latin typeface="Tahoma" panose="020B0604030504040204"/>
                <a:cs typeface="Tahoma" panose="020B0604030504040204"/>
              </a:rPr>
              <a:t>-</a:t>
            </a:r>
            <a:r>
              <a:rPr sz="1700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1;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2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m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t</a:t>
            </a:r>
            <a:r>
              <a:rPr sz="1700" dirty="0">
                <a:latin typeface="Tahoma" panose="020B0604030504040204"/>
                <a:cs typeface="Tahoma" panose="020B0604030504040204"/>
              </a:rPr>
              <a:t>y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;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2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2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dirty="0">
                <a:latin typeface="Tahoma" panose="020B0604030504040204"/>
                <a:cs typeface="Tahoma" panose="020B0604030504040204"/>
              </a:rPr>
              <a:t>-</a:t>
            </a:r>
            <a:r>
              <a:rPr sz="1700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1;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em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p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t</a:t>
            </a:r>
            <a:r>
              <a:rPr sz="1700" dirty="0">
                <a:latin typeface="Tahoma" panose="020B0604030504040204"/>
                <a:cs typeface="Tahoma" panose="020B0604030504040204"/>
              </a:rPr>
              <a:t>y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1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;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em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p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t</a:t>
            </a:r>
            <a:r>
              <a:rPr sz="1700" dirty="0">
                <a:latin typeface="Tahoma" panose="020B0604030504040204"/>
                <a:cs typeface="Tahoma" panose="020B0604030504040204"/>
              </a:rPr>
              <a:t>y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2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;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6616" y="4026621"/>
            <a:ext cx="253492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一个可能的执行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调度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06901" y="2278943"/>
            <a:ext cx="1683385" cy="519430"/>
          </a:xfrm>
          <a:custGeom>
            <a:avLst/>
            <a:gdLst/>
            <a:ahLst/>
            <a:cxnLst/>
            <a:rect l="l" t="t" r="r" b="b"/>
            <a:pathLst>
              <a:path w="1683385" h="519430">
                <a:moveTo>
                  <a:pt x="0" y="0"/>
                </a:moveTo>
                <a:lnTo>
                  <a:pt x="1683338" y="0"/>
                </a:lnTo>
                <a:lnTo>
                  <a:pt x="1683338" y="519288"/>
                </a:lnTo>
                <a:lnTo>
                  <a:pt x="0" y="519288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39449" y="1885136"/>
            <a:ext cx="106299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00006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初始情</a:t>
            </a:r>
            <a:r>
              <a:rPr sz="1950" b="1" spc="75" dirty="0">
                <a:solidFill>
                  <a:srgbClr val="00006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况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6782" y="2406603"/>
            <a:ext cx="132588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m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p</a:t>
            </a:r>
            <a:r>
              <a:rPr sz="1700" b="1" spc="-10" dirty="0">
                <a:latin typeface="Tahoma" panose="020B0604030504040204"/>
                <a:cs typeface="Tahoma" panose="020B0604030504040204"/>
              </a:rPr>
              <a:t>t</a:t>
            </a:r>
            <a:r>
              <a:rPr sz="1700" b="1" spc="-5" dirty="0">
                <a:latin typeface="Tahoma" panose="020B0604030504040204"/>
                <a:cs typeface="Tahoma" panose="020B0604030504040204"/>
              </a:rPr>
              <a:t>y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=</a:t>
            </a:r>
            <a:r>
              <a:rPr sz="1700" b="1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-</a:t>
            </a:r>
            <a:r>
              <a:rPr sz="1700" b="1" dirty="0">
                <a:latin typeface="Tahoma" panose="020B0604030504040204"/>
                <a:cs typeface="Tahoma" panose="020B0604030504040204"/>
              </a:rPr>
              <a:t>1;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179715" y="1889478"/>
            <a:ext cx="2258060" cy="649605"/>
          </a:xfrm>
          <a:custGeom>
            <a:avLst/>
            <a:gdLst/>
            <a:ahLst/>
            <a:cxnLst/>
            <a:rect l="l" t="t" r="r" b="b"/>
            <a:pathLst>
              <a:path w="2258060" h="649605">
                <a:moveTo>
                  <a:pt x="2257982" y="540926"/>
                </a:moveTo>
                <a:lnTo>
                  <a:pt x="310120" y="540926"/>
                </a:lnTo>
                <a:lnTo>
                  <a:pt x="310122" y="541650"/>
                </a:lnTo>
                <a:lnTo>
                  <a:pt x="318840" y="583537"/>
                </a:lnTo>
                <a:lnTo>
                  <a:pt x="342054" y="617661"/>
                </a:lnTo>
                <a:lnTo>
                  <a:pt x="376371" y="640675"/>
                </a:lnTo>
                <a:lnTo>
                  <a:pt x="418336" y="649110"/>
                </a:lnTo>
                <a:lnTo>
                  <a:pt x="2150492" y="649108"/>
                </a:lnTo>
                <a:lnTo>
                  <a:pt x="2192360" y="640407"/>
                </a:lnTo>
                <a:lnTo>
                  <a:pt x="2226524" y="617184"/>
                </a:lnTo>
                <a:lnTo>
                  <a:pt x="2249544" y="582877"/>
                </a:lnTo>
                <a:lnTo>
                  <a:pt x="2257982" y="540926"/>
                </a:lnTo>
                <a:close/>
              </a:path>
              <a:path w="2258060" h="649605">
                <a:moveTo>
                  <a:pt x="2149765" y="0"/>
                </a:moveTo>
                <a:lnTo>
                  <a:pt x="417609" y="2"/>
                </a:lnTo>
                <a:lnTo>
                  <a:pt x="375741" y="8702"/>
                </a:lnTo>
                <a:lnTo>
                  <a:pt x="341578" y="31925"/>
                </a:lnTo>
                <a:lnTo>
                  <a:pt x="318557" y="66233"/>
                </a:lnTo>
                <a:lnTo>
                  <a:pt x="310168" y="107460"/>
                </a:lnTo>
                <a:lnTo>
                  <a:pt x="310120" y="378647"/>
                </a:lnTo>
                <a:lnTo>
                  <a:pt x="0" y="583537"/>
                </a:lnTo>
                <a:lnTo>
                  <a:pt x="310120" y="540926"/>
                </a:lnTo>
                <a:lnTo>
                  <a:pt x="2257982" y="540926"/>
                </a:lnTo>
                <a:lnTo>
                  <a:pt x="2257980" y="107460"/>
                </a:lnTo>
                <a:lnTo>
                  <a:pt x="2249277" y="65603"/>
                </a:lnTo>
                <a:lnTo>
                  <a:pt x="2226047" y="31449"/>
                </a:lnTo>
                <a:lnTo>
                  <a:pt x="2191730" y="8435"/>
                </a:lnTo>
                <a:lnTo>
                  <a:pt x="2164391" y="979"/>
                </a:lnTo>
                <a:lnTo>
                  <a:pt x="214976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179715" y="1889478"/>
            <a:ext cx="2258060" cy="649605"/>
          </a:xfrm>
          <a:custGeom>
            <a:avLst/>
            <a:gdLst/>
            <a:ahLst/>
            <a:cxnLst/>
            <a:rect l="l" t="t" r="r" b="b"/>
            <a:pathLst>
              <a:path w="2258060" h="649605">
                <a:moveTo>
                  <a:pt x="310119" y="108187"/>
                </a:moveTo>
                <a:lnTo>
                  <a:pt x="318557" y="66233"/>
                </a:lnTo>
                <a:lnTo>
                  <a:pt x="341577" y="31925"/>
                </a:lnTo>
                <a:lnTo>
                  <a:pt x="375741" y="8702"/>
                </a:lnTo>
                <a:lnTo>
                  <a:pt x="417609" y="2"/>
                </a:lnTo>
                <a:lnTo>
                  <a:pt x="634763" y="0"/>
                </a:lnTo>
                <a:lnTo>
                  <a:pt x="1121729" y="0"/>
                </a:lnTo>
                <a:lnTo>
                  <a:pt x="2149766" y="0"/>
                </a:lnTo>
                <a:lnTo>
                  <a:pt x="2164392" y="979"/>
                </a:lnTo>
                <a:lnTo>
                  <a:pt x="2204189" y="14656"/>
                </a:lnTo>
                <a:lnTo>
                  <a:pt x="2235192" y="41766"/>
                </a:lnTo>
                <a:lnTo>
                  <a:pt x="2253962" y="78870"/>
                </a:lnTo>
                <a:lnTo>
                  <a:pt x="2257982" y="378648"/>
                </a:lnTo>
                <a:lnTo>
                  <a:pt x="2257982" y="540925"/>
                </a:lnTo>
                <a:lnTo>
                  <a:pt x="2257002" y="555545"/>
                </a:lnTo>
                <a:lnTo>
                  <a:pt x="2243321" y="595332"/>
                </a:lnTo>
                <a:lnTo>
                  <a:pt x="2216204" y="626327"/>
                </a:lnTo>
                <a:lnTo>
                  <a:pt x="2179090" y="645091"/>
                </a:lnTo>
                <a:lnTo>
                  <a:pt x="1121729" y="649111"/>
                </a:lnTo>
                <a:lnTo>
                  <a:pt x="634763" y="649111"/>
                </a:lnTo>
                <a:lnTo>
                  <a:pt x="418336" y="649111"/>
                </a:lnTo>
                <a:lnTo>
                  <a:pt x="403710" y="648131"/>
                </a:lnTo>
                <a:lnTo>
                  <a:pt x="363912" y="634454"/>
                </a:lnTo>
                <a:lnTo>
                  <a:pt x="332909" y="607344"/>
                </a:lnTo>
                <a:lnTo>
                  <a:pt x="314140" y="570240"/>
                </a:lnTo>
                <a:lnTo>
                  <a:pt x="310119" y="540925"/>
                </a:lnTo>
                <a:lnTo>
                  <a:pt x="0" y="583537"/>
                </a:lnTo>
                <a:lnTo>
                  <a:pt x="310119" y="378648"/>
                </a:lnTo>
                <a:lnTo>
                  <a:pt x="310119" y="108187"/>
                </a:lnTo>
                <a:close/>
              </a:path>
            </a:pathLst>
          </a:custGeom>
          <a:ln w="162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592787" y="2079817"/>
            <a:ext cx="174117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这是什么含义</a:t>
            </a:r>
            <a:r>
              <a:rPr sz="2000" b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26331" y="2928056"/>
            <a:ext cx="2922270" cy="974090"/>
          </a:xfrm>
          <a:prstGeom prst="rect">
            <a:avLst/>
          </a:prstGeom>
          <a:ln w="8114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61340" marR="296545" indent="-440055">
              <a:lnSpc>
                <a:spcPct val="103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Producer(item)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{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P(empty);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R="227965" algn="ctr">
              <a:lnSpc>
                <a:spcPct val="100000"/>
              </a:lnSpc>
              <a:spcBef>
                <a:spcPts val="30"/>
              </a:spcBef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...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}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805838" y="5264854"/>
            <a:ext cx="2710180" cy="714375"/>
          </a:xfrm>
          <a:custGeom>
            <a:avLst/>
            <a:gdLst/>
            <a:ahLst/>
            <a:cxnLst/>
            <a:rect l="l" t="t" r="r" b="b"/>
            <a:pathLst>
              <a:path w="2710179" h="714375">
                <a:moveTo>
                  <a:pt x="2709579" y="595017"/>
                </a:moveTo>
                <a:lnTo>
                  <a:pt x="372144" y="595017"/>
                </a:lnTo>
                <a:lnTo>
                  <a:pt x="372202" y="598779"/>
                </a:lnTo>
                <a:lnTo>
                  <a:pt x="381176" y="640569"/>
                </a:lnTo>
                <a:lnTo>
                  <a:pt x="403451" y="675452"/>
                </a:lnTo>
                <a:lnTo>
                  <a:pt x="436184" y="700586"/>
                </a:lnTo>
                <a:lnTo>
                  <a:pt x="476533" y="713130"/>
                </a:lnTo>
                <a:lnTo>
                  <a:pt x="491183" y="714023"/>
                </a:lnTo>
                <a:lnTo>
                  <a:pt x="2594304" y="713964"/>
                </a:lnTo>
                <a:lnTo>
                  <a:pt x="2636106" y="704993"/>
                </a:lnTo>
                <a:lnTo>
                  <a:pt x="2670998" y="682724"/>
                </a:lnTo>
                <a:lnTo>
                  <a:pt x="2696139" y="650000"/>
                </a:lnTo>
                <a:lnTo>
                  <a:pt x="2708686" y="609662"/>
                </a:lnTo>
                <a:lnTo>
                  <a:pt x="2709579" y="595017"/>
                </a:lnTo>
                <a:close/>
              </a:path>
              <a:path w="2710179" h="714375">
                <a:moveTo>
                  <a:pt x="2590539" y="0"/>
                </a:moveTo>
                <a:lnTo>
                  <a:pt x="487419" y="58"/>
                </a:lnTo>
                <a:lnTo>
                  <a:pt x="445617" y="9030"/>
                </a:lnTo>
                <a:lnTo>
                  <a:pt x="410725" y="31298"/>
                </a:lnTo>
                <a:lnTo>
                  <a:pt x="385584" y="64022"/>
                </a:lnTo>
                <a:lnTo>
                  <a:pt x="373036" y="104360"/>
                </a:lnTo>
                <a:lnTo>
                  <a:pt x="372144" y="119007"/>
                </a:lnTo>
                <a:lnTo>
                  <a:pt x="372144" y="416513"/>
                </a:lnTo>
                <a:lnTo>
                  <a:pt x="0" y="641892"/>
                </a:lnTo>
                <a:lnTo>
                  <a:pt x="372144" y="595017"/>
                </a:lnTo>
                <a:lnTo>
                  <a:pt x="2709579" y="595017"/>
                </a:lnTo>
                <a:lnTo>
                  <a:pt x="2709520" y="115244"/>
                </a:lnTo>
                <a:lnTo>
                  <a:pt x="2700546" y="73453"/>
                </a:lnTo>
                <a:lnTo>
                  <a:pt x="2678272" y="38570"/>
                </a:lnTo>
                <a:lnTo>
                  <a:pt x="2645539" y="13436"/>
                </a:lnTo>
                <a:lnTo>
                  <a:pt x="2605190" y="892"/>
                </a:lnTo>
                <a:lnTo>
                  <a:pt x="25905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805838" y="5264854"/>
            <a:ext cx="2710180" cy="714375"/>
          </a:xfrm>
          <a:custGeom>
            <a:avLst/>
            <a:gdLst/>
            <a:ahLst/>
            <a:cxnLst/>
            <a:rect l="l" t="t" r="r" b="b"/>
            <a:pathLst>
              <a:path w="2710179" h="714375">
                <a:moveTo>
                  <a:pt x="372143" y="119007"/>
                </a:moveTo>
                <a:lnTo>
                  <a:pt x="379861" y="76762"/>
                </a:lnTo>
                <a:lnTo>
                  <a:pt x="401120" y="41184"/>
                </a:lnTo>
                <a:lnTo>
                  <a:pt x="433078" y="15115"/>
                </a:lnTo>
                <a:lnTo>
                  <a:pt x="472893" y="1396"/>
                </a:lnTo>
                <a:lnTo>
                  <a:pt x="761716" y="0"/>
                </a:lnTo>
                <a:lnTo>
                  <a:pt x="1346075" y="0"/>
                </a:lnTo>
                <a:lnTo>
                  <a:pt x="2590539" y="0"/>
                </a:lnTo>
                <a:lnTo>
                  <a:pt x="2605190" y="892"/>
                </a:lnTo>
                <a:lnTo>
                  <a:pt x="2645539" y="13436"/>
                </a:lnTo>
                <a:lnTo>
                  <a:pt x="2678272" y="38570"/>
                </a:lnTo>
                <a:lnTo>
                  <a:pt x="2700546" y="73453"/>
                </a:lnTo>
                <a:lnTo>
                  <a:pt x="2709520" y="115244"/>
                </a:lnTo>
                <a:lnTo>
                  <a:pt x="2709579" y="416512"/>
                </a:lnTo>
                <a:lnTo>
                  <a:pt x="2709579" y="595017"/>
                </a:lnTo>
                <a:lnTo>
                  <a:pt x="2708686" y="609662"/>
                </a:lnTo>
                <a:lnTo>
                  <a:pt x="2696138" y="649999"/>
                </a:lnTo>
                <a:lnTo>
                  <a:pt x="2670997" y="682723"/>
                </a:lnTo>
                <a:lnTo>
                  <a:pt x="2636105" y="704992"/>
                </a:lnTo>
                <a:lnTo>
                  <a:pt x="2594303" y="713963"/>
                </a:lnTo>
                <a:lnTo>
                  <a:pt x="1346075" y="714022"/>
                </a:lnTo>
                <a:lnTo>
                  <a:pt x="761716" y="714022"/>
                </a:lnTo>
                <a:lnTo>
                  <a:pt x="491183" y="714022"/>
                </a:lnTo>
                <a:lnTo>
                  <a:pt x="476532" y="713129"/>
                </a:lnTo>
                <a:lnTo>
                  <a:pt x="436183" y="700585"/>
                </a:lnTo>
                <a:lnTo>
                  <a:pt x="403450" y="675451"/>
                </a:lnTo>
                <a:lnTo>
                  <a:pt x="381176" y="640568"/>
                </a:lnTo>
                <a:lnTo>
                  <a:pt x="372202" y="598778"/>
                </a:lnTo>
                <a:lnTo>
                  <a:pt x="372143" y="595017"/>
                </a:lnTo>
                <a:lnTo>
                  <a:pt x="0" y="641891"/>
                </a:lnTo>
                <a:lnTo>
                  <a:pt x="372143" y="416512"/>
                </a:lnTo>
                <a:lnTo>
                  <a:pt x="372143" y="119007"/>
                </a:lnTo>
                <a:close/>
              </a:path>
            </a:pathLst>
          </a:custGeom>
          <a:ln w="162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301896" y="5330980"/>
            <a:ext cx="2087880" cy="607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66395" marR="5080" indent="-354330">
              <a:lnSpc>
                <a:spcPct val="103000"/>
              </a:lnSpc>
            </a:pPr>
            <a:r>
              <a:rPr sz="2925" b="1" spc="127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最终的</a:t>
            </a:r>
            <a:r>
              <a:rPr sz="2000" b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4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00" b="1" spc="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y</a:t>
            </a:r>
            <a:r>
              <a:rPr sz="2925" b="1" spc="127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等</a:t>
            </a:r>
            <a:r>
              <a:rPr sz="2925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于</a:t>
            </a:r>
            <a:r>
              <a:rPr sz="2925" b="1" spc="5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多少</a:t>
            </a:r>
            <a:r>
              <a:rPr sz="2000" b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?</a:t>
            </a:r>
            <a:r>
              <a:rPr sz="2925" b="1" spc="127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对吗</a:t>
            </a:r>
            <a:r>
              <a:rPr sz="2000" b="1" spc="2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0">
              <a:lnSpc>
                <a:spcPct val="100000"/>
              </a:lnSpc>
            </a:pPr>
            <a:r>
              <a:rPr sz="2950" spc="100" dirty="0"/>
              <a:t>竞争条件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(R</a:t>
            </a:r>
            <a:r>
              <a:rPr sz="3050" dirty="0">
                <a:latin typeface="Arial" panose="020B0604020202020204"/>
                <a:cs typeface="Arial" panose="020B0604020202020204"/>
              </a:rPr>
              <a:t>ac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e</a:t>
            </a:r>
            <a:r>
              <a:rPr sz="3050" spc="-5" dirty="0">
                <a:latin typeface="Arial" panose="020B0604020202020204"/>
                <a:cs typeface="Arial" panose="020B0604020202020204"/>
              </a:rPr>
              <a:t> 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Condit</a:t>
            </a:r>
            <a:r>
              <a:rPr sz="3050" spc="-5" dirty="0">
                <a:latin typeface="Arial" panose="020B0604020202020204"/>
                <a:cs typeface="Arial" panose="020B0604020202020204"/>
              </a:rPr>
              <a:t>i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on)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50187" y="4945708"/>
            <a:ext cx="160968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56950" y="5400087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92209" y="1924157"/>
            <a:ext cx="5957570" cy="8693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竞争条件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和调度有关的共享数据语义错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误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77470">
              <a:lnSpc>
                <a:spcPct val="100000"/>
              </a:lnSpc>
              <a:spcBef>
                <a:spcPts val="1500"/>
              </a:spcBef>
              <a:tabLst>
                <a:tab pos="2999105" algn="l"/>
              </a:tabLst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第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次执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行</a:t>
            </a:r>
            <a:r>
              <a:rPr sz="2925" b="1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第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j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次执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行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327751" y="2076098"/>
            <a:ext cx="2479465" cy="340512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927396" y="4964487"/>
            <a:ext cx="4445000" cy="1495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0" marR="5080" indent="-6985">
              <a:lnSpc>
                <a:spcPct val="13700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错误由多个进程并发操作共享数据引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起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错误和调度顺序有关，难于发现和调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试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64515" marR="530860" indent="-292100">
              <a:lnSpc>
                <a:spcPts val="3190"/>
              </a:lnSpc>
              <a:spcBef>
                <a:spcPts val="135"/>
              </a:spcBef>
            </a:pPr>
            <a:r>
              <a:rPr sz="1950" b="1" u="sng" spc="85" dirty="0">
                <a:latin typeface="宋体" panose="02010600030101010101" pitchFamily="2" charset="-122"/>
                <a:cs typeface="宋体" panose="02010600030101010101" pitchFamily="2" charset="-122"/>
              </a:rPr>
              <a:t>问题：右面的图这两个人的方</a:t>
            </a:r>
            <a:r>
              <a:rPr sz="1950" b="1" u="sng" spc="75" dirty="0">
                <a:latin typeface="宋体" panose="02010600030101010101" pitchFamily="2" charset="-122"/>
                <a:cs typeface="宋体" panose="02010600030101010101" pitchFamily="2" charset="-122"/>
              </a:rPr>
              <a:t>法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u="sng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有效果吗</a:t>
            </a:r>
            <a:r>
              <a:rPr sz="2000" b="1" u="sng" spc="20" dirty="0">
                <a:latin typeface="Arial" panose="020B0604020202020204"/>
                <a:cs typeface="Arial" panose="020B0604020202020204"/>
              </a:rPr>
              <a:t>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60996" y="2798232"/>
            <a:ext cx="2832100" cy="2012314"/>
          </a:xfrm>
          <a:prstGeom prst="rect">
            <a:avLst/>
          </a:prstGeom>
          <a:ln w="8114">
            <a:solidFill>
              <a:srgbClr val="0000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 marR="75565">
              <a:lnSpc>
                <a:spcPct val="120000"/>
              </a:lnSpc>
            </a:pP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1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m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t</a:t>
            </a:r>
            <a:r>
              <a:rPr sz="1700" dirty="0">
                <a:latin typeface="Tahoma" panose="020B0604030504040204"/>
                <a:cs typeface="Tahoma" panose="020B0604030504040204"/>
              </a:rPr>
              <a:t>y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;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1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1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dirty="0">
                <a:latin typeface="Tahoma" panose="020B0604030504040204"/>
                <a:cs typeface="Tahoma" panose="020B0604030504040204"/>
              </a:rPr>
              <a:t>-</a:t>
            </a:r>
            <a:r>
              <a:rPr sz="1700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1;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2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m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t</a:t>
            </a:r>
            <a:r>
              <a:rPr sz="1700" dirty="0">
                <a:latin typeface="Tahoma" panose="020B0604030504040204"/>
                <a:cs typeface="Tahoma" panose="020B0604030504040204"/>
              </a:rPr>
              <a:t>y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;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2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2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dirty="0">
                <a:latin typeface="Tahoma" panose="020B0604030504040204"/>
                <a:cs typeface="Tahoma" panose="020B0604030504040204"/>
              </a:rPr>
              <a:t>-</a:t>
            </a:r>
            <a:r>
              <a:rPr sz="1700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1;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em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p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t</a:t>
            </a:r>
            <a:r>
              <a:rPr sz="1700" dirty="0">
                <a:latin typeface="Tahoma" panose="020B0604030504040204"/>
                <a:cs typeface="Tahoma" panose="020B0604030504040204"/>
              </a:rPr>
              <a:t>y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1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;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em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p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t</a:t>
            </a:r>
            <a:r>
              <a:rPr sz="1700" dirty="0">
                <a:latin typeface="Tahoma" panose="020B0604030504040204"/>
                <a:cs typeface="Tahoma" panose="020B0604030504040204"/>
              </a:rPr>
              <a:t>y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2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;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482790" y="2798232"/>
            <a:ext cx="2832100" cy="2012314"/>
          </a:xfrm>
          <a:prstGeom prst="rect">
            <a:avLst/>
          </a:prstGeom>
          <a:ln w="8114">
            <a:solidFill>
              <a:srgbClr val="0000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 marR="75565">
              <a:lnSpc>
                <a:spcPct val="120000"/>
              </a:lnSpc>
            </a:pP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1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m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t</a:t>
            </a:r>
            <a:r>
              <a:rPr sz="1700" dirty="0">
                <a:latin typeface="Tahoma" panose="020B0604030504040204"/>
                <a:cs typeface="Tahoma" panose="020B0604030504040204"/>
              </a:rPr>
              <a:t>y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;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1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1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dirty="0">
                <a:latin typeface="Tahoma" panose="020B0604030504040204"/>
                <a:cs typeface="Tahoma" panose="020B0604030504040204"/>
              </a:rPr>
              <a:t>-</a:t>
            </a:r>
            <a:r>
              <a:rPr sz="1700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1;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em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p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t</a:t>
            </a:r>
            <a:r>
              <a:rPr sz="1700" dirty="0">
                <a:latin typeface="Tahoma" panose="020B0604030504040204"/>
                <a:cs typeface="Tahoma" panose="020B0604030504040204"/>
              </a:rPr>
              <a:t>y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1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;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2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m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t</a:t>
            </a:r>
            <a:r>
              <a:rPr sz="1700" dirty="0">
                <a:latin typeface="Tahoma" panose="020B0604030504040204"/>
                <a:cs typeface="Tahoma" panose="020B0604030504040204"/>
              </a:rPr>
              <a:t>y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;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2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2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dirty="0">
                <a:latin typeface="Tahoma" panose="020B0604030504040204"/>
                <a:cs typeface="Tahoma" panose="020B0604030504040204"/>
              </a:rPr>
              <a:t>-</a:t>
            </a:r>
            <a:r>
              <a:rPr sz="1700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1;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em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p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t</a:t>
            </a:r>
            <a:r>
              <a:rPr sz="1700" dirty="0">
                <a:latin typeface="Tahoma" panose="020B0604030504040204"/>
                <a:cs typeface="Tahoma" panose="020B0604030504040204"/>
              </a:rPr>
              <a:t>y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2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;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0">
              <a:lnSpc>
                <a:spcPts val="3470"/>
              </a:lnSpc>
            </a:pPr>
            <a:r>
              <a:rPr spc="100" dirty="0"/>
              <a:t>解决竞争条件的直观想法</a:t>
            </a:r>
            <a:endParaRPr spc="100" dirty="0"/>
          </a:p>
        </p:txBody>
      </p:sp>
      <p:sp>
        <p:nvSpPr>
          <p:cNvPr id="3" name="object 3"/>
          <p:cNvSpPr txBox="1"/>
          <p:nvPr/>
        </p:nvSpPr>
        <p:spPr>
          <a:xfrm>
            <a:off x="801973" y="2012033"/>
            <a:ext cx="302958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在写共享变量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e</a:t>
            </a:r>
            <a:r>
              <a:rPr sz="2400" b="1" spc="-20" dirty="0">
                <a:latin typeface="Arial" panose="020B0604020202020204"/>
                <a:cs typeface="Arial" panose="020B0604020202020204"/>
              </a:rPr>
              <a:t>m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p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2400" b="1" dirty="0">
                <a:latin typeface="Arial" panose="020B0604020202020204"/>
                <a:cs typeface="Arial" panose="020B0604020202020204"/>
              </a:rPr>
              <a:t>y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4390" y="2481580"/>
            <a:ext cx="3013710" cy="349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30"/>
              </a:lnSpc>
            </a:pPr>
            <a:r>
              <a:rPr sz="230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时阻止其他进程也</a:t>
            </a:r>
            <a:r>
              <a:rPr sz="2300" b="1" spc="90" dirty="0">
                <a:latin typeface="宋体" panose="02010600030101010101" pitchFamily="2" charset="-122"/>
                <a:cs typeface="宋体" panose="02010600030101010101" pitchFamily="2" charset="-122"/>
              </a:rPr>
              <a:t>访</a:t>
            </a:r>
            <a:endParaRPr sz="23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50868" y="2919615"/>
            <a:ext cx="1223010" cy="342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问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e</a:t>
            </a:r>
            <a:r>
              <a:rPr sz="2400" b="1" spc="-20" dirty="0">
                <a:latin typeface="Arial" panose="020B0604020202020204"/>
                <a:cs typeface="Arial" panose="020B0604020202020204"/>
              </a:rPr>
              <a:t>m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p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t</a:t>
            </a:r>
            <a:r>
              <a:rPr sz="2400" b="1" dirty="0">
                <a:latin typeface="Arial" panose="020B0604020202020204"/>
                <a:cs typeface="Arial" panose="020B0604020202020204"/>
              </a:rPr>
              <a:t>y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1188" y="4031543"/>
            <a:ext cx="2832100" cy="2012314"/>
          </a:xfrm>
          <a:prstGeom prst="rect">
            <a:avLst/>
          </a:prstGeom>
          <a:ln w="8114">
            <a:solidFill>
              <a:srgbClr val="0000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 marR="75565">
              <a:lnSpc>
                <a:spcPct val="120000"/>
              </a:lnSpc>
            </a:pP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1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m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t</a:t>
            </a:r>
            <a:r>
              <a:rPr sz="1700" dirty="0">
                <a:latin typeface="Tahoma" panose="020B0604030504040204"/>
                <a:cs typeface="Tahoma" panose="020B0604030504040204"/>
              </a:rPr>
              <a:t>y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;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1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1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dirty="0">
                <a:latin typeface="Tahoma" panose="020B0604030504040204"/>
                <a:cs typeface="Tahoma" panose="020B0604030504040204"/>
              </a:rPr>
              <a:t>-</a:t>
            </a:r>
            <a:r>
              <a:rPr sz="1700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1;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2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m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t</a:t>
            </a:r>
            <a:r>
              <a:rPr sz="1700" dirty="0">
                <a:latin typeface="Tahoma" panose="020B0604030504040204"/>
                <a:cs typeface="Tahoma" panose="020B0604030504040204"/>
              </a:rPr>
              <a:t>y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;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2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2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dirty="0">
                <a:latin typeface="Tahoma" panose="020B0604030504040204"/>
                <a:cs typeface="Tahoma" panose="020B0604030504040204"/>
              </a:rPr>
              <a:t>-</a:t>
            </a:r>
            <a:r>
              <a:rPr sz="1700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1;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em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p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t</a:t>
            </a:r>
            <a:r>
              <a:rPr sz="1700" dirty="0">
                <a:latin typeface="Tahoma" panose="020B0604030504040204"/>
                <a:cs typeface="Tahoma" panose="020B0604030504040204"/>
              </a:rPr>
              <a:t>y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1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;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em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p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t</a:t>
            </a:r>
            <a:r>
              <a:rPr sz="1700" dirty="0">
                <a:latin typeface="Tahoma" panose="020B0604030504040204"/>
                <a:cs typeface="Tahoma" panose="020B0604030504040204"/>
              </a:rPr>
              <a:t>y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2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;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7329" y="3702154"/>
            <a:ext cx="210121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仍是那个执行序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列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58838" y="1785468"/>
            <a:ext cx="899794" cy="287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solidFill>
                  <a:srgbClr val="00006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生产者</a:t>
            </a:r>
            <a:r>
              <a:rPr sz="1700" b="1" spc="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650" b="1" spc="22" baseline="-2000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650" baseline="-20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43196" y="2507999"/>
            <a:ext cx="1971039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1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m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t</a:t>
            </a:r>
            <a:r>
              <a:rPr sz="1700" dirty="0">
                <a:latin typeface="Tahoma" panose="020B0604030504040204"/>
                <a:cs typeface="Tahoma" panose="020B0604030504040204"/>
              </a:rPr>
              <a:t>y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;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43196" y="2766162"/>
            <a:ext cx="2692400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1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1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dirty="0">
                <a:latin typeface="Tahoma" panose="020B0604030504040204"/>
                <a:cs typeface="Tahoma" panose="020B0604030504040204"/>
              </a:rPr>
              <a:t>-</a:t>
            </a:r>
            <a:r>
              <a:rPr sz="1700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1;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83196" y="2055812"/>
            <a:ext cx="2402840" cy="454659"/>
          </a:xfrm>
          <a:prstGeom prst="rect">
            <a:avLst/>
          </a:prstGeom>
          <a:ln w="8113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3200">
              <a:lnSpc>
                <a:spcPct val="100000"/>
              </a:lnSpc>
            </a:pP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检查并给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empty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上锁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658838" y="3004924"/>
            <a:ext cx="899794" cy="287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solidFill>
                  <a:srgbClr val="00006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生产者</a:t>
            </a:r>
            <a:r>
              <a:rPr sz="1700" b="1" spc="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650" b="1" spc="22" baseline="-2000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650" baseline="-20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43196" y="3946471"/>
            <a:ext cx="1971039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spc="-5" dirty="0">
                <a:latin typeface="Tahoma" panose="020B0604030504040204"/>
                <a:cs typeface="Tahoma" panose="020B0604030504040204"/>
              </a:rPr>
              <a:t>em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p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t</a:t>
            </a:r>
            <a:r>
              <a:rPr sz="1700" dirty="0">
                <a:latin typeface="Tahoma" panose="020B0604030504040204"/>
                <a:cs typeface="Tahoma" panose="020B0604030504040204"/>
              </a:rPr>
              <a:t>y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1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;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83196" y="3289123"/>
            <a:ext cx="2077720" cy="454659"/>
          </a:xfrm>
          <a:prstGeom prst="rect">
            <a:avLst/>
          </a:prstGeom>
          <a:ln w="8113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3200">
              <a:lnSpc>
                <a:spcPct val="100000"/>
              </a:lnSpc>
            </a:pP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检查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empty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的锁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58838" y="3797167"/>
            <a:ext cx="899794" cy="287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solidFill>
                  <a:srgbClr val="00006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生产者</a:t>
            </a:r>
            <a:r>
              <a:rPr sz="1700" b="1" spc="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650" b="1" spc="22" baseline="-2000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650" baseline="-20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983196" y="4197879"/>
            <a:ext cx="2077720" cy="454659"/>
          </a:xfrm>
          <a:custGeom>
            <a:avLst/>
            <a:gdLst/>
            <a:ahLst/>
            <a:cxnLst/>
            <a:rect l="l" t="t" r="r" b="b"/>
            <a:pathLst>
              <a:path w="2077720" h="454660">
                <a:moveTo>
                  <a:pt x="0" y="454377"/>
                </a:moveTo>
                <a:lnTo>
                  <a:pt x="2077719" y="454377"/>
                </a:lnTo>
                <a:lnTo>
                  <a:pt x="2077719" y="0"/>
                </a:lnTo>
                <a:lnTo>
                  <a:pt x="0" y="0"/>
                </a:lnTo>
                <a:lnTo>
                  <a:pt x="0" y="4543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983196" y="4197879"/>
            <a:ext cx="2077720" cy="454659"/>
          </a:xfrm>
          <a:custGeom>
            <a:avLst/>
            <a:gdLst/>
            <a:ahLst/>
            <a:cxnLst/>
            <a:rect l="l" t="t" r="r" b="b"/>
            <a:pathLst>
              <a:path w="2077720" h="454660">
                <a:moveTo>
                  <a:pt x="0" y="0"/>
                </a:moveTo>
                <a:lnTo>
                  <a:pt x="2077720" y="0"/>
                </a:lnTo>
                <a:lnTo>
                  <a:pt x="2077720" y="454377"/>
                </a:lnTo>
                <a:lnTo>
                  <a:pt x="0" y="454377"/>
                </a:lnTo>
                <a:lnTo>
                  <a:pt x="0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178268" y="4303606"/>
            <a:ext cx="1323340" cy="2660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给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empty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开锁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58838" y="4640781"/>
            <a:ext cx="899794" cy="287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solidFill>
                  <a:srgbClr val="00006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生产者</a:t>
            </a:r>
            <a:r>
              <a:rPr sz="1700" b="1" spc="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1650" b="1" spc="22" baseline="-2000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650" baseline="-20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243196" y="5363312"/>
            <a:ext cx="2692400" cy="762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2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m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t</a:t>
            </a:r>
            <a:r>
              <a:rPr sz="1700" dirty="0">
                <a:latin typeface="Tahoma" panose="020B0604030504040204"/>
                <a:cs typeface="Tahoma" panose="020B0604030504040204"/>
              </a:rPr>
              <a:t>y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;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2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P</a:t>
            </a:r>
            <a:r>
              <a:rPr sz="1650" spc="15" baseline="-20000" dirty="0">
                <a:latin typeface="Tahoma" panose="020B0604030504040204"/>
                <a:cs typeface="Tahoma" panose="020B0604030504040204"/>
              </a:rPr>
              <a:t>2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.r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dirty="0">
                <a:latin typeface="Tahoma" panose="020B0604030504040204"/>
                <a:cs typeface="Tahoma" panose="020B0604030504040204"/>
              </a:rPr>
              <a:t>-</a:t>
            </a:r>
            <a:r>
              <a:rPr sz="1700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1;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em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p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t</a:t>
            </a:r>
            <a:r>
              <a:rPr sz="1700" dirty="0">
                <a:latin typeface="Tahoma" panose="020B0604030504040204"/>
                <a:cs typeface="Tahoma" panose="020B0604030504040204"/>
              </a:rPr>
              <a:t>y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=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 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C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.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eg</a:t>
            </a:r>
            <a:r>
              <a:rPr sz="1700" dirty="0">
                <a:latin typeface="Tahoma" panose="020B0604030504040204"/>
                <a:cs typeface="Tahoma" panose="020B0604030504040204"/>
              </a:rPr>
              <a:t>i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s</a:t>
            </a:r>
            <a:r>
              <a:rPr sz="1700" spc="5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</a:t>
            </a:r>
            <a:r>
              <a:rPr sz="1700" dirty="0">
                <a:latin typeface="Tahoma" panose="020B0604030504040204"/>
                <a:cs typeface="Tahoma" panose="020B0604030504040204"/>
              </a:rPr>
              <a:t>r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;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983196" y="4911901"/>
            <a:ext cx="2272665" cy="454659"/>
          </a:xfrm>
          <a:prstGeom prst="rect">
            <a:avLst/>
          </a:prstGeom>
          <a:ln w="8113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3200">
              <a:lnSpc>
                <a:spcPct val="100000"/>
              </a:lnSpc>
            </a:pP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检查并给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empty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上锁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983196" y="6169554"/>
            <a:ext cx="2077720" cy="365760"/>
          </a:xfrm>
          <a:custGeom>
            <a:avLst/>
            <a:gdLst/>
            <a:ahLst/>
            <a:cxnLst/>
            <a:rect l="l" t="t" r="r" b="b"/>
            <a:pathLst>
              <a:path w="2077720" h="365759">
                <a:moveTo>
                  <a:pt x="0" y="365258"/>
                </a:moveTo>
                <a:lnTo>
                  <a:pt x="2077719" y="365258"/>
                </a:lnTo>
                <a:lnTo>
                  <a:pt x="2077719" y="0"/>
                </a:lnTo>
                <a:lnTo>
                  <a:pt x="0" y="0"/>
                </a:lnTo>
                <a:lnTo>
                  <a:pt x="0" y="36525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3983196" y="6169554"/>
            <a:ext cx="2077720" cy="365760"/>
          </a:xfrm>
          <a:prstGeom prst="rect">
            <a:avLst/>
          </a:prstGeom>
          <a:ln w="8113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3200">
              <a:lnSpc>
                <a:spcPct val="100000"/>
              </a:lnSpc>
            </a:pP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给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empty</a:t>
            </a:r>
            <a:r>
              <a:rPr sz="1650" b="1" spc="4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开锁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972624" y="2495315"/>
            <a:ext cx="185420" cy="1557655"/>
          </a:xfrm>
          <a:custGeom>
            <a:avLst/>
            <a:gdLst/>
            <a:ahLst/>
            <a:cxnLst/>
            <a:rect l="l" t="t" r="r" b="b"/>
            <a:pathLst>
              <a:path w="185420" h="1557654">
                <a:moveTo>
                  <a:pt x="0" y="0"/>
                </a:moveTo>
                <a:lnTo>
                  <a:pt x="46491" y="15718"/>
                </a:lnTo>
                <a:lnTo>
                  <a:pt x="73731" y="44998"/>
                </a:lnTo>
                <a:lnTo>
                  <a:pt x="91550" y="85429"/>
                </a:lnTo>
                <a:lnTo>
                  <a:pt x="97393" y="649111"/>
                </a:lnTo>
                <a:lnTo>
                  <a:pt x="98178" y="665672"/>
                </a:lnTo>
                <a:lnTo>
                  <a:pt x="109184" y="711082"/>
                </a:lnTo>
                <a:lnTo>
                  <a:pt x="131151" y="747392"/>
                </a:lnTo>
                <a:lnTo>
                  <a:pt x="161482" y="771145"/>
                </a:lnTo>
                <a:lnTo>
                  <a:pt x="185070" y="778295"/>
                </a:lnTo>
                <a:lnTo>
                  <a:pt x="174419" y="779552"/>
                </a:lnTo>
                <a:lnTo>
                  <a:pt x="134729" y="804318"/>
                </a:lnTo>
                <a:lnTo>
                  <a:pt x="111844" y="839726"/>
                </a:lnTo>
                <a:lnTo>
                  <a:pt x="98952" y="885392"/>
                </a:lnTo>
                <a:lnTo>
                  <a:pt x="97393" y="1428044"/>
                </a:lnTo>
                <a:lnTo>
                  <a:pt x="96608" y="1444605"/>
                </a:lnTo>
                <a:lnTo>
                  <a:pt x="85601" y="1490015"/>
                </a:lnTo>
                <a:lnTo>
                  <a:pt x="63634" y="1526326"/>
                </a:lnTo>
                <a:lnTo>
                  <a:pt x="33303" y="1550078"/>
                </a:lnTo>
                <a:lnTo>
                  <a:pt x="21782" y="1554607"/>
                </a:lnTo>
                <a:lnTo>
                  <a:pt x="9716" y="1557228"/>
                </a:lnTo>
              </a:path>
            </a:pathLst>
          </a:custGeom>
          <a:ln w="8116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243160" y="2919942"/>
            <a:ext cx="2648585" cy="707390"/>
          </a:xfrm>
          <a:custGeom>
            <a:avLst/>
            <a:gdLst/>
            <a:ahLst/>
            <a:cxnLst/>
            <a:rect l="l" t="t" r="r" b="b"/>
            <a:pathLst>
              <a:path w="2648584" h="707389">
                <a:moveTo>
                  <a:pt x="0" y="0"/>
                </a:moveTo>
                <a:lnTo>
                  <a:pt x="2648551" y="0"/>
                </a:lnTo>
                <a:lnTo>
                  <a:pt x="2648551" y="707261"/>
                </a:lnTo>
                <a:lnTo>
                  <a:pt x="0" y="707261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154333" y="2870199"/>
            <a:ext cx="613833" cy="588433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412566" y="2870199"/>
            <a:ext cx="618066" cy="5884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675033" y="2870199"/>
            <a:ext cx="613833" cy="5884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933266" y="2870199"/>
            <a:ext cx="613833" cy="58843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191500" y="2870199"/>
            <a:ext cx="618066" cy="5884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8453966" y="2870199"/>
            <a:ext cx="613833" cy="5884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712200" y="2870199"/>
            <a:ext cx="613833" cy="58843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8970433" y="2870199"/>
            <a:ext cx="618066" cy="58843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9232900" y="2870199"/>
            <a:ext cx="613833" cy="58843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154333" y="3170767"/>
            <a:ext cx="613833" cy="5842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412566" y="3170767"/>
            <a:ext cx="618066" cy="5842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675033" y="3170767"/>
            <a:ext cx="613833" cy="5842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933266" y="3170767"/>
            <a:ext cx="613833" cy="5842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8191500" y="3170767"/>
            <a:ext cx="618066" cy="58420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8453966" y="3170767"/>
            <a:ext cx="613833" cy="5842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7308374" y="2992868"/>
            <a:ext cx="2360930" cy="577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100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一段代码一次只允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许</a:t>
            </a:r>
            <a:r>
              <a:rPr sz="1950" b="1" spc="3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一个进程进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入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42" name="object 42"/>
          <p:cNvSpPr txBox="1"/>
          <p:nvPr/>
        </p:nvSpPr>
        <p:spPr>
          <a:xfrm>
            <a:off x="6191059" y="3408633"/>
            <a:ext cx="21209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?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0">
              <a:lnSpc>
                <a:spcPct val="100000"/>
              </a:lnSpc>
            </a:pPr>
            <a:r>
              <a:rPr sz="2950" spc="100" dirty="0"/>
              <a:t>临界区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(Cr</a:t>
            </a:r>
            <a:r>
              <a:rPr sz="3050" spc="-5" dirty="0">
                <a:latin typeface="Arial" panose="020B0604020202020204"/>
                <a:cs typeface="Arial" panose="020B0604020202020204"/>
              </a:rPr>
              <a:t>i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t</a:t>
            </a:r>
            <a:r>
              <a:rPr sz="3050" spc="-5" dirty="0">
                <a:latin typeface="Arial" panose="020B0604020202020204"/>
                <a:cs typeface="Arial" panose="020B0604020202020204"/>
              </a:rPr>
              <a:t>i</a:t>
            </a:r>
            <a:r>
              <a:rPr sz="3050" dirty="0">
                <a:latin typeface="Arial" panose="020B0604020202020204"/>
                <a:cs typeface="Arial" panose="020B0604020202020204"/>
              </a:rPr>
              <a:t>ca</a:t>
            </a:r>
            <a:r>
              <a:rPr sz="3050" dirty="0">
                <a:latin typeface="Arial" panose="020B0604020202020204"/>
                <a:cs typeface="Arial" panose="020B0604020202020204"/>
              </a:rPr>
              <a:t>l</a:t>
            </a:r>
            <a:r>
              <a:rPr sz="3050" dirty="0">
                <a:latin typeface="Arial" panose="020B0604020202020204"/>
                <a:cs typeface="Arial" panose="020B0604020202020204"/>
              </a:rPr>
              <a:t> 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S</a:t>
            </a:r>
            <a:r>
              <a:rPr sz="3050" dirty="0">
                <a:latin typeface="Arial" panose="020B0604020202020204"/>
                <a:cs typeface="Arial" panose="020B0604020202020204"/>
              </a:rPr>
              <a:t>ec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t</a:t>
            </a:r>
            <a:r>
              <a:rPr sz="3050" spc="-5" dirty="0">
                <a:latin typeface="Arial" panose="020B0604020202020204"/>
                <a:cs typeface="Arial" panose="020B0604020202020204"/>
              </a:rPr>
              <a:t>i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on)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07187" y="2012033"/>
            <a:ext cx="7774940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临界区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一次只允许一个进程进入的该进程的那一段代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码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63766" y="2798232"/>
            <a:ext cx="2012950" cy="584200"/>
          </a:xfrm>
          <a:custGeom>
            <a:avLst/>
            <a:gdLst/>
            <a:ahLst/>
            <a:cxnLst/>
            <a:rect l="l" t="t" r="r" b="b"/>
            <a:pathLst>
              <a:path w="2012950" h="584200">
                <a:moveTo>
                  <a:pt x="0" y="0"/>
                </a:moveTo>
                <a:lnTo>
                  <a:pt x="2012791" y="0"/>
                </a:lnTo>
                <a:lnTo>
                  <a:pt x="2012791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1830" y="2798232"/>
            <a:ext cx="2012950" cy="584200"/>
          </a:xfrm>
          <a:custGeom>
            <a:avLst/>
            <a:gdLst/>
            <a:ahLst/>
            <a:cxnLst/>
            <a:rect l="l" t="t" r="r" b="b"/>
            <a:pathLst>
              <a:path w="2012950" h="584200">
                <a:moveTo>
                  <a:pt x="0" y="0"/>
                </a:moveTo>
                <a:lnTo>
                  <a:pt x="2012791" y="0"/>
                </a:lnTo>
                <a:lnTo>
                  <a:pt x="2012791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37044" y="2469177"/>
            <a:ext cx="3866515" cy="763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04160" algn="l"/>
              </a:tabLst>
            </a:pPr>
            <a:r>
              <a:rPr sz="2925" b="1" spc="127" baseline="1000" dirty="0">
                <a:solidFill>
                  <a:srgbClr val="00006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生产者</a:t>
            </a:r>
            <a:r>
              <a:rPr sz="2000" b="1" spc="2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25" b="1" spc="7" baseline="-1900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025" b="1" baseline="-1900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925" b="1" spc="127" baseline="1000" dirty="0">
                <a:solidFill>
                  <a:srgbClr val="00006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生产者</a:t>
            </a:r>
            <a:r>
              <a:rPr sz="2000" b="1" spc="2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25" b="1" spc="7" baseline="-1900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2</a:t>
            </a:r>
            <a:endParaRPr sz="2025" baseline="-19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  <a:tabLst>
                <a:tab pos="2804160" algn="l"/>
              </a:tabLst>
            </a:pPr>
            <a:r>
              <a:rPr sz="1700" spc="-5" dirty="0">
                <a:latin typeface="Tahoma" panose="020B0604030504040204"/>
                <a:cs typeface="Tahoma" panose="020B0604030504040204"/>
              </a:rPr>
              <a:t>em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p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30" dirty="0">
                <a:latin typeface="Tahoma" panose="020B0604030504040204"/>
                <a:cs typeface="Tahoma" panose="020B0604030504040204"/>
              </a:rPr>
              <a:t>y</a:t>
            </a:r>
            <a:r>
              <a:rPr sz="1700" dirty="0">
                <a:latin typeface="Tahoma" panose="020B0604030504040204"/>
                <a:cs typeface="Tahoma" panose="020B0604030504040204"/>
              </a:rPr>
              <a:t>--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;</a:t>
            </a:r>
            <a:r>
              <a:rPr sz="1700" dirty="0">
                <a:latin typeface="Tahoma" panose="020B0604030504040204"/>
                <a:cs typeface="Tahoma" panose="020B0604030504040204"/>
              </a:rPr>
              <a:t>	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em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p</a:t>
            </a:r>
            <a:r>
              <a:rPr sz="1700" spc="-10" dirty="0">
                <a:latin typeface="Tahoma" panose="020B0604030504040204"/>
                <a:cs typeface="Tahoma" panose="020B0604030504040204"/>
              </a:rPr>
              <a:t>t</a:t>
            </a:r>
            <a:r>
              <a:rPr sz="1700" spc="-30" dirty="0">
                <a:latin typeface="Tahoma" panose="020B0604030504040204"/>
                <a:cs typeface="Tahoma" panose="020B0604030504040204"/>
              </a:rPr>
              <a:t>y</a:t>
            </a:r>
            <a:r>
              <a:rPr sz="1700" dirty="0">
                <a:latin typeface="Tahoma" panose="020B0604030504040204"/>
                <a:cs typeface="Tahoma" panose="020B0604030504040204"/>
              </a:rPr>
              <a:t>--</a:t>
            </a:r>
            <a:r>
              <a:rPr sz="1700" spc="-5" dirty="0">
                <a:latin typeface="Tahoma" panose="020B0604030504040204"/>
                <a:cs typeface="Tahoma" panose="020B0604030504040204"/>
              </a:rPr>
              <a:t>;</a:t>
            </a:r>
            <a:endParaRPr sz="1700">
              <a:latin typeface="Tahoma" panose="020B0604030504040204"/>
              <a:cs typeface="Tahoma" panose="020B060403050404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80832" y="3174472"/>
            <a:ext cx="1919605" cy="634365"/>
          </a:xfrm>
          <a:custGeom>
            <a:avLst/>
            <a:gdLst/>
            <a:ahLst/>
            <a:cxnLst/>
            <a:rect l="l" t="t" r="r" b="b"/>
            <a:pathLst>
              <a:path w="1919604" h="634364">
                <a:moveTo>
                  <a:pt x="148303" y="46495"/>
                </a:moveTo>
                <a:lnTo>
                  <a:pt x="66154" y="46495"/>
                </a:lnTo>
                <a:lnTo>
                  <a:pt x="1846792" y="598957"/>
                </a:lnTo>
                <a:lnTo>
                  <a:pt x="1846895" y="603398"/>
                </a:lnTo>
                <a:lnTo>
                  <a:pt x="1872108" y="632298"/>
                </a:lnTo>
                <a:lnTo>
                  <a:pt x="1881816" y="634240"/>
                </a:lnTo>
                <a:lnTo>
                  <a:pt x="1886536" y="633770"/>
                </a:lnTo>
                <a:lnTo>
                  <a:pt x="1895816" y="631474"/>
                </a:lnTo>
                <a:lnTo>
                  <a:pt x="1905440" y="625080"/>
                </a:lnTo>
                <a:lnTo>
                  <a:pt x="1913482" y="613919"/>
                </a:lnTo>
                <a:lnTo>
                  <a:pt x="1919426" y="597210"/>
                </a:lnTo>
                <a:lnTo>
                  <a:pt x="1917266" y="585868"/>
                </a:lnTo>
                <a:lnTo>
                  <a:pt x="1911296" y="575708"/>
                </a:lnTo>
                <a:lnTo>
                  <a:pt x="1854008" y="575708"/>
                </a:lnTo>
                <a:lnTo>
                  <a:pt x="148303" y="46495"/>
                </a:lnTo>
                <a:close/>
              </a:path>
              <a:path w="1919604" h="634364">
                <a:moveTo>
                  <a:pt x="1888148" y="561283"/>
                </a:moveTo>
                <a:lnTo>
                  <a:pt x="1875715" y="561627"/>
                </a:lnTo>
                <a:lnTo>
                  <a:pt x="1864344" y="565997"/>
                </a:lnTo>
                <a:lnTo>
                  <a:pt x="1855007" y="573881"/>
                </a:lnTo>
                <a:lnTo>
                  <a:pt x="1854008" y="575708"/>
                </a:lnTo>
                <a:lnTo>
                  <a:pt x="1911296" y="575708"/>
                </a:lnTo>
                <a:lnTo>
                  <a:pt x="1901495" y="567187"/>
                </a:lnTo>
                <a:lnTo>
                  <a:pt x="1888148" y="561283"/>
                </a:lnTo>
                <a:close/>
              </a:path>
              <a:path w="1919604" h="634364">
                <a:moveTo>
                  <a:pt x="80587" y="0"/>
                </a:moveTo>
                <a:lnTo>
                  <a:pt x="0" y="13227"/>
                </a:lnTo>
                <a:lnTo>
                  <a:pt x="58936" y="69743"/>
                </a:lnTo>
                <a:lnTo>
                  <a:pt x="66154" y="46495"/>
                </a:lnTo>
                <a:lnTo>
                  <a:pt x="148303" y="46495"/>
                </a:lnTo>
                <a:lnTo>
                  <a:pt x="73370" y="23247"/>
                </a:lnTo>
                <a:lnTo>
                  <a:pt x="8058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427970" y="3187700"/>
            <a:ext cx="360680" cy="621030"/>
          </a:xfrm>
          <a:custGeom>
            <a:avLst/>
            <a:gdLst/>
            <a:ahLst/>
            <a:cxnLst/>
            <a:rect l="l" t="t" r="r" b="b"/>
            <a:pathLst>
              <a:path w="360679" h="621029">
                <a:moveTo>
                  <a:pt x="39710" y="547888"/>
                </a:moveTo>
                <a:lnTo>
                  <a:pt x="1013" y="575605"/>
                </a:lnTo>
                <a:lnTo>
                  <a:pt x="0" y="587791"/>
                </a:lnTo>
                <a:lnTo>
                  <a:pt x="2643" y="598986"/>
                </a:lnTo>
                <a:lnTo>
                  <a:pt x="31879" y="620511"/>
                </a:lnTo>
                <a:lnTo>
                  <a:pt x="44613" y="619632"/>
                </a:lnTo>
                <a:lnTo>
                  <a:pt x="56248" y="614459"/>
                </a:lnTo>
                <a:lnTo>
                  <a:pt x="65579" y="605336"/>
                </a:lnTo>
                <a:lnTo>
                  <a:pt x="70831" y="592382"/>
                </a:lnTo>
                <a:lnTo>
                  <a:pt x="71834" y="580192"/>
                </a:lnTo>
                <a:lnTo>
                  <a:pt x="69056" y="569185"/>
                </a:lnTo>
                <a:lnTo>
                  <a:pt x="62980" y="560340"/>
                </a:lnTo>
                <a:lnTo>
                  <a:pt x="69549" y="548519"/>
                </a:lnTo>
                <a:lnTo>
                  <a:pt x="41696" y="548519"/>
                </a:lnTo>
                <a:lnTo>
                  <a:pt x="39710" y="547888"/>
                </a:lnTo>
                <a:close/>
              </a:path>
              <a:path w="360679" h="621029">
                <a:moveTo>
                  <a:pt x="360438" y="0"/>
                </a:moveTo>
                <a:lnTo>
                  <a:pt x="293038" y="46103"/>
                </a:lnTo>
                <a:lnTo>
                  <a:pt x="314322" y="57924"/>
                </a:lnTo>
                <a:lnTo>
                  <a:pt x="41696" y="548519"/>
                </a:lnTo>
                <a:lnTo>
                  <a:pt x="69549" y="548519"/>
                </a:lnTo>
                <a:lnTo>
                  <a:pt x="335607" y="69745"/>
                </a:lnTo>
                <a:lnTo>
                  <a:pt x="357405" y="69745"/>
                </a:lnTo>
                <a:lnTo>
                  <a:pt x="360438" y="0"/>
                </a:lnTo>
                <a:close/>
              </a:path>
              <a:path w="360679" h="621029">
                <a:moveTo>
                  <a:pt x="357405" y="69745"/>
                </a:moveTo>
                <a:lnTo>
                  <a:pt x="335607" y="69745"/>
                </a:lnTo>
                <a:lnTo>
                  <a:pt x="356891" y="81567"/>
                </a:lnTo>
                <a:lnTo>
                  <a:pt x="357405" y="6974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01867" y="3767047"/>
            <a:ext cx="3557904" cy="11334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779145">
              <a:lnSpc>
                <a:spcPct val="10000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这就是临界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区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5080">
              <a:lnSpc>
                <a:spcPct val="125000"/>
              </a:lnSpc>
              <a:spcBef>
                <a:spcPts val="825"/>
              </a:spcBef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一个非常重要的工作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找出进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程</a:t>
            </a:r>
            <a:r>
              <a:rPr sz="2925" b="1" spc="5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中的临界区代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码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0379" y="4272255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827270" y="3447343"/>
            <a:ext cx="1623695" cy="2207260"/>
          </a:xfrm>
          <a:custGeom>
            <a:avLst/>
            <a:gdLst/>
            <a:ahLst/>
            <a:cxnLst/>
            <a:rect l="l" t="t" r="r" b="b"/>
            <a:pathLst>
              <a:path w="1623695" h="2207260">
                <a:moveTo>
                  <a:pt x="0" y="0"/>
                </a:moveTo>
                <a:lnTo>
                  <a:pt x="1623218" y="0"/>
                </a:lnTo>
                <a:lnTo>
                  <a:pt x="1623218" y="2206977"/>
                </a:lnTo>
                <a:lnTo>
                  <a:pt x="0" y="2206977"/>
                </a:lnTo>
                <a:lnTo>
                  <a:pt x="0" y="0"/>
                </a:lnTo>
                <a:close/>
              </a:path>
            </a:pathLst>
          </a:custGeom>
          <a:ln w="8115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204075" y="3507473"/>
            <a:ext cx="80327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剩余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区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957127" y="3888740"/>
            <a:ext cx="1298575" cy="396875"/>
          </a:xfrm>
          <a:custGeom>
            <a:avLst/>
            <a:gdLst/>
            <a:ahLst/>
            <a:cxnLst/>
            <a:rect l="l" t="t" r="r" b="b"/>
            <a:pathLst>
              <a:path w="1298575" h="396875">
                <a:moveTo>
                  <a:pt x="0" y="0"/>
                </a:moveTo>
                <a:lnTo>
                  <a:pt x="1298575" y="0"/>
                </a:lnTo>
                <a:lnTo>
                  <a:pt x="1298575" y="396730"/>
                </a:lnTo>
                <a:lnTo>
                  <a:pt x="0" y="396730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022341" y="3948749"/>
            <a:ext cx="80327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进入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区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04075" y="4390024"/>
            <a:ext cx="80327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临界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区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957127" y="4771530"/>
            <a:ext cx="1298575" cy="396875"/>
          </a:xfrm>
          <a:custGeom>
            <a:avLst/>
            <a:gdLst/>
            <a:ahLst/>
            <a:cxnLst/>
            <a:rect l="l" t="t" r="r" b="b"/>
            <a:pathLst>
              <a:path w="1298575" h="396875">
                <a:moveTo>
                  <a:pt x="0" y="0"/>
                </a:moveTo>
                <a:lnTo>
                  <a:pt x="1298575" y="0"/>
                </a:lnTo>
                <a:lnTo>
                  <a:pt x="1298575" y="396730"/>
                </a:lnTo>
                <a:lnTo>
                  <a:pt x="0" y="396730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022341" y="4831300"/>
            <a:ext cx="80327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退出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区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04075" y="5272577"/>
            <a:ext cx="80327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剩余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区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27555" y="5685461"/>
            <a:ext cx="158242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进程代码结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构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060916" y="3864899"/>
            <a:ext cx="685800" cy="245745"/>
          </a:xfrm>
          <a:custGeom>
            <a:avLst/>
            <a:gdLst/>
            <a:ahLst/>
            <a:cxnLst/>
            <a:rect l="l" t="t" r="r" b="b"/>
            <a:pathLst>
              <a:path w="685800" h="245745">
                <a:moveTo>
                  <a:pt x="59470" y="175600"/>
                </a:moveTo>
                <a:lnTo>
                  <a:pt x="0" y="231556"/>
                </a:lnTo>
                <a:lnTo>
                  <a:pt x="80459" y="245545"/>
                </a:lnTo>
                <a:lnTo>
                  <a:pt x="73463" y="222229"/>
                </a:lnTo>
                <a:lnTo>
                  <a:pt x="151199" y="198915"/>
                </a:lnTo>
                <a:lnTo>
                  <a:pt x="66466" y="198915"/>
                </a:lnTo>
                <a:lnTo>
                  <a:pt x="59470" y="175600"/>
                </a:lnTo>
                <a:close/>
              </a:path>
              <a:path w="685800" h="245745">
                <a:moveTo>
                  <a:pt x="648517" y="0"/>
                </a:moveTo>
                <a:lnTo>
                  <a:pt x="613307" y="30509"/>
                </a:lnTo>
                <a:lnTo>
                  <a:pt x="613161" y="34950"/>
                </a:lnTo>
                <a:lnTo>
                  <a:pt x="66466" y="198915"/>
                </a:lnTo>
                <a:lnTo>
                  <a:pt x="151199" y="198915"/>
                </a:lnTo>
                <a:lnTo>
                  <a:pt x="620157" y="58266"/>
                </a:lnTo>
                <a:lnTo>
                  <a:pt x="677789" y="58266"/>
                </a:lnTo>
                <a:lnTo>
                  <a:pt x="683550" y="48605"/>
                </a:lnTo>
                <a:lnTo>
                  <a:pt x="685780" y="37240"/>
                </a:lnTo>
                <a:lnTo>
                  <a:pt x="679977" y="20531"/>
                </a:lnTo>
                <a:lnTo>
                  <a:pt x="672016" y="9329"/>
                </a:lnTo>
                <a:lnTo>
                  <a:pt x="662426" y="2868"/>
                </a:lnTo>
                <a:lnTo>
                  <a:pt x="653234" y="514"/>
                </a:lnTo>
                <a:lnTo>
                  <a:pt x="648517" y="0"/>
                </a:lnTo>
                <a:close/>
              </a:path>
              <a:path w="685800" h="245745">
                <a:moveTo>
                  <a:pt x="677789" y="58266"/>
                </a:moveTo>
                <a:lnTo>
                  <a:pt x="620157" y="58266"/>
                </a:lnTo>
                <a:lnTo>
                  <a:pt x="621139" y="60102"/>
                </a:lnTo>
                <a:lnTo>
                  <a:pt x="630414" y="68082"/>
                </a:lnTo>
                <a:lnTo>
                  <a:pt x="641759" y="72558"/>
                </a:lnTo>
                <a:lnTo>
                  <a:pt x="654205" y="73008"/>
                </a:lnTo>
                <a:lnTo>
                  <a:pt x="667621" y="67211"/>
                </a:lnTo>
                <a:lnTo>
                  <a:pt x="677450" y="58836"/>
                </a:lnTo>
                <a:lnTo>
                  <a:pt x="677789" y="5826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060916" y="3865660"/>
            <a:ext cx="685165" cy="1075055"/>
          </a:xfrm>
          <a:custGeom>
            <a:avLst/>
            <a:gdLst/>
            <a:ahLst/>
            <a:cxnLst/>
            <a:rect l="l" t="t" r="r" b="b"/>
            <a:pathLst>
              <a:path w="685165" h="1075054">
                <a:moveTo>
                  <a:pt x="7743" y="993363"/>
                </a:moveTo>
                <a:lnTo>
                  <a:pt x="0" y="1074639"/>
                </a:lnTo>
                <a:lnTo>
                  <a:pt x="69684" y="1032066"/>
                </a:lnTo>
                <a:lnTo>
                  <a:pt x="49037" y="1019164"/>
                </a:lnTo>
                <a:lnTo>
                  <a:pt x="57102" y="1006264"/>
                </a:lnTo>
                <a:lnTo>
                  <a:pt x="28389" y="1006264"/>
                </a:lnTo>
                <a:lnTo>
                  <a:pt x="7743" y="993363"/>
                </a:lnTo>
                <a:close/>
              </a:path>
              <a:path w="685165" h="1075054">
                <a:moveTo>
                  <a:pt x="655068" y="0"/>
                </a:moveTo>
                <a:lnTo>
                  <a:pt x="614877" y="25841"/>
                </a:lnTo>
                <a:lnTo>
                  <a:pt x="613121" y="38023"/>
                </a:lnTo>
                <a:lnTo>
                  <a:pt x="615229" y="49151"/>
                </a:lnTo>
                <a:lnTo>
                  <a:pt x="620909" y="58489"/>
                </a:lnTo>
                <a:lnTo>
                  <a:pt x="28389" y="1006264"/>
                </a:lnTo>
                <a:lnTo>
                  <a:pt x="57102" y="1006264"/>
                </a:lnTo>
                <a:lnTo>
                  <a:pt x="641557" y="71391"/>
                </a:lnTo>
                <a:lnTo>
                  <a:pt x="657540" y="71391"/>
                </a:lnTo>
                <a:lnTo>
                  <a:pt x="667857" y="67511"/>
                </a:lnTo>
                <a:lnTo>
                  <a:pt x="677605" y="59127"/>
                </a:lnTo>
                <a:lnTo>
                  <a:pt x="683367" y="46780"/>
                </a:lnTo>
                <a:lnTo>
                  <a:pt x="685148" y="34652"/>
                </a:lnTo>
                <a:lnTo>
                  <a:pt x="683247" y="23357"/>
                </a:lnTo>
                <a:lnTo>
                  <a:pt x="677966" y="13508"/>
                </a:lnTo>
                <a:lnTo>
                  <a:pt x="669605" y="5720"/>
                </a:lnTo>
                <a:lnTo>
                  <a:pt x="664368" y="2428"/>
                </a:lnTo>
                <a:lnTo>
                  <a:pt x="659752" y="748"/>
                </a:lnTo>
                <a:lnTo>
                  <a:pt x="655068" y="0"/>
                </a:lnTo>
                <a:close/>
              </a:path>
              <a:path w="685165" h="1075054">
                <a:moveTo>
                  <a:pt x="657540" y="71391"/>
                </a:moveTo>
                <a:lnTo>
                  <a:pt x="641557" y="71391"/>
                </a:lnTo>
                <a:lnTo>
                  <a:pt x="643507" y="72123"/>
                </a:lnTo>
                <a:lnTo>
                  <a:pt x="656100" y="71933"/>
                </a:lnTo>
                <a:lnTo>
                  <a:pt x="657540" y="713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6726435" y="2538589"/>
            <a:ext cx="472440" cy="2726690"/>
          </a:xfrm>
          <a:prstGeom prst="rect">
            <a:avLst/>
          </a:prstGeom>
          <a:ln w="8116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0965" marR="103505" algn="just">
              <a:lnSpc>
                <a:spcPts val="2000"/>
              </a:lnSpc>
            </a:pPr>
            <a:r>
              <a:rPr sz="2000" b="1" spc="-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这 是 我 们 要 解 决 的 核 心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775618" y="4913612"/>
            <a:ext cx="2599055" cy="935990"/>
          </a:xfrm>
          <a:custGeom>
            <a:avLst/>
            <a:gdLst/>
            <a:ahLst/>
            <a:cxnLst/>
            <a:rect l="l" t="t" r="r" b="b"/>
            <a:pathLst>
              <a:path w="2599054" h="935989">
                <a:moveTo>
                  <a:pt x="0" y="286334"/>
                </a:moveTo>
                <a:lnTo>
                  <a:pt x="7111" y="243855"/>
                </a:lnTo>
                <a:lnTo>
                  <a:pt x="26851" y="207269"/>
                </a:lnTo>
                <a:lnTo>
                  <a:pt x="56834" y="178966"/>
                </a:lnTo>
                <a:lnTo>
                  <a:pt x="94670" y="161333"/>
                </a:lnTo>
                <a:lnTo>
                  <a:pt x="433083" y="156509"/>
                </a:lnTo>
                <a:lnTo>
                  <a:pt x="1155606" y="0"/>
                </a:lnTo>
                <a:lnTo>
                  <a:pt x="1082709" y="156509"/>
                </a:lnTo>
                <a:lnTo>
                  <a:pt x="2468643" y="156509"/>
                </a:lnTo>
                <a:lnTo>
                  <a:pt x="2483314" y="157329"/>
                </a:lnTo>
                <a:lnTo>
                  <a:pt x="2524105" y="168912"/>
                </a:lnTo>
                <a:lnTo>
                  <a:pt x="2558204" y="192326"/>
                </a:lnTo>
                <a:lnTo>
                  <a:pt x="2583223" y="225182"/>
                </a:lnTo>
                <a:lnTo>
                  <a:pt x="2596773" y="265094"/>
                </a:lnTo>
                <a:lnTo>
                  <a:pt x="2598503" y="286331"/>
                </a:lnTo>
                <a:lnTo>
                  <a:pt x="2598503" y="481064"/>
                </a:lnTo>
                <a:lnTo>
                  <a:pt x="2598503" y="805618"/>
                </a:lnTo>
                <a:lnTo>
                  <a:pt x="2597683" y="820286"/>
                </a:lnTo>
                <a:lnTo>
                  <a:pt x="2586097" y="861066"/>
                </a:lnTo>
                <a:lnTo>
                  <a:pt x="2562677" y="895155"/>
                </a:lnTo>
                <a:lnTo>
                  <a:pt x="2529811" y="920167"/>
                </a:lnTo>
                <a:lnTo>
                  <a:pt x="2489888" y="933714"/>
                </a:lnTo>
                <a:lnTo>
                  <a:pt x="1082709" y="935443"/>
                </a:lnTo>
                <a:lnTo>
                  <a:pt x="433083" y="935443"/>
                </a:lnTo>
                <a:lnTo>
                  <a:pt x="129859" y="935443"/>
                </a:lnTo>
                <a:lnTo>
                  <a:pt x="115188" y="934623"/>
                </a:lnTo>
                <a:lnTo>
                  <a:pt x="74397" y="923040"/>
                </a:lnTo>
                <a:lnTo>
                  <a:pt x="40298" y="899627"/>
                </a:lnTo>
                <a:lnTo>
                  <a:pt x="15279" y="866770"/>
                </a:lnTo>
                <a:lnTo>
                  <a:pt x="1729" y="826858"/>
                </a:lnTo>
                <a:lnTo>
                  <a:pt x="0" y="481064"/>
                </a:lnTo>
                <a:lnTo>
                  <a:pt x="0" y="286331"/>
                </a:lnTo>
                <a:close/>
              </a:path>
            </a:pathLst>
          </a:custGeom>
          <a:ln w="162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1893449" y="5181400"/>
            <a:ext cx="2360930" cy="594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01955" marR="5080" indent="-389890">
              <a:lnSpc>
                <a:spcPct val="100000"/>
              </a:lnSpc>
            </a:pPr>
            <a:r>
              <a:rPr sz="1950" b="1" spc="85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读写信号量的代码</a:t>
            </a:r>
            <a:r>
              <a:rPr sz="1950" b="1" spc="75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一</a:t>
            </a:r>
            <a:r>
              <a:rPr sz="1950" b="1" spc="35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定是临界区</a:t>
            </a:r>
            <a:r>
              <a:rPr sz="2000" b="1" spc="3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0">
              <a:lnSpc>
                <a:spcPts val="3470"/>
              </a:lnSpc>
            </a:pPr>
            <a:r>
              <a:rPr spc="100" dirty="0"/>
              <a:t>临界区代码的保护原则</a:t>
            </a:r>
            <a:endParaRPr spc="100" dirty="0"/>
          </a:p>
        </p:txBody>
      </p:sp>
      <p:sp>
        <p:nvSpPr>
          <p:cNvPr id="3" name="object 3"/>
          <p:cNvSpPr/>
          <p:nvPr/>
        </p:nvSpPr>
        <p:spPr>
          <a:xfrm>
            <a:off x="1024880" y="3139017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24880" y="3593393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24880" y="4826705"/>
            <a:ext cx="160969" cy="16362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72115" y="1949168"/>
            <a:ext cx="8986520" cy="4397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0" marR="5080" indent="-292100">
              <a:lnSpc>
                <a:spcPct val="131000"/>
              </a:lnSpc>
            </a:pP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基本原则：互斥进入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如果一个进程在临界区中执行，则其他进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程</a:t>
            </a:r>
            <a:r>
              <a:rPr sz="3450" b="1" spc="6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30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不允许进</a:t>
            </a:r>
            <a:r>
              <a:rPr sz="2300" b="1" spc="90" dirty="0">
                <a:latin typeface="宋体" panose="02010600030101010101" pitchFamily="2" charset="-122"/>
                <a:cs typeface="宋体" panose="02010600030101010101" pitchFamily="2" charset="-122"/>
              </a:rPr>
              <a:t>入</a:t>
            </a:r>
            <a:endParaRPr sz="23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96900">
              <a:lnSpc>
                <a:spcPct val="100000"/>
              </a:lnSpc>
              <a:spcBef>
                <a:spcPts val="1815"/>
              </a:spcBef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这些进程间的约束关系称为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互斥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2000" b="1" spc="3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tu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exc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596900">
              <a:lnSpc>
                <a:spcPct val="100000"/>
              </a:lnSpc>
              <a:spcBef>
                <a:spcPts val="1200"/>
              </a:spcBef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这保证了是临界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区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3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好的临界区保护原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则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96900" marR="3003550">
              <a:lnSpc>
                <a:spcPct val="125000"/>
              </a:lnSpc>
              <a:spcBef>
                <a:spcPts val="1320"/>
              </a:spcBef>
            </a:pP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2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有空让进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若干进程要求进入空闲临界区时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应尽快使一进程进入临界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区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96900" marR="3003550">
              <a:lnSpc>
                <a:spcPct val="125000"/>
              </a:lnSpc>
              <a:spcBef>
                <a:spcPts val="500"/>
              </a:spcBef>
            </a:pP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3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.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有限等待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从进程发出进入请求到允许进入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不能无限等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待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24880" y="5624571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0">
              <a:lnSpc>
                <a:spcPct val="100000"/>
              </a:lnSpc>
            </a:pPr>
            <a:r>
              <a:rPr spc="100" dirty="0"/>
              <a:t>进入临界区的一个尝试</a:t>
            </a:r>
            <a:r>
              <a:rPr spc="-635" dirty="0"/>
              <a:t> </a:t>
            </a:r>
            <a:r>
              <a:rPr spc="60" dirty="0">
                <a:latin typeface="Symbol" panose="05050102010706020507"/>
                <a:cs typeface="Symbol" panose="05050102010706020507"/>
              </a:rPr>
              <a:t></a:t>
            </a:r>
            <a:r>
              <a:rPr spc="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100" dirty="0"/>
              <a:t>轮换法</a:t>
            </a:r>
            <a:endParaRPr spc="100" dirty="0"/>
          </a:p>
        </p:txBody>
      </p:sp>
      <p:sp>
        <p:nvSpPr>
          <p:cNvPr id="3" name="object 3"/>
          <p:cNvSpPr txBox="1"/>
          <p:nvPr/>
        </p:nvSpPr>
        <p:spPr>
          <a:xfrm>
            <a:off x="891381" y="2409896"/>
            <a:ext cx="2207895" cy="307340"/>
          </a:xfrm>
          <a:prstGeom prst="rect">
            <a:avLst/>
          </a:prstGeom>
          <a:ln w="8113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>
              <a:lnSpc>
                <a:spcPct val="100000"/>
              </a:lnSpc>
            </a:pPr>
            <a:r>
              <a:rPr sz="2000" b="1" spc="3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h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il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(tu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!=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;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3423" y="2091830"/>
            <a:ext cx="2467610" cy="2123440"/>
          </a:xfrm>
          <a:prstGeom prst="rect">
            <a:avLst/>
          </a:prstGeom>
          <a:ln w="8114">
            <a:solidFill>
              <a:srgbClr val="0000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79755" marR="1093470">
              <a:lnSpc>
                <a:spcPct val="35400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临界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区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剩余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区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1381" y="3383561"/>
            <a:ext cx="2207895" cy="307340"/>
          </a:xfrm>
          <a:prstGeom prst="rect">
            <a:avLst/>
          </a:prstGeom>
          <a:ln w="8113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>
              <a:lnSpc>
                <a:spcPct val="100000"/>
              </a:lnSpc>
            </a:pP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tu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;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74700" y="4244975"/>
            <a:ext cx="3241675" cy="1099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428625">
              <a:lnSpc>
                <a:spcPct val="181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进程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25" b="1" spc="7" baseline="-19000" dirty="0">
                <a:latin typeface="Arial" panose="020B0604020202020204"/>
                <a:cs typeface="Arial" panose="020B0604020202020204"/>
              </a:rPr>
              <a:t>0</a:t>
            </a:r>
            <a:r>
              <a:rPr sz="2025" b="1" baseline="-19000" dirty="0">
                <a:latin typeface="Arial" panose="020B0604020202020204"/>
                <a:cs typeface="Arial" panose="020B0604020202020204"/>
              </a:rPr>
              <a:t> </a:t>
            </a:r>
            <a:endParaRPr sz="2025" b="1" baseline="-19000" dirty="0">
              <a:latin typeface="Arial" panose="020B0604020202020204"/>
              <a:cs typeface="Arial" panose="020B0604020202020204"/>
            </a:endParaRPr>
          </a:p>
          <a:p>
            <a:pPr marL="12700" marR="5080" indent="428625">
              <a:lnSpc>
                <a:spcPct val="18100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满足互斥进入要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求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43032" y="2409896"/>
            <a:ext cx="2207895" cy="307340"/>
          </a:xfrm>
          <a:prstGeom prst="rect">
            <a:avLst/>
          </a:prstGeom>
          <a:ln w="8113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>
              <a:lnSpc>
                <a:spcPct val="100000"/>
              </a:lnSpc>
            </a:pPr>
            <a:r>
              <a:rPr sz="2000" b="1" spc="3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h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il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(tu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!=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;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13174" y="2150250"/>
            <a:ext cx="2467610" cy="2123440"/>
          </a:xfrm>
          <a:prstGeom prst="rect">
            <a:avLst/>
          </a:prstGeom>
          <a:ln w="8114">
            <a:solidFill>
              <a:srgbClr val="0000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79755" marR="1093470">
              <a:lnSpc>
                <a:spcPct val="35400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临界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区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剩余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区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43032" y="3383561"/>
            <a:ext cx="2207895" cy="307340"/>
          </a:xfrm>
          <a:prstGeom prst="rect">
            <a:avLst/>
          </a:prstGeom>
          <a:ln w="8113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>
              <a:lnSpc>
                <a:spcPct val="100000"/>
              </a:lnSpc>
            </a:pP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tu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;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06823" y="4415982"/>
            <a:ext cx="814705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进程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25" b="1" spc="7" baseline="-19000" dirty="0">
                <a:latin typeface="Arial" panose="020B0604020202020204"/>
                <a:cs typeface="Arial" panose="020B0604020202020204"/>
              </a:rPr>
              <a:t>1</a:t>
            </a:r>
            <a:endParaRPr sz="2025" baseline="-19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95022" y="5041723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861885" y="2170073"/>
            <a:ext cx="3307715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问题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25" b="1" baseline="-19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完成后不能接着再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次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61885" y="2546723"/>
            <a:ext cx="314960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进入，尽管进程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00" b="1" spc="204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不在临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界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61885" y="2684738"/>
            <a:ext cx="2534920" cy="528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426720" algn="r">
              <a:lnSpc>
                <a:spcPct val="100000"/>
              </a:lnSpc>
            </a:pPr>
            <a:r>
              <a:rPr sz="135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35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区</a:t>
            </a:r>
            <a:r>
              <a:rPr sz="2000" b="1" spc="4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…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不满足有空让进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630396" y="2247841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6616" y="5978878"/>
            <a:ext cx="5973445" cy="389890"/>
          </a:xfrm>
          <a:custGeom>
            <a:avLst/>
            <a:gdLst/>
            <a:ahLst/>
            <a:cxnLst/>
            <a:rect l="l" t="t" r="r" b="b"/>
            <a:pathLst>
              <a:path w="5973445" h="389889">
                <a:moveTo>
                  <a:pt x="0" y="389466"/>
                </a:moveTo>
                <a:lnTo>
                  <a:pt x="5973445" y="389466"/>
                </a:lnTo>
                <a:lnTo>
                  <a:pt x="5973445" y="0"/>
                </a:lnTo>
                <a:lnTo>
                  <a:pt x="0" y="0"/>
                </a:lnTo>
                <a:lnTo>
                  <a:pt x="0" y="389466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66616" y="5978878"/>
            <a:ext cx="5973445" cy="389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5790">
              <a:lnSpc>
                <a:spcPct val="100000"/>
              </a:lnSpc>
            </a:pPr>
            <a:r>
              <a:rPr sz="2925" b="1" spc="127" baseline="1000" dirty="0">
                <a:solidFill>
                  <a:srgbClr val="0000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许多复杂的道理往往就埋藏在日常生活中</a:t>
            </a:r>
            <a:r>
              <a:rPr sz="2000" b="1" spc="10" dirty="0">
                <a:solidFill>
                  <a:srgbClr val="000099"/>
                </a:solidFill>
                <a:latin typeface="Arial" panose="020B0604020202020204"/>
                <a:cs typeface="Arial" panose="020B0604020202020204"/>
              </a:rPr>
              <a:t>!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64106" y="5519183"/>
            <a:ext cx="1230456" cy="106118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0">
              <a:lnSpc>
                <a:spcPts val="3470"/>
              </a:lnSpc>
            </a:pPr>
            <a:r>
              <a:rPr spc="100" dirty="0"/>
              <a:t>进入临界区的又一个尝试</a:t>
            </a:r>
            <a:endParaRPr spc="100" dirty="0"/>
          </a:p>
        </p:txBody>
      </p:sp>
      <p:sp>
        <p:nvSpPr>
          <p:cNvPr id="6" name="object 6"/>
          <p:cNvSpPr txBox="1"/>
          <p:nvPr/>
        </p:nvSpPr>
        <p:spPr>
          <a:xfrm>
            <a:off x="672115" y="1947139"/>
            <a:ext cx="3046095" cy="8566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似乎没有任何头绪</a:t>
            </a:r>
            <a:r>
              <a:rPr sz="2400" b="1" dirty="0">
                <a:latin typeface="Arial" panose="020B0604020202020204"/>
                <a:cs typeface="Arial" panose="020B0604020202020204"/>
              </a:rPr>
              <a:t>…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636270">
              <a:lnSpc>
                <a:spcPct val="100000"/>
              </a:lnSpc>
              <a:spcBef>
                <a:spcPts val="1820"/>
              </a:spcBef>
              <a:tabLst>
                <a:tab pos="2383155" algn="l"/>
              </a:tabLst>
            </a:pPr>
            <a:r>
              <a:rPr sz="1650" b="1" spc="40" dirty="0">
                <a:solidFill>
                  <a:srgbClr val="00006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时间</a:t>
            </a:r>
            <a:r>
              <a:rPr sz="1650" b="1" spc="40" dirty="0">
                <a:solidFill>
                  <a:srgbClr val="00006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	</a:t>
            </a:r>
            <a:r>
              <a:rPr sz="1650" b="1" spc="40" dirty="0">
                <a:solidFill>
                  <a:srgbClr val="00006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丈夫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56428" y="1964932"/>
            <a:ext cx="2753995" cy="321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30"/>
              </a:lnSpc>
            </a:pPr>
            <a:r>
              <a:rPr sz="230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可借鉴生活中的道</a:t>
            </a:r>
            <a:r>
              <a:rPr sz="2300" b="1" spc="9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endParaRPr sz="23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20596" y="4717842"/>
            <a:ext cx="2405380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回到家里，牛奶放进冰箱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96197" y="4726335"/>
            <a:ext cx="45847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3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dirty="0">
                <a:latin typeface="Arial" panose="020B0604020202020204"/>
                <a:cs typeface="Arial" panose="020B0604020202020204"/>
              </a:rPr>
              <a:t>30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20596" y="4406894"/>
            <a:ext cx="674370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买牛奶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96197" y="4415387"/>
            <a:ext cx="45847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3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dirty="0">
                <a:latin typeface="Arial" panose="020B0604020202020204"/>
                <a:cs typeface="Arial" panose="020B0604020202020204"/>
              </a:rPr>
              <a:t>25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20596" y="4095946"/>
            <a:ext cx="890905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到达商店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54557" y="4095946"/>
            <a:ext cx="2405380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回到家里，牛奶放进冰箱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96197" y="4104439"/>
            <a:ext cx="45847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3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dirty="0">
                <a:latin typeface="Arial" panose="020B0604020202020204"/>
                <a:cs typeface="Arial" panose="020B0604020202020204"/>
              </a:rPr>
              <a:t>20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20596" y="3784998"/>
            <a:ext cx="1323340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离开家去商店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96197" y="3784998"/>
            <a:ext cx="1432560" cy="250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770890" algn="l"/>
              </a:tabLst>
            </a:pPr>
            <a:r>
              <a:rPr sz="1700" b="1" dirty="0">
                <a:latin typeface="Arial" panose="020B0604020202020204"/>
                <a:cs typeface="Arial" panose="020B0604020202020204"/>
              </a:rPr>
              <a:t>3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dirty="0">
                <a:latin typeface="Arial" panose="020B0604020202020204"/>
                <a:cs typeface="Arial" panose="020B0604020202020204"/>
              </a:rPr>
              <a:t>15</a:t>
            </a:r>
            <a:r>
              <a:rPr sz="1700" b="1" dirty="0">
                <a:latin typeface="Arial" panose="020B0604020202020204"/>
                <a:cs typeface="Arial" panose="020B0604020202020204"/>
              </a:rPr>
              <a:t>	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买牛奶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54557" y="3163103"/>
            <a:ext cx="1323340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离开家去商店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96197" y="3171596"/>
            <a:ext cx="45847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3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05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54557" y="2852155"/>
            <a:ext cx="2188845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打开冰箱，没有牛奶了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96197" y="2860648"/>
            <a:ext cx="45847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3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00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20596" y="3474051"/>
            <a:ext cx="2188845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打开冰箱，没有牛奶了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054557" y="3474051"/>
            <a:ext cx="890905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到达商店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96197" y="3482544"/>
            <a:ext cx="458470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Arial" panose="020B0604020202020204"/>
                <a:cs typeface="Arial" panose="020B0604020202020204"/>
              </a:rPr>
              <a:t>3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:</a:t>
            </a:r>
            <a:r>
              <a:rPr sz="1700" b="1" dirty="0">
                <a:latin typeface="Arial" panose="020B0604020202020204"/>
                <a:cs typeface="Arial" panose="020B0604020202020204"/>
              </a:rPr>
              <a:t>10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663095" y="2527688"/>
            <a:ext cx="457834" cy="2355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solidFill>
                  <a:srgbClr val="00006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妻子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61402" y="3731331"/>
            <a:ext cx="6168390" cy="0"/>
          </a:xfrm>
          <a:custGeom>
            <a:avLst/>
            <a:gdLst/>
            <a:ahLst/>
            <a:cxnLst/>
            <a:rect l="l" t="t" r="r" b="b"/>
            <a:pathLst>
              <a:path w="6168390">
                <a:moveTo>
                  <a:pt x="0" y="0"/>
                </a:moveTo>
                <a:lnTo>
                  <a:pt x="6168231" y="0"/>
                </a:lnTo>
              </a:path>
            </a:pathLst>
          </a:custGeom>
          <a:ln w="1081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061402" y="2473678"/>
            <a:ext cx="6168390" cy="0"/>
          </a:xfrm>
          <a:custGeom>
            <a:avLst/>
            <a:gdLst/>
            <a:ahLst/>
            <a:cxnLst/>
            <a:rect l="l" t="t" r="r" b="b"/>
            <a:pathLst>
              <a:path w="6168390">
                <a:moveTo>
                  <a:pt x="0" y="0"/>
                </a:moveTo>
                <a:lnTo>
                  <a:pt x="6168231" y="0"/>
                </a:lnTo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061402" y="2798232"/>
            <a:ext cx="6168390" cy="0"/>
          </a:xfrm>
          <a:custGeom>
            <a:avLst/>
            <a:gdLst/>
            <a:ahLst/>
            <a:cxnLst/>
            <a:rect l="l" t="t" r="r" b="b"/>
            <a:pathLst>
              <a:path w="6168390">
                <a:moveTo>
                  <a:pt x="0" y="0"/>
                </a:moveTo>
                <a:lnTo>
                  <a:pt x="6168231" y="0"/>
                </a:lnTo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061402" y="3109266"/>
            <a:ext cx="6168390" cy="0"/>
          </a:xfrm>
          <a:custGeom>
            <a:avLst/>
            <a:gdLst/>
            <a:ahLst/>
            <a:cxnLst/>
            <a:rect l="l" t="t" r="r" b="b"/>
            <a:pathLst>
              <a:path w="6168390">
                <a:moveTo>
                  <a:pt x="0" y="0"/>
                </a:moveTo>
                <a:lnTo>
                  <a:pt x="6168231" y="0"/>
                </a:lnTo>
              </a:path>
            </a:pathLst>
          </a:custGeom>
          <a:ln w="1081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061402" y="3420297"/>
            <a:ext cx="6168390" cy="0"/>
          </a:xfrm>
          <a:custGeom>
            <a:avLst/>
            <a:gdLst/>
            <a:ahLst/>
            <a:cxnLst/>
            <a:rect l="l" t="t" r="r" b="b"/>
            <a:pathLst>
              <a:path w="6168390">
                <a:moveTo>
                  <a:pt x="0" y="0"/>
                </a:moveTo>
                <a:lnTo>
                  <a:pt x="6168231" y="0"/>
                </a:lnTo>
              </a:path>
            </a:pathLst>
          </a:custGeom>
          <a:ln w="1081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061402" y="4042362"/>
            <a:ext cx="6168390" cy="0"/>
          </a:xfrm>
          <a:custGeom>
            <a:avLst/>
            <a:gdLst/>
            <a:ahLst/>
            <a:cxnLst/>
            <a:rect l="l" t="t" r="r" b="b"/>
            <a:pathLst>
              <a:path w="6168390">
                <a:moveTo>
                  <a:pt x="0" y="0"/>
                </a:moveTo>
                <a:lnTo>
                  <a:pt x="6168231" y="0"/>
                </a:lnTo>
              </a:path>
            </a:pathLst>
          </a:custGeom>
          <a:ln w="1081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061402" y="4353394"/>
            <a:ext cx="6168390" cy="0"/>
          </a:xfrm>
          <a:custGeom>
            <a:avLst/>
            <a:gdLst/>
            <a:ahLst/>
            <a:cxnLst/>
            <a:rect l="l" t="t" r="r" b="b"/>
            <a:pathLst>
              <a:path w="6168390">
                <a:moveTo>
                  <a:pt x="0" y="0"/>
                </a:moveTo>
                <a:lnTo>
                  <a:pt x="6168231" y="0"/>
                </a:lnTo>
              </a:path>
            </a:pathLst>
          </a:custGeom>
          <a:ln w="1081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061402" y="4664428"/>
            <a:ext cx="6168390" cy="0"/>
          </a:xfrm>
          <a:custGeom>
            <a:avLst/>
            <a:gdLst/>
            <a:ahLst/>
            <a:cxnLst/>
            <a:rect l="l" t="t" r="r" b="b"/>
            <a:pathLst>
              <a:path w="6168390">
                <a:moveTo>
                  <a:pt x="0" y="0"/>
                </a:moveTo>
                <a:lnTo>
                  <a:pt x="6168231" y="0"/>
                </a:lnTo>
              </a:path>
            </a:pathLst>
          </a:custGeom>
          <a:ln w="1081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061402" y="4975459"/>
            <a:ext cx="6168390" cy="0"/>
          </a:xfrm>
          <a:custGeom>
            <a:avLst/>
            <a:gdLst/>
            <a:ahLst/>
            <a:cxnLst/>
            <a:rect l="l" t="t" r="r" b="b"/>
            <a:pathLst>
              <a:path w="6168390">
                <a:moveTo>
                  <a:pt x="0" y="0"/>
                </a:moveTo>
                <a:lnTo>
                  <a:pt x="6168231" y="0"/>
                </a:lnTo>
              </a:path>
            </a:pathLst>
          </a:custGeom>
          <a:ln w="2434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061402" y="2473678"/>
            <a:ext cx="0" cy="2488565"/>
          </a:xfrm>
          <a:custGeom>
            <a:avLst/>
            <a:gdLst/>
            <a:ahLst/>
            <a:cxnLst/>
            <a:rect l="l" t="t" r="r" b="b"/>
            <a:pathLst>
              <a:path h="2488565">
                <a:moveTo>
                  <a:pt x="0" y="0"/>
                </a:moveTo>
                <a:lnTo>
                  <a:pt x="0" y="2488259"/>
                </a:lnTo>
              </a:path>
            </a:pathLst>
          </a:custGeom>
          <a:ln w="243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989341" y="2473678"/>
            <a:ext cx="0" cy="2488565"/>
          </a:xfrm>
          <a:custGeom>
            <a:avLst/>
            <a:gdLst/>
            <a:ahLst/>
            <a:cxnLst/>
            <a:rect l="l" t="t" r="r" b="b"/>
            <a:pathLst>
              <a:path h="2488565">
                <a:moveTo>
                  <a:pt x="0" y="0"/>
                </a:moveTo>
                <a:lnTo>
                  <a:pt x="0" y="2488259"/>
                </a:lnTo>
              </a:path>
            </a:pathLst>
          </a:custGeom>
          <a:ln w="108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555380" y="2473678"/>
            <a:ext cx="0" cy="2488565"/>
          </a:xfrm>
          <a:custGeom>
            <a:avLst/>
            <a:gdLst/>
            <a:ahLst/>
            <a:cxnLst/>
            <a:rect l="l" t="t" r="r" b="b"/>
            <a:pathLst>
              <a:path h="2488565">
                <a:moveTo>
                  <a:pt x="0" y="0"/>
                </a:moveTo>
                <a:lnTo>
                  <a:pt x="0" y="2488259"/>
                </a:lnTo>
              </a:path>
            </a:pathLst>
          </a:custGeom>
          <a:ln w="108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229633" y="2473678"/>
            <a:ext cx="0" cy="2488565"/>
          </a:xfrm>
          <a:custGeom>
            <a:avLst/>
            <a:gdLst/>
            <a:ahLst/>
            <a:cxnLst/>
            <a:rect l="l" t="t" r="r" b="b"/>
            <a:pathLst>
              <a:path h="2488565">
                <a:moveTo>
                  <a:pt x="0" y="0"/>
                </a:moveTo>
                <a:lnTo>
                  <a:pt x="0" y="2488259"/>
                </a:lnTo>
              </a:path>
            </a:pathLst>
          </a:custGeom>
          <a:ln w="2434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909048" y="1694744"/>
            <a:ext cx="781050" cy="1038860"/>
          </a:xfrm>
          <a:custGeom>
            <a:avLst/>
            <a:gdLst/>
            <a:ahLst/>
            <a:cxnLst/>
            <a:rect l="l" t="t" r="r" b="b"/>
            <a:pathLst>
              <a:path w="781050" h="1038860">
                <a:moveTo>
                  <a:pt x="609333" y="1028236"/>
                </a:moveTo>
                <a:lnTo>
                  <a:pt x="26913" y="1028236"/>
                </a:lnTo>
                <a:lnTo>
                  <a:pt x="31295" y="1028811"/>
                </a:lnTo>
                <a:lnTo>
                  <a:pt x="38596" y="1028811"/>
                </a:lnTo>
                <a:lnTo>
                  <a:pt x="59877" y="1029959"/>
                </a:lnTo>
                <a:lnTo>
                  <a:pt x="73439" y="1029959"/>
                </a:lnTo>
                <a:lnTo>
                  <a:pt x="164616" y="1032832"/>
                </a:lnTo>
                <a:lnTo>
                  <a:pt x="186518" y="1032832"/>
                </a:lnTo>
                <a:lnTo>
                  <a:pt x="374919" y="1037237"/>
                </a:lnTo>
                <a:lnTo>
                  <a:pt x="398072" y="1037237"/>
                </a:lnTo>
                <a:lnTo>
                  <a:pt x="448530" y="1038577"/>
                </a:lnTo>
                <a:lnTo>
                  <a:pt x="570571" y="1038577"/>
                </a:lnTo>
                <a:lnTo>
                  <a:pt x="571237" y="1037811"/>
                </a:lnTo>
                <a:lnTo>
                  <a:pt x="578540" y="1034939"/>
                </a:lnTo>
                <a:lnTo>
                  <a:pt x="588979" y="1032258"/>
                </a:lnTo>
                <a:lnTo>
                  <a:pt x="602534" y="1029385"/>
                </a:lnTo>
                <a:lnTo>
                  <a:pt x="609333" y="1028236"/>
                </a:lnTo>
                <a:close/>
              </a:path>
              <a:path w="781050" h="1038860">
                <a:moveTo>
                  <a:pt x="296673" y="0"/>
                </a:moveTo>
                <a:lnTo>
                  <a:pt x="278319" y="7252"/>
                </a:lnTo>
                <a:lnTo>
                  <a:pt x="260586" y="14504"/>
                </a:lnTo>
                <a:lnTo>
                  <a:pt x="132066" y="65499"/>
                </a:lnTo>
                <a:lnTo>
                  <a:pt x="113703" y="72211"/>
                </a:lnTo>
                <a:lnTo>
                  <a:pt x="95347" y="79463"/>
                </a:lnTo>
                <a:lnTo>
                  <a:pt x="76902" y="86208"/>
                </a:lnTo>
                <a:lnTo>
                  <a:pt x="58625" y="93427"/>
                </a:lnTo>
                <a:lnTo>
                  <a:pt x="40474" y="100294"/>
                </a:lnTo>
                <a:lnTo>
                  <a:pt x="22114" y="106465"/>
                </a:lnTo>
                <a:lnTo>
                  <a:pt x="3755" y="113177"/>
                </a:lnTo>
                <a:lnTo>
                  <a:pt x="0" y="223500"/>
                </a:lnTo>
                <a:lnTo>
                  <a:pt x="6050" y="666458"/>
                </a:lnTo>
                <a:lnTo>
                  <a:pt x="7927" y="754361"/>
                </a:lnTo>
                <a:lnTo>
                  <a:pt x="11057" y="841316"/>
                </a:lnTo>
                <a:lnTo>
                  <a:pt x="13977" y="928070"/>
                </a:lnTo>
                <a:lnTo>
                  <a:pt x="14603" y="1014830"/>
                </a:lnTo>
                <a:lnTo>
                  <a:pt x="15229" y="1029959"/>
                </a:lnTo>
                <a:lnTo>
                  <a:pt x="16482" y="1032258"/>
                </a:lnTo>
                <a:lnTo>
                  <a:pt x="19611" y="1029959"/>
                </a:lnTo>
                <a:lnTo>
                  <a:pt x="24410" y="1028236"/>
                </a:lnTo>
                <a:lnTo>
                  <a:pt x="609333" y="1028236"/>
                </a:lnTo>
                <a:lnTo>
                  <a:pt x="618393" y="1026704"/>
                </a:lnTo>
                <a:lnTo>
                  <a:pt x="636127" y="1023256"/>
                </a:lnTo>
                <a:lnTo>
                  <a:pt x="655112" y="1020383"/>
                </a:lnTo>
                <a:lnTo>
                  <a:pt x="675140" y="1017702"/>
                </a:lnTo>
                <a:lnTo>
                  <a:pt x="714363" y="1012147"/>
                </a:lnTo>
                <a:lnTo>
                  <a:pt x="732096" y="1009276"/>
                </a:lnTo>
                <a:lnTo>
                  <a:pt x="763394" y="1004870"/>
                </a:lnTo>
                <a:lnTo>
                  <a:pt x="774866" y="1002573"/>
                </a:lnTo>
                <a:lnTo>
                  <a:pt x="780498" y="1001347"/>
                </a:lnTo>
                <a:lnTo>
                  <a:pt x="780498" y="897451"/>
                </a:lnTo>
                <a:lnTo>
                  <a:pt x="778001" y="845142"/>
                </a:lnTo>
                <a:lnTo>
                  <a:pt x="775497" y="778494"/>
                </a:lnTo>
                <a:lnTo>
                  <a:pt x="770698" y="712994"/>
                </a:lnTo>
                <a:lnTo>
                  <a:pt x="771950" y="448126"/>
                </a:lnTo>
                <a:lnTo>
                  <a:pt x="773202" y="436825"/>
                </a:lnTo>
                <a:lnTo>
                  <a:pt x="772572" y="426294"/>
                </a:lnTo>
                <a:lnTo>
                  <a:pt x="773202" y="415570"/>
                </a:lnTo>
                <a:lnTo>
                  <a:pt x="776118" y="405995"/>
                </a:lnTo>
                <a:lnTo>
                  <a:pt x="764437" y="399863"/>
                </a:lnTo>
                <a:lnTo>
                  <a:pt x="765689" y="396606"/>
                </a:lnTo>
                <a:lnTo>
                  <a:pt x="767563" y="394308"/>
                </a:lnTo>
                <a:lnTo>
                  <a:pt x="770068" y="391437"/>
                </a:lnTo>
                <a:lnTo>
                  <a:pt x="772572" y="389332"/>
                </a:lnTo>
                <a:lnTo>
                  <a:pt x="770698" y="352370"/>
                </a:lnTo>
                <a:lnTo>
                  <a:pt x="770698" y="314258"/>
                </a:lnTo>
                <a:lnTo>
                  <a:pt x="771320" y="275568"/>
                </a:lnTo>
                <a:lnTo>
                  <a:pt x="773614" y="236307"/>
                </a:lnTo>
                <a:lnTo>
                  <a:pt x="776118" y="197656"/>
                </a:lnTo>
                <a:lnTo>
                  <a:pt x="779245" y="160084"/>
                </a:lnTo>
                <a:lnTo>
                  <a:pt x="780498" y="144256"/>
                </a:lnTo>
                <a:lnTo>
                  <a:pt x="780449" y="86175"/>
                </a:lnTo>
                <a:lnTo>
                  <a:pt x="779875" y="85789"/>
                </a:lnTo>
                <a:lnTo>
                  <a:pt x="777370" y="84015"/>
                </a:lnTo>
                <a:lnTo>
                  <a:pt x="775497" y="81777"/>
                </a:lnTo>
                <a:lnTo>
                  <a:pt x="773202" y="80003"/>
                </a:lnTo>
                <a:lnTo>
                  <a:pt x="770698" y="77920"/>
                </a:lnTo>
                <a:lnTo>
                  <a:pt x="768193" y="76223"/>
                </a:lnTo>
                <a:lnTo>
                  <a:pt x="765059" y="74448"/>
                </a:lnTo>
                <a:lnTo>
                  <a:pt x="764437" y="68894"/>
                </a:lnTo>
                <a:lnTo>
                  <a:pt x="764016" y="62799"/>
                </a:lnTo>
                <a:lnTo>
                  <a:pt x="762142" y="56472"/>
                </a:lnTo>
                <a:lnTo>
                  <a:pt x="758385" y="50919"/>
                </a:lnTo>
                <a:lnTo>
                  <a:pt x="724359" y="45364"/>
                </a:lnTo>
                <a:lnTo>
                  <a:pt x="640295" y="45364"/>
                </a:lnTo>
                <a:lnTo>
                  <a:pt x="628823" y="44207"/>
                </a:lnTo>
                <a:lnTo>
                  <a:pt x="604829" y="40966"/>
                </a:lnTo>
                <a:lnTo>
                  <a:pt x="593978" y="39809"/>
                </a:lnTo>
                <a:lnTo>
                  <a:pt x="582927" y="39269"/>
                </a:lnTo>
                <a:lnTo>
                  <a:pt x="296673" y="0"/>
                </a:lnTo>
                <a:close/>
              </a:path>
              <a:path w="781050" h="1038860">
                <a:moveTo>
                  <a:pt x="672846" y="36954"/>
                </a:moveTo>
                <a:lnTo>
                  <a:pt x="662416" y="41891"/>
                </a:lnTo>
                <a:lnTo>
                  <a:pt x="651356" y="44824"/>
                </a:lnTo>
                <a:lnTo>
                  <a:pt x="640295" y="45364"/>
                </a:lnTo>
                <a:lnTo>
                  <a:pt x="724359" y="45364"/>
                </a:lnTo>
                <a:lnTo>
                  <a:pt x="672846" y="369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192788" y="1705467"/>
            <a:ext cx="490220" cy="364490"/>
          </a:xfrm>
          <a:custGeom>
            <a:avLst/>
            <a:gdLst/>
            <a:ahLst/>
            <a:cxnLst/>
            <a:rect l="l" t="t" r="r" b="b"/>
            <a:pathLst>
              <a:path w="490220" h="364489">
                <a:moveTo>
                  <a:pt x="488249" y="116418"/>
                </a:moveTo>
                <a:lnTo>
                  <a:pt x="12934" y="116418"/>
                </a:lnTo>
                <a:lnTo>
                  <a:pt x="75942" y="141105"/>
                </a:lnTo>
                <a:lnTo>
                  <a:pt x="74067" y="179062"/>
                </a:lnTo>
                <a:lnTo>
                  <a:pt x="70311" y="217714"/>
                </a:lnTo>
                <a:lnTo>
                  <a:pt x="68017" y="255826"/>
                </a:lnTo>
                <a:lnTo>
                  <a:pt x="68647" y="293960"/>
                </a:lnTo>
                <a:lnTo>
                  <a:pt x="73446" y="298936"/>
                </a:lnTo>
                <a:lnTo>
                  <a:pt x="77194" y="304684"/>
                </a:lnTo>
                <a:lnTo>
                  <a:pt x="78446" y="310809"/>
                </a:lnTo>
                <a:lnTo>
                  <a:pt x="77824" y="316364"/>
                </a:lnTo>
                <a:lnTo>
                  <a:pt x="89927" y="318663"/>
                </a:lnTo>
                <a:lnTo>
                  <a:pt x="102861" y="320198"/>
                </a:lnTo>
                <a:lnTo>
                  <a:pt x="114964" y="321919"/>
                </a:lnTo>
                <a:lnTo>
                  <a:pt x="127267" y="324218"/>
                </a:lnTo>
                <a:lnTo>
                  <a:pt x="252661" y="341067"/>
                </a:lnTo>
                <a:lnTo>
                  <a:pt x="264965" y="342032"/>
                </a:lnTo>
                <a:lnTo>
                  <a:pt x="277698" y="343752"/>
                </a:lnTo>
                <a:lnTo>
                  <a:pt x="290001" y="344901"/>
                </a:lnTo>
                <a:lnTo>
                  <a:pt x="302734" y="346622"/>
                </a:lnTo>
                <a:lnTo>
                  <a:pt x="315038" y="347771"/>
                </a:lnTo>
                <a:lnTo>
                  <a:pt x="327351" y="349500"/>
                </a:lnTo>
                <a:lnTo>
                  <a:pt x="340075" y="350456"/>
                </a:lnTo>
                <a:lnTo>
                  <a:pt x="352388" y="352177"/>
                </a:lnTo>
                <a:lnTo>
                  <a:pt x="389728" y="355625"/>
                </a:lnTo>
                <a:lnTo>
                  <a:pt x="401830" y="357160"/>
                </a:lnTo>
                <a:lnTo>
                  <a:pt x="475898" y="364050"/>
                </a:lnTo>
                <a:lnTo>
                  <a:pt x="477150" y="358310"/>
                </a:lnTo>
                <a:lnTo>
                  <a:pt x="478402" y="352177"/>
                </a:lnTo>
                <a:lnTo>
                  <a:pt x="478295" y="344901"/>
                </a:lnTo>
                <a:lnTo>
                  <a:pt x="477257" y="339347"/>
                </a:lnTo>
                <a:lnTo>
                  <a:pt x="477370" y="334370"/>
                </a:lnTo>
                <a:lnTo>
                  <a:pt x="488249" y="116418"/>
                </a:lnTo>
                <a:close/>
              </a:path>
              <a:path w="490220" h="364489">
                <a:moveTo>
                  <a:pt x="13564" y="0"/>
                </a:moveTo>
                <a:lnTo>
                  <a:pt x="7933" y="2082"/>
                </a:lnTo>
                <a:lnTo>
                  <a:pt x="2504" y="7792"/>
                </a:lnTo>
                <a:lnTo>
                  <a:pt x="0" y="12806"/>
                </a:lnTo>
                <a:lnTo>
                  <a:pt x="3059" y="80620"/>
                </a:lnTo>
                <a:lnTo>
                  <a:pt x="3175" y="83860"/>
                </a:lnTo>
                <a:lnTo>
                  <a:pt x="4978" y="153372"/>
                </a:lnTo>
                <a:lnTo>
                  <a:pt x="5008" y="296251"/>
                </a:lnTo>
                <a:lnTo>
                  <a:pt x="6892" y="297787"/>
                </a:lnTo>
                <a:lnTo>
                  <a:pt x="25036" y="168493"/>
                </a:lnTo>
                <a:lnTo>
                  <a:pt x="17733" y="166796"/>
                </a:lnTo>
                <a:lnTo>
                  <a:pt x="14187" y="163555"/>
                </a:lnTo>
                <a:lnTo>
                  <a:pt x="12934" y="158926"/>
                </a:lnTo>
                <a:lnTo>
                  <a:pt x="12934" y="153372"/>
                </a:lnTo>
                <a:lnTo>
                  <a:pt x="13564" y="147817"/>
                </a:lnTo>
                <a:lnTo>
                  <a:pt x="14187" y="141723"/>
                </a:lnTo>
                <a:lnTo>
                  <a:pt x="14187" y="135936"/>
                </a:lnTo>
                <a:lnTo>
                  <a:pt x="11682" y="131538"/>
                </a:lnTo>
                <a:lnTo>
                  <a:pt x="12934" y="116418"/>
                </a:lnTo>
                <a:lnTo>
                  <a:pt x="488249" y="116418"/>
                </a:lnTo>
                <a:lnTo>
                  <a:pt x="489874" y="83860"/>
                </a:lnTo>
                <a:lnTo>
                  <a:pt x="466721" y="71053"/>
                </a:lnTo>
                <a:lnTo>
                  <a:pt x="462964" y="69896"/>
                </a:lnTo>
                <a:lnTo>
                  <a:pt x="448356" y="67583"/>
                </a:lnTo>
                <a:lnTo>
                  <a:pt x="313164" y="67583"/>
                </a:lnTo>
                <a:lnTo>
                  <a:pt x="311911" y="63724"/>
                </a:lnTo>
                <a:lnTo>
                  <a:pt x="313164" y="59945"/>
                </a:lnTo>
                <a:lnTo>
                  <a:pt x="316290" y="56473"/>
                </a:lnTo>
                <a:lnTo>
                  <a:pt x="319838" y="53619"/>
                </a:lnTo>
                <a:lnTo>
                  <a:pt x="324224" y="50918"/>
                </a:lnTo>
                <a:lnTo>
                  <a:pt x="329023" y="47447"/>
                </a:lnTo>
                <a:lnTo>
                  <a:pt x="332771" y="44206"/>
                </a:lnTo>
                <a:lnTo>
                  <a:pt x="335906" y="40735"/>
                </a:lnTo>
                <a:lnTo>
                  <a:pt x="67395" y="5554"/>
                </a:lnTo>
                <a:lnTo>
                  <a:pt x="17733" y="1543"/>
                </a:lnTo>
                <a:lnTo>
                  <a:pt x="13564" y="0"/>
                </a:lnTo>
                <a:close/>
              </a:path>
              <a:path w="490220" h="364489">
                <a:moveTo>
                  <a:pt x="348631" y="43666"/>
                </a:moveTo>
                <a:lnTo>
                  <a:pt x="345084" y="46290"/>
                </a:lnTo>
                <a:lnTo>
                  <a:pt x="340705" y="49761"/>
                </a:lnTo>
                <a:lnTo>
                  <a:pt x="336528" y="53002"/>
                </a:lnTo>
                <a:lnTo>
                  <a:pt x="332149" y="56473"/>
                </a:lnTo>
                <a:lnTo>
                  <a:pt x="327351" y="59945"/>
                </a:lnTo>
                <a:lnTo>
                  <a:pt x="322972" y="62567"/>
                </a:lnTo>
                <a:lnTo>
                  <a:pt x="318173" y="65500"/>
                </a:lnTo>
                <a:lnTo>
                  <a:pt x="313164" y="67583"/>
                </a:lnTo>
                <a:lnTo>
                  <a:pt x="448356" y="67583"/>
                </a:lnTo>
                <a:lnTo>
                  <a:pt x="441054" y="66657"/>
                </a:lnTo>
                <a:lnTo>
                  <a:pt x="426455" y="64342"/>
                </a:lnTo>
                <a:lnTo>
                  <a:pt x="418942" y="63724"/>
                </a:lnTo>
                <a:lnTo>
                  <a:pt x="411638" y="62567"/>
                </a:lnTo>
                <a:lnTo>
                  <a:pt x="404334" y="60871"/>
                </a:lnTo>
                <a:lnTo>
                  <a:pt x="396410" y="59945"/>
                </a:lnTo>
                <a:lnTo>
                  <a:pt x="389728" y="58171"/>
                </a:lnTo>
                <a:lnTo>
                  <a:pt x="374919" y="54776"/>
                </a:lnTo>
                <a:lnTo>
                  <a:pt x="368246" y="52616"/>
                </a:lnTo>
                <a:lnTo>
                  <a:pt x="354892" y="46907"/>
                </a:lnTo>
                <a:lnTo>
                  <a:pt x="348631" y="43666"/>
                </a:lnTo>
                <a:close/>
              </a:path>
            </a:pathLst>
          </a:custGeom>
          <a:solidFill>
            <a:srgbClr val="FFE5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138967" y="1712720"/>
            <a:ext cx="48260" cy="972185"/>
          </a:xfrm>
          <a:custGeom>
            <a:avLst/>
            <a:gdLst/>
            <a:ahLst/>
            <a:cxnLst/>
            <a:rect l="l" t="t" r="r" b="b"/>
            <a:pathLst>
              <a:path w="48259" h="972185">
                <a:moveTo>
                  <a:pt x="39844" y="0"/>
                </a:moveTo>
                <a:lnTo>
                  <a:pt x="33172" y="3239"/>
                </a:lnTo>
                <a:lnTo>
                  <a:pt x="28163" y="86791"/>
                </a:lnTo>
                <a:lnTo>
                  <a:pt x="24616" y="175204"/>
                </a:lnTo>
                <a:lnTo>
                  <a:pt x="21489" y="264875"/>
                </a:lnTo>
                <a:lnTo>
                  <a:pt x="16480" y="354498"/>
                </a:lnTo>
                <a:lnTo>
                  <a:pt x="12934" y="430729"/>
                </a:lnTo>
                <a:lnTo>
                  <a:pt x="9799" y="506759"/>
                </a:lnTo>
                <a:lnTo>
                  <a:pt x="6883" y="584131"/>
                </a:lnTo>
                <a:lnTo>
                  <a:pt x="1874" y="738684"/>
                </a:lnTo>
                <a:lnTo>
                  <a:pt x="622" y="816056"/>
                </a:lnTo>
                <a:lnTo>
                  <a:pt x="0" y="892665"/>
                </a:lnTo>
                <a:lnTo>
                  <a:pt x="622" y="969465"/>
                </a:lnTo>
                <a:lnTo>
                  <a:pt x="16060" y="972146"/>
                </a:lnTo>
                <a:lnTo>
                  <a:pt x="18985" y="971190"/>
                </a:lnTo>
                <a:lnTo>
                  <a:pt x="23986" y="967742"/>
                </a:lnTo>
                <a:lnTo>
                  <a:pt x="25659" y="965445"/>
                </a:lnTo>
                <a:lnTo>
                  <a:pt x="23364" y="851298"/>
                </a:lnTo>
                <a:lnTo>
                  <a:pt x="29415" y="544300"/>
                </a:lnTo>
                <a:lnTo>
                  <a:pt x="28784" y="516333"/>
                </a:lnTo>
                <a:lnTo>
                  <a:pt x="29415" y="487795"/>
                </a:lnTo>
                <a:lnTo>
                  <a:pt x="31288" y="459258"/>
                </a:lnTo>
                <a:lnTo>
                  <a:pt x="33794" y="430729"/>
                </a:lnTo>
                <a:lnTo>
                  <a:pt x="36088" y="401999"/>
                </a:lnTo>
                <a:lnTo>
                  <a:pt x="37340" y="374040"/>
                </a:lnTo>
                <a:lnTo>
                  <a:pt x="37340" y="346073"/>
                </a:lnTo>
                <a:lnTo>
                  <a:pt x="35466" y="318114"/>
                </a:lnTo>
                <a:lnTo>
                  <a:pt x="44022" y="305663"/>
                </a:lnTo>
                <a:lnTo>
                  <a:pt x="47148" y="229594"/>
                </a:lnTo>
                <a:lnTo>
                  <a:pt x="47771" y="152831"/>
                </a:lnTo>
                <a:lnTo>
                  <a:pt x="45266" y="76067"/>
                </a:lnTo>
                <a:lnTo>
                  <a:pt x="39844" y="0"/>
                </a:lnTo>
                <a:close/>
              </a:path>
            </a:pathLst>
          </a:custGeom>
          <a:solidFill>
            <a:srgbClr val="D8BF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567077" y="1741265"/>
            <a:ext cx="97155" cy="26670"/>
          </a:xfrm>
          <a:custGeom>
            <a:avLst/>
            <a:gdLst/>
            <a:ahLst/>
            <a:cxnLst/>
            <a:rect l="l" t="t" r="r" b="b"/>
            <a:pathLst>
              <a:path w="97154" h="26669">
                <a:moveTo>
                  <a:pt x="12942" y="0"/>
                </a:moveTo>
                <a:lnTo>
                  <a:pt x="0" y="3856"/>
                </a:lnTo>
                <a:lnTo>
                  <a:pt x="11060" y="9025"/>
                </a:lnTo>
                <a:lnTo>
                  <a:pt x="22741" y="12806"/>
                </a:lnTo>
                <a:lnTo>
                  <a:pt x="34424" y="15661"/>
                </a:lnTo>
                <a:lnTo>
                  <a:pt x="46526" y="17821"/>
                </a:lnTo>
                <a:lnTo>
                  <a:pt x="58839" y="19518"/>
                </a:lnTo>
                <a:lnTo>
                  <a:pt x="71563" y="21832"/>
                </a:lnTo>
                <a:lnTo>
                  <a:pt x="84498" y="23530"/>
                </a:lnTo>
                <a:lnTo>
                  <a:pt x="96810" y="26230"/>
                </a:lnTo>
                <a:lnTo>
                  <a:pt x="96810" y="16818"/>
                </a:lnTo>
                <a:lnTo>
                  <a:pt x="45905" y="3856"/>
                </a:lnTo>
                <a:lnTo>
                  <a:pt x="23373" y="1696"/>
                </a:lnTo>
                <a:lnTo>
                  <a:pt x="12942" y="0"/>
                </a:lnTo>
                <a:close/>
              </a:path>
            </a:pathLst>
          </a:custGeom>
          <a:solidFill>
            <a:srgbClr val="B268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917602" y="1728844"/>
            <a:ext cx="241935" cy="972185"/>
          </a:xfrm>
          <a:custGeom>
            <a:avLst/>
            <a:gdLst/>
            <a:ahLst/>
            <a:cxnLst/>
            <a:rect l="l" t="t" r="r" b="b"/>
            <a:pathLst>
              <a:path w="241934" h="972185">
                <a:moveTo>
                  <a:pt x="221987" y="0"/>
                </a:moveTo>
                <a:lnTo>
                  <a:pt x="208631" y="6248"/>
                </a:lnTo>
                <a:lnTo>
                  <a:pt x="168156" y="22913"/>
                </a:lnTo>
                <a:lnTo>
                  <a:pt x="154810" y="28699"/>
                </a:lnTo>
                <a:lnTo>
                  <a:pt x="141245" y="34253"/>
                </a:lnTo>
                <a:lnTo>
                  <a:pt x="127891" y="39190"/>
                </a:lnTo>
                <a:lnTo>
                  <a:pt x="114335" y="44745"/>
                </a:lnTo>
                <a:lnTo>
                  <a:pt x="100980" y="49914"/>
                </a:lnTo>
                <a:lnTo>
                  <a:pt x="87415" y="54930"/>
                </a:lnTo>
                <a:lnTo>
                  <a:pt x="73439" y="59943"/>
                </a:lnTo>
                <a:lnTo>
                  <a:pt x="59877" y="65112"/>
                </a:lnTo>
                <a:lnTo>
                  <a:pt x="32964" y="75065"/>
                </a:lnTo>
                <a:lnTo>
                  <a:pt x="18985" y="79617"/>
                </a:lnTo>
                <a:lnTo>
                  <a:pt x="5424" y="84631"/>
                </a:lnTo>
                <a:lnTo>
                  <a:pt x="0" y="194955"/>
                </a:lnTo>
                <a:lnTo>
                  <a:pt x="626" y="305817"/>
                </a:lnTo>
                <a:lnTo>
                  <a:pt x="3755" y="418431"/>
                </a:lnTo>
                <a:lnTo>
                  <a:pt x="6064" y="532196"/>
                </a:lnTo>
                <a:lnTo>
                  <a:pt x="16482" y="971727"/>
                </a:lnTo>
                <a:lnTo>
                  <a:pt x="209884" y="955640"/>
                </a:lnTo>
                <a:lnTo>
                  <a:pt x="209262" y="925955"/>
                </a:lnTo>
                <a:lnTo>
                  <a:pt x="207379" y="896268"/>
                </a:lnTo>
                <a:lnTo>
                  <a:pt x="206758" y="866010"/>
                </a:lnTo>
                <a:lnTo>
                  <a:pt x="208010" y="835174"/>
                </a:lnTo>
                <a:lnTo>
                  <a:pt x="212808" y="733291"/>
                </a:lnTo>
                <a:lnTo>
                  <a:pt x="215935" y="632358"/>
                </a:lnTo>
                <a:lnTo>
                  <a:pt x="219086" y="531616"/>
                </a:lnTo>
                <a:lnTo>
                  <a:pt x="221987" y="432989"/>
                </a:lnTo>
                <a:lnTo>
                  <a:pt x="224491" y="392193"/>
                </a:lnTo>
                <a:lnTo>
                  <a:pt x="225113" y="353510"/>
                </a:lnTo>
                <a:lnTo>
                  <a:pt x="226995" y="315399"/>
                </a:lnTo>
                <a:lnTo>
                  <a:pt x="231795" y="277280"/>
                </a:lnTo>
                <a:lnTo>
                  <a:pt x="233047" y="221956"/>
                </a:lnTo>
                <a:lnTo>
                  <a:pt x="235551" y="108162"/>
                </a:lnTo>
                <a:lnTo>
                  <a:pt x="237845" y="53771"/>
                </a:lnTo>
                <a:lnTo>
                  <a:pt x="238467" y="45902"/>
                </a:lnTo>
                <a:lnTo>
                  <a:pt x="240350" y="36954"/>
                </a:lnTo>
                <a:lnTo>
                  <a:pt x="240972" y="27541"/>
                </a:lnTo>
                <a:lnTo>
                  <a:pt x="241602" y="18515"/>
                </a:lnTo>
                <a:lnTo>
                  <a:pt x="240350" y="10723"/>
                </a:lnTo>
                <a:lnTo>
                  <a:pt x="237425" y="4011"/>
                </a:lnTo>
                <a:lnTo>
                  <a:pt x="231164" y="539"/>
                </a:lnTo>
                <a:lnTo>
                  <a:pt x="221987" y="0"/>
                </a:lnTo>
                <a:close/>
              </a:path>
            </a:pathLst>
          </a:custGeom>
          <a:solidFill>
            <a:srgbClr val="D8BF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564783" y="1834692"/>
            <a:ext cx="42545" cy="27940"/>
          </a:xfrm>
          <a:custGeom>
            <a:avLst/>
            <a:gdLst/>
            <a:ahLst/>
            <a:cxnLst/>
            <a:rect l="l" t="t" r="r" b="b"/>
            <a:pathLst>
              <a:path w="42545" h="27939">
                <a:moveTo>
                  <a:pt x="42147" y="0"/>
                </a:moveTo>
                <a:lnTo>
                  <a:pt x="36718" y="1156"/>
                </a:lnTo>
                <a:lnTo>
                  <a:pt x="31087" y="3470"/>
                </a:lnTo>
                <a:lnTo>
                  <a:pt x="26287" y="6711"/>
                </a:lnTo>
                <a:lnTo>
                  <a:pt x="21278" y="9565"/>
                </a:lnTo>
                <a:lnTo>
                  <a:pt x="15858" y="13423"/>
                </a:lnTo>
                <a:lnTo>
                  <a:pt x="10849" y="16894"/>
                </a:lnTo>
                <a:lnTo>
                  <a:pt x="5429" y="19749"/>
                </a:lnTo>
                <a:lnTo>
                  <a:pt x="0" y="22449"/>
                </a:lnTo>
                <a:lnTo>
                  <a:pt x="0" y="27387"/>
                </a:lnTo>
                <a:lnTo>
                  <a:pt x="5429" y="25304"/>
                </a:lnTo>
                <a:lnTo>
                  <a:pt x="10849" y="22989"/>
                </a:lnTo>
                <a:lnTo>
                  <a:pt x="16480" y="20675"/>
                </a:lnTo>
                <a:lnTo>
                  <a:pt x="21910" y="18053"/>
                </a:lnTo>
                <a:lnTo>
                  <a:pt x="26918" y="14580"/>
                </a:lnTo>
                <a:lnTo>
                  <a:pt x="31716" y="11341"/>
                </a:lnTo>
                <a:lnTo>
                  <a:pt x="36718" y="7868"/>
                </a:lnTo>
                <a:lnTo>
                  <a:pt x="41517" y="4011"/>
                </a:lnTo>
                <a:lnTo>
                  <a:pt x="421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515760" y="1977595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20237" y="0"/>
                </a:moveTo>
                <a:lnTo>
                  <a:pt x="14598" y="0"/>
                </a:lnTo>
                <a:lnTo>
                  <a:pt x="4999" y="1149"/>
                </a:lnTo>
                <a:lnTo>
                  <a:pt x="622" y="2291"/>
                </a:lnTo>
                <a:lnTo>
                  <a:pt x="0" y="9573"/>
                </a:lnTo>
                <a:lnTo>
                  <a:pt x="4999" y="7846"/>
                </a:lnTo>
                <a:lnTo>
                  <a:pt x="10429" y="7274"/>
                </a:lnTo>
                <a:lnTo>
                  <a:pt x="29085" y="7274"/>
                </a:lnTo>
                <a:lnTo>
                  <a:pt x="31288" y="6695"/>
                </a:lnTo>
                <a:lnTo>
                  <a:pt x="34836" y="4404"/>
                </a:lnTo>
                <a:lnTo>
                  <a:pt x="37564" y="570"/>
                </a:lnTo>
                <a:lnTo>
                  <a:pt x="25036" y="570"/>
                </a:lnTo>
                <a:lnTo>
                  <a:pt x="20237" y="0"/>
                </a:lnTo>
                <a:close/>
              </a:path>
              <a:path w="38100" h="10160">
                <a:moveTo>
                  <a:pt x="29085" y="7274"/>
                </a:moveTo>
                <a:lnTo>
                  <a:pt x="10429" y="7274"/>
                </a:lnTo>
                <a:lnTo>
                  <a:pt x="15850" y="7846"/>
                </a:lnTo>
                <a:lnTo>
                  <a:pt x="26911" y="7846"/>
                </a:lnTo>
                <a:lnTo>
                  <a:pt x="29085" y="7274"/>
                </a:lnTo>
                <a:close/>
              </a:path>
              <a:path w="38100" h="10160">
                <a:moveTo>
                  <a:pt x="37970" y="0"/>
                </a:moveTo>
                <a:lnTo>
                  <a:pt x="34213" y="570"/>
                </a:lnTo>
                <a:lnTo>
                  <a:pt x="37564" y="570"/>
                </a:lnTo>
                <a:lnTo>
                  <a:pt x="379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247241" y="2032556"/>
            <a:ext cx="417195" cy="62865"/>
          </a:xfrm>
          <a:custGeom>
            <a:avLst/>
            <a:gdLst/>
            <a:ahLst/>
            <a:cxnLst/>
            <a:rect l="l" t="t" r="r" b="b"/>
            <a:pathLst>
              <a:path w="417195" h="62864">
                <a:moveTo>
                  <a:pt x="411050" y="59373"/>
                </a:moveTo>
                <a:lnTo>
                  <a:pt x="378045" y="59373"/>
                </a:lnTo>
                <a:lnTo>
                  <a:pt x="383475" y="59752"/>
                </a:lnTo>
                <a:lnTo>
                  <a:pt x="394535" y="62050"/>
                </a:lnTo>
                <a:lnTo>
                  <a:pt x="399956" y="62628"/>
                </a:lnTo>
                <a:lnTo>
                  <a:pt x="405587" y="62050"/>
                </a:lnTo>
                <a:lnTo>
                  <a:pt x="409764" y="60330"/>
                </a:lnTo>
                <a:lnTo>
                  <a:pt x="411050" y="59373"/>
                </a:lnTo>
                <a:close/>
              </a:path>
              <a:path w="417195" h="62864">
                <a:moveTo>
                  <a:pt x="8555" y="0"/>
                </a:moveTo>
                <a:lnTo>
                  <a:pt x="0" y="7282"/>
                </a:lnTo>
                <a:lnTo>
                  <a:pt x="5008" y="9959"/>
                </a:lnTo>
                <a:lnTo>
                  <a:pt x="9808" y="12829"/>
                </a:lnTo>
                <a:lnTo>
                  <a:pt x="15237" y="15514"/>
                </a:lnTo>
                <a:lnTo>
                  <a:pt x="20867" y="17235"/>
                </a:lnTo>
                <a:lnTo>
                  <a:pt x="26288" y="19533"/>
                </a:lnTo>
                <a:lnTo>
                  <a:pt x="31927" y="21262"/>
                </a:lnTo>
                <a:lnTo>
                  <a:pt x="37979" y="22790"/>
                </a:lnTo>
                <a:lnTo>
                  <a:pt x="43399" y="24517"/>
                </a:lnTo>
                <a:lnTo>
                  <a:pt x="85128" y="27966"/>
                </a:lnTo>
                <a:lnTo>
                  <a:pt x="208638" y="41366"/>
                </a:lnTo>
                <a:lnTo>
                  <a:pt x="228876" y="44244"/>
                </a:lnTo>
                <a:lnTo>
                  <a:pt x="269772" y="48649"/>
                </a:lnTo>
                <a:lnTo>
                  <a:pt x="290009" y="51520"/>
                </a:lnTo>
                <a:lnTo>
                  <a:pt x="331527" y="55924"/>
                </a:lnTo>
                <a:lnTo>
                  <a:pt x="352386" y="57645"/>
                </a:lnTo>
                <a:lnTo>
                  <a:pt x="373044" y="59752"/>
                </a:lnTo>
                <a:lnTo>
                  <a:pt x="378045" y="59373"/>
                </a:lnTo>
                <a:lnTo>
                  <a:pt x="411050" y="59373"/>
                </a:lnTo>
                <a:lnTo>
                  <a:pt x="414143" y="57075"/>
                </a:lnTo>
                <a:lnTo>
                  <a:pt x="415395" y="54775"/>
                </a:lnTo>
                <a:lnTo>
                  <a:pt x="416647" y="52090"/>
                </a:lnTo>
                <a:lnTo>
                  <a:pt x="417066" y="49799"/>
                </a:lnTo>
                <a:lnTo>
                  <a:pt x="414773" y="48070"/>
                </a:lnTo>
                <a:lnTo>
                  <a:pt x="401208" y="45772"/>
                </a:lnTo>
                <a:lnTo>
                  <a:pt x="387231" y="44244"/>
                </a:lnTo>
                <a:lnTo>
                  <a:pt x="372414" y="41945"/>
                </a:lnTo>
                <a:lnTo>
                  <a:pt x="343830" y="38497"/>
                </a:lnTo>
                <a:lnTo>
                  <a:pt x="328392" y="37348"/>
                </a:lnTo>
                <a:lnTo>
                  <a:pt x="313794" y="35812"/>
                </a:lnTo>
                <a:lnTo>
                  <a:pt x="299187" y="34091"/>
                </a:lnTo>
                <a:lnTo>
                  <a:pt x="283748" y="32942"/>
                </a:lnTo>
                <a:lnTo>
                  <a:pt x="268519" y="31221"/>
                </a:lnTo>
                <a:lnTo>
                  <a:pt x="253913" y="30072"/>
                </a:lnTo>
                <a:lnTo>
                  <a:pt x="223867" y="26817"/>
                </a:lnTo>
                <a:lnTo>
                  <a:pt x="181096" y="21832"/>
                </a:lnTo>
                <a:lnTo>
                  <a:pt x="170667" y="19533"/>
                </a:lnTo>
                <a:lnTo>
                  <a:pt x="159607" y="17813"/>
                </a:lnTo>
                <a:lnTo>
                  <a:pt x="149178" y="16085"/>
                </a:lnTo>
                <a:lnTo>
                  <a:pt x="138958" y="13978"/>
                </a:lnTo>
                <a:lnTo>
                  <a:pt x="117467" y="10538"/>
                </a:lnTo>
                <a:lnTo>
                  <a:pt x="107029" y="9389"/>
                </a:lnTo>
                <a:lnTo>
                  <a:pt x="85749" y="6132"/>
                </a:lnTo>
                <a:lnTo>
                  <a:pt x="42147" y="1535"/>
                </a:lnTo>
                <a:lnTo>
                  <a:pt x="19615" y="386"/>
                </a:lnTo>
                <a:lnTo>
                  <a:pt x="8555" y="0"/>
                </a:lnTo>
                <a:close/>
              </a:path>
            </a:pathLst>
          </a:custGeom>
          <a:solidFill>
            <a:srgbClr val="D8BF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175055" y="2049791"/>
            <a:ext cx="511175" cy="629920"/>
          </a:xfrm>
          <a:custGeom>
            <a:avLst/>
            <a:gdLst/>
            <a:ahLst/>
            <a:cxnLst/>
            <a:rect l="l" t="t" r="r" b="b"/>
            <a:pathLst>
              <a:path w="511175" h="629919">
                <a:moveTo>
                  <a:pt x="460848" y="570152"/>
                </a:moveTo>
                <a:lnTo>
                  <a:pt x="420193" y="570152"/>
                </a:lnTo>
                <a:lnTo>
                  <a:pt x="425203" y="571873"/>
                </a:lnTo>
                <a:lnTo>
                  <a:pt x="429371" y="574751"/>
                </a:lnTo>
                <a:lnTo>
                  <a:pt x="433750" y="578006"/>
                </a:lnTo>
                <a:lnTo>
                  <a:pt x="437296" y="581455"/>
                </a:lnTo>
                <a:lnTo>
                  <a:pt x="440432" y="585859"/>
                </a:lnTo>
                <a:lnTo>
                  <a:pt x="443557" y="589879"/>
                </a:lnTo>
                <a:lnTo>
                  <a:pt x="447104" y="594285"/>
                </a:lnTo>
                <a:lnTo>
                  <a:pt x="450231" y="598111"/>
                </a:lnTo>
                <a:lnTo>
                  <a:pt x="455029" y="602138"/>
                </a:lnTo>
                <a:lnTo>
                  <a:pt x="458787" y="607689"/>
                </a:lnTo>
                <a:lnTo>
                  <a:pt x="461921" y="613243"/>
                </a:lnTo>
                <a:lnTo>
                  <a:pt x="464837" y="618989"/>
                </a:lnTo>
                <a:lnTo>
                  <a:pt x="468594" y="623968"/>
                </a:lnTo>
                <a:lnTo>
                  <a:pt x="472771" y="627415"/>
                </a:lnTo>
                <a:lnTo>
                  <a:pt x="478402" y="629522"/>
                </a:lnTo>
                <a:lnTo>
                  <a:pt x="486328" y="628948"/>
                </a:lnTo>
                <a:lnTo>
                  <a:pt x="489874" y="627799"/>
                </a:lnTo>
                <a:lnTo>
                  <a:pt x="502809" y="627799"/>
                </a:lnTo>
                <a:lnTo>
                  <a:pt x="506566" y="627415"/>
                </a:lnTo>
                <a:lnTo>
                  <a:pt x="508859" y="626267"/>
                </a:lnTo>
                <a:lnTo>
                  <a:pt x="510743" y="623968"/>
                </a:lnTo>
                <a:lnTo>
                  <a:pt x="510743" y="620138"/>
                </a:lnTo>
                <a:lnTo>
                  <a:pt x="460848" y="570152"/>
                </a:lnTo>
                <a:close/>
              </a:path>
              <a:path w="511175" h="629919">
                <a:moveTo>
                  <a:pt x="437506" y="599260"/>
                </a:moveTo>
                <a:lnTo>
                  <a:pt x="390358" y="599260"/>
                </a:lnTo>
                <a:lnTo>
                  <a:pt x="395157" y="600989"/>
                </a:lnTo>
                <a:lnTo>
                  <a:pt x="398283" y="603859"/>
                </a:lnTo>
                <a:lnTo>
                  <a:pt x="401208" y="607114"/>
                </a:lnTo>
                <a:lnTo>
                  <a:pt x="403082" y="611137"/>
                </a:lnTo>
                <a:lnTo>
                  <a:pt x="404964" y="614967"/>
                </a:lnTo>
                <a:lnTo>
                  <a:pt x="406209" y="618989"/>
                </a:lnTo>
                <a:lnTo>
                  <a:pt x="409764" y="626267"/>
                </a:lnTo>
                <a:lnTo>
                  <a:pt x="451483" y="628374"/>
                </a:lnTo>
                <a:lnTo>
                  <a:pt x="454408" y="620522"/>
                </a:lnTo>
                <a:lnTo>
                  <a:pt x="437506" y="599260"/>
                </a:lnTo>
                <a:close/>
              </a:path>
              <a:path w="511175" h="629919">
                <a:moveTo>
                  <a:pt x="344453" y="625692"/>
                </a:moveTo>
                <a:lnTo>
                  <a:pt x="220943" y="625692"/>
                </a:lnTo>
                <a:lnTo>
                  <a:pt x="245357" y="626267"/>
                </a:lnTo>
                <a:lnTo>
                  <a:pt x="319425" y="626267"/>
                </a:lnTo>
                <a:lnTo>
                  <a:pt x="344453" y="625692"/>
                </a:lnTo>
                <a:close/>
              </a:path>
              <a:path w="511175" h="629919">
                <a:moveTo>
                  <a:pt x="12934" y="0"/>
                </a:moveTo>
                <a:lnTo>
                  <a:pt x="6883" y="157429"/>
                </a:lnTo>
                <a:lnTo>
                  <a:pt x="1882" y="309304"/>
                </a:lnTo>
                <a:lnTo>
                  <a:pt x="0" y="459837"/>
                </a:lnTo>
                <a:lnTo>
                  <a:pt x="2504" y="616116"/>
                </a:lnTo>
                <a:lnTo>
                  <a:pt x="26918" y="618415"/>
                </a:lnTo>
                <a:lnTo>
                  <a:pt x="50905" y="620138"/>
                </a:lnTo>
                <a:lnTo>
                  <a:pt x="75319" y="621096"/>
                </a:lnTo>
                <a:lnTo>
                  <a:pt x="99104" y="622819"/>
                </a:lnTo>
                <a:lnTo>
                  <a:pt x="123511" y="623393"/>
                </a:lnTo>
                <a:lnTo>
                  <a:pt x="148135" y="624544"/>
                </a:lnTo>
                <a:lnTo>
                  <a:pt x="196326" y="625692"/>
                </a:lnTo>
                <a:lnTo>
                  <a:pt x="394526" y="625692"/>
                </a:lnTo>
                <a:lnTo>
                  <a:pt x="394526" y="619563"/>
                </a:lnTo>
                <a:lnTo>
                  <a:pt x="392022" y="613243"/>
                </a:lnTo>
                <a:lnTo>
                  <a:pt x="389728" y="606540"/>
                </a:lnTo>
                <a:lnTo>
                  <a:pt x="390358" y="599260"/>
                </a:lnTo>
                <a:lnTo>
                  <a:pt x="437506" y="599260"/>
                </a:lnTo>
                <a:lnTo>
                  <a:pt x="416647" y="573022"/>
                </a:lnTo>
                <a:lnTo>
                  <a:pt x="420193" y="570152"/>
                </a:lnTo>
                <a:lnTo>
                  <a:pt x="460848" y="570152"/>
                </a:lnTo>
                <a:lnTo>
                  <a:pt x="451483" y="560771"/>
                </a:lnTo>
                <a:lnTo>
                  <a:pt x="455660" y="557894"/>
                </a:lnTo>
                <a:lnTo>
                  <a:pt x="506734" y="557894"/>
                </a:lnTo>
                <a:lnTo>
                  <a:pt x="505943" y="552339"/>
                </a:lnTo>
                <a:lnTo>
                  <a:pt x="474016" y="524766"/>
                </a:lnTo>
                <a:lnTo>
                  <a:pt x="471519" y="520932"/>
                </a:lnTo>
                <a:lnTo>
                  <a:pt x="467973" y="518632"/>
                </a:lnTo>
                <a:lnTo>
                  <a:pt x="464216" y="516526"/>
                </a:lnTo>
                <a:lnTo>
                  <a:pt x="460039" y="514228"/>
                </a:lnTo>
                <a:lnTo>
                  <a:pt x="455660" y="511928"/>
                </a:lnTo>
                <a:lnTo>
                  <a:pt x="452735" y="509250"/>
                </a:lnTo>
                <a:lnTo>
                  <a:pt x="450231" y="505802"/>
                </a:lnTo>
                <a:lnTo>
                  <a:pt x="448986" y="501397"/>
                </a:lnTo>
                <a:lnTo>
                  <a:pt x="502867" y="501397"/>
                </a:lnTo>
                <a:lnTo>
                  <a:pt x="503439" y="491824"/>
                </a:lnTo>
                <a:lnTo>
                  <a:pt x="501557" y="450263"/>
                </a:lnTo>
                <a:lnTo>
                  <a:pt x="498430" y="408896"/>
                </a:lnTo>
                <a:lnTo>
                  <a:pt x="496135" y="366949"/>
                </a:lnTo>
                <a:lnTo>
                  <a:pt x="496244" y="350100"/>
                </a:lnTo>
                <a:lnTo>
                  <a:pt x="27541" y="350100"/>
                </a:lnTo>
                <a:lnTo>
                  <a:pt x="23994" y="349523"/>
                </a:lnTo>
                <a:lnTo>
                  <a:pt x="20868" y="348372"/>
                </a:lnTo>
                <a:lnTo>
                  <a:pt x="17111" y="347223"/>
                </a:lnTo>
                <a:lnTo>
                  <a:pt x="14187" y="345117"/>
                </a:lnTo>
                <a:lnTo>
                  <a:pt x="11060" y="342818"/>
                </a:lnTo>
                <a:lnTo>
                  <a:pt x="11060" y="299730"/>
                </a:lnTo>
                <a:lnTo>
                  <a:pt x="13564" y="255485"/>
                </a:lnTo>
                <a:lnTo>
                  <a:pt x="14187" y="211819"/>
                </a:lnTo>
                <a:lnTo>
                  <a:pt x="12312" y="170837"/>
                </a:lnTo>
                <a:lnTo>
                  <a:pt x="14817" y="168539"/>
                </a:lnTo>
                <a:lnTo>
                  <a:pt x="18364" y="167582"/>
                </a:lnTo>
                <a:lnTo>
                  <a:pt x="21489" y="166433"/>
                </a:lnTo>
                <a:lnTo>
                  <a:pt x="25036" y="165854"/>
                </a:lnTo>
                <a:lnTo>
                  <a:pt x="28171" y="165854"/>
                </a:lnTo>
                <a:lnTo>
                  <a:pt x="31920" y="164705"/>
                </a:lnTo>
                <a:lnTo>
                  <a:pt x="34844" y="164133"/>
                </a:lnTo>
                <a:lnTo>
                  <a:pt x="37971" y="162413"/>
                </a:lnTo>
                <a:lnTo>
                  <a:pt x="41106" y="24131"/>
                </a:lnTo>
                <a:lnTo>
                  <a:pt x="39223" y="19726"/>
                </a:lnTo>
                <a:lnTo>
                  <a:pt x="35466" y="16856"/>
                </a:lnTo>
                <a:lnTo>
                  <a:pt x="31297" y="13986"/>
                </a:lnTo>
                <a:lnTo>
                  <a:pt x="26918" y="12451"/>
                </a:lnTo>
                <a:lnTo>
                  <a:pt x="22741" y="10152"/>
                </a:lnTo>
                <a:lnTo>
                  <a:pt x="18364" y="7853"/>
                </a:lnTo>
                <a:lnTo>
                  <a:pt x="14817" y="4597"/>
                </a:lnTo>
                <a:lnTo>
                  <a:pt x="12934" y="0"/>
                </a:lnTo>
                <a:close/>
              </a:path>
              <a:path w="511175" h="629919">
                <a:moveTo>
                  <a:pt x="506734" y="557894"/>
                </a:moveTo>
                <a:lnTo>
                  <a:pt x="455660" y="557894"/>
                </a:lnTo>
                <a:lnTo>
                  <a:pt x="462964" y="561728"/>
                </a:lnTo>
                <a:lnTo>
                  <a:pt x="475268" y="571873"/>
                </a:lnTo>
                <a:lnTo>
                  <a:pt x="487580" y="583175"/>
                </a:lnTo>
                <a:lnTo>
                  <a:pt x="493001" y="588730"/>
                </a:lnTo>
                <a:lnTo>
                  <a:pt x="499052" y="593705"/>
                </a:lnTo>
                <a:lnTo>
                  <a:pt x="505313" y="598111"/>
                </a:lnTo>
                <a:lnTo>
                  <a:pt x="507607" y="587001"/>
                </a:lnTo>
                <a:lnTo>
                  <a:pt x="508119" y="578006"/>
                </a:lnTo>
                <a:lnTo>
                  <a:pt x="508024" y="571873"/>
                </a:lnTo>
                <a:lnTo>
                  <a:pt x="507607" y="564027"/>
                </a:lnTo>
                <a:lnTo>
                  <a:pt x="506734" y="557894"/>
                </a:lnTo>
                <a:close/>
              </a:path>
              <a:path w="511175" h="629919">
                <a:moveTo>
                  <a:pt x="502867" y="501397"/>
                </a:moveTo>
                <a:lnTo>
                  <a:pt x="456912" y="501397"/>
                </a:lnTo>
                <a:lnTo>
                  <a:pt x="464216" y="504074"/>
                </a:lnTo>
                <a:lnTo>
                  <a:pt x="470468" y="508673"/>
                </a:lnTo>
                <a:lnTo>
                  <a:pt x="477150" y="514228"/>
                </a:lnTo>
                <a:lnTo>
                  <a:pt x="482570" y="520360"/>
                </a:lnTo>
                <a:lnTo>
                  <a:pt x="488833" y="525908"/>
                </a:lnTo>
                <a:lnTo>
                  <a:pt x="494883" y="531084"/>
                </a:lnTo>
                <a:lnTo>
                  <a:pt x="500934" y="533761"/>
                </a:lnTo>
                <a:lnTo>
                  <a:pt x="502867" y="501397"/>
                </a:lnTo>
                <a:close/>
              </a:path>
              <a:path w="511175" h="629919">
                <a:moveTo>
                  <a:pt x="101608" y="13986"/>
                </a:moveTo>
                <a:lnTo>
                  <a:pt x="96179" y="52097"/>
                </a:lnTo>
                <a:lnTo>
                  <a:pt x="91800" y="91359"/>
                </a:lnTo>
                <a:lnTo>
                  <a:pt x="88675" y="131577"/>
                </a:lnTo>
                <a:lnTo>
                  <a:pt x="83875" y="170837"/>
                </a:lnTo>
                <a:lnTo>
                  <a:pt x="93052" y="182711"/>
                </a:lnTo>
                <a:lnTo>
                  <a:pt x="87422" y="203973"/>
                </a:lnTo>
                <a:lnTo>
                  <a:pt x="80741" y="225228"/>
                </a:lnTo>
                <a:lnTo>
                  <a:pt x="73437" y="245911"/>
                </a:lnTo>
                <a:lnTo>
                  <a:pt x="65511" y="266024"/>
                </a:lnTo>
                <a:lnTo>
                  <a:pt x="57586" y="286900"/>
                </a:lnTo>
                <a:lnTo>
                  <a:pt x="50283" y="307583"/>
                </a:lnTo>
                <a:lnTo>
                  <a:pt x="43400" y="328268"/>
                </a:lnTo>
                <a:lnTo>
                  <a:pt x="37971" y="349523"/>
                </a:lnTo>
                <a:lnTo>
                  <a:pt x="34844" y="350100"/>
                </a:lnTo>
                <a:lnTo>
                  <a:pt x="496244" y="350100"/>
                </a:lnTo>
                <a:lnTo>
                  <a:pt x="498010" y="77951"/>
                </a:lnTo>
                <a:lnTo>
                  <a:pt x="494883" y="56117"/>
                </a:lnTo>
                <a:lnTo>
                  <a:pt x="372625" y="42138"/>
                </a:lnTo>
                <a:lnTo>
                  <a:pt x="348000" y="39839"/>
                </a:lnTo>
                <a:lnTo>
                  <a:pt x="322972" y="36969"/>
                </a:lnTo>
                <a:lnTo>
                  <a:pt x="274151" y="32564"/>
                </a:lnTo>
                <a:lnTo>
                  <a:pt x="248904" y="29686"/>
                </a:lnTo>
                <a:lnTo>
                  <a:pt x="224489" y="27387"/>
                </a:lnTo>
                <a:lnTo>
                  <a:pt x="200083" y="24710"/>
                </a:lnTo>
                <a:lnTo>
                  <a:pt x="175046" y="22411"/>
                </a:lnTo>
                <a:lnTo>
                  <a:pt x="101608" y="13986"/>
                </a:lnTo>
                <a:close/>
              </a:path>
            </a:pathLst>
          </a:custGeom>
          <a:solidFill>
            <a:srgbClr val="FFE5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614235" y="2390889"/>
            <a:ext cx="24130" cy="18415"/>
          </a:xfrm>
          <a:custGeom>
            <a:avLst/>
            <a:gdLst/>
            <a:ahLst/>
            <a:cxnLst/>
            <a:rect l="l" t="t" r="r" b="b"/>
            <a:pathLst>
              <a:path w="24129" h="18414">
                <a:moveTo>
                  <a:pt x="621" y="0"/>
                </a:moveTo>
                <a:lnTo>
                  <a:pt x="0" y="7853"/>
                </a:lnTo>
                <a:lnTo>
                  <a:pt x="3125" y="9003"/>
                </a:lnTo>
                <a:lnTo>
                  <a:pt x="5420" y="10723"/>
                </a:lnTo>
                <a:lnTo>
                  <a:pt x="8554" y="12829"/>
                </a:lnTo>
                <a:lnTo>
                  <a:pt x="11051" y="14550"/>
                </a:lnTo>
                <a:lnTo>
                  <a:pt x="14185" y="16278"/>
                </a:lnTo>
                <a:lnTo>
                  <a:pt x="17103" y="17428"/>
                </a:lnTo>
                <a:lnTo>
                  <a:pt x="20237" y="17998"/>
                </a:lnTo>
                <a:lnTo>
                  <a:pt x="23784" y="17998"/>
                </a:lnTo>
                <a:lnTo>
                  <a:pt x="11051" y="5168"/>
                </a:lnTo>
                <a:lnTo>
                  <a:pt x="7302" y="3448"/>
                </a:lnTo>
                <a:lnTo>
                  <a:pt x="3756" y="1720"/>
                </a:lnTo>
                <a:lnTo>
                  <a:pt x="62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605679" y="2495071"/>
            <a:ext cx="43180" cy="21590"/>
          </a:xfrm>
          <a:custGeom>
            <a:avLst/>
            <a:gdLst/>
            <a:ahLst/>
            <a:cxnLst/>
            <a:rect l="l" t="t" r="r" b="b"/>
            <a:pathLst>
              <a:path w="43179" h="21589">
                <a:moveTo>
                  <a:pt x="3756" y="0"/>
                </a:moveTo>
                <a:lnTo>
                  <a:pt x="0" y="4597"/>
                </a:lnTo>
                <a:lnTo>
                  <a:pt x="622" y="6704"/>
                </a:lnTo>
                <a:lnTo>
                  <a:pt x="3126" y="7282"/>
                </a:lnTo>
                <a:lnTo>
                  <a:pt x="5008" y="7853"/>
                </a:lnTo>
                <a:lnTo>
                  <a:pt x="7303" y="7853"/>
                </a:lnTo>
                <a:lnTo>
                  <a:pt x="12312" y="8432"/>
                </a:lnTo>
                <a:lnTo>
                  <a:pt x="21489" y="12837"/>
                </a:lnTo>
                <a:lnTo>
                  <a:pt x="25659" y="15707"/>
                </a:lnTo>
                <a:lnTo>
                  <a:pt x="30045" y="18006"/>
                </a:lnTo>
                <a:lnTo>
                  <a:pt x="34213" y="20112"/>
                </a:lnTo>
                <a:lnTo>
                  <a:pt x="38592" y="21262"/>
                </a:lnTo>
                <a:lnTo>
                  <a:pt x="42769" y="21262"/>
                </a:lnTo>
                <a:lnTo>
                  <a:pt x="14606" y="3448"/>
                </a:lnTo>
                <a:lnTo>
                  <a:pt x="37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172139" y="2688603"/>
            <a:ext cx="502920" cy="0"/>
          </a:xfrm>
          <a:custGeom>
            <a:avLst/>
            <a:gdLst/>
            <a:ahLst/>
            <a:cxnLst/>
            <a:rect l="l" t="t" r="r" b="b"/>
            <a:pathLst>
              <a:path w="502920">
                <a:moveTo>
                  <a:pt x="0" y="0"/>
                </a:moveTo>
                <a:lnTo>
                  <a:pt x="502598" y="0"/>
                </a:lnTo>
              </a:path>
            </a:pathLst>
          </a:custGeom>
          <a:ln w="19726">
            <a:solidFill>
              <a:srgbClr val="C48C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216161" y="1837006"/>
            <a:ext cx="40640" cy="15240"/>
          </a:xfrm>
          <a:custGeom>
            <a:avLst/>
            <a:gdLst/>
            <a:ahLst/>
            <a:cxnLst/>
            <a:rect l="l" t="t" r="r" b="b"/>
            <a:pathLst>
              <a:path w="40640" h="15239">
                <a:moveTo>
                  <a:pt x="0" y="0"/>
                </a:moveTo>
                <a:lnTo>
                  <a:pt x="18985" y="15121"/>
                </a:lnTo>
                <a:lnTo>
                  <a:pt x="40265" y="9566"/>
                </a:lnTo>
                <a:lnTo>
                  <a:pt x="0" y="0"/>
                </a:lnTo>
                <a:close/>
              </a:path>
            </a:pathLst>
          </a:custGeom>
          <a:solidFill>
            <a:srgbClr val="00B2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217825" y="1859997"/>
            <a:ext cx="38735" cy="138430"/>
          </a:xfrm>
          <a:custGeom>
            <a:avLst/>
            <a:gdLst/>
            <a:ahLst/>
            <a:cxnLst/>
            <a:rect l="l" t="t" r="r" b="b"/>
            <a:pathLst>
              <a:path w="38734" h="138430">
                <a:moveTo>
                  <a:pt x="38601" y="0"/>
                </a:moveTo>
                <a:lnTo>
                  <a:pt x="12934" y="3856"/>
                </a:lnTo>
                <a:lnTo>
                  <a:pt x="0" y="132148"/>
                </a:lnTo>
                <a:lnTo>
                  <a:pt x="36097" y="138281"/>
                </a:lnTo>
                <a:lnTo>
                  <a:pt x="38601" y="0"/>
                </a:lnTo>
                <a:close/>
              </a:path>
            </a:pathLst>
          </a:custGeom>
          <a:solidFill>
            <a:srgbClr val="00B2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199049" y="1999999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17111" y="0"/>
                </a:moveTo>
                <a:lnTo>
                  <a:pt x="0" y="13978"/>
                </a:lnTo>
                <a:lnTo>
                  <a:pt x="31710" y="25280"/>
                </a:lnTo>
                <a:lnTo>
                  <a:pt x="50695" y="7853"/>
                </a:lnTo>
                <a:lnTo>
                  <a:pt x="17111" y="0"/>
                </a:lnTo>
                <a:close/>
              </a:path>
            </a:pathLst>
          </a:custGeom>
          <a:solidFill>
            <a:srgbClr val="00B2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194671" y="2073922"/>
            <a:ext cx="67945" cy="304165"/>
          </a:xfrm>
          <a:custGeom>
            <a:avLst/>
            <a:gdLst/>
            <a:ahLst/>
            <a:cxnLst/>
            <a:rect l="l" t="t" r="r" b="b"/>
            <a:pathLst>
              <a:path w="67945" h="304164">
                <a:moveTo>
                  <a:pt x="67806" y="0"/>
                </a:moveTo>
                <a:lnTo>
                  <a:pt x="31918" y="0"/>
                </a:lnTo>
                <a:lnTo>
                  <a:pt x="31918" y="151682"/>
                </a:lnTo>
                <a:lnTo>
                  <a:pt x="0" y="298002"/>
                </a:lnTo>
                <a:lnTo>
                  <a:pt x="10429" y="303557"/>
                </a:lnTo>
                <a:lnTo>
                  <a:pt x="59250" y="159536"/>
                </a:lnTo>
                <a:lnTo>
                  <a:pt x="67806" y="0"/>
                </a:lnTo>
                <a:close/>
              </a:path>
            </a:pathLst>
          </a:custGeom>
          <a:solidFill>
            <a:srgbClr val="00B2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197176" y="2224078"/>
            <a:ext cx="19050" cy="108585"/>
          </a:xfrm>
          <a:custGeom>
            <a:avLst/>
            <a:gdLst/>
            <a:ahLst/>
            <a:cxnLst/>
            <a:rect l="l" t="t" r="r" b="b"/>
            <a:pathLst>
              <a:path w="19050" h="108585">
                <a:moveTo>
                  <a:pt x="18985" y="0"/>
                </a:moveTo>
                <a:lnTo>
                  <a:pt x="1873" y="5553"/>
                </a:lnTo>
                <a:lnTo>
                  <a:pt x="0" y="108586"/>
                </a:lnTo>
                <a:lnTo>
                  <a:pt x="18985" y="0"/>
                </a:lnTo>
                <a:close/>
              </a:path>
            </a:pathLst>
          </a:custGeom>
          <a:solidFill>
            <a:srgbClr val="00B2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194671" y="2036961"/>
            <a:ext cx="64135" cy="27940"/>
          </a:xfrm>
          <a:custGeom>
            <a:avLst/>
            <a:gdLst/>
            <a:ahLst/>
            <a:cxnLst/>
            <a:rect l="l" t="t" r="r" b="b"/>
            <a:pathLst>
              <a:path w="64134" h="27939">
                <a:moveTo>
                  <a:pt x="27541" y="0"/>
                </a:moveTo>
                <a:lnTo>
                  <a:pt x="0" y="3834"/>
                </a:lnTo>
                <a:lnTo>
                  <a:pt x="25657" y="25280"/>
                </a:lnTo>
                <a:lnTo>
                  <a:pt x="63629" y="27387"/>
                </a:lnTo>
                <a:lnTo>
                  <a:pt x="27541" y="0"/>
                </a:lnTo>
                <a:close/>
              </a:path>
            </a:pathLst>
          </a:custGeom>
          <a:solidFill>
            <a:srgbClr val="00B2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960998" y="2693869"/>
            <a:ext cx="605790" cy="29209"/>
          </a:xfrm>
          <a:custGeom>
            <a:avLst/>
            <a:gdLst/>
            <a:ahLst/>
            <a:cxnLst/>
            <a:rect l="l" t="t" r="r" b="b"/>
            <a:pathLst>
              <a:path w="605790" h="29210">
                <a:moveTo>
                  <a:pt x="167530" y="0"/>
                </a:moveTo>
                <a:lnTo>
                  <a:pt x="0" y="17428"/>
                </a:lnTo>
                <a:lnTo>
                  <a:pt x="494880" y="29110"/>
                </a:lnTo>
                <a:lnTo>
                  <a:pt x="605457" y="11874"/>
                </a:lnTo>
                <a:lnTo>
                  <a:pt x="227622" y="7852"/>
                </a:lnTo>
                <a:lnTo>
                  <a:pt x="167530" y="0"/>
                </a:lnTo>
                <a:close/>
              </a:path>
            </a:pathLst>
          </a:custGeom>
          <a:solidFill>
            <a:srgbClr val="C48C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024880" y="5204000"/>
            <a:ext cx="160969" cy="1636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1256368" y="5164637"/>
            <a:ext cx="4697730" cy="680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3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上面的轮换法类似于什么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?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值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日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更好的方法应该是立即去买，</a:t>
            </a: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留一个便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条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024880" y="5625924"/>
            <a:ext cx="160969" cy="1636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61" name="object 6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4"/>
          <p:cNvSpPr txBox="1"/>
          <p:nvPr/>
        </p:nvSpPr>
        <p:spPr>
          <a:xfrm>
            <a:off x="5131033" y="6297893"/>
            <a:ext cx="431165" cy="360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0"/>
              </a:lnSpc>
            </a:pPr>
            <a:r>
              <a:rPr sz="1350" b="1" spc="20" dirty="0">
                <a:latin typeface="Arial" panose="020B0604020202020204"/>
                <a:cs typeface="Arial" panose="020B0604020202020204"/>
              </a:rPr>
              <a:t>-</a:t>
            </a:r>
            <a:r>
              <a:rPr sz="2925" b="1" spc="-2392" baseline="20000" dirty="0">
                <a:latin typeface="宋体" panose="02010600030101010101" pitchFamily="2" charset="-122"/>
                <a:cs typeface="宋体" panose="02010600030101010101" pitchFamily="2" charset="-122"/>
              </a:rPr>
              <a:t>进</a:t>
            </a:r>
            <a:r>
              <a:rPr sz="1350" b="1" dirty="0">
                <a:latin typeface="Arial" panose="020B0604020202020204"/>
                <a:cs typeface="Arial" panose="020B0604020202020204"/>
              </a:rPr>
              <a:t>1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0</a:t>
            </a:r>
            <a:r>
              <a:rPr sz="1350" b="1" spc="-215" dirty="0">
                <a:latin typeface="Arial" panose="020B0604020202020204"/>
                <a:cs typeface="Arial" panose="020B0604020202020204"/>
              </a:rPr>
              <a:t> </a:t>
            </a:r>
            <a:r>
              <a:rPr sz="2925" b="1" spc="-2610" baseline="20000" dirty="0">
                <a:latin typeface="宋体" panose="02010600030101010101" pitchFamily="2" charset="-122"/>
                <a:cs typeface="宋体" panose="02010600030101010101" pitchFamily="2" charset="-122"/>
              </a:rPr>
              <a:t>程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-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7614" y="6456355"/>
            <a:ext cx="1427480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b="1" spc="10" dirty="0">
                <a:latin typeface="Times New Roman" panose="02020603050405020304"/>
                <a:cs typeface="Times New Roman" panose="02020603050405020304"/>
              </a:rPr>
              <a:t>O</a:t>
            </a:r>
            <a:r>
              <a:rPr sz="1350" b="1" dirty="0">
                <a:latin typeface="Times New Roman" panose="02020603050405020304"/>
                <a:cs typeface="Times New Roman" panose="02020603050405020304"/>
              </a:rPr>
              <a:t>p</a:t>
            </a:r>
            <a:r>
              <a:rPr sz="1350" b="1" spc="5" dirty="0">
                <a:latin typeface="Times New Roman" panose="02020603050405020304"/>
                <a:cs typeface="Times New Roman" panose="02020603050405020304"/>
              </a:rPr>
              <a:t>er</a:t>
            </a:r>
            <a:r>
              <a:rPr sz="1350" b="1" dirty="0"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350" b="1" spc="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350" b="1" dirty="0"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350" b="1" dirty="0"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350" b="1" spc="5" dirty="0">
                <a:latin typeface="Times New Roman" panose="02020603050405020304"/>
                <a:cs typeface="Times New Roman" panose="02020603050405020304"/>
              </a:rPr>
              <a:t>g</a:t>
            </a:r>
            <a:r>
              <a:rPr sz="1350" b="1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350" b="1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350" b="1" dirty="0">
                <a:latin typeface="Times New Roman" panose="02020603050405020304"/>
                <a:cs typeface="Times New Roman" panose="02020603050405020304"/>
              </a:rPr>
              <a:t>y</a:t>
            </a:r>
            <a:r>
              <a:rPr sz="1350" b="1" spc="5" dirty="0"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350" b="1" spc="5" dirty="0">
                <a:latin typeface="Times New Roman" panose="02020603050405020304"/>
                <a:cs typeface="Times New Roman" panose="02020603050405020304"/>
              </a:rPr>
              <a:t>t</a:t>
            </a:r>
            <a:r>
              <a:rPr sz="1350" b="1" spc="5" dirty="0"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350" b="1" spc="10" dirty="0">
                <a:latin typeface="Times New Roman" panose="02020603050405020304"/>
                <a:cs typeface="Times New Roman" panose="02020603050405020304"/>
              </a:rPr>
              <a:t>ms</a:t>
            </a:r>
            <a:endParaRPr sz="13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0">
              <a:lnSpc>
                <a:spcPct val="100000"/>
              </a:lnSpc>
            </a:pPr>
            <a:r>
              <a:rPr spc="100" dirty="0"/>
              <a:t>进入临界区的又一个尝试</a:t>
            </a:r>
            <a:r>
              <a:rPr spc="-635" dirty="0"/>
              <a:t> </a:t>
            </a:r>
            <a:r>
              <a:rPr spc="60" dirty="0">
                <a:latin typeface="Symbol" panose="05050102010706020507"/>
                <a:cs typeface="Symbol" panose="05050102010706020507"/>
              </a:rPr>
              <a:t></a:t>
            </a:r>
            <a:r>
              <a:rPr spc="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100" dirty="0"/>
              <a:t>标记法</a:t>
            </a:r>
            <a:endParaRPr spc="100" dirty="0"/>
          </a:p>
        </p:txBody>
      </p:sp>
      <p:sp>
        <p:nvSpPr>
          <p:cNvPr id="32" name="object 32"/>
          <p:cNvSpPr txBox="1"/>
          <p:nvPr/>
        </p:nvSpPr>
        <p:spPr>
          <a:xfrm>
            <a:off x="2269388" y="6297893"/>
            <a:ext cx="814705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进程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25" b="1" spc="7" baseline="-19000" dirty="0">
                <a:latin typeface="Arial" panose="020B0604020202020204"/>
                <a:cs typeface="Arial" panose="020B0604020202020204"/>
              </a:rPr>
              <a:t>0</a:t>
            </a:r>
            <a:endParaRPr sz="2025" baseline="-19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710471" y="6308051"/>
            <a:ext cx="295275" cy="327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25" b="1" spc="7" baseline="-19000" dirty="0">
                <a:latin typeface="Arial" panose="020B0604020202020204"/>
                <a:cs typeface="Arial" panose="020B0604020202020204"/>
              </a:rPr>
              <a:t>1</a:t>
            </a:r>
            <a:endParaRPr sz="2025" baseline="-19000">
              <a:latin typeface="Arial" panose="020B0604020202020204"/>
              <a:cs typeface="Arial" panose="020B0604020202020204"/>
            </a:endParaRPr>
          </a:p>
        </p:txBody>
      </p:sp>
      <p:pic>
        <p:nvPicPr>
          <p:cNvPr id="45" name="图片 4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50900" y="1949450"/>
            <a:ext cx="7368540" cy="4312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0">
              <a:lnSpc>
                <a:spcPct val="100000"/>
              </a:lnSpc>
            </a:pPr>
            <a:r>
              <a:rPr sz="2950" spc="100" dirty="0"/>
              <a:t>标记法能否解决问题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?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96473" y="2603500"/>
            <a:ext cx="2467610" cy="2207260"/>
          </a:xfrm>
          <a:custGeom>
            <a:avLst/>
            <a:gdLst/>
            <a:ahLst/>
            <a:cxnLst/>
            <a:rect l="l" t="t" r="r" b="b"/>
            <a:pathLst>
              <a:path w="2467610" h="2207260">
                <a:moveTo>
                  <a:pt x="0" y="0"/>
                </a:moveTo>
                <a:lnTo>
                  <a:pt x="2467292" y="0"/>
                </a:lnTo>
                <a:lnTo>
                  <a:pt x="2467292" y="2206977"/>
                </a:lnTo>
                <a:lnTo>
                  <a:pt x="0" y="2206977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26331" y="2713037"/>
            <a:ext cx="2207895" cy="864235"/>
          </a:xfrm>
          <a:custGeom>
            <a:avLst/>
            <a:gdLst/>
            <a:ahLst/>
            <a:cxnLst/>
            <a:rect l="l" t="t" r="r" b="b"/>
            <a:pathLst>
              <a:path w="2207895" h="864235">
                <a:moveTo>
                  <a:pt x="0" y="0"/>
                </a:moveTo>
                <a:lnTo>
                  <a:pt x="2207577" y="0"/>
                </a:lnTo>
                <a:lnTo>
                  <a:pt x="2207577" y="864129"/>
                </a:lnTo>
                <a:lnTo>
                  <a:pt x="0" y="864129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232185" y="2634934"/>
            <a:ext cx="1854200" cy="749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3000"/>
              </a:lnSpc>
            </a:pP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f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[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]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;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3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h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il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(f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[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])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;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68065" y="3677818"/>
            <a:ext cx="80327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临界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区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26331" y="4088341"/>
            <a:ext cx="2207895" cy="398145"/>
          </a:xfrm>
          <a:prstGeom prst="rect">
            <a:avLst/>
          </a:prstGeom>
          <a:ln w="8113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>
              <a:lnSpc>
                <a:spcPct val="100000"/>
              </a:lnSpc>
            </a:pP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f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[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]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f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se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;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68065" y="4480875"/>
            <a:ext cx="80327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剩余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区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32483" y="2603500"/>
            <a:ext cx="2467610" cy="2207260"/>
          </a:xfrm>
          <a:custGeom>
            <a:avLst/>
            <a:gdLst/>
            <a:ahLst/>
            <a:cxnLst/>
            <a:rect l="l" t="t" r="r" b="b"/>
            <a:pathLst>
              <a:path w="2467609" h="2207260">
                <a:moveTo>
                  <a:pt x="0" y="0"/>
                </a:moveTo>
                <a:lnTo>
                  <a:pt x="2467292" y="0"/>
                </a:lnTo>
                <a:lnTo>
                  <a:pt x="2467292" y="2206977"/>
                </a:lnTo>
                <a:lnTo>
                  <a:pt x="0" y="2206977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762341" y="2713037"/>
            <a:ext cx="2207895" cy="864235"/>
          </a:xfrm>
          <a:custGeom>
            <a:avLst/>
            <a:gdLst/>
            <a:ahLst/>
            <a:cxnLst/>
            <a:rect l="l" t="t" r="r" b="b"/>
            <a:pathLst>
              <a:path w="2207895" h="864235">
                <a:moveTo>
                  <a:pt x="0" y="0"/>
                </a:moveTo>
                <a:lnTo>
                  <a:pt x="2207577" y="0"/>
                </a:lnTo>
                <a:lnTo>
                  <a:pt x="2207577" y="864129"/>
                </a:lnTo>
                <a:lnTo>
                  <a:pt x="0" y="864129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321297" y="4935130"/>
            <a:ext cx="2120265" cy="1212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indent="493395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进程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25" b="1" spc="7" baseline="-19000" dirty="0">
                <a:latin typeface="Arial" panose="020B0604020202020204"/>
                <a:cs typeface="Arial" panose="020B0604020202020204"/>
              </a:rPr>
              <a:t>0</a:t>
            </a:r>
            <a:endParaRPr sz="2025" baseline="-190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25000"/>
              </a:lnSpc>
              <a:spcBef>
                <a:spcPts val="1415"/>
              </a:spcBef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此时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25" b="1" baseline="-19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025" b="1" baseline="-1900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的进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入</a:t>
            </a:r>
            <a:r>
              <a:rPr sz="2925" b="1" spc="5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请求会无限等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待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98345" y="2676209"/>
            <a:ext cx="1854200" cy="749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3000"/>
              </a:lnSpc>
            </a:pP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f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[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]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;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3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h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il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(f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[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])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;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04075" y="3677818"/>
            <a:ext cx="80327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临界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区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762341" y="4088341"/>
            <a:ext cx="2207895" cy="398145"/>
          </a:xfrm>
          <a:custGeom>
            <a:avLst/>
            <a:gdLst/>
            <a:ahLst/>
            <a:cxnLst/>
            <a:rect l="l" t="t" r="r" b="b"/>
            <a:pathLst>
              <a:path w="2207895" h="398145">
                <a:moveTo>
                  <a:pt x="0" y="0"/>
                </a:moveTo>
                <a:lnTo>
                  <a:pt x="2207577" y="0"/>
                </a:lnTo>
                <a:lnTo>
                  <a:pt x="2207577" y="397580"/>
                </a:lnTo>
                <a:lnTo>
                  <a:pt x="0" y="397580"/>
                </a:lnTo>
                <a:lnTo>
                  <a:pt x="0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4827555" y="4158454"/>
            <a:ext cx="177673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f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[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]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f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se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;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04075" y="4480875"/>
            <a:ext cx="80327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剩余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区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50897" y="4935130"/>
            <a:ext cx="814705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进程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25" b="1" spc="7" baseline="-19000" dirty="0">
                <a:latin typeface="Arial" panose="020B0604020202020204"/>
                <a:cs typeface="Arial" panose="020B0604020202020204"/>
              </a:rPr>
              <a:t>1</a:t>
            </a:r>
            <a:endParaRPr sz="2025" baseline="-19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37044" y="1989050"/>
            <a:ext cx="3046095" cy="344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考虑下面的执行顺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序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139122" y="2733321"/>
            <a:ext cx="65405" cy="325120"/>
          </a:xfrm>
          <a:custGeom>
            <a:avLst/>
            <a:gdLst/>
            <a:ahLst/>
            <a:cxnLst/>
            <a:rect l="l" t="t" r="r" b="b"/>
            <a:pathLst>
              <a:path w="65405" h="325119">
                <a:moveTo>
                  <a:pt x="64928" y="243417"/>
                </a:moveTo>
                <a:lnTo>
                  <a:pt x="0" y="243417"/>
                </a:lnTo>
                <a:lnTo>
                  <a:pt x="32465" y="324556"/>
                </a:lnTo>
                <a:lnTo>
                  <a:pt x="64928" y="243417"/>
                </a:lnTo>
                <a:close/>
              </a:path>
              <a:path w="65405" h="325119">
                <a:moveTo>
                  <a:pt x="48696" y="0"/>
                </a:moveTo>
                <a:lnTo>
                  <a:pt x="16231" y="0"/>
                </a:lnTo>
                <a:lnTo>
                  <a:pt x="16231" y="243417"/>
                </a:lnTo>
                <a:lnTo>
                  <a:pt x="48696" y="243417"/>
                </a:lnTo>
                <a:lnTo>
                  <a:pt x="486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139122" y="2733321"/>
            <a:ext cx="65405" cy="325120"/>
          </a:xfrm>
          <a:custGeom>
            <a:avLst/>
            <a:gdLst/>
            <a:ahLst/>
            <a:cxnLst/>
            <a:rect l="l" t="t" r="r" b="b"/>
            <a:pathLst>
              <a:path w="65405" h="325119">
                <a:moveTo>
                  <a:pt x="0" y="243416"/>
                </a:moveTo>
                <a:lnTo>
                  <a:pt x="16232" y="243416"/>
                </a:lnTo>
                <a:lnTo>
                  <a:pt x="16232" y="0"/>
                </a:lnTo>
                <a:lnTo>
                  <a:pt x="48696" y="0"/>
                </a:lnTo>
                <a:lnTo>
                  <a:pt x="48696" y="243416"/>
                </a:lnTo>
                <a:lnTo>
                  <a:pt x="64928" y="243416"/>
                </a:lnTo>
                <a:lnTo>
                  <a:pt x="32464" y="324555"/>
                </a:lnTo>
                <a:lnTo>
                  <a:pt x="0" y="243416"/>
                </a:lnTo>
                <a:close/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204051" y="2668411"/>
            <a:ext cx="649605" cy="389890"/>
          </a:xfrm>
          <a:custGeom>
            <a:avLst/>
            <a:gdLst/>
            <a:ahLst/>
            <a:cxnLst/>
            <a:rect l="l" t="t" r="r" b="b"/>
            <a:pathLst>
              <a:path w="649604" h="389889">
                <a:moveTo>
                  <a:pt x="0" y="389466"/>
                </a:moveTo>
                <a:lnTo>
                  <a:pt x="649287" y="389466"/>
                </a:lnTo>
                <a:lnTo>
                  <a:pt x="649287" y="0"/>
                </a:lnTo>
                <a:lnTo>
                  <a:pt x="0" y="0"/>
                </a:lnTo>
                <a:lnTo>
                  <a:pt x="0" y="3894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269265" y="2738909"/>
            <a:ext cx="34290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1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775132" y="2733321"/>
            <a:ext cx="65405" cy="325120"/>
          </a:xfrm>
          <a:custGeom>
            <a:avLst/>
            <a:gdLst/>
            <a:ahLst/>
            <a:cxnLst/>
            <a:rect l="l" t="t" r="r" b="b"/>
            <a:pathLst>
              <a:path w="65404" h="325119">
                <a:moveTo>
                  <a:pt x="64928" y="243417"/>
                </a:moveTo>
                <a:lnTo>
                  <a:pt x="0" y="243417"/>
                </a:lnTo>
                <a:lnTo>
                  <a:pt x="32465" y="324556"/>
                </a:lnTo>
                <a:lnTo>
                  <a:pt x="64928" y="243417"/>
                </a:lnTo>
                <a:close/>
              </a:path>
              <a:path w="65404" h="325119">
                <a:moveTo>
                  <a:pt x="48696" y="0"/>
                </a:moveTo>
                <a:lnTo>
                  <a:pt x="16231" y="0"/>
                </a:lnTo>
                <a:lnTo>
                  <a:pt x="16231" y="243417"/>
                </a:lnTo>
                <a:lnTo>
                  <a:pt x="48696" y="243417"/>
                </a:lnTo>
                <a:lnTo>
                  <a:pt x="486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775132" y="2733321"/>
            <a:ext cx="65405" cy="325120"/>
          </a:xfrm>
          <a:custGeom>
            <a:avLst/>
            <a:gdLst/>
            <a:ahLst/>
            <a:cxnLst/>
            <a:rect l="l" t="t" r="r" b="b"/>
            <a:pathLst>
              <a:path w="65404" h="325119">
                <a:moveTo>
                  <a:pt x="0" y="243416"/>
                </a:moveTo>
                <a:lnTo>
                  <a:pt x="16232" y="243416"/>
                </a:lnTo>
                <a:lnTo>
                  <a:pt x="16232" y="0"/>
                </a:lnTo>
                <a:lnTo>
                  <a:pt x="48696" y="0"/>
                </a:lnTo>
                <a:lnTo>
                  <a:pt x="48696" y="243416"/>
                </a:lnTo>
                <a:lnTo>
                  <a:pt x="64928" y="243416"/>
                </a:lnTo>
                <a:lnTo>
                  <a:pt x="32464" y="324555"/>
                </a:lnTo>
                <a:lnTo>
                  <a:pt x="0" y="243416"/>
                </a:lnTo>
                <a:close/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840061" y="2668411"/>
            <a:ext cx="649605" cy="389890"/>
          </a:xfrm>
          <a:custGeom>
            <a:avLst/>
            <a:gdLst/>
            <a:ahLst/>
            <a:cxnLst/>
            <a:rect l="l" t="t" r="r" b="b"/>
            <a:pathLst>
              <a:path w="649604" h="389889">
                <a:moveTo>
                  <a:pt x="0" y="389466"/>
                </a:moveTo>
                <a:lnTo>
                  <a:pt x="649287" y="389466"/>
                </a:lnTo>
                <a:lnTo>
                  <a:pt x="649287" y="0"/>
                </a:lnTo>
                <a:lnTo>
                  <a:pt x="0" y="0"/>
                </a:lnTo>
                <a:lnTo>
                  <a:pt x="0" y="3894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905275" y="2738909"/>
            <a:ext cx="34290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2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139122" y="3252611"/>
            <a:ext cx="65405" cy="325120"/>
          </a:xfrm>
          <a:custGeom>
            <a:avLst/>
            <a:gdLst/>
            <a:ahLst/>
            <a:cxnLst/>
            <a:rect l="l" t="t" r="r" b="b"/>
            <a:pathLst>
              <a:path w="65405" h="325120">
                <a:moveTo>
                  <a:pt x="64928" y="243417"/>
                </a:moveTo>
                <a:lnTo>
                  <a:pt x="0" y="243417"/>
                </a:lnTo>
                <a:lnTo>
                  <a:pt x="32465" y="324556"/>
                </a:lnTo>
                <a:lnTo>
                  <a:pt x="64928" y="243417"/>
                </a:lnTo>
                <a:close/>
              </a:path>
              <a:path w="65405" h="325120">
                <a:moveTo>
                  <a:pt x="48696" y="0"/>
                </a:moveTo>
                <a:lnTo>
                  <a:pt x="16231" y="0"/>
                </a:lnTo>
                <a:lnTo>
                  <a:pt x="16231" y="243417"/>
                </a:lnTo>
                <a:lnTo>
                  <a:pt x="48696" y="243417"/>
                </a:lnTo>
                <a:lnTo>
                  <a:pt x="486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139122" y="3252611"/>
            <a:ext cx="65405" cy="325120"/>
          </a:xfrm>
          <a:custGeom>
            <a:avLst/>
            <a:gdLst/>
            <a:ahLst/>
            <a:cxnLst/>
            <a:rect l="l" t="t" r="r" b="b"/>
            <a:pathLst>
              <a:path w="65405" h="325120">
                <a:moveTo>
                  <a:pt x="0" y="243416"/>
                </a:moveTo>
                <a:lnTo>
                  <a:pt x="16232" y="243416"/>
                </a:lnTo>
                <a:lnTo>
                  <a:pt x="16232" y="0"/>
                </a:lnTo>
                <a:lnTo>
                  <a:pt x="48696" y="0"/>
                </a:lnTo>
                <a:lnTo>
                  <a:pt x="48696" y="243416"/>
                </a:lnTo>
                <a:lnTo>
                  <a:pt x="64928" y="243416"/>
                </a:lnTo>
                <a:lnTo>
                  <a:pt x="32464" y="324555"/>
                </a:lnTo>
                <a:lnTo>
                  <a:pt x="0" y="243416"/>
                </a:lnTo>
                <a:close/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204051" y="3187700"/>
            <a:ext cx="649605" cy="389890"/>
          </a:xfrm>
          <a:custGeom>
            <a:avLst/>
            <a:gdLst/>
            <a:ahLst/>
            <a:cxnLst/>
            <a:rect l="l" t="t" r="r" b="b"/>
            <a:pathLst>
              <a:path w="649604" h="389889">
                <a:moveTo>
                  <a:pt x="0" y="389466"/>
                </a:moveTo>
                <a:lnTo>
                  <a:pt x="649287" y="389466"/>
                </a:lnTo>
                <a:lnTo>
                  <a:pt x="649287" y="0"/>
                </a:lnTo>
                <a:lnTo>
                  <a:pt x="0" y="0"/>
                </a:lnTo>
                <a:lnTo>
                  <a:pt x="0" y="3894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3269265" y="3258057"/>
            <a:ext cx="34290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3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775132" y="3252611"/>
            <a:ext cx="65405" cy="325120"/>
          </a:xfrm>
          <a:custGeom>
            <a:avLst/>
            <a:gdLst/>
            <a:ahLst/>
            <a:cxnLst/>
            <a:rect l="l" t="t" r="r" b="b"/>
            <a:pathLst>
              <a:path w="65404" h="325120">
                <a:moveTo>
                  <a:pt x="64928" y="243417"/>
                </a:moveTo>
                <a:lnTo>
                  <a:pt x="0" y="243417"/>
                </a:lnTo>
                <a:lnTo>
                  <a:pt x="32465" y="324556"/>
                </a:lnTo>
                <a:lnTo>
                  <a:pt x="64928" y="243417"/>
                </a:lnTo>
                <a:close/>
              </a:path>
              <a:path w="65404" h="325120">
                <a:moveTo>
                  <a:pt x="48696" y="0"/>
                </a:moveTo>
                <a:lnTo>
                  <a:pt x="16231" y="0"/>
                </a:lnTo>
                <a:lnTo>
                  <a:pt x="16231" y="243417"/>
                </a:lnTo>
                <a:lnTo>
                  <a:pt x="48696" y="243417"/>
                </a:lnTo>
                <a:lnTo>
                  <a:pt x="486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775132" y="3252611"/>
            <a:ext cx="65405" cy="325120"/>
          </a:xfrm>
          <a:custGeom>
            <a:avLst/>
            <a:gdLst/>
            <a:ahLst/>
            <a:cxnLst/>
            <a:rect l="l" t="t" r="r" b="b"/>
            <a:pathLst>
              <a:path w="65404" h="325120">
                <a:moveTo>
                  <a:pt x="0" y="243416"/>
                </a:moveTo>
                <a:lnTo>
                  <a:pt x="16232" y="243416"/>
                </a:lnTo>
                <a:lnTo>
                  <a:pt x="16232" y="0"/>
                </a:lnTo>
                <a:lnTo>
                  <a:pt x="48696" y="0"/>
                </a:lnTo>
                <a:lnTo>
                  <a:pt x="48696" y="243416"/>
                </a:lnTo>
                <a:lnTo>
                  <a:pt x="64928" y="243416"/>
                </a:lnTo>
                <a:lnTo>
                  <a:pt x="32464" y="324555"/>
                </a:lnTo>
                <a:lnTo>
                  <a:pt x="0" y="243416"/>
                </a:lnTo>
                <a:close/>
              </a:path>
            </a:pathLst>
          </a:custGeom>
          <a:ln w="811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840061" y="3187700"/>
            <a:ext cx="649605" cy="389890"/>
          </a:xfrm>
          <a:custGeom>
            <a:avLst/>
            <a:gdLst/>
            <a:ahLst/>
            <a:cxnLst/>
            <a:rect l="l" t="t" r="r" b="b"/>
            <a:pathLst>
              <a:path w="649604" h="389889">
                <a:moveTo>
                  <a:pt x="0" y="389466"/>
                </a:moveTo>
                <a:lnTo>
                  <a:pt x="649287" y="389466"/>
                </a:lnTo>
                <a:lnTo>
                  <a:pt x="649287" y="0"/>
                </a:lnTo>
                <a:lnTo>
                  <a:pt x="0" y="0"/>
                </a:lnTo>
                <a:lnTo>
                  <a:pt x="0" y="38946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6905275" y="3258057"/>
            <a:ext cx="34290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4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333908" y="3577166"/>
            <a:ext cx="1464310" cy="1659255"/>
          </a:xfrm>
          <a:custGeom>
            <a:avLst/>
            <a:gdLst/>
            <a:ahLst/>
            <a:cxnLst/>
            <a:rect l="l" t="t" r="r" b="b"/>
            <a:pathLst>
              <a:path w="1464310" h="1659254">
                <a:moveTo>
                  <a:pt x="71550" y="62861"/>
                </a:moveTo>
                <a:lnTo>
                  <a:pt x="39115" y="62861"/>
                </a:lnTo>
                <a:lnTo>
                  <a:pt x="1396789" y="1605252"/>
                </a:lnTo>
                <a:lnTo>
                  <a:pt x="1392983" y="1614030"/>
                </a:lnTo>
                <a:lnTo>
                  <a:pt x="1413738" y="1656214"/>
                </a:lnTo>
                <a:lnTo>
                  <a:pt x="1430155" y="1659247"/>
                </a:lnTo>
                <a:lnTo>
                  <a:pt x="1442122" y="1656538"/>
                </a:lnTo>
                <a:lnTo>
                  <a:pt x="1453605" y="1649232"/>
                </a:lnTo>
                <a:lnTo>
                  <a:pt x="1460482" y="1640186"/>
                </a:lnTo>
                <a:lnTo>
                  <a:pt x="1463973" y="1629598"/>
                </a:lnTo>
                <a:lnTo>
                  <a:pt x="1463848" y="1618083"/>
                </a:lnTo>
                <a:lnTo>
                  <a:pt x="1459876" y="1606256"/>
                </a:lnTo>
                <a:lnTo>
                  <a:pt x="1451827" y="1594732"/>
                </a:lnTo>
                <a:lnTo>
                  <a:pt x="1442190" y="1589171"/>
                </a:lnTo>
                <a:lnTo>
                  <a:pt x="1415068" y="1589171"/>
                </a:lnTo>
                <a:lnTo>
                  <a:pt x="71550" y="62861"/>
                </a:lnTo>
                <a:close/>
              </a:path>
              <a:path w="1464310" h="1659254">
                <a:moveTo>
                  <a:pt x="1428994" y="1586269"/>
                </a:moveTo>
                <a:lnTo>
                  <a:pt x="1416872" y="1588132"/>
                </a:lnTo>
                <a:lnTo>
                  <a:pt x="1415068" y="1589171"/>
                </a:lnTo>
                <a:lnTo>
                  <a:pt x="1442190" y="1589171"/>
                </a:lnTo>
                <a:lnTo>
                  <a:pt x="1441015" y="1588492"/>
                </a:lnTo>
                <a:lnTo>
                  <a:pt x="1428994" y="1586269"/>
                </a:lnTo>
                <a:close/>
              </a:path>
              <a:path w="1464310" h="1659254">
                <a:moveTo>
                  <a:pt x="0" y="0"/>
                </a:moveTo>
                <a:lnTo>
                  <a:pt x="20838" y="78941"/>
                </a:lnTo>
                <a:lnTo>
                  <a:pt x="39115" y="62861"/>
                </a:lnTo>
                <a:lnTo>
                  <a:pt x="71550" y="62861"/>
                </a:lnTo>
                <a:lnTo>
                  <a:pt x="57395" y="46780"/>
                </a:lnTo>
                <a:lnTo>
                  <a:pt x="75672" y="30699"/>
                </a:lnTo>
                <a:lnTo>
                  <a:pt x="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3918267" y="5309482"/>
            <a:ext cx="1883410" cy="864235"/>
          </a:xfrm>
          <a:prstGeom prst="rect">
            <a:avLst/>
          </a:prstGeom>
          <a:ln w="8114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4305" marR="149225">
              <a:lnSpc>
                <a:spcPct val="153000"/>
              </a:lnSpc>
            </a:pPr>
            <a:r>
              <a:rPr sz="2000" b="1" spc="10" dirty="0">
                <a:latin typeface="Arial" panose="020B0604020202020204"/>
                <a:cs typeface="Arial" panose="020B0604020202020204"/>
              </a:rPr>
              <a:t>f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g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[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0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]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=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u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e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f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g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[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1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]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=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t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u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e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726165" y="3577166"/>
            <a:ext cx="2244090" cy="1659255"/>
          </a:xfrm>
          <a:custGeom>
            <a:avLst/>
            <a:gdLst/>
            <a:ahLst/>
            <a:cxnLst/>
            <a:rect l="l" t="t" r="r" b="b"/>
            <a:pathLst>
              <a:path w="2244090" h="1659254">
                <a:moveTo>
                  <a:pt x="31195" y="1586599"/>
                </a:moveTo>
                <a:lnTo>
                  <a:pt x="19296" y="1590392"/>
                </a:lnTo>
                <a:lnTo>
                  <a:pt x="8993" y="1599910"/>
                </a:lnTo>
                <a:lnTo>
                  <a:pt x="2592" y="1610592"/>
                </a:lnTo>
                <a:lnTo>
                  <a:pt x="0" y="1621791"/>
                </a:lnTo>
                <a:lnTo>
                  <a:pt x="1122" y="1632860"/>
                </a:lnTo>
                <a:lnTo>
                  <a:pt x="5868" y="1643154"/>
                </a:lnTo>
                <a:lnTo>
                  <a:pt x="15696" y="1652901"/>
                </a:lnTo>
                <a:lnTo>
                  <a:pt x="26960" y="1658107"/>
                </a:lnTo>
                <a:lnTo>
                  <a:pt x="30668" y="1658872"/>
                </a:lnTo>
                <a:lnTo>
                  <a:pt x="43036" y="1658648"/>
                </a:lnTo>
                <a:lnTo>
                  <a:pt x="54902" y="1654127"/>
                </a:lnTo>
                <a:lnTo>
                  <a:pt x="65103" y="1644303"/>
                </a:lnTo>
                <a:lnTo>
                  <a:pt x="70950" y="1633254"/>
                </a:lnTo>
                <a:lnTo>
                  <a:pt x="72667" y="1621661"/>
                </a:lnTo>
                <a:lnTo>
                  <a:pt x="70831" y="1612408"/>
                </a:lnTo>
                <a:lnTo>
                  <a:pt x="97508" y="1592798"/>
                </a:lnTo>
                <a:lnTo>
                  <a:pt x="56407" y="1592798"/>
                </a:lnTo>
                <a:lnTo>
                  <a:pt x="54866" y="1591397"/>
                </a:lnTo>
                <a:lnTo>
                  <a:pt x="43417" y="1586989"/>
                </a:lnTo>
                <a:lnTo>
                  <a:pt x="31195" y="1586599"/>
                </a:lnTo>
                <a:close/>
              </a:path>
              <a:path w="2244090" h="1659254">
                <a:moveTo>
                  <a:pt x="2243752" y="0"/>
                </a:moveTo>
                <a:lnTo>
                  <a:pt x="2163269" y="13843"/>
                </a:lnTo>
                <a:lnTo>
                  <a:pt x="2177692" y="33453"/>
                </a:lnTo>
                <a:lnTo>
                  <a:pt x="56407" y="1592798"/>
                </a:lnTo>
                <a:lnTo>
                  <a:pt x="97508" y="1592798"/>
                </a:lnTo>
                <a:lnTo>
                  <a:pt x="2192115" y="53064"/>
                </a:lnTo>
                <a:lnTo>
                  <a:pt x="2216582" y="53064"/>
                </a:lnTo>
                <a:lnTo>
                  <a:pt x="2243752" y="0"/>
                </a:lnTo>
                <a:close/>
              </a:path>
              <a:path w="2244090" h="1659254">
                <a:moveTo>
                  <a:pt x="2216582" y="53064"/>
                </a:moveTo>
                <a:lnTo>
                  <a:pt x="2192115" y="53064"/>
                </a:lnTo>
                <a:lnTo>
                  <a:pt x="2206540" y="72675"/>
                </a:lnTo>
                <a:lnTo>
                  <a:pt x="2216582" y="530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089809" y="5573183"/>
            <a:ext cx="160969" cy="16362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0" dirty="0"/>
              <a:t>进入临界区的再一次尝试</a:t>
            </a:r>
            <a:r>
              <a:rPr spc="-635" dirty="0"/>
              <a:t> </a:t>
            </a:r>
            <a:r>
              <a:rPr spc="60" dirty="0">
                <a:latin typeface="Symbol" panose="05050102010706020507"/>
                <a:cs typeface="Symbol" panose="05050102010706020507"/>
              </a:rPr>
              <a:t></a:t>
            </a:r>
            <a:r>
              <a:rPr spc="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pc="100" dirty="0"/>
              <a:t>非对称标记</a:t>
            </a:r>
            <a:endParaRPr spc="100" dirty="0"/>
          </a:p>
        </p:txBody>
      </p:sp>
      <p:sp>
        <p:nvSpPr>
          <p:cNvPr id="3" name="object 3"/>
          <p:cNvSpPr/>
          <p:nvPr/>
        </p:nvSpPr>
        <p:spPr>
          <a:xfrm>
            <a:off x="6373385" y="1824567"/>
            <a:ext cx="915035" cy="1216025"/>
          </a:xfrm>
          <a:custGeom>
            <a:avLst/>
            <a:gdLst/>
            <a:ahLst/>
            <a:cxnLst/>
            <a:rect l="l" t="t" r="r" b="b"/>
            <a:pathLst>
              <a:path w="915034" h="1216025">
                <a:moveTo>
                  <a:pt x="713879" y="1203624"/>
                </a:moveTo>
                <a:lnTo>
                  <a:pt x="31532" y="1203624"/>
                </a:lnTo>
                <a:lnTo>
                  <a:pt x="36664" y="1204297"/>
                </a:lnTo>
                <a:lnTo>
                  <a:pt x="45219" y="1204297"/>
                </a:lnTo>
                <a:lnTo>
                  <a:pt x="70152" y="1205642"/>
                </a:lnTo>
                <a:lnTo>
                  <a:pt x="86039" y="1205642"/>
                </a:lnTo>
                <a:lnTo>
                  <a:pt x="192860" y="1209005"/>
                </a:lnTo>
                <a:lnTo>
                  <a:pt x="218521" y="1209005"/>
                </a:lnTo>
                <a:lnTo>
                  <a:pt x="439247" y="1214161"/>
                </a:lnTo>
                <a:lnTo>
                  <a:pt x="466374" y="1214161"/>
                </a:lnTo>
                <a:lnTo>
                  <a:pt x="525539" y="1215731"/>
                </a:lnTo>
                <a:lnTo>
                  <a:pt x="668467" y="1215731"/>
                </a:lnTo>
                <a:lnTo>
                  <a:pt x="669248" y="1214833"/>
                </a:lnTo>
                <a:lnTo>
                  <a:pt x="677805" y="1211471"/>
                </a:lnTo>
                <a:lnTo>
                  <a:pt x="690034" y="1208332"/>
                </a:lnTo>
                <a:lnTo>
                  <a:pt x="705916" y="1204969"/>
                </a:lnTo>
                <a:lnTo>
                  <a:pt x="713879" y="1203624"/>
                </a:lnTo>
                <a:close/>
              </a:path>
              <a:path w="915034" h="1216025">
                <a:moveTo>
                  <a:pt x="347576" y="0"/>
                </a:moveTo>
                <a:lnTo>
                  <a:pt x="326072" y="8488"/>
                </a:lnTo>
                <a:lnTo>
                  <a:pt x="305296" y="16977"/>
                </a:lnTo>
                <a:lnTo>
                  <a:pt x="154726" y="76670"/>
                </a:lnTo>
                <a:lnTo>
                  <a:pt x="133211" y="84528"/>
                </a:lnTo>
                <a:lnTo>
                  <a:pt x="111707" y="93017"/>
                </a:lnTo>
                <a:lnTo>
                  <a:pt x="90098" y="100911"/>
                </a:lnTo>
                <a:lnTo>
                  <a:pt x="68685" y="109363"/>
                </a:lnTo>
                <a:lnTo>
                  <a:pt x="47420" y="117399"/>
                </a:lnTo>
                <a:lnTo>
                  <a:pt x="25910" y="124624"/>
                </a:lnTo>
                <a:lnTo>
                  <a:pt x="4400" y="132482"/>
                </a:lnTo>
                <a:lnTo>
                  <a:pt x="0" y="261622"/>
                </a:lnTo>
                <a:lnTo>
                  <a:pt x="7089" y="780137"/>
                </a:lnTo>
                <a:lnTo>
                  <a:pt x="9288" y="883034"/>
                </a:lnTo>
                <a:lnTo>
                  <a:pt x="12955" y="984821"/>
                </a:lnTo>
                <a:lnTo>
                  <a:pt x="16376" y="1086372"/>
                </a:lnTo>
                <a:lnTo>
                  <a:pt x="17110" y="1187932"/>
                </a:lnTo>
                <a:lnTo>
                  <a:pt x="17843" y="1205642"/>
                </a:lnTo>
                <a:lnTo>
                  <a:pt x="19310" y="1208332"/>
                </a:lnTo>
                <a:lnTo>
                  <a:pt x="22976" y="1205642"/>
                </a:lnTo>
                <a:lnTo>
                  <a:pt x="28599" y="1203624"/>
                </a:lnTo>
                <a:lnTo>
                  <a:pt x="713879" y="1203624"/>
                </a:lnTo>
                <a:lnTo>
                  <a:pt x="724496" y="1201831"/>
                </a:lnTo>
                <a:lnTo>
                  <a:pt x="745272" y="1197796"/>
                </a:lnTo>
                <a:lnTo>
                  <a:pt x="767515" y="1194433"/>
                </a:lnTo>
                <a:lnTo>
                  <a:pt x="790978" y="1191294"/>
                </a:lnTo>
                <a:lnTo>
                  <a:pt x="836932" y="1184792"/>
                </a:lnTo>
                <a:lnTo>
                  <a:pt x="857708" y="1181431"/>
                </a:lnTo>
                <a:lnTo>
                  <a:pt x="894375" y="1176273"/>
                </a:lnTo>
                <a:lnTo>
                  <a:pt x="907816" y="1173583"/>
                </a:lnTo>
                <a:lnTo>
                  <a:pt x="914413" y="1172150"/>
                </a:lnTo>
                <a:lnTo>
                  <a:pt x="914413" y="1050512"/>
                </a:lnTo>
                <a:lnTo>
                  <a:pt x="911489" y="989300"/>
                </a:lnTo>
                <a:lnTo>
                  <a:pt x="908555" y="911283"/>
                </a:lnTo>
                <a:lnTo>
                  <a:pt x="902933" y="834610"/>
                </a:lnTo>
                <a:lnTo>
                  <a:pt x="904400" y="524564"/>
                </a:lnTo>
                <a:lnTo>
                  <a:pt x="905866" y="511334"/>
                </a:lnTo>
                <a:lnTo>
                  <a:pt x="905128" y="499006"/>
                </a:lnTo>
                <a:lnTo>
                  <a:pt x="905866" y="486454"/>
                </a:lnTo>
                <a:lnTo>
                  <a:pt x="909283" y="475247"/>
                </a:lnTo>
                <a:lnTo>
                  <a:pt x="895597" y="468067"/>
                </a:lnTo>
                <a:lnTo>
                  <a:pt x="897064" y="464257"/>
                </a:lnTo>
                <a:lnTo>
                  <a:pt x="899260" y="461566"/>
                </a:lnTo>
                <a:lnTo>
                  <a:pt x="902194" y="458205"/>
                </a:lnTo>
                <a:lnTo>
                  <a:pt x="905128" y="455740"/>
                </a:lnTo>
                <a:lnTo>
                  <a:pt x="902933" y="412474"/>
                </a:lnTo>
                <a:lnTo>
                  <a:pt x="902933" y="367861"/>
                </a:lnTo>
                <a:lnTo>
                  <a:pt x="903660" y="322572"/>
                </a:lnTo>
                <a:lnTo>
                  <a:pt x="906349" y="276613"/>
                </a:lnTo>
                <a:lnTo>
                  <a:pt x="909283" y="231369"/>
                </a:lnTo>
                <a:lnTo>
                  <a:pt x="912947" y="187389"/>
                </a:lnTo>
                <a:lnTo>
                  <a:pt x="914413" y="168879"/>
                </a:lnTo>
                <a:lnTo>
                  <a:pt x="914356" y="100873"/>
                </a:lnTo>
                <a:lnTo>
                  <a:pt x="913684" y="100422"/>
                </a:lnTo>
                <a:lnTo>
                  <a:pt x="910751" y="98344"/>
                </a:lnTo>
                <a:lnTo>
                  <a:pt x="908555" y="95725"/>
                </a:lnTo>
                <a:lnTo>
                  <a:pt x="905866" y="93649"/>
                </a:lnTo>
                <a:lnTo>
                  <a:pt x="902933" y="91211"/>
                </a:lnTo>
                <a:lnTo>
                  <a:pt x="899998" y="89223"/>
                </a:lnTo>
                <a:lnTo>
                  <a:pt x="896325" y="87147"/>
                </a:lnTo>
                <a:lnTo>
                  <a:pt x="895597" y="80644"/>
                </a:lnTo>
                <a:lnTo>
                  <a:pt x="895104" y="73509"/>
                </a:lnTo>
                <a:lnTo>
                  <a:pt x="892909" y="66104"/>
                </a:lnTo>
                <a:lnTo>
                  <a:pt x="888507" y="59603"/>
                </a:lnTo>
                <a:lnTo>
                  <a:pt x="848642" y="53100"/>
                </a:lnTo>
                <a:lnTo>
                  <a:pt x="750155" y="53100"/>
                </a:lnTo>
                <a:lnTo>
                  <a:pt x="736715" y="51745"/>
                </a:lnTo>
                <a:lnTo>
                  <a:pt x="708604" y="47953"/>
                </a:lnTo>
                <a:lnTo>
                  <a:pt x="695892" y="46598"/>
                </a:lnTo>
                <a:lnTo>
                  <a:pt x="682945" y="45966"/>
                </a:lnTo>
                <a:lnTo>
                  <a:pt x="347576" y="0"/>
                </a:lnTo>
                <a:close/>
              </a:path>
              <a:path w="915034" h="1216025">
                <a:moveTo>
                  <a:pt x="788291" y="43257"/>
                </a:moveTo>
                <a:lnTo>
                  <a:pt x="776071" y="49036"/>
                </a:lnTo>
                <a:lnTo>
                  <a:pt x="763113" y="52468"/>
                </a:lnTo>
                <a:lnTo>
                  <a:pt x="750155" y="53100"/>
                </a:lnTo>
                <a:lnTo>
                  <a:pt x="848642" y="53100"/>
                </a:lnTo>
                <a:lnTo>
                  <a:pt x="788291" y="4325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705809" y="1837119"/>
            <a:ext cx="574040" cy="426720"/>
          </a:xfrm>
          <a:custGeom>
            <a:avLst/>
            <a:gdLst/>
            <a:ahLst/>
            <a:cxnLst/>
            <a:rect l="l" t="t" r="r" b="b"/>
            <a:pathLst>
              <a:path w="574040" h="426719">
                <a:moveTo>
                  <a:pt x="572021" y="136274"/>
                </a:moveTo>
                <a:lnTo>
                  <a:pt x="15153" y="136274"/>
                </a:lnTo>
                <a:lnTo>
                  <a:pt x="88972" y="165173"/>
                </a:lnTo>
                <a:lnTo>
                  <a:pt x="86776" y="209605"/>
                </a:lnTo>
                <a:lnTo>
                  <a:pt x="82374" y="254849"/>
                </a:lnTo>
                <a:lnTo>
                  <a:pt x="79687" y="299462"/>
                </a:lnTo>
                <a:lnTo>
                  <a:pt x="80425" y="344101"/>
                </a:lnTo>
                <a:lnTo>
                  <a:pt x="86047" y="349926"/>
                </a:lnTo>
                <a:lnTo>
                  <a:pt x="90439" y="356654"/>
                </a:lnTo>
                <a:lnTo>
                  <a:pt x="91906" y="363824"/>
                </a:lnTo>
                <a:lnTo>
                  <a:pt x="91177" y="370326"/>
                </a:lnTo>
                <a:lnTo>
                  <a:pt x="105356" y="373018"/>
                </a:lnTo>
                <a:lnTo>
                  <a:pt x="120510" y="374815"/>
                </a:lnTo>
                <a:lnTo>
                  <a:pt x="134688" y="376829"/>
                </a:lnTo>
                <a:lnTo>
                  <a:pt x="149104" y="379520"/>
                </a:lnTo>
                <a:lnTo>
                  <a:pt x="296011" y="399243"/>
                </a:lnTo>
                <a:lnTo>
                  <a:pt x="310427" y="400372"/>
                </a:lnTo>
                <a:lnTo>
                  <a:pt x="325343" y="402386"/>
                </a:lnTo>
                <a:lnTo>
                  <a:pt x="339759" y="403733"/>
                </a:lnTo>
                <a:lnTo>
                  <a:pt x="354676" y="405745"/>
                </a:lnTo>
                <a:lnTo>
                  <a:pt x="369091" y="407092"/>
                </a:lnTo>
                <a:lnTo>
                  <a:pt x="383515" y="409115"/>
                </a:lnTo>
                <a:lnTo>
                  <a:pt x="398424" y="410234"/>
                </a:lnTo>
                <a:lnTo>
                  <a:pt x="412849" y="412248"/>
                </a:lnTo>
                <a:lnTo>
                  <a:pt x="456596" y="416285"/>
                </a:lnTo>
                <a:lnTo>
                  <a:pt x="470775" y="418082"/>
                </a:lnTo>
                <a:lnTo>
                  <a:pt x="557551" y="426147"/>
                </a:lnTo>
                <a:lnTo>
                  <a:pt x="559018" y="419427"/>
                </a:lnTo>
                <a:lnTo>
                  <a:pt x="560485" y="412248"/>
                </a:lnTo>
                <a:lnTo>
                  <a:pt x="560360" y="403733"/>
                </a:lnTo>
                <a:lnTo>
                  <a:pt x="559143" y="397230"/>
                </a:lnTo>
                <a:lnTo>
                  <a:pt x="559186" y="393193"/>
                </a:lnTo>
                <a:lnTo>
                  <a:pt x="572021" y="136274"/>
                </a:lnTo>
                <a:close/>
              </a:path>
              <a:path w="574040" h="426719">
                <a:moveTo>
                  <a:pt x="15892" y="0"/>
                </a:moveTo>
                <a:lnTo>
                  <a:pt x="9295" y="2438"/>
                </a:lnTo>
                <a:lnTo>
                  <a:pt x="2933" y="9121"/>
                </a:lnTo>
                <a:lnTo>
                  <a:pt x="0" y="14991"/>
                </a:lnTo>
                <a:lnTo>
                  <a:pt x="3672" y="96358"/>
                </a:lnTo>
                <a:lnTo>
                  <a:pt x="5833" y="179532"/>
                </a:lnTo>
                <a:lnTo>
                  <a:pt x="5868" y="346783"/>
                </a:lnTo>
                <a:lnTo>
                  <a:pt x="8074" y="348580"/>
                </a:lnTo>
                <a:lnTo>
                  <a:pt x="12228" y="345447"/>
                </a:lnTo>
                <a:lnTo>
                  <a:pt x="15153" y="342078"/>
                </a:lnTo>
                <a:lnTo>
                  <a:pt x="18087" y="338268"/>
                </a:lnTo>
                <a:lnTo>
                  <a:pt x="20046" y="334230"/>
                </a:lnTo>
                <a:lnTo>
                  <a:pt x="29331" y="197233"/>
                </a:lnTo>
                <a:lnTo>
                  <a:pt x="20775" y="195245"/>
                </a:lnTo>
                <a:lnTo>
                  <a:pt x="16620" y="191453"/>
                </a:lnTo>
                <a:lnTo>
                  <a:pt x="15153" y="186034"/>
                </a:lnTo>
                <a:lnTo>
                  <a:pt x="15153" y="179532"/>
                </a:lnTo>
                <a:lnTo>
                  <a:pt x="15892" y="173031"/>
                </a:lnTo>
                <a:lnTo>
                  <a:pt x="16620" y="165896"/>
                </a:lnTo>
                <a:lnTo>
                  <a:pt x="16620" y="159123"/>
                </a:lnTo>
                <a:lnTo>
                  <a:pt x="13686" y="153976"/>
                </a:lnTo>
                <a:lnTo>
                  <a:pt x="15153" y="136274"/>
                </a:lnTo>
                <a:lnTo>
                  <a:pt x="572021" y="136274"/>
                </a:lnTo>
                <a:lnTo>
                  <a:pt x="573925" y="98164"/>
                </a:lnTo>
                <a:lnTo>
                  <a:pt x="546798" y="83173"/>
                </a:lnTo>
                <a:lnTo>
                  <a:pt x="542397" y="81819"/>
                </a:lnTo>
                <a:lnTo>
                  <a:pt x="525284" y="79109"/>
                </a:lnTo>
                <a:lnTo>
                  <a:pt x="366895" y="79109"/>
                </a:lnTo>
                <a:lnTo>
                  <a:pt x="365428" y="74594"/>
                </a:lnTo>
                <a:lnTo>
                  <a:pt x="366895" y="70168"/>
                </a:lnTo>
                <a:lnTo>
                  <a:pt x="370558" y="66106"/>
                </a:lnTo>
                <a:lnTo>
                  <a:pt x="374713" y="62764"/>
                </a:lnTo>
                <a:lnTo>
                  <a:pt x="379853" y="59603"/>
                </a:lnTo>
                <a:lnTo>
                  <a:pt x="385475" y="55539"/>
                </a:lnTo>
                <a:lnTo>
                  <a:pt x="389867" y="51746"/>
                </a:lnTo>
                <a:lnTo>
                  <a:pt x="393539" y="47682"/>
                </a:lnTo>
                <a:lnTo>
                  <a:pt x="78958" y="6502"/>
                </a:lnTo>
                <a:lnTo>
                  <a:pt x="20775" y="1805"/>
                </a:lnTo>
                <a:lnTo>
                  <a:pt x="15892" y="0"/>
                </a:lnTo>
                <a:close/>
              </a:path>
              <a:path w="574040" h="426719">
                <a:moveTo>
                  <a:pt x="408447" y="51113"/>
                </a:moveTo>
                <a:lnTo>
                  <a:pt x="404291" y="54184"/>
                </a:lnTo>
                <a:lnTo>
                  <a:pt x="399162" y="58248"/>
                </a:lnTo>
                <a:lnTo>
                  <a:pt x="394268" y="62042"/>
                </a:lnTo>
                <a:lnTo>
                  <a:pt x="389138" y="66106"/>
                </a:lnTo>
                <a:lnTo>
                  <a:pt x="383515" y="70168"/>
                </a:lnTo>
                <a:lnTo>
                  <a:pt x="378386" y="73239"/>
                </a:lnTo>
                <a:lnTo>
                  <a:pt x="372764" y="76671"/>
                </a:lnTo>
                <a:lnTo>
                  <a:pt x="366895" y="79109"/>
                </a:lnTo>
                <a:lnTo>
                  <a:pt x="525284" y="79109"/>
                </a:lnTo>
                <a:lnTo>
                  <a:pt x="516727" y="78026"/>
                </a:lnTo>
                <a:lnTo>
                  <a:pt x="499624" y="75317"/>
                </a:lnTo>
                <a:lnTo>
                  <a:pt x="490821" y="74594"/>
                </a:lnTo>
                <a:lnTo>
                  <a:pt x="482265" y="73239"/>
                </a:lnTo>
                <a:lnTo>
                  <a:pt x="473708" y="71253"/>
                </a:lnTo>
                <a:lnTo>
                  <a:pt x="464423" y="70168"/>
                </a:lnTo>
                <a:lnTo>
                  <a:pt x="456596" y="68092"/>
                </a:lnTo>
                <a:lnTo>
                  <a:pt x="439247" y="64118"/>
                </a:lnTo>
                <a:lnTo>
                  <a:pt x="431429" y="61589"/>
                </a:lnTo>
                <a:lnTo>
                  <a:pt x="415782" y="54907"/>
                </a:lnTo>
                <a:lnTo>
                  <a:pt x="408447" y="51113"/>
                </a:lnTo>
                <a:close/>
              </a:path>
            </a:pathLst>
          </a:custGeom>
          <a:solidFill>
            <a:srgbClr val="FFE5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642754" y="1845608"/>
            <a:ext cx="56515" cy="1138555"/>
          </a:xfrm>
          <a:custGeom>
            <a:avLst/>
            <a:gdLst/>
            <a:ahLst/>
            <a:cxnLst/>
            <a:rect l="l" t="t" r="r" b="b"/>
            <a:pathLst>
              <a:path w="56515" h="1138555">
                <a:moveTo>
                  <a:pt x="46681" y="0"/>
                </a:moveTo>
                <a:lnTo>
                  <a:pt x="38863" y="3793"/>
                </a:lnTo>
                <a:lnTo>
                  <a:pt x="32994" y="101597"/>
                </a:lnTo>
                <a:lnTo>
                  <a:pt x="28839" y="205091"/>
                </a:lnTo>
                <a:lnTo>
                  <a:pt x="25176" y="310055"/>
                </a:lnTo>
                <a:lnTo>
                  <a:pt x="19307" y="414967"/>
                </a:lnTo>
                <a:lnTo>
                  <a:pt x="15152" y="504200"/>
                </a:lnTo>
                <a:lnTo>
                  <a:pt x="11480" y="593199"/>
                </a:lnTo>
                <a:lnTo>
                  <a:pt x="8063" y="683770"/>
                </a:lnTo>
                <a:lnTo>
                  <a:pt x="2194" y="864684"/>
                </a:lnTo>
                <a:lnTo>
                  <a:pt x="727" y="955254"/>
                </a:lnTo>
                <a:lnTo>
                  <a:pt x="0" y="1044930"/>
                </a:lnTo>
                <a:lnTo>
                  <a:pt x="727" y="1134832"/>
                </a:lnTo>
                <a:lnTo>
                  <a:pt x="18816" y="1137970"/>
                </a:lnTo>
                <a:lnTo>
                  <a:pt x="22242" y="1136849"/>
                </a:lnTo>
                <a:lnTo>
                  <a:pt x="28101" y="1132814"/>
                </a:lnTo>
                <a:lnTo>
                  <a:pt x="30060" y="1130124"/>
                </a:lnTo>
                <a:lnTo>
                  <a:pt x="27372" y="996508"/>
                </a:lnTo>
                <a:lnTo>
                  <a:pt x="34461" y="637143"/>
                </a:lnTo>
                <a:lnTo>
                  <a:pt x="33723" y="604406"/>
                </a:lnTo>
                <a:lnTo>
                  <a:pt x="34461" y="571002"/>
                </a:lnTo>
                <a:lnTo>
                  <a:pt x="36657" y="537597"/>
                </a:lnTo>
                <a:lnTo>
                  <a:pt x="39592" y="504200"/>
                </a:lnTo>
                <a:lnTo>
                  <a:pt x="42279" y="470570"/>
                </a:lnTo>
                <a:lnTo>
                  <a:pt x="43746" y="437842"/>
                </a:lnTo>
                <a:lnTo>
                  <a:pt x="43746" y="405105"/>
                </a:lnTo>
                <a:lnTo>
                  <a:pt x="41550" y="372377"/>
                </a:lnTo>
                <a:lnTo>
                  <a:pt x="51574" y="357802"/>
                </a:lnTo>
                <a:lnTo>
                  <a:pt x="55237" y="268757"/>
                </a:lnTo>
                <a:lnTo>
                  <a:pt x="55966" y="178901"/>
                </a:lnTo>
                <a:lnTo>
                  <a:pt x="53031" y="89043"/>
                </a:lnTo>
                <a:lnTo>
                  <a:pt x="46681" y="0"/>
                </a:lnTo>
                <a:close/>
              </a:path>
            </a:pathLst>
          </a:custGeom>
          <a:solidFill>
            <a:srgbClr val="D8BF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144317" y="1879022"/>
            <a:ext cx="113664" cy="31115"/>
          </a:xfrm>
          <a:custGeom>
            <a:avLst/>
            <a:gdLst/>
            <a:ahLst/>
            <a:cxnLst/>
            <a:rect l="l" t="t" r="r" b="b"/>
            <a:pathLst>
              <a:path w="113665" h="31114">
                <a:moveTo>
                  <a:pt x="15163" y="0"/>
                </a:moveTo>
                <a:lnTo>
                  <a:pt x="0" y="4516"/>
                </a:lnTo>
                <a:lnTo>
                  <a:pt x="12957" y="10566"/>
                </a:lnTo>
                <a:lnTo>
                  <a:pt x="26644" y="14991"/>
                </a:lnTo>
                <a:lnTo>
                  <a:pt x="40331" y="18332"/>
                </a:lnTo>
                <a:lnTo>
                  <a:pt x="54509" y="20862"/>
                </a:lnTo>
                <a:lnTo>
                  <a:pt x="68934" y="22848"/>
                </a:lnTo>
                <a:lnTo>
                  <a:pt x="83841" y="25557"/>
                </a:lnTo>
                <a:lnTo>
                  <a:pt x="98995" y="27545"/>
                </a:lnTo>
                <a:lnTo>
                  <a:pt x="113421" y="30704"/>
                </a:lnTo>
                <a:lnTo>
                  <a:pt x="113421" y="19687"/>
                </a:lnTo>
                <a:lnTo>
                  <a:pt x="53780" y="4516"/>
                </a:lnTo>
                <a:lnTo>
                  <a:pt x="27382" y="1987"/>
                </a:lnTo>
                <a:lnTo>
                  <a:pt x="15163" y="0"/>
                </a:lnTo>
                <a:close/>
              </a:path>
            </a:pathLst>
          </a:custGeom>
          <a:solidFill>
            <a:srgbClr val="B268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383407" y="1864483"/>
            <a:ext cx="283210" cy="1137920"/>
          </a:xfrm>
          <a:custGeom>
            <a:avLst/>
            <a:gdLst/>
            <a:ahLst/>
            <a:cxnLst/>
            <a:rect l="l" t="t" r="r" b="b"/>
            <a:pathLst>
              <a:path w="283209" h="1137920">
                <a:moveTo>
                  <a:pt x="260074" y="0"/>
                </a:moveTo>
                <a:lnTo>
                  <a:pt x="244429" y="7315"/>
                </a:lnTo>
                <a:lnTo>
                  <a:pt x="197008" y="26821"/>
                </a:lnTo>
                <a:lnTo>
                  <a:pt x="181372" y="33594"/>
                </a:lnTo>
                <a:lnTo>
                  <a:pt x="165480" y="40096"/>
                </a:lnTo>
                <a:lnTo>
                  <a:pt x="149834" y="45876"/>
                </a:lnTo>
                <a:lnTo>
                  <a:pt x="133951" y="52378"/>
                </a:lnTo>
                <a:lnTo>
                  <a:pt x="118306" y="58428"/>
                </a:lnTo>
                <a:lnTo>
                  <a:pt x="102414" y="64298"/>
                </a:lnTo>
                <a:lnTo>
                  <a:pt x="86039" y="70168"/>
                </a:lnTo>
                <a:lnTo>
                  <a:pt x="70152" y="76220"/>
                </a:lnTo>
                <a:lnTo>
                  <a:pt x="38620" y="87870"/>
                </a:lnTo>
                <a:lnTo>
                  <a:pt x="22244" y="93197"/>
                </a:lnTo>
                <a:lnTo>
                  <a:pt x="6355" y="99067"/>
                </a:lnTo>
                <a:lnTo>
                  <a:pt x="0" y="228208"/>
                </a:lnTo>
                <a:lnTo>
                  <a:pt x="734" y="357982"/>
                </a:lnTo>
                <a:lnTo>
                  <a:pt x="4399" y="489804"/>
                </a:lnTo>
                <a:lnTo>
                  <a:pt x="7105" y="622974"/>
                </a:lnTo>
                <a:lnTo>
                  <a:pt x="19310" y="1137479"/>
                </a:lnTo>
                <a:lnTo>
                  <a:pt x="245896" y="1118647"/>
                </a:lnTo>
                <a:lnTo>
                  <a:pt x="245167" y="1083899"/>
                </a:lnTo>
                <a:lnTo>
                  <a:pt x="242961" y="1049148"/>
                </a:lnTo>
                <a:lnTo>
                  <a:pt x="242233" y="1013729"/>
                </a:lnTo>
                <a:lnTo>
                  <a:pt x="243700" y="977633"/>
                </a:lnTo>
                <a:lnTo>
                  <a:pt x="249322" y="858371"/>
                </a:lnTo>
                <a:lnTo>
                  <a:pt x="252985" y="740222"/>
                </a:lnTo>
                <a:lnTo>
                  <a:pt x="256678" y="622296"/>
                </a:lnTo>
                <a:lnTo>
                  <a:pt x="260074" y="506846"/>
                </a:lnTo>
                <a:lnTo>
                  <a:pt x="263009" y="459091"/>
                </a:lnTo>
                <a:lnTo>
                  <a:pt x="263737" y="413810"/>
                </a:lnTo>
                <a:lnTo>
                  <a:pt x="265943" y="369197"/>
                </a:lnTo>
                <a:lnTo>
                  <a:pt x="271565" y="324577"/>
                </a:lnTo>
                <a:lnTo>
                  <a:pt x="273032" y="259816"/>
                </a:lnTo>
                <a:lnTo>
                  <a:pt x="275967" y="126612"/>
                </a:lnTo>
                <a:lnTo>
                  <a:pt x="278654" y="62945"/>
                </a:lnTo>
                <a:lnTo>
                  <a:pt x="279383" y="53733"/>
                </a:lnTo>
                <a:lnTo>
                  <a:pt x="281589" y="43257"/>
                </a:lnTo>
                <a:lnTo>
                  <a:pt x="282317" y="32240"/>
                </a:lnTo>
                <a:lnTo>
                  <a:pt x="283056" y="21673"/>
                </a:lnTo>
                <a:lnTo>
                  <a:pt x="281589" y="12552"/>
                </a:lnTo>
                <a:lnTo>
                  <a:pt x="278163" y="4695"/>
                </a:lnTo>
                <a:lnTo>
                  <a:pt x="270827" y="632"/>
                </a:lnTo>
                <a:lnTo>
                  <a:pt x="260074" y="0"/>
                </a:lnTo>
                <a:close/>
              </a:path>
            </a:pathLst>
          </a:custGeom>
          <a:solidFill>
            <a:srgbClr val="D8BF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141630" y="1988385"/>
            <a:ext cx="49530" cy="32384"/>
          </a:xfrm>
          <a:custGeom>
            <a:avLst/>
            <a:gdLst/>
            <a:ahLst/>
            <a:cxnLst/>
            <a:rect l="l" t="t" r="r" b="b"/>
            <a:pathLst>
              <a:path w="49529" h="32385">
                <a:moveTo>
                  <a:pt x="49378" y="0"/>
                </a:moveTo>
                <a:lnTo>
                  <a:pt x="43018" y="1355"/>
                </a:lnTo>
                <a:lnTo>
                  <a:pt x="36421" y="4063"/>
                </a:lnTo>
                <a:lnTo>
                  <a:pt x="30798" y="7857"/>
                </a:lnTo>
                <a:lnTo>
                  <a:pt x="24930" y="11198"/>
                </a:lnTo>
                <a:lnTo>
                  <a:pt x="18580" y="15713"/>
                </a:lnTo>
                <a:lnTo>
                  <a:pt x="12711" y="19777"/>
                </a:lnTo>
                <a:lnTo>
                  <a:pt x="6360" y="23119"/>
                </a:lnTo>
                <a:lnTo>
                  <a:pt x="0" y="26280"/>
                </a:lnTo>
                <a:lnTo>
                  <a:pt x="0" y="32059"/>
                </a:lnTo>
                <a:lnTo>
                  <a:pt x="6360" y="29621"/>
                </a:lnTo>
                <a:lnTo>
                  <a:pt x="12711" y="26912"/>
                </a:lnTo>
                <a:lnTo>
                  <a:pt x="19307" y="24203"/>
                </a:lnTo>
                <a:lnTo>
                  <a:pt x="25669" y="21132"/>
                </a:lnTo>
                <a:lnTo>
                  <a:pt x="31537" y="17068"/>
                </a:lnTo>
                <a:lnTo>
                  <a:pt x="37160" y="13275"/>
                </a:lnTo>
                <a:lnTo>
                  <a:pt x="43018" y="9211"/>
                </a:lnTo>
                <a:lnTo>
                  <a:pt x="48641" y="4696"/>
                </a:lnTo>
                <a:lnTo>
                  <a:pt x="493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084196" y="2155663"/>
            <a:ext cx="45085" cy="11430"/>
          </a:xfrm>
          <a:custGeom>
            <a:avLst/>
            <a:gdLst/>
            <a:ahLst/>
            <a:cxnLst/>
            <a:rect l="l" t="t" r="r" b="b"/>
            <a:pathLst>
              <a:path w="45084" h="11430">
                <a:moveTo>
                  <a:pt x="23709" y="0"/>
                </a:moveTo>
                <a:lnTo>
                  <a:pt x="17103" y="0"/>
                </a:lnTo>
                <a:lnTo>
                  <a:pt x="5858" y="1346"/>
                </a:lnTo>
                <a:lnTo>
                  <a:pt x="728" y="2682"/>
                </a:lnTo>
                <a:lnTo>
                  <a:pt x="0" y="11207"/>
                </a:lnTo>
                <a:lnTo>
                  <a:pt x="5858" y="9184"/>
                </a:lnTo>
                <a:lnTo>
                  <a:pt x="12219" y="8516"/>
                </a:lnTo>
                <a:lnTo>
                  <a:pt x="34076" y="8516"/>
                </a:lnTo>
                <a:lnTo>
                  <a:pt x="36658" y="7839"/>
                </a:lnTo>
                <a:lnTo>
                  <a:pt x="40813" y="5157"/>
                </a:lnTo>
                <a:lnTo>
                  <a:pt x="44009" y="669"/>
                </a:lnTo>
                <a:lnTo>
                  <a:pt x="29331" y="669"/>
                </a:lnTo>
                <a:lnTo>
                  <a:pt x="23709" y="0"/>
                </a:lnTo>
                <a:close/>
              </a:path>
              <a:path w="45084" h="11430">
                <a:moveTo>
                  <a:pt x="34076" y="8516"/>
                </a:moveTo>
                <a:lnTo>
                  <a:pt x="12219" y="8516"/>
                </a:lnTo>
                <a:lnTo>
                  <a:pt x="18569" y="9184"/>
                </a:lnTo>
                <a:lnTo>
                  <a:pt x="31527" y="9184"/>
                </a:lnTo>
                <a:lnTo>
                  <a:pt x="34076" y="8516"/>
                </a:lnTo>
                <a:close/>
              </a:path>
              <a:path w="45084" h="11430">
                <a:moveTo>
                  <a:pt x="44485" y="0"/>
                </a:moveTo>
                <a:lnTo>
                  <a:pt x="40085" y="669"/>
                </a:lnTo>
                <a:lnTo>
                  <a:pt x="44009" y="669"/>
                </a:lnTo>
                <a:lnTo>
                  <a:pt x="444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769603" y="2219999"/>
            <a:ext cx="488950" cy="73660"/>
          </a:xfrm>
          <a:custGeom>
            <a:avLst/>
            <a:gdLst/>
            <a:ahLst/>
            <a:cxnLst/>
            <a:rect l="l" t="t" r="r" b="b"/>
            <a:pathLst>
              <a:path w="488950" h="73660">
                <a:moveTo>
                  <a:pt x="481577" y="69502"/>
                </a:moveTo>
                <a:lnTo>
                  <a:pt x="442909" y="69502"/>
                </a:lnTo>
                <a:lnTo>
                  <a:pt x="449270" y="69943"/>
                </a:lnTo>
                <a:lnTo>
                  <a:pt x="462227" y="72635"/>
                </a:lnTo>
                <a:lnTo>
                  <a:pt x="468579" y="73313"/>
                </a:lnTo>
                <a:lnTo>
                  <a:pt x="475176" y="72635"/>
                </a:lnTo>
                <a:lnTo>
                  <a:pt x="480070" y="70622"/>
                </a:lnTo>
                <a:lnTo>
                  <a:pt x="481577" y="69502"/>
                </a:lnTo>
                <a:close/>
              </a:path>
              <a:path w="488950" h="73660">
                <a:moveTo>
                  <a:pt x="10024" y="0"/>
                </a:moveTo>
                <a:lnTo>
                  <a:pt x="0" y="8525"/>
                </a:lnTo>
                <a:lnTo>
                  <a:pt x="5868" y="11659"/>
                </a:lnTo>
                <a:lnTo>
                  <a:pt x="11490" y="15019"/>
                </a:lnTo>
                <a:lnTo>
                  <a:pt x="17851" y="18161"/>
                </a:lnTo>
                <a:lnTo>
                  <a:pt x="24448" y="20175"/>
                </a:lnTo>
                <a:lnTo>
                  <a:pt x="30800" y="22866"/>
                </a:lnTo>
                <a:lnTo>
                  <a:pt x="37406" y="24889"/>
                </a:lnTo>
                <a:lnTo>
                  <a:pt x="44495" y="26677"/>
                </a:lnTo>
                <a:lnTo>
                  <a:pt x="50846" y="28700"/>
                </a:lnTo>
                <a:lnTo>
                  <a:pt x="99734" y="32736"/>
                </a:lnTo>
                <a:lnTo>
                  <a:pt x="244436" y="48423"/>
                </a:lnTo>
                <a:lnTo>
                  <a:pt x="268146" y="51791"/>
                </a:lnTo>
                <a:lnTo>
                  <a:pt x="316058" y="56949"/>
                </a:lnTo>
                <a:lnTo>
                  <a:pt x="339769" y="60308"/>
                </a:lnTo>
                <a:lnTo>
                  <a:pt x="388410" y="65464"/>
                </a:lnTo>
                <a:lnTo>
                  <a:pt x="412849" y="67478"/>
                </a:lnTo>
                <a:lnTo>
                  <a:pt x="437051" y="69943"/>
                </a:lnTo>
                <a:lnTo>
                  <a:pt x="442909" y="69502"/>
                </a:lnTo>
                <a:lnTo>
                  <a:pt x="481577" y="69502"/>
                </a:lnTo>
                <a:lnTo>
                  <a:pt x="485199" y="66810"/>
                </a:lnTo>
                <a:lnTo>
                  <a:pt x="486666" y="64119"/>
                </a:lnTo>
                <a:lnTo>
                  <a:pt x="488134" y="60976"/>
                </a:lnTo>
                <a:lnTo>
                  <a:pt x="488626" y="58294"/>
                </a:lnTo>
                <a:lnTo>
                  <a:pt x="485938" y="56271"/>
                </a:lnTo>
                <a:lnTo>
                  <a:pt x="470046" y="53580"/>
                </a:lnTo>
                <a:lnTo>
                  <a:pt x="453671" y="51791"/>
                </a:lnTo>
                <a:lnTo>
                  <a:pt x="436312" y="49100"/>
                </a:lnTo>
                <a:lnTo>
                  <a:pt x="402824" y="45064"/>
                </a:lnTo>
                <a:lnTo>
                  <a:pt x="384737" y="43718"/>
                </a:lnTo>
                <a:lnTo>
                  <a:pt x="367634" y="41921"/>
                </a:lnTo>
                <a:lnTo>
                  <a:pt x="350521" y="39908"/>
                </a:lnTo>
                <a:lnTo>
                  <a:pt x="332433" y="38562"/>
                </a:lnTo>
                <a:lnTo>
                  <a:pt x="314591" y="36548"/>
                </a:lnTo>
                <a:lnTo>
                  <a:pt x="297478" y="35203"/>
                </a:lnTo>
                <a:lnTo>
                  <a:pt x="262277" y="31391"/>
                </a:lnTo>
                <a:lnTo>
                  <a:pt x="212170" y="25557"/>
                </a:lnTo>
                <a:lnTo>
                  <a:pt x="199950" y="22866"/>
                </a:lnTo>
                <a:lnTo>
                  <a:pt x="186992" y="20853"/>
                </a:lnTo>
                <a:lnTo>
                  <a:pt x="174773" y="18830"/>
                </a:lnTo>
                <a:lnTo>
                  <a:pt x="162800" y="16363"/>
                </a:lnTo>
                <a:lnTo>
                  <a:pt x="137623" y="12336"/>
                </a:lnTo>
                <a:lnTo>
                  <a:pt x="125393" y="10990"/>
                </a:lnTo>
                <a:lnTo>
                  <a:pt x="100462" y="7180"/>
                </a:lnTo>
                <a:lnTo>
                  <a:pt x="49380" y="1798"/>
                </a:lnTo>
                <a:lnTo>
                  <a:pt x="22981" y="452"/>
                </a:lnTo>
                <a:lnTo>
                  <a:pt x="10024" y="0"/>
                </a:lnTo>
                <a:close/>
              </a:path>
            </a:pathLst>
          </a:custGeom>
          <a:solidFill>
            <a:srgbClr val="D8BF7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685033" y="2240174"/>
            <a:ext cx="598805" cy="737235"/>
          </a:xfrm>
          <a:custGeom>
            <a:avLst/>
            <a:gdLst/>
            <a:ahLst/>
            <a:cxnLst/>
            <a:rect l="l" t="t" r="r" b="b"/>
            <a:pathLst>
              <a:path w="598804" h="737235">
                <a:moveTo>
                  <a:pt x="539918" y="667406"/>
                </a:moveTo>
                <a:lnTo>
                  <a:pt x="492288" y="667406"/>
                </a:lnTo>
                <a:lnTo>
                  <a:pt x="498157" y="669419"/>
                </a:lnTo>
                <a:lnTo>
                  <a:pt x="503041" y="672788"/>
                </a:lnTo>
                <a:lnTo>
                  <a:pt x="508171" y="676600"/>
                </a:lnTo>
                <a:lnTo>
                  <a:pt x="512326" y="680636"/>
                </a:lnTo>
                <a:lnTo>
                  <a:pt x="515999" y="685793"/>
                </a:lnTo>
                <a:lnTo>
                  <a:pt x="519662" y="690497"/>
                </a:lnTo>
                <a:lnTo>
                  <a:pt x="523817" y="695655"/>
                </a:lnTo>
                <a:lnTo>
                  <a:pt x="527480" y="700134"/>
                </a:lnTo>
                <a:lnTo>
                  <a:pt x="533102" y="704848"/>
                </a:lnTo>
                <a:lnTo>
                  <a:pt x="537503" y="711346"/>
                </a:lnTo>
                <a:lnTo>
                  <a:pt x="541176" y="717847"/>
                </a:lnTo>
                <a:lnTo>
                  <a:pt x="544593" y="724573"/>
                </a:lnTo>
                <a:lnTo>
                  <a:pt x="548994" y="730402"/>
                </a:lnTo>
                <a:lnTo>
                  <a:pt x="553888" y="734437"/>
                </a:lnTo>
                <a:lnTo>
                  <a:pt x="560485" y="736903"/>
                </a:lnTo>
                <a:lnTo>
                  <a:pt x="569770" y="736230"/>
                </a:lnTo>
                <a:lnTo>
                  <a:pt x="573925" y="734885"/>
                </a:lnTo>
                <a:lnTo>
                  <a:pt x="589079" y="734885"/>
                </a:lnTo>
                <a:lnTo>
                  <a:pt x="593481" y="734437"/>
                </a:lnTo>
                <a:lnTo>
                  <a:pt x="596168" y="733092"/>
                </a:lnTo>
                <a:lnTo>
                  <a:pt x="598374" y="730402"/>
                </a:lnTo>
                <a:lnTo>
                  <a:pt x="598374" y="725918"/>
                </a:lnTo>
                <a:lnTo>
                  <a:pt x="539918" y="667406"/>
                </a:lnTo>
                <a:close/>
              </a:path>
              <a:path w="598804" h="737235">
                <a:moveTo>
                  <a:pt x="512572" y="701479"/>
                </a:moveTo>
                <a:lnTo>
                  <a:pt x="457334" y="701479"/>
                </a:lnTo>
                <a:lnTo>
                  <a:pt x="462956" y="703502"/>
                </a:lnTo>
                <a:lnTo>
                  <a:pt x="466619" y="706861"/>
                </a:lnTo>
                <a:lnTo>
                  <a:pt x="470046" y="710672"/>
                </a:lnTo>
                <a:lnTo>
                  <a:pt x="472241" y="715382"/>
                </a:lnTo>
                <a:lnTo>
                  <a:pt x="474447" y="719865"/>
                </a:lnTo>
                <a:lnTo>
                  <a:pt x="475904" y="724573"/>
                </a:lnTo>
                <a:lnTo>
                  <a:pt x="480070" y="733092"/>
                </a:lnTo>
                <a:lnTo>
                  <a:pt x="528947" y="735558"/>
                </a:lnTo>
                <a:lnTo>
                  <a:pt x="532373" y="726366"/>
                </a:lnTo>
                <a:lnTo>
                  <a:pt x="512572" y="701479"/>
                </a:lnTo>
                <a:close/>
              </a:path>
              <a:path w="598804" h="737235">
                <a:moveTo>
                  <a:pt x="403553" y="732419"/>
                </a:moveTo>
                <a:lnTo>
                  <a:pt x="258851" y="732419"/>
                </a:lnTo>
                <a:lnTo>
                  <a:pt x="287455" y="733092"/>
                </a:lnTo>
                <a:lnTo>
                  <a:pt x="374230" y="733092"/>
                </a:lnTo>
                <a:lnTo>
                  <a:pt x="403553" y="732419"/>
                </a:lnTo>
                <a:close/>
              </a:path>
              <a:path w="598804" h="737235">
                <a:moveTo>
                  <a:pt x="15153" y="0"/>
                </a:moveTo>
                <a:lnTo>
                  <a:pt x="8064" y="184283"/>
                </a:lnTo>
                <a:lnTo>
                  <a:pt x="2205" y="362064"/>
                </a:lnTo>
                <a:lnTo>
                  <a:pt x="0" y="538274"/>
                </a:lnTo>
                <a:lnTo>
                  <a:pt x="2934" y="721210"/>
                </a:lnTo>
                <a:lnTo>
                  <a:pt x="31537" y="723900"/>
                </a:lnTo>
                <a:lnTo>
                  <a:pt x="59639" y="725918"/>
                </a:lnTo>
                <a:lnTo>
                  <a:pt x="88243" y="727038"/>
                </a:lnTo>
                <a:lnTo>
                  <a:pt x="116108" y="729057"/>
                </a:lnTo>
                <a:lnTo>
                  <a:pt x="144702" y="729729"/>
                </a:lnTo>
                <a:lnTo>
                  <a:pt x="173551" y="731074"/>
                </a:lnTo>
                <a:lnTo>
                  <a:pt x="230010" y="732419"/>
                </a:lnTo>
                <a:lnTo>
                  <a:pt x="462219" y="732419"/>
                </a:lnTo>
                <a:lnTo>
                  <a:pt x="462219" y="725244"/>
                </a:lnTo>
                <a:lnTo>
                  <a:pt x="459284" y="717847"/>
                </a:lnTo>
                <a:lnTo>
                  <a:pt x="456596" y="710001"/>
                </a:lnTo>
                <a:lnTo>
                  <a:pt x="457334" y="701479"/>
                </a:lnTo>
                <a:lnTo>
                  <a:pt x="512572" y="701479"/>
                </a:lnTo>
                <a:lnTo>
                  <a:pt x="488134" y="670765"/>
                </a:lnTo>
                <a:lnTo>
                  <a:pt x="492288" y="667406"/>
                </a:lnTo>
                <a:lnTo>
                  <a:pt x="539918" y="667406"/>
                </a:lnTo>
                <a:lnTo>
                  <a:pt x="528947" y="656424"/>
                </a:lnTo>
                <a:lnTo>
                  <a:pt x="533840" y="653056"/>
                </a:lnTo>
                <a:lnTo>
                  <a:pt x="593678" y="653056"/>
                </a:lnTo>
                <a:lnTo>
                  <a:pt x="592752" y="646554"/>
                </a:lnTo>
                <a:lnTo>
                  <a:pt x="555345" y="614277"/>
                </a:lnTo>
                <a:lnTo>
                  <a:pt x="552420" y="609789"/>
                </a:lnTo>
                <a:lnTo>
                  <a:pt x="548266" y="607098"/>
                </a:lnTo>
                <a:lnTo>
                  <a:pt x="543864" y="604633"/>
                </a:lnTo>
                <a:lnTo>
                  <a:pt x="538971" y="601941"/>
                </a:lnTo>
                <a:lnTo>
                  <a:pt x="533840" y="599250"/>
                </a:lnTo>
                <a:lnTo>
                  <a:pt x="530414" y="596116"/>
                </a:lnTo>
                <a:lnTo>
                  <a:pt x="527480" y="592080"/>
                </a:lnTo>
                <a:lnTo>
                  <a:pt x="526022" y="586922"/>
                </a:lnTo>
                <a:lnTo>
                  <a:pt x="589147" y="586922"/>
                </a:lnTo>
                <a:lnTo>
                  <a:pt x="589817" y="575716"/>
                </a:lnTo>
                <a:lnTo>
                  <a:pt x="587612" y="527066"/>
                </a:lnTo>
                <a:lnTo>
                  <a:pt x="583949" y="478643"/>
                </a:lnTo>
                <a:lnTo>
                  <a:pt x="581261" y="429543"/>
                </a:lnTo>
                <a:lnTo>
                  <a:pt x="581389" y="409820"/>
                </a:lnTo>
                <a:lnTo>
                  <a:pt x="32266" y="409820"/>
                </a:lnTo>
                <a:lnTo>
                  <a:pt x="28111" y="409141"/>
                </a:lnTo>
                <a:lnTo>
                  <a:pt x="24448" y="407797"/>
                </a:lnTo>
                <a:lnTo>
                  <a:pt x="20046" y="406450"/>
                </a:lnTo>
                <a:lnTo>
                  <a:pt x="16620" y="403985"/>
                </a:lnTo>
                <a:lnTo>
                  <a:pt x="12957" y="401294"/>
                </a:lnTo>
                <a:lnTo>
                  <a:pt x="12957" y="350857"/>
                </a:lnTo>
                <a:lnTo>
                  <a:pt x="15892" y="299065"/>
                </a:lnTo>
                <a:lnTo>
                  <a:pt x="16620" y="247950"/>
                </a:lnTo>
                <a:lnTo>
                  <a:pt x="14424" y="199979"/>
                </a:lnTo>
                <a:lnTo>
                  <a:pt x="17359" y="197288"/>
                </a:lnTo>
                <a:lnTo>
                  <a:pt x="21515" y="196168"/>
                </a:lnTo>
                <a:lnTo>
                  <a:pt x="25177" y="194823"/>
                </a:lnTo>
                <a:lnTo>
                  <a:pt x="29331" y="194144"/>
                </a:lnTo>
                <a:lnTo>
                  <a:pt x="33004" y="194144"/>
                </a:lnTo>
                <a:lnTo>
                  <a:pt x="37396" y="192799"/>
                </a:lnTo>
                <a:lnTo>
                  <a:pt x="40822" y="192131"/>
                </a:lnTo>
                <a:lnTo>
                  <a:pt x="44485" y="190117"/>
                </a:lnTo>
                <a:lnTo>
                  <a:pt x="48158" y="28248"/>
                </a:lnTo>
                <a:lnTo>
                  <a:pt x="45953" y="23092"/>
                </a:lnTo>
                <a:lnTo>
                  <a:pt x="41551" y="19733"/>
                </a:lnTo>
                <a:lnTo>
                  <a:pt x="36668" y="16372"/>
                </a:lnTo>
                <a:lnTo>
                  <a:pt x="31537" y="14575"/>
                </a:lnTo>
                <a:lnTo>
                  <a:pt x="26644" y="11884"/>
                </a:lnTo>
                <a:lnTo>
                  <a:pt x="21515" y="9193"/>
                </a:lnTo>
                <a:lnTo>
                  <a:pt x="17359" y="5382"/>
                </a:lnTo>
                <a:lnTo>
                  <a:pt x="15153" y="0"/>
                </a:lnTo>
                <a:close/>
              </a:path>
              <a:path w="598804" h="737235">
                <a:moveTo>
                  <a:pt x="593678" y="653056"/>
                </a:moveTo>
                <a:lnTo>
                  <a:pt x="533840" y="653056"/>
                </a:lnTo>
                <a:lnTo>
                  <a:pt x="542397" y="657545"/>
                </a:lnTo>
                <a:lnTo>
                  <a:pt x="556812" y="669419"/>
                </a:lnTo>
                <a:lnTo>
                  <a:pt x="571237" y="682650"/>
                </a:lnTo>
                <a:lnTo>
                  <a:pt x="577588" y="689152"/>
                </a:lnTo>
                <a:lnTo>
                  <a:pt x="584677" y="694977"/>
                </a:lnTo>
                <a:lnTo>
                  <a:pt x="592013" y="700134"/>
                </a:lnTo>
                <a:lnTo>
                  <a:pt x="594701" y="687129"/>
                </a:lnTo>
                <a:lnTo>
                  <a:pt x="595439" y="674133"/>
                </a:lnTo>
                <a:lnTo>
                  <a:pt x="594701" y="660236"/>
                </a:lnTo>
                <a:lnTo>
                  <a:pt x="593678" y="653056"/>
                </a:lnTo>
                <a:close/>
              </a:path>
              <a:path w="598804" h="737235">
                <a:moveTo>
                  <a:pt x="589147" y="586922"/>
                </a:moveTo>
                <a:lnTo>
                  <a:pt x="535308" y="586922"/>
                </a:lnTo>
                <a:lnTo>
                  <a:pt x="543864" y="590057"/>
                </a:lnTo>
                <a:lnTo>
                  <a:pt x="551190" y="595439"/>
                </a:lnTo>
                <a:lnTo>
                  <a:pt x="559018" y="601941"/>
                </a:lnTo>
                <a:lnTo>
                  <a:pt x="565369" y="609121"/>
                </a:lnTo>
                <a:lnTo>
                  <a:pt x="572705" y="615614"/>
                </a:lnTo>
                <a:lnTo>
                  <a:pt x="579794" y="621673"/>
                </a:lnTo>
                <a:lnTo>
                  <a:pt x="586883" y="624808"/>
                </a:lnTo>
                <a:lnTo>
                  <a:pt x="589147" y="586922"/>
                </a:lnTo>
                <a:close/>
              </a:path>
              <a:path w="598804" h="737235">
                <a:moveTo>
                  <a:pt x="119043" y="16372"/>
                </a:moveTo>
                <a:lnTo>
                  <a:pt x="112682" y="60985"/>
                </a:lnTo>
                <a:lnTo>
                  <a:pt x="107552" y="106942"/>
                </a:lnTo>
                <a:lnTo>
                  <a:pt x="103889" y="154021"/>
                </a:lnTo>
                <a:lnTo>
                  <a:pt x="98267" y="199979"/>
                </a:lnTo>
                <a:lnTo>
                  <a:pt x="109019" y="213878"/>
                </a:lnTo>
                <a:lnTo>
                  <a:pt x="102421" y="238766"/>
                </a:lnTo>
                <a:lnTo>
                  <a:pt x="94594" y="263646"/>
                </a:lnTo>
                <a:lnTo>
                  <a:pt x="86037" y="287858"/>
                </a:lnTo>
                <a:lnTo>
                  <a:pt x="76752" y="311401"/>
                </a:lnTo>
                <a:lnTo>
                  <a:pt x="67467" y="335838"/>
                </a:lnTo>
                <a:lnTo>
                  <a:pt x="58911" y="360051"/>
                </a:lnTo>
                <a:lnTo>
                  <a:pt x="50846" y="384262"/>
                </a:lnTo>
                <a:lnTo>
                  <a:pt x="44485" y="409141"/>
                </a:lnTo>
                <a:lnTo>
                  <a:pt x="40822" y="409820"/>
                </a:lnTo>
                <a:lnTo>
                  <a:pt x="581389" y="409820"/>
                </a:lnTo>
                <a:lnTo>
                  <a:pt x="583457" y="91248"/>
                </a:lnTo>
                <a:lnTo>
                  <a:pt x="579794" y="65690"/>
                </a:lnTo>
                <a:lnTo>
                  <a:pt x="436558" y="49326"/>
                </a:lnTo>
                <a:lnTo>
                  <a:pt x="407709" y="46635"/>
                </a:lnTo>
                <a:lnTo>
                  <a:pt x="378386" y="43276"/>
                </a:lnTo>
                <a:lnTo>
                  <a:pt x="321189" y="38119"/>
                </a:lnTo>
                <a:lnTo>
                  <a:pt x="291611" y="34751"/>
                </a:lnTo>
                <a:lnTo>
                  <a:pt x="263006" y="32059"/>
                </a:lnTo>
                <a:lnTo>
                  <a:pt x="234412" y="28925"/>
                </a:lnTo>
                <a:lnTo>
                  <a:pt x="205080" y="26234"/>
                </a:lnTo>
                <a:lnTo>
                  <a:pt x="119043" y="16372"/>
                </a:lnTo>
                <a:close/>
              </a:path>
            </a:pathLst>
          </a:custGeom>
          <a:solidFill>
            <a:srgbClr val="FFE5B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199566" y="2639454"/>
            <a:ext cx="27940" cy="21590"/>
          </a:xfrm>
          <a:custGeom>
            <a:avLst/>
            <a:gdLst/>
            <a:ahLst/>
            <a:cxnLst/>
            <a:rect l="l" t="t" r="r" b="b"/>
            <a:pathLst>
              <a:path w="27940" h="21589">
                <a:moveTo>
                  <a:pt x="727" y="0"/>
                </a:moveTo>
                <a:lnTo>
                  <a:pt x="0" y="9193"/>
                </a:lnTo>
                <a:lnTo>
                  <a:pt x="3662" y="10539"/>
                </a:lnTo>
                <a:lnTo>
                  <a:pt x="6350" y="12552"/>
                </a:lnTo>
                <a:lnTo>
                  <a:pt x="10022" y="15019"/>
                </a:lnTo>
                <a:lnTo>
                  <a:pt x="12947" y="17031"/>
                </a:lnTo>
                <a:lnTo>
                  <a:pt x="16620" y="19055"/>
                </a:lnTo>
                <a:lnTo>
                  <a:pt x="20036" y="20401"/>
                </a:lnTo>
                <a:lnTo>
                  <a:pt x="23709" y="21069"/>
                </a:lnTo>
                <a:lnTo>
                  <a:pt x="27865" y="21069"/>
                </a:lnTo>
                <a:lnTo>
                  <a:pt x="12947" y="6051"/>
                </a:lnTo>
                <a:lnTo>
                  <a:pt x="8555" y="4037"/>
                </a:lnTo>
                <a:lnTo>
                  <a:pt x="4400" y="2014"/>
                </a:lnTo>
                <a:lnTo>
                  <a:pt x="7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189542" y="2761407"/>
            <a:ext cx="50165" cy="25400"/>
          </a:xfrm>
          <a:custGeom>
            <a:avLst/>
            <a:gdLst/>
            <a:ahLst/>
            <a:cxnLst/>
            <a:rect l="l" t="t" r="r" b="b"/>
            <a:pathLst>
              <a:path w="50165" h="25400">
                <a:moveTo>
                  <a:pt x="4401" y="0"/>
                </a:moveTo>
                <a:lnTo>
                  <a:pt x="0" y="5382"/>
                </a:lnTo>
                <a:lnTo>
                  <a:pt x="728" y="7847"/>
                </a:lnTo>
                <a:lnTo>
                  <a:pt x="3662" y="8524"/>
                </a:lnTo>
                <a:lnTo>
                  <a:pt x="5868" y="9193"/>
                </a:lnTo>
                <a:lnTo>
                  <a:pt x="8555" y="9193"/>
                </a:lnTo>
                <a:lnTo>
                  <a:pt x="14424" y="9870"/>
                </a:lnTo>
                <a:lnTo>
                  <a:pt x="25177" y="15026"/>
                </a:lnTo>
                <a:lnTo>
                  <a:pt x="30060" y="18387"/>
                </a:lnTo>
                <a:lnTo>
                  <a:pt x="35200" y="21078"/>
                </a:lnTo>
                <a:lnTo>
                  <a:pt x="40085" y="23543"/>
                </a:lnTo>
                <a:lnTo>
                  <a:pt x="45214" y="24888"/>
                </a:lnTo>
                <a:lnTo>
                  <a:pt x="50107" y="24888"/>
                </a:lnTo>
                <a:lnTo>
                  <a:pt x="17113" y="4036"/>
                </a:lnTo>
                <a:lnTo>
                  <a:pt x="440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681616" y="2987950"/>
            <a:ext cx="589280" cy="0"/>
          </a:xfrm>
          <a:custGeom>
            <a:avLst/>
            <a:gdLst/>
            <a:ahLst/>
            <a:cxnLst/>
            <a:rect l="l" t="t" r="r" b="b"/>
            <a:pathLst>
              <a:path w="589279">
                <a:moveTo>
                  <a:pt x="0" y="0"/>
                </a:moveTo>
                <a:lnTo>
                  <a:pt x="588832" y="0"/>
                </a:lnTo>
              </a:path>
            </a:pathLst>
          </a:custGeom>
          <a:ln w="23091">
            <a:solidFill>
              <a:srgbClr val="C48C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733192" y="1991095"/>
            <a:ext cx="47625" cy="17780"/>
          </a:xfrm>
          <a:custGeom>
            <a:avLst/>
            <a:gdLst/>
            <a:ahLst/>
            <a:cxnLst/>
            <a:rect l="l" t="t" r="r" b="b"/>
            <a:pathLst>
              <a:path w="47625" h="17780">
                <a:moveTo>
                  <a:pt x="0" y="0"/>
                </a:moveTo>
                <a:lnTo>
                  <a:pt x="22242" y="17699"/>
                </a:lnTo>
                <a:lnTo>
                  <a:pt x="47174" y="11197"/>
                </a:lnTo>
                <a:lnTo>
                  <a:pt x="0" y="0"/>
                </a:lnTo>
                <a:close/>
              </a:path>
            </a:pathLst>
          </a:custGeom>
          <a:solidFill>
            <a:srgbClr val="00B2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735141" y="2018007"/>
            <a:ext cx="45720" cy="161925"/>
          </a:xfrm>
          <a:custGeom>
            <a:avLst/>
            <a:gdLst/>
            <a:ahLst/>
            <a:cxnLst/>
            <a:rect l="l" t="t" r="r" b="b"/>
            <a:pathLst>
              <a:path w="45720" h="161925">
                <a:moveTo>
                  <a:pt x="45224" y="0"/>
                </a:moveTo>
                <a:lnTo>
                  <a:pt x="15153" y="4516"/>
                </a:lnTo>
                <a:lnTo>
                  <a:pt x="0" y="154689"/>
                </a:lnTo>
                <a:lnTo>
                  <a:pt x="42291" y="161869"/>
                </a:lnTo>
                <a:lnTo>
                  <a:pt x="45224" y="0"/>
                </a:lnTo>
                <a:close/>
              </a:path>
            </a:pathLst>
          </a:custGeom>
          <a:solidFill>
            <a:srgbClr val="00B2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713145" y="2181889"/>
            <a:ext cx="59690" cy="29845"/>
          </a:xfrm>
          <a:custGeom>
            <a:avLst/>
            <a:gdLst/>
            <a:ahLst/>
            <a:cxnLst/>
            <a:rect l="l" t="t" r="r" b="b"/>
            <a:pathLst>
              <a:path w="59690" h="29844">
                <a:moveTo>
                  <a:pt x="20046" y="0"/>
                </a:moveTo>
                <a:lnTo>
                  <a:pt x="0" y="16363"/>
                </a:lnTo>
                <a:lnTo>
                  <a:pt x="37150" y="29594"/>
                </a:lnTo>
                <a:lnTo>
                  <a:pt x="59394" y="9193"/>
                </a:lnTo>
                <a:lnTo>
                  <a:pt x="20046" y="0"/>
                </a:lnTo>
                <a:close/>
              </a:path>
            </a:pathLst>
          </a:custGeom>
          <a:solidFill>
            <a:srgbClr val="00B2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708015" y="2268423"/>
            <a:ext cx="80010" cy="355600"/>
          </a:xfrm>
          <a:custGeom>
            <a:avLst/>
            <a:gdLst/>
            <a:ahLst/>
            <a:cxnLst/>
            <a:rect l="l" t="t" r="r" b="b"/>
            <a:pathLst>
              <a:path w="80009" h="355600">
                <a:moveTo>
                  <a:pt x="79439" y="0"/>
                </a:moveTo>
                <a:lnTo>
                  <a:pt x="37396" y="0"/>
                </a:lnTo>
                <a:lnTo>
                  <a:pt x="37396" y="177554"/>
                </a:lnTo>
                <a:lnTo>
                  <a:pt x="0" y="348834"/>
                </a:lnTo>
                <a:lnTo>
                  <a:pt x="12218" y="355337"/>
                </a:lnTo>
                <a:lnTo>
                  <a:pt x="69416" y="186748"/>
                </a:lnTo>
                <a:lnTo>
                  <a:pt x="79439" y="0"/>
                </a:lnTo>
                <a:close/>
              </a:path>
            </a:pathLst>
          </a:custGeom>
          <a:solidFill>
            <a:srgbClr val="00B2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710949" y="2444189"/>
            <a:ext cx="22860" cy="127635"/>
          </a:xfrm>
          <a:custGeom>
            <a:avLst/>
            <a:gdLst/>
            <a:ahLst/>
            <a:cxnLst/>
            <a:rect l="l" t="t" r="r" b="b"/>
            <a:pathLst>
              <a:path w="22859" h="127635">
                <a:moveTo>
                  <a:pt x="22242" y="0"/>
                </a:moveTo>
                <a:lnTo>
                  <a:pt x="2195" y="6502"/>
                </a:lnTo>
                <a:lnTo>
                  <a:pt x="0" y="127109"/>
                </a:lnTo>
                <a:lnTo>
                  <a:pt x="22242" y="0"/>
                </a:lnTo>
                <a:close/>
              </a:path>
            </a:pathLst>
          </a:custGeom>
          <a:solidFill>
            <a:srgbClr val="00B2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708015" y="2225156"/>
            <a:ext cx="74930" cy="32384"/>
          </a:xfrm>
          <a:custGeom>
            <a:avLst/>
            <a:gdLst/>
            <a:ahLst/>
            <a:cxnLst/>
            <a:rect l="l" t="t" r="r" b="b"/>
            <a:pathLst>
              <a:path w="74929" h="32385">
                <a:moveTo>
                  <a:pt x="32266" y="0"/>
                </a:moveTo>
                <a:lnTo>
                  <a:pt x="0" y="4488"/>
                </a:lnTo>
                <a:lnTo>
                  <a:pt x="30060" y="29593"/>
                </a:lnTo>
                <a:lnTo>
                  <a:pt x="74546" y="32058"/>
                </a:lnTo>
                <a:lnTo>
                  <a:pt x="32266" y="0"/>
                </a:lnTo>
                <a:close/>
              </a:path>
            </a:pathLst>
          </a:custGeom>
          <a:solidFill>
            <a:srgbClr val="00B2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434249" y="2994116"/>
            <a:ext cx="709930" cy="34290"/>
          </a:xfrm>
          <a:custGeom>
            <a:avLst/>
            <a:gdLst/>
            <a:ahLst/>
            <a:cxnLst/>
            <a:rect l="l" t="t" r="r" b="b"/>
            <a:pathLst>
              <a:path w="709929" h="34289">
                <a:moveTo>
                  <a:pt x="196274" y="0"/>
                </a:moveTo>
                <a:lnTo>
                  <a:pt x="0" y="20400"/>
                </a:lnTo>
                <a:lnTo>
                  <a:pt x="579791" y="34075"/>
                </a:lnTo>
                <a:lnTo>
                  <a:pt x="709340" y="13898"/>
                </a:lnTo>
                <a:lnTo>
                  <a:pt x="266677" y="9190"/>
                </a:lnTo>
                <a:lnTo>
                  <a:pt x="196274" y="0"/>
                </a:lnTo>
                <a:close/>
              </a:path>
            </a:pathLst>
          </a:custGeom>
          <a:solidFill>
            <a:srgbClr val="C48C2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282388" y="1759654"/>
            <a:ext cx="519429" cy="51928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424705" y="1983772"/>
            <a:ext cx="155575" cy="241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A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450975" y="3812468"/>
            <a:ext cx="2143125" cy="454659"/>
          </a:xfrm>
          <a:custGeom>
            <a:avLst/>
            <a:gdLst/>
            <a:ahLst/>
            <a:cxnLst/>
            <a:rect l="l" t="t" r="r" b="b"/>
            <a:pathLst>
              <a:path w="2143125" h="454660">
                <a:moveTo>
                  <a:pt x="0" y="227188"/>
                </a:moveTo>
                <a:lnTo>
                  <a:pt x="14021" y="190337"/>
                </a:lnTo>
                <a:lnTo>
                  <a:pt x="54616" y="155379"/>
                </a:lnTo>
                <a:lnTo>
                  <a:pt x="119579" y="122782"/>
                </a:lnTo>
                <a:lnTo>
                  <a:pt x="160509" y="107515"/>
                </a:lnTo>
                <a:lnTo>
                  <a:pt x="206703" y="93014"/>
                </a:lnTo>
                <a:lnTo>
                  <a:pt x="257886" y="79336"/>
                </a:lnTo>
                <a:lnTo>
                  <a:pt x="313783" y="66542"/>
                </a:lnTo>
                <a:lnTo>
                  <a:pt x="374117" y="54688"/>
                </a:lnTo>
                <a:lnTo>
                  <a:pt x="438614" y="43834"/>
                </a:lnTo>
                <a:lnTo>
                  <a:pt x="506996" y="34038"/>
                </a:lnTo>
                <a:lnTo>
                  <a:pt x="578989" y="25358"/>
                </a:lnTo>
                <a:lnTo>
                  <a:pt x="654316" y="17853"/>
                </a:lnTo>
                <a:lnTo>
                  <a:pt x="732703" y="11582"/>
                </a:lnTo>
                <a:lnTo>
                  <a:pt x="813872" y="6602"/>
                </a:lnTo>
                <a:lnTo>
                  <a:pt x="897550" y="2973"/>
                </a:lnTo>
                <a:lnTo>
                  <a:pt x="983459" y="753"/>
                </a:lnTo>
                <a:lnTo>
                  <a:pt x="1071324" y="0"/>
                </a:lnTo>
                <a:lnTo>
                  <a:pt x="1159189" y="753"/>
                </a:lnTo>
                <a:lnTo>
                  <a:pt x="1245098" y="2973"/>
                </a:lnTo>
                <a:lnTo>
                  <a:pt x="1328776" y="6602"/>
                </a:lnTo>
                <a:lnTo>
                  <a:pt x="1409945" y="11582"/>
                </a:lnTo>
                <a:lnTo>
                  <a:pt x="1488332" y="17853"/>
                </a:lnTo>
                <a:lnTo>
                  <a:pt x="1563659" y="25358"/>
                </a:lnTo>
                <a:lnTo>
                  <a:pt x="1635652" y="34038"/>
                </a:lnTo>
                <a:lnTo>
                  <a:pt x="1704034" y="43834"/>
                </a:lnTo>
                <a:lnTo>
                  <a:pt x="1768530" y="54688"/>
                </a:lnTo>
                <a:lnTo>
                  <a:pt x="1828865" y="66542"/>
                </a:lnTo>
                <a:lnTo>
                  <a:pt x="1884761" y="79336"/>
                </a:lnTo>
                <a:lnTo>
                  <a:pt x="1935945" y="93014"/>
                </a:lnTo>
                <a:lnTo>
                  <a:pt x="1982139" y="107515"/>
                </a:lnTo>
                <a:lnTo>
                  <a:pt x="2023069" y="122782"/>
                </a:lnTo>
                <a:lnTo>
                  <a:pt x="2058458" y="138756"/>
                </a:lnTo>
                <a:lnTo>
                  <a:pt x="2111513" y="172592"/>
                </a:lnTo>
                <a:lnTo>
                  <a:pt x="2139097" y="208555"/>
                </a:lnTo>
                <a:lnTo>
                  <a:pt x="2142648" y="227188"/>
                </a:lnTo>
                <a:lnTo>
                  <a:pt x="2139097" y="245821"/>
                </a:lnTo>
                <a:lnTo>
                  <a:pt x="2111513" y="281785"/>
                </a:lnTo>
                <a:lnTo>
                  <a:pt x="2058458" y="315621"/>
                </a:lnTo>
                <a:lnTo>
                  <a:pt x="2023069" y="331595"/>
                </a:lnTo>
                <a:lnTo>
                  <a:pt x="1982139" y="346862"/>
                </a:lnTo>
                <a:lnTo>
                  <a:pt x="1935945" y="361363"/>
                </a:lnTo>
                <a:lnTo>
                  <a:pt x="1884761" y="375040"/>
                </a:lnTo>
                <a:lnTo>
                  <a:pt x="1828865" y="387835"/>
                </a:lnTo>
                <a:lnTo>
                  <a:pt x="1768530" y="399689"/>
                </a:lnTo>
                <a:lnTo>
                  <a:pt x="1704034" y="410543"/>
                </a:lnTo>
                <a:lnTo>
                  <a:pt x="1635652" y="420339"/>
                </a:lnTo>
                <a:lnTo>
                  <a:pt x="1563659" y="429019"/>
                </a:lnTo>
                <a:lnTo>
                  <a:pt x="1488332" y="436524"/>
                </a:lnTo>
                <a:lnTo>
                  <a:pt x="1409945" y="442795"/>
                </a:lnTo>
                <a:lnTo>
                  <a:pt x="1328776" y="447775"/>
                </a:lnTo>
                <a:lnTo>
                  <a:pt x="1245098" y="451404"/>
                </a:lnTo>
                <a:lnTo>
                  <a:pt x="1159189" y="453624"/>
                </a:lnTo>
                <a:lnTo>
                  <a:pt x="1071324" y="454377"/>
                </a:lnTo>
                <a:lnTo>
                  <a:pt x="983459" y="453624"/>
                </a:lnTo>
                <a:lnTo>
                  <a:pt x="897550" y="451404"/>
                </a:lnTo>
                <a:lnTo>
                  <a:pt x="813872" y="447775"/>
                </a:lnTo>
                <a:lnTo>
                  <a:pt x="732703" y="442795"/>
                </a:lnTo>
                <a:lnTo>
                  <a:pt x="654316" y="436524"/>
                </a:lnTo>
                <a:lnTo>
                  <a:pt x="578989" y="429019"/>
                </a:lnTo>
                <a:lnTo>
                  <a:pt x="506996" y="420339"/>
                </a:lnTo>
                <a:lnTo>
                  <a:pt x="438614" y="410543"/>
                </a:lnTo>
                <a:lnTo>
                  <a:pt x="374117" y="399689"/>
                </a:lnTo>
                <a:lnTo>
                  <a:pt x="313783" y="387835"/>
                </a:lnTo>
                <a:lnTo>
                  <a:pt x="257886" y="375040"/>
                </a:lnTo>
                <a:lnTo>
                  <a:pt x="206703" y="361363"/>
                </a:lnTo>
                <a:lnTo>
                  <a:pt x="160509" y="346862"/>
                </a:lnTo>
                <a:lnTo>
                  <a:pt x="119579" y="331595"/>
                </a:lnTo>
                <a:lnTo>
                  <a:pt x="84189" y="315621"/>
                </a:lnTo>
                <a:lnTo>
                  <a:pt x="31135" y="281785"/>
                </a:lnTo>
                <a:lnTo>
                  <a:pt x="3551" y="245821"/>
                </a:lnTo>
                <a:lnTo>
                  <a:pt x="0" y="227188"/>
                </a:lnTo>
                <a:close/>
              </a:path>
            </a:pathLst>
          </a:custGeom>
          <a:ln w="24341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61671" y="4027836"/>
            <a:ext cx="589915" cy="274955"/>
          </a:xfrm>
          <a:custGeom>
            <a:avLst/>
            <a:gdLst/>
            <a:ahLst/>
            <a:cxnLst/>
            <a:rect l="l" t="t" r="r" b="b"/>
            <a:pathLst>
              <a:path w="589915" h="274954">
                <a:moveTo>
                  <a:pt x="507720" y="0"/>
                </a:moveTo>
                <a:lnTo>
                  <a:pt x="517609" y="22244"/>
                </a:lnTo>
                <a:lnTo>
                  <a:pt x="0" y="252230"/>
                </a:lnTo>
                <a:lnTo>
                  <a:pt x="9888" y="274473"/>
                </a:lnTo>
                <a:lnTo>
                  <a:pt x="527498" y="44488"/>
                </a:lnTo>
                <a:lnTo>
                  <a:pt x="555710" y="44488"/>
                </a:lnTo>
                <a:lnTo>
                  <a:pt x="589303" y="3708"/>
                </a:lnTo>
                <a:lnTo>
                  <a:pt x="507720" y="0"/>
                </a:lnTo>
                <a:close/>
              </a:path>
              <a:path w="589915" h="274954">
                <a:moveTo>
                  <a:pt x="555710" y="44488"/>
                </a:moveTo>
                <a:lnTo>
                  <a:pt x="527498" y="44488"/>
                </a:lnTo>
                <a:lnTo>
                  <a:pt x="537386" y="66732"/>
                </a:lnTo>
                <a:lnTo>
                  <a:pt x="555710" y="44488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100262" y="3738641"/>
            <a:ext cx="4415790" cy="240665"/>
          </a:xfrm>
          <a:custGeom>
            <a:avLst/>
            <a:gdLst/>
            <a:ahLst/>
            <a:cxnLst/>
            <a:rect l="l" t="t" r="r" b="b"/>
            <a:pathLst>
              <a:path w="4415790" h="240664">
                <a:moveTo>
                  <a:pt x="624867" y="48635"/>
                </a:moveTo>
                <a:lnTo>
                  <a:pt x="72436" y="48635"/>
                </a:lnTo>
                <a:lnTo>
                  <a:pt x="4414617" y="240150"/>
                </a:lnTo>
                <a:lnTo>
                  <a:pt x="4415690" y="215832"/>
                </a:lnTo>
                <a:lnTo>
                  <a:pt x="624867" y="48635"/>
                </a:lnTo>
                <a:close/>
              </a:path>
              <a:path w="4415790" h="240664">
                <a:moveTo>
                  <a:pt x="74583" y="0"/>
                </a:moveTo>
                <a:lnTo>
                  <a:pt x="0" y="33258"/>
                </a:lnTo>
                <a:lnTo>
                  <a:pt x="71363" y="72953"/>
                </a:lnTo>
                <a:lnTo>
                  <a:pt x="72436" y="48635"/>
                </a:lnTo>
                <a:lnTo>
                  <a:pt x="624867" y="48635"/>
                </a:lnTo>
                <a:lnTo>
                  <a:pt x="73510" y="24317"/>
                </a:lnTo>
                <a:lnTo>
                  <a:pt x="74583" y="0"/>
                </a:lnTo>
                <a:close/>
              </a:path>
            </a:pathLst>
          </a:custGeom>
          <a:solidFill>
            <a:srgbClr val="00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697412" y="3681171"/>
            <a:ext cx="1854835" cy="321945"/>
          </a:xfrm>
          <a:custGeom>
            <a:avLst/>
            <a:gdLst/>
            <a:ahLst/>
            <a:cxnLst/>
            <a:rect l="l" t="t" r="r" b="b"/>
            <a:pathLst>
              <a:path w="1854834" h="321945">
                <a:moveTo>
                  <a:pt x="242757" y="48193"/>
                </a:moveTo>
                <a:lnTo>
                  <a:pt x="70589" y="48193"/>
                </a:lnTo>
                <a:lnTo>
                  <a:pt x="1782560" y="292694"/>
                </a:lnTo>
                <a:lnTo>
                  <a:pt x="1783367" y="297065"/>
                </a:lnTo>
                <a:lnTo>
                  <a:pt x="1789759" y="308609"/>
                </a:lnTo>
                <a:lnTo>
                  <a:pt x="1799863" y="317162"/>
                </a:lnTo>
                <a:lnTo>
                  <a:pt x="1812839" y="321607"/>
                </a:lnTo>
                <a:lnTo>
                  <a:pt x="1822624" y="321654"/>
                </a:lnTo>
                <a:lnTo>
                  <a:pt x="1833942" y="317911"/>
                </a:lnTo>
                <a:lnTo>
                  <a:pt x="1843518" y="310081"/>
                </a:lnTo>
                <a:lnTo>
                  <a:pt x="1850597" y="298314"/>
                </a:lnTo>
                <a:lnTo>
                  <a:pt x="1854424" y="282760"/>
                </a:lnTo>
                <a:lnTo>
                  <a:pt x="1851273" y="270802"/>
                </a:lnTo>
                <a:lnTo>
                  <a:pt x="1849701" y="268597"/>
                </a:lnTo>
                <a:lnTo>
                  <a:pt x="1786004" y="268597"/>
                </a:lnTo>
                <a:lnTo>
                  <a:pt x="242757" y="48193"/>
                </a:lnTo>
                <a:close/>
              </a:path>
              <a:path w="1854834" h="321945">
                <a:moveTo>
                  <a:pt x="1818660" y="248951"/>
                </a:moveTo>
                <a:lnTo>
                  <a:pt x="1805949" y="250988"/>
                </a:lnTo>
                <a:lnTo>
                  <a:pt x="1794974" y="257124"/>
                </a:lnTo>
                <a:lnTo>
                  <a:pt x="1786700" y="266635"/>
                </a:lnTo>
                <a:lnTo>
                  <a:pt x="1786004" y="268597"/>
                </a:lnTo>
                <a:lnTo>
                  <a:pt x="1849701" y="268597"/>
                </a:lnTo>
                <a:lnTo>
                  <a:pt x="1844013" y="260619"/>
                </a:lnTo>
                <a:lnTo>
                  <a:pt x="1833017" y="253054"/>
                </a:lnTo>
                <a:lnTo>
                  <a:pt x="1818660" y="248951"/>
                </a:lnTo>
                <a:close/>
              </a:path>
              <a:path w="1854834" h="321945">
                <a:moveTo>
                  <a:pt x="77475" y="0"/>
                </a:moveTo>
                <a:lnTo>
                  <a:pt x="0" y="25817"/>
                </a:lnTo>
                <a:lnTo>
                  <a:pt x="67144" y="72290"/>
                </a:lnTo>
                <a:lnTo>
                  <a:pt x="70589" y="48193"/>
                </a:lnTo>
                <a:lnTo>
                  <a:pt x="242757" y="48193"/>
                </a:lnTo>
                <a:lnTo>
                  <a:pt x="74032" y="24096"/>
                </a:lnTo>
                <a:lnTo>
                  <a:pt x="77475" y="0"/>
                </a:lnTo>
                <a:close/>
              </a:path>
            </a:pathLst>
          </a:custGeom>
          <a:solidFill>
            <a:srgbClr val="00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154737" y="6080300"/>
            <a:ext cx="160969" cy="1636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801973" y="1989050"/>
            <a:ext cx="4905375" cy="838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带名字的便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条</a:t>
            </a:r>
            <a:r>
              <a:rPr sz="3450" b="1" spc="-77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400" b="1" dirty="0">
                <a:latin typeface="Arial" panose="020B0604020202020204"/>
                <a:cs typeface="Arial" panose="020B0604020202020204"/>
              </a:rPr>
              <a:t>+</a:t>
            </a:r>
            <a:r>
              <a:rPr sz="2400" b="1" spc="-15" dirty="0">
                <a:latin typeface="Arial" panose="020B0604020202020204"/>
                <a:cs typeface="Arial" panose="020B0604020202020204"/>
              </a:rPr>
              <a:t> 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让一个人更加勤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劳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084580">
              <a:lnSpc>
                <a:spcPct val="100000"/>
              </a:lnSpc>
              <a:spcBef>
                <a:spcPts val="1265"/>
              </a:spcBef>
              <a:tabLst>
                <a:tab pos="3747135" algn="l"/>
              </a:tabLst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丈夫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妻子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94530" y="3252611"/>
            <a:ext cx="472440" cy="2921000"/>
          </a:xfrm>
          <a:prstGeom prst="rect">
            <a:avLst/>
          </a:prstGeom>
          <a:ln w="8116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0965" marR="103505" algn="just">
              <a:lnSpc>
                <a:spcPts val="2000"/>
              </a:lnSpc>
            </a:pPr>
            <a:r>
              <a:rPr sz="2000" b="1" spc="-2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丈 夫 是 那 个 更 勤 劳 的 人</a:t>
            </a:r>
            <a:endParaRPr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515417" y="3706988"/>
            <a:ext cx="1233805" cy="708660"/>
          </a:xfrm>
          <a:prstGeom prst="rect">
            <a:avLst/>
          </a:prstGeom>
          <a:ln w="8114">
            <a:solidFill>
              <a:srgbClr val="0000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 marR="106680">
              <a:lnSpc>
                <a:spcPct val="101000"/>
              </a:lnSpc>
            </a:pPr>
            <a:r>
              <a:rPr sz="1950" b="1" spc="85" dirty="0">
                <a:solidFill>
                  <a:srgbClr val="00006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各种情</a:t>
            </a:r>
            <a:r>
              <a:rPr sz="1950" b="1" spc="75" dirty="0">
                <a:solidFill>
                  <a:srgbClr val="00006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况</a:t>
            </a:r>
            <a:r>
              <a:rPr sz="1950" b="1" spc="35" dirty="0">
                <a:solidFill>
                  <a:srgbClr val="00006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solidFill>
                  <a:srgbClr val="00006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都正</a:t>
            </a:r>
            <a:r>
              <a:rPr sz="1950" b="1" spc="75" dirty="0">
                <a:solidFill>
                  <a:srgbClr val="000066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确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86226" y="6024475"/>
            <a:ext cx="537527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关键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选择一个进程进入，另一个进程循环等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待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26331" y="2898305"/>
            <a:ext cx="2532380" cy="2886075"/>
          </a:xfrm>
          <a:prstGeom prst="rect">
            <a:avLst/>
          </a:prstGeom>
          <a:ln w="8115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 marR="265430">
              <a:lnSpc>
                <a:spcPct val="103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leave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note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A;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 while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(note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B)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73660">
              <a:lnSpc>
                <a:spcPct val="100000"/>
              </a:lnSpc>
              <a:spcBef>
                <a:spcPts val="30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{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000066"/>
                </a:solidFill>
                <a:latin typeface="Courier New" panose="02070309020205020404"/>
                <a:cs typeface="Courier New" panose="02070309020205020404"/>
              </a:rPr>
              <a:t>//X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540385">
              <a:lnSpc>
                <a:spcPct val="100000"/>
              </a:lnSpc>
              <a:spcBef>
                <a:spcPts val="65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do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nothing;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73660">
              <a:lnSpc>
                <a:spcPct val="100000"/>
              </a:lnSpc>
              <a:spcBef>
                <a:spcPts val="30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}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540385" marR="421005" indent="-466725">
              <a:lnSpc>
                <a:spcPct val="103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if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(noMilk)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{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 buy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milk;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73660">
              <a:lnSpc>
                <a:spcPct val="100000"/>
              </a:lnSpc>
              <a:spcBef>
                <a:spcPts val="30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}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73660">
              <a:lnSpc>
                <a:spcPct val="100000"/>
              </a:lnSpc>
              <a:spcBef>
                <a:spcPts val="65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remove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note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A;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931148" y="2975489"/>
            <a:ext cx="2021839" cy="5715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leave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note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B;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algn="r">
              <a:lnSpc>
                <a:spcPct val="100000"/>
              </a:lnSpc>
              <a:spcBef>
                <a:spcPts val="65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A)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931148" y="3288671"/>
            <a:ext cx="1555115" cy="567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if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(noNote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{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000066"/>
                </a:solidFill>
                <a:latin typeface="Courier New" panose="02070309020205020404"/>
                <a:cs typeface="Courier New" panose="02070309020205020404"/>
              </a:rPr>
              <a:t>//Y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931148" y="3910802"/>
            <a:ext cx="2177415" cy="150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1665" marR="147320" indent="-311150">
              <a:lnSpc>
                <a:spcPct val="101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if(noMilk){ buy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milk;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310515">
              <a:lnSpc>
                <a:spcPct val="100000"/>
              </a:lnSpc>
              <a:spcBef>
                <a:spcPts val="65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}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}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remove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note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B;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788409" y="2891543"/>
            <a:ext cx="2597150" cy="2596515"/>
          </a:xfrm>
          <a:custGeom>
            <a:avLst/>
            <a:gdLst/>
            <a:ahLst/>
            <a:cxnLst/>
            <a:rect l="l" t="t" r="r" b="b"/>
            <a:pathLst>
              <a:path w="2597150" h="2596515">
                <a:moveTo>
                  <a:pt x="0" y="0"/>
                </a:moveTo>
                <a:lnTo>
                  <a:pt x="2597150" y="0"/>
                </a:lnTo>
                <a:lnTo>
                  <a:pt x="2597150" y="2596444"/>
                </a:lnTo>
                <a:lnTo>
                  <a:pt x="0" y="2596444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0">
              <a:lnSpc>
                <a:spcPct val="100000"/>
              </a:lnSpc>
            </a:pPr>
            <a:r>
              <a:rPr sz="2950" spc="100" dirty="0"/>
              <a:t>进入临界区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Pe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t</a:t>
            </a:r>
            <a:r>
              <a:rPr sz="3050" dirty="0">
                <a:latin typeface="Arial" panose="020B0604020202020204"/>
                <a:cs typeface="Arial" panose="020B0604020202020204"/>
              </a:rPr>
              <a:t>erso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n</a:t>
            </a:r>
            <a:r>
              <a:rPr sz="2950" spc="100" dirty="0"/>
              <a:t>算法</a:t>
            </a:r>
            <a:endParaRPr sz="29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1830" y="1882245"/>
            <a:ext cx="3954779" cy="344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结合了标记和轮转两种思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想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7043" y="2431756"/>
            <a:ext cx="3676650" cy="2726690"/>
          </a:xfrm>
          <a:custGeom>
            <a:avLst/>
            <a:gdLst/>
            <a:ahLst/>
            <a:cxnLst/>
            <a:rect l="l" t="t" r="r" b="b"/>
            <a:pathLst>
              <a:path w="3676650" h="2726690">
                <a:moveTo>
                  <a:pt x="0" y="0"/>
                </a:moveTo>
                <a:lnTo>
                  <a:pt x="3676590" y="0"/>
                </a:lnTo>
                <a:lnTo>
                  <a:pt x="3676590" y="2726266"/>
                </a:lnTo>
                <a:lnTo>
                  <a:pt x="0" y="2726266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13566" y="2541294"/>
            <a:ext cx="3578225" cy="1330960"/>
          </a:xfrm>
          <a:custGeom>
            <a:avLst/>
            <a:gdLst/>
            <a:ahLst/>
            <a:cxnLst/>
            <a:rect l="l" t="t" r="r" b="b"/>
            <a:pathLst>
              <a:path w="3578225" h="1330960">
                <a:moveTo>
                  <a:pt x="0" y="0"/>
                </a:moveTo>
                <a:lnTo>
                  <a:pt x="3577845" y="0"/>
                </a:lnTo>
                <a:lnTo>
                  <a:pt x="3577845" y="1330677"/>
                </a:lnTo>
                <a:lnTo>
                  <a:pt x="0" y="1330677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13566" y="4395317"/>
            <a:ext cx="2133600" cy="398145"/>
          </a:xfrm>
          <a:custGeom>
            <a:avLst/>
            <a:gdLst/>
            <a:ahLst/>
            <a:cxnLst/>
            <a:rect l="l" t="t" r="r" b="b"/>
            <a:pathLst>
              <a:path w="2133600" h="398145">
                <a:moveTo>
                  <a:pt x="0" y="0"/>
                </a:moveTo>
                <a:lnTo>
                  <a:pt x="2133180" y="0"/>
                </a:lnTo>
                <a:lnTo>
                  <a:pt x="2133180" y="397580"/>
                </a:lnTo>
                <a:lnTo>
                  <a:pt x="0" y="397580"/>
                </a:lnTo>
                <a:lnTo>
                  <a:pt x="0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77043" y="2431756"/>
            <a:ext cx="3676650" cy="272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 marR="1904365">
              <a:lnSpc>
                <a:spcPct val="153000"/>
              </a:lnSpc>
            </a:pP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f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[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]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;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tu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;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14300">
              <a:lnSpc>
                <a:spcPct val="100000"/>
              </a:lnSpc>
              <a:spcBef>
                <a:spcPts val="1265"/>
              </a:spcBef>
            </a:pPr>
            <a:r>
              <a:rPr sz="2000" b="1" spc="3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h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il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(f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[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]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tu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==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;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462280">
              <a:lnSpc>
                <a:spcPct val="100000"/>
              </a:lnSpc>
              <a:spcBef>
                <a:spcPts val="1180"/>
              </a:spcBef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临界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区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4300">
              <a:lnSpc>
                <a:spcPct val="100000"/>
              </a:lnSpc>
              <a:spcBef>
                <a:spcPts val="1340"/>
              </a:spcBef>
            </a:pP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f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[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]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f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se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;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462280">
              <a:lnSpc>
                <a:spcPct val="100000"/>
              </a:lnSpc>
              <a:spcBef>
                <a:spcPts val="240"/>
              </a:spcBef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剩余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区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31902" y="5282580"/>
            <a:ext cx="814705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进程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25" b="1" spc="7" baseline="-19000" dirty="0">
                <a:latin typeface="Arial" panose="020B0604020202020204"/>
                <a:cs typeface="Arial" panose="020B0604020202020204"/>
              </a:rPr>
              <a:t>0</a:t>
            </a:r>
            <a:endParaRPr sz="2025" baseline="-19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283491" y="2431756"/>
            <a:ext cx="3676650" cy="2726690"/>
          </a:xfrm>
          <a:custGeom>
            <a:avLst/>
            <a:gdLst/>
            <a:ahLst/>
            <a:cxnLst/>
            <a:rect l="l" t="t" r="r" b="b"/>
            <a:pathLst>
              <a:path w="3676650" h="2726690">
                <a:moveTo>
                  <a:pt x="0" y="0"/>
                </a:moveTo>
                <a:lnTo>
                  <a:pt x="3676590" y="0"/>
                </a:lnTo>
                <a:lnTo>
                  <a:pt x="3676590" y="2726266"/>
                </a:lnTo>
                <a:lnTo>
                  <a:pt x="0" y="2726266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320014" y="2541294"/>
            <a:ext cx="3578225" cy="1330960"/>
          </a:xfrm>
          <a:custGeom>
            <a:avLst/>
            <a:gdLst/>
            <a:ahLst/>
            <a:cxnLst/>
            <a:rect l="l" t="t" r="r" b="b"/>
            <a:pathLst>
              <a:path w="3578225" h="1330960">
                <a:moveTo>
                  <a:pt x="0" y="0"/>
                </a:moveTo>
                <a:lnTo>
                  <a:pt x="3577845" y="0"/>
                </a:lnTo>
                <a:lnTo>
                  <a:pt x="3577845" y="1330677"/>
                </a:lnTo>
                <a:lnTo>
                  <a:pt x="0" y="1330677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320014" y="4395317"/>
            <a:ext cx="2133600" cy="398145"/>
          </a:xfrm>
          <a:custGeom>
            <a:avLst/>
            <a:gdLst/>
            <a:ahLst/>
            <a:cxnLst/>
            <a:rect l="l" t="t" r="r" b="b"/>
            <a:pathLst>
              <a:path w="2133600" h="398145">
                <a:moveTo>
                  <a:pt x="0" y="0"/>
                </a:moveTo>
                <a:lnTo>
                  <a:pt x="2133180" y="0"/>
                </a:lnTo>
                <a:lnTo>
                  <a:pt x="2133180" y="397580"/>
                </a:lnTo>
                <a:lnTo>
                  <a:pt x="0" y="397580"/>
                </a:lnTo>
                <a:lnTo>
                  <a:pt x="0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283491" y="2431756"/>
            <a:ext cx="3676650" cy="272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 marR="1904365">
              <a:lnSpc>
                <a:spcPct val="153000"/>
              </a:lnSpc>
            </a:pP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f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[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]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;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tu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;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14300">
              <a:lnSpc>
                <a:spcPct val="100000"/>
              </a:lnSpc>
              <a:spcBef>
                <a:spcPts val="1265"/>
              </a:spcBef>
            </a:pPr>
            <a:r>
              <a:rPr sz="2000" b="1" spc="3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h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il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(f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[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]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tu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==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;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462280">
              <a:lnSpc>
                <a:spcPct val="100000"/>
              </a:lnSpc>
              <a:spcBef>
                <a:spcPts val="1180"/>
              </a:spcBef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临界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区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4300">
              <a:lnSpc>
                <a:spcPct val="100000"/>
              </a:lnSpc>
              <a:spcBef>
                <a:spcPts val="1340"/>
              </a:spcBef>
            </a:pP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f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[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]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f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se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;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462280">
              <a:lnSpc>
                <a:spcPct val="100000"/>
              </a:lnSpc>
              <a:spcBef>
                <a:spcPts val="240"/>
              </a:spcBef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剩余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区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13" name="object 13"/>
          <p:cNvSpPr txBox="1"/>
          <p:nvPr/>
        </p:nvSpPr>
        <p:spPr>
          <a:xfrm>
            <a:off x="5738350" y="5282580"/>
            <a:ext cx="814705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进程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25" b="1" spc="7" baseline="-19000" dirty="0">
                <a:latin typeface="Arial" panose="020B0604020202020204"/>
                <a:cs typeface="Arial" panose="020B0604020202020204"/>
              </a:rPr>
              <a:t>1</a:t>
            </a:r>
            <a:endParaRPr sz="2025" baseline="-190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0">
              <a:lnSpc>
                <a:spcPct val="100000"/>
              </a:lnSpc>
            </a:pPr>
            <a:r>
              <a:rPr sz="3050" spc="5" dirty="0">
                <a:latin typeface="Arial" panose="020B0604020202020204"/>
                <a:cs typeface="Arial" panose="020B0604020202020204"/>
              </a:rPr>
              <a:t>Pe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t</a:t>
            </a:r>
            <a:r>
              <a:rPr sz="3050" dirty="0">
                <a:latin typeface="Arial" panose="020B0604020202020204"/>
                <a:cs typeface="Arial" panose="020B0604020202020204"/>
              </a:rPr>
              <a:t>erso</a:t>
            </a:r>
            <a:r>
              <a:rPr sz="3050" spc="10" dirty="0">
                <a:latin typeface="Arial" panose="020B0604020202020204"/>
                <a:cs typeface="Arial" panose="020B0604020202020204"/>
              </a:rPr>
              <a:t>n</a:t>
            </a:r>
            <a:r>
              <a:rPr sz="2950" spc="100" dirty="0"/>
              <a:t>算法的正确性</a:t>
            </a:r>
            <a:endParaRPr sz="29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31033" y="2005776"/>
            <a:ext cx="2987040" cy="2402205"/>
          </a:xfrm>
          <a:custGeom>
            <a:avLst/>
            <a:gdLst/>
            <a:ahLst/>
            <a:cxnLst/>
            <a:rect l="l" t="t" r="r" b="b"/>
            <a:pathLst>
              <a:path w="2987040" h="2402204">
                <a:moveTo>
                  <a:pt x="0" y="0"/>
                </a:moveTo>
                <a:lnTo>
                  <a:pt x="2986722" y="0"/>
                </a:lnTo>
                <a:lnTo>
                  <a:pt x="2986722" y="2401711"/>
                </a:lnTo>
                <a:lnTo>
                  <a:pt x="0" y="2401711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567554" y="2115314"/>
            <a:ext cx="2885440" cy="1125220"/>
          </a:xfrm>
          <a:custGeom>
            <a:avLst/>
            <a:gdLst/>
            <a:ahLst/>
            <a:cxnLst/>
            <a:rect l="l" t="t" r="r" b="b"/>
            <a:pathLst>
              <a:path w="2885440" h="1125220">
                <a:moveTo>
                  <a:pt x="0" y="0"/>
                </a:moveTo>
                <a:lnTo>
                  <a:pt x="2885271" y="0"/>
                </a:lnTo>
                <a:lnTo>
                  <a:pt x="2885271" y="1125125"/>
                </a:lnTo>
                <a:lnTo>
                  <a:pt x="0" y="1125125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67554" y="3628555"/>
            <a:ext cx="2133600" cy="346710"/>
          </a:xfrm>
          <a:custGeom>
            <a:avLst/>
            <a:gdLst/>
            <a:ahLst/>
            <a:cxnLst/>
            <a:rect l="l" t="t" r="r" b="b"/>
            <a:pathLst>
              <a:path w="2133600" h="346710">
                <a:moveTo>
                  <a:pt x="0" y="0"/>
                </a:moveTo>
                <a:lnTo>
                  <a:pt x="2133180" y="0"/>
                </a:lnTo>
                <a:lnTo>
                  <a:pt x="2133180" y="346192"/>
                </a:lnTo>
                <a:lnTo>
                  <a:pt x="0" y="346192"/>
                </a:lnTo>
                <a:lnTo>
                  <a:pt x="0" y="0"/>
                </a:lnTo>
                <a:close/>
              </a:path>
            </a:pathLst>
          </a:custGeom>
          <a:ln w="8113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531033" y="2005776"/>
            <a:ext cx="2987040" cy="24022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 marR="1551940">
              <a:lnSpc>
                <a:spcPct val="150000"/>
              </a:lnSpc>
            </a:pP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fl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[i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]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tr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;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j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;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14300">
              <a:lnSpc>
                <a:spcPct val="100000"/>
              </a:lnSpc>
              <a:spcBef>
                <a:spcPts val="1025"/>
              </a:spcBef>
            </a:pP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h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il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(fl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[j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]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 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j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;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114300" indent="412750">
              <a:lnSpc>
                <a:spcPct val="100000"/>
              </a:lnSpc>
              <a:spcBef>
                <a:spcPts val="700"/>
              </a:spcBef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临界区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14300">
              <a:lnSpc>
                <a:spcPct val="100000"/>
              </a:lnSpc>
              <a:spcBef>
                <a:spcPts val="1055"/>
              </a:spcBef>
            </a:pP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fl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g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[i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]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f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se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;</a:t>
            </a:r>
            <a:endParaRPr sz="1700">
              <a:latin typeface="Arial" panose="020B0604020202020204"/>
              <a:cs typeface="Arial" panose="020B0604020202020204"/>
            </a:endParaRPr>
          </a:p>
          <a:p>
            <a:pPr marL="527050">
              <a:lnSpc>
                <a:spcPct val="100000"/>
              </a:lnSpc>
              <a:spcBef>
                <a:spcPts val="945"/>
              </a:spcBef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剩余区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69242" y="4460972"/>
            <a:ext cx="643255" cy="2870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进程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P</a:t>
            </a:r>
            <a:r>
              <a:rPr sz="1650" b="1" spc="7" baseline="-20000" dirty="0">
                <a:latin typeface="Arial" panose="020B0604020202020204"/>
                <a:cs typeface="Arial" panose="020B0604020202020204"/>
              </a:rPr>
              <a:t>i</a:t>
            </a:r>
            <a:endParaRPr sz="1650" baseline="-20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5165" y="1988197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5165" y="3597451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996653" y="1858429"/>
            <a:ext cx="3386454" cy="3538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10540">
              <a:lnSpc>
                <a:spcPct val="124000"/>
              </a:lnSpc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满足互斥进入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: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如果两个进程都进入，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则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f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g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[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0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]=f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g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[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1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]=t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u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e</a:t>
            </a:r>
            <a:r>
              <a:rPr sz="2925" b="1" spc="8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 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tu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==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0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==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1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，矛盾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!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23000"/>
              </a:lnSpc>
              <a:spcBef>
                <a:spcPts val="890"/>
              </a:spcBef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满足有空让进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: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如果进程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25" b="1" baseline="-19000" dirty="0">
                <a:latin typeface="Arial" panose="020B0604020202020204"/>
                <a:cs typeface="Arial" panose="020B0604020202020204"/>
              </a:rPr>
              <a:t>1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不在临界区，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则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f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g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[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1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]=f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s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e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，或者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tu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=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0</a:t>
            </a:r>
            <a:r>
              <a:rPr sz="2925" b="1" spc="8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都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25" b="1" baseline="-19000" dirty="0">
                <a:latin typeface="Arial" panose="020B0604020202020204"/>
                <a:cs typeface="Arial" panose="020B0604020202020204"/>
              </a:rPr>
              <a:t>0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能进入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!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650"/>
              </a:spcBef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满足有限等待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: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3003" y="5149553"/>
            <a:ext cx="5878195" cy="7099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2000"/>
              </a:lnSpc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25" b="1" baseline="-19000" dirty="0">
                <a:latin typeface="Arial" panose="020B0604020202020204"/>
                <a:cs typeface="Arial" panose="020B0604020202020204"/>
              </a:rPr>
              <a:t>0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要求进入，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f</a:t>
            </a:r>
            <a:r>
              <a:rPr sz="2000" b="1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g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[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0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]=t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u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e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；后面的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25" b="1" baseline="-19000" dirty="0">
                <a:latin typeface="Arial" panose="020B0604020202020204"/>
                <a:cs typeface="Arial" panose="020B0604020202020204"/>
              </a:rPr>
              <a:t>1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不可能一直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进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入，因为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25" b="1" baseline="-19000" dirty="0">
                <a:latin typeface="Arial" panose="020B0604020202020204"/>
                <a:cs typeface="Arial" panose="020B0604020202020204"/>
              </a:rPr>
              <a:t>1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执行一次就会让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tu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r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=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0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65165" y="5233752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472" y="1214867"/>
            <a:ext cx="9998455" cy="393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0">
              <a:lnSpc>
                <a:spcPct val="100000"/>
              </a:lnSpc>
            </a:pPr>
            <a:r>
              <a:rPr sz="2950" spc="100" dirty="0"/>
              <a:t>多个进程怎么办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?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 </a:t>
            </a:r>
            <a:r>
              <a:rPr sz="2950" spc="60" dirty="0">
                <a:latin typeface="Symbol" panose="05050102010706020507"/>
                <a:cs typeface="Symbol" panose="05050102010706020507"/>
              </a:rPr>
              <a:t></a:t>
            </a:r>
            <a:r>
              <a:rPr sz="2950" spc="1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950" spc="100" dirty="0"/>
              <a:t>面包店算法</a:t>
            </a:r>
            <a:endParaRPr sz="29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72115" y="1947139"/>
            <a:ext cx="4855845" cy="11906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仍然是标记和轮转的结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合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31495" marR="5080">
              <a:lnSpc>
                <a:spcPct val="125000"/>
              </a:lnSpc>
              <a:spcBef>
                <a:spcPts val="675"/>
              </a:spcBef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如何轮转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每个进程都获得一个序号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序号最小的进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入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9951" y="2537236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727562" y="2374402"/>
            <a:ext cx="4625975" cy="653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5000"/>
              </a:lnSpc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如何标记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进程离开时序号为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0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，不为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0</a:t>
            </a:r>
            <a:r>
              <a:rPr sz="2925" b="1" spc="8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的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序号即标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记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04964" y="2507485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91439" y="3257038"/>
            <a:ext cx="9010650" cy="653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5000"/>
              </a:lnSpc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面包店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每个进入商店的客户都获得一个号码，号码最小的先得到服务；号码</a:t>
            </a:r>
            <a:r>
              <a:rPr sz="2925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相</a:t>
            </a:r>
            <a:r>
              <a:rPr sz="2925" b="1" spc="5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同时，名字靠前的先服务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9951" y="3335102"/>
            <a:ext cx="175848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256188" y="4139730"/>
            <a:ext cx="6038850" cy="1125220"/>
          </a:xfrm>
          <a:prstGeom prst="rect">
            <a:avLst/>
          </a:prstGeom>
          <a:ln w="8113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 marR="99695" algn="just">
              <a:lnSpc>
                <a:spcPct val="150000"/>
              </a:lnSpc>
            </a:pP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ch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oo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ng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[</a:t>
            </a:r>
            <a:r>
              <a:rPr sz="1700" b="1" spc="-1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]</a:t>
            </a:r>
            <a:r>
              <a:rPr sz="1700" b="1" spc="-1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spc="-1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e;</a:t>
            </a:r>
            <a:r>
              <a:rPr sz="1700" b="1" spc="-1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nu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[</a:t>
            </a:r>
            <a:r>
              <a:rPr sz="1700" b="1" spc="-1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]</a:t>
            </a:r>
            <a:r>
              <a:rPr sz="1700" b="1" spc="-1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spc="-1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max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nu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[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]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,</a:t>
            </a:r>
            <a:r>
              <a:rPr sz="1700" b="1" spc="-1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…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,</a:t>
            </a:r>
            <a:r>
              <a:rPr sz="1700" b="1" spc="-1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nu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[</a:t>
            </a:r>
            <a:r>
              <a:rPr sz="1700" b="1" spc="2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-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]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)+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1;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ch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oo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ng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[</a:t>
            </a:r>
            <a:r>
              <a:rPr sz="1700" b="1" spc="-1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]</a:t>
            </a:r>
            <a:r>
              <a:rPr sz="1700" b="1" spc="-1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spc="-1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f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se;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f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o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r(j=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</a:t>
            </a:r>
            <a:r>
              <a:rPr sz="1700" b="1" dirty="0">
                <a:latin typeface="Arial" panose="020B0604020202020204"/>
                <a:cs typeface="Arial" panose="020B0604020202020204"/>
              </a:rPr>
              <a:t>;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j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&lt;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n</a:t>
            </a:r>
            <a:r>
              <a:rPr sz="1700" b="1" dirty="0">
                <a:latin typeface="Arial" panose="020B0604020202020204"/>
                <a:cs typeface="Arial" panose="020B0604020202020204"/>
              </a:rPr>
              <a:t>;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j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++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{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h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il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hoo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ng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[j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]);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h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il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((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[j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]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!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nu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[j]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,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j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)&lt;(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[i]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,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]))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;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10" name="object 10"/>
          <p:cNvSpPr txBox="1"/>
          <p:nvPr/>
        </p:nvSpPr>
        <p:spPr>
          <a:xfrm>
            <a:off x="1256030" y="4149090"/>
            <a:ext cx="6311265" cy="3231515"/>
          </a:xfrm>
          <a:prstGeom prst="rect">
            <a:avLst/>
          </a:prstGeom>
          <a:ln w="8114">
            <a:solidFill>
              <a:srgbClr val="000066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marL="539115" marR="4963795">
              <a:lnSpc>
                <a:spcPct val="299000"/>
              </a:lnSpc>
            </a:pPr>
            <a:endParaRPr sz="1650" b="1" spc="40" dirty="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539115" marR="4963795">
              <a:lnSpc>
                <a:spcPct val="299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临界区 剩余区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30483" y="5759297"/>
            <a:ext cx="2133600" cy="346710"/>
          </a:xfrm>
          <a:prstGeom prst="rect">
            <a:avLst/>
          </a:prstGeom>
          <a:ln w="8113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>
              <a:lnSpc>
                <a:spcPct val="100000"/>
              </a:lnSpc>
            </a:pP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nu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[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]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;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3902" y="4675556"/>
            <a:ext cx="283845" cy="959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4000"/>
              </a:lnSpc>
            </a:pPr>
            <a:r>
              <a:rPr sz="1950" b="1" spc="55" dirty="0">
                <a:latin typeface="宋体" panose="02010600030101010101" pitchFamily="2" charset="-122"/>
                <a:cs typeface="宋体" panose="02010600030101010101" pitchFamily="2" charset="-122"/>
              </a:rPr>
              <a:t>进 程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25" b="1" baseline="-19000" dirty="0">
                <a:latin typeface="Arial" panose="020B0604020202020204"/>
                <a:cs typeface="Arial" panose="020B0604020202020204"/>
              </a:rPr>
              <a:t>i</a:t>
            </a:r>
            <a:endParaRPr sz="2025" baseline="-1900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0">
              <a:lnSpc>
                <a:spcPts val="3470"/>
              </a:lnSpc>
            </a:pPr>
            <a:r>
              <a:rPr spc="100" dirty="0"/>
              <a:t>面包店算法的正确性</a:t>
            </a:r>
            <a:endParaRPr spc="100" dirty="0"/>
          </a:p>
        </p:txBody>
      </p:sp>
      <p:sp>
        <p:nvSpPr>
          <p:cNvPr id="3" name="object 3"/>
          <p:cNvSpPr txBox="1"/>
          <p:nvPr/>
        </p:nvSpPr>
        <p:spPr>
          <a:xfrm>
            <a:off x="2359977" y="1867841"/>
            <a:ext cx="6038850" cy="1125220"/>
          </a:xfrm>
          <a:prstGeom prst="rect">
            <a:avLst/>
          </a:prstGeom>
          <a:ln w="8113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 marR="99695" algn="just">
              <a:lnSpc>
                <a:spcPct val="150000"/>
              </a:lnSpc>
            </a:pP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ch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oo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ng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[</a:t>
            </a:r>
            <a:r>
              <a:rPr sz="1700" b="1" spc="-1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]</a:t>
            </a:r>
            <a:r>
              <a:rPr sz="1700" b="1" spc="-1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spc="-1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e;</a:t>
            </a:r>
            <a:r>
              <a:rPr sz="1700" b="1" spc="-1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nu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[</a:t>
            </a:r>
            <a:r>
              <a:rPr sz="1700" b="1" spc="-1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]</a:t>
            </a:r>
            <a:r>
              <a:rPr sz="1700" b="1" spc="-1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spc="-1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max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nu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[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]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,</a:t>
            </a:r>
            <a:r>
              <a:rPr sz="1700" b="1" spc="-1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…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,</a:t>
            </a:r>
            <a:r>
              <a:rPr sz="1700" b="1" spc="-1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nu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[</a:t>
            </a:r>
            <a:r>
              <a:rPr sz="1700" b="1" spc="2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-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1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]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)+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1;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ch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oo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ng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[</a:t>
            </a:r>
            <a:r>
              <a:rPr sz="1700" b="1" spc="-1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]</a:t>
            </a:r>
            <a:r>
              <a:rPr sz="1700" b="1" spc="-1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spc="-10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f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700" b="1" spc="-5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se;</a:t>
            </a:r>
            <a:r>
              <a:rPr sz="1700" b="1" dirty="0">
                <a:solidFill>
                  <a:srgbClr val="000066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f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o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r(j=</a:t>
            </a:r>
            <a:r>
              <a:rPr sz="1700" b="1" dirty="0">
                <a:latin typeface="Arial" panose="020B0604020202020204"/>
                <a:cs typeface="Arial" panose="020B0604020202020204"/>
              </a:rPr>
              <a:t>0</a:t>
            </a:r>
            <a:r>
              <a:rPr sz="1700" b="1" dirty="0">
                <a:latin typeface="Arial" panose="020B0604020202020204"/>
                <a:cs typeface="Arial" panose="020B0604020202020204"/>
              </a:rPr>
              <a:t>;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j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&lt;</a:t>
            </a:r>
            <a:r>
              <a:rPr sz="1700" b="1" spc="5" dirty="0">
                <a:latin typeface="Arial" panose="020B0604020202020204"/>
                <a:cs typeface="Arial" panose="020B0604020202020204"/>
              </a:rPr>
              <a:t>n</a:t>
            </a:r>
            <a:r>
              <a:rPr sz="1700" b="1" dirty="0">
                <a:latin typeface="Arial" panose="020B0604020202020204"/>
                <a:cs typeface="Arial" panose="020B0604020202020204"/>
              </a:rPr>
              <a:t>;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j</a:t>
            </a:r>
            <a:r>
              <a:rPr sz="1700" b="1" spc="-5" dirty="0">
                <a:latin typeface="Arial" panose="020B0604020202020204"/>
                <a:cs typeface="Arial" panose="020B0604020202020204"/>
              </a:rPr>
              <a:t>++</a:t>
            </a:r>
            <a:r>
              <a:rPr sz="1700" b="1" dirty="0">
                <a:latin typeface="Arial" panose="020B0604020202020204"/>
                <a:cs typeface="Arial" panose="020B0604020202020204"/>
              </a:rPr>
              <a:t>)</a:t>
            </a:r>
            <a:r>
              <a:rPr sz="17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{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h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il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hoo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ng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[j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]);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h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il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((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[j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]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!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&amp;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nu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[j]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,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j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)&lt;(</a:t>
            </a: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[i]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,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]))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;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}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95048" y="1824567"/>
            <a:ext cx="6168390" cy="1947545"/>
          </a:xfrm>
          <a:prstGeom prst="rect">
            <a:avLst/>
          </a:prstGeom>
          <a:ln w="8114">
            <a:solidFill>
              <a:srgbClr val="0000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539115">
              <a:lnSpc>
                <a:spcPct val="100000"/>
              </a:lnSpc>
            </a:pP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临界区</a:t>
            </a:r>
            <a:endParaRPr sz="16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59977" y="3364853"/>
            <a:ext cx="2133600" cy="346710"/>
          </a:xfrm>
          <a:prstGeom prst="rect">
            <a:avLst/>
          </a:prstGeom>
          <a:ln w="8113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>
              <a:lnSpc>
                <a:spcPct val="100000"/>
              </a:lnSpc>
            </a:pPr>
            <a:r>
              <a:rPr sz="17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nu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17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[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]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17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0</a:t>
            </a:r>
            <a:r>
              <a:rPr sz="17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;</a:t>
            </a:r>
            <a:endParaRPr sz="17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57690" y="2431323"/>
            <a:ext cx="283845" cy="9594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4000"/>
              </a:lnSpc>
            </a:pPr>
            <a:r>
              <a:rPr sz="1950" b="1" spc="55" dirty="0">
                <a:latin typeface="宋体" panose="02010600030101010101" pitchFamily="2" charset="-122"/>
                <a:cs typeface="宋体" panose="02010600030101010101" pitchFamily="2" charset="-122"/>
              </a:rPr>
              <a:t>进 程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25" b="1" baseline="-19000" dirty="0">
                <a:latin typeface="Arial" panose="020B0604020202020204"/>
                <a:cs typeface="Arial" panose="020B0604020202020204"/>
              </a:rPr>
              <a:t>i</a:t>
            </a:r>
            <a:endParaRPr sz="2025" baseline="-19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71830" y="3954462"/>
            <a:ext cx="160968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71830" y="4798307"/>
            <a:ext cx="160968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03318" y="3876230"/>
            <a:ext cx="9241790" cy="2404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5000"/>
              </a:lnSpc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互斥进入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25" b="1" baseline="-19000" dirty="0">
                <a:latin typeface="Arial" panose="020B0604020202020204"/>
                <a:cs typeface="Arial" panose="020B0604020202020204"/>
              </a:rPr>
              <a:t>i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在临界区内，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25" b="1" baseline="-19000" dirty="0">
                <a:latin typeface="Arial" panose="020B0604020202020204"/>
                <a:cs typeface="Arial" panose="020B0604020202020204"/>
              </a:rPr>
              <a:t>k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试图进入，一定有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(nu</a:t>
            </a:r>
            <a:r>
              <a:rPr sz="2000" b="1" spc="40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[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],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)&lt;(n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u</a:t>
            </a:r>
            <a:r>
              <a:rPr sz="2000" b="1" spc="40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[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k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]</a:t>
            </a:r>
            <a:r>
              <a:rPr sz="2000" b="1" dirty="0">
                <a:latin typeface="Arial" panose="020B0604020202020204"/>
                <a:cs typeface="Arial" panose="020B0604020202020204"/>
              </a:rPr>
              <a:t>,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k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)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25" b="1" baseline="-19000" dirty="0">
                <a:latin typeface="Arial" panose="020B0604020202020204"/>
                <a:cs typeface="Arial" panose="020B0604020202020204"/>
              </a:rPr>
              <a:t>k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循环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等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待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3611245">
              <a:lnSpc>
                <a:spcPct val="125000"/>
              </a:lnSpc>
              <a:spcBef>
                <a:spcPts val="725"/>
              </a:spcBef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有空让进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如果没有进程在临界区中，最小序号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进程一定能够进入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3611245">
              <a:lnSpc>
                <a:spcPct val="124000"/>
              </a:lnSpc>
              <a:spcBef>
                <a:spcPts val="1110"/>
              </a:spcBef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有限等待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离开临界区的进程再次进入一定排在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最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后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(F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F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O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)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，所以任一个想进入进程至多等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个进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程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71830" y="5688130"/>
            <a:ext cx="160968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24844" y="2970658"/>
            <a:ext cx="7643495" cy="12045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43075" marR="5080" indent="-1731010">
              <a:lnSpc>
                <a:spcPts val="4900"/>
              </a:lnSpc>
            </a:pPr>
            <a:r>
              <a:rPr sz="3950" b="1" spc="114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一个显然的感觉是</a:t>
            </a:r>
            <a:r>
              <a:rPr sz="4100" b="1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:</a:t>
            </a:r>
            <a:r>
              <a:rPr sz="4100" b="1" spc="-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 </a:t>
            </a:r>
            <a:r>
              <a:rPr sz="3950" b="1" spc="114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太复杂了，</a:t>
            </a:r>
            <a:r>
              <a:rPr sz="3950" b="1" spc="13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有</a:t>
            </a:r>
            <a:r>
              <a:rPr sz="3950" b="1" spc="65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 </a:t>
            </a:r>
            <a:r>
              <a:rPr sz="3950" b="1" spc="114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没有简单一些的</a:t>
            </a:r>
            <a:r>
              <a:rPr sz="4100" b="1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…</a:t>
            </a:r>
            <a:endParaRPr sz="41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0">
              <a:lnSpc>
                <a:spcPct val="100000"/>
              </a:lnSpc>
            </a:pPr>
            <a:r>
              <a:rPr sz="2950" spc="100" dirty="0"/>
              <a:t>临界区保护的另一类解法</a:t>
            </a:r>
            <a:r>
              <a:rPr sz="3050" spc="15" dirty="0">
                <a:latin typeface="Arial" panose="020B0604020202020204"/>
                <a:cs typeface="Arial" panose="020B0604020202020204"/>
              </a:rPr>
              <a:t>…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3566" y="3816526"/>
            <a:ext cx="2496185" cy="398145"/>
          </a:xfrm>
          <a:prstGeom prst="rect">
            <a:avLst/>
          </a:prstGeom>
          <a:ln w="8113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();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2115" y="3706988"/>
            <a:ext cx="2922270" cy="2207260"/>
          </a:xfrm>
          <a:prstGeom prst="rect">
            <a:avLst/>
          </a:prstGeom>
          <a:ln w="8114">
            <a:solidFill>
              <a:srgbClr val="000066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3730" marR="1494155" indent="-43815">
              <a:lnSpc>
                <a:spcPct val="37100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临界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区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剩余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区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3566" y="4875388"/>
            <a:ext cx="2496185" cy="398145"/>
          </a:xfrm>
          <a:prstGeom prst="rect">
            <a:avLst/>
          </a:prstGeom>
          <a:ln w="8113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();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8546" y="6103213"/>
            <a:ext cx="766445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进程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25" b="1" baseline="-19000" dirty="0">
                <a:latin typeface="Arial" panose="020B0604020202020204"/>
                <a:cs typeface="Arial" panose="020B0604020202020204"/>
              </a:rPr>
              <a:t>i</a:t>
            </a:r>
            <a:endParaRPr sz="2025" baseline="-19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7329" y="1825732"/>
            <a:ext cx="6680834" cy="1785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0" marR="5080" indent="-292100">
              <a:lnSpc>
                <a:spcPct val="13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再想一下临界区：</a:t>
            </a: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只允许一个进程进入，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进入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另</a:t>
            </a:r>
            <a:r>
              <a:rPr sz="3450" b="1" spc="6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一个进程意味着什么</a:t>
            </a:r>
            <a:r>
              <a:rPr sz="2400" b="1" dirty="0">
                <a:latin typeface="Arial" panose="020B0604020202020204"/>
                <a:cs typeface="Arial" panose="020B0604020202020204"/>
              </a:rPr>
              <a:t>?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531495" marR="12065">
              <a:lnSpc>
                <a:spcPct val="124000"/>
              </a:lnSpc>
              <a:spcBef>
                <a:spcPts val="745"/>
              </a:spcBef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被调度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另一个进程只有被调度才能执行，才可能进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入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临界区，如何阻止调度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5165" y="2961864"/>
            <a:ext cx="160969" cy="16362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557102" y="3870619"/>
            <a:ext cx="160969" cy="16362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557102" y="4357529"/>
            <a:ext cx="160969" cy="16372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940990" y="3816376"/>
            <a:ext cx="2520315" cy="14020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52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什么时候不好使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? </a:t>
            </a:r>
            <a:endParaRPr sz="2000" b="1" spc="10" dirty="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52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多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U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… </a:t>
            </a:r>
            <a:endParaRPr sz="2000" b="1" spc="15" dirty="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52000"/>
              </a:lnSpc>
            </a:pPr>
            <a:r>
              <a:rPr sz="2925" b="1" u="sng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问题：为什么不好使</a:t>
            </a:r>
            <a:r>
              <a:rPr sz="2000" b="1" u="sng" spc="20" dirty="0">
                <a:latin typeface="Arial" panose="020B0604020202020204"/>
                <a:cs typeface="Arial" panose="020B0604020202020204"/>
              </a:rPr>
              <a:t>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0">
              <a:lnSpc>
                <a:spcPts val="3470"/>
              </a:lnSpc>
            </a:pPr>
            <a:r>
              <a:rPr spc="100" dirty="0"/>
              <a:t>临界区保护的硬件原子指令法</a:t>
            </a:r>
            <a:endParaRPr spc="100" dirty="0"/>
          </a:p>
        </p:txBody>
      </p:sp>
      <p:sp>
        <p:nvSpPr>
          <p:cNvPr id="3" name="object 3"/>
          <p:cNvSpPr txBox="1"/>
          <p:nvPr/>
        </p:nvSpPr>
        <p:spPr>
          <a:xfrm>
            <a:off x="541972" y="1888125"/>
            <a:ext cx="4090670" cy="2661920"/>
          </a:xfrm>
          <a:prstGeom prst="rect">
            <a:avLst/>
          </a:prstGeom>
          <a:ln w="10819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63220" marR="287020" indent="-292100">
              <a:lnSpc>
                <a:spcPts val="22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boolean </a:t>
            </a:r>
            <a:r>
              <a:rPr sz="2000" b="1" u="sng" spc="2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TestAndSe</a:t>
            </a:r>
            <a:r>
              <a:rPr sz="2000" b="1" u="sng" spc="2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t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(boolean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&amp;x)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71120">
              <a:lnSpc>
                <a:spcPct val="100000"/>
              </a:lnSpc>
              <a:spcBef>
                <a:spcPts val="260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{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537845" marR="1200785">
              <a:lnSpc>
                <a:spcPct val="113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boolean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rv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x;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 x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true;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 return</a:t>
            </a:r>
            <a:r>
              <a:rPr sz="2000" b="1" spc="2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rv;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71120">
              <a:lnSpc>
                <a:spcPct val="100000"/>
              </a:lnSpc>
              <a:spcBef>
                <a:spcPts val="300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}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93623" y="2932112"/>
            <a:ext cx="123825" cy="1038225"/>
          </a:xfrm>
          <a:custGeom>
            <a:avLst/>
            <a:gdLst/>
            <a:ahLst/>
            <a:cxnLst/>
            <a:rect l="l" t="t" r="r" b="b"/>
            <a:pathLst>
              <a:path w="123825" h="1038225">
                <a:moveTo>
                  <a:pt x="0" y="0"/>
                </a:moveTo>
                <a:lnTo>
                  <a:pt x="43713" y="22552"/>
                </a:lnTo>
                <a:lnTo>
                  <a:pt x="62281" y="62006"/>
                </a:lnTo>
                <a:lnTo>
                  <a:pt x="64928" y="432740"/>
                </a:lnTo>
                <a:lnTo>
                  <a:pt x="66094" y="449150"/>
                </a:lnTo>
                <a:lnTo>
                  <a:pt x="81847" y="491009"/>
                </a:lnTo>
                <a:lnTo>
                  <a:pt x="111446" y="515760"/>
                </a:lnTo>
                <a:lnTo>
                  <a:pt x="123380" y="518863"/>
                </a:lnTo>
                <a:lnTo>
                  <a:pt x="112762" y="520654"/>
                </a:lnTo>
                <a:lnTo>
                  <a:pt x="76709" y="555340"/>
                </a:lnTo>
                <a:lnTo>
                  <a:pt x="65008" y="601497"/>
                </a:lnTo>
                <a:lnTo>
                  <a:pt x="64928" y="952029"/>
                </a:lnTo>
                <a:lnTo>
                  <a:pt x="63763" y="968439"/>
                </a:lnTo>
                <a:lnTo>
                  <a:pt x="48009" y="1010298"/>
                </a:lnTo>
                <a:lnTo>
                  <a:pt x="18411" y="1035048"/>
                </a:lnTo>
                <a:lnTo>
                  <a:pt x="6477" y="1038152"/>
                </a:lnTo>
              </a:path>
            </a:pathLst>
          </a:custGeom>
          <a:ln w="8116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788409" y="2472325"/>
            <a:ext cx="454659" cy="1953260"/>
          </a:xfrm>
          <a:prstGeom prst="rect">
            <a:avLst/>
          </a:prstGeom>
          <a:ln w="8115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 marR="107315" algn="just">
              <a:lnSpc>
                <a:spcPct val="104000"/>
              </a:lnSpc>
            </a:pPr>
            <a:r>
              <a:rPr sz="1950" b="1" spc="5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一 次 执 行 完 毕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98864" y="1997664"/>
            <a:ext cx="2625725" cy="708660"/>
          </a:xfrm>
          <a:prstGeom prst="rect">
            <a:avLst/>
          </a:prstGeom>
          <a:ln w="8114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 marR="104140">
              <a:lnSpc>
                <a:spcPct val="101000"/>
              </a:lnSpc>
            </a:pPr>
            <a:r>
              <a:rPr sz="2000" b="1" spc="3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h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il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2000" b="1" spc="-13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es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nd</a:t>
            </a:r>
            <a:r>
              <a:rPr sz="2000" b="1" spc="2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t(&amp;</a:t>
            </a:r>
            <a:r>
              <a:rPr sz="2000" b="1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ck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;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737100" y="2063115"/>
            <a:ext cx="3036570" cy="2320925"/>
          </a:xfrm>
          <a:prstGeom prst="rect">
            <a:avLst/>
          </a:prstGeom>
          <a:ln w="8114">
            <a:solidFill>
              <a:srgbClr val="000066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 marL="633730" marR="1494155" indent="-43815">
              <a:lnSpc>
                <a:spcPct val="34900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临界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区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剩余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区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98864" y="3308056"/>
            <a:ext cx="2625725" cy="398145"/>
          </a:xfrm>
          <a:prstGeom prst="rect">
            <a:avLst/>
          </a:prstGeom>
          <a:ln w="8113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3660">
              <a:lnSpc>
                <a:spcPct val="100000"/>
              </a:lnSpc>
            </a:pP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k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=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000" b="1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f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0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;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53844" y="4414630"/>
            <a:ext cx="766445" cy="337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进程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25" b="1" baseline="-19000" dirty="0">
                <a:latin typeface="Arial" panose="020B0604020202020204"/>
                <a:cs typeface="Arial" panose="020B0604020202020204"/>
              </a:rPr>
              <a:t>i</a:t>
            </a:r>
            <a:endParaRPr sz="2025" baseline="-19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66796" y="4764459"/>
            <a:ext cx="348742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想一想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2000" b="1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多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U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情况好不好使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35307" y="4811830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263819" y="4838877"/>
            <a:ext cx="844550" cy="843915"/>
          </a:xfrm>
          <a:custGeom>
            <a:avLst/>
            <a:gdLst/>
            <a:ahLst/>
            <a:cxnLst/>
            <a:rect l="l" t="t" r="r" b="b"/>
            <a:pathLst>
              <a:path w="844550" h="843914">
                <a:moveTo>
                  <a:pt x="0" y="843844"/>
                </a:moveTo>
                <a:lnTo>
                  <a:pt x="844073" y="843844"/>
                </a:lnTo>
                <a:lnTo>
                  <a:pt x="844073" y="0"/>
                </a:lnTo>
                <a:lnTo>
                  <a:pt x="0" y="0"/>
                </a:lnTo>
                <a:lnTo>
                  <a:pt x="0" y="843844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263819" y="4838876"/>
            <a:ext cx="844550" cy="843915"/>
          </a:xfrm>
          <a:custGeom>
            <a:avLst/>
            <a:gdLst/>
            <a:ahLst/>
            <a:cxnLst/>
            <a:rect l="l" t="t" r="r" b="b"/>
            <a:pathLst>
              <a:path w="844550" h="843914">
                <a:moveTo>
                  <a:pt x="0" y="0"/>
                </a:moveTo>
                <a:lnTo>
                  <a:pt x="844073" y="0"/>
                </a:lnTo>
                <a:lnTo>
                  <a:pt x="844073" y="843844"/>
                </a:lnTo>
                <a:lnTo>
                  <a:pt x="0" y="843844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194832" y="4903788"/>
            <a:ext cx="844550" cy="843915"/>
          </a:xfrm>
          <a:custGeom>
            <a:avLst/>
            <a:gdLst/>
            <a:ahLst/>
            <a:cxnLst/>
            <a:rect l="l" t="t" r="r" b="b"/>
            <a:pathLst>
              <a:path w="844550" h="843914">
                <a:moveTo>
                  <a:pt x="0" y="843844"/>
                </a:moveTo>
                <a:lnTo>
                  <a:pt x="844073" y="843844"/>
                </a:lnTo>
                <a:lnTo>
                  <a:pt x="844073" y="0"/>
                </a:lnTo>
                <a:lnTo>
                  <a:pt x="0" y="0"/>
                </a:lnTo>
                <a:lnTo>
                  <a:pt x="0" y="843844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194832" y="4903787"/>
            <a:ext cx="844550" cy="843915"/>
          </a:xfrm>
          <a:custGeom>
            <a:avLst/>
            <a:gdLst/>
            <a:ahLst/>
            <a:cxnLst/>
            <a:rect l="l" t="t" r="r" b="b"/>
            <a:pathLst>
              <a:path w="844550" h="843914">
                <a:moveTo>
                  <a:pt x="0" y="0"/>
                </a:moveTo>
                <a:lnTo>
                  <a:pt x="844073" y="0"/>
                </a:lnTo>
                <a:lnTo>
                  <a:pt x="844073" y="843844"/>
                </a:lnTo>
                <a:lnTo>
                  <a:pt x="0" y="843844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450975" y="6173611"/>
            <a:ext cx="5908675" cy="0"/>
          </a:xfrm>
          <a:custGeom>
            <a:avLst/>
            <a:gdLst/>
            <a:ahLst/>
            <a:cxnLst/>
            <a:rect l="l" t="t" r="r" b="b"/>
            <a:pathLst>
              <a:path w="5908675">
                <a:moveTo>
                  <a:pt x="0" y="0"/>
                </a:moveTo>
                <a:lnTo>
                  <a:pt x="5908516" y="0"/>
                </a:lnTo>
              </a:path>
            </a:pathLst>
          </a:custGeom>
          <a:ln w="649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710689" y="5293254"/>
            <a:ext cx="844550" cy="519430"/>
          </a:xfrm>
          <a:prstGeom prst="rect">
            <a:avLst/>
          </a:prstGeom>
          <a:solidFill>
            <a:srgbClr val="FF99FF"/>
          </a:solidFill>
          <a:ln w="811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8430">
              <a:lnSpc>
                <a:spcPct val="100000"/>
              </a:lnSpc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U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14478" y="5293254"/>
            <a:ext cx="844550" cy="519430"/>
          </a:xfrm>
          <a:prstGeom prst="rect">
            <a:avLst/>
          </a:prstGeom>
          <a:solidFill>
            <a:srgbClr val="FF99FF"/>
          </a:solidFill>
          <a:ln w="811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8430">
              <a:lnSpc>
                <a:spcPct val="100000"/>
              </a:lnSpc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U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853338" y="5293254"/>
            <a:ext cx="844550" cy="519430"/>
          </a:xfrm>
          <a:prstGeom prst="rect">
            <a:avLst/>
          </a:prstGeom>
          <a:solidFill>
            <a:srgbClr val="FF99FF"/>
          </a:solidFill>
          <a:ln w="811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8430">
              <a:lnSpc>
                <a:spcPct val="100000"/>
              </a:lnSpc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U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51913" y="4968698"/>
            <a:ext cx="844550" cy="843915"/>
          </a:xfrm>
          <a:prstGeom prst="rect">
            <a:avLst/>
          </a:prstGeom>
          <a:solidFill>
            <a:srgbClr val="F8F8F8"/>
          </a:solidFill>
          <a:ln w="811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8430">
              <a:lnSpc>
                <a:spcPct val="100000"/>
              </a:lnSpc>
            </a:pP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内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存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125845" y="4968699"/>
            <a:ext cx="844550" cy="843915"/>
          </a:xfrm>
          <a:custGeom>
            <a:avLst/>
            <a:gdLst/>
            <a:ahLst/>
            <a:cxnLst/>
            <a:rect l="l" t="t" r="r" b="b"/>
            <a:pathLst>
              <a:path w="844550" h="843914">
                <a:moveTo>
                  <a:pt x="0" y="843844"/>
                </a:moveTo>
                <a:lnTo>
                  <a:pt x="844073" y="843844"/>
                </a:lnTo>
                <a:lnTo>
                  <a:pt x="844073" y="0"/>
                </a:lnTo>
                <a:lnTo>
                  <a:pt x="0" y="0"/>
                </a:lnTo>
                <a:lnTo>
                  <a:pt x="0" y="843844"/>
                </a:lnTo>
                <a:close/>
              </a:path>
            </a:pathLst>
          </a:custGeom>
          <a:solidFill>
            <a:srgbClr val="F8F8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125845" y="4968698"/>
            <a:ext cx="844550" cy="843915"/>
          </a:xfrm>
          <a:custGeom>
            <a:avLst/>
            <a:gdLst/>
            <a:ahLst/>
            <a:cxnLst/>
            <a:rect l="l" t="t" r="r" b="b"/>
            <a:pathLst>
              <a:path w="844550" h="843914">
                <a:moveTo>
                  <a:pt x="0" y="0"/>
                </a:moveTo>
                <a:lnTo>
                  <a:pt x="844073" y="0"/>
                </a:lnTo>
                <a:lnTo>
                  <a:pt x="844073" y="843844"/>
                </a:lnTo>
                <a:lnTo>
                  <a:pt x="0" y="843844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255988" y="5223095"/>
            <a:ext cx="54356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外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设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088088" y="5812543"/>
            <a:ext cx="113664" cy="325120"/>
          </a:xfrm>
          <a:custGeom>
            <a:avLst/>
            <a:gdLst/>
            <a:ahLst/>
            <a:cxnLst/>
            <a:rect l="l" t="t" r="r" b="b"/>
            <a:pathLst>
              <a:path w="113664" h="325120">
                <a:moveTo>
                  <a:pt x="113625" y="259643"/>
                </a:moveTo>
                <a:lnTo>
                  <a:pt x="0" y="259643"/>
                </a:lnTo>
                <a:lnTo>
                  <a:pt x="56813" y="324554"/>
                </a:lnTo>
                <a:lnTo>
                  <a:pt x="113625" y="259643"/>
                </a:lnTo>
                <a:close/>
              </a:path>
              <a:path w="113664" h="325120">
                <a:moveTo>
                  <a:pt x="85219" y="64910"/>
                </a:moveTo>
                <a:lnTo>
                  <a:pt x="28407" y="64910"/>
                </a:lnTo>
                <a:lnTo>
                  <a:pt x="28407" y="259643"/>
                </a:lnTo>
                <a:lnTo>
                  <a:pt x="85219" y="259643"/>
                </a:lnTo>
                <a:lnTo>
                  <a:pt x="85219" y="64910"/>
                </a:lnTo>
                <a:close/>
              </a:path>
              <a:path w="113664" h="325120">
                <a:moveTo>
                  <a:pt x="56813" y="0"/>
                </a:moveTo>
                <a:lnTo>
                  <a:pt x="0" y="64910"/>
                </a:lnTo>
                <a:lnTo>
                  <a:pt x="113625" y="64910"/>
                </a:lnTo>
                <a:lnTo>
                  <a:pt x="5681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088088" y="5812543"/>
            <a:ext cx="113664" cy="325120"/>
          </a:xfrm>
          <a:custGeom>
            <a:avLst/>
            <a:gdLst/>
            <a:ahLst/>
            <a:cxnLst/>
            <a:rect l="l" t="t" r="r" b="b"/>
            <a:pathLst>
              <a:path w="113664" h="325120">
                <a:moveTo>
                  <a:pt x="0" y="64911"/>
                </a:moveTo>
                <a:lnTo>
                  <a:pt x="56812" y="0"/>
                </a:lnTo>
                <a:lnTo>
                  <a:pt x="113625" y="64911"/>
                </a:lnTo>
                <a:lnTo>
                  <a:pt x="85218" y="64911"/>
                </a:lnTo>
                <a:lnTo>
                  <a:pt x="85218" y="259644"/>
                </a:lnTo>
                <a:lnTo>
                  <a:pt x="113625" y="259644"/>
                </a:lnTo>
                <a:lnTo>
                  <a:pt x="56812" y="324555"/>
                </a:lnTo>
                <a:lnTo>
                  <a:pt x="0" y="259644"/>
                </a:lnTo>
                <a:lnTo>
                  <a:pt x="28406" y="259644"/>
                </a:lnTo>
                <a:lnTo>
                  <a:pt x="28406" y="64911"/>
                </a:lnTo>
                <a:lnTo>
                  <a:pt x="0" y="64911"/>
                </a:lnTo>
                <a:close/>
              </a:path>
            </a:pathLst>
          </a:custGeom>
          <a:ln w="811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179702" y="5812543"/>
            <a:ext cx="113664" cy="325120"/>
          </a:xfrm>
          <a:custGeom>
            <a:avLst/>
            <a:gdLst/>
            <a:ahLst/>
            <a:cxnLst/>
            <a:rect l="l" t="t" r="r" b="b"/>
            <a:pathLst>
              <a:path w="113664" h="325120">
                <a:moveTo>
                  <a:pt x="113625" y="259643"/>
                </a:moveTo>
                <a:lnTo>
                  <a:pt x="0" y="259643"/>
                </a:lnTo>
                <a:lnTo>
                  <a:pt x="56813" y="324554"/>
                </a:lnTo>
                <a:lnTo>
                  <a:pt x="113625" y="259643"/>
                </a:lnTo>
                <a:close/>
              </a:path>
              <a:path w="113664" h="325120">
                <a:moveTo>
                  <a:pt x="85219" y="64910"/>
                </a:moveTo>
                <a:lnTo>
                  <a:pt x="28406" y="64910"/>
                </a:lnTo>
                <a:lnTo>
                  <a:pt x="28406" y="259643"/>
                </a:lnTo>
                <a:lnTo>
                  <a:pt x="85219" y="259643"/>
                </a:lnTo>
                <a:lnTo>
                  <a:pt x="85219" y="64910"/>
                </a:lnTo>
                <a:close/>
              </a:path>
              <a:path w="113664" h="325120">
                <a:moveTo>
                  <a:pt x="56813" y="0"/>
                </a:moveTo>
                <a:lnTo>
                  <a:pt x="0" y="64910"/>
                </a:lnTo>
                <a:lnTo>
                  <a:pt x="113625" y="64910"/>
                </a:lnTo>
                <a:lnTo>
                  <a:pt x="5681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179702" y="5812543"/>
            <a:ext cx="113664" cy="325120"/>
          </a:xfrm>
          <a:custGeom>
            <a:avLst/>
            <a:gdLst/>
            <a:ahLst/>
            <a:cxnLst/>
            <a:rect l="l" t="t" r="r" b="b"/>
            <a:pathLst>
              <a:path w="113664" h="325120">
                <a:moveTo>
                  <a:pt x="0" y="64911"/>
                </a:moveTo>
                <a:lnTo>
                  <a:pt x="56812" y="0"/>
                </a:lnTo>
                <a:lnTo>
                  <a:pt x="113625" y="64911"/>
                </a:lnTo>
                <a:lnTo>
                  <a:pt x="85218" y="64911"/>
                </a:lnTo>
                <a:lnTo>
                  <a:pt x="85218" y="259644"/>
                </a:lnTo>
                <a:lnTo>
                  <a:pt x="113625" y="259644"/>
                </a:lnTo>
                <a:lnTo>
                  <a:pt x="56812" y="324555"/>
                </a:lnTo>
                <a:lnTo>
                  <a:pt x="0" y="259644"/>
                </a:lnTo>
                <a:lnTo>
                  <a:pt x="28406" y="259644"/>
                </a:lnTo>
                <a:lnTo>
                  <a:pt x="28406" y="64911"/>
                </a:lnTo>
                <a:lnTo>
                  <a:pt x="0" y="64911"/>
                </a:lnTo>
                <a:close/>
              </a:path>
            </a:pathLst>
          </a:custGeom>
          <a:ln w="811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206389" y="5812543"/>
            <a:ext cx="113664" cy="325120"/>
          </a:xfrm>
          <a:custGeom>
            <a:avLst/>
            <a:gdLst/>
            <a:ahLst/>
            <a:cxnLst/>
            <a:rect l="l" t="t" r="r" b="b"/>
            <a:pathLst>
              <a:path w="113664" h="325120">
                <a:moveTo>
                  <a:pt x="113624" y="259643"/>
                </a:moveTo>
                <a:lnTo>
                  <a:pt x="0" y="259643"/>
                </a:lnTo>
                <a:lnTo>
                  <a:pt x="56812" y="324554"/>
                </a:lnTo>
                <a:lnTo>
                  <a:pt x="113624" y="259643"/>
                </a:lnTo>
                <a:close/>
              </a:path>
              <a:path w="113664" h="325120">
                <a:moveTo>
                  <a:pt x="85218" y="64910"/>
                </a:moveTo>
                <a:lnTo>
                  <a:pt x="28406" y="64910"/>
                </a:lnTo>
                <a:lnTo>
                  <a:pt x="28406" y="259643"/>
                </a:lnTo>
                <a:lnTo>
                  <a:pt x="85218" y="259643"/>
                </a:lnTo>
                <a:lnTo>
                  <a:pt x="85218" y="64910"/>
                </a:lnTo>
                <a:close/>
              </a:path>
              <a:path w="113664" h="325120">
                <a:moveTo>
                  <a:pt x="56812" y="0"/>
                </a:moveTo>
                <a:lnTo>
                  <a:pt x="0" y="64910"/>
                </a:lnTo>
                <a:lnTo>
                  <a:pt x="113624" y="64910"/>
                </a:lnTo>
                <a:lnTo>
                  <a:pt x="5681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206389" y="5812543"/>
            <a:ext cx="113664" cy="325120"/>
          </a:xfrm>
          <a:custGeom>
            <a:avLst/>
            <a:gdLst/>
            <a:ahLst/>
            <a:cxnLst/>
            <a:rect l="l" t="t" r="r" b="b"/>
            <a:pathLst>
              <a:path w="113664" h="325120">
                <a:moveTo>
                  <a:pt x="0" y="64911"/>
                </a:moveTo>
                <a:lnTo>
                  <a:pt x="56812" y="0"/>
                </a:lnTo>
                <a:lnTo>
                  <a:pt x="113625" y="64911"/>
                </a:lnTo>
                <a:lnTo>
                  <a:pt x="85218" y="64911"/>
                </a:lnTo>
                <a:lnTo>
                  <a:pt x="85218" y="259644"/>
                </a:lnTo>
                <a:lnTo>
                  <a:pt x="113625" y="259644"/>
                </a:lnTo>
                <a:lnTo>
                  <a:pt x="56812" y="324555"/>
                </a:lnTo>
                <a:lnTo>
                  <a:pt x="0" y="259644"/>
                </a:lnTo>
                <a:lnTo>
                  <a:pt x="28406" y="259644"/>
                </a:lnTo>
                <a:lnTo>
                  <a:pt x="28406" y="64911"/>
                </a:lnTo>
                <a:lnTo>
                  <a:pt x="0" y="64911"/>
                </a:lnTo>
                <a:close/>
              </a:path>
            </a:pathLst>
          </a:custGeom>
          <a:ln w="811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533369" y="5812543"/>
            <a:ext cx="113664" cy="325120"/>
          </a:xfrm>
          <a:custGeom>
            <a:avLst/>
            <a:gdLst/>
            <a:ahLst/>
            <a:cxnLst/>
            <a:rect l="l" t="t" r="r" b="b"/>
            <a:pathLst>
              <a:path w="113664" h="325120">
                <a:moveTo>
                  <a:pt x="113625" y="259643"/>
                </a:moveTo>
                <a:lnTo>
                  <a:pt x="0" y="259643"/>
                </a:lnTo>
                <a:lnTo>
                  <a:pt x="56813" y="324554"/>
                </a:lnTo>
                <a:lnTo>
                  <a:pt x="113625" y="259643"/>
                </a:lnTo>
                <a:close/>
              </a:path>
              <a:path w="113664" h="325120">
                <a:moveTo>
                  <a:pt x="85219" y="64910"/>
                </a:moveTo>
                <a:lnTo>
                  <a:pt x="28407" y="64910"/>
                </a:lnTo>
                <a:lnTo>
                  <a:pt x="28407" y="259643"/>
                </a:lnTo>
                <a:lnTo>
                  <a:pt x="85219" y="259643"/>
                </a:lnTo>
                <a:lnTo>
                  <a:pt x="85219" y="64910"/>
                </a:lnTo>
                <a:close/>
              </a:path>
              <a:path w="113664" h="325120">
                <a:moveTo>
                  <a:pt x="56813" y="0"/>
                </a:moveTo>
                <a:lnTo>
                  <a:pt x="0" y="64910"/>
                </a:lnTo>
                <a:lnTo>
                  <a:pt x="113625" y="64910"/>
                </a:lnTo>
                <a:lnTo>
                  <a:pt x="5681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533369" y="5812543"/>
            <a:ext cx="113664" cy="325120"/>
          </a:xfrm>
          <a:custGeom>
            <a:avLst/>
            <a:gdLst/>
            <a:ahLst/>
            <a:cxnLst/>
            <a:rect l="l" t="t" r="r" b="b"/>
            <a:pathLst>
              <a:path w="113664" h="325120">
                <a:moveTo>
                  <a:pt x="0" y="64911"/>
                </a:moveTo>
                <a:lnTo>
                  <a:pt x="56812" y="0"/>
                </a:lnTo>
                <a:lnTo>
                  <a:pt x="113625" y="64911"/>
                </a:lnTo>
                <a:lnTo>
                  <a:pt x="85218" y="64911"/>
                </a:lnTo>
                <a:lnTo>
                  <a:pt x="85218" y="259644"/>
                </a:lnTo>
                <a:lnTo>
                  <a:pt x="113625" y="259644"/>
                </a:lnTo>
                <a:lnTo>
                  <a:pt x="56812" y="324555"/>
                </a:lnTo>
                <a:lnTo>
                  <a:pt x="0" y="259644"/>
                </a:lnTo>
                <a:lnTo>
                  <a:pt x="28406" y="259644"/>
                </a:lnTo>
                <a:lnTo>
                  <a:pt x="28406" y="64911"/>
                </a:lnTo>
                <a:lnTo>
                  <a:pt x="0" y="64911"/>
                </a:lnTo>
                <a:close/>
              </a:path>
            </a:pathLst>
          </a:custGeom>
          <a:ln w="811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507301" y="5812543"/>
            <a:ext cx="113664" cy="325120"/>
          </a:xfrm>
          <a:custGeom>
            <a:avLst/>
            <a:gdLst/>
            <a:ahLst/>
            <a:cxnLst/>
            <a:rect l="l" t="t" r="r" b="b"/>
            <a:pathLst>
              <a:path w="113665" h="325120">
                <a:moveTo>
                  <a:pt x="113625" y="259643"/>
                </a:moveTo>
                <a:lnTo>
                  <a:pt x="0" y="259643"/>
                </a:lnTo>
                <a:lnTo>
                  <a:pt x="56813" y="324554"/>
                </a:lnTo>
                <a:lnTo>
                  <a:pt x="113625" y="259643"/>
                </a:lnTo>
                <a:close/>
              </a:path>
              <a:path w="113665" h="325120">
                <a:moveTo>
                  <a:pt x="85219" y="64910"/>
                </a:moveTo>
                <a:lnTo>
                  <a:pt x="28407" y="64910"/>
                </a:lnTo>
                <a:lnTo>
                  <a:pt x="28407" y="259643"/>
                </a:lnTo>
                <a:lnTo>
                  <a:pt x="85219" y="259643"/>
                </a:lnTo>
                <a:lnTo>
                  <a:pt x="85219" y="64910"/>
                </a:lnTo>
                <a:close/>
              </a:path>
              <a:path w="113665" h="325120">
                <a:moveTo>
                  <a:pt x="56813" y="0"/>
                </a:moveTo>
                <a:lnTo>
                  <a:pt x="0" y="64910"/>
                </a:lnTo>
                <a:lnTo>
                  <a:pt x="113625" y="64910"/>
                </a:lnTo>
                <a:lnTo>
                  <a:pt x="5681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507301" y="5812543"/>
            <a:ext cx="113664" cy="325120"/>
          </a:xfrm>
          <a:custGeom>
            <a:avLst/>
            <a:gdLst/>
            <a:ahLst/>
            <a:cxnLst/>
            <a:rect l="l" t="t" r="r" b="b"/>
            <a:pathLst>
              <a:path w="113665" h="325120">
                <a:moveTo>
                  <a:pt x="0" y="64911"/>
                </a:moveTo>
                <a:lnTo>
                  <a:pt x="56812" y="0"/>
                </a:lnTo>
                <a:lnTo>
                  <a:pt x="113625" y="64911"/>
                </a:lnTo>
                <a:lnTo>
                  <a:pt x="85218" y="64911"/>
                </a:lnTo>
                <a:lnTo>
                  <a:pt x="85218" y="259644"/>
                </a:lnTo>
                <a:lnTo>
                  <a:pt x="113625" y="259644"/>
                </a:lnTo>
                <a:lnTo>
                  <a:pt x="56812" y="324555"/>
                </a:lnTo>
                <a:lnTo>
                  <a:pt x="0" y="259644"/>
                </a:lnTo>
                <a:lnTo>
                  <a:pt x="28406" y="259644"/>
                </a:lnTo>
                <a:lnTo>
                  <a:pt x="28406" y="64911"/>
                </a:lnTo>
                <a:lnTo>
                  <a:pt x="0" y="64911"/>
                </a:lnTo>
                <a:close/>
              </a:path>
            </a:pathLst>
          </a:custGeom>
          <a:ln w="811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35" name="object 35"/>
          <p:cNvSpPr txBox="1"/>
          <p:nvPr/>
        </p:nvSpPr>
        <p:spPr>
          <a:xfrm>
            <a:off x="5131033" y="6459594"/>
            <a:ext cx="431165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50" b="1" spc="5" dirty="0">
                <a:latin typeface="Arial" panose="020B0604020202020204"/>
                <a:cs typeface="Arial" panose="020B0604020202020204"/>
              </a:rPr>
              <a:t>-</a:t>
            </a:r>
            <a:r>
              <a:rPr sz="135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dirty="0">
                <a:latin typeface="Arial" panose="020B0604020202020204"/>
                <a:cs typeface="Arial" panose="020B0604020202020204"/>
              </a:rPr>
              <a:t>1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9</a:t>
            </a:r>
            <a:r>
              <a:rPr sz="1350" b="1" dirty="0">
                <a:latin typeface="Arial" panose="020B0604020202020204"/>
                <a:cs typeface="Arial" panose="020B0604020202020204"/>
              </a:rPr>
              <a:t> </a:t>
            </a:r>
            <a:r>
              <a:rPr sz="1350" b="1" spc="5" dirty="0">
                <a:latin typeface="Arial" panose="020B0604020202020204"/>
                <a:cs typeface="Arial" panose="020B0604020202020204"/>
              </a:rPr>
              <a:t>-</a:t>
            </a:r>
            <a:endParaRPr sz="1350"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389159" y="1736706"/>
            <a:ext cx="306070" cy="306070"/>
          </a:xfrm>
          <a:custGeom>
            <a:avLst/>
            <a:gdLst/>
            <a:ahLst/>
            <a:cxnLst/>
            <a:rect l="l" t="t" r="r" b="b"/>
            <a:pathLst>
              <a:path w="306070" h="306069">
                <a:moveTo>
                  <a:pt x="297974" y="38249"/>
                </a:moveTo>
                <a:lnTo>
                  <a:pt x="38259" y="297893"/>
                </a:lnTo>
                <a:lnTo>
                  <a:pt x="45911" y="305544"/>
                </a:lnTo>
                <a:lnTo>
                  <a:pt x="305626" y="45899"/>
                </a:lnTo>
                <a:lnTo>
                  <a:pt x="297974" y="38249"/>
                </a:lnTo>
                <a:close/>
              </a:path>
              <a:path w="306070" h="306069">
                <a:moveTo>
                  <a:pt x="275018" y="15299"/>
                </a:moveTo>
                <a:lnTo>
                  <a:pt x="15303" y="274943"/>
                </a:lnTo>
                <a:lnTo>
                  <a:pt x="30607" y="290243"/>
                </a:lnTo>
                <a:lnTo>
                  <a:pt x="290322" y="30599"/>
                </a:lnTo>
                <a:lnTo>
                  <a:pt x="275018" y="15299"/>
                </a:lnTo>
                <a:close/>
              </a:path>
              <a:path w="306070" h="306069">
                <a:moveTo>
                  <a:pt x="259715" y="0"/>
                </a:moveTo>
                <a:lnTo>
                  <a:pt x="0" y="259643"/>
                </a:lnTo>
                <a:lnTo>
                  <a:pt x="7651" y="267294"/>
                </a:lnTo>
                <a:lnTo>
                  <a:pt x="267366" y="7650"/>
                </a:lnTo>
                <a:lnTo>
                  <a:pt x="259715" y="0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71830" y="1786702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10819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71830" y="1759656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21638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71830" y="1732609"/>
            <a:ext cx="9523095" cy="0"/>
          </a:xfrm>
          <a:custGeom>
            <a:avLst/>
            <a:gdLst/>
            <a:ahLst/>
            <a:cxnLst/>
            <a:rect l="l" t="t" r="r" b="b"/>
            <a:pathLst>
              <a:path w="9523095">
                <a:moveTo>
                  <a:pt x="0" y="0"/>
                </a:moveTo>
                <a:lnTo>
                  <a:pt x="9522882" y="0"/>
                </a:lnTo>
              </a:path>
            </a:pathLst>
          </a:custGeom>
          <a:ln w="10819">
            <a:solidFill>
              <a:srgbClr val="9933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077847" y="2025565"/>
            <a:ext cx="2104390" cy="5321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950" b="1" spc="130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操作系</a:t>
            </a:r>
            <a:r>
              <a:rPr sz="3950" b="1" spc="145" dirty="0">
                <a:solidFill>
                  <a:srgbClr val="0033CC"/>
                </a:solidFill>
                <a:latin typeface="华文琥珀" panose="02010800040101010101" charset="-122"/>
                <a:cs typeface="华文琥珀" panose="02010800040101010101" charset="-122"/>
              </a:rPr>
              <a:t>统</a:t>
            </a:r>
            <a:endParaRPr sz="3950">
              <a:latin typeface="华文琥珀" panose="02010800040101010101" charset="-122"/>
              <a:cs typeface="华文琥珀" panose="02010800040101010101" charset="-122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60624" y="1949373"/>
            <a:ext cx="4747895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722245" algn="l"/>
              </a:tabLst>
            </a:pPr>
            <a:r>
              <a:rPr sz="4600" b="1" spc="-10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O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p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er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at</a:t>
            </a:r>
            <a:r>
              <a:rPr sz="4600" b="1" spc="-10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g	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y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t</a:t>
            </a:r>
            <a:r>
              <a:rPr sz="4600" b="1" spc="-5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m</a:t>
            </a:r>
            <a:r>
              <a:rPr sz="4600" b="1" dirty="0">
                <a:solidFill>
                  <a:srgbClr val="0033CC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endParaRPr sz="46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55700" y="3168650"/>
            <a:ext cx="8912225" cy="2433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lang="en-US" sz="5100" b="1" spc="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   </a:t>
            </a:r>
            <a:r>
              <a:rPr sz="4950" b="1" spc="14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  <a:sym typeface="+mn-ea"/>
              </a:rPr>
              <a:t>死锁处</a:t>
            </a:r>
            <a:r>
              <a:rPr sz="4950" b="1" spc="130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  <a:sym typeface="+mn-ea"/>
              </a:rPr>
              <a:t>理</a:t>
            </a:r>
            <a:endParaRPr sz="4950">
              <a:latin typeface="黑体" panose="02010609060101010101" charset="-122"/>
              <a:cs typeface="黑体" panose="02010609060101010101" charset="-122"/>
            </a:endParaRPr>
          </a:p>
          <a:p>
            <a:pPr marL="12700" algn="ctr">
              <a:lnSpc>
                <a:spcPts val="4075"/>
              </a:lnSpc>
              <a:spcBef>
                <a:spcPts val="1890"/>
              </a:spcBef>
              <a:tabLst>
                <a:tab pos="5107305" algn="l"/>
              </a:tabLst>
            </a:pPr>
            <a:r>
              <a:rPr lang="en-US" sz="3400" b="1" dirty="0">
                <a:latin typeface="Times New Roman" panose="02020603050405020304"/>
                <a:cs typeface="Times New Roman" panose="02020603050405020304"/>
                <a:sym typeface="+mn-ea"/>
              </a:rPr>
              <a:t>     </a:t>
            </a:r>
            <a:r>
              <a:rPr sz="3400" b="1" dirty="0">
                <a:latin typeface="Times New Roman" panose="02020603050405020304"/>
                <a:cs typeface="Times New Roman" panose="02020603050405020304"/>
                <a:sym typeface="+mn-ea"/>
              </a:rPr>
              <a:t>Deadloc</a:t>
            </a:r>
            <a:r>
              <a:rPr lang="en-US" sz="3400" b="1" dirty="0">
                <a:latin typeface="Times New Roman" panose="02020603050405020304"/>
                <a:cs typeface="Times New Roman" panose="02020603050405020304"/>
                <a:sym typeface="+mn-ea"/>
              </a:rPr>
              <a:t>k</a:t>
            </a:r>
            <a:endParaRPr sz="3400">
              <a:latin typeface="Times New Roman" panose="02020603050405020304"/>
              <a:cs typeface="Times New Roman" panose="02020603050405020304"/>
            </a:endParaRPr>
          </a:p>
          <a:p>
            <a:pPr marL="492125">
              <a:lnSpc>
                <a:spcPct val="100000"/>
              </a:lnSpc>
              <a:spcBef>
                <a:spcPts val="2815"/>
              </a:spcBef>
            </a:pPr>
            <a:endParaRPr lang="en-US" sz="3400" b="1" dirty="0"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sp>
        <p:nvSpPr>
          <p:cNvPr id="27" name="object 2"/>
          <p:cNvSpPr txBox="1"/>
          <p:nvPr>
            <p:custDataLst>
              <p:tags r:id="rId1"/>
            </p:custDataLst>
          </p:nvPr>
        </p:nvSpPr>
        <p:spPr>
          <a:xfrm>
            <a:off x="672062" y="1406818"/>
            <a:ext cx="3398520" cy="2997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ct val="100000"/>
              </a:lnSpc>
            </a:pPr>
            <a:r>
              <a:rPr lang="zh-CN" altLang="en-US" sz="1950" b="1">
                <a:latin typeface="华文隶书" panose="02010800040101010101" charset="-122"/>
                <a:cs typeface="华文隶书" panose="02010800040101010101" charset="-122"/>
              </a:rPr>
              <a:t>苏州大学未来科学与工程学院</a:t>
            </a:r>
            <a:endParaRPr lang="zh-CN" altLang="en-US" sz="1950" b="1">
              <a:latin typeface="华文隶书" panose="02010800040101010101" charset="-122"/>
              <a:cs typeface="华文隶书" panose="02010800040101010101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41249" y="2516125"/>
            <a:ext cx="7989570" cy="5568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950" b="1" spc="114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再看生产者</a:t>
            </a:r>
            <a:r>
              <a:rPr sz="4100" b="1" spc="-5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-</a:t>
            </a:r>
            <a:r>
              <a:rPr sz="3950" b="1" spc="114" dirty="0">
                <a:solidFill>
                  <a:srgbClr val="FF0000"/>
                </a:solidFill>
                <a:latin typeface="黑体" panose="02010609060101010101" charset="-122"/>
                <a:cs typeface="黑体" panose="02010609060101010101" charset="-122"/>
              </a:rPr>
              <a:t>消费者的信号量解法</a:t>
            </a:r>
            <a:r>
              <a:rPr sz="4100" b="1" dirty="0">
                <a:solidFill>
                  <a:srgbClr val="FF0000"/>
                </a:solidFill>
                <a:latin typeface="Arial Black" panose="020B0A04020102020204"/>
                <a:cs typeface="Arial Black" panose="020B0A04020102020204"/>
              </a:rPr>
              <a:t>…</a:t>
            </a:r>
            <a:endParaRPr sz="4100">
              <a:latin typeface="Arial Black" panose="020B0A04020102020204"/>
              <a:cs typeface="Arial Black" panose="020B0A04020102020204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sp>
        <p:nvSpPr>
          <p:cNvPr id="3" name="object 3"/>
          <p:cNvSpPr txBox="1"/>
          <p:nvPr/>
        </p:nvSpPr>
        <p:spPr>
          <a:xfrm>
            <a:off x="2217318" y="3491222"/>
            <a:ext cx="5088890" cy="4165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50" b="1" spc="100" dirty="0">
                <a:solidFill>
                  <a:srgbClr val="333399"/>
                </a:solidFill>
                <a:latin typeface="黑体" panose="02010609060101010101" charset="-122"/>
                <a:cs typeface="黑体" panose="02010609060101010101" charset="-122"/>
              </a:rPr>
              <a:t>这个反复琢磨是无穷无尽的</a:t>
            </a:r>
            <a:r>
              <a:rPr sz="3050" b="1" spc="15" dirty="0">
                <a:solidFill>
                  <a:srgbClr val="333399"/>
                </a:solidFill>
                <a:latin typeface="Arial Black" panose="020B0A04020102020204"/>
                <a:cs typeface="Arial Black" panose="020B0A04020102020204"/>
              </a:rPr>
              <a:t>…</a:t>
            </a:r>
            <a:endParaRPr sz="3050">
              <a:latin typeface="Arial Black" panose="020B0A04020102020204"/>
              <a:cs typeface="Arial Black" panose="020B0A04020102020204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815">
              <a:lnSpc>
                <a:spcPts val="3470"/>
              </a:lnSpc>
            </a:pPr>
            <a:r>
              <a:rPr spc="100" dirty="0"/>
              <a:t>如果信号量这样使用</a:t>
            </a:r>
            <a:endParaRPr spc="100" dirty="0"/>
          </a:p>
        </p:txBody>
      </p:sp>
      <p:sp>
        <p:nvSpPr>
          <p:cNvPr id="4" name="object 4"/>
          <p:cNvSpPr/>
          <p:nvPr/>
        </p:nvSpPr>
        <p:spPr>
          <a:xfrm>
            <a:off x="1191260" y="1889478"/>
            <a:ext cx="3311525" cy="2272030"/>
          </a:xfrm>
          <a:custGeom>
            <a:avLst/>
            <a:gdLst/>
            <a:ahLst/>
            <a:cxnLst/>
            <a:rect l="l" t="t" r="r" b="b"/>
            <a:pathLst>
              <a:path w="3311525" h="2272029">
                <a:moveTo>
                  <a:pt x="0" y="0"/>
                </a:moveTo>
                <a:lnTo>
                  <a:pt x="3311366" y="0"/>
                </a:lnTo>
                <a:lnTo>
                  <a:pt x="3311366" y="2271888"/>
                </a:lnTo>
                <a:lnTo>
                  <a:pt x="0" y="2271888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36272" y="1889478"/>
            <a:ext cx="3376295" cy="2272030"/>
          </a:xfrm>
          <a:custGeom>
            <a:avLst/>
            <a:gdLst/>
            <a:ahLst/>
            <a:cxnLst/>
            <a:rect l="l" t="t" r="r" b="b"/>
            <a:pathLst>
              <a:path w="3376295" h="2272029">
                <a:moveTo>
                  <a:pt x="0" y="0"/>
                </a:moveTo>
                <a:lnTo>
                  <a:pt x="3376295" y="0"/>
                </a:lnTo>
                <a:lnTo>
                  <a:pt x="3376295" y="2271888"/>
                </a:lnTo>
                <a:lnTo>
                  <a:pt x="0" y="2271888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698468" y="4321838"/>
            <a:ext cx="6377940" cy="1974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7185">
              <a:lnSpc>
                <a:spcPct val="100000"/>
              </a:lnSpc>
            </a:pPr>
            <a:r>
              <a:rPr sz="2925" b="1" u="sng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问题：会出什么问题，举一个出现这种情况的例子</a:t>
            </a:r>
            <a:r>
              <a:rPr sz="2000" b="1" u="sng" spc="20" dirty="0">
                <a:latin typeface="Arial" panose="020B0604020202020204"/>
                <a:cs typeface="Arial" panose="020B0604020202020204"/>
              </a:rPr>
              <a:t>?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304800" marR="5080" indent="-292100">
              <a:lnSpc>
                <a:spcPct val="137000"/>
              </a:lnSpc>
              <a:spcBef>
                <a:spcPts val="1125"/>
              </a:spcBef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我们将这种多个进程由于</a:t>
            </a: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互相等待对方持有</a:t>
            </a:r>
            <a:r>
              <a:rPr sz="3450" b="1" spc="135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sz="3450" b="1" spc="6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30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资源</a:t>
            </a:r>
            <a:r>
              <a:rPr sz="230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而造成的谁都无法执行的情况叫</a:t>
            </a:r>
            <a:r>
              <a:rPr sz="230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死</a:t>
            </a:r>
            <a:r>
              <a:rPr sz="2300" b="1" spc="9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锁</a:t>
            </a:r>
            <a:r>
              <a:rPr sz="2300" b="1" spc="4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sz="2300" b="1" spc="45" dirty="0">
              <a:solidFill>
                <a:srgbClr val="FF0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04800" marR="5080" indent="-292100">
              <a:lnSpc>
                <a:spcPct val="137000"/>
              </a:lnSpc>
              <a:spcBef>
                <a:spcPts val="1125"/>
              </a:spcBef>
            </a:pPr>
            <a:r>
              <a:rPr sz="2925" b="1" u="sng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问题：死锁会造成什么结果，为什么</a:t>
            </a:r>
            <a:r>
              <a:rPr sz="2000" b="1" u="sng" spc="20" dirty="0">
                <a:latin typeface="Arial" panose="020B0604020202020204"/>
                <a:cs typeface="Arial" panose="020B0604020202020204"/>
              </a:rPr>
              <a:t>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849297" y="1953150"/>
            <a:ext cx="189103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Consumer()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{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289040" y="2101850"/>
            <a:ext cx="3738880" cy="86487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P(full);</a:t>
            </a:r>
            <a:r>
              <a:rPr sz="2000" b="1" spc="11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3600" b="1" spc="-22" baseline="100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mutex</a:t>
            </a:r>
            <a:r>
              <a:rPr lang="en-US" sz="3600" b="1" spc="-22" baseline="100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:0-&gt;-1</a:t>
            </a:r>
            <a:endParaRPr lang="en-US" sz="3600" b="1" spc="-22" baseline="1000" dirty="0">
              <a:solidFill>
                <a:srgbClr val="FF0000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289070" y="2575281"/>
            <a:ext cx="2188210" cy="344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P(mutex);</a:t>
            </a:r>
            <a:r>
              <a:rPr sz="2000" b="1" spc="-894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3600" b="1" spc="-22" baseline="-9000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full</a:t>
            </a:r>
            <a:endParaRPr sz="3600" baseline="-9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289070" y="2867276"/>
            <a:ext cx="2931795" cy="313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读入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out;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从文件中的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out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849297" y="3180498"/>
            <a:ext cx="3398520" cy="927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2120" marR="5080" indent="-440055">
              <a:lnSpc>
                <a:spcPts val="237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位置读出到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item;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打印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item; </a:t>
            </a: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V(mutex);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452120">
              <a:lnSpc>
                <a:spcPts val="2390"/>
              </a:lnSpc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V(empty);</a:t>
            </a:r>
            <a:r>
              <a:rPr sz="2000" b="1" spc="2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}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304284" y="1953150"/>
            <a:ext cx="2513330" cy="5969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2120" marR="5080" indent="-440055">
              <a:lnSpc>
                <a:spcPct val="103000"/>
              </a:lnSpc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Producer(item)</a:t>
            </a:r>
            <a:r>
              <a:rPr sz="2000" b="1" spc="3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{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P(empty);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153285" y="2557780"/>
            <a:ext cx="341947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b="1" spc="30" baseline="300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P(mutex);</a:t>
            </a:r>
            <a:r>
              <a:rPr sz="3000" b="1" spc="-1477" baseline="300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400" b="1" spc="-1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empty</a:t>
            </a:r>
            <a:r>
              <a:rPr lang="en-US" sz="2400" b="1" spc="-1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:0-&gt;-1</a:t>
            </a:r>
            <a:endParaRPr lang="zh-CN" altLang="en-US" sz="2400" b="1" spc="-15" dirty="0">
              <a:solidFill>
                <a:srgbClr val="FF0000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304284" y="2867276"/>
            <a:ext cx="3110230" cy="927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212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读入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in;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将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item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写入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到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ts val="2385"/>
              </a:lnSpc>
              <a:spcBef>
                <a:spcPts val="65"/>
              </a:spcBef>
            </a:pPr>
            <a:r>
              <a:rPr sz="2000" b="1" spc="20" dirty="0">
                <a:latin typeface="Courier New" panose="02070309020205020404"/>
                <a:cs typeface="Courier New" panose="02070309020205020404"/>
              </a:rPr>
              <a:t>in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的位置上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;</a:t>
            </a:r>
            <a:endParaRPr sz="2000">
              <a:latin typeface="Courier New" panose="02070309020205020404"/>
              <a:cs typeface="Courier New" panose="02070309020205020404"/>
            </a:endParaRPr>
          </a:p>
          <a:p>
            <a:pPr marL="478790">
              <a:lnSpc>
                <a:spcPts val="2385"/>
              </a:lnSpc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V(mutex);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744057" y="3823775"/>
            <a:ext cx="158051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V(full);</a:t>
            </a:r>
            <a:r>
              <a:rPr sz="2000" b="1" spc="25" dirty="0">
                <a:solidFill>
                  <a:srgbClr val="333399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2000" b="1" spc="20" dirty="0">
                <a:latin typeface="Courier New" panose="02070309020205020404"/>
                <a:cs typeface="Courier New" panose="02070309020205020404"/>
              </a:rPr>
              <a:t>}</a:t>
            </a:r>
            <a:endParaRPr sz="20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517900" y="2251710"/>
            <a:ext cx="2048510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mutex</a:t>
            </a:r>
            <a:r>
              <a:rPr lang="zh-CN" sz="2400" b="1" spc="-1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：</a:t>
            </a:r>
            <a:r>
              <a:rPr lang="en-US" altLang="zh-CN" sz="2400" b="1" spc="-1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1-&gt;0</a:t>
            </a:r>
            <a:endParaRPr lang="en-US" altLang="zh-CN" sz="2400" b="1" spc="-15" dirty="0">
              <a:solidFill>
                <a:srgbClr val="FF0000"/>
              </a:solidFill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58" name="object 5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919503" y="1759656"/>
            <a:ext cx="1350010" cy="0"/>
          </a:xfrm>
          <a:custGeom>
            <a:avLst/>
            <a:gdLst/>
            <a:ahLst/>
            <a:cxnLst/>
            <a:rect l="l" t="t" r="r" b="b"/>
            <a:pathLst>
              <a:path w="1350009">
                <a:moveTo>
                  <a:pt x="0" y="0"/>
                </a:moveTo>
                <a:lnTo>
                  <a:pt x="1349975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641218" y="1759656"/>
            <a:ext cx="1213485" cy="0"/>
          </a:xfrm>
          <a:custGeom>
            <a:avLst/>
            <a:gdLst/>
            <a:ahLst/>
            <a:cxnLst/>
            <a:rect l="l" t="t" r="r" b="b"/>
            <a:pathLst>
              <a:path w="1213484">
                <a:moveTo>
                  <a:pt x="0" y="0"/>
                </a:moveTo>
                <a:lnTo>
                  <a:pt x="1213354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2400" y="1759656"/>
            <a:ext cx="6424295" cy="0"/>
          </a:xfrm>
          <a:custGeom>
            <a:avLst/>
            <a:gdLst/>
            <a:ahLst/>
            <a:cxnLst/>
            <a:rect l="l" t="t" r="r" b="b"/>
            <a:pathLst>
              <a:path w="6424295">
                <a:moveTo>
                  <a:pt x="0" y="0"/>
                </a:moveTo>
                <a:lnTo>
                  <a:pt x="6423889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887037" y="1271470"/>
            <a:ext cx="0" cy="812165"/>
          </a:xfrm>
          <a:custGeom>
            <a:avLst/>
            <a:gdLst/>
            <a:ahLst/>
            <a:cxnLst/>
            <a:rect l="l" t="t" r="r" b="b"/>
            <a:pathLst>
              <a:path h="812164">
                <a:moveTo>
                  <a:pt x="0" y="812063"/>
                </a:moveTo>
                <a:lnTo>
                  <a:pt x="0" y="0"/>
                </a:lnTo>
              </a:path>
            </a:pathLst>
          </a:custGeom>
          <a:ln w="64928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887037" y="2148445"/>
            <a:ext cx="0" cy="1213485"/>
          </a:xfrm>
          <a:custGeom>
            <a:avLst/>
            <a:gdLst/>
            <a:ahLst/>
            <a:cxnLst/>
            <a:rect l="l" t="t" r="r" b="b"/>
            <a:pathLst>
              <a:path h="1213485">
                <a:moveTo>
                  <a:pt x="0" y="1213026"/>
                </a:moveTo>
                <a:lnTo>
                  <a:pt x="0" y="0"/>
                </a:lnTo>
              </a:path>
            </a:pathLst>
          </a:custGeom>
          <a:ln w="64928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887037" y="3426384"/>
            <a:ext cx="0" cy="765175"/>
          </a:xfrm>
          <a:custGeom>
            <a:avLst/>
            <a:gdLst/>
            <a:ahLst/>
            <a:cxnLst/>
            <a:rect l="l" t="t" r="r" b="b"/>
            <a:pathLst>
              <a:path h="765175">
                <a:moveTo>
                  <a:pt x="0" y="764788"/>
                </a:moveTo>
                <a:lnTo>
                  <a:pt x="0" y="0"/>
                </a:lnTo>
              </a:path>
            </a:pathLst>
          </a:custGeom>
          <a:ln w="64928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608753" y="1271470"/>
            <a:ext cx="0" cy="812165"/>
          </a:xfrm>
          <a:custGeom>
            <a:avLst/>
            <a:gdLst/>
            <a:ahLst/>
            <a:cxnLst/>
            <a:rect l="l" t="t" r="r" b="b"/>
            <a:pathLst>
              <a:path h="812164">
                <a:moveTo>
                  <a:pt x="0" y="812063"/>
                </a:moveTo>
                <a:lnTo>
                  <a:pt x="0" y="0"/>
                </a:lnTo>
              </a:path>
            </a:pathLst>
          </a:custGeom>
          <a:ln w="64928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608753" y="2148445"/>
            <a:ext cx="0" cy="1213485"/>
          </a:xfrm>
          <a:custGeom>
            <a:avLst/>
            <a:gdLst/>
            <a:ahLst/>
            <a:cxnLst/>
            <a:rect l="l" t="t" r="r" b="b"/>
            <a:pathLst>
              <a:path h="1213485">
                <a:moveTo>
                  <a:pt x="0" y="1213026"/>
                </a:moveTo>
                <a:lnTo>
                  <a:pt x="0" y="0"/>
                </a:lnTo>
              </a:path>
            </a:pathLst>
          </a:custGeom>
          <a:ln w="64928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608753" y="3426384"/>
            <a:ext cx="0" cy="766445"/>
          </a:xfrm>
          <a:custGeom>
            <a:avLst/>
            <a:gdLst/>
            <a:ahLst/>
            <a:cxnLst/>
            <a:rect l="l" t="t" r="r" b="b"/>
            <a:pathLst>
              <a:path h="766445">
                <a:moveTo>
                  <a:pt x="0" y="766086"/>
                </a:moveTo>
                <a:lnTo>
                  <a:pt x="0" y="0"/>
                </a:lnTo>
              </a:path>
            </a:pathLst>
          </a:custGeom>
          <a:ln w="64928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799173" y="2115989"/>
            <a:ext cx="2921000" cy="0"/>
          </a:xfrm>
          <a:custGeom>
            <a:avLst/>
            <a:gdLst/>
            <a:ahLst/>
            <a:cxnLst/>
            <a:rect l="l" t="t" r="r" b="b"/>
            <a:pathLst>
              <a:path w="2921000">
                <a:moveTo>
                  <a:pt x="0" y="0"/>
                </a:moveTo>
                <a:lnTo>
                  <a:pt x="2920496" y="0"/>
                </a:lnTo>
              </a:path>
            </a:pathLst>
          </a:custGeom>
          <a:ln w="64928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799173" y="3393928"/>
            <a:ext cx="2922270" cy="0"/>
          </a:xfrm>
          <a:custGeom>
            <a:avLst/>
            <a:gdLst/>
            <a:ahLst/>
            <a:cxnLst/>
            <a:rect l="l" t="t" r="r" b="b"/>
            <a:pathLst>
              <a:path w="2922270">
                <a:moveTo>
                  <a:pt x="0" y="0"/>
                </a:moveTo>
                <a:lnTo>
                  <a:pt x="2921793" y="0"/>
                </a:lnTo>
              </a:path>
            </a:pathLst>
          </a:custGeom>
          <a:ln w="64928">
            <a:solidFill>
              <a:srgbClr val="80808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12400" y="1202167"/>
            <a:ext cx="1972945" cy="404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470"/>
              </a:lnSpc>
            </a:pPr>
            <a:r>
              <a:rPr spc="100" dirty="0"/>
              <a:t>死锁的成因</a:t>
            </a:r>
            <a:endParaRPr spc="100" dirty="0"/>
          </a:p>
        </p:txBody>
      </p:sp>
      <p:sp>
        <p:nvSpPr>
          <p:cNvPr id="14" name="object 14"/>
          <p:cNvSpPr/>
          <p:nvPr/>
        </p:nvSpPr>
        <p:spPr>
          <a:xfrm>
            <a:off x="6282725" y="3419505"/>
            <a:ext cx="272415" cy="578485"/>
          </a:xfrm>
          <a:custGeom>
            <a:avLst/>
            <a:gdLst/>
            <a:ahLst/>
            <a:cxnLst/>
            <a:rect l="l" t="t" r="r" b="b"/>
            <a:pathLst>
              <a:path w="272415" h="578485">
                <a:moveTo>
                  <a:pt x="0" y="18860"/>
                </a:moveTo>
                <a:lnTo>
                  <a:pt x="0" y="546436"/>
                </a:lnTo>
                <a:lnTo>
                  <a:pt x="173960" y="578232"/>
                </a:lnTo>
                <a:lnTo>
                  <a:pt x="242082" y="538352"/>
                </a:lnTo>
                <a:lnTo>
                  <a:pt x="242082" y="478535"/>
                </a:lnTo>
                <a:lnTo>
                  <a:pt x="248274" y="477459"/>
                </a:lnTo>
                <a:lnTo>
                  <a:pt x="271919" y="450513"/>
                </a:lnTo>
                <a:lnTo>
                  <a:pt x="270794" y="441891"/>
                </a:lnTo>
                <a:lnTo>
                  <a:pt x="266289" y="434347"/>
                </a:lnTo>
                <a:lnTo>
                  <a:pt x="260097" y="428419"/>
                </a:lnTo>
                <a:lnTo>
                  <a:pt x="256156" y="426264"/>
                </a:lnTo>
                <a:lnTo>
                  <a:pt x="251653" y="424647"/>
                </a:lnTo>
                <a:lnTo>
                  <a:pt x="256156" y="423030"/>
                </a:lnTo>
                <a:lnTo>
                  <a:pt x="260097" y="419797"/>
                </a:lnTo>
                <a:lnTo>
                  <a:pt x="263475" y="417642"/>
                </a:lnTo>
                <a:lnTo>
                  <a:pt x="266289" y="413868"/>
                </a:lnTo>
                <a:lnTo>
                  <a:pt x="268542" y="410635"/>
                </a:lnTo>
                <a:lnTo>
                  <a:pt x="270794" y="406325"/>
                </a:lnTo>
                <a:lnTo>
                  <a:pt x="271357" y="402553"/>
                </a:lnTo>
                <a:lnTo>
                  <a:pt x="271919" y="398241"/>
                </a:lnTo>
                <a:lnTo>
                  <a:pt x="271357" y="392852"/>
                </a:lnTo>
                <a:lnTo>
                  <a:pt x="242082" y="370218"/>
                </a:lnTo>
                <a:lnTo>
                  <a:pt x="242082" y="182684"/>
                </a:lnTo>
                <a:lnTo>
                  <a:pt x="271919" y="154661"/>
                </a:lnTo>
                <a:lnTo>
                  <a:pt x="271357" y="150350"/>
                </a:lnTo>
                <a:lnTo>
                  <a:pt x="251653" y="128256"/>
                </a:lnTo>
                <a:lnTo>
                  <a:pt x="256156" y="126639"/>
                </a:lnTo>
                <a:lnTo>
                  <a:pt x="271919" y="102389"/>
                </a:lnTo>
                <a:lnTo>
                  <a:pt x="271357" y="97000"/>
                </a:lnTo>
                <a:lnTo>
                  <a:pt x="242082" y="74367"/>
                </a:lnTo>
                <a:lnTo>
                  <a:pt x="242082" y="42571"/>
                </a:lnTo>
                <a:lnTo>
                  <a:pt x="170019" y="42571"/>
                </a:lnTo>
                <a:lnTo>
                  <a:pt x="0" y="18860"/>
                </a:lnTo>
                <a:close/>
              </a:path>
              <a:path w="272415" h="578485">
                <a:moveTo>
                  <a:pt x="242082" y="0"/>
                </a:moveTo>
                <a:lnTo>
                  <a:pt x="170019" y="42571"/>
                </a:lnTo>
                <a:lnTo>
                  <a:pt x="242082" y="42571"/>
                </a:lnTo>
                <a:lnTo>
                  <a:pt x="2420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304118" y="3456149"/>
            <a:ext cx="199390" cy="520065"/>
          </a:xfrm>
          <a:custGeom>
            <a:avLst/>
            <a:gdLst/>
            <a:ahLst/>
            <a:cxnLst/>
            <a:rect l="l" t="t" r="r" b="b"/>
            <a:pathLst>
              <a:path w="199390" h="520064">
                <a:moveTo>
                  <a:pt x="0" y="5928"/>
                </a:moveTo>
                <a:lnTo>
                  <a:pt x="0" y="493087"/>
                </a:lnTo>
                <a:lnTo>
                  <a:pt x="148626" y="520031"/>
                </a:lnTo>
                <a:lnTo>
                  <a:pt x="199294" y="490392"/>
                </a:lnTo>
                <a:lnTo>
                  <a:pt x="199294" y="449436"/>
                </a:lnTo>
                <a:lnTo>
                  <a:pt x="140182" y="449436"/>
                </a:lnTo>
                <a:lnTo>
                  <a:pt x="140182" y="25327"/>
                </a:lnTo>
                <a:lnTo>
                  <a:pt x="0" y="5928"/>
                </a:lnTo>
                <a:close/>
              </a:path>
              <a:path w="199390" h="520064">
                <a:moveTo>
                  <a:pt x="199294" y="0"/>
                </a:moveTo>
                <a:lnTo>
                  <a:pt x="161575" y="22094"/>
                </a:lnTo>
                <a:lnTo>
                  <a:pt x="161575" y="433269"/>
                </a:lnTo>
                <a:lnTo>
                  <a:pt x="140182" y="449436"/>
                </a:lnTo>
                <a:lnTo>
                  <a:pt x="199294" y="449436"/>
                </a:lnTo>
                <a:lnTo>
                  <a:pt x="199294" y="0"/>
                </a:lnTo>
                <a:close/>
              </a:path>
            </a:pathLst>
          </a:custGeom>
          <a:solidFill>
            <a:srgbClr val="3FB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334519" y="3775174"/>
            <a:ext cx="62230" cy="74930"/>
          </a:xfrm>
          <a:custGeom>
            <a:avLst/>
            <a:gdLst/>
            <a:ahLst/>
            <a:cxnLst/>
            <a:rect l="l" t="t" r="r" b="b"/>
            <a:pathLst>
              <a:path w="62229" h="74929">
                <a:moveTo>
                  <a:pt x="0" y="0"/>
                </a:moveTo>
                <a:lnTo>
                  <a:pt x="0" y="65205"/>
                </a:lnTo>
                <a:lnTo>
                  <a:pt x="61927" y="74367"/>
                </a:lnTo>
                <a:lnTo>
                  <a:pt x="61927" y="862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334519" y="3866246"/>
            <a:ext cx="62230" cy="74930"/>
          </a:xfrm>
          <a:custGeom>
            <a:avLst/>
            <a:gdLst/>
            <a:ahLst/>
            <a:cxnLst/>
            <a:rect l="l" t="t" r="r" b="b"/>
            <a:pathLst>
              <a:path w="62229" h="74929">
                <a:moveTo>
                  <a:pt x="0" y="0"/>
                </a:moveTo>
                <a:lnTo>
                  <a:pt x="0" y="66283"/>
                </a:lnTo>
                <a:lnTo>
                  <a:pt x="61927" y="74367"/>
                </a:lnTo>
                <a:lnTo>
                  <a:pt x="61927" y="862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334519" y="3684101"/>
            <a:ext cx="62230" cy="74295"/>
          </a:xfrm>
          <a:custGeom>
            <a:avLst/>
            <a:gdLst/>
            <a:ahLst/>
            <a:cxnLst/>
            <a:rect l="l" t="t" r="r" b="b"/>
            <a:pathLst>
              <a:path w="62229" h="74295">
                <a:moveTo>
                  <a:pt x="0" y="0"/>
                </a:moveTo>
                <a:lnTo>
                  <a:pt x="0" y="65205"/>
                </a:lnTo>
                <a:lnTo>
                  <a:pt x="61927" y="73828"/>
                </a:lnTo>
                <a:lnTo>
                  <a:pt x="61927" y="808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334519" y="3593567"/>
            <a:ext cx="62230" cy="73660"/>
          </a:xfrm>
          <a:custGeom>
            <a:avLst/>
            <a:gdLst/>
            <a:ahLst/>
            <a:cxnLst/>
            <a:rect l="l" t="t" r="r" b="b"/>
            <a:pathLst>
              <a:path w="62229" h="73660">
                <a:moveTo>
                  <a:pt x="0" y="0"/>
                </a:moveTo>
                <a:lnTo>
                  <a:pt x="0" y="64667"/>
                </a:lnTo>
                <a:lnTo>
                  <a:pt x="61927" y="73289"/>
                </a:lnTo>
                <a:lnTo>
                  <a:pt x="61927" y="808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334519" y="3499261"/>
            <a:ext cx="62230" cy="74930"/>
          </a:xfrm>
          <a:custGeom>
            <a:avLst/>
            <a:gdLst/>
            <a:ahLst/>
            <a:cxnLst/>
            <a:rect l="l" t="t" r="r" b="b"/>
            <a:pathLst>
              <a:path w="62229" h="74929">
                <a:moveTo>
                  <a:pt x="0" y="0"/>
                </a:moveTo>
                <a:lnTo>
                  <a:pt x="0" y="65205"/>
                </a:lnTo>
                <a:lnTo>
                  <a:pt x="61927" y="74367"/>
                </a:lnTo>
                <a:lnTo>
                  <a:pt x="61927" y="808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255702" y="2205918"/>
            <a:ext cx="292100" cy="601980"/>
          </a:xfrm>
          <a:custGeom>
            <a:avLst/>
            <a:gdLst/>
            <a:ahLst/>
            <a:cxnLst/>
            <a:rect l="l" t="t" r="r" b="b"/>
            <a:pathLst>
              <a:path w="292100" h="601980">
                <a:moveTo>
                  <a:pt x="90639" y="0"/>
                </a:moveTo>
                <a:lnTo>
                  <a:pt x="68120" y="21017"/>
                </a:lnTo>
                <a:lnTo>
                  <a:pt x="68120" y="68440"/>
                </a:lnTo>
                <a:lnTo>
                  <a:pt x="39971" y="77062"/>
                </a:lnTo>
                <a:lnTo>
                  <a:pt x="36031" y="77600"/>
                </a:lnTo>
                <a:lnTo>
                  <a:pt x="32090" y="79217"/>
                </a:lnTo>
                <a:lnTo>
                  <a:pt x="29274" y="81373"/>
                </a:lnTo>
                <a:lnTo>
                  <a:pt x="25896" y="83529"/>
                </a:lnTo>
                <a:lnTo>
                  <a:pt x="23644" y="86762"/>
                </a:lnTo>
                <a:lnTo>
                  <a:pt x="21955" y="89996"/>
                </a:lnTo>
                <a:lnTo>
                  <a:pt x="20266" y="93767"/>
                </a:lnTo>
                <a:lnTo>
                  <a:pt x="19704" y="97539"/>
                </a:lnTo>
                <a:lnTo>
                  <a:pt x="19704" y="175140"/>
                </a:lnTo>
                <a:lnTo>
                  <a:pt x="0" y="192385"/>
                </a:lnTo>
                <a:lnTo>
                  <a:pt x="0" y="268908"/>
                </a:lnTo>
                <a:lnTo>
                  <a:pt x="19704" y="285074"/>
                </a:lnTo>
                <a:lnTo>
                  <a:pt x="19704" y="578232"/>
                </a:lnTo>
                <a:lnTo>
                  <a:pt x="193666" y="601944"/>
                </a:lnTo>
                <a:lnTo>
                  <a:pt x="261786" y="562604"/>
                </a:lnTo>
                <a:lnTo>
                  <a:pt x="261786" y="509793"/>
                </a:lnTo>
                <a:lnTo>
                  <a:pt x="267978" y="509254"/>
                </a:lnTo>
                <a:lnTo>
                  <a:pt x="291625" y="481770"/>
                </a:lnTo>
                <a:lnTo>
                  <a:pt x="290498" y="473148"/>
                </a:lnTo>
                <a:lnTo>
                  <a:pt x="285995" y="465603"/>
                </a:lnTo>
                <a:lnTo>
                  <a:pt x="279801" y="459676"/>
                </a:lnTo>
                <a:lnTo>
                  <a:pt x="275860" y="457520"/>
                </a:lnTo>
                <a:lnTo>
                  <a:pt x="271357" y="455903"/>
                </a:lnTo>
                <a:lnTo>
                  <a:pt x="275860" y="454286"/>
                </a:lnTo>
                <a:lnTo>
                  <a:pt x="279801" y="451054"/>
                </a:lnTo>
                <a:lnTo>
                  <a:pt x="283179" y="448898"/>
                </a:lnTo>
                <a:lnTo>
                  <a:pt x="285995" y="445126"/>
                </a:lnTo>
                <a:lnTo>
                  <a:pt x="288246" y="441892"/>
                </a:lnTo>
                <a:lnTo>
                  <a:pt x="290498" y="437581"/>
                </a:lnTo>
                <a:lnTo>
                  <a:pt x="291061" y="433809"/>
                </a:lnTo>
                <a:lnTo>
                  <a:pt x="291625" y="429498"/>
                </a:lnTo>
                <a:lnTo>
                  <a:pt x="291061" y="424108"/>
                </a:lnTo>
                <a:lnTo>
                  <a:pt x="261786" y="401476"/>
                </a:lnTo>
                <a:lnTo>
                  <a:pt x="261786" y="215558"/>
                </a:lnTo>
                <a:lnTo>
                  <a:pt x="291625" y="187535"/>
                </a:lnTo>
                <a:lnTo>
                  <a:pt x="291061" y="183762"/>
                </a:lnTo>
                <a:lnTo>
                  <a:pt x="290498" y="179452"/>
                </a:lnTo>
                <a:lnTo>
                  <a:pt x="271357" y="161129"/>
                </a:lnTo>
                <a:lnTo>
                  <a:pt x="275860" y="159513"/>
                </a:lnTo>
                <a:lnTo>
                  <a:pt x="279801" y="157356"/>
                </a:lnTo>
                <a:lnTo>
                  <a:pt x="285995" y="151429"/>
                </a:lnTo>
                <a:lnTo>
                  <a:pt x="290498" y="143884"/>
                </a:lnTo>
                <a:lnTo>
                  <a:pt x="291061" y="139574"/>
                </a:lnTo>
                <a:lnTo>
                  <a:pt x="291625" y="135801"/>
                </a:lnTo>
                <a:lnTo>
                  <a:pt x="261786" y="107778"/>
                </a:lnTo>
                <a:lnTo>
                  <a:pt x="261786" y="27484"/>
                </a:lnTo>
                <a:lnTo>
                  <a:pt x="225755" y="27484"/>
                </a:lnTo>
                <a:lnTo>
                  <a:pt x="197606" y="2694"/>
                </a:lnTo>
                <a:lnTo>
                  <a:pt x="90639" y="0"/>
                </a:lnTo>
                <a:close/>
              </a:path>
              <a:path w="292100" h="601980">
                <a:moveTo>
                  <a:pt x="261786" y="2694"/>
                </a:moveTo>
                <a:lnTo>
                  <a:pt x="225755" y="27484"/>
                </a:lnTo>
                <a:lnTo>
                  <a:pt x="261786" y="27484"/>
                </a:lnTo>
                <a:lnTo>
                  <a:pt x="261786" y="26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296800" y="2226396"/>
            <a:ext cx="199390" cy="559435"/>
          </a:xfrm>
          <a:custGeom>
            <a:avLst/>
            <a:gdLst/>
            <a:ahLst/>
            <a:cxnLst/>
            <a:rect l="l" t="t" r="r" b="b"/>
            <a:pathLst>
              <a:path w="199389" h="559435">
                <a:moveTo>
                  <a:pt x="14636" y="72212"/>
                </a:moveTo>
                <a:lnTo>
                  <a:pt x="2814" y="77062"/>
                </a:lnTo>
                <a:lnTo>
                  <a:pt x="0" y="77062"/>
                </a:lnTo>
                <a:lnTo>
                  <a:pt x="0" y="539970"/>
                </a:lnTo>
                <a:lnTo>
                  <a:pt x="140182" y="559371"/>
                </a:lnTo>
                <a:lnTo>
                  <a:pt x="140182" y="134724"/>
                </a:lnTo>
                <a:lnTo>
                  <a:pt x="14636" y="134724"/>
                </a:lnTo>
                <a:lnTo>
                  <a:pt x="14636" y="72212"/>
                </a:lnTo>
                <a:close/>
              </a:path>
              <a:path w="199389" h="559435">
                <a:moveTo>
                  <a:pt x="199294" y="91072"/>
                </a:moveTo>
                <a:lnTo>
                  <a:pt x="161575" y="91072"/>
                </a:lnTo>
                <a:lnTo>
                  <a:pt x="161575" y="552904"/>
                </a:lnTo>
                <a:lnTo>
                  <a:pt x="199294" y="530810"/>
                </a:lnTo>
                <a:lnTo>
                  <a:pt x="199294" y="91072"/>
                </a:lnTo>
                <a:close/>
              </a:path>
              <a:path w="199389" h="559435">
                <a:moveTo>
                  <a:pt x="48978" y="0"/>
                </a:moveTo>
                <a:lnTo>
                  <a:pt x="48416" y="0"/>
                </a:lnTo>
                <a:lnTo>
                  <a:pt x="47853" y="539"/>
                </a:lnTo>
                <a:lnTo>
                  <a:pt x="46727" y="119635"/>
                </a:lnTo>
                <a:lnTo>
                  <a:pt x="14636" y="134724"/>
                </a:lnTo>
                <a:lnTo>
                  <a:pt x="140182" y="134724"/>
                </a:lnTo>
                <a:lnTo>
                  <a:pt x="140182" y="105623"/>
                </a:lnTo>
                <a:lnTo>
                  <a:pt x="161575" y="91072"/>
                </a:lnTo>
                <a:lnTo>
                  <a:pt x="199294" y="91072"/>
                </a:lnTo>
                <a:lnTo>
                  <a:pt x="199294" y="33411"/>
                </a:lnTo>
                <a:lnTo>
                  <a:pt x="182968" y="33411"/>
                </a:lnTo>
                <a:lnTo>
                  <a:pt x="148064" y="2694"/>
                </a:lnTo>
                <a:lnTo>
                  <a:pt x="48978" y="0"/>
                </a:lnTo>
                <a:close/>
              </a:path>
              <a:path w="199389" h="559435">
                <a:moveTo>
                  <a:pt x="199294" y="22095"/>
                </a:moveTo>
                <a:lnTo>
                  <a:pt x="182968" y="33411"/>
                </a:lnTo>
                <a:lnTo>
                  <a:pt x="199294" y="33411"/>
                </a:lnTo>
                <a:lnTo>
                  <a:pt x="199294" y="22095"/>
                </a:lnTo>
                <a:close/>
              </a:path>
            </a:pathLst>
          </a:custGeom>
          <a:solidFill>
            <a:srgbClr val="3FB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358728" y="2236096"/>
            <a:ext cx="42545" cy="19050"/>
          </a:xfrm>
          <a:custGeom>
            <a:avLst/>
            <a:gdLst/>
            <a:ahLst/>
            <a:cxnLst/>
            <a:rect l="l" t="t" r="r" b="b"/>
            <a:pathLst>
              <a:path w="42545" h="19050">
                <a:moveTo>
                  <a:pt x="21393" y="0"/>
                </a:moveTo>
                <a:lnTo>
                  <a:pt x="13510" y="539"/>
                </a:lnTo>
                <a:lnTo>
                  <a:pt x="6192" y="3233"/>
                </a:lnTo>
                <a:lnTo>
                  <a:pt x="1687" y="5928"/>
                </a:lnTo>
                <a:lnTo>
                  <a:pt x="0" y="9700"/>
                </a:lnTo>
                <a:lnTo>
                  <a:pt x="1687" y="12933"/>
                </a:lnTo>
                <a:lnTo>
                  <a:pt x="6192" y="16167"/>
                </a:lnTo>
                <a:lnTo>
                  <a:pt x="13510" y="18322"/>
                </a:lnTo>
                <a:lnTo>
                  <a:pt x="21393" y="18860"/>
                </a:lnTo>
                <a:lnTo>
                  <a:pt x="29837" y="18322"/>
                </a:lnTo>
                <a:lnTo>
                  <a:pt x="36029" y="16167"/>
                </a:lnTo>
                <a:lnTo>
                  <a:pt x="39970" y="12933"/>
                </a:lnTo>
                <a:lnTo>
                  <a:pt x="42222" y="9700"/>
                </a:lnTo>
                <a:lnTo>
                  <a:pt x="39970" y="5928"/>
                </a:lnTo>
                <a:lnTo>
                  <a:pt x="36029" y="3233"/>
                </a:lnTo>
                <a:lnTo>
                  <a:pt x="29837" y="539"/>
                </a:lnTo>
                <a:lnTo>
                  <a:pt x="2139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313689" y="2364353"/>
            <a:ext cx="27940" cy="102235"/>
          </a:xfrm>
          <a:custGeom>
            <a:avLst/>
            <a:gdLst/>
            <a:ahLst/>
            <a:cxnLst/>
            <a:rect l="l" t="t" r="r" b="b"/>
            <a:pathLst>
              <a:path w="27939" h="102235">
                <a:moveTo>
                  <a:pt x="27586" y="0"/>
                </a:moveTo>
                <a:lnTo>
                  <a:pt x="0" y="14550"/>
                </a:lnTo>
                <a:lnTo>
                  <a:pt x="0" y="101851"/>
                </a:lnTo>
                <a:lnTo>
                  <a:pt x="27586" y="89456"/>
                </a:lnTo>
                <a:lnTo>
                  <a:pt x="275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282725" y="2824568"/>
            <a:ext cx="272415" cy="578485"/>
          </a:xfrm>
          <a:custGeom>
            <a:avLst/>
            <a:gdLst/>
            <a:ahLst/>
            <a:cxnLst/>
            <a:rect l="l" t="t" r="r" b="b"/>
            <a:pathLst>
              <a:path w="272415" h="578485">
                <a:moveTo>
                  <a:pt x="0" y="18860"/>
                </a:moveTo>
                <a:lnTo>
                  <a:pt x="0" y="546436"/>
                </a:lnTo>
                <a:lnTo>
                  <a:pt x="173960" y="578231"/>
                </a:lnTo>
                <a:lnTo>
                  <a:pt x="242082" y="538353"/>
                </a:lnTo>
                <a:lnTo>
                  <a:pt x="242082" y="478536"/>
                </a:lnTo>
                <a:lnTo>
                  <a:pt x="248274" y="477459"/>
                </a:lnTo>
                <a:lnTo>
                  <a:pt x="271919" y="450513"/>
                </a:lnTo>
                <a:lnTo>
                  <a:pt x="270794" y="441891"/>
                </a:lnTo>
                <a:lnTo>
                  <a:pt x="266289" y="434347"/>
                </a:lnTo>
                <a:lnTo>
                  <a:pt x="260097" y="428419"/>
                </a:lnTo>
                <a:lnTo>
                  <a:pt x="256156" y="426264"/>
                </a:lnTo>
                <a:lnTo>
                  <a:pt x="251653" y="424647"/>
                </a:lnTo>
                <a:lnTo>
                  <a:pt x="256156" y="423030"/>
                </a:lnTo>
                <a:lnTo>
                  <a:pt x="260097" y="419797"/>
                </a:lnTo>
                <a:lnTo>
                  <a:pt x="263475" y="417640"/>
                </a:lnTo>
                <a:lnTo>
                  <a:pt x="266289" y="413868"/>
                </a:lnTo>
                <a:lnTo>
                  <a:pt x="268542" y="410635"/>
                </a:lnTo>
                <a:lnTo>
                  <a:pt x="270794" y="406325"/>
                </a:lnTo>
                <a:lnTo>
                  <a:pt x="271357" y="402551"/>
                </a:lnTo>
                <a:lnTo>
                  <a:pt x="271919" y="398241"/>
                </a:lnTo>
                <a:lnTo>
                  <a:pt x="271357" y="392852"/>
                </a:lnTo>
                <a:lnTo>
                  <a:pt x="242082" y="370218"/>
                </a:lnTo>
                <a:lnTo>
                  <a:pt x="242082" y="182684"/>
                </a:lnTo>
                <a:lnTo>
                  <a:pt x="271919" y="154661"/>
                </a:lnTo>
                <a:lnTo>
                  <a:pt x="271357" y="150350"/>
                </a:lnTo>
                <a:lnTo>
                  <a:pt x="251653" y="128256"/>
                </a:lnTo>
                <a:lnTo>
                  <a:pt x="256156" y="126639"/>
                </a:lnTo>
                <a:lnTo>
                  <a:pt x="271919" y="102388"/>
                </a:lnTo>
                <a:lnTo>
                  <a:pt x="271357" y="97000"/>
                </a:lnTo>
                <a:lnTo>
                  <a:pt x="242082" y="74366"/>
                </a:lnTo>
                <a:lnTo>
                  <a:pt x="242082" y="42571"/>
                </a:lnTo>
                <a:lnTo>
                  <a:pt x="170019" y="42571"/>
                </a:lnTo>
                <a:lnTo>
                  <a:pt x="0" y="18860"/>
                </a:lnTo>
                <a:close/>
              </a:path>
              <a:path w="272415" h="578485">
                <a:moveTo>
                  <a:pt x="242082" y="0"/>
                </a:moveTo>
                <a:lnTo>
                  <a:pt x="170019" y="42571"/>
                </a:lnTo>
                <a:lnTo>
                  <a:pt x="242082" y="42571"/>
                </a:lnTo>
                <a:lnTo>
                  <a:pt x="2420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304118" y="2861213"/>
            <a:ext cx="199390" cy="520065"/>
          </a:xfrm>
          <a:custGeom>
            <a:avLst/>
            <a:gdLst/>
            <a:ahLst/>
            <a:cxnLst/>
            <a:rect l="l" t="t" r="r" b="b"/>
            <a:pathLst>
              <a:path w="199390" h="520064">
                <a:moveTo>
                  <a:pt x="0" y="5927"/>
                </a:moveTo>
                <a:lnTo>
                  <a:pt x="0" y="493086"/>
                </a:lnTo>
                <a:lnTo>
                  <a:pt x="148626" y="520031"/>
                </a:lnTo>
                <a:lnTo>
                  <a:pt x="199294" y="490392"/>
                </a:lnTo>
                <a:lnTo>
                  <a:pt x="199294" y="449436"/>
                </a:lnTo>
                <a:lnTo>
                  <a:pt x="140182" y="449436"/>
                </a:lnTo>
                <a:lnTo>
                  <a:pt x="140182" y="25327"/>
                </a:lnTo>
                <a:lnTo>
                  <a:pt x="0" y="5927"/>
                </a:lnTo>
                <a:close/>
              </a:path>
              <a:path w="199390" h="520064">
                <a:moveTo>
                  <a:pt x="199294" y="0"/>
                </a:moveTo>
                <a:lnTo>
                  <a:pt x="161575" y="22094"/>
                </a:lnTo>
                <a:lnTo>
                  <a:pt x="161575" y="433269"/>
                </a:lnTo>
                <a:lnTo>
                  <a:pt x="140182" y="449436"/>
                </a:lnTo>
                <a:lnTo>
                  <a:pt x="199294" y="449436"/>
                </a:lnTo>
                <a:lnTo>
                  <a:pt x="199294" y="0"/>
                </a:lnTo>
                <a:close/>
              </a:path>
            </a:pathLst>
          </a:custGeom>
          <a:solidFill>
            <a:srgbClr val="3FB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334519" y="3180237"/>
            <a:ext cx="62230" cy="74930"/>
          </a:xfrm>
          <a:custGeom>
            <a:avLst/>
            <a:gdLst/>
            <a:ahLst/>
            <a:cxnLst/>
            <a:rect l="l" t="t" r="r" b="b"/>
            <a:pathLst>
              <a:path w="62229" h="74929">
                <a:moveTo>
                  <a:pt x="0" y="0"/>
                </a:moveTo>
                <a:lnTo>
                  <a:pt x="0" y="65206"/>
                </a:lnTo>
                <a:lnTo>
                  <a:pt x="61927" y="74367"/>
                </a:lnTo>
                <a:lnTo>
                  <a:pt x="61927" y="862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334519" y="3271310"/>
            <a:ext cx="62230" cy="74930"/>
          </a:xfrm>
          <a:custGeom>
            <a:avLst/>
            <a:gdLst/>
            <a:ahLst/>
            <a:cxnLst/>
            <a:rect l="l" t="t" r="r" b="b"/>
            <a:pathLst>
              <a:path w="62229" h="74929">
                <a:moveTo>
                  <a:pt x="0" y="0"/>
                </a:moveTo>
                <a:lnTo>
                  <a:pt x="0" y="66283"/>
                </a:lnTo>
                <a:lnTo>
                  <a:pt x="61927" y="74367"/>
                </a:lnTo>
                <a:lnTo>
                  <a:pt x="61927" y="862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334519" y="3089164"/>
            <a:ext cx="62230" cy="74295"/>
          </a:xfrm>
          <a:custGeom>
            <a:avLst/>
            <a:gdLst/>
            <a:ahLst/>
            <a:cxnLst/>
            <a:rect l="l" t="t" r="r" b="b"/>
            <a:pathLst>
              <a:path w="62229" h="74294">
                <a:moveTo>
                  <a:pt x="0" y="0"/>
                </a:moveTo>
                <a:lnTo>
                  <a:pt x="0" y="65205"/>
                </a:lnTo>
                <a:lnTo>
                  <a:pt x="61927" y="73828"/>
                </a:lnTo>
                <a:lnTo>
                  <a:pt x="61927" y="808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334519" y="2998631"/>
            <a:ext cx="62230" cy="73660"/>
          </a:xfrm>
          <a:custGeom>
            <a:avLst/>
            <a:gdLst/>
            <a:ahLst/>
            <a:cxnLst/>
            <a:rect l="l" t="t" r="r" b="b"/>
            <a:pathLst>
              <a:path w="62229" h="73660">
                <a:moveTo>
                  <a:pt x="0" y="0"/>
                </a:moveTo>
                <a:lnTo>
                  <a:pt x="0" y="64667"/>
                </a:lnTo>
                <a:lnTo>
                  <a:pt x="61927" y="73289"/>
                </a:lnTo>
                <a:lnTo>
                  <a:pt x="61927" y="808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334519" y="2904323"/>
            <a:ext cx="62230" cy="74930"/>
          </a:xfrm>
          <a:custGeom>
            <a:avLst/>
            <a:gdLst/>
            <a:ahLst/>
            <a:cxnLst/>
            <a:rect l="l" t="t" r="r" b="b"/>
            <a:pathLst>
              <a:path w="62229" h="74930">
                <a:moveTo>
                  <a:pt x="0" y="0"/>
                </a:moveTo>
                <a:lnTo>
                  <a:pt x="0" y="65206"/>
                </a:lnTo>
                <a:lnTo>
                  <a:pt x="61927" y="74368"/>
                </a:lnTo>
                <a:lnTo>
                  <a:pt x="61927" y="808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918150" y="1491896"/>
            <a:ext cx="272415" cy="578485"/>
          </a:xfrm>
          <a:custGeom>
            <a:avLst/>
            <a:gdLst/>
            <a:ahLst/>
            <a:cxnLst/>
            <a:rect l="l" t="t" r="r" b="b"/>
            <a:pathLst>
              <a:path w="272415" h="578485">
                <a:moveTo>
                  <a:pt x="97957" y="0"/>
                </a:moveTo>
                <a:lnTo>
                  <a:pt x="29837" y="39877"/>
                </a:lnTo>
                <a:lnTo>
                  <a:pt x="29837" y="99695"/>
                </a:lnTo>
                <a:lnTo>
                  <a:pt x="23644" y="100773"/>
                </a:lnTo>
                <a:lnTo>
                  <a:pt x="0" y="127717"/>
                </a:lnTo>
                <a:lnTo>
                  <a:pt x="1125" y="136339"/>
                </a:lnTo>
                <a:lnTo>
                  <a:pt x="5628" y="143884"/>
                </a:lnTo>
                <a:lnTo>
                  <a:pt x="11822" y="149811"/>
                </a:lnTo>
                <a:lnTo>
                  <a:pt x="15763" y="151968"/>
                </a:lnTo>
                <a:lnTo>
                  <a:pt x="20266" y="153584"/>
                </a:lnTo>
                <a:lnTo>
                  <a:pt x="15763" y="155200"/>
                </a:lnTo>
                <a:lnTo>
                  <a:pt x="11822" y="158433"/>
                </a:lnTo>
                <a:lnTo>
                  <a:pt x="8444" y="160590"/>
                </a:lnTo>
                <a:lnTo>
                  <a:pt x="5628" y="164362"/>
                </a:lnTo>
                <a:lnTo>
                  <a:pt x="3376" y="167595"/>
                </a:lnTo>
                <a:lnTo>
                  <a:pt x="1125" y="171907"/>
                </a:lnTo>
                <a:lnTo>
                  <a:pt x="562" y="175679"/>
                </a:lnTo>
                <a:lnTo>
                  <a:pt x="0" y="179989"/>
                </a:lnTo>
                <a:lnTo>
                  <a:pt x="562" y="185379"/>
                </a:lnTo>
                <a:lnTo>
                  <a:pt x="29837" y="208012"/>
                </a:lnTo>
                <a:lnTo>
                  <a:pt x="29837" y="395546"/>
                </a:lnTo>
                <a:lnTo>
                  <a:pt x="0" y="423569"/>
                </a:lnTo>
                <a:lnTo>
                  <a:pt x="562" y="427880"/>
                </a:lnTo>
                <a:lnTo>
                  <a:pt x="20266" y="449974"/>
                </a:lnTo>
                <a:lnTo>
                  <a:pt x="15763" y="451591"/>
                </a:lnTo>
                <a:lnTo>
                  <a:pt x="0" y="475842"/>
                </a:lnTo>
                <a:lnTo>
                  <a:pt x="562" y="481230"/>
                </a:lnTo>
                <a:lnTo>
                  <a:pt x="29837" y="503864"/>
                </a:lnTo>
                <a:lnTo>
                  <a:pt x="29837" y="578232"/>
                </a:lnTo>
                <a:lnTo>
                  <a:pt x="101898" y="535659"/>
                </a:lnTo>
                <a:lnTo>
                  <a:pt x="271918" y="535659"/>
                </a:lnTo>
                <a:lnTo>
                  <a:pt x="271918" y="31794"/>
                </a:lnTo>
                <a:lnTo>
                  <a:pt x="97957" y="0"/>
                </a:lnTo>
                <a:close/>
              </a:path>
              <a:path w="272415" h="578485">
                <a:moveTo>
                  <a:pt x="271918" y="535659"/>
                </a:moveTo>
                <a:lnTo>
                  <a:pt x="101898" y="535659"/>
                </a:lnTo>
                <a:lnTo>
                  <a:pt x="271918" y="559370"/>
                </a:lnTo>
                <a:lnTo>
                  <a:pt x="271918" y="5356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969380" y="1513452"/>
            <a:ext cx="199390" cy="520065"/>
          </a:xfrm>
          <a:custGeom>
            <a:avLst/>
            <a:gdLst/>
            <a:ahLst/>
            <a:cxnLst/>
            <a:rect l="l" t="t" r="r" b="b"/>
            <a:pathLst>
              <a:path w="199390" h="520064">
                <a:moveTo>
                  <a:pt x="50669" y="0"/>
                </a:moveTo>
                <a:lnTo>
                  <a:pt x="0" y="29637"/>
                </a:lnTo>
                <a:lnTo>
                  <a:pt x="0" y="520030"/>
                </a:lnTo>
                <a:lnTo>
                  <a:pt x="37720" y="497936"/>
                </a:lnTo>
                <a:lnTo>
                  <a:pt x="37720" y="86761"/>
                </a:lnTo>
                <a:lnTo>
                  <a:pt x="59113" y="70594"/>
                </a:lnTo>
                <a:lnTo>
                  <a:pt x="199294" y="70594"/>
                </a:lnTo>
                <a:lnTo>
                  <a:pt x="199294" y="26944"/>
                </a:lnTo>
                <a:lnTo>
                  <a:pt x="50669" y="0"/>
                </a:lnTo>
                <a:close/>
              </a:path>
              <a:path w="199390" h="520064">
                <a:moveTo>
                  <a:pt x="199294" y="70594"/>
                </a:moveTo>
                <a:lnTo>
                  <a:pt x="59113" y="70594"/>
                </a:lnTo>
                <a:lnTo>
                  <a:pt x="59113" y="494703"/>
                </a:lnTo>
                <a:lnTo>
                  <a:pt x="199294" y="514103"/>
                </a:lnTo>
                <a:lnTo>
                  <a:pt x="199294" y="70594"/>
                </a:lnTo>
                <a:close/>
              </a:path>
            </a:pathLst>
          </a:custGeom>
          <a:solidFill>
            <a:srgbClr val="3FB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8076348" y="1640091"/>
            <a:ext cx="62230" cy="74930"/>
          </a:xfrm>
          <a:custGeom>
            <a:avLst/>
            <a:gdLst/>
            <a:ahLst/>
            <a:cxnLst/>
            <a:rect l="l" t="t" r="r" b="b"/>
            <a:pathLst>
              <a:path w="62229" h="74930">
                <a:moveTo>
                  <a:pt x="0" y="0"/>
                </a:moveTo>
                <a:lnTo>
                  <a:pt x="0" y="65745"/>
                </a:lnTo>
                <a:lnTo>
                  <a:pt x="61927" y="74367"/>
                </a:lnTo>
                <a:lnTo>
                  <a:pt x="61927" y="91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8076348" y="1549019"/>
            <a:ext cx="62230" cy="74930"/>
          </a:xfrm>
          <a:custGeom>
            <a:avLst/>
            <a:gdLst/>
            <a:ahLst/>
            <a:cxnLst/>
            <a:rect l="l" t="t" r="r" b="b"/>
            <a:pathLst>
              <a:path w="62229" h="74930">
                <a:moveTo>
                  <a:pt x="0" y="0"/>
                </a:moveTo>
                <a:lnTo>
                  <a:pt x="0" y="65745"/>
                </a:lnTo>
                <a:lnTo>
                  <a:pt x="61927" y="74367"/>
                </a:lnTo>
                <a:lnTo>
                  <a:pt x="61927" y="808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8076346" y="1731703"/>
            <a:ext cx="62230" cy="74295"/>
          </a:xfrm>
          <a:custGeom>
            <a:avLst/>
            <a:gdLst/>
            <a:ahLst/>
            <a:cxnLst/>
            <a:rect l="l" t="t" r="r" b="b"/>
            <a:pathLst>
              <a:path w="62229" h="74294">
                <a:moveTo>
                  <a:pt x="0" y="0"/>
                </a:moveTo>
                <a:lnTo>
                  <a:pt x="0" y="65745"/>
                </a:lnTo>
                <a:lnTo>
                  <a:pt x="61927" y="73828"/>
                </a:lnTo>
                <a:lnTo>
                  <a:pt x="61927" y="862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8076346" y="1822777"/>
            <a:ext cx="62230" cy="73660"/>
          </a:xfrm>
          <a:custGeom>
            <a:avLst/>
            <a:gdLst/>
            <a:ahLst/>
            <a:cxnLst/>
            <a:rect l="l" t="t" r="r" b="b"/>
            <a:pathLst>
              <a:path w="62229" h="73660">
                <a:moveTo>
                  <a:pt x="0" y="0"/>
                </a:moveTo>
                <a:lnTo>
                  <a:pt x="0" y="65205"/>
                </a:lnTo>
                <a:lnTo>
                  <a:pt x="61927" y="73289"/>
                </a:lnTo>
                <a:lnTo>
                  <a:pt x="61927" y="862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8076348" y="1916004"/>
            <a:ext cx="62230" cy="74930"/>
          </a:xfrm>
          <a:custGeom>
            <a:avLst/>
            <a:gdLst/>
            <a:ahLst/>
            <a:cxnLst/>
            <a:rect l="l" t="t" r="r" b="b"/>
            <a:pathLst>
              <a:path w="62229" h="74930">
                <a:moveTo>
                  <a:pt x="0" y="0"/>
                </a:moveTo>
                <a:lnTo>
                  <a:pt x="0" y="66283"/>
                </a:lnTo>
                <a:lnTo>
                  <a:pt x="61927" y="74367"/>
                </a:lnTo>
                <a:lnTo>
                  <a:pt x="61927" y="916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925468" y="2681771"/>
            <a:ext cx="292100" cy="601980"/>
          </a:xfrm>
          <a:custGeom>
            <a:avLst/>
            <a:gdLst/>
            <a:ahLst/>
            <a:cxnLst/>
            <a:rect l="l" t="t" r="r" b="b"/>
            <a:pathLst>
              <a:path w="292100" h="601979">
                <a:moveTo>
                  <a:pt x="223503" y="574459"/>
                </a:moveTo>
                <a:lnTo>
                  <a:pt x="65868" y="574459"/>
                </a:lnTo>
                <a:lnTo>
                  <a:pt x="94018" y="599248"/>
                </a:lnTo>
                <a:lnTo>
                  <a:pt x="200983" y="601943"/>
                </a:lnTo>
                <a:lnTo>
                  <a:pt x="206051" y="601404"/>
                </a:lnTo>
                <a:lnTo>
                  <a:pt x="223503" y="580925"/>
                </a:lnTo>
                <a:lnTo>
                  <a:pt x="223503" y="574459"/>
                </a:lnTo>
                <a:close/>
              </a:path>
              <a:path w="292100" h="601979">
                <a:moveTo>
                  <a:pt x="97958" y="0"/>
                </a:moveTo>
                <a:lnTo>
                  <a:pt x="29838" y="39339"/>
                </a:lnTo>
                <a:lnTo>
                  <a:pt x="29838" y="92149"/>
                </a:lnTo>
                <a:lnTo>
                  <a:pt x="23646" y="92689"/>
                </a:lnTo>
                <a:lnTo>
                  <a:pt x="0" y="120172"/>
                </a:lnTo>
                <a:lnTo>
                  <a:pt x="1126" y="128795"/>
                </a:lnTo>
                <a:lnTo>
                  <a:pt x="5629" y="136339"/>
                </a:lnTo>
                <a:lnTo>
                  <a:pt x="11822" y="142267"/>
                </a:lnTo>
                <a:lnTo>
                  <a:pt x="15763" y="144423"/>
                </a:lnTo>
                <a:lnTo>
                  <a:pt x="20267" y="146039"/>
                </a:lnTo>
                <a:lnTo>
                  <a:pt x="15763" y="147656"/>
                </a:lnTo>
                <a:lnTo>
                  <a:pt x="11822" y="150889"/>
                </a:lnTo>
                <a:lnTo>
                  <a:pt x="8445" y="153045"/>
                </a:lnTo>
                <a:lnTo>
                  <a:pt x="5629" y="156817"/>
                </a:lnTo>
                <a:lnTo>
                  <a:pt x="3378" y="160050"/>
                </a:lnTo>
                <a:lnTo>
                  <a:pt x="1126" y="164362"/>
                </a:lnTo>
                <a:lnTo>
                  <a:pt x="563" y="168134"/>
                </a:lnTo>
                <a:lnTo>
                  <a:pt x="0" y="172445"/>
                </a:lnTo>
                <a:lnTo>
                  <a:pt x="563" y="177834"/>
                </a:lnTo>
                <a:lnTo>
                  <a:pt x="29838" y="200468"/>
                </a:lnTo>
                <a:lnTo>
                  <a:pt x="29838" y="386386"/>
                </a:lnTo>
                <a:lnTo>
                  <a:pt x="0" y="414408"/>
                </a:lnTo>
                <a:lnTo>
                  <a:pt x="563" y="418180"/>
                </a:lnTo>
                <a:lnTo>
                  <a:pt x="1126" y="422492"/>
                </a:lnTo>
                <a:lnTo>
                  <a:pt x="20267" y="440814"/>
                </a:lnTo>
                <a:lnTo>
                  <a:pt x="15763" y="442431"/>
                </a:lnTo>
                <a:lnTo>
                  <a:pt x="11822" y="444586"/>
                </a:lnTo>
                <a:lnTo>
                  <a:pt x="5629" y="450514"/>
                </a:lnTo>
                <a:lnTo>
                  <a:pt x="1126" y="458058"/>
                </a:lnTo>
                <a:lnTo>
                  <a:pt x="563" y="462370"/>
                </a:lnTo>
                <a:lnTo>
                  <a:pt x="0" y="466142"/>
                </a:lnTo>
                <a:lnTo>
                  <a:pt x="29838" y="494164"/>
                </a:lnTo>
                <a:lnTo>
                  <a:pt x="29838" y="599248"/>
                </a:lnTo>
                <a:lnTo>
                  <a:pt x="65868" y="574459"/>
                </a:lnTo>
                <a:lnTo>
                  <a:pt x="223503" y="574459"/>
                </a:lnTo>
                <a:lnTo>
                  <a:pt x="223503" y="533504"/>
                </a:lnTo>
                <a:lnTo>
                  <a:pt x="251653" y="524880"/>
                </a:lnTo>
                <a:lnTo>
                  <a:pt x="255593" y="524342"/>
                </a:lnTo>
                <a:lnTo>
                  <a:pt x="259534" y="522725"/>
                </a:lnTo>
                <a:lnTo>
                  <a:pt x="262348" y="520570"/>
                </a:lnTo>
                <a:lnTo>
                  <a:pt x="265727" y="518415"/>
                </a:lnTo>
                <a:lnTo>
                  <a:pt x="267978" y="515181"/>
                </a:lnTo>
                <a:lnTo>
                  <a:pt x="269667" y="511948"/>
                </a:lnTo>
                <a:lnTo>
                  <a:pt x="271357" y="508175"/>
                </a:lnTo>
                <a:lnTo>
                  <a:pt x="271919" y="504403"/>
                </a:lnTo>
                <a:lnTo>
                  <a:pt x="271919" y="426802"/>
                </a:lnTo>
                <a:lnTo>
                  <a:pt x="291623" y="409558"/>
                </a:lnTo>
                <a:lnTo>
                  <a:pt x="291623" y="333035"/>
                </a:lnTo>
                <a:lnTo>
                  <a:pt x="271919" y="316868"/>
                </a:lnTo>
                <a:lnTo>
                  <a:pt x="271919" y="23710"/>
                </a:lnTo>
                <a:lnTo>
                  <a:pt x="9795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976699" y="2703865"/>
            <a:ext cx="199390" cy="559435"/>
          </a:xfrm>
          <a:custGeom>
            <a:avLst/>
            <a:gdLst/>
            <a:ahLst/>
            <a:cxnLst/>
            <a:rect l="l" t="t" r="r" b="b"/>
            <a:pathLst>
              <a:path w="199390" h="559435">
                <a:moveTo>
                  <a:pt x="151753" y="525959"/>
                </a:moveTo>
                <a:lnTo>
                  <a:pt x="16327" y="525959"/>
                </a:lnTo>
                <a:lnTo>
                  <a:pt x="51231" y="556676"/>
                </a:lnTo>
                <a:lnTo>
                  <a:pt x="150315" y="559370"/>
                </a:lnTo>
                <a:lnTo>
                  <a:pt x="150878" y="559370"/>
                </a:lnTo>
                <a:lnTo>
                  <a:pt x="151442" y="558831"/>
                </a:lnTo>
                <a:lnTo>
                  <a:pt x="151753" y="525959"/>
                </a:lnTo>
                <a:close/>
              </a:path>
              <a:path w="199390" h="559435">
                <a:moveTo>
                  <a:pt x="37720" y="6466"/>
                </a:moveTo>
                <a:lnTo>
                  <a:pt x="0" y="28561"/>
                </a:lnTo>
                <a:lnTo>
                  <a:pt x="0" y="537276"/>
                </a:lnTo>
                <a:lnTo>
                  <a:pt x="16327" y="525959"/>
                </a:lnTo>
                <a:lnTo>
                  <a:pt x="151753" y="525959"/>
                </a:lnTo>
                <a:lnTo>
                  <a:pt x="152297" y="468297"/>
                </a:lnTo>
                <a:lnTo>
                  <a:pt x="37720" y="468297"/>
                </a:lnTo>
                <a:lnTo>
                  <a:pt x="37720" y="6466"/>
                </a:lnTo>
                <a:close/>
              </a:path>
              <a:path w="199390" h="559435">
                <a:moveTo>
                  <a:pt x="199294" y="424647"/>
                </a:moveTo>
                <a:lnTo>
                  <a:pt x="184658" y="424647"/>
                </a:lnTo>
                <a:lnTo>
                  <a:pt x="184658" y="487159"/>
                </a:lnTo>
                <a:lnTo>
                  <a:pt x="196480" y="482309"/>
                </a:lnTo>
                <a:lnTo>
                  <a:pt x="199294" y="482309"/>
                </a:lnTo>
                <a:lnTo>
                  <a:pt x="199294" y="424647"/>
                </a:lnTo>
                <a:close/>
              </a:path>
              <a:path w="199390" h="559435">
                <a:moveTo>
                  <a:pt x="59113" y="0"/>
                </a:moveTo>
                <a:lnTo>
                  <a:pt x="59113" y="453748"/>
                </a:lnTo>
                <a:lnTo>
                  <a:pt x="37720" y="468297"/>
                </a:lnTo>
                <a:lnTo>
                  <a:pt x="152297" y="468297"/>
                </a:lnTo>
                <a:lnTo>
                  <a:pt x="152567" y="439736"/>
                </a:lnTo>
                <a:lnTo>
                  <a:pt x="184658" y="424647"/>
                </a:lnTo>
                <a:lnTo>
                  <a:pt x="199294" y="424647"/>
                </a:lnTo>
                <a:lnTo>
                  <a:pt x="199294" y="19399"/>
                </a:lnTo>
                <a:lnTo>
                  <a:pt x="59113" y="0"/>
                </a:lnTo>
                <a:close/>
              </a:path>
            </a:pathLst>
          </a:custGeom>
          <a:solidFill>
            <a:srgbClr val="3FB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8071842" y="3234676"/>
            <a:ext cx="42545" cy="19050"/>
          </a:xfrm>
          <a:custGeom>
            <a:avLst/>
            <a:gdLst/>
            <a:ahLst/>
            <a:cxnLst/>
            <a:rect l="l" t="t" r="r" b="b"/>
            <a:pathLst>
              <a:path w="42545" h="19050">
                <a:moveTo>
                  <a:pt x="20830" y="0"/>
                </a:moveTo>
                <a:lnTo>
                  <a:pt x="12385" y="538"/>
                </a:lnTo>
                <a:lnTo>
                  <a:pt x="6192" y="2693"/>
                </a:lnTo>
                <a:lnTo>
                  <a:pt x="2251" y="5927"/>
                </a:lnTo>
                <a:lnTo>
                  <a:pt x="0" y="9160"/>
                </a:lnTo>
                <a:lnTo>
                  <a:pt x="2251" y="12932"/>
                </a:lnTo>
                <a:lnTo>
                  <a:pt x="6192" y="15627"/>
                </a:lnTo>
                <a:lnTo>
                  <a:pt x="12385" y="18321"/>
                </a:lnTo>
                <a:lnTo>
                  <a:pt x="20830" y="18860"/>
                </a:lnTo>
                <a:lnTo>
                  <a:pt x="28712" y="18321"/>
                </a:lnTo>
                <a:lnTo>
                  <a:pt x="36031" y="15627"/>
                </a:lnTo>
                <a:lnTo>
                  <a:pt x="40534" y="12932"/>
                </a:lnTo>
                <a:lnTo>
                  <a:pt x="42223" y="9160"/>
                </a:lnTo>
                <a:lnTo>
                  <a:pt x="40534" y="5927"/>
                </a:lnTo>
                <a:lnTo>
                  <a:pt x="36031" y="2693"/>
                </a:lnTo>
                <a:lnTo>
                  <a:pt x="28712" y="538"/>
                </a:lnTo>
                <a:lnTo>
                  <a:pt x="2083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8131519" y="3023429"/>
            <a:ext cx="27940" cy="102235"/>
          </a:xfrm>
          <a:custGeom>
            <a:avLst/>
            <a:gdLst/>
            <a:ahLst/>
            <a:cxnLst/>
            <a:rect l="l" t="t" r="r" b="b"/>
            <a:pathLst>
              <a:path w="27940" h="102235">
                <a:moveTo>
                  <a:pt x="27586" y="0"/>
                </a:moveTo>
                <a:lnTo>
                  <a:pt x="0" y="12395"/>
                </a:lnTo>
                <a:lnTo>
                  <a:pt x="0" y="101851"/>
                </a:lnTo>
                <a:lnTo>
                  <a:pt x="27586" y="87301"/>
                </a:lnTo>
                <a:lnTo>
                  <a:pt x="275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918150" y="2086834"/>
            <a:ext cx="272415" cy="578485"/>
          </a:xfrm>
          <a:custGeom>
            <a:avLst/>
            <a:gdLst/>
            <a:ahLst/>
            <a:cxnLst/>
            <a:rect l="l" t="t" r="r" b="b"/>
            <a:pathLst>
              <a:path w="272415" h="578485">
                <a:moveTo>
                  <a:pt x="97957" y="0"/>
                </a:moveTo>
                <a:lnTo>
                  <a:pt x="29837" y="39877"/>
                </a:lnTo>
                <a:lnTo>
                  <a:pt x="29837" y="99695"/>
                </a:lnTo>
                <a:lnTo>
                  <a:pt x="23644" y="100771"/>
                </a:lnTo>
                <a:lnTo>
                  <a:pt x="0" y="127717"/>
                </a:lnTo>
                <a:lnTo>
                  <a:pt x="1125" y="136339"/>
                </a:lnTo>
                <a:lnTo>
                  <a:pt x="5628" y="143883"/>
                </a:lnTo>
                <a:lnTo>
                  <a:pt x="11822" y="149811"/>
                </a:lnTo>
                <a:lnTo>
                  <a:pt x="15763" y="151966"/>
                </a:lnTo>
                <a:lnTo>
                  <a:pt x="20266" y="153583"/>
                </a:lnTo>
                <a:lnTo>
                  <a:pt x="15763" y="155200"/>
                </a:lnTo>
                <a:lnTo>
                  <a:pt x="11822" y="158433"/>
                </a:lnTo>
                <a:lnTo>
                  <a:pt x="8444" y="160590"/>
                </a:lnTo>
                <a:lnTo>
                  <a:pt x="5628" y="164362"/>
                </a:lnTo>
                <a:lnTo>
                  <a:pt x="3376" y="167595"/>
                </a:lnTo>
                <a:lnTo>
                  <a:pt x="1125" y="171905"/>
                </a:lnTo>
                <a:lnTo>
                  <a:pt x="562" y="175679"/>
                </a:lnTo>
                <a:lnTo>
                  <a:pt x="0" y="179989"/>
                </a:lnTo>
                <a:lnTo>
                  <a:pt x="562" y="185378"/>
                </a:lnTo>
                <a:lnTo>
                  <a:pt x="29837" y="208012"/>
                </a:lnTo>
                <a:lnTo>
                  <a:pt x="29837" y="395546"/>
                </a:lnTo>
                <a:lnTo>
                  <a:pt x="0" y="423569"/>
                </a:lnTo>
                <a:lnTo>
                  <a:pt x="562" y="427880"/>
                </a:lnTo>
                <a:lnTo>
                  <a:pt x="20266" y="449974"/>
                </a:lnTo>
                <a:lnTo>
                  <a:pt x="15763" y="451591"/>
                </a:lnTo>
                <a:lnTo>
                  <a:pt x="0" y="475842"/>
                </a:lnTo>
                <a:lnTo>
                  <a:pt x="562" y="481230"/>
                </a:lnTo>
                <a:lnTo>
                  <a:pt x="29837" y="503864"/>
                </a:lnTo>
                <a:lnTo>
                  <a:pt x="29837" y="578230"/>
                </a:lnTo>
                <a:lnTo>
                  <a:pt x="101898" y="535659"/>
                </a:lnTo>
                <a:lnTo>
                  <a:pt x="271918" y="535659"/>
                </a:lnTo>
                <a:lnTo>
                  <a:pt x="271918" y="31794"/>
                </a:lnTo>
                <a:lnTo>
                  <a:pt x="97957" y="0"/>
                </a:lnTo>
                <a:close/>
              </a:path>
              <a:path w="272415" h="578485">
                <a:moveTo>
                  <a:pt x="271918" y="535659"/>
                </a:moveTo>
                <a:lnTo>
                  <a:pt x="101898" y="535659"/>
                </a:lnTo>
                <a:lnTo>
                  <a:pt x="271918" y="559370"/>
                </a:lnTo>
                <a:lnTo>
                  <a:pt x="271918" y="5356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969380" y="2108389"/>
            <a:ext cx="199390" cy="520065"/>
          </a:xfrm>
          <a:custGeom>
            <a:avLst/>
            <a:gdLst/>
            <a:ahLst/>
            <a:cxnLst/>
            <a:rect l="l" t="t" r="r" b="b"/>
            <a:pathLst>
              <a:path w="199390" h="520064">
                <a:moveTo>
                  <a:pt x="50669" y="0"/>
                </a:moveTo>
                <a:lnTo>
                  <a:pt x="0" y="29639"/>
                </a:lnTo>
                <a:lnTo>
                  <a:pt x="0" y="520031"/>
                </a:lnTo>
                <a:lnTo>
                  <a:pt x="37720" y="497937"/>
                </a:lnTo>
                <a:lnTo>
                  <a:pt x="37720" y="86762"/>
                </a:lnTo>
                <a:lnTo>
                  <a:pt x="59113" y="70595"/>
                </a:lnTo>
                <a:lnTo>
                  <a:pt x="199294" y="70595"/>
                </a:lnTo>
                <a:lnTo>
                  <a:pt x="199294" y="26945"/>
                </a:lnTo>
                <a:lnTo>
                  <a:pt x="50669" y="0"/>
                </a:lnTo>
                <a:close/>
              </a:path>
              <a:path w="199390" h="520064">
                <a:moveTo>
                  <a:pt x="199294" y="70595"/>
                </a:moveTo>
                <a:lnTo>
                  <a:pt x="59113" y="70595"/>
                </a:lnTo>
                <a:lnTo>
                  <a:pt x="59113" y="494704"/>
                </a:lnTo>
                <a:lnTo>
                  <a:pt x="199294" y="514104"/>
                </a:lnTo>
                <a:lnTo>
                  <a:pt x="199294" y="70595"/>
                </a:lnTo>
                <a:close/>
              </a:path>
            </a:pathLst>
          </a:custGeom>
          <a:solidFill>
            <a:srgbClr val="3FB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076348" y="2235029"/>
            <a:ext cx="62230" cy="74930"/>
          </a:xfrm>
          <a:custGeom>
            <a:avLst/>
            <a:gdLst/>
            <a:ahLst/>
            <a:cxnLst/>
            <a:rect l="l" t="t" r="r" b="b"/>
            <a:pathLst>
              <a:path w="62229" h="74930">
                <a:moveTo>
                  <a:pt x="0" y="0"/>
                </a:moveTo>
                <a:lnTo>
                  <a:pt x="0" y="65744"/>
                </a:lnTo>
                <a:lnTo>
                  <a:pt x="61927" y="74367"/>
                </a:lnTo>
                <a:lnTo>
                  <a:pt x="61927" y="916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076348" y="2143956"/>
            <a:ext cx="62230" cy="74930"/>
          </a:xfrm>
          <a:custGeom>
            <a:avLst/>
            <a:gdLst/>
            <a:ahLst/>
            <a:cxnLst/>
            <a:rect l="l" t="t" r="r" b="b"/>
            <a:pathLst>
              <a:path w="62229" h="74930">
                <a:moveTo>
                  <a:pt x="0" y="0"/>
                </a:moveTo>
                <a:lnTo>
                  <a:pt x="0" y="65745"/>
                </a:lnTo>
                <a:lnTo>
                  <a:pt x="61927" y="74367"/>
                </a:lnTo>
                <a:lnTo>
                  <a:pt x="61927" y="808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076346" y="2326641"/>
            <a:ext cx="62230" cy="74295"/>
          </a:xfrm>
          <a:custGeom>
            <a:avLst/>
            <a:gdLst/>
            <a:ahLst/>
            <a:cxnLst/>
            <a:rect l="l" t="t" r="r" b="b"/>
            <a:pathLst>
              <a:path w="62229" h="74294">
                <a:moveTo>
                  <a:pt x="0" y="0"/>
                </a:moveTo>
                <a:lnTo>
                  <a:pt x="0" y="65745"/>
                </a:lnTo>
                <a:lnTo>
                  <a:pt x="61927" y="73828"/>
                </a:lnTo>
                <a:lnTo>
                  <a:pt x="61927" y="862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8076346" y="2417715"/>
            <a:ext cx="62230" cy="73660"/>
          </a:xfrm>
          <a:custGeom>
            <a:avLst/>
            <a:gdLst/>
            <a:ahLst/>
            <a:cxnLst/>
            <a:rect l="l" t="t" r="r" b="b"/>
            <a:pathLst>
              <a:path w="62229" h="73660">
                <a:moveTo>
                  <a:pt x="0" y="0"/>
                </a:moveTo>
                <a:lnTo>
                  <a:pt x="0" y="65205"/>
                </a:lnTo>
                <a:lnTo>
                  <a:pt x="61927" y="73287"/>
                </a:lnTo>
                <a:lnTo>
                  <a:pt x="61927" y="862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076348" y="2510942"/>
            <a:ext cx="62230" cy="74930"/>
          </a:xfrm>
          <a:custGeom>
            <a:avLst/>
            <a:gdLst/>
            <a:ahLst/>
            <a:cxnLst/>
            <a:rect l="l" t="t" r="r" b="b"/>
            <a:pathLst>
              <a:path w="62229" h="74930">
                <a:moveTo>
                  <a:pt x="0" y="0"/>
                </a:moveTo>
                <a:lnTo>
                  <a:pt x="0" y="66283"/>
                </a:lnTo>
                <a:lnTo>
                  <a:pt x="61927" y="74367"/>
                </a:lnTo>
                <a:lnTo>
                  <a:pt x="61927" y="916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929706" y="1773401"/>
            <a:ext cx="604520" cy="260985"/>
          </a:xfrm>
          <a:custGeom>
            <a:avLst/>
            <a:gdLst/>
            <a:ahLst/>
            <a:cxnLst/>
            <a:rect l="l" t="t" r="r" b="b"/>
            <a:pathLst>
              <a:path w="604520" h="260985">
                <a:moveTo>
                  <a:pt x="217333" y="232159"/>
                </a:moveTo>
                <a:lnTo>
                  <a:pt x="104162" y="232159"/>
                </a:lnTo>
                <a:lnTo>
                  <a:pt x="105289" y="238098"/>
                </a:lnTo>
                <a:lnTo>
                  <a:pt x="133441" y="260774"/>
                </a:lnTo>
                <a:lnTo>
                  <a:pt x="142449" y="259694"/>
                </a:lnTo>
                <a:lnTo>
                  <a:pt x="150332" y="255375"/>
                </a:lnTo>
                <a:lnTo>
                  <a:pt x="156524" y="249436"/>
                </a:lnTo>
                <a:lnTo>
                  <a:pt x="158777" y="245657"/>
                </a:lnTo>
                <a:lnTo>
                  <a:pt x="160467" y="241338"/>
                </a:lnTo>
                <a:lnTo>
                  <a:pt x="215645" y="241338"/>
                </a:lnTo>
                <a:lnTo>
                  <a:pt x="216771" y="238098"/>
                </a:lnTo>
                <a:lnTo>
                  <a:pt x="217333" y="232159"/>
                </a:lnTo>
                <a:close/>
              </a:path>
              <a:path w="604520" h="260985">
                <a:moveTo>
                  <a:pt x="215645" y="241338"/>
                </a:moveTo>
                <a:lnTo>
                  <a:pt x="160467" y="241338"/>
                </a:lnTo>
                <a:lnTo>
                  <a:pt x="162156" y="245657"/>
                </a:lnTo>
                <a:lnTo>
                  <a:pt x="165534" y="249436"/>
                </a:lnTo>
                <a:lnTo>
                  <a:pt x="167786" y="252675"/>
                </a:lnTo>
                <a:lnTo>
                  <a:pt x="188055" y="260774"/>
                </a:lnTo>
                <a:lnTo>
                  <a:pt x="193686" y="260234"/>
                </a:lnTo>
                <a:lnTo>
                  <a:pt x="199316" y="258615"/>
                </a:lnTo>
                <a:lnTo>
                  <a:pt x="203821" y="255915"/>
                </a:lnTo>
                <a:lnTo>
                  <a:pt x="208325" y="252675"/>
                </a:lnTo>
                <a:lnTo>
                  <a:pt x="215082" y="242957"/>
                </a:lnTo>
                <a:lnTo>
                  <a:pt x="215645" y="241338"/>
                </a:lnTo>
                <a:close/>
              </a:path>
              <a:path w="604520" h="260985">
                <a:moveTo>
                  <a:pt x="526444" y="232159"/>
                </a:moveTo>
                <a:lnTo>
                  <a:pt x="413271" y="232159"/>
                </a:lnTo>
                <a:lnTo>
                  <a:pt x="413835" y="238098"/>
                </a:lnTo>
                <a:lnTo>
                  <a:pt x="442550" y="260774"/>
                </a:lnTo>
                <a:lnTo>
                  <a:pt x="447055" y="260234"/>
                </a:lnTo>
                <a:lnTo>
                  <a:pt x="470140" y="241338"/>
                </a:lnTo>
                <a:lnTo>
                  <a:pt x="524378" y="241338"/>
                </a:lnTo>
                <a:lnTo>
                  <a:pt x="525880" y="238098"/>
                </a:lnTo>
                <a:lnTo>
                  <a:pt x="526444" y="232159"/>
                </a:lnTo>
                <a:close/>
              </a:path>
              <a:path w="604520" h="260985">
                <a:moveTo>
                  <a:pt x="524378" y="241338"/>
                </a:moveTo>
                <a:lnTo>
                  <a:pt x="470140" y="241338"/>
                </a:lnTo>
                <a:lnTo>
                  <a:pt x="471829" y="245657"/>
                </a:lnTo>
                <a:lnTo>
                  <a:pt x="497165" y="260774"/>
                </a:lnTo>
                <a:lnTo>
                  <a:pt x="502795" y="260234"/>
                </a:lnTo>
                <a:lnTo>
                  <a:pt x="524378" y="241338"/>
                </a:lnTo>
                <a:close/>
              </a:path>
              <a:path w="604520" h="260985">
                <a:moveTo>
                  <a:pt x="584437" y="0"/>
                </a:moveTo>
                <a:lnTo>
                  <a:pt x="33219" y="0"/>
                </a:lnTo>
                <a:lnTo>
                  <a:pt x="0" y="166831"/>
                </a:lnTo>
                <a:lnTo>
                  <a:pt x="41664" y="232159"/>
                </a:lnTo>
                <a:lnTo>
                  <a:pt x="604142" y="232159"/>
                </a:lnTo>
                <a:lnTo>
                  <a:pt x="559663" y="163051"/>
                </a:lnTo>
                <a:lnTo>
                  <a:pt x="584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952228" y="1793918"/>
            <a:ext cx="543560" cy="191135"/>
          </a:xfrm>
          <a:custGeom>
            <a:avLst/>
            <a:gdLst/>
            <a:ahLst/>
            <a:cxnLst/>
            <a:rect l="l" t="t" r="r" b="b"/>
            <a:pathLst>
              <a:path w="543560" h="191135">
                <a:moveTo>
                  <a:pt x="537141" y="0"/>
                </a:moveTo>
                <a:lnTo>
                  <a:pt x="28152" y="0"/>
                </a:lnTo>
                <a:lnTo>
                  <a:pt x="0" y="142534"/>
                </a:lnTo>
                <a:lnTo>
                  <a:pt x="30966" y="191126"/>
                </a:lnTo>
                <a:lnTo>
                  <a:pt x="543335" y="191126"/>
                </a:lnTo>
                <a:lnTo>
                  <a:pt x="520250" y="154952"/>
                </a:lnTo>
                <a:lnTo>
                  <a:pt x="90648" y="154952"/>
                </a:lnTo>
                <a:lnTo>
                  <a:pt x="73757" y="134435"/>
                </a:lnTo>
                <a:lnTo>
                  <a:pt x="516872" y="134435"/>
                </a:lnTo>
                <a:lnTo>
                  <a:pt x="537141" y="0"/>
                </a:lnTo>
                <a:close/>
              </a:path>
            </a:pathLst>
          </a:custGeom>
          <a:solidFill>
            <a:srgbClr val="3FB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084543" y="1823072"/>
            <a:ext cx="78105" cy="59690"/>
          </a:xfrm>
          <a:custGeom>
            <a:avLst/>
            <a:gdLst/>
            <a:ahLst/>
            <a:cxnLst/>
            <a:rect l="l" t="t" r="r" b="b"/>
            <a:pathLst>
              <a:path w="78104" h="59689">
                <a:moveTo>
                  <a:pt x="77699" y="0"/>
                </a:moveTo>
                <a:lnTo>
                  <a:pt x="9570" y="0"/>
                </a:lnTo>
                <a:lnTo>
                  <a:pt x="0" y="59389"/>
                </a:lnTo>
                <a:lnTo>
                  <a:pt x="68690" y="59389"/>
                </a:lnTo>
                <a:lnTo>
                  <a:pt x="776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989388" y="1823072"/>
            <a:ext cx="78105" cy="59690"/>
          </a:xfrm>
          <a:custGeom>
            <a:avLst/>
            <a:gdLst/>
            <a:ahLst/>
            <a:cxnLst/>
            <a:rect l="l" t="t" r="r" b="b"/>
            <a:pathLst>
              <a:path w="78104" h="59689">
                <a:moveTo>
                  <a:pt x="77699" y="0"/>
                </a:moveTo>
                <a:lnTo>
                  <a:pt x="8445" y="0"/>
                </a:lnTo>
                <a:lnTo>
                  <a:pt x="0" y="59389"/>
                </a:lnTo>
                <a:lnTo>
                  <a:pt x="68691" y="59389"/>
                </a:lnTo>
                <a:lnTo>
                  <a:pt x="776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180259" y="1823072"/>
            <a:ext cx="77470" cy="59690"/>
          </a:xfrm>
          <a:custGeom>
            <a:avLst/>
            <a:gdLst/>
            <a:ahLst/>
            <a:cxnLst/>
            <a:rect l="l" t="t" r="r" b="b"/>
            <a:pathLst>
              <a:path w="77470" h="59689">
                <a:moveTo>
                  <a:pt x="77137" y="0"/>
                </a:moveTo>
                <a:lnTo>
                  <a:pt x="9009" y="0"/>
                </a:lnTo>
                <a:lnTo>
                  <a:pt x="0" y="59389"/>
                </a:lnTo>
                <a:lnTo>
                  <a:pt x="68691" y="59389"/>
                </a:lnTo>
                <a:lnTo>
                  <a:pt x="771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6275414" y="1823072"/>
            <a:ext cx="76835" cy="59690"/>
          </a:xfrm>
          <a:custGeom>
            <a:avLst/>
            <a:gdLst/>
            <a:ahLst/>
            <a:cxnLst/>
            <a:rect l="l" t="t" r="r" b="b"/>
            <a:pathLst>
              <a:path w="76835" h="59689">
                <a:moveTo>
                  <a:pt x="76573" y="0"/>
                </a:moveTo>
                <a:lnTo>
                  <a:pt x="9008" y="0"/>
                </a:lnTo>
                <a:lnTo>
                  <a:pt x="0" y="59389"/>
                </a:lnTo>
                <a:lnTo>
                  <a:pt x="68127" y="59389"/>
                </a:lnTo>
                <a:lnTo>
                  <a:pt x="765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372819" y="1823072"/>
            <a:ext cx="78105" cy="59690"/>
          </a:xfrm>
          <a:custGeom>
            <a:avLst/>
            <a:gdLst/>
            <a:ahLst/>
            <a:cxnLst/>
            <a:rect l="l" t="t" r="r" b="b"/>
            <a:pathLst>
              <a:path w="78104" h="59689">
                <a:moveTo>
                  <a:pt x="77699" y="0"/>
                </a:moveTo>
                <a:lnTo>
                  <a:pt x="9571" y="0"/>
                </a:lnTo>
                <a:lnTo>
                  <a:pt x="0" y="59389"/>
                </a:lnTo>
                <a:lnTo>
                  <a:pt x="69254" y="59389"/>
                </a:lnTo>
                <a:lnTo>
                  <a:pt x="776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172902" y="1747485"/>
            <a:ext cx="629285" cy="280035"/>
          </a:xfrm>
          <a:custGeom>
            <a:avLst/>
            <a:gdLst/>
            <a:ahLst/>
            <a:cxnLst/>
            <a:rect l="l" t="t" r="r" b="b"/>
            <a:pathLst>
              <a:path w="629284" h="280035">
                <a:moveTo>
                  <a:pt x="209450" y="251056"/>
                </a:moveTo>
                <a:lnTo>
                  <a:pt x="96279" y="251056"/>
                </a:lnTo>
                <a:lnTo>
                  <a:pt x="96842" y="256995"/>
                </a:lnTo>
                <a:lnTo>
                  <a:pt x="125557" y="279671"/>
                </a:lnTo>
                <a:lnTo>
                  <a:pt x="134566" y="278592"/>
                </a:lnTo>
                <a:lnTo>
                  <a:pt x="142448" y="274273"/>
                </a:lnTo>
                <a:lnTo>
                  <a:pt x="148642" y="268333"/>
                </a:lnTo>
                <a:lnTo>
                  <a:pt x="150893" y="264554"/>
                </a:lnTo>
                <a:lnTo>
                  <a:pt x="152582" y="260235"/>
                </a:lnTo>
                <a:lnTo>
                  <a:pt x="207760" y="260235"/>
                </a:lnTo>
                <a:lnTo>
                  <a:pt x="208887" y="256995"/>
                </a:lnTo>
                <a:lnTo>
                  <a:pt x="209450" y="251056"/>
                </a:lnTo>
                <a:close/>
              </a:path>
              <a:path w="629284" h="280035">
                <a:moveTo>
                  <a:pt x="207760" y="260235"/>
                </a:moveTo>
                <a:lnTo>
                  <a:pt x="152582" y="260235"/>
                </a:lnTo>
                <a:lnTo>
                  <a:pt x="154271" y="264554"/>
                </a:lnTo>
                <a:lnTo>
                  <a:pt x="157651" y="268333"/>
                </a:lnTo>
                <a:lnTo>
                  <a:pt x="159903" y="271572"/>
                </a:lnTo>
                <a:lnTo>
                  <a:pt x="180172" y="279671"/>
                </a:lnTo>
                <a:lnTo>
                  <a:pt x="185802" y="279132"/>
                </a:lnTo>
                <a:lnTo>
                  <a:pt x="190870" y="277511"/>
                </a:lnTo>
                <a:lnTo>
                  <a:pt x="195938" y="274812"/>
                </a:lnTo>
                <a:lnTo>
                  <a:pt x="200441" y="271572"/>
                </a:lnTo>
                <a:lnTo>
                  <a:pt x="207197" y="261854"/>
                </a:lnTo>
                <a:lnTo>
                  <a:pt x="207760" y="260235"/>
                </a:lnTo>
                <a:close/>
              </a:path>
              <a:path w="629284" h="280035">
                <a:moveTo>
                  <a:pt x="516308" y="251056"/>
                </a:moveTo>
                <a:lnTo>
                  <a:pt x="403699" y="251056"/>
                </a:lnTo>
                <a:lnTo>
                  <a:pt x="404262" y="256995"/>
                </a:lnTo>
                <a:lnTo>
                  <a:pt x="432977" y="279671"/>
                </a:lnTo>
                <a:lnTo>
                  <a:pt x="436919" y="279132"/>
                </a:lnTo>
                <a:lnTo>
                  <a:pt x="441424" y="278592"/>
                </a:lnTo>
                <a:lnTo>
                  <a:pt x="460566" y="260235"/>
                </a:lnTo>
                <a:lnTo>
                  <a:pt x="514618" y="260235"/>
                </a:lnTo>
                <a:lnTo>
                  <a:pt x="515744" y="256995"/>
                </a:lnTo>
                <a:lnTo>
                  <a:pt x="516308" y="251056"/>
                </a:lnTo>
                <a:close/>
              </a:path>
              <a:path w="629284" h="280035">
                <a:moveTo>
                  <a:pt x="514618" y="260235"/>
                </a:moveTo>
                <a:lnTo>
                  <a:pt x="460566" y="260235"/>
                </a:lnTo>
                <a:lnTo>
                  <a:pt x="462255" y="264554"/>
                </a:lnTo>
                <a:lnTo>
                  <a:pt x="464507" y="268333"/>
                </a:lnTo>
                <a:lnTo>
                  <a:pt x="470701" y="274273"/>
                </a:lnTo>
                <a:lnTo>
                  <a:pt x="478584" y="278592"/>
                </a:lnTo>
                <a:lnTo>
                  <a:pt x="483088" y="279132"/>
                </a:lnTo>
                <a:lnTo>
                  <a:pt x="487029" y="279671"/>
                </a:lnTo>
                <a:lnTo>
                  <a:pt x="514055" y="261854"/>
                </a:lnTo>
                <a:lnTo>
                  <a:pt x="514618" y="260235"/>
                </a:lnTo>
                <a:close/>
              </a:path>
              <a:path w="629284" h="280035">
                <a:moveTo>
                  <a:pt x="527005" y="18896"/>
                </a:moveTo>
                <a:lnTo>
                  <a:pt x="24772" y="18896"/>
                </a:lnTo>
                <a:lnTo>
                  <a:pt x="0" y="185727"/>
                </a:lnTo>
                <a:lnTo>
                  <a:pt x="41101" y="251056"/>
                </a:lnTo>
                <a:lnTo>
                  <a:pt x="626101" y="251056"/>
                </a:lnTo>
                <a:lnTo>
                  <a:pt x="600200" y="216501"/>
                </a:lnTo>
                <a:lnTo>
                  <a:pt x="626101" y="189506"/>
                </a:lnTo>
                <a:lnTo>
                  <a:pt x="628916" y="86925"/>
                </a:lnTo>
                <a:lnTo>
                  <a:pt x="628352" y="82064"/>
                </a:lnTo>
                <a:lnTo>
                  <a:pt x="627227" y="78286"/>
                </a:lnTo>
                <a:lnTo>
                  <a:pt x="606957" y="65328"/>
                </a:lnTo>
                <a:lnTo>
                  <a:pt x="557409" y="65328"/>
                </a:lnTo>
                <a:lnTo>
                  <a:pt x="548401" y="38332"/>
                </a:lnTo>
                <a:lnTo>
                  <a:pt x="547838" y="34554"/>
                </a:lnTo>
                <a:lnTo>
                  <a:pt x="546149" y="30774"/>
                </a:lnTo>
                <a:lnTo>
                  <a:pt x="543896" y="28074"/>
                </a:lnTo>
                <a:lnTo>
                  <a:pt x="541644" y="24834"/>
                </a:lnTo>
                <a:lnTo>
                  <a:pt x="538266" y="22675"/>
                </a:lnTo>
                <a:lnTo>
                  <a:pt x="534888" y="21055"/>
                </a:lnTo>
                <a:lnTo>
                  <a:pt x="530946" y="19436"/>
                </a:lnTo>
                <a:lnTo>
                  <a:pt x="527005" y="18896"/>
                </a:lnTo>
                <a:close/>
              </a:path>
              <a:path w="629284" h="280035">
                <a:moveTo>
                  <a:pt x="427909" y="0"/>
                </a:moveTo>
                <a:lnTo>
                  <a:pt x="347958" y="0"/>
                </a:lnTo>
                <a:lnTo>
                  <a:pt x="331067" y="18896"/>
                </a:lnTo>
                <a:lnTo>
                  <a:pt x="445927" y="18896"/>
                </a:lnTo>
                <a:lnTo>
                  <a:pt x="4279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7195986" y="1786898"/>
            <a:ext cx="584835" cy="191135"/>
          </a:xfrm>
          <a:custGeom>
            <a:avLst/>
            <a:gdLst/>
            <a:ahLst/>
            <a:cxnLst/>
            <a:rect l="l" t="t" r="r" b="b"/>
            <a:pathLst>
              <a:path w="584834" h="191135">
                <a:moveTo>
                  <a:pt x="503922" y="0"/>
                </a:moveTo>
                <a:lnTo>
                  <a:pt x="20269" y="0"/>
                </a:lnTo>
                <a:lnTo>
                  <a:pt x="0" y="134437"/>
                </a:lnTo>
                <a:lnTo>
                  <a:pt x="474080" y="134437"/>
                </a:lnTo>
                <a:lnTo>
                  <a:pt x="489282" y="154952"/>
                </a:lnTo>
                <a:lnTo>
                  <a:pt x="6756" y="154952"/>
                </a:lnTo>
                <a:lnTo>
                  <a:pt x="29841" y="191127"/>
                </a:lnTo>
                <a:lnTo>
                  <a:pt x="561351" y="191127"/>
                </a:lnTo>
                <a:lnTo>
                  <a:pt x="549527" y="175469"/>
                </a:lnTo>
                <a:lnTo>
                  <a:pt x="581621" y="141996"/>
                </a:lnTo>
                <a:lnTo>
                  <a:pt x="584436" y="46972"/>
                </a:lnTo>
                <a:lnTo>
                  <a:pt x="584436" y="46431"/>
                </a:lnTo>
                <a:lnTo>
                  <a:pt x="583873" y="45891"/>
                </a:lnTo>
                <a:lnTo>
                  <a:pt x="459441" y="44811"/>
                </a:lnTo>
                <a:lnTo>
                  <a:pt x="443675" y="14037"/>
                </a:lnTo>
                <a:lnTo>
                  <a:pt x="508989" y="14037"/>
                </a:lnTo>
                <a:lnTo>
                  <a:pt x="503922" y="2698"/>
                </a:lnTo>
                <a:lnTo>
                  <a:pt x="503922" y="0"/>
                </a:lnTo>
                <a:close/>
              </a:path>
            </a:pathLst>
          </a:custGeom>
          <a:solidFill>
            <a:srgbClr val="3FB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750582" y="1846287"/>
            <a:ext cx="20320" cy="40640"/>
          </a:xfrm>
          <a:custGeom>
            <a:avLst/>
            <a:gdLst/>
            <a:ahLst/>
            <a:cxnLst/>
            <a:rect l="l" t="t" r="r" b="b"/>
            <a:pathLst>
              <a:path w="20320" h="40639">
                <a:moveTo>
                  <a:pt x="9570" y="0"/>
                </a:moveTo>
                <a:lnTo>
                  <a:pt x="6192" y="1619"/>
                </a:lnTo>
                <a:lnTo>
                  <a:pt x="2814" y="5938"/>
                </a:lnTo>
                <a:lnTo>
                  <a:pt x="562" y="12957"/>
                </a:lnTo>
                <a:lnTo>
                  <a:pt x="0" y="20516"/>
                </a:lnTo>
                <a:lnTo>
                  <a:pt x="562" y="28615"/>
                </a:lnTo>
                <a:lnTo>
                  <a:pt x="2814" y="34554"/>
                </a:lnTo>
                <a:lnTo>
                  <a:pt x="6192" y="38333"/>
                </a:lnTo>
                <a:lnTo>
                  <a:pt x="9570" y="40492"/>
                </a:lnTo>
                <a:lnTo>
                  <a:pt x="13512" y="38333"/>
                </a:lnTo>
                <a:lnTo>
                  <a:pt x="16327" y="34554"/>
                </a:lnTo>
                <a:lnTo>
                  <a:pt x="19142" y="28615"/>
                </a:lnTo>
                <a:lnTo>
                  <a:pt x="19705" y="20516"/>
                </a:lnTo>
                <a:lnTo>
                  <a:pt x="19142" y="12957"/>
                </a:lnTo>
                <a:lnTo>
                  <a:pt x="16327" y="5938"/>
                </a:lnTo>
                <a:lnTo>
                  <a:pt x="13512" y="1619"/>
                </a:lnTo>
                <a:lnTo>
                  <a:pt x="95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7529870" y="1803095"/>
            <a:ext cx="106680" cy="26670"/>
          </a:xfrm>
          <a:custGeom>
            <a:avLst/>
            <a:gdLst/>
            <a:ahLst/>
            <a:cxnLst/>
            <a:rect l="l" t="t" r="r" b="b"/>
            <a:pathLst>
              <a:path w="106679" h="26669">
                <a:moveTo>
                  <a:pt x="91212" y="0"/>
                </a:moveTo>
                <a:lnTo>
                  <a:pt x="0" y="0"/>
                </a:lnTo>
                <a:lnTo>
                  <a:pt x="12950" y="26455"/>
                </a:lnTo>
                <a:lnTo>
                  <a:pt x="106414" y="26455"/>
                </a:lnTo>
                <a:lnTo>
                  <a:pt x="912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551303" y="1773401"/>
            <a:ext cx="604520" cy="260985"/>
          </a:xfrm>
          <a:custGeom>
            <a:avLst/>
            <a:gdLst/>
            <a:ahLst/>
            <a:cxnLst/>
            <a:rect l="l" t="t" r="r" b="b"/>
            <a:pathLst>
              <a:path w="604520" h="260985">
                <a:moveTo>
                  <a:pt x="217333" y="232159"/>
                </a:moveTo>
                <a:lnTo>
                  <a:pt x="104162" y="232159"/>
                </a:lnTo>
                <a:lnTo>
                  <a:pt x="105289" y="238098"/>
                </a:lnTo>
                <a:lnTo>
                  <a:pt x="133441" y="260774"/>
                </a:lnTo>
                <a:lnTo>
                  <a:pt x="142449" y="259694"/>
                </a:lnTo>
                <a:lnTo>
                  <a:pt x="150332" y="255375"/>
                </a:lnTo>
                <a:lnTo>
                  <a:pt x="156524" y="249436"/>
                </a:lnTo>
                <a:lnTo>
                  <a:pt x="158777" y="245657"/>
                </a:lnTo>
                <a:lnTo>
                  <a:pt x="160467" y="241338"/>
                </a:lnTo>
                <a:lnTo>
                  <a:pt x="215645" y="241338"/>
                </a:lnTo>
                <a:lnTo>
                  <a:pt x="216771" y="238098"/>
                </a:lnTo>
                <a:lnTo>
                  <a:pt x="217333" y="232159"/>
                </a:lnTo>
                <a:close/>
              </a:path>
              <a:path w="604520" h="260985">
                <a:moveTo>
                  <a:pt x="215645" y="241338"/>
                </a:moveTo>
                <a:lnTo>
                  <a:pt x="160467" y="241338"/>
                </a:lnTo>
                <a:lnTo>
                  <a:pt x="162156" y="245657"/>
                </a:lnTo>
                <a:lnTo>
                  <a:pt x="165534" y="249436"/>
                </a:lnTo>
                <a:lnTo>
                  <a:pt x="167786" y="252675"/>
                </a:lnTo>
                <a:lnTo>
                  <a:pt x="188055" y="260774"/>
                </a:lnTo>
                <a:lnTo>
                  <a:pt x="193686" y="260234"/>
                </a:lnTo>
                <a:lnTo>
                  <a:pt x="199316" y="258615"/>
                </a:lnTo>
                <a:lnTo>
                  <a:pt x="203821" y="255915"/>
                </a:lnTo>
                <a:lnTo>
                  <a:pt x="208325" y="252675"/>
                </a:lnTo>
                <a:lnTo>
                  <a:pt x="215082" y="242957"/>
                </a:lnTo>
                <a:lnTo>
                  <a:pt x="215645" y="241338"/>
                </a:lnTo>
                <a:close/>
              </a:path>
              <a:path w="604520" h="260985">
                <a:moveTo>
                  <a:pt x="526444" y="232159"/>
                </a:moveTo>
                <a:lnTo>
                  <a:pt x="413271" y="232159"/>
                </a:lnTo>
                <a:lnTo>
                  <a:pt x="413835" y="238098"/>
                </a:lnTo>
                <a:lnTo>
                  <a:pt x="442550" y="260774"/>
                </a:lnTo>
                <a:lnTo>
                  <a:pt x="447055" y="260234"/>
                </a:lnTo>
                <a:lnTo>
                  <a:pt x="470140" y="241338"/>
                </a:lnTo>
                <a:lnTo>
                  <a:pt x="524378" y="241338"/>
                </a:lnTo>
                <a:lnTo>
                  <a:pt x="525880" y="238098"/>
                </a:lnTo>
                <a:lnTo>
                  <a:pt x="526444" y="232159"/>
                </a:lnTo>
                <a:close/>
              </a:path>
              <a:path w="604520" h="260985">
                <a:moveTo>
                  <a:pt x="524378" y="241338"/>
                </a:moveTo>
                <a:lnTo>
                  <a:pt x="470140" y="241338"/>
                </a:lnTo>
                <a:lnTo>
                  <a:pt x="471829" y="245657"/>
                </a:lnTo>
                <a:lnTo>
                  <a:pt x="497165" y="260774"/>
                </a:lnTo>
                <a:lnTo>
                  <a:pt x="502795" y="260234"/>
                </a:lnTo>
                <a:lnTo>
                  <a:pt x="524378" y="241338"/>
                </a:lnTo>
                <a:close/>
              </a:path>
              <a:path w="604520" h="260985">
                <a:moveTo>
                  <a:pt x="584437" y="0"/>
                </a:moveTo>
                <a:lnTo>
                  <a:pt x="33219" y="0"/>
                </a:lnTo>
                <a:lnTo>
                  <a:pt x="0" y="166831"/>
                </a:lnTo>
                <a:lnTo>
                  <a:pt x="41664" y="232159"/>
                </a:lnTo>
                <a:lnTo>
                  <a:pt x="604142" y="232159"/>
                </a:lnTo>
                <a:lnTo>
                  <a:pt x="559663" y="163051"/>
                </a:lnTo>
                <a:lnTo>
                  <a:pt x="584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573825" y="1793918"/>
            <a:ext cx="543560" cy="191135"/>
          </a:xfrm>
          <a:custGeom>
            <a:avLst/>
            <a:gdLst/>
            <a:ahLst/>
            <a:cxnLst/>
            <a:rect l="l" t="t" r="r" b="b"/>
            <a:pathLst>
              <a:path w="543559" h="191135">
                <a:moveTo>
                  <a:pt x="537141" y="0"/>
                </a:moveTo>
                <a:lnTo>
                  <a:pt x="28152" y="0"/>
                </a:lnTo>
                <a:lnTo>
                  <a:pt x="0" y="142534"/>
                </a:lnTo>
                <a:lnTo>
                  <a:pt x="30967" y="191126"/>
                </a:lnTo>
                <a:lnTo>
                  <a:pt x="543335" y="191126"/>
                </a:lnTo>
                <a:lnTo>
                  <a:pt x="520250" y="154952"/>
                </a:lnTo>
                <a:lnTo>
                  <a:pt x="90650" y="154952"/>
                </a:lnTo>
                <a:lnTo>
                  <a:pt x="73759" y="134435"/>
                </a:lnTo>
                <a:lnTo>
                  <a:pt x="516872" y="134435"/>
                </a:lnTo>
                <a:lnTo>
                  <a:pt x="537141" y="0"/>
                </a:lnTo>
                <a:close/>
              </a:path>
            </a:pathLst>
          </a:custGeom>
          <a:solidFill>
            <a:srgbClr val="3FB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706139" y="1823072"/>
            <a:ext cx="78105" cy="59690"/>
          </a:xfrm>
          <a:custGeom>
            <a:avLst/>
            <a:gdLst/>
            <a:ahLst/>
            <a:cxnLst/>
            <a:rect l="l" t="t" r="r" b="b"/>
            <a:pathLst>
              <a:path w="78104" h="59689">
                <a:moveTo>
                  <a:pt x="77699" y="0"/>
                </a:moveTo>
                <a:lnTo>
                  <a:pt x="9571" y="0"/>
                </a:lnTo>
                <a:lnTo>
                  <a:pt x="0" y="59389"/>
                </a:lnTo>
                <a:lnTo>
                  <a:pt x="68691" y="59389"/>
                </a:lnTo>
                <a:lnTo>
                  <a:pt x="776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610986" y="1823072"/>
            <a:ext cx="78105" cy="59690"/>
          </a:xfrm>
          <a:custGeom>
            <a:avLst/>
            <a:gdLst/>
            <a:ahLst/>
            <a:cxnLst/>
            <a:rect l="l" t="t" r="r" b="b"/>
            <a:pathLst>
              <a:path w="78104" h="59689">
                <a:moveTo>
                  <a:pt x="77699" y="0"/>
                </a:moveTo>
                <a:lnTo>
                  <a:pt x="8445" y="0"/>
                </a:lnTo>
                <a:lnTo>
                  <a:pt x="0" y="59389"/>
                </a:lnTo>
                <a:lnTo>
                  <a:pt x="68690" y="59389"/>
                </a:lnTo>
                <a:lnTo>
                  <a:pt x="776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801856" y="1823072"/>
            <a:ext cx="77470" cy="59690"/>
          </a:xfrm>
          <a:custGeom>
            <a:avLst/>
            <a:gdLst/>
            <a:ahLst/>
            <a:cxnLst/>
            <a:rect l="l" t="t" r="r" b="b"/>
            <a:pathLst>
              <a:path w="77470" h="59689">
                <a:moveTo>
                  <a:pt x="77135" y="0"/>
                </a:moveTo>
                <a:lnTo>
                  <a:pt x="9008" y="0"/>
                </a:lnTo>
                <a:lnTo>
                  <a:pt x="0" y="59389"/>
                </a:lnTo>
                <a:lnTo>
                  <a:pt x="68690" y="59389"/>
                </a:lnTo>
                <a:lnTo>
                  <a:pt x="771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6897010" y="1823072"/>
            <a:ext cx="76835" cy="59690"/>
          </a:xfrm>
          <a:custGeom>
            <a:avLst/>
            <a:gdLst/>
            <a:ahLst/>
            <a:cxnLst/>
            <a:rect l="l" t="t" r="r" b="b"/>
            <a:pathLst>
              <a:path w="76834" h="59689">
                <a:moveTo>
                  <a:pt x="76573" y="0"/>
                </a:moveTo>
                <a:lnTo>
                  <a:pt x="9009" y="0"/>
                </a:lnTo>
                <a:lnTo>
                  <a:pt x="0" y="59389"/>
                </a:lnTo>
                <a:lnTo>
                  <a:pt x="68127" y="59389"/>
                </a:lnTo>
                <a:lnTo>
                  <a:pt x="765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994417" y="1823072"/>
            <a:ext cx="78105" cy="59690"/>
          </a:xfrm>
          <a:custGeom>
            <a:avLst/>
            <a:gdLst/>
            <a:ahLst/>
            <a:cxnLst/>
            <a:rect l="l" t="t" r="r" b="b"/>
            <a:pathLst>
              <a:path w="78104" h="59689">
                <a:moveTo>
                  <a:pt x="77699" y="0"/>
                </a:moveTo>
                <a:lnTo>
                  <a:pt x="9571" y="0"/>
                </a:lnTo>
                <a:lnTo>
                  <a:pt x="0" y="59389"/>
                </a:lnTo>
                <a:lnTo>
                  <a:pt x="69254" y="59389"/>
                </a:lnTo>
                <a:lnTo>
                  <a:pt x="776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7978653" y="3478448"/>
            <a:ext cx="605155" cy="262255"/>
          </a:xfrm>
          <a:custGeom>
            <a:avLst/>
            <a:gdLst/>
            <a:ahLst/>
            <a:cxnLst/>
            <a:rect l="l" t="t" r="r" b="b"/>
            <a:pathLst>
              <a:path w="605154" h="262254">
                <a:moveTo>
                  <a:pt x="563290" y="28748"/>
                </a:moveTo>
                <a:lnTo>
                  <a:pt x="0" y="28748"/>
                </a:lnTo>
                <a:lnTo>
                  <a:pt x="44543" y="98183"/>
                </a:lnTo>
                <a:lnTo>
                  <a:pt x="19734" y="262004"/>
                </a:lnTo>
                <a:lnTo>
                  <a:pt x="571748" y="262004"/>
                </a:lnTo>
                <a:lnTo>
                  <a:pt x="605016" y="94386"/>
                </a:lnTo>
                <a:lnTo>
                  <a:pt x="563290" y="28748"/>
                </a:lnTo>
                <a:close/>
              </a:path>
              <a:path w="605154" h="262254">
                <a:moveTo>
                  <a:pt x="107132" y="0"/>
                </a:moveTo>
                <a:lnTo>
                  <a:pt x="77811" y="28748"/>
                </a:lnTo>
                <a:lnTo>
                  <a:pt x="191146" y="28748"/>
                </a:lnTo>
                <a:lnTo>
                  <a:pt x="190582" y="22782"/>
                </a:lnTo>
                <a:lnTo>
                  <a:pt x="189078" y="19527"/>
                </a:lnTo>
                <a:lnTo>
                  <a:pt x="134197" y="19527"/>
                </a:lnTo>
                <a:lnTo>
                  <a:pt x="132505" y="15187"/>
                </a:lnTo>
                <a:lnTo>
                  <a:pt x="111643" y="542"/>
                </a:lnTo>
                <a:lnTo>
                  <a:pt x="107132" y="0"/>
                </a:lnTo>
                <a:close/>
              </a:path>
              <a:path w="605154" h="262254">
                <a:moveTo>
                  <a:pt x="416688" y="0"/>
                </a:moveTo>
                <a:lnTo>
                  <a:pt x="387367" y="28748"/>
                </a:lnTo>
                <a:lnTo>
                  <a:pt x="500702" y="28748"/>
                </a:lnTo>
                <a:lnTo>
                  <a:pt x="499574" y="22782"/>
                </a:lnTo>
                <a:lnTo>
                  <a:pt x="498446" y="19527"/>
                </a:lnTo>
                <a:lnTo>
                  <a:pt x="444317" y="19527"/>
                </a:lnTo>
                <a:lnTo>
                  <a:pt x="442625" y="15187"/>
                </a:lnTo>
                <a:lnTo>
                  <a:pt x="439242" y="11390"/>
                </a:lnTo>
                <a:lnTo>
                  <a:pt x="436987" y="8135"/>
                </a:lnTo>
                <a:lnTo>
                  <a:pt x="433040" y="5424"/>
                </a:lnTo>
                <a:lnTo>
                  <a:pt x="429657" y="3253"/>
                </a:lnTo>
                <a:lnTo>
                  <a:pt x="425146" y="1084"/>
                </a:lnTo>
                <a:lnTo>
                  <a:pt x="421199" y="542"/>
                </a:lnTo>
                <a:lnTo>
                  <a:pt x="416688" y="0"/>
                </a:lnTo>
                <a:close/>
              </a:path>
              <a:path w="605154" h="262254">
                <a:moveTo>
                  <a:pt x="161825" y="0"/>
                </a:moveTo>
                <a:lnTo>
                  <a:pt x="134197" y="19527"/>
                </a:lnTo>
                <a:lnTo>
                  <a:pt x="189078" y="19527"/>
                </a:lnTo>
                <a:lnTo>
                  <a:pt x="161825" y="0"/>
                </a:lnTo>
                <a:close/>
              </a:path>
              <a:path w="605154" h="262254">
                <a:moveTo>
                  <a:pt x="471382" y="0"/>
                </a:moveTo>
                <a:lnTo>
                  <a:pt x="444317" y="19527"/>
                </a:lnTo>
                <a:lnTo>
                  <a:pt x="498446" y="19527"/>
                </a:lnTo>
                <a:lnTo>
                  <a:pt x="47138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8016994" y="3527811"/>
            <a:ext cx="544195" cy="192405"/>
          </a:xfrm>
          <a:custGeom>
            <a:avLst/>
            <a:gdLst/>
            <a:ahLst/>
            <a:cxnLst/>
            <a:rect l="l" t="t" r="r" b="b"/>
            <a:pathLst>
              <a:path w="544195" h="192404">
                <a:moveTo>
                  <a:pt x="513107" y="0"/>
                </a:moveTo>
                <a:lnTo>
                  <a:pt x="0" y="0"/>
                </a:lnTo>
                <a:lnTo>
                  <a:pt x="23117" y="36344"/>
                </a:lnTo>
                <a:lnTo>
                  <a:pt x="453339" y="36344"/>
                </a:lnTo>
                <a:lnTo>
                  <a:pt x="470255" y="56958"/>
                </a:lnTo>
                <a:lnTo>
                  <a:pt x="26501" y="56958"/>
                </a:lnTo>
                <a:lnTo>
                  <a:pt x="6202" y="192029"/>
                </a:lnTo>
                <a:lnTo>
                  <a:pt x="515927" y="192029"/>
                </a:lnTo>
                <a:lnTo>
                  <a:pt x="544120" y="48821"/>
                </a:lnTo>
                <a:lnTo>
                  <a:pt x="513107" y="0"/>
                </a:lnTo>
                <a:close/>
              </a:path>
            </a:pathLst>
          </a:custGeom>
          <a:solidFill>
            <a:srgbClr val="3FB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8350797" y="3630877"/>
            <a:ext cx="78105" cy="59690"/>
          </a:xfrm>
          <a:custGeom>
            <a:avLst/>
            <a:gdLst/>
            <a:ahLst/>
            <a:cxnLst/>
            <a:rect l="l" t="t" r="r" b="b"/>
            <a:pathLst>
              <a:path w="78104" h="59689">
                <a:moveTo>
                  <a:pt x="77811" y="0"/>
                </a:moveTo>
                <a:lnTo>
                  <a:pt x="9022" y="0"/>
                </a:lnTo>
                <a:lnTo>
                  <a:pt x="0" y="59669"/>
                </a:lnTo>
                <a:lnTo>
                  <a:pt x="68226" y="59669"/>
                </a:lnTo>
                <a:lnTo>
                  <a:pt x="778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8446088" y="3630877"/>
            <a:ext cx="78105" cy="59690"/>
          </a:xfrm>
          <a:custGeom>
            <a:avLst/>
            <a:gdLst/>
            <a:ahLst/>
            <a:cxnLst/>
            <a:rect l="l" t="t" r="r" b="b"/>
            <a:pathLst>
              <a:path w="78104" h="59689">
                <a:moveTo>
                  <a:pt x="77812" y="0"/>
                </a:moveTo>
                <a:lnTo>
                  <a:pt x="9022" y="0"/>
                </a:lnTo>
                <a:lnTo>
                  <a:pt x="0" y="59669"/>
                </a:lnTo>
                <a:lnTo>
                  <a:pt x="69354" y="59669"/>
                </a:lnTo>
                <a:lnTo>
                  <a:pt x="77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8255505" y="3630877"/>
            <a:ext cx="77470" cy="59690"/>
          </a:xfrm>
          <a:custGeom>
            <a:avLst/>
            <a:gdLst/>
            <a:ahLst/>
            <a:cxnLst/>
            <a:rect l="l" t="t" r="r" b="b"/>
            <a:pathLst>
              <a:path w="77470" h="59689">
                <a:moveTo>
                  <a:pt x="77247" y="0"/>
                </a:moveTo>
                <a:lnTo>
                  <a:pt x="8458" y="0"/>
                </a:lnTo>
                <a:lnTo>
                  <a:pt x="0" y="59669"/>
                </a:lnTo>
                <a:lnTo>
                  <a:pt x="68225" y="59669"/>
                </a:lnTo>
                <a:lnTo>
                  <a:pt x="77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8160777" y="3630877"/>
            <a:ext cx="76835" cy="59690"/>
          </a:xfrm>
          <a:custGeom>
            <a:avLst/>
            <a:gdLst/>
            <a:ahLst/>
            <a:cxnLst/>
            <a:rect l="l" t="t" r="r" b="b"/>
            <a:pathLst>
              <a:path w="76834" h="59689">
                <a:moveTo>
                  <a:pt x="76683" y="0"/>
                </a:moveTo>
                <a:lnTo>
                  <a:pt x="8458" y="0"/>
                </a:lnTo>
                <a:lnTo>
                  <a:pt x="0" y="59669"/>
                </a:lnTo>
                <a:lnTo>
                  <a:pt x="67663" y="59669"/>
                </a:lnTo>
                <a:lnTo>
                  <a:pt x="766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8062102" y="3630877"/>
            <a:ext cx="78105" cy="59690"/>
          </a:xfrm>
          <a:custGeom>
            <a:avLst/>
            <a:gdLst/>
            <a:ahLst/>
            <a:cxnLst/>
            <a:rect l="l" t="t" r="r" b="b"/>
            <a:pathLst>
              <a:path w="78104" h="59689">
                <a:moveTo>
                  <a:pt x="77812" y="0"/>
                </a:moveTo>
                <a:lnTo>
                  <a:pt x="8458" y="0"/>
                </a:lnTo>
                <a:lnTo>
                  <a:pt x="0" y="59669"/>
                </a:lnTo>
                <a:lnTo>
                  <a:pt x="68226" y="59669"/>
                </a:lnTo>
                <a:lnTo>
                  <a:pt x="77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6708850" y="3485499"/>
            <a:ext cx="629920" cy="281305"/>
          </a:xfrm>
          <a:custGeom>
            <a:avLst/>
            <a:gdLst/>
            <a:ahLst/>
            <a:cxnLst/>
            <a:rect l="l" t="t" r="r" b="b"/>
            <a:pathLst>
              <a:path w="629920" h="281304">
                <a:moveTo>
                  <a:pt x="298279" y="262004"/>
                </a:moveTo>
                <a:lnTo>
                  <a:pt x="183253" y="262004"/>
                </a:lnTo>
                <a:lnTo>
                  <a:pt x="201296" y="280991"/>
                </a:lnTo>
                <a:lnTo>
                  <a:pt x="281364" y="280991"/>
                </a:lnTo>
                <a:lnTo>
                  <a:pt x="298279" y="262004"/>
                </a:lnTo>
                <a:close/>
              </a:path>
              <a:path w="629920" h="281304">
                <a:moveTo>
                  <a:pt x="588665" y="28750"/>
                </a:moveTo>
                <a:lnTo>
                  <a:pt x="2819" y="28750"/>
                </a:lnTo>
                <a:lnTo>
                  <a:pt x="28756" y="63466"/>
                </a:lnTo>
                <a:lnTo>
                  <a:pt x="2819" y="90590"/>
                </a:lnTo>
                <a:lnTo>
                  <a:pt x="0" y="193655"/>
                </a:lnTo>
                <a:lnTo>
                  <a:pt x="563" y="198537"/>
                </a:lnTo>
                <a:lnTo>
                  <a:pt x="1691" y="202335"/>
                </a:lnTo>
                <a:lnTo>
                  <a:pt x="21991" y="215353"/>
                </a:lnTo>
                <a:lnTo>
                  <a:pt x="71610" y="215353"/>
                </a:lnTo>
                <a:lnTo>
                  <a:pt x="80632" y="242477"/>
                </a:lnTo>
                <a:lnTo>
                  <a:pt x="81196" y="246274"/>
                </a:lnTo>
                <a:lnTo>
                  <a:pt x="82887" y="250070"/>
                </a:lnTo>
                <a:lnTo>
                  <a:pt x="85142" y="252783"/>
                </a:lnTo>
                <a:lnTo>
                  <a:pt x="87397" y="256038"/>
                </a:lnTo>
                <a:lnTo>
                  <a:pt x="90780" y="258207"/>
                </a:lnTo>
                <a:lnTo>
                  <a:pt x="94164" y="259835"/>
                </a:lnTo>
                <a:lnTo>
                  <a:pt x="98111" y="261462"/>
                </a:lnTo>
                <a:lnTo>
                  <a:pt x="102058" y="262004"/>
                </a:lnTo>
                <a:lnTo>
                  <a:pt x="605016" y="262004"/>
                </a:lnTo>
                <a:lnTo>
                  <a:pt x="629826" y="94386"/>
                </a:lnTo>
                <a:lnTo>
                  <a:pt x="588665" y="28750"/>
                </a:lnTo>
                <a:close/>
              </a:path>
              <a:path w="629920" h="281304">
                <a:moveTo>
                  <a:pt x="142091" y="0"/>
                </a:moveTo>
                <a:lnTo>
                  <a:pt x="112770" y="28750"/>
                </a:lnTo>
                <a:lnTo>
                  <a:pt x="225541" y="28750"/>
                </a:lnTo>
                <a:lnTo>
                  <a:pt x="224979" y="22782"/>
                </a:lnTo>
                <a:lnTo>
                  <a:pt x="223851" y="19528"/>
                </a:lnTo>
                <a:lnTo>
                  <a:pt x="168593" y="19528"/>
                </a:lnTo>
                <a:lnTo>
                  <a:pt x="166902" y="15189"/>
                </a:lnTo>
                <a:lnTo>
                  <a:pt x="164646" y="11391"/>
                </a:lnTo>
                <a:lnTo>
                  <a:pt x="158443" y="5424"/>
                </a:lnTo>
                <a:lnTo>
                  <a:pt x="150549" y="1084"/>
                </a:lnTo>
                <a:lnTo>
                  <a:pt x="146038" y="542"/>
                </a:lnTo>
                <a:lnTo>
                  <a:pt x="142091" y="0"/>
                </a:lnTo>
                <a:close/>
              </a:path>
              <a:path w="629920" h="281304">
                <a:moveTo>
                  <a:pt x="449393" y="0"/>
                </a:moveTo>
                <a:lnTo>
                  <a:pt x="420072" y="28750"/>
                </a:lnTo>
                <a:lnTo>
                  <a:pt x="533407" y="28750"/>
                </a:lnTo>
                <a:lnTo>
                  <a:pt x="532843" y="22782"/>
                </a:lnTo>
                <a:lnTo>
                  <a:pt x="531340" y="19528"/>
                </a:lnTo>
                <a:lnTo>
                  <a:pt x="477022" y="19528"/>
                </a:lnTo>
                <a:lnTo>
                  <a:pt x="475330" y="15189"/>
                </a:lnTo>
                <a:lnTo>
                  <a:pt x="471947" y="11391"/>
                </a:lnTo>
                <a:lnTo>
                  <a:pt x="469691" y="8136"/>
                </a:lnTo>
                <a:lnTo>
                  <a:pt x="465744" y="5424"/>
                </a:lnTo>
                <a:lnTo>
                  <a:pt x="462361" y="3255"/>
                </a:lnTo>
                <a:lnTo>
                  <a:pt x="457850" y="1084"/>
                </a:lnTo>
                <a:lnTo>
                  <a:pt x="453903" y="542"/>
                </a:lnTo>
                <a:lnTo>
                  <a:pt x="449393" y="0"/>
                </a:lnTo>
                <a:close/>
              </a:path>
              <a:path w="629920" h="281304">
                <a:moveTo>
                  <a:pt x="196222" y="0"/>
                </a:moveTo>
                <a:lnTo>
                  <a:pt x="192275" y="542"/>
                </a:lnTo>
                <a:lnTo>
                  <a:pt x="187764" y="1084"/>
                </a:lnTo>
                <a:lnTo>
                  <a:pt x="183253" y="3255"/>
                </a:lnTo>
                <a:lnTo>
                  <a:pt x="168593" y="19528"/>
                </a:lnTo>
                <a:lnTo>
                  <a:pt x="223851" y="19528"/>
                </a:lnTo>
                <a:lnTo>
                  <a:pt x="201860" y="542"/>
                </a:lnTo>
                <a:lnTo>
                  <a:pt x="196222" y="0"/>
                </a:lnTo>
                <a:close/>
              </a:path>
              <a:path w="629920" h="281304">
                <a:moveTo>
                  <a:pt x="504087" y="0"/>
                </a:moveTo>
                <a:lnTo>
                  <a:pt x="477022" y="19528"/>
                </a:lnTo>
                <a:lnTo>
                  <a:pt x="531340" y="19528"/>
                </a:lnTo>
                <a:lnTo>
                  <a:pt x="5040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6730278" y="3534863"/>
            <a:ext cx="585470" cy="192405"/>
          </a:xfrm>
          <a:custGeom>
            <a:avLst/>
            <a:gdLst/>
            <a:ahLst/>
            <a:cxnLst/>
            <a:rect l="l" t="t" r="r" b="b"/>
            <a:pathLst>
              <a:path w="585470" h="192404">
                <a:moveTo>
                  <a:pt x="555396" y="0"/>
                </a:moveTo>
                <a:lnTo>
                  <a:pt x="23117" y="0"/>
                </a:lnTo>
                <a:lnTo>
                  <a:pt x="34958" y="15730"/>
                </a:lnTo>
                <a:lnTo>
                  <a:pt x="2818" y="49362"/>
                </a:lnTo>
                <a:lnTo>
                  <a:pt x="0" y="144834"/>
                </a:lnTo>
                <a:lnTo>
                  <a:pt x="0" y="145376"/>
                </a:lnTo>
                <a:lnTo>
                  <a:pt x="563" y="145919"/>
                </a:lnTo>
                <a:lnTo>
                  <a:pt x="125175" y="147005"/>
                </a:lnTo>
                <a:lnTo>
                  <a:pt x="140963" y="177924"/>
                </a:lnTo>
                <a:lnTo>
                  <a:pt x="75556" y="177924"/>
                </a:lnTo>
                <a:lnTo>
                  <a:pt x="80631" y="189316"/>
                </a:lnTo>
                <a:lnTo>
                  <a:pt x="80631" y="192027"/>
                </a:lnTo>
                <a:lnTo>
                  <a:pt x="564982" y="192027"/>
                </a:lnTo>
                <a:lnTo>
                  <a:pt x="585280" y="56956"/>
                </a:lnTo>
                <a:lnTo>
                  <a:pt x="110515" y="56956"/>
                </a:lnTo>
                <a:lnTo>
                  <a:pt x="95290" y="36343"/>
                </a:lnTo>
                <a:lnTo>
                  <a:pt x="578514" y="36343"/>
                </a:lnTo>
                <a:lnTo>
                  <a:pt x="555396" y="0"/>
                </a:lnTo>
                <a:close/>
              </a:path>
            </a:pathLst>
          </a:custGeom>
          <a:solidFill>
            <a:srgbClr val="3FB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6740427" y="3626537"/>
            <a:ext cx="20320" cy="41275"/>
          </a:xfrm>
          <a:custGeom>
            <a:avLst/>
            <a:gdLst/>
            <a:ahLst/>
            <a:cxnLst/>
            <a:rect l="l" t="t" r="r" b="b"/>
            <a:pathLst>
              <a:path w="20320" h="41275">
                <a:moveTo>
                  <a:pt x="10149" y="0"/>
                </a:moveTo>
                <a:lnTo>
                  <a:pt x="6202" y="2170"/>
                </a:lnTo>
                <a:lnTo>
                  <a:pt x="3383" y="5967"/>
                </a:lnTo>
                <a:lnTo>
                  <a:pt x="563" y="11934"/>
                </a:lnTo>
                <a:lnTo>
                  <a:pt x="0" y="20071"/>
                </a:lnTo>
                <a:lnTo>
                  <a:pt x="563" y="27665"/>
                </a:lnTo>
                <a:lnTo>
                  <a:pt x="3383" y="34717"/>
                </a:lnTo>
                <a:lnTo>
                  <a:pt x="6202" y="39057"/>
                </a:lnTo>
                <a:lnTo>
                  <a:pt x="10149" y="40684"/>
                </a:lnTo>
                <a:lnTo>
                  <a:pt x="13531" y="39057"/>
                </a:lnTo>
                <a:lnTo>
                  <a:pt x="16915" y="34717"/>
                </a:lnTo>
                <a:lnTo>
                  <a:pt x="19170" y="27665"/>
                </a:lnTo>
                <a:lnTo>
                  <a:pt x="19734" y="20071"/>
                </a:lnTo>
                <a:lnTo>
                  <a:pt x="19170" y="11934"/>
                </a:lnTo>
                <a:lnTo>
                  <a:pt x="16915" y="5967"/>
                </a:lnTo>
                <a:lnTo>
                  <a:pt x="13531" y="2170"/>
                </a:lnTo>
                <a:lnTo>
                  <a:pt x="101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6874625" y="3684037"/>
            <a:ext cx="106680" cy="26670"/>
          </a:xfrm>
          <a:custGeom>
            <a:avLst/>
            <a:gdLst/>
            <a:ahLst/>
            <a:cxnLst/>
            <a:rect l="l" t="t" r="r" b="b"/>
            <a:pathLst>
              <a:path w="106679" h="26670">
                <a:moveTo>
                  <a:pt x="93599" y="0"/>
                </a:moveTo>
                <a:lnTo>
                  <a:pt x="0" y="0"/>
                </a:lnTo>
                <a:lnTo>
                  <a:pt x="15223" y="26579"/>
                </a:lnTo>
                <a:lnTo>
                  <a:pt x="106568" y="26579"/>
                </a:lnTo>
                <a:lnTo>
                  <a:pt x="935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7356156" y="3478448"/>
            <a:ext cx="605155" cy="262255"/>
          </a:xfrm>
          <a:custGeom>
            <a:avLst/>
            <a:gdLst/>
            <a:ahLst/>
            <a:cxnLst/>
            <a:rect l="l" t="t" r="r" b="b"/>
            <a:pathLst>
              <a:path w="605154" h="262254">
                <a:moveTo>
                  <a:pt x="563291" y="28748"/>
                </a:moveTo>
                <a:lnTo>
                  <a:pt x="0" y="28748"/>
                </a:lnTo>
                <a:lnTo>
                  <a:pt x="44545" y="98183"/>
                </a:lnTo>
                <a:lnTo>
                  <a:pt x="19735" y="262004"/>
                </a:lnTo>
                <a:lnTo>
                  <a:pt x="571750" y="262004"/>
                </a:lnTo>
                <a:lnTo>
                  <a:pt x="605017" y="94386"/>
                </a:lnTo>
                <a:lnTo>
                  <a:pt x="563291" y="28748"/>
                </a:lnTo>
                <a:close/>
              </a:path>
              <a:path w="605154" h="262254">
                <a:moveTo>
                  <a:pt x="107133" y="0"/>
                </a:moveTo>
                <a:lnTo>
                  <a:pt x="77812" y="28748"/>
                </a:lnTo>
                <a:lnTo>
                  <a:pt x="191147" y="28748"/>
                </a:lnTo>
                <a:lnTo>
                  <a:pt x="190583" y="22782"/>
                </a:lnTo>
                <a:lnTo>
                  <a:pt x="189079" y="19527"/>
                </a:lnTo>
                <a:lnTo>
                  <a:pt x="134198" y="19527"/>
                </a:lnTo>
                <a:lnTo>
                  <a:pt x="132506" y="15187"/>
                </a:lnTo>
                <a:lnTo>
                  <a:pt x="111644" y="542"/>
                </a:lnTo>
                <a:lnTo>
                  <a:pt x="107133" y="0"/>
                </a:lnTo>
                <a:close/>
              </a:path>
              <a:path w="605154" h="262254">
                <a:moveTo>
                  <a:pt x="416689" y="0"/>
                </a:moveTo>
                <a:lnTo>
                  <a:pt x="387369" y="28748"/>
                </a:lnTo>
                <a:lnTo>
                  <a:pt x="500703" y="28748"/>
                </a:lnTo>
                <a:lnTo>
                  <a:pt x="499576" y="22782"/>
                </a:lnTo>
                <a:lnTo>
                  <a:pt x="498448" y="19527"/>
                </a:lnTo>
                <a:lnTo>
                  <a:pt x="444318" y="19527"/>
                </a:lnTo>
                <a:lnTo>
                  <a:pt x="442626" y="15187"/>
                </a:lnTo>
                <a:lnTo>
                  <a:pt x="439243" y="11390"/>
                </a:lnTo>
                <a:lnTo>
                  <a:pt x="436987" y="8135"/>
                </a:lnTo>
                <a:lnTo>
                  <a:pt x="433040" y="5424"/>
                </a:lnTo>
                <a:lnTo>
                  <a:pt x="429658" y="3253"/>
                </a:lnTo>
                <a:lnTo>
                  <a:pt x="425147" y="1084"/>
                </a:lnTo>
                <a:lnTo>
                  <a:pt x="421200" y="542"/>
                </a:lnTo>
                <a:lnTo>
                  <a:pt x="416689" y="0"/>
                </a:lnTo>
                <a:close/>
              </a:path>
              <a:path w="605154" h="262254">
                <a:moveTo>
                  <a:pt x="161827" y="0"/>
                </a:moveTo>
                <a:lnTo>
                  <a:pt x="134198" y="19527"/>
                </a:lnTo>
                <a:lnTo>
                  <a:pt x="189079" y="19527"/>
                </a:lnTo>
                <a:lnTo>
                  <a:pt x="161827" y="0"/>
                </a:lnTo>
                <a:close/>
              </a:path>
              <a:path w="605154" h="262254">
                <a:moveTo>
                  <a:pt x="471383" y="0"/>
                </a:moveTo>
                <a:lnTo>
                  <a:pt x="444318" y="19527"/>
                </a:lnTo>
                <a:lnTo>
                  <a:pt x="498448" y="19527"/>
                </a:lnTo>
                <a:lnTo>
                  <a:pt x="4713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7394499" y="3527811"/>
            <a:ext cx="544195" cy="192405"/>
          </a:xfrm>
          <a:custGeom>
            <a:avLst/>
            <a:gdLst/>
            <a:ahLst/>
            <a:cxnLst/>
            <a:rect l="l" t="t" r="r" b="b"/>
            <a:pathLst>
              <a:path w="544195" h="192404">
                <a:moveTo>
                  <a:pt x="513107" y="0"/>
                </a:moveTo>
                <a:lnTo>
                  <a:pt x="0" y="0"/>
                </a:lnTo>
                <a:lnTo>
                  <a:pt x="23119" y="36344"/>
                </a:lnTo>
                <a:lnTo>
                  <a:pt x="453340" y="36344"/>
                </a:lnTo>
                <a:lnTo>
                  <a:pt x="470255" y="56958"/>
                </a:lnTo>
                <a:lnTo>
                  <a:pt x="26501" y="56958"/>
                </a:lnTo>
                <a:lnTo>
                  <a:pt x="6202" y="192029"/>
                </a:lnTo>
                <a:lnTo>
                  <a:pt x="515927" y="192029"/>
                </a:lnTo>
                <a:lnTo>
                  <a:pt x="544120" y="48821"/>
                </a:lnTo>
                <a:lnTo>
                  <a:pt x="513107" y="0"/>
                </a:lnTo>
                <a:close/>
              </a:path>
            </a:pathLst>
          </a:custGeom>
          <a:solidFill>
            <a:srgbClr val="3FB2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7728301" y="3630877"/>
            <a:ext cx="78105" cy="59690"/>
          </a:xfrm>
          <a:custGeom>
            <a:avLst/>
            <a:gdLst/>
            <a:ahLst/>
            <a:cxnLst/>
            <a:rect l="l" t="t" r="r" b="b"/>
            <a:pathLst>
              <a:path w="78104" h="59689">
                <a:moveTo>
                  <a:pt x="77812" y="0"/>
                </a:moveTo>
                <a:lnTo>
                  <a:pt x="9022" y="0"/>
                </a:lnTo>
                <a:lnTo>
                  <a:pt x="0" y="59669"/>
                </a:lnTo>
                <a:lnTo>
                  <a:pt x="68226" y="59669"/>
                </a:lnTo>
                <a:lnTo>
                  <a:pt x="77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7823592" y="3630877"/>
            <a:ext cx="78105" cy="59690"/>
          </a:xfrm>
          <a:custGeom>
            <a:avLst/>
            <a:gdLst/>
            <a:ahLst/>
            <a:cxnLst/>
            <a:rect l="l" t="t" r="r" b="b"/>
            <a:pathLst>
              <a:path w="78104" h="59689">
                <a:moveTo>
                  <a:pt x="77812" y="0"/>
                </a:moveTo>
                <a:lnTo>
                  <a:pt x="9022" y="0"/>
                </a:lnTo>
                <a:lnTo>
                  <a:pt x="0" y="59669"/>
                </a:lnTo>
                <a:lnTo>
                  <a:pt x="69354" y="59669"/>
                </a:lnTo>
                <a:lnTo>
                  <a:pt x="778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7633010" y="3630877"/>
            <a:ext cx="77470" cy="59690"/>
          </a:xfrm>
          <a:custGeom>
            <a:avLst/>
            <a:gdLst/>
            <a:ahLst/>
            <a:cxnLst/>
            <a:rect l="l" t="t" r="r" b="b"/>
            <a:pathLst>
              <a:path w="77470" h="59689">
                <a:moveTo>
                  <a:pt x="77247" y="0"/>
                </a:moveTo>
                <a:lnTo>
                  <a:pt x="8458" y="0"/>
                </a:lnTo>
                <a:lnTo>
                  <a:pt x="0" y="59669"/>
                </a:lnTo>
                <a:lnTo>
                  <a:pt x="68226" y="59669"/>
                </a:lnTo>
                <a:lnTo>
                  <a:pt x="772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7538281" y="3630877"/>
            <a:ext cx="76835" cy="59690"/>
          </a:xfrm>
          <a:custGeom>
            <a:avLst/>
            <a:gdLst/>
            <a:ahLst/>
            <a:cxnLst/>
            <a:rect l="l" t="t" r="r" b="b"/>
            <a:pathLst>
              <a:path w="76834" h="59689">
                <a:moveTo>
                  <a:pt x="76683" y="0"/>
                </a:moveTo>
                <a:lnTo>
                  <a:pt x="8458" y="0"/>
                </a:lnTo>
                <a:lnTo>
                  <a:pt x="0" y="59669"/>
                </a:lnTo>
                <a:lnTo>
                  <a:pt x="67663" y="59669"/>
                </a:lnTo>
                <a:lnTo>
                  <a:pt x="7668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7439607" y="3630877"/>
            <a:ext cx="78105" cy="59690"/>
          </a:xfrm>
          <a:custGeom>
            <a:avLst/>
            <a:gdLst/>
            <a:ahLst/>
            <a:cxnLst/>
            <a:rect l="l" t="t" r="r" b="b"/>
            <a:pathLst>
              <a:path w="78104" h="59689">
                <a:moveTo>
                  <a:pt x="77811" y="0"/>
                </a:moveTo>
                <a:lnTo>
                  <a:pt x="8456" y="0"/>
                </a:lnTo>
                <a:lnTo>
                  <a:pt x="0" y="59669"/>
                </a:lnTo>
                <a:lnTo>
                  <a:pt x="68225" y="59669"/>
                </a:lnTo>
                <a:lnTo>
                  <a:pt x="778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 txBox="1"/>
          <p:nvPr/>
        </p:nvSpPr>
        <p:spPr>
          <a:xfrm>
            <a:off x="5994922" y="2250857"/>
            <a:ext cx="21209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7488281" y="1472135"/>
            <a:ext cx="21209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8267427" y="2964685"/>
            <a:ext cx="21209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B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6838994" y="3808300"/>
            <a:ext cx="212090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8397284" y="1796602"/>
            <a:ext cx="16954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1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1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8007713" y="3808300"/>
            <a:ext cx="16954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1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2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929991" y="3029578"/>
            <a:ext cx="16954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1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3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6319565" y="1342349"/>
            <a:ext cx="169545" cy="2838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b="1" spc="1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4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801867" y="2009191"/>
            <a:ext cx="443801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资源</a:t>
            </a: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互斥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使用，一旦占有别人无法使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570379" y="2059870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2457003" y="2246478"/>
            <a:ext cx="1688129" cy="14679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 txBox="1"/>
          <p:nvPr/>
        </p:nvSpPr>
        <p:spPr>
          <a:xfrm>
            <a:off x="801867" y="3818097"/>
            <a:ext cx="158242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进程</a:t>
            </a: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占有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了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一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570379" y="3870568"/>
            <a:ext cx="160969" cy="16357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2521932" y="4161208"/>
            <a:ext cx="1688129" cy="14593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 txBox="1"/>
          <p:nvPr/>
        </p:nvSpPr>
        <p:spPr>
          <a:xfrm>
            <a:off x="801867" y="4194748"/>
            <a:ext cx="5736590" cy="17887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4159250" algn="just">
              <a:lnSpc>
                <a:spcPct val="12500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些资源，又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不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释放，再去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申</a:t>
            </a:r>
            <a:r>
              <a:rPr sz="1950" b="1" spc="3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请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其他资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源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12700" algn="just">
              <a:lnSpc>
                <a:spcPts val="2330"/>
              </a:lnSpc>
              <a:spcBef>
                <a:spcPts val="1400"/>
              </a:spcBef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各自占有的资源和互相申请的资源形成了环</a:t>
            </a: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路等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待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570379" y="5753041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103" name="object 10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60357" y="1759656"/>
            <a:ext cx="2709545" cy="0"/>
          </a:xfrm>
          <a:custGeom>
            <a:avLst/>
            <a:gdLst/>
            <a:ahLst/>
            <a:cxnLst/>
            <a:rect l="l" t="t" r="r" b="b"/>
            <a:pathLst>
              <a:path w="2709545">
                <a:moveTo>
                  <a:pt x="0" y="0"/>
                </a:moveTo>
                <a:lnTo>
                  <a:pt x="2709120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50199" y="1759656"/>
            <a:ext cx="645795" cy="0"/>
          </a:xfrm>
          <a:custGeom>
            <a:avLst/>
            <a:gdLst/>
            <a:ahLst/>
            <a:cxnLst/>
            <a:rect l="l" t="t" r="r" b="b"/>
            <a:pathLst>
              <a:path w="645795">
                <a:moveTo>
                  <a:pt x="0" y="0"/>
                </a:moveTo>
                <a:lnTo>
                  <a:pt x="64522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2400" y="1759656"/>
            <a:ext cx="5633085" cy="0"/>
          </a:xfrm>
          <a:custGeom>
            <a:avLst/>
            <a:gdLst/>
            <a:ahLst/>
            <a:cxnLst/>
            <a:rect l="l" t="t" r="r" b="b"/>
            <a:pathLst>
              <a:path w="5633085">
                <a:moveTo>
                  <a:pt x="0" y="0"/>
                </a:moveTo>
                <a:lnTo>
                  <a:pt x="5632869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0">
              <a:lnSpc>
                <a:spcPct val="100000"/>
              </a:lnSpc>
            </a:pPr>
            <a:r>
              <a:rPr sz="2950" spc="100" dirty="0">
                <a:solidFill>
                  <a:srgbClr val="FF0000"/>
                </a:solidFill>
              </a:rPr>
              <a:t>死锁的</a:t>
            </a:r>
            <a:r>
              <a:rPr sz="305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4</a:t>
            </a:r>
            <a:r>
              <a:rPr sz="2950" spc="100" dirty="0">
                <a:solidFill>
                  <a:srgbClr val="FF0000"/>
                </a:solidFill>
              </a:rPr>
              <a:t>个必要条件</a:t>
            </a:r>
            <a:endParaRPr sz="2950" spc="100" dirty="0">
              <a:solidFill>
                <a:srgbClr val="FF000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880" y="2646774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24880" y="3759729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24880" y="4846990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07187" y="2053943"/>
            <a:ext cx="4568190" cy="42703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互斥使用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400" b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exc</a:t>
            </a:r>
            <a:r>
              <a:rPr sz="2400" b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400" b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on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661670">
              <a:lnSpc>
                <a:spcPct val="100000"/>
              </a:lnSpc>
              <a:spcBef>
                <a:spcPts val="1230"/>
              </a:spcBef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资源的固有特性，</a:t>
            </a: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如道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口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不可抢占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400" b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ee</a:t>
            </a:r>
            <a:r>
              <a:rPr sz="2400" b="1" spc="-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p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ion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)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12700" indent="648970">
              <a:lnSpc>
                <a:spcPct val="100000"/>
              </a:lnSpc>
              <a:spcBef>
                <a:spcPts val="1190"/>
              </a:spcBef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资源只能自愿放弃，</a:t>
            </a:r>
            <a:r>
              <a:rPr sz="1950" b="1" spc="8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如车开走以</a:t>
            </a:r>
            <a:r>
              <a:rPr sz="195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后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请求和保持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H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400" b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400" b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2400" b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w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b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t)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12700" indent="648970">
              <a:lnSpc>
                <a:spcPct val="100000"/>
              </a:lnSpc>
              <a:spcBef>
                <a:spcPts val="1210"/>
              </a:spcBef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进程必须占有资源，再去申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请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400">
              <a:latin typeface="Times New Roman" panose="02020603050405020304"/>
              <a:cs typeface="Times New Roman" panose="02020603050405020304"/>
            </a:endParaRPr>
          </a:p>
          <a:p>
            <a:pPr marL="12700">
              <a:lnSpc>
                <a:spcPct val="100000"/>
              </a:lnSpc>
            </a:pP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循环等待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(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400" b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c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u</a:t>
            </a:r>
            <a:r>
              <a:rPr sz="2400" b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r</a:t>
            </a:r>
            <a:r>
              <a:rPr sz="2400" b="1" spc="-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w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2400" b="1" spc="-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</a:t>
            </a:r>
            <a:r>
              <a:rPr sz="2400" b="1" spc="-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t)</a:t>
            </a:r>
            <a:endParaRPr sz="2400">
              <a:latin typeface="Arial" panose="020B0604020202020204"/>
              <a:cs typeface="Arial" panose="020B0604020202020204"/>
            </a:endParaRPr>
          </a:p>
          <a:p>
            <a:pPr marL="661670">
              <a:lnSpc>
                <a:spcPts val="2330"/>
              </a:lnSpc>
              <a:spcBef>
                <a:spcPts val="1190"/>
              </a:spcBef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在资源分配图中存在一个环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路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24880" y="6031618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335511" y="1541924"/>
            <a:ext cx="1688129" cy="14679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773162" y="3126169"/>
            <a:ext cx="2434443" cy="149971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899947" y="4817915"/>
            <a:ext cx="1688129" cy="149295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0">
              <a:lnSpc>
                <a:spcPts val="3470"/>
              </a:lnSpc>
            </a:pPr>
            <a:r>
              <a:rPr spc="100" dirty="0"/>
              <a:t>死锁处理方法概述</a:t>
            </a:r>
            <a:endParaRPr spc="100" dirty="0"/>
          </a:p>
        </p:txBody>
      </p:sp>
      <p:sp>
        <p:nvSpPr>
          <p:cNvPr id="4" name="object 4"/>
          <p:cNvSpPr txBox="1"/>
          <p:nvPr/>
        </p:nvSpPr>
        <p:spPr>
          <a:xfrm>
            <a:off x="672115" y="2053943"/>
            <a:ext cx="1531620" cy="344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死锁预</a:t>
            </a:r>
            <a:r>
              <a:rPr sz="3450" b="1" spc="135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防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21297" y="2595936"/>
            <a:ext cx="236093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破坏死锁出现的条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件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89809" y="2658945"/>
            <a:ext cx="160969" cy="16362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549639" y="2017657"/>
            <a:ext cx="3546475" cy="3422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b="1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“n</a:t>
            </a:r>
            <a:r>
              <a:rPr sz="2400" b="1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400" b="1" spc="-1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2400" b="1" spc="-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s</a:t>
            </a:r>
            <a:r>
              <a:rPr sz="2400" b="1" spc="-1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m</a:t>
            </a:r>
            <a:r>
              <a:rPr sz="2400" b="1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o</a:t>
            </a:r>
            <a:r>
              <a:rPr sz="2400" b="1" spc="-5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k</a:t>
            </a:r>
            <a:r>
              <a:rPr sz="2400" b="1" spc="-10" dirty="0">
                <a:solidFill>
                  <a:srgbClr val="333399"/>
                </a:solidFill>
                <a:latin typeface="Arial" panose="020B0604020202020204"/>
                <a:cs typeface="Arial" panose="020B0604020202020204"/>
              </a:rPr>
              <a:t>ing”</a:t>
            </a:r>
            <a:r>
              <a:rPr sz="3450" b="1" spc="112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，预防火</a:t>
            </a:r>
            <a:r>
              <a:rPr sz="3450" b="1" spc="135" baseline="100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灾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72115" y="3092239"/>
            <a:ext cx="1531620" cy="344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死锁避</a:t>
            </a:r>
            <a:r>
              <a:rPr sz="3450" b="1" spc="135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免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21297" y="3665327"/>
            <a:ext cx="469773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检测每个资源请求，如果造成死锁就拒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绝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89809" y="3709692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549639" y="3120846"/>
            <a:ext cx="4571365" cy="321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30"/>
              </a:lnSpc>
            </a:pPr>
            <a:r>
              <a:rPr sz="2300" b="1" spc="75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检测到煤气超标时，自动切断电</a:t>
            </a:r>
            <a:r>
              <a:rPr sz="2300" b="1" spc="9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源</a:t>
            </a:r>
            <a:endParaRPr sz="23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2115" y="4218411"/>
            <a:ext cx="231457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死锁检测</a:t>
            </a:r>
            <a:r>
              <a:rPr sz="2400" b="1" spc="-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+</a:t>
            </a: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恢</a:t>
            </a:r>
            <a:r>
              <a:rPr sz="3450" b="1" spc="135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复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21297" y="4786091"/>
            <a:ext cx="547687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检测到死锁出现时，让一些进程回滚，让出资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源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089809" y="4836172"/>
            <a:ext cx="160969" cy="16362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307140" y="4241611"/>
            <a:ext cx="3965575" cy="321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30"/>
              </a:lnSpc>
            </a:pPr>
            <a:r>
              <a:rPr sz="2300" b="1" spc="75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发现火灾时，立刻拿起灭火</a:t>
            </a:r>
            <a:r>
              <a:rPr sz="2300" b="1" spc="9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器</a:t>
            </a:r>
            <a:endParaRPr sz="23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2115" y="5298618"/>
            <a:ext cx="1531620" cy="344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死锁忽</a:t>
            </a:r>
            <a:r>
              <a:rPr sz="3450" b="1" spc="135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略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21297" y="5858185"/>
            <a:ext cx="288036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就好像没有出现死锁一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样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089809" y="5916671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555049" y="5339393"/>
            <a:ext cx="3965575" cy="321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30"/>
              </a:lnSpc>
            </a:pPr>
            <a:r>
              <a:rPr sz="2300" b="1" spc="75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在太阳上可以对火灾全然不</a:t>
            </a:r>
            <a:r>
              <a:rPr sz="2300" b="1" spc="90" dirty="0">
                <a:solidFill>
                  <a:srgbClr val="333399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顾</a:t>
            </a:r>
            <a:endParaRPr sz="23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428548" y="930509"/>
            <a:ext cx="676863" cy="1473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0">
              <a:lnSpc>
                <a:spcPts val="3470"/>
              </a:lnSpc>
            </a:pPr>
            <a:r>
              <a:rPr spc="100" dirty="0"/>
              <a:t>死锁预防的方法例子</a:t>
            </a:r>
            <a:endParaRPr spc="100" dirty="0"/>
          </a:p>
        </p:txBody>
      </p:sp>
      <p:sp>
        <p:nvSpPr>
          <p:cNvPr id="4" name="object 4"/>
          <p:cNvSpPr/>
          <p:nvPr/>
        </p:nvSpPr>
        <p:spPr>
          <a:xfrm>
            <a:off x="1154737" y="3091686"/>
            <a:ext cx="160969" cy="16362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154737" y="3563642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154737" y="5275674"/>
            <a:ext cx="160969" cy="16362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698309" y="1886303"/>
            <a:ext cx="9104630" cy="37045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0" marR="5080" indent="-292100">
              <a:lnSpc>
                <a:spcPct val="133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在进程执行前，</a:t>
            </a: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一次性申请所有需要的资源，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不会占有资源再去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申</a:t>
            </a:r>
            <a:r>
              <a:rPr sz="3450" b="1" spc="6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30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请其它资</a:t>
            </a:r>
            <a:r>
              <a:rPr sz="2300" b="1" spc="90" dirty="0">
                <a:latin typeface="宋体" panose="02010600030101010101" pitchFamily="2" charset="-122"/>
                <a:cs typeface="宋体" panose="02010600030101010101" pitchFamily="2" charset="-122"/>
              </a:rPr>
              <a:t>源</a:t>
            </a:r>
            <a:endParaRPr sz="23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61670">
              <a:lnSpc>
                <a:spcPct val="100000"/>
              </a:lnSpc>
              <a:spcBef>
                <a:spcPts val="1775"/>
              </a:spcBef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缺点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1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需要预知未来，编程困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难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 indent="648970">
              <a:lnSpc>
                <a:spcPct val="100000"/>
              </a:lnSpc>
              <a:spcBef>
                <a:spcPts val="1250"/>
              </a:spcBef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缺点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2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许多资源分配后很长时间后才使用，资源利用率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低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Times New Roman" panose="02020603050405020304"/>
              <a:cs typeface="Times New Roman" panose="02020603050405020304"/>
            </a:endParaRPr>
          </a:p>
          <a:p>
            <a:pPr marL="304800" marR="3639820" indent="-292100">
              <a:lnSpc>
                <a:spcPct val="133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对资源类型进行排序，</a:t>
            </a: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资源申请必须</a:t>
            </a:r>
            <a:r>
              <a:rPr sz="3450" b="1" spc="135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按</a:t>
            </a:r>
            <a:r>
              <a:rPr sz="3450" b="1" spc="67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30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序进行</a:t>
            </a:r>
            <a:r>
              <a:rPr sz="230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，不会出现环路等</a:t>
            </a:r>
            <a:r>
              <a:rPr sz="2300" b="1" spc="90" dirty="0">
                <a:latin typeface="宋体" panose="02010600030101010101" pitchFamily="2" charset="-122"/>
                <a:cs typeface="宋体" panose="02010600030101010101" pitchFamily="2" charset="-122"/>
              </a:rPr>
              <a:t>待</a:t>
            </a:r>
            <a:endParaRPr sz="23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337185" marR="3408045" indent="324485">
              <a:lnSpc>
                <a:spcPts val="4000"/>
              </a:lnSpc>
              <a:spcBef>
                <a:spcPts val="120"/>
              </a:spcBef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缺点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: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仍然造成资源浪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费</a:t>
            </a:r>
            <a:r>
              <a:rPr sz="2925" b="1" spc="5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0190">
              <a:lnSpc>
                <a:spcPct val="100000"/>
              </a:lnSpc>
            </a:pPr>
            <a:r>
              <a:rPr sz="2950" spc="100" dirty="0"/>
              <a:t>死锁避免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: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 </a:t>
            </a:r>
            <a:r>
              <a:rPr sz="2950" spc="100" dirty="0"/>
              <a:t>判断此次请求是否引起死锁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?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1973" y="1947139"/>
            <a:ext cx="913701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如果系统中的所有进程存在一个可完成的执行序列</a:t>
            </a:r>
            <a:r>
              <a:rPr sz="2400" b="1" spc="-15" dirty="0">
                <a:latin typeface="Arial" panose="020B0604020202020204"/>
                <a:cs typeface="Arial" panose="020B0604020202020204"/>
              </a:rPr>
              <a:t>P</a:t>
            </a:r>
            <a:r>
              <a:rPr sz="2400" b="1" spc="-15" baseline="-19000" dirty="0">
                <a:latin typeface="Arial" panose="020B0604020202020204"/>
                <a:cs typeface="Arial" panose="020B0604020202020204"/>
              </a:rPr>
              <a:t>1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400" b="1" spc="-15" dirty="0">
                <a:latin typeface="Arial" panose="020B0604020202020204"/>
                <a:cs typeface="Arial" panose="020B0604020202020204"/>
              </a:rPr>
              <a:t>…P</a:t>
            </a:r>
            <a:r>
              <a:rPr sz="2400" b="1" spc="-15" baseline="-19000" dirty="0">
                <a:latin typeface="Arial" panose="020B0604020202020204"/>
                <a:cs typeface="Arial" panose="020B0604020202020204"/>
              </a:rPr>
              <a:t>n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，则</a:t>
            </a:r>
            <a:r>
              <a:rPr sz="3450" b="1" spc="135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称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4073" y="2416926"/>
            <a:ext cx="2451100" cy="3219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30"/>
              </a:lnSpc>
            </a:pPr>
            <a:r>
              <a:rPr sz="230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系统处于</a:t>
            </a:r>
            <a:r>
              <a:rPr sz="2300" b="1" spc="75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安全状</a:t>
            </a:r>
            <a:r>
              <a:rPr sz="2300" b="1" spc="9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态</a:t>
            </a:r>
            <a:endParaRPr sz="23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53338" y="2356706"/>
            <a:ext cx="3701415" cy="546100"/>
          </a:xfrm>
          <a:custGeom>
            <a:avLst/>
            <a:gdLst/>
            <a:ahLst/>
            <a:cxnLst/>
            <a:rect l="l" t="t" r="r" b="b"/>
            <a:pathLst>
              <a:path w="3701415" h="546100">
                <a:moveTo>
                  <a:pt x="3700938" y="469923"/>
                </a:moveTo>
                <a:lnTo>
                  <a:pt x="3689235" y="510379"/>
                </a:lnTo>
                <a:lnTo>
                  <a:pt x="3658806" y="537806"/>
                </a:lnTo>
                <a:lnTo>
                  <a:pt x="3084115" y="545654"/>
                </a:lnTo>
                <a:lnTo>
                  <a:pt x="2158880" y="545654"/>
                </a:lnTo>
                <a:lnTo>
                  <a:pt x="75751" y="545654"/>
                </a:lnTo>
                <a:lnTo>
                  <a:pt x="61247" y="544268"/>
                </a:lnTo>
                <a:lnTo>
                  <a:pt x="24344" y="525548"/>
                </a:lnTo>
                <a:lnTo>
                  <a:pt x="2814" y="490445"/>
                </a:lnTo>
                <a:lnTo>
                  <a:pt x="0" y="280600"/>
                </a:lnTo>
                <a:lnTo>
                  <a:pt x="0" y="167007"/>
                </a:lnTo>
                <a:lnTo>
                  <a:pt x="1386" y="152508"/>
                </a:lnTo>
                <a:lnTo>
                  <a:pt x="5374" y="138936"/>
                </a:lnTo>
                <a:lnTo>
                  <a:pt x="30341" y="106386"/>
                </a:lnTo>
                <a:lnTo>
                  <a:pt x="69356" y="91542"/>
                </a:lnTo>
                <a:lnTo>
                  <a:pt x="2158880" y="91276"/>
                </a:lnTo>
                <a:lnTo>
                  <a:pt x="1855613" y="0"/>
                </a:lnTo>
                <a:lnTo>
                  <a:pt x="3084115" y="91276"/>
                </a:lnTo>
                <a:lnTo>
                  <a:pt x="3625187" y="91276"/>
                </a:lnTo>
                <a:lnTo>
                  <a:pt x="3639691" y="92663"/>
                </a:lnTo>
                <a:lnTo>
                  <a:pt x="3676593" y="111383"/>
                </a:lnTo>
                <a:lnTo>
                  <a:pt x="3698124" y="146486"/>
                </a:lnTo>
                <a:lnTo>
                  <a:pt x="3700938" y="167007"/>
                </a:lnTo>
                <a:lnTo>
                  <a:pt x="3700938" y="280600"/>
                </a:lnTo>
                <a:lnTo>
                  <a:pt x="3700938" y="469923"/>
                </a:lnTo>
                <a:close/>
              </a:path>
            </a:pathLst>
          </a:custGeom>
          <a:ln w="81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132765" y="2530559"/>
            <a:ext cx="3140075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都能执行完成当然就不死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锁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1973" y="3092239"/>
            <a:ext cx="516445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784985" algn="l"/>
              </a:tabLst>
            </a:pP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安全序列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:</a:t>
            </a:r>
            <a:r>
              <a:rPr sz="24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上面的执行序列</a:t>
            </a:r>
            <a:r>
              <a:rPr sz="2400" b="1" spc="-15" dirty="0">
                <a:latin typeface="Arial" panose="020B0604020202020204"/>
                <a:cs typeface="Arial" panose="020B0604020202020204"/>
              </a:rPr>
              <a:t>P</a:t>
            </a:r>
            <a:r>
              <a:rPr sz="2400" b="1" spc="-15" baseline="-19000" dirty="0">
                <a:latin typeface="Arial" panose="020B0604020202020204"/>
                <a:cs typeface="Arial" panose="020B0604020202020204"/>
              </a:rPr>
              <a:t>1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400" b="1" spc="-15" dirty="0">
                <a:latin typeface="Arial" panose="020B0604020202020204"/>
                <a:cs typeface="Arial" panose="020B0604020202020204"/>
              </a:rPr>
              <a:t>…P</a:t>
            </a:r>
            <a:r>
              <a:rPr sz="2400" b="1" baseline="-19000" dirty="0">
                <a:latin typeface="Arial" panose="020B0604020202020204"/>
                <a:cs typeface="Arial" panose="020B0604020202020204"/>
              </a:rPr>
              <a:t>n</a:t>
            </a:r>
            <a:endParaRPr sz="2400" baseline="-19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916401" y="3057878"/>
            <a:ext cx="1833245" cy="454659"/>
          </a:xfrm>
          <a:custGeom>
            <a:avLst/>
            <a:gdLst/>
            <a:ahLst/>
            <a:cxnLst/>
            <a:rect l="l" t="t" r="r" b="b"/>
            <a:pathLst>
              <a:path w="1833245" h="454660">
                <a:moveTo>
                  <a:pt x="0" y="57237"/>
                </a:moveTo>
                <a:lnTo>
                  <a:pt x="209443" y="189323"/>
                </a:lnTo>
                <a:lnTo>
                  <a:pt x="209709" y="385040"/>
                </a:lnTo>
                <a:lnTo>
                  <a:pt x="212257" y="399168"/>
                </a:lnTo>
                <a:lnTo>
                  <a:pt x="233788" y="434271"/>
                </a:lnTo>
                <a:lnTo>
                  <a:pt x="270691" y="452991"/>
                </a:lnTo>
                <a:lnTo>
                  <a:pt x="285195" y="454378"/>
                </a:lnTo>
                <a:lnTo>
                  <a:pt x="885784" y="454378"/>
                </a:lnTo>
                <a:lnTo>
                  <a:pt x="1763305" y="454111"/>
                </a:lnTo>
                <a:lnTo>
                  <a:pt x="1802320" y="439268"/>
                </a:lnTo>
                <a:lnTo>
                  <a:pt x="1827287" y="406718"/>
                </a:lnTo>
                <a:lnTo>
                  <a:pt x="1832662" y="378646"/>
                </a:lnTo>
                <a:lnTo>
                  <a:pt x="1832662" y="75731"/>
                </a:lnTo>
                <a:lnTo>
                  <a:pt x="209443" y="75731"/>
                </a:lnTo>
                <a:lnTo>
                  <a:pt x="0" y="57237"/>
                </a:lnTo>
                <a:close/>
              </a:path>
              <a:path w="1833245" h="454660">
                <a:moveTo>
                  <a:pt x="1756910" y="0"/>
                </a:moveTo>
                <a:lnTo>
                  <a:pt x="479979" y="0"/>
                </a:lnTo>
                <a:lnTo>
                  <a:pt x="278799" y="266"/>
                </a:lnTo>
                <a:lnTo>
                  <a:pt x="239785" y="15110"/>
                </a:lnTo>
                <a:lnTo>
                  <a:pt x="214817" y="47659"/>
                </a:lnTo>
                <a:lnTo>
                  <a:pt x="209443" y="75731"/>
                </a:lnTo>
                <a:lnTo>
                  <a:pt x="1832662" y="75731"/>
                </a:lnTo>
                <a:lnTo>
                  <a:pt x="1817548" y="30333"/>
                </a:lnTo>
                <a:lnTo>
                  <a:pt x="1784989" y="5373"/>
                </a:lnTo>
                <a:lnTo>
                  <a:pt x="175691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16401" y="3057878"/>
            <a:ext cx="1833245" cy="454659"/>
          </a:xfrm>
          <a:custGeom>
            <a:avLst/>
            <a:gdLst/>
            <a:ahLst/>
            <a:cxnLst/>
            <a:rect l="l" t="t" r="r" b="b"/>
            <a:pathLst>
              <a:path w="1833245" h="454660">
                <a:moveTo>
                  <a:pt x="1832662" y="378646"/>
                </a:moveTo>
                <a:lnTo>
                  <a:pt x="1820959" y="419102"/>
                </a:lnTo>
                <a:lnTo>
                  <a:pt x="1790530" y="446529"/>
                </a:lnTo>
                <a:lnTo>
                  <a:pt x="885784" y="454377"/>
                </a:lnTo>
                <a:lnTo>
                  <a:pt x="479980" y="454377"/>
                </a:lnTo>
                <a:lnTo>
                  <a:pt x="285195" y="454377"/>
                </a:lnTo>
                <a:lnTo>
                  <a:pt x="270692" y="452991"/>
                </a:lnTo>
                <a:lnTo>
                  <a:pt x="233789" y="434271"/>
                </a:lnTo>
                <a:lnTo>
                  <a:pt x="212258" y="399168"/>
                </a:lnTo>
                <a:lnTo>
                  <a:pt x="209443" y="189324"/>
                </a:lnTo>
                <a:lnTo>
                  <a:pt x="0" y="57237"/>
                </a:lnTo>
                <a:lnTo>
                  <a:pt x="209443" y="75729"/>
                </a:lnTo>
                <a:lnTo>
                  <a:pt x="210830" y="61231"/>
                </a:lnTo>
                <a:lnTo>
                  <a:pt x="229555" y="24339"/>
                </a:lnTo>
                <a:lnTo>
                  <a:pt x="264667" y="2813"/>
                </a:lnTo>
                <a:lnTo>
                  <a:pt x="479980" y="0"/>
                </a:lnTo>
                <a:lnTo>
                  <a:pt x="885784" y="0"/>
                </a:lnTo>
                <a:lnTo>
                  <a:pt x="1756910" y="0"/>
                </a:lnTo>
                <a:lnTo>
                  <a:pt x="1771414" y="1386"/>
                </a:lnTo>
                <a:lnTo>
                  <a:pt x="1808316" y="20106"/>
                </a:lnTo>
                <a:lnTo>
                  <a:pt x="1829848" y="55208"/>
                </a:lnTo>
                <a:lnTo>
                  <a:pt x="1832662" y="75729"/>
                </a:lnTo>
                <a:lnTo>
                  <a:pt x="1832662" y="189324"/>
                </a:lnTo>
                <a:lnTo>
                  <a:pt x="1832662" y="378646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455984" y="3140287"/>
            <a:ext cx="96266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如何找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32930" y="3690369"/>
            <a:ext cx="3202940" cy="2203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386205" algn="l"/>
                <a:tab pos="2341880" algn="l"/>
              </a:tabLst>
            </a:pPr>
            <a:r>
              <a:rPr sz="1500" b="1" u="sng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Alloc</a:t>
            </a:r>
            <a:r>
              <a:rPr sz="1500" b="1" u="sng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500" b="1" u="sng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tion</a:t>
            </a:r>
            <a:r>
              <a:rPr sz="1500" b="1" u="sng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500" b="1" u="sng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N</a:t>
            </a:r>
            <a:r>
              <a:rPr sz="1500" b="1" u="sng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ee</a:t>
            </a:r>
            <a:r>
              <a:rPr sz="1500" b="1" u="sng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d</a:t>
            </a:r>
            <a:r>
              <a:rPr sz="1500" b="1" u="sng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b="1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	</a:t>
            </a:r>
            <a:r>
              <a:rPr sz="1500" b="1" u="sng" spc="-4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500" b="1" u="sng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va</a:t>
            </a:r>
            <a:r>
              <a:rPr sz="1500" b="1" u="sng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il</a:t>
            </a:r>
            <a:r>
              <a:rPr sz="1500" b="1" u="sng" spc="1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a</a:t>
            </a:r>
            <a:r>
              <a:rPr sz="1500" b="1" u="sng" spc="20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b</a:t>
            </a:r>
            <a:r>
              <a:rPr sz="1500" b="1" u="sng" spc="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l</a:t>
            </a:r>
            <a:r>
              <a:rPr sz="1500" b="1" u="sng" spc="15" dirty="0">
                <a:solidFill>
                  <a:srgbClr val="FF0000"/>
                </a:solidFill>
                <a:latin typeface="Arial" panose="020B0604020202020204"/>
                <a:cs typeface="Arial" panose="020B0604020202020204"/>
              </a:rPr>
              <a:t>e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01687" y="3642078"/>
            <a:ext cx="3961765" cy="2272030"/>
          </a:xfrm>
          <a:custGeom>
            <a:avLst/>
            <a:gdLst/>
            <a:ahLst/>
            <a:cxnLst/>
            <a:rect l="l" t="t" r="r" b="b"/>
            <a:pathLst>
              <a:path w="3961765" h="2272029">
                <a:moveTo>
                  <a:pt x="0" y="0"/>
                </a:moveTo>
                <a:lnTo>
                  <a:pt x="3961531" y="0"/>
                </a:lnTo>
                <a:lnTo>
                  <a:pt x="3961531" y="2271888"/>
                </a:lnTo>
                <a:lnTo>
                  <a:pt x="0" y="2271888"/>
                </a:lnTo>
                <a:lnTo>
                  <a:pt x="0" y="0"/>
                </a:lnTo>
                <a:close/>
              </a:path>
            </a:pathLst>
          </a:custGeom>
          <a:ln w="811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737100" y="3509433"/>
            <a:ext cx="618066" cy="58420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99566" y="3509433"/>
            <a:ext cx="613833" cy="584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257800" y="3509433"/>
            <a:ext cx="613833" cy="584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516033" y="3509433"/>
            <a:ext cx="618066" cy="584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778500" y="3509433"/>
            <a:ext cx="613833" cy="5842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036733" y="3509433"/>
            <a:ext cx="613833" cy="5842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294966" y="3509433"/>
            <a:ext cx="618066" cy="5842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557433" y="3509433"/>
            <a:ext cx="613833" cy="5842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815666" y="3509433"/>
            <a:ext cx="613833" cy="5842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893733" y="3509433"/>
            <a:ext cx="2798233" cy="5842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029200" y="3907366"/>
            <a:ext cx="618066" cy="58843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291666" y="3907366"/>
            <a:ext cx="613833" cy="58843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185833" y="3920066"/>
            <a:ext cx="1265767" cy="59266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4892484" y="3629906"/>
            <a:ext cx="2620645" cy="2566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4800" marR="5080" indent="-292100">
              <a:lnSpc>
                <a:spcPct val="134000"/>
              </a:lnSpc>
              <a:tabLst>
                <a:tab pos="1125220" algn="l"/>
              </a:tabLst>
            </a:pPr>
            <a:r>
              <a:rPr sz="1950" b="1" u="sng" spc="85" dirty="0">
                <a:latin typeface="宋体" panose="02010600030101010101" pitchFamily="2" charset="-122"/>
                <a:cs typeface="宋体" panose="02010600030101010101" pitchFamily="2" charset="-122"/>
              </a:rPr>
              <a:t>问题：下面哪个是安</a:t>
            </a:r>
            <a:r>
              <a:rPr sz="1950" b="1" u="sng" spc="75" dirty="0">
                <a:latin typeface="宋体" panose="02010600030101010101" pitchFamily="2" charset="-122"/>
                <a:cs typeface="宋体" panose="02010600030101010101" pitchFamily="2" charset="-122"/>
              </a:rPr>
              <a:t>全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925" b="1" u="sng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序列</a:t>
            </a:r>
            <a:r>
              <a:rPr sz="2000" b="1" u="sng" spc="10" dirty="0">
                <a:latin typeface="Arial" panose="020B0604020202020204"/>
                <a:cs typeface="Arial" panose="020B0604020202020204"/>
              </a:rPr>
              <a:t>(</a:t>
            </a:r>
            <a:r>
              <a:rPr sz="2000" b="1" u="sng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dirty="0">
                <a:latin typeface="Arial" panose="020B0604020202020204"/>
                <a:cs typeface="Arial" panose="020B0604020202020204"/>
              </a:rPr>
              <a:t>	</a:t>
            </a:r>
            <a:r>
              <a:rPr sz="2000" b="1" u="sng" spc="15" dirty="0">
                <a:latin typeface="Arial" panose="020B0604020202020204"/>
                <a:cs typeface="Arial" panose="020B0604020202020204"/>
              </a:rPr>
              <a:t>)?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295"/>
              </a:spcBef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A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.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1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,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3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,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2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,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4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,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0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B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.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0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,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1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,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2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,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3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,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4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C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.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3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,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0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,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1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,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2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,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4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D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.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3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,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4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,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1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,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2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,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P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0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801687" y="3965447"/>
          <a:ext cx="3961765" cy="19488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08064"/>
                <a:gridCol w="944883"/>
                <a:gridCol w="968284"/>
                <a:gridCol w="1240300"/>
              </a:tblGrid>
              <a:tr h="325922">
                <a:tc>
                  <a:txBody>
                    <a:bodyPr/>
                    <a:lstStyle/>
                    <a:p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3205">
                        <a:lnSpc>
                          <a:spcPct val="100000"/>
                        </a:lnSpc>
                      </a:pPr>
                      <a:r>
                        <a:rPr sz="1500" b="1" i="1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1500" b="1" i="1" spc="-5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b="1" i="1" dirty="0"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r>
                        <a:rPr sz="1500" b="1" i="1" spc="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b="1" i="1" dirty="0"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800">
                        <a:lnSpc>
                          <a:spcPct val="100000"/>
                        </a:lnSpc>
                      </a:pPr>
                      <a:r>
                        <a:rPr sz="1500" b="1" i="1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1500" b="1" i="1" spc="-5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b="1" i="1" dirty="0"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r>
                        <a:rPr sz="1500" b="1" i="1" spc="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b="1" i="1" dirty="0"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6700">
                        <a:lnSpc>
                          <a:spcPct val="100000"/>
                        </a:lnSpc>
                      </a:pPr>
                      <a:r>
                        <a:rPr sz="1500" b="1" i="1" dirty="0">
                          <a:latin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1500" b="1" i="1" spc="-5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b="1" i="1" dirty="0">
                          <a:latin typeface="Arial" panose="020B0604020202020204"/>
                          <a:cs typeface="Arial" panose="020B0604020202020204"/>
                        </a:rPr>
                        <a:t>B</a:t>
                      </a:r>
                      <a:r>
                        <a:rPr sz="1500" b="1" i="1" spc="10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b="1" i="1" dirty="0">
                          <a:latin typeface="Arial" panose="020B0604020202020204"/>
                          <a:cs typeface="Arial" panose="020B0604020202020204"/>
                        </a:rPr>
                        <a:t>C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327994">
                <a:tc>
                  <a:txBody>
                    <a:bodyPr/>
                    <a:lstStyle/>
                    <a:p>
                      <a:pPr marL="326390">
                        <a:lnSpc>
                          <a:spcPct val="100000"/>
                        </a:lnSpc>
                      </a:pPr>
                      <a:r>
                        <a:rPr sz="1500" b="1" i="1" spc="-5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3205">
                        <a:lnSpc>
                          <a:spcPct val="100000"/>
                        </a:lnSpc>
                      </a:pP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r>
                        <a:rPr sz="1500" b="1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r>
                        <a:rPr sz="1500" b="1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</a:pP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7</a:t>
                      </a:r>
                      <a:r>
                        <a:rPr sz="1500" b="1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r>
                        <a:rPr sz="1500" b="1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3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20675">
                        <a:lnSpc>
                          <a:spcPct val="100000"/>
                        </a:lnSpc>
                      </a:pP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r>
                        <a:rPr sz="1500" b="1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3</a:t>
                      </a:r>
                      <a:r>
                        <a:rPr sz="1500" b="1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325850">
                <a:tc>
                  <a:txBody>
                    <a:bodyPr/>
                    <a:lstStyle/>
                    <a:p>
                      <a:pPr marL="326390">
                        <a:lnSpc>
                          <a:spcPct val="100000"/>
                        </a:lnSpc>
                      </a:pPr>
                      <a:r>
                        <a:rPr sz="1500" b="1" i="1" spc="-5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3205">
                        <a:lnSpc>
                          <a:spcPct val="100000"/>
                        </a:lnSpc>
                      </a:pP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3</a:t>
                      </a:r>
                      <a:r>
                        <a:rPr sz="1500" b="1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r>
                        <a:rPr sz="1500" b="1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5420">
                        <a:lnSpc>
                          <a:spcPct val="100000"/>
                        </a:lnSpc>
                      </a:pP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r>
                        <a:rPr sz="1500" b="1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r>
                        <a:rPr sz="1500" b="1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325878">
                <a:tc>
                  <a:txBody>
                    <a:bodyPr/>
                    <a:lstStyle/>
                    <a:p>
                      <a:pPr marL="326390">
                        <a:lnSpc>
                          <a:spcPct val="100000"/>
                        </a:lnSpc>
                      </a:pPr>
                      <a:r>
                        <a:rPr sz="1500" b="1" i="1" spc="-5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3205">
                        <a:lnSpc>
                          <a:spcPct val="100000"/>
                        </a:lnSpc>
                      </a:pP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3</a:t>
                      </a:r>
                      <a:r>
                        <a:rPr sz="1500" b="1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r>
                        <a:rPr sz="1500" b="1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7805">
                        <a:lnSpc>
                          <a:spcPct val="100000"/>
                        </a:lnSpc>
                      </a:pP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6</a:t>
                      </a:r>
                      <a:r>
                        <a:rPr sz="1500" b="1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r>
                        <a:rPr sz="1500" b="1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327994">
                <a:tc>
                  <a:txBody>
                    <a:bodyPr/>
                    <a:lstStyle/>
                    <a:p>
                      <a:pPr marL="326390">
                        <a:lnSpc>
                          <a:spcPct val="100000"/>
                        </a:lnSpc>
                      </a:pPr>
                      <a:r>
                        <a:rPr sz="1500" b="1" i="1" spc="-5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3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3205">
                        <a:lnSpc>
                          <a:spcPct val="100000"/>
                        </a:lnSpc>
                      </a:pP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r>
                        <a:rPr sz="1500" b="1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r>
                        <a:rPr sz="1500" b="1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9395">
                        <a:lnSpc>
                          <a:spcPct val="100000"/>
                        </a:lnSpc>
                      </a:pP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r>
                        <a:rPr sz="1500" b="1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r>
                        <a:rPr sz="1500" b="1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  <a:tr h="314879">
                <a:tc>
                  <a:txBody>
                    <a:bodyPr/>
                    <a:lstStyle/>
                    <a:p>
                      <a:pPr marL="326390">
                        <a:lnSpc>
                          <a:spcPct val="100000"/>
                        </a:lnSpc>
                      </a:pPr>
                      <a:r>
                        <a:rPr sz="1500" b="1" i="1" spc="-5" dirty="0">
                          <a:latin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3205">
                        <a:lnSpc>
                          <a:spcPct val="100000"/>
                        </a:lnSpc>
                      </a:pP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r>
                        <a:rPr sz="1500" b="1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0</a:t>
                      </a:r>
                      <a:r>
                        <a:rPr sz="1500" b="1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2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9395">
                        <a:lnSpc>
                          <a:spcPct val="100000"/>
                        </a:lnSpc>
                      </a:pP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4</a:t>
                      </a:r>
                      <a:r>
                        <a:rPr sz="1500" b="1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3</a:t>
                      </a:r>
                      <a:r>
                        <a:rPr sz="1500" b="1" spc="5" dirty="0">
                          <a:latin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b="1" dirty="0">
                          <a:latin typeface="Arial" panose="020B0604020202020204"/>
                          <a:cs typeface="Arial" panose="020B0604020202020204"/>
                        </a:rPr>
                        <a:t>1</a:t>
                      </a:r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500">
                        <a:latin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50" spc="100" dirty="0"/>
              <a:t>找安全序列的银行家算法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(D</a:t>
            </a:r>
            <a:r>
              <a:rPr sz="3050" spc="-5" dirty="0">
                <a:latin typeface="Arial" panose="020B0604020202020204"/>
                <a:cs typeface="Arial" panose="020B0604020202020204"/>
              </a:rPr>
              <a:t>i</a:t>
            </a:r>
            <a:r>
              <a:rPr sz="3050" spc="-5" dirty="0">
                <a:latin typeface="Arial" panose="020B0604020202020204"/>
                <a:cs typeface="Arial" panose="020B0604020202020204"/>
              </a:rPr>
              <a:t>j</a:t>
            </a:r>
            <a:r>
              <a:rPr sz="3050" dirty="0">
                <a:latin typeface="Arial" panose="020B0604020202020204"/>
                <a:cs typeface="Arial" panose="020B0604020202020204"/>
              </a:rPr>
              <a:t>ks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tra</a:t>
            </a:r>
            <a:r>
              <a:rPr sz="2950" spc="100" dirty="0"/>
              <a:t>提出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)</a:t>
            </a:r>
            <a:endParaRPr sz="30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69900" y="1949450"/>
            <a:ext cx="6671310" cy="451167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2"/>
          <p:cNvSpPr>
            <a:spLocks noGrp="1"/>
          </p:cNvSpPr>
          <p:nvPr>
            <p:ph type="title"/>
          </p:nvPr>
        </p:nvSpPr>
        <p:spPr>
          <a:xfrm>
            <a:off x="241300" y="1187450"/>
            <a:ext cx="4885055" cy="553720"/>
          </a:xfrm>
        </p:spPr>
        <p:txBody>
          <a:bodyPr vert="horz" wrap="square" lIns="100753" tIns="50376" rIns="100753" bIns="50376" anchor="ctr" anchorCtr="0"/>
          <a:p>
            <a:pPr eaLnBrk="1" hangingPunct="1"/>
            <a:r>
              <a:rPr lang="zh-CN" altLang="en-US" dirty="0"/>
              <a:t>死锁避免之资源请求实例</a:t>
            </a:r>
            <a:endParaRPr lang="zh-CN" altLang="en-US" dirty="0"/>
          </a:p>
        </p:txBody>
      </p:sp>
      <p:sp>
        <p:nvSpPr>
          <p:cNvPr id="23555" name="Rectangle 6"/>
          <p:cNvSpPr/>
          <p:nvPr/>
        </p:nvSpPr>
        <p:spPr>
          <a:xfrm>
            <a:off x="4508359" y="1950720"/>
            <a:ext cx="6213122" cy="3089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40000"/>
              </a:lnSpc>
            </a:pPr>
            <a:r>
              <a:rPr lang="en-US" altLang="zh-TW" sz="1985" b="1" dirty="0">
                <a:solidFill>
                  <a:srgbClr val="993300"/>
                </a:solidFill>
                <a:latin typeface="Arial" panose="020B0604020202020204" pitchFamily="34" charset="0"/>
              </a:rPr>
              <a:t>	</a:t>
            </a:r>
            <a:r>
              <a:rPr lang="en-US" altLang="zh-CN" sz="1985" b="1" dirty="0">
                <a:solidFill>
                  <a:srgbClr val="993300"/>
                </a:solidFill>
                <a:latin typeface="Arial" panose="020B0604020202020204" pitchFamily="34" charset="0"/>
              </a:rPr>
              <a:t>       </a:t>
            </a:r>
            <a:r>
              <a:rPr lang="en-US" altLang="zh-TW" sz="1985" b="1" u="sng" dirty="0">
                <a:solidFill>
                  <a:srgbClr val="FF0000"/>
                </a:solidFill>
                <a:latin typeface="Arial" panose="020B0604020202020204" pitchFamily="34" charset="0"/>
              </a:rPr>
              <a:t>Allocation</a:t>
            </a:r>
            <a:r>
              <a:rPr lang="en-US" altLang="zh-CN" sz="1985" b="1" u="sng" dirty="0">
                <a:solidFill>
                  <a:srgbClr val="FF0000"/>
                </a:solidFill>
                <a:latin typeface="Arial" panose="020B0604020202020204" pitchFamily="34" charset="0"/>
              </a:rPr>
              <a:t>        Need         </a:t>
            </a:r>
            <a:r>
              <a:rPr lang="en-US" altLang="zh-TW" sz="1985" b="1" u="sng" dirty="0">
                <a:solidFill>
                  <a:srgbClr val="FF0000"/>
                </a:solidFill>
                <a:latin typeface="Arial" panose="020B0604020202020204" pitchFamily="34" charset="0"/>
              </a:rPr>
              <a:t>Available</a:t>
            </a:r>
            <a:endParaRPr lang="en-US" altLang="zh-TW" sz="1985" b="1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en-US" altLang="zh-TW" sz="1985" b="1" dirty="0">
                <a:solidFill>
                  <a:srgbClr val="993300"/>
                </a:solidFill>
                <a:latin typeface="Arial" panose="020B0604020202020204" pitchFamily="34" charset="0"/>
              </a:rPr>
              <a:t>	</a:t>
            </a:r>
            <a:r>
              <a:rPr lang="en-US" altLang="zh-TW" sz="1985" b="1" dirty="0">
                <a:latin typeface="Arial" panose="020B0604020202020204" pitchFamily="34" charset="0"/>
              </a:rPr>
              <a:t>	</a:t>
            </a:r>
            <a:r>
              <a:rPr lang="en-US" altLang="zh-TW" sz="1985" b="1" i="1" dirty="0">
                <a:latin typeface="Arial" panose="020B0604020202020204" pitchFamily="34" charset="0"/>
              </a:rPr>
              <a:t>A B C 	</a:t>
            </a:r>
            <a:r>
              <a:rPr lang="en-US" altLang="zh-CN" sz="1985" b="1" i="1" dirty="0">
                <a:latin typeface="Arial" panose="020B0604020202020204" pitchFamily="34" charset="0"/>
              </a:rPr>
              <a:t>  </a:t>
            </a:r>
            <a:r>
              <a:rPr lang="en-US" altLang="zh-TW" sz="1985" b="1" i="1" dirty="0">
                <a:latin typeface="Arial" panose="020B0604020202020204" pitchFamily="34" charset="0"/>
              </a:rPr>
              <a:t>A B C</a:t>
            </a:r>
            <a:r>
              <a:rPr lang="en-US" altLang="zh-CN" sz="1985" b="1" i="1" dirty="0">
                <a:latin typeface="Arial" panose="020B0604020202020204" pitchFamily="34" charset="0"/>
              </a:rPr>
              <a:t>        </a:t>
            </a:r>
            <a:r>
              <a:rPr lang="en-US" altLang="zh-TW" sz="1985" b="1" i="1" dirty="0">
                <a:latin typeface="Arial" panose="020B0604020202020204" pitchFamily="34" charset="0"/>
              </a:rPr>
              <a:t> </a:t>
            </a:r>
            <a:r>
              <a:rPr lang="en-US" altLang="zh-CN" sz="1985" b="1" i="1" dirty="0">
                <a:latin typeface="Arial" panose="020B0604020202020204" pitchFamily="34" charset="0"/>
              </a:rPr>
              <a:t> </a:t>
            </a:r>
            <a:r>
              <a:rPr lang="en-US" altLang="zh-TW" sz="1985" b="1" i="1" dirty="0">
                <a:latin typeface="Arial" panose="020B0604020202020204" pitchFamily="34" charset="0"/>
              </a:rPr>
              <a:t>A B C</a:t>
            </a:r>
            <a:endParaRPr lang="en-US" altLang="zh-TW" sz="1985" b="1" i="1" dirty="0"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en-US" altLang="zh-TW" sz="1985" b="1" dirty="0">
                <a:latin typeface="Arial" panose="020B0604020202020204" pitchFamily="34" charset="0"/>
              </a:rPr>
              <a:t>	</a:t>
            </a:r>
            <a:r>
              <a:rPr lang="en-US" altLang="zh-CN" sz="1985" b="1" dirty="0">
                <a:latin typeface="Arial" panose="020B0604020202020204" pitchFamily="34" charset="0"/>
              </a:rPr>
              <a:t> </a:t>
            </a:r>
            <a:r>
              <a:rPr lang="en-US" altLang="zh-TW" sz="1985" b="1" i="1" dirty="0">
                <a:latin typeface="Arial" panose="020B0604020202020204" pitchFamily="34" charset="0"/>
              </a:rPr>
              <a:t>P</a:t>
            </a:r>
            <a:r>
              <a:rPr lang="en-US" altLang="zh-TW" sz="1985" b="1" dirty="0">
                <a:latin typeface="Arial" panose="020B0604020202020204" pitchFamily="34" charset="0"/>
              </a:rPr>
              <a:t>0	0 1 0	</a:t>
            </a:r>
            <a:r>
              <a:rPr lang="en-US" altLang="zh-CN" sz="1985" b="1" dirty="0">
                <a:latin typeface="Arial" panose="020B0604020202020204" pitchFamily="34" charset="0"/>
              </a:rPr>
              <a:t>  </a:t>
            </a:r>
            <a:r>
              <a:rPr lang="en-US" altLang="zh-TW" sz="1985" b="1" dirty="0">
                <a:latin typeface="Arial" panose="020B0604020202020204" pitchFamily="34" charset="0"/>
              </a:rPr>
              <a:t>7 </a:t>
            </a:r>
            <a:r>
              <a:rPr lang="en-US" altLang="zh-CN" sz="1985" b="1" dirty="0">
                <a:latin typeface="Arial" panose="020B0604020202020204" pitchFamily="34" charset="0"/>
              </a:rPr>
              <a:t>4</a:t>
            </a:r>
            <a:r>
              <a:rPr lang="en-US" altLang="zh-TW" sz="1985" b="1" dirty="0">
                <a:latin typeface="Arial" panose="020B0604020202020204" pitchFamily="34" charset="0"/>
              </a:rPr>
              <a:t> 3 	</a:t>
            </a:r>
            <a:r>
              <a:rPr lang="en-US" altLang="zh-CN" sz="1985" b="1" dirty="0">
                <a:latin typeface="Arial" panose="020B0604020202020204" pitchFamily="34" charset="0"/>
              </a:rPr>
              <a:t>        </a:t>
            </a:r>
            <a:r>
              <a:rPr lang="en-US" altLang="zh-TW" sz="1985" b="1" dirty="0">
                <a:latin typeface="Arial" panose="020B0604020202020204" pitchFamily="34" charset="0"/>
              </a:rPr>
              <a:t>3 3 2</a:t>
            </a:r>
            <a:endParaRPr lang="en-US" altLang="zh-TW" sz="1985" b="1" dirty="0"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en-US" altLang="zh-TW" sz="1985" b="1" dirty="0">
                <a:latin typeface="Arial" panose="020B0604020202020204" pitchFamily="34" charset="0"/>
              </a:rPr>
              <a:t>	</a:t>
            </a:r>
            <a:r>
              <a:rPr lang="en-US" altLang="zh-CN" sz="1985" b="1" dirty="0">
                <a:latin typeface="Arial" panose="020B0604020202020204" pitchFamily="34" charset="0"/>
              </a:rPr>
              <a:t> </a:t>
            </a:r>
            <a:r>
              <a:rPr lang="en-US" altLang="zh-TW" sz="1985" b="1" i="1" dirty="0">
                <a:latin typeface="Arial" panose="020B0604020202020204" pitchFamily="34" charset="0"/>
              </a:rPr>
              <a:t>P</a:t>
            </a:r>
            <a:r>
              <a:rPr lang="en-US" altLang="zh-TW" sz="1985" b="1" dirty="0">
                <a:latin typeface="Arial" panose="020B0604020202020204" pitchFamily="34" charset="0"/>
              </a:rPr>
              <a:t>1	2 0 0 	</a:t>
            </a:r>
            <a:r>
              <a:rPr lang="en-US" altLang="zh-CN" sz="1985" b="1" dirty="0">
                <a:latin typeface="Arial" panose="020B0604020202020204" pitchFamily="34" charset="0"/>
              </a:rPr>
              <a:t>  1</a:t>
            </a:r>
            <a:r>
              <a:rPr lang="en-US" altLang="zh-TW" sz="1985" b="1" dirty="0">
                <a:latin typeface="Arial" panose="020B0604020202020204" pitchFamily="34" charset="0"/>
              </a:rPr>
              <a:t> 2 2  </a:t>
            </a:r>
            <a:endParaRPr lang="en-US" altLang="zh-TW" sz="1985" b="1" dirty="0"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en-US" altLang="zh-TW" sz="1985" b="1" dirty="0">
                <a:latin typeface="Arial" panose="020B0604020202020204" pitchFamily="34" charset="0"/>
              </a:rPr>
              <a:t>	</a:t>
            </a:r>
            <a:r>
              <a:rPr lang="en-US" altLang="zh-CN" sz="1985" b="1" dirty="0">
                <a:latin typeface="Arial" panose="020B0604020202020204" pitchFamily="34" charset="0"/>
              </a:rPr>
              <a:t> </a:t>
            </a:r>
            <a:r>
              <a:rPr lang="en-US" altLang="zh-TW" sz="1985" b="1" i="1" dirty="0">
                <a:latin typeface="Arial" panose="020B0604020202020204" pitchFamily="34" charset="0"/>
              </a:rPr>
              <a:t>P</a:t>
            </a:r>
            <a:r>
              <a:rPr lang="en-US" altLang="zh-TW" sz="1985" b="1" dirty="0">
                <a:latin typeface="Arial" panose="020B0604020202020204" pitchFamily="34" charset="0"/>
              </a:rPr>
              <a:t>2	3 0 2 </a:t>
            </a:r>
            <a:r>
              <a:rPr lang="en-US" altLang="zh-CN" sz="1985" b="1" dirty="0">
                <a:latin typeface="Arial" panose="020B0604020202020204" pitchFamily="34" charset="0"/>
              </a:rPr>
              <a:t>        6</a:t>
            </a:r>
            <a:r>
              <a:rPr lang="en-US" altLang="zh-TW" sz="1985" b="1" dirty="0">
                <a:latin typeface="Arial" panose="020B0604020202020204" pitchFamily="34" charset="0"/>
              </a:rPr>
              <a:t> 0 </a:t>
            </a:r>
            <a:r>
              <a:rPr lang="en-US" altLang="zh-CN" sz="1985" b="1" dirty="0">
                <a:latin typeface="Arial" panose="020B0604020202020204" pitchFamily="34" charset="0"/>
              </a:rPr>
              <a:t>0</a:t>
            </a:r>
            <a:endParaRPr lang="en-US" altLang="zh-TW" sz="1985" b="1" dirty="0"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en-US" altLang="zh-TW" sz="1985" b="1" dirty="0">
                <a:latin typeface="Arial" panose="020B0604020202020204" pitchFamily="34" charset="0"/>
              </a:rPr>
              <a:t>	 </a:t>
            </a:r>
            <a:r>
              <a:rPr lang="en-US" altLang="zh-TW" sz="1985" b="1" i="1" dirty="0">
                <a:latin typeface="Arial" panose="020B0604020202020204" pitchFamily="34" charset="0"/>
              </a:rPr>
              <a:t>P</a:t>
            </a:r>
            <a:r>
              <a:rPr lang="en-US" altLang="zh-TW" sz="1985" b="1" dirty="0">
                <a:latin typeface="Arial" panose="020B0604020202020204" pitchFamily="34" charset="0"/>
              </a:rPr>
              <a:t>3	2 1 1 	</a:t>
            </a:r>
            <a:r>
              <a:rPr lang="en-US" altLang="zh-CN" sz="1985" b="1" dirty="0">
                <a:latin typeface="Arial" panose="020B0604020202020204" pitchFamily="34" charset="0"/>
              </a:rPr>
              <a:t>   0</a:t>
            </a:r>
            <a:r>
              <a:rPr lang="en-US" altLang="zh-TW" sz="1985" b="1" dirty="0">
                <a:latin typeface="Arial" panose="020B0604020202020204" pitchFamily="34" charset="0"/>
              </a:rPr>
              <a:t> </a:t>
            </a:r>
            <a:r>
              <a:rPr lang="en-US" altLang="zh-CN" sz="1985" b="1" dirty="0">
                <a:latin typeface="Arial" panose="020B0604020202020204" pitchFamily="34" charset="0"/>
              </a:rPr>
              <a:t>1</a:t>
            </a:r>
            <a:r>
              <a:rPr lang="en-US" altLang="zh-TW" sz="1985" b="1" dirty="0">
                <a:latin typeface="Arial" panose="020B0604020202020204" pitchFamily="34" charset="0"/>
              </a:rPr>
              <a:t> </a:t>
            </a:r>
            <a:r>
              <a:rPr lang="en-US" altLang="zh-CN" sz="1985" b="1" dirty="0">
                <a:latin typeface="Arial" panose="020B0604020202020204" pitchFamily="34" charset="0"/>
              </a:rPr>
              <a:t>1</a:t>
            </a:r>
            <a:endParaRPr lang="en-US" altLang="zh-CN" sz="1985" b="1" dirty="0">
              <a:latin typeface="Arial" panose="020B0604020202020204" pitchFamily="34" charset="0"/>
            </a:endParaRPr>
          </a:p>
          <a:p>
            <a:pPr>
              <a:lnSpc>
                <a:spcPct val="140000"/>
              </a:lnSpc>
            </a:pPr>
            <a:r>
              <a:rPr lang="en-US" altLang="zh-TW" sz="1985" b="1" dirty="0">
                <a:latin typeface="Arial" panose="020B0604020202020204" pitchFamily="34" charset="0"/>
              </a:rPr>
              <a:t>	 </a:t>
            </a:r>
            <a:r>
              <a:rPr lang="en-US" altLang="zh-TW" sz="1985" b="1" i="1" dirty="0">
                <a:latin typeface="Arial" panose="020B0604020202020204" pitchFamily="34" charset="0"/>
              </a:rPr>
              <a:t>P</a:t>
            </a:r>
            <a:r>
              <a:rPr lang="en-US" altLang="zh-TW" sz="1985" b="1" dirty="0">
                <a:latin typeface="Arial" panose="020B0604020202020204" pitchFamily="34" charset="0"/>
              </a:rPr>
              <a:t>4	0 0 2	</a:t>
            </a:r>
            <a:r>
              <a:rPr lang="en-US" altLang="zh-CN" sz="1985" b="1" dirty="0">
                <a:latin typeface="Arial" panose="020B0604020202020204" pitchFamily="34" charset="0"/>
              </a:rPr>
              <a:t>   </a:t>
            </a:r>
            <a:r>
              <a:rPr lang="en-US" altLang="zh-TW" sz="1985" b="1" dirty="0">
                <a:latin typeface="Arial" panose="020B0604020202020204" pitchFamily="34" charset="0"/>
              </a:rPr>
              <a:t>4 3 </a:t>
            </a:r>
            <a:r>
              <a:rPr lang="en-US" altLang="zh-CN" sz="1985" b="1" dirty="0">
                <a:latin typeface="Arial" panose="020B0604020202020204" pitchFamily="34" charset="0"/>
              </a:rPr>
              <a:t>1</a:t>
            </a:r>
            <a:r>
              <a:rPr lang="en-US" altLang="zh-TW" sz="1985" dirty="0">
                <a:latin typeface="Arial" panose="020B0604020202020204" pitchFamily="34" charset="0"/>
              </a:rPr>
              <a:t> </a:t>
            </a:r>
            <a:endParaRPr lang="en-US" altLang="zh-CN" sz="1985" dirty="0">
              <a:latin typeface="Arial" panose="020B0604020202020204" pitchFamily="34" charset="0"/>
            </a:endParaRPr>
          </a:p>
        </p:txBody>
      </p:sp>
      <p:sp>
        <p:nvSpPr>
          <p:cNvPr id="23556" name="Rectangle 7"/>
          <p:cNvSpPr/>
          <p:nvPr/>
        </p:nvSpPr>
        <p:spPr>
          <a:xfrm>
            <a:off x="5507637" y="2025791"/>
            <a:ext cx="4785783" cy="2938639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sz="1985" dirty="0">
              <a:latin typeface="Arial" panose="020B0604020202020204" pitchFamily="34" charset="0"/>
            </a:endParaRPr>
          </a:p>
        </p:txBody>
      </p:sp>
      <p:sp>
        <p:nvSpPr>
          <p:cNvPr id="233480" name="Rectangle 8"/>
          <p:cNvSpPr/>
          <p:nvPr/>
        </p:nvSpPr>
        <p:spPr>
          <a:xfrm>
            <a:off x="926888" y="1644477"/>
            <a:ext cx="3862211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</a:pPr>
            <a:r>
              <a:rPr lang="en-US" altLang="zh-CN" sz="3085" b="1" i="1" dirty="0">
                <a:solidFill>
                  <a:srgbClr val="FF0000"/>
                </a:solidFill>
                <a:latin typeface="Arial" panose="020B0604020202020204" pitchFamily="34" charset="0"/>
                <a:ea typeface="PMingLiU" pitchFamily="18" charset="-120"/>
              </a:rPr>
              <a:t>P</a:t>
            </a:r>
            <a:r>
              <a:rPr lang="en-US" altLang="zh-CN" sz="3085" b="1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r>
              <a:rPr lang="zh-CN" altLang="en-US" sz="3085" b="1" dirty="0">
                <a:solidFill>
                  <a:srgbClr val="FF0000"/>
                </a:solidFill>
                <a:latin typeface="Arial" panose="020B0604020202020204" pitchFamily="34" charset="0"/>
              </a:rPr>
              <a:t>申请资源</a:t>
            </a:r>
            <a:r>
              <a:rPr lang="en-US" altLang="zh-TW" sz="3085" b="1" dirty="0">
                <a:solidFill>
                  <a:srgbClr val="FF0000"/>
                </a:solidFill>
                <a:latin typeface="Arial" panose="020B0604020202020204" pitchFamily="34" charset="0"/>
                <a:ea typeface="PMingLiU" pitchFamily="18" charset="-120"/>
                <a:sym typeface="Symbol" panose="05050102010706020507" pitchFamily="18" charset="2"/>
              </a:rPr>
              <a:t>(1,0,2)</a:t>
            </a:r>
            <a:endParaRPr lang="en-US" altLang="zh-CN" sz="3085" b="1" dirty="0">
              <a:latin typeface="Arial" panose="020B0604020202020204" pitchFamily="34" charset="0"/>
            </a:endParaRPr>
          </a:p>
        </p:txBody>
      </p:sp>
      <p:grpSp>
        <p:nvGrpSpPr>
          <p:cNvPr id="233485" name="Group 13"/>
          <p:cNvGrpSpPr/>
          <p:nvPr/>
        </p:nvGrpSpPr>
        <p:grpSpPr>
          <a:xfrm>
            <a:off x="-292688" y="2177741"/>
            <a:ext cx="6213122" cy="3089069"/>
            <a:chOff x="-344" y="1245"/>
            <a:chExt cx="3552" cy="1766"/>
          </a:xfrm>
        </p:grpSpPr>
        <p:sp>
          <p:nvSpPr>
            <p:cNvPr id="23565" name="Rectangle 11"/>
            <p:cNvSpPr/>
            <p:nvPr/>
          </p:nvSpPr>
          <p:spPr>
            <a:xfrm>
              <a:off x="-344" y="1245"/>
              <a:ext cx="3552" cy="176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lnSpc>
                  <a:spcPct val="140000"/>
                </a:lnSpc>
              </a:pPr>
              <a:r>
                <a:rPr lang="en-US" altLang="zh-TW" sz="1985" b="1" dirty="0">
                  <a:solidFill>
                    <a:srgbClr val="993300"/>
                  </a:solidFill>
                  <a:latin typeface="Arial" panose="020B0604020202020204" pitchFamily="34" charset="0"/>
                </a:rPr>
                <a:t>	</a:t>
              </a:r>
              <a:r>
                <a:rPr lang="en-US" altLang="zh-CN" sz="1985" b="1" dirty="0">
                  <a:solidFill>
                    <a:srgbClr val="993300"/>
                  </a:solidFill>
                  <a:latin typeface="Arial" panose="020B0604020202020204" pitchFamily="34" charset="0"/>
                </a:rPr>
                <a:t>       </a:t>
              </a:r>
              <a:r>
                <a:rPr lang="en-US" altLang="zh-TW" sz="1985" b="1" u="sng" dirty="0">
                  <a:solidFill>
                    <a:srgbClr val="FF0000"/>
                  </a:solidFill>
                  <a:latin typeface="Arial" panose="020B0604020202020204" pitchFamily="34" charset="0"/>
                </a:rPr>
                <a:t>Allocation</a:t>
              </a:r>
              <a:r>
                <a:rPr lang="en-US" altLang="zh-CN" sz="1985" b="1" u="sng" dirty="0">
                  <a:solidFill>
                    <a:srgbClr val="FF0000"/>
                  </a:solidFill>
                  <a:latin typeface="Arial" panose="020B0604020202020204" pitchFamily="34" charset="0"/>
                </a:rPr>
                <a:t>        Need         </a:t>
              </a:r>
              <a:r>
                <a:rPr lang="en-US" altLang="zh-TW" sz="1985" b="1" u="sng" dirty="0">
                  <a:solidFill>
                    <a:srgbClr val="FF0000"/>
                  </a:solidFill>
                  <a:latin typeface="Arial" panose="020B0604020202020204" pitchFamily="34" charset="0"/>
                </a:rPr>
                <a:t>Available</a:t>
              </a:r>
              <a:endParaRPr lang="en-US" altLang="zh-TW" sz="1985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40000"/>
                </a:lnSpc>
              </a:pPr>
              <a:r>
                <a:rPr lang="en-US" altLang="zh-TW" sz="1985" b="1" dirty="0">
                  <a:solidFill>
                    <a:srgbClr val="993300"/>
                  </a:solidFill>
                  <a:latin typeface="Arial" panose="020B0604020202020204" pitchFamily="34" charset="0"/>
                </a:rPr>
                <a:t>	</a:t>
              </a:r>
              <a:r>
                <a:rPr lang="en-US" altLang="zh-TW" sz="1985" b="1" dirty="0">
                  <a:latin typeface="Arial" panose="020B0604020202020204" pitchFamily="34" charset="0"/>
                </a:rPr>
                <a:t>	</a:t>
              </a:r>
              <a:r>
                <a:rPr lang="en-US" altLang="zh-TW" sz="1985" b="1" i="1" dirty="0">
                  <a:latin typeface="Arial" panose="020B0604020202020204" pitchFamily="34" charset="0"/>
                </a:rPr>
                <a:t>A B C 	</a:t>
              </a:r>
              <a:r>
                <a:rPr lang="en-US" altLang="zh-CN" sz="1985" b="1" i="1" dirty="0">
                  <a:latin typeface="Arial" panose="020B0604020202020204" pitchFamily="34" charset="0"/>
                </a:rPr>
                <a:t>  </a:t>
              </a:r>
              <a:r>
                <a:rPr lang="en-US" altLang="zh-TW" sz="1985" b="1" i="1" dirty="0">
                  <a:latin typeface="Arial" panose="020B0604020202020204" pitchFamily="34" charset="0"/>
                </a:rPr>
                <a:t>A B C</a:t>
              </a:r>
              <a:r>
                <a:rPr lang="en-US" altLang="zh-CN" sz="1985" b="1" i="1" dirty="0">
                  <a:latin typeface="Arial" panose="020B0604020202020204" pitchFamily="34" charset="0"/>
                </a:rPr>
                <a:t>        </a:t>
              </a:r>
              <a:r>
                <a:rPr lang="en-US" altLang="zh-TW" sz="1985" b="1" i="1" dirty="0">
                  <a:latin typeface="Arial" panose="020B0604020202020204" pitchFamily="34" charset="0"/>
                </a:rPr>
                <a:t> </a:t>
              </a:r>
              <a:r>
                <a:rPr lang="en-US" altLang="zh-CN" sz="1985" b="1" i="1" dirty="0">
                  <a:latin typeface="Arial" panose="020B0604020202020204" pitchFamily="34" charset="0"/>
                </a:rPr>
                <a:t> </a:t>
              </a:r>
              <a:r>
                <a:rPr lang="en-US" altLang="zh-TW" sz="1985" b="1" i="1" dirty="0">
                  <a:latin typeface="Arial" panose="020B0604020202020204" pitchFamily="34" charset="0"/>
                </a:rPr>
                <a:t>A B C</a:t>
              </a:r>
              <a:endParaRPr lang="en-US" altLang="zh-TW" sz="1985" b="1" i="1" dirty="0">
                <a:latin typeface="Arial" panose="020B0604020202020204" pitchFamily="34" charset="0"/>
              </a:endParaRPr>
            </a:p>
            <a:p>
              <a:pPr>
                <a:lnSpc>
                  <a:spcPct val="140000"/>
                </a:lnSpc>
              </a:pPr>
              <a:r>
                <a:rPr lang="en-US" altLang="zh-TW" sz="1985" b="1" dirty="0">
                  <a:latin typeface="Arial" panose="020B0604020202020204" pitchFamily="34" charset="0"/>
                </a:rPr>
                <a:t>	</a:t>
              </a:r>
              <a:r>
                <a:rPr lang="en-US" altLang="zh-CN" sz="1985" b="1" dirty="0">
                  <a:latin typeface="Arial" panose="020B0604020202020204" pitchFamily="34" charset="0"/>
                </a:rPr>
                <a:t> </a:t>
              </a:r>
              <a:r>
                <a:rPr lang="en-US" altLang="zh-TW" sz="1985" b="1" i="1" dirty="0">
                  <a:latin typeface="Arial" panose="020B0604020202020204" pitchFamily="34" charset="0"/>
                </a:rPr>
                <a:t>P</a:t>
              </a:r>
              <a:r>
                <a:rPr lang="en-US" altLang="zh-TW" sz="1985" b="1" dirty="0">
                  <a:latin typeface="Arial" panose="020B0604020202020204" pitchFamily="34" charset="0"/>
                </a:rPr>
                <a:t>0	</a:t>
              </a:r>
              <a:r>
                <a:rPr lang="en-US" altLang="zh-CN" sz="1985" b="1" dirty="0">
                  <a:latin typeface="Arial" panose="020B0604020202020204" pitchFamily="34" charset="0"/>
                </a:rPr>
                <a:t>0</a:t>
              </a:r>
              <a:r>
                <a:rPr lang="en-US" altLang="zh-TW" sz="1985" b="1" dirty="0">
                  <a:latin typeface="Arial" panose="020B0604020202020204" pitchFamily="34" charset="0"/>
                </a:rPr>
                <a:t> 1 </a:t>
              </a:r>
              <a:r>
                <a:rPr lang="en-US" altLang="zh-CN" sz="1985" b="1" dirty="0">
                  <a:latin typeface="Arial" panose="020B0604020202020204" pitchFamily="34" charset="0"/>
                </a:rPr>
                <a:t>0</a:t>
              </a:r>
              <a:r>
                <a:rPr lang="en-US" altLang="zh-TW" sz="1985" b="1" dirty="0">
                  <a:latin typeface="Arial" panose="020B0604020202020204" pitchFamily="34" charset="0"/>
                </a:rPr>
                <a:t>	</a:t>
              </a:r>
              <a:r>
                <a:rPr lang="en-US" altLang="zh-CN" sz="1985" b="1" dirty="0">
                  <a:latin typeface="Arial" panose="020B0604020202020204" pitchFamily="34" charset="0"/>
                </a:rPr>
                <a:t>  </a:t>
              </a:r>
              <a:r>
                <a:rPr lang="en-US" altLang="zh-TW" sz="1985" b="1" dirty="0">
                  <a:latin typeface="Arial" panose="020B0604020202020204" pitchFamily="34" charset="0"/>
                </a:rPr>
                <a:t>7 </a:t>
              </a:r>
              <a:r>
                <a:rPr lang="en-US" altLang="zh-CN" sz="1985" b="1" dirty="0">
                  <a:latin typeface="Arial" panose="020B0604020202020204" pitchFamily="34" charset="0"/>
                </a:rPr>
                <a:t>4</a:t>
              </a:r>
              <a:r>
                <a:rPr lang="en-US" altLang="zh-TW" sz="1985" b="1" dirty="0">
                  <a:latin typeface="Arial" panose="020B0604020202020204" pitchFamily="34" charset="0"/>
                </a:rPr>
                <a:t> 3 	</a:t>
              </a:r>
              <a:r>
                <a:rPr lang="en-US" altLang="zh-CN" sz="1985" b="1" dirty="0">
                  <a:latin typeface="Arial" panose="020B0604020202020204" pitchFamily="34" charset="0"/>
                </a:rPr>
                <a:t>        </a:t>
              </a:r>
              <a:r>
                <a:rPr lang="en-US" altLang="zh-CN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2</a:t>
              </a:r>
              <a:r>
                <a:rPr lang="en-US" altLang="zh-TW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 3 </a:t>
              </a:r>
              <a:r>
                <a:rPr lang="en-US" altLang="zh-CN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  <a:endParaRPr lang="en-US" altLang="zh-CN" sz="1985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40000"/>
                </a:lnSpc>
              </a:pPr>
              <a:r>
                <a:rPr lang="en-US" altLang="zh-TW" sz="1985" b="1" dirty="0">
                  <a:latin typeface="Arial" panose="020B0604020202020204" pitchFamily="34" charset="0"/>
                </a:rPr>
                <a:t>	</a:t>
              </a:r>
              <a:r>
                <a:rPr lang="en-US" altLang="zh-CN" sz="1985" b="1" dirty="0">
                  <a:latin typeface="Arial" panose="020B0604020202020204" pitchFamily="34" charset="0"/>
                </a:rPr>
                <a:t> </a:t>
              </a:r>
              <a:r>
                <a:rPr lang="en-US" altLang="zh-TW" sz="1985" b="1" i="1" dirty="0">
                  <a:latin typeface="Arial" panose="020B0604020202020204" pitchFamily="34" charset="0"/>
                </a:rPr>
                <a:t>P</a:t>
              </a:r>
              <a:r>
                <a:rPr lang="en-US" altLang="zh-TW" sz="1985" b="1" dirty="0">
                  <a:latin typeface="Arial" panose="020B0604020202020204" pitchFamily="34" charset="0"/>
                </a:rPr>
                <a:t>1	</a:t>
              </a:r>
              <a:r>
                <a:rPr lang="en-US" altLang="zh-CN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3</a:t>
              </a:r>
              <a:r>
                <a:rPr lang="en-US" altLang="zh-TW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 0 </a:t>
              </a:r>
              <a:r>
                <a:rPr lang="en-US" altLang="zh-CN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2</a:t>
              </a:r>
              <a:r>
                <a:rPr lang="en-US" altLang="zh-TW" sz="1985" b="1" dirty="0">
                  <a:latin typeface="Arial" panose="020B0604020202020204" pitchFamily="34" charset="0"/>
                </a:rPr>
                <a:t> 	</a:t>
              </a:r>
              <a:r>
                <a:rPr lang="en-US" altLang="zh-CN" sz="1985" b="1" dirty="0">
                  <a:latin typeface="Arial" panose="020B0604020202020204" pitchFamily="34" charset="0"/>
                </a:rPr>
                <a:t>  </a:t>
              </a:r>
              <a:r>
                <a:rPr lang="en-US" altLang="zh-CN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  <a:r>
                <a:rPr lang="en-US" altLang="zh-TW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 2 </a:t>
              </a:r>
              <a:r>
                <a:rPr lang="en-US" altLang="zh-CN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  <a:r>
                <a:rPr lang="en-US" altLang="zh-TW" sz="1985" b="1" dirty="0">
                  <a:latin typeface="Arial" panose="020B0604020202020204" pitchFamily="34" charset="0"/>
                </a:rPr>
                <a:t>  </a:t>
              </a:r>
              <a:endParaRPr lang="en-US" altLang="zh-TW" sz="1985" b="1" dirty="0">
                <a:latin typeface="Arial" panose="020B0604020202020204" pitchFamily="34" charset="0"/>
              </a:endParaRPr>
            </a:p>
            <a:p>
              <a:pPr>
                <a:lnSpc>
                  <a:spcPct val="140000"/>
                </a:lnSpc>
              </a:pPr>
              <a:r>
                <a:rPr lang="en-US" altLang="zh-TW" sz="1985" b="1" dirty="0">
                  <a:latin typeface="Arial" panose="020B0604020202020204" pitchFamily="34" charset="0"/>
                </a:rPr>
                <a:t>	</a:t>
              </a:r>
              <a:r>
                <a:rPr lang="en-US" altLang="zh-CN" sz="1985" b="1" dirty="0">
                  <a:latin typeface="Arial" panose="020B0604020202020204" pitchFamily="34" charset="0"/>
                </a:rPr>
                <a:t> </a:t>
              </a:r>
              <a:r>
                <a:rPr lang="en-US" altLang="zh-TW" sz="1985" b="1" i="1" dirty="0">
                  <a:latin typeface="Arial" panose="020B0604020202020204" pitchFamily="34" charset="0"/>
                </a:rPr>
                <a:t>P</a:t>
              </a:r>
              <a:r>
                <a:rPr lang="en-US" altLang="zh-TW" sz="1985" b="1" dirty="0">
                  <a:latin typeface="Arial" panose="020B0604020202020204" pitchFamily="34" charset="0"/>
                </a:rPr>
                <a:t>2	3 0 2 </a:t>
              </a:r>
              <a:r>
                <a:rPr lang="en-US" altLang="zh-CN" sz="1985" b="1" dirty="0">
                  <a:latin typeface="Arial" panose="020B0604020202020204" pitchFamily="34" charset="0"/>
                </a:rPr>
                <a:t>       6</a:t>
              </a:r>
              <a:r>
                <a:rPr lang="en-US" altLang="zh-TW" sz="1985" b="1" dirty="0">
                  <a:latin typeface="Arial" panose="020B0604020202020204" pitchFamily="34" charset="0"/>
                </a:rPr>
                <a:t> 0 </a:t>
              </a:r>
              <a:r>
                <a:rPr lang="en-US" altLang="zh-CN" sz="1985" b="1" dirty="0">
                  <a:latin typeface="Arial" panose="020B0604020202020204" pitchFamily="34" charset="0"/>
                </a:rPr>
                <a:t>0</a:t>
              </a:r>
              <a:endParaRPr lang="en-US" altLang="zh-TW" sz="1985" b="1" dirty="0">
                <a:latin typeface="Arial" panose="020B0604020202020204" pitchFamily="34" charset="0"/>
              </a:endParaRPr>
            </a:p>
            <a:p>
              <a:pPr>
                <a:lnSpc>
                  <a:spcPct val="140000"/>
                </a:lnSpc>
              </a:pPr>
              <a:r>
                <a:rPr lang="en-US" altLang="zh-TW" sz="1985" b="1" dirty="0">
                  <a:latin typeface="Arial" panose="020B0604020202020204" pitchFamily="34" charset="0"/>
                </a:rPr>
                <a:t>	 </a:t>
              </a:r>
              <a:r>
                <a:rPr lang="en-US" altLang="zh-TW" sz="1985" b="1" i="1" dirty="0">
                  <a:latin typeface="Arial" panose="020B0604020202020204" pitchFamily="34" charset="0"/>
                </a:rPr>
                <a:t>P</a:t>
              </a:r>
              <a:r>
                <a:rPr lang="en-US" altLang="zh-TW" sz="1985" b="1" dirty="0">
                  <a:latin typeface="Arial" panose="020B0604020202020204" pitchFamily="34" charset="0"/>
                </a:rPr>
                <a:t>3	2 1 1 	</a:t>
              </a:r>
              <a:r>
                <a:rPr lang="en-US" altLang="zh-CN" sz="1985" b="1" dirty="0">
                  <a:latin typeface="Arial" panose="020B0604020202020204" pitchFamily="34" charset="0"/>
                </a:rPr>
                <a:t>   0</a:t>
              </a:r>
              <a:r>
                <a:rPr lang="en-US" altLang="zh-TW" sz="1985" b="1" dirty="0">
                  <a:latin typeface="Arial" panose="020B0604020202020204" pitchFamily="34" charset="0"/>
                </a:rPr>
                <a:t> </a:t>
              </a:r>
              <a:r>
                <a:rPr lang="en-US" altLang="zh-CN" sz="1985" b="1" dirty="0">
                  <a:latin typeface="Arial" panose="020B0604020202020204" pitchFamily="34" charset="0"/>
                </a:rPr>
                <a:t>1</a:t>
              </a:r>
              <a:r>
                <a:rPr lang="en-US" altLang="zh-TW" sz="1985" b="1" dirty="0">
                  <a:latin typeface="Arial" panose="020B0604020202020204" pitchFamily="34" charset="0"/>
                </a:rPr>
                <a:t> </a:t>
              </a:r>
              <a:r>
                <a:rPr lang="en-US" altLang="zh-CN" sz="1985" b="1" dirty="0">
                  <a:latin typeface="Arial" panose="020B0604020202020204" pitchFamily="34" charset="0"/>
                </a:rPr>
                <a:t>1</a:t>
              </a:r>
              <a:endParaRPr lang="en-US" altLang="zh-CN" sz="1985" b="1" dirty="0">
                <a:latin typeface="Arial" panose="020B0604020202020204" pitchFamily="34" charset="0"/>
              </a:endParaRPr>
            </a:p>
            <a:p>
              <a:pPr>
                <a:lnSpc>
                  <a:spcPct val="140000"/>
                </a:lnSpc>
              </a:pPr>
              <a:r>
                <a:rPr lang="en-US" altLang="zh-TW" sz="1985" b="1" dirty="0">
                  <a:latin typeface="Arial" panose="020B0604020202020204" pitchFamily="34" charset="0"/>
                </a:rPr>
                <a:t>	 </a:t>
              </a:r>
              <a:r>
                <a:rPr lang="en-US" altLang="zh-TW" sz="1985" b="1" i="1" dirty="0">
                  <a:latin typeface="Arial" panose="020B0604020202020204" pitchFamily="34" charset="0"/>
                </a:rPr>
                <a:t>P</a:t>
              </a:r>
              <a:r>
                <a:rPr lang="en-US" altLang="zh-TW" sz="1985" b="1" dirty="0">
                  <a:latin typeface="Arial" panose="020B0604020202020204" pitchFamily="34" charset="0"/>
                </a:rPr>
                <a:t>4	0 0 2	</a:t>
              </a:r>
              <a:r>
                <a:rPr lang="en-US" altLang="zh-CN" sz="1985" b="1" dirty="0">
                  <a:latin typeface="Arial" panose="020B0604020202020204" pitchFamily="34" charset="0"/>
                </a:rPr>
                <a:t>   </a:t>
              </a:r>
              <a:r>
                <a:rPr lang="en-US" altLang="zh-TW" sz="1985" b="1" dirty="0">
                  <a:latin typeface="Arial" panose="020B0604020202020204" pitchFamily="34" charset="0"/>
                </a:rPr>
                <a:t>4 3 </a:t>
              </a:r>
              <a:r>
                <a:rPr lang="en-US" altLang="zh-CN" sz="1985" b="1" dirty="0">
                  <a:latin typeface="Arial" panose="020B0604020202020204" pitchFamily="34" charset="0"/>
                </a:rPr>
                <a:t>1</a:t>
              </a:r>
              <a:r>
                <a:rPr lang="en-US" altLang="zh-TW" sz="1985" dirty="0">
                  <a:latin typeface="Arial" panose="020B0604020202020204" pitchFamily="34" charset="0"/>
                </a:rPr>
                <a:t> </a:t>
              </a:r>
              <a:endParaRPr lang="en-US" altLang="zh-CN" sz="1985" dirty="0">
                <a:latin typeface="Arial" panose="020B0604020202020204" pitchFamily="34" charset="0"/>
              </a:endParaRPr>
            </a:p>
          </p:txBody>
        </p:sp>
        <p:sp>
          <p:nvSpPr>
            <p:cNvPr id="23566" name="Rectangle 12"/>
            <p:cNvSpPr/>
            <p:nvPr/>
          </p:nvSpPr>
          <p:spPr>
            <a:xfrm>
              <a:off x="96" y="1248"/>
              <a:ext cx="2736" cy="168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sz="1985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33486" name="Group 14"/>
          <p:cNvGrpSpPr/>
          <p:nvPr/>
        </p:nvGrpSpPr>
        <p:grpSpPr>
          <a:xfrm>
            <a:off x="728839" y="5457472"/>
            <a:ext cx="5793317" cy="580731"/>
            <a:chOff x="1920" y="3362"/>
            <a:chExt cx="3312" cy="332"/>
          </a:xfrm>
        </p:grpSpPr>
        <p:sp>
          <p:nvSpPr>
            <p:cNvPr id="23563" name="Rectangle 15"/>
            <p:cNvSpPr/>
            <p:nvPr/>
          </p:nvSpPr>
          <p:spPr>
            <a:xfrm>
              <a:off x="1920" y="3362"/>
              <a:ext cx="3312" cy="3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 eaLnBrk="1" hangingPunct="1">
                <a:lnSpc>
                  <a:spcPct val="120000"/>
                </a:lnSpc>
              </a:pPr>
              <a:r>
                <a:rPr lang="zh-CN" altLang="en-US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序列</a:t>
              </a:r>
              <a:r>
                <a:rPr lang="en-US" altLang="zh-CN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&lt;</a:t>
              </a:r>
              <a:r>
                <a:rPr lang="en-US" altLang="zh-CN" sz="2645" b="1" i="1" dirty="0">
                  <a:solidFill>
                    <a:srgbClr val="FF0000"/>
                  </a:solidFill>
                  <a:latin typeface="Arial" panose="020B0604020202020204" pitchFamily="34" charset="0"/>
                </a:rPr>
                <a:t>P</a:t>
              </a:r>
              <a:r>
                <a:rPr lang="en-US" altLang="zh-CN" sz="2645" b="1" baseline="-25000" dirty="0">
                  <a:solidFill>
                    <a:srgbClr val="FF0000"/>
                  </a:solidFill>
                  <a:latin typeface="Arial" panose="020B0604020202020204" pitchFamily="34" charset="0"/>
                </a:rPr>
                <a:t>1</a:t>
              </a:r>
              <a:r>
                <a:rPr lang="en-US" altLang="zh-CN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, </a:t>
              </a:r>
              <a:r>
                <a:rPr lang="en-US" altLang="zh-CN" sz="2645" b="1" i="1" dirty="0">
                  <a:solidFill>
                    <a:srgbClr val="FF0000"/>
                  </a:solidFill>
                  <a:latin typeface="Arial" panose="020B0604020202020204" pitchFamily="34" charset="0"/>
                </a:rPr>
                <a:t>P</a:t>
              </a:r>
              <a:r>
                <a:rPr lang="en-US" altLang="zh-CN" sz="2645" b="1" baseline="-25000" dirty="0">
                  <a:solidFill>
                    <a:srgbClr val="FF0000"/>
                  </a:solidFill>
                  <a:latin typeface="Arial" panose="020B0604020202020204" pitchFamily="34" charset="0"/>
                </a:rPr>
                <a:t>3</a:t>
              </a:r>
              <a:r>
                <a:rPr lang="en-US" altLang="zh-CN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, </a:t>
              </a:r>
              <a:r>
                <a:rPr lang="en-US" altLang="zh-CN" sz="2645" b="1" i="1" dirty="0">
                  <a:solidFill>
                    <a:srgbClr val="FF0000"/>
                  </a:solidFill>
                  <a:latin typeface="Arial" panose="020B0604020202020204" pitchFamily="34" charset="0"/>
                </a:rPr>
                <a:t>P</a:t>
              </a:r>
              <a:r>
                <a:rPr lang="en-US" altLang="zh-CN" sz="2645" b="1" baseline="-25000" dirty="0">
                  <a:solidFill>
                    <a:srgbClr val="FF0000"/>
                  </a:solidFill>
                  <a:latin typeface="Arial" panose="020B0604020202020204" pitchFamily="34" charset="0"/>
                </a:rPr>
                <a:t>2</a:t>
              </a:r>
              <a:r>
                <a:rPr lang="en-US" altLang="zh-CN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, </a:t>
              </a:r>
              <a:r>
                <a:rPr lang="en-US" altLang="zh-CN" sz="2645" b="1" i="1" dirty="0">
                  <a:solidFill>
                    <a:srgbClr val="FF0000"/>
                  </a:solidFill>
                  <a:latin typeface="Arial" panose="020B0604020202020204" pitchFamily="34" charset="0"/>
                </a:rPr>
                <a:t>P</a:t>
              </a:r>
              <a:r>
                <a:rPr lang="en-US" altLang="zh-CN" sz="2645" b="1" baseline="-25000" dirty="0">
                  <a:solidFill>
                    <a:srgbClr val="FF0000"/>
                  </a:solidFill>
                  <a:latin typeface="Arial" panose="020B0604020202020204" pitchFamily="34" charset="0"/>
                </a:rPr>
                <a:t>4</a:t>
              </a:r>
              <a:r>
                <a:rPr lang="en-US" altLang="zh-CN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, </a:t>
              </a:r>
              <a:r>
                <a:rPr lang="en-US" altLang="zh-CN" sz="2645" b="1" i="1" dirty="0">
                  <a:solidFill>
                    <a:srgbClr val="FF0000"/>
                  </a:solidFill>
                  <a:latin typeface="Arial" panose="020B0604020202020204" pitchFamily="34" charset="0"/>
                </a:rPr>
                <a:t>P</a:t>
              </a:r>
              <a:r>
                <a:rPr lang="en-US" altLang="zh-CN" sz="2645" b="1" baseline="-25000" dirty="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  <a:r>
                <a:rPr lang="en-US" altLang="zh-CN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&gt;</a:t>
              </a:r>
              <a:r>
                <a:rPr lang="zh-CN" altLang="en-US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是安全的</a:t>
              </a:r>
              <a:endParaRPr lang="zh-CN" altLang="en-US" sz="2645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23564" name="Picture 16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85" y="3483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233492" name="Group 20"/>
          <p:cNvGrpSpPr/>
          <p:nvPr/>
        </p:nvGrpSpPr>
        <p:grpSpPr>
          <a:xfrm>
            <a:off x="728839" y="6132659"/>
            <a:ext cx="5793317" cy="580731"/>
            <a:chOff x="240" y="3506"/>
            <a:chExt cx="3312" cy="332"/>
          </a:xfrm>
        </p:grpSpPr>
        <p:sp>
          <p:nvSpPr>
            <p:cNvPr id="23561" name="Rectangle 18"/>
            <p:cNvSpPr/>
            <p:nvPr/>
          </p:nvSpPr>
          <p:spPr>
            <a:xfrm>
              <a:off x="240" y="3506"/>
              <a:ext cx="3312" cy="3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 eaLnBrk="1" hangingPunct="1">
                <a:lnSpc>
                  <a:spcPct val="120000"/>
                </a:lnSpc>
              </a:pPr>
              <a:r>
                <a:rPr lang="zh-CN" altLang="en-US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此次申请允许</a:t>
              </a:r>
              <a:endParaRPr lang="zh-CN" altLang="en-US" sz="2645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23562" name="Picture 19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05" y="3636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1" name="object 11"/>
          <p:cNvSpPr txBox="1">
            <a:spLocks noGrp="1"/>
          </p:cNvSpPr>
          <p:nvPr>
            <p:ph type="sldNum" sz="quarter" idx="7"/>
            <p:custDataLst>
              <p:tags r:id="rId2"/>
            </p:custDataLst>
          </p:nvPr>
        </p:nvSpPr>
        <p:spPr>
          <a:xfrm>
            <a:off x="5270733" y="7206989"/>
            <a:ext cx="431164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0325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3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3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3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48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Grp="1"/>
          </p:cNvSpPr>
          <p:nvPr>
            <p:ph type="title"/>
          </p:nvPr>
        </p:nvSpPr>
        <p:spPr>
          <a:xfrm>
            <a:off x="317500" y="1187767"/>
            <a:ext cx="9089390" cy="553720"/>
          </a:xfrm>
        </p:spPr>
        <p:txBody>
          <a:bodyPr vert="horz" wrap="square" lIns="100753" tIns="50376" rIns="100753" bIns="50376" anchor="ctr" anchorCtr="0"/>
          <a:p>
            <a:pPr eaLnBrk="1" hangingPunct="1"/>
            <a:r>
              <a:rPr lang="zh-CN" altLang="en-US" dirty="0"/>
              <a:t>死锁避免之资源请求实例</a:t>
            </a:r>
            <a:r>
              <a:rPr lang="en-US" altLang="zh-CN" dirty="0"/>
              <a:t>(2)</a:t>
            </a:r>
            <a:endParaRPr lang="en-US" altLang="zh-CN" dirty="0"/>
          </a:p>
        </p:txBody>
      </p:sp>
      <p:sp>
        <p:nvSpPr>
          <p:cNvPr id="234501" name="Rectangle 5"/>
          <p:cNvSpPr/>
          <p:nvPr/>
        </p:nvSpPr>
        <p:spPr>
          <a:xfrm>
            <a:off x="850688" y="1644477"/>
            <a:ext cx="3862211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</a:pPr>
            <a:r>
              <a:rPr lang="en-US" altLang="zh-CN" sz="3085" b="1" i="1" dirty="0">
                <a:solidFill>
                  <a:srgbClr val="FF0000"/>
                </a:solidFill>
                <a:latin typeface="Arial" panose="020B0604020202020204" pitchFamily="34" charset="0"/>
                <a:ea typeface="PMingLiU" pitchFamily="18" charset="-120"/>
              </a:rPr>
              <a:t>P</a:t>
            </a:r>
            <a:r>
              <a:rPr lang="en-US" altLang="zh-CN" sz="3085" b="1" baseline="-25000" dirty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r>
              <a:rPr lang="zh-CN" altLang="en-US" sz="3085" b="1" dirty="0">
                <a:solidFill>
                  <a:srgbClr val="FF0000"/>
                </a:solidFill>
                <a:latin typeface="Arial" panose="020B0604020202020204" pitchFamily="34" charset="0"/>
              </a:rPr>
              <a:t>再申请</a:t>
            </a:r>
            <a:r>
              <a:rPr lang="en-US" altLang="zh-TW" sz="3085" b="1" dirty="0">
                <a:solidFill>
                  <a:srgbClr val="FF0000"/>
                </a:solidFill>
                <a:latin typeface="Arial" panose="020B0604020202020204" pitchFamily="34" charset="0"/>
                <a:ea typeface="PMingLiU" pitchFamily="18" charset="-120"/>
                <a:sym typeface="Symbol" panose="05050102010706020507" pitchFamily="18" charset="2"/>
              </a:rPr>
              <a:t>(</a:t>
            </a:r>
            <a:r>
              <a:rPr lang="en-US" altLang="zh-CN" sz="3085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zh-CN" sz="3085" b="1" dirty="0">
                <a:solidFill>
                  <a:srgbClr val="FF0000"/>
                </a:solidFill>
                <a:latin typeface="Arial" panose="020B0604020202020204" pitchFamily="34" charset="0"/>
                <a:ea typeface="PMingLiU" pitchFamily="18" charset="-120"/>
                <a:sym typeface="Symbol" panose="05050102010706020507" pitchFamily="18" charset="2"/>
              </a:rPr>
              <a:t>,</a:t>
            </a:r>
            <a:r>
              <a:rPr lang="en-US" altLang="zh-CN" sz="3085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sz="3085" b="1" dirty="0">
                <a:solidFill>
                  <a:srgbClr val="FF0000"/>
                </a:solidFill>
                <a:latin typeface="Arial" panose="020B0604020202020204" pitchFamily="34" charset="0"/>
                <a:ea typeface="PMingLiU" pitchFamily="18" charset="-120"/>
                <a:sym typeface="Symbol" panose="05050102010706020507" pitchFamily="18" charset="2"/>
              </a:rPr>
              <a:t>,</a:t>
            </a:r>
            <a:r>
              <a:rPr lang="en-US" altLang="zh-CN" sz="3085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zh-CN" sz="3085" b="1" dirty="0">
                <a:solidFill>
                  <a:srgbClr val="FF0000"/>
                </a:solidFill>
                <a:latin typeface="Arial" panose="020B0604020202020204" pitchFamily="34" charset="0"/>
                <a:ea typeface="PMingLiU" pitchFamily="18" charset="-120"/>
                <a:sym typeface="Symbol" panose="05050102010706020507" pitchFamily="18" charset="2"/>
              </a:rPr>
              <a:t>)</a:t>
            </a:r>
            <a:endParaRPr lang="en-US" altLang="zh-CN" sz="3085" b="1" dirty="0">
              <a:latin typeface="Arial" panose="020B0604020202020204" pitchFamily="34" charset="0"/>
            </a:endParaRPr>
          </a:p>
        </p:txBody>
      </p:sp>
      <p:grpSp>
        <p:nvGrpSpPr>
          <p:cNvPr id="24580" name="Group 6"/>
          <p:cNvGrpSpPr/>
          <p:nvPr/>
        </p:nvGrpSpPr>
        <p:grpSpPr>
          <a:xfrm>
            <a:off x="4432159" y="1873250"/>
            <a:ext cx="6213122" cy="3089069"/>
            <a:chOff x="-480" y="1200"/>
            <a:chExt cx="3552" cy="1766"/>
          </a:xfrm>
        </p:grpSpPr>
        <p:sp>
          <p:nvSpPr>
            <p:cNvPr id="24590" name="Rectangle 7"/>
            <p:cNvSpPr/>
            <p:nvPr/>
          </p:nvSpPr>
          <p:spPr>
            <a:xfrm>
              <a:off x="-480" y="1200"/>
              <a:ext cx="3552" cy="176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lnSpc>
                  <a:spcPct val="140000"/>
                </a:lnSpc>
              </a:pPr>
              <a:r>
                <a:rPr lang="en-US" altLang="zh-TW" sz="1985" b="1" dirty="0">
                  <a:solidFill>
                    <a:srgbClr val="993300"/>
                  </a:solidFill>
                  <a:latin typeface="Arial" panose="020B0604020202020204" pitchFamily="34" charset="0"/>
                </a:rPr>
                <a:t>	</a:t>
              </a:r>
              <a:r>
                <a:rPr lang="en-US" altLang="zh-CN" sz="1985" b="1" dirty="0">
                  <a:solidFill>
                    <a:srgbClr val="993300"/>
                  </a:solidFill>
                  <a:latin typeface="Arial" panose="020B0604020202020204" pitchFamily="34" charset="0"/>
                </a:rPr>
                <a:t>       </a:t>
              </a:r>
              <a:r>
                <a:rPr lang="en-US" altLang="zh-TW" sz="1985" b="1" u="sng" dirty="0">
                  <a:solidFill>
                    <a:srgbClr val="FF0000"/>
                  </a:solidFill>
                  <a:latin typeface="Arial" panose="020B0604020202020204" pitchFamily="34" charset="0"/>
                </a:rPr>
                <a:t>Allocation</a:t>
              </a:r>
              <a:r>
                <a:rPr lang="en-US" altLang="zh-CN" sz="1985" b="1" u="sng" dirty="0">
                  <a:solidFill>
                    <a:srgbClr val="FF0000"/>
                  </a:solidFill>
                  <a:latin typeface="Arial" panose="020B0604020202020204" pitchFamily="34" charset="0"/>
                </a:rPr>
                <a:t>        Need         </a:t>
              </a:r>
              <a:r>
                <a:rPr lang="en-US" altLang="zh-TW" sz="1985" b="1" u="sng" dirty="0">
                  <a:solidFill>
                    <a:srgbClr val="FF0000"/>
                  </a:solidFill>
                  <a:latin typeface="Arial" panose="020B0604020202020204" pitchFamily="34" charset="0"/>
                </a:rPr>
                <a:t>Available</a:t>
              </a:r>
              <a:endParaRPr lang="en-US" altLang="zh-TW" sz="1985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40000"/>
                </a:lnSpc>
              </a:pPr>
              <a:r>
                <a:rPr lang="en-US" altLang="zh-TW" sz="1985" b="1" dirty="0">
                  <a:solidFill>
                    <a:srgbClr val="993300"/>
                  </a:solidFill>
                  <a:latin typeface="Arial" panose="020B0604020202020204" pitchFamily="34" charset="0"/>
                </a:rPr>
                <a:t>	</a:t>
              </a:r>
              <a:r>
                <a:rPr lang="en-US" altLang="zh-TW" sz="1985" b="1" dirty="0">
                  <a:latin typeface="Arial" panose="020B0604020202020204" pitchFamily="34" charset="0"/>
                </a:rPr>
                <a:t>	</a:t>
              </a:r>
              <a:r>
                <a:rPr lang="en-US" altLang="zh-TW" sz="1985" b="1" i="1" dirty="0">
                  <a:latin typeface="Arial" panose="020B0604020202020204" pitchFamily="34" charset="0"/>
                </a:rPr>
                <a:t>A B C 	</a:t>
              </a:r>
              <a:r>
                <a:rPr lang="en-US" altLang="zh-CN" sz="1985" b="1" i="1" dirty="0">
                  <a:latin typeface="Arial" panose="020B0604020202020204" pitchFamily="34" charset="0"/>
                </a:rPr>
                <a:t>  </a:t>
              </a:r>
              <a:r>
                <a:rPr lang="en-US" altLang="zh-TW" sz="1985" b="1" i="1" dirty="0">
                  <a:latin typeface="Arial" panose="020B0604020202020204" pitchFamily="34" charset="0"/>
                </a:rPr>
                <a:t>A B C</a:t>
              </a:r>
              <a:r>
                <a:rPr lang="en-US" altLang="zh-CN" sz="1985" b="1" i="1" dirty="0">
                  <a:latin typeface="Arial" panose="020B0604020202020204" pitchFamily="34" charset="0"/>
                </a:rPr>
                <a:t>        </a:t>
              </a:r>
              <a:r>
                <a:rPr lang="en-US" altLang="zh-TW" sz="1985" b="1" i="1" dirty="0">
                  <a:latin typeface="Arial" panose="020B0604020202020204" pitchFamily="34" charset="0"/>
                </a:rPr>
                <a:t> </a:t>
              </a:r>
              <a:r>
                <a:rPr lang="en-US" altLang="zh-CN" sz="1985" b="1" i="1" dirty="0">
                  <a:latin typeface="Arial" panose="020B0604020202020204" pitchFamily="34" charset="0"/>
                </a:rPr>
                <a:t> </a:t>
              </a:r>
              <a:r>
                <a:rPr lang="en-US" altLang="zh-TW" sz="1985" b="1" i="1" dirty="0">
                  <a:latin typeface="Arial" panose="020B0604020202020204" pitchFamily="34" charset="0"/>
                </a:rPr>
                <a:t>A B C</a:t>
              </a:r>
              <a:endParaRPr lang="en-US" altLang="zh-TW" sz="1985" b="1" i="1" dirty="0">
                <a:latin typeface="Arial" panose="020B0604020202020204" pitchFamily="34" charset="0"/>
              </a:endParaRPr>
            </a:p>
            <a:p>
              <a:pPr>
                <a:lnSpc>
                  <a:spcPct val="140000"/>
                </a:lnSpc>
              </a:pPr>
              <a:r>
                <a:rPr lang="en-US" altLang="zh-TW" sz="1985" b="1" dirty="0">
                  <a:latin typeface="Arial" panose="020B0604020202020204" pitchFamily="34" charset="0"/>
                </a:rPr>
                <a:t>	</a:t>
              </a:r>
              <a:r>
                <a:rPr lang="en-US" altLang="zh-CN" sz="1985" b="1" dirty="0">
                  <a:latin typeface="Arial" panose="020B0604020202020204" pitchFamily="34" charset="0"/>
                </a:rPr>
                <a:t> </a:t>
              </a:r>
              <a:r>
                <a:rPr lang="en-US" altLang="zh-TW" sz="1985" b="1" i="1" dirty="0">
                  <a:latin typeface="Arial" panose="020B0604020202020204" pitchFamily="34" charset="0"/>
                </a:rPr>
                <a:t>P</a:t>
              </a:r>
              <a:r>
                <a:rPr lang="en-US" altLang="zh-TW" sz="1985" b="1" dirty="0">
                  <a:latin typeface="Arial" panose="020B0604020202020204" pitchFamily="34" charset="0"/>
                </a:rPr>
                <a:t>0	</a:t>
              </a:r>
              <a:r>
                <a:rPr lang="en-US" altLang="zh-CN" sz="1985" b="1" dirty="0">
                  <a:latin typeface="Arial" panose="020B0604020202020204" pitchFamily="34" charset="0"/>
                </a:rPr>
                <a:t>0</a:t>
              </a:r>
              <a:r>
                <a:rPr lang="en-US" altLang="zh-TW" sz="1985" b="1" dirty="0">
                  <a:latin typeface="Arial" panose="020B0604020202020204" pitchFamily="34" charset="0"/>
                </a:rPr>
                <a:t> 1 </a:t>
              </a:r>
              <a:r>
                <a:rPr lang="en-US" altLang="zh-CN" sz="1985" b="1" dirty="0">
                  <a:latin typeface="Arial" panose="020B0604020202020204" pitchFamily="34" charset="0"/>
                </a:rPr>
                <a:t>0</a:t>
              </a:r>
              <a:r>
                <a:rPr lang="en-US" altLang="zh-TW" sz="1985" b="1" dirty="0">
                  <a:latin typeface="Arial" panose="020B0604020202020204" pitchFamily="34" charset="0"/>
                </a:rPr>
                <a:t>	</a:t>
              </a:r>
              <a:r>
                <a:rPr lang="en-US" altLang="zh-CN" sz="1985" b="1" dirty="0">
                  <a:latin typeface="Arial" panose="020B0604020202020204" pitchFamily="34" charset="0"/>
                </a:rPr>
                <a:t>  </a:t>
              </a:r>
              <a:r>
                <a:rPr lang="en-US" altLang="zh-TW" sz="1985" b="1" dirty="0">
                  <a:latin typeface="Arial" panose="020B0604020202020204" pitchFamily="34" charset="0"/>
                </a:rPr>
                <a:t>7 </a:t>
              </a:r>
              <a:r>
                <a:rPr lang="en-US" altLang="zh-CN" sz="1985" b="1" dirty="0">
                  <a:latin typeface="Arial" panose="020B0604020202020204" pitchFamily="34" charset="0"/>
                </a:rPr>
                <a:t>4</a:t>
              </a:r>
              <a:r>
                <a:rPr lang="en-US" altLang="zh-TW" sz="1985" b="1" dirty="0">
                  <a:latin typeface="Arial" panose="020B0604020202020204" pitchFamily="34" charset="0"/>
                </a:rPr>
                <a:t> 3 	</a:t>
              </a:r>
              <a:r>
                <a:rPr lang="en-US" altLang="zh-CN" sz="1985" b="1" dirty="0">
                  <a:latin typeface="Arial" panose="020B0604020202020204" pitchFamily="34" charset="0"/>
                </a:rPr>
                <a:t>        </a:t>
              </a:r>
              <a:r>
                <a:rPr lang="en-US" altLang="zh-CN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2</a:t>
              </a:r>
              <a:r>
                <a:rPr lang="en-US" altLang="zh-TW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 3 </a:t>
              </a:r>
              <a:r>
                <a:rPr lang="en-US" altLang="zh-CN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  <a:endParaRPr lang="en-US" altLang="zh-CN" sz="1985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40000"/>
                </a:lnSpc>
              </a:pPr>
              <a:r>
                <a:rPr lang="en-US" altLang="zh-TW" sz="1985" b="1" dirty="0">
                  <a:latin typeface="Arial" panose="020B0604020202020204" pitchFamily="34" charset="0"/>
                </a:rPr>
                <a:t>	</a:t>
              </a:r>
              <a:r>
                <a:rPr lang="en-US" altLang="zh-CN" sz="1985" b="1" dirty="0">
                  <a:latin typeface="Arial" panose="020B0604020202020204" pitchFamily="34" charset="0"/>
                </a:rPr>
                <a:t> </a:t>
              </a:r>
              <a:r>
                <a:rPr lang="en-US" altLang="zh-TW" sz="1985" b="1" i="1" dirty="0">
                  <a:latin typeface="Arial" panose="020B0604020202020204" pitchFamily="34" charset="0"/>
                </a:rPr>
                <a:t>P</a:t>
              </a:r>
              <a:r>
                <a:rPr lang="en-US" altLang="zh-TW" sz="1985" b="1" dirty="0">
                  <a:latin typeface="Arial" panose="020B0604020202020204" pitchFamily="34" charset="0"/>
                </a:rPr>
                <a:t>1	</a:t>
              </a:r>
              <a:r>
                <a:rPr lang="en-US" altLang="zh-CN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3</a:t>
              </a:r>
              <a:r>
                <a:rPr lang="en-US" altLang="zh-TW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 0 </a:t>
              </a:r>
              <a:r>
                <a:rPr lang="en-US" altLang="zh-CN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2</a:t>
              </a:r>
              <a:r>
                <a:rPr lang="en-US" altLang="zh-TW" sz="1985" b="1" dirty="0">
                  <a:latin typeface="Arial" panose="020B0604020202020204" pitchFamily="34" charset="0"/>
                </a:rPr>
                <a:t> 	</a:t>
              </a:r>
              <a:r>
                <a:rPr lang="en-US" altLang="zh-CN" sz="1985" b="1" dirty="0">
                  <a:latin typeface="Arial" panose="020B0604020202020204" pitchFamily="34" charset="0"/>
                </a:rPr>
                <a:t>  </a:t>
              </a:r>
              <a:r>
                <a:rPr lang="en-US" altLang="zh-CN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  <a:r>
                <a:rPr lang="en-US" altLang="zh-TW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 2 </a:t>
              </a:r>
              <a:r>
                <a:rPr lang="en-US" altLang="zh-CN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  <a:r>
                <a:rPr lang="en-US" altLang="zh-TW" sz="1985" b="1" dirty="0">
                  <a:latin typeface="Arial" panose="020B0604020202020204" pitchFamily="34" charset="0"/>
                </a:rPr>
                <a:t>  </a:t>
              </a:r>
              <a:endParaRPr lang="en-US" altLang="zh-TW" sz="1985" b="1" dirty="0">
                <a:latin typeface="Arial" panose="020B0604020202020204" pitchFamily="34" charset="0"/>
              </a:endParaRPr>
            </a:p>
            <a:p>
              <a:pPr>
                <a:lnSpc>
                  <a:spcPct val="140000"/>
                </a:lnSpc>
              </a:pPr>
              <a:r>
                <a:rPr lang="en-US" altLang="zh-TW" sz="1985" b="1" dirty="0">
                  <a:latin typeface="Arial" panose="020B0604020202020204" pitchFamily="34" charset="0"/>
                </a:rPr>
                <a:t>	</a:t>
              </a:r>
              <a:r>
                <a:rPr lang="en-US" altLang="zh-CN" sz="1985" b="1" dirty="0">
                  <a:latin typeface="Arial" panose="020B0604020202020204" pitchFamily="34" charset="0"/>
                </a:rPr>
                <a:t> </a:t>
              </a:r>
              <a:r>
                <a:rPr lang="en-US" altLang="zh-TW" sz="1985" b="1" i="1" dirty="0">
                  <a:latin typeface="Arial" panose="020B0604020202020204" pitchFamily="34" charset="0"/>
                </a:rPr>
                <a:t>P</a:t>
              </a:r>
              <a:r>
                <a:rPr lang="en-US" altLang="zh-TW" sz="1985" b="1" dirty="0">
                  <a:latin typeface="Arial" panose="020B0604020202020204" pitchFamily="34" charset="0"/>
                </a:rPr>
                <a:t>2	3 0 2 </a:t>
              </a:r>
              <a:r>
                <a:rPr lang="en-US" altLang="zh-CN" sz="1985" b="1" dirty="0">
                  <a:latin typeface="Arial" panose="020B0604020202020204" pitchFamily="34" charset="0"/>
                </a:rPr>
                <a:t>       6</a:t>
              </a:r>
              <a:r>
                <a:rPr lang="en-US" altLang="zh-TW" sz="1985" b="1" dirty="0">
                  <a:latin typeface="Arial" panose="020B0604020202020204" pitchFamily="34" charset="0"/>
                </a:rPr>
                <a:t> 0 </a:t>
              </a:r>
              <a:r>
                <a:rPr lang="en-US" altLang="zh-CN" sz="1985" b="1" dirty="0">
                  <a:latin typeface="Arial" panose="020B0604020202020204" pitchFamily="34" charset="0"/>
                </a:rPr>
                <a:t>0</a:t>
              </a:r>
              <a:endParaRPr lang="en-US" altLang="zh-TW" sz="1985" b="1" dirty="0">
                <a:latin typeface="Arial" panose="020B0604020202020204" pitchFamily="34" charset="0"/>
              </a:endParaRPr>
            </a:p>
            <a:p>
              <a:pPr>
                <a:lnSpc>
                  <a:spcPct val="140000"/>
                </a:lnSpc>
              </a:pPr>
              <a:r>
                <a:rPr lang="en-US" altLang="zh-TW" sz="1985" b="1" dirty="0">
                  <a:latin typeface="Arial" panose="020B0604020202020204" pitchFamily="34" charset="0"/>
                </a:rPr>
                <a:t>	 </a:t>
              </a:r>
              <a:r>
                <a:rPr lang="en-US" altLang="zh-TW" sz="1985" b="1" i="1" dirty="0">
                  <a:latin typeface="Arial" panose="020B0604020202020204" pitchFamily="34" charset="0"/>
                </a:rPr>
                <a:t>P</a:t>
              </a:r>
              <a:r>
                <a:rPr lang="en-US" altLang="zh-TW" sz="1985" b="1" dirty="0">
                  <a:latin typeface="Arial" panose="020B0604020202020204" pitchFamily="34" charset="0"/>
                </a:rPr>
                <a:t>3	2 1 1 	</a:t>
              </a:r>
              <a:r>
                <a:rPr lang="en-US" altLang="zh-CN" sz="1985" b="1" dirty="0">
                  <a:latin typeface="Arial" panose="020B0604020202020204" pitchFamily="34" charset="0"/>
                </a:rPr>
                <a:t>   0</a:t>
              </a:r>
              <a:r>
                <a:rPr lang="en-US" altLang="zh-TW" sz="1985" b="1" dirty="0">
                  <a:latin typeface="Arial" panose="020B0604020202020204" pitchFamily="34" charset="0"/>
                </a:rPr>
                <a:t> </a:t>
              </a:r>
              <a:r>
                <a:rPr lang="en-US" altLang="zh-CN" sz="1985" b="1" dirty="0">
                  <a:latin typeface="Arial" panose="020B0604020202020204" pitchFamily="34" charset="0"/>
                </a:rPr>
                <a:t>1</a:t>
              </a:r>
              <a:r>
                <a:rPr lang="en-US" altLang="zh-TW" sz="1985" b="1" dirty="0">
                  <a:latin typeface="Arial" panose="020B0604020202020204" pitchFamily="34" charset="0"/>
                </a:rPr>
                <a:t> </a:t>
              </a:r>
              <a:r>
                <a:rPr lang="en-US" altLang="zh-CN" sz="1985" b="1" dirty="0">
                  <a:latin typeface="Arial" panose="020B0604020202020204" pitchFamily="34" charset="0"/>
                </a:rPr>
                <a:t>1</a:t>
              </a:r>
              <a:endParaRPr lang="en-US" altLang="zh-CN" sz="1985" b="1" dirty="0">
                <a:latin typeface="Arial" panose="020B0604020202020204" pitchFamily="34" charset="0"/>
              </a:endParaRPr>
            </a:p>
            <a:p>
              <a:pPr>
                <a:lnSpc>
                  <a:spcPct val="140000"/>
                </a:lnSpc>
              </a:pPr>
              <a:r>
                <a:rPr lang="en-US" altLang="zh-TW" sz="1985" b="1" dirty="0">
                  <a:latin typeface="Arial" panose="020B0604020202020204" pitchFamily="34" charset="0"/>
                </a:rPr>
                <a:t>	 </a:t>
              </a:r>
              <a:r>
                <a:rPr lang="en-US" altLang="zh-TW" sz="1985" b="1" i="1" dirty="0">
                  <a:latin typeface="Arial" panose="020B0604020202020204" pitchFamily="34" charset="0"/>
                </a:rPr>
                <a:t>P</a:t>
              </a:r>
              <a:r>
                <a:rPr lang="en-US" altLang="zh-TW" sz="1985" b="1" dirty="0">
                  <a:latin typeface="Arial" panose="020B0604020202020204" pitchFamily="34" charset="0"/>
                </a:rPr>
                <a:t>4	0 0 2	</a:t>
              </a:r>
              <a:r>
                <a:rPr lang="en-US" altLang="zh-CN" sz="1985" b="1" dirty="0">
                  <a:latin typeface="Arial" panose="020B0604020202020204" pitchFamily="34" charset="0"/>
                </a:rPr>
                <a:t>   </a:t>
              </a:r>
              <a:r>
                <a:rPr lang="en-US" altLang="zh-TW" sz="1985" b="1" dirty="0">
                  <a:latin typeface="Arial" panose="020B0604020202020204" pitchFamily="34" charset="0"/>
                </a:rPr>
                <a:t>4 3 </a:t>
              </a:r>
              <a:r>
                <a:rPr lang="en-US" altLang="zh-CN" sz="1985" b="1" dirty="0">
                  <a:latin typeface="Arial" panose="020B0604020202020204" pitchFamily="34" charset="0"/>
                </a:rPr>
                <a:t>1</a:t>
              </a:r>
              <a:r>
                <a:rPr lang="en-US" altLang="zh-TW" sz="1985" dirty="0">
                  <a:latin typeface="Arial" panose="020B0604020202020204" pitchFamily="34" charset="0"/>
                </a:rPr>
                <a:t> </a:t>
              </a:r>
              <a:endParaRPr lang="en-US" altLang="zh-CN" sz="1985" dirty="0">
                <a:latin typeface="Arial" panose="020B0604020202020204" pitchFamily="34" charset="0"/>
              </a:endParaRPr>
            </a:p>
          </p:txBody>
        </p:sp>
        <p:sp>
          <p:nvSpPr>
            <p:cNvPr id="24591" name="Rectangle 8"/>
            <p:cNvSpPr/>
            <p:nvPr/>
          </p:nvSpPr>
          <p:spPr>
            <a:xfrm>
              <a:off x="96" y="1248"/>
              <a:ext cx="2736" cy="168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sz="1985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234514" name="Group 18"/>
          <p:cNvGrpSpPr/>
          <p:nvPr/>
        </p:nvGrpSpPr>
        <p:grpSpPr>
          <a:xfrm>
            <a:off x="728839" y="5457472"/>
            <a:ext cx="9151761" cy="580731"/>
            <a:chOff x="240" y="3120"/>
            <a:chExt cx="5232" cy="332"/>
          </a:xfrm>
        </p:grpSpPr>
        <p:sp>
          <p:nvSpPr>
            <p:cNvPr id="24588" name="Rectangle 10"/>
            <p:cNvSpPr/>
            <p:nvPr/>
          </p:nvSpPr>
          <p:spPr>
            <a:xfrm>
              <a:off x="240" y="3120"/>
              <a:ext cx="5232" cy="3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 eaLnBrk="1" hangingPunct="1">
                <a:lnSpc>
                  <a:spcPct val="120000"/>
                </a:lnSpc>
              </a:pPr>
              <a:r>
                <a:rPr lang="zh-CN" altLang="en-US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进程</a:t>
              </a:r>
              <a:r>
                <a:rPr lang="en-US" altLang="zh-CN" sz="2645" b="1" i="1" dirty="0">
                  <a:solidFill>
                    <a:srgbClr val="FF0000"/>
                  </a:solidFill>
                  <a:latin typeface="Arial" panose="020B0604020202020204" pitchFamily="34" charset="0"/>
                </a:rPr>
                <a:t>P</a:t>
              </a:r>
              <a:r>
                <a:rPr lang="en-US" altLang="zh-CN" sz="2645" b="1" baseline="-25000" dirty="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  <a:r>
                <a:rPr lang="en-US" altLang="zh-CN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, </a:t>
              </a:r>
              <a:r>
                <a:rPr lang="en-US" altLang="zh-CN" sz="2645" b="1" i="1" dirty="0">
                  <a:solidFill>
                    <a:srgbClr val="FF0000"/>
                  </a:solidFill>
                  <a:latin typeface="Arial" panose="020B0604020202020204" pitchFamily="34" charset="0"/>
                </a:rPr>
                <a:t>P</a:t>
              </a:r>
              <a:r>
                <a:rPr lang="en-US" altLang="zh-CN" sz="2645" b="1" baseline="-25000" dirty="0">
                  <a:solidFill>
                    <a:srgbClr val="FF0000"/>
                  </a:solidFill>
                  <a:latin typeface="Arial" panose="020B0604020202020204" pitchFamily="34" charset="0"/>
                </a:rPr>
                <a:t>1</a:t>
              </a:r>
              <a:r>
                <a:rPr lang="en-US" altLang="zh-CN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, </a:t>
              </a:r>
              <a:r>
                <a:rPr lang="en-US" altLang="zh-CN" sz="2645" b="1" i="1" dirty="0">
                  <a:solidFill>
                    <a:srgbClr val="FF0000"/>
                  </a:solidFill>
                  <a:latin typeface="Arial" panose="020B0604020202020204" pitchFamily="34" charset="0"/>
                </a:rPr>
                <a:t>P</a:t>
              </a:r>
              <a:r>
                <a:rPr lang="en-US" altLang="zh-CN" sz="2645" b="1" baseline="-25000" dirty="0">
                  <a:solidFill>
                    <a:srgbClr val="FF0000"/>
                  </a:solidFill>
                  <a:latin typeface="Arial" panose="020B0604020202020204" pitchFamily="34" charset="0"/>
                </a:rPr>
                <a:t>2</a:t>
              </a:r>
              <a:r>
                <a:rPr lang="en-US" altLang="zh-CN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, </a:t>
              </a:r>
              <a:r>
                <a:rPr lang="en-US" altLang="zh-CN" sz="2645" b="1" i="1" dirty="0">
                  <a:solidFill>
                    <a:srgbClr val="FF0000"/>
                  </a:solidFill>
                  <a:latin typeface="Arial" panose="020B0604020202020204" pitchFamily="34" charset="0"/>
                </a:rPr>
                <a:t>P</a:t>
              </a:r>
              <a:r>
                <a:rPr lang="en-US" altLang="zh-CN" sz="2645" b="1" baseline="-25000" dirty="0">
                  <a:solidFill>
                    <a:srgbClr val="FF0000"/>
                  </a:solidFill>
                  <a:latin typeface="Arial" panose="020B0604020202020204" pitchFamily="34" charset="0"/>
                </a:rPr>
                <a:t>3</a:t>
              </a:r>
              <a:r>
                <a:rPr lang="en-US" altLang="zh-CN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, </a:t>
              </a:r>
              <a:r>
                <a:rPr lang="en-US" altLang="zh-CN" sz="2645" b="1" i="1" dirty="0">
                  <a:solidFill>
                    <a:srgbClr val="FF0000"/>
                  </a:solidFill>
                  <a:latin typeface="Arial" panose="020B0604020202020204" pitchFamily="34" charset="0"/>
                </a:rPr>
                <a:t>P</a:t>
              </a:r>
              <a:r>
                <a:rPr lang="en-US" altLang="zh-CN" sz="2645" b="1" baseline="-25000" dirty="0">
                  <a:solidFill>
                    <a:srgbClr val="FF0000"/>
                  </a:solidFill>
                  <a:latin typeface="Arial" panose="020B0604020202020204" pitchFamily="34" charset="0"/>
                </a:rPr>
                <a:t>4</a:t>
              </a:r>
              <a:r>
                <a:rPr lang="zh-CN" altLang="en-US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一个也没法执行，死锁进程组</a:t>
              </a:r>
              <a:endParaRPr lang="zh-CN" altLang="en-US" sz="2645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24589" name="Picture 11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05" y="3241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234508" name="Group 12"/>
          <p:cNvGrpSpPr/>
          <p:nvPr/>
        </p:nvGrpSpPr>
        <p:grpSpPr>
          <a:xfrm>
            <a:off x="728839" y="6132659"/>
            <a:ext cx="5793317" cy="580731"/>
            <a:chOff x="240" y="3506"/>
            <a:chExt cx="3312" cy="332"/>
          </a:xfrm>
        </p:grpSpPr>
        <p:sp>
          <p:nvSpPr>
            <p:cNvPr id="24586" name="Rectangle 13"/>
            <p:cNvSpPr/>
            <p:nvPr/>
          </p:nvSpPr>
          <p:spPr>
            <a:xfrm>
              <a:off x="240" y="3506"/>
              <a:ext cx="3312" cy="33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lvl="1" eaLnBrk="1" hangingPunct="1">
                <a:lnSpc>
                  <a:spcPct val="120000"/>
                </a:lnSpc>
              </a:pPr>
              <a:r>
                <a:rPr lang="zh-CN" altLang="en-US" sz="264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此次申请被拒绝</a:t>
              </a:r>
              <a:endParaRPr lang="zh-CN" altLang="en-US" sz="2645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pic>
          <p:nvPicPr>
            <p:cNvPr id="24587" name="Picture 14" descr="j01158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05" y="3636"/>
              <a:ext cx="119" cy="121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234511" name="Group 15"/>
          <p:cNvGrpSpPr/>
          <p:nvPr/>
        </p:nvGrpSpPr>
        <p:grpSpPr>
          <a:xfrm>
            <a:off x="-613622" y="2322548"/>
            <a:ext cx="6213122" cy="3089069"/>
            <a:chOff x="-480" y="1200"/>
            <a:chExt cx="3552" cy="1766"/>
          </a:xfrm>
        </p:grpSpPr>
        <p:sp>
          <p:nvSpPr>
            <p:cNvPr id="24584" name="Rectangle 16"/>
            <p:cNvSpPr/>
            <p:nvPr/>
          </p:nvSpPr>
          <p:spPr>
            <a:xfrm>
              <a:off x="-480" y="1200"/>
              <a:ext cx="3552" cy="176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lnSpc>
                  <a:spcPct val="140000"/>
                </a:lnSpc>
              </a:pPr>
              <a:r>
                <a:rPr lang="en-US" altLang="zh-TW" sz="1985" b="1" dirty="0">
                  <a:solidFill>
                    <a:srgbClr val="993300"/>
                  </a:solidFill>
                  <a:latin typeface="Arial" panose="020B0604020202020204" pitchFamily="34" charset="0"/>
                </a:rPr>
                <a:t>	</a:t>
              </a:r>
              <a:r>
                <a:rPr lang="en-US" altLang="zh-CN" sz="1985" b="1" dirty="0">
                  <a:solidFill>
                    <a:srgbClr val="993300"/>
                  </a:solidFill>
                  <a:latin typeface="Arial" panose="020B0604020202020204" pitchFamily="34" charset="0"/>
                </a:rPr>
                <a:t>       </a:t>
              </a:r>
              <a:r>
                <a:rPr lang="en-US" altLang="zh-TW" sz="1985" b="1" u="sng" dirty="0">
                  <a:solidFill>
                    <a:srgbClr val="FF0000"/>
                  </a:solidFill>
                  <a:latin typeface="Arial" panose="020B0604020202020204" pitchFamily="34" charset="0"/>
                </a:rPr>
                <a:t>Allocation</a:t>
              </a:r>
              <a:r>
                <a:rPr lang="en-US" altLang="zh-CN" sz="1985" b="1" u="sng" dirty="0">
                  <a:solidFill>
                    <a:srgbClr val="FF0000"/>
                  </a:solidFill>
                  <a:latin typeface="Arial" panose="020B0604020202020204" pitchFamily="34" charset="0"/>
                </a:rPr>
                <a:t>        Need         </a:t>
              </a:r>
              <a:r>
                <a:rPr lang="en-US" altLang="zh-TW" sz="1985" b="1" u="sng" dirty="0">
                  <a:solidFill>
                    <a:srgbClr val="FF0000"/>
                  </a:solidFill>
                  <a:latin typeface="Arial" panose="020B0604020202020204" pitchFamily="34" charset="0"/>
                </a:rPr>
                <a:t>Available</a:t>
              </a:r>
              <a:endParaRPr lang="en-US" altLang="zh-TW" sz="1985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40000"/>
                </a:lnSpc>
              </a:pPr>
              <a:r>
                <a:rPr lang="en-US" altLang="zh-TW" sz="1985" b="1" dirty="0">
                  <a:solidFill>
                    <a:srgbClr val="993300"/>
                  </a:solidFill>
                  <a:latin typeface="Arial" panose="020B0604020202020204" pitchFamily="34" charset="0"/>
                </a:rPr>
                <a:t>	</a:t>
              </a:r>
              <a:r>
                <a:rPr lang="en-US" altLang="zh-TW" sz="1985" b="1" dirty="0">
                  <a:latin typeface="Arial" panose="020B0604020202020204" pitchFamily="34" charset="0"/>
                </a:rPr>
                <a:t>	</a:t>
              </a:r>
              <a:r>
                <a:rPr lang="en-US" altLang="zh-TW" sz="1985" b="1" i="1" dirty="0">
                  <a:latin typeface="Arial" panose="020B0604020202020204" pitchFamily="34" charset="0"/>
                </a:rPr>
                <a:t>A B C 	</a:t>
              </a:r>
              <a:r>
                <a:rPr lang="en-US" altLang="zh-CN" sz="1985" b="1" i="1" dirty="0">
                  <a:latin typeface="Arial" panose="020B0604020202020204" pitchFamily="34" charset="0"/>
                </a:rPr>
                <a:t>  </a:t>
              </a:r>
              <a:r>
                <a:rPr lang="en-US" altLang="zh-TW" sz="1985" b="1" i="1" dirty="0">
                  <a:latin typeface="Arial" panose="020B0604020202020204" pitchFamily="34" charset="0"/>
                </a:rPr>
                <a:t>A B C</a:t>
              </a:r>
              <a:r>
                <a:rPr lang="en-US" altLang="zh-CN" sz="1985" b="1" i="1" dirty="0">
                  <a:latin typeface="Arial" panose="020B0604020202020204" pitchFamily="34" charset="0"/>
                </a:rPr>
                <a:t>        </a:t>
              </a:r>
              <a:r>
                <a:rPr lang="en-US" altLang="zh-TW" sz="1985" b="1" i="1" dirty="0">
                  <a:latin typeface="Arial" panose="020B0604020202020204" pitchFamily="34" charset="0"/>
                </a:rPr>
                <a:t> </a:t>
              </a:r>
              <a:r>
                <a:rPr lang="en-US" altLang="zh-CN" sz="1985" b="1" i="1" dirty="0">
                  <a:latin typeface="Arial" panose="020B0604020202020204" pitchFamily="34" charset="0"/>
                </a:rPr>
                <a:t> </a:t>
              </a:r>
              <a:r>
                <a:rPr lang="en-US" altLang="zh-TW" sz="1985" b="1" i="1" dirty="0">
                  <a:latin typeface="Arial" panose="020B0604020202020204" pitchFamily="34" charset="0"/>
                </a:rPr>
                <a:t>A B C</a:t>
              </a:r>
              <a:endParaRPr lang="en-US" altLang="zh-TW" sz="1985" b="1" i="1" dirty="0">
                <a:latin typeface="Arial" panose="020B0604020202020204" pitchFamily="34" charset="0"/>
              </a:endParaRPr>
            </a:p>
            <a:p>
              <a:pPr>
                <a:lnSpc>
                  <a:spcPct val="140000"/>
                </a:lnSpc>
              </a:pPr>
              <a:r>
                <a:rPr lang="en-US" altLang="zh-TW" sz="1985" b="1" dirty="0">
                  <a:latin typeface="Arial" panose="020B0604020202020204" pitchFamily="34" charset="0"/>
                </a:rPr>
                <a:t>	</a:t>
              </a:r>
              <a:r>
                <a:rPr lang="en-US" altLang="zh-CN" sz="1985" b="1" dirty="0">
                  <a:latin typeface="Arial" panose="020B0604020202020204" pitchFamily="34" charset="0"/>
                </a:rPr>
                <a:t> </a:t>
              </a:r>
              <a:r>
                <a:rPr lang="en-US" altLang="zh-TW" sz="1985" b="1" i="1" dirty="0">
                  <a:latin typeface="Arial" panose="020B0604020202020204" pitchFamily="34" charset="0"/>
                </a:rPr>
                <a:t>P</a:t>
              </a:r>
              <a:r>
                <a:rPr lang="en-US" altLang="zh-TW" sz="1985" b="1" dirty="0">
                  <a:latin typeface="Arial" panose="020B0604020202020204" pitchFamily="34" charset="0"/>
                </a:rPr>
                <a:t>0	</a:t>
              </a:r>
              <a:r>
                <a:rPr lang="en-US" altLang="zh-CN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  <a:r>
                <a:rPr lang="en-US" altLang="zh-TW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zh-CN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3</a:t>
              </a:r>
              <a:r>
                <a:rPr lang="en-US" altLang="zh-TW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zh-CN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  <a:r>
                <a:rPr lang="en-US" altLang="zh-TW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	</a:t>
              </a:r>
              <a:r>
                <a:rPr lang="en-US" altLang="zh-CN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  </a:t>
              </a:r>
              <a:r>
                <a:rPr lang="en-US" altLang="zh-TW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7 </a:t>
              </a:r>
              <a:r>
                <a:rPr lang="en-US" altLang="zh-CN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2</a:t>
              </a:r>
              <a:r>
                <a:rPr lang="en-US" altLang="zh-TW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 3</a:t>
              </a:r>
              <a:r>
                <a:rPr lang="en-US" altLang="zh-TW" sz="1985" b="1" dirty="0">
                  <a:latin typeface="Arial" panose="020B0604020202020204" pitchFamily="34" charset="0"/>
                </a:rPr>
                <a:t> 	</a:t>
              </a:r>
              <a:r>
                <a:rPr lang="en-US" altLang="zh-CN" sz="1985" b="1" dirty="0">
                  <a:latin typeface="Arial" panose="020B0604020202020204" pitchFamily="34" charset="0"/>
                </a:rPr>
                <a:t>         </a:t>
              </a:r>
              <a:r>
                <a:rPr lang="en-US" altLang="zh-CN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2</a:t>
              </a:r>
              <a:r>
                <a:rPr lang="en-US" altLang="zh-TW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zh-CN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1</a:t>
              </a:r>
              <a:r>
                <a:rPr lang="en-US" altLang="zh-TW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 </a:t>
              </a:r>
              <a:r>
                <a:rPr lang="en-US" altLang="zh-CN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  <a:endParaRPr lang="en-US" altLang="zh-CN" sz="1985" b="1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  <a:p>
              <a:pPr>
                <a:lnSpc>
                  <a:spcPct val="140000"/>
                </a:lnSpc>
              </a:pPr>
              <a:r>
                <a:rPr lang="en-US" altLang="zh-TW" sz="1985" b="1" dirty="0">
                  <a:latin typeface="Arial" panose="020B0604020202020204" pitchFamily="34" charset="0"/>
                </a:rPr>
                <a:t>	</a:t>
              </a:r>
              <a:r>
                <a:rPr lang="en-US" altLang="zh-CN" sz="1985" b="1" dirty="0">
                  <a:latin typeface="Arial" panose="020B0604020202020204" pitchFamily="34" charset="0"/>
                </a:rPr>
                <a:t> </a:t>
              </a:r>
              <a:r>
                <a:rPr lang="en-US" altLang="zh-TW" sz="1985" b="1" i="1" dirty="0">
                  <a:latin typeface="Arial" panose="020B0604020202020204" pitchFamily="34" charset="0"/>
                </a:rPr>
                <a:t>P</a:t>
              </a:r>
              <a:r>
                <a:rPr lang="en-US" altLang="zh-TW" sz="1985" b="1" dirty="0">
                  <a:latin typeface="Arial" panose="020B0604020202020204" pitchFamily="34" charset="0"/>
                </a:rPr>
                <a:t>1	</a:t>
              </a:r>
              <a:r>
                <a:rPr lang="en-US" altLang="zh-CN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3</a:t>
              </a:r>
              <a:r>
                <a:rPr lang="en-US" altLang="zh-TW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 0 </a:t>
              </a:r>
              <a:r>
                <a:rPr lang="en-US" altLang="zh-CN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2</a:t>
              </a:r>
              <a:r>
                <a:rPr lang="en-US" altLang="zh-TW" sz="1985" b="1" dirty="0">
                  <a:latin typeface="Arial" panose="020B0604020202020204" pitchFamily="34" charset="0"/>
                </a:rPr>
                <a:t> 	</a:t>
              </a:r>
              <a:r>
                <a:rPr lang="en-US" altLang="zh-CN" sz="1985" b="1" dirty="0">
                  <a:latin typeface="Arial" panose="020B0604020202020204" pitchFamily="34" charset="0"/>
                </a:rPr>
                <a:t>  </a:t>
              </a:r>
              <a:r>
                <a:rPr lang="en-US" altLang="zh-CN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  <a:r>
                <a:rPr lang="en-US" altLang="zh-TW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 2 </a:t>
              </a:r>
              <a:r>
                <a:rPr lang="en-US" altLang="zh-CN" sz="1985" b="1" dirty="0">
                  <a:solidFill>
                    <a:srgbClr val="FF0000"/>
                  </a:solidFill>
                  <a:latin typeface="Arial" panose="020B0604020202020204" pitchFamily="34" charset="0"/>
                </a:rPr>
                <a:t>0</a:t>
              </a:r>
              <a:r>
                <a:rPr lang="en-US" altLang="zh-TW" sz="1985" b="1" dirty="0">
                  <a:latin typeface="Arial" panose="020B0604020202020204" pitchFamily="34" charset="0"/>
                </a:rPr>
                <a:t>  </a:t>
              </a:r>
              <a:endParaRPr lang="en-US" altLang="zh-TW" sz="1985" b="1" dirty="0">
                <a:latin typeface="Arial" panose="020B0604020202020204" pitchFamily="34" charset="0"/>
              </a:endParaRPr>
            </a:p>
            <a:p>
              <a:pPr>
                <a:lnSpc>
                  <a:spcPct val="140000"/>
                </a:lnSpc>
              </a:pPr>
              <a:r>
                <a:rPr lang="en-US" altLang="zh-TW" sz="1985" b="1" dirty="0">
                  <a:latin typeface="Arial" panose="020B0604020202020204" pitchFamily="34" charset="0"/>
                </a:rPr>
                <a:t>	</a:t>
              </a:r>
              <a:r>
                <a:rPr lang="en-US" altLang="zh-CN" sz="1985" b="1" dirty="0">
                  <a:latin typeface="Arial" panose="020B0604020202020204" pitchFamily="34" charset="0"/>
                </a:rPr>
                <a:t> </a:t>
              </a:r>
              <a:r>
                <a:rPr lang="en-US" altLang="zh-TW" sz="1985" b="1" i="1" dirty="0">
                  <a:latin typeface="Arial" panose="020B0604020202020204" pitchFamily="34" charset="0"/>
                </a:rPr>
                <a:t>P</a:t>
              </a:r>
              <a:r>
                <a:rPr lang="en-US" altLang="zh-TW" sz="1985" b="1" dirty="0">
                  <a:latin typeface="Arial" panose="020B0604020202020204" pitchFamily="34" charset="0"/>
                </a:rPr>
                <a:t>2	3 0 2 </a:t>
              </a:r>
              <a:r>
                <a:rPr lang="en-US" altLang="zh-CN" sz="1985" b="1" dirty="0">
                  <a:latin typeface="Arial" panose="020B0604020202020204" pitchFamily="34" charset="0"/>
                </a:rPr>
                <a:t>       6</a:t>
              </a:r>
              <a:r>
                <a:rPr lang="en-US" altLang="zh-TW" sz="1985" b="1" dirty="0">
                  <a:latin typeface="Arial" panose="020B0604020202020204" pitchFamily="34" charset="0"/>
                </a:rPr>
                <a:t> 0 </a:t>
              </a:r>
              <a:r>
                <a:rPr lang="en-US" altLang="zh-CN" sz="1985" b="1" dirty="0">
                  <a:latin typeface="Arial" panose="020B0604020202020204" pitchFamily="34" charset="0"/>
                </a:rPr>
                <a:t>0</a:t>
              </a:r>
              <a:endParaRPr lang="en-US" altLang="zh-TW" sz="1985" b="1" dirty="0">
                <a:latin typeface="Arial" panose="020B0604020202020204" pitchFamily="34" charset="0"/>
              </a:endParaRPr>
            </a:p>
            <a:p>
              <a:pPr>
                <a:lnSpc>
                  <a:spcPct val="140000"/>
                </a:lnSpc>
              </a:pPr>
              <a:r>
                <a:rPr lang="en-US" altLang="zh-TW" sz="1985" b="1" dirty="0">
                  <a:latin typeface="Arial" panose="020B0604020202020204" pitchFamily="34" charset="0"/>
                </a:rPr>
                <a:t>	 </a:t>
              </a:r>
              <a:r>
                <a:rPr lang="en-US" altLang="zh-TW" sz="1985" b="1" i="1" dirty="0">
                  <a:latin typeface="Arial" panose="020B0604020202020204" pitchFamily="34" charset="0"/>
                </a:rPr>
                <a:t>P</a:t>
              </a:r>
              <a:r>
                <a:rPr lang="en-US" altLang="zh-TW" sz="1985" b="1" dirty="0">
                  <a:latin typeface="Arial" panose="020B0604020202020204" pitchFamily="34" charset="0"/>
                </a:rPr>
                <a:t>3	2 1 1 	</a:t>
              </a:r>
              <a:r>
                <a:rPr lang="en-US" altLang="zh-CN" sz="1985" b="1" dirty="0">
                  <a:latin typeface="Arial" panose="020B0604020202020204" pitchFamily="34" charset="0"/>
                </a:rPr>
                <a:t>   0</a:t>
              </a:r>
              <a:r>
                <a:rPr lang="en-US" altLang="zh-TW" sz="1985" b="1" dirty="0">
                  <a:latin typeface="Arial" panose="020B0604020202020204" pitchFamily="34" charset="0"/>
                </a:rPr>
                <a:t> </a:t>
              </a:r>
              <a:r>
                <a:rPr lang="en-US" altLang="zh-CN" sz="1985" b="1" dirty="0">
                  <a:latin typeface="Arial" panose="020B0604020202020204" pitchFamily="34" charset="0"/>
                </a:rPr>
                <a:t>1</a:t>
              </a:r>
              <a:r>
                <a:rPr lang="en-US" altLang="zh-TW" sz="1985" b="1" dirty="0">
                  <a:latin typeface="Arial" panose="020B0604020202020204" pitchFamily="34" charset="0"/>
                </a:rPr>
                <a:t> </a:t>
              </a:r>
              <a:r>
                <a:rPr lang="en-US" altLang="zh-CN" sz="1985" b="1" dirty="0">
                  <a:latin typeface="Arial" panose="020B0604020202020204" pitchFamily="34" charset="0"/>
                </a:rPr>
                <a:t>1</a:t>
              </a:r>
              <a:endParaRPr lang="en-US" altLang="zh-CN" sz="1985" b="1" dirty="0">
                <a:latin typeface="Arial" panose="020B0604020202020204" pitchFamily="34" charset="0"/>
              </a:endParaRPr>
            </a:p>
            <a:p>
              <a:pPr>
                <a:lnSpc>
                  <a:spcPct val="140000"/>
                </a:lnSpc>
              </a:pPr>
              <a:r>
                <a:rPr lang="en-US" altLang="zh-TW" sz="1985" b="1" dirty="0">
                  <a:latin typeface="Arial" panose="020B0604020202020204" pitchFamily="34" charset="0"/>
                </a:rPr>
                <a:t>	 </a:t>
              </a:r>
              <a:r>
                <a:rPr lang="en-US" altLang="zh-TW" sz="1985" b="1" i="1" dirty="0">
                  <a:latin typeface="Arial" panose="020B0604020202020204" pitchFamily="34" charset="0"/>
                </a:rPr>
                <a:t>P</a:t>
              </a:r>
              <a:r>
                <a:rPr lang="en-US" altLang="zh-TW" sz="1985" b="1" dirty="0">
                  <a:latin typeface="Arial" panose="020B0604020202020204" pitchFamily="34" charset="0"/>
                </a:rPr>
                <a:t>4	0 0 2	</a:t>
              </a:r>
              <a:r>
                <a:rPr lang="en-US" altLang="zh-CN" sz="1985" b="1" dirty="0">
                  <a:latin typeface="Arial" panose="020B0604020202020204" pitchFamily="34" charset="0"/>
                </a:rPr>
                <a:t>   </a:t>
              </a:r>
              <a:r>
                <a:rPr lang="en-US" altLang="zh-TW" sz="1985" b="1" dirty="0">
                  <a:latin typeface="Arial" panose="020B0604020202020204" pitchFamily="34" charset="0"/>
                </a:rPr>
                <a:t>4 3 </a:t>
              </a:r>
              <a:r>
                <a:rPr lang="en-US" altLang="zh-CN" sz="1985" b="1" dirty="0">
                  <a:latin typeface="Arial" panose="020B0604020202020204" pitchFamily="34" charset="0"/>
                </a:rPr>
                <a:t>1</a:t>
              </a:r>
              <a:r>
                <a:rPr lang="en-US" altLang="zh-TW" sz="1985" dirty="0">
                  <a:latin typeface="Arial" panose="020B0604020202020204" pitchFamily="34" charset="0"/>
                </a:rPr>
                <a:t> </a:t>
              </a:r>
              <a:endParaRPr lang="en-US" altLang="zh-CN" sz="1985" dirty="0">
                <a:latin typeface="Arial" panose="020B0604020202020204" pitchFamily="34" charset="0"/>
              </a:endParaRPr>
            </a:p>
          </p:txBody>
        </p:sp>
        <p:sp>
          <p:nvSpPr>
            <p:cNvPr id="24585" name="Rectangle 17"/>
            <p:cNvSpPr/>
            <p:nvPr/>
          </p:nvSpPr>
          <p:spPr>
            <a:xfrm>
              <a:off x="96" y="1248"/>
              <a:ext cx="2736" cy="1680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sz="1985" dirty="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4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4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4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50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0">
              <a:lnSpc>
                <a:spcPct val="100000"/>
              </a:lnSpc>
            </a:pPr>
            <a:r>
              <a:rPr sz="2950" spc="100" dirty="0"/>
              <a:t>死锁检测</a:t>
            </a:r>
            <a:r>
              <a:rPr sz="3050" dirty="0">
                <a:latin typeface="Arial" panose="020B0604020202020204"/>
                <a:cs typeface="Arial" panose="020B0604020202020204"/>
              </a:rPr>
              <a:t>+</a:t>
            </a:r>
            <a:r>
              <a:rPr sz="2950" spc="100" dirty="0"/>
              <a:t>恢复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:</a:t>
            </a:r>
            <a:r>
              <a:rPr sz="3050" spc="5" dirty="0">
                <a:latin typeface="Arial" panose="020B0604020202020204"/>
                <a:cs typeface="Arial" panose="020B0604020202020204"/>
              </a:rPr>
              <a:t> </a:t>
            </a:r>
            <a:r>
              <a:rPr sz="2950" spc="100" dirty="0"/>
              <a:t>发现问题再处理</a:t>
            </a:r>
            <a:endParaRPr sz="295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7187" y="1947139"/>
            <a:ext cx="8476615" cy="865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基本原因</a:t>
            </a:r>
            <a:r>
              <a:rPr sz="2400" b="1" dirty="0">
                <a:latin typeface="Arial" panose="020B0604020202020204"/>
                <a:cs typeface="Arial" panose="020B0604020202020204"/>
              </a:rPr>
              <a:t>: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 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每次申请都执行</a:t>
            </a:r>
            <a:r>
              <a:rPr sz="2400" b="1" spc="-15" dirty="0">
                <a:latin typeface="Arial" panose="020B0604020202020204"/>
                <a:cs typeface="Arial" panose="020B0604020202020204"/>
              </a:rPr>
              <a:t>O</a:t>
            </a:r>
            <a:r>
              <a:rPr sz="2400" b="1" dirty="0">
                <a:latin typeface="Arial" panose="020B0604020202020204"/>
                <a:cs typeface="Arial" panose="020B0604020202020204"/>
              </a:rPr>
              <a:t>(</a:t>
            </a:r>
            <a:r>
              <a:rPr sz="2400" b="1" spc="-15" dirty="0">
                <a:latin typeface="Arial" panose="020B0604020202020204"/>
                <a:cs typeface="Arial" panose="020B0604020202020204"/>
              </a:rPr>
              <a:t>m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n</a:t>
            </a:r>
            <a:r>
              <a:rPr sz="2400" b="1" spc="-15" baseline="24000" dirty="0">
                <a:latin typeface="Arial" panose="020B0604020202020204"/>
                <a:cs typeface="Arial" panose="020B0604020202020204"/>
              </a:rPr>
              <a:t>2</a:t>
            </a:r>
            <a:r>
              <a:rPr sz="2400" b="1" spc="-5" dirty="0">
                <a:latin typeface="Arial" panose="020B0604020202020204"/>
                <a:cs typeface="Arial" panose="020B0604020202020204"/>
              </a:rPr>
              <a:t>)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，效率低。</a:t>
            </a: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发现问题再处</a:t>
            </a:r>
            <a:r>
              <a:rPr sz="3450" b="1" spc="135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理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661670">
              <a:lnSpc>
                <a:spcPts val="2330"/>
              </a:lnSpc>
              <a:spcBef>
                <a:spcPts val="1540"/>
              </a:spcBef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定时检测或者是发现资源利用率低时检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测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24880" y="2554817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996473" y="2883429"/>
            <a:ext cx="6298565" cy="1882775"/>
          </a:xfrm>
          <a:prstGeom prst="rect">
            <a:avLst/>
          </a:prstGeom>
          <a:ln w="8114">
            <a:solidFill>
              <a:srgbClr val="FF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38430" marR="1210310" indent="50800">
              <a:lnSpc>
                <a:spcPct val="147000"/>
              </a:lnSpc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Finish[1..n]</a:t>
            </a:r>
            <a:r>
              <a:rPr sz="1700" b="1" spc="5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=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false;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if(Allocation[i]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==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0)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Finish[i]=true;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138430" marR="3201035">
              <a:lnSpc>
                <a:spcPts val="2000"/>
              </a:lnSpc>
              <a:spcBef>
                <a:spcPts val="260"/>
              </a:spcBef>
            </a:pPr>
            <a:r>
              <a:rPr sz="1700" b="1" dirty="0">
                <a:latin typeface="Courier New" panose="02070309020205020404"/>
                <a:cs typeface="Courier New" panose="02070309020205020404"/>
              </a:rPr>
              <a:t>...//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Banker</a:t>
            </a:r>
            <a:r>
              <a:rPr sz="1650" b="1" spc="40" dirty="0">
                <a:latin typeface="宋体" panose="02010600030101010101" pitchFamily="2" charset="-122"/>
                <a:cs typeface="宋体" panose="02010600030101010101" pitchFamily="2" charset="-122"/>
              </a:rPr>
              <a:t>算法完全一样 </a:t>
            </a:r>
            <a:r>
              <a:rPr sz="1700" b="1" dirty="0">
                <a:latin typeface="Courier New" panose="02070309020205020404"/>
                <a:cs typeface="Courier New" panose="02070309020205020404"/>
              </a:rPr>
              <a:t>for(i=1;i&lt;=n;i++)</a:t>
            </a:r>
            <a:endParaRPr sz="1700">
              <a:latin typeface="Courier New" panose="02070309020205020404"/>
              <a:cs typeface="Courier New" panose="02070309020205020404"/>
            </a:endParaRPr>
          </a:p>
          <a:p>
            <a:pPr marL="787400" marR="2118995" indent="-259715">
              <a:lnSpc>
                <a:spcPts val="2030"/>
              </a:lnSpc>
              <a:spcBef>
                <a:spcPts val="10"/>
              </a:spcBef>
            </a:pP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if(Finish[i]==false) deadlock</a:t>
            </a:r>
            <a:r>
              <a:rPr sz="1700" b="1" spc="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=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deadlock</a:t>
            </a:r>
            <a:r>
              <a:rPr sz="1700" b="1" spc="5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+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 </a:t>
            </a:r>
            <a:r>
              <a:rPr sz="1700" b="1" dirty="0">
                <a:solidFill>
                  <a:srgbClr val="FF0000"/>
                </a:solidFill>
                <a:latin typeface="Courier New" panose="02070309020205020404"/>
                <a:cs typeface="Courier New" panose="02070309020205020404"/>
              </a:rPr>
              <a:t>{i};</a:t>
            </a:r>
            <a:endParaRPr sz="1700">
              <a:latin typeface="Courier New" panose="02070309020205020404"/>
              <a:cs typeface="Courier New" panose="020703090202050204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024880" y="5197239"/>
            <a:ext cx="160969" cy="16362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256368" y="5153821"/>
            <a:ext cx="5387340" cy="748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选择哪些进程回滚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?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优先级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?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占用资源多的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?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如何实现回滚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?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 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那些已经修改的文件怎么办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?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24880" y="5651617"/>
            <a:ext cx="160969" cy="16362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2400" y="1759656"/>
            <a:ext cx="9117330" cy="0"/>
          </a:xfrm>
          <a:custGeom>
            <a:avLst/>
            <a:gdLst/>
            <a:ahLst/>
            <a:cxnLst/>
            <a:rect l="l" t="t" r="r" b="b"/>
            <a:pathLst>
              <a:path w="9117330">
                <a:moveTo>
                  <a:pt x="0" y="0"/>
                </a:moveTo>
                <a:lnTo>
                  <a:pt x="9117078" y="0"/>
                </a:lnTo>
              </a:path>
            </a:pathLst>
          </a:custGeom>
          <a:ln w="43274">
            <a:solidFill>
              <a:srgbClr val="C1C43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0">
              <a:lnSpc>
                <a:spcPts val="3470"/>
              </a:lnSpc>
            </a:pPr>
            <a:r>
              <a:rPr spc="100" dirty="0"/>
              <a:t>死锁忽略的引出</a:t>
            </a:r>
            <a:endParaRPr spc="100" dirty="0"/>
          </a:p>
        </p:txBody>
      </p:sp>
      <p:sp>
        <p:nvSpPr>
          <p:cNvPr id="4" name="object 4"/>
          <p:cNvSpPr txBox="1"/>
          <p:nvPr/>
        </p:nvSpPr>
        <p:spPr>
          <a:xfrm>
            <a:off x="737044" y="1882245"/>
            <a:ext cx="1715770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死锁预防</a:t>
            </a:r>
            <a:r>
              <a:rPr sz="2400" b="1" dirty="0">
                <a:latin typeface="Arial" panose="020B0604020202020204"/>
                <a:cs typeface="Arial" panose="020B0604020202020204"/>
              </a:rPr>
              <a:t>?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17604" y="2025804"/>
            <a:ext cx="2620645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引入太多不合理因素</a:t>
            </a:r>
            <a:r>
              <a:rPr sz="2000" b="1" spc="30" dirty="0">
                <a:latin typeface="Arial" panose="020B0604020202020204"/>
                <a:cs typeface="Arial" panose="020B0604020202020204"/>
              </a:rPr>
              <a:t>…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37524" y="2078990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37044" y="2790754"/>
            <a:ext cx="1715770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死锁避免</a:t>
            </a:r>
            <a:r>
              <a:rPr sz="2400" b="1" dirty="0">
                <a:latin typeface="Arial" panose="020B0604020202020204"/>
                <a:cs typeface="Arial" panose="020B0604020202020204"/>
              </a:rPr>
              <a:t>?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17604" y="2861491"/>
            <a:ext cx="5298440" cy="2940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每次申请都执行银行家算法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O(</a:t>
            </a:r>
            <a:r>
              <a:rPr sz="2000" b="1" spc="35" dirty="0">
                <a:latin typeface="Arial" panose="020B0604020202020204"/>
                <a:cs typeface="Arial" panose="020B0604020202020204"/>
              </a:rPr>
              <a:t>m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</a:t>
            </a:r>
            <a:r>
              <a:rPr sz="2025" b="1" baseline="25000" dirty="0">
                <a:latin typeface="Arial" panose="020B0604020202020204"/>
                <a:cs typeface="Arial" panose="020B0604020202020204"/>
              </a:rPr>
              <a:t>2</a:t>
            </a:r>
            <a:r>
              <a:rPr sz="2000" b="1" spc="10" dirty="0">
                <a:latin typeface="Arial" panose="020B0604020202020204"/>
                <a:cs typeface="Arial" panose="020B0604020202020204"/>
              </a:rPr>
              <a:t>)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，效率太</a:t>
            </a:r>
            <a:r>
              <a:rPr sz="2925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低</a:t>
            </a:r>
            <a:endParaRPr sz="2925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36889" y="2879642"/>
            <a:ext cx="160968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37044" y="3701968"/>
            <a:ext cx="2498725" cy="368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死锁检测</a:t>
            </a:r>
            <a:r>
              <a:rPr sz="2400" b="1" spc="-10" dirty="0">
                <a:latin typeface="Arial" panose="020B0604020202020204"/>
                <a:cs typeface="Arial" panose="020B0604020202020204"/>
              </a:rPr>
              <a:t>+</a:t>
            </a:r>
            <a:r>
              <a:rPr sz="3450" b="1" spc="112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恢复</a:t>
            </a:r>
            <a:r>
              <a:rPr sz="2400" b="1" dirty="0">
                <a:latin typeface="Arial" panose="020B0604020202020204"/>
                <a:cs typeface="Arial" panose="020B0604020202020204"/>
              </a:rPr>
              <a:t>?</a:t>
            </a:r>
            <a:endParaRPr sz="2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41562" y="3796854"/>
            <a:ext cx="4697730" cy="276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3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恢复很不容易，进程造成的改变很难恢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复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137049" y="3870619"/>
            <a:ext cx="160969" cy="163630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01973" y="4672665"/>
            <a:ext cx="1531620" cy="344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450" b="1" spc="112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死锁忽</a:t>
            </a:r>
            <a:r>
              <a:rPr sz="3450" b="1" spc="135" baseline="1000" dirty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略</a:t>
            </a:r>
            <a:endParaRPr sz="3450" baseline="1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50975" y="5683885"/>
            <a:ext cx="7028180" cy="684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有趣的是大多数非专门的操作系统都用它，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如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b="1" spc="25" dirty="0">
                <a:latin typeface="Arial" panose="020B0604020202020204"/>
                <a:cs typeface="Arial" panose="020B0604020202020204"/>
              </a:rPr>
              <a:t>UN</a:t>
            </a:r>
            <a:r>
              <a:rPr sz="2000" b="1" spc="5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5" dirty="0">
                <a:latin typeface="Arial" panose="020B0604020202020204"/>
                <a:cs typeface="Arial" panose="020B0604020202020204"/>
              </a:rPr>
              <a:t>X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L</a:t>
            </a:r>
            <a:r>
              <a:rPr sz="2000" b="1" dirty="0">
                <a:latin typeface="Arial" panose="020B0604020202020204"/>
                <a:cs typeface="Arial" panose="020B0604020202020204"/>
              </a:rPr>
              <a:t>i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nu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x</a:t>
            </a:r>
            <a:r>
              <a:rPr sz="2925" b="1" spc="127" baseline="1000" dirty="0"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sz="2000" b="1" spc="20" dirty="0">
                <a:latin typeface="Arial" panose="020B0604020202020204"/>
                <a:cs typeface="Arial" panose="020B0604020202020204"/>
              </a:rPr>
              <a:t>W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indow</a:t>
            </a:r>
            <a:r>
              <a:rPr sz="2000" b="1" spc="15" dirty="0">
                <a:latin typeface="Arial" panose="020B0604020202020204"/>
                <a:cs typeface="Arial" panose="020B0604020202020204"/>
              </a:rPr>
              <a:t>s</a:t>
            </a:r>
            <a:endParaRPr sz="20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219666" y="5746279"/>
            <a:ext cx="160969" cy="16362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593804" y="4692356"/>
            <a:ext cx="3659504" cy="653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27000"/>
              </a:lnSpc>
            </a:pP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死锁出现不是确定的，又可以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用</a:t>
            </a:r>
            <a:r>
              <a:rPr sz="1950" b="1" spc="35" dirty="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950" b="1" spc="85" dirty="0">
                <a:latin typeface="宋体" panose="02010600030101010101" pitchFamily="2" charset="-122"/>
                <a:cs typeface="宋体" panose="02010600030101010101" pitchFamily="2" charset="-122"/>
              </a:rPr>
              <a:t>重启动来处理死</a:t>
            </a:r>
            <a:r>
              <a:rPr sz="1950" b="1" spc="75" dirty="0">
                <a:latin typeface="宋体" panose="02010600030101010101" pitchFamily="2" charset="-122"/>
                <a:cs typeface="宋体" panose="02010600030101010101" pitchFamily="2" charset="-122"/>
              </a:rPr>
              <a:t>锁</a:t>
            </a:r>
            <a:endParaRPr sz="195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136891" y="4729315"/>
            <a:ext cx="160969" cy="16362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O</a:t>
            </a:r>
            <a:r>
              <a:rPr dirty="0"/>
              <a:t>p</a:t>
            </a:r>
            <a:r>
              <a:rPr spc="5" dirty="0"/>
              <a:t>er</a:t>
            </a:r>
            <a:r>
              <a:rPr dirty="0"/>
              <a:t>a</a:t>
            </a:r>
            <a:r>
              <a:rPr spc="5" dirty="0"/>
              <a:t>t</a:t>
            </a:r>
            <a:r>
              <a:rPr dirty="0"/>
              <a:t>i</a:t>
            </a:r>
            <a:r>
              <a:rPr dirty="0"/>
              <a:t>n</a:t>
            </a:r>
            <a:r>
              <a:rPr spc="5" dirty="0"/>
              <a:t>g</a:t>
            </a:r>
            <a:r>
              <a:rPr dirty="0"/>
              <a:t> </a:t>
            </a:r>
            <a:r>
              <a:rPr dirty="0"/>
              <a:t>S</a:t>
            </a:r>
            <a:r>
              <a:rPr dirty="0"/>
              <a:t>y</a:t>
            </a:r>
            <a:r>
              <a:rPr spc="5" dirty="0"/>
              <a:t>s</a:t>
            </a:r>
            <a:r>
              <a:rPr spc="5" dirty="0"/>
              <a:t>t</a:t>
            </a:r>
            <a:r>
              <a:rPr spc="5" dirty="0"/>
              <a:t>e</a:t>
            </a:r>
            <a:r>
              <a:rPr spc="10" dirty="0"/>
              <a:t>ms</a:t>
            </a:r>
            <a:endParaRPr spc="10" dirty="0"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Rectangle 2"/>
          <p:cNvSpPr>
            <a:spLocks noGrp="1"/>
          </p:cNvSpPr>
          <p:nvPr>
            <p:ph type="title"/>
          </p:nvPr>
        </p:nvSpPr>
        <p:spPr>
          <a:xfrm>
            <a:off x="241300" y="1030605"/>
            <a:ext cx="9089390" cy="715645"/>
          </a:xfrm>
        </p:spPr>
        <p:txBody>
          <a:bodyPr vert="horz" wrap="square" lIns="100753" tIns="50376" rIns="100753" bIns="50376" anchor="ctr" anchorCtr="0"/>
          <a:p>
            <a:pPr eaLnBrk="1" hangingPunct="1"/>
            <a:r>
              <a:rPr lang="zh-CN" altLang="en-US" sz="4000" dirty="0">
                <a:solidFill>
                  <a:schemeClr val="tx1"/>
                </a:solidFill>
              </a:rPr>
              <a:t>进程同步的总结</a:t>
            </a:r>
            <a:endParaRPr lang="zh-CN" altLang="en-US" sz="4000" dirty="0">
              <a:solidFill>
                <a:schemeClr val="tx1"/>
              </a:solidFill>
            </a:endParaRPr>
          </a:p>
        </p:txBody>
      </p:sp>
      <p:sp>
        <p:nvSpPr>
          <p:cNvPr id="171013" name="Rectangle 5"/>
          <p:cNvSpPr/>
          <p:nvPr/>
        </p:nvSpPr>
        <p:spPr>
          <a:xfrm>
            <a:off x="546141" y="1797018"/>
            <a:ext cx="8728457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645" b="1" dirty="0">
                <a:latin typeface="Arial" panose="020B0604020202020204" pitchFamily="34" charset="0"/>
              </a:rPr>
              <a:t>并发 </a:t>
            </a:r>
            <a:r>
              <a:rPr lang="zh-CN" altLang="en-US" sz="2645" b="1" dirty="0">
                <a:latin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zh-CN" altLang="en-US" sz="2645" b="1" dirty="0">
                <a:latin typeface="Arial" panose="020B0604020202020204" pitchFamily="34" charset="0"/>
              </a:rPr>
              <a:t>  多个进程同时存在 </a:t>
            </a:r>
            <a:r>
              <a:rPr lang="zh-CN" altLang="en-US" sz="2645" b="1" dirty="0">
                <a:latin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zh-CN" altLang="en-US" sz="2645" b="1" dirty="0">
                <a:latin typeface="Arial" panose="020B0604020202020204" pitchFamily="34" charset="0"/>
              </a:rPr>
              <a:t> 相互影响</a:t>
            </a:r>
            <a:endParaRPr lang="zh-CN" altLang="en-US" sz="2645" b="1" dirty="0">
              <a:latin typeface="Arial" panose="020B0604020202020204" pitchFamily="34" charset="0"/>
            </a:endParaRPr>
          </a:p>
        </p:txBody>
      </p:sp>
      <p:sp>
        <p:nvSpPr>
          <p:cNvPr id="171014" name="Rectangle 6"/>
          <p:cNvSpPr/>
          <p:nvPr/>
        </p:nvSpPr>
        <p:spPr>
          <a:xfrm>
            <a:off x="545818" y="2422352"/>
            <a:ext cx="9487606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645" b="1" dirty="0">
                <a:latin typeface="Arial" panose="020B0604020202020204" pitchFamily="34" charset="0"/>
                <a:sym typeface="Symbol" panose="05050102010706020507" pitchFamily="18" charset="2"/>
              </a:rPr>
              <a:t>非原子操作共享变量</a:t>
            </a:r>
            <a:r>
              <a:rPr lang="zh-CN" altLang="en-US" sz="2645" b="1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645" b="1" dirty="0">
                <a:latin typeface="Arial" panose="020B0604020202020204" pitchFamily="34" charset="0"/>
                <a:sym typeface="Symbol" panose="05050102010706020507" pitchFamily="18" charset="2"/>
              </a:rPr>
              <a:t> 出现语义错误  竞争条件 </a:t>
            </a:r>
            <a:endParaRPr lang="zh-CN" altLang="en-US" sz="2645" b="1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71015" name="Rectangle 7"/>
          <p:cNvSpPr/>
          <p:nvPr/>
        </p:nvSpPr>
        <p:spPr>
          <a:xfrm>
            <a:off x="545818" y="3035621"/>
            <a:ext cx="9487606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645" b="1" dirty="0">
                <a:latin typeface="Arial" panose="020B0604020202020204" pitchFamily="34" charset="0"/>
                <a:sym typeface="Symbol" panose="05050102010706020507" pitchFamily="18" charset="2"/>
              </a:rPr>
              <a:t>竞争条件  临界区  互斥  临界区进入方法</a:t>
            </a:r>
            <a:endParaRPr lang="zh-CN" altLang="en-US" sz="2645" b="1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71017" name="Rectangle 9"/>
          <p:cNvSpPr/>
          <p:nvPr/>
        </p:nvSpPr>
        <p:spPr>
          <a:xfrm>
            <a:off x="545818" y="3702230"/>
            <a:ext cx="9739489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645" b="1" dirty="0">
                <a:latin typeface="Arial" panose="020B0604020202020204" pitchFamily="34" charset="0"/>
                <a:sym typeface="Symbol" panose="05050102010706020507" pitchFamily="18" charset="2"/>
              </a:rPr>
              <a:t>复杂的面包店算法强硬的关中断硬件支持的</a:t>
            </a:r>
            <a:r>
              <a:rPr lang="en-US" altLang="zh-CN" sz="2645" b="1" dirty="0">
                <a:latin typeface="Arial" panose="020B0604020202020204" pitchFamily="34" charset="0"/>
                <a:sym typeface="Symbol" panose="05050102010706020507" pitchFamily="18" charset="2"/>
              </a:rPr>
              <a:t>TestAndSet</a:t>
            </a:r>
            <a:endParaRPr lang="en-US" altLang="zh-CN" sz="2645" b="1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71018" name="Rectangle 10"/>
          <p:cNvSpPr/>
          <p:nvPr/>
        </p:nvSpPr>
        <p:spPr>
          <a:xfrm>
            <a:off x="545818" y="4401859"/>
            <a:ext cx="9487606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645" b="1" dirty="0">
                <a:latin typeface="Arial" panose="020B0604020202020204" pitchFamily="34" charset="0"/>
                <a:sym typeface="Symbol" panose="05050102010706020507" pitchFamily="18" charset="2"/>
              </a:rPr>
              <a:t>都不适合用户实现  封装成锁</a:t>
            </a:r>
            <a:endParaRPr lang="zh-CN" altLang="en-US" sz="2645" b="1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71019" name="Rectangle 11"/>
          <p:cNvSpPr/>
          <p:nvPr/>
        </p:nvSpPr>
        <p:spPr>
          <a:xfrm>
            <a:off x="545818" y="5041798"/>
            <a:ext cx="9487606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645" b="1" dirty="0">
                <a:latin typeface="Arial" panose="020B0604020202020204" pitchFamily="34" charset="0"/>
                <a:sym typeface="Symbol" panose="05050102010706020507" pitchFamily="18" charset="2"/>
              </a:rPr>
              <a:t>一般的锁会盲等  引入睡眠  将锁一般化为信号量 </a:t>
            </a:r>
            <a:endParaRPr lang="zh-CN" altLang="en-US" sz="2645" b="1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71020" name="Rectangle 12"/>
          <p:cNvSpPr/>
          <p:nvPr/>
        </p:nvSpPr>
        <p:spPr>
          <a:xfrm>
            <a:off x="545818" y="6381044"/>
            <a:ext cx="9487606" cy="953309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645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所有一切都是为了使用户更容易、使系统更好用</a:t>
            </a:r>
            <a:r>
              <a:rPr lang="en-US" altLang="zh-CN" sz="2645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</a:t>
            </a:r>
            <a:r>
              <a:rPr lang="zh-CN" altLang="en-US" sz="2645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不出错</a:t>
            </a:r>
            <a:r>
              <a:rPr lang="en-US" altLang="zh-CN" sz="2645" b="1" dirty="0">
                <a:solidFill>
                  <a:srgbClr val="FF000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</a:t>
            </a:r>
            <a:r>
              <a:rPr lang="en-US" altLang="zh-CN" sz="2645" b="1" dirty="0"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endParaRPr lang="en-US" altLang="zh-CN" sz="2645" b="1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71022" name="Rectangle 14"/>
          <p:cNvSpPr/>
          <p:nvPr/>
        </p:nvSpPr>
        <p:spPr>
          <a:xfrm>
            <a:off x="545818" y="5683007"/>
            <a:ext cx="9487606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645" b="1" dirty="0">
                <a:latin typeface="Arial" panose="020B0604020202020204" pitchFamily="34" charset="0"/>
                <a:sym typeface="Symbol" panose="05050102010706020507" pitchFamily="18" charset="2"/>
              </a:rPr>
              <a:t>信号量也容易出错  管程，将复杂性交给编译器 </a:t>
            </a:r>
            <a:endParaRPr lang="zh-CN" altLang="en-US" sz="2645" b="1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  <p:custDataLst>
              <p:tags r:id="rId1"/>
            </p:custDataLst>
          </p:nvPr>
        </p:nvSpPr>
        <p:spPr>
          <a:xfrm>
            <a:off x="5074518" y="7283189"/>
            <a:ext cx="431164" cy="1993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p>
            <a:pPr marL="12700">
              <a:lnSpc>
                <a:spcPct val="100000"/>
              </a:lnSpc>
            </a:pPr>
            <a:r>
              <a:rPr spc="5" dirty="0"/>
              <a:t>-</a:t>
            </a:r>
            <a:r>
              <a:rPr spc="10" dirty="0"/>
              <a:t> </a:t>
            </a:r>
            <a:fld id="{81D60167-4931-47E6-BA6A-407CBD079E47}" type="slidenum">
              <a:rPr spc="5" dirty="0"/>
            </a:fld>
            <a:r>
              <a:rPr dirty="0"/>
              <a:t> </a:t>
            </a:r>
            <a:r>
              <a:rPr spc="5" dirty="0"/>
              <a:t>-</a:t>
            </a:r>
            <a:endParaRPr spc="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1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1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71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3" grpId="0"/>
      <p:bldP spid="171014" grpId="0"/>
      <p:bldP spid="171015" grpId="0"/>
      <p:bldP spid="171017" grpId="0"/>
      <p:bldP spid="171018" grpId="0"/>
      <p:bldP spid="171019" grpId="0"/>
      <p:bldP spid="171020" grpId="0"/>
      <p:bldP spid="171022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/>
          </p:cNvSpPr>
          <p:nvPr>
            <p:ph type="title"/>
          </p:nvPr>
        </p:nvSpPr>
        <p:spPr>
          <a:xfrm>
            <a:off x="165100" y="958850"/>
            <a:ext cx="9089390" cy="715645"/>
          </a:xfrm>
        </p:spPr>
        <p:txBody>
          <a:bodyPr vert="horz" wrap="square" lIns="100753" tIns="50376" rIns="100753" bIns="50376" anchor="ctr" anchorCtr="0"/>
          <a:p>
            <a:pPr eaLnBrk="1" hangingPunct="1"/>
            <a:r>
              <a:rPr lang="zh-CN" altLang="en-US" sz="4000" dirty="0"/>
              <a:t>死锁总结</a:t>
            </a:r>
            <a:endParaRPr lang="zh-CN" altLang="en-US" sz="4000" dirty="0"/>
          </a:p>
        </p:txBody>
      </p:sp>
      <p:sp>
        <p:nvSpPr>
          <p:cNvPr id="171013" name="Rectangle 5"/>
          <p:cNvSpPr/>
          <p:nvPr/>
        </p:nvSpPr>
        <p:spPr>
          <a:xfrm>
            <a:off x="428031" y="1720818"/>
            <a:ext cx="8728457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645" b="1" dirty="0">
                <a:latin typeface="Arial" panose="020B0604020202020204" pitchFamily="34" charset="0"/>
              </a:rPr>
              <a:t>进程竞争资源 </a:t>
            </a:r>
            <a:r>
              <a:rPr lang="zh-CN" altLang="en-US" sz="2645" b="1" dirty="0">
                <a:latin typeface="Arial" panose="020B0604020202020204" pitchFamily="34" charset="0"/>
                <a:sym typeface="Symbol" panose="05050102010706020507" pitchFamily="18" charset="2"/>
              </a:rPr>
              <a:t> 有可能形成循环竞争  死锁</a:t>
            </a:r>
            <a:endParaRPr lang="zh-CN" altLang="en-US" sz="2645" b="1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71014" name="Rectangle 6"/>
          <p:cNvSpPr/>
          <p:nvPr/>
        </p:nvSpPr>
        <p:spPr>
          <a:xfrm>
            <a:off x="428031" y="2339802"/>
            <a:ext cx="9487606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645" b="1" dirty="0">
                <a:latin typeface="Arial" panose="020B0604020202020204" pitchFamily="34" charset="0"/>
                <a:sym typeface="Symbol" panose="05050102010706020507" pitchFamily="18" charset="2"/>
              </a:rPr>
              <a:t>死锁需要处理</a:t>
            </a:r>
            <a:r>
              <a:rPr lang="zh-CN" altLang="en-US" sz="2645" b="1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645" b="1" dirty="0">
                <a:latin typeface="Arial" panose="020B0604020202020204" pitchFamily="34" charset="0"/>
                <a:sym typeface="Symbol" panose="05050102010706020507" pitchFamily="18" charset="2"/>
              </a:rPr>
              <a:t> 死锁分析  死锁的必要条件</a:t>
            </a:r>
            <a:endParaRPr lang="zh-CN" altLang="en-US" sz="2645" b="1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71015" name="Rectangle 7"/>
          <p:cNvSpPr/>
          <p:nvPr/>
        </p:nvSpPr>
        <p:spPr>
          <a:xfrm>
            <a:off x="428031" y="2883470"/>
            <a:ext cx="9487606" cy="953309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645" b="1" dirty="0">
                <a:latin typeface="Arial" panose="020B0604020202020204" pitchFamily="34" charset="0"/>
                <a:sym typeface="Symbol" panose="05050102010706020507" pitchFamily="18" charset="2"/>
              </a:rPr>
              <a:t>死锁处理   预防、避免、检测</a:t>
            </a:r>
            <a:r>
              <a:rPr lang="en-US" altLang="zh-CN" sz="2645" b="1" dirty="0">
                <a:latin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zh-CN" altLang="en-US" sz="2645" b="1" dirty="0">
                <a:latin typeface="Arial" panose="020B0604020202020204" pitchFamily="34" charset="0"/>
                <a:sym typeface="Symbol" panose="05050102010706020507" pitchFamily="18" charset="2"/>
              </a:rPr>
              <a:t>恢复、忽略</a:t>
            </a:r>
            <a:endParaRPr lang="zh-CN" altLang="en-US" sz="2645" b="1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71017" name="Rectangle 9"/>
          <p:cNvSpPr/>
          <p:nvPr/>
        </p:nvSpPr>
        <p:spPr>
          <a:xfrm>
            <a:off x="428031" y="3521120"/>
            <a:ext cx="9487606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645" b="1" dirty="0">
                <a:latin typeface="Arial" panose="020B0604020202020204" pitchFamily="34" charset="0"/>
                <a:sym typeface="Symbol" panose="05050102010706020507" pitchFamily="18" charset="2"/>
              </a:rPr>
              <a:t>死锁预防</a:t>
            </a:r>
            <a:r>
              <a:rPr lang="en-US" altLang="zh-CN" sz="2645" b="1" dirty="0">
                <a:latin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zh-CN" altLang="en-US" sz="2645" b="1" dirty="0">
                <a:latin typeface="Arial" panose="020B0604020202020204" pitchFamily="34" charset="0"/>
                <a:sym typeface="Symbol" panose="05050102010706020507" pitchFamily="18" charset="2"/>
              </a:rPr>
              <a:t>破除必要条件  引入了不合理因素</a:t>
            </a:r>
            <a:endParaRPr lang="zh-CN" altLang="en-US" sz="2645" b="1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71018" name="Rectangle 10"/>
          <p:cNvSpPr/>
          <p:nvPr/>
        </p:nvSpPr>
        <p:spPr>
          <a:xfrm>
            <a:off x="428031" y="4222544"/>
            <a:ext cx="9487606" cy="953309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645" b="1" dirty="0">
                <a:latin typeface="Arial" panose="020B0604020202020204" pitchFamily="34" charset="0"/>
                <a:sym typeface="Symbol" panose="05050102010706020507" pitchFamily="18" charset="2"/>
              </a:rPr>
              <a:t>死锁避免</a:t>
            </a:r>
            <a:r>
              <a:rPr lang="en-US" altLang="zh-CN" sz="2645" b="1" dirty="0">
                <a:latin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zh-CN" altLang="en-US" sz="2645" b="1" dirty="0">
                <a:latin typeface="Arial" panose="020B0604020202020204" pitchFamily="34" charset="0"/>
                <a:sym typeface="Symbol" panose="05050102010706020507" pitchFamily="18" charset="2"/>
              </a:rPr>
              <a:t>用银行家算法找安全序列  效率太低 </a:t>
            </a:r>
            <a:endParaRPr lang="zh-CN" altLang="en-US" sz="2645" b="1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71019" name="Rectangle 11"/>
          <p:cNvSpPr/>
          <p:nvPr/>
        </p:nvSpPr>
        <p:spPr>
          <a:xfrm>
            <a:off x="428031" y="4923970"/>
            <a:ext cx="9487606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645" b="1" dirty="0">
                <a:latin typeface="Arial" panose="020B0604020202020204" pitchFamily="34" charset="0"/>
                <a:sym typeface="Symbol" panose="05050102010706020507" pitchFamily="18" charset="2"/>
              </a:rPr>
              <a:t>死锁检测恢复</a:t>
            </a:r>
            <a:r>
              <a:rPr lang="en-US" altLang="zh-CN" sz="2645" b="1" dirty="0">
                <a:latin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zh-CN" altLang="en-US" sz="2645" b="1" dirty="0">
                <a:latin typeface="Arial" panose="020B0604020202020204" pitchFamily="34" charset="0"/>
                <a:sym typeface="Symbol" panose="05050102010706020507" pitchFamily="18" charset="2"/>
              </a:rPr>
              <a:t>银行家算法找死锁进程组并恢复  实现较难 </a:t>
            </a:r>
            <a:endParaRPr lang="zh-CN" altLang="en-US" sz="2645" b="1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sp>
        <p:nvSpPr>
          <p:cNvPr id="171020" name="Rectangle 12"/>
          <p:cNvSpPr/>
          <p:nvPr/>
        </p:nvSpPr>
        <p:spPr>
          <a:xfrm>
            <a:off x="428031" y="5679620"/>
            <a:ext cx="9487606" cy="953308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>
              <a:lnSpc>
                <a:spcPct val="130000"/>
              </a:lnSpc>
              <a:spcBef>
                <a:spcPct val="20000"/>
              </a:spcBef>
              <a:buClr>
                <a:srgbClr val="993300"/>
              </a:buClr>
              <a:buSzPct val="90000"/>
              <a:buFont typeface="Wingdings" panose="05000000000000000000" pitchFamily="2" charset="2"/>
              <a:buChar char="n"/>
            </a:pPr>
            <a:r>
              <a:rPr lang="zh-CN" altLang="en-US" sz="2645" b="1" dirty="0">
                <a:latin typeface="Arial" panose="020B0604020202020204" pitchFamily="34" charset="0"/>
                <a:sym typeface="Symbol" panose="05050102010706020507" pitchFamily="18" charset="2"/>
              </a:rPr>
              <a:t>死锁忽略</a:t>
            </a:r>
            <a:r>
              <a:rPr lang="en-US" altLang="zh-CN" sz="2645" b="1" dirty="0">
                <a:latin typeface="Arial" panose="020B0604020202020204" pitchFamily="34" charset="0"/>
                <a:sym typeface="Symbol" panose="05050102010706020507" pitchFamily="18" charset="2"/>
              </a:rPr>
              <a:t>: </a:t>
            </a:r>
            <a:r>
              <a:rPr lang="zh-CN" altLang="en-US" sz="2645" b="1" dirty="0">
                <a:latin typeface="Arial" panose="020B0604020202020204" pitchFamily="34" charset="0"/>
                <a:sym typeface="Symbol" panose="05050102010706020507" pitchFamily="18" charset="2"/>
              </a:rPr>
              <a:t>就好像没有死锁  现在用的最多 </a:t>
            </a:r>
            <a:endParaRPr lang="zh-CN" altLang="en-US" sz="2645" b="1" dirty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171023" name="Group 15"/>
          <p:cNvGrpSpPr/>
          <p:nvPr/>
        </p:nvGrpSpPr>
        <p:grpSpPr>
          <a:xfrm>
            <a:off x="1316567" y="5726847"/>
            <a:ext cx="8312150" cy="1493808"/>
            <a:chOff x="576" y="3226"/>
            <a:chExt cx="4752" cy="854"/>
          </a:xfrm>
        </p:grpSpPr>
        <p:sp>
          <p:nvSpPr>
            <p:cNvPr id="28684" name="Text Box 16"/>
            <p:cNvSpPr txBox="1"/>
            <p:nvPr/>
          </p:nvSpPr>
          <p:spPr>
            <a:xfrm>
              <a:off x="576" y="3562"/>
              <a:ext cx="4416" cy="518"/>
            </a:xfrm>
            <a:prstGeom prst="rect">
              <a:avLst/>
            </a:prstGeom>
            <a:solidFill>
              <a:srgbClr val="EAEAEA"/>
            </a:solidFill>
            <a:ln w="9525">
              <a:noFill/>
            </a:ln>
          </p:spPr>
          <p:txBody>
            <a:bodyPr>
              <a:spAutoFit/>
            </a:bodyPr>
            <a:p>
              <a:pPr algn="ctr"/>
              <a:r>
                <a:rPr lang="zh-CN" altLang="en-US" sz="2645" b="1" dirty="0">
                  <a:solidFill>
                    <a:srgbClr val="000099"/>
                  </a:solidFill>
                  <a:latin typeface="Arial" panose="020B0604020202020204" pitchFamily="34" charset="0"/>
                </a:rPr>
                <a:t>任何思想、</a:t>
              </a:r>
              <a:r>
                <a:rPr lang="zh-CN" altLang="en-US" sz="2645" b="1" dirty="0">
                  <a:solidFill>
                    <a:srgbClr val="000099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概念、技术的主流都会</a:t>
              </a:r>
              <a:endParaRPr lang="zh-CN" altLang="en-US" sz="2645" b="1" dirty="0">
                <a:solidFill>
                  <a:srgbClr val="000099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  <a:p>
              <a:pPr algn="ctr"/>
              <a:r>
                <a:rPr lang="zh-CN" altLang="en-US" sz="2645" b="1" dirty="0">
                  <a:solidFill>
                    <a:srgbClr val="000099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随着时间而改变，操作系统尤为明显</a:t>
              </a:r>
              <a:r>
                <a:rPr lang="en-US" altLang="zh-CN" sz="2645" b="1" dirty="0">
                  <a:solidFill>
                    <a:srgbClr val="000099"/>
                  </a:solidFill>
                  <a:latin typeface="Arial" panose="020B0604020202020204" pitchFamily="34" charset="0"/>
                  <a:sym typeface="Symbol" panose="05050102010706020507" pitchFamily="18" charset="2"/>
                </a:rPr>
                <a:t>! </a:t>
              </a:r>
              <a:endParaRPr lang="en-US" altLang="zh-CN" sz="2645" b="1" dirty="0">
                <a:solidFill>
                  <a:srgbClr val="000099"/>
                </a:solidFill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  <p:pic>
          <p:nvPicPr>
            <p:cNvPr id="28685" name="Picture 17" descr="j030125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416" y="3226"/>
              <a:ext cx="912" cy="780"/>
            </a:xfrm>
            <a:prstGeom prst="rect">
              <a:avLst/>
            </a:prstGeom>
            <a:noFill/>
            <a:ln w="9525"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1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1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1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1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71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3" grpId="0"/>
      <p:bldP spid="171014" grpId="0"/>
      <p:bldP spid="171015" grpId="0"/>
      <p:bldP spid="171017" grpId="0"/>
      <p:bldP spid="171018" grpId="0"/>
      <p:bldP spid="171019" grpId="0"/>
      <p:bldP spid="171020" grpId="0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PP_MARK_KEY" val="a421bee8-8629-4b69-af3c-e22941a01b6c"/>
  <p:tag name="COMMONDATA" val="eyJoZGlkIjoiMmY5YTJiMTFlYzU2N2QxYWZmODJmYjM5ZDA3ZDExYjQifQ=="/>
  <p:tag name="commondata" val="eyJoZGlkIjoiYWNhNTcxMTM1NDk1YWM4ODVlM2VmZjA2NGExNzU1YjI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ln w="8114">
          <a:solidFill>
            <a:srgbClr val="000066"/>
          </a:solidFill>
        </a:ln>
      </a:spPr>
      <a:bodyPr vert="horz" wrap="square" lIns="0" tIns="0" rIns="0" bIns="0" rtlCol="0">
        <a:noAutofit/>
      </a:bodyPr>
      <a:lstStyle>
        <a:defPPr marL="539115" marR="4963795">
          <a:lnSpc>
            <a:spcPct val="299000"/>
          </a:lnSpc>
          <a:defRPr sz="1650" b="1" spc="40" dirty="0">
            <a:latin typeface="宋体" panose="02010600030101010101" pitchFamily="2" charset="-122"/>
            <a:cs typeface="宋体" panose="02010600030101010101" pitchFamily="2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9467</Words>
  <Application>WPS 演示</Application>
  <PresentationFormat>On-screen Show (4:3)</PresentationFormat>
  <Paragraphs>1041</Paragraphs>
  <Slides>44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44</vt:i4>
      </vt:variant>
    </vt:vector>
  </HeadingPairs>
  <TitlesOfParts>
    <vt:vector size="67" baseType="lpstr">
      <vt:lpstr>Arial</vt:lpstr>
      <vt:lpstr>宋体</vt:lpstr>
      <vt:lpstr>Wingdings</vt:lpstr>
      <vt:lpstr>Times New Roman</vt:lpstr>
      <vt:lpstr>Arial</vt:lpstr>
      <vt:lpstr>华文琥珀</vt:lpstr>
      <vt:lpstr>Arial Black</vt:lpstr>
      <vt:lpstr>黑体</vt:lpstr>
      <vt:lpstr>华文隶书</vt:lpstr>
      <vt:lpstr>Symbol</vt:lpstr>
      <vt:lpstr>Tahoma</vt:lpstr>
      <vt:lpstr>Lucida Sans</vt:lpstr>
      <vt:lpstr>Courier New</vt:lpstr>
      <vt:lpstr>Calibri</vt:lpstr>
      <vt:lpstr>微软雅黑</vt:lpstr>
      <vt:lpstr>Arial Unicode MS</vt:lpstr>
      <vt:lpstr>PMingLiU</vt:lpstr>
      <vt:lpstr>MingLiU-ExtB</vt:lpstr>
      <vt:lpstr>Symbol</vt:lpstr>
      <vt:lpstr>Webdings</vt:lpstr>
      <vt:lpstr>Times New Roman</vt:lpstr>
      <vt:lpstr>Office Theme</vt:lpstr>
      <vt:lpstr>1_Office Theme</vt:lpstr>
      <vt:lpstr>PowerPoint 演示文稿</vt:lpstr>
      <vt:lpstr>进程合作：多进程共同完成一个任务</vt:lpstr>
      <vt:lpstr>从纸上到实际：生产者消费者实例</vt:lpstr>
      <vt:lpstr>找到哪些地方要停，什么时候再走?</vt:lpstr>
      <vt:lpstr>只发信号还不能解决全部问题</vt:lpstr>
      <vt:lpstr>从信号到信号量</vt:lpstr>
      <vt:lpstr>信号量开始工作…</vt:lpstr>
      <vt:lpstr>问题：一种资源的数量是8，这个资源对应的信号 量的当前值是2，说明:(  )</vt:lpstr>
      <vt:lpstr>什么是信号量? 信号量的定义…</vt:lpstr>
      <vt:lpstr>用信号量解生产者消费者问题</vt:lpstr>
      <vt:lpstr>PowerPoint 演示文稿</vt:lpstr>
      <vt:lpstr>温故而知新：什么是信号量? 通 过对这个量的访问和修改，让大 家有序推进。哪里还有问题吗?</vt:lpstr>
      <vt:lpstr>共同修改信号量引出的问题</vt:lpstr>
      <vt:lpstr>竞争条件(Race Condition)</vt:lpstr>
      <vt:lpstr>解决竞争条件的直观想法</vt:lpstr>
      <vt:lpstr>临界区(Critical Section)</vt:lpstr>
      <vt:lpstr>临界区代码的保护原则</vt:lpstr>
      <vt:lpstr>进入临界区的一个尝试  轮换法</vt:lpstr>
      <vt:lpstr>进入临界区的又一个尝试</vt:lpstr>
      <vt:lpstr>进入临界区的又一个尝试  标记法</vt:lpstr>
      <vt:lpstr>标记法能否解决问题?</vt:lpstr>
      <vt:lpstr>进入临界区的再一次尝试  非对称标记</vt:lpstr>
      <vt:lpstr>进入临界区Peterson算法</vt:lpstr>
      <vt:lpstr>Peterson算法的正确性</vt:lpstr>
      <vt:lpstr>多个进程怎么办?  面包店算法</vt:lpstr>
      <vt:lpstr>面包店算法的正确性</vt:lpstr>
      <vt:lpstr>PowerPoint 演示文稿</vt:lpstr>
      <vt:lpstr>临界区保护的另一类解法…</vt:lpstr>
      <vt:lpstr>临界区保护的硬件原子指令法</vt:lpstr>
      <vt:lpstr>PowerPoint 演示文稿</vt:lpstr>
      <vt:lpstr>PowerPoint 演示文稿</vt:lpstr>
      <vt:lpstr>如果信号量这样使用</vt:lpstr>
      <vt:lpstr>死锁的成因</vt:lpstr>
      <vt:lpstr>死锁的4个必要条件</vt:lpstr>
      <vt:lpstr>死锁处理方法概述</vt:lpstr>
      <vt:lpstr>死锁预防的方法例子</vt:lpstr>
      <vt:lpstr>死锁避免: 判断此次请求是否引起死锁?</vt:lpstr>
      <vt:lpstr>找安全序列的银行家算法(Dijkstra提出)</vt:lpstr>
      <vt:lpstr>死锁避免之资源请求实例</vt:lpstr>
      <vt:lpstr>死锁避免之资源请求实例(2)</vt:lpstr>
      <vt:lpstr>死锁检测+恢复: 发现问题再处理</vt:lpstr>
      <vt:lpstr>死锁忽略的引出</vt:lpstr>
      <vt:lpstr>进程同步的总结</vt:lpstr>
      <vt:lpstr>死锁总结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旁白</cp:lastModifiedBy>
  <cp:revision>27</cp:revision>
  <dcterms:created xsi:type="dcterms:W3CDTF">2023-09-24T13:56:00Z</dcterms:created>
  <dcterms:modified xsi:type="dcterms:W3CDTF">2025-10-12T12:51:39Z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35D9B96FB2964786BB2F6059BCEFA3B0_12</vt:lpwstr>
  </property>
  <property fmtid="{D5CDD505-2E9C-101B-9397-08002B2CF9AE}" pid="3" name="KSOProductBuildVer">
    <vt:lpwstr>2052-12.1.0.16120</vt:lpwstr>
  </property>
</Properties>
</file>