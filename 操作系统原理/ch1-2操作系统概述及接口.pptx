
<file path=[Content_Types].xml><?xml version="1.0" encoding="utf-8"?>
<Types xmlns="http://schemas.openxmlformats.org/package/2006/content-types">
  <Default Extension="vml" ContentType="application/vnd.openxmlformats-officedocument.vmlDrawing"/>
  <Default Extension="xls" ContentType="application/vnd.ms-excel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3"/>
    <p:sldMasterId id="2147483666" r:id="rId4"/>
    <p:sldMasterId id="2147483672" r:id="rId5"/>
    <p:sldMasterId id="2147483678" r:id="rId6"/>
  </p:sldMasterIdLst>
  <p:notesMasterIdLst>
    <p:notesMasterId r:id="rId3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7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80" r:id="rId29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310" r:id="rId42"/>
    <p:sldId id="300" r:id="rId43"/>
    <p:sldId id="301" r:id="rId44"/>
    <p:sldId id="302" r:id="rId45"/>
    <p:sldId id="303" r:id="rId46"/>
    <p:sldId id="304" r:id="rId47"/>
    <p:sldId id="305" r:id="rId48"/>
    <p:sldId id="311" r:id="rId49"/>
    <p:sldId id="312" r:id="rId50"/>
    <p:sldId id="313" r:id="rId51"/>
    <p:sldId id="314" r:id="rId52"/>
    <p:sldId id="315" r:id="rId53"/>
    <p:sldId id="316" r:id="rId54"/>
    <p:sldId id="317" r:id="rId55"/>
    <p:sldId id="318" r:id="rId56"/>
    <p:sldId id="319" r:id="rId57"/>
    <p:sldId id="320" r:id="rId58"/>
    <p:sldId id="321" r:id="rId59"/>
    <p:sldId id="322" r:id="rId60"/>
    <p:sldId id="323" r:id="rId61"/>
    <p:sldId id="324" r:id="rId62"/>
    <p:sldId id="325" r:id="rId63"/>
    <p:sldId id="326" r:id="rId64"/>
    <p:sldId id="327" r:id="rId65"/>
    <p:sldId id="328" r:id="rId66"/>
    <p:sldId id="329" r:id="rId67"/>
    <p:sldId id="330" r:id="rId68"/>
    <p:sldId id="331" r:id="rId69"/>
    <p:sldId id="332" r:id="rId70"/>
    <p:sldId id="333" r:id="rId71"/>
    <p:sldId id="334" r:id="rId72"/>
    <p:sldId id="335" r:id="rId73"/>
    <p:sldId id="336" r:id="rId74"/>
    <p:sldId id="337" r:id="rId75"/>
    <p:sldId id="338" r:id="rId76"/>
    <p:sldId id="346" r:id="rId77"/>
    <p:sldId id="347" r:id="rId78"/>
    <p:sldId id="348" r:id="rId79"/>
    <p:sldId id="349" r:id="rId80"/>
    <p:sldId id="350" r:id="rId81"/>
    <p:sldId id="351" r:id="rId82"/>
    <p:sldId id="352" r:id="rId83"/>
    <p:sldId id="353" r:id="rId84"/>
    <p:sldId id="354" r:id="rId85"/>
    <p:sldId id="355" r:id="rId86"/>
    <p:sldId id="356" r:id="rId87"/>
    <p:sldId id="357" r:id="rId88"/>
    <p:sldId id="358" r:id="rId89"/>
    <p:sldId id="359" r:id="rId90"/>
    <p:sldId id="360" r:id="rId91"/>
    <p:sldId id="361" r:id="rId92"/>
    <p:sldId id="339" r:id="rId93"/>
    <p:sldId id="340" r:id="rId94"/>
    <p:sldId id="341" r:id="rId95"/>
    <p:sldId id="342" r:id="rId96"/>
    <p:sldId id="343" r:id="rId97"/>
    <p:sldId id="344" r:id="rId98"/>
    <p:sldId id="345" r:id="rId99"/>
  </p:sldIdLst>
  <p:sldSz cx="10693400" cy="7556500"/>
  <p:notesSz cx="10693400" cy="7556500"/>
  <p:custDataLst>
    <p:tags r:id="rId10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08" userDrawn="1">
          <p15:clr>
            <a:srgbClr val="A4A3A4"/>
          </p15:clr>
        </p15:guide>
        <p15:guide id="2" pos="217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epone" initials="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908"/>
        <p:guide pos="217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2.xml"/><Relationship Id="rId98" Type="http://schemas.openxmlformats.org/officeDocument/2006/relationships/slide" Target="slides/slide91.xml"/><Relationship Id="rId97" Type="http://schemas.openxmlformats.org/officeDocument/2006/relationships/slide" Target="slides/slide90.xml"/><Relationship Id="rId96" Type="http://schemas.openxmlformats.org/officeDocument/2006/relationships/slide" Target="slides/slide89.xml"/><Relationship Id="rId95" Type="http://schemas.openxmlformats.org/officeDocument/2006/relationships/slide" Target="slides/slide88.xml"/><Relationship Id="rId94" Type="http://schemas.openxmlformats.org/officeDocument/2006/relationships/slide" Target="slides/slide87.xml"/><Relationship Id="rId93" Type="http://schemas.openxmlformats.org/officeDocument/2006/relationships/slide" Target="slides/slide86.xml"/><Relationship Id="rId92" Type="http://schemas.openxmlformats.org/officeDocument/2006/relationships/slide" Target="slides/slide85.xml"/><Relationship Id="rId91" Type="http://schemas.openxmlformats.org/officeDocument/2006/relationships/slide" Target="slides/slide84.xml"/><Relationship Id="rId90" Type="http://schemas.openxmlformats.org/officeDocument/2006/relationships/slide" Target="slides/slide83.xml"/><Relationship Id="rId9" Type="http://schemas.openxmlformats.org/officeDocument/2006/relationships/slide" Target="slides/slide3.xml"/><Relationship Id="rId89" Type="http://schemas.openxmlformats.org/officeDocument/2006/relationships/slide" Target="slides/slide82.xml"/><Relationship Id="rId88" Type="http://schemas.openxmlformats.org/officeDocument/2006/relationships/slide" Target="slides/slide81.xml"/><Relationship Id="rId87" Type="http://schemas.openxmlformats.org/officeDocument/2006/relationships/slide" Target="slides/slide80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80" Type="http://schemas.openxmlformats.org/officeDocument/2006/relationships/slide" Target="slides/slide73.xml"/><Relationship Id="rId8" Type="http://schemas.openxmlformats.org/officeDocument/2006/relationships/slide" Target="slides/slide2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7" Type="http://schemas.openxmlformats.org/officeDocument/2006/relationships/slide" Target="slides/slide1.xml"/><Relationship Id="rId69" Type="http://schemas.openxmlformats.org/officeDocument/2006/relationships/slide" Target="slides/slide62.xml"/><Relationship Id="rId68" Type="http://schemas.openxmlformats.org/officeDocument/2006/relationships/slide" Target="slides/slide61.xml"/><Relationship Id="rId67" Type="http://schemas.openxmlformats.org/officeDocument/2006/relationships/slide" Target="slides/slide60.xml"/><Relationship Id="rId66" Type="http://schemas.openxmlformats.org/officeDocument/2006/relationships/slide" Target="slides/slide59.xml"/><Relationship Id="rId65" Type="http://schemas.openxmlformats.org/officeDocument/2006/relationships/slide" Target="slides/slide58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0" Type="http://schemas.openxmlformats.org/officeDocument/2006/relationships/slide" Target="slides/slide53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52.xml"/><Relationship Id="rId58" Type="http://schemas.openxmlformats.org/officeDocument/2006/relationships/slide" Target="slides/slide51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55" Type="http://schemas.openxmlformats.org/officeDocument/2006/relationships/slide" Target="slides/slide48.xml"/><Relationship Id="rId54" Type="http://schemas.openxmlformats.org/officeDocument/2006/relationships/slide" Target="slides/slide47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0" Type="http://schemas.openxmlformats.org/officeDocument/2006/relationships/slide" Target="slides/slide33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1" Type="http://schemas.openxmlformats.org/officeDocument/2006/relationships/slide" Target="slides/slide24.xml"/><Relationship Id="rId30" Type="http://schemas.openxmlformats.org/officeDocument/2006/relationships/notesMaster" Target="notesMasters/notesMaster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4" Type="http://schemas.openxmlformats.org/officeDocument/2006/relationships/tags" Target="tags/tag19.xml"/><Relationship Id="rId103" Type="http://schemas.openxmlformats.org/officeDocument/2006/relationships/commentAuthors" Target="commentAuthors.xml"/><Relationship Id="rId102" Type="http://schemas.openxmlformats.org/officeDocument/2006/relationships/tableStyles" Target="tableStyles.xml"/><Relationship Id="rId101" Type="http://schemas.openxmlformats.org/officeDocument/2006/relationships/viewProps" Target="viewProps.xml"/><Relationship Id="rId100" Type="http://schemas.openxmlformats.org/officeDocument/2006/relationships/presProps" Target="presProps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8-27T17:48:52.534" idx="1">
    <p:pos x="2805" y="2493"/>
    <p:text/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E018B3-CCF5-4C9A-BC70-155D40F65A35}" type="doc">
      <dgm:prSet loTypeId="urn:microsoft.com/office/officeart/2008/layout/VerticalCurvedList" loCatId="list" qsTypeId="urn:microsoft.com/office/officeart/2005/8/quickstyle/3d1" qsCatId="3D" csTypeId="urn:microsoft.com/office/officeart/2005/8/colors/accent2_2" csCatId="accent2" phldr="1"/>
      <dgm:spPr/>
      <dgm:t>
        <a:bodyPr/>
        <a:lstStyle/>
        <a:p>
          <a:endParaRPr lang="zh-CN" altLang="en-US"/>
        </a:p>
      </dgm:t>
    </dgm:pt>
    <dgm:pt modelId="{BD8D0D45-830D-4014-BD2B-0828D0BB39CD}">
      <dgm:prSet phldrT="[文本]"/>
      <dgm:spPr/>
      <dgm:t>
        <a:bodyPr/>
        <a:lstStyle/>
        <a:p>
          <a:r>
            <a:rPr lang="en-US" altLang="zh-CN" dirty="0" smtClean="0"/>
            <a:t>Cocoa Touch</a:t>
          </a:r>
          <a:endParaRPr lang="zh-CN" altLang="en-US" dirty="0"/>
        </a:p>
      </dgm:t>
    </dgm:pt>
    <dgm:pt modelId="{D8C3A269-D271-4115-A3FA-92AE93CAC07B}" cxnId="{C747FB6F-4840-4008-BD53-F450BC037A6A}" type="parTrans">
      <dgm:prSet/>
      <dgm:spPr/>
      <dgm:t>
        <a:bodyPr/>
        <a:lstStyle/>
        <a:p>
          <a:endParaRPr lang="zh-CN" altLang="en-US"/>
        </a:p>
      </dgm:t>
    </dgm:pt>
    <dgm:pt modelId="{4C941E3D-D7BE-4702-BDB6-5A404EDA8677}" cxnId="{C747FB6F-4840-4008-BD53-F450BC037A6A}" type="sibTrans">
      <dgm:prSet/>
      <dgm:spPr/>
      <dgm:t>
        <a:bodyPr/>
        <a:lstStyle/>
        <a:p>
          <a:endParaRPr lang="zh-CN" altLang="en-US"/>
        </a:p>
      </dgm:t>
    </dgm:pt>
    <dgm:pt modelId="{A4EA6CAB-679A-4B19-9DD4-C383AF58C7DD}">
      <dgm:prSet phldrT="[文本]"/>
      <dgm:spPr/>
      <dgm:t>
        <a:bodyPr/>
        <a:lstStyle/>
        <a:p>
          <a:r>
            <a:rPr lang="en-US" altLang="zh-CN" dirty="0" smtClean="0"/>
            <a:t>Media Services</a:t>
          </a:r>
          <a:endParaRPr lang="zh-CN" altLang="en-US" dirty="0"/>
        </a:p>
      </dgm:t>
    </dgm:pt>
    <dgm:pt modelId="{51A8D140-0542-4E19-9B66-E83B907F0199}" cxnId="{5203C03C-2D59-4982-B6E3-FB5193EB317E}" type="parTrans">
      <dgm:prSet/>
      <dgm:spPr/>
      <dgm:t>
        <a:bodyPr/>
        <a:lstStyle/>
        <a:p>
          <a:endParaRPr lang="zh-CN" altLang="en-US"/>
        </a:p>
      </dgm:t>
    </dgm:pt>
    <dgm:pt modelId="{9D8F6371-FE7B-412E-A80C-ABDF478732D4}" cxnId="{5203C03C-2D59-4982-B6E3-FB5193EB317E}" type="sibTrans">
      <dgm:prSet/>
      <dgm:spPr/>
      <dgm:t>
        <a:bodyPr/>
        <a:lstStyle/>
        <a:p>
          <a:endParaRPr lang="zh-CN" altLang="en-US"/>
        </a:p>
      </dgm:t>
    </dgm:pt>
    <dgm:pt modelId="{29337605-729D-423C-B2CE-851D0D19C8DD}">
      <dgm:prSet phldrT="[文本]"/>
      <dgm:spPr/>
      <dgm:t>
        <a:bodyPr/>
        <a:lstStyle/>
        <a:p>
          <a:r>
            <a:rPr lang="en-US" altLang="zh-CN" dirty="0" smtClean="0"/>
            <a:t>Core Services</a:t>
          </a:r>
          <a:endParaRPr lang="zh-CN" altLang="en-US" dirty="0"/>
        </a:p>
      </dgm:t>
    </dgm:pt>
    <dgm:pt modelId="{889F8DE6-D4B1-4F63-93C5-87910AD33942}" cxnId="{86697B17-020D-40E9-B5EB-987A24DBDB1D}" type="parTrans">
      <dgm:prSet/>
      <dgm:spPr/>
      <dgm:t>
        <a:bodyPr/>
        <a:lstStyle/>
        <a:p>
          <a:endParaRPr lang="zh-CN" altLang="en-US"/>
        </a:p>
      </dgm:t>
    </dgm:pt>
    <dgm:pt modelId="{2B0A4827-9CDF-41FF-BF2E-C119FDAA4ED7}" cxnId="{86697B17-020D-40E9-B5EB-987A24DBDB1D}" type="sibTrans">
      <dgm:prSet/>
      <dgm:spPr/>
      <dgm:t>
        <a:bodyPr/>
        <a:lstStyle/>
        <a:p>
          <a:endParaRPr lang="zh-CN" altLang="en-US"/>
        </a:p>
      </dgm:t>
    </dgm:pt>
    <dgm:pt modelId="{5E2CC69C-29B9-4E0E-967C-BE44321DBAE4}">
      <dgm:prSet phldrT="[文本]"/>
      <dgm:spPr/>
      <dgm:t>
        <a:bodyPr/>
        <a:lstStyle/>
        <a:p>
          <a:r>
            <a:rPr lang="en-US" altLang="zh-CN" dirty="0" smtClean="0"/>
            <a:t>Core OS</a:t>
          </a:r>
          <a:endParaRPr lang="zh-CN" altLang="en-US" dirty="0"/>
        </a:p>
      </dgm:t>
    </dgm:pt>
    <dgm:pt modelId="{F45D8C17-F1D0-4D49-9B59-9A9F40783295}" cxnId="{232DD024-9ED4-4D28-BFF1-0D5763E57933}" type="parTrans">
      <dgm:prSet/>
      <dgm:spPr/>
      <dgm:t>
        <a:bodyPr/>
        <a:lstStyle/>
        <a:p>
          <a:endParaRPr lang="zh-CN" altLang="en-US"/>
        </a:p>
      </dgm:t>
    </dgm:pt>
    <dgm:pt modelId="{FAC6EFE0-3ECC-44AE-8C6B-22FF610891C7}" cxnId="{232DD024-9ED4-4D28-BFF1-0D5763E57933}" type="sibTrans">
      <dgm:prSet/>
      <dgm:spPr/>
      <dgm:t>
        <a:bodyPr/>
        <a:lstStyle/>
        <a:p>
          <a:endParaRPr lang="zh-CN" altLang="en-US"/>
        </a:p>
      </dgm:t>
    </dgm:pt>
    <dgm:pt modelId="{F4BF81B0-571B-4C4E-ADDC-7279F5411C4A}" type="pres">
      <dgm:prSet presAssocID="{5FE018B3-CCF5-4C9A-BC70-155D40F65A35}" presName="Name0" presStyleCnt="0">
        <dgm:presLayoutVars>
          <dgm:chMax val="7"/>
          <dgm:chPref val="7"/>
          <dgm:dir/>
        </dgm:presLayoutVars>
      </dgm:prSet>
      <dgm:spPr/>
    </dgm:pt>
    <dgm:pt modelId="{FDCAB184-525D-431E-AAE5-ABBCCEE734A5}" type="pres">
      <dgm:prSet presAssocID="{5FE018B3-CCF5-4C9A-BC70-155D40F65A35}" presName="Name1" presStyleCnt="0"/>
      <dgm:spPr/>
    </dgm:pt>
    <dgm:pt modelId="{9239E599-5DEF-447F-8F8A-3D2CCC6460BA}" type="pres">
      <dgm:prSet presAssocID="{5FE018B3-CCF5-4C9A-BC70-155D40F65A35}" presName="cycle" presStyleCnt="0"/>
      <dgm:spPr/>
    </dgm:pt>
    <dgm:pt modelId="{F1F39136-ACAC-4D81-9197-33670D13DB32}" type="pres">
      <dgm:prSet presAssocID="{5FE018B3-CCF5-4C9A-BC70-155D40F65A35}" presName="srcNode" presStyleLbl="node1" presStyleIdx="0" presStyleCnt="4"/>
      <dgm:spPr/>
    </dgm:pt>
    <dgm:pt modelId="{E70DC00E-E67E-4254-B1B5-017A1404B4C1}" type="pres">
      <dgm:prSet presAssocID="{5FE018B3-CCF5-4C9A-BC70-155D40F65A35}" presName="conn" presStyleLbl="parChTrans1D2" presStyleIdx="0" presStyleCnt="1"/>
      <dgm:spPr/>
    </dgm:pt>
    <dgm:pt modelId="{00880963-3F18-4B86-856F-1715C3D7837C}" type="pres">
      <dgm:prSet presAssocID="{5FE018B3-CCF5-4C9A-BC70-155D40F65A35}" presName="extraNode" presStyleLbl="node1" presStyleIdx="0" presStyleCnt="4"/>
      <dgm:spPr/>
    </dgm:pt>
    <dgm:pt modelId="{25F3FACB-99AC-41C1-BD4C-E9610FCC8B41}" type="pres">
      <dgm:prSet presAssocID="{5FE018B3-CCF5-4C9A-BC70-155D40F65A35}" presName="dstNode" presStyleLbl="node1" presStyleIdx="0" presStyleCnt="4"/>
      <dgm:spPr/>
    </dgm:pt>
    <dgm:pt modelId="{1B0845BF-58A5-4897-8BFC-695BA7107DC4}" type="pres">
      <dgm:prSet presAssocID="{BD8D0D45-830D-4014-BD2B-0828D0BB39CD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6603D77-89AB-47A6-827C-13910D9FDE15}" type="pres">
      <dgm:prSet presAssocID="{BD8D0D45-830D-4014-BD2B-0828D0BB39CD}" presName="accent_1" presStyleCnt="0"/>
      <dgm:spPr/>
    </dgm:pt>
    <dgm:pt modelId="{DF6528FC-686F-44BC-A86B-6C0D2B8F34B8}" type="pres">
      <dgm:prSet presAssocID="{BD8D0D45-830D-4014-BD2B-0828D0BB39CD}" presName="accentRepeatNode" presStyleLbl="solidFgAcc1" presStyleIdx="0" presStyleCnt="4"/>
      <dgm:spPr/>
    </dgm:pt>
    <dgm:pt modelId="{68704175-7DBE-4E83-B768-87FFD57E3BE9}" type="pres">
      <dgm:prSet presAssocID="{A4EA6CAB-679A-4B19-9DD4-C383AF58C7DD}" presName="text_2" presStyleLbl="node1" presStyleIdx="1" presStyleCnt="4">
        <dgm:presLayoutVars>
          <dgm:bulletEnabled val="1"/>
        </dgm:presLayoutVars>
      </dgm:prSet>
      <dgm:spPr/>
    </dgm:pt>
    <dgm:pt modelId="{5F806A9F-007D-43D7-85BA-0A0894D329F0}" type="pres">
      <dgm:prSet presAssocID="{A4EA6CAB-679A-4B19-9DD4-C383AF58C7DD}" presName="accent_2" presStyleCnt="0"/>
      <dgm:spPr/>
    </dgm:pt>
    <dgm:pt modelId="{4872069F-AB1A-4CA3-8A00-F8F67F4A3DA1}" type="pres">
      <dgm:prSet presAssocID="{A4EA6CAB-679A-4B19-9DD4-C383AF58C7DD}" presName="accentRepeatNode" presStyleLbl="solidFgAcc1" presStyleIdx="1" presStyleCnt="4"/>
      <dgm:spPr/>
    </dgm:pt>
    <dgm:pt modelId="{9779B073-8329-441F-ABDD-8AEC30159585}" type="pres">
      <dgm:prSet presAssocID="{29337605-729D-423C-B2CE-851D0D19C8DD}" presName="text_3" presStyleLbl="node1" presStyleIdx="2" presStyleCnt="4">
        <dgm:presLayoutVars>
          <dgm:bulletEnabled val="1"/>
        </dgm:presLayoutVars>
      </dgm:prSet>
      <dgm:spPr/>
    </dgm:pt>
    <dgm:pt modelId="{E5EAD436-F08D-4C3D-98F4-8039E2F8623A}" type="pres">
      <dgm:prSet presAssocID="{29337605-729D-423C-B2CE-851D0D19C8DD}" presName="accent_3" presStyleCnt="0"/>
      <dgm:spPr/>
    </dgm:pt>
    <dgm:pt modelId="{697D3A20-50E6-4D63-8C4C-38A4B5FF292F}" type="pres">
      <dgm:prSet presAssocID="{29337605-729D-423C-B2CE-851D0D19C8DD}" presName="accentRepeatNode" presStyleLbl="solidFgAcc1" presStyleIdx="2" presStyleCnt="4"/>
      <dgm:spPr/>
    </dgm:pt>
    <dgm:pt modelId="{30FAC7E1-8F41-40EE-8E80-77F57E2FDCAE}" type="pres">
      <dgm:prSet presAssocID="{5E2CC69C-29B9-4E0E-967C-BE44321DBAE4}" presName="text_4" presStyleLbl="node1" presStyleIdx="3" presStyleCnt="4">
        <dgm:presLayoutVars>
          <dgm:bulletEnabled val="1"/>
        </dgm:presLayoutVars>
      </dgm:prSet>
      <dgm:spPr/>
    </dgm:pt>
    <dgm:pt modelId="{3407481B-641C-4A60-94D9-2D8340C52E13}" type="pres">
      <dgm:prSet presAssocID="{5E2CC69C-29B9-4E0E-967C-BE44321DBAE4}" presName="accent_4" presStyleCnt="0"/>
      <dgm:spPr/>
    </dgm:pt>
    <dgm:pt modelId="{7E228152-3FC4-4B3E-BED1-2391311CACA2}" type="pres">
      <dgm:prSet presAssocID="{5E2CC69C-29B9-4E0E-967C-BE44321DBAE4}" presName="accentRepeatNode" presStyleLbl="solidFgAcc1" presStyleIdx="3" presStyleCnt="4"/>
      <dgm:spPr/>
    </dgm:pt>
  </dgm:ptLst>
  <dgm:cxnLst>
    <dgm:cxn modelId="{5F324F5A-4A26-479E-9928-D0C7B7BE5DD1}" type="presOf" srcId="{5FE018B3-CCF5-4C9A-BC70-155D40F65A35}" destId="{F4BF81B0-571B-4C4E-ADDC-7279F5411C4A}" srcOrd="0" destOrd="0" presId="urn:microsoft.com/office/officeart/2008/layout/VerticalCurvedList"/>
    <dgm:cxn modelId="{55B17FAD-1851-45BB-9610-047FD18875FC}" type="presOf" srcId="{5E2CC69C-29B9-4E0E-967C-BE44321DBAE4}" destId="{30FAC7E1-8F41-40EE-8E80-77F57E2FDCAE}" srcOrd="0" destOrd="0" presId="urn:microsoft.com/office/officeart/2008/layout/VerticalCurvedList"/>
    <dgm:cxn modelId="{5203C03C-2D59-4982-B6E3-FB5193EB317E}" srcId="{5FE018B3-CCF5-4C9A-BC70-155D40F65A35}" destId="{A4EA6CAB-679A-4B19-9DD4-C383AF58C7DD}" srcOrd="1" destOrd="0" parTransId="{51A8D140-0542-4E19-9B66-E83B907F0199}" sibTransId="{9D8F6371-FE7B-412E-A80C-ABDF478732D4}"/>
    <dgm:cxn modelId="{1B1CC127-1E13-4547-AB9B-F527472C0626}" type="presOf" srcId="{BD8D0D45-830D-4014-BD2B-0828D0BB39CD}" destId="{1B0845BF-58A5-4897-8BFC-695BA7107DC4}" srcOrd="0" destOrd="0" presId="urn:microsoft.com/office/officeart/2008/layout/VerticalCurvedList"/>
    <dgm:cxn modelId="{C50E85F1-B121-4821-8679-396C00396B92}" type="presOf" srcId="{4C941E3D-D7BE-4702-BDB6-5A404EDA8677}" destId="{E70DC00E-E67E-4254-B1B5-017A1404B4C1}" srcOrd="0" destOrd="0" presId="urn:microsoft.com/office/officeart/2008/layout/VerticalCurvedList"/>
    <dgm:cxn modelId="{232DD024-9ED4-4D28-BFF1-0D5763E57933}" srcId="{5FE018B3-CCF5-4C9A-BC70-155D40F65A35}" destId="{5E2CC69C-29B9-4E0E-967C-BE44321DBAE4}" srcOrd="3" destOrd="0" parTransId="{F45D8C17-F1D0-4D49-9B59-9A9F40783295}" sibTransId="{FAC6EFE0-3ECC-44AE-8C6B-22FF610891C7}"/>
    <dgm:cxn modelId="{FF1C6B88-1AFE-4C61-BE7E-A23F35B5C6EF}" type="presOf" srcId="{A4EA6CAB-679A-4B19-9DD4-C383AF58C7DD}" destId="{68704175-7DBE-4E83-B768-87FFD57E3BE9}" srcOrd="0" destOrd="0" presId="urn:microsoft.com/office/officeart/2008/layout/VerticalCurvedList"/>
    <dgm:cxn modelId="{C747FB6F-4840-4008-BD53-F450BC037A6A}" srcId="{5FE018B3-CCF5-4C9A-BC70-155D40F65A35}" destId="{BD8D0D45-830D-4014-BD2B-0828D0BB39CD}" srcOrd="0" destOrd="0" parTransId="{D8C3A269-D271-4115-A3FA-92AE93CAC07B}" sibTransId="{4C941E3D-D7BE-4702-BDB6-5A404EDA8677}"/>
    <dgm:cxn modelId="{86697B17-020D-40E9-B5EB-987A24DBDB1D}" srcId="{5FE018B3-CCF5-4C9A-BC70-155D40F65A35}" destId="{29337605-729D-423C-B2CE-851D0D19C8DD}" srcOrd="2" destOrd="0" parTransId="{889F8DE6-D4B1-4F63-93C5-87910AD33942}" sibTransId="{2B0A4827-9CDF-41FF-BF2E-C119FDAA4ED7}"/>
    <dgm:cxn modelId="{1478BB16-89F9-46DD-86E9-F028294EAF32}" type="presOf" srcId="{29337605-729D-423C-B2CE-851D0D19C8DD}" destId="{9779B073-8329-441F-ABDD-8AEC30159585}" srcOrd="0" destOrd="0" presId="urn:microsoft.com/office/officeart/2008/layout/VerticalCurvedList"/>
    <dgm:cxn modelId="{012F7991-3D9C-449F-9E6D-8D0228CDE594}" type="presParOf" srcId="{F4BF81B0-571B-4C4E-ADDC-7279F5411C4A}" destId="{FDCAB184-525D-431E-AAE5-ABBCCEE734A5}" srcOrd="0" destOrd="0" presId="urn:microsoft.com/office/officeart/2008/layout/VerticalCurvedList"/>
    <dgm:cxn modelId="{A0468207-4CB7-4296-AA3C-87D1D3C5ABCD}" type="presParOf" srcId="{FDCAB184-525D-431E-AAE5-ABBCCEE734A5}" destId="{9239E599-5DEF-447F-8F8A-3D2CCC6460BA}" srcOrd="0" destOrd="0" presId="urn:microsoft.com/office/officeart/2008/layout/VerticalCurvedList"/>
    <dgm:cxn modelId="{5412F7EC-CA44-4117-B7F1-E55AE107B021}" type="presParOf" srcId="{9239E599-5DEF-447F-8F8A-3D2CCC6460BA}" destId="{F1F39136-ACAC-4D81-9197-33670D13DB32}" srcOrd="0" destOrd="0" presId="urn:microsoft.com/office/officeart/2008/layout/VerticalCurvedList"/>
    <dgm:cxn modelId="{F21ADCD4-D2E2-460E-88A6-86FC78DC405E}" type="presParOf" srcId="{9239E599-5DEF-447F-8F8A-3D2CCC6460BA}" destId="{E70DC00E-E67E-4254-B1B5-017A1404B4C1}" srcOrd="1" destOrd="0" presId="urn:microsoft.com/office/officeart/2008/layout/VerticalCurvedList"/>
    <dgm:cxn modelId="{94725CD2-0B91-49B5-AA28-49E7DCA52ACD}" type="presParOf" srcId="{9239E599-5DEF-447F-8F8A-3D2CCC6460BA}" destId="{00880963-3F18-4B86-856F-1715C3D7837C}" srcOrd="2" destOrd="0" presId="urn:microsoft.com/office/officeart/2008/layout/VerticalCurvedList"/>
    <dgm:cxn modelId="{7A401E89-C9A5-460A-B47D-826878272EDB}" type="presParOf" srcId="{9239E599-5DEF-447F-8F8A-3D2CCC6460BA}" destId="{25F3FACB-99AC-41C1-BD4C-E9610FCC8B41}" srcOrd="3" destOrd="0" presId="urn:microsoft.com/office/officeart/2008/layout/VerticalCurvedList"/>
    <dgm:cxn modelId="{53B7AA53-1E08-4FEF-9958-415D6D2D757F}" type="presParOf" srcId="{FDCAB184-525D-431E-AAE5-ABBCCEE734A5}" destId="{1B0845BF-58A5-4897-8BFC-695BA7107DC4}" srcOrd="1" destOrd="0" presId="urn:microsoft.com/office/officeart/2008/layout/VerticalCurvedList"/>
    <dgm:cxn modelId="{7F0FC753-6C89-456E-91EB-ED958D280915}" type="presParOf" srcId="{FDCAB184-525D-431E-AAE5-ABBCCEE734A5}" destId="{D6603D77-89AB-47A6-827C-13910D9FDE15}" srcOrd="2" destOrd="0" presId="urn:microsoft.com/office/officeart/2008/layout/VerticalCurvedList"/>
    <dgm:cxn modelId="{F9932FE8-BF29-4D7A-9A12-2BDC490F2DD8}" type="presParOf" srcId="{D6603D77-89AB-47A6-827C-13910D9FDE15}" destId="{DF6528FC-686F-44BC-A86B-6C0D2B8F34B8}" srcOrd="0" destOrd="0" presId="urn:microsoft.com/office/officeart/2008/layout/VerticalCurvedList"/>
    <dgm:cxn modelId="{D844B7F0-0AB1-4856-9DB3-FF4A25F1D223}" type="presParOf" srcId="{FDCAB184-525D-431E-AAE5-ABBCCEE734A5}" destId="{68704175-7DBE-4E83-B768-87FFD57E3BE9}" srcOrd="3" destOrd="0" presId="urn:microsoft.com/office/officeart/2008/layout/VerticalCurvedList"/>
    <dgm:cxn modelId="{BAEEAB00-CC98-404E-B9A8-3618BA20DEE8}" type="presParOf" srcId="{FDCAB184-525D-431E-AAE5-ABBCCEE734A5}" destId="{5F806A9F-007D-43D7-85BA-0A0894D329F0}" srcOrd="4" destOrd="0" presId="urn:microsoft.com/office/officeart/2008/layout/VerticalCurvedList"/>
    <dgm:cxn modelId="{AA3AEF78-3C78-44AB-A9DE-A0D480707647}" type="presParOf" srcId="{5F806A9F-007D-43D7-85BA-0A0894D329F0}" destId="{4872069F-AB1A-4CA3-8A00-F8F67F4A3DA1}" srcOrd="0" destOrd="0" presId="urn:microsoft.com/office/officeart/2008/layout/VerticalCurvedList"/>
    <dgm:cxn modelId="{0E9CFFCB-96CF-49A4-8569-8862BFDC9382}" type="presParOf" srcId="{FDCAB184-525D-431E-AAE5-ABBCCEE734A5}" destId="{9779B073-8329-441F-ABDD-8AEC30159585}" srcOrd="5" destOrd="0" presId="urn:microsoft.com/office/officeart/2008/layout/VerticalCurvedList"/>
    <dgm:cxn modelId="{353503D8-D820-4E68-BEBD-BF96A1ACF5F6}" type="presParOf" srcId="{FDCAB184-525D-431E-AAE5-ABBCCEE734A5}" destId="{E5EAD436-F08D-4C3D-98F4-8039E2F8623A}" srcOrd="6" destOrd="0" presId="urn:microsoft.com/office/officeart/2008/layout/VerticalCurvedList"/>
    <dgm:cxn modelId="{541DA169-7A6E-47D8-8E95-B3ECA8DFFDA3}" type="presParOf" srcId="{E5EAD436-F08D-4C3D-98F4-8039E2F8623A}" destId="{697D3A20-50E6-4D63-8C4C-38A4B5FF292F}" srcOrd="0" destOrd="0" presId="urn:microsoft.com/office/officeart/2008/layout/VerticalCurvedList"/>
    <dgm:cxn modelId="{86DC8DB0-F2B5-4CD7-ACEE-20C00BF32BA0}" type="presParOf" srcId="{FDCAB184-525D-431E-AAE5-ABBCCEE734A5}" destId="{30FAC7E1-8F41-40EE-8E80-77F57E2FDCAE}" srcOrd="7" destOrd="0" presId="urn:microsoft.com/office/officeart/2008/layout/VerticalCurvedList"/>
    <dgm:cxn modelId="{DCE3734F-CD97-4EC9-A2DB-E8ED623399C2}" type="presParOf" srcId="{FDCAB184-525D-431E-AAE5-ABBCCEE734A5}" destId="{3407481B-641C-4A60-94D9-2D8340C52E13}" srcOrd="8" destOrd="0" presId="urn:microsoft.com/office/officeart/2008/layout/VerticalCurvedList"/>
    <dgm:cxn modelId="{A2D6D50E-9C0E-489D-BAD0-6539FC4DDEEB}" type="presParOf" srcId="{3407481B-641C-4A60-94D9-2D8340C52E13}" destId="{7E228152-3FC4-4B3E-BED1-2391311CACA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E325B57-3E83-4DE1-94B1-02F3D68D1A64}" type="doc">
      <dgm:prSet loTypeId="urn:microsoft.com/office/officeart/2005/8/layout/process2" loCatId="process" qsTypeId="urn:microsoft.com/office/officeart/2005/8/quickstyle/simple1" qsCatId="simple" csTypeId="urn:microsoft.com/office/officeart/2005/8/colors/accent2_2" csCatId="accent2" phldr="1"/>
      <dgm:spPr/>
    </dgm:pt>
    <dgm:pt modelId="{F59AFC68-B801-441A-8F3D-DE2ADE0C6F09}">
      <dgm:prSet phldrT="[文本]"/>
      <dgm:spPr/>
      <dgm:t>
        <a:bodyPr/>
        <a:lstStyle/>
        <a:p>
          <a:r>
            <a:rPr lang="zh-CN" altLang="en-US" dirty="0" smtClean="0"/>
            <a:t>高层</a:t>
          </a:r>
          <a:endParaRPr lang="zh-CN" altLang="en-US" dirty="0"/>
        </a:p>
      </dgm:t>
    </dgm:pt>
    <dgm:pt modelId="{4EDECB17-0113-4249-89DE-9C320382C876}" cxnId="{93A06B3C-DA5B-4B93-B56A-79CF4059B033}" type="parTrans">
      <dgm:prSet/>
      <dgm:spPr/>
      <dgm:t>
        <a:bodyPr/>
        <a:lstStyle/>
        <a:p>
          <a:endParaRPr lang="zh-CN" altLang="en-US"/>
        </a:p>
      </dgm:t>
    </dgm:pt>
    <dgm:pt modelId="{EE51A1D2-F2AB-4D3A-9E93-C2FF1B82E19D}" cxnId="{93A06B3C-DA5B-4B93-B56A-79CF4059B033}" type="sibTrans">
      <dgm:prSet/>
      <dgm:spPr/>
      <dgm:t>
        <a:bodyPr/>
        <a:lstStyle/>
        <a:p>
          <a:endParaRPr lang="zh-CN" altLang="en-US"/>
        </a:p>
      </dgm:t>
    </dgm:pt>
    <dgm:pt modelId="{0892470A-8941-4960-9AA6-34C411385F58}">
      <dgm:prSet phldrT="[文本]"/>
      <dgm:spPr/>
      <dgm:t>
        <a:bodyPr/>
        <a:lstStyle/>
        <a:p>
          <a:r>
            <a:rPr lang="zh-CN" altLang="en-US" dirty="0" smtClean="0"/>
            <a:t>底层</a:t>
          </a:r>
          <a:endParaRPr lang="zh-CN" altLang="en-US" dirty="0"/>
        </a:p>
      </dgm:t>
    </dgm:pt>
    <dgm:pt modelId="{77BFEA22-E198-4D18-B9DE-428142D57770}" cxnId="{96CC235F-291F-4D3F-82E0-39CE4B109CD8}" type="parTrans">
      <dgm:prSet/>
      <dgm:spPr/>
      <dgm:t>
        <a:bodyPr/>
        <a:lstStyle/>
        <a:p>
          <a:endParaRPr lang="zh-CN" altLang="en-US"/>
        </a:p>
      </dgm:t>
    </dgm:pt>
    <dgm:pt modelId="{F03C0B65-4A16-4390-B629-2205DEBCAEAB}" cxnId="{96CC235F-291F-4D3F-82E0-39CE4B109CD8}" type="sibTrans">
      <dgm:prSet/>
      <dgm:spPr/>
      <dgm:t>
        <a:bodyPr/>
        <a:lstStyle/>
        <a:p>
          <a:endParaRPr lang="zh-CN" altLang="en-US"/>
        </a:p>
      </dgm:t>
    </dgm:pt>
    <dgm:pt modelId="{71B697B9-CF6C-4C53-B386-E48D6A154954}">
      <dgm:prSet phldrT="[文本]"/>
      <dgm:spPr/>
      <dgm:t>
        <a:bodyPr/>
        <a:lstStyle/>
        <a:p>
          <a:endParaRPr lang="zh-CN" altLang="en-US" dirty="0"/>
        </a:p>
      </dgm:t>
    </dgm:pt>
    <dgm:pt modelId="{E830E921-7FB5-4287-99F6-85723B7A1635}" cxnId="{032A2EC9-E0B4-404B-8C37-C1DD5ED0A9C3}" type="parTrans">
      <dgm:prSet/>
      <dgm:spPr/>
      <dgm:t>
        <a:bodyPr/>
        <a:lstStyle/>
        <a:p>
          <a:endParaRPr lang="zh-CN" altLang="en-US"/>
        </a:p>
      </dgm:t>
    </dgm:pt>
    <dgm:pt modelId="{2FB95343-080E-4963-AC55-6E012C9611D5}" cxnId="{032A2EC9-E0B4-404B-8C37-C1DD5ED0A9C3}" type="sibTrans">
      <dgm:prSet/>
      <dgm:spPr/>
      <dgm:t>
        <a:bodyPr/>
        <a:lstStyle/>
        <a:p>
          <a:endParaRPr lang="zh-CN" altLang="en-US"/>
        </a:p>
      </dgm:t>
    </dgm:pt>
    <dgm:pt modelId="{9928D5C2-EC48-42AF-8A8F-BC18F9315A23}">
      <dgm:prSet phldrT="[文本]"/>
      <dgm:spPr/>
      <dgm:t>
        <a:bodyPr/>
        <a:lstStyle/>
        <a:p>
          <a:endParaRPr lang="zh-CN" altLang="en-US" dirty="0"/>
        </a:p>
      </dgm:t>
    </dgm:pt>
    <dgm:pt modelId="{86C96324-BEE5-4E4D-BC2F-2F56664BF4D6}" cxnId="{CD26FBF7-7D1F-4070-AB59-0A1E18451F4E}" type="parTrans">
      <dgm:prSet/>
      <dgm:spPr/>
      <dgm:t>
        <a:bodyPr/>
        <a:lstStyle/>
        <a:p>
          <a:endParaRPr lang="zh-CN" altLang="en-US"/>
        </a:p>
      </dgm:t>
    </dgm:pt>
    <dgm:pt modelId="{ECCA5A14-FBC1-40DC-AF52-4C3E5B782E67}" cxnId="{CD26FBF7-7D1F-4070-AB59-0A1E18451F4E}" type="sibTrans">
      <dgm:prSet/>
      <dgm:spPr/>
      <dgm:t>
        <a:bodyPr/>
        <a:lstStyle/>
        <a:p>
          <a:endParaRPr lang="zh-CN" altLang="en-US"/>
        </a:p>
      </dgm:t>
    </dgm:pt>
    <dgm:pt modelId="{58CC08CE-B106-4A2F-9193-621BF88CA304}" type="pres">
      <dgm:prSet presAssocID="{AE325B57-3E83-4DE1-94B1-02F3D68D1A64}" presName="linearFlow" presStyleCnt="0">
        <dgm:presLayoutVars>
          <dgm:resizeHandles val="exact"/>
        </dgm:presLayoutVars>
      </dgm:prSet>
      <dgm:spPr/>
    </dgm:pt>
    <dgm:pt modelId="{98C03E0A-99FA-4C56-9232-A1FBDD7B3F93}" type="pres">
      <dgm:prSet presAssocID="{F59AFC68-B801-441A-8F3D-DE2ADE0C6F09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ECEB786-E06F-481C-86E4-F945592CEBB8}" type="pres">
      <dgm:prSet presAssocID="{EE51A1D2-F2AB-4D3A-9E93-C2FF1B82E19D}" presName="sibTrans" presStyleLbl="sibTrans2D1" presStyleIdx="0" presStyleCnt="3"/>
      <dgm:spPr/>
      <dgm:t>
        <a:bodyPr/>
        <a:lstStyle/>
        <a:p>
          <a:endParaRPr lang="zh-CN" altLang="en-US"/>
        </a:p>
      </dgm:t>
    </dgm:pt>
    <dgm:pt modelId="{7F8D0943-499D-4CE1-BD6D-0FF20E216BA7}" type="pres">
      <dgm:prSet presAssocID="{EE51A1D2-F2AB-4D3A-9E93-C2FF1B82E19D}" presName="connectorText" presStyleLbl="sibTrans2D1" presStyleIdx="0" presStyleCnt="3"/>
      <dgm:spPr/>
      <dgm:t>
        <a:bodyPr/>
        <a:lstStyle/>
        <a:p>
          <a:endParaRPr lang="zh-CN" altLang="en-US"/>
        </a:p>
      </dgm:t>
    </dgm:pt>
    <dgm:pt modelId="{F961457A-D5F9-4869-8B2C-92214855B2B8}" type="pres">
      <dgm:prSet presAssocID="{9928D5C2-EC48-42AF-8A8F-BC18F9315A23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1E20E66-61FF-4428-A0AA-0689FCBC4F9C}" type="pres">
      <dgm:prSet presAssocID="{ECCA5A14-FBC1-40DC-AF52-4C3E5B782E67}" presName="sibTrans" presStyleLbl="sibTrans2D1" presStyleIdx="1" presStyleCnt="3"/>
      <dgm:spPr/>
      <dgm:t>
        <a:bodyPr/>
        <a:lstStyle/>
        <a:p>
          <a:endParaRPr lang="zh-CN" altLang="en-US"/>
        </a:p>
      </dgm:t>
    </dgm:pt>
    <dgm:pt modelId="{29D951D3-E502-4C14-BF83-8C63C021AD83}" type="pres">
      <dgm:prSet presAssocID="{ECCA5A14-FBC1-40DC-AF52-4C3E5B782E67}" presName="connectorText" presStyleLbl="sibTrans2D1" presStyleIdx="1" presStyleCnt="3"/>
      <dgm:spPr/>
      <dgm:t>
        <a:bodyPr/>
        <a:lstStyle/>
        <a:p>
          <a:endParaRPr lang="zh-CN" altLang="en-US"/>
        </a:p>
      </dgm:t>
    </dgm:pt>
    <dgm:pt modelId="{76CC3255-D134-4F4F-AC88-86E9B79F49B2}" type="pres">
      <dgm:prSet presAssocID="{71B697B9-CF6C-4C53-B386-E48D6A154954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D701855-02E2-4783-B2FF-ABED45107BF0}" type="pres">
      <dgm:prSet presAssocID="{2FB95343-080E-4963-AC55-6E012C9611D5}" presName="sibTrans" presStyleLbl="sibTrans2D1" presStyleIdx="2" presStyleCnt="3"/>
      <dgm:spPr/>
      <dgm:t>
        <a:bodyPr/>
        <a:lstStyle/>
        <a:p>
          <a:endParaRPr lang="zh-CN" altLang="en-US"/>
        </a:p>
      </dgm:t>
    </dgm:pt>
    <dgm:pt modelId="{8B8270F5-CA86-42D5-B78E-B2455836E8EA}" type="pres">
      <dgm:prSet presAssocID="{2FB95343-080E-4963-AC55-6E012C9611D5}" presName="connectorText" presStyleLbl="sibTrans2D1" presStyleIdx="2" presStyleCnt="3"/>
      <dgm:spPr/>
      <dgm:t>
        <a:bodyPr/>
        <a:lstStyle/>
        <a:p>
          <a:endParaRPr lang="zh-CN" altLang="en-US"/>
        </a:p>
      </dgm:t>
    </dgm:pt>
    <dgm:pt modelId="{BFB17DE6-4A9A-4FB1-A050-111DCA787BC2}" type="pres">
      <dgm:prSet presAssocID="{0892470A-8941-4960-9AA6-34C411385F58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50D55B0F-E862-45E7-A863-120B6862F603}" type="presOf" srcId="{AE325B57-3E83-4DE1-94B1-02F3D68D1A64}" destId="{58CC08CE-B106-4A2F-9193-621BF88CA304}" srcOrd="0" destOrd="0" presId="urn:microsoft.com/office/officeart/2005/8/layout/process2"/>
    <dgm:cxn modelId="{164977FF-CF79-4DDB-92F8-C9692ECA329A}" type="presOf" srcId="{2FB95343-080E-4963-AC55-6E012C9611D5}" destId="{8B8270F5-CA86-42D5-B78E-B2455836E8EA}" srcOrd="1" destOrd="0" presId="urn:microsoft.com/office/officeart/2005/8/layout/process2"/>
    <dgm:cxn modelId="{13D96E72-7FF7-47F4-8B3F-AF2B382BAA63}" type="presOf" srcId="{2FB95343-080E-4963-AC55-6E012C9611D5}" destId="{BD701855-02E2-4783-B2FF-ABED45107BF0}" srcOrd="0" destOrd="0" presId="urn:microsoft.com/office/officeart/2005/8/layout/process2"/>
    <dgm:cxn modelId="{9FFCEA62-355B-4F43-849A-0A0BEE83E4B3}" type="presOf" srcId="{71B697B9-CF6C-4C53-B386-E48D6A154954}" destId="{76CC3255-D134-4F4F-AC88-86E9B79F49B2}" srcOrd="0" destOrd="0" presId="urn:microsoft.com/office/officeart/2005/8/layout/process2"/>
    <dgm:cxn modelId="{C11EEC93-1093-4456-8617-1D046A7989FF}" type="presOf" srcId="{0892470A-8941-4960-9AA6-34C411385F58}" destId="{BFB17DE6-4A9A-4FB1-A050-111DCA787BC2}" srcOrd="0" destOrd="0" presId="urn:microsoft.com/office/officeart/2005/8/layout/process2"/>
    <dgm:cxn modelId="{F783E06F-E388-4125-A0AB-A5E1CFCA167F}" type="presOf" srcId="{EE51A1D2-F2AB-4D3A-9E93-C2FF1B82E19D}" destId="{7F8D0943-499D-4CE1-BD6D-0FF20E216BA7}" srcOrd="1" destOrd="0" presId="urn:microsoft.com/office/officeart/2005/8/layout/process2"/>
    <dgm:cxn modelId="{CD26FBF7-7D1F-4070-AB59-0A1E18451F4E}" srcId="{AE325B57-3E83-4DE1-94B1-02F3D68D1A64}" destId="{9928D5C2-EC48-42AF-8A8F-BC18F9315A23}" srcOrd="1" destOrd="0" parTransId="{86C96324-BEE5-4E4D-BC2F-2F56664BF4D6}" sibTransId="{ECCA5A14-FBC1-40DC-AF52-4C3E5B782E67}"/>
    <dgm:cxn modelId="{047615E5-6DD9-475D-8EB0-B6571D438A43}" type="presOf" srcId="{ECCA5A14-FBC1-40DC-AF52-4C3E5B782E67}" destId="{A1E20E66-61FF-4428-A0AA-0689FCBC4F9C}" srcOrd="0" destOrd="0" presId="urn:microsoft.com/office/officeart/2005/8/layout/process2"/>
    <dgm:cxn modelId="{CADC18FA-8842-43EB-8980-FA563243374A}" type="presOf" srcId="{F59AFC68-B801-441A-8F3D-DE2ADE0C6F09}" destId="{98C03E0A-99FA-4C56-9232-A1FBDD7B3F93}" srcOrd="0" destOrd="0" presId="urn:microsoft.com/office/officeart/2005/8/layout/process2"/>
    <dgm:cxn modelId="{96CC235F-291F-4D3F-82E0-39CE4B109CD8}" srcId="{AE325B57-3E83-4DE1-94B1-02F3D68D1A64}" destId="{0892470A-8941-4960-9AA6-34C411385F58}" srcOrd="3" destOrd="0" parTransId="{77BFEA22-E198-4D18-B9DE-428142D57770}" sibTransId="{F03C0B65-4A16-4390-B629-2205DEBCAEAB}"/>
    <dgm:cxn modelId="{4686FD57-5539-47BB-9D47-784269E9029F}" type="presOf" srcId="{9928D5C2-EC48-42AF-8A8F-BC18F9315A23}" destId="{F961457A-D5F9-4869-8B2C-92214855B2B8}" srcOrd="0" destOrd="0" presId="urn:microsoft.com/office/officeart/2005/8/layout/process2"/>
    <dgm:cxn modelId="{032A2EC9-E0B4-404B-8C37-C1DD5ED0A9C3}" srcId="{AE325B57-3E83-4DE1-94B1-02F3D68D1A64}" destId="{71B697B9-CF6C-4C53-B386-E48D6A154954}" srcOrd="2" destOrd="0" parTransId="{E830E921-7FB5-4287-99F6-85723B7A1635}" sibTransId="{2FB95343-080E-4963-AC55-6E012C9611D5}"/>
    <dgm:cxn modelId="{3A1E2647-CB00-4BBA-AD92-D386A20633AF}" type="presOf" srcId="{ECCA5A14-FBC1-40DC-AF52-4C3E5B782E67}" destId="{29D951D3-E502-4C14-BF83-8C63C021AD83}" srcOrd="1" destOrd="0" presId="urn:microsoft.com/office/officeart/2005/8/layout/process2"/>
    <dgm:cxn modelId="{BB900369-86DE-4EEE-8B6C-76FA1375B629}" type="presOf" srcId="{EE51A1D2-F2AB-4D3A-9E93-C2FF1B82E19D}" destId="{DECEB786-E06F-481C-86E4-F945592CEBB8}" srcOrd="0" destOrd="0" presId="urn:microsoft.com/office/officeart/2005/8/layout/process2"/>
    <dgm:cxn modelId="{93A06B3C-DA5B-4B93-B56A-79CF4059B033}" srcId="{AE325B57-3E83-4DE1-94B1-02F3D68D1A64}" destId="{F59AFC68-B801-441A-8F3D-DE2ADE0C6F09}" srcOrd="0" destOrd="0" parTransId="{4EDECB17-0113-4249-89DE-9C320382C876}" sibTransId="{EE51A1D2-F2AB-4D3A-9E93-C2FF1B82E19D}"/>
    <dgm:cxn modelId="{0A94998E-5622-40E5-8BA2-431832B2F24A}" type="presParOf" srcId="{58CC08CE-B106-4A2F-9193-621BF88CA304}" destId="{98C03E0A-99FA-4C56-9232-A1FBDD7B3F93}" srcOrd="0" destOrd="0" presId="urn:microsoft.com/office/officeart/2005/8/layout/process2"/>
    <dgm:cxn modelId="{E52926B5-6D3A-4473-912A-219B0862A5F9}" type="presParOf" srcId="{58CC08CE-B106-4A2F-9193-621BF88CA304}" destId="{DECEB786-E06F-481C-86E4-F945592CEBB8}" srcOrd="1" destOrd="0" presId="urn:microsoft.com/office/officeart/2005/8/layout/process2"/>
    <dgm:cxn modelId="{CCF58C63-48DE-4D35-B6E3-EC6DBF53102B}" type="presParOf" srcId="{DECEB786-E06F-481C-86E4-F945592CEBB8}" destId="{7F8D0943-499D-4CE1-BD6D-0FF20E216BA7}" srcOrd="0" destOrd="0" presId="urn:microsoft.com/office/officeart/2005/8/layout/process2"/>
    <dgm:cxn modelId="{57B5B450-354E-4847-AECB-7423D6503891}" type="presParOf" srcId="{58CC08CE-B106-4A2F-9193-621BF88CA304}" destId="{F961457A-D5F9-4869-8B2C-92214855B2B8}" srcOrd="2" destOrd="0" presId="urn:microsoft.com/office/officeart/2005/8/layout/process2"/>
    <dgm:cxn modelId="{78FF1997-5E10-4565-9821-2D16380382DC}" type="presParOf" srcId="{58CC08CE-B106-4A2F-9193-621BF88CA304}" destId="{A1E20E66-61FF-4428-A0AA-0689FCBC4F9C}" srcOrd="3" destOrd="0" presId="urn:microsoft.com/office/officeart/2005/8/layout/process2"/>
    <dgm:cxn modelId="{70812939-A4F5-4AD6-B0CF-D4B9FE2B01B4}" type="presParOf" srcId="{A1E20E66-61FF-4428-A0AA-0689FCBC4F9C}" destId="{29D951D3-E502-4C14-BF83-8C63C021AD83}" srcOrd="0" destOrd="0" presId="urn:microsoft.com/office/officeart/2005/8/layout/process2"/>
    <dgm:cxn modelId="{7C8712BB-96FC-4D9C-BADB-E9EC64999F61}" type="presParOf" srcId="{58CC08CE-B106-4A2F-9193-621BF88CA304}" destId="{76CC3255-D134-4F4F-AC88-86E9B79F49B2}" srcOrd="4" destOrd="0" presId="urn:microsoft.com/office/officeart/2005/8/layout/process2"/>
    <dgm:cxn modelId="{60D3EE0F-6555-48A8-8A8F-BC4661F41E22}" type="presParOf" srcId="{58CC08CE-B106-4A2F-9193-621BF88CA304}" destId="{BD701855-02E2-4783-B2FF-ABED45107BF0}" srcOrd="5" destOrd="0" presId="urn:microsoft.com/office/officeart/2005/8/layout/process2"/>
    <dgm:cxn modelId="{20D186B5-C910-461A-B56A-EB47C98725D7}" type="presParOf" srcId="{BD701855-02E2-4783-B2FF-ABED45107BF0}" destId="{8B8270F5-CA86-42D5-B78E-B2455836E8EA}" srcOrd="0" destOrd="0" presId="urn:microsoft.com/office/officeart/2005/8/layout/process2"/>
    <dgm:cxn modelId="{76691458-17C5-49E3-86A6-28D09AA6033B}" type="presParOf" srcId="{58CC08CE-B106-4A2F-9193-621BF88CA304}" destId="{BFB17DE6-4A9A-4FB1-A050-111DCA787BC2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A5DC7FC-A542-4CA7-8DAC-3BFEEA5E49A7}" type="doc">
      <dgm:prSet loTypeId="urn:microsoft.com/office/officeart/2005/8/layout/radial1" loCatId="relationship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zh-CN" altLang="en-US"/>
        </a:p>
      </dgm:t>
    </dgm:pt>
    <dgm:pt modelId="{9ABEAABC-AA7D-47DC-BC43-A12EC1ADD7C8}">
      <dgm:prSet phldrT="[文本]"/>
      <dgm:spPr/>
      <dgm:t>
        <a:bodyPr/>
        <a:lstStyle/>
        <a:p>
          <a:r>
            <a:rPr lang="zh-CN" altLang="en-US" dirty="0" smtClean="0"/>
            <a:t>模块</a:t>
          </a:r>
          <a:r>
            <a:rPr lang="en-US" altLang="zh-CN" dirty="0" smtClean="0"/>
            <a:t>2</a:t>
          </a:r>
          <a:endParaRPr lang="zh-CN" altLang="en-US" dirty="0"/>
        </a:p>
      </dgm:t>
    </dgm:pt>
    <dgm:pt modelId="{7C4DB1BD-9606-45F8-93AD-3B81E66098EC}" cxnId="{E4A7B8F6-EDA7-4AAD-937A-ABA9789C560A}" type="parTrans">
      <dgm:prSet/>
      <dgm:spPr/>
      <dgm:t>
        <a:bodyPr/>
        <a:lstStyle/>
        <a:p>
          <a:endParaRPr lang="zh-CN" altLang="en-US"/>
        </a:p>
      </dgm:t>
    </dgm:pt>
    <dgm:pt modelId="{31A1D92C-4015-4870-851C-053EA33981F2}" cxnId="{E4A7B8F6-EDA7-4AAD-937A-ABA9789C560A}" type="sibTrans">
      <dgm:prSet/>
      <dgm:spPr/>
      <dgm:t>
        <a:bodyPr/>
        <a:lstStyle/>
        <a:p>
          <a:endParaRPr lang="zh-CN" altLang="en-US"/>
        </a:p>
      </dgm:t>
    </dgm:pt>
    <dgm:pt modelId="{70AC8CFE-5EC4-41FF-8FD8-F68FBD55AA98}">
      <dgm:prSet phldrT="[文本]"/>
      <dgm:spPr/>
      <dgm:t>
        <a:bodyPr/>
        <a:lstStyle/>
        <a:p>
          <a:r>
            <a:rPr lang="zh-CN" altLang="en-US" dirty="0" smtClean="0"/>
            <a:t>模块</a:t>
          </a:r>
          <a:r>
            <a:rPr lang="en-US" altLang="zh-CN" dirty="0" smtClean="0"/>
            <a:t>1</a:t>
          </a:r>
          <a:endParaRPr lang="zh-CN" altLang="en-US" dirty="0"/>
        </a:p>
      </dgm:t>
    </dgm:pt>
    <dgm:pt modelId="{AEEE0E6E-0E56-486C-9DA5-8654A95B1D32}" cxnId="{02E7A94C-09E3-485F-B740-65BDE84F2E66}" type="parTrans">
      <dgm:prSet/>
      <dgm:spPr/>
      <dgm:t>
        <a:bodyPr/>
        <a:lstStyle/>
        <a:p>
          <a:endParaRPr lang="zh-CN" altLang="en-US"/>
        </a:p>
      </dgm:t>
    </dgm:pt>
    <dgm:pt modelId="{0C78E427-822B-4477-98EF-0C43E032DC61}" cxnId="{02E7A94C-09E3-485F-B740-65BDE84F2E66}" type="sibTrans">
      <dgm:prSet/>
      <dgm:spPr/>
      <dgm:t>
        <a:bodyPr/>
        <a:lstStyle/>
        <a:p>
          <a:endParaRPr lang="zh-CN" altLang="en-US"/>
        </a:p>
      </dgm:t>
    </dgm:pt>
    <dgm:pt modelId="{62DE8134-225E-40E8-8939-1CF5C7A033F7}">
      <dgm:prSet phldrT="[文本]"/>
      <dgm:spPr/>
      <dgm:t>
        <a:bodyPr/>
        <a:lstStyle/>
        <a:p>
          <a:r>
            <a:rPr lang="zh-CN" altLang="en-US" dirty="0" smtClean="0"/>
            <a:t>模块</a:t>
          </a:r>
          <a:r>
            <a:rPr lang="en-US" altLang="zh-CN" dirty="0" smtClean="0"/>
            <a:t>4</a:t>
          </a:r>
          <a:endParaRPr lang="zh-CN" altLang="en-US" dirty="0"/>
        </a:p>
      </dgm:t>
    </dgm:pt>
    <dgm:pt modelId="{199CD7AB-0AEE-40FC-AA45-D1FD1A21F22C}" cxnId="{984568B7-6C2F-4D45-9BC9-FB7845431124}" type="parTrans">
      <dgm:prSet/>
      <dgm:spPr/>
      <dgm:t>
        <a:bodyPr/>
        <a:lstStyle/>
        <a:p>
          <a:endParaRPr lang="zh-CN" altLang="en-US"/>
        </a:p>
      </dgm:t>
    </dgm:pt>
    <dgm:pt modelId="{622907EF-A2ED-4A45-891A-3E380B812B1D}" cxnId="{984568B7-6C2F-4D45-9BC9-FB7845431124}" type="sibTrans">
      <dgm:prSet/>
      <dgm:spPr/>
      <dgm:t>
        <a:bodyPr/>
        <a:lstStyle/>
        <a:p>
          <a:endParaRPr lang="zh-CN" altLang="en-US"/>
        </a:p>
      </dgm:t>
    </dgm:pt>
    <dgm:pt modelId="{B9A26B06-C4C2-4131-A2A6-AD152F258406}">
      <dgm:prSet phldrT="[文本]"/>
      <dgm:spPr/>
      <dgm:t>
        <a:bodyPr/>
        <a:lstStyle/>
        <a:p>
          <a:r>
            <a:rPr lang="zh-CN" altLang="en-US" dirty="0" smtClean="0"/>
            <a:t>模块</a:t>
          </a:r>
          <a:r>
            <a:rPr lang="en-US" altLang="zh-CN" dirty="0" smtClean="0"/>
            <a:t>3</a:t>
          </a:r>
          <a:endParaRPr lang="zh-CN" altLang="en-US" dirty="0"/>
        </a:p>
      </dgm:t>
    </dgm:pt>
    <dgm:pt modelId="{8B0474DE-43B1-4FCA-B416-25BE5DEEA2FC}" cxnId="{8B7C38E7-B568-49CD-B7FE-8AD6FCF5D8E2}" type="parTrans">
      <dgm:prSet/>
      <dgm:spPr/>
      <dgm:t>
        <a:bodyPr/>
        <a:lstStyle/>
        <a:p>
          <a:endParaRPr lang="zh-CN" altLang="en-US"/>
        </a:p>
      </dgm:t>
    </dgm:pt>
    <dgm:pt modelId="{27B53D61-7F01-4C36-8047-C9C9E0F095D5}" cxnId="{8B7C38E7-B568-49CD-B7FE-8AD6FCF5D8E2}" type="sibTrans">
      <dgm:prSet/>
      <dgm:spPr/>
      <dgm:t>
        <a:bodyPr/>
        <a:lstStyle/>
        <a:p>
          <a:endParaRPr lang="zh-CN" altLang="en-US"/>
        </a:p>
      </dgm:t>
    </dgm:pt>
    <dgm:pt modelId="{436CA616-B019-48F3-8079-4F9659403588}" type="pres">
      <dgm:prSet presAssocID="{1A5DC7FC-A542-4CA7-8DAC-3BFEEA5E49A7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029D9B40-F733-407F-BDB1-B9ECA8218D0A}" type="pres">
      <dgm:prSet presAssocID="{9ABEAABC-AA7D-47DC-BC43-A12EC1ADD7C8}" presName="centerShape" presStyleLbl="node0" presStyleIdx="0" presStyleCnt="1"/>
      <dgm:spPr/>
      <dgm:t>
        <a:bodyPr/>
        <a:lstStyle/>
        <a:p>
          <a:endParaRPr lang="zh-CN" altLang="en-US"/>
        </a:p>
      </dgm:t>
    </dgm:pt>
    <dgm:pt modelId="{1B18D8C2-81CA-4F53-B151-9CA7E0DD474E}" type="pres">
      <dgm:prSet presAssocID="{AEEE0E6E-0E56-486C-9DA5-8654A95B1D32}" presName="Name9" presStyleLbl="parChTrans1D2" presStyleIdx="0" presStyleCnt="3"/>
      <dgm:spPr/>
      <dgm:t>
        <a:bodyPr/>
        <a:lstStyle/>
        <a:p>
          <a:endParaRPr lang="zh-CN" altLang="en-US"/>
        </a:p>
      </dgm:t>
    </dgm:pt>
    <dgm:pt modelId="{EDA5F013-99D7-4AC1-A59A-36487E369C7C}" type="pres">
      <dgm:prSet presAssocID="{AEEE0E6E-0E56-486C-9DA5-8654A95B1D32}" presName="connTx" presStyleLbl="parChTrans1D2" presStyleIdx="0" presStyleCnt="3"/>
      <dgm:spPr/>
      <dgm:t>
        <a:bodyPr/>
        <a:lstStyle/>
        <a:p>
          <a:endParaRPr lang="zh-CN" altLang="en-US"/>
        </a:p>
      </dgm:t>
    </dgm:pt>
    <dgm:pt modelId="{AE981D26-B20B-40FC-ADB0-E38053339880}" type="pres">
      <dgm:prSet presAssocID="{70AC8CFE-5EC4-41FF-8FD8-F68FBD55AA98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FF6DFF4-B29D-44AB-B641-F5F1F7A5ED3C}" type="pres">
      <dgm:prSet presAssocID="{199CD7AB-0AEE-40FC-AA45-D1FD1A21F22C}" presName="Name9" presStyleLbl="parChTrans1D2" presStyleIdx="1" presStyleCnt="3"/>
      <dgm:spPr/>
      <dgm:t>
        <a:bodyPr/>
        <a:lstStyle/>
        <a:p>
          <a:endParaRPr lang="zh-CN" altLang="en-US"/>
        </a:p>
      </dgm:t>
    </dgm:pt>
    <dgm:pt modelId="{F7481DE5-613D-4703-8CDA-10ECDB1E0A5B}" type="pres">
      <dgm:prSet presAssocID="{199CD7AB-0AEE-40FC-AA45-D1FD1A21F22C}" presName="connTx" presStyleLbl="parChTrans1D2" presStyleIdx="1" presStyleCnt="3"/>
      <dgm:spPr/>
      <dgm:t>
        <a:bodyPr/>
        <a:lstStyle/>
        <a:p>
          <a:endParaRPr lang="zh-CN" altLang="en-US"/>
        </a:p>
      </dgm:t>
    </dgm:pt>
    <dgm:pt modelId="{C063F5E6-4346-4F4C-AFB2-2CD3504FF93C}" type="pres">
      <dgm:prSet presAssocID="{62DE8134-225E-40E8-8939-1CF5C7A033F7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8B6D8CB-868B-44AA-90C3-8B72F9A9D797}" type="pres">
      <dgm:prSet presAssocID="{8B0474DE-43B1-4FCA-B416-25BE5DEEA2FC}" presName="Name9" presStyleLbl="parChTrans1D2" presStyleIdx="2" presStyleCnt="3"/>
      <dgm:spPr/>
      <dgm:t>
        <a:bodyPr/>
        <a:lstStyle/>
        <a:p>
          <a:endParaRPr lang="zh-CN" altLang="en-US"/>
        </a:p>
      </dgm:t>
    </dgm:pt>
    <dgm:pt modelId="{58D9C0D3-63BE-4B2B-B372-15E763257838}" type="pres">
      <dgm:prSet presAssocID="{8B0474DE-43B1-4FCA-B416-25BE5DEEA2FC}" presName="connTx" presStyleLbl="parChTrans1D2" presStyleIdx="2" presStyleCnt="3"/>
      <dgm:spPr/>
      <dgm:t>
        <a:bodyPr/>
        <a:lstStyle/>
        <a:p>
          <a:endParaRPr lang="zh-CN" altLang="en-US"/>
        </a:p>
      </dgm:t>
    </dgm:pt>
    <dgm:pt modelId="{676BA6FB-C7B3-4A6B-A927-D3C61DB212A0}" type="pres">
      <dgm:prSet presAssocID="{B9A26B06-C4C2-4131-A2A6-AD152F258406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49E5F916-50E2-44E1-8841-12A890AC9CE9}" type="presOf" srcId="{62DE8134-225E-40E8-8939-1CF5C7A033F7}" destId="{C063F5E6-4346-4F4C-AFB2-2CD3504FF93C}" srcOrd="0" destOrd="0" presId="urn:microsoft.com/office/officeart/2005/8/layout/radial1"/>
    <dgm:cxn modelId="{A5E3CEF6-A2AA-49EC-AD59-B2361263D38E}" type="presOf" srcId="{1A5DC7FC-A542-4CA7-8DAC-3BFEEA5E49A7}" destId="{436CA616-B019-48F3-8079-4F9659403588}" srcOrd="0" destOrd="0" presId="urn:microsoft.com/office/officeart/2005/8/layout/radial1"/>
    <dgm:cxn modelId="{5F62BF89-0C51-451E-B690-9C582A3A8758}" type="presOf" srcId="{B9A26B06-C4C2-4131-A2A6-AD152F258406}" destId="{676BA6FB-C7B3-4A6B-A927-D3C61DB212A0}" srcOrd="0" destOrd="0" presId="urn:microsoft.com/office/officeart/2005/8/layout/radial1"/>
    <dgm:cxn modelId="{D592A953-87A6-487C-9D5D-4A81E1E758F6}" type="presOf" srcId="{199CD7AB-0AEE-40FC-AA45-D1FD1A21F22C}" destId="{F7481DE5-613D-4703-8CDA-10ECDB1E0A5B}" srcOrd="1" destOrd="0" presId="urn:microsoft.com/office/officeart/2005/8/layout/radial1"/>
    <dgm:cxn modelId="{02E7A94C-09E3-485F-B740-65BDE84F2E66}" srcId="{9ABEAABC-AA7D-47DC-BC43-A12EC1ADD7C8}" destId="{70AC8CFE-5EC4-41FF-8FD8-F68FBD55AA98}" srcOrd="0" destOrd="0" parTransId="{AEEE0E6E-0E56-486C-9DA5-8654A95B1D32}" sibTransId="{0C78E427-822B-4477-98EF-0C43E032DC61}"/>
    <dgm:cxn modelId="{F67251B7-84C0-47AA-89D4-D40F1F62BE36}" type="presOf" srcId="{8B0474DE-43B1-4FCA-B416-25BE5DEEA2FC}" destId="{68B6D8CB-868B-44AA-90C3-8B72F9A9D797}" srcOrd="0" destOrd="0" presId="urn:microsoft.com/office/officeart/2005/8/layout/radial1"/>
    <dgm:cxn modelId="{5A288914-196E-45D2-A161-21521D96ACE8}" type="presOf" srcId="{199CD7AB-0AEE-40FC-AA45-D1FD1A21F22C}" destId="{DFF6DFF4-B29D-44AB-B641-F5F1F7A5ED3C}" srcOrd="0" destOrd="0" presId="urn:microsoft.com/office/officeart/2005/8/layout/radial1"/>
    <dgm:cxn modelId="{210E6EF0-7B88-46A2-8DAB-B730BE22D8AF}" type="presOf" srcId="{70AC8CFE-5EC4-41FF-8FD8-F68FBD55AA98}" destId="{AE981D26-B20B-40FC-ADB0-E38053339880}" srcOrd="0" destOrd="0" presId="urn:microsoft.com/office/officeart/2005/8/layout/radial1"/>
    <dgm:cxn modelId="{804347C0-505C-4543-9DE4-17F9076FEACD}" type="presOf" srcId="{8B0474DE-43B1-4FCA-B416-25BE5DEEA2FC}" destId="{58D9C0D3-63BE-4B2B-B372-15E763257838}" srcOrd="1" destOrd="0" presId="urn:microsoft.com/office/officeart/2005/8/layout/radial1"/>
    <dgm:cxn modelId="{B3597295-BA59-4F19-B892-F489738A302E}" type="presOf" srcId="{AEEE0E6E-0E56-486C-9DA5-8654A95B1D32}" destId="{EDA5F013-99D7-4AC1-A59A-36487E369C7C}" srcOrd="1" destOrd="0" presId="urn:microsoft.com/office/officeart/2005/8/layout/radial1"/>
    <dgm:cxn modelId="{8B7C38E7-B568-49CD-B7FE-8AD6FCF5D8E2}" srcId="{9ABEAABC-AA7D-47DC-BC43-A12EC1ADD7C8}" destId="{B9A26B06-C4C2-4131-A2A6-AD152F258406}" srcOrd="2" destOrd="0" parTransId="{8B0474DE-43B1-4FCA-B416-25BE5DEEA2FC}" sibTransId="{27B53D61-7F01-4C36-8047-C9C9E0F095D5}"/>
    <dgm:cxn modelId="{0BBC16A9-EC9D-4490-A95D-BC2D4A1E9649}" type="presOf" srcId="{9ABEAABC-AA7D-47DC-BC43-A12EC1ADD7C8}" destId="{029D9B40-F733-407F-BDB1-B9ECA8218D0A}" srcOrd="0" destOrd="0" presId="urn:microsoft.com/office/officeart/2005/8/layout/radial1"/>
    <dgm:cxn modelId="{984568B7-6C2F-4D45-9BC9-FB7845431124}" srcId="{9ABEAABC-AA7D-47DC-BC43-A12EC1ADD7C8}" destId="{62DE8134-225E-40E8-8939-1CF5C7A033F7}" srcOrd="1" destOrd="0" parTransId="{199CD7AB-0AEE-40FC-AA45-D1FD1A21F22C}" sibTransId="{622907EF-A2ED-4A45-891A-3E380B812B1D}"/>
    <dgm:cxn modelId="{E4A7B8F6-EDA7-4AAD-937A-ABA9789C560A}" srcId="{1A5DC7FC-A542-4CA7-8DAC-3BFEEA5E49A7}" destId="{9ABEAABC-AA7D-47DC-BC43-A12EC1ADD7C8}" srcOrd="0" destOrd="0" parTransId="{7C4DB1BD-9606-45F8-93AD-3B81E66098EC}" sibTransId="{31A1D92C-4015-4870-851C-053EA33981F2}"/>
    <dgm:cxn modelId="{CBE75AB4-91E2-426C-A663-0492B9BF85A4}" type="presOf" srcId="{AEEE0E6E-0E56-486C-9DA5-8654A95B1D32}" destId="{1B18D8C2-81CA-4F53-B151-9CA7E0DD474E}" srcOrd="0" destOrd="0" presId="urn:microsoft.com/office/officeart/2005/8/layout/radial1"/>
    <dgm:cxn modelId="{A9F7E62C-0D74-4A74-9F44-B5633E0576FD}" type="presParOf" srcId="{436CA616-B019-48F3-8079-4F9659403588}" destId="{029D9B40-F733-407F-BDB1-B9ECA8218D0A}" srcOrd="0" destOrd="0" presId="urn:microsoft.com/office/officeart/2005/8/layout/radial1"/>
    <dgm:cxn modelId="{ACB9C58C-3D00-4F06-B247-DA96907B1624}" type="presParOf" srcId="{436CA616-B019-48F3-8079-4F9659403588}" destId="{1B18D8C2-81CA-4F53-B151-9CA7E0DD474E}" srcOrd="1" destOrd="0" presId="urn:microsoft.com/office/officeart/2005/8/layout/radial1"/>
    <dgm:cxn modelId="{5BC02E6A-5D2A-476B-9DAF-A4CE5A38BBDD}" type="presParOf" srcId="{1B18D8C2-81CA-4F53-B151-9CA7E0DD474E}" destId="{EDA5F013-99D7-4AC1-A59A-36487E369C7C}" srcOrd="0" destOrd="0" presId="urn:microsoft.com/office/officeart/2005/8/layout/radial1"/>
    <dgm:cxn modelId="{E338892E-80A6-44F7-97A2-4A113E9C2D8F}" type="presParOf" srcId="{436CA616-B019-48F3-8079-4F9659403588}" destId="{AE981D26-B20B-40FC-ADB0-E38053339880}" srcOrd="2" destOrd="0" presId="urn:microsoft.com/office/officeart/2005/8/layout/radial1"/>
    <dgm:cxn modelId="{582EAC72-81E5-48CA-A107-9A00A6D9F87D}" type="presParOf" srcId="{436CA616-B019-48F3-8079-4F9659403588}" destId="{DFF6DFF4-B29D-44AB-B641-F5F1F7A5ED3C}" srcOrd="3" destOrd="0" presId="urn:microsoft.com/office/officeart/2005/8/layout/radial1"/>
    <dgm:cxn modelId="{A39CA839-C57F-4225-A2FF-492967061223}" type="presParOf" srcId="{DFF6DFF4-B29D-44AB-B641-F5F1F7A5ED3C}" destId="{F7481DE5-613D-4703-8CDA-10ECDB1E0A5B}" srcOrd="0" destOrd="0" presId="urn:microsoft.com/office/officeart/2005/8/layout/radial1"/>
    <dgm:cxn modelId="{D252F57D-BCA1-41C8-95B0-062FBEE5E401}" type="presParOf" srcId="{436CA616-B019-48F3-8079-4F9659403588}" destId="{C063F5E6-4346-4F4C-AFB2-2CD3504FF93C}" srcOrd="4" destOrd="0" presId="urn:microsoft.com/office/officeart/2005/8/layout/radial1"/>
    <dgm:cxn modelId="{E874285A-BE0D-427A-A7AF-BBBF155510D1}" type="presParOf" srcId="{436CA616-B019-48F3-8079-4F9659403588}" destId="{68B6D8CB-868B-44AA-90C3-8B72F9A9D797}" srcOrd="5" destOrd="0" presId="urn:microsoft.com/office/officeart/2005/8/layout/radial1"/>
    <dgm:cxn modelId="{41FAD9FD-E43E-4E0F-8C7B-728439A7DA04}" type="presParOf" srcId="{68B6D8CB-868B-44AA-90C3-8B72F9A9D797}" destId="{58D9C0D3-63BE-4B2B-B372-15E763257838}" srcOrd="0" destOrd="0" presId="urn:microsoft.com/office/officeart/2005/8/layout/radial1"/>
    <dgm:cxn modelId="{8D807640-BD4E-4AFD-BA95-181461EB3785}" type="presParOf" srcId="{436CA616-B019-48F3-8079-4F9659403588}" destId="{676BA6FB-C7B3-4A6B-A927-D3C61DB212A0}" srcOrd="6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5050704" cy="3367136"/>
        <a:chOff x="0" y="0"/>
        <a:chExt cx="5050704" cy="3367136"/>
      </a:xfrm>
    </dsp:grpSpPr>
    <dsp:sp modelId="{E70DC00E-E67E-4254-B1B5-017A1404B4C1}">
      <dsp:nvSpPr>
        <dsp:cNvPr id="4" name="空心弧 3"/>
        <dsp:cNvSpPr/>
      </dsp:nvSpPr>
      <dsp:spPr bwMode="white">
        <a:xfrm>
          <a:off x="-3774336" y="-597147"/>
          <a:ext cx="4561431" cy="4561431"/>
        </a:xfrm>
        <a:prstGeom prst="blockArc">
          <a:avLst>
            <a:gd name="adj1" fmla="val 18900000"/>
            <a:gd name="adj2" fmla="val 2700000"/>
            <a:gd name="adj3" fmla="val 397"/>
          </a:avLst>
        </a:prstGeom>
        <a:sp3d prstMaterial="matte"/>
      </dsp:spPr>
      <dsp:style>
        <a:lnRef idx="2">
          <a:schemeClr val="accent2">
            <a:shade val="60000"/>
          </a:schemeClr>
        </a:lnRef>
        <a:fillRef idx="0">
          <a:schemeClr val="accent2"/>
        </a:fillRef>
        <a:effectRef idx="0">
          <a:scrgbClr r="0" g="0" b="0"/>
        </a:effectRef>
        <a:fontRef idx="minor"/>
      </dsp:style>
      <dsp:txXfrm>
        <a:off x="-3774336" y="-597147"/>
        <a:ext cx="4561431" cy="4561431"/>
      </dsp:txXfrm>
    </dsp:sp>
    <dsp:sp modelId="{1B0845BF-58A5-4897-8BFC-695BA7107DC4}">
      <dsp:nvSpPr>
        <dsp:cNvPr id="7" name="矩形 6"/>
        <dsp:cNvSpPr/>
      </dsp:nvSpPr>
      <dsp:spPr bwMode="white">
        <a:xfrm>
          <a:off x="426953" y="258865"/>
          <a:ext cx="4623751" cy="518000"/>
        </a:xfrm>
        <a:prstGeom prst="rect">
          <a:avLst/>
        </a:prstGeom>
        <a:sp3d prstMaterial="plastic">
          <a:bevelT w="120900" h="88900"/>
          <a:bevelB w="88900" h="31750" prst="angle"/>
        </a:sp3d>
      </dsp:spPr>
      <dsp:style>
        <a:lnRef idx="0">
          <a:schemeClr val="lt1"/>
        </a:lnRef>
        <a:fillRef idx="3">
          <a:schemeClr val="accent2"/>
        </a:fillRef>
        <a:effectRef idx="2">
          <a:scrgbClr r="0" g="0" b="0"/>
        </a:effectRef>
        <a:fontRef idx="minor">
          <a:schemeClr val="lt1"/>
        </a:fontRef>
      </dsp:style>
      <dsp:txBody>
        <a:bodyPr lIns="411162" tIns="63500" rIns="63500" bIns="63500" anchor="ctr"/>
        <a:lstStyle>
          <a:lvl1pPr algn="l">
            <a:defRPr sz="2500"/>
          </a:lvl1pPr>
          <a:lvl2pPr marL="171450" indent="-171450" algn="l">
            <a:defRPr sz="1900"/>
          </a:lvl2pPr>
          <a:lvl3pPr marL="342900" indent="-171450" algn="l">
            <a:defRPr sz="1900"/>
          </a:lvl3pPr>
          <a:lvl4pPr marL="514350" indent="-171450" algn="l">
            <a:defRPr sz="1900"/>
          </a:lvl4pPr>
          <a:lvl5pPr marL="685800" indent="-171450" algn="l">
            <a:defRPr sz="1900"/>
          </a:lvl5pPr>
          <a:lvl6pPr marL="857250" indent="-171450" algn="l">
            <a:defRPr sz="1900"/>
          </a:lvl6pPr>
          <a:lvl7pPr marL="1028700" indent="-171450" algn="l">
            <a:defRPr sz="1900"/>
          </a:lvl7pPr>
          <a:lvl8pPr marL="1200150" indent="-171450" algn="l">
            <a:defRPr sz="1900"/>
          </a:lvl8pPr>
          <a:lvl9pPr marL="1371600" indent="-171450" algn="l">
            <a:defRPr sz="1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 smtClean="0"/>
            <a:t>Cocoa Touch</a:t>
          </a:r>
          <a:endParaRPr lang="zh-CN" altLang="en-US" dirty="0"/>
        </a:p>
      </dsp:txBody>
      <dsp:txXfrm>
        <a:off x="426953" y="258865"/>
        <a:ext cx="4623751" cy="518000"/>
      </dsp:txXfrm>
    </dsp:sp>
    <dsp:sp modelId="{DF6528FC-686F-44BC-A86B-6C0D2B8F34B8}">
      <dsp:nvSpPr>
        <dsp:cNvPr id="8" name="椭圆 7"/>
        <dsp:cNvSpPr/>
      </dsp:nvSpPr>
      <dsp:spPr bwMode="white">
        <a:xfrm>
          <a:off x="103203" y="194115"/>
          <a:ext cx="647500" cy="647500"/>
        </a:xfrm>
        <a:prstGeom prst="ellipse">
          <a:avLst/>
        </a:prstGeom>
        <a:sp3d z="190500" extrusionH="12700" prstMaterial="plastic">
          <a:bevelT w="50800" h="50800"/>
        </a:sp3d>
      </dsp:spPr>
      <dsp:style>
        <a:lnRef idx="1">
          <a:schemeClr val="accent2"/>
        </a:lnRef>
        <a:fillRef idx="1">
          <a:schemeClr val="lt1"/>
        </a:fillRef>
        <a:effectRef idx="2">
          <a:scrgbClr r="0" g="0" b="0"/>
        </a:effectRef>
        <a:fontRef idx="minor"/>
      </dsp:style>
      <dsp:txXfrm>
        <a:off x="103203" y="194115"/>
        <a:ext cx="647500" cy="647500"/>
      </dsp:txXfrm>
    </dsp:sp>
    <dsp:sp modelId="{68704175-7DBE-4E83-B768-87FFD57E3BE9}">
      <dsp:nvSpPr>
        <dsp:cNvPr id="9" name="矩形 8"/>
        <dsp:cNvSpPr/>
      </dsp:nvSpPr>
      <dsp:spPr bwMode="white">
        <a:xfrm>
          <a:off x="723934" y="1036000"/>
          <a:ext cx="4326770" cy="518000"/>
        </a:xfrm>
        <a:prstGeom prst="rect">
          <a:avLst/>
        </a:prstGeom>
        <a:sp3d prstMaterial="plastic">
          <a:bevelT w="120900" h="88900"/>
          <a:bevelB w="88900" h="31750" prst="angle"/>
        </a:sp3d>
      </dsp:spPr>
      <dsp:style>
        <a:lnRef idx="0">
          <a:schemeClr val="lt1"/>
        </a:lnRef>
        <a:fillRef idx="3">
          <a:schemeClr val="accent2"/>
        </a:fillRef>
        <a:effectRef idx="2">
          <a:scrgbClr r="0" g="0" b="0"/>
        </a:effectRef>
        <a:fontRef idx="minor">
          <a:schemeClr val="lt1"/>
        </a:fontRef>
      </dsp:style>
      <dsp:txBody>
        <a:bodyPr lIns="411162" tIns="63500" rIns="63500" bIns="63500" anchor="ctr"/>
        <a:lstStyle>
          <a:lvl1pPr algn="l">
            <a:defRPr sz="2500"/>
          </a:lvl1pPr>
          <a:lvl2pPr marL="171450" indent="-171450" algn="l">
            <a:defRPr sz="1900"/>
          </a:lvl2pPr>
          <a:lvl3pPr marL="342900" indent="-171450" algn="l">
            <a:defRPr sz="1900"/>
          </a:lvl3pPr>
          <a:lvl4pPr marL="514350" indent="-171450" algn="l">
            <a:defRPr sz="1900"/>
          </a:lvl4pPr>
          <a:lvl5pPr marL="685800" indent="-171450" algn="l">
            <a:defRPr sz="1900"/>
          </a:lvl5pPr>
          <a:lvl6pPr marL="857250" indent="-171450" algn="l">
            <a:defRPr sz="1900"/>
          </a:lvl6pPr>
          <a:lvl7pPr marL="1028700" indent="-171450" algn="l">
            <a:defRPr sz="1900"/>
          </a:lvl7pPr>
          <a:lvl8pPr marL="1200150" indent="-171450" algn="l">
            <a:defRPr sz="1900"/>
          </a:lvl8pPr>
          <a:lvl9pPr marL="1371600" indent="-171450" algn="l">
            <a:defRPr sz="1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 smtClean="0"/>
            <a:t>Media Services</a:t>
          </a:r>
          <a:endParaRPr lang="zh-CN" altLang="en-US" dirty="0"/>
        </a:p>
      </dsp:txBody>
      <dsp:txXfrm>
        <a:off x="723934" y="1036000"/>
        <a:ext cx="4326770" cy="518000"/>
      </dsp:txXfrm>
    </dsp:sp>
    <dsp:sp modelId="{4872069F-AB1A-4CA3-8A00-F8F67F4A3DA1}">
      <dsp:nvSpPr>
        <dsp:cNvPr id="10" name="椭圆 9"/>
        <dsp:cNvSpPr/>
      </dsp:nvSpPr>
      <dsp:spPr bwMode="white">
        <a:xfrm>
          <a:off x="400184" y="971250"/>
          <a:ext cx="647500" cy="647500"/>
        </a:xfrm>
        <a:prstGeom prst="ellipse">
          <a:avLst/>
        </a:prstGeom>
        <a:sp3d z="190500" extrusionH="12700" prstMaterial="plastic">
          <a:bevelT w="50800" h="50800"/>
        </a:sp3d>
      </dsp:spPr>
      <dsp:style>
        <a:lnRef idx="1">
          <a:schemeClr val="accent2"/>
        </a:lnRef>
        <a:fillRef idx="1">
          <a:schemeClr val="lt1"/>
        </a:fillRef>
        <a:effectRef idx="2">
          <a:scrgbClr r="0" g="0" b="0"/>
        </a:effectRef>
        <a:fontRef idx="minor"/>
      </dsp:style>
      <dsp:txXfrm>
        <a:off x="400184" y="971250"/>
        <a:ext cx="647500" cy="647500"/>
      </dsp:txXfrm>
    </dsp:sp>
    <dsp:sp modelId="{9779B073-8329-441F-ABDD-8AEC30159585}">
      <dsp:nvSpPr>
        <dsp:cNvPr id="11" name="矩形 10"/>
        <dsp:cNvSpPr/>
      </dsp:nvSpPr>
      <dsp:spPr bwMode="white">
        <a:xfrm>
          <a:off x="723934" y="1813135"/>
          <a:ext cx="4326770" cy="518000"/>
        </a:xfrm>
        <a:prstGeom prst="rect">
          <a:avLst/>
        </a:prstGeom>
        <a:sp3d prstMaterial="plastic">
          <a:bevelT w="120900" h="88900"/>
          <a:bevelB w="88900" h="31750" prst="angle"/>
        </a:sp3d>
      </dsp:spPr>
      <dsp:style>
        <a:lnRef idx="0">
          <a:schemeClr val="lt1"/>
        </a:lnRef>
        <a:fillRef idx="3">
          <a:schemeClr val="accent2"/>
        </a:fillRef>
        <a:effectRef idx="2">
          <a:scrgbClr r="0" g="0" b="0"/>
        </a:effectRef>
        <a:fontRef idx="minor">
          <a:schemeClr val="lt1"/>
        </a:fontRef>
      </dsp:style>
      <dsp:txBody>
        <a:bodyPr lIns="411162" tIns="63500" rIns="63500" bIns="63500" anchor="ctr"/>
        <a:lstStyle>
          <a:lvl1pPr algn="l">
            <a:defRPr sz="2500"/>
          </a:lvl1pPr>
          <a:lvl2pPr marL="171450" indent="-171450" algn="l">
            <a:defRPr sz="1900"/>
          </a:lvl2pPr>
          <a:lvl3pPr marL="342900" indent="-171450" algn="l">
            <a:defRPr sz="1900"/>
          </a:lvl3pPr>
          <a:lvl4pPr marL="514350" indent="-171450" algn="l">
            <a:defRPr sz="1900"/>
          </a:lvl4pPr>
          <a:lvl5pPr marL="685800" indent="-171450" algn="l">
            <a:defRPr sz="1900"/>
          </a:lvl5pPr>
          <a:lvl6pPr marL="857250" indent="-171450" algn="l">
            <a:defRPr sz="1900"/>
          </a:lvl6pPr>
          <a:lvl7pPr marL="1028700" indent="-171450" algn="l">
            <a:defRPr sz="1900"/>
          </a:lvl7pPr>
          <a:lvl8pPr marL="1200150" indent="-171450" algn="l">
            <a:defRPr sz="1900"/>
          </a:lvl8pPr>
          <a:lvl9pPr marL="1371600" indent="-171450" algn="l">
            <a:defRPr sz="1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 smtClean="0"/>
            <a:t>Core Services</a:t>
          </a:r>
          <a:endParaRPr lang="zh-CN" altLang="en-US" dirty="0"/>
        </a:p>
      </dsp:txBody>
      <dsp:txXfrm>
        <a:off x="723934" y="1813135"/>
        <a:ext cx="4326770" cy="518000"/>
      </dsp:txXfrm>
    </dsp:sp>
    <dsp:sp modelId="{697D3A20-50E6-4D63-8C4C-38A4B5FF292F}">
      <dsp:nvSpPr>
        <dsp:cNvPr id="12" name="椭圆 11"/>
        <dsp:cNvSpPr/>
      </dsp:nvSpPr>
      <dsp:spPr bwMode="white">
        <a:xfrm>
          <a:off x="400184" y="1748385"/>
          <a:ext cx="647500" cy="647500"/>
        </a:xfrm>
        <a:prstGeom prst="ellipse">
          <a:avLst/>
        </a:prstGeom>
        <a:sp3d z="190500" extrusionH="12700" prstMaterial="plastic">
          <a:bevelT w="50800" h="50800"/>
        </a:sp3d>
      </dsp:spPr>
      <dsp:style>
        <a:lnRef idx="1">
          <a:schemeClr val="accent2"/>
        </a:lnRef>
        <a:fillRef idx="1">
          <a:schemeClr val="lt1"/>
        </a:fillRef>
        <a:effectRef idx="2">
          <a:scrgbClr r="0" g="0" b="0"/>
        </a:effectRef>
        <a:fontRef idx="minor"/>
      </dsp:style>
      <dsp:txXfrm>
        <a:off x="400184" y="1748385"/>
        <a:ext cx="647500" cy="647500"/>
      </dsp:txXfrm>
    </dsp:sp>
    <dsp:sp modelId="{30FAC7E1-8F41-40EE-8E80-77F57E2FDCAE}">
      <dsp:nvSpPr>
        <dsp:cNvPr id="13" name="矩形 12"/>
        <dsp:cNvSpPr/>
      </dsp:nvSpPr>
      <dsp:spPr bwMode="white">
        <a:xfrm>
          <a:off x="426953" y="2590270"/>
          <a:ext cx="4623751" cy="518000"/>
        </a:xfrm>
        <a:prstGeom prst="rect">
          <a:avLst/>
        </a:prstGeom>
        <a:sp3d prstMaterial="plastic">
          <a:bevelT w="120900" h="88900"/>
          <a:bevelB w="88900" h="31750" prst="angle"/>
        </a:sp3d>
      </dsp:spPr>
      <dsp:style>
        <a:lnRef idx="0">
          <a:schemeClr val="lt1"/>
        </a:lnRef>
        <a:fillRef idx="3">
          <a:schemeClr val="accent2"/>
        </a:fillRef>
        <a:effectRef idx="2">
          <a:scrgbClr r="0" g="0" b="0"/>
        </a:effectRef>
        <a:fontRef idx="minor">
          <a:schemeClr val="lt1"/>
        </a:fontRef>
      </dsp:style>
      <dsp:txBody>
        <a:bodyPr lIns="411162" tIns="63500" rIns="63500" bIns="63500" anchor="ctr"/>
        <a:lstStyle>
          <a:lvl1pPr algn="l">
            <a:defRPr sz="2500"/>
          </a:lvl1pPr>
          <a:lvl2pPr marL="171450" indent="-171450" algn="l">
            <a:defRPr sz="1900"/>
          </a:lvl2pPr>
          <a:lvl3pPr marL="342900" indent="-171450" algn="l">
            <a:defRPr sz="1900"/>
          </a:lvl3pPr>
          <a:lvl4pPr marL="514350" indent="-171450" algn="l">
            <a:defRPr sz="1900"/>
          </a:lvl4pPr>
          <a:lvl5pPr marL="685800" indent="-171450" algn="l">
            <a:defRPr sz="1900"/>
          </a:lvl5pPr>
          <a:lvl6pPr marL="857250" indent="-171450" algn="l">
            <a:defRPr sz="1900"/>
          </a:lvl6pPr>
          <a:lvl7pPr marL="1028700" indent="-171450" algn="l">
            <a:defRPr sz="1900"/>
          </a:lvl7pPr>
          <a:lvl8pPr marL="1200150" indent="-171450" algn="l">
            <a:defRPr sz="1900"/>
          </a:lvl8pPr>
          <a:lvl9pPr marL="1371600" indent="-171450" algn="l">
            <a:defRPr sz="1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 smtClean="0"/>
            <a:t>Core OS</a:t>
          </a:r>
          <a:endParaRPr lang="zh-CN" altLang="en-US" dirty="0"/>
        </a:p>
      </dsp:txBody>
      <dsp:txXfrm>
        <a:off x="426953" y="2590270"/>
        <a:ext cx="4623751" cy="518000"/>
      </dsp:txXfrm>
    </dsp:sp>
    <dsp:sp modelId="{7E228152-3FC4-4B3E-BED1-2391311CACA2}">
      <dsp:nvSpPr>
        <dsp:cNvPr id="14" name="椭圆 13"/>
        <dsp:cNvSpPr/>
      </dsp:nvSpPr>
      <dsp:spPr bwMode="white">
        <a:xfrm>
          <a:off x="103203" y="2525520"/>
          <a:ext cx="647500" cy="647500"/>
        </a:xfrm>
        <a:prstGeom prst="ellipse">
          <a:avLst/>
        </a:prstGeom>
        <a:sp3d z="190500" extrusionH="12700" prstMaterial="plastic">
          <a:bevelT w="50800" h="50800"/>
        </a:sp3d>
      </dsp:spPr>
      <dsp:style>
        <a:lnRef idx="1">
          <a:schemeClr val="accent2"/>
        </a:lnRef>
        <a:fillRef idx="1">
          <a:schemeClr val="lt1"/>
        </a:fillRef>
        <a:effectRef idx="2">
          <a:scrgbClr r="0" g="0" b="0"/>
        </a:effectRef>
        <a:fontRef idx="minor"/>
      </dsp:style>
      <dsp:txXfrm>
        <a:off x="103203" y="2525520"/>
        <a:ext cx="647500" cy="647500"/>
      </dsp:txXfrm>
    </dsp:sp>
    <dsp:sp modelId="{F1F39136-ACAC-4D81-9197-33670D13DB32}">
      <dsp:nvSpPr>
        <dsp:cNvPr id="3" name="矩形 2" hidden="1"/>
        <dsp:cNvSpPr/>
      </dsp:nvSpPr>
      <dsp:spPr bwMode="white">
        <a:xfrm>
          <a:off x="88361" y="65587"/>
          <a:ext cx="36000" cy="36000"/>
        </a:xfrm>
        <a:prstGeom prst="rect">
          <a:avLst/>
        </a:prstGeom>
        <a:sp3d prstMaterial="plastic">
          <a:bevelT w="120900" h="88900"/>
          <a:bevelB w="88900" h="31750" prst="angle"/>
        </a:sp3d>
      </dsp:spPr>
      <dsp:style>
        <a:lnRef idx="0">
          <a:schemeClr val="lt1"/>
        </a:lnRef>
        <a:fillRef idx="3">
          <a:schemeClr val="accent2"/>
        </a:fillRef>
        <a:effectRef idx="2">
          <a:scrgbClr r="0" g="0" b="0"/>
        </a:effectRef>
        <a:fontRef idx="minor">
          <a:schemeClr val="lt1"/>
        </a:fontRef>
      </dsp:style>
      <dsp:txXfrm>
        <a:off x="88361" y="65587"/>
        <a:ext cx="36000" cy="36000"/>
      </dsp:txXfrm>
    </dsp:sp>
    <dsp:sp modelId="{00880963-3F18-4B86-856F-1715C3D7837C}">
      <dsp:nvSpPr>
        <dsp:cNvPr id="5" name="矩形 4" hidden="1"/>
        <dsp:cNvSpPr/>
      </dsp:nvSpPr>
      <dsp:spPr bwMode="white">
        <a:xfrm>
          <a:off x="751095" y="1665568"/>
          <a:ext cx="36000" cy="36000"/>
        </a:xfrm>
        <a:prstGeom prst="rect">
          <a:avLst/>
        </a:prstGeom>
        <a:sp3d prstMaterial="plastic">
          <a:bevelT w="120900" h="88900"/>
          <a:bevelB w="88900" h="31750" prst="angle"/>
        </a:sp3d>
      </dsp:spPr>
      <dsp:style>
        <a:lnRef idx="0">
          <a:schemeClr val="lt1"/>
        </a:lnRef>
        <a:fillRef idx="3">
          <a:schemeClr val="accent2"/>
        </a:fillRef>
        <a:effectRef idx="2">
          <a:scrgbClr r="0" g="0" b="0"/>
        </a:effectRef>
        <a:fontRef idx="minor">
          <a:schemeClr val="lt1"/>
        </a:fontRef>
      </dsp:style>
      <dsp:txXfrm>
        <a:off x="751095" y="1665568"/>
        <a:ext cx="36000" cy="36000"/>
      </dsp:txXfrm>
    </dsp:sp>
    <dsp:sp modelId="{25F3FACB-99AC-41C1-BD4C-E9610FCC8B41}">
      <dsp:nvSpPr>
        <dsp:cNvPr id="6" name="矩形 5" hidden="1"/>
        <dsp:cNvSpPr/>
      </dsp:nvSpPr>
      <dsp:spPr bwMode="white">
        <a:xfrm>
          <a:off x="88361" y="3265549"/>
          <a:ext cx="36000" cy="36000"/>
        </a:xfrm>
        <a:prstGeom prst="rect">
          <a:avLst/>
        </a:prstGeom>
        <a:sp3d prstMaterial="plastic">
          <a:bevelT w="120900" h="88900"/>
          <a:bevelB w="88900" h="31750" prst="angle"/>
        </a:sp3d>
      </dsp:spPr>
      <dsp:style>
        <a:lnRef idx="0">
          <a:schemeClr val="lt1"/>
        </a:lnRef>
        <a:fillRef idx="3">
          <a:schemeClr val="accent2"/>
        </a:fillRef>
        <a:effectRef idx="2">
          <a:scrgbClr r="0" g="0" b="0"/>
        </a:effectRef>
        <a:fontRef idx="minor">
          <a:schemeClr val="lt1"/>
        </a:fontRef>
      </dsp:style>
      <dsp:txXfrm>
        <a:off x="88361" y="3265549"/>
        <a:ext cx="36000" cy="36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4865945" cy="2873700"/>
        <a:chOff x="0" y="0"/>
        <a:chExt cx="4865945" cy="2873700"/>
      </a:xfrm>
    </dsp:grpSpPr>
    <dsp:sp modelId="{98C03E0A-99FA-4C56-9232-A1FBDD7B3F93}">
      <dsp:nvSpPr>
        <dsp:cNvPr id="3" name="圆角矩形 2"/>
        <dsp:cNvSpPr/>
      </dsp:nvSpPr>
      <dsp:spPr bwMode="white">
        <a:xfrm>
          <a:off x="1962731" y="0"/>
          <a:ext cx="940484" cy="522491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lIns="80010" tIns="80010" rIns="80010" bIns="80010" anchor="ctr"/>
        <a:lstStyle>
          <a:lvl1pPr algn="ctr">
            <a:defRPr sz="2100"/>
          </a:lvl1pPr>
          <a:lvl2pPr marL="171450" indent="-171450" algn="ctr">
            <a:defRPr sz="1600"/>
          </a:lvl2pPr>
          <a:lvl3pPr marL="342900" indent="-171450" algn="ctr">
            <a:defRPr sz="1600"/>
          </a:lvl3pPr>
          <a:lvl4pPr marL="514350" indent="-171450" algn="ctr">
            <a:defRPr sz="1600"/>
          </a:lvl4pPr>
          <a:lvl5pPr marL="685800" indent="-171450" algn="ctr">
            <a:defRPr sz="1600"/>
          </a:lvl5pPr>
          <a:lvl6pPr marL="857250" indent="-171450" algn="ctr">
            <a:defRPr sz="1600"/>
          </a:lvl6pPr>
          <a:lvl7pPr marL="1028700" indent="-171450" algn="ctr">
            <a:defRPr sz="1600"/>
          </a:lvl7pPr>
          <a:lvl8pPr marL="1200150" indent="-171450" algn="ctr">
            <a:defRPr sz="1600"/>
          </a:lvl8pPr>
          <a:lvl9pPr marL="1371600" indent="-171450" algn="ctr">
            <a:defRPr sz="1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/>
            <a:t>高层</a:t>
          </a:r>
          <a:endParaRPr lang="zh-CN" altLang="en-US" dirty="0"/>
        </a:p>
      </dsp:txBody>
      <dsp:txXfrm>
        <a:off x="1962731" y="0"/>
        <a:ext cx="940484" cy="522491"/>
      </dsp:txXfrm>
    </dsp:sp>
    <dsp:sp modelId="{DECEB786-E06F-481C-86E4-F945592CEBB8}">
      <dsp:nvSpPr>
        <dsp:cNvPr id="4" name="右箭头 3"/>
        <dsp:cNvSpPr/>
      </dsp:nvSpPr>
      <dsp:spPr bwMode="white">
        <a:xfrm rot="5399999">
          <a:off x="2335006" y="535553"/>
          <a:ext cx="195934" cy="235121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2">
            <a:tint val="60000"/>
          </a:schemeClr>
        </a:lnRef>
        <a:fillRef idx="1">
          <a:schemeClr val="accent2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lIns="0" tIns="0" rIns="0" bIns="0" anchor="ctr"/>
        <a:lstStyle>
          <a:lvl1pPr algn="ctr">
            <a:defRPr sz="800"/>
          </a:lvl1pPr>
          <a:lvl2pPr marL="57150" indent="-57150" algn="ctr">
            <a:defRPr sz="600"/>
          </a:lvl2pPr>
          <a:lvl3pPr marL="114300" indent="-57150" algn="ctr">
            <a:defRPr sz="600"/>
          </a:lvl3pPr>
          <a:lvl4pPr marL="171450" indent="-57150" algn="ctr">
            <a:defRPr sz="600"/>
          </a:lvl4pPr>
          <a:lvl5pPr marL="228600" indent="-57150" algn="ctr">
            <a:defRPr sz="600"/>
          </a:lvl5pPr>
          <a:lvl6pPr marL="285750" indent="-57150" algn="ctr">
            <a:defRPr sz="600"/>
          </a:lvl6pPr>
          <a:lvl7pPr marL="342900" indent="-57150" algn="ctr">
            <a:defRPr sz="600"/>
          </a:lvl7pPr>
          <a:lvl8pPr marL="400050" indent="-57150" algn="ctr">
            <a:defRPr sz="600"/>
          </a:lvl8pPr>
          <a:lvl9pPr marL="457200" indent="-57150" algn="ctr">
            <a:defRPr sz="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 rot="5399999">
        <a:off x="2335006" y="535553"/>
        <a:ext cx="195934" cy="235121"/>
      </dsp:txXfrm>
    </dsp:sp>
    <dsp:sp modelId="{F961457A-D5F9-4869-8B2C-92214855B2B8}">
      <dsp:nvSpPr>
        <dsp:cNvPr id="5" name="圆角矩形 4"/>
        <dsp:cNvSpPr/>
      </dsp:nvSpPr>
      <dsp:spPr bwMode="white">
        <a:xfrm>
          <a:off x="1962731" y="783736"/>
          <a:ext cx="940484" cy="522491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lIns="80010" tIns="80010" rIns="80010" bIns="80010" anchor="ctr"/>
        <a:lstStyle>
          <a:lvl1pPr algn="ctr">
            <a:defRPr sz="2100"/>
          </a:lvl1pPr>
          <a:lvl2pPr marL="171450" indent="-171450" algn="ctr">
            <a:defRPr sz="1600"/>
          </a:lvl2pPr>
          <a:lvl3pPr marL="342900" indent="-171450" algn="ctr">
            <a:defRPr sz="1600"/>
          </a:lvl3pPr>
          <a:lvl4pPr marL="514350" indent="-171450" algn="ctr">
            <a:defRPr sz="1600"/>
          </a:lvl4pPr>
          <a:lvl5pPr marL="685800" indent="-171450" algn="ctr">
            <a:defRPr sz="1600"/>
          </a:lvl5pPr>
          <a:lvl6pPr marL="857250" indent="-171450" algn="ctr">
            <a:defRPr sz="1600"/>
          </a:lvl6pPr>
          <a:lvl7pPr marL="1028700" indent="-171450" algn="ctr">
            <a:defRPr sz="1600"/>
          </a:lvl7pPr>
          <a:lvl8pPr marL="1200150" indent="-171450" algn="ctr">
            <a:defRPr sz="1600"/>
          </a:lvl8pPr>
          <a:lvl9pPr marL="1371600" indent="-171450" algn="ctr">
            <a:defRPr sz="1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dirty="0"/>
        </a:p>
      </dsp:txBody>
      <dsp:txXfrm>
        <a:off x="1962731" y="783736"/>
        <a:ext cx="940484" cy="522491"/>
      </dsp:txXfrm>
    </dsp:sp>
    <dsp:sp modelId="{A1E20E66-61FF-4428-A0AA-0689FCBC4F9C}">
      <dsp:nvSpPr>
        <dsp:cNvPr id="6" name="右箭头 5"/>
        <dsp:cNvSpPr/>
      </dsp:nvSpPr>
      <dsp:spPr bwMode="white">
        <a:xfrm rot="5399999">
          <a:off x="2335006" y="1319290"/>
          <a:ext cx="195934" cy="235121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2">
            <a:tint val="60000"/>
          </a:schemeClr>
        </a:lnRef>
        <a:fillRef idx="1">
          <a:schemeClr val="accent2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lIns="0" tIns="0" rIns="0" bIns="0" anchor="ctr"/>
        <a:lstStyle>
          <a:lvl1pPr algn="ctr">
            <a:defRPr sz="800"/>
          </a:lvl1pPr>
          <a:lvl2pPr marL="57150" indent="-57150" algn="ctr">
            <a:defRPr sz="600"/>
          </a:lvl2pPr>
          <a:lvl3pPr marL="114300" indent="-57150" algn="ctr">
            <a:defRPr sz="600"/>
          </a:lvl3pPr>
          <a:lvl4pPr marL="171450" indent="-57150" algn="ctr">
            <a:defRPr sz="600"/>
          </a:lvl4pPr>
          <a:lvl5pPr marL="228600" indent="-57150" algn="ctr">
            <a:defRPr sz="600"/>
          </a:lvl5pPr>
          <a:lvl6pPr marL="285750" indent="-57150" algn="ctr">
            <a:defRPr sz="600"/>
          </a:lvl6pPr>
          <a:lvl7pPr marL="342900" indent="-57150" algn="ctr">
            <a:defRPr sz="600"/>
          </a:lvl7pPr>
          <a:lvl8pPr marL="400050" indent="-57150" algn="ctr">
            <a:defRPr sz="600"/>
          </a:lvl8pPr>
          <a:lvl9pPr marL="457200" indent="-57150" algn="ctr">
            <a:defRPr sz="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 rot="5399999">
        <a:off x="2335006" y="1319290"/>
        <a:ext cx="195934" cy="235121"/>
      </dsp:txXfrm>
    </dsp:sp>
    <dsp:sp modelId="{76CC3255-D134-4F4F-AC88-86E9B79F49B2}">
      <dsp:nvSpPr>
        <dsp:cNvPr id="7" name="圆角矩形 6"/>
        <dsp:cNvSpPr/>
      </dsp:nvSpPr>
      <dsp:spPr bwMode="white">
        <a:xfrm>
          <a:off x="1962731" y="1567473"/>
          <a:ext cx="940484" cy="522491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lIns="80010" tIns="80010" rIns="80010" bIns="80010" anchor="ctr"/>
        <a:lstStyle>
          <a:lvl1pPr algn="ctr">
            <a:defRPr sz="2100"/>
          </a:lvl1pPr>
          <a:lvl2pPr marL="171450" indent="-171450" algn="ctr">
            <a:defRPr sz="1600"/>
          </a:lvl2pPr>
          <a:lvl3pPr marL="342900" indent="-171450" algn="ctr">
            <a:defRPr sz="1600"/>
          </a:lvl3pPr>
          <a:lvl4pPr marL="514350" indent="-171450" algn="ctr">
            <a:defRPr sz="1600"/>
          </a:lvl4pPr>
          <a:lvl5pPr marL="685800" indent="-171450" algn="ctr">
            <a:defRPr sz="1600"/>
          </a:lvl5pPr>
          <a:lvl6pPr marL="857250" indent="-171450" algn="ctr">
            <a:defRPr sz="1600"/>
          </a:lvl6pPr>
          <a:lvl7pPr marL="1028700" indent="-171450" algn="ctr">
            <a:defRPr sz="1600"/>
          </a:lvl7pPr>
          <a:lvl8pPr marL="1200150" indent="-171450" algn="ctr">
            <a:defRPr sz="1600"/>
          </a:lvl8pPr>
          <a:lvl9pPr marL="1371600" indent="-171450" algn="ctr">
            <a:defRPr sz="1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dirty="0"/>
        </a:p>
      </dsp:txBody>
      <dsp:txXfrm>
        <a:off x="1962731" y="1567473"/>
        <a:ext cx="940484" cy="522491"/>
      </dsp:txXfrm>
    </dsp:sp>
    <dsp:sp modelId="{BD701855-02E2-4783-B2FF-ABED45107BF0}">
      <dsp:nvSpPr>
        <dsp:cNvPr id="8" name="右箭头 7"/>
        <dsp:cNvSpPr/>
      </dsp:nvSpPr>
      <dsp:spPr bwMode="white">
        <a:xfrm rot="5399999">
          <a:off x="2335006" y="2103026"/>
          <a:ext cx="195934" cy="235121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2">
            <a:tint val="60000"/>
          </a:schemeClr>
        </a:lnRef>
        <a:fillRef idx="1">
          <a:schemeClr val="accent2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lIns="0" tIns="0" rIns="0" bIns="0" anchor="ctr"/>
        <a:lstStyle>
          <a:lvl1pPr algn="ctr">
            <a:defRPr sz="800"/>
          </a:lvl1pPr>
          <a:lvl2pPr marL="57150" indent="-57150" algn="ctr">
            <a:defRPr sz="600"/>
          </a:lvl2pPr>
          <a:lvl3pPr marL="114300" indent="-57150" algn="ctr">
            <a:defRPr sz="600"/>
          </a:lvl3pPr>
          <a:lvl4pPr marL="171450" indent="-57150" algn="ctr">
            <a:defRPr sz="600"/>
          </a:lvl4pPr>
          <a:lvl5pPr marL="228600" indent="-57150" algn="ctr">
            <a:defRPr sz="600"/>
          </a:lvl5pPr>
          <a:lvl6pPr marL="285750" indent="-57150" algn="ctr">
            <a:defRPr sz="600"/>
          </a:lvl6pPr>
          <a:lvl7pPr marL="342900" indent="-57150" algn="ctr">
            <a:defRPr sz="600"/>
          </a:lvl7pPr>
          <a:lvl8pPr marL="400050" indent="-57150" algn="ctr">
            <a:defRPr sz="600"/>
          </a:lvl8pPr>
          <a:lvl9pPr marL="457200" indent="-57150" algn="ctr">
            <a:defRPr sz="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 rot="5399999">
        <a:off x="2335006" y="2103026"/>
        <a:ext cx="195934" cy="235121"/>
      </dsp:txXfrm>
    </dsp:sp>
    <dsp:sp modelId="{BFB17DE6-4A9A-4FB1-A050-111DCA787BC2}">
      <dsp:nvSpPr>
        <dsp:cNvPr id="9" name="圆角矩形 8"/>
        <dsp:cNvSpPr/>
      </dsp:nvSpPr>
      <dsp:spPr bwMode="white">
        <a:xfrm>
          <a:off x="1962731" y="2351209"/>
          <a:ext cx="940484" cy="522491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lIns="80010" tIns="80010" rIns="80010" bIns="80010" anchor="ctr"/>
        <a:lstStyle>
          <a:lvl1pPr algn="ctr">
            <a:defRPr sz="2100"/>
          </a:lvl1pPr>
          <a:lvl2pPr marL="171450" indent="-171450" algn="ctr">
            <a:defRPr sz="1600"/>
          </a:lvl2pPr>
          <a:lvl3pPr marL="342900" indent="-171450" algn="ctr">
            <a:defRPr sz="1600"/>
          </a:lvl3pPr>
          <a:lvl4pPr marL="514350" indent="-171450" algn="ctr">
            <a:defRPr sz="1600"/>
          </a:lvl4pPr>
          <a:lvl5pPr marL="685800" indent="-171450" algn="ctr">
            <a:defRPr sz="1600"/>
          </a:lvl5pPr>
          <a:lvl6pPr marL="857250" indent="-171450" algn="ctr">
            <a:defRPr sz="1600"/>
          </a:lvl6pPr>
          <a:lvl7pPr marL="1028700" indent="-171450" algn="ctr">
            <a:defRPr sz="1600"/>
          </a:lvl7pPr>
          <a:lvl8pPr marL="1200150" indent="-171450" algn="ctr">
            <a:defRPr sz="1600"/>
          </a:lvl8pPr>
          <a:lvl9pPr marL="1371600" indent="-171450" algn="ctr">
            <a:defRPr sz="1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/>
            <a:t>底层</a:t>
          </a:r>
          <a:endParaRPr lang="zh-CN" altLang="en-US" dirty="0"/>
        </a:p>
      </dsp:txBody>
      <dsp:txXfrm>
        <a:off x="1962731" y="2351209"/>
        <a:ext cx="940484" cy="52249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3437787" cy="2476989"/>
        <a:chOff x="0" y="0"/>
        <a:chExt cx="3437787" cy="2476989"/>
      </a:xfrm>
    </dsp:grpSpPr>
    <dsp:sp modelId="{029D9B40-F733-407F-BDB1-B9ECA8218D0A}">
      <dsp:nvSpPr>
        <dsp:cNvPr id="3" name="椭圆 2"/>
        <dsp:cNvSpPr/>
      </dsp:nvSpPr>
      <dsp:spPr bwMode="white">
        <a:xfrm>
          <a:off x="1299065" y="1091555"/>
          <a:ext cx="839657" cy="839657"/>
        </a:xfrm>
        <a:prstGeom prst="ellipse">
          <a:avLst/>
        </a:prstGeom>
      </dsp:spPr>
      <dsp:style>
        <a:lnRef idx="2">
          <a:schemeClr val="lt1"/>
        </a:lnRef>
        <a:fillRef idx="1">
          <a:schemeClr val="accent4"/>
        </a:fillRef>
        <a:effectRef idx="0">
          <a:scrgbClr r="0" g="0" b="0"/>
        </a:effectRef>
        <a:fontRef idx="minor">
          <a:schemeClr val="lt1"/>
        </a:fontRef>
      </dsp:style>
      <dsp:txBody>
        <a:bodyPr lIns="11430" tIns="11430" rIns="11430" bIns="1143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/>
            <a:t>模块</a:t>
          </a:r>
          <a:r>
            <a:rPr lang="en-US" altLang="zh-CN" dirty="0" smtClean="0"/>
            <a:t>2</a:t>
          </a:r>
          <a:endParaRPr lang="zh-CN" altLang="en-US" dirty="0"/>
        </a:p>
      </dsp:txBody>
      <dsp:txXfrm>
        <a:off x="1299065" y="1091555"/>
        <a:ext cx="839657" cy="839657"/>
      </dsp:txXfrm>
    </dsp:sp>
    <dsp:sp modelId="{1B18D8C2-81CA-4F53-B151-9CA7E0DD474E}">
      <dsp:nvSpPr>
        <dsp:cNvPr id="4" name="任意多边形 3"/>
        <dsp:cNvSpPr/>
      </dsp:nvSpPr>
      <dsp:spPr bwMode="white">
        <a:xfrm>
          <a:off x="1592945" y="943624"/>
          <a:ext cx="251897" cy="43964"/>
        </a:xfrm>
        <a:custGeom>
          <a:avLst/>
          <a:gdLst/>
          <a:ahLst/>
          <a:cxnLst/>
          <a:pathLst>
            <a:path w="397" h="69">
              <a:moveTo>
                <a:pt x="198" y="233"/>
              </a:moveTo>
              <a:lnTo>
                <a:pt x="198" y="-164"/>
              </a:lnTo>
            </a:path>
          </a:pathLst>
        </a:custGeom>
      </dsp:spPr>
      <dsp:style>
        <a:lnRef idx="2">
          <a:schemeClr val="accent4">
            <a:shade val="60000"/>
          </a:schemeClr>
        </a:lnRef>
        <a:fillRef idx="0">
          <a:schemeClr val="accent4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1592945" y="943624"/>
        <a:ext cx="251897" cy="43964"/>
      </dsp:txXfrm>
    </dsp:sp>
    <dsp:sp modelId="{AE981D26-B20B-40FC-ADB0-E38053339880}">
      <dsp:nvSpPr>
        <dsp:cNvPr id="5" name="椭圆 4"/>
        <dsp:cNvSpPr/>
      </dsp:nvSpPr>
      <dsp:spPr bwMode="white">
        <a:xfrm>
          <a:off x="1299065" y="0"/>
          <a:ext cx="839657" cy="839657"/>
        </a:xfrm>
        <a:prstGeom prst="ellipse">
          <a:avLst/>
        </a:prstGeom>
      </dsp:spPr>
      <dsp:style>
        <a:lnRef idx="2">
          <a:schemeClr val="lt1"/>
        </a:lnRef>
        <a:fillRef idx="1">
          <a:schemeClr val="accent4"/>
        </a:fillRef>
        <a:effectRef idx="0">
          <a:scrgbClr r="0" g="0" b="0"/>
        </a:effectRef>
        <a:fontRef idx="minor">
          <a:schemeClr val="lt1"/>
        </a:fontRef>
      </dsp:style>
      <dsp:txBody>
        <a:bodyPr lIns="11430" tIns="11430" rIns="11430" bIns="1143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/>
            <a:t>模块</a:t>
          </a:r>
          <a:r>
            <a:rPr lang="en-US" altLang="zh-CN" dirty="0" smtClean="0"/>
            <a:t>1</a:t>
          </a:r>
          <a:endParaRPr lang="zh-CN" altLang="en-US" dirty="0"/>
        </a:p>
      </dsp:txBody>
      <dsp:txXfrm>
        <a:off x="1299065" y="0"/>
        <a:ext cx="839657" cy="839657"/>
      </dsp:txXfrm>
    </dsp:sp>
    <dsp:sp modelId="{DFF6DFF4-B29D-44AB-B641-F5F1F7A5ED3C}">
      <dsp:nvSpPr>
        <dsp:cNvPr id="6" name="任意多边形 5"/>
        <dsp:cNvSpPr/>
      </dsp:nvSpPr>
      <dsp:spPr bwMode="white">
        <a:xfrm>
          <a:off x="2065602" y="1762290"/>
          <a:ext cx="251897" cy="43964"/>
        </a:xfrm>
        <a:custGeom>
          <a:avLst/>
          <a:gdLst/>
          <a:ahLst/>
          <a:cxnLst/>
          <a:pathLst>
            <a:path w="397" h="69">
              <a:moveTo>
                <a:pt x="27" y="-65"/>
              </a:moveTo>
              <a:lnTo>
                <a:pt x="370" y="134"/>
              </a:lnTo>
            </a:path>
          </a:pathLst>
        </a:custGeom>
      </dsp:spPr>
      <dsp:style>
        <a:lnRef idx="2">
          <a:schemeClr val="accent4">
            <a:shade val="60000"/>
          </a:schemeClr>
        </a:lnRef>
        <a:fillRef idx="0">
          <a:schemeClr val="accent4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2065602" y="1762290"/>
        <a:ext cx="251897" cy="43964"/>
      </dsp:txXfrm>
    </dsp:sp>
    <dsp:sp modelId="{C063F5E6-4346-4F4C-AFB2-2CD3504FF93C}">
      <dsp:nvSpPr>
        <dsp:cNvPr id="7" name="椭圆 6"/>
        <dsp:cNvSpPr/>
      </dsp:nvSpPr>
      <dsp:spPr bwMode="white">
        <a:xfrm>
          <a:off x="2244379" y="1637332"/>
          <a:ext cx="839657" cy="839657"/>
        </a:xfrm>
        <a:prstGeom prst="ellipse">
          <a:avLst/>
        </a:prstGeom>
      </dsp:spPr>
      <dsp:style>
        <a:lnRef idx="2">
          <a:schemeClr val="lt1"/>
        </a:lnRef>
        <a:fillRef idx="1">
          <a:schemeClr val="accent4"/>
        </a:fillRef>
        <a:effectRef idx="0">
          <a:scrgbClr r="0" g="0" b="0"/>
        </a:effectRef>
        <a:fontRef idx="minor">
          <a:schemeClr val="lt1"/>
        </a:fontRef>
      </dsp:style>
      <dsp:txBody>
        <a:bodyPr lIns="11430" tIns="11430" rIns="11430" bIns="1143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/>
            <a:t>模块</a:t>
          </a:r>
          <a:r>
            <a:rPr lang="en-US" altLang="zh-CN" dirty="0" smtClean="0"/>
            <a:t>4</a:t>
          </a:r>
          <a:endParaRPr lang="zh-CN" altLang="en-US" dirty="0"/>
        </a:p>
      </dsp:txBody>
      <dsp:txXfrm>
        <a:off x="2244379" y="1637332"/>
        <a:ext cx="839657" cy="839657"/>
      </dsp:txXfrm>
    </dsp:sp>
    <dsp:sp modelId="{68B6D8CB-868B-44AA-90C3-8B72F9A9D797}">
      <dsp:nvSpPr>
        <dsp:cNvPr id="8" name="任意多边形 7"/>
        <dsp:cNvSpPr/>
      </dsp:nvSpPr>
      <dsp:spPr bwMode="white">
        <a:xfrm>
          <a:off x="1120288" y="1762290"/>
          <a:ext cx="251897" cy="43964"/>
        </a:xfrm>
        <a:custGeom>
          <a:avLst/>
          <a:gdLst/>
          <a:ahLst/>
          <a:cxnLst/>
          <a:pathLst>
            <a:path w="397" h="69">
              <a:moveTo>
                <a:pt x="370" y="-65"/>
              </a:moveTo>
              <a:lnTo>
                <a:pt x="27" y="134"/>
              </a:lnTo>
            </a:path>
          </a:pathLst>
        </a:custGeom>
      </dsp:spPr>
      <dsp:style>
        <a:lnRef idx="2">
          <a:schemeClr val="accent4">
            <a:shade val="60000"/>
          </a:schemeClr>
        </a:lnRef>
        <a:fillRef idx="0">
          <a:schemeClr val="accent4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1120288" y="1762290"/>
        <a:ext cx="251897" cy="43964"/>
      </dsp:txXfrm>
    </dsp:sp>
    <dsp:sp modelId="{676BA6FB-C7B3-4A6B-A927-D3C61DB212A0}">
      <dsp:nvSpPr>
        <dsp:cNvPr id="9" name="椭圆 8"/>
        <dsp:cNvSpPr/>
      </dsp:nvSpPr>
      <dsp:spPr bwMode="white">
        <a:xfrm>
          <a:off x="353751" y="1637332"/>
          <a:ext cx="839657" cy="839657"/>
        </a:xfrm>
        <a:prstGeom prst="ellipse">
          <a:avLst/>
        </a:prstGeom>
      </dsp:spPr>
      <dsp:style>
        <a:lnRef idx="2">
          <a:schemeClr val="lt1"/>
        </a:lnRef>
        <a:fillRef idx="1">
          <a:schemeClr val="accent4"/>
        </a:fillRef>
        <a:effectRef idx="0">
          <a:scrgbClr r="0" g="0" b="0"/>
        </a:effectRef>
        <a:fontRef idx="minor">
          <a:schemeClr val="lt1"/>
        </a:fontRef>
      </dsp:style>
      <dsp:txBody>
        <a:bodyPr lIns="11430" tIns="11430" rIns="11430" bIns="1143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/>
            <a:t>模块</a:t>
          </a:r>
          <a:r>
            <a:rPr lang="en-US" altLang="zh-CN" dirty="0" smtClean="0"/>
            <a:t>3</a:t>
          </a:r>
          <a:endParaRPr lang="zh-CN" altLang="en-US" dirty="0"/>
        </a:p>
      </dsp:txBody>
      <dsp:txXfrm>
        <a:off x="353751" y="1637332"/>
        <a:ext cx="839657" cy="8396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srcNode" val="srcNode"/>
            <dgm:param type="dstNode" val="dstNode"/>
            <dgm:param type="endSty" val="noArr"/>
            <dgm:param type="connRout" val="curve"/>
            <dgm:param type="begPts" val="ctr"/>
            <dgm:param type="endPts" val="ct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Sty" val="noArr"/>
              <dgm:param type="endSty" val="noArr"/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7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807" cy="37913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057119" y="0"/>
            <a:ext cx="4633807" cy="37913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079750" y="944563"/>
            <a:ext cx="4533900" cy="2550319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069340" y="3636566"/>
            <a:ext cx="8554720" cy="297537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7177364"/>
            <a:ext cx="4633807" cy="3791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057119" y="7177364"/>
            <a:ext cx="4633807" cy="3791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t>取系统所含扩展内存大小，并保存在内存 0x90002 处   返回：ax=从0xl00000(lM)处开始的扩展内存大小(KB).若出错则CF置位,ax=出错码</a:t>
            </a:r>
          </a:p>
          <a:p>
            <a:r>
              <a:rPr lang="en-US"/>
              <a:t>mov cx #0x8000 </a:t>
            </a:r>
            <a:r>
              <a:rPr lang="zh-CN" altLang="en-US"/>
              <a:t>移动</a:t>
            </a:r>
            <a:r>
              <a:rPr lang="en-US" altLang="zh-CN"/>
              <a:t>64K</a:t>
            </a:r>
            <a:r>
              <a:rPr lang="en-US" altLang="zh-CN"/>
              <a:t>B</a:t>
            </a:r>
            <a:endParaRPr lang="en-US" altLang="zh-CN"/>
          </a:p>
          <a:p>
            <a:r>
              <a:rPr lang="en-US" altLang="zh-CN"/>
              <a:t>跳转到8:0位置,这里的8为实模式下的段选择符，目的地址是0x00000000</a:t>
            </a:r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969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</a:t>
            </a:r>
            <a:endParaRPr kumimoji="1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defTabSz="913130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  <a:ea typeface="MS PGothic" panose="020B0600070205080204" pitchFamily="34" charset="-128"/>
              </a:rPr>
            </a:fld>
            <a:endParaRPr lang="en-US" altLang="zh-CN" sz="1200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3072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072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79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687458" y="5784144"/>
            <a:ext cx="853541" cy="9087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746" name="标题 31745"/>
          <p:cNvSpPr>
            <a:spLocks noGrp="1"/>
          </p:cNvSpPr>
          <p:nvPr>
            <p:ph type="ctrTitle"/>
          </p:nvPr>
        </p:nvSpPr>
        <p:spPr>
          <a:xfrm>
            <a:off x="1069340" y="2347413"/>
            <a:ext cx="9089390" cy="16197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lvl="0">
              <a:buClrTx/>
              <a:buSzTx/>
              <a:buFontTx/>
              <a:defRPr sz="595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1747" name="副标题 31746"/>
          <p:cNvSpPr>
            <a:spLocks noGrp="1"/>
          </p:cNvSpPr>
          <p:nvPr>
            <p:ph type="subTitle" idx="1"/>
          </p:nvPr>
        </p:nvSpPr>
        <p:spPr>
          <a:xfrm>
            <a:off x="5881370" y="5793317"/>
            <a:ext cx="4188248" cy="73990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0" lvl="0" indent="0" algn="ctr">
              <a:buClr>
                <a:srgbClr val="993300"/>
              </a:buClr>
              <a:buSzPct val="90000"/>
              <a:buFont typeface="Wingdings" panose="05000000000000000000" pitchFamily="2" charset="2"/>
              <a:buNone/>
              <a:defRPr>
                <a:solidFill>
                  <a:srgbClr val="993300"/>
                </a:solidFill>
              </a:defRPr>
            </a:lvl1pPr>
            <a:lvl2pPr marL="503555" lvl="1" indent="0" algn="ctr">
              <a:buClr>
                <a:srgbClr val="CC6600"/>
              </a:buClr>
              <a:buSzPct val="80000"/>
              <a:buFont typeface="Wingdings" panose="05000000000000000000" pitchFamily="2" charset="2"/>
              <a:buNone/>
              <a:defRPr>
                <a:solidFill>
                  <a:srgbClr val="993300"/>
                </a:solidFill>
              </a:defRPr>
            </a:lvl2pPr>
            <a:lvl3pPr marL="1007745" lvl="2" indent="0" algn="ctr">
              <a:buClr>
                <a:srgbClr val="009900"/>
              </a:buClr>
              <a:buSzPct val="75000"/>
              <a:buFont typeface="Webdings" panose="05030102010509060703" pitchFamily="18" charset="2"/>
              <a:buNone/>
              <a:defRPr>
                <a:solidFill>
                  <a:srgbClr val="993300"/>
                </a:solidFill>
              </a:defRPr>
            </a:lvl3pPr>
            <a:lvl4pPr marL="1511300" lvl="3" indent="0" algn="ctr">
              <a:buClr>
                <a:srgbClr val="FF6600"/>
              </a:buClr>
              <a:buSzPct val="75000"/>
              <a:buFont typeface="Times New Roman" panose="02020603050405020304" pitchFamily="18" charset="0"/>
              <a:buNone/>
              <a:defRPr>
                <a:solidFill>
                  <a:srgbClr val="993300"/>
                </a:solidFill>
              </a:defRPr>
            </a:lvl4pPr>
            <a:lvl5pPr marL="2014855" lvl="4" indent="0" algn="ctr">
              <a:buClr>
                <a:srgbClr val="FF0066"/>
              </a:buClr>
              <a:buSzPct val="75000"/>
              <a:buFont typeface="Times New Roman" panose="02020603050405020304" pitchFamily="18" charset="0"/>
              <a:buNone/>
              <a:defRPr>
                <a:solidFill>
                  <a:srgbClr val="993300"/>
                </a:solidFill>
              </a:defRPr>
            </a:lvl5pPr>
          </a:lstStyle>
          <a:p>
            <a:pPr lvl="0"/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31748" name="日期占位符 31747"/>
          <p:cNvSpPr>
            <a:spLocks noGrp="1"/>
          </p:cNvSpPr>
          <p:nvPr>
            <p:ph type="dt" sz="half" idx="2"/>
          </p:nvPr>
        </p:nvSpPr>
        <p:spPr>
          <a:xfrm>
            <a:off x="534670" y="6881313"/>
            <a:ext cx="2495127" cy="52475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>
              <a:defRPr sz="1545">
                <a:solidFill>
                  <a:srgbClr val="009900"/>
                </a:solidFill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>
                <a:latin typeface="Arial" panose="020B0604020202020204" pitchFamily="34" charset="0"/>
              </a:rPr>
              <a:t>李治军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1749" name="页脚占位符 31748"/>
          <p:cNvSpPr>
            <a:spLocks noGrp="1"/>
          </p:cNvSpPr>
          <p:nvPr>
            <p:ph type="ftr" sz="quarter" idx="3"/>
          </p:nvPr>
        </p:nvSpPr>
        <p:spPr>
          <a:xfrm>
            <a:off x="3653578" y="6881313"/>
            <a:ext cx="3386243" cy="52475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ctr">
              <a:defRPr sz="1545">
                <a:solidFill>
                  <a:srgbClr val="009900"/>
                </a:solidFill>
              </a:defRPr>
            </a:lvl1pPr>
          </a:lstStyle>
          <a:p>
            <a:pPr lvl="0">
              <a:spcBef>
                <a:spcPct val="0"/>
              </a:spcBef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1755" name="文本框 31754"/>
          <p:cNvSpPr txBox="1"/>
          <p:nvPr/>
        </p:nvSpPr>
        <p:spPr>
          <a:xfrm>
            <a:off x="445558" y="671689"/>
            <a:ext cx="5524923" cy="499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lvl="0">
              <a:spcBef>
                <a:spcPct val="50000"/>
              </a:spcBef>
            </a:pPr>
            <a:r>
              <a:rPr lang="zh-CN" altLang="en-US" sz="2645" b="1" dirty="0">
                <a:solidFill>
                  <a:srgbClr val="0000FF"/>
                </a:solidFill>
                <a:latin typeface="Arial" panose="020B0604020202020204" pitchFamily="34" charset="0"/>
                <a:ea typeface="华文隶书" panose="02010800040101010101" charset="-122"/>
              </a:rPr>
              <a:t>哈工大计算机科学与技术学院</a:t>
            </a:r>
            <a:endParaRPr lang="zh-CN" altLang="en-US" sz="2645" b="1">
              <a:solidFill>
                <a:srgbClr val="0000FF"/>
              </a:solidFill>
              <a:latin typeface="Arial" panose="020B0604020202020204" pitchFamily="34" charset="0"/>
              <a:ea typeface="华文隶书" panose="02010800040101010101" charset="-122"/>
            </a:endParaRPr>
          </a:p>
        </p:txBody>
      </p:sp>
      <p:sp>
        <p:nvSpPr>
          <p:cNvPr id="31756" name="文本框 31755"/>
          <p:cNvSpPr txBox="1"/>
          <p:nvPr/>
        </p:nvSpPr>
        <p:spPr>
          <a:xfrm>
            <a:off x="6707510" y="671689"/>
            <a:ext cx="3718555" cy="499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lvl="0" algn="r">
              <a:spcBef>
                <a:spcPct val="50000"/>
              </a:spcBef>
            </a:pPr>
            <a:r>
              <a:rPr lang="zh-CN" altLang="en-US" sz="2645" b="1" dirty="0">
                <a:solidFill>
                  <a:srgbClr val="0000FF"/>
                </a:solidFill>
                <a:latin typeface="Arial" panose="020B0604020202020204" pitchFamily="34" charset="0"/>
                <a:ea typeface="华文隶书" panose="02010800040101010101" charset="-122"/>
              </a:rPr>
              <a:t>软件基础教研室</a:t>
            </a:r>
            <a:endParaRPr lang="zh-CN" altLang="en-US" sz="2645" b="1" dirty="0">
              <a:solidFill>
                <a:srgbClr val="0000FF"/>
              </a:solidFill>
              <a:latin typeface="Arial" panose="020B0604020202020204" pitchFamily="34" charset="0"/>
              <a:ea typeface="华文隶书" panose="02010800040101010101" charset="-122"/>
            </a:endParaRPr>
          </a:p>
        </p:txBody>
      </p:sp>
      <p:sp>
        <p:nvSpPr>
          <p:cNvPr id="31757" name="直接连接符 31756"/>
          <p:cNvSpPr/>
          <p:nvPr/>
        </p:nvSpPr>
        <p:spPr>
          <a:xfrm flipV="1">
            <a:off x="267335" y="1175456"/>
            <a:ext cx="267335" cy="335844"/>
          </a:xfrm>
          <a:prstGeom prst="line">
            <a:avLst/>
          </a:prstGeom>
          <a:ln w="76200" cap="flat" cmpd="tri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58" name="直接连接符 31757"/>
          <p:cNvSpPr/>
          <p:nvPr/>
        </p:nvSpPr>
        <p:spPr>
          <a:xfrm>
            <a:off x="534670" y="1175456"/>
            <a:ext cx="9802283" cy="0"/>
          </a:xfrm>
          <a:prstGeom prst="line">
            <a:avLst/>
          </a:prstGeom>
          <a:ln w="76200" cap="flat" cmpd="tri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9602" y="1883878"/>
            <a:ext cx="9223058" cy="3143294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9602" y="5056908"/>
            <a:ext cx="9223058" cy="1652984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1pPr>
            <a:lvl2pPr marL="377825" indent="0">
              <a:buNone/>
              <a:defRPr sz="1655">
                <a:solidFill>
                  <a:schemeClr val="tx1">
                    <a:tint val="75000"/>
                  </a:schemeClr>
                </a:solidFill>
              </a:defRPr>
            </a:lvl2pPr>
            <a:lvl3pPr marL="755650" indent="0">
              <a:buNone/>
              <a:defRPr sz="1490">
                <a:solidFill>
                  <a:schemeClr val="tx1">
                    <a:tint val="75000"/>
                  </a:schemeClr>
                </a:solidFill>
              </a:defRPr>
            </a:lvl3pPr>
            <a:lvl4pPr marL="1133475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4pPr>
            <a:lvl5pPr marL="151130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5pPr>
            <a:lvl6pPr marL="1889125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6pPr>
            <a:lvl7pPr marL="226695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7pPr>
            <a:lvl8pPr marL="2644775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8pPr>
            <a:lvl9pPr marL="302260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16606" y="1397603"/>
            <a:ext cx="4539311" cy="498694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41196" y="1397603"/>
            <a:ext cx="4539311" cy="498694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564" y="402314"/>
            <a:ext cx="9223058" cy="1460574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40900" y="1959575"/>
            <a:ext cx="4274531" cy="907829"/>
          </a:xfrm>
        </p:spPr>
        <p:txBody>
          <a:bodyPr anchor="ctr" anchorCtr="0"/>
          <a:lstStyle>
            <a:lvl1pPr marL="0" indent="0">
              <a:buNone/>
              <a:defRPr sz="2315"/>
            </a:lvl1pPr>
            <a:lvl2pPr marL="377825" indent="0">
              <a:buNone/>
              <a:defRPr sz="1985"/>
            </a:lvl2pPr>
            <a:lvl3pPr marL="755650" indent="0">
              <a:buNone/>
              <a:defRPr sz="1655"/>
            </a:lvl3pPr>
            <a:lvl4pPr marL="1133475" indent="0">
              <a:buNone/>
              <a:defRPr sz="1490"/>
            </a:lvl4pPr>
            <a:lvl5pPr marL="1511300" indent="0">
              <a:buNone/>
              <a:defRPr sz="1490"/>
            </a:lvl5pPr>
            <a:lvl6pPr marL="1889125" indent="0">
              <a:buNone/>
              <a:defRPr sz="1490"/>
            </a:lvl6pPr>
            <a:lvl7pPr marL="2266950" indent="0">
              <a:buNone/>
              <a:defRPr sz="1490"/>
            </a:lvl7pPr>
            <a:lvl8pPr marL="2644775" indent="0">
              <a:buNone/>
              <a:defRPr sz="1490"/>
            </a:lvl8pPr>
            <a:lvl9pPr marL="3022600" indent="0">
              <a:buNone/>
              <a:defRPr sz="149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040900" y="2936853"/>
            <a:ext cx="4274531" cy="38832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487857" y="1959575"/>
            <a:ext cx="4295582" cy="907829"/>
          </a:xfrm>
        </p:spPr>
        <p:txBody>
          <a:bodyPr anchor="ctr" anchorCtr="0"/>
          <a:lstStyle>
            <a:lvl1pPr marL="0" indent="0">
              <a:buNone/>
              <a:defRPr sz="2315"/>
            </a:lvl1pPr>
            <a:lvl2pPr marL="377825" indent="0">
              <a:buNone/>
              <a:defRPr sz="1985"/>
            </a:lvl2pPr>
            <a:lvl3pPr marL="755650" indent="0">
              <a:buNone/>
              <a:defRPr sz="1655"/>
            </a:lvl3pPr>
            <a:lvl4pPr marL="1133475" indent="0">
              <a:buNone/>
              <a:defRPr sz="1490"/>
            </a:lvl4pPr>
            <a:lvl5pPr marL="1511300" indent="0">
              <a:buNone/>
              <a:defRPr sz="1490"/>
            </a:lvl5pPr>
            <a:lvl6pPr marL="1889125" indent="0">
              <a:buNone/>
              <a:defRPr sz="1490"/>
            </a:lvl6pPr>
            <a:lvl7pPr marL="2266950" indent="0">
              <a:buNone/>
              <a:defRPr sz="1490"/>
            </a:lvl7pPr>
            <a:lvl8pPr marL="2644775" indent="0">
              <a:buNone/>
              <a:defRPr sz="1490"/>
            </a:lvl8pPr>
            <a:lvl9pPr marL="3022600" indent="0">
              <a:buNone/>
              <a:defRPr sz="149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487857" y="2936853"/>
            <a:ext cx="4295582" cy="38832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564" y="503767"/>
            <a:ext cx="3448900" cy="1763183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46088" y="1087996"/>
            <a:ext cx="5413534" cy="5370013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5"/>
            </a:lvl3pPr>
            <a:lvl4pPr>
              <a:defRPr sz="1655"/>
            </a:lvl4pPr>
            <a:lvl5pPr>
              <a:defRPr sz="1655"/>
            </a:lvl5pPr>
            <a:lvl6pPr>
              <a:defRPr sz="1655"/>
            </a:lvl6pPr>
            <a:lvl7pPr>
              <a:defRPr sz="1655"/>
            </a:lvl7pPr>
            <a:lvl8pPr>
              <a:defRPr sz="1655"/>
            </a:lvl8pPr>
            <a:lvl9pPr>
              <a:defRPr sz="165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6564" y="2266950"/>
            <a:ext cx="3448900" cy="4199805"/>
          </a:xfrm>
        </p:spPr>
        <p:txBody>
          <a:bodyPr/>
          <a:lstStyle>
            <a:lvl1pPr marL="0" indent="0">
              <a:buNone/>
              <a:defRPr sz="1320"/>
            </a:lvl1pPr>
            <a:lvl2pPr marL="377825" indent="0">
              <a:buNone/>
              <a:defRPr sz="1155"/>
            </a:lvl2pPr>
            <a:lvl3pPr marL="755650" indent="0">
              <a:buNone/>
              <a:defRPr sz="990"/>
            </a:lvl3pPr>
            <a:lvl4pPr marL="1133475" indent="0">
              <a:buNone/>
              <a:defRPr sz="825"/>
            </a:lvl4pPr>
            <a:lvl5pPr marL="1511300" indent="0">
              <a:buNone/>
              <a:defRPr sz="825"/>
            </a:lvl5pPr>
            <a:lvl6pPr marL="1889125" indent="0">
              <a:buNone/>
              <a:defRPr sz="825"/>
            </a:lvl6pPr>
            <a:lvl7pPr marL="2266950" indent="0">
              <a:buNone/>
              <a:defRPr sz="825"/>
            </a:lvl7pPr>
            <a:lvl8pPr marL="2644775" indent="0">
              <a:buNone/>
              <a:defRPr sz="825"/>
            </a:lvl8pPr>
            <a:lvl9pPr marL="3022600" indent="0">
              <a:buNone/>
              <a:defRPr sz="82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564" y="503767"/>
            <a:ext cx="3653358" cy="1763183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46088" y="503768"/>
            <a:ext cx="5413534" cy="5954242"/>
          </a:xfrm>
        </p:spPr>
        <p:txBody>
          <a:bodyPr/>
          <a:lstStyle>
            <a:lvl1pPr marL="0" indent="0">
              <a:buNone/>
              <a:defRPr sz="2645"/>
            </a:lvl1pPr>
            <a:lvl2pPr marL="377825" indent="0">
              <a:buNone/>
              <a:defRPr sz="2315"/>
            </a:lvl2pPr>
            <a:lvl3pPr marL="755650" indent="0">
              <a:buNone/>
              <a:defRPr sz="1985"/>
            </a:lvl3pPr>
            <a:lvl4pPr marL="1133475" indent="0">
              <a:buNone/>
              <a:defRPr sz="1655"/>
            </a:lvl4pPr>
            <a:lvl5pPr marL="1511300" indent="0">
              <a:buNone/>
              <a:defRPr sz="1655"/>
            </a:lvl5pPr>
            <a:lvl6pPr marL="1889125" indent="0">
              <a:buNone/>
              <a:defRPr sz="1655"/>
            </a:lvl6pPr>
            <a:lvl7pPr marL="2266950" indent="0">
              <a:buNone/>
              <a:defRPr sz="1655"/>
            </a:lvl7pPr>
            <a:lvl8pPr marL="2644775" indent="0">
              <a:buNone/>
              <a:defRPr sz="1655"/>
            </a:lvl8pPr>
            <a:lvl9pPr marL="3022600" indent="0">
              <a:buNone/>
              <a:defRPr sz="165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6564" y="2266950"/>
            <a:ext cx="3653358" cy="4199805"/>
          </a:xfrm>
        </p:spPr>
        <p:txBody>
          <a:bodyPr/>
          <a:lstStyle>
            <a:lvl1pPr marL="0" indent="0">
              <a:buNone/>
              <a:defRPr sz="1655"/>
            </a:lvl1pPr>
            <a:lvl2pPr marL="377825" indent="0">
              <a:buNone/>
              <a:defRPr sz="1490"/>
            </a:lvl2pPr>
            <a:lvl3pPr marL="755650" indent="0">
              <a:buNone/>
              <a:defRPr sz="1320"/>
            </a:lvl3pPr>
            <a:lvl4pPr marL="1133475" indent="0">
              <a:buNone/>
              <a:defRPr sz="1155"/>
            </a:lvl4pPr>
            <a:lvl5pPr marL="1511300" indent="0">
              <a:buNone/>
              <a:defRPr sz="1155"/>
            </a:lvl5pPr>
            <a:lvl6pPr marL="1889125" indent="0">
              <a:buNone/>
              <a:defRPr sz="1155"/>
            </a:lvl6pPr>
            <a:lvl7pPr marL="2266950" indent="0">
              <a:buNone/>
              <a:defRPr sz="1155"/>
            </a:lvl7pPr>
            <a:lvl8pPr marL="2644775" indent="0">
              <a:buNone/>
              <a:defRPr sz="1155"/>
            </a:lvl8pPr>
            <a:lvl9pPr marL="3022600" indent="0">
              <a:buNone/>
              <a:defRPr sz="115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596770" y="335844"/>
            <a:ext cx="2383737" cy="604869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5558" y="335844"/>
            <a:ext cx="7013024" cy="604869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79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687458" y="5784144"/>
            <a:ext cx="853541" cy="9087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687458" y="5784144"/>
            <a:ext cx="853541" cy="9087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79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1605867" y="1175456"/>
            <a:ext cx="8463751" cy="2182989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38243" name="Rectangle 3"/>
          <p:cNvSpPr>
            <a:spLocks noGrp="1" noRot="1" noChangeArrowheads="1"/>
          </p:cNvSpPr>
          <p:nvPr>
            <p:ph type="subTitle" idx="1"/>
          </p:nvPr>
        </p:nvSpPr>
        <p:spPr bwMode="auto">
          <a:xfrm>
            <a:off x="2541540" y="3849967"/>
            <a:ext cx="6473591" cy="2517084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22" tIns="45711" rIns="91422" bIns="45711" numCol="1" anchor="t" anchorCtr="0" compatLnSpc="1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4670" y="1763183"/>
            <a:ext cx="9624060" cy="49869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4705" y="4855751"/>
            <a:ext cx="9089390" cy="1500805"/>
          </a:xfrm>
        </p:spPr>
        <p:txBody>
          <a:bodyPr anchor="t"/>
          <a:lstStyle>
            <a:lvl1pPr algn="l">
              <a:defRPr sz="4405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4705" y="3202767"/>
            <a:ext cx="9089390" cy="165298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05"/>
            </a:lvl1pPr>
            <a:lvl2pPr marL="503555" indent="0">
              <a:buNone/>
              <a:defRPr sz="1985"/>
            </a:lvl2pPr>
            <a:lvl3pPr marL="1007745" indent="0">
              <a:buNone/>
              <a:defRPr sz="1765"/>
            </a:lvl3pPr>
            <a:lvl4pPr marL="1511300" indent="0">
              <a:buNone/>
              <a:defRPr sz="1545"/>
            </a:lvl4pPr>
            <a:lvl5pPr marL="2014855" indent="0">
              <a:buNone/>
              <a:defRPr sz="1545"/>
            </a:lvl5pPr>
            <a:lvl6pPr marL="2519045" indent="0">
              <a:buNone/>
              <a:defRPr sz="1545"/>
            </a:lvl6pPr>
            <a:lvl7pPr marL="3022600" indent="0">
              <a:buNone/>
              <a:defRPr sz="1545"/>
            </a:lvl7pPr>
            <a:lvl8pPr marL="3526155" indent="0">
              <a:buNone/>
              <a:defRPr sz="1545"/>
            </a:lvl8pPr>
            <a:lvl9pPr marL="4030345" indent="0">
              <a:buNone/>
              <a:defRPr sz="154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34670" y="1763183"/>
            <a:ext cx="4722918" cy="4986941"/>
          </a:xfrm>
          <a:prstGeom prst="rect">
            <a:avLst/>
          </a:prstGeom>
        </p:spPr>
        <p:txBody>
          <a:bodyPr/>
          <a:lstStyle>
            <a:lvl1pPr>
              <a:defRPr sz="3085"/>
            </a:lvl1pPr>
            <a:lvl2pPr>
              <a:defRPr sz="2645"/>
            </a:lvl2pPr>
            <a:lvl3pPr>
              <a:defRPr sz="2205"/>
            </a:lvl3pPr>
            <a:lvl4pPr>
              <a:defRPr sz="1985"/>
            </a:lvl4pPr>
            <a:lvl5pPr>
              <a:defRPr sz="1985"/>
            </a:lvl5pPr>
            <a:lvl6pPr>
              <a:defRPr sz="1985"/>
            </a:lvl6pPr>
            <a:lvl7pPr>
              <a:defRPr sz="1985"/>
            </a:lvl7pPr>
            <a:lvl8pPr>
              <a:defRPr sz="1985"/>
            </a:lvl8pPr>
            <a:lvl9pPr>
              <a:defRPr sz="198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35812" y="1763183"/>
            <a:ext cx="4722918" cy="4986941"/>
          </a:xfrm>
          <a:prstGeom prst="rect">
            <a:avLst/>
          </a:prstGeom>
        </p:spPr>
        <p:txBody>
          <a:bodyPr/>
          <a:lstStyle>
            <a:lvl1pPr>
              <a:defRPr sz="3085"/>
            </a:lvl1pPr>
            <a:lvl2pPr>
              <a:defRPr sz="2645"/>
            </a:lvl2pPr>
            <a:lvl3pPr>
              <a:defRPr sz="2205"/>
            </a:lvl3pPr>
            <a:lvl4pPr>
              <a:defRPr sz="1985"/>
            </a:lvl4pPr>
            <a:lvl5pPr>
              <a:defRPr sz="1985"/>
            </a:lvl5pPr>
            <a:lvl6pPr>
              <a:defRPr sz="1985"/>
            </a:lvl6pPr>
            <a:lvl7pPr>
              <a:defRPr sz="1985"/>
            </a:lvl7pPr>
            <a:lvl8pPr>
              <a:defRPr sz="1985"/>
            </a:lvl8pPr>
            <a:lvl9pPr>
              <a:defRPr sz="198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988954" y="6872567"/>
            <a:ext cx="2678920" cy="524757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872567"/>
            <a:ext cx="3386243" cy="524757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631208" y="6872567"/>
            <a:ext cx="2677063" cy="524757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4670" y="302610"/>
            <a:ext cx="9624060" cy="1259417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4670" y="1691467"/>
            <a:ext cx="4724775" cy="70492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45" b="1"/>
            </a:lvl1pPr>
            <a:lvl2pPr marL="503555" indent="0">
              <a:buNone/>
              <a:defRPr sz="2205" b="1"/>
            </a:lvl2pPr>
            <a:lvl3pPr marL="1007745" indent="0">
              <a:buNone/>
              <a:defRPr sz="1985" b="1"/>
            </a:lvl3pPr>
            <a:lvl4pPr marL="1511300" indent="0">
              <a:buNone/>
              <a:defRPr sz="1765" b="1"/>
            </a:lvl4pPr>
            <a:lvl5pPr marL="2014855" indent="0">
              <a:buNone/>
              <a:defRPr sz="1765" b="1"/>
            </a:lvl5pPr>
            <a:lvl6pPr marL="2519045" indent="0">
              <a:buNone/>
              <a:defRPr sz="1765" b="1"/>
            </a:lvl6pPr>
            <a:lvl7pPr marL="3022600" indent="0">
              <a:buNone/>
              <a:defRPr sz="1765" b="1"/>
            </a:lvl7pPr>
            <a:lvl8pPr marL="3526155" indent="0">
              <a:buNone/>
              <a:defRPr sz="1765" b="1"/>
            </a:lvl8pPr>
            <a:lvl9pPr marL="4030345" indent="0">
              <a:buNone/>
              <a:defRPr sz="176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4670" y="2396390"/>
            <a:ext cx="4724775" cy="4353734"/>
          </a:xfrm>
          <a:prstGeom prst="rect">
            <a:avLst/>
          </a:prstGeom>
        </p:spPr>
        <p:txBody>
          <a:bodyPr/>
          <a:lstStyle>
            <a:lvl1pPr>
              <a:defRPr sz="2645"/>
            </a:lvl1pPr>
            <a:lvl2pPr>
              <a:defRPr sz="2205"/>
            </a:lvl2pPr>
            <a:lvl3pPr>
              <a:defRPr sz="1985"/>
            </a:lvl3pPr>
            <a:lvl4pPr>
              <a:defRPr sz="1765"/>
            </a:lvl4pPr>
            <a:lvl5pPr>
              <a:defRPr sz="1765"/>
            </a:lvl5pPr>
            <a:lvl6pPr>
              <a:defRPr sz="1765"/>
            </a:lvl6pPr>
            <a:lvl7pPr>
              <a:defRPr sz="1765"/>
            </a:lvl7pPr>
            <a:lvl8pPr>
              <a:defRPr sz="1765"/>
            </a:lvl8pPr>
            <a:lvl9pPr>
              <a:defRPr sz="176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432099" y="1691467"/>
            <a:ext cx="4726631" cy="70492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45" b="1"/>
            </a:lvl1pPr>
            <a:lvl2pPr marL="503555" indent="0">
              <a:buNone/>
              <a:defRPr sz="2205" b="1"/>
            </a:lvl2pPr>
            <a:lvl3pPr marL="1007745" indent="0">
              <a:buNone/>
              <a:defRPr sz="1985" b="1"/>
            </a:lvl3pPr>
            <a:lvl4pPr marL="1511300" indent="0">
              <a:buNone/>
              <a:defRPr sz="1765" b="1"/>
            </a:lvl4pPr>
            <a:lvl5pPr marL="2014855" indent="0">
              <a:buNone/>
              <a:defRPr sz="1765" b="1"/>
            </a:lvl5pPr>
            <a:lvl6pPr marL="2519045" indent="0">
              <a:buNone/>
              <a:defRPr sz="1765" b="1"/>
            </a:lvl6pPr>
            <a:lvl7pPr marL="3022600" indent="0">
              <a:buNone/>
              <a:defRPr sz="1765" b="1"/>
            </a:lvl7pPr>
            <a:lvl8pPr marL="3526155" indent="0">
              <a:buNone/>
              <a:defRPr sz="1765" b="1"/>
            </a:lvl8pPr>
            <a:lvl9pPr marL="4030345" indent="0">
              <a:buNone/>
              <a:defRPr sz="176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432099" y="2396390"/>
            <a:ext cx="4726631" cy="4353734"/>
          </a:xfrm>
          <a:prstGeom prst="rect">
            <a:avLst/>
          </a:prstGeom>
        </p:spPr>
        <p:txBody>
          <a:bodyPr/>
          <a:lstStyle>
            <a:lvl1pPr>
              <a:defRPr sz="2645"/>
            </a:lvl1pPr>
            <a:lvl2pPr>
              <a:defRPr sz="2205"/>
            </a:lvl2pPr>
            <a:lvl3pPr>
              <a:defRPr sz="1985"/>
            </a:lvl3pPr>
            <a:lvl4pPr>
              <a:defRPr sz="1765"/>
            </a:lvl4pPr>
            <a:lvl5pPr>
              <a:defRPr sz="1765"/>
            </a:lvl5pPr>
            <a:lvl6pPr>
              <a:defRPr sz="1765"/>
            </a:lvl6pPr>
            <a:lvl7pPr>
              <a:defRPr sz="1765"/>
            </a:lvl7pPr>
            <a:lvl8pPr>
              <a:defRPr sz="1765"/>
            </a:lvl8pPr>
            <a:lvl9pPr>
              <a:defRPr sz="176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2988954" y="6872567"/>
            <a:ext cx="2678920" cy="524757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3"/>
          </p:nvPr>
        </p:nvSpPr>
        <p:spPr>
          <a:xfrm>
            <a:off x="0" y="6872567"/>
            <a:ext cx="3386243" cy="524757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631208" y="6872567"/>
            <a:ext cx="2677063" cy="524757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988954" y="6872567"/>
            <a:ext cx="2678920" cy="524757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872567"/>
            <a:ext cx="3386243" cy="524757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2"/>
          </p:nvPr>
        </p:nvSpPr>
        <p:spPr>
          <a:xfrm>
            <a:off x="631208" y="6872567"/>
            <a:ext cx="2677063" cy="524757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4670" y="300861"/>
            <a:ext cx="3518055" cy="1280407"/>
          </a:xfrm>
        </p:spPr>
        <p:txBody>
          <a:bodyPr anchor="b"/>
          <a:lstStyle>
            <a:lvl1pPr algn="l">
              <a:defRPr sz="2205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80822" y="300861"/>
            <a:ext cx="5977908" cy="6449263"/>
          </a:xfrm>
          <a:prstGeom prst="rect">
            <a:avLst/>
          </a:prstGeom>
        </p:spPr>
        <p:txBody>
          <a:bodyPr/>
          <a:lstStyle>
            <a:lvl1pPr>
              <a:defRPr sz="3525"/>
            </a:lvl1pPr>
            <a:lvl2pPr>
              <a:defRPr sz="3085"/>
            </a:lvl2pPr>
            <a:lvl3pPr>
              <a:defRPr sz="2645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34670" y="1581268"/>
            <a:ext cx="3518055" cy="51688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45"/>
            </a:lvl1pPr>
            <a:lvl2pPr marL="503555" indent="0">
              <a:buNone/>
              <a:defRPr sz="1320"/>
            </a:lvl2pPr>
            <a:lvl3pPr marL="1007745" indent="0">
              <a:buNone/>
              <a:defRPr sz="1100"/>
            </a:lvl3pPr>
            <a:lvl4pPr marL="1511300" indent="0">
              <a:buNone/>
              <a:defRPr sz="990"/>
            </a:lvl4pPr>
            <a:lvl5pPr marL="2014855" indent="0">
              <a:buNone/>
              <a:defRPr sz="990"/>
            </a:lvl5pPr>
            <a:lvl6pPr marL="2519045" indent="0">
              <a:buNone/>
              <a:defRPr sz="990"/>
            </a:lvl6pPr>
            <a:lvl7pPr marL="3022600" indent="0">
              <a:buNone/>
              <a:defRPr sz="990"/>
            </a:lvl7pPr>
            <a:lvl8pPr marL="3526155" indent="0">
              <a:buNone/>
              <a:defRPr sz="990"/>
            </a:lvl8pPr>
            <a:lvl9pPr marL="4030345" indent="0">
              <a:buNone/>
              <a:defRPr sz="99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988954" y="6872567"/>
            <a:ext cx="2678920" cy="524757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872567"/>
            <a:ext cx="3386243" cy="524757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631208" y="6872567"/>
            <a:ext cx="2677063" cy="524757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95981" y="5289550"/>
            <a:ext cx="6416040" cy="624461"/>
          </a:xfrm>
        </p:spPr>
        <p:txBody>
          <a:bodyPr anchor="b"/>
          <a:lstStyle>
            <a:lvl1pPr algn="l">
              <a:defRPr sz="2205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95981" y="675187"/>
            <a:ext cx="6416040" cy="4533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525"/>
            </a:lvl1pPr>
            <a:lvl2pPr marL="503555" indent="0">
              <a:buNone/>
              <a:defRPr sz="3085"/>
            </a:lvl2pPr>
            <a:lvl3pPr marL="1007745" indent="0">
              <a:buNone/>
              <a:defRPr sz="2645"/>
            </a:lvl3pPr>
            <a:lvl4pPr marL="1511300" indent="0">
              <a:buNone/>
              <a:defRPr sz="2205"/>
            </a:lvl4pPr>
            <a:lvl5pPr marL="2014855" indent="0">
              <a:buNone/>
              <a:defRPr sz="2205"/>
            </a:lvl5pPr>
            <a:lvl6pPr marL="2519045" indent="0">
              <a:buNone/>
              <a:defRPr sz="2205"/>
            </a:lvl6pPr>
            <a:lvl7pPr marL="3022600" indent="0">
              <a:buNone/>
              <a:defRPr sz="2205"/>
            </a:lvl7pPr>
            <a:lvl8pPr marL="3526155" indent="0">
              <a:buNone/>
              <a:defRPr sz="2205"/>
            </a:lvl8pPr>
            <a:lvl9pPr marL="4030345" indent="0">
              <a:buNone/>
              <a:defRPr sz="2205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95981" y="5914011"/>
            <a:ext cx="6416040" cy="886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45"/>
            </a:lvl1pPr>
            <a:lvl2pPr marL="503555" indent="0">
              <a:buNone/>
              <a:defRPr sz="1320"/>
            </a:lvl2pPr>
            <a:lvl3pPr marL="1007745" indent="0">
              <a:buNone/>
              <a:defRPr sz="1100"/>
            </a:lvl3pPr>
            <a:lvl4pPr marL="1511300" indent="0">
              <a:buNone/>
              <a:defRPr sz="990"/>
            </a:lvl4pPr>
            <a:lvl5pPr marL="2014855" indent="0">
              <a:buNone/>
              <a:defRPr sz="990"/>
            </a:lvl5pPr>
            <a:lvl6pPr marL="2519045" indent="0">
              <a:buNone/>
              <a:defRPr sz="990"/>
            </a:lvl6pPr>
            <a:lvl7pPr marL="3022600" indent="0">
              <a:buNone/>
              <a:defRPr sz="990"/>
            </a:lvl7pPr>
            <a:lvl8pPr marL="3526155" indent="0">
              <a:buNone/>
              <a:defRPr sz="990"/>
            </a:lvl8pPr>
            <a:lvl9pPr marL="4030345" indent="0">
              <a:buNone/>
              <a:defRPr sz="99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988954" y="6872567"/>
            <a:ext cx="2678920" cy="524757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872567"/>
            <a:ext cx="3386243" cy="524757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631208" y="6872567"/>
            <a:ext cx="2677063" cy="524757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34670" y="1763183"/>
            <a:ext cx="9624060" cy="498694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988954" y="6872567"/>
            <a:ext cx="2678920" cy="524757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872567"/>
            <a:ext cx="3386243" cy="524757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2"/>
          </p:nvPr>
        </p:nvSpPr>
        <p:spPr>
          <a:xfrm>
            <a:off x="631208" y="6872567"/>
            <a:ext cx="2677063" cy="524757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752715" y="759148"/>
            <a:ext cx="2406015" cy="5990976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34670" y="759148"/>
            <a:ext cx="7039822" cy="599097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988954" y="6872567"/>
            <a:ext cx="2678920" cy="524757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872567"/>
            <a:ext cx="3386243" cy="524757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2"/>
          </p:nvPr>
        </p:nvSpPr>
        <p:spPr>
          <a:xfrm>
            <a:off x="631208" y="6872567"/>
            <a:ext cx="2677063" cy="524757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534670" y="759148"/>
            <a:ext cx="9624060" cy="59909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988954" y="6872567"/>
            <a:ext cx="2678920" cy="524757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872567"/>
            <a:ext cx="3386243" cy="524757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2"/>
          </p:nvPr>
        </p:nvSpPr>
        <p:spPr>
          <a:xfrm>
            <a:off x="631208" y="6872567"/>
            <a:ext cx="2677063" cy="524757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50674" y="759148"/>
            <a:ext cx="7767567" cy="647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34670" y="1763183"/>
            <a:ext cx="4722918" cy="49869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35812" y="1763183"/>
            <a:ext cx="4722918" cy="49869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988954" y="6872567"/>
            <a:ext cx="2678920" cy="524757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p>
            <a:pPr algn="r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872567"/>
            <a:ext cx="3386243" cy="524757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631208" y="6872567"/>
            <a:ext cx="2677063" cy="524757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3" Type="http://schemas.openxmlformats.org/officeDocument/2006/relationships/theme" Target="../theme/theme2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7" Type="http://schemas.openxmlformats.org/officeDocument/2006/relationships/theme" Target="../theme/theme3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_rels/slideMaster4.xml.rels><?xml version="1.0" encoding="UTF-8" standalone="yes"?>
<Relationships xmlns="http://schemas.openxmlformats.org/package/2006/relationships"><Relationship Id="rId7" Type="http://schemas.openxmlformats.org/officeDocument/2006/relationships/theme" Target="../theme/theme4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5" Type="http://schemas.openxmlformats.org/officeDocument/2006/relationships/theme" Target="../theme/theme5.xml"/><Relationship Id="rId14" Type="http://schemas.openxmlformats.org/officeDocument/2006/relationships/image" Target="../media/image3.jpeg"/><Relationship Id="rId13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687458" y="5784144"/>
            <a:ext cx="853541" cy="90875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0472" y="1202167"/>
            <a:ext cx="9392454" cy="4305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7187" y="2012033"/>
            <a:ext cx="9479025" cy="3688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17614" y="6456355"/>
            <a:ext cx="1359535" cy="199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179039" y="6459594"/>
            <a:ext cx="335279" cy="199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22" name="标题 30721"/>
          <p:cNvSpPr>
            <a:spLocks noGrp="1"/>
          </p:cNvSpPr>
          <p:nvPr>
            <p:ph type="title"/>
          </p:nvPr>
        </p:nvSpPr>
        <p:spPr>
          <a:xfrm>
            <a:off x="445558" y="335844"/>
            <a:ext cx="9178502" cy="74515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0723" name="文本占位符 30722"/>
          <p:cNvSpPr>
            <a:spLocks noGrp="1"/>
          </p:cNvSpPr>
          <p:nvPr>
            <p:ph type="body" idx="1"/>
          </p:nvPr>
        </p:nvSpPr>
        <p:spPr>
          <a:xfrm>
            <a:off x="716606" y="1397603"/>
            <a:ext cx="9263900" cy="498694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0729" name="文本框 30728"/>
          <p:cNvSpPr txBox="1"/>
          <p:nvPr/>
        </p:nvSpPr>
        <p:spPr>
          <a:xfrm>
            <a:off x="4812030" y="7185672"/>
            <a:ext cx="1069340" cy="36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lvl="0" algn="ctr" eaLnBrk="0" hangingPunct="0">
              <a:spcBef>
                <a:spcPct val="50000"/>
              </a:spcBef>
            </a:pPr>
            <a:r>
              <a:rPr lang="en-US" altLang="zh-CN" sz="1765" b="1">
                <a:solidFill>
                  <a:schemeClr val="tx1"/>
                </a:solidFill>
                <a:latin typeface="Arial" panose="020B0604020202020204" pitchFamily="34" charset="0"/>
                <a:ea typeface="华文琥珀" panose="02010800040101010101" charset="-122"/>
              </a:rPr>
              <a:t>- </a:t>
            </a:r>
            <a:fld id="{9A0DB2DC-4C9A-4742-B13C-FB6460FD3503}" type="slidenum">
              <a:rPr lang="zh-CN" altLang="en-US" sz="1765" b="1">
                <a:solidFill>
                  <a:schemeClr val="tx1"/>
                </a:solidFill>
                <a:latin typeface="Arial" panose="020B0604020202020204" pitchFamily="34" charset="0"/>
                <a:ea typeface="华文琥珀" panose="02010800040101010101" charset="-122"/>
              </a:rPr>
            </a:fld>
            <a:r>
              <a:rPr lang="zh-CN" altLang="en-US" sz="1765" b="1">
                <a:solidFill>
                  <a:schemeClr val="tx1"/>
                </a:solidFill>
                <a:latin typeface="Arial" panose="020B0604020202020204" pitchFamily="34" charset="0"/>
                <a:ea typeface="华文琥珀" panose="02010800040101010101" charset="-122"/>
              </a:rPr>
              <a:t> </a:t>
            </a:r>
            <a:r>
              <a:rPr lang="en-US" altLang="zh-CN" sz="1765" b="1">
                <a:solidFill>
                  <a:schemeClr val="tx1"/>
                </a:solidFill>
                <a:latin typeface="Arial" panose="020B0604020202020204" pitchFamily="34" charset="0"/>
                <a:ea typeface="华文琥珀" panose="02010800040101010101" charset="-122"/>
              </a:rPr>
              <a:t>-</a:t>
            </a:r>
            <a:endParaRPr lang="en-US" altLang="zh-CN" sz="1765" b="1">
              <a:solidFill>
                <a:schemeClr val="tx1"/>
              </a:solidFill>
              <a:latin typeface="Arial" panose="020B0604020202020204" pitchFamily="34" charset="0"/>
              <a:ea typeface="华文琥珀" panose="02010800040101010101" charset="-122"/>
            </a:endParaRPr>
          </a:p>
        </p:txBody>
      </p:sp>
      <p:sp>
        <p:nvSpPr>
          <p:cNvPr id="30731" name="文本框 30730"/>
          <p:cNvSpPr txBox="1"/>
          <p:nvPr/>
        </p:nvSpPr>
        <p:spPr>
          <a:xfrm>
            <a:off x="0" y="7185672"/>
            <a:ext cx="1912620" cy="36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lvl="0" eaLnBrk="0" hangingPunct="0">
              <a:spcBef>
                <a:spcPct val="50000"/>
              </a:spcBef>
            </a:pPr>
            <a:r>
              <a:rPr lang="en-US" altLang="zh-CN" sz="1765" b="1">
                <a:solidFill>
                  <a:schemeClr val="tx1"/>
                </a:solidFill>
                <a:latin typeface="Times New Roman" panose="02020603050405020304" pitchFamily="18" charset="0"/>
                <a:ea typeface="MS Mincho" pitchFamily="49" charset="-128"/>
              </a:rPr>
              <a:t>Operating System</a:t>
            </a:r>
            <a:endParaRPr lang="en-US" altLang="zh-CN" sz="1765" b="1">
              <a:solidFill>
                <a:schemeClr val="tx1"/>
              </a:solidFill>
              <a:latin typeface="Times New Roman" panose="02020603050405020304" pitchFamily="18" charset="0"/>
              <a:ea typeface="MS Mincho" pitchFamily="49" charset="-128"/>
            </a:endParaRPr>
          </a:p>
        </p:txBody>
      </p:sp>
      <p:pic>
        <p:nvPicPr>
          <p:cNvPr id="30751" name="图片 3075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15279" y="6381044"/>
            <a:ext cx="878121" cy="1175456"/>
          </a:xfrm>
          <a:prstGeom prst="rect">
            <a:avLst/>
          </a:prstGeom>
          <a:noFill/>
          <a:ln w="57150">
            <a:noFill/>
          </a:ln>
        </p:spPr>
      </p:pic>
      <p:sp>
        <p:nvSpPr>
          <p:cNvPr id="30752" name="直接连接符 30751"/>
          <p:cNvSpPr/>
          <p:nvPr/>
        </p:nvSpPr>
        <p:spPr>
          <a:xfrm>
            <a:off x="0" y="1175456"/>
            <a:ext cx="9384573" cy="0"/>
          </a:xfrm>
          <a:prstGeom prst="line">
            <a:avLst/>
          </a:prstGeom>
          <a:ln w="50800" cap="flat" cmpd="sng">
            <a:solidFill>
              <a:srgbClr val="C1C43C"/>
            </a:solidFill>
            <a:prstDash val="solid"/>
            <a:headEnd type="none" w="sm" len="sm"/>
            <a:tailEnd type="none" w="sm" len="sm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hf hdr="0" dt="0"/>
  <p:txStyles>
    <p:titleStyle>
      <a:lvl1pPr marL="0" lvl="0" indent="0" algn="l" defTabSz="1007745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965" b="1" i="0" u="none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825" lvl="0" indent="-377825" algn="l" defTabSz="1007745" rtl="0" eaLnBrk="1" fontAlgn="base" latinLnBrk="0" hangingPunct="1">
        <a:lnSpc>
          <a:spcPct val="100000"/>
        </a:lnSpc>
        <a:spcBef>
          <a:spcPct val="22000"/>
        </a:spcBef>
        <a:spcAft>
          <a:spcPct val="0"/>
        </a:spcAft>
        <a:buClr>
          <a:srgbClr val="993300"/>
        </a:buClr>
        <a:buSzPct val="90000"/>
        <a:buFont typeface="Wingdings" panose="05000000000000000000" pitchFamily="2" charset="2"/>
        <a:buChar char="n"/>
        <a:defRPr sz="3085" b="1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818515" lvl="1" indent="-314960" algn="l" defTabSz="1007745" rtl="0" eaLnBrk="1" fontAlgn="base" latinLnBrk="0" hangingPunct="1">
        <a:lnSpc>
          <a:spcPct val="100000"/>
        </a:lnSpc>
        <a:spcBef>
          <a:spcPct val="22000"/>
        </a:spcBef>
        <a:spcAft>
          <a:spcPct val="0"/>
        </a:spcAft>
        <a:buClr>
          <a:srgbClr val="CC6600"/>
        </a:buClr>
        <a:buSzPct val="80000"/>
        <a:buFont typeface="Wingdings" panose="05000000000000000000" pitchFamily="2" charset="2"/>
        <a:buChar char="l"/>
        <a:defRPr sz="3085" b="1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259205" lvl="2" indent="-252095" algn="l" defTabSz="1007745" rtl="0" eaLnBrk="1" fontAlgn="base" latinLnBrk="0" hangingPunct="1">
        <a:lnSpc>
          <a:spcPct val="100000"/>
        </a:lnSpc>
        <a:spcBef>
          <a:spcPct val="22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sz="220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763395" lvl="3" indent="-252095" algn="l" defTabSz="1007745" rtl="0" eaLnBrk="1" fontAlgn="base" latinLnBrk="0" hangingPunct="1">
        <a:lnSpc>
          <a:spcPct val="100000"/>
        </a:lnSpc>
        <a:spcBef>
          <a:spcPct val="22000"/>
        </a:spcBef>
        <a:spcAft>
          <a:spcPct val="0"/>
        </a:spcAft>
        <a:buClr>
          <a:srgbClr val="FF6600"/>
        </a:buClr>
        <a:buSzPct val="75000"/>
        <a:buFont typeface="Times New Roman" panose="02020603050405020304" pitchFamily="18" charset="0"/>
        <a:buChar char="–"/>
        <a:defRPr sz="198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266950" lvl="4" indent="-252095" algn="l" defTabSz="1007745" rtl="0" eaLnBrk="1" fontAlgn="base" latinLnBrk="0" hangingPunct="1">
        <a:lnSpc>
          <a:spcPct val="100000"/>
        </a:lnSpc>
        <a:spcBef>
          <a:spcPct val="22000"/>
        </a:spcBef>
        <a:spcAft>
          <a:spcPct val="0"/>
        </a:spcAft>
        <a:buClr>
          <a:srgbClr val="FF0066"/>
        </a:buClr>
        <a:buSzPct val="75000"/>
        <a:buFont typeface="Times New Roman" panose="02020603050405020304" pitchFamily="18" charset="0"/>
        <a:buChar char="»"/>
        <a:defRPr sz="198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770505" lvl="5" indent="-252095" algn="l" defTabSz="1007745" rtl="0" eaLnBrk="1" fontAlgn="base" latinLnBrk="0" hangingPunct="1">
        <a:lnSpc>
          <a:spcPct val="100000"/>
        </a:lnSpc>
        <a:spcBef>
          <a:spcPct val="22000"/>
        </a:spcBef>
        <a:spcAft>
          <a:spcPct val="0"/>
        </a:spcAft>
        <a:buClr>
          <a:srgbClr val="FF0066"/>
        </a:buClr>
        <a:buSzPct val="75000"/>
        <a:buFont typeface="Times New Roman" panose="02020603050405020304" pitchFamily="18" charset="0"/>
        <a:buChar char="»"/>
        <a:defRPr sz="198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274695" lvl="6" indent="-252095" algn="l" defTabSz="1007745" rtl="0" eaLnBrk="1" fontAlgn="base" latinLnBrk="0" hangingPunct="1">
        <a:lnSpc>
          <a:spcPct val="100000"/>
        </a:lnSpc>
        <a:spcBef>
          <a:spcPct val="22000"/>
        </a:spcBef>
        <a:spcAft>
          <a:spcPct val="0"/>
        </a:spcAft>
        <a:buClr>
          <a:srgbClr val="FF0066"/>
        </a:buClr>
        <a:buSzPct val="75000"/>
        <a:buFont typeface="Times New Roman" panose="02020603050405020304" pitchFamily="18" charset="0"/>
        <a:buChar char="»"/>
        <a:defRPr sz="198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778250" lvl="7" indent="-252095" algn="l" defTabSz="1007745" rtl="0" eaLnBrk="1" fontAlgn="base" latinLnBrk="0" hangingPunct="1">
        <a:lnSpc>
          <a:spcPct val="100000"/>
        </a:lnSpc>
        <a:spcBef>
          <a:spcPct val="22000"/>
        </a:spcBef>
        <a:spcAft>
          <a:spcPct val="0"/>
        </a:spcAft>
        <a:buClr>
          <a:srgbClr val="FF0066"/>
        </a:buClr>
        <a:buSzPct val="75000"/>
        <a:buFont typeface="Times New Roman" panose="02020603050405020304" pitchFamily="18" charset="0"/>
        <a:buChar char="»"/>
        <a:defRPr sz="198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4281805" lvl="8" indent="-252095" algn="l" defTabSz="1007745" rtl="0" eaLnBrk="1" fontAlgn="base" latinLnBrk="0" hangingPunct="1">
        <a:lnSpc>
          <a:spcPct val="100000"/>
        </a:lnSpc>
        <a:spcBef>
          <a:spcPct val="22000"/>
        </a:spcBef>
        <a:spcAft>
          <a:spcPct val="0"/>
        </a:spcAft>
        <a:buClr>
          <a:srgbClr val="FF0066"/>
        </a:buClr>
        <a:buSzPct val="75000"/>
        <a:buFont typeface="Times New Roman" panose="02020603050405020304" pitchFamily="18" charset="0"/>
        <a:buChar char="»"/>
        <a:defRPr sz="198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1007745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98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03555" lvl="1" indent="0" algn="l" defTabSz="1007745" rtl="0" eaLnBrk="1" fontAlgn="base" latinLnBrk="0" hangingPunct="1">
        <a:lnSpc>
          <a:spcPct val="100000"/>
        </a:lnSpc>
        <a:spcBef>
          <a:spcPct val="55000"/>
        </a:spcBef>
        <a:spcAft>
          <a:spcPct val="0"/>
        </a:spcAft>
        <a:buNone/>
        <a:defRPr sz="2645" b="0" i="0" u="none" kern="1200" baseline="0">
          <a:solidFill>
            <a:srgbClr val="FF0000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1007745" lvl="2" indent="0" algn="l" defTabSz="1007745" rtl="0" eaLnBrk="1" fontAlgn="base" latinLnBrk="0" hangingPunct="1">
        <a:lnSpc>
          <a:spcPct val="100000"/>
        </a:lnSpc>
        <a:spcBef>
          <a:spcPct val="55000"/>
        </a:spcBef>
        <a:spcAft>
          <a:spcPct val="0"/>
        </a:spcAft>
        <a:buNone/>
        <a:defRPr sz="2645" b="0" i="0" u="none" kern="1200" baseline="0">
          <a:solidFill>
            <a:srgbClr val="FF0000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511300" lvl="3" indent="0" algn="l" defTabSz="1007745" rtl="0" eaLnBrk="1" fontAlgn="base" latinLnBrk="0" hangingPunct="1">
        <a:lnSpc>
          <a:spcPct val="100000"/>
        </a:lnSpc>
        <a:spcBef>
          <a:spcPct val="55000"/>
        </a:spcBef>
        <a:spcAft>
          <a:spcPct val="0"/>
        </a:spcAft>
        <a:buNone/>
        <a:defRPr sz="2645" b="0" i="0" u="none" kern="1200" baseline="0">
          <a:solidFill>
            <a:srgbClr val="FF0000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2014855" lvl="4" indent="0" algn="l" defTabSz="1007745" rtl="0" eaLnBrk="1" fontAlgn="base" latinLnBrk="0" hangingPunct="1">
        <a:lnSpc>
          <a:spcPct val="100000"/>
        </a:lnSpc>
        <a:spcBef>
          <a:spcPct val="55000"/>
        </a:spcBef>
        <a:spcAft>
          <a:spcPct val="0"/>
        </a:spcAft>
        <a:buNone/>
        <a:defRPr sz="2645" b="0" i="0" u="none" kern="1200" baseline="0">
          <a:solidFill>
            <a:srgbClr val="FF0000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519045" lvl="5" indent="0" algn="l" defTabSz="1007745" rtl="0" eaLnBrk="1" fontAlgn="base" latinLnBrk="0" hangingPunct="1">
        <a:lnSpc>
          <a:spcPct val="100000"/>
        </a:lnSpc>
        <a:spcBef>
          <a:spcPct val="55000"/>
        </a:spcBef>
        <a:spcAft>
          <a:spcPct val="0"/>
        </a:spcAft>
        <a:buNone/>
        <a:defRPr sz="2645" b="0" i="0" u="none" kern="1200" baseline="0">
          <a:solidFill>
            <a:srgbClr val="FF0000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3022600" lvl="6" indent="0" algn="l" defTabSz="1007745" rtl="0" eaLnBrk="1" fontAlgn="base" latinLnBrk="0" hangingPunct="1">
        <a:lnSpc>
          <a:spcPct val="100000"/>
        </a:lnSpc>
        <a:spcBef>
          <a:spcPct val="55000"/>
        </a:spcBef>
        <a:spcAft>
          <a:spcPct val="0"/>
        </a:spcAft>
        <a:buNone/>
        <a:defRPr sz="2645" b="0" i="0" u="none" kern="1200" baseline="0">
          <a:solidFill>
            <a:srgbClr val="FF0000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526155" lvl="7" indent="0" algn="l" defTabSz="1007745" rtl="0" eaLnBrk="1" fontAlgn="base" latinLnBrk="0" hangingPunct="1">
        <a:lnSpc>
          <a:spcPct val="100000"/>
        </a:lnSpc>
        <a:spcBef>
          <a:spcPct val="55000"/>
        </a:spcBef>
        <a:spcAft>
          <a:spcPct val="0"/>
        </a:spcAft>
        <a:buNone/>
        <a:defRPr sz="2645" b="0" i="0" u="none" kern="1200" baseline="0">
          <a:solidFill>
            <a:srgbClr val="FF0000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4030345" lvl="8" indent="0" algn="l" defTabSz="1007745" rtl="0" eaLnBrk="1" fontAlgn="base" latinLnBrk="0" hangingPunct="1">
        <a:lnSpc>
          <a:spcPct val="100000"/>
        </a:lnSpc>
        <a:spcBef>
          <a:spcPct val="55000"/>
        </a:spcBef>
        <a:spcAft>
          <a:spcPct val="0"/>
        </a:spcAft>
        <a:buNone/>
        <a:defRPr sz="2645" b="0" i="0" u="none" kern="1200" baseline="0">
          <a:solidFill>
            <a:srgbClr val="FF0000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687458" y="5784144"/>
            <a:ext cx="853541" cy="90875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2400" y="1213270"/>
            <a:ext cx="9868598" cy="4152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0770" y="2807327"/>
            <a:ext cx="9711858" cy="2828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17614" y="6456355"/>
            <a:ext cx="1359535" cy="199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179039" y="6459594"/>
            <a:ext cx="335279" cy="199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687458" y="5784144"/>
            <a:ext cx="853541" cy="90875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7472" y="1202167"/>
            <a:ext cx="9998455" cy="4305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58785" y="2001750"/>
            <a:ext cx="8975828" cy="2287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17614" y="6456355"/>
            <a:ext cx="1359535" cy="199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131033" y="6459594"/>
            <a:ext cx="431164" cy="199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 noRot="1"/>
          </p:cNvSpPr>
          <p:nvPr>
            <p:ph type="title"/>
          </p:nvPr>
        </p:nvSpPr>
        <p:spPr>
          <a:xfrm>
            <a:off x="1750674" y="759148"/>
            <a:ext cx="7767567" cy="647200"/>
          </a:xfrm>
          <a:prstGeom prst="rect">
            <a:avLst/>
          </a:prstGeom>
          <a:noFill/>
          <a:ln w="9525">
            <a:noFill/>
          </a:ln>
        </p:spPr>
        <p:txBody>
          <a:bodyPr lIns="91422" tIns="45711" rIns="91422" bIns="45711" anchor="ctr" anchorCtr="0"/>
          <a:p>
            <a:pPr lvl="0"/>
            <a:r>
              <a:rPr lang="zh-CN" altLang="en-US" dirty="0"/>
              <a:t>单击编辑母版标题样式</a:t>
            </a:r>
            <a:endParaRPr lang="zh-CN" altLang="en-US" dirty="0"/>
          </a:p>
        </p:txBody>
      </p:sp>
      <p:sp>
        <p:nvSpPr>
          <p:cNvPr id="13722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988954" y="6872567"/>
            <a:ext cx="2678920" cy="52475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t" anchorCtr="0" compatLnSpc="1"/>
          <a:lstStyle>
            <a:lvl1pPr algn="r">
              <a:defRPr sz="1545"/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28" name="Line 6"/>
          <p:cNvSpPr/>
          <p:nvPr/>
        </p:nvSpPr>
        <p:spPr>
          <a:xfrm>
            <a:off x="527244" y="1549782"/>
            <a:ext cx="9709459" cy="0"/>
          </a:xfrm>
          <a:prstGeom prst="line">
            <a:avLst/>
          </a:prstGeom>
          <a:ln w="28575" cap="flat" cmpd="sng">
            <a:solidFill>
              <a:srgbClr val="FF6600"/>
            </a:solidFill>
            <a:prstDash val="solid"/>
            <a:headEnd type="none" w="med" len="med"/>
            <a:tailEnd type="none" w="med" len="med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</p:sldLayoutIdLst>
  <p:transition/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65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9pPr>
    </p:titleStyle>
    <p:bodyStyle>
      <a:lvl1pPr marL="377825" indent="-377825" algn="l" rtl="0" eaLnBrk="0" fontAlgn="base" hangingPunct="0">
        <a:spcBef>
          <a:spcPct val="22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v"/>
        <a:defRPr sz="3525">
          <a:solidFill>
            <a:srgbClr val="000000"/>
          </a:solidFill>
          <a:latin typeface="+mn-lt"/>
          <a:ea typeface="+mn-ea"/>
          <a:cs typeface="+mn-cs"/>
        </a:defRPr>
      </a:lvl1pPr>
      <a:lvl2pPr marL="818515" indent="-314960" algn="l" rtl="0" eaLnBrk="0" fontAlgn="base" hangingPunct="0">
        <a:spcBef>
          <a:spcPct val="22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"/>
        <a:defRPr sz="3085">
          <a:solidFill>
            <a:srgbClr val="000000"/>
          </a:solidFill>
          <a:latin typeface="+mn-lt"/>
          <a:ea typeface="+mn-ea"/>
        </a:defRPr>
      </a:lvl2pPr>
      <a:lvl3pPr marL="1259205" indent="-252095" algn="l" rtl="0" eaLnBrk="0" fontAlgn="base" hangingPunct="0">
        <a:spcBef>
          <a:spcPct val="22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645">
          <a:solidFill>
            <a:srgbClr val="000000"/>
          </a:solidFill>
          <a:latin typeface="+mn-lt"/>
          <a:ea typeface="+mn-ea"/>
        </a:defRPr>
      </a:lvl3pPr>
      <a:lvl4pPr marL="1763395" indent="-252095" algn="l" rtl="0" eaLnBrk="0" fontAlgn="base" hangingPunct="0">
        <a:spcBef>
          <a:spcPct val="22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"/>
        <a:defRPr sz="2205">
          <a:solidFill>
            <a:srgbClr val="000000"/>
          </a:solidFill>
          <a:latin typeface="+mn-lt"/>
          <a:ea typeface="+mn-ea"/>
        </a:defRPr>
      </a:lvl4pPr>
      <a:lvl5pPr marL="2266950" indent="-252095" algn="l" rtl="0" eaLnBrk="0" fontAlgn="base" hangingPunct="0">
        <a:spcBef>
          <a:spcPct val="22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205">
          <a:solidFill>
            <a:srgbClr val="000000"/>
          </a:solidFill>
          <a:latin typeface="+mn-lt"/>
          <a:ea typeface="+mn-ea"/>
        </a:defRPr>
      </a:lvl5pPr>
      <a:lvl6pPr marL="2770505" indent="-252095" algn="l" rtl="0" fontAlgn="base">
        <a:spcBef>
          <a:spcPct val="22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205">
          <a:solidFill>
            <a:srgbClr val="000000"/>
          </a:solidFill>
          <a:latin typeface="+mn-lt"/>
          <a:ea typeface="+mn-ea"/>
        </a:defRPr>
      </a:lvl6pPr>
      <a:lvl7pPr marL="3274695" indent="-252095" algn="l" rtl="0" fontAlgn="base">
        <a:spcBef>
          <a:spcPct val="22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205">
          <a:solidFill>
            <a:srgbClr val="000000"/>
          </a:solidFill>
          <a:latin typeface="+mn-lt"/>
          <a:ea typeface="+mn-ea"/>
        </a:defRPr>
      </a:lvl7pPr>
      <a:lvl8pPr marL="3778250" indent="-252095" algn="l" rtl="0" fontAlgn="base">
        <a:spcBef>
          <a:spcPct val="22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205">
          <a:solidFill>
            <a:srgbClr val="000000"/>
          </a:solidFill>
          <a:latin typeface="+mn-lt"/>
          <a:ea typeface="+mn-ea"/>
        </a:defRPr>
      </a:lvl8pPr>
      <a:lvl9pPr marL="4281805" indent="-252095" algn="l" rtl="0" fontAlgn="base">
        <a:spcBef>
          <a:spcPct val="22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205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1pPr>
      <a:lvl2pPr marL="50355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100774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3pPr>
      <a:lvl4pPr marL="151130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01485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51904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02260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52615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03034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4" Type="http://schemas.openxmlformats.org/officeDocument/2006/relationships/slideLayout" Target="../slideLayouts/slideLayout3.xml"/><Relationship Id="rId13" Type="http://schemas.openxmlformats.org/officeDocument/2006/relationships/image" Target="../media/image16.png"/><Relationship Id="rId12" Type="http://schemas.openxmlformats.org/officeDocument/2006/relationships/image" Target="../media/image15.png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8" Type="http://schemas.openxmlformats.org/officeDocument/2006/relationships/slideLayout" Target="../slideLayouts/slideLayout2.xml"/><Relationship Id="rId17" Type="http://schemas.openxmlformats.org/officeDocument/2006/relationships/image" Target="../media/image32.png"/><Relationship Id="rId16" Type="http://schemas.openxmlformats.org/officeDocument/2006/relationships/image" Target="../media/image31.png"/><Relationship Id="rId15" Type="http://schemas.openxmlformats.org/officeDocument/2006/relationships/image" Target="../media/image30.png"/><Relationship Id="rId14" Type="http://schemas.openxmlformats.org/officeDocument/2006/relationships/image" Target="../media/image29.png"/><Relationship Id="rId13" Type="http://schemas.openxmlformats.org/officeDocument/2006/relationships/image" Target="../media/image28.png"/><Relationship Id="rId12" Type="http://schemas.openxmlformats.org/officeDocument/2006/relationships/image" Target="../media/image27.png"/><Relationship Id="rId11" Type="http://schemas.openxmlformats.org/officeDocument/2006/relationships/image" Target="../media/image26.png"/><Relationship Id="rId10" Type="http://schemas.openxmlformats.org/officeDocument/2006/relationships/image" Target="../media/image2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3.png"/><Relationship Id="rId2" Type="http://schemas.openxmlformats.org/officeDocument/2006/relationships/image" Target="../media/image17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1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1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png"/><Relationship Id="rId8" Type="http://schemas.openxmlformats.org/officeDocument/2006/relationships/image" Target="../media/image42.png"/><Relationship Id="rId7" Type="http://schemas.openxmlformats.org/officeDocument/2006/relationships/image" Target="../media/image41.png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44.png"/><Relationship Id="rId1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45.jpeg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17.png"/><Relationship Id="rId2" Type="http://schemas.openxmlformats.org/officeDocument/2006/relationships/image" Target="../media/image46.png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.xml"/><Relationship Id="rId2" Type="http://schemas.openxmlformats.org/officeDocument/2006/relationships/image" Target="../media/image47.wmf"/><Relationship Id="rId1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8.xml"/><Relationship Id="rId1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9.xml"/><Relationship Id="rId1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49.png"/><Relationship Id="rId2" Type="http://schemas.openxmlformats.org/officeDocument/2006/relationships/image" Target="../media/image17.png"/><Relationship Id="rId1" Type="http://schemas.openxmlformats.org/officeDocument/2006/relationships/image" Target="../media/image4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0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0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.xml"/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image" Target="../media/image17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image" Target="../media/image17.png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57.jpeg"/><Relationship Id="rId3" Type="http://schemas.openxmlformats.org/officeDocument/2006/relationships/image" Target="../media/image56.jpeg"/><Relationship Id="rId2" Type="http://schemas.openxmlformats.org/officeDocument/2006/relationships/image" Target="../media/image55.png"/><Relationship Id="rId1" Type="http://schemas.openxmlformats.org/officeDocument/2006/relationships/image" Target="../media/image1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6.jpeg"/><Relationship Id="rId1" Type="http://schemas.openxmlformats.org/officeDocument/2006/relationships/image" Target="../media/image1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8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8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7.png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image" Target="../media/image1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63.png"/><Relationship Id="rId1" Type="http://schemas.openxmlformats.org/officeDocument/2006/relationships/image" Target="../media/image17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7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7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7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7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7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0.w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6.xml"/><Relationship Id="rId1" Type="http://schemas.openxmlformats.org/officeDocument/2006/relationships/tags" Target="../tags/tag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64.jpeg"/><Relationship Id="rId1" Type="http://schemas.openxmlformats.org/officeDocument/2006/relationships/image" Target="../media/image1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1.jpeg"/><Relationship Id="rId1" Type="http://schemas.openxmlformats.org/officeDocument/2006/relationships/image" Target="../media/image17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17.png"/></Relationships>
</file>

<file path=ppt/slides/_rels/slide6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3.xml"/><Relationship Id="rId3" Type="http://schemas.openxmlformats.org/officeDocument/2006/relationships/image" Target="../media/image66.jpeg"/><Relationship Id="rId2" Type="http://schemas.openxmlformats.org/officeDocument/2006/relationships/image" Target="../media/image65.jpeg"/><Relationship Id="rId1" Type="http://schemas.openxmlformats.org/officeDocument/2006/relationships/image" Target="../media/image17.png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3.xml"/><Relationship Id="rId3" Type="http://schemas.openxmlformats.org/officeDocument/2006/relationships/image" Target="../media/image68.jpeg"/><Relationship Id="rId2" Type="http://schemas.openxmlformats.org/officeDocument/2006/relationships/image" Target="../media/image67.jpeg"/><Relationship Id="rId1" Type="http://schemas.openxmlformats.org/officeDocument/2006/relationships/image" Target="../media/image17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69.png"/><Relationship Id="rId1" Type="http://schemas.openxmlformats.org/officeDocument/2006/relationships/image" Target="../media/image17.png"/></Relationships>
</file>

<file path=ppt/slides/_rels/slide6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3.xml"/><Relationship Id="rId4" Type="http://schemas.openxmlformats.org/officeDocument/2006/relationships/image" Target="../media/image72.png"/><Relationship Id="rId3" Type="http://schemas.openxmlformats.org/officeDocument/2006/relationships/image" Target="../media/image17.png"/><Relationship Id="rId2" Type="http://schemas.openxmlformats.org/officeDocument/2006/relationships/image" Target="../media/image71.jpeg"/><Relationship Id="rId1" Type="http://schemas.openxmlformats.org/officeDocument/2006/relationships/image" Target="../media/image70.jpeg"/></Relationships>
</file>

<file path=ppt/slides/_rels/slide6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3.xml"/><Relationship Id="rId3" Type="http://schemas.openxmlformats.org/officeDocument/2006/relationships/image" Target="../media/image74.jpeg"/><Relationship Id="rId2" Type="http://schemas.openxmlformats.org/officeDocument/2006/relationships/image" Target="../media/image73.jpeg"/><Relationship Id="rId1" Type="http://schemas.openxmlformats.org/officeDocument/2006/relationships/image" Target="../media/image17.png"/></Relationships>
</file>

<file path=ppt/slides/_rels/slide6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3.xml"/><Relationship Id="rId5" Type="http://schemas.openxmlformats.org/officeDocument/2006/relationships/image" Target="../media/image78.png"/><Relationship Id="rId4" Type="http://schemas.openxmlformats.org/officeDocument/2006/relationships/image" Target="../media/image77.jpeg"/><Relationship Id="rId3" Type="http://schemas.openxmlformats.org/officeDocument/2006/relationships/image" Target="../media/image17.png"/><Relationship Id="rId2" Type="http://schemas.openxmlformats.org/officeDocument/2006/relationships/image" Target="../media/image76.jpeg"/><Relationship Id="rId1" Type="http://schemas.openxmlformats.org/officeDocument/2006/relationships/image" Target="../media/image75.jpeg"/></Relationships>
</file>

<file path=ppt/slides/_rels/slide6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3.xml"/><Relationship Id="rId4" Type="http://schemas.openxmlformats.org/officeDocument/2006/relationships/image" Target="../media/image81.jpeg"/><Relationship Id="rId3" Type="http://schemas.openxmlformats.org/officeDocument/2006/relationships/image" Target="../media/image80.jpeg"/><Relationship Id="rId2" Type="http://schemas.openxmlformats.org/officeDocument/2006/relationships/image" Target="../media/image79.png"/><Relationship Id="rId1" Type="http://schemas.openxmlformats.org/officeDocument/2006/relationships/image" Target="../media/image17.png"/></Relationships>
</file>

<file path=ppt/slides/_rels/slide6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3.xml"/><Relationship Id="rId3" Type="http://schemas.openxmlformats.org/officeDocument/2006/relationships/image" Target="../media/image77.jpeg"/><Relationship Id="rId2" Type="http://schemas.openxmlformats.org/officeDocument/2006/relationships/image" Target="../media/image82.png"/><Relationship Id="rId1" Type="http://schemas.openxmlformats.org/officeDocument/2006/relationships/image" Target="../media/image17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83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84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85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86.png"/></Relationships>
</file>

<file path=ppt/slides/_rels/slide7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8.xml"/><Relationship Id="rId2" Type="http://schemas.openxmlformats.org/officeDocument/2006/relationships/image" Target="../media/image87.png"/><Relationship Id="rId1" Type="http://schemas.openxmlformats.org/officeDocument/2006/relationships/oleObject" Target="../embeddings/Workbook1.xls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88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28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89.png"/></Relationships>
</file>

<file path=ppt/slides/_rels/slide83.xml.rels><?xml version="1.0" encoding="UTF-8" standalone="yes"?>
<Relationships xmlns="http://schemas.openxmlformats.org/package/2006/relationships"><Relationship Id="rId9" Type="http://schemas.openxmlformats.org/officeDocument/2006/relationships/diagramColors" Target="../diagrams/colors3.xml"/><Relationship Id="rId8" Type="http://schemas.openxmlformats.org/officeDocument/2006/relationships/diagramQuickStyle" Target="../diagrams/quickStyle3.xml"/><Relationship Id="rId7" Type="http://schemas.openxmlformats.org/officeDocument/2006/relationships/diagramLayout" Target="../diagrams/layout3.xml"/><Relationship Id="rId6" Type="http://schemas.openxmlformats.org/officeDocument/2006/relationships/diagramData" Target="../diagrams/data3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1" Type="http://schemas.openxmlformats.org/officeDocument/2006/relationships/slideLayout" Target="../slideLayouts/slideLayout28.xml"/><Relationship Id="rId10" Type="http://schemas.microsoft.com/office/2007/relationships/diagramDrawing" Target="../diagrams/drawing3.xml"/><Relationship Id="rId1" Type="http://schemas.openxmlformats.org/officeDocument/2006/relationships/diagramData" Target="../diagrams/data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image" Target="../media/image90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image" Target="../media/image91.emf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6.xml"/><Relationship Id="rId1" Type="http://schemas.openxmlformats.org/officeDocument/2006/relationships/tags" Target="../tags/tag13.xml"/></Relationships>
</file>

<file path=ppt/slides/_rels/slide87.xml.rels><?xml version="1.0" encoding="UTF-8" standalone="yes"?>
<Relationships xmlns="http://schemas.openxmlformats.org/package/2006/relationships"><Relationship Id="rId9" Type="http://schemas.openxmlformats.org/officeDocument/2006/relationships/image" Target="../media/image99.png"/><Relationship Id="rId8" Type="http://schemas.openxmlformats.org/officeDocument/2006/relationships/image" Target="../media/image98.png"/><Relationship Id="rId7" Type="http://schemas.openxmlformats.org/officeDocument/2006/relationships/image" Target="../media/image97.png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8.png"/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4" Type="http://schemas.openxmlformats.org/officeDocument/2006/relationships/slideLayout" Target="../slideLayouts/slideLayout23.xml"/><Relationship Id="rId13" Type="http://schemas.openxmlformats.org/officeDocument/2006/relationships/tags" Target="../tags/tag14.xml"/><Relationship Id="rId12" Type="http://schemas.openxmlformats.org/officeDocument/2006/relationships/image" Target="../media/image102.png"/><Relationship Id="rId11" Type="http://schemas.openxmlformats.org/officeDocument/2006/relationships/image" Target="../media/image101.png"/><Relationship Id="rId10" Type="http://schemas.openxmlformats.org/officeDocument/2006/relationships/image" Target="../media/image100.png"/><Relationship Id="rId1" Type="http://schemas.openxmlformats.org/officeDocument/2006/relationships/image" Target="../media/image92.png"/></Relationships>
</file>

<file path=ppt/slides/_rels/slide8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3.xml"/><Relationship Id="rId3" Type="http://schemas.openxmlformats.org/officeDocument/2006/relationships/tags" Target="../tags/tag15.xml"/><Relationship Id="rId2" Type="http://schemas.openxmlformats.org/officeDocument/2006/relationships/image" Target="../media/image104.png"/><Relationship Id="rId1" Type="http://schemas.openxmlformats.org/officeDocument/2006/relationships/image" Target="../media/image103.png"/></Relationships>
</file>

<file path=ppt/slides/_rels/slide89.xml.rels><?xml version="1.0" encoding="UTF-8" standalone="yes"?>
<Relationships xmlns="http://schemas.openxmlformats.org/package/2006/relationships"><Relationship Id="rId9" Type="http://schemas.openxmlformats.org/officeDocument/2006/relationships/image" Target="../media/image99.png"/><Relationship Id="rId8" Type="http://schemas.openxmlformats.org/officeDocument/2006/relationships/image" Target="../media/image110.png"/><Relationship Id="rId7" Type="http://schemas.openxmlformats.org/officeDocument/2006/relationships/image" Target="../media/image109.png"/><Relationship Id="rId6" Type="http://schemas.openxmlformats.org/officeDocument/2006/relationships/image" Target="../media/image96.png"/><Relationship Id="rId5" Type="http://schemas.openxmlformats.org/officeDocument/2006/relationships/image" Target="../media/image108.png"/><Relationship Id="rId4" Type="http://schemas.openxmlformats.org/officeDocument/2006/relationships/image" Target="../media/image8.png"/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2" Type="http://schemas.openxmlformats.org/officeDocument/2006/relationships/slideLayout" Target="../slideLayouts/slideLayout24.xml"/><Relationship Id="rId11" Type="http://schemas.openxmlformats.org/officeDocument/2006/relationships/tags" Target="../tags/tag16.xml"/><Relationship Id="rId10" Type="http://schemas.openxmlformats.org/officeDocument/2006/relationships/image" Target="../media/image111.png"/><Relationship Id="rId1" Type="http://schemas.openxmlformats.org/officeDocument/2006/relationships/image" Target="../media/image105.png"/></Relationships>
</file>

<file path=ppt/slides/_rels/slide90.xml.rels><?xml version="1.0" encoding="UTF-8" standalone="yes"?>
<Relationships xmlns="http://schemas.openxmlformats.org/package/2006/relationships"><Relationship Id="rId9" Type="http://schemas.openxmlformats.org/officeDocument/2006/relationships/image" Target="../media/image99.png"/><Relationship Id="rId8" Type="http://schemas.openxmlformats.org/officeDocument/2006/relationships/image" Target="../media/image118.png"/><Relationship Id="rId7" Type="http://schemas.openxmlformats.org/officeDocument/2006/relationships/image" Target="../media/image117.png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8.png"/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6" Type="http://schemas.openxmlformats.org/officeDocument/2006/relationships/slideLayout" Target="../slideLayouts/slideLayout24.xml"/><Relationship Id="rId15" Type="http://schemas.openxmlformats.org/officeDocument/2006/relationships/tags" Target="../tags/tag17.xml"/><Relationship Id="rId14" Type="http://schemas.openxmlformats.org/officeDocument/2006/relationships/image" Target="../media/image123.png"/><Relationship Id="rId13" Type="http://schemas.openxmlformats.org/officeDocument/2006/relationships/image" Target="../media/image122.png"/><Relationship Id="rId12" Type="http://schemas.openxmlformats.org/officeDocument/2006/relationships/image" Target="../media/image121.png"/><Relationship Id="rId11" Type="http://schemas.openxmlformats.org/officeDocument/2006/relationships/image" Target="../media/image120.png"/><Relationship Id="rId10" Type="http://schemas.openxmlformats.org/officeDocument/2006/relationships/image" Target="../media/image119.png"/><Relationship Id="rId1" Type="http://schemas.openxmlformats.org/officeDocument/2006/relationships/image" Target="../media/image112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tags" Target="../tags/tag18.xml"/><Relationship Id="rId1" Type="http://schemas.openxmlformats.org/officeDocument/2006/relationships/image" Target="../media/image17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6.xml"/><Relationship Id="rId1" Type="http://schemas.openxmlformats.org/officeDocument/2006/relationships/image" Target="../media/image1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0472" y="1444283"/>
            <a:ext cx="3398520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1950" b="1">
                <a:latin typeface="华文隶书" panose="02010800040101010101" charset="-122"/>
                <a:cs typeface="华文隶书" panose="02010800040101010101" charset="-122"/>
              </a:rPr>
              <a:t>苏州大学未来科学与工程学院</a:t>
            </a:r>
            <a:endParaRPr lang="zh-CN" altLang="en-US" sz="1950" b="1">
              <a:latin typeface="华文隶书" panose="02010800040101010101" charset="-122"/>
              <a:cs typeface="华文隶书" panose="0201080004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9153" y="1736703"/>
            <a:ext cx="306070" cy="306070"/>
          </a:xfrm>
          <a:custGeom>
            <a:avLst/>
            <a:gdLst/>
            <a:ahLst/>
            <a:cxnLst/>
            <a:rect l="l" t="t" r="r" b="b"/>
            <a:pathLst>
              <a:path w="306070" h="306069">
                <a:moveTo>
                  <a:pt x="297980" y="38252"/>
                </a:moveTo>
                <a:lnTo>
                  <a:pt x="38265" y="297891"/>
                </a:lnTo>
                <a:lnTo>
                  <a:pt x="45923" y="305549"/>
                </a:lnTo>
                <a:lnTo>
                  <a:pt x="305638" y="45897"/>
                </a:lnTo>
                <a:lnTo>
                  <a:pt x="297980" y="38252"/>
                </a:lnTo>
                <a:close/>
              </a:path>
              <a:path w="306070" h="306069">
                <a:moveTo>
                  <a:pt x="275031" y="15303"/>
                </a:moveTo>
                <a:lnTo>
                  <a:pt x="15316" y="274942"/>
                </a:lnTo>
                <a:lnTo>
                  <a:pt x="30619" y="290245"/>
                </a:lnTo>
                <a:lnTo>
                  <a:pt x="290334" y="30607"/>
                </a:lnTo>
                <a:lnTo>
                  <a:pt x="275031" y="15303"/>
                </a:lnTo>
                <a:close/>
              </a:path>
              <a:path w="306070" h="306069">
                <a:moveTo>
                  <a:pt x="259715" y="0"/>
                </a:moveTo>
                <a:lnTo>
                  <a:pt x="0" y="259651"/>
                </a:lnTo>
                <a:lnTo>
                  <a:pt x="7658" y="267296"/>
                </a:lnTo>
                <a:lnTo>
                  <a:pt x="267373" y="7658"/>
                </a:lnTo>
                <a:lnTo>
                  <a:pt x="259715" y="0"/>
                </a:lnTo>
                <a:close/>
              </a:path>
            </a:pathLst>
          </a:custGeom>
          <a:solidFill>
            <a:srgbClr val="99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71830" y="1786703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79" y="0"/>
                </a:lnTo>
              </a:path>
            </a:pathLst>
          </a:custGeom>
          <a:ln w="10820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71830" y="1759652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79" y="0"/>
                </a:lnTo>
              </a:path>
            </a:pathLst>
          </a:custGeom>
          <a:ln w="21640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71830" y="1732614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79" y="0"/>
                </a:lnTo>
              </a:path>
            </a:pathLst>
          </a:custGeom>
          <a:ln w="10820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905761" y="2070015"/>
            <a:ext cx="2103755" cy="532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950" b="1" spc="130" dirty="0">
                <a:solidFill>
                  <a:srgbClr val="0033CC"/>
                </a:solidFill>
                <a:latin typeface="华文琥珀" panose="02010800040101010101" charset="-122"/>
                <a:cs typeface="华文琥珀" panose="02010800040101010101" charset="-122"/>
              </a:rPr>
              <a:t>操作系</a:t>
            </a:r>
            <a:r>
              <a:rPr sz="3950" b="1" spc="145" dirty="0">
                <a:solidFill>
                  <a:srgbClr val="0033CC"/>
                </a:solidFill>
                <a:latin typeface="华文琥珀" panose="02010800040101010101" charset="-122"/>
                <a:cs typeface="华文琥珀" panose="02010800040101010101" charset="-122"/>
              </a:rPr>
              <a:t>统</a:t>
            </a:r>
            <a:endParaRPr sz="3950">
              <a:latin typeface="华文琥珀" panose="02010800040101010101" charset="-122"/>
              <a:cs typeface="华文琥珀" panose="02010800040101010101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59267" y="2031349"/>
            <a:ext cx="4519930" cy="60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Operating</a:t>
            </a:r>
            <a:r>
              <a:rPr sz="4600" b="1" spc="-1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System</a:t>
            </a:r>
            <a:endParaRPr sz="4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477135" y="3009900"/>
            <a:ext cx="5865495" cy="235458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111885" marR="5080" indent="-1099820">
              <a:lnSpc>
                <a:spcPct val="100000"/>
              </a:lnSpc>
            </a:pPr>
            <a:r>
              <a:rPr sz="5100" b="1" spc="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L1</a:t>
            </a:r>
            <a:r>
              <a:rPr sz="5100" b="1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.</a:t>
            </a:r>
            <a:r>
              <a:rPr sz="5100" b="1" spc="10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4950" b="1" spc="14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什</a:t>
            </a:r>
            <a:r>
              <a:rPr sz="4950" b="1" spc="13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么</a:t>
            </a:r>
            <a:r>
              <a:rPr sz="4950" b="1" spc="14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是操作系</a:t>
            </a:r>
            <a:r>
              <a:rPr sz="4950" b="1" spc="15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统</a:t>
            </a:r>
            <a:r>
              <a:rPr sz="5100" b="1" spc="-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?</a:t>
            </a:r>
            <a:endParaRPr sz="5100">
              <a:latin typeface="Arial Black" panose="020B0A04020102020204"/>
              <a:cs typeface="Arial Black" panose="020B0A04020102020204"/>
            </a:endParaRPr>
          </a:p>
          <a:p>
            <a:pPr marL="2440305">
              <a:lnSpc>
                <a:spcPct val="100000"/>
              </a:lnSpc>
              <a:spcBef>
                <a:spcPts val="1645"/>
              </a:spcBef>
            </a:pPr>
            <a:r>
              <a:rPr sz="3400" b="1" spc="5" dirty="0">
                <a:latin typeface="Times New Roman" panose="02020603050405020304"/>
                <a:cs typeface="Times New Roman" panose="02020603050405020304"/>
              </a:rPr>
              <a:t>OS</a:t>
            </a:r>
            <a:r>
              <a:rPr sz="3400" b="1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3400" b="1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00" b="1" spc="5" dirty="0">
                <a:latin typeface="Times New Roman" panose="02020603050405020304"/>
                <a:cs typeface="Times New Roman" panose="02020603050405020304"/>
              </a:rPr>
              <a:t>Wh</a:t>
            </a:r>
            <a:r>
              <a:rPr sz="3400" b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400" b="1" spc="5" dirty="0">
                <a:latin typeface="Times New Roman" panose="02020603050405020304"/>
                <a:cs typeface="Times New Roman" panose="02020603050405020304"/>
              </a:rPr>
              <a:t>t?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470"/>
              </a:lnSpc>
            </a:pPr>
            <a:r>
              <a:rPr spc="100" dirty="0">
                <a:solidFill>
                  <a:srgbClr val="000000"/>
                </a:solidFill>
              </a:rPr>
              <a:t>先给大家看副图</a:t>
            </a:r>
            <a:endParaRPr spc="100" dirty="0">
              <a:solidFill>
                <a:srgbClr val="000000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57959" y="850202"/>
            <a:ext cx="986721" cy="103984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035133" y="3752176"/>
            <a:ext cx="976630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总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线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77309" y="4047771"/>
            <a:ext cx="6552565" cy="259715"/>
          </a:xfrm>
          <a:custGeom>
            <a:avLst/>
            <a:gdLst/>
            <a:ahLst/>
            <a:cxnLst/>
            <a:rect l="l" t="t" r="r" b="b"/>
            <a:pathLst>
              <a:path w="6552565" h="259714">
                <a:moveTo>
                  <a:pt x="6552255" y="0"/>
                </a:moveTo>
                <a:lnTo>
                  <a:pt x="65982" y="203"/>
                </a:lnTo>
                <a:lnTo>
                  <a:pt x="32404" y="20624"/>
                </a:lnTo>
                <a:lnTo>
                  <a:pt x="13489" y="55197"/>
                </a:lnTo>
                <a:lnTo>
                  <a:pt x="2233" y="103164"/>
                </a:lnTo>
                <a:lnTo>
                  <a:pt x="0" y="141200"/>
                </a:lnTo>
                <a:lnTo>
                  <a:pt x="1504" y="158918"/>
                </a:lnTo>
                <a:lnTo>
                  <a:pt x="13131" y="206116"/>
                </a:lnTo>
                <a:lnTo>
                  <a:pt x="33496" y="240804"/>
                </a:lnTo>
                <a:lnTo>
                  <a:pt x="69944" y="259645"/>
                </a:lnTo>
                <a:lnTo>
                  <a:pt x="6548292" y="259441"/>
                </a:lnTo>
                <a:lnTo>
                  <a:pt x="6539231" y="257398"/>
                </a:lnTo>
                <a:lnTo>
                  <a:pt x="6530563" y="253244"/>
                </a:lnTo>
                <a:lnTo>
                  <a:pt x="6501355" y="217598"/>
                </a:lnTo>
                <a:lnTo>
                  <a:pt x="6487318" y="173784"/>
                </a:lnTo>
                <a:lnTo>
                  <a:pt x="6482311" y="118443"/>
                </a:lnTo>
                <a:lnTo>
                  <a:pt x="6483815" y="100725"/>
                </a:lnTo>
                <a:lnTo>
                  <a:pt x="6495442" y="53527"/>
                </a:lnTo>
                <a:lnTo>
                  <a:pt x="6515807" y="18840"/>
                </a:lnTo>
                <a:lnTo>
                  <a:pt x="6542424" y="1262"/>
                </a:lnTo>
                <a:lnTo>
                  <a:pt x="6552255" y="0"/>
                </a:lnTo>
              </a:path>
            </a:pathLst>
          </a:custGeom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77309" y="4047771"/>
            <a:ext cx="6552255" cy="2596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77309" y="4047771"/>
            <a:ext cx="6552565" cy="259715"/>
          </a:xfrm>
          <a:custGeom>
            <a:avLst/>
            <a:gdLst/>
            <a:ahLst/>
            <a:cxnLst/>
            <a:rect l="l" t="t" r="r" b="b"/>
            <a:pathLst>
              <a:path w="6552565" h="259714">
                <a:moveTo>
                  <a:pt x="6552255" y="0"/>
                </a:moveTo>
                <a:lnTo>
                  <a:pt x="65982" y="203"/>
                </a:lnTo>
                <a:lnTo>
                  <a:pt x="32404" y="20624"/>
                </a:lnTo>
                <a:lnTo>
                  <a:pt x="13489" y="55197"/>
                </a:lnTo>
                <a:lnTo>
                  <a:pt x="2233" y="103164"/>
                </a:lnTo>
                <a:lnTo>
                  <a:pt x="0" y="141200"/>
                </a:lnTo>
                <a:lnTo>
                  <a:pt x="1504" y="158918"/>
                </a:lnTo>
                <a:lnTo>
                  <a:pt x="13131" y="206116"/>
                </a:lnTo>
                <a:lnTo>
                  <a:pt x="33496" y="240804"/>
                </a:lnTo>
                <a:lnTo>
                  <a:pt x="69944" y="259645"/>
                </a:lnTo>
                <a:lnTo>
                  <a:pt x="6548292" y="259441"/>
                </a:lnTo>
                <a:lnTo>
                  <a:pt x="6539231" y="257398"/>
                </a:lnTo>
                <a:lnTo>
                  <a:pt x="6530563" y="253244"/>
                </a:lnTo>
                <a:lnTo>
                  <a:pt x="6501355" y="217598"/>
                </a:lnTo>
                <a:lnTo>
                  <a:pt x="6487318" y="173784"/>
                </a:lnTo>
                <a:lnTo>
                  <a:pt x="6482311" y="118443"/>
                </a:lnTo>
                <a:lnTo>
                  <a:pt x="6483815" y="100725"/>
                </a:lnTo>
                <a:lnTo>
                  <a:pt x="6495442" y="53527"/>
                </a:lnTo>
                <a:lnTo>
                  <a:pt x="6515807" y="18840"/>
                </a:lnTo>
                <a:lnTo>
                  <a:pt x="6542424" y="1262"/>
                </a:lnTo>
                <a:lnTo>
                  <a:pt x="6552255" y="0"/>
                </a:lnTo>
              </a:path>
            </a:pathLst>
          </a:custGeom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959768" y="4047771"/>
            <a:ext cx="140335" cy="259715"/>
          </a:xfrm>
          <a:custGeom>
            <a:avLst/>
            <a:gdLst/>
            <a:ahLst/>
            <a:cxnLst/>
            <a:rect l="l" t="t" r="r" b="b"/>
            <a:pathLst>
              <a:path w="140334" h="259714">
                <a:moveTo>
                  <a:pt x="69796" y="0"/>
                </a:moveTo>
                <a:lnTo>
                  <a:pt x="31327" y="21925"/>
                </a:lnTo>
                <a:lnTo>
                  <a:pt x="12965" y="56929"/>
                </a:lnTo>
                <a:lnTo>
                  <a:pt x="2102" y="105400"/>
                </a:lnTo>
                <a:lnTo>
                  <a:pt x="0" y="143989"/>
                </a:lnTo>
                <a:lnTo>
                  <a:pt x="1682" y="161340"/>
                </a:lnTo>
                <a:lnTo>
                  <a:pt x="13791" y="207463"/>
                </a:lnTo>
                <a:lnTo>
                  <a:pt x="34939" y="241246"/>
                </a:lnTo>
                <a:lnTo>
                  <a:pt x="73759" y="259441"/>
                </a:lnTo>
                <a:lnTo>
                  <a:pt x="82820" y="257398"/>
                </a:lnTo>
                <a:lnTo>
                  <a:pt x="114366" y="229157"/>
                </a:lnTo>
                <a:lnTo>
                  <a:pt x="130956" y="189808"/>
                </a:lnTo>
                <a:lnTo>
                  <a:pt x="139202" y="137998"/>
                </a:lnTo>
                <a:lnTo>
                  <a:pt x="139741" y="118443"/>
                </a:lnTo>
                <a:lnTo>
                  <a:pt x="138236" y="100725"/>
                </a:lnTo>
                <a:lnTo>
                  <a:pt x="126609" y="53527"/>
                </a:lnTo>
                <a:lnTo>
                  <a:pt x="106244" y="18840"/>
                </a:lnTo>
                <a:lnTo>
                  <a:pt x="69796" y="0"/>
                </a:lnTo>
              </a:path>
            </a:pathLst>
          </a:custGeom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959768" y="4047771"/>
            <a:ext cx="139741" cy="25944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959768" y="4047771"/>
            <a:ext cx="140335" cy="259715"/>
          </a:xfrm>
          <a:custGeom>
            <a:avLst/>
            <a:gdLst/>
            <a:ahLst/>
            <a:cxnLst/>
            <a:rect l="l" t="t" r="r" b="b"/>
            <a:pathLst>
              <a:path w="140334" h="259714">
                <a:moveTo>
                  <a:pt x="69796" y="0"/>
                </a:moveTo>
                <a:lnTo>
                  <a:pt x="31327" y="21925"/>
                </a:lnTo>
                <a:lnTo>
                  <a:pt x="12965" y="56929"/>
                </a:lnTo>
                <a:lnTo>
                  <a:pt x="2102" y="105400"/>
                </a:lnTo>
                <a:lnTo>
                  <a:pt x="0" y="143989"/>
                </a:lnTo>
                <a:lnTo>
                  <a:pt x="1682" y="161340"/>
                </a:lnTo>
                <a:lnTo>
                  <a:pt x="13791" y="207463"/>
                </a:lnTo>
                <a:lnTo>
                  <a:pt x="34939" y="241246"/>
                </a:lnTo>
                <a:lnTo>
                  <a:pt x="73759" y="259441"/>
                </a:lnTo>
                <a:lnTo>
                  <a:pt x="82820" y="257398"/>
                </a:lnTo>
                <a:lnTo>
                  <a:pt x="114366" y="229157"/>
                </a:lnTo>
                <a:lnTo>
                  <a:pt x="130956" y="189808"/>
                </a:lnTo>
                <a:lnTo>
                  <a:pt x="139202" y="137998"/>
                </a:lnTo>
                <a:lnTo>
                  <a:pt x="139741" y="118443"/>
                </a:lnTo>
                <a:lnTo>
                  <a:pt x="138236" y="100725"/>
                </a:lnTo>
                <a:lnTo>
                  <a:pt x="126609" y="53527"/>
                </a:lnTo>
                <a:lnTo>
                  <a:pt x="106244" y="18840"/>
                </a:lnTo>
                <a:lnTo>
                  <a:pt x="69796" y="0"/>
                </a:lnTo>
              </a:path>
            </a:pathLst>
          </a:custGeom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959620" y="4047975"/>
            <a:ext cx="140335" cy="259715"/>
          </a:xfrm>
          <a:custGeom>
            <a:avLst/>
            <a:gdLst/>
            <a:ahLst/>
            <a:cxnLst/>
            <a:rect l="l" t="t" r="r" b="b"/>
            <a:pathLst>
              <a:path w="140334" h="259714">
                <a:moveTo>
                  <a:pt x="69944" y="259440"/>
                </a:moveTo>
                <a:lnTo>
                  <a:pt x="33497" y="240599"/>
                </a:lnTo>
                <a:lnTo>
                  <a:pt x="13131" y="205912"/>
                </a:lnTo>
                <a:lnTo>
                  <a:pt x="1504" y="158714"/>
                </a:lnTo>
                <a:lnTo>
                  <a:pt x="0" y="140996"/>
                </a:lnTo>
                <a:lnTo>
                  <a:pt x="539" y="121441"/>
                </a:lnTo>
                <a:lnTo>
                  <a:pt x="8785" y="69632"/>
                </a:lnTo>
                <a:lnTo>
                  <a:pt x="25375" y="30283"/>
                </a:lnTo>
                <a:lnTo>
                  <a:pt x="56920" y="2042"/>
                </a:lnTo>
                <a:lnTo>
                  <a:pt x="65982" y="0"/>
                </a:lnTo>
                <a:lnTo>
                  <a:pt x="76603" y="1180"/>
                </a:lnTo>
                <a:lnTo>
                  <a:pt x="112732" y="27811"/>
                </a:lnTo>
                <a:lnTo>
                  <a:pt x="131088" y="66199"/>
                </a:lnTo>
                <a:lnTo>
                  <a:pt x="139741" y="115452"/>
                </a:lnTo>
                <a:lnTo>
                  <a:pt x="139252" y="135314"/>
                </a:lnTo>
                <a:lnTo>
                  <a:pt x="131327" y="187731"/>
                </a:lnTo>
                <a:lnTo>
                  <a:pt x="115245" y="227495"/>
                </a:lnTo>
                <a:lnTo>
                  <a:pt x="84523" y="256607"/>
                </a:lnTo>
                <a:lnTo>
                  <a:pt x="69944" y="25944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77309" y="4047771"/>
            <a:ext cx="6552565" cy="259715"/>
          </a:xfrm>
          <a:custGeom>
            <a:avLst/>
            <a:gdLst/>
            <a:ahLst/>
            <a:cxnLst/>
            <a:rect l="l" t="t" r="r" b="b"/>
            <a:pathLst>
              <a:path w="6552565" h="259714">
                <a:moveTo>
                  <a:pt x="6552255" y="259644"/>
                </a:moveTo>
                <a:lnTo>
                  <a:pt x="69944" y="259644"/>
                </a:lnTo>
                <a:lnTo>
                  <a:pt x="60113" y="258381"/>
                </a:lnTo>
                <a:lnTo>
                  <a:pt x="25891" y="230915"/>
                </a:lnTo>
                <a:lnTo>
                  <a:pt x="8162" y="191546"/>
                </a:lnTo>
                <a:lnTo>
                  <a:pt x="0" y="141200"/>
                </a:lnTo>
                <a:lnTo>
                  <a:pt x="539" y="121645"/>
                </a:lnTo>
                <a:lnTo>
                  <a:pt x="8785" y="69835"/>
                </a:lnTo>
                <a:lnTo>
                  <a:pt x="25375" y="30487"/>
                </a:lnTo>
                <a:lnTo>
                  <a:pt x="56920" y="2246"/>
                </a:lnTo>
                <a:lnTo>
                  <a:pt x="65982" y="203"/>
                </a:lnTo>
                <a:lnTo>
                  <a:pt x="6552255" y="0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63716" y="2232809"/>
            <a:ext cx="1899161" cy="18217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951251" y="3377686"/>
            <a:ext cx="132270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图形控制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器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67797" y="4307416"/>
            <a:ext cx="325120" cy="325120"/>
          </a:xfrm>
          <a:custGeom>
            <a:avLst/>
            <a:gdLst/>
            <a:ahLst/>
            <a:cxnLst/>
            <a:rect l="l" t="t" r="r" b="b"/>
            <a:pathLst>
              <a:path w="325119" h="325120">
                <a:moveTo>
                  <a:pt x="324643" y="259643"/>
                </a:moveTo>
                <a:lnTo>
                  <a:pt x="0" y="259643"/>
                </a:lnTo>
                <a:lnTo>
                  <a:pt x="162322" y="324554"/>
                </a:lnTo>
                <a:lnTo>
                  <a:pt x="324643" y="259643"/>
                </a:lnTo>
                <a:close/>
              </a:path>
              <a:path w="325119" h="325120">
                <a:moveTo>
                  <a:pt x="243483" y="64910"/>
                </a:moveTo>
                <a:lnTo>
                  <a:pt x="81161" y="64910"/>
                </a:lnTo>
                <a:lnTo>
                  <a:pt x="81161" y="259643"/>
                </a:lnTo>
                <a:lnTo>
                  <a:pt x="243483" y="259643"/>
                </a:lnTo>
                <a:lnTo>
                  <a:pt x="243483" y="64910"/>
                </a:lnTo>
                <a:close/>
              </a:path>
              <a:path w="325119" h="325120">
                <a:moveTo>
                  <a:pt x="162322" y="0"/>
                </a:moveTo>
                <a:lnTo>
                  <a:pt x="0" y="64910"/>
                </a:lnTo>
                <a:lnTo>
                  <a:pt x="324643" y="64910"/>
                </a:lnTo>
                <a:lnTo>
                  <a:pt x="162322" y="0"/>
                </a:lnTo>
                <a:close/>
              </a:path>
            </a:pathLst>
          </a:custGeom>
          <a:solidFill>
            <a:srgbClr val="CC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067797" y="4307416"/>
            <a:ext cx="325120" cy="325120"/>
          </a:xfrm>
          <a:custGeom>
            <a:avLst/>
            <a:gdLst/>
            <a:ahLst/>
            <a:cxnLst/>
            <a:rect l="l" t="t" r="r" b="b"/>
            <a:pathLst>
              <a:path w="325119" h="325120">
                <a:moveTo>
                  <a:pt x="0" y="64911"/>
                </a:moveTo>
                <a:lnTo>
                  <a:pt x="162321" y="0"/>
                </a:lnTo>
                <a:lnTo>
                  <a:pt x="324643" y="64911"/>
                </a:lnTo>
                <a:lnTo>
                  <a:pt x="243482" y="64911"/>
                </a:lnTo>
                <a:lnTo>
                  <a:pt x="243482" y="259644"/>
                </a:lnTo>
                <a:lnTo>
                  <a:pt x="324643" y="259644"/>
                </a:lnTo>
                <a:lnTo>
                  <a:pt x="162321" y="324555"/>
                </a:lnTo>
                <a:lnTo>
                  <a:pt x="0" y="259644"/>
                </a:lnTo>
                <a:lnTo>
                  <a:pt x="81160" y="259644"/>
                </a:lnTo>
                <a:lnTo>
                  <a:pt x="81160" y="64911"/>
                </a:lnTo>
                <a:lnTo>
                  <a:pt x="0" y="64911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067797" y="5005211"/>
            <a:ext cx="325120" cy="325120"/>
          </a:xfrm>
          <a:custGeom>
            <a:avLst/>
            <a:gdLst/>
            <a:ahLst/>
            <a:cxnLst/>
            <a:rect l="l" t="t" r="r" b="b"/>
            <a:pathLst>
              <a:path w="325119" h="325120">
                <a:moveTo>
                  <a:pt x="324643" y="259643"/>
                </a:moveTo>
                <a:lnTo>
                  <a:pt x="0" y="259643"/>
                </a:lnTo>
                <a:lnTo>
                  <a:pt x="162322" y="324556"/>
                </a:lnTo>
                <a:lnTo>
                  <a:pt x="324643" y="259643"/>
                </a:lnTo>
                <a:close/>
              </a:path>
              <a:path w="325119" h="325120">
                <a:moveTo>
                  <a:pt x="243483" y="64910"/>
                </a:moveTo>
                <a:lnTo>
                  <a:pt x="81161" y="64910"/>
                </a:lnTo>
                <a:lnTo>
                  <a:pt x="81161" y="259643"/>
                </a:lnTo>
                <a:lnTo>
                  <a:pt x="243483" y="259643"/>
                </a:lnTo>
                <a:lnTo>
                  <a:pt x="243483" y="64910"/>
                </a:lnTo>
                <a:close/>
              </a:path>
              <a:path w="325119" h="325120">
                <a:moveTo>
                  <a:pt x="162322" y="0"/>
                </a:moveTo>
                <a:lnTo>
                  <a:pt x="0" y="64910"/>
                </a:lnTo>
                <a:lnTo>
                  <a:pt x="324643" y="64910"/>
                </a:lnTo>
                <a:lnTo>
                  <a:pt x="162322" y="0"/>
                </a:lnTo>
                <a:close/>
              </a:path>
            </a:pathLst>
          </a:custGeom>
          <a:solidFill>
            <a:srgbClr val="CC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067797" y="5005211"/>
            <a:ext cx="325120" cy="325120"/>
          </a:xfrm>
          <a:custGeom>
            <a:avLst/>
            <a:gdLst/>
            <a:ahLst/>
            <a:cxnLst/>
            <a:rect l="l" t="t" r="r" b="b"/>
            <a:pathLst>
              <a:path w="325119" h="325120">
                <a:moveTo>
                  <a:pt x="0" y="64911"/>
                </a:moveTo>
                <a:lnTo>
                  <a:pt x="162321" y="0"/>
                </a:lnTo>
                <a:lnTo>
                  <a:pt x="324643" y="64911"/>
                </a:lnTo>
                <a:lnTo>
                  <a:pt x="243482" y="64911"/>
                </a:lnTo>
                <a:lnTo>
                  <a:pt x="243482" y="259644"/>
                </a:lnTo>
                <a:lnTo>
                  <a:pt x="324643" y="259644"/>
                </a:lnTo>
                <a:lnTo>
                  <a:pt x="162321" y="324555"/>
                </a:lnTo>
                <a:lnTo>
                  <a:pt x="0" y="259644"/>
                </a:lnTo>
                <a:lnTo>
                  <a:pt x="81160" y="259644"/>
                </a:lnTo>
                <a:lnTo>
                  <a:pt x="81160" y="64911"/>
                </a:lnTo>
                <a:lnTo>
                  <a:pt x="0" y="64911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256188" y="4615743"/>
            <a:ext cx="1948180" cy="405765"/>
          </a:xfrm>
          <a:prstGeom prst="rect">
            <a:avLst/>
          </a:prstGeom>
          <a:ln w="16227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59410">
              <a:lnSpc>
                <a:spcPct val="100000"/>
              </a:lnSpc>
            </a:pP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控制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器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645761" y="5249980"/>
            <a:ext cx="1032096" cy="98854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957127" y="3723216"/>
            <a:ext cx="325120" cy="325120"/>
          </a:xfrm>
          <a:custGeom>
            <a:avLst/>
            <a:gdLst/>
            <a:ahLst/>
            <a:cxnLst/>
            <a:rect l="l" t="t" r="r" b="b"/>
            <a:pathLst>
              <a:path w="325120" h="325120">
                <a:moveTo>
                  <a:pt x="324643" y="259643"/>
                </a:moveTo>
                <a:lnTo>
                  <a:pt x="0" y="259643"/>
                </a:lnTo>
                <a:lnTo>
                  <a:pt x="162321" y="324554"/>
                </a:lnTo>
                <a:lnTo>
                  <a:pt x="324643" y="259643"/>
                </a:lnTo>
                <a:close/>
              </a:path>
              <a:path w="325120" h="325120">
                <a:moveTo>
                  <a:pt x="243483" y="64910"/>
                </a:moveTo>
                <a:lnTo>
                  <a:pt x="81160" y="64910"/>
                </a:lnTo>
                <a:lnTo>
                  <a:pt x="81160" y="259643"/>
                </a:lnTo>
                <a:lnTo>
                  <a:pt x="243483" y="259643"/>
                </a:lnTo>
                <a:lnTo>
                  <a:pt x="243483" y="64910"/>
                </a:lnTo>
                <a:close/>
              </a:path>
              <a:path w="325120" h="325120">
                <a:moveTo>
                  <a:pt x="162321" y="0"/>
                </a:moveTo>
                <a:lnTo>
                  <a:pt x="0" y="64910"/>
                </a:lnTo>
                <a:lnTo>
                  <a:pt x="324643" y="64910"/>
                </a:lnTo>
                <a:lnTo>
                  <a:pt x="162321" y="0"/>
                </a:lnTo>
                <a:close/>
              </a:path>
            </a:pathLst>
          </a:custGeom>
          <a:solidFill>
            <a:srgbClr val="CC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957127" y="3723216"/>
            <a:ext cx="325120" cy="325120"/>
          </a:xfrm>
          <a:custGeom>
            <a:avLst/>
            <a:gdLst/>
            <a:ahLst/>
            <a:cxnLst/>
            <a:rect l="l" t="t" r="r" b="b"/>
            <a:pathLst>
              <a:path w="325120" h="325120">
                <a:moveTo>
                  <a:pt x="0" y="64911"/>
                </a:moveTo>
                <a:lnTo>
                  <a:pt x="162321" y="0"/>
                </a:lnTo>
                <a:lnTo>
                  <a:pt x="324643" y="64911"/>
                </a:lnTo>
                <a:lnTo>
                  <a:pt x="243482" y="64911"/>
                </a:lnTo>
                <a:lnTo>
                  <a:pt x="243482" y="259644"/>
                </a:lnTo>
                <a:lnTo>
                  <a:pt x="324643" y="259644"/>
                </a:lnTo>
                <a:lnTo>
                  <a:pt x="162321" y="324555"/>
                </a:lnTo>
                <a:lnTo>
                  <a:pt x="0" y="259644"/>
                </a:lnTo>
                <a:lnTo>
                  <a:pt x="81160" y="259644"/>
                </a:lnTo>
                <a:lnTo>
                  <a:pt x="81160" y="64911"/>
                </a:lnTo>
                <a:lnTo>
                  <a:pt x="0" y="64911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242911" y="3317521"/>
            <a:ext cx="1753235" cy="405765"/>
          </a:xfrm>
          <a:custGeom>
            <a:avLst/>
            <a:gdLst/>
            <a:ahLst/>
            <a:cxnLst/>
            <a:rect l="l" t="t" r="r" b="b"/>
            <a:pathLst>
              <a:path w="1753235" h="405764">
                <a:moveTo>
                  <a:pt x="0" y="0"/>
                </a:moveTo>
                <a:lnTo>
                  <a:pt x="1753076" y="0"/>
                </a:lnTo>
                <a:lnTo>
                  <a:pt x="1753076" y="405694"/>
                </a:lnTo>
                <a:lnTo>
                  <a:pt x="0" y="405694"/>
                </a:lnTo>
                <a:lnTo>
                  <a:pt x="0" y="0"/>
                </a:lnTo>
                <a:close/>
              </a:path>
            </a:pathLst>
          </a:custGeom>
          <a:ln w="1622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4457421" y="3377686"/>
            <a:ext cx="132270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总线控制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器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762375" y="2733321"/>
            <a:ext cx="1991995" cy="259715"/>
          </a:xfrm>
          <a:custGeom>
            <a:avLst/>
            <a:gdLst/>
            <a:ahLst/>
            <a:cxnLst/>
            <a:rect l="l" t="t" r="r" b="b"/>
            <a:pathLst>
              <a:path w="1991995" h="259714">
                <a:moveTo>
                  <a:pt x="1991418" y="0"/>
                </a:moveTo>
                <a:lnTo>
                  <a:pt x="18331" y="1252"/>
                </a:lnTo>
                <a:lnTo>
                  <a:pt x="5262" y="45435"/>
                </a:lnTo>
                <a:lnTo>
                  <a:pt x="898" y="96163"/>
                </a:lnTo>
                <a:lnTo>
                  <a:pt x="0" y="137234"/>
                </a:lnTo>
                <a:lnTo>
                  <a:pt x="442" y="157246"/>
                </a:lnTo>
                <a:lnTo>
                  <a:pt x="4495" y="209807"/>
                </a:lnTo>
                <a:lnTo>
                  <a:pt x="14781" y="253466"/>
                </a:lnTo>
                <a:lnTo>
                  <a:pt x="21304" y="259645"/>
                </a:lnTo>
                <a:lnTo>
                  <a:pt x="1988445" y="258391"/>
                </a:lnTo>
                <a:lnTo>
                  <a:pt x="1985409" y="254386"/>
                </a:lnTo>
                <a:lnTo>
                  <a:pt x="1982551" y="247795"/>
                </a:lnTo>
                <a:lnTo>
                  <a:pt x="1973564" y="198977"/>
                </a:lnTo>
                <a:lnTo>
                  <a:pt x="1970339" y="143557"/>
                </a:lnTo>
                <a:lnTo>
                  <a:pt x="1970114" y="122410"/>
                </a:lnTo>
                <a:lnTo>
                  <a:pt x="1970557" y="102398"/>
                </a:lnTo>
                <a:lnTo>
                  <a:pt x="1974609" y="49837"/>
                </a:lnTo>
                <a:lnTo>
                  <a:pt x="1984895" y="6178"/>
                </a:lnTo>
                <a:lnTo>
                  <a:pt x="1988074" y="1584"/>
                </a:lnTo>
                <a:lnTo>
                  <a:pt x="1991418" y="0"/>
                </a:lnTo>
              </a:path>
            </a:pathLst>
          </a:custGeom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762375" y="2733321"/>
            <a:ext cx="1991418" cy="25964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732613" y="2733321"/>
            <a:ext cx="42398" cy="25839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732489" y="2734574"/>
            <a:ext cx="43180" cy="258445"/>
          </a:xfrm>
          <a:custGeom>
            <a:avLst/>
            <a:gdLst/>
            <a:ahLst/>
            <a:cxnLst/>
            <a:rect l="l" t="t" r="r" b="b"/>
            <a:pathLst>
              <a:path w="43179" h="258444">
                <a:moveTo>
                  <a:pt x="21304" y="258391"/>
                </a:moveTo>
                <a:lnTo>
                  <a:pt x="6622" y="222780"/>
                </a:lnTo>
                <a:lnTo>
                  <a:pt x="1366" y="174920"/>
                </a:lnTo>
                <a:lnTo>
                  <a:pt x="0" y="135981"/>
                </a:lnTo>
                <a:lnTo>
                  <a:pt x="225" y="114834"/>
                </a:lnTo>
                <a:lnTo>
                  <a:pt x="1984" y="76380"/>
                </a:lnTo>
                <a:lnTo>
                  <a:pt x="7386" y="30855"/>
                </a:lnTo>
                <a:lnTo>
                  <a:pt x="18331" y="0"/>
                </a:lnTo>
                <a:lnTo>
                  <a:pt x="22403" y="1218"/>
                </a:lnTo>
                <a:lnTo>
                  <a:pt x="37724" y="47493"/>
                </a:lnTo>
                <a:lnTo>
                  <a:pt x="42072" y="98851"/>
                </a:lnTo>
                <a:lnTo>
                  <a:pt x="42579" y="118477"/>
                </a:lnTo>
                <a:lnTo>
                  <a:pt x="42369" y="139897"/>
                </a:lnTo>
                <a:lnTo>
                  <a:pt x="40684" y="178710"/>
                </a:lnTo>
                <a:lnTo>
                  <a:pt x="35472" y="224621"/>
                </a:lnTo>
                <a:lnTo>
                  <a:pt x="21304" y="258391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762375" y="2733321"/>
            <a:ext cx="1991995" cy="259715"/>
          </a:xfrm>
          <a:custGeom>
            <a:avLst/>
            <a:gdLst/>
            <a:ahLst/>
            <a:cxnLst/>
            <a:rect l="l" t="t" r="r" b="b"/>
            <a:pathLst>
              <a:path w="1991995" h="259714">
                <a:moveTo>
                  <a:pt x="1991418" y="259644"/>
                </a:moveTo>
                <a:lnTo>
                  <a:pt x="21304" y="259644"/>
                </a:lnTo>
                <a:lnTo>
                  <a:pt x="17960" y="258059"/>
                </a:lnTo>
                <a:lnTo>
                  <a:pt x="4495" y="209806"/>
                </a:lnTo>
                <a:lnTo>
                  <a:pt x="442" y="157246"/>
                </a:lnTo>
                <a:lnTo>
                  <a:pt x="0" y="137234"/>
                </a:lnTo>
                <a:lnTo>
                  <a:pt x="225" y="116087"/>
                </a:lnTo>
                <a:lnTo>
                  <a:pt x="1984" y="77633"/>
                </a:lnTo>
                <a:lnTo>
                  <a:pt x="7386" y="32108"/>
                </a:lnTo>
                <a:lnTo>
                  <a:pt x="18331" y="1252"/>
                </a:lnTo>
                <a:lnTo>
                  <a:pt x="1991418" y="0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5931344" y="3053218"/>
            <a:ext cx="1698625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-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内存总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线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957127" y="2992967"/>
            <a:ext cx="325120" cy="325120"/>
          </a:xfrm>
          <a:custGeom>
            <a:avLst/>
            <a:gdLst/>
            <a:ahLst/>
            <a:cxnLst/>
            <a:rect l="l" t="t" r="r" b="b"/>
            <a:pathLst>
              <a:path w="325120" h="325120">
                <a:moveTo>
                  <a:pt x="324643" y="259643"/>
                </a:moveTo>
                <a:lnTo>
                  <a:pt x="0" y="259643"/>
                </a:lnTo>
                <a:lnTo>
                  <a:pt x="162321" y="324554"/>
                </a:lnTo>
                <a:lnTo>
                  <a:pt x="324643" y="259643"/>
                </a:lnTo>
                <a:close/>
              </a:path>
              <a:path w="325120" h="325120">
                <a:moveTo>
                  <a:pt x="243483" y="64910"/>
                </a:moveTo>
                <a:lnTo>
                  <a:pt x="81160" y="64910"/>
                </a:lnTo>
                <a:lnTo>
                  <a:pt x="81160" y="259643"/>
                </a:lnTo>
                <a:lnTo>
                  <a:pt x="243483" y="259643"/>
                </a:lnTo>
                <a:lnTo>
                  <a:pt x="243483" y="64910"/>
                </a:lnTo>
                <a:close/>
              </a:path>
              <a:path w="325120" h="325120">
                <a:moveTo>
                  <a:pt x="162321" y="0"/>
                </a:moveTo>
                <a:lnTo>
                  <a:pt x="0" y="64910"/>
                </a:lnTo>
                <a:lnTo>
                  <a:pt x="324643" y="64910"/>
                </a:lnTo>
                <a:lnTo>
                  <a:pt x="162321" y="0"/>
                </a:lnTo>
                <a:close/>
              </a:path>
            </a:pathLst>
          </a:custGeom>
          <a:solidFill>
            <a:srgbClr val="FF66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957127" y="2992967"/>
            <a:ext cx="325120" cy="325120"/>
          </a:xfrm>
          <a:custGeom>
            <a:avLst/>
            <a:gdLst/>
            <a:ahLst/>
            <a:cxnLst/>
            <a:rect l="l" t="t" r="r" b="b"/>
            <a:pathLst>
              <a:path w="325120" h="325120">
                <a:moveTo>
                  <a:pt x="0" y="64911"/>
                </a:moveTo>
                <a:lnTo>
                  <a:pt x="162321" y="0"/>
                </a:lnTo>
                <a:lnTo>
                  <a:pt x="324643" y="64911"/>
                </a:lnTo>
                <a:lnTo>
                  <a:pt x="243482" y="64911"/>
                </a:lnTo>
                <a:lnTo>
                  <a:pt x="243482" y="259644"/>
                </a:lnTo>
                <a:lnTo>
                  <a:pt x="324643" y="259644"/>
                </a:lnTo>
                <a:lnTo>
                  <a:pt x="162321" y="324555"/>
                </a:lnTo>
                <a:lnTo>
                  <a:pt x="0" y="259644"/>
                </a:lnTo>
                <a:lnTo>
                  <a:pt x="81160" y="259644"/>
                </a:lnTo>
                <a:lnTo>
                  <a:pt x="81160" y="64911"/>
                </a:lnTo>
                <a:lnTo>
                  <a:pt x="0" y="64911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633903" y="1896252"/>
            <a:ext cx="958126" cy="84112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951492" y="2219389"/>
            <a:ext cx="836197" cy="51799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502626" y="1824567"/>
            <a:ext cx="2727325" cy="1233805"/>
          </a:xfrm>
          <a:custGeom>
            <a:avLst/>
            <a:gdLst/>
            <a:ahLst/>
            <a:cxnLst/>
            <a:rect l="l" t="t" r="r" b="b"/>
            <a:pathLst>
              <a:path w="2727325" h="1233805">
                <a:moveTo>
                  <a:pt x="0" y="205555"/>
                </a:moveTo>
                <a:lnTo>
                  <a:pt x="5975" y="156158"/>
                </a:lnTo>
                <a:lnTo>
                  <a:pt x="22949" y="111090"/>
                </a:lnTo>
                <a:lnTo>
                  <a:pt x="49494" y="71782"/>
                </a:lnTo>
                <a:lnTo>
                  <a:pt x="84179" y="39660"/>
                </a:lnTo>
                <a:lnTo>
                  <a:pt x="125577" y="16153"/>
                </a:lnTo>
                <a:lnTo>
                  <a:pt x="172259" y="2690"/>
                </a:lnTo>
                <a:lnTo>
                  <a:pt x="205611" y="0"/>
                </a:lnTo>
                <a:lnTo>
                  <a:pt x="2521396" y="0"/>
                </a:lnTo>
                <a:lnTo>
                  <a:pt x="2570807" y="5973"/>
                </a:lnTo>
                <a:lnTo>
                  <a:pt x="2615886" y="22943"/>
                </a:lnTo>
                <a:lnTo>
                  <a:pt x="2655206" y="49480"/>
                </a:lnTo>
                <a:lnTo>
                  <a:pt x="2687336" y="84157"/>
                </a:lnTo>
                <a:lnTo>
                  <a:pt x="2710849" y="125543"/>
                </a:lnTo>
                <a:lnTo>
                  <a:pt x="2724316" y="172213"/>
                </a:lnTo>
                <a:lnTo>
                  <a:pt x="2727007" y="205555"/>
                </a:lnTo>
                <a:lnTo>
                  <a:pt x="2727007" y="1027755"/>
                </a:lnTo>
                <a:lnTo>
                  <a:pt x="2721031" y="1077153"/>
                </a:lnTo>
                <a:lnTo>
                  <a:pt x="2704057" y="1122220"/>
                </a:lnTo>
                <a:lnTo>
                  <a:pt x="2677513" y="1161528"/>
                </a:lnTo>
                <a:lnTo>
                  <a:pt x="2642827" y="1193650"/>
                </a:lnTo>
                <a:lnTo>
                  <a:pt x="2601429" y="1217157"/>
                </a:lnTo>
                <a:lnTo>
                  <a:pt x="2554747" y="1230620"/>
                </a:lnTo>
                <a:lnTo>
                  <a:pt x="2521396" y="1233311"/>
                </a:lnTo>
                <a:lnTo>
                  <a:pt x="205611" y="1233311"/>
                </a:lnTo>
                <a:lnTo>
                  <a:pt x="156200" y="1227337"/>
                </a:lnTo>
                <a:lnTo>
                  <a:pt x="111120" y="1210367"/>
                </a:lnTo>
                <a:lnTo>
                  <a:pt x="71801" y="1183830"/>
                </a:lnTo>
                <a:lnTo>
                  <a:pt x="39671" y="1149153"/>
                </a:lnTo>
                <a:lnTo>
                  <a:pt x="16157" y="1107767"/>
                </a:lnTo>
                <a:lnTo>
                  <a:pt x="2691" y="1061097"/>
                </a:lnTo>
                <a:lnTo>
                  <a:pt x="0" y="1027755"/>
                </a:lnTo>
                <a:lnTo>
                  <a:pt x="0" y="205555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4048125" y="4599516"/>
            <a:ext cx="1948180" cy="405765"/>
          </a:xfrm>
          <a:prstGeom prst="rect">
            <a:avLst/>
          </a:prstGeom>
          <a:ln w="16227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ct val="10000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扩展总线接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口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859733" y="4291188"/>
            <a:ext cx="325120" cy="325120"/>
          </a:xfrm>
          <a:custGeom>
            <a:avLst/>
            <a:gdLst/>
            <a:ahLst/>
            <a:cxnLst/>
            <a:rect l="l" t="t" r="r" b="b"/>
            <a:pathLst>
              <a:path w="325120" h="325120">
                <a:moveTo>
                  <a:pt x="324643" y="259643"/>
                </a:moveTo>
                <a:lnTo>
                  <a:pt x="0" y="259643"/>
                </a:lnTo>
                <a:lnTo>
                  <a:pt x="162322" y="324556"/>
                </a:lnTo>
                <a:lnTo>
                  <a:pt x="324643" y="259643"/>
                </a:lnTo>
                <a:close/>
              </a:path>
              <a:path w="325120" h="325120">
                <a:moveTo>
                  <a:pt x="243483" y="64910"/>
                </a:moveTo>
                <a:lnTo>
                  <a:pt x="81161" y="64910"/>
                </a:lnTo>
                <a:lnTo>
                  <a:pt x="81161" y="259643"/>
                </a:lnTo>
                <a:lnTo>
                  <a:pt x="243483" y="259643"/>
                </a:lnTo>
                <a:lnTo>
                  <a:pt x="243483" y="64910"/>
                </a:lnTo>
                <a:close/>
              </a:path>
              <a:path w="325120" h="325120">
                <a:moveTo>
                  <a:pt x="162322" y="0"/>
                </a:moveTo>
                <a:lnTo>
                  <a:pt x="0" y="64910"/>
                </a:lnTo>
                <a:lnTo>
                  <a:pt x="324643" y="64910"/>
                </a:lnTo>
                <a:lnTo>
                  <a:pt x="162322" y="0"/>
                </a:lnTo>
                <a:close/>
              </a:path>
            </a:pathLst>
          </a:custGeom>
          <a:solidFill>
            <a:srgbClr val="CC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859733" y="4291188"/>
            <a:ext cx="325120" cy="325120"/>
          </a:xfrm>
          <a:custGeom>
            <a:avLst/>
            <a:gdLst/>
            <a:ahLst/>
            <a:cxnLst/>
            <a:rect l="l" t="t" r="r" b="b"/>
            <a:pathLst>
              <a:path w="325120" h="325120">
                <a:moveTo>
                  <a:pt x="0" y="64911"/>
                </a:moveTo>
                <a:lnTo>
                  <a:pt x="162321" y="0"/>
                </a:lnTo>
                <a:lnTo>
                  <a:pt x="324643" y="64911"/>
                </a:lnTo>
                <a:lnTo>
                  <a:pt x="243482" y="64911"/>
                </a:lnTo>
                <a:lnTo>
                  <a:pt x="243482" y="259644"/>
                </a:lnTo>
                <a:lnTo>
                  <a:pt x="324643" y="259644"/>
                </a:lnTo>
                <a:lnTo>
                  <a:pt x="162321" y="324555"/>
                </a:lnTo>
                <a:lnTo>
                  <a:pt x="0" y="259644"/>
                </a:lnTo>
                <a:lnTo>
                  <a:pt x="81160" y="259644"/>
                </a:lnTo>
                <a:lnTo>
                  <a:pt x="81160" y="64911"/>
                </a:lnTo>
                <a:lnTo>
                  <a:pt x="0" y="64911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632518" y="5329766"/>
            <a:ext cx="1991418" cy="25964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602755" y="5329766"/>
            <a:ext cx="42398" cy="25839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602631" y="5331019"/>
            <a:ext cx="43180" cy="258445"/>
          </a:xfrm>
          <a:custGeom>
            <a:avLst/>
            <a:gdLst/>
            <a:ahLst/>
            <a:cxnLst/>
            <a:rect l="l" t="t" r="r" b="b"/>
            <a:pathLst>
              <a:path w="43179" h="258445">
                <a:moveTo>
                  <a:pt x="21304" y="258391"/>
                </a:moveTo>
                <a:lnTo>
                  <a:pt x="6622" y="222780"/>
                </a:lnTo>
                <a:lnTo>
                  <a:pt x="1366" y="174920"/>
                </a:lnTo>
                <a:lnTo>
                  <a:pt x="0" y="135981"/>
                </a:lnTo>
                <a:lnTo>
                  <a:pt x="225" y="114834"/>
                </a:lnTo>
                <a:lnTo>
                  <a:pt x="1984" y="76380"/>
                </a:lnTo>
                <a:lnTo>
                  <a:pt x="7386" y="30855"/>
                </a:lnTo>
                <a:lnTo>
                  <a:pt x="18331" y="0"/>
                </a:lnTo>
                <a:lnTo>
                  <a:pt x="22403" y="1218"/>
                </a:lnTo>
                <a:lnTo>
                  <a:pt x="37724" y="47493"/>
                </a:lnTo>
                <a:lnTo>
                  <a:pt x="42072" y="98851"/>
                </a:lnTo>
                <a:lnTo>
                  <a:pt x="42579" y="118477"/>
                </a:lnTo>
                <a:lnTo>
                  <a:pt x="42369" y="139897"/>
                </a:lnTo>
                <a:lnTo>
                  <a:pt x="40684" y="178710"/>
                </a:lnTo>
                <a:lnTo>
                  <a:pt x="35472" y="224621"/>
                </a:lnTo>
                <a:lnTo>
                  <a:pt x="21304" y="258391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632518" y="5329766"/>
            <a:ext cx="1991995" cy="259715"/>
          </a:xfrm>
          <a:custGeom>
            <a:avLst/>
            <a:gdLst/>
            <a:ahLst/>
            <a:cxnLst/>
            <a:rect l="l" t="t" r="r" b="b"/>
            <a:pathLst>
              <a:path w="1991995" h="259714">
                <a:moveTo>
                  <a:pt x="1991418" y="259644"/>
                </a:moveTo>
                <a:lnTo>
                  <a:pt x="21304" y="259644"/>
                </a:lnTo>
                <a:lnTo>
                  <a:pt x="17960" y="258059"/>
                </a:lnTo>
                <a:lnTo>
                  <a:pt x="4495" y="209806"/>
                </a:lnTo>
                <a:lnTo>
                  <a:pt x="442" y="157246"/>
                </a:lnTo>
                <a:lnTo>
                  <a:pt x="0" y="137234"/>
                </a:lnTo>
                <a:lnTo>
                  <a:pt x="225" y="116087"/>
                </a:lnTo>
                <a:lnTo>
                  <a:pt x="1984" y="77633"/>
                </a:lnTo>
                <a:lnTo>
                  <a:pt x="7386" y="32108"/>
                </a:lnTo>
                <a:lnTo>
                  <a:pt x="18331" y="1252"/>
                </a:lnTo>
                <a:lnTo>
                  <a:pt x="1991418" y="0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728973" y="5589163"/>
            <a:ext cx="2862854" cy="102370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827270" y="5005211"/>
            <a:ext cx="325120" cy="325120"/>
          </a:xfrm>
          <a:custGeom>
            <a:avLst/>
            <a:gdLst/>
            <a:ahLst/>
            <a:cxnLst/>
            <a:rect l="l" t="t" r="r" b="b"/>
            <a:pathLst>
              <a:path w="325120" h="325120">
                <a:moveTo>
                  <a:pt x="324643" y="259643"/>
                </a:moveTo>
                <a:lnTo>
                  <a:pt x="0" y="259643"/>
                </a:lnTo>
                <a:lnTo>
                  <a:pt x="162322" y="324556"/>
                </a:lnTo>
                <a:lnTo>
                  <a:pt x="324643" y="259643"/>
                </a:lnTo>
                <a:close/>
              </a:path>
              <a:path w="325120" h="325120">
                <a:moveTo>
                  <a:pt x="243483" y="64910"/>
                </a:moveTo>
                <a:lnTo>
                  <a:pt x="81160" y="64910"/>
                </a:lnTo>
                <a:lnTo>
                  <a:pt x="81160" y="259643"/>
                </a:lnTo>
                <a:lnTo>
                  <a:pt x="243483" y="259643"/>
                </a:lnTo>
                <a:lnTo>
                  <a:pt x="243483" y="64910"/>
                </a:lnTo>
                <a:close/>
              </a:path>
              <a:path w="325120" h="325120">
                <a:moveTo>
                  <a:pt x="162322" y="0"/>
                </a:moveTo>
                <a:lnTo>
                  <a:pt x="0" y="64910"/>
                </a:lnTo>
                <a:lnTo>
                  <a:pt x="324643" y="64910"/>
                </a:lnTo>
                <a:lnTo>
                  <a:pt x="162322" y="0"/>
                </a:lnTo>
                <a:close/>
              </a:path>
            </a:pathLst>
          </a:custGeom>
          <a:solidFill>
            <a:srgbClr val="00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827270" y="5005211"/>
            <a:ext cx="325120" cy="325120"/>
          </a:xfrm>
          <a:custGeom>
            <a:avLst/>
            <a:gdLst/>
            <a:ahLst/>
            <a:cxnLst/>
            <a:rect l="l" t="t" r="r" b="b"/>
            <a:pathLst>
              <a:path w="325120" h="325120">
                <a:moveTo>
                  <a:pt x="0" y="64911"/>
                </a:moveTo>
                <a:lnTo>
                  <a:pt x="162321" y="0"/>
                </a:lnTo>
                <a:lnTo>
                  <a:pt x="324643" y="64911"/>
                </a:lnTo>
                <a:lnTo>
                  <a:pt x="243482" y="64911"/>
                </a:lnTo>
                <a:lnTo>
                  <a:pt x="243482" y="259644"/>
                </a:lnTo>
                <a:lnTo>
                  <a:pt x="324643" y="259644"/>
                </a:lnTo>
                <a:lnTo>
                  <a:pt x="162321" y="324555"/>
                </a:lnTo>
                <a:lnTo>
                  <a:pt x="0" y="259644"/>
                </a:lnTo>
                <a:lnTo>
                  <a:pt x="81160" y="259644"/>
                </a:lnTo>
                <a:lnTo>
                  <a:pt x="81160" y="64911"/>
                </a:lnTo>
                <a:lnTo>
                  <a:pt x="0" y="64911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5656751" y="4989208"/>
            <a:ext cx="106299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扩展总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线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69130" y="5988050"/>
            <a:ext cx="812800" cy="298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并行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口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5802391" y="5585353"/>
            <a:ext cx="1169240" cy="82711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8341824" y="2629712"/>
            <a:ext cx="1622425" cy="386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975" b="1" spc="89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这是什么</a:t>
            </a:r>
            <a:r>
              <a:rPr sz="27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?</a:t>
            </a:r>
            <a:endParaRPr sz="2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52" name="object 5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470"/>
              </a:lnSpc>
            </a:pPr>
            <a:r>
              <a:rPr spc="100" dirty="0">
                <a:solidFill>
                  <a:srgbClr val="000000"/>
                </a:solidFill>
              </a:rPr>
              <a:t>是计算机</a:t>
            </a:r>
            <a:endParaRPr spc="100" dirty="0">
              <a:solidFill>
                <a:srgbClr val="000000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57959" y="850202"/>
            <a:ext cx="986721" cy="103984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69315" y="2012315"/>
            <a:ext cx="6444615" cy="344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 panose="05000000000000000000" charset="0"/>
              <a:buChar char="n"/>
            </a:pPr>
            <a:r>
              <a:rPr sz="2100" spc="40" dirty="0">
                <a:solidFill>
                  <a:srgbClr val="993300"/>
                </a:solidFill>
                <a:latin typeface="Lucida Sans" panose="020B0602030504020204"/>
                <a:cs typeface="Lucida Sans" panose="020B0602030504020204"/>
              </a:rPr>
              <a:t> 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对就是计算机，是我们专业吃饭的家伙</a:t>
            </a:r>
            <a:r>
              <a:rPr sz="3450" b="1" spc="135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啊</a:t>
            </a:r>
            <a:endParaRPr sz="3450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86226" y="2541101"/>
            <a:ext cx="2620645" cy="730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600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用一句话说一说计算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机</a:t>
            </a:r>
            <a:r>
              <a:rPr sz="19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专业要干什么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?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54737" y="2611614"/>
            <a:ext cx="160969" cy="1636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54737" y="3650192"/>
            <a:ext cx="160969" cy="1636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385845" y="5794968"/>
            <a:ext cx="976630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总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线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01953" y="6124928"/>
            <a:ext cx="6552565" cy="259715"/>
          </a:xfrm>
          <a:custGeom>
            <a:avLst/>
            <a:gdLst/>
            <a:ahLst/>
            <a:cxnLst/>
            <a:rect l="l" t="t" r="r" b="b"/>
            <a:pathLst>
              <a:path w="6552565" h="259714">
                <a:moveTo>
                  <a:pt x="6552255" y="0"/>
                </a:moveTo>
                <a:lnTo>
                  <a:pt x="65982" y="203"/>
                </a:lnTo>
                <a:lnTo>
                  <a:pt x="32404" y="20624"/>
                </a:lnTo>
                <a:lnTo>
                  <a:pt x="13489" y="55196"/>
                </a:lnTo>
                <a:lnTo>
                  <a:pt x="2233" y="103163"/>
                </a:lnTo>
                <a:lnTo>
                  <a:pt x="0" y="141200"/>
                </a:lnTo>
                <a:lnTo>
                  <a:pt x="1504" y="158918"/>
                </a:lnTo>
                <a:lnTo>
                  <a:pt x="13131" y="206116"/>
                </a:lnTo>
                <a:lnTo>
                  <a:pt x="33496" y="240803"/>
                </a:lnTo>
                <a:lnTo>
                  <a:pt x="69944" y="259644"/>
                </a:lnTo>
                <a:lnTo>
                  <a:pt x="6548293" y="259440"/>
                </a:lnTo>
                <a:lnTo>
                  <a:pt x="6539231" y="257397"/>
                </a:lnTo>
                <a:lnTo>
                  <a:pt x="6530564" y="253244"/>
                </a:lnTo>
                <a:lnTo>
                  <a:pt x="6501356" y="217598"/>
                </a:lnTo>
                <a:lnTo>
                  <a:pt x="6487318" y="173785"/>
                </a:lnTo>
                <a:lnTo>
                  <a:pt x="6482310" y="118444"/>
                </a:lnTo>
                <a:lnTo>
                  <a:pt x="6483815" y="100725"/>
                </a:lnTo>
                <a:lnTo>
                  <a:pt x="6495442" y="53527"/>
                </a:lnTo>
                <a:lnTo>
                  <a:pt x="6515807" y="18840"/>
                </a:lnTo>
                <a:lnTo>
                  <a:pt x="6542424" y="1262"/>
                </a:lnTo>
                <a:lnTo>
                  <a:pt x="6552255" y="0"/>
                </a:lnTo>
              </a:path>
            </a:pathLst>
          </a:custGeom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01953" y="6124928"/>
            <a:ext cx="6552255" cy="2596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01953" y="6124928"/>
            <a:ext cx="6552565" cy="259715"/>
          </a:xfrm>
          <a:custGeom>
            <a:avLst/>
            <a:gdLst/>
            <a:ahLst/>
            <a:cxnLst/>
            <a:rect l="l" t="t" r="r" b="b"/>
            <a:pathLst>
              <a:path w="6552565" h="259714">
                <a:moveTo>
                  <a:pt x="6552255" y="0"/>
                </a:moveTo>
                <a:lnTo>
                  <a:pt x="65982" y="203"/>
                </a:lnTo>
                <a:lnTo>
                  <a:pt x="32404" y="20624"/>
                </a:lnTo>
                <a:lnTo>
                  <a:pt x="13489" y="55196"/>
                </a:lnTo>
                <a:lnTo>
                  <a:pt x="2233" y="103163"/>
                </a:lnTo>
                <a:lnTo>
                  <a:pt x="0" y="141200"/>
                </a:lnTo>
                <a:lnTo>
                  <a:pt x="1504" y="158918"/>
                </a:lnTo>
                <a:lnTo>
                  <a:pt x="13131" y="206116"/>
                </a:lnTo>
                <a:lnTo>
                  <a:pt x="33496" y="240803"/>
                </a:lnTo>
                <a:lnTo>
                  <a:pt x="69944" y="259644"/>
                </a:lnTo>
                <a:lnTo>
                  <a:pt x="6548293" y="259440"/>
                </a:lnTo>
                <a:lnTo>
                  <a:pt x="6539231" y="257397"/>
                </a:lnTo>
                <a:lnTo>
                  <a:pt x="6530564" y="253244"/>
                </a:lnTo>
                <a:lnTo>
                  <a:pt x="6501356" y="217598"/>
                </a:lnTo>
                <a:lnTo>
                  <a:pt x="6487318" y="173785"/>
                </a:lnTo>
                <a:lnTo>
                  <a:pt x="6482310" y="118444"/>
                </a:lnTo>
                <a:lnTo>
                  <a:pt x="6483815" y="100725"/>
                </a:lnTo>
                <a:lnTo>
                  <a:pt x="6495442" y="53527"/>
                </a:lnTo>
                <a:lnTo>
                  <a:pt x="6515807" y="18840"/>
                </a:lnTo>
                <a:lnTo>
                  <a:pt x="6542424" y="1262"/>
                </a:lnTo>
                <a:lnTo>
                  <a:pt x="6552255" y="0"/>
                </a:lnTo>
              </a:path>
            </a:pathLst>
          </a:custGeom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284412" y="6124928"/>
            <a:ext cx="140335" cy="259715"/>
          </a:xfrm>
          <a:custGeom>
            <a:avLst/>
            <a:gdLst/>
            <a:ahLst/>
            <a:cxnLst/>
            <a:rect l="l" t="t" r="r" b="b"/>
            <a:pathLst>
              <a:path w="140334" h="259714">
                <a:moveTo>
                  <a:pt x="69796" y="0"/>
                </a:moveTo>
                <a:lnTo>
                  <a:pt x="31327" y="21924"/>
                </a:lnTo>
                <a:lnTo>
                  <a:pt x="12965" y="56927"/>
                </a:lnTo>
                <a:lnTo>
                  <a:pt x="2102" y="105398"/>
                </a:lnTo>
                <a:lnTo>
                  <a:pt x="0" y="143988"/>
                </a:lnTo>
                <a:lnTo>
                  <a:pt x="1682" y="161339"/>
                </a:lnTo>
                <a:lnTo>
                  <a:pt x="13791" y="207462"/>
                </a:lnTo>
                <a:lnTo>
                  <a:pt x="34939" y="241245"/>
                </a:lnTo>
                <a:lnTo>
                  <a:pt x="73758" y="259440"/>
                </a:lnTo>
                <a:lnTo>
                  <a:pt x="82820" y="257397"/>
                </a:lnTo>
                <a:lnTo>
                  <a:pt x="114365" y="229157"/>
                </a:lnTo>
                <a:lnTo>
                  <a:pt x="130955" y="189808"/>
                </a:lnTo>
                <a:lnTo>
                  <a:pt x="139202" y="137999"/>
                </a:lnTo>
                <a:lnTo>
                  <a:pt x="139741" y="118444"/>
                </a:lnTo>
                <a:lnTo>
                  <a:pt x="138236" y="100725"/>
                </a:lnTo>
                <a:lnTo>
                  <a:pt x="126609" y="53527"/>
                </a:lnTo>
                <a:lnTo>
                  <a:pt x="106244" y="18840"/>
                </a:lnTo>
                <a:lnTo>
                  <a:pt x="69796" y="0"/>
                </a:lnTo>
              </a:path>
            </a:pathLst>
          </a:custGeom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284412" y="6124928"/>
            <a:ext cx="139741" cy="2594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284412" y="6124928"/>
            <a:ext cx="140335" cy="259715"/>
          </a:xfrm>
          <a:custGeom>
            <a:avLst/>
            <a:gdLst/>
            <a:ahLst/>
            <a:cxnLst/>
            <a:rect l="l" t="t" r="r" b="b"/>
            <a:pathLst>
              <a:path w="140334" h="259714">
                <a:moveTo>
                  <a:pt x="69796" y="0"/>
                </a:moveTo>
                <a:lnTo>
                  <a:pt x="31327" y="21924"/>
                </a:lnTo>
                <a:lnTo>
                  <a:pt x="12965" y="56927"/>
                </a:lnTo>
                <a:lnTo>
                  <a:pt x="2102" y="105398"/>
                </a:lnTo>
                <a:lnTo>
                  <a:pt x="0" y="143988"/>
                </a:lnTo>
                <a:lnTo>
                  <a:pt x="1682" y="161339"/>
                </a:lnTo>
                <a:lnTo>
                  <a:pt x="13791" y="207462"/>
                </a:lnTo>
                <a:lnTo>
                  <a:pt x="34939" y="241245"/>
                </a:lnTo>
                <a:lnTo>
                  <a:pt x="73758" y="259440"/>
                </a:lnTo>
                <a:lnTo>
                  <a:pt x="82820" y="257397"/>
                </a:lnTo>
                <a:lnTo>
                  <a:pt x="114365" y="229157"/>
                </a:lnTo>
                <a:lnTo>
                  <a:pt x="130955" y="189808"/>
                </a:lnTo>
                <a:lnTo>
                  <a:pt x="139202" y="137999"/>
                </a:lnTo>
                <a:lnTo>
                  <a:pt x="139741" y="118444"/>
                </a:lnTo>
                <a:lnTo>
                  <a:pt x="138236" y="100725"/>
                </a:lnTo>
                <a:lnTo>
                  <a:pt x="126609" y="53527"/>
                </a:lnTo>
                <a:lnTo>
                  <a:pt x="106244" y="18840"/>
                </a:lnTo>
                <a:lnTo>
                  <a:pt x="69796" y="0"/>
                </a:lnTo>
              </a:path>
            </a:pathLst>
          </a:custGeom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284264" y="6125131"/>
            <a:ext cx="140335" cy="259715"/>
          </a:xfrm>
          <a:custGeom>
            <a:avLst/>
            <a:gdLst/>
            <a:ahLst/>
            <a:cxnLst/>
            <a:rect l="l" t="t" r="r" b="b"/>
            <a:pathLst>
              <a:path w="140334" h="259714">
                <a:moveTo>
                  <a:pt x="69944" y="259440"/>
                </a:moveTo>
                <a:lnTo>
                  <a:pt x="33497" y="240599"/>
                </a:lnTo>
                <a:lnTo>
                  <a:pt x="13131" y="205912"/>
                </a:lnTo>
                <a:lnTo>
                  <a:pt x="1504" y="158714"/>
                </a:lnTo>
                <a:lnTo>
                  <a:pt x="0" y="140996"/>
                </a:lnTo>
                <a:lnTo>
                  <a:pt x="539" y="121441"/>
                </a:lnTo>
                <a:lnTo>
                  <a:pt x="8785" y="69632"/>
                </a:lnTo>
                <a:lnTo>
                  <a:pt x="25375" y="30283"/>
                </a:lnTo>
                <a:lnTo>
                  <a:pt x="56920" y="2042"/>
                </a:lnTo>
                <a:lnTo>
                  <a:pt x="65982" y="0"/>
                </a:lnTo>
                <a:lnTo>
                  <a:pt x="76603" y="1180"/>
                </a:lnTo>
                <a:lnTo>
                  <a:pt x="112732" y="27811"/>
                </a:lnTo>
                <a:lnTo>
                  <a:pt x="131088" y="66199"/>
                </a:lnTo>
                <a:lnTo>
                  <a:pt x="139741" y="115452"/>
                </a:lnTo>
                <a:lnTo>
                  <a:pt x="139252" y="135314"/>
                </a:lnTo>
                <a:lnTo>
                  <a:pt x="131327" y="187731"/>
                </a:lnTo>
                <a:lnTo>
                  <a:pt x="115245" y="227495"/>
                </a:lnTo>
                <a:lnTo>
                  <a:pt x="84523" y="256607"/>
                </a:lnTo>
                <a:lnTo>
                  <a:pt x="69944" y="25944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01953" y="6124928"/>
            <a:ext cx="6552565" cy="259715"/>
          </a:xfrm>
          <a:custGeom>
            <a:avLst/>
            <a:gdLst/>
            <a:ahLst/>
            <a:cxnLst/>
            <a:rect l="l" t="t" r="r" b="b"/>
            <a:pathLst>
              <a:path w="6552565" h="259714">
                <a:moveTo>
                  <a:pt x="6552255" y="259644"/>
                </a:moveTo>
                <a:lnTo>
                  <a:pt x="69944" y="259644"/>
                </a:lnTo>
                <a:lnTo>
                  <a:pt x="60113" y="258381"/>
                </a:lnTo>
                <a:lnTo>
                  <a:pt x="25891" y="230915"/>
                </a:lnTo>
                <a:lnTo>
                  <a:pt x="8162" y="191546"/>
                </a:lnTo>
                <a:lnTo>
                  <a:pt x="0" y="141200"/>
                </a:lnTo>
                <a:lnTo>
                  <a:pt x="539" y="121645"/>
                </a:lnTo>
                <a:lnTo>
                  <a:pt x="8785" y="69835"/>
                </a:lnTo>
                <a:lnTo>
                  <a:pt x="25375" y="30487"/>
                </a:lnTo>
                <a:lnTo>
                  <a:pt x="56920" y="2246"/>
                </a:lnTo>
                <a:lnTo>
                  <a:pt x="65982" y="203"/>
                </a:lnTo>
                <a:lnTo>
                  <a:pt x="6552255" y="0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988359" y="4309964"/>
            <a:ext cx="1899161" cy="18217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275895" y="5454278"/>
            <a:ext cx="132270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图形控制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器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048125" y="5800371"/>
            <a:ext cx="325120" cy="325120"/>
          </a:xfrm>
          <a:custGeom>
            <a:avLst/>
            <a:gdLst/>
            <a:ahLst/>
            <a:cxnLst/>
            <a:rect l="l" t="t" r="r" b="b"/>
            <a:pathLst>
              <a:path w="325120" h="325120">
                <a:moveTo>
                  <a:pt x="324643" y="259645"/>
                </a:moveTo>
                <a:lnTo>
                  <a:pt x="0" y="259645"/>
                </a:lnTo>
                <a:lnTo>
                  <a:pt x="162321" y="324556"/>
                </a:lnTo>
                <a:lnTo>
                  <a:pt x="324643" y="259645"/>
                </a:lnTo>
                <a:close/>
              </a:path>
              <a:path w="325120" h="325120">
                <a:moveTo>
                  <a:pt x="243483" y="64910"/>
                </a:moveTo>
                <a:lnTo>
                  <a:pt x="81160" y="64910"/>
                </a:lnTo>
                <a:lnTo>
                  <a:pt x="81160" y="259645"/>
                </a:lnTo>
                <a:lnTo>
                  <a:pt x="243483" y="259645"/>
                </a:lnTo>
                <a:lnTo>
                  <a:pt x="243483" y="64910"/>
                </a:lnTo>
                <a:close/>
              </a:path>
              <a:path w="325120" h="325120">
                <a:moveTo>
                  <a:pt x="162321" y="0"/>
                </a:moveTo>
                <a:lnTo>
                  <a:pt x="0" y="64910"/>
                </a:lnTo>
                <a:lnTo>
                  <a:pt x="324643" y="64910"/>
                </a:lnTo>
                <a:lnTo>
                  <a:pt x="162321" y="0"/>
                </a:lnTo>
                <a:close/>
              </a:path>
            </a:pathLst>
          </a:custGeom>
          <a:solidFill>
            <a:srgbClr val="CC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048125" y="5800371"/>
            <a:ext cx="325120" cy="325120"/>
          </a:xfrm>
          <a:custGeom>
            <a:avLst/>
            <a:gdLst/>
            <a:ahLst/>
            <a:cxnLst/>
            <a:rect l="l" t="t" r="r" b="b"/>
            <a:pathLst>
              <a:path w="325120" h="325120">
                <a:moveTo>
                  <a:pt x="0" y="64911"/>
                </a:moveTo>
                <a:lnTo>
                  <a:pt x="162321" y="0"/>
                </a:lnTo>
                <a:lnTo>
                  <a:pt x="324643" y="64911"/>
                </a:lnTo>
                <a:lnTo>
                  <a:pt x="243482" y="64911"/>
                </a:lnTo>
                <a:lnTo>
                  <a:pt x="243482" y="259644"/>
                </a:lnTo>
                <a:lnTo>
                  <a:pt x="324643" y="259644"/>
                </a:lnTo>
                <a:lnTo>
                  <a:pt x="162321" y="324555"/>
                </a:lnTo>
                <a:lnTo>
                  <a:pt x="0" y="259644"/>
                </a:lnTo>
                <a:lnTo>
                  <a:pt x="81160" y="259644"/>
                </a:lnTo>
                <a:lnTo>
                  <a:pt x="81160" y="64911"/>
                </a:lnTo>
                <a:lnTo>
                  <a:pt x="0" y="64911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333908" y="5394678"/>
            <a:ext cx="1753235" cy="405765"/>
          </a:xfrm>
          <a:custGeom>
            <a:avLst/>
            <a:gdLst/>
            <a:ahLst/>
            <a:cxnLst/>
            <a:rect l="l" t="t" r="r" b="b"/>
            <a:pathLst>
              <a:path w="1753235" h="405764">
                <a:moveTo>
                  <a:pt x="0" y="0"/>
                </a:moveTo>
                <a:lnTo>
                  <a:pt x="1753076" y="0"/>
                </a:lnTo>
                <a:lnTo>
                  <a:pt x="1753076" y="405694"/>
                </a:lnTo>
                <a:lnTo>
                  <a:pt x="0" y="405694"/>
                </a:lnTo>
                <a:lnTo>
                  <a:pt x="0" y="0"/>
                </a:lnTo>
                <a:close/>
              </a:path>
            </a:pathLst>
          </a:custGeom>
          <a:ln w="1622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548419" y="5454278"/>
            <a:ext cx="132270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总线控制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器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853372" y="4810478"/>
            <a:ext cx="1991418" cy="25964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823610" y="4810478"/>
            <a:ext cx="42398" cy="25839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823487" y="4811730"/>
            <a:ext cx="43180" cy="258445"/>
          </a:xfrm>
          <a:custGeom>
            <a:avLst/>
            <a:gdLst/>
            <a:ahLst/>
            <a:cxnLst/>
            <a:rect l="l" t="t" r="r" b="b"/>
            <a:pathLst>
              <a:path w="43179" h="258445">
                <a:moveTo>
                  <a:pt x="21304" y="258391"/>
                </a:moveTo>
                <a:lnTo>
                  <a:pt x="6622" y="222780"/>
                </a:lnTo>
                <a:lnTo>
                  <a:pt x="1366" y="174920"/>
                </a:lnTo>
                <a:lnTo>
                  <a:pt x="0" y="135981"/>
                </a:lnTo>
                <a:lnTo>
                  <a:pt x="225" y="114834"/>
                </a:lnTo>
                <a:lnTo>
                  <a:pt x="1984" y="76380"/>
                </a:lnTo>
                <a:lnTo>
                  <a:pt x="7386" y="30855"/>
                </a:lnTo>
                <a:lnTo>
                  <a:pt x="18331" y="0"/>
                </a:lnTo>
                <a:lnTo>
                  <a:pt x="22403" y="1218"/>
                </a:lnTo>
                <a:lnTo>
                  <a:pt x="37724" y="47493"/>
                </a:lnTo>
                <a:lnTo>
                  <a:pt x="42072" y="98851"/>
                </a:lnTo>
                <a:lnTo>
                  <a:pt x="42579" y="118477"/>
                </a:lnTo>
                <a:lnTo>
                  <a:pt x="42369" y="139897"/>
                </a:lnTo>
                <a:lnTo>
                  <a:pt x="40684" y="178710"/>
                </a:lnTo>
                <a:lnTo>
                  <a:pt x="35472" y="224621"/>
                </a:lnTo>
                <a:lnTo>
                  <a:pt x="21304" y="258391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853372" y="4810478"/>
            <a:ext cx="1991995" cy="259715"/>
          </a:xfrm>
          <a:custGeom>
            <a:avLst/>
            <a:gdLst/>
            <a:ahLst/>
            <a:cxnLst/>
            <a:rect l="l" t="t" r="r" b="b"/>
            <a:pathLst>
              <a:path w="1991995" h="259714">
                <a:moveTo>
                  <a:pt x="1991418" y="259644"/>
                </a:moveTo>
                <a:lnTo>
                  <a:pt x="21304" y="259644"/>
                </a:lnTo>
                <a:lnTo>
                  <a:pt x="17960" y="258059"/>
                </a:lnTo>
                <a:lnTo>
                  <a:pt x="4495" y="209806"/>
                </a:lnTo>
                <a:lnTo>
                  <a:pt x="442" y="157246"/>
                </a:lnTo>
                <a:lnTo>
                  <a:pt x="0" y="137234"/>
                </a:lnTo>
                <a:lnTo>
                  <a:pt x="225" y="116087"/>
                </a:lnTo>
                <a:lnTo>
                  <a:pt x="1984" y="77633"/>
                </a:lnTo>
                <a:lnTo>
                  <a:pt x="7386" y="32108"/>
                </a:lnTo>
                <a:lnTo>
                  <a:pt x="18331" y="1252"/>
                </a:lnTo>
                <a:lnTo>
                  <a:pt x="1991418" y="0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048125" y="5070121"/>
            <a:ext cx="325120" cy="325120"/>
          </a:xfrm>
          <a:custGeom>
            <a:avLst/>
            <a:gdLst/>
            <a:ahLst/>
            <a:cxnLst/>
            <a:rect l="l" t="t" r="r" b="b"/>
            <a:pathLst>
              <a:path w="325120" h="325120">
                <a:moveTo>
                  <a:pt x="324643" y="259645"/>
                </a:moveTo>
                <a:lnTo>
                  <a:pt x="0" y="259645"/>
                </a:lnTo>
                <a:lnTo>
                  <a:pt x="162321" y="324556"/>
                </a:lnTo>
                <a:lnTo>
                  <a:pt x="324643" y="259645"/>
                </a:lnTo>
                <a:close/>
              </a:path>
              <a:path w="325120" h="325120">
                <a:moveTo>
                  <a:pt x="243483" y="64910"/>
                </a:moveTo>
                <a:lnTo>
                  <a:pt x="81160" y="64910"/>
                </a:lnTo>
                <a:lnTo>
                  <a:pt x="81160" y="259645"/>
                </a:lnTo>
                <a:lnTo>
                  <a:pt x="243483" y="259645"/>
                </a:lnTo>
                <a:lnTo>
                  <a:pt x="243483" y="64910"/>
                </a:lnTo>
                <a:close/>
              </a:path>
              <a:path w="325120" h="325120">
                <a:moveTo>
                  <a:pt x="162321" y="0"/>
                </a:moveTo>
                <a:lnTo>
                  <a:pt x="0" y="64910"/>
                </a:lnTo>
                <a:lnTo>
                  <a:pt x="324643" y="64910"/>
                </a:lnTo>
                <a:lnTo>
                  <a:pt x="162321" y="0"/>
                </a:lnTo>
                <a:close/>
              </a:path>
            </a:pathLst>
          </a:custGeom>
          <a:solidFill>
            <a:srgbClr val="FF66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048125" y="5070121"/>
            <a:ext cx="325120" cy="325120"/>
          </a:xfrm>
          <a:custGeom>
            <a:avLst/>
            <a:gdLst/>
            <a:ahLst/>
            <a:cxnLst/>
            <a:rect l="l" t="t" r="r" b="b"/>
            <a:pathLst>
              <a:path w="325120" h="325120">
                <a:moveTo>
                  <a:pt x="0" y="64911"/>
                </a:moveTo>
                <a:lnTo>
                  <a:pt x="162321" y="0"/>
                </a:lnTo>
                <a:lnTo>
                  <a:pt x="324643" y="64911"/>
                </a:lnTo>
                <a:lnTo>
                  <a:pt x="243482" y="64911"/>
                </a:lnTo>
                <a:lnTo>
                  <a:pt x="243482" y="259644"/>
                </a:lnTo>
                <a:lnTo>
                  <a:pt x="324643" y="259644"/>
                </a:lnTo>
                <a:lnTo>
                  <a:pt x="162321" y="324555"/>
                </a:lnTo>
                <a:lnTo>
                  <a:pt x="0" y="259644"/>
                </a:lnTo>
                <a:lnTo>
                  <a:pt x="81160" y="259644"/>
                </a:lnTo>
                <a:lnTo>
                  <a:pt x="81160" y="64911"/>
                </a:lnTo>
                <a:lnTo>
                  <a:pt x="0" y="64911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724900" y="3973407"/>
            <a:ext cx="958126" cy="84112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042490" y="4296544"/>
            <a:ext cx="836197" cy="51799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593623" y="3901721"/>
            <a:ext cx="2727325" cy="1233805"/>
          </a:xfrm>
          <a:custGeom>
            <a:avLst/>
            <a:gdLst/>
            <a:ahLst/>
            <a:cxnLst/>
            <a:rect l="l" t="t" r="r" b="b"/>
            <a:pathLst>
              <a:path w="2727325" h="1233804">
                <a:moveTo>
                  <a:pt x="0" y="205555"/>
                </a:moveTo>
                <a:lnTo>
                  <a:pt x="5975" y="156158"/>
                </a:lnTo>
                <a:lnTo>
                  <a:pt x="22949" y="111090"/>
                </a:lnTo>
                <a:lnTo>
                  <a:pt x="49494" y="71782"/>
                </a:lnTo>
                <a:lnTo>
                  <a:pt x="84179" y="39660"/>
                </a:lnTo>
                <a:lnTo>
                  <a:pt x="125577" y="16153"/>
                </a:lnTo>
                <a:lnTo>
                  <a:pt x="172259" y="2690"/>
                </a:lnTo>
                <a:lnTo>
                  <a:pt x="205611" y="0"/>
                </a:lnTo>
                <a:lnTo>
                  <a:pt x="2521396" y="0"/>
                </a:lnTo>
                <a:lnTo>
                  <a:pt x="2570807" y="5973"/>
                </a:lnTo>
                <a:lnTo>
                  <a:pt x="2615886" y="22943"/>
                </a:lnTo>
                <a:lnTo>
                  <a:pt x="2655206" y="49480"/>
                </a:lnTo>
                <a:lnTo>
                  <a:pt x="2687336" y="84157"/>
                </a:lnTo>
                <a:lnTo>
                  <a:pt x="2710849" y="125543"/>
                </a:lnTo>
                <a:lnTo>
                  <a:pt x="2724316" y="172213"/>
                </a:lnTo>
                <a:lnTo>
                  <a:pt x="2727007" y="205555"/>
                </a:lnTo>
                <a:lnTo>
                  <a:pt x="2727007" y="1027755"/>
                </a:lnTo>
                <a:lnTo>
                  <a:pt x="2721031" y="1077153"/>
                </a:lnTo>
                <a:lnTo>
                  <a:pt x="2704057" y="1122220"/>
                </a:lnTo>
                <a:lnTo>
                  <a:pt x="2677513" y="1161528"/>
                </a:lnTo>
                <a:lnTo>
                  <a:pt x="2642827" y="1193650"/>
                </a:lnTo>
                <a:lnTo>
                  <a:pt x="2601429" y="1217157"/>
                </a:lnTo>
                <a:lnTo>
                  <a:pt x="2554747" y="1230620"/>
                </a:lnTo>
                <a:lnTo>
                  <a:pt x="2521396" y="1233311"/>
                </a:lnTo>
                <a:lnTo>
                  <a:pt x="205611" y="1233311"/>
                </a:lnTo>
                <a:lnTo>
                  <a:pt x="156200" y="1227337"/>
                </a:lnTo>
                <a:lnTo>
                  <a:pt x="111120" y="1210367"/>
                </a:lnTo>
                <a:lnTo>
                  <a:pt x="71801" y="1183830"/>
                </a:lnTo>
                <a:lnTo>
                  <a:pt x="39671" y="1149153"/>
                </a:lnTo>
                <a:lnTo>
                  <a:pt x="16157" y="1107767"/>
                </a:lnTo>
                <a:lnTo>
                  <a:pt x="2691" y="1061097"/>
                </a:lnTo>
                <a:lnTo>
                  <a:pt x="0" y="1027755"/>
                </a:lnTo>
                <a:lnTo>
                  <a:pt x="0" y="205555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557867" y="4546600"/>
            <a:ext cx="4326467" cy="17907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639468" y="4553988"/>
            <a:ext cx="4186554" cy="1687830"/>
          </a:xfrm>
          <a:custGeom>
            <a:avLst/>
            <a:gdLst/>
            <a:ahLst/>
            <a:cxnLst/>
            <a:rect l="l" t="t" r="r" b="b"/>
            <a:pathLst>
              <a:path w="4186554" h="1687829">
                <a:moveTo>
                  <a:pt x="101601" y="735111"/>
                </a:moveTo>
                <a:lnTo>
                  <a:pt x="53567" y="735111"/>
                </a:lnTo>
                <a:lnTo>
                  <a:pt x="37661" y="816065"/>
                </a:lnTo>
                <a:lnTo>
                  <a:pt x="24707" y="889679"/>
                </a:lnTo>
                <a:lnTo>
                  <a:pt x="13774" y="962275"/>
                </a:lnTo>
                <a:lnTo>
                  <a:pt x="5548" y="1033490"/>
                </a:lnTo>
                <a:lnTo>
                  <a:pt x="721" y="1102967"/>
                </a:lnTo>
                <a:lnTo>
                  <a:pt x="0" y="1170350"/>
                </a:lnTo>
                <a:lnTo>
                  <a:pt x="4104" y="1235282"/>
                </a:lnTo>
                <a:lnTo>
                  <a:pt x="13681" y="1297038"/>
                </a:lnTo>
                <a:lnTo>
                  <a:pt x="29594" y="1355873"/>
                </a:lnTo>
                <a:lnTo>
                  <a:pt x="52547" y="1411046"/>
                </a:lnTo>
                <a:lnTo>
                  <a:pt x="83251" y="1462054"/>
                </a:lnTo>
                <a:lnTo>
                  <a:pt x="122345" y="1508372"/>
                </a:lnTo>
                <a:lnTo>
                  <a:pt x="170397" y="1549492"/>
                </a:lnTo>
                <a:lnTo>
                  <a:pt x="227938" y="1584985"/>
                </a:lnTo>
                <a:lnTo>
                  <a:pt x="295589" y="1614510"/>
                </a:lnTo>
                <a:lnTo>
                  <a:pt x="334542" y="1627068"/>
                </a:lnTo>
                <a:lnTo>
                  <a:pt x="378222" y="1638326"/>
                </a:lnTo>
                <a:lnTo>
                  <a:pt x="426349" y="1648336"/>
                </a:lnTo>
                <a:lnTo>
                  <a:pt x="478631" y="1657136"/>
                </a:lnTo>
                <a:lnTo>
                  <a:pt x="534770" y="1664757"/>
                </a:lnTo>
                <a:lnTo>
                  <a:pt x="594461" y="1671229"/>
                </a:lnTo>
                <a:lnTo>
                  <a:pt x="657400" y="1676576"/>
                </a:lnTo>
                <a:lnTo>
                  <a:pt x="723275" y="1680823"/>
                </a:lnTo>
                <a:lnTo>
                  <a:pt x="791775" y="1683995"/>
                </a:lnTo>
                <a:lnTo>
                  <a:pt x="862589" y="1686114"/>
                </a:lnTo>
                <a:lnTo>
                  <a:pt x="935400" y="1687205"/>
                </a:lnTo>
                <a:lnTo>
                  <a:pt x="1009975" y="1687286"/>
                </a:lnTo>
                <a:lnTo>
                  <a:pt x="1162763" y="1684521"/>
                </a:lnTo>
                <a:lnTo>
                  <a:pt x="1318520" y="1677997"/>
                </a:lnTo>
                <a:lnTo>
                  <a:pt x="1474722" y="1667894"/>
                </a:lnTo>
                <a:lnTo>
                  <a:pt x="1531160" y="1662949"/>
                </a:lnTo>
                <a:lnTo>
                  <a:pt x="1009534" y="1662949"/>
                </a:lnTo>
                <a:lnTo>
                  <a:pt x="935428" y="1662863"/>
                </a:lnTo>
                <a:lnTo>
                  <a:pt x="862953" y="1661775"/>
                </a:lnTo>
                <a:lnTo>
                  <a:pt x="792504" y="1659665"/>
                </a:lnTo>
                <a:lnTo>
                  <a:pt x="724401" y="1656507"/>
                </a:lnTo>
                <a:lnTo>
                  <a:pt x="658967" y="1652285"/>
                </a:lnTo>
                <a:lnTo>
                  <a:pt x="596524" y="1646975"/>
                </a:lnTo>
                <a:lnTo>
                  <a:pt x="537395" y="1640559"/>
                </a:lnTo>
                <a:lnTo>
                  <a:pt x="481909" y="1633016"/>
                </a:lnTo>
                <a:lnTo>
                  <a:pt x="430394" y="1624333"/>
                </a:lnTo>
                <a:lnTo>
                  <a:pt x="383186" y="1614496"/>
                </a:lnTo>
                <a:lnTo>
                  <a:pt x="340627" y="1603499"/>
                </a:lnTo>
                <a:lnTo>
                  <a:pt x="303074" y="1591348"/>
                </a:lnTo>
                <a:lnTo>
                  <a:pt x="238448" y="1563028"/>
                </a:lnTo>
                <a:lnTo>
                  <a:pt x="183979" y="1529290"/>
                </a:lnTo>
                <a:lnTo>
                  <a:pt x="138937" y="1490558"/>
                </a:lnTo>
                <a:lnTo>
                  <a:pt x="102505" y="1447154"/>
                </a:lnTo>
                <a:lnTo>
                  <a:pt x="73894" y="1399338"/>
                </a:lnTo>
                <a:lnTo>
                  <a:pt x="52396" y="1347335"/>
                </a:lnTo>
                <a:lnTo>
                  <a:pt x="37369" y="1291405"/>
                </a:lnTo>
                <a:lnTo>
                  <a:pt x="28167" y="1231567"/>
                </a:lnTo>
                <a:lnTo>
                  <a:pt x="24301" y="1168834"/>
                </a:lnTo>
                <a:lnTo>
                  <a:pt x="25068" y="1103238"/>
                </a:lnTo>
                <a:lnTo>
                  <a:pt x="29837" y="1035184"/>
                </a:lnTo>
                <a:lnTo>
                  <a:pt x="37961" y="965073"/>
                </a:lnTo>
                <a:lnTo>
                  <a:pt x="48784" y="893306"/>
                </a:lnTo>
                <a:lnTo>
                  <a:pt x="61640" y="820282"/>
                </a:lnTo>
                <a:lnTo>
                  <a:pt x="77457" y="739802"/>
                </a:lnTo>
                <a:lnTo>
                  <a:pt x="103230" y="739802"/>
                </a:lnTo>
                <a:lnTo>
                  <a:pt x="101601" y="735111"/>
                </a:lnTo>
                <a:close/>
              </a:path>
              <a:path w="4186554" h="1687829">
                <a:moveTo>
                  <a:pt x="3155857" y="522874"/>
                </a:moveTo>
                <a:lnTo>
                  <a:pt x="3075438" y="525771"/>
                </a:lnTo>
                <a:lnTo>
                  <a:pt x="2999242" y="533175"/>
                </a:lnTo>
                <a:lnTo>
                  <a:pt x="2928142" y="546129"/>
                </a:lnTo>
                <a:lnTo>
                  <a:pt x="2863799" y="565614"/>
                </a:lnTo>
                <a:lnTo>
                  <a:pt x="2807182" y="592782"/>
                </a:lnTo>
                <a:lnTo>
                  <a:pt x="2760235" y="629272"/>
                </a:lnTo>
                <a:lnTo>
                  <a:pt x="2723927" y="674554"/>
                </a:lnTo>
                <a:lnTo>
                  <a:pt x="2696811" y="726887"/>
                </a:lnTo>
                <a:lnTo>
                  <a:pt x="2677001" y="784790"/>
                </a:lnTo>
                <a:lnTo>
                  <a:pt x="2662615" y="846782"/>
                </a:lnTo>
                <a:lnTo>
                  <a:pt x="2651659" y="912296"/>
                </a:lnTo>
                <a:lnTo>
                  <a:pt x="2642444" y="979853"/>
                </a:lnTo>
                <a:lnTo>
                  <a:pt x="2633220" y="1048311"/>
                </a:lnTo>
                <a:lnTo>
                  <a:pt x="2622279" y="1116505"/>
                </a:lnTo>
                <a:lnTo>
                  <a:pt x="2607938" y="1183248"/>
                </a:lnTo>
                <a:lnTo>
                  <a:pt x="2588639" y="1247061"/>
                </a:lnTo>
                <a:lnTo>
                  <a:pt x="2562665" y="1307247"/>
                </a:lnTo>
                <a:lnTo>
                  <a:pt x="2528476" y="1362504"/>
                </a:lnTo>
                <a:lnTo>
                  <a:pt x="2484443" y="1411832"/>
                </a:lnTo>
                <a:lnTo>
                  <a:pt x="2428802" y="1454304"/>
                </a:lnTo>
                <a:lnTo>
                  <a:pt x="2359633" y="1488942"/>
                </a:lnTo>
                <a:lnTo>
                  <a:pt x="2318710" y="1503968"/>
                </a:lnTo>
                <a:lnTo>
                  <a:pt x="2272869" y="1518577"/>
                </a:lnTo>
                <a:lnTo>
                  <a:pt x="2222613" y="1532653"/>
                </a:lnTo>
                <a:lnTo>
                  <a:pt x="2168281" y="1546157"/>
                </a:lnTo>
                <a:lnTo>
                  <a:pt x="2110206" y="1559055"/>
                </a:lnTo>
                <a:lnTo>
                  <a:pt x="2048718" y="1571320"/>
                </a:lnTo>
                <a:lnTo>
                  <a:pt x="1984141" y="1582924"/>
                </a:lnTo>
                <a:lnTo>
                  <a:pt x="1916800" y="1593843"/>
                </a:lnTo>
                <a:lnTo>
                  <a:pt x="1847016" y="1604053"/>
                </a:lnTo>
                <a:lnTo>
                  <a:pt x="1775112" y="1613528"/>
                </a:lnTo>
                <a:lnTo>
                  <a:pt x="1701405" y="1622248"/>
                </a:lnTo>
                <a:lnTo>
                  <a:pt x="1626214" y="1630188"/>
                </a:lnTo>
                <a:lnTo>
                  <a:pt x="1472596" y="1643646"/>
                </a:lnTo>
                <a:lnTo>
                  <a:pt x="1316948" y="1653707"/>
                </a:lnTo>
                <a:lnTo>
                  <a:pt x="1161745" y="1660201"/>
                </a:lnTo>
                <a:lnTo>
                  <a:pt x="1009534" y="1662949"/>
                </a:lnTo>
                <a:lnTo>
                  <a:pt x="1531160" y="1662949"/>
                </a:lnTo>
                <a:lnTo>
                  <a:pt x="1628773" y="1654395"/>
                </a:lnTo>
                <a:lnTo>
                  <a:pt x="1704266" y="1646421"/>
                </a:lnTo>
                <a:lnTo>
                  <a:pt x="1778294" y="1637661"/>
                </a:lnTo>
                <a:lnTo>
                  <a:pt x="1850543" y="1628137"/>
                </a:lnTo>
                <a:lnTo>
                  <a:pt x="1920699" y="1617870"/>
                </a:lnTo>
                <a:lnTo>
                  <a:pt x="1988450" y="1606881"/>
                </a:lnTo>
                <a:lnTo>
                  <a:pt x="2053483" y="1595191"/>
                </a:lnTo>
                <a:lnTo>
                  <a:pt x="2115488" y="1582817"/>
                </a:lnTo>
                <a:lnTo>
                  <a:pt x="2174157" y="1569779"/>
                </a:lnTo>
                <a:lnTo>
                  <a:pt x="2229185" y="1556091"/>
                </a:lnTo>
                <a:lnTo>
                  <a:pt x="2280269" y="1541767"/>
                </a:lnTo>
                <a:lnTo>
                  <a:pt x="2327118" y="1526811"/>
                </a:lnTo>
                <a:lnTo>
                  <a:pt x="2369600" y="1511151"/>
                </a:lnTo>
                <a:lnTo>
                  <a:pt x="2407969" y="1493885"/>
                </a:lnTo>
                <a:lnTo>
                  <a:pt x="2442684" y="1474302"/>
                </a:lnTo>
                <a:lnTo>
                  <a:pt x="2501874" y="1428827"/>
                </a:lnTo>
                <a:lnTo>
                  <a:pt x="2548665" y="1376112"/>
                </a:lnTo>
                <a:lnTo>
                  <a:pt x="2584701" y="1317599"/>
                </a:lnTo>
                <a:lnTo>
                  <a:pt x="2611771" y="1254659"/>
                </a:lnTo>
                <a:lnTo>
                  <a:pt x="2631744" y="1188354"/>
                </a:lnTo>
                <a:lnTo>
                  <a:pt x="2646320" y="1120358"/>
                </a:lnTo>
                <a:lnTo>
                  <a:pt x="2657351" y="1051560"/>
                </a:lnTo>
                <a:lnTo>
                  <a:pt x="2666569" y="983140"/>
                </a:lnTo>
                <a:lnTo>
                  <a:pt x="2675676" y="916302"/>
                </a:lnTo>
                <a:lnTo>
                  <a:pt x="2686337" y="852272"/>
                </a:lnTo>
                <a:lnTo>
                  <a:pt x="2700275" y="791941"/>
                </a:lnTo>
                <a:lnTo>
                  <a:pt x="2718908" y="737109"/>
                </a:lnTo>
                <a:lnTo>
                  <a:pt x="2743770" y="688662"/>
                </a:lnTo>
                <a:lnTo>
                  <a:pt x="2776386" y="647487"/>
                </a:lnTo>
                <a:lnTo>
                  <a:pt x="2818723" y="614216"/>
                </a:lnTo>
                <a:lnTo>
                  <a:pt x="2871654" y="588655"/>
                </a:lnTo>
                <a:lnTo>
                  <a:pt x="2933113" y="569958"/>
                </a:lnTo>
                <a:lnTo>
                  <a:pt x="3001604" y="557401"/>
                </a:lnTo>
                <a:lnTo>
                  <a:pt x="3076319" y="550097"/>
                </a:lnTo>
                <a:lnTo>
                  <a:pt x="3155670" y="547215"/>
                </a:lnTo>
                <a:lnTo>
                  <a:pt x="3673122" y="547215"/>
                </a:lnTo>
                <a:lnTo>
                  <a:pt x="3659378" y="546830"/>
                </a:lnTo>
                <a:lnTo>
                  <a:pt x="3579107" y="542616"/>
                </a:lnTo>
                <a:lnTo>
                  <a:pt x="3324579" y="526757"/>
                </a:lnTo>
                <a:lnTo>
                  <a:pt x="3239306" y="523519"/>
                </a:lnTo>
                <a:lnTo>
                  <a:pt x="3155857" y="522874"/>
                </a:lnTo>
                <a:close/>
              </a:path>
              <a:path w="4186554" h="1687829">
                <a:moveTo>
                  <a:pt x="103230" y="739802"/>
                </a:moveTo>
                <a:lnTo>
                  <a:pt x="77457" y="739802"/>
                </a:lnTo>
                <a:lnTo>
                  <a:pt x="92626" y="783492"/>
                </a:lnTo>
                <a:lnTo>
                  <a:pt x="99562" y="786852"/>
                </a:lnTo>
                <a:lnTo>
                  <a:pt x="112265" y="782444"/>
                </a:lnTo>
                <a:lnTo>
                  <a:pt x="115628" y="775510"/>
                </a:lnTo>
                <a:lnTo>
                  <a:pt x="103230" y="739802"/>
                </a:lnTo>
                <a:close/>
              </a:path>
              <a:path w="4186554" h="1687829">
                <a:moveTo>
                  <a:pt x="78849" y="669583"/>
                </a:moveTo>
                <a:lnTo>
                  <a:pt x="4721" y="753728"/>
                </a:lnTo>
                <a:lnTo>
                  <a:pt x="5209" y="761419"/>
                </a:lnTo>
                <a:lnTo>
                  <a:pt x="15300" y="770304"/>
                </a:lnTo>
                <a:lnTo>
                  <a:pt x="22993" y="769816"/>
                </a:lnTo>
                <a:lnTo>
                  <a:pt x="53567" y="735111"/>
                </a:lnTo>
                <a:lnTo>
                  <a:pt x="101601" y="735111"/>
                </a:lnTo>
                <a:lnTo>
                  <a:pt x="78849" y="669583"/>
                </a:lnTo>
                <a:close/>
              </a:path>
              <a:path w="4186554" h="1687829">
                <a:moveTo>
                  <a:pt x="3673122" y="547215"/>
                </a:moveTo>
                <a:lnTo>
                  <a:pt x="3155670" y="547215"/>
                </a:lnTo>
                <a:lnTo>
                  <a:pt x="3238383" y="547843"/>
                </a:lnTo>
                <a:lnTo>
                  <a:pt x="3323196" y="551059"/>
                </a:lnTo>
                <a:lnTo>
                  <a:pt x="3577831" y="566924"/>
                </a:lnTo>
                <a:lnTo>
                  <a:pt x="3658697" y="571162"/>
                </a:lnTo>
                <a:lnTo>
                  <a:pt x="3735409" y="573299"/>
                </a:lnTo>
                <a:lnTo>
                  <a:pt x="3771939" y="573285"/>
                </a:lnTo>
                <a:lnTo>
                  <a:pt x="3840542" y="570473"/>
                </a:lnTo>
                <a:lnTo>
                  <a:pt x="3902299" y="563087"/>
                </a:lnTo>
                <a:lnTo>
                  <a:pt x="3956174" y="549963"/>
                </a:lnTo>
                <a:lnTo>
                  <a:pt x="3958773" y="548958"/>
                </a:lnTo>
                <a:lnTo>
                  <a:pt x="3735402" y="548958"/>
                </a:lnTo>
                <a:lnTo>
                  <a:pt x="3673122" y="547215"/>
                </a:lnTo>
                <a:close/>
              </a:path>
              <a:path w="4186554" h="1687829">
                <a:moveTo>
                  <a:pt x="4177450" y="0"/>
                </a:moveTo>
                <a:lnTo>
                  <a:pt x="4153169" y="1803"/>
                </a:lnTo>
                <a:lnTo>
                  <a:pt x="4159126" y="81958"/>
                </a:lnTo>
                <a:lnTo>
                  <a:pt x="4162216" y="160356"/>
                </a:lnTo>
                <a:lnTo>
                  <a:pt x="4161797" y="198493"/>
                </a:lnTo>
                <a:lnTo>
                  <a:pt x="4155415" y="271263"/>
                </a:lnTo>
                <a:lnTo>
                  <a:pt x="4139364" y="339022"/>
                </a:lnTo>
                <a:lnTo>
                  <a:pt x="4111103" y="400273"/>
                </a:lnTo>
                <a:lnTo>
                  <a:pt x="4067987" y="454092"/>
                </a:lnTo>
                <a:lnTo>
                  <a:pt x="4006964" y="499731"/>
                </a:lnTo>
                <a:lnTo>
                  <a:pt x="3968682" y="519170"/>
                </a:lnTo>
                <a:lnTo>
                  <a:pt x="3923668" y="533899"/>
                </a:lnTo>
                <a:lnTo>
                  <a:pt x="3868873" y="543326"/>
                </a:lnTo>
                <a:lnTo>
                  <a:pt x="3805650" y="548082"/>
                </a:lnTo>
                <a:lnTo>
                  <a:pt x="3735402" y="548958"/>
                </a:lnTo>
                <a:lnTo>
                  <a:pt x="3958793" y="548951"/>
                </a:lnTo>
                <a:lnTo>
                  <a:pt x="4020421" y="520016"/>
                </a:lnTo>
                <a:lnTo>
                  <a:pt x="4055760" y="496477"/>
                </a:lnTo>
                <a:lnTo>
                  <a:pt x="4086047" y="470419"/>
                </a:lnTo>
                <a:lnTo>
                  <a:pt x="4111565" y="442062"/>
                </a:lnTo>
                <a:lnTo>
                  <a:pt x="4149581" y="379427"/>
                </a:lnTo>
                <a:lnTo>
                  <a:pt x="4172672" y="310459"/>
                </a:lnTo>
                <a:lnTo>
                  <a:pt x="4183966" y="236726"/>
                </a:lnTo>
                <a:lnTo>
                  <a:pt x="4186161" y="198243"/>
                </a:lnTo>
                <a:lnTo>
                  <a:pt x="4186546" y="159395"/>
                </a:lnTo>
                <a:lnTo>
                  <a:pt x="4183407" y="80154"/>
                </a:lnTo>
                <a:lnTo>
                  <a:pt x="4177450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347674" y="4476225"/>
            <a:ext cx="989965" cy="290195"/>
          </a:xfrm>
          <a:custGeom>
            <a:avLst/>
            <a:gdLst/>
            <a:ahLst/>
            <a:cxnLst/>
            <a:rect l="l" t="t" r="r" b="b"/>
            <a:pathLst>
              <a:path w="989964" h="290195">
                <a:moveTo>
                  <a:pt x="42934" y="0"/>
                </a:moveTo>
                <a:lnTo>
                  <a:pt x="27407" y="35962"/>
                </a:lnTo>
                <a:lnTo>
                  <a:pt x="13714" y="71720"/>
                </a:lnTo>
                <a:lnTo>
                  <a:pt x="994" y="124341"/>
                </a:lnTo>
                <a:lnTo>
                  <a:pt x="0" y="141292"/>
                </a:lnTo>
                <a:lnTo>
                  <a:pt x="1184" y="158457"/>
                </a:lnTo>
                <a:lnTo>
                  <a:pt x="21238" y="204776"/>
                </a:lnTo>
                <a:lnTo>
                  <a:pt x="50432" y="230075"/>
                </a:lnTo>
                <a:lnTo>
                  <a:pt x="93068" y="249598"/>
                </a:lnTo>
                <a:lnTo>
                  <a:pt x="139208" y="261255"/>
                </a:lnTo>
                <a:lnTo>
                  <a:pt x="198652" y="270700"/>
                </a:lnTo>
                <a:lnTo>
                  <a:pt x="244553" y="275940"/>
                </a:lnTo>
                <a:lnTo>
                  <a:pt x="294327" y="280335"/>
                </a:lnTo>
                <a:lnTo>
                  <a:pt x="347045" y="283889"/>
                </a:lnTo>
                <a:lnTo>
                  <a:pt x="401760" y="286600"/>
                </a:lnTo>
                <a:lnTo>
                  <a:pt x="457521" y="288466"/>
                </a:lnTo>
                <a:lnTo>
                  <a:pt x="513374" y="289482"/>
                </a:lnTo>
                <a:lnTo>
                  <a:pt x="568364" y="289642"/>
                </a:lnTo>
                <a:lnTo>
                  <a:pt x="621535" y="288942"/>
                </a:lnTo>
                <a:lnTo>
                  <a:pt x="671932" y="287376"/>
                </a:lnTo>
                <a:lnTo>
                  <a:pt x="718609" y="284935"/>
                </a:lnTo>
                <a:lnTo>
                  <a:pt x="760623" y="281612"/>
                </a:lnTo>
                <a:lnTo>
                  <a:pt x="813059" y="274909"/>
                </a:lnTo>
                <a:lnTo>
                  <a:pt x="843620" y="268005"/>
                </a:lnTo>
                <a:lnTo>
                  <a:pt x="568426" y="268005"/>
                </a:lnTo>
                <a:lnTo>
                  <a:pt x="513768" y="267849"/>
                </a:lnTo>
                <a:lnTo>
                  <a:pt x="458245" y="266842"/>
                </a:lnTo>
                <a:lnTo>
                  <a:pt x="402831" y="264990"/>
                </a:lnTo>
                <a:lnTo>
                  <a:pt x="348500" y="262301"/>
                </a:lnTo>
                <a:lnTo>
                  <a:pt x="296231" y="258782"/>
                </a:lnTo>
                <a:lnTo>
                  <a:pt x="247006" y="254443"/>
                </a:lnTo>
                <a:lnTo>
                  <a:pt x="201737" y="249284"/>
                </a:lnTo>
                <a:lnTo>
                  <a:pt x="161560" y="243342"/>
                </a:lnTo>
                <a:lnTo>
                  <a:pt x="113146" y="233080"/>
                </a:lnTo>
                <a:lnTo>
                  <a:pt x="62188" y="211862"/>
                </a:lnTo>
                <a:lnTo>
                  <a:pt x="30756" y="180138"/>
                </a:lnTo>
                <a:lnTo>
                  <a:pt x="21610" y="142485"/>
                </a:lnTo>
                <a:lnTo>
                  <a:pt x="22364" y="127768"/>
                </a:lnTo>
                <a:lnTo>
                  <a:pt x="24730" y="112582"/>
                </a:lnTo>
                <a:lnTo>
                  <a:pt x="33928" y="79452"/>
                </a:lnTo>
                <a:lnTo>
                  <a:pt x="47279" y="44536"/>
                </a:lnTo>
                <a:lnTo>
                  <a:pt x="62805" y="8575"/>
                </a:lnTo>
                <a:lnTo>
                  <a:pt x="42934" y="0"/>
                </a:lnTo>
                <a:close/>
              </a:path>
              <a:path w="989964" h="290195">
                <a:moveTo>
                  <a:pt x="945038" y="129068"/>
                </a:moveTo>
                <a:lnTo>
                  <a:pt x="923371" y="129068"/>
                </a:lnTo>
                <a:lnTo>
                  <a:pt x="925132" y="154532"/>
                </a:lnTo>
                <a:lnTo>
                  <a:pt x="924306" y="167385"/>
                </a:lnTo>
                <a:lnTo>
                  <a:pt x="904427" y="212185"/>
                </a:lnTo>
                <a:lnTo>
                  <a:pt x="865921" y="237891"/>
                </a:lnTo>
                <a:lnTo>
                  <a:pt x="823161" y="250949"/>
                </a:lnTo>
                <a:lnTo>
                  <a:pt x="777424" y="258086"/>
                </a:lnTo>
                <a:lnTo>
                  <a:pt x="717477" y="263328"/>
                </a:lnTo>
                <a:lnTo>
                  <a:pt x="671259" y="265750"/>
                </a:lnTo>
                <a:lnTo>
                  <a:pt x="621249" y="267308"/>
                </a:lnTo>
                <a:lnTo>
                  <a:pt x="568426" y="268005"/>
                </a:lnTo>
                <a:lnTo>
                  <a:pt x="843620" y="268005"/>
                </a:lnTo>
                <a:lnTo>
                  <a:pt x="891583" y="249284"/>
                </a:lnTo>
                <a:lnTo>
                  <a:pt x="930201" y="214307"/>
                </a:lnTo>
                <a:lnTo>
                  <a:pt x="945558" y="171480"/>
                </a:lnTo>
                <a:lnTo>
                  <a:pt x="946722" y="156052"/>
                </a:lnTo>
                <a:lnTo>
                  <a:pt x="945038" y="129068"/>
                </a:lnTo>
                <a:close/>
              </a:path>
              <a:path w="989964" h="290195">
                <a:moveTo>
                  <a:pt x="920809" y="63046"/>
                </a:moveTo>
                <a:lnTo>
                  <a:pt x="891837" y="158413"/>
                </a:lnTo>
                <a:lnTo>
                  <a:pt x="895064" y="164456"/>
                </a:lnTo>
                <a:lnTo>
                  <a:pt x="906501" y="167928"/>
                </a:lnTo>
                <a:lnTo>
                  <a:pt x="912545" y="164702"/>
                </a:lnTo>
                <a:lnTo>
                  <a:pt x="923371" y="129068"/>
                </a:lnTo>
                <a:lnTo>
                  <a:pt x="945038" y="129068"/>
                </a:lnTo>
                <a:lnTo>
                  <a:pt x="944779" y="124928"/>
                </a:lnTo>
                <a:lnTo>
                  <a:pt x="943584" y="118305"/>
                </a:lnTo>
                <a:lnTo>
                  <a:pt x="973480" y="118305"/>
                </a:lnTo>
                <a:lnTo>
                  <a:pt x="920809" y="63046"/>
                </a:lnTo>
                <a:close/>
              </a:path>
              <a:path w="989964" h="290195">
                <a:moveTo>
                  <a:pt x="973480" y="118305"/>
                </a:moveTo>
                <a:lnTo>
                  <a:pt x="943584" y="118305"/>
                </a:lnTo>
                <a:lnTo>
                  <a:pt x="973916" y="150127"/>
                </a:lnTo>
                <a:lnTo>
                  <a:pt x="980766" y="150293"/>
                </a:lnTo>
                <a:lnTo>
                  <a:pt x="989420" y="142049"/>
                </a:lnTo>
                <a:lnTo>
                  <a:pt x="989585" y="135201"/>
                </a:lnTo>
                <a:lnTo>
                  <a:pt x="973480" y="118305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010832" y="4876799"/>
            <a:ext cx="613833" cy="58843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269067" y="4876799"/>
            <a:ext cx="618066" cy="58843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531532" y="4889500"/>
            <a:ext cx="787400" cy="59266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963332" y="4876799"/>
            <a:ext cx="618066" cy="58843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225800" y="4876799"/>
            <a:ext cx="613833" cy="58843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484033" y="4876799"/>
            <a:ext cx="613833" cy="58843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742266" y="4876799"/>
            <a:ext cx="618066" cy="58843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1386226" y="3625752"/>
            <a:ext cx="6427470" cy="1163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计算机有了</a:t>
            </a:r>
            <a:r>
              <a:rPr lang="en-US"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那就解决这个问题吧：屏幕上输出“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h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dirty="0">
                <a:latin typeface="Arial" panose="020B0604020202020204"/>
                <a:cs typeface="Arial" panose="020B0604020202020204"/>
              </a:rPr>
              <a:t>ll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o!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50">
              <a:latin typeface="Times New Roman" panose="02020603050405020304"/>
              <a:cs typeface="Times New Roman" panose="02020603050405020304"/>
            </a:endParaRPr>
          </a:p>
          <a:p>
            <a:pPr marR="371475" algn="r">
              <a:lnSpc>
                <a:spcPts val="2285"/>
              </a:lnSpc>
            </a:pPr>
            <a:r>
              <a:rPr sz="2000" b="1" spc="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300</a:t>
            </a:r>
            <a:r>
              <a:rPr sz="2000" b="1" spc="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:</a:t>
            </a:r>
            <a:r>
              <a:rPr sz="2000" b="1" spc="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0x68…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494030" algn="ctr">
              <a:lnSpc>
                <a:spcPts val="2285"/>
              </a:lnSpc>
            </a:pPr>
            <a:r>
              <a:rPr sz="2000" b="1" spc="3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2000" b="1" spc="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000" b="1" spc="1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v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53" name="object 5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sp>
        <p:nvSpPr>
          <p:cNvPr id="49" name="object 49"/>
          <p:cNvSpPr txBox="1"/>
          <p:nvPr/>
        </p:nvSpPr>
        <p:spPr>
          <a:xfrm>
            <a:off x="4813469" y="2711451"/>
            <a:ext cx="4874260" cy="321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30"/>
              </a:lnSpc>
            </a:pPr>
            <a:r>
              <a:rPr sz="230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用计算机帮助人们解决一些实际问</a:t>
            </a:r>
            <a:r>
              <a:rPr sz="2300" b="1" spc="9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题</a:t>
            </a:r>
            <a:endParaRPr sz="23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422900" y="4692650"/>
            <a:ext cx="2620645" cy="688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87425">
              <a:lnSpc>
                <a:spcPct val="100000"/>
              </a:lnSpc>
            </a:pPr>
            <a:r>
              <a:rPr sz="2000" b="1" spc="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0x68</a:t>
            </a:r>
            <a:r>
              <a:rPr lang="en-US" sz="2000" b="1" spc="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-&gt;</a:t>
            </a:r>
            <a:r>
              <a:rPr sz="2000" b="1" spc="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777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-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内存总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线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165476" y="5000023"/>
            <a:ext cx="2016125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写入</a:t>
            </a:r>
            <a:r>
              <a:rPr sz="2000" b="1" spc="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777</a:t>
            </a:r>
            <a:r>
              <a:rPr sz="2925" b="1" spc="127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显存地</a:t>
            </a:r>
            <a:r>
              <a:rPr sz="2925" b="1" spc="112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址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470"/>
              </a:lnSpc>
            </a:pPr>
            <a:r>
              <a:rPr spc="100" dirty="0">
                <a:solidFill>
                  <a:srgbClr val="000000"/>
                </a:solidFill>
              </a:rPr>
              <a:t>是计算机，更确切的说是计算机硬件</a:t>
            </a:r>
            <a:endParaRPr spc="100" dirty="0">
              <a:solidFill>
                <a:srgbClr val="000000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57959" y="850202"/>
            <a:ext cx="986721" cy="103984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52032" y="2611614"/>
            <a:ext cx="160969" cy="1636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52032" y="5613753"/>
            <a:ext cx="160969" cy="1636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66902" y="2012033"/>
            <a:ext cx="8731250" cy="1374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buFont typeface="Wingdings" panose="05000000000000000000" charset="0"/>
              <a:buChar char="n"/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这个东西是计算机硬件，有人戏称为裸</a:t>
            </a:r>
            <a:r>
              <a:rPr sz="3450" b="1" spc="135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机</a:t>
            </a:r>
            <a:endParaRPr sz="3450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28955">
              <a:lnSpc>
                <a:spcPct val="100000"/>
              </a:lnSpc>
              <a:spcBef>
                <a:spcPts val="1415"/>
              </a:spcBef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看来需要给计算机硬件穿上衣服啊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！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R="5080" algn="r">
              <a:lnSpc>
                <a:spcPct val="100000"/>
              </a:lnSpc>
              <a:spcBef>
                <a:spcPts val="1400"/>
              </a:spcBef>
            </a:pPr>
            <a:r>
              <a:rPr sz="24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prin</a:t>
            </a: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f(</a:t>
            </a:r>
            <a:r>
              <a:rPr sz="24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“h</a:t>
            </a: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4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llo</a:t>
            </a: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!</a:t>
            </a:r>
            <a:r>
              <a:rPr sz="24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”)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83520" y="5542425"/>
            <a:ext cx="4957445" cy="730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600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在穿上了衣服的计算机上再次：屏幕上输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出</a:t>
            </a:r>
            <a:r>
              <a:rPr sz="19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h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dirty="0">
                <a:latin typeface="Arial" panose="020B0604020202020204"/>
                <a:cs typeface="Arial" panose="020B0604020202020204"/>
              </a:rPr>
              <a:t>ll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o!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06884" y="2878194"/>
            <a:ext cx="821117" cy="7893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707984" y="4753681"/>
            <a:ext cx="2143125" cy="584200"/>
          </a:xfrm>
          <a:custGeom>
            <a:avLst/>
            <a:gdLst/>
            <a:ahLst/>
            <a:cxnLst/>
            <a:rect l="l" t="t" r="r" b="b"/>
            <a:pathLst>
              <a:path w="2143125" h="584200">
                <a:moveTo>
                  <a:pt x="0" y="0"/>
                </a:moveTo>
                <a:lnTo>
                  <a:pt x="2142648" y="0"/>
                </a:lnTo>
                <a:lnTo>
                  <a:pt x="2142648" y="584200"/>
                </a:lnTo>
                <a:lnTo>
                  <a:pt x="0" y="584200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117228" y="4910794"/>
            <a:ext cx="132270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计算机硬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件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707984" y="4169481"/>
            <a:ext cx="2143125" cy="584200"/>
          </a:xfrm>
          <a:custGeom>
            <a:avLst/>
            <a:gdLst/>
            <a:ahLst/>
            <a:cxnLst/>
            <a:rect l="l" t="t" r="r" b="b"/>
            <a:pathLst>
              <a:path w="2143125" h="584200">
                <a:moveTo>
                  <a:pt x="0" y="584199"/>
                </a:moveTo>
                <a:lnTo>
                  <a:pt x="2142648" y="584199"/>
                </a:lnTo>
                <a:lnTo>
                  <a:pt x="2142648" y="0"/>
                </a:lnTo>
                <a:lnTo>
                  <a:pt x="0" y="0"/>
                </a:lnTo>
                <a:lnTo>
                  <a:pt x="0" y="5841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707984" y="4169481"/>
            <a:ext cx="2143125" cy="584200"/>
          </a:xfrm>
          <a:custGeom>
            <a:avLst/>
            <a:gdLst/>
            <a:ahLst/>
            <a:cxnLst/>
            <a:rect l="l" t="t" r="r" b="b"/>
            <a:pathLst>
              <a:path w="2143125" h="584200">
                <a:moveTo>
                  <a:pt x="0" y="0"/>
                </a:moveTo>
                <a:lnTo>
                  <a:pt x="2142648" y="0"/>
                </a:lnTo>
                <a:lnTo>
                  <a:pt x="2142648" y="584200"/>
                </a:lnTo>
                <a:lnTo>
                  <a:pt x="0" y="584200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247050" y="4326753"/>
            <a:ext cx="106299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操作系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统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707984" y="3585281"/>
            <a:ext cx="2143125" cy="584200"/>
          </a:xfrm>
          <a:custGeom>
            <a:avLst/>
            <a:gdLst/>
            <a:ahLst/>
            <a:cxnLst/>
            <a:rect l="l" t="t" r="r" b="b"/>
            <a:pathLst>
              <a:path w="2143125" h="584200">
                <a:moveTo>
                  <a:pt x="0" y="584200"/>
                </a:moveTo>
                <a:lnTo>
                  <a:pt x="2142648" y="584200"/>
                </a:lnTo>
                <a:lnTo>
                  <a:pt x="2142648" y="0"/>
                </a:lnTo>
                <a:lnTo>
                  <a:pt x="0" y="0"/>
                </a:lnTo>
                <a:lnTo>
                  <a:pt x="0" y="584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707984" y="3585281"/>
            <a:ext cx="2143125" cy="584200"/>
          </a:xfrm>
          <a:custGeom>
            <a:avLst/>
            <a:gdLst/>
            <a:ahLst/>
            <a:cxnLst/>
            <a:rect l="l" t="t" r="r" b="b"/>
            <a:pathLst>
              <a:path w="2143125" h="584200">
                <a:moveTo>
                  <a:pt x="0" y="0"/>
                </a:moveTo>
                <a:lnTo>
                  <a:pt x="2142648" y="0"/>
                </a:lnTo>
                <a:lnTo>
                  <a:pt x="2142648" y="584200"/>
                </a:lnTo>
                <a:lnTo>
                  <a:pt x="0" y="584200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247050" y="3742711"/>
            <a:ext cx="106299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应用软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件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752007" y="4818591"/>
            <a:ext cx="3280410" cy="454659"/>
          </a:xfrm>
          <a:custGeom>
            <a:avLst/>
            <a:gdLst/>
            <a:ahLst/>
            <a:cxnLst/>
            <a:rect l="l" t="t" r="r" b="b"/>
            <a:pathLst>
              <a:path w="3280409" h="454660">
                <a:moveTo>
                  <a:pt x="3204381" y="0"/>
                </a:moveTo>
                <a:lnTo>
                  <a:pt x="953521" y="0"/>
                </a:lnTo>
                <a:lnTo>
                  <a:pt x="557554" y="266"/>
                </a:lnTo>
                <a:lnTo>
                  <a:pt x="518539" y="15110"/>
                </a:lnTo>
                <a:lnTo>
                  <a:pt x="493572" y="47659"/>
                </a:lnTo>
                <a:lnTo>
                  <a:pt x="488198" y="75731"/>
                </a:lnTo>
                <a:lnTo>
                  <a:pt x="0" y="187766"/>
                </a:lnTo>
                <a:lnTo>
                  <a:pt x="488198" y="189323"/>
                </a:lnTo>
                <a:lnTo>
                  <a:pt x="488464" y="385040"/>
                </a:lnTo>
                <a:lnTo>
                  <a:pt x="491012" y="399168"/>
                </a:lnTo>
                <a:lnTo>
                  <a:pt x="512544" y="434271"/>
                </a:lnTo>
                <a:lnTo>
                  <a:pt x="549446" y="452991"/>
                </a:lnTo>
                <a:lnTo>
                  <a:pt x="563949" y="454378"/>
                </a:lnTo>
                <a:lnTo>
                  <a:pt x="1651505" y="454378"/>
                </a:lnTo>
                <a:lnTo>
                  <a:pt x="3210778" y="454111"/>
                </a:lnTo>
                <a:lnTo>
                  <a:pt x="3249793" y="439267"/>
                </a:lnTo>
                <a:lnTo>
                  <a:pt x="3274759" y="406717"/>
                </a:lnTo>
                <a:lnTo>
                  <a:pt x="3280134" y="378645"/>
                </a:lnTo>
                <a:lnTo>
                  <a:pt x="3280134" y="75728"/>
                </a:lnTo>
                <a:lnTo>
                  <a:pt x="3265019" y="30333"/>
                </a:lnTo>
                <a:lnTo>
                  <a:pt x="3232460" y="5373"/>
                </a:lnTo>
                <a:lnTo>
                  <a:pt x="3218885" y="1386"/>
                </a:lnTo>
                <a:lnTo>
                  <a:pt x="3204381" y="0"/>
                </a:lnTo>
                <a:close/>
              </a:path>
              <a:path w="3280409" h="454660">
                <a:moveTo>
                  <a:pt x="488198" y="75728"/>
                </a:move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752008" y="4818592"/>
            <a:ext cx="3280410" cy="454659"/>
          </a:xfrm>
          <a:custGeom>
            <a:avLst/>
            <a:gdLst/>
            <a:ahLst/>
            <a:cxnLst/>
            <a:rect l="l" t="t" r="r" b="b"/>
            <a:pathLst>
              <a:path w="3280409" h="454660">
                <a:moveTo>
                  <a:pt x="3280134" y="378645"/>
                </a:moveTo>
                <a:lnTo>
                  <a:pt x="3268431" y="419101"/>
                </a:lnTo>
                <a:lnTo>
                  <a:pt x="3238001" y="446529"/>
                </a:lnTo>
                <a:lnTo>
                  <a:pt x="1651504" y="454377"/>
                </a:lnTo>
                <a:lnTo>
                  <a:pt x="953520" y="454377"/>
                </a:lnTo>
                <a:lnTo>
                  <a:pt x="563950" y="454377"/>
                </a:lnTo>
                <a:lnTo>
                  <a:pt x="549446" y="452991"/>
                </a:lnTo>
                <a:lnTo>
                  <a:pt x="512544" y="434271"/>
                </a:lnTo>
                <a:lnTo>
                  <a:pt x="491012" y="399169"/>
                </a:lnTo>
                <a:lnTo>
                  <a:pt x="488197" y="189324"/>
                </a:lnTo>
                <a:lnTo>
                  <a:pt x="0" y="187767"/>
                </a:lnTo>
                <a:lnTo>
                  <a:pt x="488197" y="75729"/>
                </a:lnTo>
                <a:lnTo>
                  <a:pt x="489584" y="61232"/>
                </a:lnTo>
                <a:lnTo>
                  <a:pt x="508309" y="24339"/>
                </a:lnTo>
                <a:lnTo>
                  <a:pt x="543421" y="2813"/>
                </a:lnTo>
                <a:lnTo>
                  <a:pt x="953520" y="0"/>
                </a:lnTo>
                <a:lnTo>
                  <a:pt x="1651504" y="0"/>
                </a:lnTo>
                <a:lnTo>
                  <a:pt x="3204381" y="0"/>
                </a:lnTo>
                <a:lnTo>
                  <a:pt x="3218885" y="1386"/>
                </a:lnTo>
                <a:lnTo>
                  <a:pt x="3255787" y="20106"/>
                </a:lnTo>
                <a:lnTo>
                  <a:pt x="3277319" y="55208"/>
                </a:lnTo>
                <a:lnTo>
                  <a:pt x="3280134" y="75729"/>
                </a:lnTo>
                <a:lnTo>
                  <a:pt x="3280134" y="189324"/>
                </a:lnTo>
                <a:lnTo>
                  <a:pt x="3280134" y="378645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439846" y="4900522"/>
            <a:ext cx="2390775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U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、内存、显存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…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738439" y="4169481"/>
            <a:ext cx="3293745" cy="454659"/>
          </a:xfrm>
          <a:custGeom>
            <a:avLst/>
            <a:gdLst/>
            <a:ahLst/>
            <a:cxnLst/>
            <a:rect l="l" t="t" r="r" b="b"/>
            <a:pathLst>
              <a:path w="3293745" h="454660">
                <a:moveTo>
                  <a:pt x="3293702" y="378647"/>
                </a:moveTo>
                <a:lnTo>
                  <a:pt x="501766" y="378647"/>
                </a:lnTo>
                <a:lnTo>
                  <a:pt x="502032" y="385038"/>
                </a:lnTo>
                <a:lnTo>
                  <a:pt x="516880" y="424043"/>
                </a:lnTo>
                <a:lnTo>
                  <a:pt x="549439" y="449003"/>
                </a:lnTo>
                <a:lnTo>
                  <a:pt x="577518" y="454376"/>
                </a:lnTo>
                <a:lnTo>
                  <a:pt x="1665074" y="454376"/>
                </a:lnTo>
                <a:lnTo>
                  <a:pt x="3224346" y="454110"/>
                </a:lnTo>
                <a:lnTo>
                  <a:pt x="3263361" y="439266"/>
                </a:lnTo>
                <a:lnTo>
                  <a:pt x="3288328" y="406716"/>
                </a:lnTo>
                <a:lnTo>
                  <a:pt x="3293702" y="378647"/>
                </a:lnTo>
                <a:close/>
              </a:path>
              <a:path w="3293745" h="454660">
                <a:moveTo>
                  <a:pt x="3217950" y="0"/>
                </a:moveTo>
                <a:lnTo>
                  <a:pt x="967089" y="0"/>
                </a:lnTo>
                <a:lnTo>
                  <a:pt x="571123" y="266"/>
                </a:lnTo>
                <a:lnTo>
                  <a:pt x="532108" y="15110"/>
                </a:lnTo>
                <a:lnTo>
                  <a:pt x="507141" y="47659"/>
                </a:lnTo>
                <a:lnTo>
                  <a:pt x="501766" y="75731"/>
                </a:lnTo>
                <a:lnTo>
                  <a:pt x="501766" y="265052"/>
                </a:lnTo>
                <a:lnTo>
                  <a:pt x="0" y="417882"/>
                </a:lnTo>
                <a:lnTo>
                  <a:pt x="501766" y="378647"/>
                </a:lnTo>
                <a:lnTo>
                  <a:pt x="3293702" y="378647"/>
                </a:lnTo>
                <a:lnTo>
                  <a:pt x="3293703" y="265052"/>
                </a:lnTo>
                <a:lnTo>
                  <a:pt x="3293436" y="69336"/>
                </a:lnTo>
                <a:lnTo>
                  <a:pt x="3278588" y="30333"/>
                </a:lnTo>
                <a:lnTo>
                  <a:pt x="3246029" y="5373"/>
                </a:lnTo>
                <a:lnTo>
                  <a:pt x="3232453" y="1386"/>
                </a:lnTo>
                <a:lnTo>
                  <a:pt x="32179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738438" y="4169479"/>
            <a:ext cx="3293745" cy="454659"/>
          </a:xfrm>
          <a:custGeom>
            <a:avLst/>
            <a:gdLst/>
            <a:ahLst/>
            <a:cxnLst/>
            <a:rect l="l" t="t" r="r" b="b"/>
            <a:pathLst>
              <a:path w="3293745" h="454660">
                <a:moveTo>
                  <a:pt x="3293703" y="378645"/>
                </a:moveTo>
                <a:lnTo>
                  <a:pt x="3282000" y="419101"/>
                </a:lnTo>
                <a:lnTo>
                  <a:pt x="3251571" y="446529"/>
                </a:lnTo>
                <a:lnTo>
                  <a:pt x="1665073" y="454377"/>
                </a:lnTo>
                <a:lnTo>
                  <a:pt x="967089" y="454377"/>
                </a:lnTo>
                <a:lnTo>
                  <a:pt x="577519" y="454377"/>
                </a:lnTo>
                <a:lnTo>
                  <a:pt x="563016" y="452991"/>
                </a:lnTo>
                <a:lnTo>
                  <a:pt x="526113" y="434271"/>
                </a:lnTo>
                <a:lnTo>
                  <a:pt x="504581" y="399169"/>
                </a:lnTo>
                <a:lnTo>
                  <a:pt x="501767" y="378648"/>
                </a:lnTo>
                <a:lnTo>
                  <a:pt x="0" y="417882"/>
                </a:lnTo>
                <a:lnTo>
                  <a:pt x="501767" y="265053"/>
                </a:lnTo>
                <a:lnTo>
                  <a:pt x="501767" y="75732"/>
                </a:lnTo>
                <a:lnTo>
                  <a:pt x="503154" y="61232"/>
                </a:lnTo>
                <a:lnTo>
                  <a:pt x="521878" y="24339"/>
                </a:lnTo>
                <a:lnTo>
                  <a:pt x="556990" y="2813"/>
                </a:lnTo>
                <a:lnTo>
                  <a:pt x="967089" y="0"/>
                </a:lnTo>
                <a:lnTo>
                  <a:pt x="1665073" y="0"/>
                </a:lnTo>
                <a:lnTo>
                  <a:pt x="3217951" y="0"/>
                </a:lnTo>
                <a:lnTo>
                  <a:pt x="3232454" y="1386"/>
                </a:lnTo>
                <a:lnTo>
                  <a:pt x="3269357" y="20106"/>
                </a:lnTo>
                <a:lnTo>
                  <a:pt x="3290888" y="55208"/>
                </a:lnTo>
                <a:lnTo>
                  <a:pt x="3293703" y="265053"/>
                </a:lnTo>
                <a:lnTo>
                  <a:pt x="3293703" y="378648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450340" y="4251588"/>
            <a:ext cx="2369820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W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indow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s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nu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x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…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738439" y="3585281"/>
            <a:ext cx="3293745" cy="454659"/>
          </a:xfrm>
          <a:custGeom>
            <a:avLst/>
            <a:gdLst/>
            <a:ahLst/>
            <a:cxnLst/>
            <a:rect l="l" t="t" r="r" b="b"/>
            <a:pathLst>
              <a:path w="3293745" h="454660">
                <a:moveTo>
                  <a:pt x="3217950" y="0"/>
                </a:moveTo>
                <a:lnTo>
                  <a:pt x="967089" y="0"/>
                </a:lnTo>
                <a:lnTo>
                  <a:pt x="571123" y="266"/>
                </a:lnTo>
                <a:lnTo>
                  <a:pt x="532108" y="15110"/>
                </a:lnTo>
                <a:lnTo>
                  <a:pt x="507141" y="47659"/>
                </a:lnTo>
                <a:lnTo>
                  <a:pt x="501766" y="75731"/>
                </a:lnTo>
                <a:lnTo>
                  <a:pt x="501766" y="265052"/>
                </a:lnTo>
                <a:lnTo>
                  <a:pt x="0" y="297512"/>
                </a:lnTo>
                <a:lnTo>
                  <a:pt x="501766" y="378647"/>
                </a:lnTo>
                <a:lnTo>
                  <a:pt x="502032" y="385038"/>
                </a:lnTo>
                <a:lnTo>
                  <a:pt x="504581" y="399167"/>
                </a:lnTo>
                <a:lnTo>
                  <a:pt x="526112" y="434270"/>
                </a:lnTo>
                <a:lnTo>
                  <a:pt x="563014" y="452990"/>
                </a:lnTo>
                <a:lnTo>
                  <a:pt x="577518" y="454376"/>
                </a:lnTo>
                <a:lnTo>
                  <a:pt x="1665074" y="454376"/>
                </a:lnTo>
                <a:lnTo>
                  <a:pt x="3224346" y="454110"/>
                </a:lnTo>
                <a:lnTo>
                  <a:pt x="3263361" y="439266"/>
                </a:lnTo>
                <a:lnTo>
                  <a:pt x="3288328" y="406716"/>
                </a:lnTo>
                <a:lnTo>
                  <a:pt x="3293703" y="265052"/>
                </a:lnTo>
                <a:lnTo>
                  <a:pt x="3293436" y="69336"/>
                </a:lnTo>
                <a:lnTo>
                  <a:pt x="3278588" y="30333"/>
                </a:lnTo>
                <a:lnTo>
                  <a:pt x="3246029" y="5373"/>
                </a:lnTo>
                <a:lnTo>
                  <a:pt x="3232453" y="1386"/>
                </a:lnTo>
                <a:lnTo>
                  <a:pt x="32179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738438" y="3585279"/>
            <a:ext cx="3293745" cy="454659"/>
          </a:xfrm>
          <a:custGeom>
            <a:avLst/>
            <a:gdLst/>
            <a:ahLst/>
            <a:cxnLst/>
            <a:rect l="l" t="t" r="r" b="b"/>
            <a:pathLst>
              <a:path w="3293745" h="454660">
                <a:moveTo>
                  <a:pt x="3293703" y="378645"/>
                </a:moveTo>
                <a:lnTo>
                  <a:pt x="3282000" y="419101"/>
                </a:lnTo>
                <a:lnTo>
                  <a:pt x="3251571" y="446529"/>
                </a:lnTo>
                <a:lnTo>
                  <a:pt x="1665073" y="454377"/>
                </a:lnTo>
                <a:lnTo>
                  <a:pt x="967089" y="454377"/>
                </a:lnTo>
                <a:lnTo>
                  <a:pt x="577519" y="454377"/>
                </a:lnTo>
                <a:lnTo>
                  <a:pt x="563016" y="452991"/>
                </a:lnTo>
                <a:lnTo>
                  <a:pt x="526113" y="434271"/>
                </a:lnTo>
                <a:lnTo>
                  <a:pt x="504581" y="399169"/>
                </a:lnTo>
                <a:lnTo>
                  <a:pt x="501767" y="378648"/>
                </a:lnTo>
                <a:lnTo>
                  <a:pt x="0" y="297513"/>
                </a:lnTo>
                <a:lnTo>
                  <a:pt x="501767" y="265053"/>
                </a:lnTo>
                <a:lnTo>
                  <a:pt x="501767" y="75732"/>
                </a:lnTo>
                <a:lnTo>
                  <a:pt x="503154" y="61232"/>
                </a:lnTo>
                <a:lnTo>
                  <a:pt x="521878" y="24339"/>
                </a:lnTo>
                <a:lnTo>
                  <a:pt x="556990" y="2813"/>
                </a:lnTo>
                <a:lnTo>
                  <a:pt x="967089" y="0"/>
                </a:lnTo>
                <a:lnTo>
                  <a:pt x="1665073" y="0"/>
                </a:lnTo>
                <a:lnTo>
                  <a:pt x="3217951" y="0"/>
                </a:lnTo>
                <a:lnTo>
                  <a:pt x="3232454" y="1386"/>
                </a:lnTo>
                <a:lnTo>
                  <a:pt x="3269357" y="20106"/>
                </a:lnTo>
                <a:lnTo>
                  <a:pt x="3290888" y="55208"/>
                </a:lnTo>
                <a:lnTo>
                  <a:pt x="3293703" y="265053"/>
                </a:lnTo>
                <a:lnTo>
                  <a:pt x="3293703" y="378648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4623382" y="3667547"/>
            <a:ext cx="2023745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>
                <a:latin typeface="Arial" panose="020B0604020202020204"/>
                <a:cs typeface="Arial" panose="020B0604020202020204"/>
              </a:rPr>
              <a:t>W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o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d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000" b="1" spc="35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b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…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8310880" cy="0"/>
          </a:xfrm>
          <a:custGeom>
            <a:avLst/>
            <a:gdLst/>
            <a:ahLst/>
            <a:cxnLst/>
            <a:rect l="l" t="t" r="r" b="b"/>
            <a:pathLst>
              <a:path w="8310880">
                <a:moveTo>
                  <a:pt x="0" y="0"/>
                </a:moveTo>
                <a:lnTo>
                  <a:pt x="8310880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50" spc="100" dirty="0">
                <a:solidFill>
                  <a:srgbClr val="FF0000"/>
                </a:solidFill>
              </a:rPr>
              <a:t>什么是操作系统</a:t>
            </a:r>
            <a:r>
              <a:rPr sz="3050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?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89809" y="2741436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66908" y="1949291"/>
            <a:ext cx="5166360" cy="1650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8955" marR="5080" indent="-516890">
              <a:lnSpc>
                <a:spcPct val="172000"/>
              </a:lnSpc>
            </a:pPr>
            <a:r>
              <a:rPr sz="2100" spc="40" dirty="0">
                <a:solidFill>
                  <a:srgbClr val="993300"/>
                </a:solidFill>
                <a:latin typeface="Lucida Sans" panose="020B0602030504020204"/>
                <a:cs typeface="Lucida Sans" panose="020B0602030504020204"/>
              </a:rPr>
              <a:t> 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是计算机硬件和应用之间的一层软</a:t>
            </a:r>
            <a:r>
              <a:rPr sz="3450" b="1" spc="135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件</a:t>
            </a:r>
            <a:r>
              <a:rPr sz="3450" b="1" spc="6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方便我们使用硬件，如使用显存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… </a:t>
            </a:r>
            <a:endParaRPr sz="2000" b="1" spc="20" dirty="0">
              <a:latin typeface="Arial" panose="020B0604020202020204"/>
              <a:cs typeface="Arial" panose="020B0604020202020204"/>
            </a:endParaRPr>
          </a:p>
          <a:p>
            <a:pPr marL="528955" marR="5080" indent="-516890">
              <a:lnSpc>
                <a:spcPct val="172000"/>
              </a:lnSpc>
            </a:pPr>
            <a:r>
              <a:rPr lang="en-US"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高效的使用硬件，如开多个终端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窗口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)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26130" y="3518319"/>
            <a:ext cx="3512820" cy="342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再次思考</a:t>
            </a:r>
            <a:r>
              <a:rPr sz="24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prin</a:t>
            </a: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f(</a:t>
            </a:r>
            <a:r>
              <a:rPr sz="24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“h</a:t>
            </a: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4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llo</a:t>
            </a: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!</a:t>
            </a:r>
            <a:r>
              <a:rPr sz="24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?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89809" y="3275600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01973" y="4218411"/>
            <a:ext cx="2137410" cy="344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spc="40" dirty="0">
                <a:solidFill>
                  <a:srgbClr val="993300"/>
                </a:solidFill>
                <a:latin typeface="Lucida Sans" panose="020B0602030504020204"/>
                <a:cs typeface="Lucida Sans" panose="020B0602030504020204"/>
              </a:rPr>
              <a:t> 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管理哪些硬</a:t>
            </a:r>
            <a:r>
              <a:rPr sz="3450" b="1" spc="135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件</a:t>
            </a:r>
            <a:endParaRPr sz="3450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01687" y="4745566"/>
            <a:ext cx="1363980" cy="454659"/>
          </a:xfrm>
          <a:custGeom>
            <a:avLst/>
            <a:gdLst/>
            <a:ahLst/>
            <a:cxnLst/>
            <a:rect l="l" t="t" r="r" b="b"/>
            <a:pathLst>
              <a:path w="1363980" h="454660">
                <a:moveTo>
                  <a:pt x="1287752" y="0"/>
                </a:moveTo>
                <a:lnTo>
                  <a:pt x="69357" y="265"/>
                </a:lnTo>
                <a:lnTo>
                  <a:pt x="30342" y="15109"/>
                </a:lnTo>
                <a:lnTo>
                  <a:pt x="5374" y="47658"/>
                </a:lnTo>
                <a:lnTo>
                  <a:pt x="0" y="75730"/>
                </a:lnTo>
                <a:lnTo>
                  <a:pt x="266" y="385039"/>
                </a:lnTo>
                <a:lnTo>
                  <a:pt x="15113" y="424043"/>
                </a:lnTo>
                <a:lnTo>
                  <a:pt x="47672" y="449003"/>
                </a:lnTo>
                <a:lnTo>
                  <a:pt x="75751" y="454376"/>
                </a:lnTo>
                <a:lnTo>
                  <a:pt x="1294146" y="454110"/>
                </a:lnTo>
                <a:lnTo>
                  <a:pt x="1333161" y="439267"/>
                </a:lnTo>
                <a:lnTo>
                  <a:pt x="1358129" y="406718"/>
                </a:lnTo>
                <a:lnTo>
                  <a:pt x="1363503" y="378646"/>
                </a:lnTo>
                <a:lnTo>
                  <a:pt x="1363237" y="69337"/>
                </a:lnTo>
                <a:lnTo>
                  <a:pt x="1348390" y="30333"/>
                </a:lnTo>
                <a:lnTo>
                  <a:pt x="1315831" y="5373"/>
                </a:lnTo>
                <a:lnTo>
                  <a:pt x="1287752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01687" y="4745566"/>
            <a:ext cx="1363980" cy="454659"/>
          </a:xfrm>
          <a:custGeom>
            <a:avLst/>
            <a:gdLst/>
            <a:ahLst/>
            <a:cxnLst/>
            <a:rect l="l" t="t" r="r" b="b"/>
            <a:pathLst>
              <a:path w="1363980" h="454660">
                <a:moveTo>
                  <a:pt x="0" y="75731"/>
                </a:moveTo>
                <a:lnTo>
                  <a:pt x="11702" y="35275"/>
                </a:lnTo>
                <a:lnTo>
                  <a:pt x="42132" y="7848"/>
                </a:lnTo>
                <a:lnTo>
                  <a:pt x="1287751" y="0"/>
                </a:lnTo>
                <a:lnTo>
                  <a:pt x="1302255" y="1386"/>
                </a:lnTo>
                <a:lnTo>
                  <a:pt x="1339158" y="20106"/>
                </a:lnTo>
                <a:lnTo>
                  <a:pt x="1360689" y="55208"/>
                </a:lnTo>
                <a:lnTo>
                  <a:pt x="1363503" y="378646"/>
                </a:lnTo>
                <a:lnTo>
                  <a:pt x="1362116" y="393146"/>
                </a:lnTo>
                <a:lnTo>
                  <a:pt x="1343391" y="430038"/>
                </a:lnTo>
                <a:lnTo>
                  <a:pt x="1308279" y="451564"/>
                </a:lnTo>
                <a:lnTo>
                  <a:pt x="75751" y="454377"/>
                </a:lnTo>
                <a:lnTo>
                  <a:pt x="61248" y="452991"/>
                </a:lnTo>
                <a:lnTo>
                  <a:pt x="24345" y="434271"/>
                </a:lnTo>
                <a:lnTo>
                  <a:pt x="2814" y="399168"/>
                </a:lnTo>
                <a:lnTo>
                  <a:pt x="0" y="75731"/>
                </a:lnTo>
                <a:close/>
              </a:path>
            </a:pathLst>
          </a:custGeom>
          <a:ln w="8114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936417" y="4827518"/>
            <a:ext cx="1092835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管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理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424906" y="4745566"/>
            <a:ext cx="1363980" cy="454659"/>
          </a:xfrm>
          <a:custGeom>
            <a:avLst/>
            <a:gdLst/>
            <a:ahLst/>
            <a:cxnLst/>
            <a:rect l="l" t="t" r="r" b="b"/>
            <a:pathLst>
              <a:path w="1363979" h="454660">
                <a:moveTo>
                  <a:pt x="1287752" y="0"/>
                </a:moveTo>
                <a:lnTo>
                  <a:pt x="69357" y="265"/>
                </a:lnTo>
                <a:lnTo>
                  <a:pt x="30342" y="15109"/>
                </a:lnTo>
                <a:lnTo>
                  <a:pt x="5374" y="47658"/>
                </a:lnTo>
                <a:lnTo>
                  <a:pt x="0" y="75730"/>
                </a:lnTo>
                <a:lnTo>
                  <a:pt x="266" y="385039"/>
                </a:lnTo>
                <a:lnTo>
                  <a:pt x="15113" y="424043"/>
                </a:lnTo>
                <a:lnTo>
                  <a:pt x="47672" y="449003"/>
                </a:lnTo>
                <a:lnTo>
                  <a:pt x="75751" y="454376"/>
                </a:lnTo>
                <a:lnTo>
                  <a:pt x="1294146" y="454110"/>
                </a:lnTo>
                <a:lnTo>
                  <a:pt x="1333161" y="439267"/>
                </a:lnTo>
                <a:lnTo>
                  <a:pt x="1358129" y="406718"/>
                </a:lnTo>
                <a:lnTo>
                  <a:pt x="1363503" y="378646"/>
                </a:lnTo>
                <a:lnTo>
                  <a:pt x="1363237" y="69337"/>
                </a:lnTo>
                <a:lnTo>
                  <a:pt x="1348390" y="30333"/>
                </a:lnTo>
                <a:lnTo>
                  <a:pt x="1315831" y="5373"/>
                </a:lnTo>
                <a:lnTo>
                  <a:pt x="1287752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424906" y="4745566"/>
            <a:ext cx="1363980" cy="454659"/>
          </a:xfrm>
          <a:custGeom>
            <a:avLst/>
            <a:gdLst/>
            <a:ahLst/>
            <a:cxnLst/>
            <a:rect l="l" t="t" r="r" b="b"/>
            <a:pathLst>
              <a:path w="1363979" h="454660">
                <a:moveTo>
                  <a:pt x="0" y="75731"/>
                </a:moveTo>
                <a:lnTo>
                  <a:pt x="11702" y="35275"/>
                </a:lnTo>
                <a:lnTo>
                  <a:pt x="42132" y="7848"/>
                </a:lnTo>
                <a:lnTo>
                  <a:pt x="1287751" y="0"/>
                </a:lnTo>
                <a:lnTo>
                  <a:pt x="1302255" y="1386"/>
                </a:lnTo>
                <a:lnTo>
                  <a:pt x="1339158" y="20106"/>
                </a:lnTo>
                <a:lnTo>
                  <a:pt x="1360689" y="55208"/>
                </a:lnTo>
                <a:lnTo>
                  <a:pt x="1363503" y="378646"/>
                </a:lnTo>
                <a:lnTo>
                  <a:pt x="1362116" y="393146"/>
                </a:lnTo>
                <a:lnTo>
                  <a:pt x="1343391" y="430038"/>
                </a:lnTo>
                <a:lnTo>
                  <a:pt x="1308279" y="451564"/>
                </a:lnTo>
                <a:lnTo>
                  <a:pt x="75751" y="454377"/>
                </a:lnTo>
                <a:lnTo>
                  <a:pt x="61248" y="452991"/>
                </a:lnTo>
                <a:lnTo>
                  <a:pt x="24345" y="434271"/>
                </a:lnTo>
                <a:lnTo>
                  <a:pt x="2814" y="399168"/>
                </a:lnTo>
                <a:lnTo>
                  <a:pt x="0" y="75731"/>
                </a:lnTo>
                <a:close/>
              </a:path>
            </a:pathLst>
          </a:custGeom>
          <a:ln w="8114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574511" y="4827518"/>
            <a:ext cx="106299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内存管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理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048125" y="4745566"/>
            <a:ext cx="1363980" cy="454659"/>
          </a:xfrm>
          <a:custGeom>
            <a:avLst/>
            <a:gdLst/>
            <a:ahLst/>
            <a:cxnLst/>
            <a:rect l="l" t="t" r="r" b="b"/>
            <a:pathLst>
              <a:path w="1363979" h="454660">
                <a:moveTo>
                  <a:pt x="1287752" y="0"/>
                </a:moveTo>
                <a:lnTo>
                  <a:pt x="69357" y="265"/>
                </a:lnTo>
                <a:lnTo>
                  <a:pt x="30342" y="15109"/>
                </a:lnTo>
                <a:lnTo>
                  <a:pt x="5374" y="47658"/>
                </a:lnTo>
                <a:lnTo>
                  <a:pt x="0" y="75730"/>
                </a:lnTo>
                <a:lnTo>
                  <a:pt x="266" y="385039"/>
                </a:lnTo>
                <a:lnTo>
                  <a:pt x="15113" y="424043"/>
                </a:lnTo>
                <a:lnTo>
                  <a:pt x="47672" y="449003"/>
                </a:lnTo>
                <a:lnTo>
                  <a:pt x="75751" y="454376"/>
                </a:lnTo>
                <a:lnTo>
                  <a:pt x="1294146" y="454110"/>
                </a:lnTo>
                <a:lnTo>
                  <a:pt x="1333161" y="439267"/>
                </a:lnTo>
                <a:lnTo>
                  <a:pt x="1358129" y="406718"/>
                </a:lnTo>
                <a:lnTo>
                  <a:pt x="1363503" y="378646"/>
                </a:lnTo>
                <a:lnTo>
                  <a:pt x="1363237" y="69337"/>
                </a:lnTo>
                <a:lnTo>
                  <a:pt x="1348390" y="30333"/>
                </a:lnTo>
                <a:lnTo>
                  <a:pt x="1315831" y="5373"/>
                </a:lnTo>
                <a:lnTo>
                  <a:pt x="1287752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048125" y="4745566"/>
            <a:ext cx="1363980" cy="454659"/>
          </a:xfrm>
          <a:custGeom>
            <a:avLst/>
            <a:gdLst/>
            <a:ahLst/>
            <a:cxnLst/>
            <a:rect l="l" t="t" r="r" b="b"/>
            <a:pathLst>
              <a:path w="1363979" h="454660">
                <a:moveTo>
                  <a:pt x="0" y="75731"/>
                </a:moveTo>
                <a:lnTo>
                  <a:pt x="11702" y="35275"/>
                </a:lnTo>
                <a:lnTo>
                  <a:pt x="42132" y="7848"/>
                </a:lnTo>
                <a:lnTo>
                  <a:pt x="1287751" y="0"/>
                </a:lnTo>
                <a:lnTo>
                  <a:pt x="1302255" y="1386"/>
                </a:lnTo>
                <a:lnTo>
                  <a:pt x="1339158" y="20106"/>
                </a:lnTo>
                <a:lnTo>
                  <a:pt x="1360689" y="55208"/>
                </a:lnTo>
                <a:lnTo>
                  <a:pt x="1363503" y="378646"/>
                </a:lnTo>
                <a:lnTo>
                  <a:pt x="1362116" y="393146"/>
                </a:lnTo>
                <a:lnTo>
                  <a:pt x="1343391" y="430038"/>
                </a:lnTo>
                <a:lnTo>
                  <a:pt x="1308279" y="451564"/>
                </a:lnTo>
                <a:lnTo>
                  <a:pt x="75751" y="454377"/>
                </a:lnTo>
                <a:lnTo>
                  <a:pt x="61248" y="452991"/>
                </a:lnTo>
                <a:lnTo>
                  <a:pt x="24345" y="434271"/>
                </a:lnTo>
                <a:lnTo>
                  <a:pt x="2814" y="399168"/>
                </a:lnTo>
                <a:lnTo>
                  <a:pt x="0" y="75731"/>
                </a:lnTo>
                <a:close/>
              </a:path>
            </a:pathLst>
          </a:custGeom>
          <a:ln w="8114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197729" y="4827518"/>
            <a:ext cx="106299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终端管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理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671343" y="4745566"/>
            <a:ext cx="1363980" cy="454659"/>
          </a:xfrm>
          <a:custGeom>
            <a:avLst/>
            <a:gdLst/>
            <a:ahLst/>
            <a:cxnLst/>
            <a:rect l="l" t="t" r="r" b="b"/>
            <a:pathLst>
              <a:path w="1363979" h="454660">
                <a:moveTo>
                  <a:pt x="1287752" y="0"/>
                </a:moveTo>
                <a:lnTo>
                  <a:pt x="69357" y="265"/>
                </a:lnTo>
                <a:lnTo>
                  <a:pt x="30342" y="15109"/>
                </a:lnTo>
                <a:lnTo>
                  <a:pt x="5374" y="47658"/>
                </a:lnTo>
                <a:lnTo>
                  <a:pt x="0" y="75730"/>
                </a:lnTo>
                <a:lnTo>
                  <a:pt x="266" y="385039"/>
                </a:lnTo>
                <a:lnTo>
                  <a:pt x="15113" y="424043"/>
                </a:lnTo>
                <a:lnTo>
                  <a:pt x="47672" y="449003"/>
                </a:lnTo>
                <a:lnTo>
                  <a:pt x="75751" y="454376"/>
                </a:lnTo>
                <a:lnTo>
                  <a:pt x="1294146" y="454110"/>
                </a:lnTo>
                <a:lnTo>
                  <a:pt x="1333161" y="439267"/>
                </a:lnTo>
                <a:lnTo>
                  <a:pt x="1358129" y="406718"/>
                </a:lnTo>
                <a:lnTo>
                  <a:pt x="1363503" y="378646"/>
                </a:lnTo>
                <a:lnTo>
                  <a:pt x="1363237" y="69337"/>
                </a:lnTo>
                <a:lnTo>
                  <a:pt x="1348390" y="30333"/>
                </a:lnTo>
                <a:lnTo>
                  <a:pt x="1315831" y="5373"/>
                </a:lnTo>
                <a:lnTo>
                  <a:pt x="1287752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671343" y="4745566"/>
            <a:ext cx="1363980" cy="454659"/>
          </a:xfrm>
          <a:custGeom>
            <a:avLst/>
            <a:gdLst/>
            <a:ahLst/>
            <a:cxnLst/>
            <a:rect l="l" t="t" r="r" b="b"/>
            <a:pathLst>
              <a:path w="1363979" h="454660">
                <a:moveTo>
                  <a:pt x="0" y="75731"/>
                </a:moveTo>
                <a:lnTo>
                  <a:pt x="11702" y="35275"/>
                </a:lnTo>
                <a:lnTo>
                  <a:pt x="42132" y="7848"/>
                </a:lnTo>
                <a:lnTo>
                  <a:pt x="1287751" y="0"/>
                </a:lnTo>
                <a:lnTo>
                  <a:pt x="1302255" y="1386"/>
                </a:lnTo>
                <a:lnTo>
                  <a:pt x="1339158" y="20106"/>
                </a:lnTo>
                <a:lnTo>
                  <a:pt x="1360689" y="55208"/>
                </a:lnTo>
                <a:lnTo>
                  <a:pt x="1363503" y="378646"/>
                </a:lnTo>
                <a:lnTo>
                  <a:pt x="1362116" y="393146"/>
                </a:lnTo>
                <a:lnTo>
                  <a:pt x="1343391" y="430038"/>
                </a:lnTo>
                <a:lnTo>
                  <a:pt x="1308279" y="451564"/>
                </a:lnTo>
                <a:lnTo>
                  <a:pt x="75751" y="454377"/>
                </a:lnTo>
                <a:lnTo>
                  <a:pt x="61248" y="452991"/>
                </a:lnTo>
                <a:lnTo>
                  <a:pt x="24345" y="434271"/>
                </a:lnTo>
                <a:lnTo>
                  <a:pt x="2814" y="399168"/>
                </a:lnTo>
                <a:lnTo>
                  <a:pt x="0" y="75731"/>
                </a:lnTo>
                <a:close/>
              </a:path>
            </a:pathLst>
          </a:custGeom>
          <a:ln w="8114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820948" y="4827518"/>
            <a:ext cx="106299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磁盘管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理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01687" y="5329766"/>
            <a:ext cx="1363980" cy="454659"/>
          </a:xfrm>
          <a:custGeom>
            <a:avLst/>
            <a:gdLst/>
            <a:ahLst/>
            <a:cxnLst/>
            <a:rect l="l" t="t" r="r" b="b"/>
            <a:pathLst>
              <a:path w="1363980" h="454660">
                <a:moveTo>
                  <a:pt x="1287752" y="0"/>
                </a:moveTo>
                <a:lnTo>
                  <a:pt x="69357" y="265"/>
                </a:lnTo>
                <a:lnTo>
                  <a:pt x="30342" y="15109"/>
                </a:lnTo>
                <a:lnTo>
                  <a:pt x="5374" y="47658"/>
                </a:lnTo>
                <a:lnTo>
                  <a:pt x="0" y="75730"/>
                </a:lnTo>
                <a:lnTo>
                  <a:pt x="266" y="385039"/>
                </a:lnTo>
                <a:lnTo>
                  <a:pt x="15113" y="424043"/>
                </a:lnTo>
                <a:lnTo>
                  <a:pt x="47672" y="449003"/>
                </a:lnTo>
                <a:lnTo>
                  <a:pt x="75751" y="454376"/>
                </a:lnTo>
                <a:lnTo>
                  <a:pt x="1294146" y="454110"/>
                </a:lnTo>
                <a:lnTo>
                  <a:pt x="1333161" y="439267"/>
                </a:lnTo>
                <a:lnTo>
                  <a:pt x="1358129" y="406718"/>
                </a:lnTo>
                <a:lnTo>
                  <a:pt x="1363503" y="378646"/>
                </a:lnTo>
                <a:lnTo>
                  <a:pt x="1363237" y="69337"/>
                </a:lnTo>
                <a:lnTo>
                  <a:pt x="1348390" y="30333"/>
                </a:lnTo>
                <a:lnTo>
                  <a:pt x="1315831" y="5373"/>
                </a:lnTo>
                <a:lnTo>
                  <a:pt x="1287752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801687" y="5329766"/>
            <a:ext cx="1363980" cy="454659"/>
          </a:xfrm>
          <a:custGeom>
            <a:avLst/>
            <a:gdLst/>
            <a:ahLst/>
            <a:cxnLst/>
            <a:rect l="l" t="t" r="r" b="b"/>
            <a:pathLst>
              <a:path w="1363980" h="454660">
                <a:moveTo>
                  <a:pt x="0" y="75731"/>
                </a:moveTo>
                <a:lnTo>
                  <a:pt x="11702" y="35275"/>
                </a:lnTo>
                <a:lnTo>
                  <a:pt x="42132" y="7848"/>
                </a:lnTo>
                <a:lnTo>
                  <a:pt x="1287751" y="0"/>
                </a:lnTo>
                <a:lnTo>
                  <a:pt x="1302255" y="1386"/>
                </a:lnTo>
                <a:lnTo>
                  <a:pt x="1339158" y="20106"/>
                </a:lnTo>
                <a:lnTo>
                  <a:pt x="1360689" y="55208"/>
                </a:lnTo>
                <a:lnTo>
                  <a:pt x="1363503" y="378646"/>
                </a:lnTo>
                <a:lnTo>
                  <a:pt x="1362116" y="393146"/>
                </a:lnTo>
                <a:lnTo>
                  <a:pt x="1343391" y="430038"/>
                </a:lnTo>
                <a:lnTo>
                  <a:pt x="1308279" y="451564"/>
                </a:lnTo>
                <a:lnTo>
                  <a:pt x="75751" y="454377"/>
                </a:lnTo>
                <a:lnTo>
                  <a:pt x="61248" y="452991"/>
                </a:lnTo>
                <a:lnTo>
                  <a:pt x="24345" y="434271"/>
                </a:lnTo>
                <a:lnTo>
                  <a:pt x="2814" y="399168"/>
                </a:lnTo>
                <a:lnTo>
                  <a:pt x="0" y="75731"/>
                </a:lnTo>
                <a:close/>
              </a:path>
            </a:pathLst>
          </a:custGeom>
          <a:ln w="8114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951292" y="5411559"/>
            <a:ext cx="106299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文件管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理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424906" y="5329766"/>
            <a:ext cx="1363980" cy="454659"/>
          </a:xfrm>
          <a:custGeom>
            <a:avLst/>
            <a:gdLst/>
            <a:ahLst/>
            <a:cxnLst/>
            <a:rect l="l" t="t" r="r" b="b"/>
            <a:pathLst>
              <a:path w="1363979" h="454660">
                <a:moveTo>
                  <a:pt x="0" y="75731"/>
                </a:moveTo>
                <a:lnTo>
                  <a:pt x="11702" y="35275"/>
                </a:lnTo>
                <a:lnTo>
                  <a:pt x="42132" y="7848"/>
                </a:lnTo>
                <a:lnTo>
                  <a:pt x="1287751" y="0"/>
                </a:lnTo>
                <a:lnTo>
                  <a:pt x="1302255" y="1386"/>
                </a:lnTo>
                <a:lnTo>
                  <a:pt x="1339158" y="20106"/>
                </a:lnTo>
                <a:lnTo>
                  <a:pt x="1360689" y="55208"/>
                </a:lnTo>
                <a:lnTo>
                  <a:pt x="1363503" y="378646"/>
                </a:lnTo>
                <a:lnTo>
                  <a:pt x="1362116" y="393146"/>
                </a:lnTo>
                <a:lnTo>
                  <a:pt x="1343391" y="430038"/>
                </a:lnTo>
                <a:lnTo>
                  <a:pt x="1308279" y="451564"/>
                </a:lnTo>
                <a:lnTo>
                  <a:pt x="75751" y="454377"/>
                </a:lnTo>
                <a:lnTo>
                  <a:pt x="61248" y="452991"/>
                </a:lnTo>
                <a:lnTo>
                  <a:pt x="24345" y="434271"/>
                </a:lnTo>
                <a:lnTo>
                  <a:pt x="2814" y="399168"/>
                </a:lnTo>
                <a:lnTo>
                  <a:pt x="0" y="75731"/>
                </a:lnTo>
                <a:close/>
              </a:path>
            </a:pathLst>
          </a:custGeom>
          <a:ln w="8114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2574511" y="5411559"/>
            <a:ext cx="106299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网络管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理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048125" y="5329766"/>
            <a:ext cx="1363980" cy="454659"/>
          </a:xfrm>
          <a:custGeom>
            <a:avLst/>
            <a:gdLst/>
            <a:ahLst/>
            <a:cxnLst/>
            <a:rect l="l" t="t" r="r" b="b"/>
            <a:pathLst>
              <a:path w="1363979" h="454660">
                <a:moveTo>
                  <a:pt x="0" y="75731"/>
                </a:moveTo>
                <a:lnTo>
                  <a:pt x="11702" y="35275"/>
                </a:lnTo>
                <a:lnTo>
                  <a:pt x="42132" y="7848"/>
                </a:lnTo>
                <a:lnTo>
                  <a:pt x="1287751" y="0"/>
                </a:lnTo>
                <a:lnTo>
                  <a:pt x="1302255" y="1386"/>
                </a:lnTo>
                <a:lnTo>
                  <a:pt x="1339158" y="20106"/>
                </a:lnTo>
                <a:lnTo>
                  <a:pt x="1360689" y="55208"/>
                </a:lnTo>
                <a:lnTo>
                  <a:pt x="1363503" y="378646"/>
                </a:lnTo>
                <a:lnTo>
                  <a:pt x="1362116" y="393146"/>
                </a:lnTo>
                <a:lnTo>
                  <a:pt x="1343391" y="430038"/>
                </a:lnTo>
                <a:lnTo>
                  <a:pt x="1308279" y="451564"/>
                </a:lnTo>
                <a:lnTo>
                  <a:pt x="75751" y="454377"/>
                </a:lnTo>
                <a:lnTo>
                  <a:pt x="61248" y="452991"/>
                </a:lnTo>
                <a:lnTo>
                  <a:pt x="24345" y="434271"/>
                </a:lnTo>
                <a:lnTo>
                  <a:pt x="2814" y="399168"/>
                </a:lnTo>
                <a:lnTo>
                  <a:pt x="0" y="75731"/>
                </a:lnTo>
                <a:close/>
              </a:path>
            </a:pathLst>
          </a:custGeom>
          <a:ln w="8114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4197729" y="5411559"/>
            <a:ext cx="106299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电源管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理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671343" y="5329766"/>
            <a:ext cx="1363980" cy="454659"/>
          </a:xfrm>
          <a:custGeom>
            <a:avLst/>
            <a:gdLst/>
            <a:ahLst/>
            <a:cxnLst/>
            <a:rect l="l" t="t" r="r" b="b"/>
            <a:pathLst>
              <a:path w="1363979" h="454660">
                <a:moveTo>
                  <a:pt x="0" y="75731"/>
                </a:moveTo>
                <a:lnTo>
                  <a:pt x="11702" y="35275"/>
                </a:lnTo>
                <a:lnTo>
                  <a:pt x="42132" y="7848"/>
                </a:lnTo>
                <a:lnTo>
                  <a:pt x="1287751" y="0"/>
                </a:lnTo>
                <a:lnTo>
                  <a:pt x="1302255" y="1386"/>
                </a:lnTo>
                <a:lnTo>
                  <a:pt x="1339158" y="20106"/>
                </a:lnTo>
                <a:lnTo>
                  <a:pt x="1360689" y="55208"/>
                </a:lnTo>
                <a:lnTo>
                  <a:pt x="1363503" y="378646"/>
                </a:lnTo>
                <a:lnTo>
                  <a:pt x="1362116" y="393146"/>
                </a:lnTo>
                <a:lnTo>
                  <a:pt x="1343391" y="430038"/>
                </a:lnTo>
                <a:lnTo>
                  <a:pt x="1308279" y="451564"/>
                </a:lnTo>
                <a:lnTo>
                  <a:pt x="75751" y="454377"/>
                </a:lnTo>
                <a:lnTo>
                  <a:pt x="61248" y="452991"/>
                </a:lnTo>
                <a:lnTo>
                  <a:pt x="24345" y="434271"/>
                </a:lnTo>
                <a:lnTo>
                  <a:pt x="2814" y="399168"/>
                </a:lnTo>
                <a:lnTo>
                  <a:pt x="0" y="75731"/>
                </a:lnTo>
                <a:close/>
              </a:path>
            </a:pathLst>
          </a:custGeom>
          <a:ln w="8114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5820948" y="5411559"/>
            <a:ext cx="106299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多核管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理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8332" y="3282146"/>
            <a:ext cx="6575425" cy="582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950" spc="114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操作系统课，我们要学什么</a:t>
            </a:r>
            <a:r>
              <a:rPr sz="4100" b="1" spc="-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?</a:t>
            </a:r>
            <a:endParaRPr sz="41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28405" y="1759656"/>
            <a:ext cx="541655" cy="0"/>
          </a:xfrm>
          <a:custGeom>
            <a:avLst/>
            <a:gdLst/>
            <a:ahLst/>
            <a:cxnLst/>
            <a:rect l="l" t="t" r="r" b="b"/>
            <a:pathLst>
              <a:path w="541654">
                <a:moveTo>
                  <a:pt x="0" y="0"/>
                </a:moveTo>
                <a:lnTo>
                  <a:pt x="541073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2400" y="1759656"/>
            <a:ext cx="7148195" cy="0"/>
          </a:xfrm>
          <a:custGeom>
            <a:avLst/>
            <a:gdLst/>
            <a:ahLst/>
            <a:cxnLst/>
            <a:rect l="l" t="t" r="r" b="b"/>
            <a:pathLst>
              <a:path w="7148195">
                <a:moveTo>
                  <a:pt x="0" y="0"/>
                </a:moveTo>
                <a:lnTo>
                  <a:pt x="7147572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470"/>
              </a:lnSpc>
            </a:pPr>
            <a:r>
              <a:rPr spc="100" dirty="0">
                <a:solidFill>
                  <a:srgbClr val="000000"/>
                </a:solidFill>
              </a:rPr>
              <a:t>学习操作系统可以有很多层次</a:t>
            </a:r>
            <a:endParaRPr spc="100" dirty="0">
              <a:solidFill>
                <a:srgbClr val="000000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7299973" y="2524163"/>
            <a:ext cx="1428750" cy="398780"/>
          </a:xfrm>
          <a:custGeom>
            <a:avLst/>
            <a:gdLst/>
            <a:ahLst/>
            <a:cxnLst/>
            <a:rect l="l" t="t" r="r" b="b"/>
            <a:pathLst>
              <a:path w="1428750" h="398780">
                <a:moveTo>
                  <a:pt x="0" y="0"/>
                </a:moveTo>
                <a:lnTo>
                  <a:pt x="1428432" y="0"/>
                </a:lnTo>
                <a:lnTo>
                  <a:pt x="1428432" y="398482"/>
                </a:lnTo>
                <a:lnTo>
                  <a:pt x="0" y="398482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460391" y="2608624"/>
            <a:ext cx="1106805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计算机硬件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299973" y="2125681"/>
            <a:ext cx="1428750" cy="398780"/>
          </a:xfrm>
          <a:custGeom>
            <a:avLst/>
            <a:gdLst/>
            <a:ahLst/>
            <a:cxnLst/>
            <a:rect l="l" t="t" r="r" b="b"/>
            <a:pathLst>
              <a:path w="1428750" h="398780">
                <a:moveTo>
                  <a:pt x="0" y="398482"/>
                </a:moveTo>
                <a:lnTo>
                  <a:pt x="1428432" y="398482"/>
                </a:lnTo>
                <a:lnTo>
                  <a:pt x="1428432" y="0"/>
                </a:lnTo>
                <a:lnTo>
                  <a:pt x="0" y="0"/>
                </a:lnTo>
                <a:lnTo>
                  <a:pt x="0" y="3984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299973" y="2125681"/>
            <a:ext cx="1428750" cy="398780"/>
          </a:xfrm>
          <a:custGeom>
            <a:avLst/>
            <a:gdLst/>
            <a:ahLst/>
            <a:cxnLst/>
            <a:rect l="l" t="t" r="r" b="b"/>
            <a:pathLst>
              <a:path w="1428750" h="398780">
                <a:moveTo>
                  <a:pt x="0" y="0"/>
                </a:moveTo>
                <a:lnTo>
                  <a:pt x="1428432" y="0"/>
                </a:lnTo>
                <a:lnTo>
                  <a:pt x="1428432" y="398482"/>
                </a:lnTo>
                <a:lnTo>
                  <a:pt x="0" y="398482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568576" y="2210250"/>
            <a:ext cx="890905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操作系统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299973" y="1727200"/>
            <a:ext cx="1428750" cy="398780"/>
          </a:xfrm>
          <a:custGeom>
            <a:avLst/>
            <a:gdLst/>
            <a:ahLst/>
            <a:cxnLst/>
            <a:rect l="l" t="t" r="r" b="b"/>
            <a:pathLst>
              <a:path w="1428750" h="398780">
                <a:moveTo>
                  <a:pt x="0" y="398480"/>
                </a:moveTo>
                <a:lnTo>
                  <a:pt x="1428432" y="398480"/>
                </a:lnTo>
                <a:lnTo>
                  <a:pt x="1428432" y="0"/>
                </a:lnTo>
                <a:lnTo>
                  <a:pt x="0" y="0"/>
                </a:lnTo>
                <a:lnTo>
                  <a:pt x="0" y="398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299973" y="1727200"/>
            <a:ext cx="1428750" cy="398780"/>
          </a:xfrm>
          <a:custGeom>
            <a:avLst/>
            <a:gdLst/>
            <a:ahLst/>
            <a:cxnLst/>
            <a:rect l="l" t="t" r="r" b="b"/>
            <a:pathLst>
              <a:path w="1428750" h="398780">
                <a:moveTo>
                  <a:pt x="0" y="0"/>
                </a:moveTo>
                <a:lnTo>
                  <a:pt x="1428432" y="0"/>
                </a:lnTo>
                <a:lnTo>
                  <a:pt x="1428432" y="398480"/>
                </a:lnTo>
                <a:lnTo>
                  <a:pt x="0" y="398480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69607" y="2010681"/>
            <a:ext cx="4863465" cy="8242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buFont typeface="Wingdings" panose="05000000000000000000" charset="0"/>
              <a:buChar char="Ø"/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从应用软件出发“</a:t>
            </a: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探到操作系统</a:t>
            </a:r>
            <a:r>
              <a:rPr sz="3450" b="1" spc="135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sz="3450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28955">
              <a:lnSpc>
                <a:spcPts val="2330"/>
              </a:lnSpc>
              <a:spcBef>
                <a:spcPts val="1415"/>
              </a:spcBef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集中在使用计算机的接口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上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68576" y="1811875"/>
            <a:ext cx="890905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应用软件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154737" y="2610261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386226" y="3073768"/>
            <a:ext cx="7569200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使用显示器：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f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；使用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U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fo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k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，使用文件：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op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rea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…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154737" y="3144426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328379" y="1986843"/>
            <a:ext cx="1363980" cy="194945"/>
          </a:xfrm>
          <a:custGeom>
            <a:avLst/>
            <a:gdLst/>
            <a:ahLst/>
            <a:cxnLst/>
            <a:rect l="l" t="t" r="r" b="b"/>
            <a:pathLst>
              <a:path w="1363979" h="194944">
                <a:moveTo>
                  <a:pt x="1331038" y="0"/>
                </a:moveTo>
                <a:lnTo>
                  <a:pt x="23666" y="1206"/>
                </a:lnTo>
                <a:lnTo>
                  <a:pt x="11462" y="7706"/>
                </a:lnTo>
                <a:lnTo>
                  <a:pt x="3101" y="18595"/>
                </a:lnTo>
                <a:lnTo>
                  <a:pt x="0" y="32457"/>
                </a:lnTo>
                <a:lnTo>
                  <a:pt x="1206" y="171073"/>
                </a:lnTo>
                <a:lnTo>
                  <a:pt x="7708" y="183274"/>
                </a:lnTo>
                <a:lnTo>
                  <a:pt x="18599" y="191633"/>
                </a:lnTo>
                <a:lnTo>
                  <a:pt x="32465" y="194734"/>
                </a:lnTo>
                <a:lnTo>
                  <a:pt x="1339836" y="193528"/>
                </a:lnTo>
                <a:lnTo>
                  <a:pt x="1352041" y="187027"/>
                </a:lnTo>
                <a:lnTo>
                  <a:pt x="1360402" y="176139"/>
                </a:lnTo>
                <a:lnTo>
                  <a:pt x="1363503" y="162276"/>
                </a:lnTo>
                <a:lnTo>
                  <a:pt x="1362297" y="23661"/>
                </a:lnTo>
                <a:lnTo>
                  <a:pt x="1355795" y="11459"/>
                </a:lnTo>
                <a:lnTo>
                  <a:pt x="1344904" y="3100"/>
                </a:lnTo>
                <a:lnTo>
                  <a:pt x="133103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328379" y="1986843"/>
            <a:ext cx="1363980" cy="194945"/>
          </a:xfrm>
          <a:custGeom>
            <a:avLst/>
            <a:gdLst/>
            <a:ahLst/>
            <a:cxnLst/>
            <a:rect l="l" t="t" r="r" b="b"/>
            <a:pathLst>
              <a:path w="1363979" h="194944">
                <a:moveTo>
                  <a:pt x="0" y="32456"/>
                </a:moveTo>
                <a:lnTo>
                  <a:pt x="3101" y="18594"/>
                </a:lnTo>
                <a:lnTo>
                  <a:pt x="11462" y="7706"/>
                </a:lnTo>
                <a:lnTo>
                  <a:pt x="23667" y="1205"/>
                </a:lnTo>
                <a:lnTo>
                  <a:pt x="1331038" y="0"/>
                </a:lnTo>
                <a:lnTo>
                  <a:pt x="1344904" y="3100"/>
                </a:lnTo>
                <a:lnTo>
                  <a:pt x="1355795" y="11459"/>
                </a:lnTo>
                <a:lnTo>
                  <a:pt x="1362297" y="23660"/>
                </a:lnTo>
                <a:lnTo>
                  <a:pt x="1363503" y="162276"/>
                </a:lnTo>
                <a:lnTo>
                  <a:pt x="1360402" y="176138"/>
                </a:lnTo>
                <a:lnTo>
                  <a:pt x="1352041" y="187027"/>
                </a:lnTo>
                <a:lnTo>
                  <a:pt x="1339836" y="193527"/>
                </a:lnTo>
                <a:lnTo>
                  <a:pt x="32465" y="194733"/>
                </a:lnTo>
                <a:lnTo>
                  <a:pt x="18599" y="191632"/>
                </a:lnTo>
                <a:lnTo>
                  <a:pt x="7708" y="183274"/>
                </a:lnTo>
                <a:lnTo>
                  <a:pt x="1206" y="171072"/>
                </a:lnTo>
                <a:lnTo>
                  <a:pt x="0" y="32456"/>
                </a:lnTo>
                <a:close/>
              </a:path>
            </a:pathLst>
          </a:custGeom>
          <a:ln w="8113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263451" y="4343027"/>
            <a:ext cx="1428750" cy="398780"/>
          </a:xfrm>
          <a:custGeom>
            <a:avLst/>
            <a:gdLst/>
            <a:ahLst/>
            <a:cxnLst/>
            <a:rect l="l" t="t" r="r" b="b"/>
            <a:pathLst>
              <a:path w="1428750" h="398779">
                <a:moveTo>
                  <a:pt x="0" y="0"/>
                </a:moveTo>
                <a:lnTo>
                  <a:pt x="1428432" y="0"/>
                </a:lnTo>
                <a:lnTo>
                  <a:pt x="1428432" y="398482"/>
                </a:lnTo>
                <a:lnTo>
                  <a:pt x="0" y="398482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263451" y="3944545"/>
            <a:ext cx="1428750" cy="398780"/>
          </a:xfrm>
          <a:custGeom>
            <a:avLst/>
            <a:gdLst/>
            <a:ahLst/>
            <a:cxnLst/>
            <a:rect l="l" t="t" r="r" b="b"/>
            <a:pathLst>
              <a:path w="1428750" h="398779">
                <a:moveTo>
                  <a:pt x="0" y="398482"/>
                </a:moveTo>
                <a:lnTo>
                  <a:pt x="1428432" y="398482"/>
                </a:lnTo>
                <a:lnTo>
                  <a:pt x="1428432" y="0"/>
                </a:lnTo>
                <a:lnTo>
                  <a:pt x="0" y="0"/>
                </a:lnTo>
                <a:lnTo>
                  <a:pt x="0" y="3984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263451" y="3944546"/>
            <a:ext cx="1428750" cy="398780"/>
          </a:xfrm>
          <a:custGeom>
            <a:avLst/>
            <a:gdLst/>
            <a:ahLst/>
            <a:cxnLst/>
            <a:rect l="l" t="t" r="r" b="b"/>
            <a:pathLst>
              <a:path w="1428750" h="398779">
                <a:moveTo>
                  <a:pt x="0" y="0"/>
                </a:moveTo>
                <a:lnTo>
                  <a:pt x="1428432" y="0"/>
                </a:lnTo>
                <a:lnTo>
                  <a:pt x="1428432" y="398482"/>
                </a:lnTo>
                <a:lnTo>
                  <a:pt x="0" y="398482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263451" y="3546064"/>
            <a:ext cx="1428750" cy="398780"/>
          </a:xfrm>
          <a:custGeom>
            <a:avLst/>
            <a:gdLst/>
            <a:ahLst/>
            <a:cxnLst/>
            <a:rect l="l" t="t" r="r" b="b"/>
            <a:pathLst>
              <a:path w="1428750" h="398779">
                <a:moveTo>
                  <a:pt x="0" y="398480"/>
                </a:moveTo>
                <a:lnTo>
                  <a:pt x="1428432" y="398480"/>
                </a:lnTo>
                <a:lnTo>
                  <a:pt x="1428432" y="0"/>
                </a:lnTo>
                <a:lnTo>
                  <a:pt x="0" y="0"/>
                </a:lnTo>
                <a:lnTo>
                  <a:pt x="0" y="398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263451" y="3546063"/>
            <a:ext cx="1428750" cy="398780"/>
          </a:xfrm>
          <a:custGeom>
            <a:avLst/>
            <a:gdLst/>
            <a:ahLst/>
            <a:cxnLst/>
            <a:rect l="l" t="t" r="r" b="b"/>
            <a:pathLst>
              <a:path w="1428750" h="398779">
                <a:moveTo>
                  <a:pt x="0" y="0"/>
                </a:moveTo>
                <a:lnTo>
                  <a:pt x="1428432" y="0"/>
                </a:lnTo>
                <a:lnTo>
                  <a:pt x="1428432" y="398480"/>
                </a:lnTo>
                <a:lnTo>
                  <a:pt x="0" y="398480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291857" y="3870619"/>
            <a:ext cx="1363980" cy="389890"/>
          </a:xfrm>
          <a:custGeom>
            <a:avLst/>
            <a:gdLst/>
            <a:ahLst/>
            <a:cxnLst/>
            <a:rect l="l" t="t" r="r" b="b"/>
            <a:pathLst>
              <a:path w="1363979" h="389889">
                <a:moveTo>
                  <a:pt x="1298573" y="0"/>
                </a:moveTo>
                <a:lnTo>
                  <a:pt x="61538" y="87"/>
                </a:lnTo>
                <a:lnTo>
                  <a:pt x="22924" y="15411"/>
                </a:lnTo>
                <a:lnTo>
                  <a:pt x="1609" y="50484"/>
                </a:lnTo>
                <a:lnTo>
                  <a:pt x="0" y="64912"/>
                </a:lnTo>
                <a:lnTo>
                  <a:pt x="87" y="327944"/>
                </a:lnTo>
                <a:lnTo>
                  <a:pt x="15415" y="366547"/>
                </a:lnTo>
                <a:lnTo>
                  <a:pt x="50497" y="387856"/>
                </a:lnTo>
                <a:lnTo>
                  <a:pt x="64930" y="389465"/>
                </a:lnTo>
                <a:lnTo>
                  <a:pt x="1301965" y="389378"/>
                </a:lnTo>
                <a:lnTo>
                  <a:pt x="1340578" y="374054"/>
                </a:lnTo>
                <a:lnTo>
                  <a:pt x="1361894" y="338982"/>
                </a:lnTo>
                <a:lnTo>
                  <a:pt x="1363503" y="324553"/>
                </a:lnTo>
                <a:lnTo>
                  <a:pt x="1363416" y="61521"/>
                </a:lnTo>
                <a:lnTo>
                  <a:pt x="1348087" y="22918"/>
                </a:lnTo>
                <a:lnTo>
                  <a:pt x="1313005" y="1609"/>
                </a:lnTo>
                <a:lnTo>
                  <a:pt x="129857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291857" y="3870619"/>
            <a:ext cx="1363980" cy="389890"/>
          </a:xfrm>
          <a:custGeom>
            <a:avLst/>
            <a:gdLst/>
            <a:ahLst/>
            <a:cxnLst/>
            <a:rect l="l" t="t" r="r" b="b"/>
            <a:pathLst>
              <a:path w="1363979" h="389889">
                <a:moveTo>
                  <a:pt x="0" y="64912"/>
                </a:moveTo>
                <a:lnTo>
                  <a:pt x="13425" y="25380"/>
                </a:lnTo>
                <a:lnTo>
                  <a:pt x="47334" y="2411"/>
                </a:lnTo>
                <a:lnTo>
                  <a:pt x="1298573" y="0"/>
                </a:lnTo>
                <a:lnTo>
                  <a:pt x="1313005" y="1609"/>
                </a:lnTo>
                <a:lnTo>
                  <a:pt x="1348087" y="22918"/>
                </a:lnTo>
                <a:lnTo>
                  <a:pt x="1363416" y="61521"/>
                </a:lnTo>
                <a:lnTo>
                  <a:pt x="1363503" y="324553"/>
                </a:lnTo>
                <a:lnTo>
                  <a:pt x="1361894" y="338982"/>
                </a:lnTo>
                <a:lnTo>
                  <a:pt x="1340579" y="374054"/>
                </a:lnTo>
                <a:lnTo>
                  <a:pt x="1301965" y="389379"/>
                </a:lnTo>
                <a:lnTo>
                  <a:pt x="64930" y="389466"/>
                </a:lnTo>
                <a:lnTo>
                  <a:pt x="50498" y="387857"/>
                </a:lnTo>
                <a:lnTo>
                  <a:pt x="15416" y="366548"/>
                </a:lnTo>
                <a:lnTo>
                  <a:pt x="87" y="327945"/>
                </a:lnTo>
                <a:lnTo>
                  <a:pt x="0" y="64912"/>
                </a:lnTo>
                <a:close/>
              </a:path>
            </a:pathLst>
          </a:custGeom>
          <a:ln w="8114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154737" y="4272255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866902" y="3672224"/>
            <a:ext cx="5166360" cy="1386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buFont typeface="Wingdings" panose="05000000000000000000" charset="0"/>
              <a:buChar char="Ø"/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从应用软件出发“</a:t>
            </a: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进入操作系统</a:t>
            </a:r>
            <a:r>
              <a:rPr sz="3450" b="1" spc="135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sz="3450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31495">
              <a:lnSpc>
                <a:spcPct val="100000"/>
              </a:lnSpc>
              <a:spcBef>
                <a:spcPts val="1395"/>
              </a:spcBef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一段文字是如何写到磁盘上的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…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469900" indent="-457200">
              <a:lnSpc>
                <a:spcPct val="100000"/>
              </a:lnSpc>
              <a:spcBef>
                <a:spcPts val="1650"/>
              </a:spcBef>
              <a:buFont typeface="Wingdings" panose="05000000000000000000" charset="0"/>
              <a:buChar char="Ø"/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从硬件出发“</a:t>
            </a: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设计并实现操作系统</a:t>
            </a:r>
            <a:r>
              <a:rPr sz="3450" b="1" spc="135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sz="3450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423868" y="4426993"/>
            <a:ext cx="1106805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计算机硬件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532054" y="3630246"/>
            <a:ext cx="890905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应用软件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488820" y="3985086"/>
            <a:ext cx="890905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操作系统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86226" y="5266628"/>
            <a:ext cx="3919220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给你一个板子，配一个操作系统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…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154737" y="5337879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476557" y="5904950"/>
            <a:ext cx="1428750" cy="398780"/>
          </a:xfrm>
          <a:custGeom>
            <a:avLst/>
            <a:gdLst/>
            <a:ahLst/>
            <a:cxnLst/>
            <a:rect l="l" t="t" r="r" b="b"/>
            <a:pathLst>
              <a:path w="1428750" h="398779">
                <a:moveTo>
                  <a:pt x="0" y="0"/>
                </a:moveTo>
                <a:lnTo>
                  <a:pt x="1428432" y="0"/>
                </a:lnTo>
                <a:lnTo>
                  <a:pt x="1428432" y="398482"/>
                </a:lnTo>
                <a:lnTo>
                  <a:pt x="0" y="398482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476557" y="5506468"/>
            <a:ext cx="1428750" cy="398780"/>
          </a:xfrm>
          <a:custGeom>
            <a:avLst/>
            <a:gdLst/>
            <a:ahLst/>
            <a:cxnLst/>
            <a:rect l="l" t="t" r="r" b="b"/>
            <a:pathLst>
              <a:path w="1428750" h="398779">
                <a:moveTo>
                  <a:pt x="0" y="398482"/>
                </a:moveTo>
                <a:lnTo>
                  <a:pt x="1428432" y="398482"/>
                </a:lnTo>
                <a:lnTo>
                  <a:pt x="1428432" y="0"/>
                </a:lnTo>
                <a:lnTo>
                  <a:pt x="0" y="0"/>
                </a:lnTo>
                <a:lnTo>
                  <a:pt x="0" y="3984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476557" y="5506468"/>
            <a:ext cx="1428750" cy="398780"/>
          </a:xfrm>
          <a:custGeom>
            <a:avLst/>
            <a:gdLst/>
            <a:ahLst/>
            <a:cxnLst/>
            <a:rect l="l" t="t" r="r" b="b"/>
            <a:pathLst>
              <a:path w="1428750" h="398779">
                <a:moveTo>
                  <a:pt x="0" y="0"/>
                </a:moveTo>
                <a:lnTo>
                  <a:pt x="1428432" y="0"/>
                </a:lnTo>
                <a:lnTo>
                  <a:pt x="1428432" y="398482"/>
                </a:lnTo>
                <a:lnTo>
                  <a:pt x="0" y="398482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476557" y="5107986"/>
            <a:ext cx="1428750" cy="398780"/>
          </a:xfrm>
          <a:custGeom>
            <a:avLst/>
            <a:gdLst/>
            <a:ahLst/>
            <a:cxnLst/>
            <a:rect l="l" t="t" r="r" b="b"/>
            <a:pathLst>
              <a:path w="1428750" h="398779">
                <a:moveTo>
                  <a:pt x="0" y="398480"/>
                </a:moveTo>
                <a:lnTo>
                  <a:pt x="1428432" y="398480"/>
                </a:lnTo>
                <a:lnTo>
                  <a:pt x="1428432" y="0"/>
                </a:lnTo>
                <a:lnTo>
                  <a:pt x="0" y="0"/>
                </a:lnTo>
                <a:lnTo>
                  <a:pt x="0" y="398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476557" y="5107987"/>
            <a:ext cx="1428750" cy="398780"/>
          </a:xfrm>
          <a:custGeom>
            <a:avLst/>
            <a:gdLst/>
            <a:ahLst/>
            <a:cxnLst/>
            <a:rect l="l" t="t" r="r" b="b"/>
            <a:pathLst>
              <a:path w="1428750" h="398779">
                <a:moveTo>
                  <a:pt x="0" y="0"/>
                </a:moveTo>
                <a:lnTo>
                  <a:pt x="1428432" y="0"/>
                </a:lnTo>
                <a:lnTo>
                  <a:pt x="1428432" y="398480"/>
                </a:lnTo>
                <a:lnTo>
                  <a:pt x="0" y="398480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504964" y="5475816"/>
            <a:ext cx="1363980" cy="519430"/>
          </a:xfrm>
          <a:custGeom>
            <a:avLst/>
            <a:gdLst/>
            <a:ahLst/>
            <a:cxnLst/>
            <a:rect l="l" t="t" r="r" b="b"/>
            <a:pathLst>
              <a:path w="1363979" h="519429">
                <a:moveTo>
                  <a:pt x="1276930" y="0"/>
                </a:moveTo>
                <a:lnTo>
                  <a:pt x="77191" y="502"/>
                </a:lnTo>
                <a:lnTo>
                  <a:pt x="37889" y="14970"/>
                </a:lnTo>
                <a:lnTo>
                  <a:pt x="10367" y="45443"/>
                </a:lnTo>
                <a:lnTo>
                  <a:pt x="0" y="86549"/>
                </a:lnTo>
                <a:lnTo>
                  <a:pt x="502" y="442117"/>
                </a:lnTo>
                <a:lnTo>
                  <a:pt x="14974" y="481409"/>
                </a:lnTo>
                <a:lnTo>
                  <a:pt x="45455" y="508923"/>
                </a:lnTo>
                <a:lnTo>
                  <a:pt x="86572" y="519289"/>
                </a:lnTo>
                <a:lnTo>
                  <a:pt x="1286313" y="518786"/>
                </a:lnTo>
                <a:lnTo>
                  <a:pt x="1325614" y="504317"/>
                </a:lnTo>
                <a:lnTo>
                  <a:pt x="1353135" y="473844"/>
                </a:lnTo>
                <a:lnTo>
                  <a:pt x="1363503" y="432738"/>
                </a:lnTo>
                <a:lnTo>
                  <a:pt x="1363001" y="77169"/>
                </a:lnTo>
                <a:lnTo>
                  <a:pt x="1348528" y="37878"/>
                </a:lnTo>
                <a:lnTo>
                  <a:pt x="1318047" y="10365"/>
                </a:lnTo>
                <a:lnTo>
                  <a:pt x="127693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504964" y="5475816"/>
            <a:ext cx="1363980" cy="519430"/>
          </a:xfrm>
          <a:custGeom>
            <a:avLst/>
            <a:gdLst/>
            <a:ahLst/>
            <a:cxnLst/>
            <a:rect l="l" t="t" r="r" b="b"/>
            <a:pathLst>
              <a:path w="1363979" h="519429">
                <a:moveTo>
                  <a:pt x="0" y="86549"/>
                </a:moveTo>
                <a:lnTo>
                  <a:pt x="10368" y="45444"/>
                </a:lnTo>
                <a:lnTo>
                  <a:pt x="37889" y="14970"/>
                </a:lnTo>
                <a:lnTo>
                  <a:pt x="77191" y="502"/>
                </a:lnTo>
                <a:lnTo>
                  <a:pt x="1276930" y="0"/>
                </a:lnTo>
                <a:lnTo>
                  <a:pt x="1291485" y="1218"/>
                </a:lnTo>
                <a:lnTo>
                  <a:pt x="1329654" y="17896"/>
                </a:lnTo>
                <a:lnTo>
                  <a:pt x="1355396" y="49932"/>
                </a:lnTo>
                <a:lnTo>
                  <a:pt x="1363503" y="432739"/>
                </a:lnTo>
                <a:lnTo>
                  <a:pt x="1362285" y="447290"/>
                </a:lnTo>
                <a:lnTo>
                  <a:pt x="1345602" y="485449"/>
                </a:lnTo>
                <a:lnTo>
                  <a:pt x="1313557" y="511184"/>
                </a:lnTo>
                <a:lnTo>
                  <a:pt x="86572" y="519288"/>
                </a:lnTo>
                <a:lnTo>
                  <a:pt x="72017" y="518070"/>
                </a:lnTo>
                <a:lnTo>
                  <a:pt x="33848" y="501392"/>
                </a:lnTo>
                <a:lnTo>
                  <a:pt x="8106" y="469355"/>
                </a:lnTo>
                <a:lnTo>
                  <a:pt x="0" y="86549"/>
                </a:lnTo>
                <a:close/>
              </a:path>
            </a:pathLst>
          </a:custGeom>
          <a:ln w="8114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5636974" y="5546586"/>
            <a:ext cx="1106805" cy="67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64770">
              <a:lnSpc>
                <a:spcPct val="176000"/>
              </a:lnSpc>
            </a:pPr>
            <a:r>
              <a:rPr sz="1650" b="1" spc="35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操作系统 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计算机硬件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745159" y="5191744"/>
            <a:ext cx="890905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应用软件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8386233" y="3471333"/>
            <a:ext cx="1320800" cy="1574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8816616" y="3811981"/>
            <a:ext cx="418465" cy="721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535"/>
              </a:lnSpc>
            </a:pPr>
            <a:r>
              <a:rPr sz="5450" b="1" spc="95" dirty="0">
                <a:solidFill>
                  <a:srgbClr val="FF0000"/>
                </a:solidFill>
                <a:latin typeface="Symbol" panose="05050102010706020507"/>
                <a:cs typeface="Symbol" panose="05050102010706020507"/>
              </a:rPr>
              <a:t></a:t>
            </a:r>
            <a:endParaRPr sz="545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047638" y="1759656"/>
            <a:ext cx="222250" cy="0"/>
          </a:xfrm>
          <a:custGeom>
            <a:avLst/>
            <a:gdLst/>
            <a:ahLst/>
            <a:cxnLst/>
            <a:rect l="l" t="t" r="r" b="b"/>
            <a:pathLst>
              <a:path w="222250">
                <a:moveTo>
                  <a:pt x="0" y="0"/>
                </a:moveTo>
                <a:lnTo>
                  <a:pt x="221840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2400" y="1759656"/>
            <a:ext cx="7466965" cy="0"/>
          </a:xfrm>
          <a:custGeom>
            <a:avLst/>
            <a:gdLst/>
            <a:ahLst/>
            <a:cxnLst/>
            <a:rect l="l" t="t" r="r" b="b"/>
            <a:pathLst>
              <a:path w="7466965">
                <a:moveTo>
                  <a:pt x="0" y="0"/>
                </a:moveTo>
                <a:lnTo>
                  <a:pt x="7466806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470"/>
              </a:lnSpc>
            </a:pPr>
            <a:r>
              <a:rPr spc="100" dirty="0">
                <a:solidFill>
                  <a:srgbClr val="000000"/>
                </a:solidFill>
              </a:rPr>
              <a:t>我们的课程目标</a:t>
            </a:r>
            <a:endParaRPr spc="100" dirty="0">
              <a:solidFill>
                <a:srgbClr val="000000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9600" y="2010410"/>
            <a:ext cx="2631440" cy="344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buFont typeface="Wingdings" panose="05000000000000000000" charset="0"/>
              <a:buChar char="Ø"/>
            </a:pP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进入操作系</a:t>
            </a:r>
            <a:r>
              <a:rPr sz="3450" b="1" spc="135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统</a:t>
            </a:r>
            <a:endParaRPr sz="3450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95022" y="2610261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95022" y="3639373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19206" y="1842597"/>
            <a:ext cx="1428750" cy="398780"/>
          </a:xfrm>
          <a:custGeom>
            <a:avLst/>
            <a:gdLst/>
            <a:ahLst/>
            <a:cxnLst/>
            <a:rect l="l" t="t" r="r" b="b"/>
            <a:pathLst>
              <a:path w="1428750" h="398780">
                <a:moveTo>
                  <a:pt x="0" y="0"/>
                </a:moveTo>
                <a:lnTo>
                  <a:pt x="1428432" y="0"/>
                </a:lnTo>
                <a:lnTo>
                  <a:pt x="1428432" y="398482"/>
                </a:lnTo>
                <a:lnTo>
                  <a:pt x="0" y="398482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07187" y="2539750"/>
            <a:ext cx="5069205" cy="3324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1495" marR="116205">
              <a:lnSpc>
                <a:spcPct val="17100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能理解真实操作系统的运转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！</a:t>
            </a:r>
            <a:r>
              <a:rPr sz="19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f(“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h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dirty="0">
                <a:latin typeface="Arial" panose="020B0604020202020204"/>
                <a:cs typeface="Arial" panose="020B0604020202020204"/>
              </a:rPr>
              <a:t>ll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o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”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)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到底怎么回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事</a:t>
            </a:r>
            <a:r>
              <a:rPr sz="2925" b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能在真实的基本操作系统上动手实践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！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indent="1103630">
              <a:lnSpc>
                <a:spcPct val="100000"/>
              </a:lnSpc>
              <a:spcBef>
                <a:spcPts val="1175"/>
              </a:spcBef>
            </a:pP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能自己动手才是真正学会了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…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469900" indent="-457200">
              <a:lnSpc>
                <a:spcPct val="100000"/>
              </a:lnSpc>
              <a:spcBef>
                <a:spcPts val="2005"/>
              </a:spcBef>
              <a:buFont typeface="Wingdings" panose="05000000000000000000" charset="0"/>
              <a:buChar char="Ø"/>
            </a:pP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为什么要这样干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?</a:t>
            </a:r>
            <a:endParaRPr sz="2400" b="1" dirty="0">
              <a:solidFill>
                <a:srgbClr val="FF0000"/>
              </a:solidFill>
              <a:latin typeface="Arial" panose="020B0604020202020204"/>
              <a:cs typeface="Arial" panose="020B0604020202020204"/>
            </a:endParaRPr>
          </a:p>
          <a:p>
            <a:pPr marL="469900" indent="-457200">
              <a:lnSpc>
                <a:spcPct val="100000"/>
              </a:lnSpc>
              <a:spcBef>
                <a:spcPts val="2005"/>
              </a:spcBef>
              <a:buFont typeface="Wingdings" panose="05000000000000000000" charset="0"/>
              <a:buChar char="Ø"/>
            </a:pPr>
            <a:endParaRPr sz="2400" b="1" dirty="0">
              <a:solidFill>
                <a:srgbClr val="FF000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79623" y="1927242"/>
            <a:ext cx="1106805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计算机硬件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619206" y="1444114"/>
            <a:ext cx="1428750" cy="398780"/>
          </a:xfrm>
          <a:custGeom>
            <a:avLst/>
            <a:gdLst/>
            <a:ahLst/>
            <a:cxnLst/>
            <a:rect l="l" t="t" r="r" b="b"/>
            <a:pathLst>
              <a:path w="1428750" h="398780">
                <a:moveTo>
                  <a:pt x="0" y="398482"/>
                </a:moveTo>
                <a:lnTo>
                  <a:pt x="1428432" y="398482"/>
                </a:lnTo>
                <a:lnTo>
                  <a:pt x="1428432" y="0"/>
                </a:lnTo>
                <a:lnTo>
                  <a:pt x="0" y="0"/>
                </a:lnTo>
                <a:lnTo>
                  <a:pt x="0" y="3984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619206" y="1444115"/>
            <a:ext cx="1428750" cy="398780"/>
          </a:xfrm>
          <a:custGeom>
            <a:avLst/>
            <a:gdLst/>
            <a:ahLst/>
            <a:cxnLst/>
            <a:rect l="l" t="t" r="r" b="b"/>
            <a:pathLst>
              <a:path w="1428750" h="398780">
                <a:moveTo>
                  <a:pt x="0" y="0"/>
                </a:moveTo>
                <a:lnTo>
                  <a:pt x="1428432" y="0"/>
                </a:lnTo>
                <a:lnTo>
                  <a:pt x="1428432" y="398482"/>
                </a:lnTo>
                <a:lnTo>
                  <a:pt x="0" y="398482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619206" y="1045633"/>
            <a:ext cx="1428750" cy="398780"/>
          </a:xfrm>
          <a:custGeom>
            <a:avLst/>
            <a:gdLst/>
            <a:ahLst/>
            <a:cxnLst/>
            <a:rect l="l" t="t" r="r" b="b"/>
            <a:pathLst>
              <a:path w="1428750" h="398780">
                <a:moveTo>
                  <a:pt x="0" y="398480"/>
                </a:moveTo>
                <a:lnTo>
                  <a:pt x="1428432" y="398480"/>
                </a:lnTo>
                <a:lnTo>
                  <a:pt x="1428432" y="0"/>
                </a:lnTo>
                <a:lnTo>
                  <a:pt x="0" y="0"/>
                </a:lnTo>
                <a:lnTo>
                  <a:pt x="0" y="398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619206" y="1045632"/>
            <a:ext cx="1428750" cy="398780"/>
          </a:xfrm>
          <a:custGeom>
            <a:avLst/>
            <a:gdLst/>
            <a:ahLst/>
            <a:cxnLst/>
            <a:rect l="l" t="t" r="r" b="b"/>
            <a:pathLst>
              <a:path w="1428750" h="398780">
                <a:moveTo>
                  <a:pt x="0" y="0"/>
                </a:moveTo>
                <a:lnTo>
                  <a:pt x="1428432" y="0"/>
                </a:lnTo>
                <a:lnTo>
                  <a:pt x="1428432" y="398480"/>
                </a:lnTo>
                <a:lnTo>
                  <a:pt x="0" y="398480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887810" y="1130493"/>
            <a:ext cx="890905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应用软件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647612" y="1370189"/>
            <a:ext cx="1363980" cy="389890"/>
          </a:xfrm>
          <a:custGeom>
            <a:avLst/>
            <a:gdLst/>
            <a:ahLst/>
            <a:cxnLst/>
            <a:rect l="l" t="t" r="r" b="b"/>
            <a:pathLst>
              <a:path w="1363979" h="389889">
                <a:moveTo>
                  <a:pt x="1298573" y="0"/>
                </a:moveTo>
                <a:lnTo>
                  <a:pt x="61538" y="87"/>
                </a:lnTo>
                <a:lnTo>
                  <a:pt x="22924" y="15412"/>
                </a:lnTo>
                <a:lnTo>
                  <a:pt x="1609" y="50484"/>
                </a:lnTo>
                <a:lnTo>
                  <a:pt x="0" y="64912"/>
                </a:lnTo>
                <a:lnTo>
                  <a:pt x="87" y="327946"/>
                </a:lnTo>
                <a:lnTo>
                  <a:pt x="15416" y="366548"/>
                </a:lnTo>
                <a:lnTo>
                  <a:pt x="50498" y="387857"/>
                </a:lnTo>
                <a:lnTo>
                  <a:pt x="64931" y="389467"/>
                </a:lnTo>
                <a:lnTo>
                  <a:pt x="1301966" y="389380"/>
                </a:lnTo>
                <a:lnTo>
                  <a:pt x="1340579" y="374054"/>
                </a:lnTo>
                <a:lnTo>
                  <a:pt x="1361894" y="338982"/>
                </a:lnTo>
                <a:lnTo>
                  <a:pt x="1363503" y="324553"/>
                </a:lnTo>
                <a:lnTo>
                  <a:pt x="1363416" y="61521"/>
                </a:lnTo>
                <a:lnTo>
                  <a:pt x="1348087" y="22918"/>
                </a:lnTo>
                <a:lnTo>
                  <a:pt x="1313005" y="1609"/>
                </a:lnTo>
                <a:lnTo>
                  <a:pt x="129857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647612" y="1370189"/>
            <a:ext cx="1363980" cy="389890"/>
          </a:xfrm>
          <a:custGeom>
            <a:avLst/>
            <a:gdLst/>
            <a:ahLst/>
            <a:cxnLst/>
            <a:rect l="l" t="t" r="r" b="b"/>
            <a:pathLst>
              <a:path w="1363979" h="389889">
                <a:moveTo>
                  <a:pt x="0" y="64912"/>
                </a:moveTo>
                <a:lnTo>
                  <a:pt x="13425" y="25380"/>
                </a:lnTo>
                <a:lnTo>
                  <a:pt x="47334" y="2411"/>
                </a:lnTo>
                <a:lnTo>
                  <a:pt x="1298573" y="0"/>
                </a:lnTo>
                <a:lnTo>
                  <a:pt x="1313005" y="1609"/>
                </a:lnTo>
                <a:lnTo>
                  <a:pt x="1348087" y="22918"/>
                </a:lnTo>
                <a:lnTo>
                  <a:pt x="1363416" y="61521"/>
                </a:lnTo>
                <a:lnTo>
                  <a:pt x="1363503" y="324553"/>
                </a:lnTo>
                <a:lnTo>
                  <a:pt x="1361894" y="338982"/>
                </a:lnTo>
                <a:lnTo>
                  <a:pt x="1340579" y="374054"/>
                </a:lnTo>
                <a:lnTo>
                  <a:pt x="1301965" y="389379"/>
                </a:lnTo>
                <a:lnTo>
                  <a:pt x="64930" y="389466"/>
                </a:lnTo>
                <a:lnTo>
                  <a:pt x="50498" y="387857"/>
                </a:lnTo>
                <a:lnTo>
                  <a:pt x="15416" y="366548"/>
                </a:lnTo>
                <a:lnTo>
                  <a:pt x="87" y="327945"/>
                </a:lnTo>
                <a:lnTo>
                  <a:pt x="0" y="64912"/>
                </a:lnTo>
                <a:close/>
              </a:path>
            </a:pathLst>
          </a:custGeom>
          <a:ln w="8114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126511" y="5378263"/>
            <a:ext cx="547687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学生：我们要成为</a:t>
            </a: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掌握计算机关键技术的工程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师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27407" y="5456485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7844576" y="1485336"/>
            <a:ext cx="890905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操作系统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95022" y="3120083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125845" y="2343856"/>
            <a:ext cx="1558290" cy="454659"/>
          </a:xfrm>
          <a:custGeom>
            <a:avLst/>
            <a:gdLst/>
            <a:ahLst/>
            <a:cxnLst/>
            <a:rect l="l" t="t" r="r" b="b"/>
            <a:pathLst>
              <a:path w="1558290" h="454660">
                <a:moveTo>
                  <a:pt x="1482538" y="0"/>
                </a:moveTo>
                <a:lnTo>
                  <a:pt x="69357" y="265"/>
                </a:lnTo>
                <a:lnTo>
                  <a:pt x="30342" y="15109"/>
                </a:lnTo>
                <a:lnTo>
                  <a:pt x="5374" y="47658"/>
                </a:lnTo>
                <a:lnTo>
                  <a:pt x="0" y="75730"/>
                </a:lnTo>
                <a:lnTo>
                  <a:pt x="266" y="385039"/>
                </a:lnTo>
                <a:lnTo>
                  <a:pt x="15114" y="424043"/>
                </a:lnTo>
                <a:lnTo>
                  <a:pt x="47672" y="449003"/>
                </a:lnTo>
                <a:lnTo>
                  <a:pt x="75751" y="454376"/>
                </a:lnTo>
                <a:lnTo>
                  <a:pt x="1488933" y="454110"/>
                </a:lnTo>
                <a:lnTo>
                  <a:pt x="1527948" y="439267"/>
                </a:lnTo>
                <a:lnTo>
                  <a:pt x="1552915" y="406717"/>
                </a:lnTo>
                <a:lnTo>
                  <a:pt x="1558289" y="378645"/>
                </a:lnTo>
                <a:lnTo>
                  <a:pt x="1558023" y="69337"/>
                </a:lnTo>
                <a:lnTo>
                  <a:pt x="1543176" y="30333"/>
                </a:lnTo>
                <a:lnTo>
                  <a:pt x="1510617" y="5373"/>
                </a:lnTo>
                <a:lnTo>
                  <a:pt x="1482538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125845" y="2343856"/>
            <a:ext cx="1558290" cy="454659"/>
          </a:xfrm>
          <a:custGeom>
            <a:avLst/>
            <a:gdLst/>
            <a:ahLst/>
            <a:cxnLst/>
            <a:rect l="l" t="t" r="r" b="b"/>
            <a:pathLst>
              <a:path w="1558290" h="454660">
                <a:moveTo>
                  <a:pt x="0" y="75731"/>
                </a:moveTo>
                <a:lnTo>
                  <a:pt x="11702" y="35275"/>
                </a:lnTo>
                <a:lnTo>
                  <a:pt x="42132" y="7848"/>
                </a:lnTo>
                <a:lnTo>
                  <a:pt x="1482538" y="0"/>
                </a:lnTo>
                <a:lnTo>
                  <a:pt x="1497041" y="1386"/>
                </a:lnTo>
                <a:lnTo>
                  <a:pt x="1533944" y="20106"/>
                </a:lnTo>
                <a:lnTo>
                  <a:pt x="1555475" y="55209"/>
                </a:lnTo>
                <a:lnTo>
                  <a:pt x="1558290" y="378646"/>
                </a:lnTo>
                <a:lnTo>
                  <a:pt x="1556903" y="393146"/>
                </a:lnTo>
                <a:lnTo>
                  <a:pt x="1538178" y="430038"/>
                </a:lnTo>
                <a:lnTo>
                  <a:pt x="1503065" y="451564"/>
                </a:lnTo>
                <a:lnTo>
                  <a:pt x="75751" y="454377"/>
                </a:lnTo>
                <a:lnTo>
                  <a:pt x="61248" y="452991"/>
                </a:lnTo>
                <a:lnTo>
                  <a:pt x="24345" y="434271"/>
                </a:lnTo>
                <a:lnTo>
                  <a:pt x="2814" y="399168"/>
                </a:lnTo>
                <a:lnTo>
                  <a:pt x="0" y="75731"/>
                </a:lnTo>
                <a:close/>
              </a:path>
            </a:pathLst>
          </a:custGeom>
          <a:ln w="8114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580346" y="2863143"/>
            <a:ext cx="1688464" cy="454659"/>
          </a:xfrm>
          <a:custGeom>
            <a:avLst/>
            <a:gdLst/>
            <a:ahLst/>
            <a:cxnLst/>
            <a:rect l="l" t="t" r="r" b="b"/>
            <a:pathLst>
              <a:path w="1688465" h="454660">
                <a:moveTo>
                  <a:pt x="1612397" y="0"/>
                </a:moveTo>
                <a:lnTo>
                  <a:pt x="69356" y="265"/>
                </a:lnTo>
                <a:lnTo>
                  <a:pt x="30341" y="15109"/>
                </a:lnTo>
                <a:lnTo>
                  <a:pt x="5374" y="47659"/>
                </a:lnTo>
                <a:lnTo>
                  <a:pt x="0" y="75731"/>
                </a:lnTo>
                <a:lnTo>
                  <a:pt x="265" y="385039"/>
                </a:lnTo>
                <a:lnTo>
                  <a:pt x="15112" y="424044"/>
                </a:lnTo>
                <a:lnTo>
                  <a:pt x="47671" y="449004"/>
                </a:lnTo>
                <a:lnTo>
                  <a:pt x="75750" y="454378"/>
                </a:lnTo>
                <a:lnTo>
                  <a:pt x="1618790" y="454112"/>
                </a:lnTo>
                <a:lnTo>
                  <a:pt x="1657805" y="439269"/>
                </a:lnTo>
                <a:lnTo>
                  <a:pt x="1682772" y="406719"/>
                </a:lnTo>
                <a:lnTo>
                  <a:pt x="1688147" y="378647"/>
                </a:lnTo>
                <a:lnTo>
                  <a:pt x="1687881" y="69338"/>
                </a:lnTo>
                <a:lnTo>
                  <a:pt x="1673034" y="30334"/>
                </a:lnTo>
                <a:lnTo>
                  <a:pt x="1640476" y="5373"/>
                </a:lnTo>
                <a:lnTo>
                  <a:pt x="1612397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580346" y="2863143"/>
            <a:ext cx="1688464" cy="454659"/>
          </a:xfrm>
          <a:custGeom>
            <a:avLst/>
            <a:gdLst/>
            <a:ahLst/>
            <a:cxnLst/>
            <a:rect l="l" t="t" r="r" b="b"/>
            <a:pathLst>
              <a:path w="1688465" h="454660">
                <a:moveTo>
                  <a:pt x="0" y="75730"/>
                </a:moveTo>
                <a:lnTo>
                  <a:pt x="11703" y="35274"/>
                </a:lnTo>
                <a:lnTo>
                  <a:pt x="42132" y="7847"/>
                </a:lnTo>
                <a:lnTo>
                  <a:pt x="1612397" y="0"/>
                </a:lnTo>
                <a:lnTo>
                  <a:pt x="1626900" y="1386"/>
                </a:lnTo>
                <a:lnTo>
                  <a:pt x="1663803" y="20106"/>
                </a:lnTo>
                <a:lnTo>
                  <a:pt x="1685333" y="55209"/>
                </a:lnTo>
                <a:lnTo>
                  <a:pt x="1688147" y="378647"/>
                </a:lnTo>
                <a:lnTo>
                  <a:pt x="1686760" y="393147"/>
                </a:lnTo>
                <a:lnTo>
                  <a:pt x="1668035" y="430039"/>
                </a:lnTo>
                <a:lnTo>
                  <a:pt x="1632922" y="451564"/>
                </a:lnTo>
                <a:lnTo>
                  <a:pt x="75750" y="454377"/>
                </a:lnTo>
                <a:lnTo>
                  <a:pt x="61247" y="452991"/>
                </a:lnTo>
                <a:lnTo>
                  <a:pt x="24344" y="434271"/>
                </a:lnTo>
                <a:lnTo>
                  <a:pt x="2813" y="399168"/>
                </a:lnTo>
                <a:lnTo>
                  <a:pt x="0" y="75730"/>
                </a:lnTo>
                <a:close/>
              </a:path>
            </a:pathLst>
          </a:custGeom>
          <a:ln w="8114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228119" y="2426458"/>
            <a:ext cx="1856739" cy="796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改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管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理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46735">
              <a:lnSpc>
                <a:spcPts val="2330"/>
              </a:lnSpc>
              <a:spcBef>
                <a:spcPts val="1710"/>
              </a:spcBef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改屏幕输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出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969918" y="3382433"/>
            <a:ext cx="1623695" cy="454659"/>
          </a:xfrm>
          <a:custGeom>
            <a:avLst/>
            <a:gdLst/>
            <a:ahLst/>
            <a:cxnLst/>
            <a:rect l="l" t="t" r="r" b="b"/>
            <a:pathLst>
              <a:path w="1623695" h="454660">
                <a:moveTo>
                  <a:pt x="1547467" y="0"/>
                </a:moveTo>
                <a:lnTo>
                  <a:pt x="69356" y="266"/>
                </a:lnTo>
                <a:lnTo>
                  <a:pt x="30341" y="15110"/>
                </a:lnTo>
                <a:lnTo>
                  <a:pt x="5374" y="47659"/>
                </a:lnTo>
                <a:lnTo>
                  <a:pt x="0" y="75731"/>
                </a:lnTo>
                <a:lnTo>
                  <a:pt x="266" y="385040"/>
                </a:lnTo>
                <a:lnTo>
                  <a:pt x="15114" y="424044"/>
                </a:lnTo>
                <a:lnTo>
                  <a:pt x="47672" y="449004"/>
                </a:lnTo>
                <a:lnTo>
                  <a:pt x="75751" y="454378"/>
                </a:lnTo>
                <a:lnTo>
                  <a:pt x="1553862" y="454111"/>
                </a:lnTo>
                <a:lnTo>
                  <a:pt x="1592876" y="439268"/>
                </a:lnTo>
                <a:lnTo>
                  <a:pt x="1617844" y="406718"/>
                </a:lnTo>
                <a:lnTo>
                  <a:pt x="1623218" y="378646"/>
                </a:lnTo>
                <a:lnTo>
                  <a:pt x="1622952" y="69337"/>
                </a:lnTo>
                <a:lnTo>
                  <a:pt x="1608104" y="30333"/>
                </a:lnTo>
                <a:lnTo>
                  <a:pt x="1575546" y="5373"/>
                </a:lnTo>
                <a:lnTo>
                  <a:pt x="1547467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969918" y="3382433"/>
            <a:ext cx="1623695" cy="454659"/>
          </a:xfrm>
          <a:custGeom>
            <a:avLst/>
            <a:gdLst/>
            <a:ahLst/>
            <a:cxnLst/>
            <a:rect l="l" t="t" r="r" b="b"/>
            <a:pathLst>
              <a:path w="1623695" h="454660">
                <a:moveTo>
                  <a:pt x="0" y="75731"/>
                </a:moveTo>
                <a:lnTo>
                  <a:pt x="11702" y="35275"/>
                </a:lnTo>
                <a:lnTo>
                  <a:pt x="42132" y="7848"/>
                </a:lnTo>
                <a:lnTo>
                  <a:pt x="1547466" y="0"/>
                </a:lnTo>
                <a:lnTo>
                  <a:pt x="1561970" y="1386"/>
                </a:lnTo>
                <a:lnTo>
                  <a:pt x="1598872" y="20106"/>
                </a:lnTo>
                <a:lnTo>
                  <a:pt x="1620404" y="55209"/>
                </a:lnTo>
                <a:lnTo>
                  <a:pt x="1623218" y="378646"/>
                </a:lnTo>
                <a:lnTo>
                  <a:pt x="1621831" y="393146"/>
                </a:lnTo>
                <a:lnTo>
                  <a:pt x="1603106" y="430038"/>
                </a:lnTo>
                <a:lnTo>
                  <a:pt x="1567994" y="451564"/>
                </a:lnTo>
                <a:lnTo>
                  <a:pt x="75751" y="454377"/>
                </a:lnTo>
                <a:lnTo>
                  <a:pt x="61248" y="452991"/>
                </a:lnTo>
                <a:lnTo>
                  <a:pt x="24345" y="434271"/>
                </a:lnTo>
                <a:lnTo>
                  <a:pt x="2814" y="399168"/>
                </a:lnTo>
                <a:lnTo>
                  <a:pt x="0" y="75731"/>
                </a:lnTo>
                <a:close/>
              </a:path>
            </a:pathLst>
          </a:custGeom>
          <a:ln w="8114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7119523" y="3464754"/>
            <a:ext cx="132270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改系统接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口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294562" y="3901721"/>
            <a:ext cx="1558290" cy="454659"/>
          </a:xfrm>
          <a:custGeom>
            <a:avLst/>
            <a:gdLst/>
            <a:ahLst/>
            <a:cxnLst/>
            <a:rect l="l" t="t" r="r" b="b"/>
            <a:pathLst>
              <a:path w="1558290" h="454660">
                <a:moveTo>
                  <a:pt x="1482538" y="0"/>
                </a:moveTo>
                <a:lnTo>
                  <a:pt x="69356" y="266"/>
                </a:lnTo>
                <a:lnTo>
                  <a:pt x="30341" y="15110"/>
                </a:lnTo>
                <a:lnTo>
                  <a:pt x="5374" y="47659"/>
                </a:lnTo>
                <a:lnTo>
                  <a:pt x="0" y="75731"/>
                </a:lnTo>
                <a:lnTo>
                  <a:pt x="266" y="385040"/>
                </a:lnTo>
                <a:lnTo>
                  <a:pt x="15114" y="424044"/>
                </a:lnTo>
                <a:lnTo>
                  <a:pt x="47672" y="449004"/>
                </a:lnTo>
                <a:lnTo>
                  <a:pt x="75751" y="454378"/>
                </a:lnTo>
                <a:lnTo>
                  <a:pt x="1488933" y="454111"/>
                </a:lnTo>
                <a:lnTo>
                  <a:pt x="1527948" y="439268"/>
                </a:lnTo>
                <a:lnTo>
                  <a:pt x="1552915" y="406718"/>
                </a:lnTo>
                <a:lnTo>
                  <a:pt x="1558290" y="378646"/>
                </a:lnTo>
                <a:lnTo>
                  <a:pt x="1558023" y="69337"/>
                </a:lnTo>
                <a:lnTo>
                  <a:pt x="1543175" y="30333"/>
                </a:lnTo>
                <a:lnTo>
                  <a:pt x="1510617" y="5373"/>
                </a:lnTo>
                <a:lnTo>
                  <a:pt x="1482538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294562" y="3901721"/>
            <a:ext cx="1558290" cy="454659"/>
          </a:xfrm>
          <a:custGeom>
            <a:avLst/>
            <a:gdLst/>
            <a:ahLst/>
            <a:cxnLst/>
            <a:rect l="l" t="t" r="r" b="b"/>
            <a:pathLst>
              <a:path w="1558290" h="454660">
                <a:moveTo>
                  <a:pt x="0" y="75731"/>
                </a:moveTo>
                <a:lnTo>
                  <a:pt x="11702" y="35275"/>
                </a:lnTo>
                <a:lnTo>
                  <a:pt x="42132" y="7848"/>
                </a:lnTo>
                <a:lnTo>
                  <a:pt x="1482538" y="0"/>
                </a:lnTo>
                <a:lnTo>
                  <a:pt x="1497041" y="1386"/>
                </a:lnTo>
                <a:lnTo>
                  <a:pt x="1533944" y="20106"/>
                </a:lnTo>
                <a:lnTo>
                  <a:pt x="1555475" y="55209"/>
                </a:lnTo>
                <a:lnTo>
                  <a:pt x="1558290" y="378646"/>
                </a:lnTo>
                <a:lnTo>
                  <a:pt x="1556903" y="393146"/>
                </a:lnTo>
                <a:lnTo>
                  <a:pt x="1538178" y="430038"/>
                </a:lnTo>
                <a:lnTo>
                  <a:pt x="1503065" y="451564"/>
                </a:lnTo>
                <a:lnTo>
                  <a:pt x="75751" y="454377"/>
                </a:lnTo>
                <a:lnTo>
                  <a:pt x="61248" y="452991"/>
                </a:lnTo>
                <a:lnTo>
                  <a:pt x="24345" y="434271"/>
                </a:lnTo>
                <a:lnTo>
                  <a:pt x="2814" y="399168"/>
                </a:lnTo>
                <a:lnTo>
                  <a:pt x="0" y="75731"/>
                </a:lnTo>
                <a:close/>
              </a:path>
            </a:pathLst>
          </a:custGeom>
          <a:ln w="8114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7411712" y="3983902"/>
            <a:ext cx="132270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改内存管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理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41972" y="5913966"/>
            <a:ext cx="5973445" cy="389890"/>
          </a:xfrm>
          <a:custGeom>
            <a:avLst/>
            <a:gdLst/>
            <a:ahLst/>
            <a:cxnLst/>
            <a:rect l="l" t="t" r="r" b="b"/>
            <a:pathLst>
              <a:path w="5973445" h="389889">
                <a:moveTo>
                  <a:pt x="0" y="389466"/>
                </a:moveTo>
                <a:lnTo>
                  <a:pt x="5973445" y="389466"/>
                </a:lnTo>
                <a:lnTo>
                  <a:pt x="5973445" y="0"/>
                </a:lnTo>
                <a:lnTo>
                  <a:pt x="0" y="0"/>
                </a:lnTo>
                <a:lnTo>
                  <a:pt x="0" y="389466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541972" y="5913966"/>
            <a:ext cx="5973445" cy="389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5045">
              <a:lnSpc>
                <a:spcPct val="100000"/>
              </a:lnSpc>
            </a:pPr>
            <a:r>
              <a:rPr sz="2925" b="1" spc="127" baseline="1000" dirty="0">
                <a:solidFill>
                  <a:srgbClr val="00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老师所做的一切应该围绕学生展开</a:t>
            </a:r>
            <a:r>
              <a:rPr sz="2000" b="1" spc="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!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551428" y="5073958"/>
            <a:ext cx="1228115" cy="10575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4892484" y="1238935"/>
            <a:ext cx="2148205" cy="342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能改操作系统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…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047638" y="1759656"/>
            <a:ext cx="222250" cy="0"/>
          </a:xfrm>
          <a:custGeom>
            <a:avLst/>
            <a:gdLst/>
            <a:ahLst/>
            <a:cxnLst/>
            <a:rect l="l" t="t" r="r" b="b"/>
            <a:pathLst>
              <a:path w="222250">
                <a:moveTo>
                  <a:pt x="0" y="0"/>
                </a:moveTo>
                <a:lnTo>
                  <a:pt x="221840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2400" y="1759656"/>
            <a:ext cx="7466965" cy="0"/>
          </a:xfrm>
          <a:custGeom>
            <a:avLst/>
            <a:gdLst/>
            <a:ahLst/>
            <a:cxnLst/>
            <a:rect l="l" t="t" r="r" b="b"/>
            <a:pathLst>
              <a:path w="7466965">
                <a:moveTo>
                  <a:pt x="0" y="0"/>
                </a:moveTo>
                <a:lnTo>
                  <a:pt x="7466806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50" spc="100" dirty="0">
                <a:solidFill>
                  <a:srgbClr val="000000"/>
                </a:solidFill>
              </a:rPr>
              <a:t>别的学生在干什么</a:t>
            </a:r>
            <a:r>
              <a:rPr sz="3050" spc="5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?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9892" y="2010681"/>
            <a:ext cx="5166360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spc="40" dirty="0">
                <a:solidFill>
                  <a:srgbClr val="993300"/>
                </a:solidFill>
                <a:latin typeface="Lucida Sans" panose="020B0602030504020204"/>
                <a:cs typeface="Lucida Sans" panose="020B0602030504020204"/>
              </a:rPr>
              <a:t> 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我们的学生是要出去和别人竞争的</a:t>
            </a:r>
            <a:r>
              <a:rPr sz="2400" b="1" dirty="0">
                <a:latin typeface="Arial" panose="020B0604020202020204"/>
                <a:cs typeface="Arial" panose="020B0604020202020204"/>
              </a:rPr>
              <a:t>…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95022" y="2546703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95022" y="3455458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19206" y="1842597"/>
            <a:ext cx="1428750" cy="398780"/>
          </a:xfrm>
          <a:custGeom>
            <a:avLst/>
            <a:gdLst/>
            <a:ahLst/>
            <a:cxnLst/>
            <a:rect l="l" t="t" r="r" b="b"/>
            <a:pathLst>
              <a:path w="1428750" h="398780">
                <a:moveTo>
                  <a:pt x="0" y="0"/>
                </a:moveTo>
                <a:lnTo>
                  <a:pt x="1428432" y="0"/>
                </a:lnTo>
                <a:lnTo>
                  <a:pt x="1428432" y="398482"/>
                </a:lnTo>
                <a:lnTo>
                  <a:pt x="0" y="398482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19206" y="1444114"/>
            <a:ext cx="1428750" cy="398780"/>
          </a:xfrm>
          <a:custGeom>
            <a:avLst/>
            <a:gdLst/>
            <a:ahLst/>
            <a:cxnLst/>
            <a:rect l="l" t="t" r="r" b="b"/>
            <a:pathLst>
              <a:path w="1428750" h="398780">
                <a:moveTo>
                  <a:pt x="0" y="398482"/>
                </a:moveTo>
                <a:lnTo>
                  <a:pt x="1428432" y="398482"/>
                </a:lnTo>
                <a:lnTo>
                  <a:pt x="1428432" y="0"/>
                </a:lnTo>
                <a:lnTo>
                  <a:pt x="0" y="0"/>
                </a:lnTo>
                <a:lnTo>
                  <a:pt x="0" y="3984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619206" y="1444115"/>
            <a:ext cx="1428750" cy="398780"/>
          </a:xfrm>
          <a:custGeom>
            <a:avLst/>
            <a:gdLst/>
            <a:ahLst/>
            <a:cxnLst/>
            <a:rect l="l" t="t" r="r" b="b"/>
            <a:pathLst>
              <a:path w="1428750" h="398780">
                <a:moveTo>
                  <a:pt x="0" y="0"/>
                </a:moveTo>
                <a:lnTo>
                  <a:pt x="1428432" y="0"/>
                </a:lnTo>
                <a:lnTo>
                  <a:pt x="1428432" y="398482"/>
                </a:lnTo>
                <a:lnTo>
                  <a:pt x="0" y="398482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619206" y="1045633"/>
            <a:ext cx="1428750" cy="398780"/>
          </a:xfrm>
          <a:custGeom>
            <a:avLst/>
            <a:gdLst/>
            <a:ahLst/>
            <a:cxnLst/>
            <a:rect l="l" t="t" r="r" b="b"/>
            <a:pathLst>
              <a:path w="1428750" h="398780">
                <a:moveTo>
                  <a:pt x="0" y="398480"/>
                </a:moveTo>
                <a:lnTo>
                  <a:pt x="1428432" y="398480"/>
                </a:lnTo>
                <a:lnTo>
                  <a:pt x="1428432" y="0"/>
                </a:lnTo>
                <a:lnTo>
                  <a:pt x="0" y="0"/>
                </a:lnTo>
                <a:lnTo>
                  <a:pt x="0" y="398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619206" y="1045632"/>
            <a:ext cx="1428750" cy="398780"/>
          </a:xfrm>
          <a:custGeom>
            <a:avLst/>
            <a:gdLst/>
            <a:ahLst/>
            <a:cxnLst/>
            <a:rect l="l" t="t" r="r" b="b"/>
            <a:pathLst>
              <a:path w="1428750" h="398780">
                <a:moveTo>
                  <a:pt x="0" y="0"/>
                </a:moveTo>
                <a:lnTo>
                  <a:pt x="1428432" y="0"/>
                </a:lnTo>
                <a:lnTo>
                  <a:pt x="1428432" y="398480"/>
                </a:lnTo>
                <a:lnTo>
                  <a:pt x="0" y="398480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07187" y="2476208"/>
            <a:ext cx="9299575" cy="2084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1495" marR="5080">
              <a:lnSpc>
                <a:spcPct val="149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别人已经掌握了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SV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奇异值分解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)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及其应用，我们还在抠高斯消元法来解方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程</a:t>
            </a:r>
            <a:r>
              <a:rPr sz="2925" b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高斯消元法：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1800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年左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右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indent="518795">
              <a:lnSpc>
                <a:spcPct val="100000"/>
              </a:lnSpc>
              <a:spcBef>
                <a:spcPts val="1175"/>
              </a:spcBef>
            </a:pPr>
            <a:r>
              <a:rPr sz="2000" b="1" spc="25" dirty="0">
                <a:latin typeface="Arial" panose="020B0604020202020204"/>
                <a:cs typeface="Arial" panose="020B0604020202020204"/>
              </a:rPr>
              <a:t>SV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D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1960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-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2000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，目前正应用到很多领域中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！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100" spc="40" dirty="0">
                <a:solidFill>
                  <a:srgbClr val="993300"/>
                </a:solidFill>
                <a:latin typeface="Lucida Sans" panose="020B0602030504020204"/>
                <a:cs typeface="Lucida Sans" panose="020B0602030504020204"/>
              </a:rPr>
              <a:t> 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斯坦福怎么学操作系统，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CMU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呢</a:t>
            </a:r>
            <a:r>
              <a:rPr sz="2400" b="1" dirty="0">
                <a:latin typeface="Arial" panose="020B0604020202020204"/>
                <a:cs typeface="Arial" panose="020B0604020202020204"/>
              </a:rPr>
              <a:t>?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79623" y="1927242"/>
            <a:ext cx="1106805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计算机硬件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87810" y="1130493"/>
            <a:ext cx="890905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应用软件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647612" y="1370189"/>
            <a:ext cx="1363980" cy="389890"/>
          </a:xfrm>
          <a:custGeom>
            <a:avLst/>
            <a:gdLst/>
            <a:ahLst/>
            <a:cxnLst/>
            <a:rect l="l" t="t" r="r" b="b"/>
            <a:pathLst>
              <a:path w="1363979" h="389889">
                <a:moveTo>
                  <a:pt x="1298573" y="0"/>
                </a:moveTo>
                <a:lnTo>
                  <a:pt x="61538" y="87"/>
                </a:lnTo>
                <a:lnTo>
                  <a:pt x="22924" y="15412"/>
                </a:lnTo>
                <a:lnTo>
                  <a:pt x="1609" y="50484"/>
                </a:lnTo>
                <a:lnTo>
                  <a:pt x="0" y="64912"/>
                </a:lnTo>
                <a:lnTo>
                  <a:pt x="87" y="327946"/>
                </a:lnTo>
                <a:lnTo>
                  <a:pt x="15416" y="366548"/>
                </a:lnTo>
                <a:lnTo>
                  <a:pt x="50498" y="387857"/>
                </a:lnTo>
                <a:lnTo>
                  <a:pt x="64931" y="389467"/>
                </a:lnTo>
                <a:lnTo>
                  <a:pt x="1301966" y="389380"/>
                </a:lnTo>
                <a:lnTo>
                  <a:pt x="1340579" y="374054"/>
                </a:lnTo>
                <a:lnTo>
                  <a:pt x="1361894" y="338982"/>
                </a:lnTo>
                <a:lnTo>
                  <a:pt x="1363503" y="324553"/>
                </a:lnTo>
                <a:lnTo>
                  <a:pt x="1363416" y="61521"/>
                </a:lnTo>
                <a:lnTo>
                  <a:pt x="1348087" y="22918"/>
                </a:lnTo>
                <a:lnTo>
                  <a:pt x="1313005" y="1609"/>
                </a:lnTo>
                <a:lnTo>
                  <a:pt x="129857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647612" y="1370189"/>
            <a:ext cx="1363980" cy="389890"/>
          </a:xfrm>
          <a:custGeom>
            <a:avLst/>
            <a:gdLst/>
            <a:ahLst/>
            <a:cxnLst/>
            <a:rect l="l" t="t" r="r" b="b"/>
            <a:pathLst>
              <a:path w="1363979" h="389889">
                <a:moveTo>
                  <a:pt x="0" y="64912"/>
                </a:moveTo>
                <a:lnTo>
                  <a:pt x="13425" y="25380"/>
                </a:lnTo>
                <a:lnTo>
                  <a:pt x="47334" y="2411"/>
                </a:lnTo>
                <a:lnTo>
                  <a:pt x="1298573" y="0"/>
                </a:lnTo>
                <a:lnTo>
                  <a:pt x="1313005" y="1609"/>
                </a:lnTo>
                <a:lnTo>
                  <a:pt x="1348087" y="22918"/>
                </a:lnTo>
                <a:lnTo>
                  <a:pt x="1363416" y="61521"/>
                </a:lnTo>
                <a:lnTo>
                  <a:pt x="1363503" y="324553"/>
                </a:lnTo>
                <a:lnTo>
                  <a:pt x="1361894" y="338982"/>
                </a:lnTo>
                <a:lnTo>
                  <a:pt x="1340579" y="374054"/>
                </a:lnTo>
                <a:lnTo>
                  <a:pt x="1301965" y="389379"/>
                </a:lnTo>
                <a:lnTo>
                  <a:pt x="64930" y="389466"/>
                </a:lnTo>
                <a:lnTo>
                  <a:pt x="50498" y="387857"/>
                </a:lnTo>
                <a:lnTo>
                  <a:pt x="15416" y="366548"/>
                </a:lnTo>
                <a:lnTo>
                  <a:pt x="87" y="327945"/>
                </a:lnTo>
                <a:lnTo>
                  <a:pt x="0" y="64912"/>
                </a:lnTo>
                <a:close/>
              </a:path>
            </a:pathLst>
          </a:custGeom>
          <a:ln w="8114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7844576" y="1485336"/>
            <a:ext cx="890905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操作系统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95022" y="3001079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1055991" y="4610334"/>
          <a:ext cx="5210810" cy="1504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45748"/>
                <a:gridCol w="2648551"/>
              </a:tblGrid>
              <a:tr h="381352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</a:pPr>
                      <a:r>
                        <a:rPr sz="1550" b="1" spc="-15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实验一：扩展线</a:t>
                      </a:r>
                      <a:r>
                        <a:rPr sz="1550" b="1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程</a:t>
                      </a:r>
                      <a:endParaRPr sz="15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10821">
                      <a:solidFill>
                        <a:srgbClr val="000000"/>
                      </a:solidFill>
                      <a:prstDash val="solid"/>
                    </a:lnL>
                    <a:lnR w="10821">
                      <a:solidFill>
                        <a:srgbClr val="000000"/>
                      </a:solidFill>
                      <a:prstDash val="solid"/>
                    </a:lnR>
                    <a:lnT w="10818">
                      <a:solidFill>
                        <a:srgbClr val="000000"/>
                      </a:solidFill>
                      <a:prstDash val="solid"/>
                    </a:lnT>
                    <a:lnB w="10818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</a:pPr>
                      <a:r>
                        <a:rPr sz="1550" b="1" spc="-15" dirty="0">
                          <a:solidFill>
                            <a:srgbClr val="080005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实现线程调</a:t>
                      </a:r>
                      <a:r>
                        <a:rPr sz="1550" b="1" dirty="0">
                          <a:solidFill>
                            <a:srgbClr val="080005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度</a:t>
                      </a:r>
                      <a:endParaRPr sz="15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10821">
                      <a:solidFill>
                        <a:srgbClr val="000000"/>
                      </a:solidFill>
                      <a:prstDash val="solid"/>
                    </a:lnL>
                    <a:lnR w="10821">
                      <a:solidFill>
                        <a:srgbClr val="000000"/>
                      </a:solidFill>
                      <a:prstDash val="solid"/>
                    </a:lnR>
                    <a:lnT w="10818">
                      <a:solidFill>
                        <a:srgbClr val="000000"/>
                      </a:solidFill>
                      <a:prstDash val="solid"/>
                    </a:lnT>
                    <a:lnB w="10818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</a:pPr>
                      <a:r>
                        <a:rPr sz="1550" b="1" spc="-15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实验二：实现系统调</a:t>
                      </a:r>
                      <a:r>
                        <a:rPr sz="1550" b="1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用</a:t>
                      </a:r>
                      <a:endParaRPr sz="15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10821">
                      <a:solidFill>
                        <a:srgbClr val="000000"/>
                      </a:solidFill>
                      <a:prstDash val="solid"/>
                    </a:lnL>
                    <a:lnR w="10821">
                      <a:solidFill>
                        <a:srgbClr val="000000"/>
                      </a:solidFill>
                      <a:prstDash val="solid"/>
                    </a:lnR>
                    <a:lnT w="10818">
                      <a:solidFill>
                        <a:srgbClr val="000000"/>
                      </a:solidFill>
                      <a:prstDash val="solid"/>
                    </a:lnT>
                    <a:lnB w="10818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</a:pPr>
                      <a:r>
                        <a:rPr sz="1550" b="1" spc="-15" dirty="0">
                          <a:solidFill>
                            <a:srgbClr val="333399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将整个接口剥掉，添</a:t>
                      </a:r>
                      <a:r>
                        <a:rPr sz="1550" b="1" dirty="0">
                          <a:solidFill>
                            <a:srgbClr val="333399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加</a:t>
                      </a:r>
                      <a:endParaRPr sz="15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10821">
                      <a:solidFill>
                        <a:srgbClr val="000000"/>
                      </a:solidFill>
                      <a:prstDash val="solid"/>
                    </a:lnL>
                    <a:lnR w="10821">
                      <a:solidFill>
                        <a:srgbClr val="000000"/>
                      </a:solidFill>
                      <a:prstDash val="solid"/>
                    </a:lnR>
                    <a:lnT w="10818">
                      <a:solidFill>
                        <a:srgbClr val="000000"/>
                      </a:solidFill>
                      <a:prstDash val="solid"/>
                    </a:lnT>
                    <a:lnB w="10818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5943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</a:pPr>
                      <a:r>
                        <a:rPr sz="1550" b="1" spc="-15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实验三：实现虚存管</a:t>
                      </a:r>
                      <a:r>
                        <a:rPr sz="1550" b="1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理</a:t>
                      </a:r>
                      <a:endParaRPr sz="15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10821">
                      <a:solidFill>
                        <a:srgbClr val="000000"/>
                      </a:solidFill>
                      <a:prstDash val="solid"/>
                    </a:lnL>
                    <a:lnR w="10821">
                      <a:solidFill>
                        <a:srgbClr val="000000"/>
                      </a:solidFill>
                      <a:prstDash val="solid"/>
                    </a:lnR>
                    <a:lnT w="10818">
                      <a:solidFill>
                        <a:srgbClr val="000000"/>
                      </a:solidFill>
                      <a:prstDash val="solid"/>
                    </a:lnT>
                    <a:lnB w="10818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</a:pPr>
                      <a:r>
                        <a:rPr sz="1550" b="1" spc="-1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扩展实现内存管</a:t>
                      </a:r>
                      <a:r>
                        <a:rPr sz="155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理</a:t>
                      </a:r>
                      <a:endParaRPr sz="15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10821">
                      <a:solidFill>
                        <a:srgbClr val="000000"/>
                      </a:solidFill>
                      <a:prstDash val="solid"/>
                    </a:lnL>
                    <a:lnR w="10821">
                      <a:solidFill>
                        <a:srgbClr val="000000"/>
                      </a:solidFill>
                      <a:prstDash val="solid"/>
                    </a:lnR>
                    <a:lnT w="10818">
                      <a:solidFill>
                        <a:srgbClr val="000000"/>
                      </a:solidFill>
                      <a:prstDash val="solid"/>
                    </a:lnT>
                    <a:lnB w="10818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534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</a:pPr>
                      <a:r>
                        <a:rPr sz="1550" b="1" spc="-15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实验四：扩展文件系</a:t>
                      </a:r>
                      <a:r>
                        <a:rPr sz="1550" b="1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统</a:t>
                      </a:r>
                      <a:endParaRPr sz="15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10821">
                      <a:solidFill>
                        <a:srgbClr val="000000"/>
                      </a:solidFill>
                      <a:prstDash val="solid"/>
                    </a:lnL>
                    <a:lnR w="10821">
                      <a:solidFill>
                        <a:srgbClr val="000000"/>
                      </a:solidFill>
                      <a:prstDash val="solid"/>
                    </a:lnR>
                    <a:lnT w="10818">
                      <a:solidFill>
                        <a:srgbClr val="000000"/>
                      </a:solidFill>
                      <a:prstDash val="solid"/>
                    </a:lnT>
                    <a:lnB w="10818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</a:pPr>
                      <a:r>
                        <a:rPr sz="1550" b="1" spc="-1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扩展实现一个文件管</a:t>
                      </a:r>
                      <a:r>
                        <a:rPr sz="155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理</a:t>
                      </a:r>
                      <a:endParaRPr sz="15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10821">
                      <a:solidFill>
                        <a:srgbClr val="000000"/>
                      </a:solidFill>
                      <a:prstDash val="solid"/>
                    </a:lnL>
                    <a:lnR w="10821">
                      <a:solidFill>
                        <a:srgbClr val="000000"/>
                      </a:solidFill>
                      <a:prstDash val="solid"/>
                    </a:lnR>
                    <a:lnT w="10818">
                      <a:solidFill>
                        <a:srgbClr val="000000"/>
                      </a:solidFill>
                      <a:prstDash val="solid"/>
                    </a:lnT>
                    <a:lnB w="10818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2690">
              <a:lnSpc>
                <a:spcPts val="3470"/>
              </a:lnSpc>
            </a:pPr>
            <a:r>
              <a:rPr spc="100" dirty="0"/>
              <a:t>动手实践一个真实的操作系统</a:t>
            </a:r>
            <a:endParaRPr spc="100" dirty="0"/>
          </a:p>
        </p:txBody>
      </p:sp>
      <p:sp>
        <p:nvSpPr>
          <p:cNvPr id="4" name="object 4"/>
          <p:cNvSpPr/>
          <p:nvPr/>
        </p:nvSpPr>
        <p:spPr>
          <a:xfrm>
            <a:off x="8890127" y="1010197"/>
            <a:ext cx="241300" cy="267335"/>
          </a:xfrm>
          <a:custGeom>
            <a:avLst/>
            <a:gdLst/>
            <a:ahLst/>
            <a:cxnLst/>
            <a:rect l="l" t="t" r="r" b="b"/>
            <a:pathLst>
              <a:path w="241300" h="267334">
                <a:moveTo>
                  <a:pt x="161876" y="0"/>
                </a:moveTo>
                <a:lnTo>
                  <a:pt x="155895" y="0"/>
                </a:lnTo>
                <a:lnTo>
                  <a:pt x="141058" y="1172"/>
                </a:lnTo>
                <a:lnTo>
                  <a:pt x="98717" y="19048"/>
                </a:lnTo>
                <a:lnTo>
                  <a:pt x="61876" y="56733"/>
                </a:lnTo>
                <a:lnTo>
                  <a:pt x="41057" y="91663"/>
                </a:lnTo>
                <a:lnTo>
                  <a:pt x="23733" y="134002"/>
                </a:lnTo>
                <a:lnTo>
                  <a:pt x="10627" y="182887"/>
                </a:lnTo>
                <a:lnTo>
                  <a:pt x="2040" y="237592"/>
                </a:lnTo>
                <a:lnTo>
                  <a:pt x="0" y="267272"/>
                </a:lnTo>
                <a:lnTo>
                  <a:pt x="49208" y="267272"/>
                </a:lnTo>
                <a:lnTo>
                  <a:pt x="50810" y="248212"/>
                </a:lnTo>
                <a:lnTo>
                  <a:pt x="53431" y="230026"/>
                </a:lnTo>
                <a:lnTo>
                  <a:pt x="64350" y="181580"/>
                </a:lnTo>
                <a:lnTo>
                  <a:pt x="80507" y="143896"/>
                </a:lnTo>
                <a:lnTo>
                  <a:pt x="107572" y="111163"/>
                </a:lnTo>
                <a:lnTo>
                  <a:pt x="139475" y="99669"/>
                </a:lnTo>
                <a:lnTo>
                  <a:pt x="208147" y="99669"/>
                </a:lnTo>
                <a:lnTo>
                  <a:pt x="240812" y="43195"/>
                </a:lnTo>
                <a:lnTo>
                  <a:pt x="211548" y="17289"/>
                </a:lnTo>
                <a:lnTo>
                  <a:pt x="205977" y="14418"/>
                </a:lnTo>
                <a:lnTo>
                  <a:pt x="200875" y="11370"/>
                </a:lnTo>
                <a:lnTo>
                  <a:pt x="195362" y="8440"/>
                </a:lnTo>
                <a:lnTo>
                  <a:pt x="190261" y="6271"/>
                </a:lnTo>
                <a:lnTo>
                  <a:pt x="184279" y="4688"/>
                </a:lnTo>
                <a:lnTo>
                  <a:pt x="178766" y="2931"/>
                </a:lnTo>
                <a:lnTo>
                  <a:pt x="173371" y="1582"/>
                </a:lnTo>
                <a:lnTo>
                  <a:pt x="167448" y="703"/>
                </a:lnTo>
                <a:lnTo>
                  <a:pt x="161876" y="0"/>
                </a:lnTo>
                <a:close/>
              </a:path>
              <a:path w="241300" h="267334">
                <a:moveTo>
                  <a:pt x="208147" y="99669"/>
                </a:moveTo>
                <a:lnTo>
                  <a:pt x="139475" y="99669"/>
                </a:lnTo>
                <a:lnTo>
                  <a:pt x="146160" y="100103"/>
                </a:lnTo>
                <a:lnTo>
                  <a:pt x="153432" y="101850"/>
                </a:lnTo>
                <a:lnTo>
                  <a:pt x="185159" y="123089"/>
                </a:lnTo>
                <a:lnTo>
                  <a:pt x="190729" y="129782"/>
                </a:lnTo>
                <a:lnTo>
                  <a:pt x="208147" y="99669"/>
                </a:lnTo>
                <a:close/>
              </a:path>
            </a:pathLst>
          </a:custGeom>
          <a:solidFill>
            <a:srgbClr val="007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514526" y="851778"/>
            <a:ext cx="641350" cy="424180"/>
          </a:xfrm>
          <a:custGeom>
            <a:avLst/>
            <a:gdLst/>
            <a:ahLst/>
            <a:cxnLst/>
            <a:rect l="l" t="t" r="r" b="b"/>
            <a:pathLst>
              <a:path w="641350" h="424180">
                <a:moveTo>
                  <a:pt x="612484" y="0"/>
                </a:moveTo>
                <a:lnTo>
                  <a:pt x="609551" y="410"/>
                </a:lnTo>
                <a:lnTo>
                  <a:pt x="604038" y="1289"/>
                </a:lnTo>
                <a:lnTo>
                  <a:pt x="601106" y="2169"/>
                </a:lnTo>
                <a:lnTo>
                  <a:pt x="598056" y="2579"/>
                </a:lnTo>
                <a:lnTo>
                  <a:pt x="595124" y="3048"/>
                </a:lnTo>
                <a:lnTo>
                  <a:pt x="592251" y="3926"/>
                </a:lnTo>
                <a:lnTo>
                  <a:pt x="589142" y="4337"/>
                </a:lnTo>
                <a:lnTo>
                  <a:pt x="523050" y="20044"/>
                </a:lnTo>
                <a:lnTo>
                  <a:pt x="479830" y="32703"/>
                </a:lnTo>
                <a:lnTo>
                  <a:pt x="417092" y="55267"/>
                </a:lnTo>
                <a:lnTo>
                  <a:pt x="376473" y="72147"/>
                </a:lnTo>
                <a:lnTo>
                  <a:pt x="317079" y="100689"/>
                </a:lnTo>
                <a:lnTo>
                  <a:pt x="260299" y="132104"/>
                </a:lnTo>
                <a:lnTo>
                  <a:pt x="223470" y="155371"/>
                </a:lnTo>
                <a:lnTo>
                  <a:pt x="188236" y="179518"/>
                </a:lnTo>
                <a:lnTo>
                  <a:pt x="153877" y="204953"/>
                </a:lnTo>
                <a:lnTo>
                  <a:pt x="120397" y="232206"/>
                </a:lnTo>
                <a:lnTo>
                  <a:pt x="88658" y="260268"/>
                </a:lnTo>
                <a:lnTo>
                  <a:pt x="57646" y="289948"/>
                </a:lnTo>
                <a:lnTo>
                  <a:pt x="28535" y="320066"/>
                </a:lnTo>
                <a:lnTo>
                  <a:pt x="0" y="351925"/>
                </a:lnTo>
                <a:lnTo>
                  <a:pt x="111512" y="351925"/>
                </a:lnTo>
                <a:lnTo>
                  <a:pt x="167417" y="423656"/>
                </a:lnTo>
                <a:lnTo>
                  <a:pt x="216626" y="423656"/>
                </a:lnTo>
                <a:lnTo>
                  <a:pt x="228127" y="424091"/>
                </a:lnTo>
                <a:lnTo>
                  <a:pt x="325958" y="424091"/>
                </a:lnTo>
                <a:lnTo>
                  <a:pt x="330614" y="358620"/>
                </a:lnTo>
                <a:lnTo>
                  <a:pt x="342554" y="297948"/>
                </a:lnTo>
                <a:lnTo>
                  <a:pt x="361626" y="243225"/>
                </a:lnTo>
                <a:lnTo>
                  <a:pt x="386227" y="195694"/>
                </a:lnTo>
                <a:lnTo>
                  <a:pt x="416218" y="156250"/>
                </a:lnTo>
                <a:lnTo>
                  <a:pt x="450578" y="126536"/>
                </a:lnTo>
                <a:lnTo>
                  <a:pt x="488274" y="107487"/>
                </a:lnTo>
                <a:lnTo>
                  <a:pt x="529032" y="101099"/>
                </a:lnTo>
                <a:lnTo>
                  <a:pt x="631001" y="101099"/>
                </a:lnTo>
                <a:lnTo>
                  <a:pt x="612484" y="0"/>
                </a:lnTo>
                <a:close/>
              </a:path>
              <a:path w="641350" h="424180">
                <a:moveTo>
                  <a:pt x="631001" y="101099"/>
                </a:moveTo>
                <a:lnTo>
                  <a:pt x="529032" y="101099"/>
                </a:lnTo>
                <a:lnTo>
                  <a:pt x="544338" y="101978"/>
                </a:lnTo>
                <a:lnTo>
                  <a:pt x="551903" y="103150"/>
                </a:lnTo>
                <a:lnTo>
                  <a:pt x="588322" y="115049"/>
                </a:lnTo>
                <a:lnTo>
                  <a:pt x="622218" y="137613"/>
                </a:lnTo>
                <a:lnTo>
                  <a:pt x="628610" y="143122"/>
                </a:lnTo>
                <a:lnTo>
                  <a:pt x="635003" y="148513"/>
                </a:lnTo>
                <a:lnTo>
                  <a:pt x="640867" y="154961"/>
                </a:lnTo>
                <a:lnTo>
                  <a:pt x="631001" y="101099"/>
                </a:lnTo>
                <a:close/>
              </a:path>
            </a:pathLst>
          </a:custGeom>
          <a:solidFill>
            <a:srgbClr val="007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458186" y="1227424"/>
            <a:ext cx="81915" cy="48260"/>
          </a:xfrm>
          <a:custGeom>
            <a:avLst/>
            <a:gdLst/>
            <a:ahLst/>
            <a:cxnLst/>
            <a:rect l="l" t="t" r="r" b="b"/>
            <a:pathLst>
              <a:path w="81915" h="48259">
                <a:moveTo>
                  <a:pt x="36541" y="0"/>
                </a:moveTo>
                <a:lnTo>
                  <a:pt x="22566" y="17893"/>
                </a:lnTo>
                <a:lnTo>
                  <a:pt x="17904" y="23712"/>
                </a:lnTo>
                <a:lnTo>
                  <a:pt x="13248" y="29678"/>
                </a:lnTo>
                <a:lnTo>
                  <a:pt x="8879" y="36079"/>
                </a:lnTo>
                <a:lnTo>
                  <a:pt x="4222" y="42045"/>
                </a:lnTo>
                <a:lnTo>
                  <a:pt x="0" y="48011"/>
                </a:lnTo>
                <a:lnTo>
                  <a:pt x="81381" y="48011"/>
                </a:lnTo>
                <a:lnTo>
                  <a:pt x="36541" y="0"/>
                </a:lnTo>
                <a:close/>
              </a:path>
            </a:pathLst>
          </a:custGeom>
          <a:solidFill>
            <a:srgbClr val="007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398350" y="1053392"/>
            <a:ext cx="802640" cy="641350"/>
          </a:xfrm>
          <a:custGeom>
            <a:avLst/>
            <a:gdLst/>
            <a:ahLst/>
            <a:cxnLst/>
            <a:rect l="l" t="t" r="r" b="b"/>
            <a:pathLst>
              <a:path w="802640" h="641350">
                <a:moveTo>
                  <a:pt x="141216" y="242849"/>
                </a:moveTo>
                <a:lnTo>
                  <a:pt x="44985" y="242849"/>
                </a:lnTo>
                <a:lnTo>
                  <a:pt x="39161" y="251722"/>
                </a:lnTo>
                <a:lnTo>
                  <a:pt x="21255" y="279655"/>
                </a:lnTo>
                <a:lnTo>
                  <a:pt x="15431" y="289115"/>
                </a:lnTo>
                <a:lnTo>
                  <a:pt x="43" y="315014"/>
                </a:lnTo>
                <a:lnTo>
                  <a:pt x="0" y="317713"/>
                </a:lnTo>
                <a:lnTo>
                  <a:pt x="566388" y="641351"/>
                </a:lnTo>
                <a:lnTo>
                  <a:pt x="579337" y="641351"/>
                </a:lnTo>
                <a:lnTo>
                  <a:pt x="579854" y="640478"/>
                </a:lnTo>
                <a:lnTo>
                  <a:pt x="583783" y="634076"/>
                </a:lnTo>
                <a:lnTo>
                  <a:pt x="588030" y="627820"/>
                </a:lnTo>
                <a:lnTo>
                  <a:pt x="591783" y="621418"/>
                </a:lnTo>
                <a:lnTo>
                  <a:pt x="596474" y="615017"/>
                </a:lnTo>
                <a:lnTo>
                  <a:pt x="604918" y="603087"/>
                </a:lnTo>
                <a:lnTo>
                  <a:pt x="609551" y="597268"/>
                </a:lnTo>
                <a:lnTo>
                  <a:pt x="614184" y="591303"/>
                </a:lnTo>
                <a:lnTo>
                  <a:pt x="619287" y="585773"/>
                </a:lnTo>
                <a:lnTo>
                  <a:pt x="629080" y="574280"/>
                </a:lnTo>
                <a:lnTo>
                  <a:pt x="639695" y="563660"/>
                </a:lnTo>
                <a:lnTo>
                  <a:pt x="644798" y="558128"/>
                </a:lnTo>
                <a:lnTo>
                  <a:pt x="650309" y="553040"/>
                </a:lnTo>
                <a:lnTo>
                  <a:pt x="645208" y="553040"/>
                </a:lnTo>
                <a:lnTo>
                  <a:pt x="607089" y="547074"/>
                </a:lnTo>
                <a:lnTo>
                  <a:pt x="571409" y="530635"/>
                </a:lnTo>
                <a:lnTo>
                  <a:pt x="538363" y="504295"/>
                </a:lnTo>
                <a:lnTo>
                  <a:pt x="509539" y="469376"/>
                </a:lnTo>
                <a:lnTo>
                  <a:pt x="484932" y="426604"/>
                </a:lnTo>
                <a:lnTo>
                  <a:pt x="464987" y="377285"/>
                </a:lnTo>
                <a:lnTo>
                  <a:pt x="451012" y="322579"/>
                </a:lnTo>
                <a:lnTo>
                  <a:pt x="450942" y="322140"/>
                </a:lnTo>
                <a:lnTo>
                  <a:pt x="84002" y="322140"/>
                </a:lnTo>
                <a:lnTo>
                  <a:pt x="141216" y="242849"/>
                </a:lnTo>
                <a:close/>
              </a:path>
              <a:path w="802640" h="641350">
                <a:moveTo>
                  <a:pt x="540984" y="263216"/>
                </a:moveTo>
                <a:lnTo>
                  <a:pt x="492216" y="263216"/>
                </a:lnTo>
                <a:lnTo>
                  <a:pt x="494690" y="288241"/>
                </a:lnTo>
                <a:lnTo>
                  <a:pt x="503129" y="335380"/>
                </a:lnTo>
                <a:lnTo>
                  <a:pt x="516378" y="378592"/>
                </a:lnTo>
                <a:lnTo>
                  <a:pt x="533707" y="416419"/>
                </a:lnTo>
                <a:lnTo>
                  <a:pt x="554520" y="448717"/>
                </a:lnTo>
                <a:lnTo>
                  <a:pt x="590903" y="484362"/>
                </a:lnTo>
                <a:lnTo>
                  <a:pt x="632834" y="501242"/>
                </a:lnTo>
                <a:lnTo>
                  <a:pt x="647670" y="502549"/>
                </a:lnTo>
                <a:lnTo>
                  <a:pt x="663856" y="501242"/>
                </a:lnTo>
                <a:lnTo>
                  <a:pt x="708837" y="480876"/>
                </a:lnTo>
                <a:lnTo>
                  <a:pt x="747250" y="440137"/>
                </a:lnTo>
                <a:lnTo>
                  <a:pt x="766544" y="407111"/>
                </a:lnTo>
                <a:lnTo>
                  <a:pt x="631250" y="407111"/>
                </a:lnTo>
                <a:lnTo>
                  <a:pt x="622805" y="406238"/>
                </a:lnTo>
                <a:lnTo>
                  <a:pt x="584950" y="383246"/>
                </a:lnTo>
                <a:lnTo>
                  <a:pt x="561216" y="344693"/>
                </a:lnTo>
                <a:lnTo>
                  <a:pt x="548556" y="306867"/>
                </a:lnTo>
                <a:lnTo>
                  <a:pt x="542585" y="278495"/>
                </a:lnTo>
                <a:lnTo>
                  <a:pt x="540984" y="263216"/>
                </a:lnTo>
                <a:close/>
              </a:path>
              <a:path w="802640" h="641350">
                <a:moveTo>
                  <a:pt x="732588" y="0"/>
                </a:moveTo>
                <a:lnTo>
                  <a:pt x="682505" y="86587"/>
                </a:lnTo>
                <a:lnTo>
                  <a:pt x="690951" y="99394"/>
                </a:lnTo>
                <a:lnTo>
                  <a:pt x="699103" y="114232"/>
                </a:lnTo>
                <a:lnTo>
                  <a:pt x="716403" y="167191"/>
                </a:lnTo>
                <a:lnTo>
                  <a:pt x="721914" y="209237"/>
                </a:lnTo>
                <a:lnTo>
                  <a:pt x="722795" y="231355"/>
                </a:lnTo>
                <a:lnTo>
                  <a:pt x="722384" y="249102"/>
                </a:lnTo>
                <a:lnTo>
                  <a:pt x="715523" y="299735"/>
                </a:lnTo>
                <a:lnTo>
                  <a:pt x="701975" y="342946"/>
                </a:lnTo>
                <a:lnTo>
                  <a:pt x="682505" y="376993"/>
                </a:lnTo>
                <a:lnTo>
                  <a:pt x="649431" y="403618"/>
                </a:lnTo>
                <a:lnTo>
                  <a:pt x="631250" y="407111"/>
                </a:lnTo>
                <a:lnTo>
                  <a:pt x="766544" y="407111"/>
                </a:lnTo>
                <a:lnTo>
                  <a:pt x="785427" y="359533"/>
                </a:lnTo>
                <a:lnTo>
                  <a:pt x="797332" y="310648"/>
                </a:lnTo>
                <a:lnTo>
                  <a:pt x="802141" y="274180"/>
                </a:lnTo>
                <a:lnTo>
                  <a:pt x="802141" y="182277"/>
                </a:lnTo>
                <a:lnTo>
                  <a:pt x="796452" y="143038"/>
                </a:lnTo>
                <a:lnTo>
                  <a:pt x="784665" y="96774"/>
                </a:lnTo>
                <a:lnTo>
                  <a:pt x="768537" y="55149"/>
                </a:lnTo>
                <a:lnTo>
                  <a:pt x="748129" y="19926"/>
                </a:lnTo>
                <a:lnTo>
                  <a:pt x="740564" y="9786"/>
                </a:lnTo>
                <a:lnTo>
                  <a:pt x="732588" y="0"/>
                </a:lnTo>
                <a:close/>
              </a:path>
              <a:path w="802640" h="641350">
                <a:moveTo>
                  <a:pt x="622274" y="263216"/>
                </a:moveTo>
                <a:lnTo>
                  <a:pt x="582476" y="263216"/>
                </a:lnTo>
                <a:lnTo>
                  <a:pt x="585384" y="276748"/>
                </a:lnTo>
                <a:lnTo>
                  <a:pt x="604918" y="316613"/>
                </a:lnTo>
                <a:lnTo>
                  <a:pt x="625737" y="326793"/>
                </a:lnTo>
                <a:lnTo>
                  <a:pt x="635003" y="324760"/>
                </a:lnTo>
                <a:lnTo>
                  <a:pt x="663446" y="284749"/>
                </a:lnTo>
                <a:lnTo>
                  <a:pt x="668340" y="264088"/>
                </a:lnTo>
                <a:lnTo>
                  <a:pt x="625737" y="264088"/>
                </a:lnTo>
                <a:lnTo>
                  <a:pt x="623098" y="263655"/>
                </a:lnTo>
                <a:lnTo>
                  <a:pt x="622274" y="263216"/>
                </a:lnTo>
                <a:close/>
              </a:path>
              <a:path w="802640" h="641350">
                <a:moveTo>
                  <a:pt x="610431" y="242849"/>
                </a:moveTo>
                <a:lnTo>
                  <a:pt x="283593" y="242849"/>
                </a:lnTo>
                <a:lnTo>
                  <a:pt x="222157" y="322140"/>
                </a:lnTo>
                <a:lnTo>
                  <a:pt x="450942" y="322140"/>
                </a:lnTo>
                <a:lnTo>
                  <a:pt x="446355" y="293334"/>
                </a:lnTo>
                <a:lnTo>
                  <a:pt x="443440" y="263216"/>
                </a:lnTo>
                <a:lnTo>
                  <a:pt x="622274" y="263216"/>
                </a:lnTo>
                <a:lnTo>
                  <a:pt x="620636" y="262342"/>
                </a:lnTo>
                <a:lnTo>
                  <a:pt x="617997" y="260596"/>
                </a:lnTo>
                <a:lnTo>
                  <a:pt x="616413" y="258122"/>
                </a:lnTo>
                <a:lnTo>
                  <a:pt x="614184" y="255069"/>
                </a:lnTo>
                <a:lnTo>
                  <a:pt x="612602" y="251288"/>
                </a:lnTo>
                <a:lnTo>
                  <a:pt x="611311" y="247069"/>
                </a:lnTo>
                <a:lnTo>
                  <a:pt x="610431" y="242849"/>
                </a:lnTo>
                <a:close/>
              </a:path>
              <a:path w="802640" h="641350">
                <a:moveTo>
                  <a:pt x="668277" y="198617"/>
                </a:moveTo>
                <a:lnTo>
                  <a:pt x="625737" y="198617"/>
                </a:lnTo>
                <a:lnTo>
                  <a:pt x="629080" y="199491"/>
                </a:lnTo>
                <a:lnTo>
                  <a:pt x="632131" y="201237"/>
                </a:lnTo>
                <a:lnTo>
                  <a:pt x="641865" y="231355"/>
                </a:lnTo>
                <a:lnTo>
                  <a:pt x="641455" y="238189"/>
                </a:lnTo>
                <a:lnTo>
                  <a:pt x="625737" y="264088"/>
                </a:lnTo>
                <a:lnTo>
                  <a:pt x="668340" y="264088"/>
                </a:lnTo>
                <a:lnTo>
                  <a:pt x="670248" y="250849"/>
                </a:lnTo>
                <a:lnTo>
                  <a:pt x="671012" y="231355"/>
                </a:lnTo>
                <a:lnTo>
                  <a:pt x="670248" y="212297"/>
                </a:lnTo>
                <a:lnTo>
                  <a:pt x="668277" y="198617"/>
                </a:lnTo>
                <a:close/>
              </a:path>
              <a:path w="802640" h="641350">
                <a:moveTo>
                  <a:pt x="625737" y="136199"/>
                </a:moveTo>
                <a:lnTo>
                  <a:pt x="594715" y="161372"/>
                </a:lnTo>
                <a:lnTo>
                  <a:pt x="581602" y="205017"/>
                </a:lnTo>
                <a:lnTo>
                  <a:pt x="579854" y="222477"/>
                </a:lnTo>
                <a:lnTo>
                  <a:pt x="605740" y="222477"/>
                </a:lnTo>
                <a:lnTo>
                  <a:pt x="608379" y="222042"/>
                </a:lnTo>
                <a:lnTo>
                  <a:pt x="609963" y="222042"/>
                </a:lnTo>
                <a:lnTo>
                  <a:pt x="625737" y="198617"/>
                </a:lnTo>
                <a:lnTo>
                  <a:pt x="668277" y="198617"/>
                </a:lnTo>
                <a:lnTo>
                  <a:pt x="667669" y="194397"/>
                </a:lnTo>
                <a:lnTo>
                  <a:pt x="651189" y="152351"/>
                </a:lnTo>
                <a:lnTo>
                  <a:pt x="635003" y="138385"/>
                </a:lnTo>
                <a:lnTo>
                  <a:pt x="625737" y="136199"/>
                </a:lnTo>
                <a:close/>
              </a:path>
            </a:pathLst>
          </a:custGeom>
          <a:solidFill>
            <a:srgbClr val="007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22175" y="4245209"/>
            <a:ext cx="160969" cy="16362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22175" y="3789480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022175" y="4892969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253483" y="5295959"/>
            <a:ext cx="4805045" cy="446405"/>
          </a:xfrm>
          <a:custGeom>
            <a:avLst/>
            <a:gdLst/>
            <a:ahLst/>
            <a:cxnLst/>
            <a:rect l="l" t="t" r="r" b="b"/>
            <a:pathLst>
              <a:path w="4805045" h="446404">
                <a:moveTo>
                  <a:pt x="0" y="446263"/>
                </a:moveTo>
                <a:lnTo>
                  <a:pt x="4804727" y="446263"/>
                </a:lnTo>
                <a:lnTo>
                  <a:pt x="4804727" y="0"/>
                </a:lnTo>
                <a:lnTo>
                  <a:pt x="0" y="0"/>
                </a:lnTo>
                <a:lnTo>
                  <a:pt x="0" y="446263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349500" y="5211233"/>
            <a:ext cx="715433" cy="6900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650067" y="5211233"/>
            <a:ext cx="719666" cy="6900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954867" y="5211233"/>
            <a:ext cx="719666" cy="6900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259666" y="5211233"/>
            <a:ext cx="715433" cy="6900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560233" y="5211233"/>
            <a:ext cx="719666" cy="6900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865033" y="5211233"/>
            <a:ext cx="715433" cy="69003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165600" y="5211233"/>
            <a:ext cx="719666" cy="69003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470400" y="5228166"/>
            <a:ext cx="516466" cy="69003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07187" y="2012033"/>
            <a:ext cx="7421245" cy="3761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spc="40" dirty="0">
                <a:solidFill>
                  <a:srgbClr val="993300"/>
                </a:solidFill>
                <a:latin typeface="Lucida Sans" panose="020B0602030504020204"/>
                <a:cs typeface="Lucida Sans" panose="020B0602030504020204"/>
              </a:rPr>
              <a:t> 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套用</a:t>
            </a:r>
            <a:r>
              <a:rPr sz="2400" b="1" spc="-15" dirty="0">
                <a:latin typeface="Arial" panose="020B0604020202020204"/>
                <a:cs typeface="Arial" panose="020B0604020202020204"/>
              </a:rPr>
              <a:t>S</a:t>
            </a:r>
            <a:r>
              <a:rPr sz="2400" b="1" dirty="0">
                <a:latin typeface="Arial" panose="020B0604020202020204"/>
                <a:cs typeface="Arial" panose="020B0604020202020204"/>
              </a:rPr>
              <a:t>t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a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n</a:t>
            </a:r>
            <a:r>
              <a:rPr sz="2400" b="1" dirty="0">
                <a:latin typeface="Arial" panose="020B0604020202020204"/>
                <a:cs typeface="Arial" panose="020B0604020202020204"/>
              </a:rPr>
              <a:t>f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o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r</a:t>
            </a:r>
            <a:r>
              <a:rPr sz="2400" b="1" spc="-15" dirty="0">
                <a:latin typeface="Arial" panose="020B0604020202020204"/>
                <a:cs typeface="Arial" panose="020B0604020202020204"/>
              </a:rPr>
              <a:t>d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操作系统课程中的一句话</a:t>
            </a:r>
            <a:r>
              <a:rPr sz="2400" b="1" dirty="0">
                <a:latin typeface="Arial" panose="020B0604020202020204"/>
                <a:cs typeface="Arial" panose="020B0604020202020204"/>
              </a:rPr>
              <a:t>: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3218815" marR="311150" indent="-332740">
              <a:lnSpc>
                <a:spcPts val="4930"/>
              </a:lnSpc>
              <a:spcBef>
                <a:spcPts val="290"/>
              </a:spcBef>
            </a:pPr>
            <a:r>
              <a:rPr sz="3400" spc="5" dirty="0">
                <a:solidFill>
                  <a:srgbClr val="FF0000"/>
                </a:solidFill>
                <a:latin typeface="Arial Rounded MT Bold" panose="020F0704030504030204"/>
                <a:cs typeface="Arial Rounded MT Bold" panose="020F0704030504030204"/>
              </a:rPr>
              <a:t>“</a:t>
            </a:r>
            <a:r>
              <a:rPr sz="3400" dirty="0">
                <a:solidFill>
                  <a:srgbClr val="FF0000"/>
                </a:solidFill>
                <a:latin typeface="Arial Rounded MT Bold" panose="020F0704030504030204"/>
                <a:cs typeface="Arial Rounded MT Bold" panose="020F0704030504030204"/>
              </a:rPr>
              <a:t>L</a:t>
            </a:r>
            <a:r>
              <a:rPr sz="3400" dirty="0">
                <a:solidFill>
                  <a:srgbClr val="FF0000"/>
                </a:solidFill>
                <a:latin typeface="Arial Rounded MT Bold" panose="020F0704030504030204"/>
                <a:cs typeface="Arial Rounded MT Bold" panose="020F0704030504030204"/>
              </a:rPr>
              <a:t>ea</a:t>
            </a:r>
            <a:r>
              <a:rPr sz="3400" dirty="0">
                <a:solidFill>
                  <a:srgbClr val="FF0000"/>
                </a:solidFill>
                <a:latin typeface="Arial Rounded MT Bold" panose="020F0704030504030204"/>
                <a:cs typeface="Arial Rounded MT Bold" panose="020F0704030504030204"/>
              </a:rPr>
              <a:t>rn</a:t>
            </a:r>
            <a:r>
              <a:rPr sz="3400" dirty="0">
                <a:solidFill>
                  <a:srgbClr val="FF0000"/>
                </a:solidFill>
                <a:latin typeface="Arial Rounded MT Bold" panose="020F0704030504030204"/>
                <a:cs typeface="Arial Rounded MT Bold" panose="020F0704030504030204"/>
              </a:rPr>
              <a:t> </a:t>
            </a:r>
            <a:r>
              <a:rPr sz="3400" dirty="0">
                <a:solidFill>
                  <a:srgbClr val="FF0000"/>
                </a:solidFill>
                <a:latin typeface="Arial Rounded MT Bold" panose="020F0704030504030204"/>
                <a:cs typeface="Arial Rounded MT Bold" panose="020F0704030504030204"/>
              </a:rPr>
              <a:t>OS</a:t>
            </a:r>
            <a:r>
              <a:rPr sz="3400" dirty="0">
                <a:solidFill>
                  <a:srgbClr val="FF0000"/>
                </a:solidFill>
                <a:latin typeface="Arial Rounded MT Bold" panose="020F0704030504030204"/>
                <a:cs typeface="Arial Rounded MT Bold" panose="020F0704030504030204"/>
              </a:rPr>
              <a:t> </a:t>
            </a:r>
            <a:r>
              <a:rPr sz="3400" dirty="0">
                <a:solidFill>
                  <a:srgbClr val="FF0000"/>
                </a:solidFill>
                <a:latin typeface="Arial Rounded MT Bold" panose="020F0704030504030204"/>
                <a:cs typeface="Arial Rounded MT Bold" panose="020F0704030504030204"/>
              </a:rPr>
              <a:t>c</a:t>
            </a:r>
            <a:r>
              <a:rPr sz="3400" dirty="0">
                <a:solidFill>
                  <a:srgbClr val="FF0000"/>
                </a:solidFill>
                <a:latin typeface="Arial Rounded MT Bold" panose="020F0704030504030204"/>
                <a:cs typeface="Arial Rounded MT Bold" panose="020F0704030504030204"/>
              </a:rPr>
              <a:t>on</a:t>
            </a:r>
            <a:r>
              <a:rPr sz="3400" dirty="0">
                <a:solidFill>
                  <a:srgbClr val="FF0000"/>
                </a:solidFill>
                <a:latin typeface="Arial Rounded MT Bold" panose="020F0704030504030204"/>
                <a:cs typeface="Arial Rounded MT Bold" panose="020F0704030504030204"/>
              </a:rPr>
              <a:t>c</a:t>
            </a:r>
            <a:r>
              <a:rPr sz="3400" spc="-45" dirty="0">
                <a:solidFill>
                  <a:srgbClr val="FF0000"/>
                </a:solidFill>
                <a:latin typeface="Arial Rounded MT Bold" panose="020F0704030504030204"/>
                <a:cs typeface="Arial Rounded MT Bold" panose="020F0704030504030204"/>
              </a:rPr>
              <a:t>e</a:t>
            </a:r>
            <a:r>
              <a:rPr sz="3400" dirty="0">
                <a:solidFill>
                  <a:srgbClr val="FF0000"/>
                </a:solidFill>
                <a:latin typeface="Arial Rounded MT Bold" panose="020F0704030504030204"/>
                <a:cs typeface="Arial Rounded MT Bold" panose="020F0704030504030204"/>
              </a:rPr>
              <a:t>p</a:t>
            </a:r>
            <a:r>
              <a:rPr sz="3400" spc="-5" dirty="0">
                <a:solidFill>
                  <a:srgbClr val="FF0000"/>
                </a:solidFill>
                <a:latin typeface="Arial Rounded MT Bold" panose="020F0704030504030204"/>
                <a:cs typeface="Arial Rounded MT Bold" panose="020F0704030504030204"/>
              </a:rPr>
              <a:t>t</a:t>
            </a:r>
            <a:r>
              <a:rPr sz="3400" dirty="0">
                <a:solidFill>
                  <a:srgbClr val="FF0000"/>
                </a:solidFill>
                <a:latin typeface="Arial Rounded MT Bold" panose="020F0704030504030204"/>
                <a:cs typeface="Arial Rounded MT Bold" panose="020F0704030504030204"/>
              </a:rPr>
              <a:t>s</a:t>
            </a:r>
            <a:r>
              <a:rPr sz="3400" dirty="0">
                <a:solidFill>
                  <a:srgbClr val="FF0000"/>
                </a:solidFill>
                <a:latin typeface="Arial Rounded MT Bold" panose="020F0704030504030204"/>
                <a:cs typeface="Arial Rounded MT Bold" panose="020F0704030504030204"/>
              </a:rPr>
              <a:t> </a:t>
            </a:r>
            <a:r>
              <a:rPr sz="3400" spc="-40" dirty="0">
                <a:solidFill>
                  <a:srgbClr val="FF0000"/>
                </a:solidFill>
                <a:latin typeface="Arial Rounded MT Bold" panose="020F0704030504030204"/>
                <a:cs typeface="Arial Rounded MT Bold" panose="020F0704030504030204"/>
              </a:rPr>
              <a:t>b</a:t>
            </a:r>
            <a:r>
              <a:rPr sz="3400" dirty="0">
                <a:solidFill>
                  <a:srgbClr val="FF0000"/>
                </a:solidFill>
                <a:latin typeface="Arial Rounded MT Bold" panose="020F0704030504030204"/>
                <a:cs typeface="Arial Rounded MT Bold" panose="020F0704030504030204"/>
              </a:rPr>
              <a:t>y</a:t>
            </a:r>
            <a:r>
              <a:rPr sz="3400" dirty="0">
                <a:solidFill>
                  <a:srgbClr val="FF0000"/>
                </a:solidFill>
                <a:latin typeface="Arial Rounded MT Bold" panose="020F0704030504030204"/>
                <a:cs typeface="Arial Rounded MT Bold" panose="020F0704030504030204"/>
              </a:rPr>
              <a:t> </a:t>
            </a:r>
            <a:r>
              <a:rPr sz="3400" dirty="0">
                <a:solidFill>
                  <a:srgbClr val="FF0000"/>
                </a:solidFill>
                <a:latin typeface="Arial Rounded MT Bold" panose="020F0704030504030204"/>
                <a:cs typeface="Arial Rounded MT Bold" panose="020F0704030504030204"/>
              </a:rPr>
              <a:t>c</a:t>
            </a:r>
            <a:r>
              <a:rPr sz="3400" dirty="0">
                <a:solidFill>
                  <a:srgbClr val="FF0000"/>
                </a:solidFill>
                <a:latin typeface="Arial Rounded MT Bold" panose="020F0704030504030204"/>
                <a:cs typeface="Arial Rounded MT Bold" panose="020F0704030504030204"/>
              </a:rPr>
              <a:t>oding</a:t>
            </a:r>
            <a:r>
              <a:rPr sz="3400" spc="5" dirty="0">
                <a:solidFill>
                  <a:srgbClr val="FF0000"/>
                </a:solidFill>
                <a:latin typeface="Arial Rounded MT Bold" panose="020F0704030504030204"/>
                <a:cs typeface="Arial Rounded MT Bold" panose="020F0704030504030204"/>
              </a:rPr>
              <a:t> </a:t>
            </a:r>
            <a:r>
              <a:rPr sz="3400" dirty="0">
                <a:solidFill>
                  <a:srgbClr val="FF0000"/>
                </a:solidFill>
                <a:latin typeface="Arial Rounded MT Bold" panose="020F0704030504030204"/>
                <a:cs typeface="Arial Rounded MT Bold" panose="020F0704030504030204"/>
              </a:rPr>
              <a:t>th</a:t>
            </a:r>
            <a:r>
              <a:rPr sz="3400" dirty="0">
                <a:solidFill>
                  <a:srgbClr val="FF0000"/>
                </a:solidFill>
                <a:latin typeface="Arial Rounded MT Bold" panose="020F0704030504030204"/>
                <a:cs typeface="Arial Rounded MT Bold" panose="020F0704030504030204"/>
              </a:rPr>
              <a:t>e</a:t>
            </a:r>
            <a:r>
              <a:rPr sz="3400" spc="5" dirty="0">
                <a:solidFill>
                  <a:srgbClr val="FF0000"/>
                </a:solidFill>
                <a:latin typeface="Arial Rounded MT Bold" panose="020F0704030504030204"/>
                <a:cs typeface="Arial Rounded MT Bold" panose="020F0704030504030204"/>
              </a:rPr>
              <a:t>m</a:t>
            </a:r>
            <a:r>
              <a:rPr sz="3400" spc="5" dirty="0">
                <a:solidFill>
                  <a:srgbClr val="FF0000"/>
                </a:solidFill>
                <a:latin typeface="Arial Rounded MT Bold" panose="020F0704030504030204"/>
                <a:cs typeface="Arial Rounded MT Bold" panose="020F0704030504030204"/>
              </a:rPr>
              <a:t>!</a:t>
            </a:r>
            <a:r>
              <a:rPr sz="3400" dirty="0">
                <a:solidFill>
                  <a:srgbClr val="FF0000"/>
                </a:solidFill>
                <a:latin typeface="Arial Rounded MT Bold" panose="020F0704030504030204"/>
                <a:cs typeface="Arial Rounded MT Bold" panose="020F0704030504030204"/>
              </a:rPr>
              <a:t>”</a:t>
            </a:r>
            <a:endParaRPr sz="3400">
              <a:latin typeface="Arial Rounded MT Bold" panose="020F0704030504030204"/>
              <a:cs typeface="Arial Rounded MT Bold" panose="020F0704030504030204"/>
            </a:endParaRPr>
          </a:p>
          <a:p>
            <a:pPr marL="659130">
              <a:lnSpc>
                <a:spcPct val="100000"/>
              </a:lnSpc>
              <a:spcBef>
                <a:spcPts val="580"/>
              </a:spcBef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我们打开操作系统这个“黑盒子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659130">
              <a:lnSpc>
                <a:spcPct val="100000"/>
              </a:lnSpc>
              <a:spcBef>
                <a:spcPts val="1245"/>
              </a:spcBef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在我们的课程中有大量的代码，在原理和代码之间频繁切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换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350">
              <a:latin typeface="Times New Roman" panose="02020603050405020304"/>
              <a:cs typeface="Times New Roman" panose="02020603050405020304"/>
            </a:endParaRPr>
          </a:p>
          <a:p>
            <a:pPr marL="65913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我们的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8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个实验很复杂、很难调、很揪心啊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…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936750">
              <a:lnSpc>
                <a:spcPct val="100000"/>
              </a:lnSpc>
              <a:spcBef>
                <a:spcPts val="1665"/>
              </a:spcBef>
            </a:pP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绝知此事要躬行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!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479381" y="5212095"/>
            <a:ext cx="1228116" cy="105753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23" name="object 23"/>
          <p:cNvSpPr txBox="1"/>
          <p:nvPr/>
        </p:nvSpPr>
        <p:spPr>
          <a:xfrm>
            <a:off x="5131033" y="6459594"/>
            <a:ext cx="43116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b="1" spc="5" dirty="0">
                <a:latin typeface="Arial" panose="020B0604020202020204"/>
                <a:cs typeface="Arial" panose="020B0604020202020204"/>
              </a:rPr>
              <a:t>-</a:t>
            </a:r>
            <a:r>
              <a:rPr sz="135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1350" b="1" dirty="0">
                <a:latin typeface="Arial" panose="020B0604020202020204"/>
                <a:cs typeface="Arial" panose="020B0604020202020204"/>
              </a:rPr>
              <a:t>1</a:t>
            </a:r>
            <a:r>
              <a:rPr sz="1350" b="1" spc="5" dirty="0">
                <a:latin typeface="Arial" panose="020B0604020202020204"/>
                <a:cs typeface="Arial" panose="020B0604020202020204"/>
              </a:rPr>
              <a:t>0</a:t>
            </a:r>
            <a:r>
              <a:rPr sz="1350" b="1" dirty="0">
                <a:latin typeface="Arial" panose="020B0604020202020204"/>
                <a:cs typeface="Arial" panose="020B0604020202020204"/>
              </a:rPr>
              <a:t> </a:t>
            </a:r>
            <a:r>
              <a:rPr sz="1350" b="1" spc="5" dirty="0">
                <a:latin typeface="Arial" panose="020B0604020202020204"/>
                <a:cs typeface="Arial" panose="020B0604020202020204"/>
              </a:rPr>
              <a:t>-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89159" y="1736706"/>
            <a:ext cx="306070" cy="306070"/>
          </a:xfrm>
          <a:custGeom>
            <a:avLst/>
            <a:gdLst/>
            <a:ahLst/>
            <a:cxnLst/>
            <a:rect l="l" t="t" r="r" b="b"/>
            <a:pathLst>
              <a:path w="306070" h="306069">
                <a:moveTo>
                  <a:pt x="297974" y="38249"/>
                </a:moveTo>
                <a:lnTo>
                  <a:pt x="38259" y="297893"/>
                </a:lnTo>
                <a:lnTo>
                  <a:pt x="45911" y="305544"/>
                </a:lnTo>
                <a:lnTo>
                  <a:pt x="305626" y="45899"/>
                </a:lnTo>
                <a:lnTo>
                  <a:pt x="297974" y="38249"/>
                </a:lnTo>
                <a:close/>
              </a:path>
              <a:path w="306070" h="306069">
                <a:moveTo>
                  <a:pt x="275018" y="15299"/>
                </a:moveTo>
                <a:lnTo>
                  <a:pt x="15303" y="274943"/>
                </a:lnTo>
                <a:lnTo>
                  <a:pt x="30607" y="290243"/>
                </a:lnTo>
                <a:lnTo>
                  <a:pt x="290322" y="30599"/>
                </a:lnTo>
                <a:lnTo>
                  <a:pt x="275018" y="15299"/>
                </a:lnTo>
                <a:close/>
              </a:path>
              <a:path w="306070" h="306069">
                <a:moveTo>
                  <a:pt x="259715" y="0"/>
                </a:moveTo>
                <a:lnTo>
                  <a:pt x="0" y="259643"/>
                </a:lnTo>
                <a:lnTo>
                  <a:pt x="7651" y="267294"/>
                </a:lnTo>
                <a:lnTo>
                  <a:pt x="267366" y="7650"/>
                </a:lnTo>
                <a:lnTo>
                  <a:pt x="259715" y="0"/>
                </a:lnTo>
                <a:close/>
              </a:path>
            </a:pathLst>
          </a:custGeom>
          <a:solidFill>
            <a:srgbClr val="99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71830" y="1786702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10819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71830" y="1759656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21638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71830" y="1732609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10819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905635" y="2031365"/>
            <a:ext cx="7117080" cy="31826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2338705" algn="l"/>
                <a:tab pos="5048885" algn="l"/>
              </a:tabLst>
            </a:pPr>
            <a:r>
              <a:rPr sz="5925" b="1" spc="195" baseline="4000" dirty="0">
                <a:solidFill>
                  <a:srgbClr val="0033CC"/>
                </a:solidFill>
                <a:latin typeface="华文琥珀" panose="02010800040101010101" charset="-122"/>
                <a:cs typeface="华文琥珀" panose="02010800040101010101" charset="-122"/>
              </a:rPr>
              <a:t>操作系</a:t>
            </a:r>
            <a:r>
              <a:rPr sz="5925" b="1" spc="217" baseline="4000" dirty="0">
                <a:solidFill>
                  <a:srgbClr val="0033CC"/>
                </a:solidFill>
                <a:latin typeface="华文琥珀" panose="02010800040101010101" charset="-122"/>
                <a:cs typeface="华文琥珀" panose="02010800040101010101" charset="-122"/>
              </a:rPr>
              <a:t>统</a:t>
            </a:r>
            <a:r>
              <a:rPr sz="5925" b="1" baseline="4000" dirty="0">
                <a:solidFill>
                  <a:srgbClr val="0033CC"/>
                </a:solidFill>
                <a:latin typeface="华文琥珀" panose="02010800040101010101" charset="-122"/>
                <a:cs typeface="华文琥珀" panose="02010800040101010101" charset="-122"/>
              </a:rPr>
              <a:t>	</a:t>
            </a:r>
            <a:r>
              <a:rPr sz="4600" b="1" spc="-10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p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er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4600" b="1" spc="-10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g	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m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endParaRPr sz="4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313055">
              <a:lnSpc>
                <a:spcPct val="100000"/>
              </a:lnSpc>
            </a:pPr>
            <a:r>
              <a:rPr sz="5100" b="1" spc="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L2</a:t>
            </a:r>
            <a:r>
              <a:rPr sz="5100" b="1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.</a:t>
            </a:r>
            <a:r>
              <a:rPr sz="5100" b="1" spc="10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4950" b="1" spc="14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揭开钢琴的盖</a:t>
            </a:r>
            <a:r>
              <a:rPr sz="4950" b="1" spc="13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子</a:t>
            </a:r>
            <a:endParaRPr sz="4950" b="1" spc="130" dirty="0">
              <a:solidFill>
                <a:srgbClr val="FF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313055">
              <a:lnSpc>
                <a:spcPct val="100000"/>
              </a:lnSpc>
            </a:pPr>
            <a:endParaRPr sz="4950" b="1" spc="130" dirty="0">
              <a:solidFill>
                <a:srgbClr val="FF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313055">
              <a:lnSpc>
                <a:spcPct val="100000"/>
              </a:lnSpc>
            </a:pPr>
            <a:r>
              <a:rPr lang="en-US" sz="4950" b="1" spc="13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 </a:t>
            </a:r>
            <a:r>
              <a:rPr lang="en-US" sz="4950" b="1" spc="130" dirty="0">
                <a:solidFill>
                  <a:schemeClr val="tx1"/>
                </a:solidFill>
                <a:latin typeface="黑体" panose="02010609060101010101" charset="-122"/>
                <a:cs typeface="黑体" panose="02010609060101010101" charset="-122"/>
              </a:rPr>
              <a:t>Open the OS!</a:t>
            </a:r>
            <a:endParaRPr sz="4950" b="1" spc="130" dirty="0">
              <a:solidFill>
                <a:srgbClr val="FF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313055">
              <a:lnSpc>
                <a:spcPct val="100000"/>
              </a:lnSpc>
            </a:pPr>
            <a:endParaRPr sz="4950" b="1" spc="130" dirty="0">
              <a:solidFill>
                <a:srgbClr val="FF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313055">
              <a:lnSpc>
                <a:spcPct val="100000"/>
              </a:lnSpc>
            </a:pPr>
            <a:endParaRPr sz="4950" b="1" spc="130" dirty="0">
              <a:solidFill>
                <a:srgbClr val="FF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313055">
              <a:lnSpc>
                <a:spcPct val="100000"/>
              </a:lnSpc>
            </a:pPr>
            <a:r>
              <a:rPr lang="en-US" sz="4950" b="1" spc="13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 </a:t>
            </a:r>
            <a:endParaRPr sz="4950" b="1" spc="130" dirty="0">
              <a:solidFill>
                <a:srgbClr val="FF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313055">
              <a:lnSpc>
                <a:spcPct val="100000"/>
              </a:lnSpc>
            </a:pPr>
            <a:endParaRPr sz="4950">
              <a:latin typeface="黑体" panose="02010609060101010101" charset="-122"/>
              <a:cs typeface="黑体" panose="02010609060101010101" charset="-122"/>
            </a:endParaRPr>
          </a:p>
          <a:p>
            <a:pPr marL="2522220">
              <a:lnSpc>
                <a:spcPct val="100000"/>
              </a:lnSpc>
              <a:spcBef>
                <a:spcPts val="4260"/>
              </a:spcBef>
            </a:pPr>
            <a:endParaRPr sz="3400">
              <a:latin typeface="Times New Roman" panose="02020603050405020304"/>
              <a:cs typeface="Times New Roman" panose="02020603050405020304"/>
            </a:endParaRPr>
          </a:p>
          <a:p>
            <a:pPr marL="2233295">
              <a:lnSpc>
                <a:spcPct val="100000"/>
              </a:lnSpc>
              <a:spcBef>
                <a:spcPts val="2680"/>
              </a:spcBef>
            </a:pP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"/>
          <p:cNvSpPr txBox="1"/>
          <p:nvPr>
            <p:custDataLst>
              <p:tags r:id="rId1"/>
            </p:custDataLst>
          </p:nvPr>
        </p:nvSpPr>
        <p:spPr>
          <a:xfrm>
            <a:off x="694287" y="1379513"/>
            <a:ext cx="3398520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lnSpc>
                <a:spcPct val="100000"/>
              </a:lnSpc>
            </a:pPr>
            <a:r>
              <a:rPr lang="zh-CN" altLang="en-US" sz="1950" b="1">
                <a:latin typeface="华文隶书" panose="02010800040101010101" charset="-122"/>
                <a:cs typeface="华文隶书" panose="02010800040101010101" charset="-122"/>
              </a:rPr>
              <a:t>苏州大学未来科学与工程学院</a:t>
            </a:r>
            <a:endParaRPr lang="zh-CN" altLang="en-US" sz="1950" b="1">
              <a:latin typeface="华文隶书" panose="02010800040101010101" charset="-122"/>
              <a:cs typeface="华文隶书" panose="0201080004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79039" y="6459594"/>
            <a:ext cx="33528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b="1" spc="5" dirty="0">
                <a:latin typeface="Arial" panose="020B0604020202020204"/>
                <a:cs typeface="Arial" panose="020B0604020202020204"/>
              </a:rPr>
              <a:t>-</a:t>
            </a:r>
            <a:r>
              <a:rPr sz="135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1350" b="1" spc="5" dirty="0">
                <a:latin typeface="Arial" panose="020B0604020202020204"/>
                <a:cs typeface="Arial" panose="020B0604020202020204"/>
              </a:rPr>
              <a:t>2</a:t>
            </a:r>
            <a:r>
              <a:rPr sz="1350" b="1" dirty="0">
                <a:latin typeface="Arial" panose="020B0604020202020204"/>
                <a:cs typeface="Arial" panose="020B0604020202020204"/>
              </a:rPr>
              <a:t> </a:t>
            </a:r>
            <a:r>
              <a:rPr sz="1350" b="1" spc="5" dirty="0">
                <a:latin typeface="Arial" panose="020B0604020202020204"/>
                <a:cs typeface="Arial" panose="020B0604020202020204"/>
              </a:rPr>
              <a:t>-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7614" y="6456355"/>
            <a:ext cx="13595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b="1" spc="1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1350" b="1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1350" b="1" spc="5" dirty="0">
                <a:latin typeface="Times New Roman" panose="02020603050405020304"/>
                <a:cs typeface="Times New Roman" panose="02020603050405020304"/>
              </a:rPr>
              <a:t>er</a:t>
            </a:r>
            <a:r>
              <a:rPr sz="1350" b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350" b="1" spc="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350" b="1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350" b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350" b="1" spc="5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135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50" b="1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350" b="1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1350" b="1" spc="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350" b="1" spc="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350" b="1" spc="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350" b="1" spc="10" dirty="0">
                <a:latin typeface="Times New Roman" panose="02020603050405020304"/>
                <a:cs typeface="Times New Roman" panose="02020603050405020304"/>
              </a:rPr>
              <a:t>m</a:t>
            </a:r>
            <a:endParaRPr sz="13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687458" y="5784144"/>
            <a:ext cx="853541" cy="90875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50472" y="1202167"/>
            <a:ext cx="3141345" cy="430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50" b="1" spc="100" dirty="0">
                <a:latin typeface="宋体" panose="02010600030101010101" pitchFamily="2" charset="-122"/>
                <a:cs typeface="宋体" panose="02010600030101010101" pitchFamily="2" charset="-122"/>
              </a:rPr>
              <a:t>从打开电源开始</a:t>
            </a:r>
            <a:r>
              <a:rPr sz="3050" b="1" spc="15" dirty="0">
                <a:latin typeface="Arial" panose="020B0604020202020204"/>
                <a:cs typeface="Arial" panose="020B0604020202020204"/>
              </a:rPr>
              <a:t>…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95987" y="992893"/>
            <a:ext cx="3311366" cy="24828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89809" y="4818592"/>
            <a:ext cx="160969" cy="1636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089809" y="4299303"/>
            <a:ext cx="160969" cy="1636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50049" y="3397516"/>
            <a:ext cx="6680834" cy="2725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 marR="5080" indent="0">
              <a:lnSpc>
                <a:spcPct val="163000"/>
              </a:lnSpc>
              <a:buFont typeface="Wingdings" panose="05000000000000000000" charset="0"/>
              <a:buNone/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不要总等着别人告诉你答案，尽量自己去寻找</a:t>
            </a:r>
            <a:r>
              <a:rPr sz="2400" b="1" dirty="0">
                <a:latin typeface="Arial" panose="020B0604020202020204"/>
                <a:cs typeface="Arial" panose="020B0604020202020204"/>
              </a:rPr>
              <a:t>… </a:t>
            </a:r>
            <a:endParaRPr sz="2400" b="1" dirty="0">
              <a:latin typeface="Arial" panose="020B0604020202020204"/>
              <a:cs typeface="Arial" panose="020B0604020202020204"/>
            </a:endParaRPr>
          </a:p>
          <a:p>
            <a:pPr marL="12065" marR="5080" indent="0">
              <a:lnSpc>
                <a:spcPct val="163000"/>
              </a:lnSpc>
              <a:buFont typeface="Wingdings" panose="05000000000000000000" charset="0"/>
              <a:buNone/>
            </a:pPr>
            <a:r>
              <a:rPr sz="2400" b="1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400" b="1" dirty="0">
                <a:latin typeface="Arial" panose="020B0604020202020204"/>
                <a:cs typeface="Arial" panose="020B0604020202020204"/>
              </a:rPr>
              <a:t>        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从知识和</a:t>
            </a:r>
            <a:r>
              <a:rPr sz="2925" b="1" u="sng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常识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出发进行思索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… </a:t>
            </a:r>
            <a:endParaRPr sz="2000" b="1" spc="20" dirty="0">
              <a:latin typeface="Arial" panose="020B0604020202020204"/>
              <a:cs typeface="Arial" panose="020B0604020202020204"/>
            </a:endParaRPr>
          </a:p>
          <a:p>
            <a:pPr marL="12065" marR="5080" indent="0">
              <a:lnSpc>
                <a:spcPct val="163000"/>
              </a:lnSpc>
              <a:buFont typeface="Wingdings" panose="05000000000000000000" charset="0"/>
              <a:buNone/>
            </a:pPr>
            <a:r>
              <a:rPr lang="en-US"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打开电源计算机要开始工作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了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96900" marR="1692910">
              <a:lnSpc>
                <a:spcPct val="143000"/>
              </a:lnSpc>
              <a:spcBef>
                <a:spcPts val="1205"/>
              </a:spcBef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计算机怎么工作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?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这是我们最最基本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925" b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也最最重要的常识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…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583351" y="2190660"/>
            <a:ext cx="4784725" cy="974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11630" marR="5080" indent="-1599565">
              <a:lnSpc>
                <a:spcPts val="3880"/>
              </a:lnSpc>
            </a:pPr>
            <a:r>
              <a:rPr sz="3300" spc="9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这神秘的黑色背后发生</a:t>
            </a:r>
            <a:r>
              <a:rPr sz="3300" spc="8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着</a:t>
            </a:r>
            <a:r>
              <a:rPr sz="3300" spc="4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3300" spc="9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什么</a:t>
            </a:r>
            <a:r>
              <a:rPr sz="3400" b="1" spc="-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?…</a:t>
            </a:r>
            <a:endParaRPr sz="34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89809" y="5402792"/>
            <a:ext cx="160969" cy="1636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79039" y="6459594"/>
            <a:ext cx="33528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b="1" spc="5" dirty="0">
                <a:latin typeface="Arial" panose="020B0604020202020204"/>
                <a:cs typeface="Arial" panose="020B0604020202020204"/>
              </a:rPr>
              <a:t>-</a:t>
            </a:r>
            <a:r>
              <a:rPr sz="135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1350" b="1" spc="5" dirty="0">
                <a:latin typeface="Arial" panose="020B0604020202020204"/>
                <a:cs typeface="Arial" panose="020B0604020202020204"/>
              </a:rPr>
              <a:t>3</a:t>
            </a:r>
            <a:r>
              <a:rPr sz="1350" b="1" dirty="0">
                <a:latin typeface="Arial" panose="020B0604020202020204"/>
                <a:cs typeface="Arial" panose="020B0604020202020204"/>
              </a:rPr>
              <a:t> </a:t>
            </a:r>
            <a:r>
              <a:rPr sz="1350" b="1" spc="5" dirty="0">
                <a:latin typeface="Arial" panose="020B0604020202020204"/>
                <a:cs typeface="Arial" panose="020B0604020202020204"/>
              </a:rPr>
              <a:t>-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7614" y="6456355"/>
            <a:ext cx="13595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b="1" spc="1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1350" b="1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1350" b="1" spc="5" dirty="0">
                <a:latin typeface="Times New Roman" panose="02020603050405020304"/>
                <a:cs typeface="Times New Roman" panose="02020603050405020304"/>
              </a:rPr>
              <a:t>er</a:t>
            </a:r>
            <a:r>
              <a:rPr sz="1350" b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350" b="1" spc="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350" b="1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350" b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350" b="1" spc="5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135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50" b="1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350" b="1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1350" b="1" spc="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350" b="1" spc="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350" b="1" spc="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350" b="1" spc="10" dirty="0">
                <a:latin typeface="Times New Roman" panose="02020603050405020304"/>
                <a:cs typeface="Times New Roman" panose="02020603050405020304"/>
              </a:rPr>
              <a:t>m</a:t>
            </a:r>
            <a:endParaRPr sz="13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687458" y="5784144"/>
            <a:ext cx="853541" cy="90875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0190">
              <a:lnSpc>
                <a:spcPts val="3470"/>
              </a:lnSpc>
            </a:pP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从白纸到图灵机</a:t>
            </a:r>
            <a:endParaRPr sz="2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88409" y="2237023"/>
            <a:ext cx="1688464" cy="810895"/>
          </a:xfrm>
          <a:custGeom>
            <a:avLst/>
            <a:gdLst/>
            <a:ahLst/>
            <a:cxnLst/>
            <a:rect l="l" t="t" r="r" b="b"/>
            <a:pathLst>
              <a:path w="1688464" h="810894">
                <a:moveTo>
                  <a:pt x="0" y="0"/>
                </a:moveTo>
                <a:lnTo>
                  <a:pt x="1688147" y="0"/>
                </a:lnTo>
                <a:lnTo>
                  <a:pt x="1688147" y="810428"/>
                </a:lnTo>
                <a:lnTo>
                  <a:pt x="0" y="810428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197689" y="2528969"/>
            <a:ext cx="80327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控制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器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814478" y="3626330"/>
            <a:ext cx="3636010" cy="0"/>
          </a:xfrm>
          <a:custGeom>
            <a:avLst/>
            <a:gdLst/>
            <a:ahLst/>
            <a:cxnLst/>
            <a:rect l="l" t="t" r="r" b="b"/>
            <a:pathLst>
              <a:path w="3636010">
                <a:moveTo>
                  <a:pt x="0" y="0"/>
                </a:moveTo>
                <a:lnTo>
                  <a:pt x="3636010" y="0"/>
                </a:lnTo>
              </a:path>
            </a:pathLst>
          </a:custGeom>
          <a:ln w="243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09264" y="4031543"/>
            <a:ext cx="3636010" cy="0"/>
          </a:xfrm>
          <a:custGeom>
            <a:avLst/>
            <a:gdLst/>
            <a:ahLst/>
            <a:cxnLst/>
            <a:rect l="l" t="t" r="r" b="b"/>
            <a:pathLst>
              <a:path w="3636009">
                <a:moveTo>
                  <a:pt x="0" y="0"/>
                </a:moveTo>
                <a:lnTo>
                  <a:pt x="3636010" y="0"/>
                </a:lnTo>
              </a:path>
            </a:pathLst>
          </a:custGeom>
          <a:ln w="243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814478" y="3626330"/>
            <a:ext cx="190500" cy="399415"/>
          </a:xfrm>
          <a:custGeom>
            <a:avLst/>
            <a:gdLst/>
            <a:ahLst/>
            <a:cxnLst/>
            <a:rect l="l" t="t" r="r" b="b"/>
            <a:pathLst>
              <a:path w="190500" h="399414">
                <a:moveTo>
                  <a:pt x="0" y="0"/>
                </a:moveTo>
                <a:lnTo>
                  <a:pt x="35207" y="22337"/>
                </a:lnTo>
                <a:lnTo>
                  <a:pt x="68368" y="45586"/>
                </a:lnTo>
                <a:lnTo>
                  <a:pt x="97438" y="70660"/>
                </a:lnTo>
                <a:lnTo>
                  <a:pt x="126296" y="108504"/>
                </a:lnTo>
                <a:lnTo>
                  <a:pt x="136049" y="155799"/>
                </a:lnTo>
                <a:lnTo>
                  <a:pt x="136045" y="168380"/>
                </a:lnTo>
                <a:lnTo>
                  <a:pt x="135407" y="181091"/>
                </a:lnTo>
                <a:lnTo>
                  <a:pt x="134305" y="193847"/>
                </a:lnTo>
                <a:lnTo>
                  <a:pt x="132912" y="206562"/>
                </a:lnTo>
                <a:lnTo>
                  <a:pt x="131399" y="219150"/>
                </a:lnTo>
                <a:lnTo>
                  <a:pt x="129937" y="231525"/>
                </a:lnTo>
                <a:lnTo>
                  <a:pt x="128697" y="243602"/>
                </a:lnTo>
                <a:lnTo>
                  <a:pt x="127851" y="255293"/>
                </a:lnTo>
                <a:lnTo>
                  <a:pt x="127570" y="266515"/>
                </a:lnTo>
                <a:lnTo>
                  <a:pt x="128026" y="277179"/>
                </a:lnTo>
                <a:lnTo>
                  <a:pt x="142370" y="326343"/>
                </a:lnTo>
                <a:lnTo>
                  <a:pt x="160762" y="359747"/>
                </a:lnTo>
                <a:lnTo>
                  <a:pt x="182438" y="389672"/>
                </a:lnTo>
                <a:lnTo>
                  <a:pt x="190024" y="399264"/>
                </a:lnTo>
              </a:path>
            </a:pathLst>
          </a:custGeom>
          <a:ln w="243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450488" y="3626330"/>
            <a:ext cx="190500" cy="399415"/>
          </a:xfrm>
          <a:custGeom>
            <a:avLst/>
            <a:gdLst/>
            <a:ahLst/>
            <a:cxnLst/>
            <a:rect l="l" t="t" r="r" b="b"/>
            <a:pathLst>
              <a:path w="190500" h="399414">
                <a:moveTo>
                  <a:pt x="0" y="0"/>
                </a:moveTo>
                <a:lnTo>
                  <a:pt x="35207" y="22337"/>
                </a:lnTo>
                <a:lnTo>
                  <a:pt x="68368" y="45586"/>
                </a:lnTo>
                <a:lnTo>
                  <a:pt x="97438" y="70660"/>
                </a:lnTo>
                <a:lnTo>
                  <a:pt x="126296" y="108504"/>
                </a:lnTo>
                <a:lnTo>
                  <a:pt x="136049" y="155799"/>
                </a:lnTo>
                <a:lnTo>
                  <a:pt x="136045" y="168380"/>
                </a:lnTo>
                <a:lnTo>
                  <a:pt x="135407" y="181091"/>
                </a:lnTo>
                <a:lnTo>
                  <a:pt x="134305" y="193847"/>
                </a:lnTo>
                <a:lnTo>
                  <a:pt x="132912" y="206562"/>
                </a:lnTo>
                <a:lnTo>
                  <a:pt x="131399" y="219150"/>
                </a:lnTo>
                <a:lnTo>
                  <a:pt x="129937" y="231525"/>
                </a:lnTo>
                <a:lnTo>
                  <a:pt x="128697" y="243602"/>
                </a:lnTo>
                <a:lnTo>
                  <a:pt x="127851" y="255293"/>
                </a:lnTo>
                <a:lnTo>
                  <a:pt x="127570" y="266515"/>
                </a:lnTo>
                <a:lnTo>
                  <a:pt x="128026" y="277179"/>
                </a:lnTo>
                <a:lnTo>
                  <a:pt x="142370" y="326343"/>
                </a:lnTo>
                <a:lnTo>
                  <a:pt x="160762" y="359747"/>
                </a:lnTo>
                <a:lnTo>
                  <a:pt x="182438" y="389672"/>
                </a:lnTo>
                <a:lnTo>
                  <a:pt x="190024" y="399264"/>
                </a:lnTo>
              </a:path>
            </a:pathLst>
          </a:custGeom>
          <a:ln w="243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515773" y="2931676"/>
            <a:ext cx="266065" cy="810895"/>
          </a:xfrm>
          <a:custGeom>
            <a:avLst/>
            <a:gdLst/>
            <a:ahLst/>
            <a:cxnLst/>
            <a:rect l="l" t="t" r="r" b="b"/>
            <a:pathLst>
              <a:path w="266064" h="810895">
                <a:moveTo>
                  <a:pt x="193779" y="732508"/>
                </a:moveTo>
                <a:lnTo>
                  <a:pt x="218161" y="810428"/>
                </a:lnTo>
                <a:lnTo>
                  <a:pt x="265885" y="744175"/>
                </a:lnTo>
                <a:lnTo>
                  <a:pt x="241595" y="740244"/>
                </a:lnTo>
                <a:lnTo>
                  <a:pt x="242140" y="736358"/>
                </a:lnTo>
                <a:lnTo>
                  <a:pt x="217577" y="736358"/>
                </a:lnTo>
                <a:lnTo>
                  <a:pt x="193779" y="732508"/>
                </a:lnTo>
                <a:close/>
              </a:path>
              <a:path w="266064" h="810895">
                <a:moveTo>
                  <a:pt x="47724" y="0"/>
                </a:moveTo>
                <a:lnTo>
                  <a:pt x="0" y="66253"/>
                </a:lnTo>
                <a:lnTo>
                  <a:pt x="24278" y="70181"/>
                </a:lnTo>
                <a:lnTo>
                  <a:pt x="21936" y="86789"/>
                </a:lnTo>
                <a:lnTo>
                  <a:pt x="19603" y="117938"/>
                </a:lnTo>
                <a:lnTo>
                  <a:pt x="19321" y="149818"/>
                </a:lnTo>
                <a:lnTo>
                  <a:pt x="21597" y="182760"/>
                </a:lnTo>
                <a:lnTo>
                  <a:pt x="35924" y="252360"/>
                </a:lnTo>
                <a:lnTo>
                  <a:pt x="50867" y="290609"/>
                </a:lnTo>
                <a:lnTo>
                  <a:pt x="71569" y="330031"/>
                </a:lnTo>
                <a:lnTo>
                  <a:pt x="96235" y="370735"/>
                </a:lnTo>
                <a:lnTo>
                  <a:pt x="149007" y="452597"/>
                </a:lnTo>
                <a:lnTo>
                  <a:pt x="173131" y="492373"/>
                </a:lnTo>
                <a:lnTo>
                  <a:pt x="193073" y="530325"/>
                </a:lnTo>
                <a:lnTo>
                  <a:pt x="215101" y="598430"/>
                </a:lnTo>
                <a:lnTo>
                  <a:pt x="222246" y="661365"/>
                </a:lnTo>
                <a:lnTo>
                  <a:pt x="221966" y="691493"/>
                </a:lnTo>
                <a:lnTo>
                  <a:pt x="219751" y="721041"/>
                </a:lnTo>
                <a:lnTo>
                  <a:pt x="217577" y="736358"/>
                </a:lnTo>
                <a:lnTo>
                  <a:pt x="242140" y="736358"/>
                </a:lnTo>
                <a:lnTo>
                  <a:pt x="244034" y="722838"/>
                </a:lnTo>
                <a:lnTo>
                  <a:pt x="246313" y="691688"/>
                </a:lnTo>
                <a:lnTo>
                  <a:pt x="246533" y="659660"/>
                </a:lnTo>
                <a:lnTo>
                  <a:pt x="244167" y="626616"/>
                </a:lnTo>
                <a:lnTo>
                  <a:pt x="229647" y="557032"/>
                </a:lnTo>
                <a:lnTo>
                  <a:pt x="214622" y="518994"/>
                </a:lnTo>
                <a:lnTo>
                  <a:pt x="193950" y="479751"/>
                </a:lnTo>
                <a:lnTo>
                  <a:pt x="169473" y="439409"/>
                </a:lnTo>
                <a:lnTo>
                  <a:pt x="117054" y="358113"/>
                </a:lnTo>
                <a:lnTo>
                  <a:pt x="93118" y="318700"/>
                </a:lnTo>
                <a:lnTo>
                  <a:pt x="73207" y="280927"/>
                </a:lnTo>
                <a:lnTo>
                  <a:pt x="51009" y="213092"/>
                </a:lnTo>
                <a:lnTo>
                  <a:pt x="43668" y="150013"/>
                </a:lnTo>
                <a:lnTo>
                  <a:pt x="43886" y="119735"/>
                </a:lnTo>
                <a:lnTo>
                  <a:pt x="46047" y="90186"/>
                </a:lnTo>
                <a:lnTo>
                  <a:pt x="48319" y="74071"/>
                </a:lnTo>
                <a:lnTo>
                  <a:pt x="70902" y="74071"/>
                </a:lnTo>
                <a:lnTo>
                  <a:pt x="47724" y="0"/>
                </a:lnTo>
                <a:close/>
              </a:path>
              <a:path w="266064" h="810895">
                <a:moveTo>
                  <a:pt x="70902" y="74071"/>
                </a:moveTo>
                <a:lnTo>
                  <a:pt x="48319" y="74071"/>
                </a:lnTo>
                <a:lnTo>
                  <a:pt x="72106" y="77920"/>
                </a:lnTo>
                <a:lnTo>
                  <a:pt x="70902" y="740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567554" y="3626330"/>
            <a:ext cx="0" cy="405765"/>
          </a:xfrm>
          <a:custGeom>
            <a:avLst/>
            <a:gdLst/>
            <a:ahLst/>
            <a:cxnLst/>
            <a:rect l="l" t="t" r="r" b="b"/>
            <a:pathLst>
              <a:path h="405764">
                <a:moveTo>
                  <a:pt x="0" y="0"/>
                </a:moveTo>
                <a:lnTo>
                  <a:pt x="0" y="405214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022056" y="3626330"/>
            <a:ext cx="0" cy="405765"/>
          </a:xfrm>
          <a:custGeom>
            <a:avLst/>
            <a:gdLst/>
            <a:ahLst/>
            <a:cxnLst/>
            <a:rect l="l" t="t" r="r" b="b"/>
            <a:pathLst>
              <a:path h="405764">
                <a:moveTo>
                  <a:pt x="0" y="0"/>
                </a:moveTo>
                <a:lnTo>
                  <a:pt x="0" y="405214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472499" y="3626330"/>
            <a:ext cx="0" cy="405765"/>
          </a:xfrm>
          <a:custGeom>
            <a:avLst/>
            <a:gdLst/>
            <a:ahLst/>
            <a:cxnLst/>
            <a:rect l="l" t="t" r="r" b="b"/>
            <a:pathLst>
              <a:path h="405764">
                <a:moveTo>
                  <a:pt x="0" y="0"/>
                </a:moveTo>
                <a:lnTo>
                  <a:pt x="0" y="405214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240573" y="3626330"/>
            <a:ext cx="0" cy="405765"/>
          </a:xfrm>
          <a:custGeom>
            <a:avLst/>
            <a:gdLst/>
            <a:ahLst/>
            <a:cxnLst/>
            <a:rect l="l" t="t" r="r" b="b"/>
            <a:pathLst>
              <a:path h="405764">
                <a:moveTo>
                  <a:pt x="0" y="0"/>
                </a:moveTo>
                <a:lnTo>
                  <a:pt x="0" y="405214"/>
                </a:lnTo>
              </a:path>
            </a:pathLst>
          </a:custGeom>
          <a:ln w="243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695075" y="3626330"/>
            <a:ext cx="0" cy="405765"/>
          </a:xfrm>
          <a:custGeom>
            <a:avLst/>
            <a:gdLst/>
            <a:ahLst/>
            <a:cxnLst/>
            <a:rect l="l" t="t" r="r" b="b"/>
            <a:pathLst>
              <a:path h="405764">
                <a:moveTo>
                  <a:pt x="0" y="0"/>
                </a:moveTo>
                <a:lnTo>
                  <a:pt x="0" y="405214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145517" y="3626330"/>
            <a:ext cx="0" cy="405765"/>
          </a:xfrm>
          <a:custGeom>
            <a:avLst/>
            <a:gdLst/>
            <a:ahLst/>
            <a:cxnLst/>
            <a:rect l="l" t="t" r="r" b="b"/>
            <a:pathLst>
              <a:path h="405764">
                <a:moveTo>
                  <a:pt x="0" y="0"/>
                </a:moveTo>
                <a:lnTo>
                  <a:pt x="0" y="405214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935117" y="3626330"/>
            <a:ext cx="0" cy="405765"/>
          </a:xfrm>
          <a:custGeom>
            <a:avLst/>
            <a:gdLst/>
            <a:ahLst/>
            <a:cxnLst/>
            <a:rect l="l" t="t" r="r" b="b"/>
            <a:pathLst>
              <a:path h="405764">
                <a:moveTo>
                  <a:pt x="0" y="0"/>
                </a:moveTo>
                <a:lnTo>
                  <a:pt x="0" y="405214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389617" y="3626330"/>
            <a:ext cx="0" cy="405765"/>
          </a:xfrm>
          <a:custGeom>
            <a:avLst/>
            <a:gdLst/>
            <a:ahLst/>
            <a:cxnLst/>
            <a:rect l="l" t="t" r="r" b="b"/>
            <a:pathLst>
              <a:path h="405764">
                <a:moveTo>
                  <a:pt x="0" y="0"/>
                </a:moveTo>
                <a:lnTo>
                  <a:pt x="0" y="405214"/>
                </a:lnTo>
              </a:path>
            </a:pathLst>
          </a:custGeom>
          <a:ln w="243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9053050" y="2756311"/>
            <a:ext cx="65405" cy="454659"/>
          </a:xfrm>
          <a:custGeom>
            <a:avLst/>
            <a:gdLst/>
            <a:ahLst/>
            <a:cxnLst/>
            <a:rect l="l" t="t" r="r" b="b"/>
            <a:pathLst>
              <a:path w="65404" h="454660">
                <a:moveTo>
                  <a:pt x="64928" y="340784"/>
                </a:moveTo>
                <a:lnTo>
                  <a:pt x="0" y="340784"/>
                </a:lnTo>
                <a:lnTo>
                  <a:pt x="32465" y="454378"/>
                </a:lnTo>
                <a:lnTo>
                  <a:pt x="64928" y="340784"/>
                </a:lnTo>
                <a:close/>
              </a:path>
              <a:path w="65404" h="454660">
                <a:moveTo>
                  <a:pt x="48696" y="0"/>
                </a:moveTo>
                <a:lnTo>
                  <a:pt x="16231" y="0"/>
                </a:lnTo>
                <a:lnTo>
                  <a:pt x="16231" y="340784"/>
                </a:lnTo>
                <a:lnTo>
                  <a:pt x="48696" y="340784"/>
                </a:lnTo>
                <a:lnTo>
                  <a:pt x="4869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9053050" y="2756311"/>
            <a:ext cx="65405" cy="454659"/>
          </a:xfrm>
          <a:custGeom>
            <a:avLst/>
            <a:gdLst/>
            <a:ahLst/>
            <a:cxnLst/>
            <a:rect l="l" t="t" r="r" b="b"/>
            <a:pathLst>
              <a:path w="65404" h="454660">
                <a:moveTo>
                  <a:pt x="0" y="340783"/>
                </a:moveTo>
                <a:lnTo>
                  <a:pt x="16232" y="340783"/>
                </a:lnTo>
                <a:lnTo>
                  <a:pt x="16232" y="0"/>
                </a:lnTo>
                <a:lnTo>
                  <a:pt x="48696" y="0"/>
                </a:lnTo>
                <a:lnTo>
                  <a:pt x="48696" y="340783"/>
                </a:lnTo>
                <a:lnTo>
                  <a:pt x="64928" y="340783"/>
                </a:lnTo>
                <a:lnTo>
                  <a:pt x="32464" y="454377"/>
                </a:lnTo>
                <a:lnTo>
                  <a:pt x="0" y="340783"/>
                </a:lnTo>
                <a:close/>
              </a:path>
            </a:pathLst>
          </a:custGeom>
          <a:ln w="8116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053050" y="3612327"/>
            <a:ext cx="65405" cy="454659"/>
          </a:xfrm>
          <a:custGeom>
            <a:avLst/>
            <a:gdLst/>
            <a:ahLst/>
            <a:cxnLst/>
            <a:rect l="l" t="t" r="r" b="b"/>
            <a:pathLst>
              <a:path w="65404" h="454660">
                <a:moveTo>
                  <a:pt x="64928" y="340784"/>
                </a:moveTo>
                <a:lnTo>
                  <a:pt x="0" y="340784"/>
                </a:lnTo>
                <a:lnTo>
                  <a:pt x="32465" y="454378"/>
                </a:lnTo>
                <a:lnTo>
                  <a:pt x="64928" y="340784"/>
                </a:lnTo>
                <a:close/>
              </a:path>
              <a:path w="65404" h="454660">
                <a:moveTo>
                  <a:pt x="48696" y="0"/>
                </a:moveTo>
                <a:lnTo>
                  <a:pt x="16231" y="0"/>
                </a:lnTo>
                <a:lnTo>
                  <a:pt x="16231" y="340784"/>
                </a:lnTo>
                <a:lnTo>
                  <a:pt x="48696" y="340784"/>
                </a:lnTo>
                <a:lnTo>
                  <a:pt x="4869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9053050" y="3612327"/>
            <a:ext cx="65405" cy="454659"/>
          </a:xfrm>
          <a:custGeom>
            <a:avLst/>
            <a:gdLst/>
            <a:ahLst/>
            <a:cxnLst/>
            <a:rect l="l" t="t" r="r" b="b"/>
            <a:pathLst>
              <a:path w="65404" h="454660">
                <a:moveTo>
                  <a:pt x="0" y="340783"/>
                </a:moveTo>
                <a:lnTo>
                  <a:pt x="16232" y="340783"/>
                </a:lnTo>
                <a:lnTo>
                  <a:pt x="16232" y="0"/>
                </a:lnTo>
                <a:lnTo>
                  <a:pt x="48696" y="0"/>
                </a:lnTo>
                <a:lnTo>
                  <a:pt x="48696" y="340783"/>
                </a:lnTo>
                <a:lnTo>
                  <a:pt x="64928" y="340783"/>
                </a:lnTo>
                <a:lnTo>
                  <a:pt x="32464" y="454377"/>
                </a:lnTo>
                <a:lnTo>
                  <a:pt x="0" y="340783"/>
                </a:lnTo>
                <a:close/>
              </a:path>
            </a:pathLst>
          </a:custGeom>
          <a:ln w="8116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780359" y="2381385"/>
            <a:ext cx="972393" cy="20761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141710" y="3175529"/>
            <a:ext cx="389890" cy="130175"/>
          </a:xfrm>
          <a:custGeom>
            <a:avLst/>
            <a:gdLst/>
            <a:ahLst/>
            <a:cxnLst/>
            <a:rect l="l" t="t" r="r" b="b"/>
            <a:pathLst>
              <a:path w="389890" h="130175">
                <a:moveTo>
                  <a:pt x="77914" y="0"/>
                </a:moveTo>
                <a:lnTo>
                  <a:pt x="0" y="64910"/>
                </a:lnTo>
                <a:lnTo>
                  <a:pt x="77914" y="129821"/>
                </a:lnTo>
                <a:lnTo>
                  <a:pt x="77914" y="97367"/>
                </a:lnTo>
                <a:lnTo>
                  <a:pt x="350614" y="97367"/>
                </a:lnTo>
                <a:lnTo>
                  <a:pt x="389572" y="64910"/>
                </a:lnTo>
                <a:lnTo>
                  <a:pt x="350616" y="32456"/>
                </a:lnTo>
                <a:lnTo>
                  <a:pt x="77914" y="32456"/>
                </a:lnTo>
                <a:lnTo>
                  <a:pt x="77914" y="0"/>
                </a:lnTo>
                <a:close/>
              </a:path>
              <a:path w="389890" h="130175">
                <a:moveTo>
                  <a:pt x="350614" y="97367"/>
                </a:moveTo>
                <a:lnTo>
                  <a:pt x="311658" y="97367"/>
                </a:lnTo>
                <a:lnTo>
                  <a:pt x="311658" y="129821"/>
                </a:lnTo>
                <a:lnTo>
                  <a:pt x="350614" y="97367"/>
                </a:lnTo>
                <a:close/>
              </a:path>
              <a:path w="389890" h="130175">
                <a:moveTo>
                  <a:pt x="311658" y="0"/>
                </a:moveTo>
                <a:lnTo>
                  <a:pt x="311658" y="32456"/>
                </a:lnTo>
                <a:lnTo>
                  <a:pt x="350616" y="32456"/>
                </a:lnTo>
                <a:lnTo>
                  <a:pt x="3116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141710" y="3175529"/>
            <a:ext cx="389890" cy="130175"/>
          </a:xfrm>
          <a:custGeom>
            <a:avLst/>
            <a:gdLst/>
            <a:ahLst/>
            <a:cxnLst/>
            <a:rect l="l" t="t" r="r" b="b"/>
            <a:pathLst>
              <a:path w="389890" h="130175">
                <a:moveTo>
                  <a:pt x="0" y="64911"/>
                </a:moveTo>
                <a:lnTo>
                  <a:pt x="77914" y="0"/>
                </a:lnTo>
                <a:lnTo>
                  <a:pt x="77914" y="32455"/>
                </a:lnTo>
                <a:lnTo>
                  <a:pt x="311658" y="32455"/>
                </a:lnTo>
                <a:lnTo>
                  <a:pt x="311658" y="0"/>
                </a:lnTo>
                <a:lnTo>
                  <a:pt x="389572" y="64911"/>
                </a:lnTo>
                <a:lnTo>
                  <a:pt x="311658" y="129822"/>
                </a:lnTo>
                <a:lnTo>
                  <a:pt x="311658" y="97366"/>
                </a:lnTo>
                <a:lnTo>
                  <a:pt x="77914" y="97366"/>
                </a:lnTo>
                <a:lnTo>
                  <a:pt x="77914" y="129822"/>
                </a:lnTo>
                <a:lnTo>
                  <a:pt x="0" y="64911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2814320" y="3270885"/>
            <a:ext cx="4426585" cy="1478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770255" algn="r">
              <a:lnSpc>
                <a:spcPct val="10000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纸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带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R="713740" algn="r">
              <a:lnSpc>
                <a:spcPct val="100000"/>
              </a:lnSpc>
              <a:spcBef>
                <a:spcPts val="1250"/>
              </a:spcBef>
              <a:tabLst>
                <a:tab pos="454025" algn="l"/>
                <a:tab pos="908685" algn="l"/>
                <a:tab pos="1297940" algn="l"/>
                <a:tab pos="1752600" algn="l"/>
                <a:tab pos="2207260" algn="l"/>
                <a:tab pos="2661920" algn="l"/>
              </a:tabLst>
            </a:pPr>
            <a:r>
              <a:rPr sz="2550" b="1" baseline="3000" dirty="0">
                <a:latin typeface="Arial" panose="020B0604020202020204"/>
                <a:cs typeface="Arial" panose="020B0604020202020204"/>
              </a:rPr>
              <a:t>0</a:t>
            </a:r>
            <a:r>
              <a:rPr sz="2550" b="1" baseline="3000" dirty="0">
                <a:latin typeface="Arial" panose="020B0604020202020204"/>
                <a:cs typeface="Arial" panose="020B0604020202020204"/>
              </a:rPr>
              <a:t>	</a:t>
            </a:r>
            <a:r>
              <a:rPr sz="1700" b="1" dirty="0">
                <a:latin typeface="Arial" panose="020B0604020202020204"/>
                <a:cs typeface="Arial" panose="020B0604020202020204"/>
              </a:rPr>
              <a:t>0</a:t>
            </a:r>
            <a:r>
              <a:rPr sz="1700" b="1" dirty="0">
                <a:latin typeface="Arial" panose="020B0604020202020204"/>
                <a:cs typeface="Arial" panose="020B0604020202020204"/>
              </a:rPr>
              <a:t>	</a:t>
            </a:r>
            <a:r>
              <a:rPr sz="1700" b="1" dirty="0">
                <a:latin typeface="Arial" panose="020B0604020202020204"/>
                <a:cs typeface="Arial" panose="020B0604020202020204"/>
              </a:rPr>
              <a:t>1</a:t>
            </a:r>
            <a:r>
              <a:rPr sz="1700" b="1" dirty="0">
                <a:latin typeface="Arial" panose="020B0604020202020204"/>
                <a:cs typeface="Arial" panose="020B0604020202020204"/>
              </a:rPr>
              <a:t>	</a:t>
            </a:r>
            <a:r>
              <a:rPr sz="1700" b="1" dirty="0">
                <a:latin typeface="Arial" panose="020B0604020202020204"/>
                <a:cs typeface="Arial" panose="020B0604020202020204"/>
              </a:rPr>
              <a:t>0</a:t>
            </a:r>
            <a:r>
              <a:rPr sz="1700" b="1" dirty="0">
                <a:latin typeface="Arial" panose="020B0604020202020204"/>
                <a:cs typeface="Arial" panose="020B0604020202020204"/>
              </a:rPr>
              <a:t>	</a:t>
            </a:r>
            <a:r>
              <a:rPr sz="1700" b="1" dirty="0">
                <a:latin typeface="Arial" panose="020B0604020202020204"/>
                <a:cs typeface="Arial" panose="020B0604020202020204"/>
              </a:rPr>
              <a:t>1</a:t>
            </a:r>
            <a:r>
              <a:rPr sz="1700" b="1" dirty="0">
                <a:latin typeface="Arial" panose="020B0604020202020204"/>
                <a:cs typeface="Arial" panose="020B0604020202020204"/>
              </a:rPr>
              <a:t>	</a:t>
            </a:r>
            <a:r>
              <a:rPr sz="1700" b="1" dirty="0">
                <a:latin typeface="Arial" panose="020B0604020202020204"/>
                <a:cs typeface="Arial" panose="020B0604020202020204"/>
              </a:rPr>
              <a:t>1</a:t>
            </a:r>
            <a:r>
              <a:rPr sz="1700" b="1" dirty="0">
                <a:latin typeface="Arial" panose="020B0604020202020204"/>
                <a:cs typeface="Arial" panose="020B0604020202020204"/>
              </a:rPr>
              <a:t>	</a:t>
            </a:r>
            <a:r>
              <a:rPr sz="1700" b="1" dirty="0">
                <a:latin typeface="Arial" panose="020B0604020202020204"/>
                <a:cs typeface="Arial" panose="020B0604020202020204"/>
              </a:rPr>
              <a:t>1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41000"/>
              </a:lnSpc>
              <a:spcBef>
                <a:spcPts val="150"/>
              </a:spcBef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在纸带上读入</a:t>
            </a:r>
            <a:r>
              <a:rPr sz="1700" b="1" dirty="0">
                <a:latin typeface="Arial" panose="020B0604020202020204"/>
                <a:cs typeface="Arial" panose="020B0604020202020204"/>
              </a:rPr>
              <a:t>3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；在纸带上读入</a:t>
            </a:r>
            <a:r>
              <a:rPr sz="1700" b="1" dirty="0">
                <a:latin typeface="Arial" panose="020B0604020202020204"/>
                <a:cs typeface="Arial" panose="020B0604020202020204"/>
              </a:rPr>
              <a:t>2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；在纸带上读 入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+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；控制器查表知道是</a:t>
            </a:r>
            <a:r>
              <a:rPr sz="1700" b="1" dirty="0">
                <a:latin typeface="Arial" panose="020B0604020202020204"/>
                <a:cs typeface="Arial" panose="020B0604020202020204"/>
              </a:rPr>
              <a:t>5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；在纸带上写下</a:t>
            </a:r>
            <a:r>
              <a:rPr sz="1700" b="1" dirty="0">
                <a:latin typeface="Arial" panose="020B0604020202020204"/>
                <a:cs typeface="Arial" panose="020B0604020202020204"/>
              </a:rPr>
              <a:t>5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64393" y="1882245"/>
            <a:ext cx="6041390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计算机怎么工作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?</a:t>
            </a:r>
            <a:r>
              <a:rPr sz="24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说到底就是一个计算模</a:t>
            </a:r>
            <a:r>
              <a:rPr sz="3450" b="1" spc="135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型</a:t>
            </a:r>
            <a:endParaRPr sz="3450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775904" y="2291097"/>
            <a:ext cx="1588770" cy="756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1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1936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年，英国数 学家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.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.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图灵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提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 出了一种模型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935653" y="2427267"/>
            <a:ext cx="28384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人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935653" y="3270882"/>
            <a:ext cx="28384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笔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935653" y="4086107"/>
            <a:ext cx="28384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纸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307222" y="4138377"/>
            <a:ext cx="160969" cy="1636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8257959" y="850202"/>
            <a:ext cx="986721" cy="10398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877620" y="4518727"/>
            <a:ext cx="1144905" cy="349885"/>
          </a:xfrm>
          <a:custGeom>
            <a:avLst/>
            <a:gdLst/>
            <a:ahLst/>
            <a:cxnLst/>
            <a:rect l="l" t="t" r="r" b="b"/>
            <a:pathLst>
              <a:path w="1144905" h="349885">
                <a:moveTo>
                  <a:pt x="0" y="0"/>
                </a:moveTo>
                <a:lnTo>
                  <a:pt x="1144506" y="0"/>
                </a:lnTo>
                <a:lnTo>
                  <a:pt x="1144506" y="349674"/>
                </a:lnTo>
                <a:lnTo>
                  <a:pt x="0" y="349674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1090504" y="4555609"/>
            <a:ext cx="674370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控制器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17328" y="5115477"/>
            <a:ext cx="2465705" cy="0"/>
          </a:xfrm>
          <a:custGeom>
            <a:avLst/>
            <a:gdLst/>
            <a:ahLst/>
            <a:cxnLst/>
            <a:rect l="l" t="t" r="r" b="b"/>
            <a:pathLst>
              <a:path w="2465705">
                <a:moveTo>
                  <a:pt x="0" y="0"/>
                </a:moveTo>
                <a:lnTo>
                  <a:pt x="2465091" y="0"/>
                </a:lnTo>
              </a:path>
            </a:pathLst>
          </a:custGeom>
          <a:ln w="243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17328" y="5115477"/>
            <a:ext cx="129539" cy="332740"/>
          </a:xfrm>
          <a:custGeom>
            <a:avLst/>
            <a:gdLst/>
            <a:ahLst/>
            <a:cxnLst/>
            <a:rect l="l" t="t" r="r" b="b"/>
            <a:pathLst>
              <a:path w="129539" h="332739">
                <a:moveTo>
                  <a:pt x="0" y="0"/>
                </a:moveTo>
                <a:lnTo>
                  <a:pt x="31583" y="24906"/>
                </a:lnTo>
                <a:lnTo>
                  <a:pt x="59880" y="51611"/>
                </a:lnTo>
                <a:lnTo>
                  <a:pt x="86814" y="93122"/>
                </a:lnTo>
                <a:lnTo>
                  <a:pt x="92668" y="128324"/>
                </a:lnTo>
                <a:lnTo>
                  <a:pt x="92591" y="141053"/>
                </a:lnTo>
                <a:lnTo>
                  <a:pt x="91873" y="154029"/>
                </a:lnTo>
                <a:lnTo>
                  <a:pt x="90739" y="167102"/>
                </a:lnTo>
                <a:lnTo>
                  <a:pt x="89414" y="180123"/>
                </a:lnTo>
                <a:lnTo>
                  <a:pt x="88121" y="192941"/>
                </a:lnTo>
                <a:lnTo>
                  <a:pt x="87085" y="205406"/>
                </a:lnTo>
                <a:lnTo>
                  <a:pt x="86530" y="217368"/>
                </a:lnTo>
                <a:lnTo>
                  <a:pt x="86681" y="228678"/>
                </a:lnTo>
                <a:lnTo>
                  <a:pt x="94815" y="266671"/>
                </a:lnTo>
                <a:lnTo>
                  <a:pt x="110278" y="301691"/>
                </a:lnTo>
                <a:lnTo>
                  <a:pt x="122602" y="322472"/>
                </a:lnTo>
                <a:lnTo>
                  <a:pt x="129050" y="332499"/>
                </a:lnTo>
              </a:path>
            </a:pathLst>
          </a:custGeom>
          <a:ln w="243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682420" y="5115477"/>
            <a:ext cx="129539" cy="332740"/>
          </a:xfrm>
          <a:custGeom>
            <a:avLst/>
            <a:gdLst/>
            <a:ahLst/>
            <a:cxnLst/>
            <a:rect l="l" t="t" r="r" b="b"/>
            <a:pathLst>
              <a:path w="129539" h="332739">
                <a:moveTo>
                  <a:pt x="0" y="0"/>
                </a:moveTo>
                <a:lnTo>
                  <a:pt x="31583" y="24906"/>
                </a:lnTo>
                <a:lnTo>
                  <a:pt x="59880" y="51611"/>
                </a:lnTo>
                <a:lnTo>
                  <a:pt x="86814" y="93122"/>
                </a:lnTo>
                <a:lnTo>
                  <a:pt x="92668" y="128324"/>
                </a:lnTo>
                <a:lnTo>
                  <a:pt x="92591" y="141053"/>
                </a:lnTo>
                <a:lnTo>
                  <a:pt x="91873" y="154029"/>
                </a:lnTo>
                <a:lnTo>
                  <a:pt x="90739" y="167102"/>
                </a:lnTo>
                <a:lnTo>
                  <a:pt x="89414" y="180123"/>
                </a:lnTo>
                <a:lnTo>
                  <a:pt x="88121" y="192941"/>
                </a:lnTo>
                <a:lnTo>
                  <a:pt x="87085" y="205406"/>
                </a:lnTo>
                <a:lnTo>
                  <a:pt x="86530" y="217368"/>
                </a:lnTo>
                <a:lnTo>
                  <a:pt x="86681" y="228678"/>
                </a:lnTo>
                <a:lnTo>
                  <a:pt x="94815" y="266671"/>
                </a:lnTo>
                <a:lnTo>
                  <a:pt x="110278" y="301691"/>
                </a:lnTo>
                <a:lnTo>
                  <a:pt x="122602" y="322472"/>
                </a:lnTo>
                <a:lnTo>
                  <a:pt x="129050" y="332499"/>
                </a:lnTo>
              </a:path>
            </a:pathLst>
          </a:custGeom>
          <a:ln w="243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35923" y="4803491"/>
            <a:ext cx="732155" cy="364490"/>
          </a:xfrm>
          <a:custGeom>
            <a:avLst/>
            <a:gdLst/>
            <a:ahLst/>
            <a:cxnLst/>
            <a:rect l="l" t="t" r="r" b="b"/>
            <a:pathLst>
              <a:path w="732155" h="364489">
                <a:moveTo>
                  <a:pt x="721631" y="60650"/>
                </a:moveTo>
                <a:lnTo>
                  <a:pt x="697133" y="60650"/>
                </a:lnTo>
                <a:lnTo>
                  <a:pt x="697210" y="61273"/>
                </a:lnTo>
                <a:lnTo>
                  <a:pt x="696946" y="64780"/>
                </a:lnTo>
                <a:lnTo>
                  <a:pt x="664347" y="93772"/>
                </a:lnTo>
                <a:lnTo>
                  <a:pt x="628786" y="108675"/>
                </a:lnTo>
                <a:lnTo>
                  <a:pt x="570380" y="125280"/>
                </a:lnTo>
                <a:lnTo>
                  <a:pt x="494611" y="142887"/>
                </a:lnTo>
                <a:lnTo>
                  <a:pt x="232276" y="197667"/>
                </a:lnTo>
                <a:lnTo>
                  <a:pt x="192352" y="206636"/>
                </a:lnTo>
                <a:lnTo>
                  <a:pt x="123252" y="224101"/>
                </a:lnTo>
                <a:lnTo>
                  <a:pt x="83748" y="236781"/>
                </a:lnTo>
                <a:lnTo>
                  <a:pt x="42355" y="257150"/>
                </a:lnTo>
                <a:lnTo>
                  <a:pt x="14711" y="284645"/>
                </a:lnTo>
                <a:lnTo>
                  <a:pt x="10463" y="305250"/>
                </a:lnTo>
                <a:lnTo>
                  <a:pt x="12469" y="315399"/>
                </a:lnTo>
                <a:lnTo>
                  <a:pt x="13454" y="317379"/>
                </a:lnTo>
                <a:lnTo>
                  <a:pt x="17490" y="321909"/>
                </a:lnTo>
                <a:lnTo>
                  <a:pt x="0" y="340145"/>
                </a:lnTo>
                <a:lnTo>
                  <a:pt x="78000" y="364331"/>
                </a:lnTo>
                <a:lnTo>
                  <a:pt x="56353" y="303681"/>
                </a:lnTo>
                <a:lnTo>
                  <a:pt x="34972" y="303681"/>
                </a:lnTo>
                <a:lnTo>
                  <a:pt x="34896" y="303057"/>
                </a:lnTo>
                <a:lnTo>
                  <a:pt x="66894" y="271015"/>
                </a:lnTo>
                <a:lnTo>
                  <a:pt x="102810" y="255824"/>
                </a:lnTo>
                <a:lnTo>
                  <a:pt x="161446" y="239121"/>
                </a:lnTo>
                <a:lnTo>
                  <a:pt x="237376" y="221468"/>
                </a:lnTo>
                <a:lnTo>
                  <a:pt x="499949" y="166637"/>
                </a:lnTo>
                <a:lnTo>
                  <a:pt x="539937" y="157651"/>
                </a:lnTo>
                <a:lnTo>
                  <a:pt x="609293" y="140103"/>
                </a:lnTo>
                <a:lnTo>
                  <a:pt x="648849" y="127363"/>
                </a:lnTo>
                <a:lnTo>
                  <a:pt x="690843" y="106465"/>
                </a:lnTo>
                <a:lnTo>
                  <a:pt x="720772" y="70549"/>
                </a:lnTo>
                <a:lnTo>
                  <a:pt x="721626" y="61273"/>
                </a:lnTo>
                <a:lnTo>
                  <a:pt x="721631" y="60650"/>
                </a:lnTo>
                <a:close/>
              </a:path>
              <a:path w="732155" h="364489">
                <a:moveTo>
                  <a:pt x="50554" y="287435"/>
                </a:moveTo>
                <a:lnTo>
                  <a:pt x="34972" y="303681"/>
                </a:lnTo>
                <a:lnTo>
                  <a:pt x="56353" y="303681"/>
                </a:lnTo>
                <a:lnTo>
                  <a:pt x="50554" y="287435"/>
                </a:lnTo>
                <a:close/>
              </a:path>
              <a:path w="732155" h="364489">
                <a:moveTo>
                  <a:pt x="654106" y="0"/>
                </a:moveTo>
                <a:lnTo>
                  <a:pt x="681551" y="76895"/>
                </a:lnTo>
                <a:lnTo>
                  <a:pt x="697133" y="60650"/>
                </a:lnTo>
                <a:lnTo>
                  <a:pt x="721631" y="60650"/>
                </a:lnTo>
                <a:lnTo>
                  <a:pt x="721642" y="59080"/>
                </a:lnTo>
                <a:lnTo>
                  <a:pt x="719638" y="48931"/>
                </a:lnTo>
                <a:lnTo>
                  <a:pt x="718652" y="46951"/>
                </a:lnTo>
                <a:lnTo>
                  <a:pt x="714616" y="42421"/>
                </a:lnTo>
                <a:lnTo>
                  <a:pt x="732106" y="24185"/>
                </a:lnTo>
                <a:lnTo>
                  <a:pt x="6541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405854" y="5115477"/>
            <a:ext cx="0" cy="337185"/>
          </a:xfrm>
          <a:custGeom>
            <a:avLst/>
            <a:gdLst/>
            <a:ahLst/>
            <a:cxnLst/>
            <a:rect l="l" t="t" r="r" b="b"/>
            <a:pathLst>
              <a:path h="337185">
                <a:moveTo>
                  <a:pt x="0" y="0"/>
                </a:moveTo>
                <a:lnTo>
                  <a:pt x="0" y="337111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713992" y="5115477"/>
            <a:ext cx="0" cy="337185"/>
          </a:xfrm>
          <a:custGeom>
            <a:avLst/>
            <a:gdLst/>
            <a:ahLst/>
            <a:cxnLst/>
            <a:rect l="l" t="t" r="r" b="b"/>
            <a:pathLst>
              <a:path h="337185">
                <a:moveTo>
                  <a:pt x="0" y="0"/>
                </a:moveTo>
                <a:lnTo>
                  <a:pt x="0" y="337111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019376" y="5115477"/>
            <a:ext cx="0" cy="337185"/>
          </a:xfrm>
          <a:custGeom>
            <a:avLst/>
            <a:gdLst/>
            <a:ahLst/>
            <a:cxnLst/>
            <a:rect l="l" t="t" r="r" b="b"/>
            <a:pathLst>
              <a:path h="337185">
                <a:moveTo>
                  <a:pt x="0" y="0"/>
                </a:moveTo>
                <a:lnTo>
                  <a:pt x="0" y="337111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06206" y="5115477"/>
            <a:ext cx="0" cy="337185"/>
          </a:xfrm>
          <a:custGeom>
            <a:avLst/>
            <a:gdLst/>
            <a:ahLst/>
            <a:cxnLst/>
            <a:rect l="l" t="t" r="r" b="b"/>
            <a:pathLst>
              <a:path h="337185">
                <a:moveTo>
                  <a:pt x="0" y="0"/>
                </a:moveTo>
                <a:lnTo>
                  <a:pt x="0" y="337111"/>
                </a:lnTo>
              </a:path>
            </a:pathLst>
          </a:custGeom>
          <a:ln w="243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14343" y="5115477"/>
            <a:ext cx="0" cy="337185"/>
          </a:xfrm>
          <a:custGeom>
            <a:avLst/>
            <a:gdLst/>
            <a:ahLst/>
            <a:cxnLst/>
            <a:rect l="l" t="t" r="r" b="b"/>
            <a:pathLst>
              <a:path h="337185">
                <a:moveTo>
                  <a:pt x="0" y="0"/>
                </a:moveTo>
                <a:lnTo>
                  <a:pt x="0" y="337111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119728" y="5115477"/>
            <a:ext cx="0" cy="337185"/>
          </a:xfrm>
          <a:custGeom>
            <a:avLst/>
            <a:gdLst/>
            <a:ahLst/>
            <a:cxnLst/>
            <a:rect l="l" t="t" r="r" b="b"/>
            <a:pathLst>
              <a:path h="337185">
                <a:moveTo>
                  <a:pt x="0" y="0"/>
                </a:moveTo>
                <a:lnTo>
                  <a:pt x="0" y="337111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333015" y="5115477"/>
            <a:ext cx="0" cy="337185"/>
          </a:xfrm>
          <a:custGeom>
            <a:avLst/>
            <a:gdLst/>
            <a:ahLst/>
            <a:cxnLst/>
            <a:rect l="l" t="t" r="r" b="b"/>
            <a:pathLst>
              <a:path h="337185">
                <a:moveTo>
                  <a:pt x="0" y="0"/>
                </a:moveTo>
                <a:lnTo>
                  <a:pt x="0" y="337111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641151" y="5115477"/>
            <a:ext cx="0" cy="337185"/>
          </a:xfrm>
          <a:custGeom>
            <a:avLst/>
            <a:gdLst/>
            <a:ahLst/>
            <a:cxnLst/>
            <a:rect l="l" t="t" r="r" b="b"/>
            <a:pathLst>
              <a:path h="337185">
                <a:moveTo>
                  <a:pt x="0" y="0"/>
                </a:moveTo>
                <a:lnTo>
                  <a:pt x="0" y="337111"/>
                </a:lnTo>
              </a:path>
            </a:pathLst>
          </a:custGeom>
          <a:ln w="243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883668" y="4806534"/>
            <a:ext cx="626745" cy="389890"/>
          </a:xfrm>
          <a:custGeom>
            <a:avLst/>
            <a:gdLst/>
            <a:ahLst/>
            <a:cxnLst/>
            <a:rect l="l" t="t" r="r" b="b"/>
            <a:pathLst>
              <a:path w="626744" h="389889">
                <a:moveTo>
                  <a:pt x="57577" y="309429"/>
                </a:moveTo>
                <a:lnTo>
                  <a:pt x="0" y="354365"/>
                </a:lnTo>
                <a:lnTo>
                  <a:pt x="73737" y="389458"/>
                </a:lnTo>
                <a:lnTo>
                  <a:pt x="57577" y="309429"/>
                </a:lnTo>
                <a:close/>
              </a:path>
              <a:path w="626744" h="389889">
                <a:moveTo>
                  <a:pt x="79452" y="253304"/>
                </a:moveTo>
                <a:lnTo>
                  <a:pt x="41912" y="276386"/>
                </a:lnTo>
                <a:lnTo>
                  <a:pt x="18472" y="307037"/>
                </a:lnTo>
                <a:lnTo>
                  <a:pt x="41810" y="313738"/>
                </a:lnTo>
                <a:lnTo>
                  <a:pt x="41097" y="315502"/>
                </a:lnTo>
                <a:lnTo>
                  <a:pt x="79068" y="280567"/>
                </a:lnTo>
                <a:lnTo>
                  <a:pt x="90114" y="275188"/>
                </a:lnTo>
                <a:lnTo>
                  <a:pt x="79452" y="253304"/>
                </a:lnTo>
                <a:close/>
              </a:path>
              <a:path w="626744" h="389889">
                <a:moveTo>
                  <a:pt x="173183" y="220275"/>
                </a:moveTo>
                <a:lnTo>
                  <a:pt x="167594" y="221889"/>
                </a:lnTo>
                <a:lnTo>
                  <a:pt x="137100" y="231340"/>
                </a:lnTo>
                <a:lnTo>
                  <a:pt x="109996" y="240615"/>
                </a:lnTo>
                <a:lnTo>
                  <a:pt x="102732" y="243469"/>
                </a:lnTo>
                <a:lnTo>
                  <a:pt x="111672" y="266110"/>
                </a:lnTo>
                <a:lnTo>
                  <a:pt x="117886" y="263644"/>
                </a:lnTo>
                <a:lnTo>
                  <a:pt x="144311" y="254590"/>
                </a:lnTo>
                <a:lnTo>
                  <a:pt x="174356" y="245273"/>
                </a:lnTo>
                <a:lnTo>
                  <a:pt x="179945" y="243658"/>
                </a:lnTo>
                <a:lnTo>
                  <a:pt x="173183" y="220275"/>
                </a:lnTo>
                <a:close/>
              </a:path>
              <a:path w="626744" h="389889">
                <a:moveTo>
                  <a:pt x="267316" y="194285"/>
                </a:moveTo>
                <a:lnTo>
                  <a:pt x="236106" y="202567"/>
                </a:lnTo>
                <a:lnTo>
                  <a:pt x="200816" y="212289"/>
                </a:lnTo>
                <a:lnTo>
                  <a:pt x="196573" y="213513"/>
                </a:lnTo>
                <a:lnTo>
                  <a:pt x="203335" y="236898"/>
                </a:lnTo>
                <a:lnTo>
                  <a:pt x="207284" y="235756"/>
                </a:lnTo>
                <a:lnTo>
                  <a:pt x="242352" y="226094"/>
                </a:lnTo>
                <a:lnTo>
                  <a:pt x="273563" y="217812"/>
                </a:lnTo>
                <a:lnTo>
                  <a:pt x="267316" y="194285"/>
                </a:lnTo>
                <a:close/>
              </a:path>
              <a:path w="626744" h="389889">
                <a:moveTo>
                  <a:pt x="361449" y="169304"/>
                </a:moveTo>
                <a:lnTo>
                  <a:pt x="290849" y="188040"/>
                </a:lnTo>
                <a:lnTo>
                  <a:pt x="297096" y="211566"/>
                </a:lnTo>
                <a:lnTo>
                  <a:pt x="367696" y="192831"/>
                </a:lnTo>
                <a:lnTo>
                  <a:pt x="361449" y="169304"/>
                </a:lnTo>
                <a:close/>
              </a:path>
              <a:path w="626744" h="389889">
                <a:moveTo>
                  <a:pt x="454770" y="143271"/>
                </a:moveTo>
                <a:lnTo>
                  <a:pt x="451605" y="144252"/>
                </a:lnTo>
                <a:lnTo>
                  <a:pt x="418754" y="153744"/>
                </a:lnTo>
                <a:lnTo>
                  <a:pt x="384869" y="163078"/>
                </a:lnTo>
                <a:lnTo>
                  <a:pt x="391337" y="186545"/>
                </a:lnTo>
                <a:lnTo>
                  <a:pt x="425517" y="177129"/>
                </a:lnTo>
                <a:lnTo>
                  <a:pt x="458816" y="167502"/>
                </a:lnTo>
                <a:lnTo>
                  <a:pt x="461982" y="166521"/>
                </a:lnTo>
                <a:lnTo>
                  <a:pt x="454770" y="143271"/>
                </a:lnTo>
                <a:close/>
              </a:path>
              <a:path w="626744" h="389889">
                <a:moveTo>
                  <a:pt x="544281" y="110272"/>
                </a:moveTo>
                <a:lnTo>
                  <a:pt x="529470" y="117486"/>
                </a:lnTo>
                <a:lnTo>
                  <a:pt x="507775" y="126008"/>
                </a:lnTo>
                <a:lnTo>
                  <a:pt x="481535" y="134979"/>
                </a:lnTo>
                <a:lnTo>
                  <a:pt x="478026" y="136061"/>
                </a:lnTo>
                <a:lnTo>
                  <a:pt x="485237" y="159311"/>
                </a:lnTo>
                <a:lnTo>
                  <a:pt x="489426" y="158008"/>
                </a:lnTo>
                <a:lnTo>
                  <a:pt x="516714" y="148649"/>
                </a:lnTo>
                <a:lnTo>
                  <a:pt x="540132" y="139369"/>
                </a:lnTo>
                <a:lnTo>
                  <a:pt x="554944" y="132156"/>
                </a:lnTo>
                <a:lnTo>
                  <a:pt x="544281" y="110272"/>
                </a:lnTo>
                <a:close/>
              </a:path>
              <a:path w="626744" h="389889">
                <a:moveTo>
                  <a:pt x="610541" y="66589"/>
                </a:moveTo>
                <a:lnTo>
                  <a:pt x="585830" y="66589"/>
                </a:lnTo>
                <a:lnTo>
                  <a:pt x="586120" y="67151"/>
                </a:lnTo>
                <a:lnTo>
                  <a:pt x="585955" y="69984"/>
                </a:lnTo>
                <a:lnTo>
                  <a:pt x="562961" y="98600"/>
                </a:lnTo>
                <a:lnTo>
                  <a:pt x="577524" y="118108"/>
                </a:lnTo>
                <a:lnTo>
                  <a:pt x="606986" y="84634"/>
                </a:lnTo>
                <a:lnTo>
                  <a:pt x="610130" y="73649"/>
                </a:lnTo>
                <a:lnTo>
                  <a:pt x="610541" y="66589"/>
                </a:lnTo>
                <a:close/>
              </a:path>
              <a:path w="626744" h="389889">
                <a:moveTo>
                  <a:pt x="552448" y="0"/>
                </a:moveTo>
                <a:lnTo>
                  <a:pt x="568609" y="80030"/>
                </a:lnTo>
                <a:lnTo>
                  <a:pt x="585830" y="66589"/>
                </a:lnTo>
                <a:lnTo>
                  <a:pt x="610541" y="66589"/>
                </a:lnTo>
                <a:lnTo>
                  <a:pt x="610747" y="63054"/>
                </a:lnTo>
                <a:lnTo>
                  <a:pt x="610285" y="60878"/>
                </a:lnTo>
                <a:lnTo>
                  <a:pt x="605358" y="51348"/>
                </a:lnTo>
                <a:lnTo>
                  <a:pt x="626186" y="35093"/>
                </a:lnTo>
                <a:lnTo>
                  <a:pt x="5524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193272" y="4806534"/>
            <a:ext cx="461645" cy="389890"/>
          </a:xfrm>
          <a:custGeom>
            <a:avLst/>
            <a:gdLst/>
            <a:ahLst/>
            <a:cxnLst/>
            <a:rect l="l" t="t" r="r" b="b"/>
            <a:pathLst>
              <a:path w="461644" h="389889">
                <a:moveTo>
                  <a:pt x="24952" y="300400"/>
                </a:moveTo>
                <a:lnTo>
                  <a:pt x="20394" y="316378"/>
                </a:lnTo>
                <a:lnTo>
                  <a:pt x="20431" y="318822"/>
                </a:lnTo>
                <a:lnTo>
                  <a:pt x="23389" y="328126"/>
                </a:lnTo>
                <a:lnTo>
                  <a:pt x="0" y="339289"/>
                </a:lnTo>
                <a:lnTo>
                  <a:pt x="64429" y="389458"/>
                </a:lnTo>
                <a:lnTo>
                  <a:pt x="65740" y="317538"/>
                </a:lnTo>
                <a:lnTo>
                  <a:pt x="45572" y="317538"/>
                </a:lnTo>
                <a:lnTo>
                  <a:pt x="45472" y="317224"/>
                </a:lnTo>
                <a:lnTo>
                  <a:pt x="48367" y="307075"/>
                </a:lnTo>
                <a:lnTo>
                  <a:pt x="24952" y="300400"/>
                </a:lnTo>
                <a:close/>
              </a:path>
              <a:path w="461644" h="389889">
                <a:moveTo>
                  <a:pt x="65917" y="307827"/>
                </a:moveTo>
                <a:lnTo>
                  <a:pt x="45572" y="317538"/>
                </a:lnTo>
                <a:lnTo>
                  <a:pt x="65740" y="317538"/>
                </a:lnTo>
                <a:lnTo>
                  <a:pt x="65917" y="307827"/>
                </a:lnTo>
                <a:close/>
              </a:path>
              <a:path w="461644" h="389889">
                <a:moveTo>
                  <a:pt x="104833" y="232416"/>
                </a:moveTo>
                <a:lnTo>
                  <a:pt x="70677" y="250449"/>
                </a:lnTo>
                <a:lnTo>
                  <a:pt x="40938" y="275191"/>
                </a:lnTo>
                <a:lnTo>
                  <a:pt x="58759" y="291777"/>
                </a:lnTo>
                <a:lnTo>
                  <a:pt x="63050" y="287086"/>
                </a:lnTo>
                <a:lnTo>
                  <a:pt x="71417" y="279591"/>
                </a:lnTo>
                <a:lnTo>
                  <a:pt x="82704" y="271613"/>
                </a:lnTo>
                <a:lnTo>
                  <a:pt x="97747" y="263046"/>
                </a:lnTo>
                <a:lnTo>
                  <a:pt x="115598" y="254248"/>
                </a:lnTo>
                <a:lnTo>
                  <a:pt x="104833" y="232416"/>
                </a:lnTo>
                <a:close/>
              </a:path>
              <a:path w="461644" h="389889">
                <a:moveTo>
                  <a:pt x="195946" y="194989"/>
                </a:moveTo>
                <a:lnTo>
                  <a:pt x="175072" y="202962"/>
                </a:lnTo>
                <a:lnTo>
                  <a:pt x="150486" y="212708"/>
                </a:lnTo>
                <a:lnTo>
                  <a:pt x="127764" y="222158"/>
                </a:lnTo>
                <a:lnTo>
                  <a:pt x="137118" y="244632"/>
                </a:lnTo>
                <a:lnTo>
                  <a:pt x="159462" y="235336"/>
                </a:lnTo>
                <a:lnTo>
                  <a:pt x="183761" y="225700"/>
                </a:lnTo>
                <a:lnTo>
                  <a:pt x="204635" y="217728"/>
                </a:lnTo>
                <a:lnTo>
                  <a:pt x="195946" y="194989"/>
                </a:lnTo>
                <a:close/>
              </a:path>
              <a:path w="461644" h="389889">
                <a:moveTo>
                  <a:pt x="286737" y="160181"/>
                </a:moveTo>
                <a:lnTo>
                  <a:pt x="277574" y="163814"/>
                </a:lnTo>
                <a:lnTo>
                  <a:pt x="218690" y="186302"/>
                </a:lnTo>
                <a:lnTo>
                  <a:pt x="227381" y="209041"/>
                </a:lnTo>
                <a:lnTo>
                  <a:pt x="286550" y="186441"/>
                </a:lnTo>
                <a:lnTo>
                  <a:pt x="295713" y="182808"/>
                </a:lnTo>
                <a:lnTo>
                  <a:pt x="286737" y="160181"/>
                </a:lnTo>
                <a:close/>
              </a:path>
              <a:path w="461644" h="389889">
                <a:moveTo>
                  <a:pt x="373796" y="120672"/>
                </a:moveTo>
                <a:lnTo>
                  <a:pt x="363102" y="126745"/>
                </a:lnTo>
                <a:lnTo>
                  <a:pt x="345136" y="135577"/>
                </a:lnTo>
                <a:lnTo>
                  <a:pt x="324526" y="144763"/>
                </a:lnTo>
                <a:lnTo>
                  <a:pt x="309132" y="151161"/>
                </a:lnTo>
                <a:lnTo>
                  <a:pt x="318485" y="173635"/>
                </a:lnTo>
                <a:lnTo>
                  <a:pt x="334448" y="166992"/>
                </a:lnTo>
                <a:lnTo>
                  <a:pt x="355902" y="157410"/>
                </a:lnTo>
                <a:lnTo>
                  <a:pt x="375129" y="147911"/>
                </a:lnTo>
                <a:lnTo>
                  <a:pt x="385822" y="141837"/>
                </a:lnTo>
                <a:lnTo>
                  <a:pt x="373796" y="120672"/>
                </a:lnTo>
                <a:close/>
              </a:path>
              <a:path w="461644" h="389889">
                <a:moveTo>
                  <a:pt x="441067" y="71920"/>
                </a:moveTo>
                <a:lnTo>
                  <a:pt x="415907" y="71920"/>
                </a:lnTo>
                <a:lnTo>
                  <a:pt x="416007" y="72235"/>
                </a:lnTo>
                <a:lnTo>
                  <a:pt x="413004" y="82763"/>
                </a:lnTo>
                <a:lnTo>
                  <a:pt x="409339" y="89442"/>
                </a:lnTo>
                <a:lnTo>
                  <a:pt x="404301" y="96102"/>
                </a:lnTo>
                <a:lnTo>
                  <a:pt x="397580" y="103201"/>
                </a:lnTo>
                <a:lnTo>
                  <a:pt x="391721" y="108299"/>
                </a:lnTo>
                <a:lnTo>
                  <a:pt x="407844" y="126540"/>
                </a:lnTo>
                <a:lnTo>
                  <a:pt x="435446" y="92475"/>
                </a:lnTo>
                <a:lnTo>
                  <a:pt x="441085" y="73080"/>
                </a:lnTo>
                <a:lnTo>
                  <a:pt x="441067" y="71920"/>
                </a:lnTo>
                <a:close/>
              </a:path>
              <a:path w="461644" h="389889">
                <a:moveTo>
                  <a:pt x="397050" y="0"/>
                </a:moveTo>
                <a:lnTo>
                  <a:pt x="395562" y="81631"/>
                </a:lnTo>
                <a:lnTo>
                  <a:pt x="415907" y="71920"/>
                </a:lnTo>
                <a:lnTo>
                  <a:pt x="441067" y="71920"/>
                </a:lnTo>
                <a:lnTo>
                  <a:pt x="441048" y="70637"/>
                </a:lnTo>
                <a:lnTo>
                  <a:pt x="438090" y="61333"/>
                </a:lnTo>
                <a:lnTo>
                  <a:pt x="461480" y="50170"/>
                </a:lnTo>
                <a:lnTo>
                  <a:pt x="3970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541052" y="4795951"/>
            <a:ext cx="1223010" cy="438150"/>
          </a:xfrm>
          <a:custGeom>
            <a:avLst/>
            <a:gdLst/>
            <a:ahLst/>
            <a:cxnLst/>
            <a:rect l="l" t="t" r="r" b="b"/>
            <a:pathLst>
              <a:path w="1223010" h="438150">
                <a:moveTo>
                  <a:pt x="0" y="0"/>
                </a:moveTo>
                <a:lnTo>
                  <a:pt x="1222641" y="0"/>
                </a:lnTo>
                <a:lnTo>
                  <a:pt x="1222641" y="437812"/>
                </a:lnTo>
                <a:lnTo>
                  <a:pt x="0" y="437812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2131362" y="4831748"/>
            <a:ext cx="2296795" cy="2368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635125" algn="l"/>
              </a:tabLst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纸带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控制器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36687" y="5186739"/>
            <a:ext cx="1082040" cy="251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66065" algn="l"/>
                <a:tab pos="574675" algn="l"/>
                <a:tab pos="882650" algn="l"/>
              </a:tabLst>
            </a:pPr>
            <a:r>
              <a:rPr sz="2550" b="1" u="heavy" spc="-7" baseline="3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b="1" spc="-7" baseline="3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550" b="1" u="heavy" baseline="3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550" b="1" u="heavy" spc="-7" baseline="3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b="1" spc="-7" baseline="3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700" b="1" u="heavy" dirty="0">
                <a:latin typeface="Arial" panose="020B0604020202020204"/>
                <a:cs typeface="Arial" panose="020B0604020202020204"/>
              </a:rPr>
              <a:t>2</a:t>
            </a:r>
            <a:r>
              <a:rPr sz="1700" b="1" u="heavy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	</a:t>
            </a:r>
            <a:r>
              <a:rPr sz="1700" b="1" u="heavy" dirty="0">
                <a:latin typeface="Arial" panose="020B0604020202020204"/>
                <a:cs typeface="Arial" panose="020B0604020202020204"/>
              </a:rPr>
              <a:t>+</a:t>
            </a:r>
            <a:r>
              <a:rPr sz="1700" b="1" u="heavy" spc="-5" dirty="0">
                <a:latin typeface="Arial" panose="020B0604020202020204"/>
                <a:cs typeface="Arial" panose="020B0604020202020204"/>
              </a:rPr>
              <a:t> 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2880760" y="5392701"/>
            <a:ext cx="2465705" cy="0"/>
          </a:xfrm>
          <a:custGeom>
            <a:avLst/>
            <a:gdLst/>
            <a:ahLst/>
            <a:cxnLst/>
            <a:rect l="l" t="t" r="r" b="b"/>
            <a:pathLst>
              <a:path w="2465704">
                <a:moveTo>
                  <a:pt x="0" y="0"/>
                </a:moveTo>
                <a:lnTo>
                  <a:pt x="2465091" y="0"/>
                </a:lnTo>
              </a:path>
            </a:pathLst>
          </a:custGeom>
          <a:ln w="243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3012818" y="5729813"/>
            <a:ext cx="2465705" cy="0"/>
          </a:xfrm>
          <a:custGeom>
            <a:avLst/>
            <a:gdLst/>
            <a:ahLst/>
            <a:cxnLst/>
            <a:rect l="l" t="t" r="r" b="b"/>
            <a:pathLst>
              <a:path w="2465704">
                <a:moveTo>
                  <a:pt x="0" y="0"/>
                </a:moveTo>
                <a:lnTo>
                  <a:pt x="2465091" y="0"/>
                </a:lnTo>
              </a:path>
            </a:pathLst>
          </a:custGeom>
          <a:ln w="243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880760" y="5392701"/>
            <a:ext cx="129539" cy="332740"/>
          </a:xfrm>
          <a:custGeom>
            <a:avLst/>
            <a:gdLst/>
            <a:ahLst/>
            <a:cxnLst/>
            <a:rect l="l" t="t" r="r" b="b"/>
            <a:pathLst>
              <a:path w="129539" h="332739">
                <a:moveTo>
                  <a:pt x="0" y="0"/>
                </a:moveTo>
                <a:lnTo>
                  <a:pt x="31583" y="24906"/>
                </a:lnTo>
                <a:lnTo>
                  <a:pt x="59880" y="51611"/>
                </a:lnTo>
                <a:lnTo>
                  <a:pt x="86814" y="93122"/>
                </a:lnTo>
                <a:lnTo>
                  <a:pt x="92668" y="128324"/>
                </a:lnTo>
                <a:lnTo>
                  <a:pt x="92591" y="141053"/>
                </a:lnTo>
                <a:lnTo>
                  <a:pt x="91873" y="154029"/>
                </a:lnTo>
                <a:lnTo>
                  <a:pt x="90739" y="167102"/>
                </a:lnTo>
                <a:lnTo>
                  <a:pt x="89414" y="180123"/>
                </a:lnTo>
                <a:lnTo>
                  <a:pt x="88121" y="192941"/>
                </a:lnTo>
                <a:lnTo>
                  <a:pt x="87085" y="205406"/>
                </a:lnTo>
                <a:lnTo>
                  <a:pt x="86530" y="217368"/>
                </a:lnTo>
                <a:lnTo>
                  <a:pt x="86681" y="228678"/>
                </a:lnTo>
                <a:lnTo>
                  <a:pt x="94815" y="266671"/>
                </a:lnTo>
                <a:lnTo>
                  <a:pt x="110278" y="301691"/>
                </a:lnTo>
                <a:lnTo>
                  <a:pt x="122602" y="322472"/>
                </a:lnTo>
                <a:lnTo>
                  <a:pt x="129050" y="332499"/>
                </a:lnTo>
              </a:path>
            </a:pathLst>
          </a:custGeom>
          <a:ln w="243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5345851" y="5392701"/>
            <a:ext cx="129539" cy="332740"/>
          </a:xfrm>
          <a:custGeom>
            <a:avLst/>
            <a:gdLst/>
            <a:ahLst/>
            <a:cxnLst/>
            <a:rect l="l" t="t" r="r" b="b"/>
            <a:pathLst>
              <a:path w="129539" h="332739">
                <a:moveTo>
                  <a:pt x="0" y="0"/>
                </a:moveTo>
                <a:lnTo>
                  <a:pt x="31583" y="24906"/>
                </a:lnTo>
                <a:lnTo>
                  <a:pt x="59880" y="51611"/>
                </a:lnTo>
                <a:lnTo>
                  <a:pt x="86814" y="93122"/>
                </a:lnTo>
                <a:lnTo>
                  <a:pt x="92668" y="128324"/>
                </a:lnTo>
                <a:lnTo>
                  <a:pt x="92591" y="141053"/>
                </a:lnTo>
                <a:lnTo>
                  <a:pt x="91873" y="154029"/>
                </a:lnTo>
                <a:lnTo>
                  <a:pt x="90739" y="167102"/>
                </a:lnTo>
                <a:lnTo>
                  <a:pt x="89414" y="180123"/>
                </a:lnTo>
                <a:lnTo>
                  <a:pt x="88121" y="192941"/>
                </a:lnTo>
                <a:lnTo>
                  <a:pt x="87085" y="205406"/>
                </a:lnTo>
                <a:lnTo>
                  <a:pt x="86530" y="217368"/>
                </a:lnTo>
                <a:lnTo>
                  <a:pt x="86681" y="228678"/>
                </a:lnTo>
                <a:lnTo>
                  <a:pt x="94815" y="266671"/>
                </a:lnTo>
                <a:lnTo>
                  <a:pt x="110278" y="301691"/>
                </a:lnTo>
                <a:lnTo>
                  <a:pt x="122602" y="322472"/>
                </a:lnTo>
                <a:lnTo>
                  <a:pt x="129050" y="332499"/>
                </a:lnTo>
              </a:path>
            </a:pathLst>
          </a:custGeom>
          <a:ln w="243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4069286" y="5392701"/>
            <a:ext cx="0" cy="337185"/>
          </a:xfrm>
          <a:custGeom>
            <a:avLst/>
            <a:gdLst/>
            <a:ahLst/>
            <a:cxnLst/>
            <a:rect l="l" t="t" r="r" b="b"/>
            <a:pathLst>
              <a:path h="337185">
                <a:moveTo>
                  <a:pt x="0" y="0"/>
                </a:moveTo>
                <a:lnTo>
                  <a:pt x="0" y="337111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4377423" y="5392701"/>
            <a:ext cx="0" cy="337185"/>
          </a:xfrm>
          <a:custGeom>
            <a:avLst/>
            <a:gdLst/>
            <a:ahLst/>
            <a:cxnLst/>
            <a:rect l="l" t="t" r="r" b="b"/>
            <a:pathLst>
              <a:path h="337185">
                <a:moveTo>
                  <a:pt x="0" y="0"/>
                </a:moveTo>
                <a:lnTo>
                  <a:pt x="0" y="337111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682808" y="5392701"/>
            <a:ext cx="0" cy="337185"/>
          </a:xfrm>
          <a:custGeom>
            <a:avLst/>
            <a:gdLst/>
            <a:ahLst/>
            <a:cxnLst/>
            <a:rect l="l" t="t" r="r" b="b"/>
            <a:pathLst>
              <a:path h="337185">
                <a:moveTo>
                  <a:pt x="0" y="0"/>
                </a:moveTo>
                <a:lnTo>
                  <a:pt x="0" y="337111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3169638" y="5392701"/>
            <a:ext cx="0" cy="337185"/>
          </a:xfrm>
          <a:custGeom>
            <a:avLst/>
            <a:gdLst/>
            <a:ahLst/>
            <a:cxnLst/>
            <a:rect l="l" t="t" r="r" b="b"/>
            <a:pathLst>
              <a:path h="337185">
                <a:moveTo>
                  <a:pt x="0" y="0"/>
                </a:moveTo>
                <a:lnTo>
                  <a:pt x="0" y="337111"/>
                </a:lnTo>
              </a:path>
            </a:pathLst>
          </a:custGeom>
          <a:ln w="243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3477775" y="5392701"/>
            <a:ext cx="0" cy="337185"/>
          </a:xfrm>
          <a:custGeom>
            <a:avLst/>
            <a:gdLst/>
            <a:ahLst/>
            <a:cxnLst/>
            <a:rect l="l" t="t" r="r" b="b"/>
            <a:pathLst>
              <a:path h="337185">
                <a:moveTo>
                  <a:pt x="0" y="0"/>
                </a:moveTo>
                <a:lnTo>
                  <a:pt x="0" y="337111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3783159" y="5392701"/>
            <a:ext cx="0" cy="337185"/>
          </a:xfrm>
          <a:custGeom>
            <a:avLst/>
            <a:gdLst/>
            <a:ahLst/>
            <a:cxnLst/>
            <a:rect l="l" t="t" r="r" b="b"/>
            <a:pathLst>
              <a:path h="337185">
                <a:moveTo>
                  <a:pt x="0" y="0"/>
                </a:moveTo>
                <a:lnTo>
                  <a:pt x="0" y="337111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4996448" y="5392701"/>
            <a:ext cx="0" cy="337185"/>
          </a:xfrm>
          <a:custGeom>
            <a:avLst/>
            <a:gdLst/>
            <a:ahLst/>
            <a:cxnLst/>
            <a:rect l="l" t="t" r="r" b="b"/>
            <a:pathLst>
              <a:path h="337185">
                <a:moveTo>
                  <a:pt x="0" y="0"/>
                </a:moveTo>
                <a:lnTo>
                  <a:pt x="0" y="337111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5304584" y="5392701"/>
            <a:ext cx="0" cy="337185"/>
          </a:xfrm>
          <a:custGeom>
            <a:avLst/>
            <a:gdLst/>
            <a:ahLst/>
            <a:cxnLst/>
            <a:rect l="l" t="t" r="r" b="b"/>
            <a:pathLst>
              <a:path h="337185">
                <a:moveTo>
                  <a:pt x="0" y="0"/>
                </a:moveTo>
                <a:lnTo>
                  <a:pt x="0" y="337111"/>
                </a:lnTo>
              </a:path>
            </a:pathLst>
          </a:custGeom>
          <a:ln w="243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3562167" y="5473919"/>
            <a:ext cx="45974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20675" algn="l"/>
              </a:tabLst>
            </a:pPr>
            <a:r>
              <a:rPr sz="1700" b="1" dirty="0">
                <a:latin typeface="Arial" panose="020B0604020202020204"/>
                <a:cs typeface="Arial" panose="020B0604020202020204"/>
              </a:rPr>
              <a:t>2</a:t>
            </a:r>
            <a:r>
              <a:rPr sz="1700" b="1" dirty="0">
                <a:latin typeface="Arial" panose="020B0604020202020204"/>
                <a:cs typeface="Arial" panose="020B0604020202020204"/>
              </a:rPr>
              <a:t>	</a:t>
            </a:r>
            <a:r>
              <a:rPr sz="1700" b="1" dirty="0">
                <a:latin typeface="Arial" panose="020B0604020202020204"/>
                <a:cs typeface="Arial" panose="020B0604020202020204"/>
              </a:rPr>
              <a:t>+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2613112" y="5758799"/>
            <a:ext cx="1144905" cy="349885"/>
          </a:xfrm>
          <a:custGeom>
            <a:avLst/>
            <a:gdLst/>
            <a:ahLst/>
            <a:cxnLst/>
            <a:rect l="l" t="t" r="r" b="b"/>
            <a:pathLst>
              <a:path w="1144904" h="349885">
                <a:moveTo>
                  <a:pt x="0" y="0"/>
                </a:moveTo>
                <a:lnTo>
                  <a:pt x="1144506" y="0"/>
                </a:lnTo>
                <a:lnTo>
                  <a:pt x="1144506" y="349674"/>
                </a:lnTo>
                <a:lnTo>
                  <a:pt x="0" y="349674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952820" y="6355550"/>
            <a:ext cx="2465705" cy="0"/>
          </a:xfrm>
          <a:custGeom>
            <a:avLst/>
            <a:gdLst/>
            <a:ahLst/>
            <a:cxnLst/>
            <a:rect l="l" t="t" r="r" b="b"/>
            <a:pathLst>
              <a:path w="2465704">
                <a:moveTo>
                  <a:pt x="0" y="0"/>
                </a:moveTo>
                <a:lnTo>
                  <a:pt x="2465091" y="0"/>
                </a:lnTo>
              </a:path>
            </a:pathLst>
          </a:custGeom>
          <a:ln w="243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2084878" y="6692661"/>
            <a:ext cx="2465705" cy="0"/>
          </a:xfrm>
          <a:custGeom>
            <a:avLst/>
            <a:gdLst/>
            <a:ahLst/>
            <a:cxnLst/>
            <a:rect l="l" t="t" r="r" b="b"/>
            <a:pathLst>
              <a:path w="2465704">
                <a:moveTo>
                  <a:pt x="0" y="0"/>
                </a:moveTo>
                <a:lnTo>
                  <a:pt x="2465091" y="0"/>
                </a:lnTo>
              </a:path>
            </a:pathLst>
          </a:custGeom>
          <a:ln w="243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1952820" y="6355550"/>
            <a:ext cx="129539" cy="332740"/>
          </a:xfrm>
          <a:custGeom>
            <a:avLst/>
            <a:gdLst/>
            <a:ahLst/>
            <a:cxnLst/>
            <a:rect l="l" t="t" r="r" b="b"/>
            <a:pathLst>
              <a:path w="129539" h="332740">
                <a:moveTo>
                  <a:pt x="0" y="0"/>
                </a:moveTo>
                <a:lnTo>
                  <a:pt x="31583" y="24906"/>
                </a:lnTo>
                <a:lnTo>
                  <a:pt x="59880" y="51611"/>
                </a:lnTo>
                <a:lnTo>
                  <a:pt x="86814" y="93122"/>
                </a:lnTo>
                <a:lnTo>
                  <a:pt x="92668" y="128324"/>
                </a:lnTo>
                <a:lnTo>
                  <a:pt x="92591" y="141053"/>
                </a:lnTo>
                <a:lnTo>
                  <a:pt x="91873" y="154029"/>
                </a:lnTo>
                <a:lnTo>
                  <a:pt x="90739" y="167102"/>
                </a:lnTo>
                <a:lnTo>
                  <a:pt x="89414" y="180123"/>
                </a:lnTo>
                <a:lnTo>
                  <a:pt x="88121" y="192941"/>
                </a:lnTo>
                <a:lnTo>
                  <a:pt x="87085" y="205406"/>
                </a:lnTo>
                <a:lnTo>
                  <a:pt x="86530" y="217368"/>
                </a:lnTo>
                <a:lnTo>
                  <a:pt x="86681" y="228678"/>
                </a:lnTo>
                <a:lnTo>
                  <a:pt x="94815" y="266671"/>
                </a:lnTo>
                <a:lnTo>
                  <a:pt x="110278" y="301690"/>
                </a:lnTo>
                <a:lnTo>
                  <a:pt x="122602" y="322472"/>
                </a:lnTo>
                <a:lnTo>
                  <a:pt x="129050" y="332499"/>
                </a:lnTo>
              </a:path>
            </a:pathLst>
          </a:custGeom>
          <a:ln w="243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4417912" y="6355550"/>
            <a:ext cx="129539" cy="332740"/>
          </a:xfrm>
          <a:custGeom>
            <a:avLst/>
            <a:gdLst/>
            <a:ahLst/>
            <a:cxnLst/>
            <a:rect l="l" t="t" r="r" b="b"/>
            <a:pathLst>
              <a:path w="129539" h="332740">
                <a:moveTo>
                  <a:pt x="0" y="0"/>
                </a:moveTo>
                <a:lnTo>
                  <a:pt x="31583" y="24906"/>
                </a:lnTo>
                <a:lnTo>
                  <a:pt x="59880" y="51611"/>
                </a:lnTo>
                <a:lnTo>
                  <a:pt x="86814" y="93122"/>
                </a:lnTo>
                <a:lnTo>
                  <a:pt x="92668" y="128324"/>
                </a:lnTo>
                <a:lnTo>
                  <a:pt x="92591" y="141053"/>
                </a:lnTo>
                <a:lnTo>
                  <a:pt x="91873" y="154029"/>
                </a:lnTo>
                <a:lnTo>
                  <a:pt x="90739" y="167102"/>
                </a:lnTo>
                <a:lnTo>
                  <a:pt x="89414" y="180123"/>
                </a:lnTo>
                <a:lnTo>
                  <a:pt x="88121" y="192941"/>
                </a:lnTo>
                <a:lnTo>
                  <a:pt x="87085" y="205406"/>
                </a:lnTo>
                <a:lnTo>
                  <a:pt x="86530" y="217368"/>
                </a:lnTo>
                <a:lnTo>
                  <a:pt x="86681" y="228678"/>
                </a:lnTo>
                <a:lnTo>
                  <a:pt x="94815" y="266671"/>
                </a:lnTo>
                <a:lnTo>
                  <a:pt x="110278" y="301690"/>
                </a:lnTo>
                <a:lnTo>
                  <a:pt x="122602" y="322472"/>
                </a:lnTo>
                <a:lnTo>
                  <a:pt x="129050" y="332499"/>
                </a:lnTo>
              </a:path>
            </a:pathLst>
          </a:custGeom>
          <a:ln w="243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2825996" y="5795344"/>
            <a:ext cx="1498600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控制器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R="5080" algn="r">
              <a:lnSpc>
                <a:spcPct val="100000"/>
              </a:lnSpc>
              <a:spcBef>
                <a:spcPts val="195"/>
              </a:spcBef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纸带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3100658" y="6043565"/>
            <a:ext cx="301625" cy="364490"/>
          </a:xfrm>
          <a:custGeom>
            <a:avLst/>
            <a:gdLst/>
            <a:ahLst/>
            <a:cxnLst/>
            <a:rect l="l" t="t" r="r" b="b"/>
            <a:pathLst>
              <a:path w="301625" h="364489">
                <a:moveTo>
                  <a:pt x="230667" y="284574"/>
                </a:moveTo>
                <a:lnTo>
                  <a:pt x="248131" y="364330"/>
                </a:lnTo>
                <a:lnTo>
                  <a:pt x="301475" y="302510"/>
                </a:lnTo>
                <a:lnTo>
                  <a:pt x="275690" y="295978"/>
                </a:lnTo>
                <a:lnTo>
                  <a:pt x="275965" y="289874"/>
                </a:lnTo>
                <a:lnTo>
                  <a:pt x="251592" y="289874"/>
                </a:lnTo>
                <a:lnTo>
                  <a:pt x="230667" y="284574"/>
                </a:lnTo>
                <a:close/>
              </a:path>
              <a:path w="301625" h="364489">
                <a:moveTo>
                  <a:pt x="53345" y="0"/>
                </a:moveTo>
                <a:lnTo>
                  <a:pt x="0" y="61819"/>
                </a:lnTo>
                <a:lnTo>
                  <a:pt x="25784" y="68351"/>
                </a:lnTo>
                <a:lnTo>
                  <a:pt x="25125" y="82969"/>
                </a:lnTo>
                <a:lnTo>
                  <a:pt x="43461" y="119236"/>
                </a:lnTo>
                <a:lnTo>
                  <a:pt x="73061" y="146602"/>
                </a:lnTo>
                <a:lnTo>
                  <a:pt x="114057" y="174039"/>
                </a:lnTo>
                <a:lnTo>
                  <a:pt x="174451" y="210891"/>
                </a:lnTo>
                <a:lnTo>
                  <a:pt x="201940" y="228721"/>
                </a:lnTo>
                <a:lnTo>
                  <a:pt x="232768" y="253201"/>
                </a:lnTo>
                <a:lnTo>
                  <a:pt x="251828" y="284646"/>
                </a:lnTo>
                <a:lnTo>
                  <a:pt x="251592" y="289874"/>
                </a:lnTo>
                <a:lnTo>
                  <a:pt x="275965" y="289874"/>
                </a:lnTo>
                <a:lnTo>
                  <a:pt x="276349" y="281360"/>
                </a:lnTo>
                <a:lnTo>
                  <a:pt x="276053" y="279623"/>
                </a:lnTo>
                <a:lnTo>
                  <a:pt x="269120" y="262412"/>
                </a:lnTo>
                <a:lnTo>
                  <a:pt x="239303" y="226300"/>
                </a:lnTo>
                <a:lnTo>
                  <a:pt x="187134" y="190112"/>
                </a:lnTo>
                <a:lnTo>
                  <a:pt x="127307" y="153616"/>
                </a:lnTo>
                <a:lnTo>
                  <a:pt x="99976" y="135909"/>
                </a:lnTo>
                <a:lnTo>
                  <a:pt x="69606" y="112034"/>
                </a:lnTo>
                <a:lnTo>
                  <a:pt x="49646" y="79683"/>
                </a:lnTo>
                <a:lnTo>
                  <a:pt x="49883" y="74455"/>
                </a:lnTo>
                <a:lnTo>
                  <a:pt x="69646" y="74455"/>
                </a:lnTo>
                <a:lnTo>
                  <a:pt x="53345" y="0"/>
                </a:lnTo>
                <a:close/>
              </a:path>
              <a:path w="301625" h="364489">
                <a:moveTo>
                  <a:pt x="69646" y="74455"/>
                </a:moveTo>
                <a:lnTo>
                  <a:pt x="49883" y="74455"/>
                </a:lnTo>
                <a:lnTo>
                  <a:pt x="70807" y="79755"/>
                </a:lnTo>
                <a:lnTo>
                  <a:pt x="69646" y="744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3141346" y="6355550"/>
            <a:ext cx="0" cy="337185"/>
          </a:xfrm>
          <a:custGeom>
            <a:avLst/>
            <a:gdLst/>
            <a:ahLst/>
            <a:cxnLst/>
            <a:rect l="l" t="t" r="r" b="b"/>
            <a:pathLst>
              <a:path h="337184">
                <a:moveTo>
                  <a:pt x="0" y="0"/>
                </a:moveTo>
                <a:lnTo>
                  <a:pt x="0" y="337111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3449484" y="6355550"/>
            <a:ext cx="0" cy="337185"/>
          </a:xfrm>
          <a:custGeom>
            <a:avLst/>
            <a:gdLst/>
            <a:ahLst/>
            <a:cxnLst/>
            <a:rect l="l" t="t" r="r" b="b"/>
            <a:pathLst>
              <a:path h="337184">
                <a:moveTo>
                  <a:pt x="0" y="0"/>
                </a:moveTo>
                <a:lnTo>
                  <a:pt x="0" y="337111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3754868" y="6355550"/>
            <a:ext cx="0" cy="337185"/>
          </a:xfrm>
          <a:custGeom>
            <a:avLst/>
            <a:gdLst/>
            <a:ahLst/>
            <a:cxnLst/>
            <a:rect l="l" t="t" r="r" b="b"/>
            <a:pathLst>
              <a:path h="337184">
                <a:moveTo>
                  <a:pt x="0" y="0"/>
                </a:moveTo>
                <a:lnTo>
                  <a:pt x="0" y="337111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2241698" y="6355550"/>
            <a:ext cx="0" cy="337185"/>
          </a:xfrm>
          <a:custGeom>
            <a:avLst/>
            <a:gdLst/>
            <a:ahLst/>
            <a:cxnLst/>
            <a:rect l="l" t="t" r="r" b="b"/>
            <a:pathLst>
              <a:path h="337184">
                <a:moveTo>
                  <a:pt x="0" y="0"/>
                </a:moveTo>
                <a:lnTo>
                  <a:pt x="0" y="337111"/>
                </a:lnTo>
              </a:path>
            </a:pathLst>
          </a:custGeom>
          <a:ln w="243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2549834" y="6355550"/>
            <a:ext cx="0" cy="337185"/>
          </a:xfrm>
          <a:custGeom>
            <a:avLst/>
            <a:gdLst/>
            <a:ahLst/>
            <a:cxnLst/>
            <a:rect l="l" t="t" r="r" b="b"/>
            <a:pathLst>
              <a:path h="337184">
                <a:moveTo>
                  <a:pt x="0" y="0"/>
                </a:moveTo>
                <a:lnTo>
                  <a:pt x="0" y="337111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2855220" y="6355550"/>
            <a:ext cx="0" cy="337185"/>
          </a:xfrm>
          <a:custGeom>
            <a:avLst/>
            <a:gdLst/>
            <a:ahLst/>
            <a:cxnLst/>
            <a:rect l="l" t="t" r="r" b="b"/>
            <a:pathLst>
              <a:path h="337184">
                <a:moveTo>
                  <a:pt x="0" y="0"/>
                </a:moveTo>
                <a:lnTo>
                  <a:pt x="0" y="337111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4068507" y="6355550"/>
            <a:ext cx="0" cy="337185"/>
          </a:xfrm>
          <a:custGeom>
            <a:avLst/>
            <a:gdLst/>
            <a:ahLst/>
            <a:cxnLst/>
            <a:rect l="l" t="t" r="r" b="b"/>
            <a:pathLst>
              <a:path h="337184">
                <a:moveTo>
                  <a:pt x="0" y="0"/>
                </a:moveTo>
                <a:lnTo>
                  <a:pt x="0" y="337111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4376643" y="6355550"/>
            <a:ext cx="0" cy="337185"/>
          </a:xfrm>
          <a:custGeom>
            <a:avLst/>
            <a:gdLst/>
            <a:ahLst/>
            <a:cxnLst/>
            <a:rect l="l" t="t" r="r" b="b"/>
            <a:pathLst>
              <a:path h="337184">
                <a:moveTo>
                  <a:pt x="0" y="0"/>
                </a:moveTo>
                <a:lnTo>
                  <a:pt x="0" y="337111"/>
                </a:lnTo>
              </a:path>
            </a:pathLst>
          </a:custGeom>
          <a:ln w="243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/>
          <p:nvPr/>
        </p:nvSpPr>
        <p:spPr>
          <a:xfrm>
            <a:off x="4179622" y="5031935"/>
            <a:ext cx="1073150" cy="312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15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+</a:t>
            </a:r>
            <a:r>
              <a:rPr sz="15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15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b="1" spc="8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475" b="1" spc="-1964" baseline="-27000" dirty="0">
                <a:latin typeface="宋体" panose="02010600030101010101" pitchFamily="2" charset="-122"/>
                <a:cs typeface="宋体" panose="02010600030101010101" pitchFamily="2" charset="-122"/>
              </a:rPr>
              <a:t>纸</a:t>
            </a:r>
            <a:r>
              <a:rPr sz="15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5</a:t>
            </a:r>
            <a:r>
              <a:rPr sz="1500" b="1" spc="8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75" b="1" spc="60" baseline="-27000" dirty="0">
                <a:latin typeface="宋体" panose="02010600030101010101" pitchFamily="2" charset="-122"/>
                <a:cs typeface="宋体" panose="02010600030101010101" pitchFamily="2" charset="-122"/>
              </a:rPr>
              <a:t>带</a:t>
            </a:r>
            <a:endParaRPr sz="2475" baseline="-27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3254030" y="5463888"/>
            <a:ext cx="14605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3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2634226" y="6436505"/>
            <a:ext cx="71818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20675" algn="l"/>
                <a:tab pos="584835" algn="l"/>
              </a:tabLst>
            </a:pPr>
            <a:r>
              <a:rPr sz="1700" b="1" dirty="0">
                <a:latin typeface="Arial" panose="020B0604020202020204"/>
                <a:cs typeface="Arial" panose="020B0604020202020204"/>
              </a:rPr>
              <a:t>2</a:t>
            </a:r>
            <a:r>
              <a:rPr sz="1700" b="1" dirty="0">
                <a:latin typeface="Arial" panose="020B0604020202020204"/>
                <a:cs typeface="Arial" panose="020B0604020202020204"/>
              </a:rPr>
              <a:t>	</a:t>
            </a:r>
            <a:r>
              <a:rPr sz="1700" b="1" dirty="0">
                <a:latin typeface="Arial" panose="020B0604020202020204"/>
                <a:cs typeface="Arial" panose="020B0604020202020204"/>
              </a:rPr>
              <a:t>+</a:t>
            </a:r>
            <a:r>
              <a:rPr sz="1700" b="1" dirty="0">
                <a:latin typeface="Arial" panose="020B0604020202020204"/>
                <a:cs typeface="Arial" panose="020B0604020202020204"/>
              </a:rPr>
              <a:t>	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2326089" y="6426475"/>
            <a:ext cx="14605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3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7618" name="标题 367617"/>
          <p:cNvSpPr>
            <a:spLocks noGrp="1"/>
          </p:cNvSpPr>
          <p:nvPr>
            <p:ph type="title"/>
          </p:nvPr>
        </p:nvSpPr>
        <p:spPr>
          <a:xfrm>
            <a:off x="339725" y="273367"/>
            <a:ext cx="9089390" cy="453390"/>
          </a:xfrm>
        </p:spPr>
        <p:txBody>
          <a:bodyPr anchor="ctr" anchorCtr="0"/>
          <a:p>
            <a:r>
              <a:rPr lang="zh-CN" altLang="en-US" dirty="0"/>
              <a:t>从图灵机到通用图灵机</a:t>
            </a:r>
            <a:endParaRPr lang="zh-CN" altLang="en-US"/>
          </a:p>
        </p:txBody>
      </p:sp>
      <p:graphicFrame>
        <p:nvGraphicFramePr>
          <p:cNvPr id="367619" name="内容占位符 367618"/>
          <p:cNvGraphicFramePr/>
          <p:nvPr>
            <p:ph idx="1"/>
          </p:nvPr>
        </p:nvGraphicFramePr>
        <p:xfrm>
          <a:off x="9110956" y="0"/>
          <a:ext cx="1273410" cy="1343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166620" imgH="2287270" progId="MS_ClipArt_Gallery.2">
                  <p:embed/>
                </p:oleObj>
              </mc:Choice>
              <mc:Fallback>
                <p:oleObj name="" r:id="rId1" imgW="2166620" imgH="2287270" progId="MS_ClipArt_Gallery.2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110956" y="0"/>
                        <a:ext cx="1273410" cy="134337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7748" name="组合 367747"/>
          <p:cNvGrpSpPr/>
          <p:nvPr/>
        </p:nvGrpSpPr>
        <p:grpSpPr>
          <a:xfrm>
            <a:off x="560917" y="1511300"/>
            <a:ext cx="4953706" cy="2419130"/>
            <a:chOff x="144" y="864"/>
            <a:chExt cx="2832" cy="1383"/>
          </a:xfrm>
        </p:grpSpPr>
        <p:sp>
          <p:nvSpPr>
            <p:cNvPr id="367621" name="矩形 367620"/>
            <p:cNvSpPr/>
            <p:nvPr/>
          </p:nvSpPr>
          <p:spPr>
            <a:xfrm>
              <a:off x="864" y="864"/>
              <a:ext cx="1248" cy="625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367622" name="文本框 367621"/>
            <p:cNvSpPr txBox="1"/>
            <p:nvPr/>
          </p:nvSpPr>
          <p:spPr>
            <a:xfrm>
              <a:off x="961" y="1042"/>
              <a:ext cx="1007" cy="2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/>
              <a:r>
                <a:rPr lang="zh-CN" altLang="en-US" sz="1985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控制器</a:t>
              </a:r>
              <a:endParaRPr lang="zh-CN" altLang="en-US" sz="1985" b="1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7623" name="直接连接符 367622"/>
            <p:cNvSpPr/>
            <p:nvPr/>
          </p:nvSpPr>
          <p:spPr>
            <a:xfrm>
              <a:off x="144" y="1935"/>
              <a:ext cx="26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7624" name="直接连接符 367623"/>
            <p:cNvSpPr/>
            <p:nvPr/>
          </p:nvSpPr>
          <p:spPr>
            <a:xfrm>
              <a:off x="288" y="2247"/>
              <a:ext cx="26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7625" name="任意多边形 367624"/>
            <p:cNvSpPr/>
            <p:nvPr/>
          </p:nvSpPr>
          <p:spPr>
            <a:xfrm>
              <a:off x="144" y="1935"/>
              <a:ext cx="144" cy="312"/>
            </a:xfrm>
            <a:custGeom>
              <a:avLst/>
              <a:gdLst/>
              <a:ahLst/>
              <a:cxnLst/>
              <a:pathLst>
                <a:path w="144" h="336">
                  <a:moveTo>
                    <a:pt x="0" y="0"/>
                  </a:moveTo>
                  <a:cubicBezTo>
                    <a:pt x="40" y="28"/>
                    <a:pt x="80" y="56"/>
                    <a:pt x="96" y="96"/>
                  </a:cubicBezTo>
                  <a:cubicBezTo>
                    <a:pt x="112" y="136"/>
                    <a:pt x="88" y="200"/>
                    <a:pt x="96" y="240"/>
                  </a:cubicBezTo>
                  <a:cubicBezTo>
                    <a:pt x="104" y="280"/>
                    <a:pt x="124" y="308"/>
                    <a:pt x="144" y="336"/>
                  </a:cubicBez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367626" name="任意多边形 367625"/>
            <p:cNvSpPr/>
            <p:nvPr/>
          </p:nvSpPr>
          <p:spPr>
            <a:xfrm>
              <a:off x="2832" y="1935"/>
              <a:ext cx="144" cy="312"/>
            </a:xfrm>
            <a:custGeom>
              <a:avLst/>
              <a:gdLst/>
              <a:ahLst/>
              <a:cxnLst/>
              <a:pathLst>
                <a:path w="144" h="336">
                  <a:moveTo>
                    <a:pt x="0" y="0"/>
                  </a:moveTo>
                  <a:cubicBezTo>
                    <a:pt x="40" y="28"/>
                    <a:pt x="80" y="56"/>
                    <a:pt x="96" y="96"/>
                  </a:cubicBezTo>
                  <a:cubicBezTo>
                    <a:pt x="112" y="136"/>
                    <a:pt x="88" y="200"/>
                    <a:pt x="96" y="240"/>
                  </a:cubicBezTo>
                  <a:cubicBezTo>
                    <a:pt x="104" y="280"/>
                    <a:pt x="124" y="308"/>
                    <a:pt x="144" y="336"/>
                  </a:cubicBez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367627" name="文本框 367626"/>
            <p:cNvSpPr txBox="1"/>
            <p:nvPr/>
          </p:nvSpPr>
          <p:spPr>
            <a:xfrm>
              <a:off x="2159" y="1622"/>
              <a:ext cx="625" cy="2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1985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纸带</a:t>
              </a:r>
              <a:endParaRPr lang="zh-CN" altLang="en-US" sz="1985" b="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7628" name="任意多边形 367627"/>
            <p:cNvSpPr/>
            <p:nvPr/>
          </p:nvSpPr>
          <p:spPr>
            <a:xfrm>
              <a:off x="1440" y="1392"/>
              <a:ext cx="168" cy="632"/>
            </a:xfrm>
            <a:custGeom>
              <a:avLst/>
              <a:gdLst/>
              <a:ahLst/>
              <a:cxnLst/>
              <a:pathLst>
                <a:path w="192" h="624">
                  <a:moveTo>
                    <a:pt x="24" y="0"/>
                  </a:moveTo>
                  <a:cubicBezTo>
                    <a:pt x="12" y="60"/>
                    <a:pt x="0" y="120"/>
                    <a:pt x="24" y="192"/>
                  </a:cubicBezTo>
                  <a:cubicBezTo>
                    <a:pt x="48" y="264"/>
                    <a:pt x="144" y="360"/>
                    <a:pt x="168" y="432"/>
                  </a:cubicBezTo>
                  <a:cubicBezTo>
                    <a:pt x="192" y="504"/>
                    <a:pt x="180" y="564"/>
                    <a:pt x="168" y="624"/>
                  </a:cubicBez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headEnd type="triangle" w="med" len="med"/>
              <a:tailEnd type="triangl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367629" name="直接连接符 367628"/>
            <p:cNvSpPr/>
            <p:nvPr/>
          </p:nvSpPr>
          <p:spPr>
            <a:xfrm>
              <a:off x="1440" y="1935"/>
              <a:ext cx="0" cy="3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7630" name="直接连接符 367629"/>
            <p:cNvSpPr/>
            <p:nvPr/>
          </p:nvSpPr>
          <p:spPr>
            <a:xfrm>
              <a:off x="1776" y="1935"/>
              <a:ext cx="0" cy="3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7631" name="直接连接符 367630"/>
            <p:cNvSpPr/>
            <p:nvPr/>
          </p:nvSpPr>
          <p:spPr>
            <a:xfrm>
              <a:off x="2109" y="1935"/>
              <a:ext cx="0" cy="3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7632" name="直接连接符 367631"/>
            <p:cNvSpPr/>
            <p:nvPr/>
          </p:nvSpPr>
          <p:spPr>
            <a:xfrm>
              <a:off x="459" y="1935"/>
              <a:ext cx="0" cy="31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7633" name="直接连接符 367632"/>
            <p:cNvSpPr/>
            <p:nvPr/>
          </p:nvSpPr>
          <p:spPr>
            <a:xfrm>
              <a:off x="795" y="1935"/>
              <a:ext cx="0" cy="3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7634" name="直接连接符 367633"/>
            <p:cNvSpPr/>
            <p:nvPr/>
          </p:nvSpPr>
          <p:spPr>
            <a:xfrm>
              <a:off x="1128" y="1935"/>
              <a:ext cx="0" cy="3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7635" name="直接连接符 367634"/>
            <p:cNvSpPr/>
            <p:nvPr/>
          </p:nvSpPr>
          <p:spPr>
            <a:xfrm>
              <a:off x="2451" y="1935"/>
              <a:ext cx="0" cy="3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7636" name="直接连接符 367635"/>
            <p:cNvSpPr/>
            <p:nvPr/>
          </p:nvSpPr>
          <p:spPr>
            <a:xfrm>
              <a:off x="2787" y="1935"/>
              <a:ext cx="0" cy="31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7637" name="文本框 367636"/>
            <p:cNvSpPr txBox="1"/>
            <p:nvPr/>
          </p:nvSpPr>
          <p:spPr>
            <a:xfrm>
              <a:off x="1488" y="1979"/>
              <a:ext cx="240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205" b="1">
                  <a:solidFill>
                    <a:schemeClr val="tx1"/>
                  </a:solidFill>
                  <a:latin typeface="Arial" panose="020B0604020202020204" pitchFamily="34" charset="0"/>
                </a:rPr>
                <a:t>0</a:t>
              </a:r>
              <a:endParaRPr lang="en-US" altLang="zh-CN" sz="2205" b="1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7638" name="文本框 367637"/>
            <p:cNvSpPr txBox="1"/>
            <p:nvPr/>
          </p:nvSpPr>
          <p:spPr>
            <a:xfrm>
              <a:off x="1824" y="1979"/>
              <a:ext cx="240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205" b="1">
                  <a:solidFill>
                    <a:schemeClr val="tx1"/>
                  </a:solidFill>
                  <a:latin typeface="Arial" panose="020B0604020202020204" pitchFamily="34" charset="0"/>
                </a:rPr>
                <a:t>1</a:t>
              </a:r>
              <a:endParaRPr lang="en-US" altLang="zh-CN" sz="2205" b="1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7639" name="文本框 367638"/>
            <p:cNvSpPr txBox="1"/>
            <p:nvPr/>
          </p:nvSpPr>
          <p:spPr>
            <a:xfrm>
              <a:off x="2159" y="1979"/>
              <a:ext cx="241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205" b="1">
                  <a:solidFill>
                    <a:schemeClr val="tx1"/>
                  </a:solidFill>
                  <a:latin typeface="Arial" panose="020B0604020202020204" pitchFamily="34" charset="0"/>
                </a:rPr>
                <a:t>1</a:t>
              </a:r>
              <a:endParaRPr lang="en-US" altLang="zh-CN" sz="2205" b="1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7640" name="文本框 367639"/>
            <p:cNvSpPr txBox="1"/>
            <p:nvPr/>
          </p:nvSpPr>
          <p:spPr>
            <a:xfrm>
              <a:off x="2496" y="1979"/>
              <a:ext cx="240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205" b="1">
                  <a:solidFill>
                    <a:schemeClr val="tx1"/>
                  </a:solidFill>
                  <a:latin typeface="Arial" panose="020B0604020202020204" pitchFamily="34" charset="0"/>
                </a:rPr>
                <a:t>1</a:t>
              </a:r>
              <a:endParaRPr lang="en-US" altLang="zh-CN" sz="2205" b="1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7641" name="文本框 367640"/>
            <p:cNvSpPr txBox="1"/>
            <p:nvPr/>
          </p:nvSpPr>
          <p:spPr>
            <a:xfrm>
              <a:off x="864" y="1979"/>
              <a:ext cx="240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205" b="1">
                  <a:solidFill>
                    <a:schemeClr val="tx1"/>
                  </a:solidFill>
                  <a:latin typeface="Arial" panose="020B0604020202020204" pitchFamily="34" charset="0"/>
                </a:rPr>
                <a:t>0</a:t>
              </a:r>
              <a:endParaRPr lang="en-US" altLang="zh-CN" sz="2205" b="1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7642" name="文本框 367641"/>
            <p:cNvSpPr txBox="1"/>
            <p:nvPr/>
          </p:nvSpPr>
          <p:spPr>
            <a:xfrm>
              <a:off x="1200" y="1978"/>
              <a:ext cx="240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205" b="1">
                  <a:solidFill>
                    <a:schemeClr val="tx1"/>
                  </a:solidFill>
                  <a:latin typeface="Arial" panose="020B0604020202020204" pitchFamily="34" charset="0"/>
                </a:rPr>
                <a:t>1</a:t>
              </a:r>
              <a:endParaRPr lang="en-US" altLang="zh-CN" sz="2205" b="1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7643" name="文本框 367642"/>
            <p:cNvSpPr txBox="1"/>
            <p:nvPr/>
          </p:nvSpPr>
          <p:spPr>
            <a:xfrm>
              <a:off x="528" y="1970"/>
              <a:ext cx="240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205" b="1">
                  <a:solidFill>
                    <a:schemeClr val="tx1"/>
                  </a:solidFill>
                  <a:latin typeface="Arial" panose="020B0604020202020204" pitchFamily="34" charset="0"/>
                </a:rPr>
                <a:t>0</a:t>
              </a:r>
              <a:endParaRPr lang="en-US" altLang="zh-CN" sz="2205" b="1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67656" name="文本框 367655"/>
          <p:cNvSpPr txBox="1"/>
          <p:nvPr/>
        </p:nvSpPr>
        <p:spPr>
          <a:xfrm>
            <a:off x="634383" y="1343378"/>
            <a:ext cx="1595261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1985" b="1" dirty="0">
                <a:latin typeface="Arial" panose="020B0604020202020204" pitchFamily="34" charset="0"/>
              </a:rPr>
              <a:t>图灵机</a:t>
            </a:r>
            <a:endParaRPr lang="zh-CN" altLang="en-US" sz="1985" b="1" dirty="0">
              <a:latin typeface="Arial" panose="020B0604020202020204" pitchFamily="34" charset="0"/>
            </a:endParaRPr>
          </a:p>
        </p:txBody>
      </p:sp>
      <p:sp>
        <p:nvSpPr>
          <p:cNvPr id="367664" name="下箭头 367663"/>
          <p:cNvSpPr/>
          <p:nvPr/>
        </p:nvSpPr>
        <p:spPr>
          <a:xfrm>
            <a:off x="2911828" y="4163072"/>
            <a:ext cx="251883" cy="335844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sz="1985"/>
          </a:p>
        </p:txBody>
      </p:sp>
      <p:sp>
        <p:nvSpPr>
          <p:cNvPr id="367689" name="文本框 367688"/>
          <p:cNvSpPr txBox="1"/>
          <p:nvPr/>
        </p:nvSpPr>
        <p:spPr>
          <a:xfrm>
            <a:off x="728839" y="4586376"/>
            <a:ext cx="15113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1985" b="1" dirty="0">
                <a:latin typeface="Arial" panose="020B0604020202020204" pitchFamily="34" charset="0"/>
              </a:rPr>
              <a:t>通用图灵机</a:t>
            </a:r>
            <a:endParaRPr lang="zh-CN" altLang="en-US" sz="1985" b="1" dirty="0">
              <a:latin typeface="Arial" panose="020B0604020202020204" pitchFamily="34" charset="0"/>
            </a:endParaRPr>
          </a:p>
        </p:txBody>
      </p:sp>
      <p:sp>
        <p:nvSpPr>
          <p:cNvPr id="367714" name="右箭头 367713"/>
          <p:cNvSpPr/>
          <p:nvPr/>
        </p:nvSpPr>
        <p:spPr>
          <a:xfrm>
            <a:off x="5430661" y="2266950"/>
            <a:ext cx="335844" cy="251883"/>
          </a:xfrm>
          <a:prstGeom prst="rightArrow">
            <a:avLst>
              <a:gd name="adj1" fmla="val 50000"/>
              <a:gd name="adj2" fmla="val 33333"/>
            </a:avLst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sz="1985"/>
          </a:p>
        </p:txBody>
      </p:sp>
      <p:sp>
        <p:nvSpPr>
          <p:cNvPr id="367715" name="文本框 367714"/>
          <p:cNvSpPr txBox="1"/>
          <p:nvPr/>
        </p:nvSpPr>
        <p:spPr>
          <a:xfrm>
            <a:off x="6018389" y="1175456"/>
            <a:ext cx="3862211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1985" b="1" dirty="0">
                <a:latin typeface="Arial" panose="020B0604020202020204" pitchFamily="34" charset="0"/>
              </a:rPr>
              <a:t>一个会做一道菜的厨师</a:t>
            </a:r>
            <a:endParaRPr lang="zh-CN" altLang="en-US" sz="1985" b="1" dirty="0">
              <a:latin typeface="Arial" panose="020B0604020202020204" pitchFamily="34" charset="0"/>
            </a:endParaRPr>
          </a:p>
        </p:txBody>
      </p:sp>
      <p:grpSp>
        <p:nvGrpSpPr>
          <p:cNvPr id="367726" name="组合 367725"/>
          <p:cNvGrpSpPr/>
          <p:nvPr/>
        </p:nvGrpSpPr>
        <p:grpSpPr>
          <a:xfrm>
            <a:off x="6000897" y="1658232"/>
            <a:ext cx="3610328" cy="2403387"/>
            <a:chOff x="3264" y="1008"/>
            <a:chExt cx="2064" cy="1374"/>
          </a:xfrm>
        </p:grpSpPr>
        <p:sp>
          <p:nvSpPr>
            <p:cNvPr id="367716" name="左大括号 367715"/>
            <p:cNvSpPr/>
            <p:nvPr/>
          </p:nvSpPr>
          <p:spPr>
            <a:xfrm>
              <a:off x="3264" y="1070"/>
              <a:ext cx="240" cy="1248"/>
            </a:xfrm>
            <a:prstGeom prst="leftBrace">
              <a:avLst>
                <a:gd name="adj1" fmla="val 43333"/>
                <a:gd name="adj2" fmla="val 50000"/>
              </a:avLst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367717" name="文本框 367716"/>
            <p:cNvSpPr txBox="1"/>
            <p:nvPr/>
          </p:nvSpPr>
          <p:spPr>
            <a:xfrm>
              <a:off x="3464" y="1008"/>
              <a:ext cx="1584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205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舀</a:t>
              </a:r>
              <a:r>
                <a:rPr lang="en-US" altLang="zh-CN" sz="2205" b="1">
                  <a:solidFill>
                    <a:schemeClr val="tx1"/>
                  </a:solidFill>
                  <a:latin typeface="Arial" panose="020B0604020202020204" pitchFamily="34" charset="0"/>
                </a:rPr>
                <a:t>2</a:t>
              </a:r>
              <a:r>
                <a:rPr lang="zh-CN" altLang="en-US" sz="2205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大碗面放入盆中</a:t>
              </a:r>
              <a:endParaRPr lang="zh-CN" altLang="en-US" sz="2205" b="1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7718" name="文本框 367717"/>
            <p:cNvSpPr txBox="1"/>
            <p:nvPr/>
          </p:nvSpPr>
          <p:spPr>
            <a:xfrm>
              <a:off x="3464" y="1220"/>
              <a:ext cx="1584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205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打</a:t>
              </a:r>
              <a:r>
                <a:rPr lang="en-US" altLang="zh-CN" sz="2205" b="1">
                  <a:solidFill>
                    <a:schemeClr val="tx1"/>
                  </a:solidFill>
                  <a:latin typeface="Arial" panose="020B0604020202020204" pitchFamily="34" charset="0"/>
                </a:rPr>
                <a:t>6</a:t>
              </a:r>
              <a:r>
                <a:rPr lang="zh-CN" altLang="en-US" sz="2205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个鸡蛋放入盆中</a:t>
              </a:r>
              <a:endParaRPr lang="zh-CN" altLang="en-US" sz="2205" b="1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7719" name="文本框 367718"/>
            <p:cNvSpPr txBox="1"/>
            <p:nvPr/>
          </p:nvSpPr>
          <p:spPr>
            <a:xfrm>
              <a:off x="3464" y="1440"/>
              <a:ext cx="1584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205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盆中加入</a:t>
              </a:r>
              <a:r>
                <a:rPr lang="en-US" altLang="zh-CN" sz="2205" b="1">
                  <a:solidFill>
                    <a:schemeClr val="tx1"/>
                  </a:solidFill>
                  <a:latin typeface="Arial" panose="020B0604020202020204" pitchFamily="34" charset="0"/>
                </a:rPr>
                <a:t>500</a:t>
              </a:r>
              <a:r>
                <a:rPr lang="zh-CN" altLang="en-US" sz="2205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克水</a:t>
              </a:r>
              <a:endParaRPr lang="zh-CN" altLang="en-US" sz="2205" b="1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7720" name="文本框 367719"/>
            <p:cNvSpPr txBox="1"/>
            <p:nvPr/>
          </p:nvSpPr>
          <p:spPr>
            <a:xfrm>
              <a:off x="3464" y="1654"/>
              <a:ext cx="1864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205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将盆中的物质搅拌均匀</a:t>
              </a:r>
              <a:endParaRPr lang="zh-CN" altLang="en-US" sz="2205" b="1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7721" name="文本框 367720"/>
            <p:cNvSpPr txBox="1"/>
            <p:nvPr/>
          </p:nvSpPr>
          <p:spPr>
            <a:xfrm>
              <a:off x="3456" y="1896"/>
              <a:ext cx="1584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205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做成等厚度的饼状物</a:t>
              </a:r>
              <a:endParaRPr lang="zh-CN" altLang="en-US" sz="2205" b="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7722" name="文本框 367721"/>
            <p:cNvSpPr txBox="1"/>
            <p:nvPr/>
          </p:nvSpPr>
          <p:spPr>
            <a:xfrm>
              <a:off x="3456" y="2136"/>
              <a:ext cx="1584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205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大火蒸</a:t>
              </a:r>
              <a:r>
                <a:rPr lang="en-US" altLang="zh-CN" sz="2205" b="1">
                  <a:solidFill>
                    <a:schemeClr val="tx1"/>
                  </a:solidFill>
                  <a:latin typeface="Arial" panose="020B0604020202020204" pitchFamily="34" charset="0"/>
                </a:rPr>
                <a:t>15</a:t>
              </a:r>
              <a:r>
                <a:rPr lang="zh-CN" altLang="en-US" sz="2205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分钟</a:t>
              </a:r>
              <a:endParaRPr lang="zh-CN" altLang="en-US" sz="2205" b="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67724" name="下箭头 367723"/>
          <p:cNvSpPr/>
          <p:nvPr/>
        </p:nvSpPr>
        <p:spPr>
          <a:xfrm>
            <a:off x="7529689" y="4163072"/>
            <a:ext cx="251883" cy="335844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sz="1985"/>
          </a:p>
        </p:txBody>
      </p:sp>
      <p:sp>
        <p:nvSpPr>
          <p:cNvPr id="367725" name="文本框 367724"/>
          <p:cNvSpPr txBox="1"/>
          <p:nvPr/>
        </p:nvSpPr>
        <p:spPr>
          <a:xfrm>
            <a:off x="6018389" y="4484923"/>
            <a:ext cx="3862211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1985" b="1" dirty="0">
                <a:latin typeface="Arial" panose="020B0604020202020204" pitchFamily="34" charset="0"/>
              </a:rPr>
              <a:t>一个能看懂菜谱的厨师</a:t>
            </a:r>
            <a:endParaRPr lang="zh-CN" altLang="en-US" sz="1985" b="1" dirty="0">
              <a:latin typeface="Arial" panose="020B0604020202020204" pitchFamily="34" charset="0"/>
            </a:endParaRPr>
          </a:p>
        </p:txBody>
      </p:sp>
      <p:sp>
        <p:nvSpPr>
          <p:cNvPr id="367727" name="圆角矩形标注 367726"/>
          <p:cNvSpPr/>
          <p:nvPr/>
        </p:nvSpPr>
        <p:spPr>
          <a:xfrm rot="10800000">
            <a:off x="8285339" y="3694289"/>
            <a:ext cx="1812161" cy="839611"/>
          </a:xfrm>
          <a:prstGeom prst="wedgeRoundRectCallout">
            <a:avLst>
              <a:gd name="adj1" fmla="val 50384"/>
              <a:gd name="adj2" fmla="val 58125"/>
              <a:gd name="adj3" fmla="val 16667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/>
          <a:p>
            <a:pPr algn="ctr">
              <a:spcBef>
                <a:spcPct val="0"/>
              </a:spcBef>
            </a:pPr>
            <a:r>
              <a:rPr lang="zh-CN" altLang="en-US" sz="2205" b="1" dirty="0">
                <a:solidFill>
                  <a:schemeClr val="tx1"/>
                </a:solidFill>
                <a:latin typeface="Arial" panose="020B0604020202020204" pitchFamily="34" charset="0"/>
              </a:rPr>
              <a:t>将这个过程描述</a:t>
            </a:r>
            <a:r>
              <a:rPr lang="en-US" altLang="zh-CN" sz="2205" b="1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zh-CN" altLang="en-US" sz="2205" b="1" dirty="0">
                <a:solidFill>
                  <a:schemeClr val="tx1"/>
                </a:solidFill>
                <a:latin typeface="Arial" panose="020B0604020202020204" pitchFamily="34" charset="0"/>
              </a:rPr>
              <a:t>菜谱</a:t>
            </a:r>
            <a:r>
              <a:rPr lang="zh-CN" altLang="en-US" sz="2205" b="1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endParaRPr lang="zh-CN" altLang="en-US" sz="2205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67728" name="文本框 367727"/>
          <p:cNvSpPr txBox="1"/>
          <p:nvPr/>
        </p:nvSpPr>
        <p:spPr>
          <a:xfrm>
            <a:off x="6186311" y="5961239"/>
            <a:ext cx="1175456" cy="39687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ctr"/>
            <a:r>
              <a:rPr lang="zh-CN" altLang="en-US" sz="1985" b="1" dirty="0">
                <a:solidFill>
                  <a:schemeClr val="tx1"/>
                </a:solidFill>
                <a:latin typeface="Arial" panose="020B0604020202020204" pitchFamily="34" charset="0"/>
              </a:rPr>
              <a:t>厨师</a:t>
            </a:r>
            <a:endParaRPr lang="zh-CN" altLang="en-US" sz="1985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67729" name="文本框 367728"/>
          <p:cNvSpPr txBox="1"/>
          <p:nvPr/>
        </p:nvSpPr>
        <p:spPr>
          <a:xfrm>
            <a:off x="8117417" y="5037667"/>
            <a:ext cx="1175456" cy="43116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ctr"/>
            <a:r>
              <a:rPr lang="zh-CN" altLang="en-US" sz="2205" b="1" dirty="0">
                <a:solidFill>
                  <a:schemeClr val="tx1"/>
                </a:solidFill>
                <a:latin typeface="Arial" panose="020B0604020202020204" pitchFamily="34" charset="0"/>
              </a:rPr>
              <a:t>菜谱</a:t>
            </a:r>
            <a:r>
              <a:rPr lang="en-US" altLang="zh-CN" sz="2205" b="1">
                <a:solidFill>
                  <a:schemeClr val="tx1"/>
                </a:solidFill>
                <a:latin typeface="Arial" panose="020B0604020202020204" pitchFamily="34" charset="0"/>
              </a:rPr>
              <a:t>1</a:t>
            </a:r>
            <a:endParaRPr lang="en-US" altLang="zh-CN" sz="2205" b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67731" name="直接连接符 367730"/>
          <p:cNvSpPr/>
          <p:nvPr/>
        </p:nvSpPr>
        <p:spPr>
          <a:xfrm flipV="1">
            <a:off x="7361767" y="5877278"/>
            <a:ext cx="755650" cy="335844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67732" name="文本框 367731"/>
          <p:cNvSpPr txBox="1"/>
          <p:nvPr/>
        </p:nvSpPr>
        <p:spPr>
          <a:xfrm>
            <a:off x="8117417" y="5614899"/>
            <a:ext cx="1175456" cy="43116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ctr"/>
            <a:r>
              <a:rPr lang="zh-CN" altLang="en-US" sz="2205" b="1" dirty="0">
                <a:solidFill>
                  <a:schemeClr val="tx1"/>
                </a:solidFill>
                <a:latin typeface="Arial" panose="020B0604020202020204" pitchFamily="34" charset="0"/>
              </a:rPr>
              <a:t>菜肴</a:t>
            </a:r>
            <a:r>
              <a:rPr lang="en-US" altLang="zh-CN" sz="2205" b="1">
                <a:solidFill>
                  <a:schemeClr val="tx1"/>
                </a:solidFill>
                <a:latin typeface="Arial" panose="020B0604020202020204" pitchFamily="34" charset="0"/>
              </a:rPr>
              <a:t>1</a:t>
            </a:r>
            <a:endParaRPr lang="en-US" altLang="zh-CN" sz="2205" b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67733" name="左箭头 367732"/>
          <p:cNvSpPr/>
          <p:nvPr/>
        </p:nvSpPr>
        <p:spPr>
          <a:xfrm rot="-2456333">
            <a:off x="7167607" y="5613151"/>
            <a:ext cx="1175456" cy="83961"/>
          </a:xfrm>
          <a:prstGeom prst="leftArrow">
            <a:avLst>
              <a:gd name="adj1" fmla="val 50000"/>
              <a:gd name="adj2" fmla="val 350000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sz="1985"/>
          </a:p>
        </p:txBody>
      </p:sp>
      <p:sp>
        <p:nvSpPr>
          <p:cNvPr id="367734" name="文本框 367733"/>
          <p:cNvSpPr txBox="1"/>
          <p:nvPr/>
        </p:nvSpPr>
        <p:spPr>
          <a:xfrm>
            <a:off x="8117417" y="6297083"/>
            <a:ext cx="1175456" cy="43116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ctr"/>
            <a:r>
              <a:rPr lang="zh-CN" altLang="en-US" sz="2205" b="1" dirty="0">
                <a:solidFill>
                  <a:schemeClr val="tx1"/>
                </a:solidFill>
                <a:latin typeface="Arial" panose="020B0604020202020204" pitchFamily="34" charset="0"/>
              </a:rPr>
              <a:t>菜肴</a:t>
            </a:r>
            <a:r>
              <a:rPr lang="en-US" altLang="zh-CN" sz="2205" b="1">
                <a:solidFill>
                  <a:schemeClr val="tx1"/>
                </a:solidFill>
                <a:latin typeface="Arial" panose="020B0604020202020204" pitchFamily="34" charset="0"/>
              </a:rPr>
              <a:t>2</a:t>
            </a:r>
            <a:endParaRPr lang="en-US" altLang="zh-CN" sz="2205" b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67735" name="文本框 367734"/>
          <p:cNvSpPr txBox="1"/>
          <p:nvPr/>
        </p:nvSpPr>
        <p:spPr>
          <a:xfrm>
            <a:off x="8117417" y="6874316"/>
            <a:ext cx="1175456" cy="43116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ctr"/>
            <a:r>
              <a:rPr lang="zh-CN" altLang="en-US" sz="2205" b="1" dirty="0">
                <a:solidFill>
                  <a:schemeClr val="tx1"/>
                </a:solidFill>
                <a:latin typeface="Arial" panose="020B0604020202020204" pitchFamily="34" charset="0"/>
              </a:rPr>
              <a:t>菜谱</a:t>
            </a:r>
            <a:r>
              <a:rPr lang="en-US" altLang="zh-CN" sz="2205" b="1">
                <a:solidFill>
                  <a:schemeClr val="tx1"/>
                </a:solidFill>
                <a:latin typeface="Arial" panose="020B0604020202020204" pitchFamily="34" charset="0"/>
              </a:rPr>
              <a:t>2</a:t>
            </a:r>
            <a:endParaRPr lang="en-US" altLang="zh-CN" sz="2205" b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67736" name="左箭头 367735"/>
          <p:cNvSpPr/>
          <p:nvPr/>
        </p:nvSpPr>
        <p:spPr>
          <a:xfrm rot="2351718">
            <a:off x="7193844" y="6716889"/>
            <a:ext cx="1175456" cy="83961"/>
          </a:xfrm>
          <a:prstGeom prst="leftArrow">
            <a:avLst>
              <a:gd name="adj1" fmla="val 50000"/>
              <a:gd name="adj2" fmla="val 350000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sz="1985"/>
          </a:p>
        </p:txBody>
      </p:sp>
      <p:sp>
        <p:nvSpPr>
          <p:cNvPr id="367737" name="直接连接符 367736"/>
          <p:cNvSpPr/>
          <p:nvPr/>
        </p:nvSpPr>
        <p:spPr>
          <a:xfrm>
            <a:off x="7361767" y="6297083"/>
            <a:ext cx="755650" cy="251883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67738" name="圆角矩形标注 367737"/>
          <p:cNvSpPr/>
          <p:nvPr/>
        </p:nvSpPr>
        <p:spPr>
          <a:xfrm rot="10800000">
            <a:off x="5262739" y="5037667"/>
            <a:ext cx="2266950" cy="839611"/>
          </a:xfrm>
          <a:prstGeom prst="wedgeRoundRectCallout">
            <a:avLst>
              <a:gd name="adj1" fmla="val -12194"/>
              <a:gd name="adj2" fmla="val -60005"/>
              <a:gd name="adj3" fmla="val 16667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/>
          <a:p>
            <a:pPr algn="ctr">
              <a:spcBef>
                <a:spcPct val="0"/>
              </a:spcBef>
            </a:pPr>
            <a:r>
              <a:rPr lang="zh-CN" altLang="en-US" sz="2205" b="1" dirty="0">
                <a:solidFill>
                  <a:schemeClr val="tx1"/>
                </a:solidFill>
                <a:latin typeface="Arial" panose="020B0604020202020204" pitchFamily="34" charset="0"/>
              </a:rPr>
              <a:t>这样的厨师才具有竞争力</a:t>
            </a:r>
            <a:r>
              <a:rPr lang="zh-CN" altLang="en-US" sz="2205" b="1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endParaRPr lang="zh-CN" altLang="en-US" sz="2205" b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367749" name="组合 367748"/>
          <p:cNvGrpSpPr/>
          <p:nvPr/>
        </p:nvGrpSpPr>
        <p:grpSpPr>
          <a:xfrm>
            <a:off x="644878" y="4686080"/>
            <a:ext cx="5625394" cy="2461110"/>
            <a:chOff x="192" y="2679"/>
            <a:chExt cx="3216" cy="1407"/>
          </a:xfrm>
        </p:grpSpPr>
        <p:sp>
          <p:nvSpPr>
            <p:cNvPr id="367691" name="矩形 367690"/>
            <p:cNvSpPr/>
            <p:nvPr/>
          </p:nvSpPr>
          <p:spPr>
            <a:xfrm>
              <a:off x="972" y="2697"/>
              <a:ext cx="1267" cy="759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367692" name="文本框 367691"/>
            <p:cNvSpPr txBox="1"/>
            <p:nvPr/>
          </p:nvSpPr>
          <p:spPr>
            <a:xfrm>
              <a:off x="1082" y="2679"/>
              <a:ext cx="1023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/>
              <a:r>
                <a:rPr lang="zh-CN" altLang="en-US" sz="2205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控制器</a:t>
              </a:r>
              <a:endParaRPr lang="zh-CN" altLang="en-US" sz="2205" b="1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7693" name="直接连接符 367692"/>
            <p:cNvSpPr/>
            <p:nvPr/>
          </p:nvSpPr>
          <p:spPr>
            <a:xfrm>
              <a:off x="241" y="3768"/>
              <a:ext cx="302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7694" name="直接连接符 367693"/>
            <p:cNvSpPr/>
            <p:nvPr/>
          </p:nvSpPr>
          <p:spPr>
            <a:xfrm>
              <a:off x="387" y="4080"/>
              <a:ext cx="302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7695" name="任意多边形 367694"/>
            <p:cNvSpPr/>
            <p:nvPr/>
          </p:nvSpPr>
          <p:spPr>
            <a:xfrm>
              <a:off x="241" y="3768"/>
              <a:ext cx="146" cy="312"/>
            </a:xfrm>
            <a:custGeom>
              <a:avLst/>
              <a:gdLst/>
              <a:ahLst/>
              <a:cxnLst/>
              <a:pathLst>
                <a:path w="144" h="336">
                  <a:moveTo>
                    <a:pt x="0" y="0"/>
                  </a:moveTo>
                  <a:cubicBezTo>
                    <a:pt x="40" y="28"/>
                    <a:pt x="80" y="56"/>
                    <a:pt x="96" y="96"/>
                  </a:cubicBezTo>
                  <a:cubicBezTo>
                    <a:pt x="112" y="136"/>
                    <a:pt x="88" y="200"/>
                    <a:pt x="96" y="240"/>
                  </a:cubicBezTo>
                  <a:cubicBezTo>
                    <a:pt x="104" y="280"/>
                    <a:pt x="124" y="308"/>
                    <a:pt x="144" y="336"/>
                  </a:cubicBez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367696" name="任意多边形 367695"/>
            <p:cNvSpPr/>
            <p:nvPr/>
          </p:nvSpPr>
          <p:spPr>
            <a:xfrm>
              <a:off x="3262" y="3768"/>
              <a:ext cx="146" cy="312"/>
            </a:xfrm>
            <a:custGeom>
              <a:avLst/>
              <a:gdLst/>
              <a:ahLst/>
              <a:cxnLst/>
              <a:pathLst>
                <a:path w="144" h="336">
                  <a:moveTo>
                    <a:pt x="0" y="0"/>
                  </a:moveTo>
                  <a:cubicBezTo>
                    <a:pt x="40" y="28"/>
                    <a:pt x="80" y="56"/>
                    <a:pt x="96" y="96"/>
                  </a:cubicBezTo>
                  <a:cubicBezTo>
                    <a:pt x="112" y="136"/>
                    <a:pt x="88" y="200"/>
                    <a:pt x="96" y="240"/>
                  </a:cubicBezTo>
                  <a:cubicBezTo>
                    <a:pt x="104" y="280"/>
                    <a:pt x="124" y="308"/>
                    <a:pt x="144" y="336"/>
                  </a:cubicBez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367697" name="文本框 367696"/>
            <p:cNvSpPr txBox="1"/>
            <p:nvPr/>
          </p:nvSpPr>
          <p:spPr>
            <a:xfrm>
              <a:off x="192" y="3456"/>
              <a:ext cx="634" cy="2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1985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纸带</a:t>
              </a:r>
              <a:endParaRPr lang="zh-CN" altLang="en-US" sz="1985" b="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7702" name="直接连接符 367701"/>
            <p:cNvSpPr/>
            <p:nvPr/>
          </p:nvSpPr>
          <p:spPr>
            <a:xfrm>
              <a:off x="484" y="3774"/>
              <a:ext cx="0" cy="31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7706" name="直接连接符 367705"/>
            <p:cNvSpPr/>
            <p:nvPr/>
          </p:nvSpPr>
          <p:spPr>
            <a:xfrm>
              <a:off x="3164" y="3768"/>
              <a:ext cx="0" cy="31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7710" name="文本框 367709"/>
            <p:cNvSpPr txBox="1"/>
            <p:nvPr/>
          </p:nvSpPr>
          <p:spPr>
            <a:xfrm>
              <a:off x="2437" y="3801"/>
              <a:ext cx="828" cy="2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1985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数据对象</a:t>
              </a:r>
              <a:endParaRPr lang="zh-CN" altLang="en-US" sz="1985" b="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7713" name="文本框 367712"/>
            <p:cNvSpPr txBox="1"/>
            <p:nvPr/>
          </p:nvSpPr>
          <p:spPr>
            <a:xfrm>
              <a:off x="436" y="3801"/>
              <a:ext cx="1315" cy="2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1985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设置控制器动作</a:t>
              </a:r>
              <a:endParaRPr lang="zh-CN" altLang="en-US" sz="1985" b="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7739" name="任意多边形 367738"/>
            <p:cNvSpPr/>
            <p:nvPr/>
          </p:nvSpPr>
          <p:spPr>
            <a:xfrm>
              <a:off x="972" y="3216"/>
              <a:ext cx="438" cy="585"/>
            </a:xfrm>
            <a:custGeom>
              <a:avLst/>
              <a:gdLst/>
              <a:ahLst/>
              <a:cxnLst/>
              <a:pathLst>
                <a:path w="832" h="576">
                  <a:moveTo>
                    <a:pt x="16" y="576"/>
                  </a:moveTo>
                  <a:cubicBezTo>
                    <a:pt x="8" y="512"/>
                    <a:pt x="0" y="448"/>
                    <a:pt x="112" y="384"/>
                  </a:cubicBezTo>
                  <a:cubicBezTo>
                    <a:pt x="224" y="320"/>
                    <a:pt x="568" y="256"/>
                    <a:pt x="688" y="192"/>
                  </a:cubicBezTo>
                  <a:cubicBezTo>
                    <a:pt x="808" y="128"/>
                    <a:pt x="820" y="64"/>
                    <a:pt x="832" y="0"/>
                  </a:cubicBez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headEnd type="oval" w="med" len="med"/>
              <a:tailEnd type="triangl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367740" name="直接连接符 367739"/>
            <p:cNvSpPr/>
            <p:nvPr/>
          </p:nvSpPr>
          <p:spPr>
            <a:xfrm>
              <a:off x="1575" y="3759"/>
              <a:ext cx="0" cy="31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7741" name="矩形 367740"/>
            <p:cNvSpPr/>
            <p:nvPr/>
          </p:nvSpPr>
          <p:spPr>
            <a:xfrm>
              <a:off x="1020" y="2928"/>
              <a:ext cx="948" cy="279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1985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修改控制器</a:t>
              </a:r>
              <a:endParaRPr lang="zh-CN" altLang="en-US" sz="1985" b="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7742" name="文本框 367741"/>
            <p:cNvSpPr txBox="1"/>
            <p:nvPr/>
          </p:nvSpPr>
          <p:spPr>
            <a:xfrm>
              <a:off x="1556" y="3801"/>
              <a:ext cx="926" cy="2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1985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控制器状态</a:t>
              </a:r>
              <a:endParaRPr lang="zh-CN" altLang="en-US" sz="1985" b="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7743" name="直接连接符 367742"/>
            <p:cNvSpPr/>
            <p:nvPr/>
          </p:nvSpPr>
          <p:spPr>
            <a:xfrm>
              <a:off x="2394" y="3762"/>
              <a:ext cx="0" cy="31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7744" name="任意多边形 367743"/>
            <p:cNvSpPr/>
            <p:nvPr/>
          </p:nvSpPr>
          <p:spPr>
            <a:xfrm>
              <a:off x="1491" y="3216"/>
              <a:ext cx="520" cy="576"/>
            </a:xfrm>
            <a:custGeom>
              <a:avLst/>
              <a:gdLst/>
              <a:ahLst/>
              <a:cxnLst/>
              <a:pathLst>
                <a:path w="512" h="672">
                  <a:moveTo>
                    <a:pt x="496" y="672"/>
                  </a:moveTo>
                  <a:cubicBezTo>
                    <a:pt x="504" y="608"/>
                    <a:pt x="512" y="544"/>
                    <a:pt x="496" y="480"/>
                  </a:cubicBezTo>
                  <a:cubicBezTo>
                    <a:pt x="480" y="416"/>
                    <a:pt x="472" y="344"/>
                    <a:pt x="400" y="288"/>
                  </a:cubicBezTo>
                  <a:cubicBezTo>
                    <a:pt x="328" y="232"/>
                    <a:pt x="128" y="192"/>
                    <a:pt x="64" y="144"/>
                  </a:cubicBezTo>
                  <a:cubicBezTo>
                    <a:pt x="0" y="96"/>
                    <a:pt x="8" y="48"/>
                    <a:pt x="16" y="0"/>
                  </a:cubicBez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headEnd type="oval" w="med" len="med"/>
              <a:tailEnd type="triangl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367745" name="任意多边形 367744"/>
            <p:cNvSpPr/>
            <p:nvPr/>
          </p:nvSpPr>
          <p:spPr>
            <a:xfrm>
              <a:off x="2044" y="3312"/>
              <a:ext cx="779" cy="528"/>
            </a:xfrm>
            <a:custGeom>
              <a:avLst/>
              <a:gdLst/>
              <a:ahLst/>
              <a:cxnLst/>
              <a:pathLst>
                <a:path w="768" h="480">
                  <a:moveTo>
                    <a:pt x="0" y="0"/>
                  </a:moveTo>
                  <a:cubicBezTo>
                    <a:pt x="40" y="92"/>
                    <a:pt x="80" y="184"/>
                    <a:pt x="192" y="240"/>
                  </a:cubicBezTo>
                  <a:cubicBezTo>
                    <a:pt x="304" y="296"/>
                    <a:pt x="576" y="296"/>
                    <a:pt x="672" y="336"/>
                  </a:cubicBezTo>
                  <a:cubicBezTo>
                    <a:pt x="768" y="376"/>
                    <a:pt x="768" y="428"/>
                    <a:pt x="768" y="480"/>
                  </a:cubicBez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headEnd type="oval" w="med" len="med"/>
              <a:tailEnd type="triangl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367746" name="文本框 367745"/>
            <p:cNvSpPr txBox="1"/>
            <p:nvPr/>
          </p:nvSpPr>
          <p:spPr>
            <a:xfrm>
              <a:off x="2287" y="3360"/>
              <a:ext cx="635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205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处理</a:t>
              </a:r>
              <a:endParaRPr lang="zh-CN" altLang="en-US" sz="2205" b="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" name="object 2"/>
          <p:cNvSpPr/>
          <p:nvPr>
            <p:custDataLst>
              <p:tags r:id="rId3"/>
            </p:custDataLst>
          </p:nvPr>
        </p:nvSpPr>
        <p:spPr>
          <a:xfrm>
            <a:off x="175260" y="958921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67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677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67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677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677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67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67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67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677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677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67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67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677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677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67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367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367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367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67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67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677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677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677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67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677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677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367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367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677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677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677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677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677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677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677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677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367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367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3676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3676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3676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3676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367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367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7656" grpId="0"/>
      <p:bldP spid="367689" grpId="0"/>
      <p:bldP spid="367715" grpId="0"/>
      <p:bldP spid="367725" grpId="0"/>
      <p:bldP spid="367727" grpId="0" bldLvl="0" animBg="1"/>
      <p:bldP spid="367728" grpId="0" bldLvl="0" animBg="1"/>
      <p:bldP spid="367729" grpId="0" bldLvl="0" animBg="1"/>
      <p:bldP spid="367729" grpId="1" bldLvl="0" animBg="1"/>
      <p:bldP spid="367732" grpId="0" bldLvl="0" animBg="1"/>
      <p:bldP spid="367732" grpId="1" bldLvl="0" animBg="1"/>
      <p:bldP spid="367734" grpId="0" bldLvl="0" animBg="1"/>
      <p:bldP spid="367735" grpId="0" bldLvl="0" animBg="1"/>
      <p:bldP spid="367738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0190">
              <a:lnSpc>
                <a:spcPts val="3470"/>
              </a:lnSpc>
            </a:pP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从通用图灵机到计算机</a:t>
            </a:r>
            <a:endParaRPr sz="2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73577" y="2653535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625471" y="4485921"/>
            <a:ext cx="2277110" cy="1623060"/>
          </a:xfrm>
          <a:custGeom>
            <a:avLst/>
            <a:gdLst/>
            <a:ahLst/>
            <a:cxnLst/>
            <a:rect l="l" t="t" r="r" b="b"/>
            <a:pathLst>
              <a:path w="2277110" h="1623060">
                <a:moveTo>
                  <a:pt x="0" y="0"/>
                </a:moveTo>
                <a:lnTo>
                  <a:pt x="2276564" y="0"/>
                </a:lnTo>
                <a:lnTo>
                  <a:pt x="2276564" y="1622777"/>
                </a:lnTo>
                <a:lnTo>
                  <a:pt x="0" y="1622777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761356" y="4680656"/>
            <a:ext cx="718820" cy="174625"/>
          </a:xfrm>
          <a:custGeom>
            <a:avLst/>
            <a:gdLst/>
            <a:ahLst/>
            <a:cxnLst/>
            <a:rect l="l" t="t" r="r" b="b"/>
            <a:pathLst>
              <a:path w="718820" h="174625">
                <a:moveTo>
                  <a:pt x="538706" y="0"/>
                </a:moveTo>
                <a:lnTo>
                  <a:pt x="538706" y="43611"/>
                </a:lnTo>
                <a:lnTo>
                  <a:pt x="0" y="43611"/>
                </a:lnTo>
                <a:lnTo>
                  <a:pt x="0" y="130836"/>
                </a:lnTo>
                <a:lnTo>
                  <a:pt x="538706" y="130836"/>
                </a:lnTo>
                <a:lnTo>
                  <a:pt x="538706" y="174448"/>
                </a:lnTo>
                <a:lnTo>
                  <a:pt x="718275" y="87223"/>
                </a:lnTo>
                <a:lnTo>
                  <a:pt x="5387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761356" y="4680656"/>
            <a:ext cx="718820" cy="174625"/>
          </a:xfrm>
          <a:custGeom>
            <a:avLst/>
            <a:gdLst/>
            <a:ahLst/>
            <a:cxnLst/>
            <a:rect l="l" t="t" r="r" b="b"/>
            <a:pathLst>
              <a:path w="718820" h="174625">
                <a:moveTo>
                  <a:pt x="0" y="43612"/>
                </a:moveTo>
                <a:lnTo>
                  <a:pt x="538706" y="43612"/>
                </a:lnTo>
                <a:lnTo>
                  <a:pt x="538706" y="0"/>
                </a:lnTo>
                <a:lnTo>
                  <a:pt x="718274" y="87224"/>
                </a:lnTo>
                <a:lnTo>
                  <a:pt x="538706" y="174449"/>
                </a:lnTo>
                <a:lnTo>
                  <a:pt x="538706" y="130837"/>
                </a:lnTo>
                <a:lnTo>
                  <a:pt x="0" y="130837"/>
                </a:lnTo>
                <a:lnTo>
                  <a:pt x="0" y="43612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788446" y="2012033"/>
            <a:ext cx="9116507" cy="1605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b="0" spc="40" dirty="0">
                <a:solidFill>
                  <a:srgbClr val="993300"/>
                </a:solidFill>
                <a:latin typeface="Lucida Sans" panose="020B0602030504020204"/>
                <a:cs typeface="Lucida Sans" panose="020B0602030504020204"/>
              </a:rPr>
              <a:t> </a:t>
            </a:r>
            <a:r>
              <a:rPr sz="3450" spc="112" baseline="1000" dirty="0"/>
              <a:t>伟大想法的工程实现</a:t>
            </a:r>
            <a:r>
              <a:rPr sz="2400" dirty="0">
                <a:latin typeface="Arial" panose="020B0604020202020204"/>
                <a:cs typeface="Arial" panose="020B0604020202020204"/>
              </a:rPr>
              <a:t>…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528955">
              <a:lnSpc>
                <a:spcPct val="100000"/>
              </a:lnSpc>
              <a:spcBef>
                <a:spcPts val="1705"/>
              </a:spcBef>
            </a:pPr>
            <a:r>
              <a:rPr sz="2925" spc="127" baseline="1000" dirty="0"/>
              <a:t>又一个伟大的发明</a:t>
            </a:r>
            <a:r>
              <a:rPr sz="2000" spc="10" dirty="0">
                <a:latin typeface="Arial" panose="020B0604020202020204"/>
                <a:cs typeface="Arial" panose="020B0604020202020204"/>
              </a:rPr>
              <a:t>:</a:t>
            </a:r>
            <a:r>
              <a:rPr sz="20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925" spc="127" baseline="1000" dirty="0"/>
              <a:t>冯</a:t>
            </a:r>
            <a:r>
              <a:rPr sz="2000" spc="10" dirty="0">
                <a:latin typeface="Arial" panose="020B0604020202020204"/>
                <a:cs typeface="Arial" panose="020B0604020202020204"/>
              </a:rPr>
              <a:t>·</a:t>
            </a:r>
            <a:r>
              <a:rPr sz="2925" spc="127" baseline="1000" dirty="0"/>
              <a:t>诺依曼</a:t>
            </a:r>
            <a:r>
              <a:rPr sz="2925" spc="127" baseline="1000" dirty="0">
                <a:solidFill>
                  <a:srgbClr val="FF0000"/>
                </a:solidFill>
              </a:rPr>
              <a:t>存储程序思</a:t>
            </a:r>
            <a:r>
              <a:rPr sz="2925" spc="112" baseline="1000" dirty="0">
                <a:solidFill>
                  <a:srgbClr val="FF0000"/>
                </a:solidFill>
              </a:rPr>
              <a:t>想</a:t>
            </a:r>
            <a:endParaRPr sz="2925" baseline="1000">
              <a:latin typeface="Arial" panose="020B0604020202020204"/>
              <a:cs typeface="Arial" panose="020B0604020202020204"/>
            </a:endParaRPr>
          </a:p>
          <a:p>
            <a:pPr marL="528955" marR="5080">
              <a:lnSpc>
                <a:spcPct val="125000"/>
              </a:lnSpc>
              <a:spcBef>
                <a:spcPts val="590"/>
              </a:spcBef>
            </a:pPr>
            <a:r>
              <a:rPr sz="1650" spc="40" dirty="0"/>
              <a:t>存储程序的主要思想：将程序和数据存放到计算机内部的存储器中，计算机在程序 的控制下一步一步进行处理</a:t>
            </a:r>
            <a:endParaRPr sz="1650"/>
          </a:p>
        </p:txBody>
      </p:sp>
      <p:sp>
        <p:nvSpPr>
          <p:cNvPr id="9" name="object 9"/>
          <p:cNvSpPr txBox="1"/>
          <p:nvPr/>
        </p:nvSpPr>
        <p:spPr>
          <a:xfrm>
            <a:off x="1766415" y="4631563"/>
            <a:ext cx="1934845" cy="1813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ct val="100000"/>
              </a:lnSpc>
            </a:pPr>
            <a:r>
              <a:rPr sz="2000" b="1" spc="35" dirty="0">
                <a:latin typeface="Tahoma" panose="020B0604030504040204"/>
                <a:cs typeface="Tahoma" panose="020B0604030504040204"/>
              </a:rPr>
              <a:t>m</a:t>
            </a:r>
            <a:r>
              <a:rPr sz="2000" b="1" spc="25" dirty="0">
                <a:latin typeface="Tahoma" panose="020B0604030504040204"/>
                <a:cs typeface="Tahoma" panose="020B0604030504040204"/>
              </a:rPr>
              <a:t>o</a:t>
            </a:r>
            <a:r>
              <a:rPr sz="2000" b="1" spc="15" dirty="0">
                <a:latin typeface="Tahoma" panose="020B0604030504040204"/>
                <a:cs typeface="Tahoma" panose="020B0604030504040204"/>
              </a:rPr>
              <a:t>v</a:t>
            </a:r>
            <a:r>
              <a:rPr sz="2000" b="1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2000" b="1" spc="20" dirty="0">
                <a:latin typeface="Tahoma" panose="020B0604030504040204"/>
                <a:cs typeface="Tahoma" panose="020B0604030504040204"/>
              </a:rPr>
              <a:t>a</a:t>
            </a:r>
            <a:r>
              <a:rPr sz="2000" b="1" spc="25" dirty="0">
                <a:latin typeface="Tahoma" panose="020B0604030504040204"/>
                <a:cs typeface="Tahoma" panose="020B0604030504040204"/>
              </a:rPr>
              <a:t>x</a:t>
            </a:r>
            <a:r>
              <a:rPr sz="2000" b="1" spc="5" dirty="0">
                <a:latin typeface="Tahoma" panose="020B0604030504040204"/>
                <a:cs typeface="Tahoma" panose="020B0604030504040204"/>
              </a:rPr>
              <a:t>,</a:t>
            </a:r>
            <a:r>
              <a:rPr sz="2000" b="1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2000" b="1" spc="15" dirty="0">
                <a:latin typeface="Tahoma" panose="020B0604030504040204"/>
                <a:cs typeface="Tahoma" panose="020B0604030504040204"/>
              </a:rPr>
              <a:t>[</a:t>
            </a:r>
            <a:r>
              <a:rPr sz="2000" b="1" spc="25" dirty="0">
                <a:latin typeface="Tahoma" panose="020B0604030504040204"/>
                <a:cs typeface="Tahoma" panose="020B0604030504040204"/>
              </a:rPr>
              <a:t>100</a:t>
            </a:r>
            <a:r>
              <a:rPr sz="2000" b="1" spc="15" dirty="0">
                <a:latin typeface="Tahoma" panose="020B0604030504040204"/>
                <a:cs typeface="Tahoma" panose="020B0604030504040204"/>
              </a:rPr>
              <a:t>]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2700" indent="75565">
              <a:lnSpc>
                <a:spcPct val="100000"/>
              </a:lnSpc>
              <a:spcBef>
                <a:spcPts val="1295"/>
              </a:spcBef>
            </a:pPr>
            <a:r>
              <a:rPr sz="2000" b="1" spc="40" dirty="0">
                <a:latin typeface="Tahoma" panose="020B0604030504040204"/>
                <a:cs typeface="Tahoma" panose="020B0604030504040204"/>
              </a:rPr>
              <a:t>……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1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tabLst>
                <a:tab pos="828675" algn="l"/>
              </a:tabLst>
            </a:pPr>
            <a:r>
              <a:rPr sz="2000" b="1" spc="15" dirty="0">
                <a:latin typeface="Tahoma" panose="020B0604030504040204"/>
                <a:cs typeface="Tahoma" panose="020B0604030504040204"/>
              </a:rPr>
              <a:t>100:</a:t>
            </a:r>
            <a:r>
              <a:rPr sz="2000" b="1" spc="15" dirty="0">
                <a:latin typeface="Tahoma" panose="020B0604030504040204"/>
                <a:cs typeface="Tahoma" panose="020B0604030504040204"/>
              </a:rPr>
              <a:t>	</a:t>
            </a:r>
            <a:r>
              <a:rPr sz="2000" b="1" spc="20" dirty="0">
                <a:latin typeface="Tahoma" panose="020B0604030504040204"/>
                <a:cs typeface="Tahoma" panose="020B0604030504040204"/>
              </a:rPr>
              <a:t>0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544195">
              <a:lnSpc>
                <a:spcPts val="2330"/>
              </a:lnSpc>
              <a:spcBef>
                <a:spcPts val="1165"/>
              </a:spcBef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存储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器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5312" y="4510263"/>
            <a:ext cx="410209" cy="398145"/>
          </a:xfrm>
          <a:prstGeom prst="rect">
            <a:avLst/>
          </a:prstGeom>
          <a:ln w="8114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>
              <a:lnSpc>
                <a:spcPct val="100000"/>
              </a:lnSpc>
            </a:pP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IP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441507" y="4700940"/>
            <a:ext cx="325120" cy="65405"/>
          </a:xfrm>
          <a:custGeom>
            <a:avLst/>
            <a:gdLst/>
            <a:ahLst/>
            <a:cxnLst/>
            <a:rect l="l" t="t" r="r" b="b"/>
            <a:pathLst>
              <a:path w="325119" h="65404">
                <a:moveTo>
                  <a:pt x="243481" y="0"/>
                </a:moveTo>
                <a:lnTo>
                  <a:pt x="243481" y="16228"/>
                </a:lnTo>
                <a:lnTo>
                  <a:pt x="0" y="16228"/>
                </a:lnTo>
                <a:lnTo>
                  <a:pt x="0" y="48682"/>
                </a:lnTo>
                <a:lnTo>
                  <a:pt x="243481" y="48682"/>
                </a:lnTo>
                <a:lnTo>
                  <a:pt x="243481" y="64910"/>
                </a:lnTo>
                <a:lnTo>
                  <a:pt x="324643" y="32456"/>
                </a:lnTo>
                <a:lnTo>
                  <a:pt x="24348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441507" y="4700940"/>
            <a:ext cx="325120" cy="65405"/>
          </a:xfrm>
          <a:custGeom>
            <a:avLst/>
            <a:gdLst/>
            <a:ahLst/>
            <a:cxnLst/>
            <a:rect l="l" t="t" r="r" b="b"/>
            <a:pathLst>
              <a:path w="325119" h="65404">
                <a:moveTo>
                  <a:pt x="0" y="16227"/>
                </a:moveTo>
                <a:lnTo>
                  <a:pt x="243482" y="16227"/>
                </a:lnTo>
                <a:lnTo>
                  <a:pt x="243482" y="0"/>
                </a:lnTo>
                <a:lnTo>
                  <a:pt x="324643" y="32455"/>
                </a:lnTo>
                <a:lnTo>
                  <a:pt x="243482" y="64911"/>
                </a:lnTo>
                <a:lnTo>
                  <a:pt x="243482" y="48683"/>
                </a:lnTo>
                <a:lnTo>
                  <a:pt x="0" y="48683"/>
                </a:lnTo>
                <a:lnTo>
                  <a:pt x="0" y="16227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424170" y="4538662"/>
            <a:ext cx="2012950" cy="398145"/>
          </a:xfrm>
          <a:prstGeom prst="rect">
            <a:avLst/>
          </a:prstGeom>
          <a:ln w="811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>
              <a:lnSpc>
                <a:spcPct val="100000"/>
              </a:lnSpc>
            </a:pPr>
            <a:r>
              <a:rPr sz="2000" b="1" spc="35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o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v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ax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,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[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100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]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763326" y="5229694"/>
            <a:ext cx="673735" cy="398145"/>
          </a:xfrm>
          <a:custGeom>
            <a:avLst/>
            <a:gdLst/>
            <a:ahLst/>
            <a:cxnLst/>
            <a:rect l="l" t="t" r="r" b="b"/>
            <a:pathLst>
              <a:path w="673735" h="398145">
                <a:moveTo>
                  <a:pt x="0" y="0"/>
                </a:moveTo>
                <a:lnTo>
                  <a:pt x="673635" y="0"/>
                </a:lnTo>
                <a:lnTo>
                  <a:pt x="673635" y="397580"/>
                </a:lnTo>
                <a:lnTo>
                  <a:pt x="0" y="397580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043699" y="4940300"/>
            <a:ext cx="0" cy="519430"/>
          </a:xfrm>
          <a:custGeom>
            <a:avLst/>
            <a:gdLst/>
            <a:ahLst/>
            <a:cxnLst/>
            <a:rect l="l" t="t" r="r" b="b"/>
            <a:pathLst>
              <a:path h="519429">
                <a:moveTo>
                  <a:pt x="0" y="0"/>
                </a:moveTo>
                <a:lnTo>
                  <a:pt x="0" y="519288"/>
                </a:lnTo>
              </a:path>
            </a:pathLst>
          </a:custGeom>
          <a:ln w="243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043699" y="5423076"/>
            <a:ext cx="974090" cy="73025"/>
          </a:xfrm>
          <a:custGeom>
            <a:avLst/>
            <a:gdLst/>
            <a:ahLst/>
            <a:cxnLst/>
            <a:rect l="l" t="t" r="r" b="b"/>
            <a:pathLst>
              <a:path w="974089" h="73025">
                <a:moveTo>
                  <a:pt x="0" y="24340"/>
                </a:moveTo>
                <a:lnTo>
                  <a:pt x="0" y="48682"/>
                </a:lnTo>
                <a:lnTo>
                  <a:pt x="900885" y="48684"/>
                </a:lnTo>
                <a:lnTo>
                  <a:pt x="900885" y="73024"/>
                </a:lnTo>
                <a:lnTo>
                  <a:pt x="973931" y="36512"/>
                </a:lnTo>
                <a:lnTo>
                  <a:pt x="949583" y="24342"/>
                </a:lnTo>
                <a:lnTo>
                  <a:pt x="0" y="24340"/>
                </a:lnTo>
                <a:close/>
              </a:path>
              <a:path w="974089" h="73025">
                <a:moveTo>
                  <a:pt x="900885" y="0"/>
                </a:moveTo>
                <a:lnTo>
                  <a:pt x="900885" y="24342"/>
                </a:lnTo>
                <a:lnTo>
                  <a:pt x="949583" y="24342"/>
                </a:lnTo>
                <a:lnTo>
                  <a:pt x="9008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52400" y="4905175"/>
            <a:ext cx="1401445" cy="944244"/>
          </a:xfrm>
          <a:custGeom>
            <a:avLst/>
            <a:gdLst/>
            <a:ahLst/>
            <a:cxnLst/>
            <a:rect l="l" t="t" r="r" b="b"/>
            <a:pathLst>
              <a:path w="1401445" h="944245">
                <a:moveTo>
                  <a:pt x="1401378" y="814054"/>
                </a:moveTo>
                <a:lnTo>
                  <a:pt x="1394267" y="856534"/>
                </a:lnTo>
                <a:lnTo>
                  <a:pt x="1374527" y="893119"/>
                </a:lnTo>
                <a:lnTo>
                  <a:pt x="1344544" y="921422"/>
                </a:lnTo>
                <a:lnTo>
                  <a:pt x="1306709" y="939056"/>
                </a:lnTo>
                <a:lnTo>
                  <a:pt x="1167815" y="943879"/>
                </a:lnTo>
                <a:lnTo>
                  <a:pt x="817470" y="943879"/>
                </a:lnTo>
                <a:lnTo>
                  <a:pt x="129860" y="943879"/>
                </a:lnTo>
                <a:lnTo>
                  <a:pt x="115188" y="943060"/>
                </a:lnTo>
                <a:lnTo>
                  <a:pt x="74397" y="931477"/>
                </a:lnTo>
                <a:lnTo>
                  <a:pt x="40298" y="908063"/>
                </a:lnTo>
                <a:lnTo>
                  <a:pt x="15279" y="875207"/>
                </a:lnTo>
                <a:lnTo>
                  <a:pt x="1729" y="835295"/>
                </a:lnTo>
                <a:lnTo>
                  <a:pt x="0" y="489502"/>
                </a:lnTo>
                <a:lnTo>
                  <a:pt x="0" y="294768"/>
                </a:lnTo>
                <a:lnTo>
                  <a:pt x="819" y="280104"/>
                </a:lnTo>
                <a:lnTo>
                  <a:pt x="12405" y="239324"/>
                </a:lnTo>
                <a:lnTo>
                  <a:pt x="35825" y="205234"/>
                </a:lnTo>
                <a:lnTo>
                  <a:pt x="68691" y="180222"/>
                </a:lnTo>
                <a:lnTo>
                  <a:pt x="108613" y="166675"/>
                </a:lnTo>
                <a:lnTo>
                  <a:pt x="817470" y="164946"/>
                </a:lnTo>
                <a:lnTo>
                  <a:pt x="1063225" y="0"/>
                </a:lnTo>
                <a:lnTo>
                  <a:pt x="1167815" y="164946"/>
                </a:lnTo>
                <a:lnTo>
                  <a:pt x="1271518" y="164946"/>
                </a:lnTo>
                <a:lnTo>
                  <a:pt x="1286189" y="165766"/>
                </a:lnTo>
                <a:lnTo>
                  <a:pt x="1326980" y="177349"/>
                </a:lnTo>
                <a:lnTo>
                  <a:pt x="1361080" y="200762"/>
                </a:lnTo>
                <a:lnTo>
                  <a:pt x="1386098" y="233619"/>
                </a:lnTo>
                <a:lnTo>
                  <a:pt x="1399649" y="273531"/>
                </a:lnTo>
                <a:lnTo>
                  <a:pt x="1401378" y="294768"/>
                </a:lnTo>
                <a:lnTo>
                  <a:pt x="1401378" y="489502"/>
                </a:lnTo>
                <a:lnTo>
                  <a:pt x="1401378" y="814054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581697" y="2203215"/>
            <a:ext cx="2218690" cy="454659"/>
          </a:xfrm>
          <a:custGeom>
            <a:avLst/>
            <a:gdLst/>
            <a:ahLst/>
            <a:cxnLst/>
            <a:rect l="l" t="t" r="r" b="b"/>
            <a:pathLst>
              <a:path w="2218690" h="454660">
                <a:moveTo>
                  <a:pt x="2218400" y="378646"/>
                </a:moveTo>
                <a:lnTo>
                  <a:pt x="2206697" y="419101"/>
                </a:lnTo>
                <a:lnTo>
                  <a:pt x="2176268" y="446529"/>
                </a:lnTo>
                <a:lnTo>
                  <a:pt x="1082147" y="454377"/>
                </a:lnTo>
                <a:lnTo>
                  <a:pt x="595181" y="454377"/>
                </a:lnTo>
                <a:lnTo>
                  <a:pt x="346290" y="454377"/>
                </a:lnTo>
                <a:lnTo>
                  <a:pt x="331786" y="452991"/>
                </a:lnTo>
                <a:lnTo>
                  <a:pt x="294884" y="434271"/>
                </a:lnTo>
                <a:lnTo>
                  <a:pt x="273352" y="399168"/>
                </a:lnTo>
                <a:lnTo>
                  <a:pt x="270538" y="378648"/>
                </a:lnTo>
                <a:lnTo>
                  <a:pt x="0" y="409762"/>
                </a:lnTo>
                <a:lnTo>
                  <a:pt x="270538" y="265053"/>
                </a:lnTo>
                <a:lnTo>
                  <a:pt x="270538" y="75731"/>
                </a:lnTo>
                <a:lnTo>
                  <a:pt x="271925" y="61232"/>
                </a:lnTo>
                <a:lnTo>
                  <a:pt x="290650" y="24339"/>
                </a:lnTo>
                <a:lnTo>
                  <a:pt x="325761" y="2813"/>
                </a:lnTo>
                <a:lnTo>
                  <a:pt x="595181" y="0"/>
                </a:lnTo>
                <a:lnTo>
                  <a:pt x="1082147" y="0"/>
                </a:lnTo>
                <a:lnTo>
                  <a:pt x="2142648" y="0"/>
                </a:lnTo>
                <a:lnTo>
                  <a:pt x="2157151" y="1386"/>
                </a:lnTo>
                <a:lnTo>
                  <a:pt x="2194054" y="20106"/>
                </a:lnTo>
                <a:lnTo>
                  <a:pt x="2215586" y="55208"/>
                </a:lnTo>
                <a:lnTo>
                  <a:pt x="2218400" y="265053"/>
                </a:lnTo>
                <a:lnTo>
                  <a:pt x="2218400" y="378648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073577" y="3071401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305064" y="3757473"/>
            <a:ext cx="6804659" cy="802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计算机由五大部件组成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: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输入设备、输出设备、存储器、运算器、控制器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50">
              <a:latin typeface="Times New Roman" panose="02020603050405020304"/>
              <a:cs typeface="Times New Roman" panose="02020603050405020304"/>
            </a:endParaRPr>
          </a:p>
          <a:p>
            <a:pPr marL="1860550" algn="ctr">
              <a:lnSpc>
                <a:spcPct val="100000"/>
              </a:lnSpc>
            </a:pPr>
            <a:r>
              <a:rPr sz="2000" b="1" spc="10" dirty="0">
                <a:latin typeface="Arial" panose="020B0604020202020204"/>
                <a:cs typeface="Arial" panose="020B0604020202020204"/>
              </a:rPr>
              <a:t>IR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31344" y="5334648"/>
            <a:ext cx="314960" cy="543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3665" algn="ctr">
              <a:lnSpc>
                <a:spcPts val="2220"/>
              </a:lnSpc>
            </a:pPr>
            <a:r>
              <a:rPr sz="2000" b="1" spc="15" dirty="0">
                <a:latin typeface="Arial" panose="020B0604020202020204"/>
                <a:cs typeface="Arial" panose="020B0604020202020204"/>
              </a:rPr>
              <a:t>0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ts val="2220"/>
              </a:lnSpc>
            </a:pP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ax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67026" y="5908531"/>
            <a:ext cx="184150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运算器、控制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器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0941" y="5180479"/>
            <a:ext cx="1062990" cy="577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00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就是那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个</a:t>
            </a:r>
            <a:r>
              <a:rPr sz="19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读写指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针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134367" y="2285856"/>
            <a:ext cx="1381760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1946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年提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出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73577" y="3798946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sp>
        <p:nvSpPr>
          <p:cNvPr id="28" name="文本框 27"/>
          <p:cNvSpPr txBox="1"/>
          <p:nvPr/>
        </p:nvSpPr>
        <p:spPr>
          <a:xfrm>
            <a:off x="6794500" y="5054600"/>
            <a:ext cx="35642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计算机工作的基本原理：</a:t>
            </a:r>
            <a:endParaRPr lang="zh-CN" altLang="en-US" sz="2400" b="1">
              <a:solidFill>
                <a:srgbClr val="FF0000"/>
              </a:solidFill>
            </a:endParaRPr>
          </a:p>
          <a:p>
            <a:r>
              <a:rPr lang="en-US" altLang="zh-CN" sz="2400" b="1">
                <a:solidFill>
                  <a:srgbClr val="FF0000"/>
                </a:solidFill>
              </a:rPr>
              <a:t>        </a:t>
            </a:r>
            <a:r>
              <a:rPr lang="zh-CN" altLang="en-US" sz="2400" b="1">
                <a:solidFill>
                  <a:srgbClr val="FF0000"/>
                </a:solidFill>
              </a:rPr>
              <a:t>取指、执行！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7352" y="3012946"/>
            <a:ext cx="6258560" cy="1162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11605" marR="5080" indent="-1399540">
              <a:lnSpc>
                <a:spcPts val="4620"/>
              </a:lnSpc>
            </a:pPr>
            <a:r>
              <a:rPr sz="3950" spc="114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打开电源，计算机执行的</a:t>
            </a:r>
            <a:r>
              <a:rPr sz="3950" spc="13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第</a:t>
            </a:r>
            <a:r>
              <a:rPr sz="3950" spc="6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3950" spc="114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一句指令什么</a:t>
            </a:r>
            <a:r>
              <a:rPr sz="4100" b="1" spc="-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?</a:t>
            </a:r>
            <a:endParaRPr sz="41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0190">
              <a:lnSpc>
                <a:spcPct val="100000"/>
              </a:lnSpc>
            </a:pP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可以打开电源了</a:t>
            </a:r>
            <a:r>
              <a:rPr sz="3050" spc="15" dirty="0"/>
              <a:t>…</a:t>
            </a:r>
            <a:endParaRPr sz="30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2258" y="1947139"/>
            <a:ext cx="6356350" cy="895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spc="40" dirty="0">
                <a:solidFill>
                  <a:srgbClr val="993300"/>
                </a:solidFill>
                <a:latin typeface="Lucida Sans" panose="020B0602030504020204"/>
                <a:cs typeface="Lucida Sans" panose="020B0602030504020204"/>
              </a:rPr>
              <a:t> 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计算模型</a:t>
            </a:r>
            <a:r>
              <a:rPr sz="3450" b="1" spc="112" baseline="1000" dirty="0">
                <a:latin typeface="Symbol" panose="05050102010706020507"/>
                <a:cs typeface="Symbol" panose="05050102010706020507"/>
              </a:rPr>
              <a:t>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我们要关注</a:t>
            </a: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指针</a:t>
            </a:r>
            <a:r>
              <a:rPr sz="24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400" b="1" spc="-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及其</a:t>
            </a: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指向的内</a:t>
            </a:r>
            <a:r>
              <a:rPr sz="3450" b="1" spc="135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容</a:t>
            </a:r>
            <a:endParaRPr sz="3450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28955">
              <a:lnSpc>
                <a:spcPct val="100000"/>
              </a:lnSpc>
              <a:spcBef>
                <a:spcPts val="1705"/>
              </a:spcBef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计算机刚打开电源时，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=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?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27388" y="2588624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27388" y="3065992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46061" y="2931221"/>
            <a:ext cx="2643505" cy="806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454025">
              <a:lnSpc>
                <a:spcPct val="168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由硬件设计者决定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! 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看看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x8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6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7186" y="3942291"/>
            <a:ext cx="4089400" cy="2219960"/>
          </a:xfrm>
          <a:prstGeom prst="rect">
            <a:avLst/>
          </a:prstGeom>
          <a:ln w="811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 marR="460375">
              <a:lnSpc>
                <a:spcPct val="121000"/>
              </a:lnSpc>
            </a:pP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1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r>
              <a:rPr sz="1700" b="1" spc="-254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x86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P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C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刚开机时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CP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U</a:t>
            </a:r>
            <a:r>
              <a:rPr sz="16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处于实模式 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2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r>
              <a:rPr sz="1700" b="1" spc="-254" dirty="0">
                <a:latin typeface="Arial" panose="020B0604020202020204"/>
                <a:cs typeface="Arial" panose="020B0604020202020204"/>
              </a:rPr>
              <a:t> 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开机时，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CS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=</a:t>
            </a:r>
            <a:r>
              <a:rPr sz="1700" b="1" dirty="0">
                <a:latin typeface="Arial" panose="020B0604020202020204"/>
                <a:cs typeface="Arial" panose="020B0604020202020204"/>
              </a:rPr>
              <a:t>0x</a:t>
            </a:r>
            <a:r>
              <a:rPr sz="1700" b="1" dirty="0">
                <a:latin typeface="Arial" panose="020B0604020202020204"/>
                <a:cs typeface="Arial" panose="020B0604020202020204"/>
              </a:rPr>
              <a:t>FFFF</a:t>
            </a:r>
            <a:r>
              <a:rPr sz="1700" b="1" dirty="0">
                <a:latin typeface="Arial" panose="020B0604020202020204"/>
                <a:cs typeface="Arial" panose="020B0604020202020204"/>
              </a:rPr>
              <a:t>;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=</a:t>
            </a:r>
            <a:r>
              <a:rPr sz="1700" b="1" dirty="0">
                <a:latin typeface="Arial" panose="020B0604020202020204"/>
                <a:cs typeface="Arial" panose="020B0604020202020204"/>
              </a:rPr>
              <a:t>0x0000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73660" marR="184785">
              <a:lnSpc>
                <a:spcPts val="2470"/>
              </a:lnSpc>
              <a:spcBef>
                <a:spcPts val="115"/>
              </a:spcBef>
            </a:pP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3)</a:t>
            </a:r>
            <a:r>
              <a:rPr sz="1700" b="1" spc="-254" dirty="0">
                <a:latin typeface="Arial" panose="020B0604020202020204"/>
                <a:cs typeface="Arial" panose="020B0604020202020204"/>
              </a:rPr>
              <a:t> 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寻址</a:t>
            </a:r>
            <a:r>
              <a:rPr sz="1700" b="1" dirty="0">
                <a:latin typeface="Arial" panose="020B0604020202020204"/>
                <a:cs typeface="Arial" panose="020B0604020202020204"/>
              </a:rPr>
              <a:t>0xFFFF0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R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O</a:t>
            </a:r>
            <a:r>
              <a:rPr sz="1700" b="1" dirty="0">
                <a:latin typeface="Arial" panose="020B0604020202020204"/>
                <a:cs typeface="Arial" panose="020B0604020202020204"/>
              </a:rPr>
              <a:t>M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B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O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S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映射区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  </a:t>
            </a:r>
            <a:endParaRPr sz="1700" b="1" dirty="0">
              <a:latin typeface="Arial" panose="020B0604020202020204"/>
              <a:cs typeface="Arial" panose="020B0604020202020204"/>
            </a:endParaRPr>
          </a:p>
          <a:p>
            <a:pPr marL="73660" marR="184785">
              <a:lnSpc>
                <a:spcPts val="2470"/>
              </a:lnSpc>
              <a:spcBef>
                <a:spcPts val="115"/>
              </a:spcBef>
            </a:pP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4)</a:t>
            </a:r>
            <a:r>
              <a:rPr sz="1700" b="1" spc="-254" dirty="0">
                <a:latin typeface="Arial" panose="020B0604020202020204"/>
                <a:cs typeface="Arial" panose="020B0604020202020204"/>
              </a:rPr>
              <a:t> 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检查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RA</a:t>
            </a:r>
            <a:r>
              <a:rPr sz="1700" b="1" dirty="0">
                <a:latin typeface="Arial" panose="020B0604020202020204"/>
                <a:cs typeface="Arial" panose="020B0604020202020204"/>
              </a:rPr>
              <a:t>M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，键盘，显示器，软硬磁盘</a:t>
            </a:r>
            <a:r>
              <a:rPr sz="1650" b="1" spc="2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5)</a:t>
            </a:r>
            <a:r>
              <a:rPr sz="1700" b="1" spc="-254" dirty="0">
                <a:latin typeface="Arial" panose="020B0604020202020204"/>
                <a:cs typeface="Arial" panose="020B0604020202020204"/>
              </a:rPr>
              <a:t> 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将磁盘</a:t>
            </a:r>
            <a:r>
              <a:rPr sz="1700" b="1" dirty="0">
                <a:latin typeface="Arial" panose="020B0604020202020204"/>
                <a:cs typeface="Arial" panose="020B0604020202020204"/>
              </a:rPr>
              <a:t>0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磁道</a:t>
            </a:r>
            <a:r>
              <a:rPr sz="1700" b="1" dirty="0">
                <a:latin typeface="Arial" panose="020B0604020202020204"/>
                <a:cs typeface="Arial" panose="020B0604020202020204"/>
              </a:rPr>
              <a:t>0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扇区</a:t>
            </a:r>
            <a:r>
              <a:rPr lang="zh-CN"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512</a:t>
            </a:r>
            <a:r>
              <a:rPr lang="zh-CN" altLang="en-US"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字节</a:t>
            </a:r>
            <a:r>
              <a:rPr lang="zh-CN"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读入</a:t>
            </a:r>
            <a:r>
              <a:rPr sz="1700" b="1" dirty="0">
                <a:latin typeface="Arial" panose="020B0604020202020204"/>
                <a:cs typeface="Arial" panose="020B0604020202020204"/>
              </a:rPr>
              <a:t>0x7c00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处</a:t>
            </a:r>
            <a:r>
              <a:rPr lang="en-US"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zh-CN" altLang="en-US"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引导扇区</a:t>
            </a:r>
            <a:r>
              <a:rPr lang="zh-CN" altLang="en-US"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73660">
              <a:lnSpc>
                <a:spcPct val="100000"/>
              </a:lnSpc>
              <a:spcBef>
                <a:spcPts val="235"/>
              </a:spcBef>
            </a:pP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6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r>
              <a:rPr sz="1700" b="1" spc="-254" dirty="0">
                <a:latin typeface="Arial" panose="020B0604020202020204"/>
                <a:cs typeface="Arial" panose="020B0604020202020204"/>
              </a:rPr>
              <a:t> 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设置</a:t>
            </a:r>
            <a:r>
              <a:rPr sz="1700" b="1" dirty="0">
                <a:latin typeface="Arial" panose="020B0604020202020204"/>
                <a:cs typeface="Arial" panose="020B0604020202020204"/>
              </a:rPr>
              <a:t>cs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=</a:t>
            </a:r>
            <a:r>
              <a:rPr sz="1700" b="1" dirty="0">
                <a:latin typeface="Arial" panose="020B0604020202020204"/>
                <a:cs typeface="Arial" panose="020B0604020202020204"/>
              </a:rPr>
              <a:t>0x07c0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=</a:t>
            </a:r>
            <a:r>
              <a:rPr sz="1700" b="1" dirty="0">
                <a:latin typeface="Arial" panose="020B0604020202020204"/>
                <a:cs typeface="Arial" panose="020B0604020202020204"/>
              </a:rPr>
              <a:t>0x0000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62413" y="2810404"/>
            <a:ext cx="6689090" cy="1088390"/>
          </a:xfrm>
          <a:custGeom>
            <a:avLst/>
            <a:gdLst/>
            <a:ahLst/>
            <a:cxnLst/>
            <a:rect l="l" t="t" r="r" b="b"/>
            <a:pathLst>
              <a:path w="6689090" h="1088389">
                <a:moveTo>
                  <a:pt x="6689013" y="629950"/>
                </a:moveTo>
                <a:lnTo>
                  <a:pt x="6681698" y="672352"/>
                </a:lnTo>
                <a:lnTo>
                  <a:pt x="6661444" y="708605"/>
                </a:lnTo>
                <a:lnTo>
                  <a:pt x="6630787" y="736175"/>
                </a:lnTo>
                <a:lnTo>
                  <a:pt x="6592262" y="752526"/>
                </a:lnTo>
                <a:lnTo>
                  <a:pt x="2787088" y="755943"/>
                </a:lnTo>
                <a:lnTo>
                  <a:pt x="33781" y="1088382"/>
                </a:lnTo>
                <a:lnTo>
                  <a:pt x="1114836" y="755943"/>
                </a:lnTo>
                <a:lnTo>
                  <a:pt x="126026" y="755943"/>
                </a:lnTo>
                <a:lnTo>
                  <a:pt x="111362" y="755099"/>
                </a:lnTo>
                <a:lnTo>
                  <a:pt x="70717" y="743193"/>
                </a:lnTo>
                <a:lnTo>
                  <a:pt x="37067" y="719196"/>
                </a:lnTo>
                <a:lnTo>
                  <a:pt x="12949" y="685643"/>
                </a:lnTo>
                <a:lnTo>
                  <a:pt x="898" y="645070"/>
                </a:lnTo>
                <a:lnTo>
                  <a:pt x="0" y="629950"/>
                </a:lnTo>
                <a:lnTo>
                  <a:pt x="0" y="440968"/>
                </a:lnTo>
                <a:lnTo>
                  <a:pt x="0" y="125993"/>
                </a:lnTo>
                <a:lnTo>
                  <a:pt x="844" y="111332"/>
                </a:lnTo>
                <a:lnTo>
                  <a:pt x="12753" y="70698"/>
                </a:lnTo>
                <a:lnTo>
                  <a:pt x="36757" y="37058"/>
                </a:lnTo>
                <a:lnTo>
                  <a:pt x="70318" y="12946"/>
                </a:lnTo>
                <a:lnTo>
                  <a:pt x="110902" y="897"/>
                </a:lnTo>
                <a:lnTo>
                  <a:pt x="1114836" y="0"/>
                </a:lnTo>
                <a:lnTo>
                  <a:pt x="2787088" y="0"/>
                </a:lnTo>
                <a:lnTo>
                  <a:pt x="6562987" y="0"/>
                </a:lnTo>
                <a:lnTo>
                  <a:pt x="6577651" y="843"/>
                </a:lnTo>
                <a:lnTo>
                  <a:pt x="6618296" y="12750"/>
                </a:lnTo>
                <a:lnTo>
                  <a:pt x="6651945" y="36747"/>
                </a:lnTo>
                <a:lnTo>
                  <a:pt x="6676064" y="70300"/>
                </a:lnTo>
                <a:lnTo>
                  <a:pt x="6688115" y="110873"/>
                </a:lnTo>
                <a:lnTo>
                  <a:pt x="6689013" y="440968"/>
                </a:lnTo>
                <a:lnTo>
                  <a:pt x="6689013" y="629950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572805" y="2907599"/>
            <a:ext cx="6465570" cy="607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50745" marR="5080" indent="-2138680">
              <a:lnSpc>
                <a:spcPct val="103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和保护模式对应，实模式的寻址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S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: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S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左移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4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位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+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)</a:t>
            </a:r>
            <a:r>
              <a:rPr sz="2925" b="1" spc="8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和保护模式不一样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!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411628" y="3744853"/>
            <a:ext cx="1493520" cy="454659"/>
          </a:xfrm>
          <a:custGeom>
            <a:avLst/>
            <a:gdLst/>
            <a:ahLst/>
            <a:cxnLst/>
            <a:rect l="l" t="t" r="r" b="b"/>
            <a:pathLst>
              <a:path w="1493520" h="454660">
                <a:moveTo>
                  <a:pt x="0" y="454377"/>
                </a:moveTo>
                <a:lnTo>
                  <a:pt x="1493361" y="454377"/>
                </a:lnTo>
                <a:lnTo>
                  <a:pt x="1493361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sp>
        <p:nvSpPr>
          <p:cNvPr id="13" name="object 13"/>
          <p:cNvSpPr txBox="1"/>
          <p:nvPr/>
        </p:nvSpPr>
        <p:spPr>
          <a:xfrm>
            <a:off x="4437983" y="5810660"/>
            <a:ext cx="98615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b="1" dirty="0">
                <a:latin typeface="Arial" panose="020B0604020202020204"/>
                <a:cs typeface="Arial" panose="020B0604020202020204"/>
              </a:rPr>
              <a:t>0x00000000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73054" y="3734068"/>
            <a:ext cx="106172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b="1" dirty="0">
                <a:latin typeface="Arial" panose="020B0604020202020204"/>
                <a:cs typeface="Arial" panose="020B0604020202020204"/>
              </a:rPr>
              <a:t>0xF</a:t>
            </a:r>
            <a:r>
              <a:rPr sz="1350" b="1" spc="5" dirty="0">
                <a:latin typeface="Arial" panose="020B0604020202020204"/>
                <a:cs typeface="Arial" panose="020B0604020202020204"/>
              </a:rPr>
              <a:t>FFFFFF</a:t>
            </a:r>
            <a:r>
              <a:rPr sz="1350" b="1" spc="10" dirty="0">
                <a:latin typeface="Arial" panose="020B0604020202020204"/>
                <a:cs typeface="Arial" panose="020B0604020202020204"/>
              </a:rPr>
              <a:t>F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97698" y="5004899"/>
            <a:ext cx="70739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b="1" dirty="0">
                <a:latin typeface="Arial" panose="020B0604020202020204"/>
                <a:cs typeface="Arial" panose="020B0604020202020204"/>
              </a:rPr>
              <a:t>0xF</a:t>
            </a:r>
            <a:r>
              <a:rPr sz="1350" b="1" dirty="0">
                <a:latin typeface="Arial" panose="020B0604020202020204"/>
                <a:cs typeface="Arial" panose="020B0604020202020204"/>
              </a:rPr>
              <a:t>0000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32769" y="4512790"/>
            <a:ext cx="79375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b="1" dirty="0">
                <a:latin typeface="Arial" panose="020B0604020202020204"/>
                <a:cs typeface="Arial" panose="020B0604020202020204"/>
              </a:rPr>
              <a:t>0x100000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5407571" y="3740796"/>
          <a:ext cx="1505585" cy="22155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3361"/>
              </a:tblGrid>
              <a:tr h="454377"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</a:pPr>
                      <a:r>
                        <a:rPr sz="1700" b="1" spc="5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1700" b="1" spc="-5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O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M</a:t>
                      </a:r>
                      <a:r>
                        <a:rPr sz="1700" b="1" spc="-5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700" b="1" spc="5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r>
                        <a:rPr sz="1700" b="1" spc="-5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sz="1700" b="1" spc="-5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O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S</a:t>
                      </a:r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8114">
                      <a:solidFill>
                        <a:srgbClr val="000000"/>
                      </a:solidFill>
                      <a:prstDash val="solid"/>
                    </a:lnL>
                    <a:lnR w="8114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4377">
                <a:tc>
                  <a:txBody>
                    <a:bodyPr/>
                    <a:lstStyle/>
                    <a:p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8114">
                      <a:solidFill>
                        <a:srgbClr val="000000"/>
                      </a:solidFill>
                      <a:prstDash val="solid"/>
                    </a:lnL>
                    <a:lnR w="8114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4377"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</a:pPr>
                      <a:r>
                        <a:rPr sz="1350" b="1" spc="-10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1350" b="1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OM</a:t>
                      </a:r>
                      <a:r>
                        <a:rPr sz="1350" b="1" spc="5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350" b="1" spc="-10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r>
                        <a:rPr sz="1350" b="1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sz="1350" b="1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O</a:t>
                      </a:r>
                      <a:r>
                        <a:rPr sz="1350" b="1" spc="-10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S</a:t>
                      </a:r>
                      <a:r>
                        <a:rPr sz="1300" b="1" spc="-5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映射</a:t>
                      </a:r>
                      <a:r>
                        <a:rPr sz="1300" b="1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区</a:t>
                      </a:r>
                      <a:endParaRPr sz="13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8114">
                      <a:solidFill>
                        <a:srgbClr val="000000"/>
                      </a:solidFill>
                      <a:prstDash val="solid"/>
                    </a:lnL>
                    <a:lnR w="8114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4378">
                <a:tc>
                  <a:txBody>
                    <a:bodyPr/>
                    <a:lstStyle/>
                    <a:p>
                      <a:endParaRPr sz="13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8114">
                      <a:solidFill>
                        <a:srgbClr val="000000"/>
                      </a:solidFill>
                      <a:prstDash val="solid"/>
                    </a:lnL>
                    <a:lnR w="8114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9466">
                <a:tc>
                  <a:txBody>
                    <a:bodyPr/>
                    <a:lstStyle/>
                    <a:p>
                      <a:endParaRPr sz="13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8114">
                      <a:solidFill>
                        <a:srgbClr val="000000"/>
                      </a:solidFill>
                      <a:prstDash val="solid"/>
                    </a:lnL>
                    <a:lnR w="8114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0190">
              <a:lnSpc>
                <a:spcPct val="100000"/>
              </a:lnSpc>
            </a:pPr>
            <a:r>
              <a:rPr dirty="0"/>
              <a:t>0x7c00</a:t>
            </a: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处存放的代码</a:t>
            </a:r>
            <a:endParaRPr sz="2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7246" y="2667059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57246" y="3149835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498264" y="2342503"/>
            <a:ext cx="3157220" cy="974090"/>
          </a:xfrm>
          <a:custGeom>
            <a:avLst/>
            <a:gdLst/>
            <a:ahLst/>
            <a:cxnLst/>
            <a:rect l="l" t="t" r="r" b="b"/>
            <a:pathLst>
              <a:path w="3157220" h="974089">
                <a:moveTo>
                  <a:pt x="3157096" y="811386"/>
                </a:moveTo>
                <a:lnTo>
                  <a:pt x="3151344" y="854359"/>
                </a:lnTo>
                <a:lnTo>
                  <a:pt x="3135105" y="892999"/>
                </a:lnTo>
                <a:lnTo>
                  <a:pt x="3109909" y="925778"/>
                </a:lnTo>
                <a:lnTo>
                  <a:pt x="3077284" y="951166"/>
                </a:lnTo>
                <a:lnTo>
                  <a:pt x="3038758" y="967637"/>
                </a:lnTo>
                <a:lnTo>
                  <a:pt x="2995861" y="973663"/>
                </a:lnTo>
                <a:lnTo>
                  <a:pt x="1642092" y="973666"/>
                </a:lnTo>
                <a:lnTo>
                  <a:pt x="992804" y="973666"/>
                </a:lnTo>
                <a:lnTo>
                  <a:pt x="722271" y="973666"/>
                </a:lnTo>
                <a:lnTo>
                  <a:pt x="707555" y="973008"/>
                </a:lnTo>
                <a:lnTo>
                  <a:pt x="665845" y="963593"/>
                </a:lnTo>
                <a:lnTo>
                  <a:pt x="628979" y="944204"/>
                </a:lnTo>
                <a:lnTo>
                  <a:pt x="598486" y="916370"/>
                </a:lnTo>
                <a:lnTo>
                  <a:pt x="575893" y="881617"/>
                </a:lnTo>
                <a:lnTo>
                  <a:pt x="562731" y="841475"/>
                </a:lnTo>
                <a:lnTo>
                  <a:pt x="559946" y="811388"/>
                </a:lnTo>
                <a:lnTo>
                  <a:pt x="0" y="568017"/>
                </a:lnTo>
                <a:lnTo>
                  <a:pt x="559946" y="567972"/>
                </a:lnTo>
                <a:lnTo>
                  <a:pt x="559946" y="162280"/>
                </a:lnTo>
                <a:lnTo>
                  <a:pt x="560604" y="147568"/>
                </a:lnTo>
                <a:lnTo>
                  <a:pt x="570022" y="105870"/>
                </a:lnTo>
                <a:lnTo>
                  <a:pt x="589416" y="69014"/>
                </a:lnTo>
                <a:lnTo>
                  <a:pt x="617258" y="38529"/>
                </a:lnTo>
                <a:lnTo>
                  <a:pt x="652020" y="15943"/>
                </a:lnTo>
                <a:lnTo>
                  <a:pt x="692172" y="2784"/>
                </a:lnTo>
                <a:lnTo>
                  <a:pt x="992804" y="0"/>
                </a:lnTo>
                <a:lnTo>
                  <a:pt x="1642092" y="0"/>
                </a:lnTo>
                <a:lnTo>
                  <a:pt x="2994771" y="0"/>
                </a:lnTo>
                <a:lnTo>
                  <a:pt x="3009487" y="657"/>
                </a:lnTo>
                <a:lnTo>
                  <a:pt x="3051197" y="10072"/>
                </a:lnTo>
                <a:lnTo>
                  <a:pt x="3088063" y="29461"/>
                </a:lnTo>
                <a:lnTo>
                  <a:pt x="3118556" y="57296"/>
                </a:lnTo>
                <a:lnTo>
                  <a:pt x="3141149" y="92048"/>
                </a:lnTo>
                <a:lnTo>
                  <a:pt x="3154311" y="132190"/>
                </a:lnTo>
                <a:lnTo>
                  <a:pt x="3157096" y="567972"/>
                </a:lnTo>
                <a:lnTo>
                  <a:pt x="3157096" y="811388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72115" y="2012033"/>
            <a:ext cx="7827009" cy="710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spc="40" dirty="0">
                <a:solidFill>
                  <a:srgbClr val="993300"/>
                </a:solidFill>
                <a:latin typeface="Lucida Sans" panose="020B0602030504020204"/>
                <a:cs typeface="Lucida Sans" panose="020B0602030504020204"/>
              </a:rPr>
              <a:t> 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就是从磁盘引导扇区读入的那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512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个字</a:t>
            </a:r>
            <a:r>
              <a:rPr sz="3450" b="1" spc="135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节</a:t>
            </a:r>
            <a:endParaRPr sz="3450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R="5080" algn="r">
              <a:lnSpc>
                <a:spcPct val="100000"/>
              </a:lnSpc>
              <a:spcBef>
                <a:spcPts val="625"/>
              </a:spcBef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开机时按住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d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l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键可进入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88734" y="2583012"/>
            <a:ext cx="4178300" cy="776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6100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引导扇区就是</a:t>
            </a: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启动设备的第一个扇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区</a:t>
            </a:r>
            <a:r>
              <a:rPr sz="1950" b="1" spc="3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启动设备信息被设置在</a:t>
            </a:r>
            <a:r>
              <a:rPr sz="2000" b="1" spc="35" dirty="0">
                <a:latin typeface="Arial" panose="020B0604020202020204"/>
                <a:cs typeface="Arial" panose="020B0604020202020204"/>
              </a:rPr>
              <a:t>CM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O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S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中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…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61942" y="2714938"/>
            <a:ext cx="2188845" cy="499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3040" marR="5080" indent="-180975">
              <a:lnSpc>
                <a:spcPts val="199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启动设备设置界面，可 以设置为光盘启动</a:t>
            </a:r>
            <a:r>
              <a:rPr sz="1700" b="1" dirty="0">
                <a:latin typeface="Arial" panose="020B0604020202020204"/>
                <a:cs typeface="Arial" panose="020B0604020202020204"/>
              </a:rPr>
              <a:t>!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679703" y="3549487"/>
            <a:ext cx="2987040" cy="1276985"/>
          </a:xfrm>
          <a:custGeom>
            <a:avLst/>
            <a:gdLst/>
            <a:ahLst/>
            <a:cxnLst/>
            <a:rect l="l" t="t" r="r" b="b"/>
            <a:pathLst>
              <a:path w="2987040" h="1276985">
                <a:moveTo>
                  <a:pt x="1409550" y="0"/>
                </a:moveTo>
                <a:lnTo>
                  <a:pt x="497783" y="302869"/>
                </a:lnTo>
                <a:lnTo>
                  <a:pt x="161232" y="302873"/>
                </a:lnTo>
                <a:lnTo>
                  <a:pt x="146541" y="303626"/>
                </a:lnTo>
                <a:lnTo>
                  <a:pt x="104931" y="313302"/>
                </a:lnTo>
                <a:lnTo>
                  <a:pt x="68202" y="332915"/>
                </a:lnTo>
                <a:lnTo>
                  <a:pt x="37884" y="360937"/>
                </a:lnTo>
                <a:lnTo>
                  <a:pt x="15504" y="395839"/>
                </a:lnTo>
                <a:lnTo>
                  <a:pt x="2590" y="436093"/>
                </a:lnTo>
                <a:lnTo>
                  <a:pt x="0" y="1115342"/>
                </a:lnTo>
                <a:lnTo>
                  <a:pt x="753" y="1130029"/>
                </a:lnTo>
                <a:lnTo>
                  <a:pt x="10432" y="1171628"/>
                </a:lnTo>
                <a:lnTo>
                  <a:pt x="30050" y="1208347"/>
                </a:lnTo>
                <a:lnTo>
                  <a:pt x="58079" y="1238658"/>
                </a:lnTo>
                <a:lnTo>
                  <a:pt x="92991" y="1261032"/>
                </a:lnTo>
                <a:lnTo>
                  <a:pt x="133256" y="1273941"/>
                </a:lnTo>
                <a:lnTo>
                  <a:pt x="162318" y="1276535"/>
                </a:lnTo>
                <a:lnTo>
                  <a:pt x="2825483" y="1276531"/>
                </a:lnTo>
                <a:lnTo>
                  <a:pt x="2868380" y="1270507"/>
                </a:lnTo>
                <a:lnTo>
                  <a:pt x="2906906" y="1254036"/>
                </a:lnTo>
                <a:lnTo>
                  <a:pt x="2939531" y="1228648"/>
                </a:lnTo>
                <a:lnTo>
                  <a:pt x="2964727" y="1195870"/>
                </a:lnTo>
                <a:lnTo>
                  <a:pt x="2980966" y="1157229"/>
                </a:lnTo>
                <a:lnTo>
                  <a:pt x="2986670" y="1115342"/>
                </a:lnTo>
                <a:lnTo>
                  <a:pt x="2986715" y="464062"/>
                </a:lnTo>
                <a:lnTo>
                  <a:pt x="2985961" y="449375"/>
                </a:lnTo>
                <a:lnTo>
                  <a:pt x="2976283" y="407776"/>
                </a:lnTo>
                <a:lnTo>
                  <a:pt x="2956664" y="371057"/>
                </a:lnTo>
                <a:lnTo>
                  <a:pt x="2928635" y="340746"/>
                </a:lnTo>
                <a:lnTo>
                  <a:pt x="2893724" y="318372"/>
                </a:lnTo>
                <a:lnTo>
                  <a:pt x="2853459" y="305463"/>
                </a:lnTo>
                <a:lnTo>
                  <a:pt x="2824396" y="302869"/>
                </a:lnTo>
                <a:lnTo>
                  <a:pt x="1244464" y="302869"/>
                </a:lnTo>
                <a:lnTo>
                  <a:pt x="14095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603500" y="3473286"/>
            <a:ext cx="2987040" cy="1276985"/>
          </a:xfrm>
          <a:custGeom>
            <a:avLst/>
            <a:gdLst/>
            <a:ahLst/>
            <a:cxnLst/>
            <a:rect l="l" t="t" r="r" b="b"/>
            <a:pathLst>
              <a:path w="2987040" h="1276985">
                <a:moveTo>
                  <a:pt x="2986722" y="1114257"/>
                </a:moveTo>
                <a:lnTo>
                  <a:pt x="2980969" y="1157230"/>
                </a:lnTo>
                <a:lnTo>
                  <a:pt x="2964731" y="1195870"/>
                </a:lnTo>
                <a:lnTo>
                  <a:pt x="2939535" y="1228649"/>
                </a:lnTo>
                <a:lnTo>
                  <a:pt x="2906910" y="1254037"/>
                </a:lnTo>
                <a:lnTo>
                  <a:pt x="2868384" y="1270508"/>
                </a:lnTo>
                <a:lnTo>
                  <a:pt x="2825486" y="1276533"/>
                </a:lnTo>
                <a:lnTo>
                  <a:pt x="1244467" y="1276536"/>
                </a:lnTo>
                <a:lnTo>
                  <a:pt x="497787" y="1276536"/>
                </a:lnTo>
                <a:lnTo>
                  <a:pt x="162322" y="1276536"/>
                </a:lnTo>
                <a:lnTo>
                  <a:pt x="147607" y="1275878"/>
                </a:lnTo>
                <a:lnTo>
                  <a:pt x="105897" y="1266463"/>
                </a:lnTo>
                <a:lnTo>
                  <a:pt x="69031" y="1247074"/>
                </a:lnTo>
                <a:lnTo>
                  <a:pt x="38538" y="1219239"/>
                </a:lnTo>
                <a:lnTo>
                  <a:pt x="15946" y="1184486"/>
                </a:lnTo>
                <a:lnTo>
                  <a:pt x="2784" y="1144344"/>
                </a:lnTo>
                <a:lnTo>
                  <a:pt x="0" y="708565"/>
                </a:lnTo>
                <a:lnTo>
                  <a:pt x="0" y="465146"/>
                </a:lnTo>
                <a:lnTo>
                  <a:pt x="658" y="450437"/>
                </a:lnTo>
                <a:lnTo>
                  <a:pt x="10075" y="408738"/>
                </a:lnTo>
                <a:lnTo>
                  <a:pt x="29470" y="371883"/>
                </a:lnTo>
                <a:lnTo>
                  <a:pt x="57312" y="341398"/>
                </a:lnTo>
                <a:lnTo>
                  <a:pt x="92074" y="318812"/>
                </a:lnTo>
                <a:lnTo>
                  <a:pt x="132227" y="305653"/>
                </a:lnTo>
                <a:lnTo>
                  <a:pt x="497787" y="302869"/>
                </a:lnTo>
                <a:lnTo>
                  <a:pt x="1409553" y="0"/>
                </a:lnTo>
                <a:lnTo>
                  <a:pt x="1244467" y="302869"/>
                </a:lnTo>
                <a:lnTo>
                  <a:pt x="2824399" y="302869"/>
                </a:lnTo>
                <a:lnTo>
                  <a:pt x="2839115" y="303527"/>
                </a:lnTo>
                <a:lnTo>
                  <a:pt x="2880825" y="312943"/>
                </a:lnTo>
                <a:lnTo>
                  <a:pt x="2917691" y="332332"/>
                </a:lnTo>
                <a:lnTo>
                  <a:pt x="2948184" y="360167"/>
                </a:lnTo>
                <a:lnTo>
                  <a:pt x="2970775" y="394919"/>
                </a:lnTo>
                <a:lnTo>
                  <a:pt x="2983937" y="435061"/>
                </a:lnTo>
                <a:lnTo>
                  <a:pt x="2986722" y="465146"/>
                </a:lnTo>
                <a:lnTo>
                  <a:pt x="2986722" y="708565"/>
                </a:lnTo>
                <a:lnTo>
                  <a:pt x="2986722" y="1114257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57246" y="4961937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231914" y="3726880"/>
            <a:ext cx="4438015" cy="2412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89735" marR="12700" algn="ctr">
              <a:lnSpc>
                <a:spcPct val="101000"/>
              </a:lnSpc>
            </a:pPr>
            <a:r>
              <a:rPr sz="1700" b="1" spc="5" dirty="0">
                <a:latin typeface="Arial" panose="020B0604020202020204"/>
                <a:cs typeface="Arial" panose="020B0604020202020204"/>
              </a:rPr>
              <a:t>C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M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O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S</a:t>
            </a:r>
            <a:r>
              <a:rPr sz="1700" b="1" dirty="0">
                <a:latin typeface="Arial" panose="020B0604020202020204"/>
                <a:cs typeface="Arial" panose="020B0604020202020204"/>
              </a:rPr>
              <a:t>: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互补金属氧化物半导 体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64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B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-</a:t>
            </a:r>
            <a:r>
              <a:rPr sz="1700" b="1" dirty="0">
                <a:latin typeface="Arial" panose="020B0604020202020204"/>
                <a:cs typeface="Arial" panose="020B0604020202020204"/>
              </a:rPr>
              <a:t>128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B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)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。用来存储实 时钟和硬件配置信息。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4700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因此，硬盘的第一个扇区上存放着开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机</a:t>
            </a:r>
            <a:r>
              <a:rPr sz="19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后执行的第一段我们可以控制的程序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1720"/>
              </a:spcBef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操作系统的故事从这里开始</a:t>
            </a:r>
            <a:r>
              <a:rPr sz="2000" b="1" spc="3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…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57246" y="5916671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2258" y="1202167"/>
            <a:ext cx="4655820" cy="430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694940" algn="l"/>
              </a:tabLst>
            </a:pP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引导扇区代码</a:t>
            </a:r>
            <a:r>
              <a:rPr sz="3050" spc="5" dirty="0"/>
              <a:t>:</a:t>
            </a:r>
            <a:r>
              <a:rPr sz="3050" spc="5" dirty="0"/>
              <a:t>	</a:t>
            </a:r>
            <a:r>
              <a:rPr sz="3050" spc="5" dirty="0"/>
              <a:t>boot</a:t>
            </a:r>
            <a:r>
              <a:rPr sz="3050" dirty="0"/>
              <a:t>s</a:t>
            </a:r>
            <a:r>
              <a:rPr sz="3050" dirty="0"/>
              <a:t>ec</a:t>
            </a:r>
            <a:r>
              <a:rPr sz="3050" spc="5" dirty="0"/>
              <a:t>t</a:t>
            </a:r>
            <a:r>
              <a:rPr sz="3050" spc="-5" dirty="0"/>
              <a:t>.</a:t>
            </a:r>
            <a:r>
              <a:rPr sz="3050" spc="5" dirty="0"/>
              <a:t>s</a:t>
            </a:r>
            <a:endParaRPr sz="30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0628" y="1774422"/>
            <a:ext cx="7063740" cy="4592955"/>
          </a:xfrm>
          <a:custGeom>
            <a:avLst/>
            <a:gdLst/>
            <a:ahLst/>
            <a:cxnLst/>
            <a:rect l="l" t="t" r="r" b="b"/>
            <a:pathLst>
              <a:path w="7063740" h="4592955">
                <a:moveTo>
                  <a:pt x="0" y="0"/>
                </a:moveTo>
                <a:lnTo>
                  <a:pt x="7063506" y="0"/>
                </a:lnTo>
                <a:lnTo>
                  <a:pt x="7063506" y="4592570"/>
                </a:lnTo>
                <a:lnTo>
                  <a:pt x="0" y="4592570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72009" y="1849960"/>
            <a:ext cx="6073140" cy="504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15" dirty="0">
                <a:latin typeface="Courier New" panose="02070309020205020404"/>
                <a:cs typeface="Courier New" panose="02070309020205020404"/>
              </a:rPr>
              <a:t>.glob</a:t>
            </a:r>
            <a:r>
              <a:rPr sz="1500" b="1" spc="20" dirty="0">
                <a:latin typeface="Courier New" panose="02070309020205020404"/>
                <a:cs typeface="Courier New" panose="02070309020205020404"/>
              </a:rPr>
              <a:t>l</a:t>
            </a:r>
            <a:r>
              <a:rPr sz="1500" b="1" spc="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500" b="1" spc="15" dirty="0">
                <a:latin typeface="Courier New" panose="02070309020205020404"/>
                <a:cs typeface="Courier New" panose="02070309020205020404"/>
              </a:rPr>
              <a:t>begtext,begdata,begbss,endtext,enddata,endbss</a:t>
            </a:r>
            <a:endParaRPr sz="15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  <a:tabLst>
                <a:tab pos="826135" algn="l"/>
              </a:tabLst>
            </a:pPr>
            <a:r>
              <a:rPr sz="1500" b="1" spc="15" dirty="0">
                <a:latin typeface="Courier New" panose="02070309020205020404"/>
                <a:cs typeface="Courier New" panose="02070309020205020404"/>
              </a:rPr>
              <a:t>.tex</a:t>
            </a:r>
            <a:r>
              <a:rPr sz="1500" b="1" spc="20" dirty="0">
                <a:latin typeface="Courier New" panose="02070309020205020404"/>
                <a:cs typeface="Courier New" panose="02070309020205020404"/>
              </a:rPr>
              <a:t>t</a:t>
            </a:r>
            <a:r>
              <a:rPr sz="1500" b="1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1500" b="1" spc="15" dirty="0">
                <a:latin typeface="Courier New" panose="02070309020205020404"/>
                <a:cs typeface="Courier New" panose="02070309020205020404"/>
              </a:rPr>
              <a:t>//</a:t>
            </a:r>
            <a:r>
              <a:rPr sz="1500" b="1" spc="25" dirty="0">
                <a:latin typeface="宋体" panose="02010600030101010101" pitchFamily="2" charset="-122"/>
                <a:cs typeface="宋体" panose="02010600030101010101" pitchFamily="2" charset="-122"/>
              </a:rPr>
              <a:t>文本段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2009" y="2408608"/>
            <a:ext cx="1656714" cy="782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15" dirty="0">
                <a:latin typeface="Courier New" panose="02070309020205020404"/>
                <a:cs typeface="Courier New" panose="02070309020205020404"/>
              </a:rPr>
              <a:t>begtext:</a:t>
            </a:r>
            <a:endParaRPr sz="1500">
              <a:latin typeface="Courier New" panose="02070309020205020404"/>
              <a:cs typeface="Courier New" panose="02070309020205020404"/>
            </a:endParaRPr>
          </a:p>
          <a:p>
            <a:pPr marL="12700" marR="5080">
              <a:lnSpc>
                <a:spcPct val="122000"/>
              </a:lnSpc>
              <a:spcBef>
                <a:spcPts val="30"/>
              </a:spcBef>
              <a:tabLst>
                <a:tab pos="826135" algn="l"/>
              </a:tabLst>
            </a:pPr>
            <a:r>
              <a:rPr sz="1500" b="1" spc="15" dirty="0">
                <a:latin typeface="Courier New" panose="02070309020205020404"/>
                <a:cs typeface="Courier New" panose="02070309020205020404"/>
              </a:rPr>
              <a:t>.dat</a:t>
            </a:r>
            <a:r>
              <a:rPr sz="1500" b="1" spc="20" dirty="0">
                <a:latin typeface="Courier New" panose="02070309020205020404"/>
                <a:cs typeface="Courier New" panose="02070309020205020404"/>
              </a:rPr>
              <a:t>a</a:t>
            </a:r>
            <a:r>
              <a:rPr sz="1500" b="1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1500" b="1" spc="15" dirty="0">
                <a:latin typeface="Courier New" panose="02070309020205020404"/>
                <a:cs typeface="Courier New" panose="02070309020205020404"/>
              </a:rPr>
              <a:t>//</a:t>
            </a:r>
            <a:r>
              <a:rPr sz="1500" b="1" spc="20" dirty="0">
                <a:latin typeface="宋体" panose="02010600030101010101" pitchFamily="2" charset="-122"/>
                <a:cs typeface="宋体" panose="02010600030101010101" pitchFamily="2" charset="-122"/>
              </a:rPr>
              <a:t>数据段 </a:t>
            </a:r>
            <a:r>
              <a:rPr sz="1500" b="1" spc="15" dirty="0">
                <a:latin typeface="Courier New" panose="02070309020205020404"/>
                <a:cs typeface="Courier New" panose="02070309020205020404"/>
              </a:rPr>
              <a:t>begdata:</a:t>
            </a:r>
            <a:endParaRPr sz="15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2009" y="3255031"/>
            <a:ext cx="490855" cy="220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15" dirty="0">
                <a:latin typeface="Courier New" panose="02070309020205020404"/>
                <a:cs typeface="Courier New" panose="02070309020205020404"/>
              </a:rPr>
              <a:t>.bss</a:t>
            </a:r>
            <a:endParaRPr sz="15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86073" y="3232692"/>
            <a:ext cx="1621155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15" dirty="0">
                <a:latin typeface="Courier New" panose="02070309020205020404"/>
                <a:cs typeface="Courier New" panose="02070309020205020404"/>
              </a:rPr>
              <a:t>//</a:t>
            </a:r>
            <a:r>
              <a:rPr sz="1500" b="1" spc="25" dirty="0">
                <a:latin typeface="宋体" panose="02010600030101010101" pitchFamily="2" charset="-122"/>
                <a:cs typeface="宋体" panose="02010600030101010101" pitchFamily="2" charset="-122"/>
              </a:rPr>
              <a:t>未初始化数据段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2009" y="3530082"/>
            <a:ext cx="839469" cy="220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15" dirty="0">
                <a:latin typeface="Courier New" panose="02070309020205020404"/>
                <a:cs typeface="Courier New" panose="02070309020205020404"/>
              </a:rPr>
              <a:t>begbss:</a:t>
            </a:r>
            <a:endParaRPr sz="15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2009" y="3791353"/>
            <a:ext cx="4961890" cy="521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2000"/>
              </a:lnSpc>
            </a:pPr>
            <a:r>
              <a:rPr sz="1500" b="1" spc="15" dirty="0">
                <a:latin typeface="Courier New" panose="02070309020205020404"/>
                <a:cs typeface="Courier New" panose="02070309020205020404"/>
              </a:rPr>
              <a:t>entr</a:t>
            </a:r>
            <a:r>
              <a:rPr sz="1500" b="1" spc="20" dirty="0">
                <a:latin typeface="Courier New" panose="02070309020205020404"/>
                <a:cs typeface="Courier New" panose="02070309020205020404"/>
              </a:rPr>
              <a:t>y</a:t>
            </a:r>
            <a:r>
              <a:rPr sz="1500" b="1" spc="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500" b="1" spc="15" dirty="0">
                <a:latin typeface="Courier New" panose="02070309020205020404"/>
                <a:cs typeface="Courier New" panose="02070309020205020404"/>
              </a:rPr>
              <a:t>star</a:t>
            </a:r>
            <a:r>
              <a:rPr sz="1500" b="1" spc="20" dirty="0">
                <a:latin typeface="Courier New" panose="02070309020205020404"/>
                <a:cs typeface="Courier New" panose="02070309020205020404"/>
              </a:rPr>
              <a:t>t</a:t>
            </a:r>
            <a:r>
              <a:rPr sz="1500" b="1" spc="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500" b="1" spc="15" dirty="0">
                <a:latin typeface="Courier New" panose="02070309020205020404"/>
                <a:cs typeface="Courier New" panose="02070309020205020404"/>
              </a:rPr>
              <a:t>//</a:t>
            </a:r>
            <a:r>
              <a:rPr sz="1500" b="1" spc="25" dirty="0">
                <a:latin typeface="宋体" panose="02010600030101010101" pitchFamily="2" charset="-122"/>
                <a:cs typeface="宋体" panose="02010600030101010101" pitchFamily="2" charset="-122"/>
              </a:rPr>
              <a:t>关键字</a:t>
            </a:r>
            <a:r>
              <a:rPr sz="1500" b="1" spc="15" dirty="0">
                <a:latin typeface="Courier New" panose="02070309020205020404"/>
                <a:cs typeface="Courier New" panose="02070309020205020404"/>
              </a:rPr>
              <a:t>entry</a:t>
            </a:r>
            <a:r>
              <a:rPr sz="1500" b="1" spc="25" dirty="0">
                <a:latin typeface="宋体" panose="02010600030101010101" pitchFamily="2" charset="-122"/>
                <a:cs typeface="宋体" panose="02010600030101010101" pitchFamily="2" charset="-122"/>
              </a:rPr>
              <a:t>告诉链接器</a:t>
            </a:r>
            <a:r>
              <a:rPr sz="1500" b="1" spc="2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“程序入口”</a:t>
            </a:r>
            <a:r>
              <a:rPr sz="1500" b="1" spc="1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b="1" spc="15" dirty="0">
                <a:latin typeface="Courier New" panose="02070309020205020404"/>
                <a:cs typeface="Courier New" panose="02070309020205020404"/>
              </a:rPr>
              <a:t>start:</a:t>
            </a:r>
            <a:endParaRPr sz="15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20907" y="5493816"/>
            <a:ext cx="2002789" cy="512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09930" algn="l"/>
              </a:tabLst>
            </a:pPr>
            <a:r>
              <a:rPr sz="1500" b="1" spc="15" dirty="0">
                <a:latin typeface="Courier New" panose="02070309020205020404"/>
                <a:cs typeface="Courier New" panose="02070309020205020404"/>
              </a:rPr>
              <a:t>re</a:t>
            </a:r>
            <a:r>
              <a:rPr sz="1500" b="1" spc="20" dirty="0">
                <a:latin typeface="Courier New" panose="02070309020205020404"/>
                <a:cs typeface="Courier New" panose="02070309020205020404"/>
              </a:rPr>
              <a:t>p</a:t>
            </a:r>
            <a:r>
              <a:rPr lang="en-US" sz="1500" b="1" spc="20" dirty="0">
                <a:latin typeface="Courier New" panose="02070309020205020404"/>
                <a:cs typeface="Courier New" panose="02070309020205020404"/>
              </a:rPr>
              <a:t>   </a:t>
            </a:r>
            <a:r>
              <a:rPr sz="1500" b="1" dirty="0">
                <a:latin typeface="Courier New" panose="02070309020205020404"/>
                <a:cs typeface="Courier New" panose="02070309020205020404"/>
              </a:rPr>
              <a:t>	</a:t>
            </a:r>
            <a:r>
              <a:rPr lang="en-US" sz="1500" b="1" dirty="0">
                <a:latin typeface="Courier New" panose="02070309020205020404"/>
                <a:cs typeface="Courier New" panose="02070309020205020404"/>
              </a:rPr>
              <a:t>    </a:t>
            </a:r>
            <a:r>
              <a:rPr sz="1500" b="1" spc="15" dirty="0">
                <a:latin typeface="Courier New" panose="02070309020205020404"/>
                <a:cs typeface="Courier New" panose="02070309020205020404"/>
              </a:rPr>
              <a:t>movw</a:t>
            </a:r>
            <a:endParaRPr sz="15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  <a:tabLst>
                <a:tab pos="709930" algn="l"/>
              </a:tabLst>
            </a:pPr>
            <a:r>
              <a:rPr sz="1500" b="1" spc="15" dirty="0">
                <a:latin typeface="Courier New" panose="02070309020205020404"/>
                <a:cs typeface="Courier New" panose="02070309020205020404"/>
              </a:rPr>
              <a:t>jmp</a:t>
            </a:r>
            <a:r>
              <a:rPr sz="1500" b="1" spc="20" dirty="0">
                <a:latin typeface="Courier New" panose="02070309020205020404"/>
                <a:cs typeface="Courier New" panose="02070309020205020404"/>
              </a:rPr>
              <a:t>i</a:t>
            </a:r>
            <a:r>
              <a:rPr sz="1500" b="1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1500" b="1" spc="15" dirty="0">
                <a:latin typeface="Courier New" panose="02070309020205020404"/>
                <a:cs typeface="Courier New" panose="02070309020205020404"/>
              </a:rPr>
              <a:t>go</a:t>
            </a:r>
            <a:r>
              <a:rPr sz="1500" b="1" spc="20" dirty="0">
                <a:latin typeface="Courier New" panose="02070309020205020404"/>
                <a:cs typeface="Courier New" panose="02070309020205020404"/>
              </a:rPr>
              <a:t>,</a:t>
            </a:r>
            <a:r>
              <a:rPr sz="1500" b="1" spc="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500" b="1" spc="15" dirty="0">
                <a:latin typeface="Courier New" panose="02070309020205020404"/>
                <a:cs typeface="Courier New" panose="02070309020205020404"/>
              </a:rPr>
              <a:t>INITSEG</a:t>
            </a:r>
            <a:endParaRPr sz="15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033669" y="2207272"/>
            <a:ext cx="4442460" cy="1428115"/>
          </a:xfrm>
          <a:custGeom>
            <a:avLst/>
            <a:gdLst/>
            <a:ahLst/>
            <a:cxnLst/>
            <a:rect l="l" t="t" r="r" b="b"/>
            <a:pathLst>
              <a:path w="4442459" h="1428114">
                <a:moveTo>
                  <a:pt x="4442152" y="595020"/>
                </a:moveTo>
                <a:lnTo>
                  <a:pt x="481498" y="595020"/>
                </a:lnTo>
                <a:lnTo>
                  <a:pt x="481498" y="1190031"/>
                </a:lnTo>
                <a:lnTo>
                  <a:pt x="484614" y="1228638"/>
                </a:lnTo>
                <a:lnTo>
                  <a:pt x="500208" y="1282676"/>
                </a:lnTo>
                <a:lnTo>
                  <a:pt x="527433" y="1330598"/>
                </a:lnTo>
                <a:lnTo>
                  <a:pt x="564637" y="1370750"/>
                </a:lnTo>
                <a:lnTo>
                  <a:pt x="610165" y="1401477"/>
                </a:lnTo>
                <a:lnTo>
                  <a:pt x="662362" y="1421126"/>
                </a:lnTo>
                <a:lnTo>
                  <a:pt x="700049" y="1427254"/>
                </a:lnTo>
                <a:lnTo>
                  <a:pt x="719575" y="1428043"/>
                </a:lnTo>
                <a:lnTo>
                  <a:pt x="4204075" y="1428043"/>
                </a:lnTo>
                <a:lnTo>
                  <a:pt x="4242693" y="1424928"/>
                </a:lnTo>
                <a:lnTo>
                  <a:pt x="4296745" y="1409339"/>
                </a:lnTo>
                <a:lnTo>
                  <a:pt x="4344680" y="1382121"/>
                </a:lnTo>
                <a:lnTo>
                  <a:pt x="4384843" y="1344927"/>
                </a:lnTo>
                <a:lnTo>
                  <a:pt x="4415578" y="1299411"/>
                </a:lnTo>
                <a:lnTo>
                  <a:pt x="4435233" y="1247228"/>
                </a:lnTo>
                <a:lnTo>
                  <a:pt x="4441363" y="1209552"/>
                </a:lnTo>
                <a:lnTo>
                  <a:pt x="4442152" y="1190031"/>
                </a:lnTo>
                <a:lnTo>
                  <a:pt x="4442152" y="595020"/>
                </a:lnTo>
                <a:close/>
              </a:path>
              <a:path w="4442459" h="1428114">
                <a:moveTo>
                  <a:pt x="4204075" y="0"/>
                </a:moveTo>
                <a:lnTo>
                  <a:pt x="719575" y="0"/>
                </a:lnTo>
                <a:lnTo>
                  <a:pt x="700049" y="789"/>
                </a:lnTo>
                <a:lnTo>
                  <a:pt x="662362" y="6917"/>
                </a:lnTo>
                <a:lnTo>
                  <a:pt x="610165" y="26566"/>
                </a:lnTo>
                <a:lnTo>
                  <a:pt x="564637" y="57293"/>
                </a:lnTo>
                <a:lnTo>
                  <a:pt x="527433" y="97445"/>
                </a:lnTo>
                <a:lnTo>
                  <a:pt x="500208" y="145367"/>
                </a:lnTo>
                <a:lnTo>
                  <a:pt x="484614" y="199405"/>
                </a:lnTo>
                <a:lnTo>
                  <a:pt x="481498" y="238011"/>
                </a:lnTo>
                <a:lnTo>
                  <a:pt x="0" y="662654"/>
                </a:lnTo>
                <a:lnTo>
                  <a:pt x="481498" y="595020"/>
                </a:lnTo>
                <a:lnTo>
                  <a:pt x="4442152" y="595020"/>
                </a:lnTo>
                <a:lnTo>
                  <a:pt x="4442152" y="238008"/>
                </a:lnTo>
                <a:lnTo>
                  <a:pt x="4439036" y="199405"/>
                </a:lnTo>
                <a:lnTo>
                  <a:pt x="4423443" y="145367"/>
                </a:lnTo>
                <a:lnTo>
                  <a:pt x="4396217" y="97445"/>
                </a:lnTo>
                <a:lnTo>
                  <a:pt x="4359013" y="57293"/>
                </a:lnTo>
                <a:lnTo>
                  <a:pt x="4313485" y="26566"/>
                </a:lnTo>
                <a:lnTo>
                  <a:pt x="4261288" y="6917"/>
                </a:lnTo>
                <a:lnTo>
                  <a:pt x="4223601" y="789"/>
                </a:lnTo>
                <a:lnTo>
                  <a:pt x="4204075" y="0"/>
                </a:lnTo>
                <a:close/>
              </a:path>
              <a:path w="4442459" h="1428114">
                <a:moveTo>
                  <a:pt x="481498" y="238008"/>
                </a:move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33669" y="2207272"/>
            <a:ext cx="4442460" cy="1428115"/>
          </a:xfrm>
          <a:custGeom>
            <a:avLst/>
            <a:gdLst/>
            <a:ahLst/>
            <a:cxnLst/>
            <a:rect l="l" t="t" r="r" b="b"/>
            <a:pathLst>
              <a:path w="4442459" h="1428114">
                <a:moveTo>
                  <a:pt x="4442152" y="1190032"/>
                </a:moveTo>
                <a:lnTo>
                  <a:pt x="4439036" y="1228638"/>
                </a:lnTo>
                <a:lnTo>
                  <a:pt x="4423443" y="1282677"/>
                </a:lnTo>
                <a:lnTo>
                  <a:pt x="4396217" y="1330599"/>
                </a:lnTo>
                <a:lnTo>
                  <a:pt x="4359013" y="1370750"/>
                </a:lnTo>
                <a:lnTo>
                  <a:pt x="4313485" y="1401477"/>
                </a:lnTo>
                <a:lnTo>
                  <a:pt x="4261288" y="1421127"/>
                </a:lnTo>
                <a:lnTo>
                  <a:pt x="4223601" y="1427255"/>
                </a:lnTo>
                <a:lnTo>
                  <a:pt x="4204075" y="1428044"/>
                </a:lnTo>
                <a:lnTo>
                  <a:pt x="2131771" y="1428044"/>
                </a:lnTo>
                <a:lnTo>
                  <a:pt x="1141607" y="1428044"/>
                </a:lnTo>
                <a:lnTo>
                  <a:pt x="719575" y="1428044"/>
                </a:lnTo>
                <a:lnTo>
                  <a:pt x="700049" y="1427255"/>
                </a:lnTo>
                <a:lnTo>
                  <a:pt x="662362" y="1421127"/>
                </a:lnTo>
                <a:lnTo>
                  <a:pt x="610165" y="1401477"/>
                </a:lnTo>
                <a:lnTo>
                  <a:pt x="564637" y="1370750"/>
                </a:lnTo>
                <a:lnTo>
                  <a:pt x="527433" y="1330599"/>
                </a:lnTo>
                <a:lnTo>
                  <a:pt x="500207" y="1282677"/>
                </a:lnTo>
                <a:lnTo>
                  <a:pt x="484614" y="1228638"/>
                </a:lnTo>
                <a:lnTo>
                  <a:pt x="481498" y="1190032"/>
                </a:lnTo>
                <a:lnTo>
                  <a:pt x="481498" y="595020"/>
                </a:lnTo>
                <a:lnTo>
                  <a:pt x="0" y="662654"/>
                </a:lnTo>
                <a:lnTo>
                  <a:pt x="481498" y="238008"/>
                </a:lnTo>
                <a:lnTo>
                  <a:pt x="482287" y="218491"/>
                </a:lnTo>
                <a:lnTo>
                  <a:pt x="488417" y="180815"/>
                </a:lnTo>
                <a:lnTo>
                  <a:pt x="508072" y="128631"/>
                </a:lnTo>
                <a:lnTo>
                  <a:pt x="538807" y="83116"/>
                </a:lnTo>
                <a:lnTo>
                  <a:pt x="578970" y="45922"/>
                </a:lnTo>
                <a:lnTo>
                  <a:pt x="626904" y="18704"/>
                </a:lnTo>
                <a:lnTo>
                  <a:pt x="680957" y="3115"/>
                </a:lnTo>
                <a:lnTo>
                  <a:pt x="719575" y="0"/>
                </a:lnTo>
                <a:lnTo>
                  <a:pt x="1141607" y="0"/>
                </a:lnTo>
                <a:lnTo>
                  <a:pt x="2131771" y="0"/>
                </a:lnTo>
                <a:lnTo>
                  <a:pt x="4204075" y="0"/>
                </a:lnTo>
                <a:lnTo>
                  <a:pt x="4223601" y="789"/>
                </a:lnTo>
                <a:lnTo>
                  <a:pt x="4261288" y="6917"/>
                </a:lnTo>
                <a:lnTo>
                  <a:pt x="4313485" y="26566"/>
                </a:lnTo>
                <a:lnTo>
                  <a:pt x="4359013" y="57293"/>
                </a:lnTo>
                <a:lnTo>
                  <a:pt x="4396217" y="97445"/>
                </a:lnTo>
                <a:lnTo>
                  <a:pt x="4423443" y="145367"/>
                </a:lnTo>
                <a:lnTo>
                  <a:pt x="4439036" y="199405"/>
                </a:lnTo>
                <a:lnTo>
                  <a:pt x="4442152" y="238012"/>
                </a:lnTo>
                <a:lnTo>
                  <a:pt x="4442152" y="595020"/>
                </a:lnTo>
                <a:lnTo>
                  <a:pt x="4442152" y="1190032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745924" y="2331046"/>
            <a:ext cx="3498215" cy="1290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101000"/>
              </a:lnSpc>
            </a:pPr>
            <a:r>
              <a:rPr sz="1700" b="1" spc="-5" dirty="0">
                <a:latin typeface="Arial" panose="020B0604020202020204"/>
                <a:cs typeface="Arial" panose="020B0604020202020204"/>
              </a:rPr>
              <a:t>.t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ex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等是伪操作符，告诉编译器产生 文本段，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.t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ex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用于标识文本段的开始 位置。 此处的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.t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ex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.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d</a:t>
            </a:r>
            <a:r>
              <a:rPr sz="1700" b="1" dirty="0">
                <a:latin typeface="Arial" panose="020B0604020202020204"/>
                <a:cs typeface="Arial" panose="020B0604020202020204"/>
              </a:rPr>
              <a:t>a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a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.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b</a:t>
            </a:r>
            <a:r>
              <a:rPr sz="1700" b="1" dirty="0">
                <a:latin typeface="Arial" panose="020B0604020202020204"/>
                <a:cs typeface="Arial" panose="020B0604020202020204"/>
              </a:rPr>
              <a:t>ss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表明这</a:t>
            </a:r>
            <a:r>
              <a:rPr sz="1700" b="1" dirty="0">
                <a:latin typeface="Arial" panose="020B0604020202020204"/>
                <a:cs typeface="Arial" panose="020B0604020202020204"/>
              </a:rPr>
              <a:t>3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个 段重叠，不分段</a:t>
            </a:r>
            <a:r>
              <a:rPr sz="1700" b="1" dirty="0">
                <a:latin typeface="Arial" panose="020B0604020202020204"/>
                <a:cs typeface="Arial" panose="020B0604020202020204"/>
              </a:rPr>
              <a:t>!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672305" y="3708341"/>
            <a:ext cx="3347720" cy="655955"/>
          </a:xfrm>
          <a:custGeom>
            <a:avLst/>
            <a:gdLst/>
            <a:ahLst/>
            <a:cxnLst/>
            <a:rect l="l" t="t" r="r" b="b"/>
            <a:pathLst>
              <a:path w="3347720" h="655954">
                <a:moveTo>
                  <a:pt x="3243362" y="0"/>
                </a:moveTo>
                <a:lnTo>
                  <a:pt x="1427613" y="0"/>
                </a:lnTo>
                <a:lnTo>
                  <a:pt x="1139182" y="336"/>
                </a:lnTo>
                <a:lnTo>
                  <a:pt x="1098611" y="12248"/>
                </a:lnTo>
                <a:lnTo>
                  <a:pt x="1066861" y="38481"/>
                </a:lnTo>
                <a:lnTo>
                  <a:pt x="1047662" y="75308"/>
                </a:lnTo>
                <a:lnTo>
                  <a:pt x="1043677" y="103905"/>
                </a:lnTo>
                <a:lnTo>
                  <a:pt x="1043677" y="363659"/>
                </a:lnTo>
                <a:lnTo>
                  <a:pt x="0" y="655858"/>
                </a:lnTo>
                <a:lnTo>
                  <a:pt x="1043677" y="519515"/>
                </a:lnTo>
                <a:lnTo>
                  <a:pt x="3347294" y="519515"/>
                </a:lnTo>
                <a:lnTo>
                  <a:pt x="3347294" y="363659"/>
                </a:lnTo>
                <a:lnTo>
                  <a:pt x="3346957" y="95481"/>
                </a:lnTo>
                <a:lnTo>
                  <a:pt x="3335043" y="54920"/>
                </a:lnTo>
                <a:lnTo>
                  <a:pt x="3308803" y="23178"/>
                </a:lnTo>
                <a:lnTo>
                  <a:pt x="3271966" y="3984"/>
                </a:lnTo>
                <a:lnTo>
                  <a:pt x="3257977" y="1019"/>
                </a:lnTo>
                <a:lnTo>
                  <a:pt x="3243362" y="0"/>
                </a:lnTo>
                <a:close/>
              </a:path>
              <a:path w="3347720" h="655954">
                <a:moveTo>
                  <a:pt x="3347294" y="519515"/>
                </a:moveTo>
                <a:lnTo>
                  <a:pt x="1043677" y="519515"/>
                </a:lnTo>
                <a:lnTo>
                  <a:pt x="1044013" y="527935"/>
                </a:lnTo>
                <a:lnTo>
                  <a:pt x="1055928" y="568496"/>
                </a:lnTo>
                <a:lnTo>
                  <a:pt x="1082167" y="600237"/>
                </a:lnTo>
                <a:lnTo>
                  <a:pt x="1119004" y="619431"/>
                </a:lnTo>
                <a:lnTo>
                  <a:pt x="1147608" y="623416"/>
                </a:lnTo>
                <a:lnTo>
                  <a:pt x="2003517" y="623416"/>
                </a:lnTo>
                <a:lnTo>
                  <a:pt x="3251787" y="623079"/>
                </a:lnTo>
                <a:lnTo>
                  <a:pt x="3292359" y="611168"/>
                </a:lnTo>
                <a:lnTo>
                  <a:pt x="3324109" y="584935"/>
                </a:lnTo>
                <a:lnTo>
                  <a:pt x="3343308" y="548108"/>
                </a:lnTo>
                <a:lnTo>
                  <a:pt x="3347294" y="5195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446880" y="3627061"/>
            <a:ext cx="3347720" cy="655955"/>
          </a:xfrm>
          <a:custGeom>
            <a:avLst/>
            <a:gdLst/>
            <a:ahLst/>
            <a:cxnLst/>
            <a:rect l="l" t="t" r="r" b="b"/>
            <a:pathLst>
              <a:path w="3347720" h="655954">
                <a:moveTo>
                  <a:pt x="3347294" y="519512"/>
                </a:moveTo>
                <a:lnTo>
                  <a:pt x="3338533" y="561331"/>
                </a:lnTo>
                <a:lnTo>
                  <a:pt x="3314736" y="595041"/>
                </a:lnTo>
                <a:lnTo>
                  <a:pt x="3279631" y="616914"/>
                </a:lnTo>
                <a:lnTo>
                  <a:pt x="2003517" y="623416"/>
                </a:lnTo>
                <a:lnTo>
                  <a:pt x="1427612" y="623416"/>
                </a:lnTo>
                <a:lnTo>
                  <a:pt x="1147608" y="623416"/>
                </a:lnTo>
                <a:lnTo>
                  <a:pt x="1132994" y="622397"/>
                </a:lnTo>
                <a:lnTo>
                  <a:pt x="1093453" y="608214"/>
                </a:lnTo>
                <a:lnTo>
                  <a:pt x="1063267" y="580241"/>
                </a:lnTo>
                <a:lnTo>
                  <a:pt x="1046163" y="542205"/>
                </a:lnTo>
                <a:lnTo>
                  <a:pt x="1043676" y="519514"/>
                </a:lnTo>
                <a:lnTo>
                  <a:pt x="0" y="655858"/>
                </a:lnTo>
                <a:lnTo>
                  <a:pt x="1043676" y="363659"/>
                </a:lnTo>
                <a:lnTo>
                  <a:pt x="1043676" y="103904"/>
                </a:lnTo>
                <a:lnTo>
                  <a:pt x="1044696" y="89293"/>
                </a:lnTo>
                <a:lnTo>
                  <a:pt x="1058883" y="49763"/>
                </a:lnTo>
                <a:lnTo>
                  <a:pt x="1086864" y="19585"/>
                </a:lnTo>
                <a:lnTo>
                  <a:pt x="1124909" y="2485"/>
                </a:lnTo>
                <a:lnTo>
                  <a:pt x="1427612" y="0"/>
                </a:lnTo>
                <a:lnTo>
                  <a:pt x="2003517" y="0"/>
                </a:lnTo>
                <a:lnTo>
                  <a:pt x="3243362" y="0"/>
                </a:lnTo>
                <a:lnTo>
                  <a:pt x="3257976" y="1019"/>
                </a:lnTo>
                <a:lnTo>
                  <a:pt x="3297517" y="15202"/>
                </a:lnTo>
                <a:lnTo>
                  <a:pt x="3327703" y="43175"/>
                </a:lnTo>
                <a:lnTo>
                  <a:pt x="3344808" y="81210"/>
                </a:lnTo>
                <a:lnTo>
                  <a:pt x="3347294" y="363659"/>
                </a:lnTo>
                <a:lnTo>
                  <a:pt x="3347294" y="519514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748743" y="3720685"/>
            <a:ext cx="2045970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此条语句就是</a:t>
            </a:r>
            <a:r>
              <a:rPr sz="1700" b="1" dirty="0">
                <a:latin typeface="Arial" panose="020B0604020202020204"/>
                <a:cs typeface="Arial" panose="020B0604020202020204"/>
              </a:rPr>
              <a:t>0x7c00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51088" y="4006561"/>
            <a:ext cx="1395730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处存放的语句</a:t>
            </a:r>
            <a:r>
              <a:rPr sz="1700" b="1" dirty="0">
                <a:latin typeface="Arial" panose="020B0604020202020204"/>
                <a:cs typeface="Arial" panose="020B0604020202020204"/>
              </a:rPr>
              <a:t>!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35883" y="2407927"/>
            <a:ext cx="2315845" cy="871219"/>
          </a:xfrm>
          <a:prstGeom prst="rect">
            <a:avLst/>
          </a:prstGeom>
          <a:ln w="24342">
            <a:solidFill>
              <a:srgbClr val="33339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1435" marR="24130">
              <a:lnSpc>
                <a:spcPct val="120000"/>
              </a:lnSpc>
            </a:pPr>
            <a:r>
              <a:rPr sz="17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BOOTSEG</a:t>
            </a:r>
            <a:r>
              <a:rPr sz="1700" b="1" spc="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17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0x07c0</a:t>
            </a:r>
            <a:r>
              <a:rPr sz="17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INITSEG</a:t>
            </a:r>
            <a:r>
              <a:rPr sz="1700" b="1" spc="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17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0x9000</a:t>
            </a:r>
            <a:r>
              <a:rPr sz="17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SETUPSEG</a:t>
            </a:r>
            <a:r>
              <a:rPr sz="1700" b="1" spc="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17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0x9020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203657" y="5244163"/>
            <a:ext cx="3026410" cy="767715"/>
          </a:xfrm>
          <a:custGeom>
            <a:avLst/>
            <a:gdLst/>
            <a:ahLst/>
            <a:cxnLst/>
            <a:rect l="l" t="t" r="r" b="b"/>
            <a:pathLst>
              <a:path w="3026410" h="767714">
                <a:moveTo>
                  <a:pt x="3025949" y="658577"/>
                </a:moveTo>
                <a:lnTo>
                  <a:pt x="3017561" y="700551"/>
                </a:lnTo>
                <a:lnTo>
                  <a:pt x="2994659" y="734948"/>
                </a:lnTo>
                <a:lnTo>
                  <a:pt x="2960640" y="758371"/>
                </a:lnTo>
                <a:lnTo>
                  <a:pt x="2918901" y="767425"/>
                </a:lnTo>
                <a:lnTo>
                  <a:pt x="1260812" y="767441"/>
                </a:lnTo>
                <a:lnTo>
                  <a:pt x="504325" y="767441"/>
                </a:lnTo>
                <a:lnTo>
                  <a:pt x="108892" y="767441"/>
                </a:lnTo>
                <a:lnTo>
                  <a:pt x="94265" y="766467"/>
                </a:lnTo>
                <a:lnTo>
                  <a:pt x="54428" y="752867"/>
                </a:lnTo>
                <a:lnTo>
                  <a:pt x="23304" y="725889"/>
                </a:lnTo>
                <a:lnTo>
                  <a:pt x="4288" y="688929"/>
                </a:lnTo>
                <a:lnTo>
                  <a:pt x="0" y="386425"/>
                </a:lnTo>
                <a:lnTo>
                  <a:pt x="0" y="223133"/>
                </a:lnTo>
                <a:lnTo>
                  <a:pt x="974" y="208512"/>
                </a:lnTo>
                <a:lnTo>
                  <a:pt x="14577" y="168687"/>
                </a:lnTo>
                <a:lnTo>
                  <a:pt x="41562" y="137571"/>
                </a:lnTo>
                <a:lnTo>
                  <a:pt x="78532" y="118560"/>
                </a:lnTo>
                <a:lnTo>
                  <a:pt x="504325" y="114272"/>
                </a:lnTo>
                <a:lnTo>
                  <a:pt x="305106" y="0"/>
                </a:lnTo>
                <a:lnTo>
                  <a:pt x="1260812" y="114272"/>
                </a:lnTo>
                <a:lnTo>
                  <a:pt x="2917056" y="114272"/>
                </a:lnTo>
                <a:lnTo>
                  <a:pt x="2931684" y="115246"/>
                </a:lnTo>
                <a:lnTo>
                  <a:pt x="2971520" y="128846"/>
                </a:lnTo>
                <a:lnTo>
                  <a:pt x="3002645" y="155824"/>
                </a:lnTo>
                <a:lnTo>
                  <a:pt x="3021661" y="192784"/>
                </a:lnTo>
                <a:lnTo>
                  <a:pt x="3025949" y="223133"/>
                </a:lnTo>
                <a:lnTo>
                  <a:pt x="3025949" y="386425"/>
                </a:lnTo>
                <a:lnTo>
                  <a:pt x="3025949" y="658577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279598" y="5425695"/>
            <a:ext cx="2767965" cy="512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4455" marR="5080" indent="-72390">
              <a:lnSpc>
                <a:spcPct val="101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将</a:t>
            </a:r>
            <a:r>
              <a:rPr sz="1700" b="1" dirty="0">
                <a:latin typeface="Arial" panose="020B0604020202020204"/>
                <a:cs typeface="Arial" panose="020B0604020202020204"/>
              </a:rPr>
              <a:t>0x07c0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:</a:t>
            </a:r>
            <a:r>
              <a:rPr sz="1700" b="1" dirty="0">
                <a:latin typeface="Arial" panose="020B0604020202020204"/>
                <a:cs typeface="Arial" panose="020B0604020202020204"/>
              </a:rPr>
              <a:t>0x0000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处的</a:t>
            </a:r>
            <a:r>
              <a:rPr sz="1700" b="1" dirty="0">
                <a:latin typeface="Arial" panose="020B0604020202020204"/>
                <a:cs typeface="Arial" panose="020B0604020202020204"/>
              </a:rPr>
              <a:t>256</a:t>
            </a:r>
            <a:r>
              <a:rPr sz="16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个 字移动到</a:t>
            </a:r>
            <a:r>
              <a:rPr sz="1700" b="1" dirty="0">
                <a:latin typeface="Arial" panose="020B0604020202020204"/>
                <a:cs typeface="Arial" panose="020B0604020202020204"/>
              </a:rPr>
              <a:t>0x9000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:</a:t>
            </a:r>
            <a:r>
              <a:rPr sz="1700" b="1" dirty="0">
                <a:latin typeface="Arial" panose="020B0604020202020204"/>
                <a:cs typeface="Arial" panose="020B0604020202020204"/>
              </a:rPr>
              <a:t>0x0000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处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graphicFrame>
        <p:nvGraphicFramePr>
          <p:cNvPr id="11" name="object 1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98682" y="4325798"/>
          <a:ext cx="3558540" cy="11560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1928"/>
                <a:gridCol w="465178"/>
                <a:gridCol w="1221047"/>
                <a:gridCol w="640080"/>
                <a:gridCol w="790163"/>
              </a:tblGrid>
              <a:tr h="296218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sz="1500" b="1" spc="-5" dirty="0">
                          <a:latin typeface="Courier New" panose="02070309020205020404"/>
                          <a:cs typeface="Courier New" panose="02070309020205020404"/>
                        </a:rPr>
                        <a:t>mov</a:t>
                      </a:r>
                      <a:endParaRPr sz="15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sz="1500" b="1" spc="-5" dirty="0">
                          <a:latin typeface="Courier New" panose="02070309020205020404"/>
                          <a:cs typeface="Courier New" panose="02070309020205020404"/>
                        </a:rPr>
                        <a:t>ax,</a:t>
                      </a:r>
                      <a:endParaRPr sz="15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sz="1500" b="1" spc="-5" dirty="0">
                          <a:latin typeface="Courier New" panose="02070309020205020404"/>
                          <a:cs typeface="Courier New" panose="02070309020205020404"/>
                        </a:rPr>
                        <a:t>#BOOTSEG</a:t>
                      </a:r>
                      <a:endParaRPr sz="15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2410">
                        <a:lnSpc>
                          <a:spcPct val="100000"/>
                        </a:lnSpc>
                      </a:pPr>
                      <a:r>
                        <a:rPr sz="1500" b="1" spc="-5" dirty="0">
                          <a:latin typeface="Courier New" panose="02070309020205020404"/>
                          <a:cs typeface="Courier New" panose="02070309020205020404"/>
                        </a:rPr>
                        <a:t>mov</a:t>
                      </a:r>
                      <a:endParaRPr sz="15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sz="1500" b="1" spc="-5" dirty="0">
                          <a:latin typeface="Courier New" panose="02070309020205020404"/>
                          <a:cs typeface="Courier New" panose="02070309020205020404"/>
                        </a:rPr>
                        <a:t>ds</a:t>
                      </a:r>
                      <a:r>
                        <a:rPr sz="1500" b="1" dirty="0">
                          <a:latin typeface="Courier New" panose="02070309020205020404"/>
                          <a:cs typeface="Courier New" panose="02070309020205020404"/>
                        </a:rPr>
                        <a:t>,</a:t>
                      </a:r>
                      <a:r>
                        <a:rPr sz="1500" b="1" spc="10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500" b="1" spc="-5" dirty="0">
                          <a:latin typeface="Courier New" panose="02070309020205020404"/>
                          <a:cs typeface="Courier New" panose="02070309020205020404"/>
                        </a:rPr>
                        <a:t>ax</a:t>
                      </a:r>
                      <a:endParaRPr sz="15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</a:tr>
              <a:tr h="279400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sz="1500" b="1" spc="-5" dirty="0">
                          <a:latin typeface="Courier New" panose="02070309020205020404"/>
                          <a:cs typeface="Courier New" panose="02070309020205020404"/>
                        </a:rPr>
                        <a:t>mov</a:t>
                      </a:r>
                      <a:endParaRPr sz="15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sz="1500" b="1" spc="-5" dirty="0">
                          <a:latin typeface="Courier New" panose="02070309020205020404"/>
                          <a:cs typeface="Courier New" panose="02070309020205020404"/>
                        </a:rPr>
                        <a:t>ax,</a:t>
                      </a:r>
                      <a:endParaRPr sz="15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sz="1500" b="1" spc="-5" dirty="0">
                          <a:latin typeface="Courier New" panose="02070309020205020404"/>
                          <a:cs typeface="Courier New" panose="02070309020205020404"/>
                        </a:rPr>
                        <a:t>#INITSEG</a:t>
                      </a:r>
                      <a:endParaRPr sz="15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2410">
                        <a:lnSpc>
                          <a:spcPct val="100000"/>
                        </a:lnSpc>
                      </a:pPr>
                      <a:r>
                        <a:rPr sz="1500" b="1" spc="-5" dirty="0">
                          <a:latin typeface="Courier New" panose="02070309020205020404"/>
                          <a:cs typeface="Courier New" panose="02070309020205020404"/>
                        </a:rPr>
                        <a:t>mov</a:t>
                      </a:r>
                      <a:endParaRPr sz="15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sz="1500" b="1" spc="-5" dirty="0">
                          <a:latin typeface="Courier New" panose="02070309020205020404"/>
                          <a:cs typeface="Courier New" panose="02070309020205020404"/>
                        </a:rPr>
                        <a:t>es</a:t>
                      </a:r>
                      <a:r>
                        <a:rPr sz="1500" b="1" dirty="0">
                          <a:latin typeface="Courier New" panose="02070309020205020404"/>
                          <a:cs typeface="Courier New" panose="02070309020205020404"/>
                        </a:rPr>
                        <a:t>,</a:t>
                      </a:r>
                      <a:r>
                        <a:rPr sz="1500" b="1" spc="10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500" b="1" spc="-5" dirty="0">
                          <a:latin typeface="Courier New" panose="02070309020205020404"/>
                          <a:cs typeface="Courier New" panose="02070309020205020404"/>
                        </a:rPr>
                        <a:t>ax</a:t>
                      </a:r>
                      <a:endParaRPr sz="15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</a:tr>
              <a:tr h="580390">
                <a:tc>
                  <a:txBody>
                    <a:bodyPr/>
                    <a:lstStyle/>
                    <a:p>
                      <a:pPr marL="34925" marR="50165">
                        <a:lnSpc>
                          <a:spcPct val="124000"/>
                        </a:lnSpc>
                      </a:pPr>
                      <a:r>
                        <a:rPr sz="1500" b="1" spc="-5" dirty="0">
                          <a:latin typeface="Courier New" panose="02070309020205020404"/>
                          <a:cs typeface="Courier New" panose="02070309020205020404"/>
                        </a:rPr>
                        <a:t>mov sub</a:t>
                      </a:r>
                      <a:endParaRPr sz="15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sz="1500" b="1" spc="-5" dirty="0">
                          <a:latin typeface="Courier New" panose="02070309020205020404"/>
                          <a:cs typeface="Courier New" panose="02070309020205020404"/>
                        </a:rPr>
                        <a:t>cx,</a:t>
                      </a:r>
                      <a:endParaRPr sz="1500">
                        <a:latin typeface="Courier New" panose="02070309020205020404"/>
                        <a:cs typeface="Courier New" panose="02070309020205020404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500" b="1" spc="-5" dirty="0">
                          <a:latin typeface="Courier New" panose="02070309020205020404"/>
                          <a:cs typeface="Courier New" panose="02070309020205020404"/>
                        </a:rPr>
                        <a:t>si,</a:t>
                      </a:r>
                      <a:endParaRPr sz="15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sz="1500" b="1" spc="-5" dirty="0">
                          <a:latin typeface="Courier New" panose="02070309020205020404"/>
                          <a:cs typeface="Courier New" panose="02070309020205020404"/>
                        </a:rPr>
                        <a:t>#256</a:t>
                      </a:r>
                      <a:endParaRPr sz="1500">
                        <a:latin typeface="Courier New" panose="02070309020205020404"/>
                        <a:cs typeface="Courier New" panose="02070309020205020404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500" b="1" spc="-5" dirty="0">
                          <a:latin typeface="Courier New" panose="02070309020205020404"/>
                          <a:cs typeface="Courier New" panose="02070309020205020404"/>
                        </a:rPr>
                        <a:t>si</a:t>
                      </a:r>
                      <a:endParaRPr sz="15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2410">
                        <a:lnSpc>
                          <a:spcPct val="100000"/>
                        </a:lnSpc>
                      </a:pPr>
                      <a:r>
                        <a:rPr sz="1500" b="1" spc="-5" dirty="0">
                          <a:latin typeface="Courier New" panose="02070309020205020404"/>
                          <a:cs typeface="Courier New" panose="02070309020205020404"/>
                        </a:rPr>
                        <a:t>sub</a:t>
                      </a:r>
                      <a:endParaRPr sz="15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sz="1500" b="1" spc="-5" dirty="0">
                          <a:latin typeface="Courier New" panose="02070309020205020404"/>
                          <a:cs typeface="Courier New" panose="02070309020205020404"/>
                        </a:rPr>
                        <a:t>di,di</a:t>
                      </a:r>
                      <a:endParaRPr sz="15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25" name="文本框 24"/>
          <p:cNvSpPr txBox="1"/>
          <p:nvPr/>
        </p:nvSpPr>
        <p:spPr>
          <a:xfrm>
            <a:off x="4557395" y="4320540"/>
            <a:ext cx="31261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rgbClr val="FF0000"/>
                </a:solidFill>
              </a:rPr>
              <a:t>启动代码地址放入</a:t>
            </a:r>
            <a:r>
              <a:rPr lang="en-US" altLang="zh-CN" sz="1200">
                <a:solidFill>
                  <a:srgbClr val="FF0000"/>
                </a:solidFill>
              </a:rPr>
              <a:t>ax</a:t>
            </a:r>
            <a:r>
              <a:rPr lang="zh-CN" altLang="en-US" sz="1200">
                <a:solidFill>
                  <a:srgbClr val="FF0000"/>
                </a:solidFill>
              </a:rPr>
              <a:t>，并与</a:t>
            </a:r>
            <a:r>
              <a:rPr lang="en-US" altLang="zh-CN" sz="1200">
                <a:solidFill>
                  <a:srgbClr val="FF0000"/>
                </a:solidFill>
              </a:rPr>
              <a:t>ds</a:t>
            </a:r>
            <a:r>
              <a:rPr lang="zh-CN" altLang="en-US" sz="1200">
                <a:solidFill>
                  <a:srgbClr val="FF0000"/>
                </a:solidFill>
              </a:rPr>
              <a:t>寄存器相关联</a:t>
            </a:r>
            <a:endParaRPr lang="zh-CN" altLang="en-US" sz="1200">
              <a:solidFill>
                <a:srgbClr val="FF0000"/>
              </a:solidFill>
            </a:endParaRPr>
          </a:p>
        </p:txBody>
      </p:sp>
      <p:sp>
        <p:nvSpPr>
          <p:cNvPr id="26" name="文本框 25"/>
          <p:cNvSpPr txBox="1"/>
          <p:nvPr>
            <p:custDataLst>
              <p:tags r:id="rId2"/>
            </p:custDataLst>
          </p:nvPr>
        </p:nvSpPr>
        <p:spPr>
          <a:xfrm>
            <a:off x="4584700" y="4540250"/>
            <a:ext cx="31261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rgbClr val="FF0000"/>
                </a:solidFill>
              </a:rPr>
              <a:t>启动代码要被复制到的</a:t>
            </a:r>
            <a:r>
              <a:rPr lang="zh-CN" altLang="en-US" sz="1200">
                <a:solidFill>
                  <a:srgbClr val="FF0000"/>
                </a:solidFill>
              </a:rPr>
              <a:t>目的地址，并与</a:t>
            </a:r>
            <a:r>
              <a:rPr lang="en-US" altLang="zh-CN" sz="1200">
                <a:solidFill>
                  <a:srgbClr val="FF0000"/>
                </a:solidFill>
              </a:rPr>
              <a:t>es</a:t>
            </a:r>
            <a:r>
              <a:rPr lang="zh-CN" altLang="en-US" sz="1200">
                <a:solidFill>
                  <a:srgbClr val="FF0000"/>
                </a:solidFill>
              </a:rPr>
              <a:t>寄存器相关联</a:t>
            </a:r>
            <a:endParaRPr lang="zh-CN" altLang="en-US" sz="1200">
              <a:solidFill>
                <a:srgbClr val="FF0000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394585" y="4803775"/>
            <a:ext cx="104330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100">
                <a:solidFill>
                  <a:srgbClr val="FF0000"/>
                </a:solidFill>
              </a:rPr>
              <a:t>循环控制512字节</a:t>
            </a:r>
            <a:endParaRPr lang="zh-CN" altLang="en-US" sz="1100">
              <a:solidFill>
                <a:srgbClr val="FF0000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222500" y="5149850"/>
            <a:ext cx="168275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zh-CN" altLang="en-US" sz="1200">
                <a:solidFill>
                  <a:srgbClr val="FF0000"/>
                </a:solidFill>
              </a:rPr>
              <a:t>si清零,ds:si即0x07c00</a:t>
            </a:r>
            <a:endParaRPr lang="zh-CN" altLang="en-US" sz="1200">
              <a:solidFill>
                <a:srgbClr val="FF0000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446905" y="4903470"/>
            <a:ext cx="179641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zh-CN" altLang="en-US" sz="1200">
                <a:solidFill>
                  <a:srgbClr val="FF0000"/>
                </a:solidFill>
              </a:rPr>
              <a:t>di清零,es:si即0x90000</a:t>
            </a:r>
            <a:endParaRPr lang="zh-CN" altLang="en-US" sz="1200">
              <a:solidFill>
                <a:srgbClr val="FF0000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455420" y="5481320"/>
            <a:ext cx="113347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zh-CN" altLang="en-US" sz="1200">
                <a:solidFill>
                  <a:srgbClr val="FF0000"/>
                </a:solidFill>
              </a:rPr>
              <a:t>循环直cx==0</a:t>
            </a:r>
            <a:endParaRPr lang="zh-CN" altLang="en-US" sz="1200">
              <a:solidFill>
                <a:srgbClr val="FF0000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908300" y="5473065"/>
            <a:ext cx="144716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>
                <a:solidFill>
                  <a:srgbClr val="FF0000"/>
                </a:solidFill>
              </a:rPr>
              <a:t>将ds:si复制到es:di</a:t>
            </a:r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2984500" y="5759450"/>
            <a:ext cx="53467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>
                <a:solidFill>
                  <a:srgbClr val="FF0000"/>
                </a:solidFill>
              </a:rPr>
              <a:t>跳转到go标志处</a:t>
            </a:r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470">
              <a:lnSpc>
                <a:spcPct val="100000"/>
              </a:lnSpc>
            </a:pPr>
            <a:r>
              <a:rPr spc="5" dirty="0"/>
              <a:t>jmpi</a:t>
            </a:r>
            <a:r>
              <a:rPr spc="5" dirty="0"/>
              <a:t> </a:t>
            </a:r>
            <a:r>
              <a:rPr spc="5" dirty="0"/>
              <a:t>go,</a:t>
            </a:r>
            <a:r>
              <a:rPr spc="5" dirty="0"/>
              <a:t> </a:t>
            </a:r>
            <a:r>
              <a:rPr spc="5" dirty="0"/>
              <a:t>INITSEG</a:t>
            </a:r>
            <a:endParaRPr spc="5" dirty="0"/>
          </a:p>
        </p:txBody>
      </p:sp>
      <p:sp>
        <p:nvSpPr>
          <p:cNvPr id="4" name="object 4"/>
          <p:cNvSpPr/>
          <p:nvPr/>
        </p:nvSpPr>
        <p:spPr>
          <a:xfrm>
            <a:off x="555699" y="2313271"/>
            <a:ext cx="7063740" cy="3105785"/>
          </a:xfrm>
          <a:custGeom>
            <a:avLst/>
            <a:gdLst/>
            <a:ahLst/>
            <a:cxnLst/>
            <a:rect l="l" t="t" r="r" b="b"/>
            <a:pathLst>
              <a:path w="7063740" h="3105785">
                <a:moveTo>
                  <a:pt x="0" y="0"/>
                </a:moveTo>
                <a:lnTo>
                  <a:pt x="7063506" y="0"/>
                </a:lnTo>
                <a:lnTo>
                  <a:pt x="7063506" y="3105447"/>
                </a:lnTo>
                <a:lnTo>
                  <a:pt x="0" y="3105447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07081" y="2399035"/>
            <a:ext cx="4569460" cy="8680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go: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mov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ax,cs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//cs=0x9000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12700" marR="5080" indent="518795">
              <a:lnSpc>
                <a:spcPct val="121000"/>
              </a:lnSpc>
              <a:tabLst>
                <a:tab pos="1699895" algn="l"/>
                <a:tab pos="1959610" algn="l"/>
                <a:tab pos="3387725" algn="l"/>
              </a:tabLst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mov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ds,ax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mov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es,ax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mov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ss,ax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load_setup: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//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载入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setup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模块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10451" y="2712217"/>
            <a:ext cx="184340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mov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sp,#0xff00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26370" y="3334348"/>
            <a:ext cx="4050029" cy="2116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3000"/>
              </a:lnSpc>
              <a:tabLst>
                <a:tab pos="2219325" algn="l"/>
              </a:tabLst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mov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dx,#0x0000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mov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cx,#0x0002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mov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12700" marR="3639820">
              <a:lnSpc>
                <a:spcPts val="2470"/>
              </a:lnSpc>
              <a:spcBef>
                <a:spcPts val="80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jnc mov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12700" marR="3639820">
              <a:lnSpc>
                <a:spcPts val="2430"/>
              </a:lnSpc>
              <a:spcBef>
                <a:spcPts val="25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mov int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j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10451" y="3334348"/>
            <a:ext cx="184340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mov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bx,#0x0200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45652" y="3651734"/>
            <a:ext cx="2491740" cy="1798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ax,#0x0200+SETUPLEN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12700" marR="351155">
              <a:lnSpc>
                <a:spcPts val="2470"/>
              </a:lnSpc>
              <a:spcBef>
                <a:spcPts val="80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ok_load_setup dx,#0x0000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12700" marR="351155">
              <a:lnSpc>
                <a:spcPts val="2430"/>
              </a:lnSpc>
              <a:spcBef>
                <a:spcPts val="25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ax,#0x0000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//</a:t>
            </a:r>
            <a:r>
              <a:rPr sz="16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复位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0x13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load_setup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//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重读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71886" y="3626967"/>
            <a:ext cx="2405380" cy="266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int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0x13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//BIOS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中断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6938" y="1865127"/>
            <a:ext cx="6639559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>
                <a:latin typeface="Arial" panose="020B0604020202020204"/>
                <a:cs typeface="Arial" panose="020B0604020202020204"/>
              </a:rPr>
              <a:t>j</a:t>
            </a:r>
            <a:r>
              <a:rPr sz="2000" b="1" spc="35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(</a:t>
            </a:r>
            <a:r>
              <a:rPr sz="2000" b="1" dirty="0">
                <a:latin typeface="Arial" panose="020B0604020202020204"/>
                <a:cs typeface="Arial" panose="020B0604020202020204"/>
              </a:rPr>
              <a:t>j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u</a:t>
            </a:r>
            <a:r>
              <a:rPr sz="2000" b="1" spc="40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se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g</a:t>
            </a:r>
            <a:r>
              <a:rPr sz="2000" b="1" spc="40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t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段间跳转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):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cs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=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N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SE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G,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=g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o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05450" y="1948980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850292" y="2272183"/>
            <a:ext cx="1926589" cy="447675"/>
          </a:xfrm>
          <a:custGeom>
            <a:avLst/>
            <a:gdLst/>
            <a:ahLst/>
            <a:cxnLst/>
            <a:rect l="l" t="t" r="r" b="b"/>
            <a:pathLst>
              <a:path w="1926590" h="447675">
                <a:moveTo>
                  <a:pt x="1861263" y="0"/>
                </a:moveTo>
                <a:lnTo>
                  <a:pt x="234655" y="86"/>
                </a:lnTo>
                <a:lnTo>
                  <a:pt x="196041" y="15410"/>
                </a:lnTo>
                <a:lnTo>
                  <a:pt x="174725" y="50482"/>
                </a:lnTo>
                <a:lnTo>
                  <a:pt x="173116" y="64910"/>
                </a:lnTo>
                <a:lnTo>
                  <a:pt x="173203" y="327944"/>
                </a:lnTo>
                <a:lnTo>
                  <a:pt x="188531" y="366547"/>
                </a:lnTo>
                <a:lnTo>
                  <a:pt x="223613" y="387856"/>
                </a:lnTo>
                <a:lnTo>
                  <a:pt x="238046" y="389465"/>
                </a:lnTo>
                <a:lnTo>
                  <a:pt x="465296" y="389465"/>
                </a:lnTo>
                <a:lnTo>
                  <a:pt x="0" y="447617"/>
                </a:lnTo>
                <a:lnTo>
                  <a:pt x="903565" y="389465"/>
                </a:lnTo>
                <a:lnTo>
                  <a:pt x="1864652" y="389378"/>
                </a:lnTo>
                <a:lnTo>
                  <a:pt x="1878856" y="387054"/>
                </a:lnTo>
                <a:lnTo>
                  <a:pt x="1912766" y="364087"/>
                </a:lnTo>
                <a:lnTo>
                  <a:pt x="1926192" y="324554"/>
                </a:lnTo>
                <a:lnTo>
                  <a:pt x="1926105" y="61522"/>
                </a:lnTo>
                <a:lnTo>
                  <a:pt x="1910777" y="22918"/>
                </a:lnTo>
                <a:lnTo>
                  <a:pt x="1875696" y="1609"/>
                </a:lnTo>
                <a:lnTo>
                  <a:pt x="186126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850292" y="2272182"/>
            <a:ext cx="1926589" cy="447675"/>
          </a:xfrm>
          <a:custGeom>
            <a:avLst/>
            <a:gdLst/>
            <a:ahLst/>
            <a:cxnLst/>
            <a:rect l="l" t="t" r="r" b="b"/>
            <a:pathLst>
              <a:path w="1926590" h="447675">
                <a:moveTo>
                  <a:pt x="1926192" y="324554"/>
                </a:moveTo>
                <a:lnTo>
                  <a:pt x="1912766" y="364087"/>
                </a:lnTo>
                <a:lnTo>
                  <a:pt x="1878857" y="387055"/>
                </a:lnTo>
                <a:lnTo>
                  <a:pt x="903564" y="389466"/>
                </a:lnTo>
                <a:lnTo>
                  <a:pt x="0" y="447618"/>
                </a:lnTo>
                <a:lnTo>
                  <a:pt x="465295" y="389466"/>
                </a:lnTo>
                <a:lnTo>
                  <a:pt x="238045" y="389466"/>
                </a:lnTo>
                <a:lnTo>
                  <a:pt x="223613" y="387857"/>
                </a:lnTo>
                <a:lnTo>
                  <a:pt x="188531" y="366547"/>
                </a:lnTo>
                <a:lnTo>
                  <a:pt x="173203" y="327944"/>
                </a:lnTo>
                <a:lnTo>
                  <a:pt x="173116" y="324554"/>
                </a:lnTo>
                <a:lnTo>
                  <a:pt x="173116" y="227188"/>
                </a:lnTo>
                <a:lnTo>
                  <a:pt x="173116" y="64911"/>
                </a:lnTo>
                <a:lnTo>
                  <a:pt x="174725" y="50483"/>
                </a:lnTo>
                <a:lnTo>
                  <a:pt x="196040" y="15411"/>
                </a:lnTo>
                <a:lnTo>
                  <a:pt x="234655" y="86"/>
                </a:lnTo>
                <a:lnTo>
                  <a:pt x="465295" y="0"/>
                </a:lnTo>
                <a:lnTo>
                  <a:pt x="903564" y="0"/>
                </a:lnTo>
                <a:lnTo>
                  <a:pt x="1861262" y="0"/>
                </a:lnTo>
                <a:lnTo>
                  <a:pt x="1875695" y="1609"/>
                </a:lnTo>
                <a:lnTo>
                  <a:pt x="1910776" y="22918"/>
                </a:lnTo>
                <a:lnTo>
                  <a:pt x="1926105" y="61522"/>
                </a:lnTo>
                <a:lnTo>
                  <a:pt x="1926192" y="227188"/>
                </a:lnTo>
                <a:lnTo>
                  <a:pt x="1926192" y="324554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238600" y="2345255"/>
            <a:ext cx="1322705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sz="1700" b="1" dirty="0">
                <a:latin typeface="Arial" panose="020B0604020202020204"/>
                <a:cs typeface="Arial" panose="020B0604020202020204"/>
              </a:rPr>
              <a:t>ca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l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l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做准备</a:t>
            </a:r>
            <a:r>
              <a:rPr sz="1700" b="1" dirty="0">
                <a:latin typeface="Arial" panose="020B0604020202020204"/>
                <a:cs typeface="Arial" panose="020B0604020202020204"/>
              </a:rPr>
              <a:t>!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9064" y="5968059"/>
            <a:ext cx="435609" cy="519430"/>
          </a:xfrm>
          <a:custGeom>
            <a:avLst/>
            <a:gdLst/>
            <a:ahLst/>
            <a:cxnLst/>
            <a:rect l="l" t="t" r="r" b="b"/>
            <a:pathLst>
              <a:path w="435609" h="519429">
                <a:moveTo>
                  <a:pt x="0" y="519288"/>
                </a:moveTo>
                <a:lnTo>
                  <a:pt x="435050" y="519288"/>
                </a:lnTo>
                <a:lnTo>
                  <a:pt x="435050" y="0"/>
                </a:lnTo>
                <a:lnTo>
                  <a:pt x="0" y="0"/>
                </a:lnTo>
                <a:lnTo>
                  <a:pt x="0" y="519288"/>
                </a:lnTo>
                <a:close/>
              </a:path>
            </a:pathLst>
          </a:custGeom>
          <a:solidFill>
            <a:srgbClr val="99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79064" y="5968058"/>
            <a:ext cx="435609" cy="519430"/>
          </a:xfrm>
          <a:custGeom>
            <a:avLst/>
            <a:gdLst/>
            <a:ahLst/>
            <a:cxnLst/>
            <a:rect l="l" t="t" r="r" b="b"/>
            <a:pathLst>
              <a:path w="435609" h="519429">
                <a:moveTo>
                  <a:pt x="0" y="0"/>
                </a:moveTo>
                <a:lnTo>
                  <a:pt x="435050" y="0"/>
                </a:lnTo>
                <a:lnTo>
                  <a:pt x="435050" y="519288"/>
                </a:lnTo>
                <a:lnTo>
                  <a:pt x="0" y="519288"/>
                </a:lnTo>
                <a:lnTo>
                  <a:pt x="0" y="0"/>
                </a:lnTo>
                <a:close/>
              </a:path>
            </a:pathLst>
          </a:custGeom>
          <a:ln w="81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59448" y="5949090"/>
            <a:ext cx="80327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启动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盘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414115" y="5968059"/>
            <a:ext cx="435609" cy="519430"/>
          </a:xfrm>
          <a:custGeom>
            <a:avLst/>
            <a:gdLst/>
            <a:ahLst/>
            <a:cxnLst/>
            <a:rect l="l" t="t" r="r" b="b"/>
            <a:pathLst>
              <a:path w="435610" h="519429">
                <a:moveTo>
                  <a:pt x="0" y="519288"/>
                </a:moveTo>
                <a:lnTo>
                  <a:pt x="435050" y="519288"/>
                </a:lnTo>
                <a:lnTo>
                  <a:pt x="435050" y="0"/>
                </a:lnTo>
                <a:lnTo>
                  <a:pt x="0" y="0"/>
                </a:lnTo>
                <a:lnTo>
                  <a:pt x="0" y="519288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414115" y="5968058"/>
            <a:ext cx="435609" cy="519430"/>
          </a:xfrm>
          <a:custGeom>
            <a:avLst/>
            <a:gdLst/>
            <a:ahLst/>
            <a:cxnLst/>
            <a:rect l="l" t="t" r="r" b="b"/>
            <a:pathLst>
              <a:path w="435610" h="519429">
                <a:moveTo>
                  <a:pt x="0" y="0"/>
                </a:moveTo>
                <a:lnTo>
                  <a:pt x="435050" y="0"/>
                </a:lnTo>
                <a:lnTo>
                  <a:pt x="435050" y="519288"/>
                </a:lnTo>
                <a:lnTo>
                  <a:pt x="0" y="519288"/>
                </a:lnTo>
                <a:lnTo>
                  <a:pt x="0" y="0"/>
                </a:lnTo>
                <a:close/>
              </a:path>
            </a:pathLst>
          </a:custGeom>
          <a:ln w="81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849165" y="5968059"/>
            <a:ext cx="435609" cy="519430"/>
          </a:xfrm>
          <a:custGeom>
            <a:avLst/>
            <a:gdLst/>
            <a:ahLst/>
            <a:cxnLst/>
            <a:rect l="l" t="t" r="r" b="b"/>
            <a:pathLst>
              <a:path w="435610" h="519429">
                <a:moveTo>
                  <a:pt x="0" y="519288"/>
                </a:moveTo>
                <a:lnTo>
                  <a:pt x="435050" y="519288"/>
                </a:lnTo>
                <a:lnTo>
                  <a:pt x="435050" y="0"/>
                </a:lnTo>
                <a:lnTo>
                  <a:pt x="0" y="0"/>
                </a:lnTo>
                <a:lnTo>
                  <a:pt x="0" y="519288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849165" y="5968058"/>
            <a:ext cx="435609" cy="519430"/>
          </a:xfrm>
          <a:custGeom>
            <a:avLst/>
            <a:gdLst/>
            <a:ahLst/>
            <a:cxnLst/>
            <a:rect l="l" t="t" r="r" b="b"/>
            <a:pathLst>
              <a:path w="435610" h="519429">
                <a:moveTo>
                  <a:pt x="0" y="0"/>
                </a:moveTo>
                <a:lnTo>
                  <a:pt x="435050" y="0"/>
                </a:lnTo>
                <a:lnTo>
                  <a:pt x="435050" y="519288"/>
                </a:lnTo>
                <a:lnTo>
                  <a:pt x="0" y="519288"/>
                </a:lnTo>
                <a:lnTo>
                  <a:pt x="0" y="0"/>
                </a:lnTo>
                <a:close/>
              </a:path>
            </a:pathLst>
          </a:custGeom>
          <a:ln w="81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284218" y="5968059"/>
            <a:ext cx="435609" cy="519430"/>
          </a:xfrm>
          <a:custGeom>
            <a:avLst/>
            <a:gdLst/>
            <a:ahLst/>
            <a:cxnLst/>
            <a:rect l="l" t="t" r="r" b="b"/>
            <a:pathLst>
              <a:path w="435610" h="519429">
                <a:moveTo>
                  <a:pt x="0" y="519288"/>
                </a:moveTo>
                <a:lnTo>
                  <a:pt x="435050" y="519288"/>
                </a:lnTo>
                <a:lnTo>
                  <a:pt x="435050" y="0"/>
                </a:lnTo>
                <a:lnTo>
                  <a:pt x="0" y="0"/>
                </a:lnTo>
                <a:lnTo>
                  <a:pt x="0" y="519288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284218" y="5968058"/>
            <a:ext cx="435609" cy="519430"/>
          </a:xfrm>
          <a:custGeom>
            <a:avLst/>
            <a:gdLst/>
            <a:ahLst/>
            <a:cxnLst/>
            <a:rect l="l" t="t" r="r" b="b"/>
            <a:pathLst>
              <a:path w="435610" h="519429">
                <a:moveTo>
                  <a:pt x="0" y="0"/>
                </a:moveTo>
                <a:lnTo>
                  <a:pt x="435050" y="0"/>
                </a:lnTo>
                <a:lnTo>
                  <a:pt x="435050" y="519288"/>
                </a:lnTo>
                <a:lnTo>
                  <a:pt x="0" y="519288"/>
                </a:lnTo>
                <a:lnTo>
                  <a:pt x="0" y="0"/>
                </a:lnTo>
                <a:close/>
              </a:path>
            </a:pathLst>
          </a:custGeom>
          <a:ln w="81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719268" y="5968059"/>
            <a:ext cx="435609" cy="519430"/>
          </a:xfrm>
          <a:custGeom>
            <a:avLst/>
            <a:gdLst/>
            <a:ahLst/>
            <a:cxnLst/>
            <a:rect l="l" t="t" r="r" b="b"/>
            <a:pathLst>
              <a:path w="435610" h="519429">
                <a:moveTo>
                  <a:pt x="0" y="519288"/>
                </a:moveTo>
                <a:lnTo>
                  <a:pt x="435050" y="519288"/>
                </a:lnTo>
                <a:lnTo>
                  <a:pt x="435050" y="0"/>
                </a:lnTo>
                <a:lnTo>
                  <a:pt x="0" y="0"/>
                </a:lnTo>
                <a:lnTo>
                  <a:pt x="0" y="519288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719268" y="5968058"/>
            <a:ext cx="435609" cy="519430"/>
          </a:xfrm>
          <a:custGeom>
            <a:avLst/>
            <a:gdLst/>
            <a:ahLst/>
            <a:cxnLst/>
            <a:rect l="l" t="t" r="r" b="b"/>
            <a:pathLst>
              <a:path w="435610" h="519429">
                <a:moveTo>
                  <a:pt x="0" y="0"/>
                </a:moveTo>
                <a:lnTo>
                  <a:pt x="435050" y="0"/>
                </a:lnTo>
                <a:lnTo>
                  <a:pt x="435050" y="519288"/>
                </a:lnTo>
                <a:lnTo>
                  <a:pt x="0" y="519288"/>
                </a:lnTo>
                <a:lnTo>
                  <a:pt x="0" y="0"/>
                </a:lnTo>
                <a:close/>
              </a:path>
            </a:pathLst>
          </a:custGeom>
          <a:ln w="81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154319" y="5968059"/>
            <a:ext cx="435609" cy="519430"/>
          </a:xfrm>
          <a:custGeom>
            <a:avLst/>
            <a:gdLst/>
            <a:ahLst/>
            <a:cxnLst/>
            <a:rect l="l" t="t" r="r" b="b"/>
            <a:pathLst>
              <a:path w="435610" h="519429">
                <a:moveTo>
                  <a:pt x="0" y="519288"/>
                </a:moveTo>
                <a:lnTo>
                  <a:pt x="435050" y="519288"/>
                </a:lnTo>
                <a:lnTo>
                  <a:pt x="435050" y="0"/>
                </a:lnTo>
                <a:lnTo>
                  <a:pt x="0" y="0"/>
                </a:lnTo>
                <a:lnTo>
                  <a:pt x="0" y="519288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154319" y="5968058"/>
            <a:ext cx="435609" cy="519430"/>
          </a:xfrm>
          <a:custGeom>
            <a:avLst/>
            <a:gdLst/>
            <a:ahLst/>
            <a:cxnLst/>
            <a:rect l="l" t="t" r="r" b="b"/>
            <a:pathLst>
              <a:path w="435610" h="519429">
                <a:moveTo>
                  <a:pt x="0" y="0"/>
                </a:moveTo>
                <a:lnTo>
                  <a:pt x="435050" y="0"/>
                </a:lnTo>
                <a:lnTo>
                  <a:pt x="435050" y="519288"/>
                </a:lnTo>
                <a:lnTo>
                  <a:pt x="0" y="519288"/>
                </a:lnTo>
                <a:lnTo>
                  <a:pt x="0" y="0"/>
                </a:lnTo>
                <a:close/>
              </a:path>
            </a:pathLst>
          </a:custGeom>
          <a:ln w="81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589370" y="5968059"/>
            <a:ext cx="435609" cy="519430"/>
          </a:xfrm>
          <a:custGeom>
            <a:avLst/>
            <a:gdLst/>
            <a:ahLst/>
            <a:cxnLst/>
            <a:rect l="l" t="t" r="r" b="b"/>
            <a:pathLst>
              <a:path w="435610" h="519429">
                <a:moveTo>
                  <a:pt x="0" y="519288"/>
                </a:moveTo>
                <a:lnTo>
                  <a:pt x="435050" y="519288"/>
                </a:lnTo>
                <a:lnTo>
                  <a:pt x="435050" y="0"/>
                </a:lnTo>
                <a:lnTo>
                  <a:pt x="0" y="0"/>
                </a:lnTo>
                <a:lnTo>
                  <a:pt x="0" y="519288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589370" y="5968058"/>
            <a:ext cx="435609" cy="519430"/>
          </a:xfrm>
          <a:custGeom>
            <a:avLst/>
            <a:gdLst/>
            <a:ahLst/>
            <a:cxnLst/>
            <a:rect l="l" t="t" r="r" b="b"/>
            <a:pathLst>
              <a:path w="435610" h="519429">
                <a:moveTo>
                  <a:pt x="0" y="0"/>
                </a:moveTo>
                <a:lnTo>
                  <a:pt x="435050" y="0"/>
                </a:lnTo>
                <a:lnTo>
                  <a:pt x="435050" y="519288"/>
                </a:lnTo>
                <a:lnTo>
                  <a:pt x="0" y="519288"/>
                </a:lnTo>
                <a:lnTo>
                  <a:pt x="0" y="0"/>
                </a:lnTo>
                <a:close/>
              </a:path>
            </a:pathLst>
          </a:custGeom>
          <a:ln w="81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024421" y="5968059"/>
            <a:ext cx="435609" cy="519430"/>
          </a:xfrm>
          <a:custGeom>
            <a:avLst/>
            <a:gdLst/>
            <a:ahLst/>
            <a:cxnLst/>
            <a:rect l="l" t="t" r="r" b="b"/>
            <a:pathLst>
              <a:path w="435610" h="519429">
                <a:moveTo>
                  <a:pt x="0" y="519288"/>
                </a:moveTo>
                <a:lnTo>
                  <a:pt x="435050" y="519288"/>
                </a:lnTo>
                <a:lnTo>
                  <a:pt x="435050" y="0"/>
                </a:lnTo>
                <a:lnTo>
                  <a:pt x="0" y="0"/>
                </a:lnTo>
                <a:lnTo>
                  <a:pt x="0" y="519288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024421" y="5968058"/>
            <a:ext cx="435609" cy="519430"/>
          </a:xfrm>
          <a:custGeom>
            <a:avLst/>
            <a:gdLst/>
            <a:ahLst/>
            <a:cxnLst/>
            <a:rect l="l" t="t" r="r" b="b"/>
            <a:pathLst>
              <a:path w="435610" h="519429">
                <a:moveTo>
                  <a:pt x="0" y="0"/>
                </a:moveTo>
                <a:lnTo>
                  <a:pt x="435050" y="0"/>
                </a:lnTo>
                <a:lnTo>
                  <a:pt x="435050" y="519288"/>
                </a:lnTo>
                <a:lnTo>
                  <a:pt x="0" y="519288"/>
                </a:lnTo>
                <a:lnTo>
                  <a:pt x="0" y="0"/>
                </a:lnTo>
                <a:close/>
              </a:path>
            </a:pathLst>
          </a:custGeom>
          <a:ln w="81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459472" y="5968059"/>
            <a:ext cx="435609" cy="519430"/>
          </a:xfrm>
          <a:custGeom>
            <a:avLst/>
            <a:gdLst/>
            <a:ahLst/>
            <a:cxnLst/>
            <a:rect l="l" t="t" r="r" b="b"/>
            <a:pathLst>
              <a:path w="435610" h="519429">
                <a:moveTo>
                  <a:pt x="0" y="519288"/>
                </a:moveTo>
                <a:lnTo>
                  <a:pt x="435050" y="519288"/>
                </a:lnTo>
                <a:lnTo>
                  <a:pt x="435050" y="0"/>
                </a:lnTo>
                <a:lnTo>
                  <a:pt x="0" y="0"/>
                </a:lnTo>
                <a:lnTo>
                  <a:pt x="0" y="519288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459472" y="5968058"/>
            <a:ext cx="435609" cy="519430"/>
          </a:xfrm>
          <a:custGeom>
            <a:avLst/>
            <a:gdLst/>
            <a:ahLst/>
            <a:cxnLst/>
            <a:rect l="l" t="t" r="r" b="b"/>
            <a:pathLst>
              <a:path w="435610" h="519429">
                <a:moveTo>
                  <a:pt x="0" y="0"/>
                </a:moveTo>
                <a:lnTo>
                  <a:pt x="435050" y="0"/>
                </a:lnTo>
                <a:lnTo>
                  <a:pt x="435050" y="519288"/>
                </a:lnTo>
                <a:lnTo>
                  <a:pt x="0" y="519288"/>
                </a:lnTo>
                <a:lnTo>
                  <a:pt x="0" y="0"/>
                </a:lnTo>
                <a:close/>
              </a:path>
            </a:pathLst>
          </a:custGeom>
          <a:ln w="81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894522" y="5968059"/>
            <a:ext cx="435609" cy="519430"/>
          </a:xfrm>
          <a:custGeom>
            <a:avLst/>
            <a:gdLst/>
            <a:ahLst/>
            <a:cxnLst/>
            <a:rect l="l" t="t" r="r" b="b"/>
            <a:pathLst>
              <a:path w="435610" h="519429">
                <a:moveTo>
                  <a:pt x="0" y="519288"/>
                </a:moveTo>
                <a:lnTo>
                  <a:pt x="435050" y="519288"/>
                </a:lnTo>
                <a:lnTo>
                  <a:pt x="435050" y="0"/>
                </a:lnTo>
                <a:lnTo>
                  <a:pt x="0" y="0"/>
                </a:lnTo>
                <a:lnTo>
                  <a:pt x="0" y="519288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894522" y="5968058"/>
            <a:ext cx="435609" cy="519430"/>
          </a:xfrm>
          <a:custGeom>
            <a:avLst/>
            <a:gdLst/>
            <a:ahLst/>
            <a:cxnLst/>
            <a:rect l="l" t="t" r="r" b="b"/>
            <a:pathLst>
              <a:path w="435610" h="519429">
                <a:moveTo>
                  <a:pt x="0" y="0"/>
                </a:moveTo>
                <a:lnTo>
                  <a:pt x="435050" y="0"/>
                </a:lnTo>
                <a:lnTo>
                  <a:pt x="435050" y="519288"/>
                </a:lnTo>
                <a:lnTo>
                  <a:pt x="0" y="519288"/>
                </a:lnTo>
                <a:lnTo>
                  <a:pt x="0" y="0"/>
                </a:lnTo>
                <a:close/>
              </a:path>
            </a:pathLst>
          </a:custGeom>
          <a:ln w="81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389454" y="5925132"/>
            <a:ext cx="140335" cy="589280"/>
          </a:xfrm>
          <a:custGeom>
            <a:avLst/>
            <a:gdLst/>
            <a:ahLst/>
            <a:cxnLst/>
            <a:rect l="l" t="t" r="r" b="b"/>
            <a:pathLst>
              <a:path w="140335" h="589279">
                <a:moveTo>
                  <a:pt x="54645" y="0"/>
                </a:moveTo>
                <a:lnTo>
                  <a:pt x="58198" y="29616"/>
                </a:lnTo>
                <a:lnTo>
                  <a:pt x="59849" y="59072"/>
                </a:lnTo>
                <a:lnTo>
                  <a:pt x="59808" y="88383"/>
                </a:lnTo>
                <a:lnTo>
                  <a:pt x="55498" y="146648"/>
                </a:lnTo>
                <a:lnTo>
                  <a:pt x="46960" y="204553"/>
                </a:lnTo>
                <a:lnTo>
                  <a:pt x="35884" y="262243"/>
                </a:lnTo>
                <a:lnTo>
                  <a:pt x="23964" y="319861"/>
                </a:lnTo>
                <a:lnTo>
                  <a:pt x="18215" y="348689"/>
                </a:lnTo>
                <a:lnTo>
                  <a:pt x="8197" y="406468"/>
                </a:lnTo>
                <a:lnTo>
                  <a:pt x="1561" y="464535"/>
                </a:lnTo>
                <a:lnTo>
                  <a:pt x="0" y="523033"/>
                </a:lnTo>
                <a:lnTo>
                  <a:pt x="1650" y="552488"/>
                </a:lnTo>
                <a:lnTo>
                  <a:pt x="5203" y="582105"/>
                </a:lnTo>
                <a:lnTo>
                  <a:pt x="85388" y="588912"/>
                </a:lnTo>
                <a:lnTo>
                  <a:pt x="81835" y="559295"/>
                </a:lnTo>
                <a:lnTo>
                  <a:pt x="80185" y="529840"/>
                </a:lnTo>
                <a:lnTo>
                  <a:pt x="81746" y="471342"/>
                </a:lnTo>
                <a:lnTo>
                  <a:pt x="88382" y="413275"/>
                </a:lnTo>
                <a:lnTo>
                  <a:pt x="98400" y="355496"/>
                </a:lnTo>
                <a:lnTo>
                  <a:pt x="116070" y="269050"/>
                </a:lnTo>
                <a:lnTo>
                  <a:pt x="121819" y="240223"/>
                </a:lnTo>
                <a:lnTo>
                  <a:pt x="131837" y="182443"/>
                </a:lnTo>
                <a:lnTo>
                  <a:pt x="138472" y="124376"/>
                </a:lnTo>
                <a:lnTo>
                  <a:pt x="140034" y="65879"/>
                </a:lnTo>
                <a:lnTo>
                  <a:pt x="138384" y="36423"/>
                </a:lnTo>
                <a:lnTo>
                  <a:pt x="134831" y="6807"/>
                </a:lnTo>
                <a:lnTo>
                  <a:pt x="54645" y="0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389454" y="5925132"/>
            <a:ext cx="140335" cy="589280"/>
          </a:xfrm>
          <a:custGeom>
            <a:avLst/>
            <a:gdLst/>
            <a:ahLst/>
            <a:cxnLst/>
            <a:rect l="l" t="t" r="r" b="b"/>
            <a:pathLst>
              <a:path w="140335" h="589279">
                <a:moveTo>
                  <a:pt x="134830" y="6806"/>
                </a:moveTo>
                <a:lnTo>
                  <a:pt x="138383" y="36423"/>
                </a:lnTo>
                <a:lnTo>
                  <a:pt x="140033" y="65878"/>
                </a:lnTo>
                <a:lnTo>
                  <a:pt x="139993" y="95190"/>
                </a:lnTo>
                <a:lnTo>
                  <a:pt x="135683" y="153454"/>
                </a:lnTo>
                <a:lnTo>
                  <a:pt x="127144" y="211360"/>
                </a:lnTo>
                <a:lnTo>
                  <a:pt x="116069" y="269050"/>
                </a:lnTo>
                <a:lnTo>
                  <a:pt x="104149" y="326668"/>
                </a:lnTo>
                <a:lnTo>
                  <a:pt x="98400" y="355495"/>
                </a:lnTo>
                <a:lnTo>
                  <a:pt x="88382" y="413275"/>
                </a:lnTo>
                <a:lnTo>
                  <a:pt x="81746" y="471342"/>
                </a:lnTo>
                <a:lnTo>
                  <a:pt x="80184" y="529840"/>
                </a:lnTo>
                <a:lnTo>
                  <a:pt x="81835" y="559295"/>
                </a:lnTo>
                <a:lnTo>
                  <a:pt x="85388" y="588912"/>
                </a:lnTo>
                <a:lnTo>
                  <a:pt x="5203" y="582105"/>
                </a:lnTo>
                <a:lnTo>
                  <a:pt x="1650" y="552488"/>
                </a:lnTo>
                <a:lnTo>
                  <a:pt x="0" y="523033"/>
                </a:lnTo>
                <a:lnTo>
                  <a:pt x="40" y="493721"/>
                </a:lnTo>
                <a:lnTo>
                  <a:pt x="4350" y="435457"/>
                </a:lnTo>
                <a:lnTo>
                  <a:pt x="12889" y="377551"/>
                </a:lnTo>
                <a:lnTo>
                  <a:pt x="23964" y="319861"/>
                </a:lnTo>
                <a:lnTo>
                  <a:pt x="35884" y="262243"/>
                </a:lnTo>
                <a:lnTo>
                  <a:pt x="41633" y="233416"/>
                </a:lnTo>
                <a:lnTo>
                  <a:pt x="51651" y="175636"/>
                </a:lnTo>
                <a:lnTo>
                  <a:pt x="58287" y="117569"/>
                </a:lnTo>
                <a:lnTo>
                  <a:pt x="59849" y="59071"/>
                </a:lnTo>
                <a:lnTo>
                  <a:pt x="58198" y="29616"/>
                </a:lnTo>
                <a:lnTo>
                  <a:pt x="54645" y="0"/>
                </a:lnTo>
                <a:lnTo>
                  <a:pt x="134830" y="6806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329575" y="5968059"/>
            <a:ext cx="1250950" cy="519430"/>
          </a:xfrm>
          <a:custGeom>
            <a:avLst/>
            <a:gdLst/>
            <a:ahLst/>
            <a:cxnLst/>
            <a:rect l="l" t="t" r="r" b="b"/>
            <a:pathLst>
              <a:path w="1250950" h="519429">
                <a:moveTo>
                  <a:pt x="0" y="519288"/>
                </a:moveTo>
                <a:lnTo>
                  <a:pt x="1250771" y="519288"/>
                </a:lnTo>
                <a:lnTo>
                  <a:pt x="1250771" y="0"/>
                </a:lnTo>
                <a:lnTo>
                  <a:pt x="0" y="0"/>
                </a:lnTo>
                <a:lnTo>
                  <a:pt x="0" y="5192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329575" y="5968058"/>
            <a:ext cx="1250950" cy="519430"/>
          </a:xfrm>
          <a:custGeom>
            <a:avLst/>
            <a:gdLst/>
            <a:ahLst/>
            <a:cxnLst/>
            <a:rect l="l" t="t" r="r" b="b"/>
            <a:pathLst>
              <a:path w="1250950" h="519429">
                <a:moveTo>
                  <a:pt x="0" y="0"/>
                </a:moveTo>
                <a:lnTo>
                  <a:pt x="1250771" y="0"/>
                </a:lnTo>
                <a:lnTo>
                  <a:pt x="1250771" y="519288"/>
                </a:lnTo>
                <a:lnTo>
                  <a:pt x="0" y="519288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912134" y="5927838"/>
            <a:ext cx="140335" cy="589280"/>
          </a:xfrm>
          <a:custGeom>
            <a:avLst/>
            <a:gdLst/>
            <a:ahLst/>
            <a:cxnLst/>
            <a:rect l="l" t="t" r="r" b="b"/>
            <a:pathLst>
              <a:path w="140335" h="589279">
                <a:moveTo>
                  <a:pt x="54645" y="0"/>
                </a:moveTo>
                <a:lnTo>
                  <a:pt x="58198" y="29616"/>
                </a:lnTo>
                <a:lnTo>
                  <a:pt x="59849" y="59072"/>
                </a:lnTo>
                <a:lnTo>
                  <a:pt x="59808" y="88383"/>
                </a:lnTo>
                <a:lnTo>
                  <a:pt x="55498" y="146648"/>
                </a:lnTo>
                <a:lnTo>
                  <a:pt x="46960" y="204553"/>
                </a:lnTo>
                <a:lnTo>
                  <a:pt x="35884" y="262243"/>
                </a:lnTo>
                <a:lnTo>
                  <a:pt x="23964" y="319861"/>
                </a:lnTo>
                <a:lnTo>
                  <a:pt x="18215" y="348688"/>
                </a:lnTo>
                <a:lnTo>
                  <a:pt x="8197" y="406468"/>
                </a:lnTo>
                <a:lnTo>
                  <a:pt x="1561" y="464535"/>
                </a:lnTo>
                <a:lnTo>
                  <a:pt x="0" y="523033"/>
                </a:lnTo>
                <a:lnTo>
                  <a:pt x="1650" y="552488"/>
                </a:lnTo>
                <a:lnTo>
                  <a:pt x="5203" y="582105"/>
                </a:lnTo>
                <a:lnTo>
                  <a:pt x="85388" y="588911"/>
                </a:lnTo>
                <a:lnTo>
                  <a:pt x="81835" y="559295"/>
                </a:lnTo>
                <a:lnTo>
                  <a:pt x="80185" y="529839"/>
                </a:lnTo>
                <a:lnTo>
                  <a:pt x="81746" y="471342"/>
                </a:lnTo>
                <a:lnTo>
                  <a:pt x="88382" y="413275"/>
                </a:lnTo>
                <a:lnTo>
                  <a:pt x="98400" y="355495"/>
                </a:lnTo>
                <a:lnTo>
                  <a:pt x="116070" y="269050"/>
                </a:lnTo>
                <a:lnTo>
                  <a:pt x="121819" y="240222"/>
                </a:lnTo>
                <a:lnTo>
                  <a:pt x="131837" y="182443"/>
                </a:lnTo>
                <a:lnTo>
                  <a:pt x="138472" y="124376"/>
                </a:lnTo>
                <a:lnTo>
                  <a:pt x="140034" y="65878"/>
                </a:lnTo>
                <a:lnTo>
                  <a:pt x="138384" y="36423"/>
                </a:lnTo>
                <a:lnTo>
                  <a:pt x="134831" y="6807"/>
                </a:lnTo>
                <a:lnTo>
                  <a:pt x="546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912134" y="5927838"/>
            <a:ext cx="140335" cy="589280"/>
          </a:xfrm>
          <a:custGeom>
            <a:avLst/>
            <a:gdLst/>
            <a:ahLst/>
            <a:cxnLst/>
            <a:rect l="l" t="t" r="r" b="b"/>
            <a:pathLst>
              <a:path w="140335" h="589279">
                <a:moveTo>
                  <a:pt x="134830" y="6806"/>
                </a:moveTo>
                <a:lnTo>
                  <a:pt x="138383" y="36423"/>
                </a:lnTo>
                <a:lnTo>
                  <a:pt x="140033" y="65878"/>
                </a:lnTo>
                <a:lnTo>
                  <a:pt x="139993" y="95190"/>
                </a:lnTo>
                <a:lnTo>
                  <a:pt x="135683" y="153454"/>
                </a:lnTo>
                <a:lnTo>
                  <a:pt x="127144" y="211360"/>
                </a:lnTo>
                <a:lnTo>
                  <a:pt x="116069" y="269050"/>
                </a:lnTo>
                <a:lnTo>
                  <a:pt x="104149" y="326668"/>
                </a:lnTo>
                <a:lnTo>
                  <a:pt x="98400" y="355495"/>
                </a:lnTo>
                <a:lnTo>
                  <a:pt x="88382" y="413275"/>
                </a:lnTo>
                <a:lnTo>
                  <a:pt x="81746" y="471342"/>
                </a:lnTo>
                <a:lnTo>
                  <a:pt x="80184" y="529840"/>
                </a:lnTo>
                <a:lnTo>
                  <a:pt x="81835" y="559295"/>
                </a:lnTo>
                <a:lnTo>
                  <a:pt x="85388" y="588912"/>
                </a:lnTo>
                <a:lnTo>
                  <a:pt x="5203" y="582105"/>
                </a:lnTo>
                <a:lnTo>
                  <a:pt x="1650" y="552488"/>
                </a:lnTo>
                <a:lnTo>
                  <a:pt x="0" y="523033"/>
                </a:lnTo>
                <a:lnTo>
                  <a:pt x="40" y="493721"/>
                </a:lnTo>
                <a:lnTo>
                  <a:pt x="4350" y="435457"/>
                </a:lnTo>
                <a:lnTo>
                  <a:pt x="12889" y="377551"/>
                </a:lnTo>
                <a:lnTo>
                  <a:pt x="23964" y="319861"/>
                </a:lnTo>
                <a:lnTo>
                  <a:pt x="35884" y="262243"/>
                </a:lnTo>
                <a:lnTo>
                  <a:pt x="41633" y="233416"/>
                </a:lnTo>
                <a:lnTo>
                  <a:pt x="51651" y="175636"/>
                </a:lnTo>
                <a:lnTo>
                  <a:pt x="58287" y="117569"/>
                </a:lnTo>
                <a:lnTo>
                  <a:pt x="59849" y="59071"/>
                </a:lnTo>
                <a:lnTo>
                  <a:pt x="58198" y="29616"/>
                </a:lnTo>
                <a:lnTo>
                  <a:pt x="54645" y="0"/>
                </a:lnTo>
                <a:lnTo>
                  <a:pt x="134830" y="6806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07156" y="5448770"/>
            <a:ext cx="1142365" cy="513080"/>
          </a:xfrm>
          <a:custGeom>
            <a:avLst/>
            <a:gdLst/>
            <a:ahLst/>
            <a:cxnLst/>
            <a:rect l="l" t="t" r="r" b="b"/>
            <a:pathLst>
              <a:path w="1142364" h="513079">
                <a:moveTo>
                  <a:pt x="1142008" y="324554"/>
                </a:moveTo>
                <a:lnTo>
                  <a:pt x="1128583" y="364086"/>
                </a:lnTo>
                <a:lnTo>
                  <a:pt x="1094673" y="387055"/>
                </a:lnTo>
                <a:lnTo>
                  <a:pt x="475837" y="389466"/>
                </a:lnTo>
                <a:lnTo>
                  <a:pt x="453206" y="512545"/>
                </a:lnTo>
                <a:lnTo>
                  <a:pt x="190334" y="389466"/>
                </a:lnTo>
                <a:lnTo>
                  <a:pt x="64929" y="389466"/>
                </a:lnTo>
                <a:lnTo>
                  <a:pt x="50497" y="387857"/>
                </a:lnTo>
                <a:lnTo>
                  <a:pt x="15415" y="366547"/>
                </a:lnTo>
                <a:lnTo>
                  <a:pt x="87" y="327944"/>
                </a:lnTo>
                <a:lnTo>
                  <a:pt x="0" y="324555"/>
                </a:lnTo>
                <a:lnTo>
                  <a:pt x="0" y="227188"/>
                </a:lnTo>
                <a:lnTo>
                  <a:pt x="0" y="64912"/>
                </a:lnTo>
                <a:lnTo>
                  <a:pt x="1609" y="50483"/>
                </a:lnTo>
                <a:lnTo>
                  <a:pt x="22925" y="15411"/>
                </a:lnTo>
                <a:lnTo>
                  <a:pt x="61538" y="87"/>
                </a:lnTo>
                <a:lnTo>
                  <a:pt x="190334" y="0"/>
                </a:lnTo>
                <a:lnTo>
                  <a:pt x="475837" y="0"/>
                </a:lnTo>
                <a:lnTo>
                  <a:pt x="1077079" y="0"/>
                </a:lnTo>
                <a:lnTo>
                  <a:pt x="1091511" y="1609"/>
                </a:lnTo>
                <a:lnTo>
                  <a:pt x="1126593" y="22918"/>
                </a:lnTo>
                <a:lnTo>
                  <a:pt x="1141921" y="61522"/>
                </a:lnTo>
                <a:lnTo>
                  <a:pt x="1142008" y="227188"/>
                </a:lnTo>
                <a:lnTo>
                  <a:pt x="1142008" y="324555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903548" y="5448769"/>
            <a:ext cx="1781175" cy="601980"/>
          </a:xfrm>
          <a:custGeom>
            <a:avLst/>
            <a:gdLst/>
            <a:ahLst/>
            <a:cxnLst/>
            <a:rect l="l" t="t" r="r" b="b"/>
            <a:pathLst>
              <a:path w="1781175" h="601979">
                <a:moveTo>
                  <a:pt x="1716058" y="0"/>
                </a:moveTo>
                <a:lnTo>
                  <a:pt x="61537" y="87"/>
                </a:lnTo>
                <a:lnTo>
                  <a:pt x="22924" y="15412"/>
                </a:lnTo>
                <a:lnTo>
                  <a:pt x="1609" y="50484"/>
                </a:lnTo>
                <a:lnTo>
                  <a:pt x="0" y="64913"/>
                </a:lnTo>
                <a:lnTo>
                  <a:pt x="87" y="327945"/>
                </a:lnTo>
                <a:lnTo>
                  <a:pt x="15416" y="366548"/>
                </a:lnTo>
                <a:lnTo>
                  <a:pt x="50497" y="387857"/>
                </a:lnTo>
                <a:lnTo>
                  <a:pt x="64930" y="389467"/>
                </a:lnTo>
                <a:lnTo>
                  <a:pt x="296830" y="389467"/>
                </a:lnTo>
                <a:lnTo>
                  <a:pt x="257335" y="601799"/>
                </a:lnTo>
                <a:lnTo>
                  <a:pt x="742078" y="389467"/>
                </a:lnTo>
                <a:lnTo>
                  <a:pt x="1719451" y="389379"/>
                </a:lnTo>
                <a:lnTo>
                  <a:pt x="1733655" y="387055"/>
                </a:lnTo>
                <a:lnTo>
                  <a:pt x="1767563" y="364086"/>
                </a:lnTo>
                <a:lnTo>
                  <a:pt x="1780989" y="324556"/>
                </a:lnTo>
                <a:lnTo>
                  <a:pt x="1780902" y="61521"/>
                </a:lnTo>
                <a:lnTo>
                  <a:pt x="1765572" y="22918"/>
                </a:lnTo>
                <a:lnTo>
                  <a:pt x="1730490" y="1609"/>
                </a:lnTo>
                <a:lnTo>
                  <a:pt x="171605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903548" y="5448770"/>
            <a:ext cx="1781175" cy="601980"/>
          </a:xfrm>
          <a:custGeom>
            <a:avLst/>
            <a:gdLst/>
            <a:ahLst/>
            <a:cxnLst/>
            <a:rect l="l" t="t" r="r" b="b"/>
            <a:pathLst>
              <a:path w="1781175" h="601979">
                <a:moveTo>
                  <a:pt x="1780989" y="324553"/>
                </a:moveTo>
                <a:lnTo>
                  <a:pt x="1767563" y="364085"/>
                </a:lnTo>
                <a:lnTo>
                  <a:pt x="1733655" y="387054"/>
                </a:lnTo>
                <a:lnTo>
                  <a:pt x="742079" y="389466"/>
                </a:lnTo>
                <a:lnTo>
                  <a:pt x="257335" y="601799"/>
                </a:lnTo>
                <a:lnTo>
                  <a:pt x="296831" y="389466"/>
                </a:lnTo>
                <a:lnTo>
                  <a:pt x="64931" y="389466"/>
                </a:lnTo>
                <a:lnTo>
                  <a:pt x="50498" y="387857"/>
                </a:lnTo>
                <a:lnTo>
                  <a:pt x="15416" y="366548"/>
                </a:lnTo>
                <a:lnTo>
                  <a:pt x="87" y="327945"/>
                </a:lnTo>
                <a:lnTo>
                  <a:pt x="0" y="324555"/>
                </a:lnTo>
                <a:lnTo>
                  <a:pt x="0" y="227188"/>
                </a:lnTo>
                <a:lnTo>
                  <a:pt x="0" y="64913"/>
                </a:lnTo>
                <a:lnTo>
                  <a:pt x="1609" y="50485"/>
                </a:lnTo>
                <a:lnTo>
                  <a:pt x="22924" y="15412"/>
                </a:lnTo>
                <a:lnTo>
                  <a:pt x="61537" y="87"/>
                </a:lnTo>
                <a:lnTo>
                  <a:pt x="296831" y="0"/>
                </a:lnTo>
                <a:lnTo>
                  <a:pt x="742079" y="0"/>
                </a:lnTo>
                <a:lnTo>
                  <a:pt x="1716058" y="0"/>
                </a:lnTo>
                <a:lnTo>
                  <a:pt x="1730491" y="1609"/>
                </a:lnTo>
                <a:lnTo>
                  <a:pt x="1765572" y="22918"/>
                </a:lnTo>
                <a:lnTo>
                  <a:pt x="1780902" y="61521"/>
                </a:lnTo>
                <a:lnTo>
                  <a:pt x="1780989" y="227188"/>
                </a:lnTo>
                <a:lnTo>
                  <a:pt x="1780989" y="324555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814336" y="5520979"/>
            <a:ext cx="2773680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97610" algn="l"/>
              </a:tabLst>
            </a:pPr>
            <a:r>
              <a:rPr sz="1700" b="1" spc="5" dirty="0">
                <a:latin typeface="Arial" panose="020B0604020202020204"/>
                <a:cs typeface="Arial" panose="020B0604020202020204"/>
              </a:rPr>
              <a:t>boo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扇区</a:t>
            </a:r>
            <a:r>
              <a:rPr sz="1650" b="1" dirty="0">
                <a:latin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sz="1700" b="1" dirty="0">
                <a:latin typeface="Arial" panose="020B0604020202020204"/>
                <a:cs typeface="Arial" panose="020B0604020202020204"/>
              </a:rPr>
              <a:t>se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u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p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1700" b="1" dirty="0">
                <a:latin typeface="Arial" panose="020B0604020202020204"/>
                <a:cs typeface="Arial" panose="020B0604020202020204"/>
              </a:rPr>
              <a:t>4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个扇区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752514" y="5448769"/>
            <a:ext cx="2309495" cy="601980"/>
          </a:xfrm>
          <a:custGeom>
            <a:avLst/>
            <a:gdLst/>
            <a:ahLst/>
            <a:cxnLst/>
            <a:rect l="l" t="t" r="r" b="b"/>
            <a:pathLst>
              <a:path w="2309495" h="601979">
                <a:moveTo>
                  <a:pt x="2244011" y="0"/>
                </a:moveTo>
                <a:lnTo>
                  <a:pt x="61537" y="87"/>
                </a:lnTo>
                <a:lnTo>
                  <a:pt x="22924" y="15412"/>
                </a:lnTo>
                <a:lnTo>
                  <a:pt x="1609" y="50484"/>
                </a:lnTo>
                <a:lnTo>
                  <a:pt x="0" y="64913"/>
                </a:lnTo>
                <a:lnTo>
                  <a:pt x="87" y="327945"/>
                </a:lnTo>
                <a:lnTo>
                  <a:pt x="15415" y="366548"/>
                </a:lnTo>
                <a:lnTo>
                  <a:pt x="50497" y="387857"/>
                </a:lnTo>
                <a:lnTo>
                  <a:pt x="64930" y="389467"/>
                </a:lnTo>
                <a:lnTo>
                  <a:pt x="384822" y="389467"/>
                </a:lnTo>
                <a:lnTo>
                  <a:pt x="279519" y="601800"/>
                </a:lnTo>
                <a:lnTo>
                  <a:pt x="962059" y="389467"/>
                </a:lnTo>
                <a:lnTo>
                  <a:pt x="2247402" y="389380"/>
                </a:lnTo>
                <a:lnTo>
                  <a:pt x="2261606" y="387055"/>
                </a:lnTo>
                <a:lnTo>
                  <a:pt x="2295515" y="364086"/>
                </a:lnTo>
                <a:lnTo>
                  <a:pt x="2308941" y="324556"/>
                </a:lnTo>
                <a:lnTo>
                  <a:pt x="2308854" y="61522"/>
                </a:lnTo>
                <a:lnTo>
                  <a:pt x="2293524" y="22918"/>
                </a:lnTo>
                <a:lnTo>
                  <a:pt x="2258443" y="1609"/>
                </a:lnTo>
                <a:lnTo>
                  <a:pt x="224401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752513" y="5448770"/>
            <a:ext cx="2309495" cy="601980"/>
          </a:xfrm>
          <a:custGeom>
            <a:avLst/>
            <a:gdLst/>
            <a:ahLst/>
            <a:cxnLst/>
            <a:rect l="l" t="t" r="r" b="b"/>
            <a:pathLst>
              <a:path w="2309495" h="601979">
                <a:moveTo>
                  <a:pt x="2308942" y="324553"/>
                </a:moveTo>
                <a:lnTo>
                  <a:pt x="2295516" y="364086"/>
                </a:lnTo>
                <a:lnTo>
                  <a:pt x="2261607" y="387054"/>
                </a:lnTo>
                <a:lnTo>
                  <a:pt x="962059" y="389466"/>
                </a:lnTo>
                <a:lnTo>
                  <a:pt x="279519" y="601800"/>
                </a:lnTo>
                <a:lnTo>
                  <a:pt x="384823" y="389466"/>
                </a:lnTo>
                <a:lnTo>
                  <a:pt x="64930" y="389466"/>
                </a:lnTo>
                <a:lnTo>
                  <a:pt x="50498" y="387857"/>
                </a:lnTo>
                <a:lnTo>
                  <a:pt x="15416" y="366548"/>
                </a:lnTo>
                <a:lnTo>
                  <a:pt x="87" y="327945"/>
                </a:lnTo>
                <a:lnTo>
                  <a:pt x="0" y="324556"/>
                </a:lnTo>
                <a:lnTo>
                  <a:pt x="0" y="227189"/>
                </a:lnTo>
                <a:lnTo>
                  <a:pt x="0" y="64912"/>
                </a:lnTo>
                <a:lnTo>
                  <a:pt x="1609" y="50484"/>
                </a:lnTo>
                <a:lnTo>
                  <a:pt x="22924" y="15412"/>
                </a:lnTo>
                <a:lnTo>
                  <a:pt x="61538" y="87"/>
                </a:lnTo>
                <a:lnTo>
                  <a:pt x="384823" y="0"/>
                </a:lnTo>
                <a:lnTo>
                  <a:pt x="962059" y="0"/>
                </a:lnTo>
                <a:lnTo>
                  <a:pt x="2244012" y="0"/>
                </a:lnTo>
                <a:lnTo>
                  <a:pt x="2258444" y="1609"/>
                </a:lnTo>
                <a:lnTo>
                  <a:pt x="2293526" y="22918"/>
                </a:lnTo>
                <a:lnTo>
                  <a:pt x="2308855" y="61521"/>
                </a:lnTo>
                <a:lnTo>
                  <a:pt x="2308942" y="227189"/>
                </a:lnTo>
                <a:lnTo>
                  <a:pt x="2308942" y="324556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3860829" y="5520979"/>
            <a:ext cx="2092325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sys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em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模块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(O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S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代码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7224576" y="2163998"/>
            <a:ext cx="3187065" cy="1802764"/>
          </a:xfrm>
          <a:custGeom>
            <a:avLst/>
            <a:gdLst/>
            <a:ahLst/>
            <a:cxnLst/>
            <a:rect l="l" t="t" r="r" b="b"/>
            <a:pathLst>
              <a:path w="3187065" h="1802764">
                <a:moveTo>
                  <a:pt x="3186565" y="751098"/>
                </a:moveTo>
                <a:lnTo>
                  <a:pt x="134914" y="751098"/>
                </a:lnTo>
                <a:lnTo>
                  <a:pt x="134914" y="1502190"/>
                </a:lnTo>
                <a:lnTo>
                  <a:pt x="138848" y="1550923"/>
                </a:lnTo>
                <a:lnTo>
                  <a:pt x="150235" y="1597153"/>
                </a:lnTo>
                <a:lnTo>
                  <a:pt x="168458" y="1640261"/>
                </a:lnTo>
                <a:lnTo>
                  <a:pt x="192898" y="1679628"/>
                </a:lnTo>
                <a:lnTo>
                  <a:pt x="222936" y="1714636"/>
                </a:lnTo>
                <a:lnTo>
                  <a:pt x="257954" y="1744665"/>
                </a:lnTo>
                <a:lnTo>
                  <a:pt x="297331" y="1769099"/>
                </a:lnTo>
                <a:lnTo>
                  <a:pt x="340451" y="1787317"/>
                </a:lnTo>
                <a:lnTo>
                  <a:pt x="386694" y="1798701"/>
                </a:lnTo>
                <a:lnTo>
                  <a:pt x="435441" y="1802634"/>
                </a:lnTo>
                <a:lnTo>
                  <a:pt x="2886039" y="1802634"/>
                </a:lnTo>
                <a:lnTo>
                  <a:pt x="2934786" y="1798701"/>
                </a:lnTo>
                <a:lnTo>
                  <a:pt x="2981029" y="1787317"/>
                </a:lnTo>
                <a:lnTo>
                  <a:pt x="3024148" y="1769099"/>
                </a:lnTo>
                <a:lnTo>
                  <a:pt x="3063526" y="1744665"/>
                </a:lnTo>
                <a:lnTo>
                  <a:pt x="3098543" y="1714636"/>
                </a:lnTo>
                <a:lnTo>
                  <a:pt x="3128581" y="1679628"/>
                </a:lnTo>
                <a:lnTo>
                  <a:pt x="3153021" y="1640261"/>
                </a:lnTo>
                <a:lnTo>
                  <a:pt x="3171244" y="1597153"/>
                </a:lnTo>
                <a:lnTo>
                  <a:pt x="3182632" y="1550923"/>
                </a:lnTo>
                <a:lnTo>
                  <a:pt x="3186565" y="1502190"/>
                </a:lnTo>
                <a:lnTo>
                  <a:pt x="3186565" y="751098"/>
                </a:lnTo>
                <a:close/>
              </a:path>
              <a:path w="3187065" h="1802764">
                <a:moveTo>
                  <a:pt x="2886039" y="0"/>
                </a:moveTo>
                <a:lnTo>
                  <a:pt x="435441" y="0"/>
                </a:lnTo>
                <a:lnTo>
                  <a:pt x="410793" y="995"/>
                </a:lnTo>
                <a:lnTo>
                  <a:pt x="363221" y="8731"/>
                </a:lnTo>
                <a:lnTo>
                  <a:pt x="318462" y="23610"/>
                </a:lnTo>
                <a:lnTo>
                  <a:pt x="277136" y="45013"/>
                </a:lnTo>
                <a:lnTo>
                  <a:pt x="239861" y="72322"/>
                </a:lnTo>
                <a:lnTo>
                  <a:pt x="207256" y="104918"/>
                </a:lnTo>
                <a:lnTo>
                  <a:pt x="179940" y="142182"/>
                </a:lnTo>
                <a:lnTo>
                  <a:pt x="158531" y="183497"/>
                </a:lnTo>
                <a:lnTo>
                  <a:pt x="143648" y="228243"/>
                </a:lnTo>
                <a:lnTo>
                  <a:pt x="135910" y="275802"/>
                </a:lnTo>
                <a:lnTo>
                  <a:pt x="134914" y="300443"/>
                </a:lnTo>
                <a:lnTo>
                  <a:pt x="0" y="859335"/>
                </a:lnTo>
                <a:lnTo>
                  <a:pt x="134914" y="751098"/>
                </a:lnTo>
                <a:lnTo>
                  <a:pt x="3186565" y="751098"/>
                </a:lnTo>
                <a:lnTo>
                  <a:pt x="3186565" y="300437"/>
                </a:lnTo>
                <a:lnTo>
                  <a:pt x="3182632" y="251710"/>
                </a:lnTo>
                <a:lnTo>
                  <a:pt x="3171244" y="205480"/>
                </a:lnTo>
                <a:lnTo>
                  <a:pt x="3153021" y="162372"/>
                </a:lnTo>
                <a:lnTo>
                  <a:pt x="3128581" y="123005"/>
                </a:lnTo>
                <a:lnTo>
                  <a:pt x="3098543" y="87997"/>
                </a:lnTo>
                <a:lnTo>
                  <a:pt x="3063526" y="57968"/>
                </a:lnTo>
                <a:lnTo>
                  <a:pt x="3024148" y="33535"/>
                </a:lnTo>
                <a:lnTo>
                  <a:pt x="2981029" y="15316"/>
                </a:lnTo>
                <a:lnTo>
                  <a:pt x="2934786" y="3932"/>
                </a:lnTo>
                <a:lnTo>
                  <a:pt x="2910687" y="995"/>
                </a:lnTo>
                <a:lnTo>
                  <a:pt x="2886039" y="0"/>
                </a:lnTo>
                <a:close/>
              </a:path>
              <a:path w="3187065" h="1802764">
                <a:moveTo>
                  <a:pt x="134914" y="300437"/>
                </a:move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224576" y="2163997"/>
            <a:ext cx="3187065" cy="1802764"/>
          </a:xfrm>
          <a:custGeom>
            <a:avLst/>
            <a:gdLst/>
            <a:ahLst/>
            <a:cxnLst/>
            <a:rect l="l" t="t" r="r" b="b"/>
            <a:pathLst>
              <a:path w="3187065" h="1802764">
                <a:moveTo>
                  <a:pt x="3186565" y="1502190"/>
                </a:moveTo>
                <a:lnTo>
                  <a:pt x="3182632" y="1550924"/>
                </a:lnTo>
                <a:lnTo>
                  <a:pt x="3171244" y="1597154"/>
                </a:lnTo>
                <a:lnTo>
                  <a:pt x="3153021" y="1640262"/>
                </a:lnTo>
                <a:lnTo>
                  <a:pt x="3128581" y="1679629"/>
                </a:lnTo>
                <a:lnTo>
                  <a:pt x="3098543" y="1714637"/>
                </a:lnTo>
                <a:lnTo>
                  <a:pt x="3063526" y="1744666"/>
                </a:lnTo>
                <a:lnTo>
                  <a:pt x="3024148" y="1769100"/>
                </a:lnTo>
                <a:lnTo>
                  <a:pt x="2981029" y="1787318"/>
                </a:lnTo>
                <a:lnTo>
                  <a:pt x="2934786" y="1798702"/>
                </a:lnTo>
                <a:lnTo>
                  <a:pt x="2886039" y="1802635"/>
                </a:lnTo>
                <a:lnTo>
                  <a:pt x="1406435" y="1802635"/>
                </a:lnTo>
                <a:lnTo>
                  <a:pt x="643523" y="1802635"/>
                </a:lnTo>
                <a:lnTo>
                  <a:pt x="435441" y="1802635"/>
                </a:lnTo>
                <a:lnTo>
                  <a:pt x="410793" y="1801639"/>
                </a:lnTo>
                <a:lnTo>
                  <a:pt x="363220" y="1793903"/>
                </a:lnTo>
                <a:lnTo>
                  <a:pt x="318462" y="1779024"/>
                </a:lnTo>
                <a:lnTo>
                  <a:pt x="277136" y="1757621"/>
                </a:lnTo>
                <a:lnTo>
                  <a:pt x="239861" y="1730312"/>
                </a:lnTo>
                <a:lnTo>
                  <a:pt x="207256" y="1697716"/>
                </a:lnTo>
                <a:lnTo>
                  <a:pt x="179940" y="1660451"/>
                </a:lnTo>
                <a:lnTo>
                  <a:pt x="158531" y="1619137"/>
                </a:lnTo>
                <a:lnTo>
                  <a:pt x="143648" y="1574390"/>
                </a:lnTo>
                <a:lnTo>
                  <a:pt x="135910" y="1526831"/>
                </a:lnTo>
                <a:lnTo>
                  <a:pt x="134914" y="1502190"/>
                </a:lnTo>
                <a:lnTo>
                  <a:pt x="134914" y="751098"/>
                </a:lnTo>
                <a:lnTo>
                  <a:pt x="0" y="859335"/>
                </a:lnTo>
                <a:lnTo>
                  <a:pt x="134914" y="300437"/>
                </a:lnTo>
                <a:lnTo>
                  <a:pt x="135910" y="275803"/>
                </a:lnTo>
                <a:lnTo>
                  <a:pt x="143648" y="228244"/>
                </a:lnTo>
                <a:lnTo>
                  <a:pt x="158531" y="183497"/>
                </a:lnTo>
                <a:lnTo>
                  <a:pt x="179940" y="142183"/>
                </a:lnTo>
                <a:lnTo>
                  <a:pt x="207256" y="104918"/>
                </a:lnTo>
                <a:lnTo>
                  <a:pt x="239861" y="72322"/>
                </a:lnTo>
                <a:lnTo>
                  <a:pt x="277136" y="45013"/>
                </a:lnTo>
                <a:lnTo>
                  <a:pt x="318462" y="23610"/>
                </a:lnTo>
                <a:lnTo>
                  <a:pt x="363220" y="8731"/>
                </a:lnTo>
                <a:lnTo>
                  <a:pt x="410793" y="995"/>
                </a:lnTo>
                <a:lnTo>
                  <a:pt x="435441" y="0"/>
                </a:lnTo>
                <a:lnTo>
                  <a:pt x="643523" y="0"/>
                </a:lnTo>
                <a:lnTo>
                  <a:pt x="1406435" y="0"/>
                </a:lnTo>
                <a:lnTo>
                  <a:pt x="2886039" y="0"/>
                </a:lnTo>
                <a:lnTo>
                  <a:pt x="2910687" y="995"/>
                </a:lnTo>
                <a:lnTo>
                  <a:pt x="2958259" y="8731"/>
                </a:lnTo>
                <a:lnTo>
                  <a:pt x="3003018" y="23610"/>
                </a:lnTo>
                <a:lnTo>
                  <a:pt x="3044344" y="45013"/>
                </a:lnTo>
                <a:lnTo>
                  <a:pt x="3081618" y="72322"/>
                </a:lnTo>
                <a:lnTo>
                  <a:pt x="3114223" y="104918"/>
                </a:lnTo>
                <a:lnTo>
                  <a:pt x="3141540" y="142183"/>
                </a:lnTo>
                <a:lnTo>
                  <a:pt x="3162949" y="183497"/>
                </a:lnTo>
                <a:lnTo>
                  <a:pt x="3177831" y="228244"/>
                </a:lnTo>
                <a:lnTo>
                  <a:pt x="3185569" y="275803"/>
                </a:lnTo>
                <a:lnTo>
                  <a:pt x="3186565" y="300444"/>
                </a:lnTo>
                <a:lnTo>
                  <a:pt x="3186565" y="751098"/>
                </a:lnTo>
                <a:lnTo>
                  <a:pt x="3186565" y="150219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7538864" y="2306065"/>
            <a:ext cx="2693035" cy="1290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1270" algn="ctr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0x13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是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B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O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S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读磁盘扇区的 中断</a:t>
            </a:r>
            <a:r>
              <a:rPr sz="1700" b="1" dirty="0">
                <a:latin typeface="Arial" panose="020B0604020202020204"/>
                <a:cs typeface="Arial" panose="020B0604020202020204"/>
              </a:rPr>
              <a:t>: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a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h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=</a:t>
            </a:r>
            <a:r>
              <a:rPr sz="1700" b="1" dirty="0">
                <a:latin typeface="Arial" panose="020B0604020202020204"/>
                <a:cs typeface="Arial" panose="020B0604020202020204"/>
              </a:rPr>
              <a:t>0x0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2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-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读磁盘，</a:t>
            </a:r>
            <a:r>
              <a:rPr sz="1700" b="1" dirty="0">
                <a:latin typeface="Arial" panose="020B0604020202020204"/>
                <a:cs typeface="Arial" panose="020B0604020202020204"/>
              </a:rPr>
              <a:t>a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l</a:t>
            </a:r>
            <a:r>
              <a:rPr sz="1700" b="1" dirty="0">
                <a:latin typeface="Arial" panose="020B0604020202020204"/>
                <a:cs typeface="Arial" panose="020B0604020202020204"/>
              </a:rPr>
              <a:t>=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扇区数量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SE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U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P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L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N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=</a:t>
            </a:r>
            <a:r>
              <a:rPr sz="1700" b="1" dirty="0">
                <a:latin typeface="Arial" panose="020B0604020202020204"/>
                <a:cs typeface="Arial" panose="020B0604020202020204"/>
              </a:rPr>
              <a:t>4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)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7780" marR="10795" algn="ctr">
              <a:lnSpc>
                <a:spcPts val="2070"/>
              </a:lnSpc>
              <a:spcBef>
                <a:spcPts val="35"/>
              </a:spcBef>
            </a:pPr>
            <a:r>
              <a:rPr sz="1700" b="1" dirty="0">
                <a:latin typeface="Arial" panose="020B0604020202020204"/>
                <a:cs typeface="Arial" panose="020B0604020202020204"/>
              </a:rPr>
              <a:t>ch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=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柱面号，</a:t>
            </a:r>
            <a:r>
              <a:rPr sz="1700" b="1" dirty="0">
                <a:latin typeface="Arial" panose="020B0604020202020204"/>
                <a:cs typeface="Arial" panose="020B0604020202020204"/>
              </a:rPr>
              <a:t>c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l=</a:t>
            </a:r>
            <a:r>
              <a:rPr sz="16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开始扇区， 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dh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=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磁头号，</a:t>
            </a:r>
            <a:r>
              <a:rPr sz="1700" b="1" dirty="0">
                <a:latin typeface="Arial" panose="020B0604020202020204"/>
                <a:cs typeface="Arial" panose="020B0604020202020204"/>
              </a:rPr>
              <a:t>d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l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=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驱动器号，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55" name="object 55"/>
          <p:cNvSpPr txBox="1"/>
          <p:nvPr/>
        </p:nvSpPr>
        <p:spPr>
          <a:xfrm>
            <a:off x="5131033" y="6459594"/>
            <a:ext cx="43116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b="1" spc="5" dirty="0">
                <a:latin typeface="Arial" panose="020B0604020202020204"/>
                <a:cs typeface="Arial" panose="020B0604020202020204"/>
              </a:rPr>
              <a:t>-</a:t>
            </a:r>
            <a:r>
              <a:rPr sz="135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1350" b="1" dirty="0">
                <a:latin typeface="Arial" panose="020B0604020202020204"/>
                <a:cs typeface="Arial" panose="020B0604020202020204"/>
              </a:rPr>
              <a:t>1</a:t>
            </a:r>
            <a:r>
              <a:rPr sz="1350" b="1" spc="5" dirty="0">
                <a:latin typeface="Arial" panose="020B0604020202020204"/>
                <a:cs typeface="Arial" panose="020B0604020202020204"/>
              </a:rPr>
              <a:t>0</a:t>
            </a:r>
            <a:r>
              <a:rPr sz="1350" b="1" dirty="0">
                <a:latin typeface="Arial" panose="020B0604020202020204"/>
                <a:cs typeface="Arial" panose="020B0604020202020204"/>
              </a:rPr>
              <a:t> </a:t>
            </a:r>
            <a:r>
              <a:rPr sz="1350" b="1" spc="5" dirty="0">
                <a:latin typeface="Arial" panose="020B0604020202020204"/>
                <a:cs typeface="Arial" panose="020B0604020202020204"/>
              </a:rPr>
              <a:t>-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093962" y="3605345"/>
            <a:ext cx="1581785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es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:</a:t>
            </a:r>
            <a:r>
              <a:rPr sz="1700" b="1" dirty="0">
                <a:latin typeface="Arial" panose="020B0604020202020204"/>
                <a:cs typeface="Arial" panose="020B0604020202020204"/>
              </a:rPr>
              <a:t>b</a:t>
            </a:r>
            <a:r>
              <a:rPr sz="1700" b="1" dirty="0">
                <a:latin typeface="Arial" panose="020B0604020202020204"/>
                <a:cs typeface="Arial" panose="020B0604020202020204"/>
              </a:rPr>
              <a:t>x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=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内存地址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读入</a:t>
            </a:r>
            <a:r>
              <a:rPr sz="3050" dirty="0"/>
              <a:t>se</a:t>
            </a:r>
            <a:r>
              <a:rPr sz="3050" spc="5" dirty="0"/>
              <a:t>t</a:t>
            </a:r>
            <a:r>
              <a:rPr sz="3050" spc="5" dirty="0"/>
              <a:t>u</a:t>
            </a:r>
            <a:r>
              <a:rPr sz="3050" dirty="0"/>
              <a:t>p</a:t>
            </a: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模块后</a:t>
            </a:r>
            <a:r>
              <a:rPr sz="3050" spc="5" dirty="0"/>
              <a:t>:</a:t>
            </a:r>
            <a:r>
              <a:rPr sz="3050" dirty="0"/>
              <a:t> </a:t>
            </a:r>
            <a:r>
              <a:rPr sz="3050" spc="10" dirty="0"/>
              <a:t>o</a:t>
            </a:r>
            <a:r>
              <a:rPr sz="3050" dirty="0"/>
              <a:t>k</a:t>
            </a:r>
            <a:r>
              <a:rPr sz="3050" dirty="0"/>
              <a:t>_</a:t>
            </a:r>
            <a:r>
              <a:rPr sz="3050" spc="-5" dirty="0"/>
              <a:t>l</a:t>
            </a:r>
            <a:r>
              <a:rPr sz="3050" spc="10" dirty="0"/>
              <a:t>o</a:t>
            </a:r>
            <a:r>
              <a:rPr sz="3050" dirty="0"/>
              <a:t>a</a:t>
            </a:r>
            <a:r>
              <a:rPr sz="3050" spc="10" dirty="0"/>
              <a:t>d</a:t>
            </a:r>
            <a:r>
              <a:rPr sz="3050" dirty="0"/>
              <a:t>_</a:t>
            </a:r>
            <a:r>
              <a:rPr sz="3050" dirty="0"/>
              <a:t>se</a:t>
            </a:r>
            <a:r>
              <a:rPr sz="3050" spc="5" dirty="0"/>
              <a:t>tup</a:t>
            </a:r>
            <a:endParaRPr sz="30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90770" y="1834934"/>
            <a:ext cx="7063740" cy="3224530"/>
          </a:xfrm>
          <a:custGeom>
            <a:avLst/>
            <a:gdLst/>
            <a:ahLst/>
            <a:cxnLst/>
            <a:rect l="l" t="t" r="r" b="b"/>
            <a:pathLst>
              <a:path w="7063740" h="3224529">
                <a:moveTo>
                  <a:pt x="0" y="0"/>
                </a:moveTo>
                <a:lnTo>
                  <a:pt x="7063506" y="0"/>
                </a:lnTo>
                <a:lnTo>
                  <a:pt x="7063506" y="3224369"/>
                </a:lnTo>
                <a:lnTo>
                  <a:pt x="0" y="3224369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42152" y="1899896"/>
            <a:ext cx="3876675" cy="266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089150" algn="l"/>
              </a:tabLst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Ok_load_setup: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//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载入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setup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模块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1441" y="2237900"/>
            <a:ext cx="1583690" cy="2103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8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mov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dl,#0x00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int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0x13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12700" marR="5080">
              <a:lnSpc>
                <a:spcPct val="120000"/>
              </a:lnSpc>
              <a:spcBef>
                <a:spcPts val="55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mov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ah,#0x03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mov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cx,#24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mov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bp,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#msg1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mov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mov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78930" y="2237900"/>
            <a:ext cx="1843405" cy="148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mov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ax,#0x0800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mov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ch,#0x00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xor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bh,bh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12700" marR="5080" indent="-635">
              <a:lnSpc>
                <a:spcPts val="2470"/>
              </a:lnSpc>
              <a:spcBef>
                <a:spcPts val="115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mov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bx,#0x0007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mov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ax,#1301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80723" y="3791071"/>
            <a:ext cx="3400425" cy="550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ax,#SYSSEG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//SYSSEG=0x1000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es,ax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1441" y="4392652"/>
            <a:ext cx="3616960" cy="266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call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read_it</a:t>
            </a:r>
            <a:r>
              <a:rPr sz="1700" b="1" spc="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//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读入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system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模块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61441" y="4726370"/>
            <a:ext cx="197294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jmpi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0,SETUPSEG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713649" y="3057878"/>
            <a:ext cx="2126615" cy="389890"/>
          </a:xfrm>
          <a:custGeom>
            <a:avLst/>
            <a:gdLst/>
            <a:ahLst/>
            <a:cxnLst/>
            <a:rect l="l" t="t" r="r" b="b"/>
            <a:pathLst>
              <a:path w="2126615" h="389889">
                <a:moveTo>
                  <a:pt x="0" y="223147"/>
                </a:moveTo>
                <a:lnTo>
                  <a:pt x="373335" y="324554"/>
                </a:lnTo>
                <a:lnTo>
                  <a:pt x="373422" y="327943"/>
                </a:lnTo>
                <a:lnTo>
                  <a:pt x="375747" y="342143"/>
                </a:lnTo>
                <a:lnTo>
                  <a:pt x="398721" y="376043"/>
                </a:lnTo>
                <a:lnTo>
                  <a:pt x="438264" y="389465"/>
                </a:lnTo>
                <a:lnTo>
                  <a:pt x="2064872" y="389378"/>
                </a:lnTo>
                <a:lnTo>
                  <a:pt x="2103486" y="374054"/>
                </a:lnTo>
                <a:lnTo>
                  <a:pt x="2124802" y="338983"/>
                </a:lnTo>
                <a:lnTo>
                  <a:pt x="2126411" y="324554"/>
                </a:lnTo>
                <a:lnTo>
                  <a:pt x="2126379" y="227187"/>
                </a:lnTo>
                <a:lnTo>
                  <a:pt x="373335" y="227187"/>
                </a:lnTo>
                <a:lnTo>
                  <a:pt x="0" y="223147"/>
                </a:lnTo>
                <a:close/>
              </a:path>
              <a:path w="2126615" h="389889">
                <a:moveTo>
                  <a:pt x="2061481" y="0"/>
                </a:moveTo>
                <a:lnTo>
                  <a:pt x="434875" y="86"/>
                </a:lnTo>
                <a:lnTo>
                  <a:pt x="396260" y="15410"/>
                </a:lnTo>
                <a:lnTo>
                  <a:pt x="374945" y="50482"/>
                </a:lnTo>
                <a:lnTo>
                  <a:pt x="373335" y="64910"/>
                </a:lnTo>
                <a:lnTo>
                  <a:pt x="373335" y="227187"/>
                </a:lnTo>
                <a:lnTo>
                  <a:pt x="2126379" y="227187"/>
                </a:lnTo>
                <a:lnTo>
                  <a:pt x="2126324" y="61521"/>
                </a:lnTo>
                <a:lnTo>
                  <a:pt x="2110996" y="22918"/>
                </a:lnTo>
                <a:lnTo>
                  <a:pt x="2075914" y="1609"/>
                </a:lnTo>
                <a:lnTo>
                  <a:pt x="206148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713649" y="3057877"/>
            <a:ext cx="2126615" cy="389890"/>
          </a:xfrm>
          <a:custGeom>
            <a:avLst/>
            <a:gdLst/>
            <a:ahLst/>
            <a:cxnLst/>
            <a:rect l="l" t="t" r="r" b="b"/>
            <a:pathLst>
              <a:path w="2126615" h="389889">
                <a:moveTo>
                  <a:pt x="2126412" y="324554"/>
                </a:moveTo>
                <a:lnTo>
                  <a:pt x="2112986" y="364087"/>
                </a:lnTo>
                <a:lnTo>
                  <a:pt x="2079077" y="387055"/>
                </a:lnTo>
                <a:lnTo>
                  <a:pt x="1103784" y="389466"/>
                </a:lnTo>
                <a:lnTo>
                  <a:pt x="665515" y="389466"/>
                </a:lnTo>
                <a:lnTo>
                  <a:pt x="438265" y="389466"/>
                </a:lnTo>
                <a:lnTo>
                  <a:pt x="423833" y="387857"/>
                </a:lnTo>
                <a:lnTo>
                  <a:pt x="388751" y="366547"/>
                </a:lnTo>
                <a:lnTo>
                  <a:pt x="373423" y="327944"/>
                </a:lnTo>
                <a:lnTo>
                  <a:pt x="373336" y="324554"/>
                </a:lnTo>
                <a:lnTo>
                  <a:pt x="0" y="223147"/>
                </a:lnTo>
                <a:lnTo>
                  <a:pt x="373336" y="227188"/>
                </a:lnTo>
                <a:lnTo>
                  <a:pt x="373336" y="64911"/>
                </a:lnTo>
                <a:lnTo>
                  <a:pt x="374945" y="50483"/>
                </a:lnTo>
                <a:lnTo>
                  <a:pt x="396260" y="15411"/>
                </a:lnTo>
                <a:lnTo>
                  <a:pt x="434875" y="86"/>
                </a:lnTo>
                <a:lnTo>
                  <a:pt x="665515" y="0"/>
                </a:lnTo>
                <a:lnTo>
                  <a:pt x="1103784" y="0"/>
                </a:lnTo>
                <a:lnTo>
                  <a:pt x="2061482" y="0"/>
                </a:lnTo>
                <a:lnTo>
                  <a:pt x="2075915" y="1609"/>
                </a:lnTo>
                <a:lnTo>
                  <a:pt x="2110996" y="22918"/>
                </a:lnTo>
                <a:lnTo>
                  <a:pt x="2126325" y="61522"/>
                </a:lnTo>
                <a:lnTo>
                  <a:pt x="2126412" y="227188"/>
                </a:lnTo>
                <a:lnTo>
                  <a:pt x="2126412" y="324554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826240" y="2213133"/>
            <a:ext cx="2448560" cy="1510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 marR="220980" indent="-130175">
              <a:lnSpc>
                <a:spcPct val="12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//ah=8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获得磁盘参数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mov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sectors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,cx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int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0x10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//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读光标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99745">
              <a:lnSpc>
                <a:spcPct val="100000"/>
              </a:lnSpc>
              <a:spcBef>
                <a:spcPts val="285"/>
              </a:spcBef>
            </a:pPr>
            <a:r>
              <a:rPr sz="1700" b="1" dirty="0">
                <a:latin typeface="Arial" panose="020B0604020202020204"/>
                <a:cs typeface="Arial" panose="020B0604020202020204"/>
              </a:rPr>
              <a:t>7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是显示属性</a:t>
            </a:r>
            <a:r>
              <a:rPr sz="1700" b="1" dirty="0">
                <a:latin typeface="Arial" panose="020B0604020202020204"/>
                <a:cs typeface="Arial" panose="020B0604020202020204"/>
              </a:rPr>
              <a:t>!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42240">
              <a:lnSpc>
                <a:spcPct val="100000"/>
              </a:lnSpc>
              <a:spcBef>
                <a:spcPts val="530"/>
              </a:spcBef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int 0x10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//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显示字符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026837" y="4798306"/>
            <a:ext cx="3878579" cy="1483995"/>
          </a:xfrm>
          <a:custGeom>
            <a:avLst/>
            <a:gdLst/>
            <a:ahLst/>
            <a:cxnLst/>
            <a:rect l="l" t="t" r="r" b="b"/>
            <a:pathLst>
              <a:path w="3878579" h="1483995">
                <a:moveTo>
                  <a:pt x="0" y="1483489"/>
                </a:moveTo>
                <a:lnTo>
                  <a:pt x="3878153" y="1483489"/>
                </a:lnTo>
                <a:lnTo>
                  <a:pt x="3878153" y="0"/>
                </a:lnTo>
                <a:lnTo>
                  <a:pt x="0" y="0"/>
                </a:lnTo>
                <a:lnTo>
                  <a:pt x="0" y="148348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26837" y="4798307"/>
            <a:ext cx="3878579" cy="1483995"/>
          </a:xfrm>
          <a:custGeom>
            <a:avLst/>
            <a:gdLst/>
            <a:ahLst/>
            <a:cxnLst/>
            <a:rect l="l" t="t" r="r" b="b"/>
            <a:pathLst>
              <a:path w="3878579" h="1483995">
                <a:moveTo>
                  <a:pt x="0" y="0"/>
                </a:moveTo>
                <a:lnTo>
                  <a:pt x="3878152" y="0"/>
                </a:lnTo>
                <a:lnTo>
                  <a:pt x="3878152" y="1483488"/>
                </a:lnTo>
                <a:lnTo>
                  <a:pt x="0" y="1483488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259691" y="4864257"/>
            <a:ext cx="3289935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bootsect.s</a:t>
            </a:r>
            <a:r>
              <a:rPr sz="1500" b="1" spc="25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中的数据</a:t>
            </a:r>
            <a:r>
              <a:rPr sz="1500" b="1" spc="155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b="1" spc="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//</a:t>
            </a:r>
            <a:r>
              <a:rPr sz="1500" b="1" spc="25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在文件末尾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59691" y="5143581"/>
            <a:ext cx="3630929" cy="1080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426720">
              <a:lnSpc>
                <a:spcPct val="120000"/>
              </a:lnSpc>
            </a:pPr>
            <a:r>
              <a:rPr sz="1500" b="1" spc="15" dirty="0">
                <a:latin typeface="Courier New" panose="02070309020205020404"/>
                <a:cs typeface="Courier New" panose="02070309020205020404"/>
              </a:rPr>
              <a:t>sectors</a:t>
            </a:r>
            <a:r>
              <a:rPr sz="1500" b="1" spc="20" dirty="0">
                <a:latin typeface="Courier New" panose="02070309020205020404"/>
                <a:cs typeface="Courier New" panose="02070309020205020404"/>
              </a:rPr>
              <a:t>:</a:t>
            </a:r>
            <a:r>
              <a:rPr sz="1500" b="1" spc="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500" b="1" spc="15" dirty="0">
                <a:latin typeface="Courier New" panose="02070309020205020404"/>
                <a:cs typeface="Courier New" panose="02070309020205020404"/>
              </a:rPr>
              <a:t>.wor</a:t>
            </a:r>
            <a:r>
              <a:rPr sz="1500" b="1" spc="20" dirty="0">
                <a:latin typeface="Courier New" panose="02070309020205020404"/>
                <a:cs typeface="Courier New" panose="02070309020205020404"/>
              </a:rPr>
              <a:t>d</a:t>
            </a:r>
            <a:r>
              <a:rPr sz="1500" b="1" spc="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500" b="1" spc="20" dirty="0">
                <a:latin typeface="Courier New" panose="02070309020205020404"/>
                <a:cs typeface="Courier New" panose="02070309020205020404"/>
              </a:rPr>
              <a:t>0</a:t>
            </a:r>
            <a:r>
              <a:rPr sz="1500" b="1" spc="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500" b="1" spc="1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//</a:t>
            </a:r>
            <a:r>
              <a:rPr sz="1500" b="1" spc="2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磁道扇区数 </a:t>
            </a:r>
            <a:r>
              <a:rPr sz="1500" b="1" spc="15" dirty="0">
                <a:latin typeface="Courier New" panose="02070309020205020404"/>
                <a:cs typeface="Courier New" panose="02070309020205020404"/>
              </a:rPr>
              <a:t>msg1:.byt</a:t>
            </a:r>
            <a:r>
              <a:rPr sz="1500" b="1" spc="20" dirty="0">
                <a:latin typeface="Courier New" panose="02070309020205020404"/>
                <a:cs typeface="Courier New" panose="02070309020205020404"/>
              </a:rPr>
              <a:t>e</a:t>
            </a:r>
            <a:r>
              <a:rPr sz="1500" b="1" spc="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500" b="1" spc="15" dirty="0">
                <a:latin typeface="Courier New" panose="02070309020205020404"/>
                <a:cs typeface="Courier New" panose="02070309020205020404"/>
              </a:rPr>
              <a:t>13,10</a:t>
            </a:r>
            <a:endParaRPr sz="1500">
              <a:latin typeface="Courier New" panose="02070309020205020404"/>
              <a:cs typeface="Courier New" panose="02070309020205020404"/>
            </a:endParaRPr>
          </a:p>
          <a:p>
            <a:pPr marL="593725">
              <a:lnSpc>
                <a:spcPct val="100000"/>
              </a:lnSpc>
              <a:spcBef>
                <a:spcPts val="430"/>
              </a:spcBef>
            </a:pPr>
            <a:r>
              <a:rPr sz="1500" b="1" spc="15" dirty="0">
                <a:latin typeface="Courier New" panose="02070309020205020404"/>
                <a:cs typeface="Courier New" panose="02070309020205020404"/>
              </a:rPr>
              <a:t>.asci</a:t>
            </a:r>
            <a:r>
              <a:rPr sz="1500" b="1" spc="20" dirty="0">
                <a:latin typeface="Courier New" panose="02070309020205020404"/>
                <a:cs typeface="Courier New" panose="02070309020205020404"/>
              </a:rPr>
              <a:t>i</a:t>
            </a:r>
            <a:r>
              <a:rPr sz="1500" b="1" spc="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500" b="1" spc="15" dirty="0">
                <a:latin typeface="Courier New" panose="02070309020205020404"/>
                <a:cs typeface="Courier New" panose="02070309020205020404"/>
              </a:rPr>
              <a:t>“Loadin</a:t>
            </a:r>
            <a:r>
              <a:rPr sz="1500" b="1" spc="20" dirty="0">
                <a:latin typeface="Courier New" panose="02070309020205020404"/>
                <a:cs typeface="Courier New" panose="02070309020205020404"/>
              </a:rPr>
              <a:t>g</a:t>
            </a:r>
            <a:r>
              <a:rPr sz="1500" b="1" spc="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500" b="1" spc="15" dirty="0">
                <a:latin typeface="Courier New" panose="02070309020205020404"/>
                <a:cs typeface="Courier New" panose="02070309020205020404"/>
              </a:rPr>
              <a:t>system...”</a:t>
            </a:r>
            <a:endParaRPr sz="1500">
              <a:latin typeface="Courier New" panose="02070309020205020404"/>
              <a:cs typeface="Courier New" panose="02070309020205020404"/>
            </a:endParaRPr>
          </a:p>
          <a:p>
            <a:pPr marL="593725">
              <a:lnSpc>
                <a:spcPct val="100000"/>
              </a:lnSpc>
              <a:spcBef>
                <a:spcPts val="400"/>
              </a:spcBef>
            </a:pPr>
            <a:r>
              <a:rPr sz="1500" b="1" spc="15" dirty="0">
                <a:latin typeface="Courier New" panose="02070309020205020404"/>
                <a:cs typeface="Courier New" panose="02070309020205020404"/>
              </a:rPr>
              <a:t>.byt</a:t>
            </a:r>
            <a:r>
              <a:rPr sz="1500" b="1" spc="20" dirty="0">
                <a:latin typeface="Courier New" panose="02070309020205020404"/>
                <a:cs typeface="Courier New" panose="02070309020205020404"/>
              </a:rPr>
              <a:t>e</a:t>
            </a:r>
            <a:r>
              <a:rPr sz="1500" b="1" spc="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500" b="1" spc="15" dirty="0">
                <a:latin typeface="Courier New" panose="02070309020205020404"/>
                <a:cs typeface="Courier New" panose="02070309020205020404"/>
              </a:rPr>
              <a:t>13,10,13,10</a:t>
            </a:r>
            <a:endParaRPr sz="15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089468" y="2015243"/>
            <a:ext cx="2607945" cy="1125220"/>
          </a:xfrm>
          <a:custGeom>
            <a:avLst/>
            <a:gdLst/>
            <a:ahLst/>
            <a:cxnLst/>
            <a:rect l="l" t="t" r="r" b="b"/>
            <a:pathLst>
              <a:path w="2607945" h="1125220">
                <a:moveTo>
                  <a:pt x="2499241" y="0"/>
                </a:moveTo>
                <a:lnTo>
                  <a:pt x="247655" y="2"/>
                </a:lnTo>
                <a:lnTo>
                  <a:pt x="205787" y="8702"/>
                </a:lnTo>
                <a:lnTo>
                  <a:pt x="171624" y="31925"/>
                </a:lnTo>
                <a:lnTo>
                  <a:pt x="148603" y="66233"/>
                </a:lnTo>
                <a:lnTo>
                  <a:pt x="140214" y="107460"/>
                </a:lnTo>
                <a:lnTo>
                  <a:pt x="140168" y="541650"/>
                </a:lnTo>
                <a:lnTo>
                  <a:pt x="141243" y="556245"/>
                </a:lnTo>
                <a:lnTo>
                  <a:pt x="155170" y="595917"/>
                </a:lnTo>
                <a:lnTo>
                  <a:pt x="182477" y="626740"/>
                </a:lnTo>
                <a:lnTo>
                  <a:pt x="219726" y="645276"/>
                </a:lnTo>
                <a:lnTo>
                  <a:pt x="248382" y="649110"/>
                </a:lnTo>
                <a:lnTo>
                  <a:pt x="551381" y="649110"/>
                </a:lnTo>
                <a:lnTo>
                  <a:pt x="0" y="1125156"/>
                </a:lnTo>
                <a:lnTo>
                  <a:pt x="1168204" y="649110"/>
                </a:lnTo>
                <a:lnTo>
                  <a:pt x="2499968" y="649108"/>
                </a:lnTo>
                <a:lnTo>
                  <a:pt x="2514568" y="648034"/>
                </a:lnTo>
                <a:lnTo>
                  <a:pt x="2554250" y="634110"/>
                </a:lnTo>
                <a:lnTo>
                  <a:pt x="2585082" y="606810"/>
                </a:lnTo>
                <a:lnTo>
                  <a:pt x="2603623" y="569572"/>
                </a:lnTo>
                <a:lnTo>
                  <a:pt x="2607456" y="107460"/>
                </a:lnTo>
                <a:lnTo>
                  <a:pt x="2606381" y="92864"/>
                </a:lnTo>
                <a:lnTo>
                  <a:pt x="2592454" y="53193"/>
                </a:lnTo>
                <a:lnTo>
                  <a:pt x="2565146" y="22370"/>
                </a:lnTo>
                <a:lnTo>
                  <a:pt x="2527898" y="3833"/>
                </a:lnTo>
                <a:lnTo>
                  <a:pt x="2513867" y="979"/>
                </a:lnTo>
                <a:lnTo>
                  <a:pt x="249924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089466" y="2015243"/>
            <a:ext cx="2607945" cy="1125220"/>
          </a:xfrm>
          <a:custGeom>
            <a:avLst/>
            <a:gdLst/>
            <a:ahLst/>
            <a:cxnLst/>
            <a:rect l="l" t="t" r="r" b="b"/>
            <a:pathLst>
              <a:path w="2607945" h="1125220">
                <a:moveTo>
                  <a:pt x="2607459" y="540923"/>
                </a:moveTo>
                <a:lnTo>
                  <a:pt x="2599021" y="582877"/>
                </a:lnTo>
                <a:lnTo>
                  <a:pt x="2576001" y="617185"/>
                </a:lnTo>
                <a:lnTo>
                  <a:pt x="2541837" y="640408"/>
                </a:lnTo>
                <a:lnTo>
                  <a:pt x="2499969" y="649108"/>
                </a:lnTo>
                <a:lnTo>
                  <a:pt x="1168205" y="649111"/>
                </a:lnTo>
                <a:lnTo>
                  <a:pt x="0" y="1125156"/>
                </a:lnTo>
                <a:lnTo>
                  <a:pt x="551382" y="649111"/>
                </a:lnTo>
                <a:lnTo>
                  <a:pt x="248383" y="649111"/>
                </a:lnTo>
                <a:lnTo>
                  <a:pt x="233757" y="648131"/>
                </a:lnTo>
                <a:lnTo>
                  <a:pt x="193959" y="634454"/>
                </a:lnTo>
                <a:lnTo>
                  <a:pt x="162956" y="607344"/>
                </a:lnTo>
                <a:lnTo>
                  <a:pt x="144187" y="570240"/>
                </a:lnTo>
                <a:lnTo>
                  <a:pt x="140166" y="540926"/>
                </a:lnTo>
                <a:lnTo>
                  <a:pt x="140166" y="378647"/>
                </a:lnTo>
                <a:lnTo>
                  <a:pt x="140166" y="108187"/>
                </a:lnTo>
                <a:lnTo>
                  <a:pt x="141146" y="93565"/>
                </a:lnTo>
                <a:lnTo>
                  <a:pt x="154827" y="53778"/>
                </a:lnTo>
                <a:lnTo>
                  <a:pt x="181944" y="22783"/>
                </a:lnTo>
                <a:lnTo>
                  <a:pt x="219058" y="4019"/>
                </a:lnTo>
                <a:lnTo>
                  <a:pt x="551382" y="0"/>
                </a:lnTo>
                <a:lnTo>
                  <a:pt x="1168205" y="0"/>
                </a:lnTo>
                <a:lnTo>
                  <a:pt x="2499242" y="0"/>
                </a:lnTo>
                <a:lnTo>
                  <a:pt x="2513868" y="979"/>
                </a:lnTo>
                <a:lnTo>
                  <a:pt x="2553666" y="14656"/>
                </a:lnTo>
                <a:lnTo>
                  <a:pt x="2584669" y="41766"/>
                </a:lnTo>
                <a:lnTo>
                  <a:pt x="2603439" y="78870"/>
                </a:lnTo>
                <a:lnTo>
                  <a:pt x="2607459" y="378647"/>
                </a:lnTo>
                <a:lnTo>
                  <a:pt x="2607459" y="540926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7356251" y="2101055"/>
            <a:ext cx="2212975" cy="512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155" marR="5080" indent="-85090">
              <a:lnSpc>
                <a:spcPct val="101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显示这</a:t>
            </a:r>
            <a:r>
              <a:rPr sz="1700" b="1" dirty="0">
                <a:latin typeface="Arial" panose="020B0604020202020204"/>
                <a:cs typeface="Arial" panose="020B0604020202020204"/>
              </a:rPr>
              <a:t>24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个字符将是大 家的第一个“创举”</a:t>
            </a:r>
            <a:r>
              <a:rPr sz="1700" b="1" dirty="0">
                <a:latin typeface="Arial" panose="020B0604020202020204"/>
                <a:cs typeface="Arial" panose="020B0604020202020204"/>
              </a:rPr>
              <a:t>!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68929" y="4909227"/>
            <a:ext cx="2337435" cy="810260"/>
          </a:xfrm>
          <a:custGeom>
            <a:avLst/>
            <a:gdLst/>
            <a:ahLst/>
            <a:cxnLst/>
            <a:rect l="l" t="t" r="r" b="b"/>
            <a:pathLst>
              <a:path w="2337435" h="810260">
                <a:moveTo>
                  <a:pt x="1268920" y="0"/>
                </a:moveTo>
                <a:lnTo>
                  <a:pt x="1363500" y="160895"/>
                </a:lnTo>
                <a:lnTo>
                  <a:pt x="107487" y="160897"/>
                </a:lnTo>
                <a:lnTo>
                  <a:pt x="92887" y="161971"/>
                </a:lnTo>
                <a:lnTo>
                  <a:pt x="53205" y="175895"/>
                </a:lnTo>
                <a:lnTo>
                  <a:pt x="22374" y="203195"/>
                </a:lnTo>
                <a:lnTo>
                  <a:pt x="3832" y="240433"/>
                </a:lnTo>
                <a:lnTo>
                  <a:pt x="0" y="702545"/>
                </a:lnTo>
                <a:lnTo>
                  <a:pt x="1074" y="717140"/>
                </a:lnTo>
                <a:lnTo>
                  <a:pt x="15001" y="756812"/>
                </a:lnTo>
                <a:lnTo>
                  <a:pt x="42308" y="787635"/>
                </a:lnTo>
                <a:lnTo>
                  <a:pt x="79556" y="806172"/>
                </a:lnTo>
                <a:lnTo>
                  <a:pt x="108213" y="810005"/>
                </a:lnTo>
                <a:lnTo>
                  <a:pt x="2229941" y="810003"/>
                </a:lnTo>
                <a:lnTo>
                  <a:pt x="2271810" y="801303"/>
                </a:lnTo>
                <a:lnTo>
                  <a:pt x="2305974" y="778081"/>
                </a:lnTo>
                <a:lnTo>
                  <a:pt x="2328994" y="743773"/>
                </a:lnTo>
                <a:lnTo>
                  <a:pt x="2337383" y="702545"/>
                </a:lnTo>
                <a:lnTo>
                  <a:pt x="2337429" y="268356"/>
                </a:lnTo>
                <a:lnTo>
                  <a:pt x="2336355" y="253761"/>
                </a:lnTo>
                <a:lnTo>
                  <a:pt x="2322428" y="214089"/>
                </a:lnTo>
                <a:lnTo>
                  <a:pt x="2295121" y="183265"/>
                </a:lnTo>
                <a:lnTo>
                  <a:pt x="2257873" y="164729"/>
                </a:lnTo>
                <a:lnTo>
                  <a:pt x="2229216" y="160895"/>
                </a:lnTo>
                <a:lnTo>
                  <a:pt x="1947859" y="160895"/>
                </a:lnTo>
                <a:lnTo>
                  <a:pt x="12689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68927" y="4909226"/>
            <a:ext cx="2337435" cy="810260"/>
          </a:xfrm>
          <a:custGeom>
            <a:avLst/>
            <a:gdLst/>
            <a:ahLst/>
            <a:cxnLst/>
            <a:rect l="l" t="t" r="r" b="b"/>
            <a:pathLst>
              <a:path w="2337435" h="810260">
                <a:moveTo>
                  <a:pt x="2337435" y="701819"/>
                </a:moveTo>
                <a:lnTo>
                  <a:pt x="2328997" y="743773"/>
                </a:lnTo>
                <a:lnTo>
                  <a:pt x="2305976" y="778080"/>
                </a:lnTo>
                <a:lnTo>
                  <a:pt x="2271813" y="801303"/>
                </a:lnTo>
                <a:lnTo>
                  <a:pt x="2229944" y="810003"/>
                </a:lnTo>
                <a:lnTo>
                  <a:pt x="1947862" y="810006"/>
                </a:lnTo>
                <a:lnTo>
                  <a:pt x="1363503" y="810006"/>
                </a:lnTo>
                <a:lnTo>
                  <a:pt x="108216" y="810006"/>
                </a:lnTo>
                <a:lnTo>
                  <a:pt x="93590" y="809026"/>
                </a:lnTo>
                <a:lnTo>
                  <a:pt x="53792" y="795349"/>
                </a:lnTo>
                <a:lnTo>
                  <a:pt x="22789" y="768239"/>
                </a:lnTo>
                <a:lnTo>
                  <a:pt x="4020" y="731135"/>
                </a:lnTo>
                <a:lnTo>
                  <a:pt x="0" y="431357"/>
                </a:lnTo>
                <a:lnTo>
                  <a:pt x="0" y="269079"/>
                </a:lnTo>
                <a:lnTo>
                  <a:pt x="979" y="254460"/>
                </a:lnTo>
                <a:lnTo>
                  <a:pt x="14660" y="214673"/>
                </a:lnTo>
                <a:lnTo>
                  <a:pt x="41777" y="183678"/>
                </a:lnTo>
                <a:lnTo>
                  <a:pt x="78891" y="164914"/>
                </a:lnTo>
                <a:lnTo>
                  <a:pt x="1363503" y="160895"/>
                </a:lnTo>
                <a:lnTo>
                  <a:pt x="1268922" y="0"/>
                </a:lnTo>
                <a:lnTo>
                  <a:pt x="1947862" y="160895"/>
                </a:lnTo>
                <a:lnTo>
                  <a:pt x="2229218" y="160895"/>
                </a:lnTo>
                <a:lnTo>
                  <a:pt x="2243844" y="161874"/>
                </a:lnTo>
                <a:lnTo>
                  <a:pt x="2283642" y="175551"/>
                </a:lnTo>
                <a:lnTo>
                  <a:pt x="2314645" y="202661"/>
                </a:lnTo>
                <a:lnTo>
                  <a:pt x="2333414" y="239765"/>
                </a:lnTo>
                <a:lnTo>
                  <a:pt x="2337435" y="269079"/>
                </a:lnTo>
                <a:lnTo>
                  <a:pt x="2337435" y="431357"/>
                </a:lnTo>
                <a:lnTo>
                  <a:pt x="2337435" y="701819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650314" y="5155104"/>
            <a:ext cx="1974214" cy="512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转入</a:t>
            </a:r>
            <a:r>
              <a:rPr sz="1700" b="1" dirty="0">
                <a:latin typeface="Arial" panose="020B0604020202020204"/>
                <a:cs typeface="Arial" panose="020B0604020202020204"/>
              </a:rPr>
              <a:t>0x9020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:</a:t>
            </a:r>
            <a:r>
              <a:rPr sz="1700" b="1" dirty="0">
                <a:latin typeface="Arial" panose="020B0604020202020204"/>
                <a:cs typeface="Arial" panose="020B0604020202020204"/>
              </a:rPr>
              <a:t>0x0000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执行</a:t>
            </a:r>
            <a:r>
              <a:rPr sz="1700" b="1" dirty="0">
                <a:latin typeface="Arial" panose="020B0604020202020204"/>
                <a:cs typeface="Arial" panose="020B0604020202020204"/>
              </a:rPr>
              <a:t>se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up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.</a:t>
            </a:r>
            <a:r>
              <a:rPr sz="1700" b="1" dirty="0">
                <a:latin typeface="Arial" panose="020B0604020202020204"/>
                <a:cs typeface="Arial" panose="020B0604020202020204"/>
              </a:rPr>
              <a:t>s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6938" y="5770796"/>
            <a:ext cx="2402840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boot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工作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: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读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se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up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36938" y="6113603"/>
            <a:ext cx="1440180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读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sys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000" b="1" spc="4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2000" b="1" spc="3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…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40521" y="5836884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1087" y="607172"/>
            <a:ext cx="9392454" cy="430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630"/>
              </a:lnSpc>
            </a:pPr>
            <a:r>
              <a:rPr dirty="0"/>
              <a:t>read_i</a:t>
            </a:r>
            <a:r>
              <a:rPr spc="5" dirty="0"/>
              <a:t>t</a:t>
            </a:r>
            <a:r>
              <a:rPr spc="5" dirty="0"/>
              <a:t> </a:t>
            </a:r>
            <a:r>
              <a:rPr dirty="0"/>
              <a:t>/</a:t>
            </a:r>
            <a:r>
              <a:rPr spc="-5" dirty="0"/>
              <a:t>/</a:t>
            </a: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读入</a:t>
            </a:r>
            <a:r>
              <a:rPr sz="3050" dirty="0"/>
              <a:t>sys</a:t>
            </a:r>
            <a:r>
              <a:rPr sz="3050" spc="5" dirty="0"/>
              <a:t>t</a:t>
            </a:r>
            <a:r>
              <a:rPr sz="3050" spc="5" dirty="0"/>
              <a:t>em</a:t>
            </a: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模块</a:t>
            </a:r>
            <a:endParaRPr sz="2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90770" y="2350305"/>
            <a:ext cx="7063740" cy="2005964"/>
          </a:xfrm>
          <a:custGeom>
            <a:avLst/>
            <a:gdLst/>
            <a:ahLst/>
            <a:cxnLst/>
            <a:rect l="l" t="t" r="r" b="b"/>
            <a:pathLst>
              <a:path w="7063740" h="2005964">
                <a:moveTo>
                  <a:pt x="0" y="0"/>
                </a:moveTo>
                <a:lnTo>
                  <a:pt x="7063506" y="0"/>
                </a:lnTo>
                <a:lnTo>
                  <a:pt x="7063506" y="2005795"/>
                </a:lnTo>
                <a:lnTo>
                  <a:pt x="0" y="2005795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42152" y="2439594"/>
            <a:ext cx="1713230" cy="863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ct val="100000"/>
              </a:lnSpc>
              <a:tabLst>
                <a:tab pos="1297940" algn="l"/>
              </a:tabLst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read_it: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mov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R="5080" algn="r">
              <a:lnSpc>
                <a:spcPct val="100000"/>
              </a:lnSpc>
              <a:spcBef>
                <a:spcPts val="425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ret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ok1_read: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59641" y="2439594"/>
            <a:ext cx="366077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80465" algn="l"/>
                <a:tab pos="3387725" algn="l"/>
              </a:tabLst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ax,es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cmp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ax,#ENDSEG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jb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24440" y="2439594"/>
            <a:ext cx="106426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ok1_read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1619" y="3374907"/>
            <a:ext cx="184277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mov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ax,sectors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727940" y="1466203"/>
            <a:ext cx="2874645" cy="803275"/>
          </a:xfrm>
          <a:custGeom>
            <a:avLst/>
            <a:gdLst/>
            <a:ahLst/>
            <a:cxnLst/>
            <a:rect l="l" t="t" r="r" b="b"/>
            <a:pathLst>
              <a:path w="2874645" h="803275">
                <a:moveTo>
                  <a:pt x="2766080" y="0"/>
                </a:moveTo>
                <a:lnTo>
                  <a:pt x="449565" y="2"/>
                </a:lnTo>
                <a:lnTo>
                  <a:pt x="407697" y="8703"/>
                </a:lnTo>
                <a:lnTo>
                  <a:pt x="373534" y="31927"/>
                </a:lnTo>
                <a:lnTo>
                  <a:pt x="350514" y="66234"/>
                </a:lnTo>
                <a:lnTo>
                  <a:pt x="342125" y="107459"/>
                </a:lnTo>
                <a:lnTo>
                  <a:pt x="342079" y="541651"/>
                </a:lnTo>
                <a:lnTo>
                  <a:pt x="343154" y="556246"/>
                </a:lnTo>
                <a:lnTo>
                  <a:pt x="357081" y="595917"/>
                </a:lnTo>
                <a:lnTo>
                  <a:pt x="384389" y="626740"/>
                </a:lnTo>
                <a:lnTo>
                  <a:pt x="421638" y="645277"/>
                </a:lnTo>
                <a:lnTo>
                  <a:pt x="450295" y="649110"/>
                </a:lnTo>
                <a:lnTo>
                  <a:pt x="764113" y="649110"/>
                </a:lnTo>
                <a:lnTo>
                  <a:pt x="0" y="803273"/>
                </a:lnTo>
                <a:lnTo>
                  <a:pt x="1397168" y="649110"/>
                </a:lnTo>
                <a:lnTo>
                  <a:pt x="2766809" y="649108"/>
                </a:lnTo>
                <a:lnTo>
                  <a:pt x="2781409" y="648033"/>
                </a:lnTo>
                <a:lnTo>
                  <a:pt x="2821091" y="634109"/>
                </a:lnTo>
                <a:lnTo>
                  <a:pt x="2851922" y="606809"/>
                </a:lnTo>
                <a:lnTo>
                  <a:pt x="2870463" y="569571"/>
                </a:lnTo>
                <a:lnTo>
                  <a:pt x="2874295" y="107459"/>
                </a:lnTo>
                <a:lnTo>
                  <a:pt x="2873221" y="92864"/>
                </a:lnTo>
                <a:lnTo>
                  <a:pt x="2859293" y="53193"/>
                </a:lnTo>
                <a:lnTo>
                  <a:pt x="2831985" y="22370"/>
                </a:lnTo>
                <a:lnTo>
                  <a:pt x="2794737" y="3833"/>
                </a:lnTo>
                <a:lnTo>
                  <a:pt x="2780706" y="979"/>
                </a:lnTo>
                <a:lnTo>
                  <a:pt x="27660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727941" y="1466203"/>
            <a:ext cx="2874645" cy="803275"/>
          </a:xfrm>
          <a:custGeom>
            <a:avLst/>
            <a:gdLst/>
            <a:ahLst/>
            <a:cxnLst/>
            <a:rect l="l" t="t" r="r" b="b"/>
            <a:pathLst>
              <a:path w="2874645" h="803275">
                <a:moveTo>
                  <a:pt x="2874297" y="540922"/>
                </a:moveTo>
                <a:lnTo>
                  <a:pt x="2865860" y="582876"/>
                </a:lnTo>
                <a:lnTo>
                  <a:pt x="2842840" y="617184"/>
                </a:lnTo>
                <a:lnTo>
                  <a:pt x="2808676" y="640407"/>
                </a:lnTo>
                <a:lnTo>
                  <a:pt x="2766808" y="649108"/>
                </a:lnTo>
                <a:lnTo>
                  <a:pt x="1397168" y="649111"/>
                </a:lnTo>
                <a:lnTo>
                  <a:pt x="0" y="803273"/>
                </a:lnTo>
                <a:lnTo>
                  <a:pt x="764113" y="649111"/>
                </a:lnTo>
                <a:lnTo>
                  <a:pt x="450294" y="649111"/>
                </a:lnTo>
                <a:lnTo>
                  <a:pt x="435668" y="648131"/>
                </a:lnTo>
                <a:lnTo>
                  <a:pt x="395870" y="634454"/>
                </a:lnTo>
                <a:lnTo>
                  <a:pt x="364867" y="607345"/>
                </a:lnTo>
                <a:lnTo>
                  <a:pt x="346097" y="570241"/>
                </a:lnTo>
                <a:lnTo>
                  <a:pt x="342076" y="540925"/>
                </a:lnTo>
                <a:lnTo>
                  <a:pt x="342076" y="378648"/>
                </a:lnTo>
                <a:lnTo>
                  <a:pt x="342076" y="108188"/>
                </a:lnTo>
                <a:lnTo>
                  <a:pt x="343056" y="93566"/>
                </a:lnTo>
                <a:lnTo>
                  <a:pt x="356736" y="53779"/>
                </a:lnTo>
                <a:lnTo>
                  <a:pt x="383853" y="22784"/>
                </a:lnTo>
                <a:lnTo>
                  <a:pt x="420967" y="4019"/>
                </a:lnTo>
                <a:lnTo>
                  <a:pt x="764113" y="0"/>
                </a:lnTo>
                <a:lnTo>
                  <a:pt x="1397168" y="0"/>
                </a:lnTo>
                <a:lnTo>
                  <a:pt x="2766080" y="0"/>
                </a:lnTo>
                <a:lnTo>
                  <a:pt x="2780706" y="979"/>
                </a:lnTo>
                <a:lnTo>
                  <a:pt x="2820504" y="14656"/>
                </a:lnTo>
                <a:lnTo>
                  <a:pt x="2851507" y="41765"/>
                </a:lnTo>
                <a:lnTo>
                  <a:pt x="2870277" y="78869"/>
                </a:lnTo>
                <a:lnTo>
                  <a:pt x="2874297" y="378648"/>
                </a:lnTo>
                <a:lnTo>
                  <a:pt x="2874297" y="540925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72009" y="3667524"/>
            <a:ext cx="6516370" cy="1119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1780" marR="5080">
              <a:lnSpc>
                <a:spcPct val="119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sub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ax,sread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//sread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是当前磁道已读扇区数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,ax</a:t>
            </a:r>
            <a:r>
              <a:rPr sz="16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未读扇区数 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call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read_track</a:t>
            </a:r>
            <a:r>
              <a:rPr sz="1700" b="1" spc="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//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读磁道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...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sz="17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引导扇区的末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尾</a:t>
            </a:r>
            <a:r>
              <a:rPr sz="2925" b="1" spc="23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//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B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O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S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用以识别引导扇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区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93254" y="1552165"/>
            <a:ext cx="2284730" cy="512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65785" marR="5080" indent="-553085">
              <a:lnSpc>
                <a:spcPct val="101000"/>
              </a:lnSpc>
            </a:pPr>
            <a:r>
              <a:rPr sz="1700" b="1" u="heavy" dirty="0">
                <a:latin typeface="Arial" panose="020B0604020202020204"/>
                <a:cs typeface="Arial" panose="020B0604020202020204"/>
              </a:rPr>
              <a:t>sys</a:t>
            </a:r>
            <a:r>
              <a:rPr sz="1700" b="1" u="heavy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u="heavy" dirty="0">
                <a:latin typeface="Arial" panose="020B0604020202020204"/>
                <a:cs typeface="Arial" panose="020B0604020202020204"/>
              </a:rPr>
              <a:t>em</a:t>
            </a:r>
            <a:r>
              <a:rPr sz="1650" b="1" u="heavy" spc="40" dirty="0">
                <a:latin typeface="宋体" panose="02010600030101010101" pitchFamily="2" charset="-122"/>
                <a:cs typeface="宋体" panose="02010600030101010101" pitchFamily="2" charset="-122"/>
              </a:rPr>
              <a:t>模块可能很大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6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 要跨越磁道</a:t>
            </a:r>
            <a:r>
              <a:rPr sz="1700" b="1" dirty="0">
                <a:latin typeface="Arial" panose="020B0604020202020204"/>
                <a:cs typeface="Arial" panose="020B0604020202020204"/>
              </a:rPr>
              <a:t>!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9700" y="1560658"/>
            <a:ext cx="8572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u="heavy" spc="-5" dirty="0">
                <a:latin typeface="Arial" panose="020B0604020202020204"/>
                <a:cs typeface="Arial" panose="020B0604020202020204"/>
              </a:rPr>
              <a:t> 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2009" y="1904867"/>
            <a:ext cx="5234305" cy="268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85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为什么读入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sys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40" dirty="0">
                <a:latin typeface="Arial" panose="020B0604020202020204"/>
                <a:cs typeface="Arial" panose="020B0604020202020204"/>
              </a:rPr>
              <a:t>m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模块还需要定义一个函数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?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40521" y="1976026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914913" y="2698198"/>
            <a:ext cx="4337050" cy="945515"/>
          </a:xfrm>
          <a:custGeom>
            <a:avLst/>
            <a:gdLst/>
            <a:ahLst/>
            <a:cxnLst/>
            <a:rect l="l" t="t" r="r" b="b"/>
            <a:pathLst>
              <a:path w="4337050" h="945514">
                <a:moveTo>
                  <a:pt x="0" y="0"/>
                </a:moveTo>
                <a:lnTo>
                  <a:pt x="505816" y="415126"/>
                </a:lnTo>
                <a:lnTo>
                  <a:pt x="506348" y="806555"/>
                </a:lnTo>
                <a:lnTo>
                  <a:pt x="508242" y="820911"/>
                </a:lnTo>
                <a:lnTo>
                  <a:pt x="521516" y="860988"/>
                </a:lnTo>
                <a:lnTo>
                  <a:pt x="544815" y="895213"/>
                </a:lnTo>
                <a:lnTo>
                  <a:pt x="576385" y="921832"/>
                </a:lnTo>
                <a:lnTo>
                  <a:pt x="614471" y="939089"/>
                </a:lnTo>
                <a:lnTo>
                  <a:pt x="657318" y="945231"/>
                </a:lnTo>
                <a:lnTo>
                  <a:pt x="2101982" y="945231"/>
                </a:lnTo>
                <a:lnTo>
                  <a:pt x="4197898" y="944699"/>
                </a:lnTo>
                <a:lnTo>
                  <a:pt x="4239548" y="935160"/>
                </a:lnTo>
                <a:lnTo>
                  <a:pt x="4275928" y="915013"/>
                </a:lnTo>
                <a:lnTo>
                  <a:pt x="4305285" y="886013"/>
                </a:lnTo>
                <a:lnTo>
                  <a:pt x="4325863" y="849914"/>
                </a:lnTo>
                <a:lnTo>
                  <a:pt x="4335908" y="808470"/>
                </a:lnTo>
                <a:lnTo>
                  <a:pt x="4336613" y="793771"/>
                </a:lnTo>
                <a:lnTo>
                  <a:pt x="4336613" y="187937"/>
                </a:lnTo>
                <a:lnTo>
                  <a:pt x="505816" y="187937"/>
                </a:lnTo>
                <a:lnTo>
                  <a:pt x="0" y="0"/>
                </a:lnTo>
                <a:close/>
              </a:path>
              <a:path w="4337050" h="945514">
                <a:moveTo>
                  <a:pt x="4185111" y="36475"/>
                </a:moveTo>
                <a:lnTo>
                  <a:pt x="1144282" y="36475"/>
                </a:lnTo>
                <a:lnTo>
                  <a:pt x="644530" y="37007"/>
                </a:lnTo>
                <a:lnTo>
                  <a:pt x="602880" y="46547"/>
                </a:lnTo>
                <a:lnTo>
                  <a:pt x="566500" y="66694"/>
                </a:lnTo>
                <a:lnTo>
                  <a:pt x="537144" y="95694"/>
                </a:lnTo>
                <a:lnTo>
                  <a:pt x="516566" y="131794"/>
                </a:lnTo>
                <a:lnTo>
                  <a:pt x="506521" y="173237"/>
                </a:lnTo>
                <a:lnTo>
                  <a:pt x="505816" y="187937"/>
                </a:lnTo>
                <a:lnTo>
                  <a:pt x="4336613" y="187937"/>
                </a:lnTo>
                <a:lnTo>
                  <a:pt x="4330985" y="146894"/>
                </a:lnTo>
                <a:lnTo>
                  <a:pt x="4314174" y="108573"/>
                </a:lnTo>
                <a:lnTo>
                  <a:pt x="4287923" y="76688"/>
                </a:lnTo>
                <a:lnTo>
                  <a:pt x="4253986" y="52996"/>
                </a:lnTo>
                <a:lnTo>
                  <a:pt x="4214118" y="39248"/>
                </a:lnTo>
                <a:lnTo>
                  <a:pt x="4185111" y="364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914913" y="2698199"/>
            <a:ext cx="4337050" cy="945515"/>
          </a:xfrm>
          <a:custGeom>
            <a:avLst/>
            <a:gdLst/>
            <a:ahLst/>
            <a:cxnLst/>
            <a:rect l="l" t="t" r="r" b="b"/>
            <a:pathLst>
              <a:path w="4337050" h="945514">
                <a:moveTo>
                  <a:pt x="4336612" y="793770"/>
                </a:moveTo>
                <a:lnTo>
                  <a:pt x="4330468" y="836606"/>
                </a:lnTo>
                <a:lnTo>
                  <a:pt x="4313206" y="874681"/>
                </a:lnTo>
                <a:lnTo>
                  <a:pt x="4286581" y="906242"/>
                </a:lnTo>
                <a:lnTo>
                  <a:pt x="4252346" y="929535"/>
                </a:lnTo>
                <a:lnTo>
                  <a:pt x="4212258" y="942806"/>
                </a:lnTo>
                <a:lnTo>
                  <a:pt x="2101981" y="945231"/>
                </a:lnTo>
                <a:lnTo>
                  <a:pt x="1144282" y="945231"/>
                </a:lnTo>
                <a:lnTo>
                  <a:pt x="657318" y="945231"/>
                </a:lnTo>
                <a:lnTo>
                  <a:pt x="642615" y="944526"/>
                </a:lnTo>
                <a:lnTo>
                  <a:pt x="601160" y="934484"/>
                </a:lnTo>
                <a:lnTo>
                  <a:pt x="565051" y="913912"/>
                </a:lnTo>
                <a:lnTo>
                  <a:pt x="536043" y="884563"/>
                </a:lnTo>
                <a:lnTo>
                  <a:pt x="515890" y="848192"/>
                </a:lnTo>
                <a:lnTo>
                  <a:pt x="506348" y="806554"/>
                </a:lnTo>
                <a:lnTo>
                  <a:pt x="505816" y="415125"/>
                </a:lnTo>
                <a:lnTo>
                  <a:pt x="0" y="0"/>
                </a:lnTo>
                <a:lnTo>
                  <a:pt x="505816" y="187936"/>
                </a:lnTo>
                <a:lnTo>
                  <a:pt x="506520" y="173237"/>
                </a:lnTo>
                <a:lnTo>
                  <a:pt x="508590" y="158936"/>
                </a:lnTo>
                <a:lnTo>
                  <a:pt x="522341" y="119079"/>
                </a:lnTo>
                <a:lnTo>
                  <a:pt x="546040" y="85152"/>
                </a:lnTo>
                <a:lnTo>
                  <a:pt x="577933" y="58908"/>
                </a:lnTo>
                <a:lnTo>
                  <a:pt x="616265" y="42101"/>
                </a:lnTo>
                <a:lnTo>
                  <a:pt x="1144282" y="36475"/>
                </a:lnTo>
                <a:lnTo>
                  <a:pt x="2101981" y="36475"/>
                </a:lnTo>
                <a:lnTo>
                  <a:pt x="4185110" y="36475"/>
                </a:lnTo>
                <a:lnTo>
                  <a:pt x="4199814" y="37179"/>
                </a:lnTo>
                <a:lnTo>
                  <a:pt x="4241269" y="47221"/>
                </a:lnTo>
                <a:lnTo>
                  <a:pt x="4277378" y="67794"/>
                </a:lnTo>
                <a:lnTo>
                  <a:pt x="4306386" y="97143"/>
                </a:lnTo>
                <a:lnTo>
                  <a:pt x="4326538" y="133513"/>
                </a:lnTo>
                <a:lnTo>
                  <a:pt x="4336080" y="175152"/>
                </a:lnTo>
                <a:lnTo>
                  <a:pt x="4336612" y="187936"/>
                </a:lnTo>
                <a:lnTo>
                  <a:pt x="4336612" y="415125"/>
                </a:lnTo>
                <a:lnTo>
                  <a:pt x="4336612" y="793770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702866" y="2841456"/>
            <a:ext cx="3265170" cy="762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spc="5" dirty="0">
                <a:latin typeface="Arial" panose="020B0604020202020204"/>
                <a:cs typeface="Arial" panose="020B0604020202020204"/>
              </a:rPr>
              <a:t>EN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D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SE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G=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SYSSE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G+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SYSS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ZE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065" marR="5080" algn="ctr">
              <a:lnSpc>
                <a:spcPct val="100000"/>
              </a:lnSpc>
              <a:spcBef>
                <a:spcPts val="25"/>
              </a:spcBef>
            </a:pPr>
            <a:r>
              <a:rPr sz="1700" b="1" spc="5" dirty="0">
                <a:latin typeface="Arial" panose="020B0604020202020204"/>
                <a:cs typeface="Arial" panose="020B0604020202020204"/>
              </a:rPr>
              <a:t>SYSS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ZE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=</a:t>
            </a:r>
            <a:r>
              <a:rPr sz="1700" b="1" dirty="0">
                <a:latin typeface="Arial" panose="020B0604020202020204"/>
                <a:cs typeface="Arial" panose="020B0604020202020204"/>
              </a:rPr>
              <a:t>0x8000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/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/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该变量可根据 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latin typeface="Arial" panose="020B0604020202020204"/>
                <a:cs typeface="Arial" panose="020B0604020202020204"/>
              </a:rPr>
              <a:t>m</a:t>
            </a:r>
            <a:r>
              <a:rPr sz="1700" b="1" dirty="0">
                <a:latin typeface="Arial" panose="020B0604020202020204"/>
                <a:cs typeface="Arial" panose="020B0604020202020204"/>
              </a:rPr>
              <a:t>a</a:t>
            </a:r>
            <a:r>
              <a:rPr sz="1700" b="1" dirty="0">
                <a:latin typeface="Arial" panose="020B0604020202020204"/>
                <a:cs typeface="Arial" panose="020B0604020202020204"/>
              </a:rPr>
              <a:t>g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大小设定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编译操作系统时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40521" y="4577880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06603" y="4942796"/>
            <a:ext cx="5589905" cy="776605"/>
          </a:xfrm>
          <a:custGeom>
            <a:avLst/>
            <a:gdLst/>
            <a:ahLst/>
            <a:cxnLst/>
            <a:rect l="l" t="t" r="r" b="b"/>
            <a:pathLst>
              <a:path w="5589905" h="776604">
                <a:moveTo>
                  <a:pt x="0" y="0"/>
                </a:moveTo>
                <a:lnTo>
                  <a:pt x="5589383" y="0"/>
                </a:lnTo>
                <a:lnTo>
                  <a:pt x="5589383" y="776436"/>
                </a:lnTo>
                <a:lnTo>
                  <a:pt x="0" y="776436"/>
                </a:lnTo>
                <a:lnTo>
                  <a:pt x="0" y="0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42152" y="5035333"/>
            <a:ext cx="106426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.org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510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871425" y="4798307"/>
            <a:ext cx="2995295" cy="518159"/>
          </a:xfrm>
          <a:custGeom>
            <a:avLst/>
            <a:gdLst/>
            <a:ahLst/>
            <a:cxnLst/>
            <a:rect l="l" t="t" r="r" b="b"/>
            <a:pathLst>
              <a:path w="2995295" h="518160">
                <a:moveTo>
                  <a:pt x="2929774" y="0"/>
                </a:moveTo>
                <a:lnTo>
                  <a:pt x="394164" y="87"/>
                </a:lnTo>
                <a:lnTo>
                  <a:pt x="355550" y="15411"/>
                </a:lnTo>
                <a:lnTo>
                  <a:pt x="334235" y="50483"/>
                </a:lnTo>
                <a:lnTo>
                  <a:pt x="332625" y="64912"/>
                </a:lnTo>
                <a:lnTo>
                  <a:pt x="332712" y="327943"/>
                </a:lnTo>
                <a:lnTo>
                  <a:pt x="348041" y="366547"/>
                </a:lnTo>
                <a:lnTo>
                  <a:pt x="383123" y="387856"/>
                </a:lnTo>
                <a:lnTo>
                  <a:pt x="397555" y="389465"/>
                </a:lnTo>
                <a:lnTo>
                  <a:pt x="776305" y="389465"/>
                </a:lnTo>
                <a:lnTo>
                  <a:pt x="0" y="517956"/>
                </a:lnTo>
                <a:lnTo>
                  <a:pt x="1441824" y="389465"/>
                </a:lnTo>
                <a:lnTo>
                  <a:pt x="2933165" y="389378"/>
                </a:lnTo>
                <a:lnTo>
                  <a:pt x="2947369" y="387054"/>
                </a:lnTo>
                <a:lnTo>
                  <a:pt x="2981278" y="364085"/>
                </a:lnTo>
                <a:lnTo>
                  <a:pt x="2994704" y="324556"/>
                </a:lnTo>
                <a:lnTo>
                  <a:pt x="2994617" y="61521"/>
                </a:lnTo>
                <a:lnTo>
                  <a:pt x="2979288" y="22918"/>
                </a:lnTo>
                <a:lnTo>
                  <a:pt x="2944206" y="1609"/>
                </a:lnTo>
                <a:lnTo>
                  <a:pt x="292977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871425" y="4798306"/>
            <a:ext cx="2995295" cy="518159"/>
          </a:xfrm>
          <a:custGeom>
            <a:avLst/>
            <a:gdLst/>
            <a:ahLst/>
            <a:cxnLst/>
            <a:rect l="l" t="t" r="r" b="b"/>
            <a:pathLst>
              <a:path w="2995295" h="518160">
                <a:moveTo>
                  <a:pt x="2994704" y="324553"/>
                </a:moveTo>
                <a:lnTo>
                  <a:pt x="2981279" y="364086"/>
                </a:lnTo>
                <a:lnTo>
                  <a:pt x="2947370" y="387054"/>
                </a:lnTo>
                <a:lnTo>
                  <a:pt x="1441825" y="389466"/>
                </a:lnTo>
                <a:lnTo>
                  <a:pt x="0" y="517956"/>
                </a:lnTo>
                <a:lnTo>
                  <a:pt x="776305" y="389466"/>
                </a:lnTo>
                <a:lnTo>
                  <a:pt x="397556" y="389466"/>
                </a:lnTo>
                <a:lnTo>
                  <a:pt x="383124" y="387857"/>
                </a:lnTo>
                <a:lnTo>
                  <a:pt x="348042" y="366548"/>
                </a:lnTo>
                <a:lnTo>
                  <a:pt x="332713" y="327945"/>
                </a:lnTo>
                <a:lnTo>
                  <a:pt x="332626" y="324556"/>
                </a:lnTo>
                <a:lnTo>
                  <a:pt x="332626" y="227188"/>
                </a:lnTo>
                <a:lnTo>
                  <a:pt x="332626" y="64913"/>
                </a:lnTo>
                <a:lnTo>
                  <a:pt x="334235" y="50484"/>
                </a:lnTo>
                <a:lnTo>
                  <a:pt x="355550" y="15412"/>
                </a:lnTo>
                <a:lnTo>
                  <a:pt x="394164" y="87"/>
                </a:lnTo>
                <a:lnTo>
                  <a:pt x="776305" y="0"/>
                </a:lnTo>
                <a:lnTo>
                  <a:pt x="1441825" y="0"/>
                </a:lnTo>
                <a:lnTo>
                  <a:pt x="2929774" y="0"/>
                </a:lnTo>
                <a:lnTo>
                  <a:pt x="2944206" y="1609"/>
                </a:lnTo>
                <a:lnTo>
                  <a:pt x="2979288" y="22918"/>
                </a:lnTo>
                <a:lnTo>
                  <a:pt x="2994617" y="61521"/>
                </a:lnTo>
                <a:lnTo>
                  <a:pt x="2994704" y="227188"/>
                </a:lnTo>
                <a:lnTo>
                  <a:pt x="2994704" y="324556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672009" y="5328020"/>
            <a:ext cx="5100320" cy="8870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25908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.word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0xAA55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//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扇区的最后两个字节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可以转入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se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up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执行了，</a:t>
            </a:r>
            <a:r>
              <a:rPr sz="2000" b="1" dirty="0">
                <a:latin typeface="Arial" panose="020B0604020202020204"/>
                <a:cs typeface="Arial" panose="020B0604020202020204"/>
              </a:rPr>
              <a:t>j</a:t>
            </a:r>
            <a:r>
              <a:rPr sz="2000" b="1" spc="35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0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,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SE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U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PSE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G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40203" y="4870693"/>
            <a:ext cx="2188845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否则会打出非引导设备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40521" y="6005924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sp>
        <p:nvSpPr>
          <p:cNvPr id="28" name="object 2"/>
          <p:cNvSpPr/>
          <p:nvPr>
            <p:custDataLst>
              <p:tags r:id="rId2"/>
            </p:custDataLst>
          </p:nvPr>
        </p:nvSpPr>
        <p:spPr>
          <a:xfrm>
            <a:off x="317500" y="1251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89159" y="1736706"/>
            <a:ext cx="306070" cy="306070"/>
          </a:xfrm>
          <a:custGeom>
            <a:avLst/>
            <a:gdLst/>
            <a:ahLst/>
            <a:cxnLst/>
            <a:rect l="l" t="t" r="r" b="b"/>
            <a:pathLst>
              <a:path w="306070" h="306069">
                <a:moveTo>
                  <a:pt x="297974" y="38249"/>
                </a:moveTo>
                <a:lnTo>
                  <a:pt x="38259" y="297893"/>
                </a:lnTo>
                <a:lnTo>
                  <a:pt x="45911" y="305544"/>
                </a:lnTo>
                <a:lnTo>
                  <a:pt x="305626" y="45899"/>
                </a:lnTo>
                <a:lnTo>
                  <a:pt x="297974" y="38249"/>
                </a:lnTo>
                <a:close/>
              </a:path>
              <a:path w="306070" h="306069">
                <a:moveTo>
                  <a:pt x="275018" y="15299"/>
                </a:moveTo>
                <a:lnTo>
                  <a:pt x="15303" y="274943"/>
                </a:lnTo>
                <a:lnTo>
                  <a:pt x="30607" y="290243"/>
                </a:lnTo>
                <a:lnTo>
                  <a:pt x="290322" y="30599"/>
                </a:lnTo>
                <a:lnTo>
                  <a:pt x="275018" y="15299"/>
                </a:lnTo>
                <a:close/>
              </a:path>
              <a:path w="306070" h="306069">
                <a:moveTo>
                  <a:pt x="259715" y="0"/>
                </a:moveTo>
                <a:lnTo>
                  <a:pt x="0" y="259643"/>
                </a:lnTo>
                <a:lnTo>
                  <a:pt x="7651" y="267294"/>
                </a:lnTo>
                <a:lnTo>
                  <a:pt x="267366" y="7650"/>
                </a:lnTo>
                <a:lnTo>
                  <a:pt x="259715" y="0"/>
                </a:lnTo>
                <a:close/>
              </a:path>
            </a:pathLst>
          </a:custGeom>
          <a:solidFill>
            <a:srgbClr val="99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71830" y="1786702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10819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71830" y="1759656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21638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71830" y="1732609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10819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905635" y="2031365"/>
            <a:ext cx="7117080" cy="31826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2338705" algn="l"/>
                <a:tab pos="5048885" algn="l"/>
              </a:tabLst>
            </a:pPr>
            <a:r>
              <a:rPr sz="5925" b="1" spc="195" baseline="4000" dirty="0">
                <a:solidFill>
                  <a:srgbClr val="0033CC"/>
                </a:solidFill>
                <a:latin typeface="华文琥珀" panose="02010800040101010101" charset="-122"/>
                <a:cs typeface="华文琥珀" panose="02010800040101010101" charset="-122"/>
              </a:rPr>
              <a:t>操作系</a:t>
            </a:r>
            <a:r>
              <a:rPr sz="5925" b="1" spc="217" baseline="4000" dirty="0">
                <a:solidFill>
                  <a:srgbClr val="0033CC"/>
                </a:solidFill>
                <a:latin typeface="华文琥珀" panose="02010800040101010101" charset="-122"/>
                <a:cs typeface="华文琥珀" panose="02010800040101010101" charset="-122"/>
              </a:rPr>
              <a:t>统</a:t>
            </a:r>
            <a:r>
              <a:rPr sz="5925" b="1" baseline="4000" dirty="0">
                <a:solidFill>
                  <a:srgbClr val="0033CC"/>
                </a:solidFill>
                <a:latin typeface="华文琥珀" panose="02010800040101010101" charset="-122"/>
                <a:cs typeface="华文琥珀" panose="02010800040101010101" charset="-122"/>
              </a:rPr>
              <a:t>	</a:t>
            </a:r>
            <a:r>
              <a:rPr sz="4600" b="1" spc="-10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p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er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4600" b="1" spc="-10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g	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m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endParaRPr sz="4600" b="1" dirty="0">
              <a:solidFill>
                <a:srgbClr val="0033CC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tabLst>
                <a:tab pos="2338705" algn="l"/>
                <a:tab pos="5048885" algn="l"/>
              </a:tabLst>
            </a:pPr>
            <a:endParaRPr sz="4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lang="en-US" sz="5100" b="1" spc="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  <a:sym typeface="+mn-ea"/>
              </a:rPr>
              <a:t>     </a:t>
            </a:r>
            <a:r>
              <a:rPr sz="5100" b="1" spc="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  <a:sym typeface="+mn-ea"/>
              </a:rPr>
              <a:t>L3</a:t>
            </a:r>
            <a:r>
              <a:rPr sz="5100" b="1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  <a:sym typeface="+mn-ea"/>
              </a:rPr>
              <a:t>.</a:t>
            </a:r>
            <a:r>
              <a:rPr sz="5100" b="1" spc="10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  <a:sym typeface="+mn-ea"/>
              </a:rPr>
              <a:t> </a:t>
            </a:r>
            <a:r>
              <a:rPr sz="5100" b="1" spc="14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  <a:sym typeface="+mn-ea"/>
              </a:rPr>
              <a:t>操作系统启</a:t>
            </a:r>
            <a:r>
              <a:rPr sz="5100" b="1" spc="13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  <a:sym typeface="+mn-ea"/>
              </a:rPr>
              <a:t>动</a:t>
            </a:r>
            <a:endParaRPr sz="5100">
              <a:latin typeface="黑体" panose="02010609060101010101" charset="-122"/>
              <a:cs typeface="黑体" panose="02010609060101010101" charset="-122"/>
            </a:endParaRPr>
          </a:p>
          <a:p>
            <a:pPr marL="2233295">
              <a:lnSpc>
                <a:spcPct val="100000"/>
              </a:lnSpc>
              <a:spcBef>
                <a:spcPts val="2680"/>
              </a:spcBef>
            </a:pPr>
            <a:r>
              <a:rPr lang="en-US" sz="34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   </a:t>
            </a:r>
            <a:r>
              <a:rPr sz="34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P</a:t>
            </a:r>
            <a:r>
              <a:rPr sz="3400" b="1" dirty="0">
                <a:latin typeface="Times New Roman" panose="02020603050405020304"/>
                <a:cs typeface="Times New Roman" panose="02020603050405020304"/>
                <a:sym typeface="+mn-ea"/>
              </a:rPr>
              <a:t>o</a:t>
            </a:r>
            <a:r>
              <a:rPr sz="3400" b="1" spc="5" dirty="0">
                <a:latin typeface="Times New Roman" panose="02020603050405020304"/>
                <a:cs typeface="Times New Roman" panose="02020603050405020304"/>
                <a:sym typeface="+mn-ea"/>
              </a:rPr>
              <a:t>w</a:t>
            </a:r>
            <a:r>
              <a:rPr sz="34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er</a:t>
            </a:r>
            <a:r>
              <a:rPr sz="3400" b="1" spc="-6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3400" b="1" spc="5" dirty="0">
                <a:latin typeface="Times New Roman" panose="02020603050405020304"/>
                <a:cs typeface="Times New Roman" panose="02020603050405020304"/>
                <a:sym typeface="+mn-ea"/>
              </a:rPr>
              <a:t>On</a:t>
            </a:r>
            <a:r>
              <a:rPr sz="3400" b="1" dirty="0">
                <a:latin typeface="Times New Roman" panose="02020603050405020304"/>
                <a:cs typeface="Times New Roman" panose="02020603050405020304"/>
                <a:sym typeface="+mn-ea"/>
              </a:rPr>
              <a:t>…</a:t>
            </a:r>
            <a:endParaRPr sz="3400">
              <a:latin typeface="Times New Roman" panose="02020603050405020304"/>
              <a:cs typeface="Times New Roman" panose="02020603050405020304"/>
            </a:endParaRPr>
          </a:p>
          <a:p>
            <a:pPr marL="2233295">
              <a:lnSpc>
                <a:spcPct val="100000"/>
              </a:lnSpc>
              <a:spcBef>
                <a:spcPts val="2680"/>
              </a:spcBef>
            </a:pP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"/>
          <p:cNvSpPr txBox="1"/>
          <p:nvPr>
            <p:custDataLst>
              <p:tags r:id="rId1"/>
            </p:custDataLst>
          </p:nvPr>
        </p:nvSpPr>
        <p:spPr>
          <a:xfrm>
            <a:off x="694287" y="1379513"/>
            <a:ext cx="3398520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lnSpc>
                <a:spcPct val="100000"/>
              </a:lnSpc>
            </a:pPr>
            <a:r>
              <a:rPr lang="zh-CN" altLang="en-US" sz="1950" b="1">
                <a:latin typeface="华文隶书" panose="02010800040101010101" charset="-122"/>
                <a:cs typeface="华文隶书" panose="02010800040101010101" charset="-122"/>
              </a:rPr>
              <a:t>苏州大学未来科学与工程学院</a:t>
            </a:r>
            <a:endParaRPr lang="zh-CN" altLang="en-US" sz="1950" b="1">
              <a:latin typeface="华文隶书" panose="02010800040101010101" charset="-122"/>
              <a:cs typeface="华文隶书" panose="02010800040101010101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2400" y="1144034"/>
            <a:ext cx="3985895" cy="430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se</a:t>
            </a:r>
            <a:r>
              <a:rPr spc="5" dirty="0"/>
              <a:t>t</a:t>
            </a:r>
            <a:r>
              <a:rPr spc="5" dirty="0"/>
              <a:t>u</a:t>
            </a:r>
            <a:r>
              <a:rPr dirty="0"/>
              <a:t>p</a:t>
            </a: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模块，即</a:t>
            </a:r>
            <a:r>
              <a:rPr sz="3050" dirty="0"/>
              <a:t>se</a:t>
            </a:r>
            <a:r>
              <a:rPr sz="3050" spc="5" dirty="0"/>
              <a:t>t</a:t>
            </a:r>
            <a:r>
              <a:rPr sz="3050" spc="5" dirty="0"/>
              <a:t>up</a:t>
            </a:r>
            <a:r>
              <a:rPr sz="3050" dirty="0"/>
              <a:t>.s</a:t>
            </a:r>
            <a:endParaRPr sz="30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40521" y="1917876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90855" y="2277110"/>
            <a:ext cx="7243445" cy="4245610"/>
          </a:xfrm>
          <a:custGeom>
            <a:avLst/>
            <a:gdLst/>
            <a:ahLst/>
            <a:cxnLst/>
            <a:rect l="l" t="t" r="r" b="b"/>
            <a:pathLst>
              <a:path w="7063740" h="4142740">
                <a:moveTo>
                  <a:pt x="0" y="0"/>
                </a:moveTo>
                <a:lnTo>
                  <a:pt x="7063506" y="0"/>
                </a:lnTo>
                <a:lnTo>
                  <a:pt x="7063506" y="4142546"/>
                </a:lnTo>
                <a:lnTo>
                  <a:pt x="0" y="4142546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42152" y="1834032"/>
            <a:ext cx="6776084" cy="767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根据名字就可以想到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: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se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up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将完成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OS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启动前的设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置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  <a:tabLst>
                <a:tab pos="3387725" algn="l"/>
                <a:tab pos="5075555" algn="l"/>
                <a:tab pos="5724525" algn="l"/>
              </a:tabLst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start: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mov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ax,#INITSEG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mov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ds,ax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mov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ah,#0x03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1796" y="2677283"/>
            <a:ext cx="1193800" cy="863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8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xor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bh,bh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mov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460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cli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59644" y="2652516"/>
            <a:ext cx="2665095" cy="266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int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0x10//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取光标位置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dx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45574" y="2677283"/>
            <a:ext cx="1367155" cy="546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880"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mov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[0],dx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7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...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21079" y="2981960"/>
            <a:ext cx="3920490" cy="558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310640" algn="l"/>
                <a:tab pos="2608580" algn="l"/>
              </a:tabLst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ah,#0x88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int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0x15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mov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[2],ax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142240">
              <a:lnSpc>
                <a:spcPct val="100000"/>
              </a:lnSpc>
              <a:spcBef>
                <a:spcPts val="460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///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不允许中断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2152" y="3608309"/>
            <a:ext cx="2362200" cy="550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59080">
              <a:lnSpc>
                <a:spcPct val="119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mov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ax,#0x0000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do_move: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mov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es,ax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08748" y="3608309"/>
            <a:ext cx="41529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cld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68386" y="3917273"/>
            <a:ext cx="184340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add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ax,#0x1000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01796" y="4230454"/>
            <a:ext cx="1972945" cy="550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000"/>
              </a:lnSpc>
              <a:tabLst>
                <a:tab pos="661670" algn="l"/>
                <a:tab pos="1570355" algn="l"/>
              </a:tabLst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cmp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ax,#0x9000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mov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ds,ax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sub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78927" y="4230454"/>
            <a:ext cx="1453515" cy="550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000"/>
              </a:lnSpc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jz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end_move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di,di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021404" y="2220795"/>
            <a:ext cx="2675890" cy="909319"/>
          </a:xfrm>
          <a:custGeom>
            <a:avLst/>
            <a:gdLst/>
            <a:ahLst/>
            <a:cxnLst/>
            <a:rect l="l" t="t" r="r" b="b"/>
            <a:pathLst>
              <a:path w="2675890" h="909319">
                <a:moveTo>
                  <a:pt x="2524018" y="0"/>
                </a:moveTo>
                <a:lnTo>
                  <a:pt x="998195" y="0"/>
                </a:lnTo>
                <a:lnTo>
                  <a:pt x="801444" y="532"/>
                </a:lnTo>
                <a:lnTo>
                  <a:pt x="759794" y="10072"/>
                </a:lnTo>
                <a:lnTo>
                  <a:pt x="723414" y="30219"/>
                </a:lnTo>
                <a:lnTo>
                  <a:pt x="694057" y="59219"/>
                </a:lnTo>
                <a:lnTo>
                  <a:pt x="673479" y="95318"/>
                </a:lnTo>
                <a:lnTo>
                  <a:pt x="663434" y="136762"/>
                </a:lnTo>
                <a:lnTo>
                  <a:pt x="662730" y="151461"/>
                </a:lnTo>
                <a:lnTo>
                  <a:pt x="662730" y="530106"/>
                </a:lnTo>
                <a:lnTo>
                  <a:pt x="0" y="620732"/>
                </a:lnTo>
                <a:lnTo>
                  <a:pt x="662730" y="757294"/>
                </a:lnTo>
                <a:lnTo>
                  <a:pt x="663262" y="770079"/>
                </a:lnTo>
                <a:lnTo>
                  <a:pt x="665156" y="784435"/>
                </a:lnTo>
                <a:lnTo>
                  <a:pt x="678430" y="824512"/>
                </a:lnTo>
                <a:lnTo>
                  <a:pt x="701730" y="858737"/>
                </a:lnTo>
                <a:lnTo>
                  <a:pt x="733300" y="885355"/>
                </a:lnTo>
                <a:lnTo>
                  <a:pt x="771386" y="902612"/>
                </a:lnTo>
                <a:lnTo>
                  <a:pt x="814233" y="908754"/>
                </a:lnTo>
                <a:lnTo>
                  <a:pt x="1501394" y="908754"/>
                </a:lnTo>
                <a:lnTo>
                  <a:pt x="2536807" y="908222"/>
                </a:lnTo>
                <a:lnTo>
                  <a:pt x="2578457" y="898682"/>
                </a:lnTo>
                <a:lnTo>
                  <a:pt x="2614838" y="878535"/>
                </a:lnTo>
                <a:lnTo>
                  <a:pt x="2644194" y="849535"/>
                </a:lnTo>
                <a:lnTo>
                  <a:pt x="2664772" y="813436"/>
                </a:lnTo>
                <a:lnTo>
                  <a:pt x="2674817" y="771992"/>
                </a:lnTo>
                <a:lnTo>
                  <a:pt x="2675521" y="530106"/>
                </a:lnTo>
                <a:lnTo>
                  <a:pt x="2674989" y="138675"/>
                </a:lnTo>
                <a:lnTo>
                  <a:pt x="2665446" y="97037"/>
                </a:lnTo>
                <a:lnTo>
                  <a:pt x="2645294" y="60667"/>
                </a:lnTo>
                <a:lnTo>
                  <a:pt x="2616286" y="31318"/>
                </a:lnTo>
                <a:lnTo>
                  <a:pt x="2580177" y="10746"/>
                </a:lnTo>
                <a:lnTo>
                  <a:pt x="2538721" y="704"/>
                </a:lnTo>
                <a:lnTo>
                  <a:pt x="252401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021403" y="2220794"/>
            <a:ext cx="2675890" cy="909319"/>
          </a:xfrm>
          <a:custGeom>
            <a:avLst/>
            <a:gdLst/>
            <a:ahLst/>
            <a:cxnLst/>
            <a:rect l="l" t="t" r="r" b="b"/>
            <a:pathLst>
              <a:path w="2675890" h="909319">
                <a:moveTo>
                  <a:pt x="2675522" y="757293"/>
                </a:moveTo>
                <a:lnTo>
                  <a:pt x="2669378" y="800129"/>
                </a:lnTo>
                <a:lnTo>
                  <a:pt x="2652116" y="838204"/>
                </a:lnTo>
                <a:lnTo>
                  <a:pt x="2625491" y="869766"/>
                </a:lnTo>
                <a:lnTo>
                  <a:pt x="2591257" y="893059"/>
                </a:lnTo>
                <a:lnTo>
                  <a:pt x="2551169" y="906330"/>
                </a:lnTo>
                <a:lnTo>
                  <a:pt x="1501393" y="908755"/>
                </a:lnTo>
                <a:lnTo>
                  <a:pt x="998196" y="908755"/>
                </a:lnTo>
                <a:lnTo>
                  <a:pt x="814233" y="908755"/>
                </a:lnTo>
                <a:lnTo>
                  <a:pt x="799530" y="908051"/>
                </a:lnTo>
                <a:lnTo>
                  <a:pt x="758075" y="898009"/>
                </a:lnTo>
                <a:lnTo>
                  <a:pt x="721966" y="877436"/>
                </a:lnTo>
                <a:lnTo>
                  <a:pt x="692958" y="848088"/>
                </a:lnTo>
                <a:lnTo>
                  <a:pt x="672805" y="811717"/>
                </a:lnTo>
                <a:lnTo>
                  <a:pt x="663263" y="770079"/>
                </a:lnTo>
                <a:lnTo>
                  <a:pt x="662730" y="757295"/>
                </a:lnTo>
                <a:lnTo>
                  <a:pt x="0" y="620733"/>
                </a:lnTo>
                <a:lnTo>
                  <a:pt x="662730" y="530107"/>
                </a:lnTo>
                <a:lnTo>
                  <a:pt x="662730" y="151462"/>
                </a:lnTo>
                <a:lnTo>
                  <a:pt x="663435" y="136763"/>
                </a:lnTo>
                <a:lnTo>
                  <a:pt x="673479" y="95319"/>
                </a:lnTo>
                <a:lnTo>
                  <a:pt x="694057" y="59219"/>
                </a:lnTo>
                <a:lnTo>
                  <a:pt x="723414" y="30219"/>
                </a:lnTo>
                <a:lnTo>
                  <a:pt x="759794" y="10072"/>
                </a:lnTo>
                <a:lnTo>
                  <a:pt x="801444" y="532"/>
                </a:lnTo>
                <a:lnTo>
                  <a:pt x="998196" y="0"/>
                </a:lnTo>
                <a:lnTo>
                  <a:pt x="1501393" y="0"/>
                </a:lnTo>
                <a:lnTo>
                  <a:pt x="2524019" y="0"/>
                </a:lnTo>
                <a:lnTo>
                  <a:pt x="2538722" y="704"/>
                </a:lnTo>
                <a:lnTo>
                  <a:pt x="2580177" y="10746"/>
                </a:lnTo>
                <a:lnTo>
                  <a:pt x="2616286" y="31318"/>
                </a:lnTo>
                <a:lnTo>
                  <a:pt x="2645294" y="60667"/>
                </a:lnTo>
                <a:lnTo>
                  <a:pt x="2665447" y="97037"/>
                </a:lnTo>
                <a:lnTo>
                  <a:pt x="2674989" y="138675"/>
                </a:lnTo>
                <a:lnTo>
                  <a:pt x="2675522" y="530107"/>
                </a:lnTo>
                <a:lnTo>
                  <a:pt x="2675522" y="757295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02005" y="4852670"/>
            <a:ext cx="2400300" cy="1205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61670" algn="l"/>
              </a:tabLst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sub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si,si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  <a:tabLst>
                <a:tab pos="661670" algn="l"/>
              </a:tabLst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mov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	cx,#0x8000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  <a:tabLst>
                <a:tab pos="828040" algn="l"/>
              </a:tabLst>
            </a:pPr>
            <a:r>
              <a:rPr sz="2550" b="1" baseline="10000" dirty="0">
                <a:latin typeface="Courier New" panose="02070309020205020404"/>
                <a:cs typeface="Courier New" panose="02070309020205020404"/>
              </a:rPr>
              <a:t>rep</a:t>
            </a:r>
            <a:r>
              <a:rPr sz="2550" b="1" baseline="10000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将</a:t>
            </a:r>
            <a:r>
              <a:rPr sz="1700" b="1" dirty="0">
                <a:latin typeface="Arial" panose="020B0604020202020204"/>
                <a:cs typeface="Arial" panose="020B0604020202020204"/>
              </a:rPr>
              <a:t>sys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em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模块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1032510" algn="l"/>
              </a:tabLst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movsw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2475" b="1" spc="60" baseline="5000" dirty="0">
                <a:latin typeface="宋体" panose="02010600030101010101" pitchFamily="2" charset="-122"/>
                <a:cs typeface="宋体" panose="02010600030101010101" pitchFamily="2" charset="-122"/>
              </a:rPr>
              <a:t>移到</a:t>
            </a:r>
            <a:r>
              <a:rPr sz="2550" b="1" baseline="3000" dirty="0">
                <a:latin typeface="Arial" panose="020B0604020202020204"/>
                <a:cs typeface="Arial" panose="020B0604020202020204"/>
              </a:rPr>
              <a:t>0</a:t>
            </a:r>
            <a:r>
              <a:rPr sz="2475" b="1" spc="60" baseline="5000" dirty="0">
                <a:latin typeface="宋体" panose="02010600030101010101" pitchFamily="2" charset="-122"/>
                <a:cs typeface="宋体" panose="02010600030101010101" pitchFamily="2" charset="-122"/>
              </a:rPr>
              <a:t>地址</a:t>
            </a:r>
            <a:endParaRPr sz="2475" baseline="5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01796" y="6096848"/>
            <a:ext cx="145351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jmp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do_move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84457" y="2319224"/>
            <a:ext cx="1612265" cy="770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1270" algn="ctr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取出光标位置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包 括其他硬件参数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 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到</a:t>
            </a:r>
            <a:r>
              <a:rPr sz="1700" b="1" dirty="0">
                <a:latin typeface="Arial" panose="020B0604020202020204"/>
                <a:cs typeface="Arial" panose="020B0604020202020204"/>
              </a:rPr>
              <a:t>0x90000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处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113053" y="3198536"/>
            <a:ext cx="1623695" cy="515620"/>
          </a:xfrm>
          <a:custGeom>
            <a:avLst/>
            <a:gdLst/>
            <a:ahLst/>
            <a:cxnLst/>
            <a:rect l="l" t="t" r="r" b="b"/>
            <a:pathLst>
              <a:path w="1623695" h="515620">
                <a:moveTo>
                  <a:pt x="808979" y="0"/>
                </a:moveTo>
                <a:lnTo>
                  <a:pt x="270536" y="125747"/>
                </a:lnTo>
                <a:lnTo>
                  <a:pt x="61538" y="125834"/>
                </a:lnTo>
                <a:lnTo>
                  <a:pt x="47335" y="128159"/>
                </a:lnTo>
                <a:lnTo>
                  <a:pt x="13425" y="151127"/>
                </a:lnTo>
                <a:lnTo>
                  <a:pt x="0" y="190660"/>
                </a:lnTo>
                <a:lnTo>
                  <a:pt x="87" y="453692"/>
                </a:lnTo>
                <a:lnTo>
                  <a:pt x="15416" y="492295"/>
                </a:lnTo>
                <a:lnTo>
                  <a:pt x="50498" y="513604"/>
                </a:lnTo>
                <a:lnTo>
                  <a:pt x="64931" y="515213"/>
                </a:lnTo>
                <a:lnTo>
                  <a:pt x="1561680" y="515126"/>
                </a:lnTo>
                <a:lnTo>
                  <a:pt x="1600293" y="499801"/>
                </a:lnTo>
                <a:lnTo>
                  <a:pt x="1621609" y="464729"/>
                </a:lnTo>
                <a:lnTo>
                  <a:pt x="1623218" y="450301"/>
                </a:lnTo>
                <a:lnTo>
                  <a:pt x="1623131" y="187269"/>
                </a:lnTo>
                <a:lnTo>
                  <a:pt x="1607802" y="148666"/>
                </a:lnTo>
                <a:lnTo>
                  <a:pt x="1572720" y="127357"/>
                </a:lnTo>
                <a:lnTo>
                  <a:pt x="1558288" y="125747"/>
                </a:lnTo>
                <a:lnTo>
                  <a:pt x="676341" y="125747"/>
                </a:lnTo>
                <a:lnTo>
                  <a:pt x="8089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113053" y="3198536"/>
            <a:ext cx="1623695" cy="515620"/>
          </a:xfrm>
          <a:custGeom>
            <a:avLst/>
            <a:gdLst/>
            <a:ahLst/>
            <a:cxnLst/>
            <a:rect l="l" t="t" r="r" b="b"/>
            <a:pathLst>
              <a:path w="1623695" h="515620">
                <a:moveTo>
                  <a:pt x="1623218" y="450301"/>
                </a:moveTo>
                <a:lnTo>
                  <a:pt x="1609792" y="489833"/>
                </a:lnTo>
                <a:lnTo>
                  <a:pt x="1575884" y="512802"/>
                </a:lnTo>
                <a:lnTo>
                  <a:pt x="676341" y="515214"/>
                </a:lnTo>
                <a:lnTo>
                  <a:pt x="270536" y="515214"/>
                </a:lnTo>
                <a:lnTo>
                  <a:pt x="64930" y="515214"/>
                </a:lnTo>
                <a:lnTo>
                  <a:pt x="50498" y="513604"/>
                </a:lnTo>
                <a:lnTo>
                  <a:pt x="15416" y="492295"/>
                </a:lnTo>
                <a:lnTo>
                  <a:pt x="87" y="453692"/>
                </a:lnTo>
                <a:lnTo>
                  <a:pt x="0" y="288025"/>
                </a:lnTo>
                <a:lnTo>
                  <a:pt x="0" y="190658"/>
                </a:lnTo>
                <a:lnTo>
                  <a:pt x="1609" y="176231"/>
                </a:lnTo>
                <a:lnTo>
                  <a:pt x="22924" y="141159"/>
                </a:lnTo>
                <a:lnTo>
                  <a:pt x="61538" y="125834"/>
                </a:lnTo>
                <a:lnTo>
                  <a:pt x="270536" y="125747"/>
                </a:lnTo>
                <a:lnTo>
                  <a:pt x="808980" y="0"/>
                </a:lnTo>
                <a:lnTo>
                  <a:pt x="676341" y="125747"/>
                </a:lnTo>
                <a:lnTo>
                  <a:pt x="1558288" y="125747"/>
                </a:lnTo>
                <a:lnTo>
                  <a:pt x="1572720" y="127356"/>
                </a:lnTo>
                <a:lnTo>
                  <a:pt x="1607802" y="148665"/>
                </a:lnTo>
                <a:lnTo>
                  <a:pt x="1623131" y="187269"/>
                </a:lnTo>
                <a:lnTo>
                  <a:pt x="1623218" y="190658"/>
                </a:lnTo>
                <a:lnTo>
                  <a:pt x="1623218" y="288025"/>
                </a:lnTo>
                <a:lnTo>
                  <a:pt x="1623218" y="450301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262658" y="3397070"/>
            <a:ext cx="1323340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扩展内存大小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204051" y="5109339"/>
            <a:ext cx="3376295" cy="13970"/>
          </a:xfrm>
          <a:custGeom>
            <a:avLst/>
            <a:gdLst/>
            <a:ahLst/>
            <a:cxnLst/>
            <a:rect l="l" t="t" r="r" b="b"/>
            <a:pathLst>
              <a:path w="3376295" h="13970">
                <a:moveTo>
                  <a:pt x="0" y="0"/>
                </a:moveTo>
                <a:lnTo>
                  <a:pt x="3376295" y="13523"/>
                </a:lnTo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204051" y="5433895"/>
            <a:ext cx="3376295" cy="20320"/>
          </a:xfrm>
          <a:custGeom>
            <a:avLst/>
            <a:gdLst/>
            <a:ahLst/>
            <a:cxnLst/>
            <a:rect l="l" t="t" r="r" b="b"/>
            <a:pathLst>
              <a:path w="3376295" h="20320">
                <a:moveTo>
                  <a:pt x="0" y="0"/>
                </a:moveTo>
                <a:lnTo>
                  <a:pt x="3376295" y="20284"/>
                </a:lnTo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204051" y="5758450"/>
            <a:ext cx="3376295" cy="28575"/>
          </a:xfrm>
          <a:custGeom>
            <a:avLst/>
            <a:gdLst/>
            <a:ahLst/>
            <a:cxnLst/>
            <a:rect l="l" t="t" r="r" b="b"/>
            <a:pathLst>
              <a:path w="3376295" h="28575">
                <a:moveTo>
                  <a:pt x="0" y="0"/>
                </a:moveTo>
                <a:lnTo>
                  <a:pt x="3376295" y="28398"/>
                </a:lnTo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204051" y="6083006"/>
            <a:ext cx="3376295" cy="5715"/>
          </a:xfrm>
          <a:custGeom>
            <a:avLst/>
            <a:gdLst/>
            <a:ahLst/>
            <a:cxnLst/>
            <a:rect l="l" t="t" r="r" b="b"/>
            <a:pathLst>
              <a:path w="3376295" h="5714">
                <a:moveTo>
                  <a:pt x="0" y="0"/>
                </a:moveTo>
                <a:lnTo>
                  <a:pt x="3376295" y="5409"/>
                </a:lnTo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372768" y="4784783"/>
            <a:ext cx="0" cy="1623060"/>
          </a:xfrm>
          <a:custGeom>
            <a:avLst/>
            <a:gdLst/>
            <a:ahLst/>
            <a:cxnLst/>
            <a:rect l="l" t="t" r="r" b="b"/>
            <a:pathLst>
              <a:path h="1623060">
                <a:moveTo>
                  <a:pt x="0" y="1622777"/>
                </a:moveTo>
                <a:lnTo>
                  <a:pt x="0" y="0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151913" y="4810477"/>
            <a:ext cx="0" cy="1623060"/>
          </a:xfrm>
          <a:custGeom>
            <a:avLst/>
            <a:gdLst/>
            <a:ahLst/>
            <a:cxnLst/>
            <a:rect l="l" t="t" r="r" b="b"/>
            <a:pathLst>
              <a:path h="1623060">
                <a:moveTo>
                  <a:pt x="0" y="1622777"/>
                </a:moveTo>
                <a:lnTo>
                  <a:pt x="0" y="0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580345" y="4782079"/>
            <a:ext cx="0" cy="1612265"/>
          </a:xfrm>
          <a:custGeom>
            <a:avLst/>
            <a:gdLst/>
            <a:ahLst/>
            <a:cxnLst/>
            <a:rect l="l" t="t" r="r" b="b"/>
            <a:pathLst>
              <a:path h="1612264">
                <a:moveTo>
                  <a:pt x="0" y="1611959"/>
                </a:moveTo>
                <a:lnTo>
                  <a:pt x="0" y="0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204051" y="4784783"/>
            <a:ext cx="0" cy="1623060"/>
          </a:xfrm>
          <a:custGeom>
            <a:avLst/>
            <a:gdLst/>
            <a:ahLst/>
            <a:cxnLst/>
            <a:rect l="l" t="t" r="r" b="b"/>
            <a:pathLst>
              <a:path h="1623060">
                <a:moveTo>
                  <a:pt x="0" y="1622777"/>
                </a:moveTo>
                <a:lnTo>
                  <a:pt x="0" y="0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204051" y="4784784"/>
            <a:ext cx="3376295" cy="3175"/>
          </a:xfrm>
          <a:custGeom>
            <a:avLst/>
            <a:gdLst/>
            <a:ahLst/>
            <a:cxnLst/>
            <a:rect l="l" t="t" r="r" b="b"/>
            <a:pathLst>
              <a:path w="3376295" h="3175">
                <a:moveTo>
                  <a:pt x="0" y="0"/>
                </a:moveTo>
                <a:lnTo>
                  <a:pt x="3376295" y="2704"/>
                </a:lnTo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204051" y="6407561"/>
            <a:ext cx="3376295" cy="1905"/>
          </a:xfrm>
          <a:custGeom>
            <a:avLst/>
            <a:gdLst/>
            <a:ahLst/>
            <a:cxnLst/>
            <a:rect l="l" t="t" r="r" b="b"/>
            <a:pathLst>
              <a:path w="3376295" h="1904">
                <a:moveTo>
                  <a:pt x="0" y="0"/>
                </a:moveTo>
                <a:lnTo>
                  <a:pt x="3376295" y="1351"/>
                </a:lnTo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3334194" y="4835001"/>
            <a:ext cx="848360" cy="153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2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内存地址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4290">
              <a:lnSpc>
                <a:spcPct val="100000"/>
              </a:lnSpc>
              <a:spcBef>
                <a:spcPts val="870"/>
              </a:spcBef>
            </a:pPr>
            <a:r>
              <a:rPr sz="1500" b="1" spc="10" dirty="0">
                <a:latin typeface="Arial" panose="020B0604020202020204"/>
                <a:cs typeface="Arial" panose="020B0604020202020204"/>
              </a:rPr>
              <a:t>0x90000</a:t>
            </a:r>
            <a:endParaRPr sz="1500">
              <a:latin typeface="Arial" panose="020B0604020202020204"/>
              <a:cs typeface="Arial" panose="020B0604020202020204"/>
            </a:endParaRPr>
          </a:p>
          <a:p>
            <a:pPr marL="34290">
              <a:lnSpc>
                <a:spcPct val="100000"/>
              </a:lnSpc>
              <a:spcBef>
                <a:spcPts val="840"/>
              </a:spcBef>
            </a:pPr>
            <a:r>
              <a:rPr sz="1500" b="1" spc="10" dirty="0">
                <a:latin typeface="Arial" panose="020B0604020202020204"/>
                <a:cs typeface="Arial" panose="020B0604020202020204"/>
              </a:rPr>
              <a:t>0x90002</a:t>
            </a:r>
            <a:endParaRPr sz="1500">
              <a:latin typeface="Arial" panose="020B0604020202020204"/>
              <a:cs typeface="Arial" panose="020B0604020202020204"/>
            </a:endParaRPr>
          </a:p>
          <a:p>
            <a:pPr marL="34290">
              <a:lnSpc>
                <a:spcPct val="100000"/>
              </a:lnSpc>
              <a:spcBef>
                <a:spcPts val="755"/>
              </a:spcBef>
            </a:pPr>
            <a:r>
              <a:rPr sz="1500" b="1" spc="10" dirty="0">
                <a:latin typeface="Arial" panose="020B0604020202020204"/>
                <a:cs typeface="Arial" panose="020B0604020202020204"/>
              </a:rPr>
              <a:t>0x9000C</a:t>
            </a:r>
            <a:endParaRPr sz="1500">
              <a:latin typeface="Arial" panose="020B0604020202020204"/>
              <a:cs typeface="Arial" panose="020B0604020202020204"/>
            </a:endParaRPr>
          </a:p>
          <a:p>
            <a:pPr marL="34290">
              <a:lnSpc>
                <a:spcPct val="100000"/>
              </a:lnSpc>
              <a:spcBef>
                <a:spcPts val="670"/>
              </a:spcBef>
            </a:pPr>
            <a:r>
              <a:rPr sz="1500" b="1" spc="10" dirty="0">
                <a:latin typeface="Arial" panose="020B0604020202020204"/>
                <a:cs typeface="Arial" panose="020B0604020202020204"/>
              </a:rPr>
              <a:t>0x901</a:t>
            </a:r>
            <a:r>
              <a:rPr sz="1500" b="1" spc="20" dirty="0">
                <a:latin typeface="Arial" panose="020B0604020202020204"/>
                <a:cs typeface="Arial" panose="020B0604020202020204"/>
              </a:rPr>
              <a:t>FC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522384" y="4835001"/>
            <a:ext cx="415290" cy="153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spc="2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长度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R="13335" algn="ctr">
              <a:lnSpc>
                <a:spcPct val="100000"/>
              </a:lnSpc>
              <a:spcBef>
                <a:spcPts val="860"/>
              </a:spcBef>
            </a:pPr>
            <a:r>
              <a:rPr sz="1500" b="1" spc="15" dirty="0">
                <a:latin typeface="Arial" panose="020B0604020202020204"/>
                <a:cs typeface="Arial" panose="020B0604020202020204"/>
              </a:rPr>
              <a:t>2</a:t>
            </a:r>
            <a:endParaRPr sz="1500">
              <a:latin typeface="Arial" panose="020B0604020202020204"/>
              <a:cs typeface="Arial" panose="020B0604020202020204"/>
            </a:endParaRPr>
          </a:p>
          <a:p>
            <a:pPr marR="2540" algn="ctr">
              <a:lnSpc>
                <a:spcPct val="100000"/>
              </a:lnSpc>
              <a:spcBef>
                <a:spcPts val="840"/>
              </a:spcBef>
            </a:pPr>
            <a:r>
              <a:rPr sz="1500" b="1" spc="15" dirty="0">
                <a:latin typeface="Arial" panose="020B0604020202020204"/>
                <a:cs typeface="Arial" panose="020B0604020202020204"/>
              </a:rPr>
              <a:t>2</a:t>
            </a:r>
            <a:endParaRPr sz="1500">
              <a:latin typeface="Arial" panose="020B0604020202020204"/>
              <a:cs typeface="Arial" panose="020B0604020202020204"/>
            </a:endParaRPr>
          </a:p>
          <a:p>
            <a:pPr marR="2540" algn="ctr">
              <a:lnSpc>
                <a:spcPct val="100000"/>
              </a:lnSpc>
              <a:spcBef>
                <a:spcPts val="755"/>
              </a:spcBef>
            </a:pPr>
            <a:r>
              <a:rPr sz="1500" b="1" spc="15" dirty="0">
                <a:latin typeface="Arial" panose="020B0604020202020204"/>
                <a:cs typeface="Arial" panose="020B0604020202020204"/>
              </a:rPr>
              <a:t>2</a:t>
            </a:r>
            <a:endParaRPr sz="1500">
              <a:latin typeface="Arial" panose="020B0604020202020204"/>
              <a:cs typeface="Arial" panose="020B0604020202020204"/>
            </a:endParaRPr>
          </a:p>
          <a:p>
            <a:pPr marR="2540" algn="ctr">
              <a:lnSpc>
                <a:spcPct val="100000"/>
              </a:lnSpc>
              <a:spcBef>
                <a:spcPts val="670"/>
              </a:spcBef>
            </a:pPr>
            <a:r>
              <a:rPr sz="1500" b="1" spc="15" dirty="0">
                <a:latin typeface="Arial" panose="020B0604020202020204"/>
                <a:cs typeface="Arial" panose="020B0604020202020204"/>
              </a:rPr>
              <a:t>2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346844" y="4768961"/>
            <a:ext cx="999490" cy="152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37185">
              <a:lnSpc>
                <a:spcPct val="156000"/>
              </a:lnSpc>
            </a:pPr>
            <a:r>
              <a:rPr sz="1500" b="1" spc="2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名称 </a:t>
            </a:r>
            <a:r>
              <a:rPr sz="1500" b="1" spc="25" dirty="0">
                <a:latin typeface="宋体" panose="02010600030101010101" pitchFamily="2" charset="-122"/>
                <a:cs typeface="宋体" panose="02010600030101010101" pitchFamily="2" charset="-122"/>
              </a:rPr>
              <a:t>光标位置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5085" indent="-33020">
              <a:lnSpc>
                <a:spcPct val="100000"/>
              </a:lnSpc>
              <a:spcBef>
                <a:spcPts val="670"/>
              </a:spcBef>
            </a:pPr>
            <a:r>
              <a:rPr sz="1500" b="1" spc="25" dirty="0">
                <a:latin typeface="宋体" panose="02010600030101010101" pitchFamily="2" charset="-122"/>
                <a:cs typeface="宋体" panose="02010600030101010101" pitchFamily="2" charset="-122"/>
              </a:rPr>
              <a:t>扩展内存数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5085" marR="102235" indent="64770">
              <a:lnSpc>
                <a:spcPct val="137000"/>
              </a:lnSpc>
              <a:spcBef>
                <a:spcPts val="85"/>
              </a:spcBef>
            </a:pPr>
            <a:r>
              <a:rPr sz="1500" b="1" spc="25" dirty="0">
                <a:latin typeface="宋体" panose="02010600030101010101" pitchFamily="2" charset="-122"/>
                <a:cs typeface="宋体" panose="02010600030101010101" pitchFamily="2" charset="-122"/>
              </a:rPr>
              <a:t>显卡参数 根设备号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944833" y="3371983"/>
            <a:ext cx="2315845" cy="353060"/>
          </a:xfrm>
          <a:custGeom>
            <a:avLst/>
            <a:gdLst/>
            <a:ahLst/>
            <a:cxnLst/>
            <a:rect l="l" t="t" r="r" b="b"/>
            <a:pathLst>
              <a:path w="2315845" h="353060">
                <a:moveTo>
                  <a:pt x="0" y="0"/>
                </a:moveTo>
                <a:lnTo>
                  <a:pt x="2315407" y="0"/>
                </a:lnTo>
                <a:lnTo>
                  <a:pt x="2315407" y="352585"/>
                </a:lnTo>
                <a:lnTo>
                  <a:pt x="0" y="352585"/>
                </a:lnTo>
                <a:lnTo>
                  <a:pt x="0" y="0"/>
                </a:lnTo>
                <a:close/>
              </a:path>
            </a:pathLst>
          </a:custGeom>
          <a:ln w="24341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5996167" y="3430573"/>
            <a:ext cx="80454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SYSSEG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904912" y="3430573"/>
            <a:ext cx="106426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17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0x1000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187283" y="5401439"/>
            <a:ext cx="1951989" cy="649605"/>
          </a:xfrm>
          <a:custGeom>
            <a:avLst/>
            <a:gdLst/>
            <a:ahLst/>
            <a:cxnLst/>
            <a:rect l="l" t="t" r="r" b="b"/>
            <a:pathLst>
              <a:path w="1951989" h="649604">
                <a:moveTo>
                  <a:pt x="1843622" y="0"/>
                </a:moveTo>
                <a:lnTo>
                  <a:pt x="436109" y="2"/>
                </a:lnTo>
                <a:lnTo>
                  <a:pt x="394241" y="8702"/>
                </a:lnTo>
                <a:lnTo>
                  <a:pt x="360078" y="31926"/>
                </a:lnTo>
                <a:lnTo>
                  <a:pt x="337057" y="66233"/>
                </a:lnTo>
                <a:lnTo>
                  <a:pt x="328619" y="108187"/>
                </a:lnTo>
                <a:lnTo>
                  <a:pt x="0" y="206936"/>
                </a:lnTo>
                <a:lnTo>
                  <a:pt x="328619" y="270463"/>
                </a:lnTo>
                <a:lnTo>
                  <a:pt x="328622" y="541650"/>
                </a:lnTo>
                <a:lnTo>
                  <a:pt x="329696" y="556246"/>
                </a:lnTo>
                <a:lnTo>
                  <a:pt x="343623" y="595917"/>
                </a:lnTo>
                <a:lnTo>
                  <a:pt x="370931" y="626740"/>
                </a:lnTo>
                <a:lnTo>
                  <a:pt x="408179" y="645277"/>
                </a:lnTo>
                <a:lnTo>
                  <a:pt x="436836" y="649110"/>
                </a:lnTo>
                <a:lnTo>
                  <a:pt x="1844347" y="649108"/>
                </a:lnTo>
                <a:lnTo>
                  <a:pt x="1886216" y="640408"/>
                </a:lnTo>
                <a:lnTo>
                  <a:pt x="1920380" y="617185"/>
                </a:lnTo>
                <a:lnTo>
                  <a:pt x="1943400" y="582878"/>
                </a:lnTo>
                <a:lnTo>
                  <a:pt x="1951790" y="541650"/>
                </a:lnTo>
                <a:lnTo>
                  <a:pt x="1951836" y="107460"/>
                </a:lnTo>
                <a:lnTo>
                  <a:pt x="1950761" y="92865"/>
                </a:lnTo>
                <a:lnTo>
                  <a:pt x="1936834" y="53193"/>
                </a:lnTo>
                <a:lnTo>
                  <a:pt x="1909527" y="22370"/>
                </a:lnTo>
                <a:lnTo>
                  <a:pt x="1872278" y="3833"/>
                </a:lnTo>
                <a:lnTo>
                  <a:pt x="1858247" y="979"/>
                </a:lnTo>
                <a:lnTo>
                  <a:pt x="1843622" y="0"/>
                </a:lnTo>
                <a:close/>
              </a:path>
              <a:path w="1951989" h="649604">
                <a:moveTo>
                  <a:pt x="328619" y="108186"/>
                </a:move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187283" y="5401439"/>
            <a:ext cx="1951989" cy="649605"/>
          </a:xfrm>
          <a:custGeom>
            <a:avLst/>
            <a:gdLst/>
            <a:ahLst/>
            <a:cxnLst/>
            <a:rect l="l" t="t" r="r" b="b"/>
            <a:pathLst>
              <a:path w="1951989" h="649604">
                <a:moveTo>
                  <a:pt x="1951839" y="540924"/>
                </a:moveTo>
                <a:lnTo>
                  <a:pt x="1943401" y="582877"/>
                </a:lnTo>
                <a:lnTo>
                  <a:pt x="1920381" y="617185"/>
                </a:lnTo>
                <a:lnTo>
                  <a:pt x="1886217" y="640408"/>
                </a:lnTo>
                <a:lnTo>
                  <a:pt x="1844349" y="649108"/>
                </a:lnTo>
                <a:lnTo>
                  <a:pt x="1004961" y="649111"/>
                </a:lnTo>
                <a:lnTo>
                  <a:pt x="599156" y="649111"/>
                </a:lnTo>
                <a:lnTo>
                  <a:pt x="436836" y="649111"/>
                </a:lnTo>
                <a:lnTo>
                  <a:pt x="422210" y="648131"/>
                </a:lnTo>
                <a:lnTo>
                  <a:pt x="382413" y="634454"/>
                </a:lnTo>
                <a:lnTo>
                  <a:pt x="351409" y="607344"/>
                </a:lnTo>
                <a:lnTo>
                  <a:pt x="332640" y="570240"/>
                </a:lnTo>
                <a:lnTo>
                  <a:pt x="328620" y="270462"/>
                </a:lnTo>
                <a:lnTo>
                  <a:pt x="0" y="206936"/>
                </a:lnTo>
                <a:lnTo>
                  <a:pt x="328620" y="108185"/>
                </a:lnTo>
                <a:lnTo>
                  <a:pt x="329600" y="93565"/>
                </a:lnTo>
                <a:lnTo>
                  <a:pt x="343281" y="53777"/>
                </a:lnTo>
                <a:lnTo>
                  <a:pt x="370398" y="22783"/>
                </a:lnTo>
                <a:lnTo>
                  <a:pt x="407512" y="4019"/>
                </a:lnTo>
                <a:lnTo>
                  <a:pt x="599156" y="0"/>
                </a:lnTo>
                <a:lnTo>
                  <a:pt x="1004961" y="0"/>
                </a:lnTo>
                <a:lnTo>
                  <a:pt x="1843622" y="0"/>
                </a:lnTo>
                <a:lnTo>
                  <a:pt x="1858248" y="979"/>
                </a:lnTo>
                <a:lnTo>
                  <a:pt x="1898046" y="14656"/>
                </a:lnTo>
                <a:lnTo>
                  <a:pt x="1929049" y="41766"/>
                </a:lnTo>
                <a:lnTo>
                  <a:pt x="1947818" y="78870"/>
                </a:lnTo>
                <a:lnTo>
                  <a:pt x="1951839" y="108185"/>
                </a:lnTo>
                <a:lnTo>
                  <a:pt x="1951839" y="270462"/>
                </a:lnTo>
                <a:lnTo>
                  <a:pt x="1951839" y="540924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sp>
        <p:nvSpPr>
          <p:cNvPr id="45" name="object 23"/>
          <p:cNvSpPr txBox="1"/>
          <p:nvPr>
            <p:custDataLst>
              <p:tags r:id="rId2"/>
            </p:custDataLst>
          </p:nvPr>
        </p:nvSpPr>
        <p:spPr>
          <a:xfrm>
            <a:off x="1689003" y="5433515"/>
            <a:ext cx="1323340" cy="507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将system模块移到0地址</a:t>
            </a:r>
            <a:endParaRPr sz="1650" b="1" spc="4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2415">
              <a:lnSpc>
                <a:spcPts val="3370"/>
              </a:lnSpc>
            </a:pP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进入保护模式</a:t>
            </a:r>
            <a:endParaRPr sz="2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56457" y="1831850"/>
            <a:ext cx="7028180" cy="2265680"/>
          </a:xfrm>
          <a:custGeom>
            <a:avLst/>
            <a:gdLst/>
            <a:ahLst/>
            <a:cxnLst/>
            <a:rect l="l" t="t" r="r" b="b"/>
            <a:pathLst>
              <a:path w="7028180" h="2265679">
                <a:moveTo>
                  <a:pt x="0" y="0"/>
                </a:moveTo>
                <a:lnTo>
                  <a:pt x="7027677" y="0"/>
                </a:lnTo>
                <a:lnTo>
                  <a:pt x="7027677" y="2265061"/>
                </a:lnTo>
                <a:lnTo>
                  <a:pt x="0" y="2265061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09885" y="1933146"/>
            <a:ext cx="6257290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479040" algn="l"/>
                <a:tab pos="4685665" algn="l"/>
              </a:tabLst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call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empty_8042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mov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al,#0xD1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out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#0x64,al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271780">
              <a:lnSpc>
                <a:spcPct val="100000"/>
              </a:lnSpc>
              <a:spcBef>
                <a:spcPts val="460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//8042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是键盘控制器，其输出端口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P2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用来控制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A20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地址线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9885" y="2542577"/>
            <a:ext cx="2319020" cy="871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call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empty_8042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12700" marR="5080" indent="129540">
              <a:lnSpc>
                <a:spcPct val="121000"/>
              </a:lnSpc>
              <a:spcBef>
                <a:spcPts val="30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//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选通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A20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地址线 初始化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8259(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中断控制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)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33229" y="2542577"/>
            <a:ext cx="3833495" cy="871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060" marR="5080" indent="-43815">
              <a:lnSpc>
                <a:spcPct val="123000"/>
              </a:lnSpc>
              <a:tabLst>
                <a:tab pos="876935" algn="l"/>
                <a:tab pos="2262505" algn="l"/>
              </a:tabLst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mov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al,#0xDF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out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#0x60,al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call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empty_8042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//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一段非常机械化的程序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9885" y="3477890"/>
            <a:ext cx="1842770" cy="554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1000"/>
              </a:lnSpc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mov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ax,#0x0001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jmpi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0,8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16836" y="3477890"/>
            <a:ext cx="132397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mov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cr0,ax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68317" y="4165423"/>
            <a:ext cx="2868295" cy="1939289"/>
          </a:xfrm>
          <a:prstGeom prst="rect">
            <a:avLst/>
          </a:prstGeom>
          <a:ln w="8114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3495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empty_8042: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283210" marR="101600">
              <a:lnSpc>
                <a:spcPct val="119000"/>
              </a:lnSpc>
              <a:spcBef>
                <a:spcPts val="35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.word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0x00eb,0x00eb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in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al,#0x64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283210">
              <a:lnSpc>
                <a:spcPct val="100000"/>
              </a:lnSpc>
              <a:spcBef>
                <a:spcPts val="425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test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al,#2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283210" marR="750570">
              <a:lnSpc>
                <a:spcPct val="119000"/>
              </a:lnSpc>
              <a:spcBef>
                <a:spcPts val="30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jnz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empty_8042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ret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164707" y="2067982"/>
            <a:ext cx="2077720" cy="869950"/>
          </a:xfrm>
          <a:custGeom>
            <a:avLst/>
            <a:gdLst/>
            <a:ahLst/>
            <a:cxnLst/>
            <a:rect l="l" t="t" r="r" b="b"/>
            <a:pathLst>
              <a:path w="2077720" h="869950">
                <a:moveTo>
                  <a:pt x="1969500" y="0"/>
                </a:moveTo>
                <a:lnTo>
                  <a:pt x="107487" y="2"/>
                </a:lnTo>
                <a:lnTo>
                  <a:pt x="65619" y="8702"/>
                </a:lnTo>
                <a:lnTo>
                  <a:pt x="31455" y="31926"/>
                </a:lnTo>
                <a:lnTo>
                  <a:pt x="8435" y="66233"/>
                </a:lnTo>
                <a:lnTo>
                  <a:pt x="46" y="107460"/>
                </a:lnTo>
                <a:lnTo>
                  <a:pt x="0" y="541650"/>
                </a:lnTo>
                <a:lnTo>
                  <a:pt x="1074" y="556246"/>
                </a:lnTo>
                <a:lnTo>
                  <a:pt x="15001" y="595917"/>
                </a:lnTo>
                <a:lnTo>
                  <a:pt x="42308" y="626740"/>
                </a:lnTo>
                <a:lnTo>
                  <a:pt x="79557" y="645277"/>
                </a:lnTo>
                <a:lnTo>
                  <a:pt x="108214" y="649110"/>
                </a:lnTo>
                <a:lnTo>
                  <a:pt x="346284" y="649110"/>
                </a:lnTo>
                <a:lnTo>
                  <a:pt x="350426" y="869537"/>
                </a:lnTo>
                <a:lnTo>
                  <a:pt x="865714" y="649110"/>
                </a:lnTo>
                <a:lnTo>
                  <a:pt x="1970226" y="649108"/>
                </a:lnTo>
                <a:lnTo>
                  <a:pt x="1984826" y="648034"/>
                </a:lnTo>
                <a:lnTo>
                  <a:pt x="2024509" y="634111"/>
                </a:lnTo>
                <a:lnTo>
                  <a:pt x="2055340" y="606811"/>
                </a:lnTo>
                <a:lnTo>
                  <a:pt x="2073882" y="569573"/>
                </a:lnTo>
                <a:lnTo>
                  <a:pt x="2077715" y="107460"/>
                </a:lnTo>
                <a:lnTo>
                  <a:pt x="2076640" y="92865"/>
                </a:lnTo>
                <a:lnTo>
                  <a:pt x="2062713" y="53193"/>
                </a:lnTo>
                <a:lnTo>
                  <a:pt x="2035405" y="22370"/>
                </a:lnTo>
                <a:lnTo>
                  <a:pt x="1998157" y="3833"/>
                </a:lnTo>
                <a:lnTo>
                  <a:pt x="1984126" y="979"/>
                </a:lnTo>
                <a:lnTo>
                  <a:pt x="19695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164705" y="2067982"/>
            <a:ext cx="2077720" cy="869950"/>
          </a:xfrm>
          <a:custGeom>
            <a:avLst/>
            <a:gdLst/>
            <a:ahLst/>
            <a:cxnLst/>
            <a:rect l="l" t="t" r="r" b="b"/>
            <a:pathLst>
              <a:path w="2077720" h="869950">
                <a:moveTo>
                  <a:pt x="2077720" y="540923"/>
                </a:moveTo>
                <a:lnTo>
                  <a:pt x="2069282" y="582877"/>
                </a:lnTo>
                <a:lnTo>
                  <a:pt x="2046262" y="617185"/>
                </a:lnTo>
                <a:lnTo>
                  <a:pt x="2012098" y="640408"/>
                </a:lnTo>
                <a:lnTo>
                  <a:pt x="1970230" y="649108"/>
                </a:lnTo>
                <a:lnTo>
                  <a:pt x="865716" y="649111"/>
                </a:lnTo>
                <a:lnTo>
                  <a:pt x="350428" y="869536"/>
                </a:lnTo>
                <a:lnTo>
                  <a:pt x="346286" y="649111"/>
                </a:lnTo>
                <a:lnTo>
                  <a:pt x="108217" y="649111"/>
                </a:lnTo>
                <a:lnTo>
                  <a:pt x="93591" y="648131"/>
                </a:lnTo>
                <a:lnTo>
                  <a:pt x="53793" y="634454"/>
                </a:lnTo>
                <a:lnTo>
                  <a:pt x="22789" y="607345"/>
                </a:lnTo>
                <a:lnTo>
                  <a:pt x="4020" y="570241"/>
                </a:lnTo>
                <a:lnTo>
                  <a:pt x="0" y="540925"/>
                </a:lnTo>
                <a:lnTo>
                  <a:pt x="0" y="378647"/>
                </a:lnTo>
                <a:lnTo>
                  <a:pt x="0" y="108187"/>
                </a:lnTo>
                <a:lnTo>
                  <a:pt x="979" y="93565"/>
                </a:lnTo>
                <a:lnTo>
                  <a:pt x="14660" y="53778"/>
                </a:lnTo>
                <a:lnTo>
                  <a:pt x="41777" y="22783"/>
                </a:lnTo>
                <a:lnTo>
                  <a:pt x="78891" y="4019"/>
                </a:lnTo>
                <a:lnTo>
                  <a:pt x="346286" y="0"/>
                </a:lnTo>
                <a:lnTo>
                  <a:pt x="865716" y="0"/>
                </a:lnTo>
                <a:lnTo>
                  <a:pt x="1969503" y="0"/>
                </a:lnTo>
                <a:lnTo>
                  <a:pt x="1984129" y="979"/>
                </a:lnTo>
                <a:lnTo>
                  <a:pt x="2023926" y="14656"/>
                </a:lnTo>
                <a:lnTo>
                  <a:pt x="2054930" y="41766"/>
                </a:lnTo>
                <a:lnTo>
                  <a:pt x="2073699" y="78870"/>
                </a:lnTo>
                <a:lnTo>
                  <a:pt x="2077720" y="378647"/>
                </a:lnTo>
                <a:lnTo>
                  <a:pt x="2077720" y="540925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402889" y="2153782"/>
            <a:ext cx="1600835" cy="512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235" marR="5080" indent="-90170">
              <a:lnSpc>
                <a:spcPct val="101000"/>
              </a:lnSpc>
            </a:pPr>
            <a:r>
              <a:rPr sz="1700" b="1" spc="5" dirty="0">
                <a:latin typeface="Arial" panose="020B0604020202020204"/>
                <a:cs typeface="Arial" panose="020B0604020202020204"/>
              </a:rPr>
              <a:t>D</a:t>
            </a:r>
            <a:r>
              <a:rPr sz="1700" b="1" dirty="0">
                <a:latin typeface="Arial" panose="020B0604020202020204"/>
                <a:cs typeface="Arial" panose="020B0604020202020204"/>
              </a:rPr>
              <a:t>1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表示写数据到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8042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P</a:t>
            </a:r>
            <a:r>
              <a:rPr sz="1700" b="1" dirty="0">
                <a:latin typeface="Arial" panose="020B0604020202020204"/>
                <a:cs typeface="Arial" panose="020B0604020202020204"/>
              </a:rPr>
              <a:t>2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端口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6796" y="4293225"/>
            <a:ext cx="2752090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cr0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一个非常酷的寄存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器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35307" y="4377737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06901" y="4810478"/>
            <a:ext cx="259715" cy="519430"/>
          </a:xfrm>
          <a:custGeom>
            <a:avLst/>
            <a:gdLst/>
            <a:ahLst/>
            <a:cxnLst/>
            <a:rect l="l" t="t" r="r" b="b"/>
            <a:pathLst>
              <a:path w="259715" h="519429">
                <a:moveTo>
                  <a:pt x="0" y="0"/>
                </a:moveTo>
                <a:lnTo>
                  <a:pt x="259715" y="0"/>
                </a:lnTo>
                <a:lnTo>
                  <a:pt x="259715" y="519288"/>
                </a:lnTo>
                <a:lnTo>
                  <a:pt x="0" y="519288"/>
                </a:lnTo>
                <a:lnTo>
                  <a:pt x="0" y="0"/>
                </a:lnTo>
                <a:close/>
              </a:path>
            </a:pathLst>
          </a:custGeom>
          <a:ln w="162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40201" y="4820430"/>
            <a:ext cx="193675" cy="525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1430">
              <a:lnSpc>
                <a:spcPct val="110000"/>
              </a:lnSpc>
            </a:pPr>
            <a:r>
              <a:rPr sz="1700" dirty="0">
                <a:latin typeface="Arial" panose="020B0604020202020204"/>
                <a:cs typeface="Arial" panose="020B0604020202020204"/>
              </a:rPr>
              <a:t>P </a:t>
            </a:r>
            <a:r>
              <a:rPr sz="1700" dirty="0">
                <a:latin typeface="Arial" panose="020B0604020202020204"/>
                <a:cs typeface="Arial" panose="020B0604020202020204"/>
              </a:rPr>
              <a:t>G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528695" y="4810478"/>
            <a:ext cx="259715" cy="519430"/>
          </a:xfrm>
          <a:custGeom>
            <a:avLst/>
            <a:gdLst/>
            <a:ahLst/>
            <a:cxnLst/>
            <a:rect l="l" t="t" r="r" b="b"/>
            <a:pathLst>
              <a:path w="259714" h="519429">
                <a:moveTo>
                  <a:pt x="0" y="0"/>
                </a:moveTo>
                <a:lnTo>
                  <a:pt x="259715" y="0"/>
                </a:lnTo>
                <a:lnTo>
                  <a:pt x="259715" y="519288"/>
                </a:lnTo>
                <a:lnTo>
                  <a:pt x="0" y="519288"/>
                </a:lnTo>
                <a:lnTo>
                  <a:pt x="0" y="0"/>
                </a:lnTo>
                <a:close/>
              </a:path>
            </a:pathLst>
          </a:custGeom>
          <a:ln w="162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3573490" y="4820430"/>
            <a:ext cx="169545" cy="525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0000"/>
              </a:lnSpc>
            </a:pPr>
            <a:r>
              <a:rPr sz="1700" dirty="0">
                <a:latin typeface="Arial" panose="020B0604020202020204"/>
                <a:cs typeface="Arial" panose="020B0604020202020204"/>
              </a:rPr>
              <a:t>P E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66616" y="4810478"/>
            <a:ext cx="2662555" cy="519430"/>
          </a:xfrm>
          <a:custGeom>
            <a:avLst/>
            <a:gdLst/>
            <a:ahLst/>
            <a:cxnLst/>
            <a:rect l="l" t="t" r="r" b="b"/>
            <a:pathLst>
              <a:path w="2662554" h="519429">
                <a:moveTo>
                  <a:pt x="0" y="0"/>
                </a:moveTo>
                <a:lnTo>
                  <a:pt x="2662078" y="0"/>
                </a:lnTo>
                <a:lnTo>
                  <a:pt x="2662078" y="519288"/>
                </a:lnTo>
                <a:lnTo>
                  <a:pt x="0" y="519288"/>
                </a:lnTo>
                <a:lnTo>
                  <a:pt x="0" y="0"/>
                </a:lnTo>
                <a:close/>
              </a:path>
            </a:pathLst>
          </a:custGeom>
          <a:ln w="1622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3593909" y="4588436"/>
            <a:ext cx="14605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7187" y="4596547"/>
            <a:ext cx="26670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31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267012" y="5086379"/>
            <a:ext cx="2338070" cy="903605"/>
          </a:xfrm>
          <a:custGeom>
            <a:avLst/>
            <a:gdLst/>
            <a:ahLst/>
            <a:cxnLst/>
            <a:rect l="l" t="t" r="r" b="b"/>
            <a:pathLst>
              <a:path w="2338070" h="903604">
                <a:moveTo>
                  <a:pt x="2337468" y="0"/>
                </a:moveTo>
                <a:lnTo>
                  <a:pt x="1287751" y="254205"/>
                </a:lnTo>
                <a:lnTo>
                  <a:pt x="107488" y="254208"/>
                </a:lnTo>
                <a:lnTo>
                  <a:pt x="92888" y="255282"/>
                </a:lnTo>
                <a:lnTo>
                  <a:pt x="53205" y="269205"/>
                </a:lnTo>
                <a:lnTo>
                  <a:pt x="22374" y="296504"/>
                </a:lnTo>
                <a:lnTo>
                  <a:pt x="3832" y="333742"/>
                </a:lnTo>
                <a:lnTo>
                  <a:pt x="0" y="795855"/>
                </a:lnTo>
                <a:lnTo>
                  <a:pt x="1074" y="810451"/>
                </a:lnTo>
                <a:lnTo>
                  <a:pt x="15000" y="850122"/>
                </a:lnTo>
                <a:lnTo>
                  <a:pt x="42308" y="880946"/>
                </a:lnTo>
                <a:lnTo>
                  <a:pt x="79556" y="899482"/>
                </a:lnTo>
                <a:lnTo>
                  <a:pt x="108213" y="903316"/>
                </a:lnTo>
                <a:lnTo>
                  <a:pt x="2100084" y="903314"/>
                </a:lnTo>
                <a:lnTo>
                  <a:pt x="2141952" y="894614"/>
                </a:lnTo>
                <a:lnTo>
                  <a:pt x="2176116" y="871391"/>
                </a:lnTo>
                <a:lnTo>
                  <a:pt x="2199137" y="837084"/>
                </a:lnTo>
                <a:lnTo>
                  <a:pt x="2207526" y="795855"/>
                </a:lnTo>
                <a:lnTo>
                  <a:pt x="2207572" y="361667"/>
                </a:lnTo>
                <a:lnTo>
                  <a:pt x="2206498" y="347071"/>
                </a:lnTo>
                <a:lnTo>
                  <a:pt x="2192571" y="307399"/>
                </a:lnTo>
                <a:lnTo>
                  <a:pt x="2165264" y="276576"/>
                </a:lnTo>
                <a:lnTo>
                  <a:pt x="2128016" y="258039"/>
                </a:lnTo>
                <a:lnTo>
                  <a:pt x="2099359" y="254205"/>
                </a:lnTo>
                <a:lnTo>
                  <a:pt x="1839644" y="254205"/>
                </a:lnTo>
                <a:lnTo>
                  <a:pt x="23374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267010" y="5086379"/>
            <a:ext cx="2338070" cy="903605"/>
          </a:xfrm>
          <a:custGeom>
            <a:avLst/>
            <a:gdLst/>
            <a:ahLst/>
            <a:cxnLst/>
            <a:rect l="l" t="t" r="r" b="b"/>
            <a:pathLst>
              <a:path w="2338070" h="903604">
                <a:moveTo>
                  <a:pt x="2207577" y="795130"/>
                </a:moveTo>
                <a:lnTo>
                  <a:pt x="2199139" y="837083"/>
                </a:lnTo>
                <a:lnTo>
                  <a:pt x="2176119" y="871391"/>
                </a:lnTo>
                <a:lnTo>
                  <a:pt x="2141955" y="894614"/>
                </a:lnTo>
                <a:lnTo>
                  <a:pt x="2100087" y="903314"/>
                </a:lnTo>
                <a:lnTo>
                  <a:pt x="1839647" y="903316"/>
                </a:lnTo>
                <a:lnTo>
                  <a:pt x="1287753" y="903316"/>
                </a:lnTo>
                <a:lnTo>
                  <a:pt x="108215" y="903316"/>
                </a:lnTo>
                <a:lnTo>
                  <a:pt x="93589" y="902336"/>
                </a:lnTo>
                <a:lnTo>
                  <a:pt x="53791" y="888659"/>
                </a:lnTo>
                <a:lnTo>
                  <a:pt x="22788" y="861549"/>
                </a:lnTo>
                <a:lnTo>
                  <a:pt x="4019" y="824445"/>
                </a:lnTo>
                <a:lnTo>
                  <a:pt x="0" y="524668"/>
                </a:lnTo>
                <a:lnTo>
                  <a:pt x="0" y="362389"/>
                </a:lnTo>
                <a:lnTo>
                  <a:pt x="979" y="347769"/>
                </a:lnTo>
                <a:lnTo>
                  <a:pt x="14660" y="307982"/>
                </a:lnTo>
                <a:lnTo>
                  <a:pt x="41777" y="276988"/>
                </a:lnTo>
                <a:lnTo>
                  <a:pt x="78891" y="258224"/>
                </a:lnTo>
                <a:lnTo>
                  <a:pt x="1287753" y="254205"/>
                </a:lnTo>
                <a:lnTo>
                  <a:pt x="2337470" y="0"/>
                </a:lnTo>
                <a:lnTo>
                  <a:pt x="1839647" y="254205"/>
                </a:lnTo>
                <a:lnTo>
                  <a:pt x="2099361" y="254205"/>
                </a:lnTo>
                <a:lnTo>
                  <a:pt x="2113987" y="255185"/>
                </a:lnTo>
                <a:lnTo>
                  <a:pt x="2153785" y="268862"/>
                </a:lnTo>
                <a:lnTo>
                  <a:pt x="2184788" y="295971"/>
                </a:lnTo>
                <a:lnTo>
                  <a:pt x="2203557" y="333076"/>
                </a:lnTo>
                <a:lnTo>
                  <a:pt x="2207577" y="362389"/>
                </a:lnTo>
                <a:lnTo>
                  <a:pt x="2207577" y="524668"/>
                </a:lnTo>
                <a:lnTo>
                  <a:pt x="2207577" y="79513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866796" y="5425495"/>
            <a:ext cx="2973705" cy="919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78155" marR="436880" algn="ctr">
              <a:lnSpc>
                <a:spcPct val="101000"/>
              </a:lnSpc>
            </a:pPr>
            <a:r>
              <a:rPr sz="1700" b="1" spc="5" dirty="0">
                <a:latin typeface="Arial" panose="020B0604020202020204"/>
                <a:cs typeface="Arial" panose="020B0604020202020204"/>
              </a:rPr>
              <a:t>PE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=</a:t>
            </a:r>
            <a:r>
              <a:rPr sz="1700" b="1" dirty="0">
                <a:latin typeface="Arial" panose="020B0604020202020204"/>
                <a:cs typeface="Arial" panose="020B0604020202020204"/>
              </a:rPr>
              <a:t>1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启动保护模式， 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G=</a:t>
            </a:r>
            <a:r>
              <a:rPr sz="1700" b="1" dirty="0">
                <a:latin typeface="Arial" panose="020B0604020202020204"/>
                <a:cs typeface="Arial" panose="020B0604020202020204"/>
              </a:rPr>
              <a:t>1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启动分页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ts val="800"/>
              </a:spcBef>
            </a:pP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j</a:t>
            </a:r>
            <a:r>
              <a:rPr sz="2000" b="1" spc="3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0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0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,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8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//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8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用来查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gdt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35307" y="6135746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7010">
              <a:lnSpc>
                <a:spcPts val="3470"/>
              </a:lnSpc>
            </a:pP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保护模式下的地址翻译和中断处理</a:t>
            </a:r>
            <a:endParaRPr sz="2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1867" y="1905686"/>
            <a:ext cx="262064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保护模式下的地址翻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译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0379" y="1989549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0379" y="4318235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287265" y="1954389"/>
            <a:ext cx="3760470" cy="1103630"/>
          </a:xfrm>
          <a:custGeom>
            <a:avLst/>
            <a:gdLst/>
            <a:ahLst/>
            <a:cxnLst/>
            <a:rect l="l" t="t" r="r" b="b"/>
            <a:pathLst>
              <a:path w="3760470" h="1103630">
                <a:moveTo>
                  <a:pt x="3760373" y="919570"/>
                </a:moveTo>
                <a:lnTo>
                  <a:pt x="3755026" y="963768"/>
                </a:lnTo>
                <a:lnTo>
                  <a:pt x="3739839" y="1004091"/>
                </a:lnTo>
                <a:lnTo>
                  <a:pt x="3716088" y="1039262"/>
                </a:lnTo>
                <a:lnTo>
                  <a:pt x="3685054" y="1068003"/>
                </a:lnTo>
                <a:lnTo>
                  <a:pt x="3648013" y="1089035"/>
                </a:lnTo>
                <a:lnTo>
                  <a:pt x="3606245" y="1101081"/>
                </a:lnTo>
                <a:lnTo>
                  <a:pt x="3576405" y="1103488"/>
                </a:lnTo>
                <a:lnTo>
                  <a:pt x="1942368" y="1103488"/>
                </a:lnTo>
                <a:lnTo>
                  <a:pt x="1163223" y="1103488"/>
                </a:lnTo>
                <a:lnTo>
                  <a:pt x="827761" y="1103488"/>
                </a:lnTo>
                <a:lnTo>
                  <a:pt x="812673" y="1102879"/>
                </a:lnTo>
                <a:lnTo>
                  <a:pt x="769613" y="1094112"/>
                </a:lnTo>
                <a:lnTo>
                  <a:pt x="730855" y="1075933"/>
                </a:lnTo>
                <a:lnTo>
                  <a:pt x="697676" y="1049620"/>
                </a:lnTo>
                <a:lnTo>
                  <a:pt x="671356" y="1016450"/>
                </a:lnTo>
                <a:lnTo>
                  <a:pt x="653172" y="977703"/>
                </a:lnTo>
                <a:lnTo>
                  <a:pt x="644403" y="934654"/>
                </a:lnTo>
                <a:lnTo>
                  <a:pt x="643793" y="919570"/>
                </a:lnTo>
                <a:lnTo>
                  <a:pt x="643793" y="459785"/>
                </a:lnTo>
                <a:lnTo>
                  <a:pt x="0" y="271887"/>
                </a:lnTo>
                <a:lnTo>
                  <a:pt x="643793" y="183914"/>
                </a:lnTo>
                <a:lnTo>
                  <a:pt x="644403" y="168834"/>
                </a:lnTo>
                <a:lnTo>
                  <a:pt x="653172" y="125786"/>
                </a:lnTo>
                <a:lnTo>
                  <a:pt x="671356" y="87038"/>
                </a:lnTo>
                <a:lnTo>
                  <a:pt x="697676" y="53868"/>
                </a:lnTo>
                <a:lnTo>
                  <a:pt x="730855" y="27555"/>
                </a:lnTo>
                <a:lnTo>
                  <a:pt x="769613" y="9376"/>
                </a:lnTo>
                <a:lnTo>
                  <a:pt x="812673" y="609"/>
                </a:lnTo>
                <a:lnTo>
                  <a:pt x="827761" y="0"/>
                </a:lnTo>
                <a:lnTo>
                  <a:pt x="1163223" y="0"/>
                </a:lnTo>
                <a:lnTo>
                  <a:pt x="1942368" y="0"/>
                </a:lnTo>
                <a:lnTo>
                  <a:pt x="3576405" y="0"/>
                </a:lnTo>
                <a:lnTo>
                  <a:pt x="3591493" y="609"/>
                </a:lnTo>
                <a:lnTo>
                  <a:pt x="3634553" y="9376"/>
                </a:lnTo>
                <a:lnTo>
                  <a:pt x="3673311" y="27555"/>
                </a:lnTo>
                <a:lnTo>
                  <a:pt x="3706490" y="53868"/>
                </a:lnTo>
                <a:lnTo>
                  <a:pt x="3732810" y="87038"/>
                </a:lnTo>
                <a:lnTo>
                  <a:pt x="3750994" y="125786"/>
                </a:lnTo>
                <a:lnTo>
                  <a:pt x="3759763" y="168834"/>
                </a:lnTo>
                <a:lnTo>
                  <a:pt x="3760373" y="183918"/>
                </a:lnTo>
                <a:lnTo>
                  <a:pt x="3760373" y="459785"/>
                </a:lnTo>
                <a:lnTo>
                  <a:pt x="3760373" y="91957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31078" y="3325635"/>
            <a:ext cx="3216910" cy="913130"/>
          </a:xfrm>
          <a:custGeom>
            <a:avLst/>
            <a:gdLst/>
            <a:ahLst/>
            <a:cxnLst/>
            <a:rect l="l" t="t" r="r" b="b"/>
            <a:pathLst>
              <a:path w="3216909" h="913129">
                <a:moveTo>
                  <a:pt x="3216560" y="649107"/>
                </a:moveTo>
                <a:lnTo>
                  <a:pt x="3209449" y="691587"/>
                </a:lnTo>
                <a:lnTo>
                  <a:pt x="3189708" y="728172"/>
                </a:lnTo>
                <a:lnTo>
                  <a:pt x="3159726" y="756475"/>
                </a:lnTo>
                <a:lnTo>
                  <a:pt x="3121890" y="774109"/>
                </a:lnTo>
                <a:lnTo>
                  <a:pt x="1398555" y="778933"/>
                </a:lnTo>
                <a:lnTo>
                  <a:pt x="0" y="912830"/>
                </a:lnTo>
                <a:lnTo>
                  <a:pt x="619410" y="778933"/>
                </a:lnTo>
                <a:lnTo>
                  <a:pt x="229840" y="778933"/>
                </a:lnTo>
                <a:lnTo>
                  <a:pt x="215169" y="778113"/>
                </a:lnTo>
                <a:lnTo>
                  <a:pt x="174378" y="766530"/>
                </a:lnTo>
                <a:lnTo>
                  <a:pt x="140279" y="743117"/>
                </a:lnTo>
                <a:lnTo>
                  <a:pt x="115260" y="710260"/>
                </a:lnTo>
                <a:lnTo>
                  <a:pt x="101709" y="670349"/>
                </a:lnTo>
                <a:lnTo>
                  <a:pt x="99980" y="649111"/>
                </a:lnTo>
                <a:lnTo>
                  <a:pt x="99980" y="454377"/>
                </a:lnTo>
                <a:lnTo>
                  <a:pt x="99980" y="129825"/>
                </a:lnTo>
                <a:lnTo>
                  <a:pt x="100799" y="115158"/>
                </a:lnTo>
                <a:lnTo>
                  <a:pt x="112385" y="74378"/>
                </a:lnTo>
                <a:lnTo>
                  <a:pt x="135805" y="40288"/>
                </a:lnTo>
                <a:lnTo>
                  <a:pt x="168671" y="15276"/>
                </a:lnTo>
                <a:lnTo>
                  <a:pt x="208593" y="1729"/>
                </a:lnTo>
                <a:lnTo>
                  <a:pt x="619410" y="0"/>
                </a:lnTo>
                <a:lnTo>
                  <a:pt x="1398555" y="0"/>
                </a:lnTo>
                <a:lnTo>
                  <a:pt x="3086699" y="0"/>
                </a:lnTo>
                <a:lnTo>
                  <a:pt x="3101370" y="819"/>
                </a:lnTo>
                <a:lnTo>
                  <a:pt x="3142161" y="12402"/>
                </a:lnTo>
                <a:lnTo>
                  <a:pt x="3176260" y="35816"/>
                </a:lnTo>
                <a:lnTo>
                  <a:pt x="3201279" y="68672"/>
                </a:lnTo>
                <a:lnTo>
                  <a:pt x="3214830" y="108584"/>
                </a:lnTo>
                <a:lnTo>
                  <a:pt x="3216560" y="454377"/>
                </a:lnTo>
                <a:lnTo>
                  <a:pt x="3216560" y="649111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450975" y="2992967"/>
            <a:ext cx="1428750" cy="320675"/>
          </a:xfrm>
          <a:custGeom>
            <a:avLst/>
            <a:gdLst/>
            <a:ahLst/>
            <a:cxnLst/>
            <a:rect l="l" t="t" r="r" b="b"/>
            <a:pathLst>
              <a:path w="1428750" h="320675">
                <a:moveTo>
                  <a:pt x="0" y="0"/>
                </a:moveTo>
                <a:lnTo>
                  <a:pt x="1428432" y="0"/>
                </a:lnTo>
                <a:lnTo>
                  <a:pt x="1428432" y="320499"/>
                </a:lnTo>
                <a:lnTo>
                  <a:pt x="0" y="320499"/>
                </a:lnTo>
                <a:lnTo>
                  <a:pt x="0" y="0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450975" y="3317521"/>
            <a:ext cx="1428750" cy="320675"/>
          </a:xfrm>
          <a:custGeom>
            <a:avLst/>
            <a:gdLst/>
            <a:ahLst/>
            <a:cxnLst/>
            <a:rect l="l" t="t" r="r" b="b"/>
            <a:pathLst>
              <a:path w="1428750" h="320675">
                <a:moveTo>
                  <a:pt x="0" y="0"/>
                </a:moveTo>
                <a:lnTo>
                  <a:pt x="1428432" y="0"/>
                </a:lnTo>
                <a:lnTo>
                  <a:pt x="1428432" y="320499"/>
                </a:lnTo>
                <a:lnTo>
                  <a:pt x="0" y="320499"/>
                </a:lnTo>
                <a:lnTo>
                  <a:pt x="0" y="0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450975" y="3642078"/>
            <a:ext cx="1428750" cy="320675"/>
          </a:xfrm>
          <a:custGeom>
            <a:avLst/>
            <a:gdLst/>
            <a:ahLst/>
            <a:cxnLst/>
            <a:rect l="l" t="t" r="r" b="b"/>
            <a:pathLst>
              <a:path w="1428750" h="320675">
                <a:moveTo>
                  <a:pt x="0" y="0"/>
                </a:moveTo>
                <a:lnTo>
                  <a:pt x="1428432" y="0"/>
                </a:lnTo>
                <a:lnTo>
                  <a:pt x="1428432" y="320499"/>
                </a:lnTo>
                <a:lnTo>
                  <a:pt x="0" y="320499"/>
                </a:lnTo>
                <a:lnTo>
                  <a:pt x="0" y="0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01867" y="4015211"/>
            <a:ext cx="3399790" cy="495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51560">
              <a:lnSpc>
                <a:spcPts val="1915"/>
              </a:lnSpc>
            </a:pPr>
            <a:r>
              <a:rPr sz="1700" b="1" spc="-5" dirty="0">
                <a:latin typeface="Arial" panose="020B0604020202020204"/>
                <a:cs typeface="Arial" panose="020B0604020202020204"/>
              </a:rPr>
              <a:t>G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D</a:t>
            </a:r>
            <a:r>
              <a:rPr sz="1700" b="1" dirty="0">
                <a:latin typeface="Arial" panose="020B0604020202020204"/>
                <a:cs typeface="Arial" panose="020B0604020202020204"/>
              </a:rPr>
              <a:t>T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205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保护模式下中断处理函数入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口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23766" y="1947325"/>
            <a:ext cx="1465580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即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gdt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的作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用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16509" y="2068777"/>
            <a:ext cx="2743835" cy="916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 algn="ctr">
              <a:lnSpc>
                <a:spcPct val="102000"/>
              </a:lnSpc>
            </a:pP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是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b</a:t>
            </a:r>
            <a:r>
              <a:rPr sz="2000" b="1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e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，所以实模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式</a:t>
            </a:r>
            <a:r>
              <a:rPr sz="2925" b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下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: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s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左移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4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+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p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。保护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模</a:t>
            </a:r>
            <a:r>
              <a:rPr sz="2925" b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式下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: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根据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cs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查表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+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p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49635" y="3423812"/>
            <a:ext cx="2677795" cy="607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8105" marR="5080" indent="-66040">
              <a:lnSpc>
                <a:spcPct val="103000"/>
              </a:lnSpc>
            </a:pP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仍是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b</a:t>
            </a:r>
            <a:r>
              <a:rPr sz="2000" b="1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e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，仿照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gdt</a:t>
            </a:r>
            <a:r>
              <a:rPr sz="2925" b="1" spc="8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通过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进行查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表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648218" y="3187700"/>
            <a:ext cx="1010919" cy="316865"/>
          </a:xfrm>
          <a:custGeom>
            <a:avLst/>
            <a:gdLst/>
            <a:ahLst/>
            <a:cxnLst/>
            <a:rect l="l" t="t" r="r" b="b"/>
            <a:pathLst>
              <a:path w="1010920" h="316864">
                <a:moveTo>
                  <a:pt x="608133" y="293958"/>
                </a:moveTo>
                <a:lnTo>
                  <a:pt x="68958" y="293958"/>
                </a:lnTo>
                <a:lnTo>
                  <a:pt x="192709" y="306602"/>
                </a:lnTo>
                <a:lnTo>
                  <a:pt x="270271" y="312736"/>
                </a:lnTo>
                <a:lnTo>
                  <a:pt x="346253" y="316426"/>
                </a:lnTo>
                <a:lnTo>
                  <a:pt x="420105" y="316848"/>
                </a:lnTo>
                <a:lnTo>
                  <a:pt x="491284" y="313165"/>
                </a:lnTo>
                <a:lnTo>
                  <a:pt x="559245" y="304525"/>
                </a:lnTo>
                <a:lnTo>
                  <a:pt x="592139" y="298023"/>
                </a:lnTo>
                <a:lnTo>
                  <a:pt x="608133" y="293958"/>
                </a:lnTo>
                <a:close/>
              </a:path>
              <a:path w="1010920" h="316864">
                <a:moveTo>
                  <a:pt x="31797" y="241981"/>
                </a:moveTo>
                <a:lnTo>
                  <a:pt x="20182" y="245786"/>
                </a:lnTo>
                <a:lnTo>
                  <a:pt x="10474" y="253747"/>
                </a:lnTo>
                <a:lnTo>
                  <a:pt x="3478" y="265616"/>
                </a:lnTo>
                <a:lnTo>
                  <a:pt x="0" y="281147"/>
                </a:lnTo>
                <a:lnTo>
                  <a:pt x="3313" y="293324"/>
                </a:lnTo>
                <a:lnTo>
                  <a:pt x="10818" y="303562"/>
                </a:lnTo>
                <a:lnTo>
                  <a:pt x="22062" y="310982"/>
                </a:lnTo>
                <a:lnTo>
                  <a:pt x="36595" y="314705"/>
                </a:lnTo>
                <a:lnTo>
                  <a:pt x="49389" y="312325"/>
                </a:lnTo>
                <a:lnTo>
                  <a:pt x="60289" y="305811"/>
                </a:lnTo>
                <a:lnTo>
                  <a:pt x="68328" y="295943"/>
                </a:lnTo>
                <a:lnTo>
                  <a:pt x="68958" y="293958"/>
                </a:lnTo>
                <a:lnTo>
                  <a:pt x="608133" y="293958"/>
                </a:lnTo>
                <a:lnTo>
                  <a:pt x="613839" y="292507"/>
                </a:lnTo>
                <a:lnTo>
                  <a:pt x="420241" y="292507"/>
                </a:lnTo>
                <a:lnTo>
                  <a:pt x="347433" y="292113"/>
                </a:lnTo>
                <a:lnTo>
                  <a:pt x="272190" y="288470"/>
                </a:lnTo>
                <a:lnTo>
                  <a:pt x="195102" y="282378"/>
                </a:lnTo>
                <a:lnTo>
                  <a:pt x="71580" y="269756"/>
                </a:lnTo>
                <a:lnTo>
                  <a:pt x="68118" y="260186"/>
                </a:lnTo>
                <a:lnTo>
                  <a:pt x="60327" y="251360"/>
                </a:lnTo>
                <a:lnTo>
                  <a:pt x="48370" y="245062"/>
                </a:lnTo>
                <a:lnTo>
                  <a:pt x="31797" y="241981"/>
                </a:lnTo>
                <a:close/>
              </a:path>
              <a:path w="1010920" h="316864">
                <a:moveTo>
                  <a:pt x="1010334" y="0"/>
                </a:moveTo>
                <a:lnTo>
                  <a:pt x="932981" y="26183"/>
                </a:lnTo>
                <a:lnTo>
                  <a:pt x="950187" y="43223"/>
                </a:lnTo>
                <a:lnTo>
                  <a:pt x="916108" y="76894"/>
                </a:lnTo>
                <a:lnTo>
                  <a:pt x="872143" y="117384"/>
                </a:lnTo>
                <a:lnTo>
                  <a:pt x="826650" y="155331"/>
                </a:lnTo>
                <a:lnTo>
                  <a:pt x="779081" y="189952"/>
                </a:lnTo>
                <a:lnTo>
                  <a:pt x="728869" y="220488"/>
                </a:lnTo>
                <a:lnTo>
                  <a:pt x="675093" y="246312"/>
                </a:lnTo>
                <a:lnTo>
                  <a:pt x="617755" y="266396"/>
                </a:lnTo>
                <a:lnTo>
                  <a:pt x="556162" y="280380"/>
                </a:lnTo>
                <a:lnTo>
                  <a:pt x="490017" y="288856"/>
                </a:lnTo>
                <a:lnTo>
                  <a:pt x="420241" y="292507"/>
                </a:lnTo>
                <a:lnTo>
                  <a:pt x="613839" y="292507"/>
                </a:lnTo>
                <a:lnTo>
                  <a:pt x="654325" y="280297"/>
                </a:lnTo>
                <a:lnTo>
                  <a:pt x="739397" y="242437"/>
                </a:lnTo>
                <a:lnTo>
                  <a:pt x="791714" y="210761"/>
                </a:lnTo>
                <a:lnTo>
                  <a:pt x="840967" y="175019"/>
                </a:lnTo>
                <a:lnTo>
                  <a:pt x="887732" y="136083"/>
                </a:lnTo>
                <a:lnTo>
                  <a:pt x="932600" y="94801"/>
                </a:lnTo>
                <a:lnTo>
                  <a:pt x="967484" y="60352"/>
                </a:lnTo>
                <a:lnTo>
                  <a:pt x="990527" y="60352"/>
                </a:lnTo>
                <a:lnTo>
                  <a:pt x="1010334" y="0"/>
                </a:lnTo>
                <a:close/>
              </a:path>
              <a:path w="1010920" h="316864">
                <a:moveTo>
                  <a:pt x="990527" y="60352"/>
                </a:moveTo>
                <a:lnTo>
                  <a:pt x="967484" y="60352"/>
                </a:lnTo>
                <a:lnTo>
                  <a:pt x="984875" y="77575"/>
                </a:lnTo>
                <a:lnTo>
                  <a:pt x="990527" y="603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463766" y="2798232"/>
            <a:ext cx="389890" cy="379095"/>
          </a:xfrm>
          <a:custGeom>
            <a:avLst/>
            <a:gdLst/>
            <a:ahLst/>
            <a:cxnLst/>
            <a:rect l="l" t="t" r="r" b="b"/>
            <a:pathLst>
              <a:path w="389889" h="379094">
                <a:moveTo>
                  <a:pt x="0" y="189324"/>
                </a:moveTo>
                <a:lnTo>
                  <a:pt x="5661" y="143827"/>
                </a:lnTo>
                <a:lnTo>
                  <a:pt x="21741" y="102318"/>
                </a:lnTo>
                <a:lnTo>
                  <a:pt x="46888" y="66113"/>
                </a:lnTo>
                <a:lnTo>
                  <a:pt x="79748" y="36528"/>
                </a:lnTo>
                <a:lnTo>
                  <a:pt x="118966" y="14878"/>
                </a:lnTo>
                <a:lnTo>
                  <a:pt x="163190" y="2477"/>
                </a:lnTo>
                <a:lnTo>
                  <a:pt x="194786" y="0"/>
                </a:lnTo>
                <a:lnTo>
                  <a:pt x="210761" y="627"/>
                </a:lnTo>
                <a:lnTo>
                  <a:pt x="256353" y="9651"/>
                </a:lnTo>
                <a:lnTo>
                  <a:pt x="297391" y="28365"/>
                </a:lnTo>
                <a:lnTo>
                  <a:pt x="332520" y="55451"/>
                </a:lnTo>
                <a:lnTo>
                  <a:pt x="360389" y="89596"/>
                </a:lnTo>
                <a:lnTo>
                  <a:pt x="379642" y="129483"/>
                </a:lnTo>
                <a:lnTo>
                  <a:pt x="388926" y="173796"/>
                </a:lnTo>
                <a:lnTo>
                  <a:pt x="389572" y="189324"/>
                </a:lnTo>
                <a:lnTo>
                  <a:pt x="388926" y="204851"/>
                </a:lnTo>
                <a:lnTo>
                  <a:pt x="379642" y="249165"/>
                </a:lnTo>
                <a:lnTo>
                  <a:pt x="360389" y="289051"/>
                </a:lnTo>
                <a:lnTo>
                  <a:pt x="332520" y="323196"/>
                </a:lnTo>
                <a:lnTo>
                  <a:pt x="297391" y="350283"/>
                </a:lnTo>
                <a:lnTo>
                  <a:pt x="256353" y="368996"/>
                </a:lnTo>
                <a:lnTo>
                  <a:pt x="210761" y="378020"/>
                </a:lnTo>
                <a:lnTo>
                  <a:pt x="194786" y="378648"/>
                </a:lnTo>
                <a:lnTo>
                  <a:pt x="178810" y="378020"/>
                </a:lnTo>
                <a:lnTo>
                  <a:pt x="133218" y="368996"/>
                </a:lnTo>
                <a:lnTo>
                  <a:pt x="92181" y="350283"/>
                </a:lnTo>
                <a:lnTo>
                  <a:pt x="57051" y="323196"/>
                </a:lnTo>
                <a:lnTo>
                  <a:pt x="29183" y="289051"/>
                </a:lnTo>
                <a:lnTo>
                  <a:pt x="9930" y="249165"/>
                </a:lnTo>
                <a:lnTo>
                  <a:pt x="645" y="204851"/>
                </a:lnTo>
                <a:lnTo>
                  <a:pt x="0" y="189324"/>
                </a:lnTo>
                <a:close/>
              </a:path>
            </a:pathLst>
          </a:custGeom>
          <a:ln w="243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553668" y="2987556"/>
            <a:ext cx="219710" cy="1270"/>
          </a:xfrm>
          <a:custGeom>
            <a:avLst/>
            <a:gdLst/>
            <a:ahLst/>
            <a:cxnLst/>
            <a:rect l="l" t="t" r="r" b="b"/>
            <a:pathLst>
              <a:path w="219710" h="1269">
                <a:moveTo>
                  <a:pt x="0" y="0"/>
                </a:moveTo>
                <a:lnTo>
                  <a:pt x="219134" y="657"/>
                </a:lnTo>
              </a:path>
            </a:pathLst>
          </a:custGeom>
          <a:ln w="6491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662297" y="2879090"/>
            <a:ext cx="635" cy="216535"/>
          </a:xfrm>
          <a:custGeom>
            <a:avLst/>
            <a:gdLst/>
            <a:ahLst/>
            <a:cxnLst/>
            <a:rect l="l" t="t" r="r" b="b"/>
            <a:pathLst>
              <a:path w="635" h="216535">
                <a:moveTo>
                  <a:pt x="0" y="216276"/>
                </a:moveTo>
                <a:lnTo>
                  <a:pt x="624" y="0"/>
                </a:lnTo>
              </a:path>
            </a:pathLst>
          </a:custGeom>
          <a:ln w="6492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36758" y="2473678"/>
            <a:ext cx="779145" cy="398145"/>
          </a:xfrm>
          <a:custGeom>
            <a:avLst/>
            <a:gdLst/>
            <a:ahLst/>
            <a:cxnLst/>
            <a:rect l="l" t="t" r="r" b="b"/>
            <a:pathLst>
              <a:path w="779144" h="398144">
                <a:moveTo>
                  <a:pt x="0" y="0"/>
                </a:moveTo>
                <a:lnTo>
                  <a:pt x="779145" y="0"/>
                </a:lnTo>
                <a:lnTo>
                  <a:pt x="779145" y="397580"/>
                </a:lnTo>
                <a:lnTo>
                  <a:pt x="0" y="397580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810628" y="2544230"/>
            <a:ext cx="63119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cs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: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60047" y="2826632"/>
            <a:ext cx="621030" cy="687705"/>
          </a:xfrm>
          <a:custGeom>
            <a:avLst/>
            <a:gdLst/>
            <a:ahLst/>
            <a:cxnLst/>
            <a:rect l="l" t="t" r="r" b="b"/>
            <a:pathLst>
              <a:path w="621030" h="687704">
                <a:moveTo>
                  <a:pt x="587467" y="664147"/>
                </a:moveTo>
                <a:lnTo>
                  <a:pt x="557655" y="664147"/>
                </a:lnTo>
                <a:lnTo>
                  <a:pt x="567306" y="687410"/>
                </a:lnTo>
                <a:lnTo>
                  <a:pt x="587467" y="664147"/>
                </a:lnTo>
                <a:close/>
              </a:path>
              <a:path w="621030" h="687704">
                <a:moveTo>
                  <a:pt x="36284" y="0"/>
                </a:moveTo>
                <a:lnTo>
                  <a:pt x="2478" y="24250"/>
                </a:lnTo>
                <a:lnTo>
                  <a:pt x="0" y="39178"/>
                </a:lnTo>
                <a:lnTo>
                  <a:pt x="3488" y="52306"/>
                </a:lnTo>
                <a:lnTo>
                  <a:pt x="11265" y="62977"/>
                </a:lnTo>
                <a:lnTo>
                  <a:pt x="22340" y="70209"/>
                </a:lnTo>
                <a:lnTo>
                  <a:pt x="24384" y="70614"/>
                </a:lnTo>
                <a:lnTo>
                  <a:pt x="24395" y="73383"/>
                </a:lnTo>
                <a:lnTo>
                  <a:pt x="28137" y="147878"/>
                </a:lnTo>
                <a:lnTo>
                  <a:pt x="42411" y="223433"/>
                </a:lnTo>
                <a:lnTo>
                  <a:pt x="55760" y="261504"/>
                </a:lnTo>
                <a:lnTo>
                  <a:pt x="74436" y="299655"/>
                </a:lnTo>
                <a:lnTo>
                  <a:pt x="99488" y="338075"/>
                </a:lnTo>
                <a:lnTo>
                  <a:pt x="133606" y="378104"/>
                </a:lnTo>
                <a:lnTo>
                  <a:pt x="177013" y="420513"/>
                </a:lnTo>
                <a:lnTo>
                  <a:pt x="226778" y="463803"/>
                </a:lnTo>
                <a:lnTo>
                  <a:pt x="279911" y="506321"/>
                </a:lnTo>
                <a:lnTo>
                  <a:pt x="333649" y="546550"/>
                </a:lnTo>
                <a:lnTo>
                  <a:pt x="384932" y="582715"/>
                </a:lnTo>
                <a:lnTo>
                  <a:pt x="430887" y="613176"/>
                </a:lnTo>
                <a:lnTo>
                  <a:pt x="468467" y="636163"/>
                </a:lnTo>
                <a:lnTo>
                  <a:pt x="525678" y="661542"/>
                </a:lnTo>
                <a:lnTo>
                  <a:pt x="550164" y="666095"/>
                </a:lnTo>
                <a:lnTo>
                  <a:pt x="552244" y="665951"/>
                </a:lnTo>
                <a:lnTo>
                  <a:pt x="557655" y="664147"/>
                </a:lnTo>
                <a:lnTo>
                  <a:pt x="587467" y="664147"/>
                </a:lnTo>
                <a:lnTo>
                  <a:pt x="607567" y="640956"/>
                </a:lnTo>
                <a:lnTo>
                  <a:pt x="548033" y="640956"/>
                </a:lnTo>
                <a:lnTo>
                  <a:pt x="532376" y="638081"/>
                </a:lnTo>
                <a:lnTo>
                  <a:pt x="495870" y="623378"/>
                </a:lnTo>
                <a:lnTo>
                  <a:pt x="444175" y="592778"/>
                </a:lnTo>
                <a:lnTo>
                  <a:pt x="398965" y="562823"/>
                </a:lnTo>
                <a:lnTo>
                  <a:pt x="348243" y="527065"/>
                </a:lnTo>
                <a:lnTo>
                  <a:pt x="295124" y="487316"/>
                </a:lnTo>
                <a:lnTo>
                  <a:pt x="242542" y="445253"/>
                </a:lnTo>
                <a:lnTo>
                  <a:pt x="193725" y="402810"/>
                </a:lnTo>
                <a:lnTo>
                  <a:pt x="151675" y="361788"/>
                </a:lnTo>
                <a:lnTo>
                  <a:pt x="119453" y="324140"/>
                </a:lnTo>
                <a:lnTo>
                  <a:pt x="96284" y="288912"/>
                </a:lnTo>
                <a:lnTo>
                  <a:pt x="78723" y="253413"/>
                </a:lnTo>
                <a:lnTo>
                  <a:pt x="57607" y="182083"/>
                </a:lnTo>
                <a:lnTo>
                  <a:pt x="49737" y="109830"/>
                </a:lnTo>
                <a:lnTo>
                  <a:pt x="48732" y="70519"/>
                </a:lnTo>
                <a:lnTo>
                  <a:pt x="53803" y="68634"/>
                </a:lnTo>
                <a:lnTo>
                  <a:pt x="63864" y="60544"/>
                </a:lnTo>
                <a:lnTo>
                  <a:pt x="70545" y="49177"/>
                </a:lnTo>
                <a:lnTo>
                  <a:pt x="72927" y="35258"/>
                </a:lnTo>
                <a:lnTo>
                  <a:pt x="69706" y="21449"/>
                </a:lnTo>
                <a:lnTo>
                  <a:pt x="61781" y="10232"/>
                </a:lnTo>
                <a:lnTo>
                  <a:pt x="50269" y="2713"/>
                </a:lnTo>
                <a:lnTo>
                  <a:pt x="36284" y="0"/>
                </a:lnTo>
                <a:close/>
              </a:path>
              <a:path w="621030" h="687704">
                <a:moveTo>
                  <a:pt x="539320" y="619956"/>
                </a:moveTo>
                <a:lnTo>
                  <a:pt x="548033" y="640956"/>
                </a:lnTo>
                <a:lnTo>
                  <a:pt x="607567" y="640956"/>
                </a:lnTo>
                <a:lnTo>
                  <a:pt x="620785" y="625704"/>
                </a:lnTo>
                <a:lnTo>
                  <a:pt x="539320" y="6199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414996" y="2696853"/>
            <a:ext cx="2049145" cy="193040"/>
          </a:xfrm>
          <a:custGeom>
            <a:avLst/>
            <a:gdLst/>
            <a:ahLst/>
            <a:cxnLst/>
            <a:rect l="l" t="t" r="r" b="b"/>
            <a:pathLst>
              <a:path w="2049145" h="193039">
                <a:moveTo>
                  <a:pt x="811499" y="42398"/>
                </a:moveTo>
                <a:lnTo>
                  <a:pt x="241772" y="42398"/>
                </a:lnTo>
                <a:lnTo>
                  <a:pt x="301251" y="42755"/>
                </a:lnTo>
                <a:lnTo>
                  <a:pt x="369112" y="44155"/>
                </a:lnTo>
                <a:lnTo>
                  <a:pt x="489960" y="48628"/>
                </a:lnTo>
                <a:lnTo>
                  <a:pt x="705860" y="60281"/>
                </a:lnTo>
                <a:lnTo>
                  <a:pt x="1412331" y="109336"/>
                </a:lnTo>
                <a:lnTo>
                  <a:pt x="1641275" y="129720"/>
                </a:lnTo>
                <a:lnTo>
                  <a:pt x="1791758" y="145930"/>
                </a:lnTo>
                <a:lnTo>
                  <a:pt x="1974755" y="168780"/>
                </a:lnTo>
                <a:lnTo>
                  <a:pt x="1971560" y="192892"/>
                </a:lnTo>
                <a:lnTo>
                  <a:pt x="2048769" y="166289"/>
                </a:lnTo>
                <a:lnTo>
                  <a:pt x="2016816" y="144650"/>
                </a:lnTo>
                <a:lnTo>
                  <a:pt x="1977954" y="144650"/>
                </a:lnTo>
                <a:lnTo>
                  <a:pt x="1794467" y="121739"/>
                </a:lnTo>
                <a:lnTo>
                  <a:pt x="1643639" y="105493"/>
                </a:lnTo>
                <a:lnTo>
                  <a:pt x="1414247" y="85070"/>
                </a:lnTo>
                <a:lnTo>
                  <a:pt x="817181" y="42755"/>
                </a:lnTo>
                <a:lnTo>
                  <a:pt x="811499" y="42398"/>
                </a:lnTo>
                <a:close/>
              </a:path>
              <a:path w="2049145" h="193039">
                <a:moveTo>
                  <a:pt x="1981156" y="120500"/>
                </a:moveTo>
                <a:lnTo>
                  <a:pt x="1977954" y="144650"/>
                </a:lnTo>
                <a:lnTo>
                  <a:pt x="2016816" y="144650"/>
                </a:lnTo>
                <a:lnTo>
                  <a:pt x="1981156" y="120500"/>
                </a:lnTo>
                <a:close/>
              </a:path>
              <a:path w="2049145" h="193039">
                <a:moveTo>
                  <a:pt x="34194" y="0"/>
                </a:moveTo>
                <a:lnTo>
                  <a:pt x="1427" y="27414"/>
                </a:lnTo>
                <a:lnTo>
                  <a:pt x="0" y="42759"/>
                </a:lnTo>
                <a:lnTo>
                  <a:pt x="4665" y="55147"/>
                </a:lnTo>
                <a:lnTo>
                  <a:pt x="13458" y="64869"/>
                </a:lnTo>
                <a:lnTo>
                  <a:pt x="25593" y="71027"/>
                </a:lnTo>
                <a:lnTo>
                  <a:pt x="40286" y="72727"/>
                </a:lnTo>
                <a:lnTo>
                  <a:pt x="53246" y="68651"/>
                </a:lnTo>
                <a:lnTo>
                  <a:pt x="63558" y="60404"/>
                </a:lnTo>
                <a:lnTo>
                  <a:pt x="70285" y="49019"/>
                </a:lnTo>
                <a:lnTo>
                  <a:pt x="70597" y="46960"/>
                </a:lnTo>
                <a:lnTo>
                  <a:pt x="119688" y="44824"/>
                </a:lnTo>
                <a:lnTo>
                  <a:pt x="164950" y="43403"/>
                </a:lnTo>
                <a:lnTo>
                  <a:pt x="214741" y="42551"/>
                </a:lnTo>
                <a:lnTo>
                  <a:pt x="811499" y="42398"/>
                </a:lnTo>
                <a:lnTo>
                  <a:pt x="490999" y="24309"/>
                </a:lnTo>
                <a:lnTo>
                  <a:pt x="452092" y="22647"/>
                </a:lnTo>
                <a:lnTo>
                  <a:pt x="69407" y="22647"/>
                </a:lnTo>
                <a:lnTo>
                  <a:pt x="67407" y="17855"/>
                </a:lnTo>
                <a:lnTo>
                  <a:pt x="58935" y="8069"/>
                </a:lnTo>
                <a:lnTo>
                  <a:pt x="47538" y="1822"/>
                </a:lnTo>
                <a:lnTo>
                  <a:pt x="34194" y="0"/>
                </a:lnTo>
                <a:close/>
              </a:path>
              <a:path w="2049145" h="193039">
                <a:moveTo>
                  <a:pt x="241633" y="18058"/>
                </a:moveTo>
                <a:lnTo>
                  <a:pt x="214324" y="18214"/>
                </a:lnTo>
                <a:lnTo>
                  <a:pt x="164185" y="19074"/>
                </a:lnTo>
                <a:lnTo>
                  <a:pt x="118649" y="20505"/>
                </a:lnTo>
                <a:lnTo>
                  <a:pt x="69407" y="22647"/>
                </a:lnTo>
                <a:lnTo>
                  <a:pt x="452092" y="22647"/>
                </a:lnTo>
                <a:lnTo>
                  <a:pt x="369696" y="19819"/>
                </a:lnTo>
                <a:lnTo>
                  <a:pt x="301486" y="18414"/>
                </a:lnTo>
                <a:lnTo>
                  <a:pt x="241633" y="180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983196" y="3577166"/>
            <a:ext cx="1753235" cy="398145"/>
          </a:xfrm>
          <a:prstGeom prst="rect">
            <a:avLst/>
          </a:prstGeom>
          <a:ln w="811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>
              <a:lnSpc>
                <a:spcPct val="10000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物理内存地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址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752217" y="3086317"/>
            <a:ext cx="632460" cy="490855"/>
          </a:xfrm>
          <a:custGeom>
            <a:avLst/>
            <a:gdLst/>
            <a:ahLst/>
            <a:cxnLst/>
            <a:rect l="l" t="t" r="r" b="b"/>
            <a:pathLst>
              <a:path w="632460" h="490854">
                <a:moveTo>
                  <a:pt x="113943" y="62901"/>
                </a:moveTo>
                <a:lnTo>
                  <a:pt x="60883" y="62901"/>
                </a:lnTo>
                <a:lnTo>
                  <a:pt x="227085" y="149821"/>
                </a:lnTo>
                <a:lnTo>
                  <a:pt x="288048" y="183064"/>
                </a:lnTo>
                <a:lnTo>
                  <a:pt x="345151" y="215511"/>
                </a:lnTo>
                <a:lnTo>
                  <a:pt x="397422" y="246959"/>
                </a:lnTo>
                <a:lnTo>
                  <a:pt x="443777" y="277117"/>
                </a:lnTo>
                <a:lnTo>
                  <a:pt x="483391" y="305854"/>
                </a:lnTo>
                <a:lnTo>
                  <a:pt x="515535" y="332929"/>
                </a:lnTo>
                <a:lnTo>
                  <a:pt x="560858" y="383004"/>
                </a:lnTo>
                <a:lnTo>
                  <a:pt x="584551" y="425905"/>
                </a:lnTo>
                <a:lnTo>
                  <a:pt x="562664" y="433257"/>
                </a:lnTo>
                <a:lnTo>
                  <a:pt x="620551" y="490849"/>
                </a:lnTo>
                <a:lnTo>
                  <a:pt x="630765" y="418114"/>
                </a:lnTo>
                <a:lnTo>
                  <a:pt x="607743" y="418114"/>
                </a:lnTo>
                <a:lnTo>
                  <a:pt x="596906" y="394009"/>
                </a:lnTo>
                <a:lnTo>
                  <a:pt x="558626" y="341753"/>
                </a:lnTo>
                <a:lnTo>
                  <a:pt x="531605" y="314642"/>
                </a:lnTo>
                <a:lnTo>
                  <a:pt x="497996" y="286378"/>
                </a:lnTo>
                <a:lnTo>
                  <a:pt x="457273" y="256858"/>
                </a:lnTo>
                <a:lnTo>
                  <a:pt x="409976" y="226100"/>
                </a:lnTo>
                <a:lnTo>
                  <a:pt x="357182" y="194349"/>
                </a:lnTo>
                <a:lnTo>
                  <a:pt x="299707" y="161695"/>
                </a:lnTo>
                <a:lnTo>
                  <a:pt x="238487" y="128314"/>
                </a:lnTo>
                <a:lnTo>
                  <a:pt x="113943" y="62901"/>
                </a:lnTo>
                <a:close/>
              </a:path>
              <a:path w="632460" h="490854">
                <a:moveTo>
                  <a:pt x="631905" y="409997"/>
                </a:moveTo>
                <a:lnTo>
                  <a:pt x="607743" y="418114"/>
                </a:lnTo>
                <a:lnTo>
                  <a:pt x="630765" y="418114"/>
                </a:lnTo>
                <a:lnTo>
                  <a:pt x="631905" y="409997"/>
                </a:lnTo>
                <a:close/>
              </a:path>
              <a:path w="632460" h="490854">
                <a:moveTo>
                  <a:pt x="34385" y="0"/>
                </a:moveTo>
                <a:lnTo>
                  <a:pt x="22184" y="2821"/>
                </a:lnTo>
                <a:lnTo>
                  <a:pt x="11411" y="9890"/>
                </a:lnTo>
                <a:lnTo>
                  <a:pt x="3083" y="21059"/>
                </a:lnTo>
                <a:lnTo>
                  <a:pt x="0" y="31980"/>
                </a:lnTo>
                <a:lnTo>
                  <a:pt x="645" y="43107"/>
                </a:lnTo>
                <a:lnTo>
                  <a:pt x="5027" y="53793"/>
                </a:lnTo>
                <a:lnTo>
                  <a:pt x="13156" y="63388"/>
                </a:lnTo>
                <a:lnTo>
                  <a:pt x="25040" y="71246"/>
                </a:lnTo>
                <a:lnTo>
                  <a:pt x="37248" y="72975"/>
                </a:lnTo>
                <a:lnTo>
                  <a:pt x="49103" y="70627"/>
                </a:lnTo>
                <a:lnTo>
                  <a:pt x="59582" y="64527"/>
                </a:lnTo>
                <a:lnTo>
                  <a:pt x="60883" y="62901"/>
                </a:lnTo>
                <a:lnTo>
                  <a:pt x="113943" y="62901"/>
                </a:lnTo>
                <a:lnTo>
                  <a:pt x="72047" y="41269"/>
                </a:lnTo>
                <a:lnTo>
                  <a:pt x="72716" y="35817"/>
                </a:lnTo>
                <a:lnTo>
                  <a:pt x="70225" y="23220"/>
                </a:lnTo>
                <a:lnTo>
                  <a:pt x="38987" y="57"/>
                </a:lnTo>
                <a:lnTo>
                  <a:pt x="343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450975" y="5264854"/>
            <a:ext cx="1428750" cy="320675"/>
          </a:xfrm>
          <a:custGeom>
            <a:avLst/>
            <a:gdLst/>
            <a:ahLst/>
            <a:cxnLst/>
            <a:rect l="l" t="t" r="r" b="b"/>
            <a:pathLst>
              <a:path w="1428750" h="320675">
                <a:moveTo>
                  <a:pt x="0" y="0"/>
                </a:moveTo>
                <a:lnTo>
                  <a:pt x="1428432" y="0"/>
                </a:lnTo>
                <a:lnTo>
                  <a:pt x="1428432" y="320499"/>
                </a:lnTo>
                <a:lnTo>
                  <a:pt x="0" y="320499"/>
                </a:lnTo>
                <a:lnTo>
                  <a:pt x="0" y="0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450975" y="5589411"/>
            <a:ext cx="1428750" cy="320675"/>
          </a:xfrm>
          <a:custGeom>
            <a:avLst/>
            <a:gdLst/>
            <a:ahLst/>
            <a:cxnLst/>
            <a:rect l="l" t="t" r="r" b="b"/>
            <a:pathLst>
              <a:path w="1428750" h="320675">
                <a:moveTo>
                  <a:pt x="0" y="0"/>
                </a:moveTo>
                <a:lnTo>
                  <a:pt x="1428432" y="0"/>
                </a:lnTo>
                <a:lnTo>
                  <a:pt x="1428432" y="320499"/>
                </a:lnTo>
                <a:lnTo>
                  <a:pt x="0" y="320499"/>
                </a:lnTo>
                <a:lnTo>
                  <a:pt x="0" y="0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450975" y="5913966"/>
            <a:ext cx="1428750" cy="320675"/>
          </a:xfrm>
          <a:custGeom>
            <a:avLst/>
            <a:gdLst/>
            <a:ahLst/>
            <a:cxnLst/>
            <a:rect l="l" t="t" r="r" b="b"/>
            <a:pathLst>
              <a:path w="1428750" h="320675">
                <a:moveTo>
                  <a:pt x="0" y="0"/>
                </a:moveTo>
                <a:lnTo>
                  <a:pt x="1428432" y="0"/>
                </a:lnTo>
                <a:lnTo>
                  <a:pt x="1428432" y="320499"/>
                </a:lnTo>
                <a:lnTo>
                  <a:pt x="0" y="320499"/>
                </a:lnTo>
                <a:lnTo>
                  <a:pt x="0" y="0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840833" y="6286482"/>
            <a:ext cx="37401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D</a:t>
            </a:r>
            <a:r>
              <a:rPr sz="1700" b="1" dirty="0">
                <a:latin typeface="Arial" panose="020B0604020202020204"/>
                <a:cs typeface="Arial" panose="020B0604020202020204"/>
              </a:rPr>
              <a:t>T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36758" y="4745566"/>
            <a:ext cx="779145" cy="398145"/>
          </a:xfrm>
          <a:custGeom>
            <a:avLst/>
            <a:gdLst/>
            <a:ahLst/>
            <a:cxnLst/>
            <a:rect l="l" t="t" r="r" b="b"/>
            <a:pathLst>
              <a:path w="779144" h="398145">
                <a:moveTo>
                  <a:pt x="0" y="0"/>
                </a:moveTo>
                <a:lnTo>
                  <a:pt x="779145" y="0"/>
                </a:lnTo>
                <a:lnTo>
                  <a:pt x="779145" y="397580"/>
                </a:lnTo>
                <a:lnTo>
                  <a:pt x="0" y="397580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840379" y="4815500"/>
            <a:ext cx="57150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284699" y="5098521"/>
            <a:ext cx="296545" cy="652145"/>
          </a:xfrm>
          <a:custGeom>
            <a:avLst/>
            <a:gdLst/>
            <a:ahLst/>
            <a:cxnLst/>
            <a:rect l="l" t="t" r="r" b="b"/>
            <a:pathLst>
              <a:path w="296544" h="652145">
                <a:moveTo>
                  <a:pt x="36166" y="0"/>
                </a:moveTo>
                <a:lnTo>
                  <a:pt x="2425" y="24375"/>
                </a:lnTo>
                <a:lnTo>
                  <a:pt x="0" y="39288"/>
                </a:lnTo>
                <a:lnTo>
                  <a:pt x="3527" y="52405"/>
                </a:lnTo>
                <a:lnTo>
                  <a:pt x="11337" y="63053"/>
                </a:lnTo>
                <a:lnTo>
                  <a:pt x="22434" y="70251"/>
                </a:lnTo>
                <a:lnTo>
                  <a:pt x="24478" y="70650"/>
                </a:lnTo>
                <a:lnTo>
                  <a:pt x="24751" y="110244"/>
                </a:lnTo>
                <a:lnTo>
                  <a:pt x="28316" y="184396"/>
                </a:lnTo>
                <a:lnTo>
                  <a:pt x="38086" y="259342"/>
                </a:lnTo>
                <a:lnTo>
                  <a:pt x="46273" y="296882"/>
                </a:lnTo>
                <a:lnTo>
                  <a:pt x="57192" y="334507"/>
                </a:lnTo>
                <a:lnTo>
                  <a:pt x="72242" y="374265"/>
                </a:lnTo>
                <a:lnTo>
                  <a:pt x="91534" y="416703"/>
                </a:lnTo>
                <a:lnTo>
                  <a:pt x="113680" y="460065"/>
                </a:lnTo>
                <a:lnTo>
                  <a:pt x="137371" y="502728"/>
                </a:lnTo>
                <a:lnTo>
                  <a:pt x="161291" y="543020"/>
                </a:lnTo>
                <a:lnTo>
                  <a:pt x="184129" y="579258"/>
                </a:lnTo>
                <a:lnTo>
                  <a:pt x="215451" y="625078"/>
                </a:lnTo>
                <a:lnTo>
                  <a:pt x="222152" y="627496"/>
                </a:lnTo>
                <a:lnTo>
                  <a:pt x="218791" y="651921"/>
                </a:lnTo>
                <a:lnTo>
                  <a:pt x="296132" y="625704"/>
                </a:lnTo>
                <a:lnTo>
                  <a:pt x="255889" y="598157"/>
                </a:lnTo>
                <a:lnTo>
                  <a:pt x="226191" y="598157"/>
                </a:lnTo>
                <a:lnTo>
                  <a:pt x="224742" y="596116"/>
                </a:lnTo>
                <a:lnTo>
                  <a:pt x="182229" y="530594"/>
                </a:lnTo>
                <a:lnTo>
                  <a:pt x="158658" y="490909"/>
                </a:lnTo>
                <a:lnTo>
                  <a:pt x="135363" y="448990"/>
                </a:lnTo>
                <a:lnTo>
                  <a:pt x="113694" y="406620"/>
                </a:lnTo>
                <a:lnTo>
                  <a:pt x="95006" y="365629"/>
                </a:lnTo>
                <a:lnTo>
                  <a:pt x="80572" y="327708"/>
                </a:lnTo>
                <a:lnTo>
                  <a:pt x="62141" y="255576"/>
                </a:lnTo>
                <a:lnTo>
                  <a:pt x="52635" y="183224"/>
                </a:lnTo>
                <a:lnTo>
                  <a:pt x="49098" y="110077"/>
                </a:lnTo>
                <a:lnTo>
                  <a:pt x="48825" y="70482"/>
                </a:lnTo>
                <a:lnTo>
                  <a:pt x="54001" y="68520"/>
                </a:lnTo>
                <a:lnTo>
                  <a:pt x="63982" y="60392"/>
                </a:lnTo>
                <a:lnTo>
                  <a:pt x="70588" y="49001"/>
                </a:lnTo>
                <a:lnTo>
                  <a:pt x="72911" y="35053"/>
                </a:lnTo>
                <a:lnTo>
                  <a:pt x="69624" y="21288"/>
                </a:lnTo>
                <a:lnTo>
                  <a:pt x="61662" y="10125"/>
                </a:lnTo>
                <a:lnTo>
                  <a:pt x="50138" y="2663"/>
                </a:lnTo>
                <a:lnTo>
                  <a:pt x="36166" y="0"/>
                </a:lnTo>
                <a:close/>
              </a:path>
              <a:path w="296544" h="652145">
                <a:moveTo>
                  <a:pt x="228748" y="579578"/>
                </a:moveTo>
                <a:lnTo>
                  <a:pt x="226191" y="598157"/>
                </a:lnTo>
                <a:lnTo>
                  <a:pt x="255889" y="598157"/>
                </a:lnTo>
                <a:lnTo>
                  <a:pt x="228748" y="5795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3723481" y="5719233"/>
            <a:ext cx="2337435" cy="398145"/>
          </a:xfrm>
          <a:prstGeom prst="rect">
            <a:avLst/>
          </a:prstGeom>
          <a:ln w="811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5730">
              <a:lnSpc>
                <a:spcPct val="10000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中断处理函数入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口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713153" y="5747773"/>
            <a:ext cx="1010919" cy="171450"/>
          </a:xfrm>
          <a:custGeom>
            <a:avLst/>
            <a:gdLst/>
            <a:ahLst/>
            <a:cxnLst/>
            <a:rect l="l" t="t" r="r" b="b"/>
            <a:pathLst>
              <a:path w="1010920" h="171450">
                <a:moveTo>
                  <a:pt x="342377" y="51494"/>
                </a:moveTo>
                <a:lnTo>
                  <a:pt x="69255" y="51494"/>
                </a:lnTo>
                <a:lnTo>
                  <a:pt x="464739" y="87320"/>
                </a:lnTo>
                <a:lnTo>
                  <a:pt x="725570" y="114325"/>
                </a:lnTo>
                <a:lnTo>
                  <a:pt x="792345" y="122626"/>
                </a:lnTo>
                <a:lnTo>
                  <a:pt x="846879" y="130496"/>
                </a:lnTo>
                <a:lnTo>
                  <a:pt x="890223" y="137962"/>
                </a:lnTo>
                <a:lnTo>
                  <a:pt x="937655" y="148489"/>
                </a:lnTo>
                <a:lnTo>
                  <a:pt x="938324" y="148763"/>
                </a:lnTo>
                <a:lnTo>
                  <a:pt x="928799" y="170964"/>
                </a:lnTo>
                <a:lnTo>
                  <a:pt x="1010327" y="166193"/>
                </a:lnTo>
                <a:lnTo>
                  <a:pt x="976803" y="126561"/>
                </a:lnTo>
                <a:lnTo>
                  <a:pt x="947849" y="126561"/>
                </a:lnTo>
                <a:lnTo>
                  <a:pt x="943544" y="124870"/>
                </a:lnTo>
                <a:lnTo>
                  <a:pt x="894557" y="114009"/>
                </a:lnTo>
                <a:lnTo>
                  <a:pt x="850505" y="106425"/>
                </a:lnTo>
                <a:lnTo>
                  <a:pt x="795449" y="98483"/>
                </a:lnTo>
                <a:lnTo>
                  <a:pt x="728331" y="90140"/>
                </a:lnTo>
                <a:lnTo>
                  <a:pt x="467005" y="63083"/>
                </a:lnTo>
                <a:lnTo>
                  <a:pt x="342377" y="51494"/>
                </a:lnTo>
                <a:close/>
              </a:path>
              <a:path w="1010920" h="171450">
                <a:moveTo>
                  <a:pt x="957593" y="103851"/>
                </a:moveTo>
                <a:lnTo>
                  <a:pt x="947849" y="126561"/>
                </a:lnTo>
                <a:lnTo>
                  <a:pt x="976803" y="126561"/>
                </a:lnTo>
                <a:lnTo>
                  <a:pt x="957593" y="103851"/>
                </a:lnTo>
                <a:close/>
              </a:path>
              <a:path w="1010920" h="171450">
                <a:moveTo>
                  <a:pt x="39612" y="0"/>
                </a:moveTo>
                <a:lnTo>
                  <a:pt x="3286" y="23925"/>
                </a:lnTo>
                <a:lnTo>
                  <a:pt x="0" y="39423"/>
                </a:lnTo>
                <a:lnTo>
                  <a:pt x="3398" y="51744"/>
                </a:lnTo>
                <a:lnTo>
                  <a:pt x="11042" y="62028"/>
                </a:lnTo>
                <a:lnTo>
                  <a:pt x="22428" y="69374"/>
                </a:lnTo>
                <a:lnTo>
                  <a:pt x="37055" y="72880"/>
                </a:lnTo>
                <a:lnTo>
                  <a:pt x="49902" y="70303"/>
                </a:lnTo>
                <a:lnTo>
                  <a:pt x="60762" y="63570"/>
                </a:lnTo>
                <a:lnTo>
                  <a:pt x="68665" y="53492"/>
                </a:lnTo>
                <a:lnTo>
                  <a:pt x="69255" y="51494"/>
                </a:lnTo>
                <a:lnTo>
                  <a:pt x="342377" y="51494"/>
                </a:lnTo>
                <a:lnTo>
                  <a:pt x="71400" y="27247"/>
                </a:lnTo>
                <a:lnTo>
                  <a:pt x="70360" y="22924"/>
                </a:lnTo>
                <a:lnTo>
                  <a:pt x="63357" y="11740"/>
                </a:lnTo>
                <a:lnTo>
                  <a:pt x="52809" y="3742"/>
                </a:lnTo>
                <a:lnTo>
                  <a:pt x="396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4437983" y="4136130"/>
            <a:ext cx="1379220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即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的作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用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sp>
        <p:nvSpPr>
          <p:cNvPr id="37" name="object 2"/>
          <p:cNvSpPr/>
          <p:nvPr>
            <p:custDataLst>
              <p:tags r:id="rId2"/>
            </p:custDataLst>
          </p:nvPr>
        </p:nvSpPr>
        <p:spPr>
          <a:xfrm>
            <a:off x="334010" y="1720921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32" y="1989549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3511" y="3715310"/>
            <a:ext cx="7028180" cy="2588260"/>
          </a:xfrm>
          <a:custGeom>
            <a:avLst/>
            <a:gdLst/>
            <a:ahLst/>
            <a:cxnLst/>
            <a:rect l="l" t="t" r="r" b="b"/>
            <a:pathLst>
              <a:path w="7028180" h="2588260">
                <a:moveTo>
                  <a:pt x="0" y="0"/>
                </a:moveTo>
                <a:lnTo>
                  <a:pt x="7027677" y="0"/>
                </a:lnTo>
                <a:lnTo>
                  <a:pt x="7027677" y="2588122"/>
                </a:lnTo>
                <a:lnTo>
                  <a:pt x="0" y="2588122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26405" y="4119810"/>
            <a:ext cx="145351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lidt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idt_48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43894" y="4095043"/>
            <a:ext cx="4525645" cy="266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lgdt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gdt_48//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设置保护模式下的中断和寻址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27134" y="4398435"/>
            <a:ext cx="2361565" cy="271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i="1" spc="-1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进入保护模式的命</a:t>
            </a:r>
            <a:r>
              <a:rPr sz="1700" b="1" i="1" spc="-15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令</a:t>
            </a:r>
            <a:r>
              <a:rPr sz="1700" b="1" i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...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6938" y="4741888"/>
            <a:ext cx="184277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idt_48:.word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0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14069" y="4717121"/>
            <a:ext cx="3530600" cy="266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.word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0,0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//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保护模式中断函数表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6938" y="5050837"/>
            <a:ext cx="482854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608580" algn="l"/>
              </a:tabLst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gdt_48:.word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0x800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.word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512+gdt,0x9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6938" y="5359800"/>
            <a:ext cx="1323975" cy="863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gdt: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.word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661670">
              <a:lnSpc>
                <a:spcPct val="100000"/>
              </a:lnSpc>
              <a:spcBef>
                <a:spcPts val="425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.word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661670">
              <a:lnSpc>
                <a:spcPct val="100000"/>
              </a:lnSpc>
              <a:spcBef>
                <a:spcPts val="390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.word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64965" y="5359800"/>
            <a:ext cx="934719" cy="863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0,0,0,0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0x07FF,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0x07FF,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03539" y="5672982"/>
            <a:ext cx="2881630" cy="550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0x0000,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0x9A00,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0x00C0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0x0000,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0x9200,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0x00C0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966231" y="2320866"/>
            <a:ext cx="2248535" cy="649605"/>
          </a:xfrm>
          <a:custGeom>
            <a:avLst/>
            <a:gdLst/>
            <a:ahLst/>
            <a:cxnLst/>
            <a:rect l="l" t="t" r="r" b="b"/>
            <a:pathLst>
              <a:path w="2248534" h="649605">
                <a:moveTo>
                  <a:pt x="1514999" y="0"/>
                </a:moveTo>
                <a:lnTo>
                  <a:pt x="107487" y="2"/>
                </a:lnTo>
                <a:lnTo>
                  <a:pt x="65619" y="8702"/>
                </a:lnTo>
                <a:lnTo>
                  <a:pt x="31455" y="31925"/>
                </a:lnTo>
                <a:lnTo>
                  <a:pt x="8435" y="66233"/>
                </a:lnTo>
                <a:lnTo>
                  <a:pt x="46" y="107460"/>
                </a:lnTo>
                <a:lnTo>
                  <a:pt x="0" y="541650"/>
                </a:lnTo>
                <a:lnTo>
                  <a:pt x="1074" y="556246"/>
                </a:lnTo>
                <a:lnTo>
                  <a:pt x="15001" y="595917"/>
                </a:lnTo>
                <a:lnTo>
                  <a:pt x="42308" y="626740"/>
                </a:lnTo>
                <a:lnTo>
                  <a:pt x="79557" y="645277"/>
                </a:lnTo>
                <a:lnTo>
                  <a:pt x="108214" y="649110"/>
                </a:lnTo>
                <a:lnTo>
                  <a:pt x="1515725" y="649108"/>
                </a:lnTo>
                <a:lnTo>
                  <a:pt x="1557593" y="640408"/>
                </a:lnTo>
                <a:lnTo>
                  <a:pt x="1591758" y="617185"/>
                </a:lnTo>
                <a:lnTo>
                  <a:pt x="1614778" y="582878"/>
                </a:lnTo>
                <a:lnTo>
                  <a:pt x="1623216" y="540924"/>
                </a:lnTo>
                <a:lnTo>
                  <a:pt x="2248236" y="531459"/>
                </a:lnTo>
                <a:lnTo>
                  <a:pt x="1623216" y="378647"/>
                </a:lnTo>
                <a:lnTo>
                  <a:pt x="1623213" y="107460"/>
                </a:lnTo>
                <a:lnTo>
                  <a:pt x="1622139" y="92864"/>
                </a:lnTo>
                <a:lnTo>
                  <a:pt x="1608212" y="53193"/>
                </a:lnTo>
                <a:lnTo>
                  <a:pt x="1580904" y="22370"/>
                </a:lnTo>
                <a:lnTo>
                  <a:pt x="1543656" y="3833"/>
                </a:lnTo>
                <a:lnTo>
                  <a:pt x="1529625" y="979"/>
                </a:lnTo>
                <a:lnTo>
                  <a:pt x="1514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966228" y="2320866"/>
            <a:ext cx="2248535" cy="649605"/>
          </a:xfrm>
          <a:custGeom>
            <a:avLst/>
            <a:gdLst/>
            <a:ahLst/>
            <a:cxnLst/>
            <a:rect l="l" t="t" r="r" b="b"/>
            <a:pathLst>
              <a:path w="2248534" h="649605">
                <a:moveTo>
                  <a:pt x="1623218" y="540924"/>
                </a:moveTo>
                <a:lnTo>
                  <a:pt x="1614781" y="582877"/>
                </a:lnTo>
                <a:lnTo>
                  <a:pt x="1591760" y="617185"/>
                </a:lnTo>
                <a:lnTo>
                  <a:pt x="1557596" y="640408"/>
                </a:lnTo>
                <a:lnTo>
                  <a:pt x="1515728" y="649108"/>
                </a:lnTo>
                <a:lnTo>
                  <a:pt x="1352682" y="649111"/>
                </a:lnTo>
                <a:lnTo>
                  <a:pt x="946877" y="649111"/>
                </a:lnTo>
                <a:lnTo>
                  <a:pt x="108216" y="649111"/>
                </a:lnTo>
                <a:lnTo>
                  <a:pt x="93590" y="648131"/>
                </a:lnTo>
                <a:lnTo>
                  <a:pt x="53792" y="634454"/>
                </a:lnTo>
                <a:lnTo>
                  <a:pt x="22789" y="607344"/>
                </a:lnTo>
                <a:lnTo>
                  <a:pt x="4020" y="570240"/>
                </a:lnTo>
                <a:lnTo>
                  <a:pt x="0" y="540925"/>
                </a:lnTo>
                <a:lnTo>
                  <a:pt x="0" y="378648"/>
                </a:lnTo>
                <a:lnTo>
                  <a:pt x="0" y="108186"/>
                </a:lnTo>
                <a:lnTo>
                  <a:pt x="979" y="93565"/>
                </a:lnTo>
                <a:lnTo>
                  <a:pt x="14660" y="53777"/>
                </a:lnTo>
                <a:lnTo>
                  <a:pt x="41777" y="22783"/>
                </a:lnTo>
                <a:lnTo>
                  <a:pt x="78891" y="4019"/>
                </a:lnTo>
                <a:lnTo>
                  <a:pt x="946877" y="0"/>
                </a:lnTo>
                <a:lnTo>
                  <a:pt x="1352682" y="0"/>
                </a:lnTo>
                <a:lnTo>
                  <a:pt x="1515002" y="0"/>
                </a:lnTo>
                <a:lnTo>
                  <a:pt x="1529628" y="979"/>
                </a:lnTo>
                <a:lnTo>
                  <a:pt x="1569426" y="14656"/>
                </a:lnTo>
                <a:lnTo>
                  <a:pt x="1600429" y="41766"/>
                </a:lnTo>
                <a:lnTo>
                  <a:pt x="1619198" y="78870"/>
                </a:lnTo>
                <a:lnTo>
                  <a:pt x="1623218" y="378648"/>
                </a:lnTo>
                <a:lnTo>
                  <a:pt x="2248239" y="531459"/>
                </a:lnTo>
                <a:lnTo>
                  <a:pt x="1623218" y="540925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97432" y="2411471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4315">
              <a:lnSpc>
                <a:spcPct val="100000"/>
              </a:lnSpc>
            </a:pP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将</a:t>
            </a:r>
            <a:r>
              <a:rPr sz="3050" dirty="0"/>
              <a:t>se</a:t>
            </a:r>
            <a:r>
              <a:rPr sz="3050" spc="5" dirty="0"/>
              <a:t>t</a:t>
            </a:r>
            <a:r>
              <a:rPr sz="3050" spc="5" dirty="0"/>
              <a:t>u</a:t>
            </a:r>
            <a:r>
              <a:rPr sz="3050" dirty="0"/>
              <a:t>p</a:t>
            </a: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移到</a:t>
            </a:r>
            <a:r>
              <a:rPr sz="3050" dirty="0"/>
              <a:t>0</a:t>
            </a: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地址处</a:t>
            </a:r>
            <a:r>
              <a:rPr sz="3050" dirty="0"/>
              <a:t>...</a:t>
            </a:r>
            <a:endParaRPr sz="30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97432" y="2833392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736938" y="3208964"/>
            <a:ext cx="5422900" cy="835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140">
              <a:lnSpc>
                <a:spcPct val="100000"/>
              </a:lnSpc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保护模式下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cs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: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解释不再和实模式一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样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tabLst>
                <a:tab pos="3776345" algn="l"/>
              </a:tabLst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end_move: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mov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ax,#SETUPSEG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mov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ds,ax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73206" y="959872"/>
            <a:ext cx="106172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b="1" dirty="0">
                <a:latin typeface="Arial" panose="020B0604020202020204"/>
                <a:cs typeface="Arial" panose="020B0604020202020204"/>
              </a:rPr>
              <a:t>0xF</a:t>
            </a:r>
            <a:r>
              <a:rPr sz="1350" b="1" spc="5" dirty="0">
                <a:latin typeface="Arial" panose="020B0604020202020204"/>
                <a:cs typeface="Arial" panose="020B0604020202020204"/>
              </a:rPr>
              <a:t>FFFFFF</a:t>
            </a:r>
            <a:r>
              <a:rPr sz="1350" b="1" spc="10" dirty="0">
                <a:latin typeface="Arial" panose="020B0604020202020204"/>
                <a:cs typeface="Arial" panose="020B0604020202020204"/>
              </a:rPr>
              <a:t>F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97432" y="3293181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620677" y="4311473"/>
            <a:ext cx="1623695" cy="447675"/>
          </a:xfrm>
          <a:custGeom>
            <a:avLst/>
            <a:gdLst/>
            <a:ahLst/>
            <a:cxnLst/>
            <a:rect l="l" t="t" r="r" b="b"/>
            <a:pathLst>
              <a:path w="1623695" h="447675">
                <a:moveTo>
                  <a:pt x="1558288" y="0"/>
                </a:moveTo>
                <a:lnTo>
                  <a:pt x="61537" y="87"/>
                </a:lnTo>
                <a:lnTo>
                  <a:pt x="22924" y="15412"/>
                </a:lnTo>
                <a:lnTo>
                  <a:pt x="1609" y="50484"/>
                </a:lnTo>
                <a:lnTo>
                  <a:pt x="0" y="64913"/>
                </a:lnTo>
                <a:lnTo>
                  <a:pt x="87" y="327945"/>
                </a:lnTo>
                <a:lnTo>
                  <a:pt x="15415" y="366548"/>
                </a:lnTo>
                <a:lnTo>
                  <a:pt x="50497" y="387857"/>
                </a:lnTo>
                <a:lnTo>
                  <a:pt x="64930" y="389467"/>
                </a:lnTo>
                <a:lnTo>
                  <a:pt x="270536" y="389467"/>
                </a:lnTo>
                <a:lnTo>
                  <a:pt x="320667" y="447634"/>
                </a:lnTo>
                <a:lnTo>
                  <a:pt x="676341" y="389467"/>
                </a:lnTo>
                <a:lnTo>
                  <a:pt x="1561680" y="389380"/>
                </a:lnTo>
                <a:lnTo>
                  <a:pt x="1575883" y="387055"/>
                </a:lnTo>
                <a:lnTo>
                  <a:pt x="1609792" y="364086"/>
                </a:lnTo>
                <a:lnTo>
                  <a:pt x="1623218" y="324556"/>
                </a:lnTo>
                <a:lnTo>
                  <a:pt x="1623131" y="61522"/>
                </a:lnTo>
                <a:lnTo>
                  <a:pt x="1607802" y="22918"/>
                </a:lnTo>
                <a:lnTo>
                  <a:pt x="1572720" y="1609"/>
                </a:lnTo>
                <a:lnTo>
                  <a:pt x="155828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620677" y="4311474"/>
            <a:ext cx="1623695" cy="447675"/>
          </a:xfrm>
          <a:custGeom>
            <a:avLst/>
            <a:gdLst/>
            <a:ahLst/>
            <a:cxnLst/>
            <a:rect l="l" t="t" r="r" b="b"/>
            <a:pathLst>
              <a:path w="1623695" h="447675">
                <a:moveTo>
                  <a:pt x="1623218" y="324553"/>
                </a:moveTo>
                <a:lnTo>
                  <a:pt x="1609792" y="364086"/>
                </a:lnTo>
                <a:lnTo>
                  <a:pt x="1575884" y="387054"/>
                </a:lnTo>
                <a:lnTo>
                  <a:pt x="676341" y="389466"/>
                </a:lnTo>
                <a:lnTo>
                  <a:pt x="320667" y="447633"/>
                </a:lnTo>
                <a:lnTo>
                  <a:pt x="270536" y="389466"/>
                </a:lnTo>
                <a:lnTo>
                  <a:pt x="64930" y="389466"/>
                </a:lnTo>
                <a:lnTo>
                  <a:pt x="50498" y="387857"/>
                </a:lnTo>
                <a:lnTo>
                  <a:pt x="15416" y="366548"/>
                </a:lnTo>
                <a:lnTo>
                  <a:pt x="87" y="327945"/>
                </a:lnTo>
                <a:lnTo>
                  <a:pt x="0" y="324555"/>
                </a:lnTo>
                <a:lnTo>
                  <a:pt x="0" y="227188"/>
                </a:lnTo>
                <a:lnTo>
                  <a:pt x="0" y="64912"/>
                </a:lnTo>
                <a:lnTo>
                  <a:pt x="1609" y="50484"/>
                </a:lnTo>
                <a:lnTo>
                  <a:pt x="22924" y="15412"/>
                </a:lnTo>
                <a:lnTo>
                  <a:pt x="61538" y="87"/>
                </a:lnTo>
                <a:lnTo>
                  <a:pt x="270536" y="0"/>
                </a:lnTo>
                <a:lnTo>
                  <a:pt x="676341" y="0"/>
                </a:lnTo>
                <a:lnTo>
                  <a:pt x="1558288" y="0"/>
                </a:lnTo>
                <a:lnTo>
                  <a:pt x="1572720" y="1609"/>
                </a:lnTo>
                <a:lnTo>
                  <a:pt x="1607802" y="22918"/>
                </a:lnTo>
                <a:lnTo>
                  <a:pt x="1623131" y="61521"/>
                </a:lnTo>
                <a:lnTo>
                  <a:pt x="1623218" y="227188"/>
                </a:lnTo>
                <a:lnTo>
                  <a:pt x="1623218" y="324555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3770281" y="4383992"/>
            <a:ext cx="1323340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又一个函数表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466354" y="3394604"/>
            <a:ext cx="2339340" cy="633095"/>
          </a:xfrm>
          <a:custGeom>
            <a:avLst/>
            <a:gdLst/>
            <a:ahLst/>
            <a:cxnLst/>
            <a:rect l="l" t="t" r="r" b="b"/>
            <a:pathLst>
              <a:path w="2339340" h="633095">
                <a:moveTo>
                  <a:pt x="2233275" y="0"/>
                </a:moveTo>
                <a:lnTo>
                  <a:pt x="1364292" y="0"/>
                </a:lnTo>
                <a:lnTo>
                  <a:pt x="94528" y="564"/>
                </a:lnTo>
                <a:lnTo>
                  <a:pt x="54285" y="13243"/>
                </a:lnTo>
                <a:lnTo>
                  <a:pt x="22880" y="39883"/>
                </a:lnTo>
                <a:lnTo>
                  <a:pt x="3928" y="76867"/>
                </a:lnTo>
                <a:lnTo>
                  <a:pt x="0" y="105483"/>
                </a:lnTo>
                <a:lnTo>
                  <a:pt x="0" y="527403"/>
                </a:lnTo>
                <a:lnTo>
                  <a:pt x="7289" y="566003"/>
                </a:lnTo>
                <a:lnTo>
                  <a:pt x="29683" y="600747"/>
                </a:lnTo>
                <a:lnTo>
                  <a:pt x="63629" y="624246"/>
                </a:lnTo>
                <a:lnTo>
                  <a:pt x="105511" y="632882"/>
                </a:lnTo>
                <a:lnTo>
                  <a:pt x="1948988" y="632882"/>
                </a:lnTo>
                <a:lnTo>
                  <a:pt x="2244257" y="632318"/>
                </a:lnTo>
                <a:lnTo>
                  <a:pt x="2284499" y="619639"/>
                </a:lnTo>
                <a:lnTo>
                  <a:pt x="2315905" y="593000"/>
                </a:lnTo>
                <a:lnTo>
                  <a:pt x="2334857" y="556016"/>
                </a:lnTo>
                <a:lnTo>
                  <a:pt x="2338786" y="369181"/>
                </a:lnTo>
                <a:lnTo>
                  <a:pt x="2338221" y="94503"/>
                </a:lnTo>
                <a:lnTo>
                  <a:pt x="2325539" y="54271"/>
                </a:lnTo>
                <a:lnTo>
                  <a:pt x="2298892" y="22874"/>
                </a:lnTo>
                <a:lnTo>
                  <a:pt x="2261899" y="3927"/>
                </a:lnTo>
                <a:lnTo>
                  <a:pt x="22332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466352" y="3394604"/>
            <a:ext cx="2339340" cy="633095"/>
          </a:xfrm>
          <a:custGeom>
            <a:avLst/>
            <a:gdLst/>
            <a:ahLst/>
            <a:cxnLst/>
            <a:rect l="l" t="t" r="r" b="b"/>
            <a:pathLst>
              <a:path w="2339340" h="633095">
                <a:moveTo>
                  <a:pt x="2338787" y="527400"/>
                </a:moveTo>
                <a:lnTo>
                  <a:pt x="2330148" y="569270"/>
                </a:lnTo>
                <a:lnTo>
                  <a:pt x="2306643" y="603207"/>
                </a:lnTo>
                <a:lnTo>
                  <a:pt x="2271890" y="625595"/>
                </a:lnTo>
                <a:lnTo>
                  <a:pt x="1948989" y="632883"/>
                </a:lnTo>
                <a:lnTo>
                  <a:pt x="1414429" y="632883"/>
                </a:lnTo>
                <a:lnTo>
                  <a:pt x="1364292" y="632883"/>
                </a:lnTo>
                <a:lnTo>
                  <a:pt x="105511" y="632883"/>
                </a:lnTo>
                <a:lnTo>
                  <a:pt x="90893" y="631879"/>
                </a:lnTo>
                <a:lnTo>
                  <a:pt x="51254" y="617886"/>
                </a:lnTo>
                <a:lnTo>
                  <a:pt x="20756" y="590237"/>
                </a:lnTo>
                <a:lnTo>
                  <a:pt x="3017" y="552549"/>
                </a:lnTo>
                <a:lnTo>
                  <a:pt x="0" y="527402"/>
                </a:lnTo>
                <a:lnTo>
                  <a:pt x="0" y="369180"/>
                </a:lnTo>
                <a:lnTo>
                  <a:pt x="0" y="105483"/>
                </a:lnTo>
                <a:lnTo>
                  <a:pt x="1004" y="90868"/>
                </a:lnTo>
                <a:lnTo>
                  <a:pt x="15000" y="51240"/>
                </a:lnTo>
                <a:lnTo>
                  <a:pt x="42657" y="20751"/>
                </a:lnTo>
                <a:lnTo>
                  <a:pt x="80355" y="3016"/>
                </a:lnTo>
                <a:lnTo>
                  <a:pt x="1364292" y="0"/>
                </a:lnTo>
                <a:lnTo>
                  <a:pt x="1948989" y="0"/>
                </a:lnTo>
                <a:lnTo>
                  <a:pt x="2233275" y="0"/>
                </a:lnTo>
                <a:lnTo>
                  <a:pt x="2247894" y="1004"/>
                </a:lnTo>
                <a:lnTo>
                  <a:pt x="2287533" y="14996"/>
                </a:lnTo>
                <a:lnTo>
                  <a:pt x="2318030" y="42645"/>
                </a:lnTo>
                <a:lnTo>
                  <a:pt x="2335769" y="80334"/>
                </a:lnTo>
                <a:lnTo>
                  <a:pt x="2338787" y="369180"/>
                </a:lnTo>
                <a:lnTo>
                  <a:pt x="2338787" y="527402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7601085" y="3479250"/>
            <a:ext cx="2068830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用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G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D</a:t>
            </a:r>
            <a:r>
              <a:rPr sz="1700" b="1" dirty="0">
                <a:latin typeface="Arial" panose="020B0604020202020204"/>
                <a:cs typeface="Arial" panose="020B0604020202020204"/>
              </a:rPr>
              <a:t>T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将</a:t>
            </a:r>
            <a:r>
              <a:rPr sz="1700" b="1" dirty="0">
                <a:latin typeface="Arial" panose="020B0604020202020204"/>
                <a:cs typeface="Arial" panose="020B0604020202020204"/>
              </a:rPr>
              <a:t>cs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: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p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变成物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sp>
        <p:nvSpPr>
          <p:cNvPr id="28" name="object 28"/>
          <p:cNvSpPr txBox="1"/>
          <p:nvPr/>
        </p:nvSpPr>
        <p:spPr>
          <a:xfrm>
            <a:off x="8298230" y="3741631"/>
            <a:ext cx="674370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理地址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148342" y="965847"/>
          <a:ext cx="9665335" cy="22155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59379"/>
                <a:gridCol w="1493361"/>
              </a:tblGrid>
              <a:tr h="454377">
                <a:tc rowSpan="2">
                  <a:txBody>
                    <a:bodyPr/>
                    <a:lstStyle/>
                    <a:p>
                      <a:endParaRPr sz="17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R w="8114">
                      <a:solidFill>
                        <a:srgbClr val="000000"/>
                      </a:solidFill>
                      <a:prstDash val="solid"/>
                    </a:lnR>
                    <a:lnB w="43274">
                      <a:solidFill>
                        <a:srgbClr val="C1C43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</a:pPr>
                      <a:r>
                        <a:rPr sz="1700" b="1" spc="5" dirty="0"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1700" b="1" spc="-5" dirty="0">
                          <a:latin typeface="Arial" panose="020B0604020202020204"/>
                          <a:cs typeface="Arial" panose="020B0604020202020204"/>
                        </a:rPr>
                        <a:t>O</a:t>
                      </a:r>
                      <a:r>
                        <a:rPr sz="1700" b="1" dirty="0">
                          <a:latin typeface="Arial" panose="020B0604020202020204"/>
                          <a:cs typeface="Arial" panose="020B0604020202020204"/>
                        </a:rPr>
                        <a:t>M</a:t>
                      </a:r>
                      <a:r>
                        <a:rPr sz="1700" b="1" spc="-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700" b="1" spc="5" dirty="0"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r>
                        <a:rPr sz="1700" b="1" spc="-5" dirty="0">
                          <a:latin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sz="1700" b="1" spc="-5" dirty="0">
                          <a:latin typeface="Arial" panose="020B0604020202020204"/>
                          <a:cs typeface="Arial" panose="020B0604020202020204"/>
                        </a:rPr>
                        <a:t>O</a:t>
                      </a:r>
                      <a:r>
                        <a:rPr sz="1700" b="1" dirty="0">
                          <a:latin typeface="Arial" panose="020B0604020202020204"/>
                          <a:cs typeface="Arial" panose="020B0604020202020204"/>
                        </a:rPr>
                        <a:t>S</a:t>
                      </a:r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8114">
                      <a:solidFill>
                        <a:srgbClr val="000000"/>
                      </a:solidFill>
                      <a:prstDash val="solid"/>
                    </a:lnL>
                    <a:lnR w="8114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5375">
                <a:tc vMerge="1">
                  <a:tcPr marL="0" marR="0" marT="0" marB="0">
                    <a:lnR w="8114">
                      <a:solidFill>
                        <a:srgbClr val="000000"/>
                      </a:solidFill>
                      <a:prstDash val="solid"/>
                    </a:lnR>
                    <a:lnB w="43274">
                      <a:solidFill>
                        <a:srgbClr val="C1C43C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8114">
                      <a:solidFill>
                        <a:srgbClr val="000000"/>
                      </a:solidFill>
                      <a:prstDash val="solid"/>
                    </a:lnL>
                    <a:lnR w="8114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9002">
                <a:tc rowSpan="4">
                  <a:txBody>
                    <a:bodyPr/>
                    <a:lstStyle/>
                    <a:p>
                      <a:pPr algn="r">
                        <a:lnSpc>
                          <a:spcPts val="1455"/>
                        </a:lnSpc>
                      </a:pPr>
                      <a:r>
                        <a:rPr sz="1350" b="1" spc="-5" dirty="0">
                          <a:latin typeface="Arial" panose="020B0604020202020204"/>
                          <a:cs typeface="Arial" panose="020B0604020202020204"/>
                        </a:rPr>
                        <a:t>0x100000</a:t>
                      </a:r>
                      <a:endParaRPr sz="135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marL="688975">
                        <a:lnSpc>
                          <a:spcPts val="2235"/>
                        </a:lnSpc>
                      </a:pPr>
                      <a:r>
                        <a:rPr sz="2925" b="1" spc="15" baseline="100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但</a:t>
                      </a:r>
                      <a:r>
                        <a:rPr sz="2000" b="1" spc="5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r>
                        <a:rPr sz="2925" b="1" spc="15" baseline="100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地址处是有重要内容</a:t>
                      </a:r>
                      <a:r>
                        <a:rPr sz="2925" b="1" baseline="100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的</a:t>
                      </a:r>
                      <a:endParaRPr sz="2925" baseline="10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R="7620" algn="r">
                        <a:lnSpc>
                          <a:spcPts val="1175"/>
                        </a:lnSpc>
                        <a:spcBef>
                          <a:spcPts val="190"/>
                        </a:spcBef>
                      </a:pPr>
                      <a:r>
                        <a:rPr sz="1350" b="1" spc="-5" dirty="0">
                          <a:latin typeface="Arial" panose="020B0604020202020204"/>
                          <a:cs typeface="Arial" panose="020B0604020202020204"/>
                        </a:rPr>
                        <a:t>0xF</a:t>
                      </a:r>
                      <a:r>
                        <a:rPr sz="1350" b="1" spc="-5" dirty="0">
                          <a:latin typeface="Arial" panose="020B0604020202020204"/>
                          <a:cs typeface="Arial" panose="020B0604020202020204"/>
                        </a:rPr>
                        <a:t>0000</a:t>
                      </a:r>
                      <a:endParaRPr sz="135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marL="688975">
                        <a:lnSpc>
                          <a:spcPts val="1955"/>
                        </a:lnSpc>
                        <a:tabLst>
                          <a:tab pos="5951855" algn="l"/>
                        </a:tabLst>
                      </a:pPr>
                      <a:r>
                        <a:rPr sz="2925" b="1" spc="15" baseline="100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以后不调用</a:t>
                      </a:r>
                      <a:r>
                        <a:rPr sz="2000" b="1" spc="-5" dirty="0">
                          <a:latin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sz="2000" b="1" dirty="0">
                          <a:latin typeface="Arial" panose="020B0604020202020204"/>
                          <a:cs typeface="Arial" panose="020B0604020202020204"/>
                        </a:rPr>
                        <a:t>n</a:t>
                      </a:r>
                      <a:r>
                        <a:rPr sz="2000" b="1" dirty="0">
                          <a:latin typeface="Arial" panose="020B0604020202020204"/>
                          <a:cs typeface="Arial" panose="020B0604020202020204"/>
                        </a:rPr>
                        <a:t>t</a:t>
                      </a:r>
                      <a:r>
                        <a:rPr sz="2925" b="1" spc="15" baseline="100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指令了吗</a:t>
                      </a:r>
                      <a:r>
                        <a:rPr sz="2000" b="1" dirty="0">
                          <a:latin typeface="Arial" panose="020B0604020202020204"/>
                          <a:cs typeface="Arial" panose="020B0604020202020204"/>
                        </a:rPr>
                        <a:t>?</a:t>
                      </a:r>
                      <a:r>
                        <a:rPr sz="2000" b="1" dirty="0">
                          <a:latin typeface="Arial" panose="020B0604020202020204"/>
                          <a:cs typeface="Arial" panose="020B0604020202020204"/>
                        </a:rPr>
                        <a:t>	</a:t>
                      </a:r>
                      <a:r>
                        <a:rPr sz="2475" b="1" baseline="-1000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前面的</a:t>
                      </a:r>
                      <a:r>
                        <a:rPr sz="2550" b="1" spc="-7" baseline="-11000" dirty="0">
                          <a:latin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sz="2550" b="1" baseline="-11000" dirty="0">
                          <a:latin typeface="Arial" panose="020B0604020202020204"/>
                          <a:cs typeface="Arial" panose="020B0604020202020204"/>
                        </a:rPr>
                        <a:t>n</a:t>
                      </a:r>
                      <a:r>
                        <a:rPr sz="2550" b="1" spc="-7" baseline="-11000" dirty="0">
                          <a:latin typeface="Arial" panose="020B0604020202020204"/>
                          <a:cs typeface="Arial" panose="020B0604020202020204"/>
                        </a:rPr>
                        <a:t>t</a:t>
                      </a:r>
                      <a:r>
                        <a:rPr sz="2475" b="1" baseline="-1000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指令</a:t>
                      </a:r>
                      <a:endParaRPr sz="2475" baseline="-100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688975">
                        <a:lnSpc>
                          <a:spcPts val="2345"/>
                        </a:lnSpc>
                        <a:spcBef>
                          <a:spcPts val="920"/>
                        </a:spcBef>
                        <a:tabLst>
                          <a:tab pos="6048375" algn="l"/>
                        </a:tabLst>
                      </a:pPr>
                      <a:r>
                        <a:rPr sz="2925" b="1" spc="15" baseline="1000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因为操作系统要让硬件进入保护模式了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…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	</a:t>
                      </a:r>
                      <a:r>
                        <a:rPr sz="2475" b="1" baseline="3200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才可以使用</a:t>
                      </a:r>
                      <a:r>
                        <a:rPr sz="2550" b="1" baseline="29000" dirty="0">
                          <a:latin typeface="Arial" panose="020B0604020202020204"/>
                          <a:cs typeface="Arial" panose="020B0604020202020204"/>
                        </a:rPr>
                        <a:t>!</a:t>
                      </a:r>
                      <a:endParaRPr sz="2550" baseline="2900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algn="r">
                        <a:lnSpc>
                          <a:spcPts val="1195"/>
                        </a:lnSpc>
                      </a:pPr>
                      <a:r>
                        <a:rPr sz="1350" b="1" spc="-5" dirty="0">
                          <a:latin typeface="Arial" panose="020B0604020202020204"/>
                          <a:cs typeface="Arial" panose="020B0604020202020204"/>
                        </a:rPr>
                        <a:t>0x00000000</a:t>
                      </a:r>
                      <a:endParaRPr sz="13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R w="8114">
                      <a:solidFill>
                        <a:srgbClr val="000000"/>
                      </a:solidFill>
                      <a:prstDash val="solid"/>
                    </a:lnR>
                    <a:lnT w="43274">
                      <a:solidFill>
                        <a:srgbClr val="C1C43C"/>
                      </a:solidFill>
                      <a:prstDash val="solid"/>
                    </a:lnT>
                  </a:tcPr>
                </a:tc>
                <a:tc vMerge="1">
                  <a:tcPr marL="0" marR="0" marT="0" marB="0">
                    <a:lnL w="8114">
                      <a:solidFill>
                        <a:srgbClr val="000000"/>
                      </a:solidFill>
                      <a:prstDash val="solid"/>
                    </a:lnL>
                    <a:lnR w="8114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4378">
                <a:tc vMerge="1">
                  <a:tcPr marL="0" marR="0" marT="0" marB="0">
                    <a:lnR w="8114">
                      <a:solidFill>
                        <a:srgbClr val="000000"/>
                      </a:solidFill>
                      <a:prstDash val="solid"/>
                    </a:lnR>
                    <a:lnT w="43274">
                      <a:solidFill>
                        <a:srgbClr val="C1C43C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</a:pPr>
                      <a:r>
                        <a:rPr sz="1350" b="1" spc="-10" dirty="0"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1350" b="1" dirty="0">
                          <a:latin typeface="Arial" panose="020B0604020202020204"/>
                          <a:cs typeface="Arial" panose="020B0604020202020204"/>
                        </a:rPr>
                        <a:t>OM</a:t>
                      </a:r>
                      <a:r>
                        <a:rPr sz="1350" b="1" spc="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350" b="1" spc="-10" dirty="0"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r>
                        <a:rPr sz="1350" b="1" dirty="0">
                          <a:latin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sz="1350" b="1" dirty="0">
                          <a:latin typeface="Arial" panose="020B0604020202020204"/>
                          <a:cs typeface="Arial" panose="020B0604020202020204"/>
                        </a:rPr>
                        <a:t>O</a:t>
                      </a:r>
                      <a:r>
                        <a:rPr sz="1350" b="1" spc="-10" dirty="0">
                          <a:latin typeface="Arial" panose="020B0604020202020204"/>
                          <a:cs typeface="Arial" panose="020B0604020202020204"/>
                        </a:rPr>
                        <a:t>S</a:t>
                      </a:r>
                      <a:r>
                        <a:rPr sz="1300" b="1" spc="-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映射</a:t>
                      </a:r>
                      <a:r>
                        <a:rPr sz="13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区</a:t>
                      </a:r>
                      <a:endParaRPr sz="13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8114">
                      <a:solidFill>
                        <a:srgbClr val="000000"/>
                      </a:solidFill>
                      <a:prstDash val="solid"/>
                    </a:lnL>
                    <a:lnR w="8114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4378">
                <a:tc vMerge="1">
                  <a:tcPr marL="0" marR="0" marT="0" marB="0">
                    <a:lnR w="8114">
                      <a:solidFill>
                        <a:srgbClr val="000000"/>
                      </a:solidFill>
                      <a:prstDash val="solid"/>
                    </a:lnR>
                    <a:lnT w="43274">
                      <a:solidFill>
                        <a:srgbClr val="C1C43C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endParaRPr sz="13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8114">
                      <a:solidFill>
                        <a:srgbClr val="000000"/>
                      </a:solidFill>
                      <a:prstDash val="solid"/>
                    </a:lnL>
                    <a:lnR w="8114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9466">
                <a:tc vMerge="1">
                  <a:tcPr marL="0" marR="0" marT="0" marB="0">
                    <a:lnR w="8114">
                      <a:solidFill>
                        <a:srgbClr val="000000"/>
                      </a:solidFill>
                      <a:prstDash val="solid"/>
                    </a:lnR>
                    <a:lnT w="43274">
                      <a:solidFill>
                        <a:srgbClr val="C1C43C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93370">
                        <a:lnSpc>
                          <a:spcPct val="100000"/>
                        </a:lnSpc>
                      </a:pPr>
                      <a:r>
                        <a:rPr sz="1500" b="1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中断向量表</a:t>
                      </a:r>
                      <a:endParaRPr sz="15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8114">
                      <a:solidFill>
                        <a:srgbClr val="000000"/>
                      </a:solidFill>
                      <a:prstDash val="solid"/>
                    </a:lnL>
                    <a:lnR w="8114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6270" y="806450"/>
            <a:ext cx="5201285" cy="469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678305" algn="l"/>
              </a:tabLst>
            </a:pPr>
            <a:r>
              <a:rPr spc="5" dirty="0"/>
              <a:t>jmpi</a:t>
            </a:r>
            <a:r>
              <a:rPr spc="5" dirty="0"/>
              <a:t> </a:t>
            </a:r>
            <a:r>
              <a:rPr dirty="0"/>
              <a:t>0,</a:t>
            </a:r>
            <a:r>
              <a:rPr spc="5" dirty="0"/>
              <a:t>8</a:t>
            </a:r>
            <a:r>
              <a:rPr dirty="0"/>
              <a:t>	</a:t>
            </a:r>
            <a:r>
              <a:rPr spc="5" dirty="0"/>
              <a:t>//gdt</a:t>
            </a: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中的</a:t>
            </a:r>
            <a:r>
              <a:rPr sz="3050" spc="5" dirty="0"/>
              <a:t>8</a:t>
            </a:r>
            <a:endParaRPr sz="30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43475" y="3385762"/>
            <a:ext cx="5712460" cy="1035685"/>
          </a:xfrm>
          <a:custGeom>
            <a:avLst/>
            <a:gdLst/>
            <a:ahLst/>
            <a:cxnLst/>
            <a:rect l="l" t="t" r="r" b="b"/>
            <a:pathLst>
              <a:path w="5712460" h="1035685">
                <a:moveTo>
                  <a:pt x="0" y="0"/>
                </a:moveTo>
                <a:lnTo>
                  <a:pt x="5712227" y="0"/>
                </a:lnTo>
                <a:lnTo>
                  <a:pt x="5712227" y="1035248"/>
                </a:lnTo>
                <a:lnTo>
                  <a:pt x="0" y="1035248"/>
                </a:lnTo>
                <a:lnTo>
                  <a:pt x="0" y="0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72009" y="3477890"/>
            <a:ext cx="1323975" cy="863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gdt: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.word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661670">
              <a:lnSpc>
                <a:spcPct val="100000"/>
              </a:lnSpc>
              <a:spcBef>
                <a:spcPts val="425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.word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661670">
              <a:lnSpc>
                <a:spcPct val="100000"/>
              </a:lnSpc>
              <a:spcBef>
                <a:spcPts val="390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.word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00037" y="3477890"/>
            <a:ext cx="934719" cy="863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0,0,0,0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0x07FF,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0x07FF,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38610" y="3791071"/>
            <a:ext cx="934085" cy="550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0x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0000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,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0x0000,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77176" y="3791071"/>
            <a:ext cx="934085" cy="550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0x9A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00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,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0x9200,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15741" y="3791071"/>
            <a:ext cx="804545" cy="550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0x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00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C0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0x00C0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42911" y="2733321"/>
            <a:ext cx="454659" cy="393700"/>
          </a:xfrm>
          <a:prstGeom prst="rect">
            <a:avLst/>
          </a:prstGeom>
          <a:ln w="24344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589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?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817146" y="2242472"/>
            <a:ext cx="632460" cy="490855"/>
          </a:xfrm>
          <a:custGeom>
            <a:avLst/>
            <a:gdLst/>
            <a:ahLst/>
            <a:cxnLst/>
            <a:rect l="l" t="t" r="r" b="b"/>
            <a:pathLst>
              <a:path w="632460" h="490855">
                <a:moveTo>
                  <a:pt x="113943" y="62903"/>
                </a:moveTo>
                <a:lnTo>
                  <a:pt x="60884" y="62903"/>
                </a:lnTo>
                <a:lnTo>
                  <a:pt x="227085" y="149823"/>
                </a:lnTo>
                <a:lnTo>
                  <a:pt x="288048" y="183065"/>
                </a:lnTo>
                <a:lnTo>
                  <a:pt x="345151" y="215512"/>
                </a:lnTo>
                <a:lnTo>
                  <a:pt x="397422" y="246959"/>
                </a:lnTo>
                <a:lnTo>
                  <a:pt x="443777" y="277119"/>
                </a:lnTo>
                <a:lnTo>
                  <a:pt x="483391" y="305855"/>
                </a:lnTo>
                <a:lnTo>
                  <a:pt x="515535" y="332929"/>
                </a:lnTo>
                <a:lnTo>
                  <a:pt x="560858" y="383005"/>
                </a:lnTo>
                <a:lnTo>
                  <a:pt x="584552" y="425905"/>
                </a:lnTo>
                <a:lnTo>
                  <a:pt x="562664" y="433259"/>
                </a:lnTo>
                <a:lnTo>
                  <a:pt x="620551" y="490849"/>
                </a:lnTo>
                <a:lnTo>
                  <a:pt x="630765" y="418115"/>
                </a:lnTo>
                <a:lnTo>
                  <a:pt x="607743" y="418115"/>
                </a:lnTo>
                <a:lnTo>
                  <a:pt x="596906" y="394011"/>
                </a:lnTo>
                <a:lnTo>
                  <a:pt x="558626" y="341753"/>
                </a:lnTo>
                <a:lnTo>
                  <a:pt x="531605" y="314643"/>
                </a:lnTo>
                <a:lnTo>
                  <a:pt x="497996" y="286378"/>
                </a:lnTo>
                <a:lnTo>
                  <a:pt x="457273" y="256859"/>
                </a:lnTo>
                <a:lnTo>
                  <a:pt x="409976" y="226101"/>
                </a:lnTo>
                <a:lnTo>
                  <a:pt x="357182" y="194349"/>
                </a:lnTo>
                <a:lnTo>
                  <a:pt x="299707" y="161695"/>
                </a:lnTo>
                <a:lnTo>
                  <a:pt x="238487" y="128314"/>
                </a:lnTo>
                <a:lnTo>
                  <a:pt x="113943" y="62903"/>
                </a:lnTo>
                <a:close/>
              </a:path>
              <a:path w="632460" h="490855">
                <a:moveTo>
                  <a:pt x="631905" y="409999"/>
                </a:moveTo>
                <a:lnTo>
                  <a:pt x="607743" y="418115"/>
                </a:lnTo>
                <a:lnTo>
                  <a:pt x="630765" y="418115"/>
                </a:lnTo>
                <a:lnTo>
                  <a:pt x="631905" y="409999"/>
                </a:lnTo>
                <a:close/>
              </a:path>
              <a:path w="632460" h="490855">
                <a:moveTo>
                  <a:pt x="34384" y="0"/>
                </a:moveTo>
                <a:lnTo>
                  <a:pt x="22184" y="2821"/>
                </a:lnTo>
                <a:lnTo>
                  <a:pt x="11410" y="9891"/>
                </a:lnTo>
                <a:lnTo>
                  <a:pt x="3082" y="21060"/>
                </a:lnTo>
                <a:lnTo>
                  <a:pt x="0" y="31981"/>
                </a:lnTo>
                <a:lnTo>
                  <a:pt x="645" y="43108"/>
                </a:lnTo>
                <a:lnTo>
                  <a:pt x="5027" y="53794"/>
                </a:lnTo>
                <a:lnTo>
                  <a:pt x="13156" y="63390"/>
                </a:lnTo>
                <a:lnTo>
                  <a:pt x="25040" y="71247"/>
                </a:lnTo>
                <a:lnTo>
                  <a:pt x="37249" y="72976"/>
                </a:lnTo>
                <a:lnTo>
                  <a:pt x="49103" y="70628"/>
                </a:lnTo>
                <a:lnTo>
                  <a:pt x="59582" y="64527"/>
                </a:lnTo>
                <a:lnTo>
                  <a:pt x="60884" y="62903"/>
                </a:lnTo>
                <a:lnTo>
                  <a:pt x="113943" y="62903"/>
                </a:lnTo>
                <a:lnTo>
                  <a:pt x="72047" y="41269"/>
                </a:lnTo>
                <a:lnTo>
                  <a:pt x="72716" y="35818"/>
                </a:lnTo>
                <a:lnTo>
                  <a:pt x="70225" y="23220"/>
                </a:lnTo>
                <a:lnTo>
                  <a:pt x="38987" y="57"/>
                </a:lnTo>
                <a:lnTo>
                  <a:pt x="343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15903" y="2149121"/>
            <a:ext cx="1428750" cy="320675"/>
          </a:xfrm>
          <a:custGeom>
            <a:avLst/>
            <a:gdLst/>
            <a:ahLst/>
            <a:cxnLst/>
            <a:rect l="l" t="t" r="r" b="b"/>
            <a:pathLst>
              <a:path w="1428750" h="320675">
                <a:moveTo>
                  <a:pt x="0" y="0"/>
                </a:moveTo>
                <a:lnTo>
                  <a:pt x="1428432" y="0"/>
                </a:lnTo>
                <a:lnTo>
                  <a:pt x="1428432" y="320499"/>
                </a:lnTo>
                <a:lnTo>
                  <a:pt x="0" y="320499"/>
                </a:lnTo>
                <a:lnTo>
                  <a:pt x="0" y="0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15903" y="2473678"/>
            <a:ext cx="1428750" cy="320675"/>
          </a:xfrm>
          <a:custGeom>
            <a:avLst/>
            <a:gdLst/>
            <a:ahLst/>
            <a:cxnLst/>
            <a:rect l="l" t="t" r="r" b="b"/>
            <a:pathLst>
              <a:path w="1428750" h="320675">
                <a:moveTo>
                  <a:pt x="0" y="0"/>
                </a:moveTo>
                <a:lnTo>
                  <a:pt x="1428432" y="0"/>
                </a:lnTo>
                <a:lnTo>
                  <a:pt x="1428432" y="320499"/>
                </a:lnTo>
                <a:lnTo>
                  <a:pt x="0" y="320499"/>
                </a:lnTo>
                <a:lnTo>
                  <a:pt x="0" y="0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515903" y="2798232"/>
            <a:ext cx="1428750" cy="320675"/>
          </a:xfrm>
          <a:custGeom>
            <a:avLst/>
            <a:gdLst/>
            <a:ahLst/>
            <a:cxnLst/>
            <a:rect l="l" t="t" r="r" b="b"/>
            <a:pathLst>
              <a:path w="1428750" h="320675">
                <a:moveTo>
                  <a:pt x="0" y="0"/>
                </a:moveTo>
                <a:lnTo>
                  <a:pt x="1428432" y="0"/>
                </a:lnTo>
                <a:lnTo>
                  <a:pt x="1428432" y="320499"/>
                </a:lnTo>
                <a:lnTo>
                  <a:pt x="0" y="320499"/>
                </a:lnTo>
                <a:lnTo>
                  <a:pt x="0" y="0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074479" y="2860648"/>
            <a:ext cx="48196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" dirty="0">
                <a:latin typeface="Arial" panose="020B0604020202020204"/>
                <a:cs typeface="Arial" panose="020B0604020202020204"/>
              </a:rPr>
              <a:t>G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D</a:t>
            </a:r>
            <a:r>
              <a:rPr sz="1700" b="1" dirty="0">
                <a:latin typeface="Arial" panose="020B0604020202020204"/>
                <a:cs typeface="Arial" panose="020B0604020202020204"/>
              </a:rPr>
              <a:t>T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528695" y="1954389"/>
            <a:ext cx="389890" cy="379095"/>
          </a:xfrm>
          <a:custGeom>
            <a:avLst/>
            <a:gdLst/>
            <a:ahLst/>
            <a:cxnLst/>
            <a:rect l="l" t="t" r="r" b="b"/>
            <a:pathLst>
              <a:path w="389889" h="379094">
                <a:moveTo>
                  <a:pt x="194786" y="0"/>
                </a:moveTo>
                <a:lnTo>
                  <a:pt x="147976" y="5502"/>
                </a:lnTo>
                <a:lnTo>
                  <a:pt x="105270" y="21132"/>
                </a:lnTo>
                <a:lnTo>
                  <a:pt x="68021" y="45573"/>
                </a:lnTo>
                <a:lnTo>
                  <a:pt x="37582" y="77511"/>
                </a:lnTo>
                <a:lnTo>
                  <a:pt x="15307" y="115630"/>
                </a:lnTo>
                <a:lnTo>
                  <a:pt x="2549" y="158614"/>
                </a:lnTo>
                <a:lnTo>
                  <a:pt x="0" y="189323"/>
                </a:lnTo>
                <a:lnTo>
                  <a:pt x="645" y="204851"/>
                </a:lnTo>
                <a:lnTo>
                  <a:pt x="9930" y="249164"/>
                </a:lnTo>
                <a:lnTo>
                  <a:pt x="29183" y="289051"/>
                </a:lnTo>
                <a:lnTo>
                  <a:pt x="57051" y="323196"/>
                </a:lnTo>
                <a:lnTo>
                  <a:pt x="92180" y="350282"/>
                </a:lnTo>
                <a:lnTo>
                  <a:pt x="133218" y="368996"/>
                </a:lnTo>
                <a:lnTo>
                  <a:pt x="178810" y="378020"/>
                </a:lnTo>
                <a:lnTo>
                  <a:pt x="194786" y="378647"/>
                </a:lnTo>
                <a:lnTo>
                  <a:pt x="210761" y="378020"/>
                </a:lnTo>
                <a:lnTo>
                  <a:pt x="256353" y="368996"/>
                </a:lnTo>
                <a:lnTo>
                  <a:pt x="297391" y="350282"/>
                </a:lnTo>
                <a:lnTo>
                  <a:pt x="332521" y="323196"/>
                </a:lnTo>
                <a:lnTo>
                  <a:pt x="360389" y="289051"/>
                </a:lnTo>
                <a:lnTo>
                  <a:pt x="379642" y="249164"/>
                </a:lnTo>
                <a:lnTo>
                  <a:pt x="388926" y="204851"/>
                </a:lnTo>
                <a:lnTo>
                  <a:pt x="389572" y="189323"/>
                </a:lnTo>
                <a:lnTo>
                  <a:pt x="388926" y="173796"/>
                </a:lnTo>
                <a:lnTo>
                  <a:pt x="379642" y="129483"/>
                </a:lnTo>
                <a:lnTo>
                  <a:pt x="360389" y="89596"/>
                </a:lnTo>
                <a:lnTo>
                  <a:pt x="332521" y="55451"/>
                </a:lnTo>
                <a:lnTo>
                  <a:pt x="297391" y="28365"/>
                </a:lnTo>
                <a:lnTo>
                  <a:pt x="256353" y="9651"/>
                </a:lnTo>
                <a:lnTo>
                  <a:pt x="210761" y="627"/>
                </a:lnTo>
                <a:lnTo>
                  <a:pt x="1947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528695" y="1954389"/>
            <a:ext cx="389890" cy="379095"/>
          </a:xfrm>
          <a:custGeom>
            <a:avLst/>
            <a:gdLst/>
            <a:ahLst/>
            <a:cxnLst/>
            <a:rect l="l" t="t" r="r" b="b"/>
            <a:pathLst>
              <a:path w="389889" h="379094">
                <a:moveTo>
                  <a:pt x="0" y="189324"/>
                </a:moveTo>
                <a:lnTo>
                  <a:pt x="5661" y="143827"/>
                </a:lnTo>
                <a:lnTo>
                  <a:pt x="21741" y="102318"/>
                </a:lnTo>
                <a:lnTo>
                  <a:pt x="46888" y="66113"/>
                </a:lnTo>
                <a:lnTo>
                  <a:pt x="79748" y="36528"/>
                </a:lnTo>
                <a:lnTo>
                  <a:pt x="118966" y="14878"/>
                </a:lnTo>
                <a:lnTo>
                  <a:pt x="163190" y="2477"/>
                </a:lnTo>
                <a:lnTo>
                  <a:pt x="194786" y="0"/>
                </a:lnTo>
                <a:lnTo>
                  <a:pt x="210761" y="627"/>
                </a:lnTo>
                <a:lnTo>
                  <a:pt x="256353" y="9651"/>
                </a:lnTo>
                <a:lnTo>
                  <a:pt x="297391" y="28365"/>
                </a:lnTo>
                <a:lnTo>
                  <a:pt x="332520" y="55451"/>
                </a:lnTo>
                <a:lnTo>
                  <a:pt x="360389" y="89596"/>
                </a:lnTo>
                <a:lnTo>
                  <a:pt x="379642" y="129483"/>
                </a:lnTo>
                <a:lnTo>
                  <a:pt x="388926" y="173796"/>
                </a:lnTo>
                <a:lnTo>
                  <a:pt x="389572" y="189324"/>
                </a:lnTo>
                <a:lnTo>
                  <a:pt x="388926" y="204851"/>
                </a:lnTo>
                <a:lnTo>
                  <a:pt x="379642" y="249165"/>
                </a:lnTo>
                <a:lnTo>
                  <a:pt x="360389" y="289051"/>
                </a:lnTo>
                <a:lnTo>
                  <a:pt x="332520" y="323196"/>
                </a:lnTo>
                <a:lnTo>
                  <a:pt x="297391" y="350283"/>
                </a:lnTo>
                <a:lnTo>
                  <a:pt x="256353" y="368996"/>
                </a:lnTo>
                <a:lnTo>
                  <a:pt x="210761" y="378020"/>
                </a:lnTo>
                <a:lnTo>
                  <a:pt x="194786" y="378648"/>
                </a:lnTo>
                <a:lnTo>
                  <a:pt x="178810" y="378020"/>
                </a:lnTo>
                <a:lnTo>
                  <a:pt x="133218" y="368996"/>
                </a:lnTo>
                <a:lnTo>
                  <a:pt x="92181" y="350283"/>
                </a:lnTo>
                <a:lnTo>
                  <a:pt x="57051" y="323196"/>
                </a:lnTo>
                <a:lnTo>
                  <a:pt x="29183" y="289051"/>
                </a:lnTo>
                <a:lnTo>
                  <a:pt x="9930" y="249165"/>
                </a:lnTo>
                <a:lnTo>
                  <a:pt x="645" y="204851"/>
                </a:lnTo>
                <a:lnTo>
                  <a:pt x="0" y="189324"/>
                </a:lnTo>
                <a:close/>
              </a:path>
            </a:pathLst>
          </a:custGeom>
          <a:ln w="243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618596" y="2143712"/>
            <a:ext cx="219710" cy="1270"/>
          </a:xfrm>
          <a:custGeom>
            <a:avLst/>
            <a:gdLst/>
            <a:ahLst/>
            <a:cxnLst/>
            <a:rect l="l" t="t" r="r" b="b"/>
            <a:pathLst>
              <a:path w="219710" h="1269">
                <a:moveTo>
                  <a:pt x="0" y="0"/>
                </a:moveTo>
                <a:lnTo>
                  <a:pt x="219134" y="657"/>
                </a:lnTo>
              </a:path>
            </a:pathLst>
          </a:custGeom>
          <a:ln w="6491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727226" y="2035245"/>
            <a:ext cx="635" cy="216535"/>
          </a:xfrm>
          <a:custGeom>
            <a:avLst/>
            <a:gdLst/>
            <a:ahLst/>
            <a:cxnLst/>
            <a:rect l="l" t="t" r="r" b="b"/>
            <a:pathLst>
              <a:path w="635" h="216535">
                <a:moveTo>
                  <a:pt x="0" y="216276"/>
                </a:moveTo>
                <a:lnTo>
                  <a:pt x="624" y="0"/>
                </a:lnTo>
              </a:path>
            </a:pathLst>
          </a:custGeom>
          <a:ln w="6492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77043" y="2343856"/>
            <a:ext cx="779145" cy="398145"/>
          </a:xfrm>
          <a:custGeom>
            <a:avLst/>
            <a:gdLst/>
            <a:ahLst/>
            <a:cxnLst/>
            <a:rect l="l" t="t" r="r" b="b"/>
            <a:pathLst>
              <a:path w="779144" h="398144">
                <a:moveTo>
                  <a:pt x="0" y="0"/>
                </a:moveTo>
                <a:lnTo>
                  <a:pt x="779145" y="0"/>
                </a:lnTo>
                <a:lnTo>
                  <a:pt x="779145" y="397580"/>
                </a:lnTo>
                <a:lnTo>
                  <a:pt x="0" y="397580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50913" y="2414442"/>
            <a:ext cx="63119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cs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: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45557" y="2536181"/>
            <a:ext cx="146050" cy="565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8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700" b="1" dirty="0">
                <a:latin typeface="Arial" panose="020B0604020202020204"/>
                <a:cs typeface="Arial" panose="020B0604020202020204"/>
              </a:rPr>
              <a:t>0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20449" y="2198193"/>
            <a:ext cx="26670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16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35977" y="2632381"/>
            <a:ext cx="880110" cy="250825"/>
          </a:xfrm>
          <a:custGeom>
            <a:avLst/>
            <a:gdLst/>
            <a:ahLst/>
            <a:cxnLst/>
            <a:rect l="l" t="t" r="r" b="b"/>
            <a:pathLst>
              <a:path w="880110" h="250825">
                <a:moveTo>
                  <a:pt x="73883" y="71171"/>
                </a:moveTo>
                <a:lnTo>
                  <a:pt x="44392" y="71171"/>
                </a:lnTo>
                <a:lnTo>
                  <a:pt x="48157" y="76896"/>
                </a:lnTo>
                <a:lnTo>
                  <a:pt x="71800" y="110517"/>
                </a:lnTo>
                <a:lnTo>
                  <a:pt x="97596" y="142682"/>
                </a:lnTo>
                <a:lnTo>
                  <a:pt x="126555" y="172473"/>
                </a:lnTo>
                <a:lnTo>
                  <a:pt x="160172" y="199296"/>
                </a:lnTo>
                <a:lnTo>
                  <a:pt x="197962" y="220964"/>
                </a:lnTo>
                <a:lnTo>
                  <a:pt x="242688" y="237723"/>
                </a:lnTo>
                <a:lnTo>
                  <a:pt x="293685" y="247780"/>
                </a:lnTo>
                <a:lnTo>
                  <a:pt x="351710" y="250801"/>
                </a:lnTo>
                <a:lnTo>
                  <a:pt x="383088" y="249878"/>
                </a:lnTo>
                <a:lnTo>
                  <a:pt x="415908" y="247504"/>
                </a:lnTo>
                <a:lnTo>
                  <a:pt x="485290" y="238910"/>
                </a:lnTo>
                <a:lnTo>
                  <a:pt x="556192" y="226464"/>
                </a:lnTo>
                <a:lnTo>
                  <a:pt x="352225" y="226464"/>
                </a:lnTo>
                <a:lnTo>
                  <a:pt x="323880" y="225888"/>
                </a:lnTo>
                <a:lnTo>
                  <a:pt x="272937" y="219935"/>
                </a:lnTo>
                <a:lnTo>
                  <a:pt x="229174" y="207766"/>
                </a:lnTo>
                <a:lnTo>
                  <a:pt x="174097" y="179271"/>
                </a:lnTo>
                <a:lnTo>
                  <a:pt x="143993" y="155485"/>
                </a:lnTo>
                <a:lnTo>
                  <a:pt x="116583" y="127445"/>
                </a:lnTo>
                <a:lnTo>
                  <a:pt x="91716" y="96514"/>
                </a:lnTo>
                <a:lnTo>
                  <a:pt x="73883" y="71171"/>
                </a:lnTo>
                <a:close/>
              </a:path>
              <a:path w="880110" h="250825">
                <a:moveTo>
                  <a:pt x="800018" y="119035"/>
                </a:moveTo>
                <a:lnTo>
                  <a:pt x="711997" y="166572"/>
                </a:lnTo>
                <a:lnTo>
                  <a:pt x="632104" y="185573"/>
                </a:lnTo>
                <a:lnTo>
                  <a:pt x="555203" y="201924"/>
                </a:lnTo>
                <a:lnTo>
                  <a:pt x="482291" y="214755"/>
                </a:lnTo>
                <a:lnTo>
                  <a:pt x="414143" y="223227"/>
                </a:lnTo>
                <a:lnTo>
                  <a:pt x="352225" y="226464"/>
                </a:lnTo>
                <a:lnTo>
                  <a:pt x="556192" y="226464"/>
                </a:lnTo>
                <a:lnTo>
                  <a:pt x="559467" y="225888"/>
                </a:lnTo>
                <a:lnTo>
                  <a:pt x="637166" y="209383"/>
                </a:lnTo>
                <a:lnTo>
                  <a:pt x="717631" y="190253"/>
                </a:lnTo>
                <a:lnTo>
                  <a:pt x="812334" y="166136"/>
                </a:lnTo>
                <a:lnTo>
                  <a:pt x="845388" y="166136"/>
                </a:lnTo>
                <a:lnTo>
                  <a:pt x="879926" y="135893"/>
                </a:lnTo>
                <a:lnTo>
                  <a:pt x="800018" y="119035"/>
                </a:lnTo>
                <a:close/>
              </a:path>
              <a:path w="880110" h="250825">
                <a:moveTo>
                  <a:pt x="845388" y="166136"/>
                </a:moveTo>
                <a:lnTo>
                  <a:pt x="812334" y="166136"/>
                </a:lnTo>
                <a:lnTo>
                  <a:pt x="818492" y="189686"/>
                </a:lnTo>
                <a:lnTo>
                  <a:pt x="845388" y="166136"/>
                </a:lnTo>
                <a:close/>
              </a:path>
              <a:path w="880110" h="250825">
                <a:moveTo>
                  <a:pt x="41773" y="0"/>
                </a:moveTo>
                <a:lnTo>
                  <a:pt x="1586" y="24221"/>
                </a:lnTo>
                <a:lnTo>
                  <a:pt x="0" y="35554"/>
                </a:lnTo>
                <a:lnTo>
                  <a:pt x="2110" y="47649"/>
                </a:lnTo>
                <a:lnTo>
                  <a:pt x="8208" y="59897"/>
                </a:lnTo>
                <a:lnTo>
                  <a:pt x="18126" y="67962"/>
                </a:lnTo>
                <a:lnTo>
                  <a:pt x="29930" y="72059"/>
                </a:lnTo>
                <a:lnTo>
                  <a:pt x="42459" y="71949"/>
                </a:lnTo>
                <a:lnTo>
                  <a:pt x="44392" y="71171"/>
                </a:lnTo>
                <a:lnTo>
                  <a:pt x="73883" y="71171"/>
                </a:lnTo>
                <a:lnTo>
                  <a:pt x="68502" y="63525"/>
                </a:lnTo>
                <a:lnTo>
                  <a:pt x="64737" y="57799"/>
                </a:lnTo>
                <a:lnTo>
                  <a:pt x="70212" y="48299"/>
                </a:lnTo>
                <a:lnTo>
                  <a:pt x="72039" y="37119"/>
                </a:lnTo>
                <a:lnTo>
                  <a:pt x="69959" y="24946"/>
                </a:lnTo>
                <a:lnTo>
                  <a:pt x="63495" y="12161"/>
                </a:lnTo>
                <a:lnTo>
                  <a:pt x="53577" y="4097"/>
                </a:lnTo>
                <a:lnTo>
                  <a:pt x="417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019491" y="2015398"/>
            <a:ext cx="2509520" cy="493395"/>
          </a:xfrm>
          <a:custGeom>
            <a:avLst/>
            <a:gdLst/>
            <a:ahLst/>
            <a:cxnLst/>
            <a:rect l="l" t="t" r="r" b="b"/>
            <a:pathLst>
              <a:path w="2509520" h="493394">
                <a:moveTo>
                  <a:pt x="1328510" y="0"/>
                </a:moveTo>
                <a:lnTo>
                  <a:pt x="1275159" y="1009"/>
                </a:lnTo>
                <a:lnTo>
                  <a:pt x="1082239" y="8373"/>
                </a:lnTo>
                <a:lnTo>
                  <a:pt x="851251" y="20758"/>
                </a:lnTo>
                <a:lnTo>
                  <a:pt x="690144" y="32345"/>
                </a:lnTo>
                <a:lnTo>
                  <a:pt x="610526" y="39267"/>
                </a:lnTo>
                <a:lnTo>
                  <a:pt x="532937" y="46996"/>
                </a:lnTo>
                <a:lnTo>
                  <a:pt x="458410" y="55575"/>
                </a:lnTo>
                <a:lnTo>
                  <a:pt x="387970" y="65051"/>
                </a:lnTo>
                <a:lnTo>
                  <a:pt x="322699" y="75467"/>
                </a:lnTo>
                <a:lnTo>
                  <a:pt x="263557" y="86879"/>
                </a:lnTo>
                <a:lnTo>
                  <a:pt x="211404" y="99400"/>
                </a:lnTo>
                <a:lnTo>
                  <a:pt x="167179" y="113177"/>
                </a:lnTo>
                <a:lnTo>
                  <a:pt x="130404" y="128195"/>
                </a:lnTo>
                <a:lnTo>
                  <a:pt x="72224" y="162476"/>
                </a:lnTo>
                <a:lnTo>
                  <a:pt x="33327" y="201074"/>
                </a:lnTo>
                <a:lnTo>
                  <a:pt x="9934" y="244788"/>
                </a:lnTo>
                <a:lnTo>
                  <a:pt x="417" y="292305"/>
                </a:lnTo>
                <a:lnTo>
                  <a:pt x="0" y="316052"/>
                </a:lnTo>
                <a:lnTo>
                  <a:pt x="1790" y="340047"/>
                </a:lnTo>
                <a:lnTo>
                  <a:pt x="5436" y="364474"/>
                </a:lnTo>
                <a:lnTo>
                  <a:pt x="16468" y="413014"/>
                </a:lnTo>
                <a:lnTo>
                  <a:pt x="20933" y="428815"/>
                </a:lnTo>
                <a:lnTo>
                  <a:pt x="13707" y="435098"/>
                </a:lnTo>
                <a:lnTo>
                  <a:pt x="7976" y="445230"/>
                </a:lnTo>
                <a:lnTo>
                  <a:pt x="5769" y="457326"/>
                </a:lnTo>
                <a:lnTo>
                  <a:pt x="7644" y="470913"/>
                </a:lnTo>
                <a:lnTo>
                  <a:pt x="13081" y="480516"/>
                </a:lnTo>
                <a:lnTo>
                  <a:pt x="21355" y="487717"/>
                </a:lnTo>
                <a:lnTo>
                  <a:pt x="32174" y="492009"/>
                </a:lnTo>
                <a:lnTo>
                  <a:pt x="45246" y="492885"/>
                </a:lnTo>
                <a:lnTo>
                  <a:pt x="60278" y="489838"/>
                </a:lnTo>
                <a:lnTo>
                  <a:pt x="69455" y="482100"/>
                </a:lnTo>
                <a:lnTo>
                  <a:pt x="75536" y="471713"/>
                </a:lnTo>
                <a:lnTo>
                  <a:pt x="77991" y="459414"/>
                </a:lnTo>
                <a:lnTo>
                  <a:pt x="76286" y="445941"/>
                </a:lnTo>
                <a:lnTo>
                  <a:pt x="69404" y="434231"/>
                </a:lnTo>
                <a:lnTo>
                  <a:pt x="59050" y="426036"/>
                </a:lnTo>
                <a:lnTo>
                  <a:pt x="46942" y="422197"/>
                </a:lnTo>
                <a:lnTo>
                  <a:pt x="44364" y="422197"/>
                </a:lnTo>
                <a:lnTo>
                  <a:pt x="39899" y="406394"/>
                </a:lnTo>
                <a:lnTo>
                  <a:pt x="29181" y="359088"/>
                </a:lnTo>
                <a:lnTo>
                  <a:pt x="25877" y="336489"/>
                </a:lnTo>
                <a:lnTo>
                  <a:pt x="24283" y="314274"/>
                </a:lnTo>
                <a:lnTo>
                  <a:pt x="24761" y="292787"/>
                </a:lnTo>
                <a:lnTo>
                  <a:pt x="32835" y="253180"/>
                </a:lnTo>
                <a:lnTo>
                  <a:pt x="52703" y="215893"/>
                </a:lnTo>
                <a:lnTo>
                  <a:pt x="88154" y="180884"/>
                </a:lnTo>
                <a:lnTo>
                  <a:pt x="141617" y="149801"/>
                </a:lnTo>
                <a:lnTo>
                  <a:pt x="196051" y="129175"/>
                </a:lnTo>
                <a:lnTo>
                  <a:pt x="242567" y="116580"/>
                </a:lnTo>
                <a:lnTo>
                  <a:pt x="297169" y="104894"/>
                </a:lnTo>
                <a:lnTo>
                  <a:pt x="391806" y="89090"/>
                </a:lnTo>
                <a:lnTo>
                  <a:pt x="461656" y="79700"/>
                </a:lnTo>
                <a:lnTo>
                  <a:pt x="535722" y="71177"/>
                </a:lnTo>
                <a:lnTo>
                  <a:pt x="612941" y="63488"/>
                </a:lnTo>
                <a:lnTo>
                  <a:pt x="692252" y="56596"/>
                </a:lnTo>
                <a:lnTo>
                  <a:pt x="852999" y="45036"/>
                </a:lnTo>
                <a:lnTo>
                  <a:pt x="1083392" y="32687"/>
                </a:lnTo>
                <a:lnTo>
                  <a:pt x="1275954" y="25339"/>
                </a:lnTo>
                <a:lnTo>
                  <a:pt x="1328969" y="24338"/>
                </a:lnTo>
                <a:lnTo>
                  <a:pt x="1650566" y="24338"/>
                </a:lnTo>
                <a:lnTo>
                  <a:pt x="1634190" y="21963"/>
                </a:lnTo>
                <a:lnTo>
                  <a:pt x="1556411" y="12150"/>
                </a:lnTo>
                <a:lnTo>
                  <a:pt x="1515182" y="7970"/>
                </a:lnTo>
                <a:lnTo>
                  <a:pt x="1472055" y="4500"/>
                </a:lnTo>
                <a:lnTo>
                  <a:pt x="1426752" y="1906"/>
                </a:lnTo>
                <a:lnTo>
                  <a:pt x="1378996" y="351"/>
                </a:lnTo>
                <a:lnTo>
                  <a:pt x="1328510" y="0"/>
                </a:lnTo>
                <a:close/>
              </a:path>
              <a:path w="2509520" h="493394">
                <a:moveTo>
                  <a:pt x="46442" y="422038"/>
                </a:moveTo>
                <a:lnTo>
                  <a:pt x="44364" y="422197"/>
                </a:lnTo>
                <a:lnTo>
                  <a:pt x="46942" y="422197"/>
                </a:lnTo>
                <a:lnTo>
                  <a:pt x="46442" y="422038"/>
                </a:lnTo>
                <a:close/>
              </a:path>
              <a:path w="2509520" h="493394">
                <a:moveTo>
                  <a:pt x="2483032" y="82652"/>
                </a:moveTo>
                <a:lnTo>
                  <a:pt x="2436456" y="82652"/>
                </a:lnTo>
                <a:lnTo>
                  <a:pt x="2437014" y="106988"/>
                </a:lnTo>
                <a:lnTo>
                  <a:pt x="2483032" y="82652"/>
                </a:lnTo>
                <a:close/>
              </a:path>
              <a:path w="2509520" h="493394">
                <a:moveTo>
                  <a:pt x="1650566" y="24338"/>
                </a:moveTo>
                <a:lnTo>
                  <a:pt x="1328969" y="24338"/>
                </a:lnTo>
                <a:lnTo>
                  <a:pt x="1378824" y="24692"/>
                </a:lnTo>
                <a:lnTo>
                  <a:pt x="1425958" y="26235"/>
                </a:lnTo>
                <a:lnTo>
                  <a:pt x="1470661" y="28802"/>
                </a:lnTo>
                <a:lnTo>
                  <a:pt x="1513227" y="32233"/>
                </a:lnTo>
                <a:lnTo>
                  <a:pt x="1553952" y="36367"/>
                </a:lnTo>
                <a:lnTo>
                  <a:pt x="1631140" y="46113"/>
                </a:lnTo>
                <a:lnTo>
                  <a:pt x="1776022" y="66951"/>
                </a:lnTo>
                <a:lnTo>
                  <a:pt x="1848477" y="75467"/>
                </a:lnTo>
                <a:lnTo>
                  <a:pt x="1923964" y="80951"/>
                </a:lnTo>
                <a:lnTo>
                  <a:pt x="2075893" y="85542"/>
                </a:lnTo>
                <a:lnTo>
                  <a:pt x="2223057" y="86198"/>
                </a:lnTo>
                <a:lnTo>
                  <a:pt x="2436456" y="82652"/>
                </a:lnTo>
                <a:lnTo>
                  <a:pt x="2483032" y="82652"/>
                </a:lnTo>
                <a:lnTo>
                  <a:pt x="2509203" y="68812"/>
                </a:lnTo>
                <a:lnTo>
                  <a:pt x="2494455" y="61857"/>
                </a:lnTo>
                <a:lnTo>
                  <a:pt x="2223165" y="61857"/>
                </a:lnTo>
                <a:lnTo>
                  <a:pt x="2076627" y="61211"/>
                </a:lnTo>
                <a:lnTo>
                  <a:pt x="1925725" y="56673"/>
                </a:lnTo>
                <a:lnTo>
                  <a:pt x="1851318" y="51291"/>
                </a:lnTo>
                <a:lnTo>
                  <a:pt x="1779459" y="42853"/>
                </a:lnTo>
                <a:lnTo>
                  <a:pt x="1650566" y="24338"/>
                </a:lnTo>
                <a:close/>
              </a:path>
              <a:path w="2509520" h="493394">
                <a:moveTo>
                  <a:pt x="2435341" y="33982"/>
                </a:moveTo>
                <a:lnTo>
                  <a:pt x="2435899" y="58318"/>
                </a:lnTo>
                <a:lnTo>
                  <a:pt x="2223165" y="61857"/>
                </a:lnTo>
                <a:lnTo>
                  <a:pt x="2494455" y="61857"/>
                </a:lnTo>
                <a:lnTo>
                  <a:pt x="2435341" y="339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583495" y="2343856"/>
            <a:ext cx="1075055" cy="361315"/>
          </a:xfrm>
          <a:custGeom>
            <a:avLst/>
            <a:gdLst/>
            <a:ahLst/>
            <a:cxnLst/>
            <a:rect l="l" t="t" r="r" b="b"/>
            <a:pathLst>
              <a:path w="1075054" h="361314">
                <a:moveTo>
                  <a:pt x="30225" y="288531"/>
                </a:moveTo>
                <a:lnTo>
                  <a:pt x="17910" y="293065"/>
                </a:lnTo>
                <a:lnTo>
                  <a:pt x="8167" y="301824"/>
                </a:lnTo>
                <a:lnTo>
                  <a:pt x="1896" y="314162"/>
                </a:lnTo>
                <a:lnTo>
                  <a:pt x="0" y="329431"/>
                </a:lnTo>
                <a:lnTo>
                  <a:pt x="4256" y="342150"/>
                </a:lnTo>
                <a:lnTo>
                  <a:pt x="12822" y="352264"/>
                </a:lnTo>
                <a:lnTo>
                  <a:pt x="24906" y="358828"/>
                </a:lnTo>
                <a:lnTo>
                  <a:pt x="39715" y="360898"/>
                </a:lnTo>
                <a:lnTo>
                  <a:pt x="52760" y="357105"/>
                </a:lnTo>
                <a:lnTo>
                  <a:pt x="63249" y="349084"/>
                </a:lnTo>
                <a:lnTo>
                  <a:pt x="70223" y="337849"/>
                </a:lnTo>
                <a:lnTo>
                  <a:pt x="70579" y="335796"/>
                </a:lnTo>
                <a:lnTo>
                  <a:pt x="214067" y="331903"/>
                </a:lnTo>
                <a:lnTo>
                  <a:pt x="301142" y="328061"/>
                </a:lnTo>
                <a:lnTo>
                  <a:pt x="385985" y="322499"/>
                </a:lnTo>
                <a:lnTo>
                  <a:pt x="467894" y="314642"/>
                </a:lnTo>
                <a:lnTo>
                  <a:pt x="491041" y="311464"/>
                </a:lnTo>
                <a:lnTo>
                  <a:pt x="69919" y="311464"/>
                </a:lnTo>
                <a:lnTo>
                  <a:pt x="66081" y="303589"/>
                </a:lnTo>
                <a:lnTo>
                  <a:pt x="57471" y="295222"/>
                </a:lnTo>
                <a:lnTo>
                  <a:pt x="45499" y="289955"/>
                </a:lnTo>
                <a:lnTo>
                  <a:pt x="30225" y="288531"/>
                </a:lnTo>
                <a:close/>
              </a:path>
              <a:path w="1075054" h="361314">
                <a:moveTo>
                  <a:pt x="1075057" y="0"/>
                </a:moveTo>
                <a:lnTo>
                  <a:pt x="996684" y="22951"/>
                </a:lnTo>
                <a:lnTo>
                  <a:pt x="1013257" y="40787"/>
                </a:lnTo>
                <a:lnTo>
                  <a:pt x="984972" y="67068"/>
                </a:lnTo>
                <a:lnTo>
                  <a:pt x="942441" y="103430"/>
                </a:lnTo>
                <a:lnTo>
                  <a:pt x="897788" y="138003"/>
                </a:lnTo>
                <a:lnTo>
                  <a:pt x="850245" y="170261"/>
                </a:lnTo>
                <a:lnTo>
                  <a:pt x="799031" y="199679"/>
                </a:lnTo>
                <a:lnTo>
                  <a:pt x="743348" y="225729"/>
                </a:lnTo>
                <a:lnTo>
                  <a:pt x="682346" y="247884"/>
                </a:lnTo>
                <a:lnTo>
                  <a:pt x="615335" y="265790"/>
                </a:lnTo>
                <a:lnTo>
                  <a:pt x="542810" y="279788"/>
                </a:lnTo>
                <a:lnTo>
                  <a:pt x="465566" y="290412"/>
                </a:lnTo>
                <a:lnTo>
                  <a:pt x="384393" y="298211"/>
                </a:lnTo>
                <a:lnTo>
                  <a:pt x="300067" y="303743"/>
                </a:lnTo>
                <a:lnTo>
                  <a:pt x="213406" y="307571"/>
                </a:lnTo>
                <a:lnTo>
                  <a:pt x="69919" y="311464"/>
                </a:lnTo>
                <a:lnTo>
                  <a:pt x="491041" y="311464"/>
                </a:lnTo>
                <a:lnTo>
                  <a:pt x="546125" y="303903"/>
                </a:lnTo>
                <a:lnTo>
                  <a:pt x="619943" y="289692"/>
                </a:lnTo>
                <a:lnTo>
                  <a:pt x="688622" y="271402"/>
                </a:lnTo>
                <a:lnTo>
                  <a:pt x="751645" y="248613"/>
                </a:lnTo>
                <a:lnTo>
                  <a:pt x="809333" y="221734"/>
                </a:lnTo>
                <a:lnTo>
                  <a:pt x="862360" y="191376"/>
                </a:lnTo>
                <a:lnTo>
                  <a:pt x="911449" y="158151"/>
                </a:lnTo>
                <a:lnTo>
                  <a:pt x="957342" y="122680"/>
                </a:lnTo>
                <a:lnTo>
                  <a:pt x="1000791" y="85572"/>
                </a:lnTo>
                <a:lnTo>
                  <a:pt x="1029826" y="58616"/>
                </a:lnTo>
                <a:lnTo>
                  <a:pt x="1053086" y="58616"/>
                </a:lnTo>
                <a:lnTo>
                  <a:pt x="1075057" y="0"/>
                </a:lnTo>
                <a:close/>
              </a:path>
              <a:path w="1075054" h="361314">
                <a:moveTo>
                  <a:pt x="1053086" y="58616"/>
                </a:moveTo>
                <a:lnTo>
                  <a:pt x="1029826" y="58616"/>
                </a:lnTo>
                <a:lnTo>
                  <a:pt x="1046400" y="76452"/>
                </a:lnTo>
                <a:lnTo>
                  <a:pt x="1053086" y="586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823946" y="5589411"/>
            <a:ext cx="3181350" cy="519430"/>
          </a:xfrm>
          <a:custGeom>
            <a:avLst/>
            <a:gdLst/>
            <a:ahLst/>
            <a:cxnLst/>
            <a:rect l="l" t="t" r="r" b="b"/>
            <a:pathLst>
              <a:path w="3181350" h="519429">
                <a:moveTo>
                  <a:pt x="0" y="519288"/>
                </a:moveTo>
                <a:lnTo>
                  <a:pt x="3181070" y="519288"/>
                </a:lnTo>
                <a:lnTo>
                  <a:pt x="3181070" y="0"/>
                </a:lnTo>
                <a:lnTo>
                  <a:pt x="0" y="0"/>
                </a:lnTo>
                <a:lnTo>
                  <a:pt x="0" y="5192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71804" y="5070121"/>
            <a:ext cx="1353185" cy="519430"/>
          </a:xfrm>
          <a:custGeom>
            <a:avLst/>
            <a:gdLst/>
            <a:ahLst/>
            <a:cxnLst/>
            <a:rect l="l" t="t" r="r" b="b"/>
            <a:pathLst>
              <a:path w="1353185" h="519429">
                <a:moveTo>
                  <a:pt x="0" y="519288"/>
                </a:moveTo>
                <a:lnTo>
                  <a:pt x="1352974" y="519288"/>
                </a:lnTo>
                <a:lnTo>
                  <a:pt x="1352974" y="0"/>
                </a:lnTo>
                <a:lnTo>
                  <a:pt x="0" y="0"/>
                </a:lnTo>
                <a:lnTo>
                  <a:pt x="0" y="5192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342751" y="5070121"/>
            <a:ext cx="1662430" cy="519430"/>
          </a:xfrm>
          <a:custGeom>
            <a:avLst/>
            <a:gdLst/>
            <a:ahLst/>
            <a:cxnLst/>
            <a:rect l="l" t="t" r="r" b="b"/>
            <a:pathLst>
              <a:path w="1662429" h="519429">
                <a:moveTo>
                  <a:pt x="0" y="519288"/>
                </a:moveTo>
                <a:lnTo>
                  <a:pt x="1662263" y="519288"/>
                </a:lnTo>
                <a:lnTo>
                  <a:pt x="1662263" y="0"/>
                </a:lnTo>
                <a:lnTo>
                  <a:pt x="0" y="0"/>
                </a:lnTo>
                <a:lnTo>
                  <a:pt x="0" y="5192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823946" y="5070121"/>
            <a:ext cx="217170" cy="519430"/>
          </a:xfrm>
          <a:custGeom>
            <a:avLst/>
            <a:gdLst/>
            <a:ahLst/>
            <a:cxnLst/>
            <a:rect l="l" t="t" r="r" b="b"/>
            <a:pathLst>
              <a:path w="217170" h="519429">
                <a:moveTo>
                  <a:pt x="0" y="519288"/>
                </a:moveTo>
                <a:lnTo>
                  <a:pt x="217160" y="519288"/>
                </a:lnTo>
                <a:lnTo>
                  <a:pt x="217160" y="0"/>
                </a:lnTo>
                <a:lnTo>
                  <a:pt x="0" y="0"/>
                </a:lnTo>
                <a:lnTo>
                  <a:pt x="0" y="5192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041105" y="5070121"/>
            <a:ext cx="506730" cy="519430"/>
          </a:xfrm>
          <a:custGeom>
            <a:avLst/>
            <a:gdLst/>
            <a:ahLst/>
            <a:cxnLst/>
            <a:rect l="l" t="t" r="r" b="b"/>
            <a:pathLst>
              <a:path w="506729" h="519429">
                <a:moveTo>
                  <a:pt x="0" y="519288"/>
                </a:moveTo>
                <a:lnTo>
                  <a:pt x="506707" y="519288"/>
                </a:lnTo>
                <a:lnTo>
                  <a:pt x="506707" y="0"/>
                </a:lnTo>
                <a:lnTo>
                  <a:pt x="0" y="0"/>
                </a:lnTo>
                <a:lnTo>
                  <a:pt x="0" y="5192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547812" y="5070121"/>
            <a:ext cx="795020" cy="519430"/>
          </a:xfrm>
          <a:custGeom>
            <a:avLst/>
            <a:gdLst/>
            <a:ahLst/>
            <a:cxnLst/>
            <a:rect l="l" t="t" r="r" b="b"/>
            <a:pathLst>
              <a:path w="795020" h="519429">
                <a:moveTo>
                  <a:pt x="0" y="519288"/>
                </a:moveTo>
                <a:lnTo>
                  <a:pt x="794938" y="519288"/>
                </a:lnTo>
                <a:lnTo>
                  <a:pt x="794938" y="0"/>
                </a:lnTo>
                <a:lnTo>
                  <a:pt x="0" y="0"/>
                </a:lnTo>
                <a:lnTo>
                  <a:pt x="0" y="5192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556517" y="5070121"/>
            <a:ext cx="1267460" cy="519430"/>
          </a:xfrm>
          <a:custGeom>
            <a:avLst/>
            <a:gdLst/>
            <a:ahLst/>
            <a:cxnLst/>
            <a:rect l="l" t="t" r="r" b="b"/>
            <a:pathLst>
              <a:path w="1267460" h="519429">
                <a:moveTo>
                  <a:pt x="0" y="519288"/>
                </a:moveTo>
                <a:lnTo>
                  <a:pt x="1267427" y="519288"/>
                </a:lnTo>
                <a:lnTo>
                  <a:pt x="1267427" y="0"/>
                </a:lnTo>
                <a:lnTo>
                  <a:pt x="0" y="0"/>
                </a:lnTo>
                <a:lnTo>
                  <a:pt x="0" y="5192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924779" y="5070121"/>
            <a:ext cx="189865" cy="519430"/>
          </a:xfrm>
          <a:custGeom>
            <a:avLst/>
            <a:gdLst/>
            <a:ahLst/>
            <a:cxnLst/>
            <a:rect l="l" t="t" r="r" b="b"/>
            <a:pathLst>
              <a:path w="189864" h="519429">
                <a:moveTo>
                  <a:pt x="0" y="519288"/>
                </a:moveTo>
                <a:lnTo>
                  <a:pt x="189522" y="519288"/>
                </a:lnTo>
                <a:lnTo>
                  <a:pt x="189522" y="0"/>
                </a:lnTo>
                <a:lnTo>
                  <a:pt x="0" y="0"/>
                </a:lnTo>
                <a:lnTo>
                  <a:pt x="0" y="5192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114300" y="5070121"/>
            <a:ext cx="442595" cy="519430"/>
          </a:xfrm>
          <a:custGeom>
            <a:avLst/>
            <a:gdLst/>
            <a:ahLst/>
            <a:cxnLst/>
            <a:rect l="l" t="t" r="r" b="b"/>
            <a:pathLst>
              <a:path w="442594" h="519429">
                <a:moveTo>
                  <a:pt x="0" y="519288"/>
                </a:moveTo>
                <a:lnTo>
                  <a:pt x="442217" y="519288"/>
                </a:lnTo>
                <a:lnTo>
                  <a:pt x="442217" y="0"/>
                </a:lnTo>
                <a:lnTo>
                  <a:pt x="0" y="0"/>
                </a:lnTo>
                <a:lnTo>
                  <a:pt x="0" y="5192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347472" y="5767335"/>
            <a:ext cx="14605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47472" y="5248187"/>
            <a:ext cx="14605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36994" y="4740449"/>
            <a:ext cx="1091565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3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G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表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项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854387" y="6170215"/>
            <a:ext cx="14605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36994" y="6170215"/>
            <a:ext cx="26670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31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268979" y="3317521"/>
            <a:ext cx="2792095" cy="496570"/>
          </a:xfrm>
          <a:custGeom>
            <a:avLst/>
            <a:gdLst/>
            <a:ahLst/>
            <a:cxnLst/>
            <a:rect l="l" t="t" r="r" b="b"/>
            <a:pathLst>
              <a:path w="2792095" h="496570">
                <a:moveTo>
                  <a:pt x="2727007" y="0"/>
                </a:moveTo>
                <a:lnTo>
                  <a:pt x="61539" y="86"/>
                </a:lnTo>
                <a:lnTo>
                  <a:pt x="22924" y="15411"/>
                </a:lnTo>
                <a:lnTo>
                  <a:pt x="1609" y="50482"/>
                </a:lnTo>
                <a:lnTo>
                  <a:pt x="0" y="64910"/>
                </a:lnTo>
                <a:lnTo>
                  <a:pt x="86" y="327944"/>
                </a:lnTo>
                <a:lnTo>
                  <a:pt x="15414" y="366548"/>
                </a:lnTo>
                <a:lnTo>
                  <a:pt x="50496" y="387857"/>
                </a:lnTo>
                <a:lnTo>
                  <a:pt x="64928" y="389467"/>
                </a:lnTo>
                <a:lnTo>
                  <a:pt x="465322" y="389467"/>
                </a:lnTo>
                <a:lnTo>
                  <a:pt x="286814" y="496316"/>
                </a:lnTo>
                <a:lnTo>
                  <a:pt x="1163307" y="389467"/>
                </a:lnTo>
                <a:lnTo>
                  <a:pt x="2730396" y="389380"/>
                </a:lnTo>
                <a:lnTo>
                  <a:pt x="2744600" y="387056"/>
                </a:lnTo>
                <a:lnTo>
                  <a:pt x="2778510" y="364088"/>
                </a:lnTo>
                <a:lnTo>
                  <a:pt x="2791936" y="324556"/>
                </a:lnTo>
                <a:lnTo>
                  <a:pt x="2791849" y="61522"/>
                </a:lnTo>
                <a:lnTo>
                  <a:pt x="2776521" y="22919"/>
                </a:lnTo>
                <a:lnTo>
                  <a:pt x="2741439" y="1609"/>
                </a:lnTo>
                <a:lnTo>
                  <a:pt x="27270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268979" y="3317522"/>
            <a:ext cx="2792095" cy="496570"/>
          </a:xfrm>
          <a:custGeom>
            <a:avLst/>
            <a:gdLst/>
            <a:ahLst/>
            <a:cxnLst/>
            <a:rect l="l" t="t" r="r" b="b"/>
            <a:pathLst>
              <a:path w="2792095" h="496570">
                <a:moveTo>
                  <a:pt x="2791936" y="324555"/>
                </a:moveTo>
                <a:lnTo>
                  <a:pt x="2778510" y="364087"/>
                </a:lnTo>
                <a:lnTo>
                  <a:pt x="2744600" y="387055"/>
                </a:lnTo>
                <a:lnTo>
                  <a:pt x="1163306" y="389466"/>
                </a:lnTo>
                <a:lnTo>
                  <a:pt x="286814" y="496315"/>
                </a:lnTo>
                <a:lnTo>
                  <a:pt x="465322" y="389466"/>
                </a:lnTo>
                <a:lnTo>
                  <a:pt x="64928" y="389466"/>
                </a:lnTo>
                <a:lnTo>
                  <a:pt x="50496" y="387857"/>
                </a:lnTo>
                <a:lnTo>
                  <a:pt x="15414" y="366547"/>
                </a:lnTo>
                <a:lnTo>
                  <a:pt x="86" y="327943"/>
                </a:lnTo>
                <a:lnTo>
                  <a:pt x="0" y="324555"/>
                </a:lnTo>
                <a:lnTo>
                  <a:pt x="0" y="227187"/>
                </a:lnTo>
                <a:lnTo>
                  <a:pt x="0" y="64911"/>
                </a:lnTo>
                <a:lnTo>
                  <a:pt x="1609" y="50482"/>
                </a:lnTo>
                <a:lnTo>
                  <a:pt x="22925" y="15410"/>
                </a:lnTo>
                <a:lnTo>
                  <a:pt x="61539" y="86"/>
                </a:lnTo>
                <a:lnTo>
                  <a:pt x="465322" y="0"/>
                </a:lnTo>
                <a:lnTo>
                  <a:pt x="1163306" y="0"/>
                </a:lnTo>
                <a:lnTo>
                  <a:pt x="2727007" y="0"/>
                </a:lnTo>
                <a:lnTo>
                  <a:pt x="2741440" y="1609"/>
                </a:lnTo>
                <a:lnTo>
                  <a:pt x="2776521" y="22919"/>
                </a:lnTo>
                <a:lnTo>
                  <a:pt x="2791849" y="61522"/>
                </a:lnTo>
                <a:lnTo>
                  <a:pt x="2791936" y="227187"/>
                </a:lnTo>
                <a:lnTo>
                  <a:pt x="2791936" y="324555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3453744" y="3398803"/>
            <a:ext cx="242125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0x00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C</a:t>
            </a:r>
            <a:r>
              <a:rPr sz="1700" b="1" dirty="0">
                <a:latin typeface="Arial" panose="020B0604020202020204"/>
                <a:cs typeface="Arial" panose="020B0604020202020204"/>
              </a:rPr>
              <a:t>09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A</a:t>
            </a:r>
            <a:r>
              <a:rPr sz="1700" b="1" dirty="0">
                <a:latin typeface="Arial" panose="020B0604020202020204"/>
                <a:cs typeface="Arial" panose="020B0604020202020204"/>
              </a:rPr>
              <a:t>00000007F</a:t>
            </a:r>
            <a:r>
              <a:rPr sz="1700" b="1" dirty="0">
                <a:latin typeface="Arial" panose="020B0604020202020204"/>
                <a:cs typeface="Arial" panose="020B0604020202020204"/>
              </a:rPr>
              <a:t>FF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4829743" y="2956881"/>
            <a:ext cx="360045" cy="274955"/>
          </a:xfrm>
          <a:custGeom>
            <a:avLst/>
            <a:gdLst/>
            <a:ahLst/>
            <a:cxnLst/>
            <a:rect l="l" t="t" r="r" b="b"/>
            <a:pathLst>
              <a:path w="360045" h="274955">
                <a:moveTo>
                  <a:pt x="226247" y="0"/>
                </a:moveTo>
                <a:lnTo>
                  <a:pt x="251136" y="41843"/>
                </a:lnTo>
                <a:lnTo>
                  <a:pt x="0" y="191132"/>
                </a:lnTo>
                <a:lnTo>
                  <a:pt x="49776" y="274822"/>
                </a:lnTo>
                <a:lnTo>
                  <a:pt x="300912" y="125534"/>
                </a:lnTo>
                <a:lnTo>
                  <a:pt x="336441" y="125534"/>
                </a:lnTo>
                <a:lnTo>
                  <a:pt x="359736" y="33926"/>
                </a:lnTo>
                <a:lnTo>
                  <a:pt x="226247" y="0"/>
                </a:lnTo>
                <a:close/>
              </a:path>
              <a:path w="360045" h="274955">
                <a:moveTo>
                  <a:pt x="336441" y="125534"/>
                </a:moveTo>
                <a:lnTo>
                  <a:pt x="300912" y="125534"/>
                </a:lnTo>
                <a:lnTo>
                  <a:pt x="325800" y="167378"/>
                </a:lnTo>
                <a:lnTo>
                  <a:pt x="336441" y="12553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829743" y="2956881"/>
            <a:ext cx="360045" cy="274955"/>
          </a:xfrm>
          <a:custGeom>
            <a:avLst/>
            <a:gdLst/>
            <a:ahLst/>
            <a:cxnLst/>
            <a:rect l="l" t="t" r="r" b="b"/>
            <a:pathLst>
              <a:path w="360045" h="274955">
                <a:moveTo>
                  <a:pt x="0" y="191133"/>
                </a:moveTo>
                <a:lnTo>
                  <a:pt x="251136" y="41844"/>
                </a:lnTo>
                <a:lnTo>
                  <a:pt x="226248" y="0"/>
                </a:lnTo>
                <a:lnTo>
                  <a:pt x="359737" y="33926"/>
                </a:lnTo>
                <a:lnTo>
                  <a:pt x="325801" y="167378"/>
                </a:lnTo>
                <a:lnTo>
                  <a:pt x="300913" y="125534"/>
                </a:lnTo>
                <a:lnTo>
                  <a:pt x="49776" y="274822"/>
                </a:lnTo>
                <a:lnTo>
                  <a:pt x="0" y="191133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5411809" y="2216634"/>
            <a:ext cx="2392045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j</a:t>
            </a:r>
            <a:r>
              <a:rPr sz="2000" b="1" spc="3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到内存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0x0000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处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5180321" y="2300581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5411809" y="2676296"/>
            <a:ext cx="1787525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是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sys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000" b="1" spc="4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模块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!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5180321" y="2760367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6112423" y="3118732"/>
            <a:ext cx="3195320" cy="909319"/>
          </a:xfrm>
          <a:custGeom>
            <a:avLst/>
            <a:gdLst/>
            <a:ahLst/>
            <a:cxnLst/>
            <a:rect l="l" t="t" r="r" b="b"/>
            <a:pathLst>
              <a:path w="3195320" h="909320">
                <a:moveTo>
                  <a:pt x="3194929" y="757294"/>
                </a:moveTo>
                <a:lnTo>
                  <a:pt x="662708" y="757294"/>
                </a:lnTo>
                <a:lnTo>
                  <a:pt x="663241" y="770079"/>
                </a:lnTo>
                <a:lnTo>
                  <a:pt x="672784" y="811717"/>
                </a:lnTo>
                <a:lnTo>
                  <a:pt x="692936" y="848087"/>
                </a:lnTo>
                <a:lnTo>
                  <a:pt x="721945" y="877436"/>
                </a:lnTo>
                <a:lnTo>
                  <a:pt x="758054" y="898008"/>
                </a:lnTo>
                <a:lnTo>
                  <a:pt x="799509" y="908050"/>
                </a:lnTo>
                <a:lnTo>
                  <a:pt x="814212" y="908754"/>
                </a:lnTo>
                <a:lnTo>
                  <a:pt x="1717800" y="908754"/>
                </a:lnTo>
                <a:lnTo>
                  <a:pt x="3056216" y="908222"/>
                </a:lnTo>
                <a:lnTo>
                  <a:pt x="3097866" y="898682"/>
                </a:lnTo>
                <a:lnTo>
                  <a:pt x="3134246" y="878534"/>
                </a:lnTo>
                <a:lnTo>
                  <a:pt x="3163603" y="849534"/>
                </a:lnTo>
                <a:lnTo>
                  <a:pt x="3184180" y="813435"/>
                </a:lnTo>
                <a:lnTo>
                  <a:pt x="3194225" y="771991"/>
                </a:lnTo>
                <a:lnTo>
                  <a:pt x="3194929" y="757294"/>
                </a:lnTo>
                <a:close/>
              </a:path>
              <a:path w="3195320" h="909320">
                <a:moveTo>
                  <a:pt x="3043425" y="0"/>
                </a:moveTo>
                <a:lnTo>
                  <a:pt x="1084745" y="0"/>
                </a:lnTo>
                <a:lnTo>
                  <a:pt x="801421" y="532"/>
                </a:lnTo>
                <a:lnTo>
                  <a:pt x="759772" y="10072"/>
                </a:lnTo>
                <a:lnTo>
                  <a:pt x="723392" y="30219"/>
                </a:lnTo>
                <a:lnTo>
                  <a:pt x="694036" y="59220"/>
                </a:lnTo>
                <a:lnTo>
                  <a:pt x="673458" y="95319"/>
                </a:lnTo>
                <a:lnTo>
                  <a:pt x="663413" y="136763"/>
                </a:lnTo>
                <a:lnTo>
                  <a:pt x="662708" y="151462"/>
                </a:lnTo>
                <a:lnTo>
                  <a:pt x="662708" y="530108"/>
                </a:lnTo>
                <a:lnTo>
                  <a:pt x="0" y="759992"/>
                </a:lnTo>
                <a:lnTo>
                  <a:pt x="3194929" y="757294"/>
                </a:lnTo>
                <a:lnTo>
                  <a:pt x="3194930" y="530108"/>
                </a:lnTo>
                <a:lnTo>
                  <a:pt x="3194397" y="138674"/>
                </a:lnTo>
                <a:lnTo>
                  <a:pt x="3184854" y="97036"/>
                </a:lnTo>
                <a:lnTo>
                  <a:pt x="3164701" y="60666"/>
                </a:lnTo>
                <a:lnTo>
                  <a:pt x="3135693" y="31318"/>
                </a:lnTo>
                <a:lnTo>
                  <a:pt x="3099584" y="10746"/>
                </a:lnTo>
                <a:lnTo>
                  <a:pt x="3058128" y="704"/>
                </a:lnTo>
                <a:lnTo>
                  <a:pt x="304342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6112423" y="3118731"/>
            <a:ext cx="3195320" cy="909319"/>
          </a:xfrm>
          <a:custGeom>
            <a:avLst/>
            <a:gdLst/>
            <a:ahLst/>
            <a:cxnLst/>
            <a:rect l="l" t="t" r="r" b="b"/>
            <a:pathLst>
              <a:path w="3195320" h="909320">
                <a:moveTo>
                  <a:pt x="3194929" y="757292"/>
                </a:moveTo>
                <a:lnTo>
                  <a:pt x="3188786" y="800128"/>
                </a:lnTo>
                <a:lnTo>
                  <a:pt x="3171524" y="838204"/>
                </a:lnTo>
                <a:lnTo>
                  <a:pt x="3144899" y="869765"/>
                </a:lnTo>
                <a:lnTo>
                  <a:pt x="3110665" y="893059"/>
                </a:lnTo>
                <a:lnTo>
                  <a:pt x="3070577" y="906330"/>
                </a:lnTo>
                <a:lnTo>
                  <a:pt x="1717800" y="908755"/>
                </a:lnTo>
                <a:lnTo>
                  <a:pt x="1084745" y="908755"/>
                </a:lnTo>
                <a:lnTo>
                  <a:pt x="814212" y="908755"/>
                </a:lnTo>
                <a:lnTo>
                  <a:pt x="799509" y="908051"/>
                </a:lnTo>
                <a:lnTo>
                  <a:pt x="758054" y="898009"/>
                </a:lnTo>
                <a:lnTo>
                  <a:pt x="721945" y="877436"/>
                </a:lnTo>
                <a:lnTo>
                  <a:pt x="692937" y="848088"/>
                </a:lnTo>
                <a:lnTo>
                  <a:pt x="672783" y="811718"/>
                </a:lnTo>
                <a:lnTo>
                  <a:pt x="663240" y="770080"/>
                </a:lnTo>
                <a:lnTo>
                  <a:pt x="662708" y="757295"/>
                </a:lnTo>
                <a:lnTo>
                  <a:pt x="0" y="759991"/>
                </a:lnTo>
                <a:lnTo>
                  <a:pt x="662708" y="530107"/>
                </a:lnTo>
                <a:lnTo>
                  <a:pt x="662708" y="151463"/>
                </a:lnTo>
                <a:lnTo>
                  <a:pt x="663412" y="136763"/>
                </a:lnTo>
                <a:lnTo>
                  <a:pt x="673457" y="95319"/>
                </a:lnTo>
                <a:lnTo>
                  <a:pt x="694035" y="59220"/>
                </a:lnTo>
                <a:lnTo>
                  <a:pt x="723392" y="30220"/>
                </a:lnTo>
                <a:lnTo>
                  <a:pt x="759772" y="10072"/>
                </a:lnTo>
                <a:lnTo>
                  <a:pt x="801421" y="532"/>
                </a:lnTo>
                <a:lnTo>
                  <a:pt x="1084745" y="0"/>
                </a:lnTo>
                <a:lnTo>
                  <a:pt x="1717800" y="0"/>
                </a:lnTo>
                <a:lnTo>
                  <a:pt x="3043425" y="0"/>
                </a:lnTo>
                <a:lnTo>
                  <a:pt x="3058129" y="704"/>
                </a:lnTo>
                <a:lnTo>
                  <a:pt x="3099584" y="10746"/>
                </a:lnTo>
                <a:lnTo>
                  <a:pt x="3135693" y="31318"/>
                </a:lnTo>
                <a:lnTo>
                  <a:pt x="3164701" y="60666"/>
                </a:lnTo>
                <a:lnTo>
                  <a:pt x="3184854" y="97037"/>
                </a:lnTo>
                <a:lnTo>
                  <a:pt x="3194397" y="138675"/>
                </a:lnTo>
                <a:lnTo>
                  <a:pt x="3194929" y="530107"/>
                </a:lnTo>
                <a:lnTo>
                  <a:pt x="3194929" y="757295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6982216" y="3216917"/>
            <a:ext cx="2117090" cy="770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两个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gd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6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表项，都是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0x0000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，一个只读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6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代 码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)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，一个读写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数据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graphicFrame>
        <p:nvGraphicFramePr>
          <p:cNvPr id="35" name="object 35"/>
          <p:cNvGraphicFramePr>
            <a:graphicFrameLocks noGrp="1"/>
          </p:cNvGraphicFramePr>
          <p:nvPr/>
        </p:nvGraphicFramePr>
        <p:xfrm>
          <a:off x="559633" y="5057948"/>
          <a:ext cx="6470015" cy="10629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34135"/>
                <a:gridCol w="208361"/>
                <a:gridCol w="442217"/>
                <a:gridCol w="1267427"/>
                <a:gridCol w="217160"/>
                <a:gridCol w="506707"/>
                <a:gridCol w="794937"/>
                <a:gridCol w="1662264"/>
              </a:tblGrid>
              <a:tr h="519289"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</a:pPr>
                      <a:r>
                        <a:rPr sz="1650" b="1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段基址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31</a:t>
                      </a:r>
                      <a:r>
                        <a:rPr sz="1700" b="1" spc="-5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sz="1700" b="1" spc="-5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24</a:t>
                      </a:r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4342">
                      <a:solidFill>
                        <a:srgbClr val="000000"/>
                      </a:solidFill>
                      <a:prstDash val="solid"/>
                    </a:lnL>
                    <a:lnR w="24347">
                      <a:solidFill>
                        <a:srgbClr val="000000"/>
                      </a:solidFill>
                      <a:prstDash val="solid"/>
                    </a:lnR>
                    <a:lnT w="24342">
                      <a:solidFill>
                        <a:srgbClr val="000000"/>
                      </a:solidFill>
                      <a:prstDash val="solid"/>
                    </a:lnT>
                    <a:lnB w="24342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b="1" dirty="0">
                          <a:latin typeface="Arial" panose="020B0604020202020204"/>
                          <a:cs typeface="Arial" panose="020B0604020202020204"/>
                        </a:rPr>
                        <a:t>G</a:t>
                      </a:r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4347">
                      <a:solidFill>
                        <a:srgbClr val="000000"/>
                      </a:solidFill>
                      <a:prstDash val="solid"/>
                    </a:lnL>
                    <a:lnR w="24345">
                      <a:solidFill>
                        <a:srgbClr val="000000"/>
                      </a:solidFill>
                      <a:prstDash val="solid"/>
                    </a:lnR>
                    <a:lnT w="24347">
                      <a:solidFill>
                        <a:srgbClr val="000000"/>
                      </a:solidFill>
                      <a:prstDash val="solid"/>
                    </a:lnT>
                    <a:lnB w="2434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4345">
                      <a:solidFill>
                        <a:srgbClr val="000000"/>
                      </a:solidFill>
                      <a:prstDash val="solid"/>
                    </a:lnL>
                    <a:lnR w="24345">
                      <a:solidFill>
                        <a:srgbClr val="000000"/>
                      </a:solidFill>
                      <a:prstDash val="solid"/>
                    </a:lnR>
                    <a:lnT w="24345">
                      <a:solidFill>
                        <a:srgbClr val="000000"/>
                      </a:solidFill>
                      <a:prstDash val="solid"/>
                    </a:lnT>
                    <a:lnB w="243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65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段限长</a:t>
                      </a:r>
                      <a:r>
                        <a:rPr sz="1700" b="1" dirty="0">
                          <a:latin typeface="Arial" panose="020B0604020202020204"/>
                          <a:cs typeface="Arial" panose="020B0604020202020204"/>
                        </a:rPr>
                        <a:t>19</a:t>
                      </a:r>
                      <a:r>
                        <a:rPr sz="1700" b="1" spc="-5" dirty="0">
                          <a:latin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sz="1700" b="1" spc="-5" dirty="0">
                          <a:latin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sz="1700" b="1" dirty="0">
                          <a:latin typeface="Arial" panose="020B0604020202020204"/>
                          <a:cs typeface="Arial" panose="020B0604020202020204"/>
                        </a:rPr>
                        <a:t>16</a:t>
                      </a:r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4345">
                      <a:solidFill>
                        <a:srgbClr val="000000"/>
                      </a:solidFill>
                      <a:prstDash val="solid"/>
                    </a:lnL>
                    <a:lnR w="24342">
                      <a:solidFill>
                        <a:srgbClr val="000000"/>
                      </a:solidFill>
                      <a:prstDash val="solid"/>
                    </a:lnR>
                    <a:lnT w="24342">
                      <a:solidFill>
                        <a:srgbClr val="000000"/>
                      </a:solidFill>
                      <a:prstDash val="solid"/>
                    </a:lnT>
                    <a:lnB w="24342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</a:pPr>
                      <a:r>
                        <a:rPr sz="1700" b="1" dirty="0"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4342">
                      <a:solidFill>
                        <a:srgbClr val="000000"/>
                      </a:solidFill>
                      <a:prstDash val="solid"/>
                    </a:lnL>
                    <a:lnR w="24345">
                      <a:solidFill>
                        <a:srgbClr val="000000"/>
                      </a:solidFill>
                      <a:prstDash val="solid"/>
                    </a:lnR>
                    <a:lnT w="24347">
                      <a:solidFill>
                        <a:srgbClr val="000000"/>
                      </a:solidFill>
                      <a:prstDash val="solid"/>
                    </a:lnT>
                    <a:lnB w="2434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</a:pPr>
                      <a:r>
                        <a:rPr sz="1700" b="1" spc="5" dirty="0">
                          <a:latin typeface="Arial" panose="020B0604020202020204"/>
                          <a:cs typeface="Arial" panose="020B0604020202020204"/>
                        </a:rPr>
                        <a:t>DP</a:t>
                      </a:r>
                      <a:r>
                        <a:rPr sz="1700" b="1" dirty="0">
                          <a:latin typeface="Arial" panose="020B0604020202020204"/>
                          <a:cs typeface="Arial" panose="020B0604020202020204"/>
                        </a:rPr>
                        <a:t>L</a:t>
                      </a:r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4345">
                      <a:solidFill>
                        <a:srgbClr val="000000"/>
                      </a:solidFill>
                      <a:prstDash val="solid"/>
                    </a:lnL>
                    <a:lnR w="24343">
                      <a:solidFill>
                        <a:srgbClr val="000000"/>
                      </a:solidFill>
                      <a:prstDash val="solid"/>
                    </a:lnR>
                    <a:lnT w="24345">
                      <a:solidFill>
                        <a:srgbClr val="000000"/>
                      </a:solidFill>
                      <a:prstDash val="solid"/>
                    </a:lnT>
                    <a:lnB w="243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4343">
                      <a:solidFill>
                        <a:srgbClr val="000000"/>
                      </a:solidFill>
                      <a:prstDash val="solid"/>
                    </a:lnL>
                    <a:lnR w="24343">
                      <a:solidFill>
                        <a:srgbClr val="000000"/>
                      </a:solidFill>
                      <a:prstDash val="solid"/>
                    </a:lnR>
                    <a:lnT w="24343">
                      <a:solidFill>
                        <a:srgbClr val="000000"/>
                      </a:solidFill>
                      <a:prstDash val="solid"/>
                    </a:lnT>
                    <a:lnB w="2434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ct val="100000"/>
                        </a:lnSpc>
                      </a:pPr>
                      <a:r>
                        <a:rPr sz="1650" b="1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段基址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23</a:t>
                      </a:r>
                      <a:r>
                        <a:rPr sz="1700" b="1" spc="-5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sz="1700" b="1" spc="-5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16</a:t>
                      </a:r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4343">
                      <a:solidFill>
                        <a:srgbClr val="000000"/>
                      </a:solidFill>
                      <a:prstDash val="solid"/>
                    </a:lnL>
                    <a:lnR w="24342">
                      <a:solidFill>
                        <a:srgbClr val="000000"/>
                      </a:solidFill>
                      <a:prstDash val="solid"/>
                    </a:lnR>
                    <a:lnT w="24342">
                      <a:solidFill>
                        <a:srgbClr val="000000"/>
                      </a:solidFill>
                      <a:prstDash val="solid"/>
                    </a:lnT>
                    <a:lnB w="24342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9288">
                <a:tc gridSpan="4">
                  <a:txBody>
                    <a:bodyPr/>
                    <a:lstStyle/>
                    <a:p>
                      <a:pPr marL="643255">
                        <a:lnSpc>
                          <a:spcPct val="100000"/>
                        </a:lnSpc>
                      </a:pPr>
                      <a:r>
                        <a:rPr sz="1650" b="1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段基址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15</a:t>
                      </a:r>
                      <a:r>
                        <a:rPr sz="1700" b="1" spc="-5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sz="1700" b="1" spc="-5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4341">
                      <a:solidFill>
                        <a:srgbClr val="000000"/>
                      </a:solidFill>
                      <a:prstDash val="solid"/>
                    </a:lnL>
                    <a:lnR w="24341">
                      <a:solidFill>
                        <a:srgbClr val="000000"/>
                      </a:solidFill>
                      <a:prstDash val="solid"/>
                    </a:lnR>
                    <a:lnT w="24345">
                      <a:solidFill>
                        <a:srgbClr val="000000"/>
                      </a:solidFill>
                      <a:prstDash val="solid"/>
                    </a:lnT>
                    <a:lnB w="2434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796925">
                        <a:lnSpc>
                          <a:spcPct val="100000"/>
                        </a:lnSpc>
                      </a:pPr>
                      <a:r>
                        <a:rPr sz="165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段限长</a:t>
                      </a:r>
                      <a:r>
                        <a:rPr sz="1700" b="1" dirty="0">
                          <a:latin typeface="Arial" panose="020B0604020202020204"/>
                          <a:cs typeface="Arial" panose="020B0604020202020204"/>
                        </a:rPr>
                        <a:t>15</a:t>
                      </a:r>
                      <a:r>
                        <a:rPr sz="1700" b="1" spc="-5" dirty="0">
                          <a:latin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sz="1700" b="1" spc="-5" dirty="0">
                          <a:latin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sz="1700" b="1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4341">
                      <a:solidFill>
                        <a:srgbClr val="000000"/>
                      </a:solidFill>
                      <a:prstDash val="solid"/>
                    </a:lnL>
                    <a:lnR w="24341">
                      <a:solidFill>
                        <a:srgbClr val="000000"/>
                      </a:solidFill>
                      <a:prstDash val="solid"/>
                    </a:lnR>
                    <a:lnT w="24343">
                      <a:solidFill>
                        <a:srgbClr val="000000"/>
                      </a:solidFill>
                      <a:prstDash val="solid"/>
                    </a:lnT>
                    <a:lnB w="2434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</a:tbl>
          </a:graphicData>
        </a:graphic>
      </p:graphicFrame>
      <p:sp>
        <p:nvSpPr>
          <p:cNvPr id="55" name="object 2"/>
          <p:cNvSpPr/>
          <p:nvPr>
            <p:custDataLst>
              <p:tags r:id="rId2"/>
            </p:custDataLst>
          </p:nvPr>
        </p:nvSpPr>
        <p:spPr>
          <a:xfrm>
            <a:off x="190500" y="1416121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630"/>
              </a:lnSpc>
            </a:pP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跳到</a:t>
            </a:r>
            <a:r>
              <a:rPr sz="3050" dirty="0"/>
              <a:t>sys</a:t>
            </a:r>
            <a:r>
              <a:rPr sz="3050" spc="5" dirty="0"/>
              <a:t>t</a:t>
            </a:r>
            <a:r>
              <a:rPr sz="3050" spc="5" dirty="0"/>
              <a:t>em</a:t>
            </a: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模块执行</a:t>
            </a:r>
            <a:r>
              <a:rPr sz="3050" dirty="0"/>
              <a:t>...</a:t>
            </a:r>
            <a:endParaRPr sz="30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5592" y="2000367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33954" y="2999416"/>
            <a:ext cx="6633845" cy="2005964"/>
          </a:xfrm>
          <a:custGeom>
            <a:avLst/>
            <a:gdLst/>
            <a:ahLst/>
            <a:cxnLst/>
            <a:rect l="l" t="t" r="r" b="b"/>
            <a:pathLst>
              <a:path w="6633845" h="2005964">
                <a:moveTo>
                  <a:pt x="0" y="0"/>
                </a:moveTo>
                <a:lnTo>
                  <a:pt x="6633554" y="0"/>
                </a:lnTo>
                <a:lnTo>
                  <a:pt x="6633554" y="2005795"/>
                </a:lnTo>
                <a:lnTo>
                  <a:pt x="0" y="2005795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7081" y="1929201"/>
            <a:ext cx="5911850" cy="704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0000"/>
              </a:lnSpc>
              <a:tabLst>
                <a:tab pos="5076825" algn="l"/>
              </a:tabLst>
            </a:pPr>
            <a:r>
              <a:rPr sz="3000" b="1" spc="30" baseline="1000" dirty="0">
                <a:latin typeface="Arial" panose="020B0604020202020204"/>
                <a:cs typeface="Arial" panose="020B0604020202020204"/>
              </a:rPr>
              <a:t>sys</a:t>
            </a:r>
            <a:r>
              <a:rPr sz="3000" b="1" spc="15" baseline="1000" dirty="0">
                <a:latin typeface="Arial" panose="020B0604020202020204"/>
                <a:cs typeface="Arial" panose="020B0604020202020204"/>
              </a:rPr>
              <a:t>t</a:t>
            </a:r>
            <a:r>
              <a:rPr sz="3000" b="1" spc="30" baseline="1000" dirty="0">
                <a:latin typeface="Arial" panose="020B0604020202020204"/>
                <a:cs typeface="Arial" panose="020B0604020202020204"/>
              </a:rPr>
              <a:t>e</a:t>
            </a:r>
            <a:r>
              <a:rPr sz="3000" b="1" spc="60" baseline="1000" dirty="0">
                <a:latin typeface="Arial" panose="020B0604020202020204"/>
                <a:cs typeface="Arial" panose="020B0604020202020204"/>
              </a:rPr>
              <a:t>m</a:t>
            </a:r>
            <a:r>
              <a:rPr sz="2925" b="1" spc="127" baseline="3000" dirty="0">
                <a:latin typeface="宋体" panose="02010600030101010101" pitchFamily="2" charset="-122"/>
                <a:cs typeface="宋体" panose="02010600030101010101" pitchFamily="2" charset="-122"/>
              </a:rPr>
              <a:t>模块</a:t>
            </a:r>
            <a:r>
              <a:rPr sz="3000" b="1" spc="15" baseline="1000" dirty="0">
                <a:latin typeface="Arial" panose="020B0604020202020204"/>
                <a:cs typeface="Arial" panose="020B0604020202020204"/>
              </a:rPr>
              <a:t>(</a:t>
            </a:r>
            <a:r>
              <a:rPr sz="2925" b="1" spc="127" baseline="3000" dirty="0">
                <a:latin typeface="宋体" panose="02010600030101010101" pitchFamily="2" charset="-122"/>
                <a:cs typeface="宋体" panose="02010600030101010101" pitchFamily="2" charset="-122"/>
              </a:rPr>
              <a:t>目标代码</a:t>
            </a:r>
            <a:r>
              <a:rPr sz="3000" b="1" spc="15" baseline="1000" dirty="0">
                <a:latin typeface="Arial" panose="020B0604020202020204"/>
                <a:cs typeface="Arial" panose="020B0604020202020204"/>
              </a:rPr>
              <a:t>)</a:t>
            </a:r>
            <a:r>
              <a:rPr sz="2925" b="1" spc="127" baseline="3000" dirty="0">
                <a:latin typeface="宋体" panose="02010600030101010101" pitchFamily="2" charset="-122"/>
                <a:cs typeface="宋体" panose="02010600030101010101" pitchFamily="2" charset="-122"/>
              </a:rPr>
              <a:t>中的第一部分代码</a:t>
            </a:r>
            <a:r>
              <a:rPr sz="3000" b="1" spc="30" baseline="1000" dirty="0">
                <a:latin typeface="Arial" panose="020B0604020202020204"/>
                <a:cs typeface="Arial" panose="020B0604020202020204"/>
              </a:rPr>
              <a:t>?</a:t>
            </a:r>
            <a:r>
              <a:rPr sz="3000" b="1" baseline="1000" dirty="0">
                <a:latin typeface="Arial" panose="020B0604020202020204"/>
                <a:cs typeface="Arial" panose="020B0604020202020204"/>
              </a:rPr>
              <a:t>	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h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.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0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sys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40" dirty="0">
                <a:latin typeface="Arial" panose="020B0604020202020204"/>
                <a:cs typeface="Arial" panose="020B0604020202020204"/>
              </a:rPr>
              <a:t>m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由许多文件编译而成，为什么是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h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dirty="0">
                <a:latin typeface="Arial" panose="020B0604020202020204"/>
                <a:cs typeface="Arial" panose="020B0604020202020204"/>
              </a:rPr>
              <a:t>.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s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?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9885" y="3076472"/>
            <a:ext cx="6390005" cy="1798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d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latin typeface="Arial" panose="020B0604020202020204"/>
                <a:cs typeface="Arial" panose="020B0604020202020204"/>
              </a:rPr>
              <a:t>sk</a:t>
            </a:r>
            <a:r>
              <a:rPr sz="1700" b="1" dirty="0">
                <a:latin typeface="Arial" panose="020B0604020202020204"/>
                <a:cs typeface="Arial" panose="020B0604020202020204"/>
              </a:rPr>
              <a:t>: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latin typeface="Arial" panose="020B0604020202020204"/>
                <a:cs typeface="Arial" panose="020B0604020202020204"/>
              </a:rPr>
              <a:t>ma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ge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250190">
              <a:lnSpc>
                <a:spcPct val="100000"/>
              </a:lnSpc>
              <a:spcBef>
                <a:spcPts val="425"/>
              </a:spcBef>
            </a:pPr>
            <a:r>
              <a:rPr sz="1700" b="1" spc="5" dirty="0">
                <a:latin typeface="Arial" panose="020B0604020202020204"/>
                <a:cs typeface="Arial" panose="020B0604020202020204"/>
              </a:rPr>
              <a:t>d</a:t>
            </a:r>
            <a:r>
              <a:rPr sz="1700" b="1" dirty="0">
                <a:latin typeface="Arial" panose="020B0604020202020204"/>
                <a:cs typeface="Arial" panose="020B0604020202020204"/>
              </a:rPr>
              <a:t>d 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b</a:t>
            </a:r>
            <a:r>
              <a:rPr sz="1700" b="1" dirty="0">
                <a:latin typeface="Arial" panose="020B0604020202020204"/>
                <a:cs typeface="Arial" panose="020B0604020202020204"/>
              </a:rPr>
              <a:t>s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=</a:t>
            </a:r>
            <a:r>
              <a:rPr sz="1700" b="1" dirty="0">
                <a:latin typeface="Arial" panose="020B0604020202020204"/>
                <a:cs typeface="Arial" panose="020B0604020202020204"/>
              </a:rPr>
              <a:t>8192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f=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latin typeface="Arial" panose="020B0604020202020204"/>
                <a:cs typeface="Arial" panose="020B0604020202020204"/>
              </a:rPr>
              <a:t>ma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g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o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f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=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/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d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dirty="0">
                <a:latin typeface="Arial" panose="020B0604020202020204"/>
                <a:cs typeface="Arial" panose="020B0604020202020204"/>
              </a:rPr>
              <a:t>v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/</a:t>
            </a:r>
            <a:r>
              <a:rPr sz="1700" b="1" dirty="0">
                <a:latin typeface="Arial" panose="020B0604020202020204"/>
                <a:cs typeface="Arial" panose="020B0604020202020204"/>
              </a:rPr>
              <a:t>PS0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91135" marR="192405" indent="-179070">
              <a:lnSpc>
                <a:spcPts val="2470"/>
              </a:lnSpc>
              <a:spcBef>
                <a:spcPts val="115"/>
              </a:spcBef>
            </a:pP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latin typeface="Arial" panose="020B0604020202020204"/>
                <a:cs typeface="Arial" panose="020B0604020202020204"/>
              </a:rPr>
              <a:t>m</a:t>
            </a:r>
            <a:r>
              <a:rPr sz="1700" b="1" dirty="0">
                <a:latin typeface="Arial" panose="020B0604020202020204"/>
                <a:cs typeface="Arial" panose="020B0604020202020204"/>
              </a:rPr>
              <a:t>a</a:t>
            </a:r>
            <a:r>
              <a:rPr sz="1700" b="1" dirty="0">
                <a:latin typeface="Arial" panose="020B0604020202020204"/>
                <a:cs typeface="Arial" panose="020B0604020202020204"/>
              </a:rPr>
              <a:t>g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dirty="0">
                <a:latin typeface="Arial" panose="020B0604020202020204"/>
                <a:cs typeface="Arial" panose="020B0604020202020204"/>
              </a:rPr>
              <a:t>: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boo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/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b</a:t>
            </a:r>
            <a:r>
              <a:rPr sz="1700" b="1" dirty="0">
                <a:latin typeface="Arial" panose="020B0604020202020204"/>
                <a:cs typeface="Arial" panose="020B0604020202020204"/>
              </a:rPr>
              <a:t>oo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sec</a:t>
            </a:r>
            <a:r>
              <a:rPr sz="1700" b="1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boo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t/</a:t>
            </a:r>
            <a:r>
              <a:rPr sz="1700" b="1" dirty="0">
                <a:latin typeface="Arial" panose="020B0604020202020204"/>
                <a:cs typeface="Arial" panose="020B0604020202020204"/>
              </a:rPr>
              <a:t>s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up 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oo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l</a:t>
            </a:r>
            <a:r>
              <a:rPr sz="1700" b="1" dirty="0">
                <a:latin typeface="Arial" panose="020B0604020202020204"/>
                <a:cs typeface="Arial" panose="020B0604020202020204"/>
              </a:rPr>
              <a:t>s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/</a:t>
            </a:r>
            <a:r>
              <a:rPr sz="1700" b="1" dirty="0">
                <a:latin typeface="Arial" panose="020B0604020202020204"/>
                <a:cs typeface="Arial" panose="020B0604020202020204"/>
              </a:rPr>
              <a:t>s</a:t>
            </a:r>
            <a:r>
              <a:rPr sz="1700" b="1" dirty="0">
                <a:latin typeface="Arial" panose="020B0604020202020204"/>
                <a:cs typeface="Arial" panose="020B0604020202020204"/>
              </a:rPr>
              <a:t>ys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em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oo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l</a:t>
            </a:r>
            <a:r>
              <a:rPr sz="1700" b="1" dirty="0">
                <a:latin typeface="Arial" panose="020B0604020202020204"/>
                <a:cs typeface="Arial" panose="020B0604020202020204"/>
              </a:rPr>
              <a:t>s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/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b</a:t>
            </a:r>
            <a:r>
              <a:rPr sz="1700" b="1" dirty="0">
                <a:latin typeface="Arial" panose="020B0604020202020204"/>
                <a:cs typeface="Arial" panose="020B0604020202020204"/>
              </a:rPr>
              <a:t>u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ild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oo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l</a:t>
            </a:r>
            <a:r>
              <a:rPr sz="1700" b="1" dirty="0">
                <a:latin typeface="Arial" panose="020B0604020202020204"/>
                <a:cs typeface="Arial" panose="020B0604020202020204"/>
              </a:rPr>
              <a:t>s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/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bu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il</a:t>
            </a:r>
            <a:r>
              <a:rPr sz="1700" b="1" dirty="0">
                <a:latin typeface="Arial" panose="020B0604020202020204"/>
                <a:cs typeface="Arial" panose="020B0604020202020204"/>
              </a:rPr>
              <a:t>d 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boo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t/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boo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sec</a:t>
            </a:r>
            <a:r>
              <a:rPr sz="1700" b="1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boo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t/</a:t>
            </a:r>
            <a:r>
              <a:rPr sz="1700" b="1" dirty="0">
                <a:latin typeface="Arial" panose="020B0604020202020204"/>
                <a:cs typeface="Arial" panose="020B0604020202020204"/>
              </a:rPr>
              <a:t>se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u</a:t>
            </a:r>
            <a:r>
              <a:rPr sz="1700" b="1" dirty="0">
                <a:latin typeface="Arial" panose="020B0604020202020204"/>
                <a:cs typeface="Arial" panose="020B0604020202020204"/>
              </a:rPr>
              <a:t>p</a:t>
            </a:r>
            <a:r>
              <a:rPr sz="17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oo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sys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em</a:t>
            </a:r>
            <a:r>
              <a:rPr sz="1700" b="1" spc="-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&gt;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latin typeface="Arial" panose="020B0604020202020204"/>
                <a:cs typeface="Arial" panose="020B0604020202020204"/>
              </a:rPr>
              <a:t>ma</a:t>
            </a:r>
            <a:r>
              <a:rPr sz="1700" b="1" dirty="0">
                <a:latin typeface="Arial" panose="020B0604020202020204"/>
                <a:cs typeface="Arial" panose="020B0604020202020204"/>
              </a:rPr>
              <a:t>g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oo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l</a:t>
            </a:r>
            <a:r>
              <a:rPr sz="1700" b="1" dirty="0">
                <a:latin typeface="Arial" panose="020B0604020202020204"/>
                <a:cs typeface="Arial" panose="020B0604020202020204"/>
              </a:rPr>
              <a:t>s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/</a:t>
            </a:r>
            <a:r>
              <a:rPr sz="1700" b="1" dirty="0">
                <a:latin typeface="Arial" panose="020B0604020202020204"/>
                <a:cs typeface="Arial" panose="020B0604020202020204"/>
              </a:rPr>
              <a:t>sys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m</a:t>
            </a:r>
            <a:r>
              <a:rPr sz="1700" b="1" dirty="0">
                <a:latin typeface="Arial" panose="020B0604020202020204"/>
                <a:cs typeface="Arial" panose="020B0604020202020204"/>
              </a:rPr>
              <a:t>: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boo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t/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h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ea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d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.</a:t>
            </a:r>
            <a:r>
              <a:rPr sz="1700" b="1" dirty="0">
                <a:latin typeface="Arial" panose="020B0604020202020204"/>
                <a:cs typeface="Arial" panose="020B0604020202020204"/>
              </a:rPr>
              <a:t>o 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n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t/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m</a:t>
            </a:r>
            <a:r>
              <a:rPr sz="1700" b="1" dirty="0">
                <a:latin typeface="Arial" panose="020B0604020202020204"/>
                <a:cs typeface="Arial" panose="020B0604020202020204"/>
              </a:rPr>
              <a:t>a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n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.</a:t>
            </a:r>
            <a:r>
              <a:rPr sz="1700" b="1" dirty="0">
                <a:latin typeface="Arial" panose="020B0604020202020204"/>
                <a:cs typeface="Arial" panose="020B0604020202020204"/>
              </a:rPr>
              <a:t>o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$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DR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VE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R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S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…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91135">
              <a:lnSpc>
                <a:spcPct val="100000"/>
              </a:lnSpc>
              <a:spcBef>
                <a:spcPts val="390"/>
              </a:spcBef>
            </a:pP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$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boo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h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ead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.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latin typeface="Arial" panose="020B0604020202020204"/>
                <a:cs typeface="Arial" panose="020B0604020202020204"/>
              </a:rPr>
              <a:t>n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it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/</a:t>
            </a:r>
            <a:r>
              <a:rPr sz="1700" b="1" dirty="0">
                <a:latin typeface="Arial" panose="020B0604020202020204"/>
                <a:cs typeface="Arial" panose="020B0604020202020204"/>
              </a:rPr>
              <a:t>m</a:t>
            </a:r>
            <a:r>
              <a:rPr sz="1700" b="1" dirty="0">
                <a:latin typeface="Arial" panose="020B0604020202020204"/>
                <a:cs typeface="Arial" panose="020B0604020202020204"/>
              </a:rPr>
              <a:t>a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n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.</a:t>
            </a:r>
            <a:r>
              <a:rPr sz="1700" b="1" dirty="0">
                <a:latin typeface="Arial" panose="020B0604020202020204"/>
                <a:cs typeface="Arial" panose="020B0604020202020204"/>
              </a:rPr>
              <a:t>o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$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DR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V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R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S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…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-</a:t>
            </a:r>
            <a:r>
              <a:rPr sz="1700" b="1" dirty="0">
                <a:latin typeface="Arial" panose="020B0604020202020204"/>
                <a:cs typeface="Arial" panose="020B0604020202020204"/>
              </a:rPr>
              <a:t>o 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oo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l</a:t>
            </a:r>
            <a:r>
              <a:rPr sz="1700" b="1" dirty="0">
                <a:latin typeface="Arial" panose="020B0604020202020204"/>
                <a:cs typeface="Arial" panose="020B0604020202020204"/>
              </a:rPr>
              <a:t>s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/</a:t>
            </a:r>
            <a:r>
              <a:rPr sz="1700" b="1" dirty="0">
                <a:latin typeface="Arial" panose="020B0604020202020204"/>
                <a:cs typeface="Arial" panose="020B0604020202020204"/>
              </a:rPr>
              <a:t>sys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em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5592" y="2435813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332723" y="3321599"/>
            <a:ext cx="172593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li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x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2000" b="1" spc="3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ake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f</a:t>
            </a:r>
            <a:r>
              <a:rPr sz="20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ile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482953" y="2331685"/>
            <a:ext cx="2532380" cy="864235"/>
          </a:xfrm>
          <a:custGeom>
            <a:avLst/>
            <a:gdLst/>
            <a:ahLst/>
            <a:cxnLst/>
            <a:rect l="l" t="t" r="r" b="b"/>
            <a:pathLst>
              <a:path w="2532379" h="864235">
                <a:moveTo>
                  <a:pt x="2413184" y="0"/>
                </a:moveTo>
                <a:lnTo>
                  <a:pt x="115277" y="58"/>
                </a:lnTo>
                <a:lnTo>
                  <a:pt x="73474" y="9028"/>
                </a:lnTo>
                <a:lnTo>
                  <a:pt x="38581" y="31296"/>
                </a:lnTo>
                <a:lnTo>
                  <a:pt x="13440" y="64019"/>
                </a:lnTo>
                <a:lnTo>
                  <a:pt x="892" y="104357"/>
                </a:lnTo>
                <a:lnTo>
                  <a:pt x="0" y="119004"/>
                </a:lnTo>
                <a:lnTo>
                  <a:pt x="58" y="598776"/>
                </a:lnTo>
                <a:lnTo>
                  <a:pt x="9031" y="640567"/>
                </a:lnTo>
                <a:lnTo>
                  <a:pt x="31304" y="675450"/>
                </a:lnTo>
                <a:lnTo>
                  <a:pt x="64037" y="700585"/>
                </a:lnTo>
                <a:lnTo>
                  <a:pt x="104386" y="713129"/>
                </a:lnTo>
                <a:lnTo>
                  <a:pt x="119037" y="714021"/>
                </a:lnTo>
                <a:lnTo>
                  <a:pt x="422036" y="714021"/>
                </a:lnTo>
                <a:lnTo>
                  <a:pt x="85234" y="864130"/>
                </a:lnTo>
                <a:lnTo>
                  <a:pt x="1055091" y="714021"/>
                </a:lnTo>
                <a:lnTo>
                  <a:pt x="2416944" y="713963"/>
                </a:lnTo>
                <a:lnTo>
                  <a:pt x="2431470" y="712626"/>
                </a:lnTo>
                <a:lnTo>
                  <a:pt x="2471285" y="698907"/>
                </a:lnTo>
                <a:lnTo>
                  <a:pt x="2503243" y="672838"/>
                </a:lnTo>
                <a:lnTo>
                  <a:pt x="2524503" y="637261"/>
                </a:lnTo>
                <a:lnTo>
                  <a:pt x="2532221" y="595016"/>
                </a:lnTo>
                <a:lnTo>
                  <a:pt x="2532163" y="115245"/>
                </a:lnTo>
                <a:lnTo>
                  <a:pt x="2523190" y="73454"/>
                </a:lnTo>
                <a:lnTo>
                  <a:pt x="2500916" y="38571"/>
                </a:lnTo>
                <a:lnTo>
                  <a:pt x="2468183" y="13436"/>
                </a:lnTo>
                <a:lnTo>
                  <a:pt x="2427834" y="892"/>
                </a:lnTo>
                <a:lnTo>
                  <a:pt x="24131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482953" y="2331685"/>
            <a:ext cx="2532380" cy="864235"/>
          </a:xfrm>
          <a:custGeom>
            <a:avLst/>
            <a:gdLst/>
            <a:ahLst/>
            <a:cxnLst/>
            <a:rect l="l" t="t" r="r" b="b"/>
            <a:pathLst>
              <a:path w="2532379" h="864235">
                <a:moveTo>
                  <a:pt x="2532221" y="595017"/>
                </a:moveTo>
                <a:lnTo>
                  <a:pt x="2524503" y="637261"/>
                </a:lnTo>
                <a:lnTo>
                  <a:pt x="2503243" y="672839"/>
                </a:lnTo>
                <a:lnTo>
                  <a:pt x="2471285" y="698908"/>
                </a:lnTo>
                <a:lnTo>
                  <a:pt x="2431470" y="712626"/>
                </a:lnTo>
                <a:lnTo>
                  <a:pt x="1055092" y="714022"/>
                </a:lnTo>
                <a:lnTo>
                  <a:pt x="85235" y="864131"/>
                </a:lnTo>
                <a:lnTo>
                  <a:pt x="422036" y="714022"/>
                </a:lnTo>
                <a:lnTo>
                  <a:pt x="119036" y="714022"/>
                </a:lnTo>
                <a:lnTo>
                  <a:pt x="104386" y="713129"/>
                </a:lnTo>
                <a:lnTo>
                  <a:pt x="64037" y="700585"/>
                </a:lnTo>
                <a:lnTo>
                  <a:pt x="31304" y="675450"/>
                </a:lnTo>
                <a:lnTo>
                  <a:pt x="9031" y="640567"/>
                </a:lnTo>
                <a:lnTo>
                  <a:pt x="58" y="598776"/>
                </a:lnTo>
                <a:lnTo>
                  <a:pt x="0" y="595017"/>
                </a:lnTo>
                <a:lnTo>
                  <a:pt x="0" y="416513"/>
                </a:lnTo>
                <a:lnTo>
                  <a:pt x="0" y="119005"/>
                </a:lnTo>
                <a:lnTo>
                  <a:pt x="892" y="104358"/>
                </a:lnTo>
                <a:lnTo>
                  <a:pt x="13440" y="64020"/>
                </a:lnTo>
                <a:lnTo>
                  <a:pt x="38581" y="31296"/>
                </a:lnTo>
                <a:lnTo>
                  <a:pt x="73474" y="9028"/>
                </a:lnTo>
                <a:lnTo>
                  <a:pt x="115276" y="58"/>
                </a:lnTo>
                <a:lnTo>
                  <a:pt x="422036" y="0"/>
                </a:lnTo>
                <a:lnTo>
                  <a:pt x="1055092" y="0"/>
                </a:lnTo>
                <a:lnTo>
                  <a:pt x="2413184" y="0"/>
                </a:lnTo>
                <a:lnTo>
                  <a:pt x="2427835" y="892"/>
                </a:lnTo>
                <a:lnTo>
                  <a:pt x="2468183" y="13436"/>
                </a:lnTo>
                <a:lnTo>
                  <a:pt x="2500916" y="38571"/>
                </a:lnTo>
                <a:lnTo>
                  <a:pt x="2523190" y="73454"/>
                </a:lnTo>
                <a:lnTo>
                  <a:pt x="2532163" y="115245"/>
                </a:lnTo>
                <a:lnTo>
                  <a:pt x="2532221" y="416513"/>
                </a:lnTo>
                <a:lnTo>
                  <a:pt x="2532221" y="595017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882063" y="2429073"/>
            <a:ext cx="1732914" cy="504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spc="-5" dirty="0">
                <a:latin typeface="Arial" panose="020B0604020202020204"/>
                <a:cs typeface="Arial" panose="020B0604020202020204"/>
              </a:rPr>
              <a:t>if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=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n</a:t>
            </a:r>
            <a:r>
              <a:rPr sz="1700" b="1" dirty="0">
                <a:latin typeface="Arial" panose="020B0604020202020204"/>
                <a:cs typeface="Arial" panose="020B0604020202020204"/>
              </a:rPr>
              <a:t>pu</a:t>
            </a:r>
            <a:r>
              <a:rPr sz="1700" b="1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f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ile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1700" b="1" spc="-5" dirty="0">
                <a:latin typeface="Arial" panose="020B0604020202020204"/>
                <a:cs typeface="Arial" panose="020B0604020202020204"/>
              </a:rPr>
              <a:t>/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d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ev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/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P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S</a:t>
            </a:r>
            <a:r>
              <a:rPr sz="1700" b="1" dirty="0">
                <a:latin typeface="Arial" panose="020B0604020202020204"/>
                <a:cs typeface="Arial" panose="020B0604020202020204"/>
              </a:rPr>
              <a:t>0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是软驱</a:t>
            </a:r>
            <a:r>
              <a:rPr sz="1700" b="1" dirty="0">
                <a:latin typeface="Arial" panose="020B0604020202020204"/>
                <a:cs typeface="Arial" panose="020B0604020202020204"/>
              </a:rPr>
              <a:t>A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7081" y="5661396"/>
            <a:ext cx="4640580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明白为什么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h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dirty="0">
                <a:latin typeface="Arial" panose="020B0604020202020204"/>
                <a:cs typeface="Arial" panose="020B0604020202020204"/>
              </a:rPr>
              <a:t>.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s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就这样一个名字了吧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?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75592" y="5746280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4650" y="1137285"/>
            <a:ext cx="7160260" cy="453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h</a:t>
            </a:r>
            <a:r>
              <a:rPr dirty="0"/>
              <a:t>e</a:t>
            </a:r>
            <a:r>
              <a:rPr dirty="0"/>
              <a:t>a</a:t>
            </a:r>
            <a:r>
              <a:rPr spc="5" dirty="0"/>
              <a:t>d</a:t>
            </a:r>
            <a:r>
              <a:rPr spc="5" dirty="0"/>
              <a:t>.s</a:t>
            </a:r>
            <a:r>
              <a:rPr dirty="0"/>
              <a:t> </a:t>
            </a:r>
            <a:r>
              <a:rPr dirty="0"/>
              <a:t>/</a:t>
            </a:r>
            <a:r>
              <a:rPr spc="-5" dirty="0"/>
              <a:t>/</a:t>
            </a: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一段在保护模式下运行的代码</a:t>
            </a:r>
            <a:endParaRPr sz="2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02646" y="1854317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30810" y="2194984"/>
            <a:ext cx="7150734" cy="4169410"/>
          </a:xfrm>
          <a:custGeom>
            <a:avLst/>
            <a:gdLst/>
            <a:ahLst/>
            <a:cxnLst/>
            <a:rect l="l" t="t" r="r" b="b"/>
            <a:pathLst>
              <a:path w="7150734" h="4169410">
                <a:moveTo>
                  <a:pt x="0" y="0"/>
                </a:moveTo>
                <a:lnTo>
                  <a:pt x="7150520" y="0"/>
                </a:lnTo>
                <a:lnTo>
                  <a:pt x="7150520" y="4169303"/>
                </a:lnTo>
                <a:lnTo>
                  <a:pt x="0" y="4169303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77223" y="1770490"/>
            <a:ext cx="6906259" cy="748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545">
              <a:lnSpc>
                <a:spcPct val="100000"/>
              </a:lnSpc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se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up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是进入保护模式，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h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d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是进入之后的初始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化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  <a:tabLst>
                <a:tab pos="3776345" algn="l"/>
                <a:tab pos="5464810" algn="l"/>
              </a:tabLst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stratup_32: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movl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$0x10,%eax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mov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%ax,%ds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mov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%ax,%es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6868" y="2594813"/>
            <a:ext cx="145351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mov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%as,%fs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24536" y="2570046"/>
            <a:ext cx="4655820" cy="266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699895" algn="l"/>
              </a:tabLst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mov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%as,%gs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//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指向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gdt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0x10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项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(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数据段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)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6868" y="2878996"/>
            <a:ext cx="4829175" cy="266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998470" algn="l"/>
              </a:tabLst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lss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_stack_start,%esp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//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设置栈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(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系统栈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)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7223" y="3212672"/>
            <a:ext cx="934719" cy="180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134620" indent="259080" algn="r">
              <a:lnSpc>
                <a:spcPct val="120000"/>
              </a:lnSpc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call call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xorl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1:incl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271780" marR="5080">
              <a:lnSpc>
                <a:spcPts val="2500"/>
              </a:lnSpc>
              <a:spcBef>
                <a:spcPts val="90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movl je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1b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85971" y="3212672"/>
            <a:ext cx="1193800" cy="863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1000"/>
              </a:lnSpc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setup_idt setup_gdt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%eax,%eax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85968" y="4147985"/>
            <a:ext cx="5391150" cy="8680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%eax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%eax,0x000000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cmpl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%eax,0x100000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401955">
              <a:lnSpc>
                <a:spcPct val="100000"/>
              </a:lnSpc>
              <a:spcBef>
                <a:spcPts val="460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//0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地址处和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1M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地址处相同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(A20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没开启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)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，就死循环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7223" y="5062735"/>
            <a:ext cx="5175250" cy="1193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59080">
              <a:lnSpc>
                <a:spcPct val="118000"/>
              </a:lnSpc>
              <a:tabLst>
                <a:tab pos="3257550" algn="l"/>
              </a:tabLst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jmp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after_page_tables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//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页表，什么东东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? setup_idt: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lea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ignore_int,%edx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271780" marR="350520">
              <a:lnSpc>
                <a:spcPct val="119000"/>
              </a:lnSpc>
              <a:spcBef>
                <a:spcPts val="35"/>
              </a:spcBef>
              <a:tabLst>
                <a:tab pos="2219325" algn="l"/>
                <a:tab pos="3257550" algn="l"/>
              </a:tabLst>
            </a:pPr>
            <a:r>
              <a:rPr sz="1700" b="1" dirty="0">
                <a:solidFill>
                  <a:schemeClr val="tx1"/>
                </a:solidFill>
                <a:latin typeface="Courier New" panose="02070309020205020404"/>
                <a:cs typeface="Courier New" panose="02070309020205020404"/>
              </a:rPr>
              <a:t>movl $0x00080000,%eax	movw %dx,%ax lea _idt,%edi	movl %eax,(%edi)</a:t>
            </a:r>
            <a:endParaRPr sz="1700" b="1" dirty="0">
              <a:solidFill>
                <a:schemeClr val="tx1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673313" y="3187700"/>
            <a:ext cx="1818005" cy="974090"/>
          </a:xfrm>
          <a:custGeom>
            <a:avLst/>
            <a:gdLst/>
            <a:ahLst/>
            <a:cxnLst/>
            <a:rect l="l" t="t" r="r" b="b"/>
            <a:pathLst>
              <a:path w="1818004" h="974089">
                <a:moveTo>
                  <a:pt x="1818005" y="811386"/>
                </a:moveTo>
                <a:lnTo>
                  <a:pt x="1812252" y="854360"/>
                </a:lnTo>
                <a:lnTo>
                  <a:pt x="1796013" y="893000"/>
                </a:lnTo>
                <a:lnTo>
                  <a:pt x="1770817" y="925778"/>
                </a:lnTo>
                <a:lnTo>
                  <a:pt x="1738192" y="951167"/>
                </a:lnTo>
                <a:lnTo>
                  <a:pt x="1699667" y="967638"/>
                </a:lnTo>
                <a:lnTo>
                  <a:pt x="1656769" y="973663"/>
                </a:lnTo>
                <a:lnTo>
                  <a:pt x="757502" y="973666"/>
                </a:lnTo>
                <a:lnTo>
                  <a:pt x="303000" y="973666"/>
                </a:lnTo>
                <a:lnTo>
                  <a:pt x="162324" y="973666"/>
                </a:lnTo>
                <a:lnTo>
                  <a:pt x="147608" y="973008"/>
                </a:lnTo>
                <a:lnTo>
                  <a:pt x="105898" y="963593"/>
                </a:lnTo>
                <a:lnTo>
                  <a:pt x="69032" y="944204"/>
                </a:lnTo>
                <a:lnTo>
                  <a:pt x="38539" y="916370"/>
                </a:lnTo>
                <a:lnTo>
                  <a:pt x="15947" y="881617"/>
                </a:lnTo>
                <a:lnTo>
                  <a:pt x="2784" y="841476"/>
                </a:lnTo>
                <a:lnTo>
                  <a:pt x="0" y="405694"/>
                </a:lnTo>
                <a:lnTo>
                  <a:pt x="0" y="162278"/>
                </a:lnTo>
                <a:lnTo>
                  <a:pt x="658" y="147568"/>
                </a:lnTo>
                <a:lnTo>
                  <a:pt x="10075" y="105869"/>
                </a:lnTo>
                <a:lnTo>
                  <a:pt x="29469" y="69013"/>
                </a:lnTo>
                <a:lnTo>
                  <a:pt x="57312" y="38528"/>
                </a:lnTo>
                <a:lnTo>
                  <a:pt x="92074" y="15942"/>
                </a:lnTo>
                <a:lnTo>
                  <a:pt x="132226" y="2784"/>
                </a:lnTo>
                <a:lnTo>
                  <a:pt x="303000" y="0"/>
                </a:lnTo>
                <a:lnTo>
                  <a:pt x="500534" y="0"/>
                </a:lnTo>
                <a:lnTo>
                  <a:pt x="757502" y="0"/>
                </a:lnTo>
                <a:lnTo>
                  <a:pt x="1655680" y="0"/>
                </a:lnTo>
                <a:lnTo>
                  <a:pt x="1670396" y="657"/>
                </a:lnTo>
                <a:lnTo>
                  <a:pt x="1712106" y="10073"/>
                </a:lnTo>
                <a:lnTo>
                  <a:pt x="1748972" y="29461"/>
                </a:lnTo>
                <a:lnTo>
                  <a:pt x="1779465" y="57296"/>
                </a:lnTo>
                <a:lnTo>
                  <a:pt x="1802057" y="92049"/>
                </a:lnTo>
                <a:lnTo>
                  <a:pt x="1815220" y="132190"/>
                </a:lnTo>
                <a:lnTo>
                  <a:pt x="1818005" y="162278"/>
                </a:lnTo>
                <a:lnTo>
                  <a:pt x="1818005" y="405694"/>
                </a:lnTo>
                <a:lnTo>
                  <a:pt x="1818005" y="811386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812106" y="3301741"/>
            <a:ext cx="1539875" cy="758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" marR="5080" indent="-41910" algn="just">
              <a:lnSpc>
                <a:spcPct val="99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和前面的代码不 一样了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?</a:t>
            </a:r>
            <a:r>
              <a:rPr sz="16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因为是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32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位汇编代码</a:t>
            </a:r>
            <a:r>
              <a:rPr sz="1700" b="1" dirty="0">
                <a:latin typeface="Arial" panose="020B0604020202020204"/>
                <a:cs typeface="Arial" panose="020B0604020202020204"/>
              </a:rPr>
              <a:t>!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646746" y="3168768"/>
            <a:ext cx="4897120" cy="776605"/>
          </a:xfrm>
          <a:custGeom>
            <a:avLst/>
            <a:gdLst/>
            <a:ahLst/>
            <a:cxnLst/>
            <a:rect l="l" t="t" r="r" b="b"/>
            <a:pathLst>
              <a:path w="4897120" h="776604">
                <a:moveTo>
                  <a:pt x="0" y="0"/>
                </a:moveTo>
                <a:lnTo>
                  <a:pt x="4896709" y="0"/>
                </a:lnTo>
                <a:lnTo>
                  <a:pt x="4896709" y="776228"/>
                </a:lnTo>
                <a:lnTo>
                  <a:pt x="0" y="776228"/>
                </a:lnTo>
                <a:lnTo>
                  <a:pt x="0" y="0"/>
                </a:lnTo>
                <a:close/>
              </a:path>
            </a:pathLst>
          </a:custGeom>
          <a:ln w="24341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711855" y="3261579"/>
            <a:ext cx="4699000" cy="554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struct{long</a:t>
            </a:r>
            <a:r>
              <a:rPr sz="1700" b="1" spc="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*a;</a:t>
            </a:r>
            <a:r>
              <a:rPr sz="17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short</a:t>
            </a:r>
            <a:r>
              <a:rPr sz="1700" b="1" spc="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b;}stack_start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7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={&amp;user_stack[PAGE_SIZE&gt;&gt;2],0x10};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359491" y="1781292"/>
            <a:ext cx="2856865" cy="389890"/>
          </a:xfrm>
          <a:custGeom>
            <a:avLst/>
            <a:gdLst/>
            <a:ahLst/>
            <a:cxnLst/>
            <a:rect l="l" t="t" r="r" b="b"/>
            <a:pathLst>
              <a:path w="2856865" h="389889">
                <a:moveTo>
                  <a:pt x="2856865" y="324554"/>
                </a:moveTo>
                <a:lnTo>
                  <a:pt x="2843439" y="364087"/>
                </a:lnTo>
                <a:lnTo>
                  <a:pt x="2809529" y="387055"/>
                </a:lnTo>
                <a:lnTo>
                  <a:pt x="1190360" y="389466"/>
                </a:lnTo>
                <a:lnTo>
                  <a:pt x="476144" y="389466"/>
                </a:lnTo>
                <a:lnTo>
                  <a:pt x="64929" y="389466"/>
                </a:lnTo>
                <a:lnTo>
                  <a:pt x="50497" y="387857"/>
                </a:lnTo>
                <a:lnTo>
                  <a:pt x="15415" y="366547"/>
                </a:lnTo>
                <a:lnTo>
                  <a:pt x="87" y="327944"/>
                </a:lnTo>
                <a:lnTo>
                  <a:pt x="0" y="162277"/>
                </a:lnTo>
                <a:lnTo>
                  <a:pt x="0" y="156870"/>
                </a:lnTo>
                <a:lnTo>
                  <a:pt x="0" y="64912"/>
                </a:lnTo>
                <a:lnTo>
                  <a:pt x="1609" y="50483"/>
                </a:lnTo>
                <a:lnTo>
                  <a:pt x="6202" y="37188"/>
                </a:lnTo>
                <a:lnTo>
                  <a:pt x="34345" y="7637"/>
                </a:lnTo>
                <a:lnTo>
                  <a:pt x="476144" y="0"/>
                </a:lnTo>
                <a:lnTo>
                  <a:pt x="1190360" y="0"/>
                </a:lnTo>
                <a:lnTo>
                  <a:pt x="2791935" y="0"/>
                </a:lnTo>
                <a:lnTo>
                  <a:pt x="2806367" y="1609"/>
                </a:lnTo>
                <a:lnTo>
                  <a:pt x="2841449" y="22918"/>
                </a:lnTo>
                <a:lnTo>
                  <a:pt x="2856778" y="61522"/>
                </a:lnTo>
                <a:lnTo>
                  <a:pt x="2856865" y="64912"/>
                </a:lnTo>
                <a:lnTo>
                  <a:pt x="2856865" y="162277"/>
                </a:lnTo>
                <a:lnTo>
                  <a:pt x="2856865" y="324554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7551017" y="1862990"/>
            <a:ext cx="247269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d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_48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: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.w</a:t>
            </a:r>
            <a:r>
              <a:rPr sz="1700" b="1" dirty="0">
                <a:latin typeface="Arial" panose="020B0604020202020204"/>
                <a:cs typeface="Arial" panose="020B0604020202020204"/>
              </a:rPr>
              <a:t>o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r</a:t>
            </a:r>
            <a:r>
              <a:rPr sz="1700" b="1" dirty="0">
                <a:latin typeface="Arial" panose="020B0604020202020204"/>
                <a:cs typeface="Arial" panose="020B0604020202020204"/>
              </a:rPr>
              <a:t>d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0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w</a:t>
            </a:r>
            <a:r>
              <a:rPr sz="1700" b="1" dirty="0">
                <a:latin typeface="Arial" panose="020B0604020202020204"/>
                <a:cs typeface="Arial" panose="020B0604020202020204"/>
              </a:rPr>
              <a:t>o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r</a:t>
            </a:r>
            <a:r>
              <a:rPr sz="1700" b="1" dirty="0">
                <a:latin typeface="Arial" panose="020B0604020202020204"/>
                <a:cs typeface="Arial" panose="020B0604020202020204"/>
              </a:rPr>
              <a:t>d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0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,0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684134" y="2241079"/>
            <a:ext cx="1948180" cy="389890"/>
          </a:xfrm>
          <a:custGeom>
            <a:avLst/>
            <a:gdLst/>
            <a:ahLst/>
            <a:cxnLst/>
            <a:rect l="l" t="t" r="r" b="b"/>
            <a:pathLst>
              <a:path w="1948179" h="389889">
                <a:moveTo>
                  <a:pt x="1947862" y="324553"/>
                </a:moveTo>
                <a:lnTo>
                  <a:pt x="1934436" y="364085"/>
                </a:lnTo>
                <a:lnTo>
                  <a:pt x="1900528" y="387054"/>
                </a:lnTo>
                <a:lnTo>
                  <a:pt x="811609" y="389466"/>
                </a:lnTo>
                <a:lnTo>
                  <a:pt x="324643" y="389466"/>
                </a:lnTo>
                <a:lnTo>
                  <a:pt x="64930" y="389466"/>
                </a:lnTo>
                <a:lnTo>
                  <a:pt x="50498" y="387857"/>
                </a:lnTo>
                <a:lnTo>
                  <a:pt x="15416" y="366548"/>
                </a:lnTo>
                <a:lnTo>
                  <a:pt x="87" y="327944"/>
                </a:lnTo>
                <a:lnTo>
                  <a:pt x="0" y="162277"/>
                </a:lnTo>
                <a:lnTo>
                  <a:pt x="0" y="181227"/>
                </a:lnTo>
                <a:lnTo>
                  <a:pt x="0" y="64911"/>
                </a:lnTo>
                <a:lnTo>
                  <a:pt x="1609" y="50484"/>
                </a:lnTo>
                <a:lnTo>
                  <a:pt x="22924" y="15412"/>
                </a:lnTo>
                <a:lnTo>
                  <a:pt x="61538" y="87"/>
                </a:lnTo>
                <a:lnTo>
                  <a:pt x="324643" y="0"/>
                </a:lnTo>
                <a:lnTo>
                  <a:pt x="811609" y="0"/>
                </a:lnTo>
                <a:lnTo>
                  <a:pt x="1882931" y="0"/>
                </a:lnTo>
                <a:lnTo>
                  <a:pt x="1897363" y="1609"/>
                </a:lnTo>
                <a:lnTo>
                  <a:pt x="1932445" y="22918"/>
                </a:lnTo>
                <a:lnTo>
                  <a:pt x="1947775" y="61521"/>
                </a:lnTo>
                <a:lnTo>
                  <a:pt x="1947862" y="64911"/>
                </a:lnTo>
                <a:lnTo>
                  <a:pt x="1947862" y="162277"/>
                </a:lnTo>
                <a:lnTo>
                  <a:pt x="1947862" y="324553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7842529" y="2322653"/>
            <a:ext cx="163004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_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latin typeface="Arial" panose="020B0604020202020204"/>
                <a:cs typeface="Arial" panose="020B0604020202020204"/>
              </a:rPr>
              <a:t>d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: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.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f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il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l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256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,</a:t>
            </a:r>
            <a:r>
              <a:rPr sz="1700" b="1" dirty="0">
                <a:latin typeface="Arial" panose="020B0604020202020204"/>
                <a:cs typeface="Arial" panose="020B0604020202020204"/>
              </a:rPr>
              <a:t>8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,</a:t>
            </a:r>
            <a:r>
              <a:rPr sz="1700" b="1" dirty="0">
                <a:latin typeface="Arial" panose="020B0604020202020204"/>
                <a:cs typeface="Arial" panose="020B0604020202020204"/>
              </a:rPr>
              <a:t>0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694956" y="2714390"/>
            <a:ext cx="1623695" cy="389890"/>
          </a:xfrm>
          <a:custGeom>
            <a:avLst/>
            <a:gdLst/>
            <a:ahLst/>
            <a:cxnLst/>
            <a:rect l="l" t="t" r="r" b="b"/>
            <a:pathLst>
              <a:path w="1623695" h="389889">
                <a:moveTo>
                  <a:pt x="1623218" y="324553"/>
                </a:moveTo>
                <a:lnTo>
                  <a:pt x="1609792" y="364086"/>
                </a:lnTo>
                <a:lnTo>
                  <a:pt x="1575884" y="387054"/>
                </a:lnTo>
                <a:lnTo>
                  <a:pt x="676341" y="389466"/>
                </a:lnTo>
                <a:lnTo>
                  <a:pt x="270536" y="389466"/>
                </a:lnTo>
                <a:lnTo>
                  <a:pt x="64930" y="389466"/>
                </a:lnTo>
                <a:lnTo>
                  <a:pt x="50498" y="387857"/>
                </a:lnTo>
                <a:lnTo>
                  <a:pt x="15416" y="366548"/>
                </a:lnTo>
                <a:lnTo>
                  <a:pt x="87" y="327945"/>
                </a:lnTo>
                <a:lnTo>
                  <a:pt x="0" y="162277"/>
                </a:lnTo>
                <a:lnTo>
                  <a:pt x="0" y="154181"/>
                </a:lnTo>
                <a:lnTo>
                  <a:pt x="0" y="64911"/>
                </a:lnTo>
                <a:lnTo>
                  <a:pt x="1609" y="50484"/>
                </a:lnTo>
                <a:lnTo>
                  <a:pt x="6202" y="37189"/>
                </a:lnTo>
                <a:lnTo>
                  <a:pt x="34345" y="7638"/>
                </a:lnTo>
                <a:lnTo>
                  <a:pt x="270536" y="0"/>
                </a:lnTo>
                <a:lnTo>
                  <a:pt x="676341" y="0"/>
                </a:lnTo>
                <a:lnTo>
                  <a:pt x="1558288" y="0"/>
                </a:lnTo>
                <a:lnTo>
                  <a:pt x="1572720" y="1609"/>
                </a:lnTo>
                <a:lnTo>
                  <a:pt x="1607802" y="22918"/>
                </a:lnTo>
                <a:lnTo>
                  <a:pt x="1623131" y="61521"/>
                </a:lnTo>
                <a:lnTo>
                  <a:pt x="1623218" y="64911"/>
                </a:lnTo>
                <a:lnTo>
                  <a:pt x="1623218" y="162277"/>
                </a:lnTo>
                <a:lnTo>
                  <a:pt x="1623218" y="324553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7844561" y="2787342"/>
            <a:ext cx="1323340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现在忽略中断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关于汇编</a:t>
            </a:r>
            <a:r>
              <a:rPr sz="3050" spc="10" dirty="0"/>
              <a:t>…h</a:t>
            </a:r>
            <a:r>
              <a:rPr sz="3050" dirty="0"/>
              <a:t>ea</a:t>
            </a:r>
            <a:r>
              <a:rPr sz="3050" spc="5" dirty="0"/>
              <a:t>d</a:t>
            </a:r>
            <a:r>
              <a:rPr sz="3050" dirty="0"/>
              <a:t>.</a:t>
            </a:r>
            <a:r>
              <a:rPr sz="3050" dirty="0"/>
              <a:t>s</a:t>
            </a: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的汇编和前面不一样</a:t>
            </a:r>
            <a:r>
              <a:rPr sz="3050" spc="5" dirty="0"/>
              <a:t>?</a:t>
            </a:r>
            <a:endParaRPr sz="30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2833" y="2280297"/>
            <a:ext cx="4613910" cy="453390"/>
          </a:xfrm>
          <a:prstGeom prst="rect">
            <a:avLst/>
          </a:prstGeom>
          <a:ln w="16227">
            <a:solidFill>
              <a:srgbClr val="33339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1765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mov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ax,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cs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//cs</a:t>
            </a:r>
            <a:r>
              <a:rPr sz="1650" spc="750" dirty="0">
                <a:latin typeface="Arial" panose="020B0604020202020204"/>
                <a:cs typeface="Arial" panose="020B0604020202020204"/>
              </a:rPr>
              <a:t>à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ax,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目标操作数在前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6938" y="1832681"/>
            <a:ext cx="6188075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1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)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as8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6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汇编：能产生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16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位代码的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8086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(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386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)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汇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编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05450" y="1916524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36938" y="2806083"/>
            <a:ext cx="6382385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2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)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G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N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U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as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汇编：产生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32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位代码，使用</a:t>
            </a:r>
            <a:r>
              <a:rPr sz="2000" b="1" spc="-1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&amp;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T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系统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V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语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法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05450" y="2890191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424419" y="2139656"/>
            <a:ext cx="2662555" cy="1168400"/>
          </a:xfrm>
          <a:custGeom>
            <a:avLst/>
            <a:gdLst/>
            <a:ahLst/>
            <a:cxnLst/>
            <a:rect l="l" t="t" r="r" b="b"/>
            <a:pathLst>
              <a:path w="2662554" h="1168400">
                <a:moveTo>
                  <a:pt x="2662078" y="973661"/>
                </a:moveTo>
                <a:lnTo>
                  <a:pt x="2656417" y="1020459"/>
                </a:lnTo>
                <a:lnTo>
                  <a:pt x="2640336" y="1063154"/>
                </a:lnTo>
                <a:lnTo>
                  <a:pt x="2615189" y="1100395"/>
                </a:lnTo>
                <a:lnTo>
                  <a:pt x="2582328" y="1130826"/>
                </a:lnTo>
                <a:lnTo>
                  <a:pt x="2543109" y="1153096"/>
                </a:lnTo>
                <a:lnTo>
                  <a:pt x="2498883" y="1165851"/>
                </a:lnTo>
                <a:lnTo>
                  <a:pt x="2467287" y="1168400"/>
                </a:lnTo>
                <a:lnTo>
                  <a:pt x="1109199" y="1168400"/>
                </a:lnTo>
                <a:lnTo>
                  <a:pt x="443679" y="1168400"/>
                </a:lnTo>
                <a:lnTo>
                  <a:pt x="194791" y="1168400"/>
                </a:lnTo>
                <a:lnTo>
                  <a:pt x="178815" y="1167754"/>
                </a:lnTo>
                <a:lnTo>
                  <a:pt x="133222" y="1158472"/>
                </a:lnTo>
                <a:lnTo>
                  <a:pt x="92183" y="1139223"/>
                </a:lnTo>
                <a:lnTo>
                  <a:pt x="57052" y="1111362"/>
                </a:lnTo>
                <a:lnTo>
                  <a:pt x="29184" y="1076241"/>
                </a:lnTo>
                <a:lnTo>
                  <a:pt x="9930" y="1035213"/>
                </a:lnTo>
                <a:lnTo>
                  <a:pt x="645" y="989632"/>
                </a:lnTo>
                <a:lnTo>
                  <a:pt x="0" y="973661"/>
                </a:lnTo>
                <a:lnTo>
                  <a:pt x="0" y="486833"/>
                </a:lnTo>
                <a:lnTo>
                  <a:pt x="0" y="363768"/>
                </a:lnTo>
                <a:lnTo>
                  <a:pt x="0" y="194732"/>
                </a:lnTo>
                <a:lnTo>
                  <a:pt x="645" y="178766"/>
                </a:lnTo>
                <a:lnTo>
                  <a:pt x="9930" y="133186"/>
                </a:lnTo>
                <a:lnTo>
                  <a:pt x="29184" y="92158"/>
                </a:lnTo>
                <a:lnTo>
                  <a:pt x="57052" y="57037"/>
                </a:lnTo>
                <a:lnTo>
                  <a:pt x="92183" y="29176"/>
                </a:lnTo>
                <a:lnTo>
                  <a:pt x="133222" y="9927"/>
                </a:lnTo>
                <a:lnTo>
                  <a:pt x="178815" y="645"/>
                </a:lnTo>
                <a:lnTo>
                  <a:pt x="194791" y="0"/>
                </a:lnTo>
                <a:lnTo>
                  <a:pt x="443679" y="0"/>
                </a:lnTo>
                <a:lnTo>
                  <a:pt x="1109199" y="0"/>
                </a:lnTo>
                <a:lnTo>
                  <a:pt x="2467287" y="0"/>
                </a:lnTo>
                <a:lnTo>
                  <a:pt x="2483263" y="645"/>
                </a:lnTo>
                <a:lnTo>
                  <a:pt x="2528856" y="9927"/>
                </a:lnTo>
                <a:lnTo>
                  <a:pt x="2569895" y="29176"/>
                </a:lnTo>
                <a:lnTo>
                  <a:pt x="2605025" y="57037"/>
                </a:lnTo>
                <a:lnTo>
                  <a:pt x="2632894" y="92158"/>
                </a:lnTo>
                <a:lnTo>
                  <a:pt x="2652148" y="133186"/>
                </a:lnTo>
                <a:lnTo>
                  <a:pt x="2661433" y="178766"/>
                </a:lnTo>
                <a:lnTo>
                  <a:pt x="2662078" y="194738"/>
                </a:lnTo>
                <a:lnTo>
                  <a:pt x="2662078" y="486833"/>
                </a:lnTo>
                <a:lnTo>
                  <a:pt x="2662078" y="973661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487362" y="2250778"/>
            <a:ext cx="2535555" cy="1028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 marR="5080" algn="ctr">
              <a:lnSpc>
                <a:spcPct val="102000"/>
              </a:lnSpc>
            </a:pPr>
            <a:r>
              <a:rPr sz="1700" b="1" spc="-120" dirty="0">
                <a:latin typeface="Arial" panose="020B0604020202020204"/>
                <a:cs typeface="Arial" panose="020B0604020202020204"/>
              </a:rPr>
              <a:t>A</a:t>
            </a:r>
            <a:r>
              <a:rPr sz="1700" b="1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&amp;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T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美国电话电报公司， 包含贝尔实验室等，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1983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年</a:t>
            </a:r>
            <a:r>
              <a:rPr sz="1700" b="1" spc="-120" dirty="0">
                <a:latin typeface="Arial" panose="020B0604020202020204"/>
                <a:cs typeface="Arial" panose="020B0604020202020204"/>
              </a:rPr>
              <a:t>A</a:t>
            </a:r>
            <a:r>
              <a:rPr sz="1700" b="1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&amp;</a:t>
            </a:r>
            <a:r>
              <a:rPr sz="1700" b="1" dirty="0">
                <a:latin typeface="Arial" panose="020B0604020202020204"/>
                <a:cs typeface="Arial" panose="020B0604020202020204"/>
              </a:rPr>
              <a:t>T 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UN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X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支持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R="111760" algn="ctr">
              <a:lnSpc>
                <a:spcPts val="2035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组发布了系统</a:t>
            </a:r>
            <a:r>
              <a:rPr sz="1700" b="1" dirty="0">
                <a:latin typeface="Arial" panose="020B0604020202020204"/>
                <a:cs typeface="Arial" panose="020B0604020202020204"/>
              </a:rPr>
              <a:t>V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9803" y="3189052"/>
            <a:ext cx="4342130" cy="713105"/>
          </a:xfrm>
          <a:prstGeom prst="rect">
            <a:avLst/>
          </a:prstGeom>
          <a:ln w="16227">
            <a:solidFill>
              <a:srgbClr val="33339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1135" marR="318770">
              <a:lnSpc>
                <a:spcPct val="121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movl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var,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%eax//(var)</a:t>
            </a:r>
            <a:r>
              <a:rPr sz="1650" spc="750" dirty="0">
                <a:latin typeface="Arial" panose="020B0604020202020204"/>
                <a:cs typeface="Arial" panose="020B0604020202020204"/>
              </a:rPr>
              <a:t>à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%eax movb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-4(%ebp),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%al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//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取出一字节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6938" y="3987090"/>
            <a:ext cx="4338320" cy="67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0840" marR="5080" indent="-358775">
              <a:lnSpc>
                <a:spcPct val="124000"/>
              </a:lnSpc>
            </a:pPr>
            <a:r>
              <a:rPr sz="2000" b="1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3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)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内嵌汇编，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g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c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编译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x</a:t>
            </a:r>
            <a:r>
              <a:rPr sz="2000" b="1" dirty="0">
                <a:latin typeface="Arial" panose="020B0604020202020204"/>
                <a:cs typeface="Arial" panose="020B0604020202020204"/>
              </a:rPr>
              <a:t>.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c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会产生中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间</a:t>
            </a:r>
            <a:r>
              <a:rPr sz="2925" b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结果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as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汇编文件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x</a:t>
            </a:r>
            <a:r>
              <a:rPr sz="2000" b="1" dirty="0">
                <a:latin typeface="Arial" panose="020B0604020202020204"/>
                <a:cs typeface="Arial" panose="020B0604020202020204"/>
              </a:rPr>
              <a:t>.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s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05450" y="4053180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85159" y="4790193"/>
            <a:ext cx="2199640" cy="1362075"/>
          </a:xfrm>
          <a:custGeom>
            <a:avLst/>
            <a:gdLst/>
            <a:ahLst/>
            <a:cxnLst/>
            <a:rect l="l" t="t" r="r" b="b"/>
            <a:pathLst>
              <a:path w="2199640" h="1362075">
                <a:moveTo>
                  <a:pt x="0" y="0"/>
                </a:moveTo>
                <a:lnTo>
                  <a:pt x="2199461" y="0"/>
                </a:lnTo>
                <a:lnTo>
                  <a:pt x="2199461" y="1361781"/>
                </a:lnTo>
                <a:lnTo>
                  <a:pt x="0" y="1361781"/>
                </a:lnTo>
                <a:lnTo>
                  <a:pt x="0" y="0"/>
                </a:lnTo>
                <a:close/>
              </a:path>
            </a:pathLst>
          </a:custGeom>
          <a:ln w="16229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42152" y="4820104"/>
            <a:ext cx="2200910" cy="1231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52095" algn="l"/>
                <a:tab pos="926465" algn="l"/>
              </a:tabLst>
            </a:pPr>
            <a:r>
              <a:rPr sz="1700" b="1" u="heavy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	</a:t>
            </a:r>
            <a:r>
              <a:rPr sz="1700" b="1" dirty="0">
                <a:latin typeface="Arial" panose="020B0604020202020204"/>
                <a:cs typeface="Arial" panose="020B0604020202020204"/>
              </a:rPr>
              <a:t>asm</a:t>
            </a:r>
            <a:r>
              <a:rPr sz="1700" b="1" u="heavy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	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“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汇编语句”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700" b="1" dirty="0">
                <a:latin typeface="Arial" panose="020B0604020202020204"/>
                <a:cs typeface="Arial" panose="020B0604020202020204"/>
              </a:rPr>
              <a:t>: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输出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700" b="1" dirty="0">
                <a:latin typeface="Arial" panose="020B0604020202020204"/>
                <a:cs typeface="Arial" panose="020B0604020202020204"/>
              </a:rPr>
              <a:t>: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输入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700" b="1" dirty="0">
                <a:latin typeface="Arial" panose="020B0604020202020204"/>
                <a:cs typeface="Arial" panose="020B0604020202020204"/>
              </a:rPr>
              <a:t>: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破坏部分描述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);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952452" y="4714463"/>
            <a:ext cx="2329815" cy="1557020"/>
          </a:xfrm>
          <a:custGeom>
            <a:avLst/>
            <a:gdLst/>
            <a:ahLst/>
            <a:cxnLst/>
            <a:rect l="l" t="t" r="r" b="b"/>
            <a:pathLst>
              <a:path w="2329815" h="1557020">
                <a:moveTo>
                  <a:pt x="0" y="0"/>
                </a:moveTo>
                <a:lnTo>
                  <a:pt x="2329318" y="0"/>
                </a:lnTo>
                <a:lnTo>
                  <a:pt x="2329318" y="1556514"/>
                </a:lnTo>
                <a:lnTo>
                  <a:pt x="0" y="1556514"/>
                </a:lnTo>
                <a:lnTo>
                  <a:pt x="0" y="0"/>
                </a:lnTo>
                <a:close/>
              </a:path>
            </a:pathLst>
          </a:custGeom>
          <a:ln w="16229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009445" y="4752887"/>
            <a:ext cx="2258695" cy="1489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52095" algn="l"/>
                <a:tab pos="926465" algn="l"/>
              </a:tabLst>
            </a:pPr>
            <a:r>
              <a:rPr sz="1700" b="1" u="heavy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	</a:t>
            </a:r>
            <a:r>
              <a:rPr sz="1700" b="1" dirty="0">
                <a:latin typeface="Arial" panose="020B0604020202020204"/>
                <a:cs typeface="Arial" panose="020B0604020202020204"/>
              </a:rPr>
              <a:t>asm</a:t>
            </a:r>
            <a:r>
              <a:rPr sz="1700" b="1" u="heavy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	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“m</a:t>
            </a:r>
            <a:r>
              <a:rPr sz="1700" b="1" dirty="0">
                <a:latin typeface="Arial" panose="020B0604020202020204"/>
                <a:cs typeface="Arial" panose="020B0604020202020204"/>
              </a:rPr>
              <a:t>o</a:t>
            </a:r>
            <a:r>
              <a:rPr sz="1700" b="1" dirty="0">
                <a:latin typeface="Arial" panose="020B0604020202020204"/>
                <a:cs typeface="Arial" panose="020B0604020202020204"/>
              </a:rPr>
              <a:t>vb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700" b="1" dirty="0">
                <a:latin typeface="Arial" panose="020B0604020202020204"/>
                <a:cs typeface="Arial" panose="020B0604020202020204"/>
              </a:rPr>
              <a:t>%%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f</a:t>
            </a:r>
            <a:r>
              <a:rPr sz="1700" b="1" dirty="0">
                <a:latin typeface="Arial" panose="020B0604020202020204"/>
                <a:cs typeface="Arial" panose="020B0604020202020204"/>
              </a:rPr>
              <a:t>s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:</a:t>
            </a:r>
            <a:r>
              <a:rPr sz="1700" b="1" dirty="0">
                <a:latin typeface="Arial" panose="020B0604020202020204"/>
                <a:cs typeface="Arial" panose="020B0604020202020204"/>
              </a:rPr>
              <a:t>%2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,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%%a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l</a:t>
            </a:r>
            <a:r>
              <a:rPr sz="1700" b="1" dirty="0">
                <a:latin typeface="Arial" panose="020B0604020202020204"/>
                <a:cs typeface="Arial" panose="020B0604020202020204"/>
              </a:rPr>
              <a:t>”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700" b="1" spc="-5" dirty="0">
                <a:latin typeface="Arial" panose="020B0604020202020204"/>
                <a:cs typeface="Arial" panose="020B0604020202020204"/>
              </a:rPr>
              <a:t>:</a:t>
            </a:r>
            <a:r>
              <a:rPr sz="1700" b="1" dirty="0">
                <a:latin typeface="Arial" panose="020B0604020202020204"/>
                <a:cs typeface="Arial" panose="020B0604020202020204"/>
              </a:rPr>
              <a:t>”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=</a:t>
            </a:r>
            <a:r>
              <a:rPr sz="1700" b="1" dirty="0">
                <a:latin typeface="Arial" panose="020B0604020202020204"/>
                <a:cs typeface="Arial" panose="020B0604020202020204"/>
              </a:rPr>
              <a:t>a</a:t>
            </a:r>
            <a:r>
              <a:rPr sz="1700" b="1" dirty="0">
                <a:latin typeface="Arial" panose="020B0604020202020204"/>
                <a:cs typeface="Arial" panose="020B0604020202020204"/>
              </a:rPr>
              <a:t>”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_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r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es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700" b="1" spc="-5" dirty="0">
                <a:latin typeface="Arial" panose="020B0604020202020204"/>
                <a:cs typeface="Arial" panose="020B0604020202020204"/>
              </a:rPr>
              <a:t>:</a:t>
            </a:r>
            <a:r>
              <a:rPr sz="1700" b="1" dirty="0">
                <a:latin typeface="Arial" panose="020B0604020202020204"/>
                <a:cs typeface="Arial" panose="020B0604020202020204"/>
              </a:rPr>
              <a:t>”</a:t>
            </a:r>
            <a:r>
              <a:rPr sz="1700" b="1" dirty="0">
                <a:latin typeface="Arial" panose="020B0604020202020204"/>
                <a:cs typeface="Arial" panose="020B0604020202020204"/>
              </a:rPr>
              <a:t>0</a:t>
            </a:r>
            <a:r>
              <a:rPr sz="1700" b="1" dirty="0">
                <a:latin typeface="Arial" panose="020B0604020202020204"/>
                <a:cs typeface="Arial" panose="020B0604020202020204"/>
              </a:rPr>
              <a:t>”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se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g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),</a:t>
            </a:r>
            <a:r>
              <a:rPr sz="1700" b="1" dirty="0">
                <a:latin typeface="Arial" panose="020B0604020202020204"/>
                <a:cs typeface="Arial" panose="020B0604020202020204"/>
              </a:rPr>
              <a:t>”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m</a:t>
            </a:r>
            <a:r>
              <a:rPr sz="1700" b="1" dirty="0">
                <a:latin typeface="Arial" panose="020B0604020202020204"/>
                <a:cs typeface="Arial" panose="020B0604020202020204"/>
              </a:rPr>
              <a:t>”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(*(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a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dd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r))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700" b="1" spc="-5" dirty="0">
                <a:latin typeface="Arial" panose="020B0604020202020204"/>
                <a:cs typeface="Arial" panose="020B0604020202020204"/>
              </a:rPr>
              <a:t>);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375106" y="4227630"/>
            <a:ext cx="1883410" cy="606425"/>
          </a:xfrm>
          <a:custGeom>
            <a:avLst/>
            <a:gdLst/>
            <a:ahLst/>
            <a:cxnLst/>
            <a:rect l="l" t="t" r="r" b="b"/>
            <a:pathLst>
              <a:path w="1883409" h="606425">
                <a:moveTo>
                  <a:pt x="0" y="0"/>
                </a:moveTo>
                <a:lnTo>
                  <a:pt x="1882933" y="0"/>
                </a:lnTo>
                <a:lnTo>
                  <a:pt x="1882933" y="605837"/>
                </a:lnTo>
                <a:lnTo>
                  <a:pt x="0" y="605837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5440321" y="4281164"/>
            <a:ext cx="1588770" cy="512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000"/>
              </a:lnSpc>
            </a:pP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表示使用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eax</a:t>
            </a:r>
            <a:r>
              <a:rPr sz="1650" b="1" spc="3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 并编号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%0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456883" y="3529835"/>
            <a:ext cx="1883410" cy="606425"/>
          </a:xfrm>
          <a:prstGeom prst="rect">
            <a:avLst/>
          </a:prstGeom>
          <a:ln w="8114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%2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表示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ad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73660">
              <a:lnSpc>
                <a:spcPct val="100000"/>
              </a:lnSpc>
              <a:spcBef>
                <a:spcPts val="50"/>
              </a:spcBef>
            </a:pP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表示使用内存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60226" y="3278305"/>
            <a:ext cx="1883410" cy="865505"/>
          </a:xfrm>
          <a:prstGeom prst="rect">
            <a:avLst/>
          </a:prstGeom>
          <a:ln w="8114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 marR="158750">
              <a:lnSpc>
                <a:spcPct val="103000"/>
              </a:lnSpc>
            </a:pP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或空表示使用与 相应输出一样的 寄存器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020396" y="4428518"/>
            <a:ext cx="408940" cy="403860"/>
          </a:xfrm>
          <a:custGeom>
            <a:avLst/>
            <a:gdLst/>
            <a:ahLst/>
            <a:cxnLst/>
            <a:rect l="l" t="t" r="r" b="b"/>
            <a:pathLst>
              <a:path w="408939" h="403860">
                <a:moveTo>
                  <a:pt x="734" y="273991"/>
                </a:moveTo>
                <a:lnTo>
                  <a:pt x="0" y="401610"/>
                </a:lnTo>
                <a:lnTo>
                  <a:pt x="127645" y="403372"/>
                </a:lnTo>
                <a:lnTo>
                  <a:pt x="95916" y="371027"/>
                </a:lnTo>
                <a:lnTo>
                  <a:pt x="161903" y="306336"/>
                </a:lnTo>
                <a:lnTo>
                  <a:pt x="32462" y="306336"/>
                </a:lnTo>
                <a:lnTo>
                  <a:pt x="734" y="273991"/>
                </a:lnTo>
                <a:close/>
              </a:path>
              <a:path w="408939" h="403860">
                <a:moveTo>
                  <a:pt x="344933" y="0"/>
                </a:moveTo>
                <a:lnTo>
                  <a:pt x="32462" y="306336"/>
                </a:lnTo>
                <a:lnTo>
                  <a:pt x="161903" y="306336"/>
                </a:lnTo>
                <a:lnTo>
                  <a:pt x="408388" y="64689"/>
                </a:lnTo>
                <a:lnTo>
                  <a:pt x="344933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020395" y="4428518"/>
            <a:ext cx="408940" cy="403860"/>
          </a:xfrm>
          <a:custGeom>
            <a:avLst/>
            <a:gdLst/>
            <a:ahLst/>
            <a:cxnLst/>
            <a:rect l="l" t="t" r="r" b="b"/>
            <a:pathLst>
              <a:path w="408939" h="403860">
                <a:moveTo>
                  <a:pt x="733" y="273991"/>
                </a:moveTo>
                <a:lnTo>
                  <a:pt x="32461" y="306337"/>
                </a:lnTo>
                <a:lnTo>
                  <a:pt x="344933" y="0"/>
                </a:lnTo>
                <a:lnTo>
                  <a:pt x="408388" y="64690"/>
                </a:lnTo>
                <a:lnTo>
                  <a:pt x="95917" y="371027"/>
                </a:lnTo>
                <a:lnTo>
                  <a:pt x="127644" y="403373"/>
                </a:lnTo>
                <a:lnTo>
                  <a:pt x="0" y="401611"/>
                </a:lnTo>
                <a:lnTo>
                  <a:pt x="733" y="273991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165">
              <a:lnSpc>
                <a:spcPct val="100000"/>
              </a:lnSpc>
            </a:pPr>
            <a:r>
              <a:rPr dirty="0"/>
              <a:t>a</a:t>
            </a:r>
            <a:r>
              <a:rPr spc="5" dirty="0"/>
              <a:t>f</a:t>
            </a:r>
            <a:r>
              <a:rPr spc="5" dirty="0"/>
              <a:t>t</a:t>
            </a:r>
            <a:r>
              <a:rPr dirty="0"/>
              <a:t>er</a:t>
            </a:r>
            <a:r>
              <a:rPr dirty="0"/>
              <a:t>_</a:t>
            </a:r>
            <a:r>
              <a:rPr spc="10" dirty="0"/>
              <a:t>p</a:t>
            </a:r>
            <a:r>
              <a:rPr dirty="0"/>
              <a:t>a</a:t>
            </a:r>
            <a:r>
              <a:rPr spc="10" dirty="0"/>
              <a:t>g</a:t>
            </a:r>
            <a:r>
              <a:rPr dirty="0"/>
              <a:t>e_</a:t>
            </a:r>
            <a:r>
              <a:rPr spc="5" dirty="0"/>
              <a:t>t</a:t>
            </a:r>
            <a:r>
              <a:rPr dirty="0"/>
              <a:t>a</a:t>
            </a:r>
            <a:r>
              <a:rPr spc="10" dirty="0"/>
              <a:t>b</a:t>
            </a:r>
            <a:r>
              <a:rPr dirty="0"/>
              <a:t>le</a:t>
            </a:r>
            <a:r>
              <a:rPr spc="5" dirty="0"/>
              <a:t>s</a:t>
            </a:r>
            <a:r>
              <a:rPr spc="-5" dirty="0"/>
              <a:t> </a:t>
            </a:r>
            <a:r>
              <a:rPr spc="-5" dirty="0"/>
              <a:t>//</a:t>
            </a: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设置了页表之后</a:t>
            </a:r>
            <a:endParaRPr sz="2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4956" y="1835385"/>
            <a:ext cx="5736590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se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up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是进入保护模式，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h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d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是进入之后的初始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化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3468" y="1919229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64176" y="2232861"/>
            <a:ext cx="6598284" cy="1650364"/>
          </a:xfrm>
          <a:custGeom>
            <a:avLst/>
            <a:gdLst/>
            <a:ahLst/>
            <a:cxnLst/>
            <a:rect l="l" t="t" r="r" b="b"/>
            <a:pathLst>
              <a:path w="6598284" h="1650364">
                <a:moveTo>
                  <a:pt x="0" y="0"/>
                </a:moveTo>
                <a:lnTo>
                  <a:pt x="6597724" y="0"/>
                </a:lnTo>
                <a:lnTo>
                  <a:pt x="6597724" y="1649928"/>
                </a:lnTo>
                <a:lnTo>
                  <a:pt x="0" y="1649928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54852" y="2336027"/>
            <a:ext cx="2726690" cy="529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9080" indent="-259715">
              <a:lnSpc>
                <a:spcPct val="121000"/>
              </a:lnSpc>
              <a:tabLst>
                <a:tab pos="1687195" algn="l"/>
              </a:tabLst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after_page_tables: pushl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$0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pushl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$0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00372" y="2649208"/>
            <a:ext cx="1168400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tabLst>
                <a:tab pos="908685" algn="l"/>
              </a:tabLst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pushl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$0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88040" y="2649208"/>
            <a:ext cx="1298575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tabLst>
                <a:tab pos="908685" algn="l"/>
              </a:tabLst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pushl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$L6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4852" y="2958158"/>
            <a:ext cx="1817370" cy="529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indent="259080">
              <a:lnSpc>
                <a:spcPct val="121000"/>
              </a:lnSpc>
              <a:tabLst>
                <a:tab pos="648970" algn="l"/>
              </a:tabLst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pushl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$_main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L6: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jmp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L6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183766" y="3201223"/>
            <a:ext cx="2266315" cy="389890"/>
          </a:xfrm>
          <a:custGeom>
            <a:avLst/>
            <a:gdLst/>
            <a:ahLst/>
            <a:cxnLst/>
            <a:rect l="l" t="t" r="r" b="b"/>
            <a:pathLst>
              <a:path w="2266315" h="389889">
                <a:moveTo>
                  <a:pt x="2200807" y="0"/>
                </a:moveTo>
                <a:lnTo>
                  <a:pt x="704056" y="87"/>
                </a:lnTo>
                <a:lnTo>
                  <a:pt x="665442" y="15412"/>
                </a:lnTo>
                <a:lnTo>
                  <a:pt x="644128" y="50485"/>
                </a:lnTo>
                <a:lnTo>
                  <a:pt x="642518" y="64913"/>
                </a:lnTo>
                <a:lnTo>
                  <a:pt x="642518" y="227189"/>
                </a:lnTo>
                <a:lnTo>
                  <a:pt x="0" y="250197"/>
                </a:lnTo>
                <a:lnTo>
                  <a:pt x="642496" y="324553"/>
                </a:lnTo>
                <a:lnTo>
                  <a:pt x="642605" y="327946"/>
                </a:lnTo>
                <a:lnTo>
                  <a:pt x="644931" y="342145"/>
                </a:lnTo>
                <a:lnTo>
                  <a:pt x="667906" y="376045"/>
                </a:lnTo>
                <a:lnTo>
                  <a:pt x="707449" y="389467"/>
                </a:lnTo>
                <a:lnTo>
                  <a:pt x="2204199" y="389380"/>
                </a:lnTo>
                <a:lnTo>
                  <a:pt x="2242812" y="374054"/>
                </a:lnTo>
                <a:lnTo>
                  <a:pt x="2264127" y="338982"/>
                </a:lnTo>
                <a:lnTo>
                  <a:pt x="2265736" y="324556"/>
                </a:lnTo>
                <a:lnTo>
                  <a:pt x="2265650" y="61522"/>
                </a:lnTo>
                <a:lnTo>
                  <a:pt x="2250320" y="22918"/>
                </a:lnTo>
                <a:lnTo>
                  <a:pt x="2215239" y="1609"/>
                </a:lnTo>
                <a:lnTo>
                  <a:pt x="22008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183766" y="3201223"/>
            <a:ext cx="2266315" cy="389890"/>
          </a:xfrm>
          <a:custGeom>
            <a:avLst/>
            <a:gdLst/>
            <a:ahLst/>
            <a:cxnLst/>
            <a:rect l="l" t="t" r="r" b="b"/>
            <a:pathLst>
              <a:path w="2266315" h="389889">
                <a:moveTo>
                  <a:pt x="2265737" y="324553"/>
                </a:moveTo>
                <a:lnTo>
                  <a:pt x="2252311" y="364086"/>
                </a:lnTo>
                <a:lnTo>
                  <a:pt x="2218402" y="387054"/>
                </a:lnTo>
                <a:lnTo>
                  <a:pt x="1318859" y="389466"/>
                </a:lnTo>
                <a:lnTo>
                  <a:pt x="913055" y="389466"/>
                </a:lnTo>
                <a:lnTo>
                  <a:pt x="707449" y="389466"/>
                </a:lnTo>
                <a:lnTo>
                  <a:pt x="693016" y="387857"/>
                </a:lnTo>
                <a:lnTo>
                  <a:pt x="657934" y="366548"/>
                </a:lnTo>
                <a:lnTo>
                  <a:pt x="642605" y="327945"/>
                </a:lnTo>
                <a:lnTo>
                  <a:pt x="642518" y="324555"/>
                </a:lnTo>
                <a:lnTo>
                  <a:pt x="0" y="250197"/>
                </a:lnTo>
                <a:lnTo>
                  <a:pt x="642518" y="227188"/>
                </a:lnTo>
                <a:lnTo>
                  <a:pt x="642518" y="64912"/>
                </a:lnTo>
                <a:lnTo>
                  <a:pt x="644128" y="50484"/>
                </a:lnTo>
                <a:lnTo>
                  <a:pt x="665443" y="15412"/>
                </a:lnTo>
                <a:lnTo>
                  <a:pt x="704056" y="87"/>
                </a:lnTo>
                <a:lnTo>
                  <a:pt x="913055" y="0"/>
                </a:lnTo>
                <a:lnTo>
                  <a:pt x="1318859" y="0"/>
                </a:lnTo>
                <a:lnTo>
                  <a:pt x="2200806" y="0"/>
                </a:lnTo>
                <a:lnTo>
                  <a:pt x="2215239" y="1609"/>
                </a:lnTo>
                <a:lnTo>
                  <a:pt x="2250320" y="22918"/>
                </a:lnTo>
                <a:lnTo>
                  <a:pt x="2265650" y="61521"/>
                </a:lnTo>
                <a:lnTo>
                  <a:pt x="2265737" y="227188"/>
                </a:lnTo>
                <a:lnTo>
                  <a:pt x="2265737" y="324555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631986" y="2958158"/>
            <a:ext cx="2474595" cy="553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jmp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set_paging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1536700">
              <a:lnSpc>
                <a:spcPts val="2020"/>
              </a:lnSpc>
              <a:spcBef>
                <a:spcPts val="740"/>
              </a:spcBef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将来学到</a:t>
            </a:r>
            <a:r>
              <a:rPr sz="1700" b="1" dirty="0">
                <a:latin typeface="Arial" panose="020B0604020202020204"/>
                <a:cs typeface="Arial" panose="020B0604020202020204"/>
              </a:rPr>
              <a:t>!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4852" y="3563957"/>
            <a:ext cx="4008754" cy="700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tabLst>
                <a:tab pos="2941955" algn="l"/>
              </a:tabLst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setup_paging: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50" b="1" spc="4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设置页表</a:t>
            </a:r>
            <a:r>
              <a:rPr sz="1650" b="1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ret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102235">
              <a:lnSpc>
                <a:spcPts val="2330"/>
              </a:lnSpc>
              <a:spcBef>
                <a:spcPts val="1400"/>
              </a:spcBef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简单的几句程序，控制流却很复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杂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13468" y="4072114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51343" y="4361508"/>
            <a:ext cx="4868545" cy="449580"/>
          </a:xfrm>
          <a:prstGeom prst="rect">
            <a:avLst/>
          </a:prstGeom>
          <a:ln w="8113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906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setup_paging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执行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ret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后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?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会执行函数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main()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23" name="object 23"/>
          <p:cNvSpPr txBox="1"/>
          <p:nvPr/>
        </p:nvSpPr>
        <p:spPr>
          <a:xfrm>
            <a:off x="5131033" y="6459594"/>
            <a:ext cx="43116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b="1" spc="5" dirty="0">
                <a:latin typeface="Arial" panose="020B0604020202020204"/>
                <a:cs typeface="Arial" panose="020B0604020202020204"/>
              </a:rPr>
              <a:t>-</a:t>
            </a:r>
            <a:r>
              <a:rPr sz="135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1350" b="1" dirty="0">
                <a:latin typeface="Arial" panose="020B0604020202020204"/>
                <a:cs typeface="Arial" panose="020B0604020202020204"/>
              </a:rPr>
              <a:t>1</a:t>
            </a:r>
            <a:r>
              <a:rPr sz="1350" b="1" spc="5" dirty="0">
                <a:latin typeface="Arial" panose="020B0604020202020204"/>
                <a:cs typeface="Arial" panose="020B0604020202020204"/>
              </a:rPr>
              <a:t>0</a:t>
            </a:r>
            <a:r>
              <a:rPr sz="1350" b="1" dirty="0">
                <a:latin typeface="Arial" panose="020B0604020202020204"/>
                <a:cs typeface="Arial" panose="020B0604020202020204"/>
              </a:rPr>
              <a:t> </a:t>
            </a:r>
            <a:r>
              <a:rPr sz="1350" b="1" spc="5" dirty="0">
                <a:latin typeface="Arial" panose="020B0604020202020204"/>
                <a:cs typeface="Arial" panose="020B0604020202020204"/>
              </a:rPr>
              <a:t>-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03161" y="2014923"/>
            <a:ext cx="2504440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执行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fun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(p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,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,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1343" y="4880797"/>
            <a:ext cx="4868545" cy="449580"/>
          </a:xfrm>
          <a:prstGeom prst="rect">
            <a:avLst/>
          </a:prstGeom>
          <a:ln w="8113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906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进入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main()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后的栈为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0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0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0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L6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1343" y="5400087"/>
            <a:ext cx="4868545" cy="449580"/>
          </a:xfrm>
          <a:prstGeom prst="rect">
            <a:avLst/>
          </a:prstGeom>
          <a:ln w="8113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906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main()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函数的三个参数是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0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0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0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1343" y="5919375"/>
            <a:ext cx="4868545" cy="449580"/>
          </a:xfrm>
          <a:prstGeom prst="rect">
            <a:avLst/>
          </a:prstGeom>
          <a:ln w="8113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906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main()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函数返回时进入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L6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，死循环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...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7901916" y="2343856"/>
          <a:ext cx="1635760" cy="2016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3218"/>
              </a:tblGrid>
              <a:tr h="259643">
                <a:tc>
                  <a:txBody>
                    <a:bodyPr/>
                    <a:lstStyle/>
                    <a:p>
                      <a:endParaRPr sz="17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8116">
                      <a:solidFill>
                        <a:srgbClr val="000000"/>
                      </a:solidFill>
                      <a:prstDash val="solid"/>
                    </a:lnL>
                    <a:lnR w="8116">
                      <a:solidFill>
                        <a:srgbClr val="000000"/>
                      </a:solidFill>
                      <a:prstDash val="solid"/>
                    </a:lnR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946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Arial" panose="020B0604020202020204"/>
                          <a:cs typeface="Arial" panose="020B0604020202020204"/>
                        </a:rPr>
                        <a:t>p3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8116">
                      <a:solidFill>
                        <a:srgbClr val="000000"/>
                      </a:solidFill>
                      <a:prstDash val="solid"/>
                    </a:lnL>
                    <a:lnR w="8116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946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Arial" panose="020B0604020202020204"/>
                          <a:cs typeface="Arial" panose="020B0604020202020204"/>
                        </a:rPr>
                        <a:t>p2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8116">
                      <a:solidFill>
                        <a:srgbClr val="000000"/>
                      </a:solidFill>
                      <a:prstDash val="solid"/>
                    </a:lnL>
                    <a:lnR w="8116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946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Arial" panose="020B0604020202020204"/>
                          <a:cs typeface="Arial" panose="020B0604020202020204"/>
                        </a:rPr>
                        <a:t>p1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8116">
                      <a:solidFill>
                        <a:srgbClr val="000000"/>
                      </a:solidFill>
                      <a:prstDash val="solid"/>
                    </a:lnL>
                    <a:lnR w="8116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9466">
                <a:tc>
                  <a:txBody>
                    <a:bodyPr/>
                    <a:lstStyle/>
                    <a:p>
                      <a:pPr marL="287655">
                        <a:lnSpc>
                          <a:spcPct val="100000"/>
                        </a:lnSpc>
                      </a:pPr>
                      <a:r>
                        <a:rPr sz="195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返回地</a:t>
                      </a:r>
                      <a:r>
                        <a:rPr sz="195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址</a:t>
                      </a:r>
                      <a:endParaRPr sz="19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8116">
                      <a:solidFill>
                        <a:srgbClr val="000000"/>
                      </a:solidFill>
                      <a:prstDash val="solid"/>
                    </a:lnL>
                    <a:lnR w="8116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4733">
                <a:tc>
                  <a:txBody>
                    <a:bodyPr/>
                    <a:lstStyle/>
                    <a:p>
                      <a:endParaRPr sz="19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8116">
                      <a:solidFill>
                        <a:srgbClr val="000000"/>
                      </a:solidFill>
                      <a:prstDash val="solid"/>
                    </a:lnL>
                    <a:lnR w="8116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340">
              <a:lnSpc>
                <a:spcPct val="100000"/>
              </a:lnSpc>
            </a:pP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进入</a:t>
            </a:r>
            <a:r>
              <a:rPr sz="3050" dirty="0"/>
              <a:t>mai</a:t>
            </a:r>
            <a:r>
              <a:rPr sz="3050" spc="10" dirty="0"/>
              <a:t>n</a:t>
            </a: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函数</a:t>
            </a:r>
            <a:endParaRPr sz="2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61536" y="1827273"/>
            <a:ext cx="1754505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为什么是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v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o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d?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30047" y="1911115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91215" y="1812334"/>
            <a:ext cx="3046095" cy="4607560"/>
          </a:xfrm>
          <a:custGeom>
            <a:avLst/>
            <a:gdLst/>
            <a:ahLst/>
            <a:cxnLst/>
            <a:rect l="l" t="t" r="r" b="b"/>
            <a:pathLst>
              <a:path w="3046095" h="4607560">
                <a:moveTo>
                  <a:pt x="0" y="0"/>
                </a:moveTo>
                <a:lnTo>
                  <a:pt x="3045497" y="0"/>
                </a:lnTo>
                <a:lnTo>
                  <a:pt x="3045497" y="4607397"/>
                </a:lnTo>
                <a:lnTo>
                  <a:pt x="0" y="4607397"/>
                </a:lnTo>
                <a:lnTo>
                  <a:pt x="0" y="0"/>
                </a:lnTo>
                <a:close/>
              </a:path>
            </a:pathLst>
          </a:custGeom>
          <a:ln w="811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72009" y="1872858"/>
            <a:ext cx="1885950" cy="544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sz="17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init/main.c</a:t>
            </a:r>
            <a:r>
              <a:rPr sz="1650" b="1" spc="4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500" b="1" spc="15" dirty="0">
                <a:latin typeface="Courier New" panose="02070309020205020404"/>
                <a:cs typeface="Courier New" panose="02070309020205020404"/>
              </a:rPr>
              <a:t>voi</a:t>
            </a:r>
            <a:r>
              <a:rPr sz="1500" b="1" spc="20" dirty="0">
                <a:latin typeface="Courier New" panose="02070309020205020404"/>
                <a:cs typeface="Courier New" panose="02070309020205020404"/>
              </a:rPr>
              <a:t>d</a:t>
            </a:r>
            <a:r>
              <a:rPr sz="1500" b="1" spc="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500" b="1" spc="15" dirty="0">
                <a:latin typeface="Courier New" panose="02070309020205020404"/>
                <a:cs typeface="Courier New" panose="02070309020205020404"/>
              </a:rPr>
              <a:t>main(void)</a:t>
            </a:r>
            <a:endParaRPr sz="15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2009" y="2480266"/>
            <a:ext cx="1770380" cy="499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315" marR="5080" indent="-349250">
              <a:lnSpc>
                <a:spcPct val="122000"/>
              </a:lnSpc>
              <a:tabLst>
                <a:tab pos="361315" algn="l"/>
              </a:tabLst>
            </a:pPr>
            <a:r>
              <a:rPr sz="1500" b="1" spc="20" dirty="0">
                <a:latin typeface="Courier New" panose="02070309020205020404"/>
                <a:cs typeface="Courier New" panose="02070309020205020404"/>
              </a:rPr>
              <a:t>{</a:t>
            </a:r>
            <a:r>
              <a:rPr sz="1500" b="1" spc="20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1500" b="1" spc="15" dirty="0">
                <a:latin typeface="Courier New" panose="02070309020205020404"/>
                <a:cs typeface="Courier New" panose="02070309020205020404"/>
              </a:rPr>
              <a:t>mem_init();</a:t>
            </a:r>
            <a:r>
              <a:rPr sz="1500" b="1" spc="15" dirty="0">
                <a:latin typeface="Courier New" panose="02070309020205020404"/>
                <a:cs typeface="Courier New" panose="02070309020205020404"/>
              </a:rPr>
              <a:t> trap_init();</a:t>
            </a:r>
            <a:endParaRPr sz="15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537683" y="1471941"/>
            <a:ext cx="1148715" cy="295275"/>
          </a:xfrm>
          <a:custGeom>
            <a:avLst/>
            <a:gdLst/>
            <a:ahLst/>
            <a:cxnLst/>
            <a:rect l="l" t="t" r="r" b="b"/>
            <a:pathLst>
              <a:path w="1148715" h="295275">
                <a:moveTo>
                  <a:pt x="0" y="294731"/>
                </a:moveTo>
                <a:lnTo>
                  <a:pt x="1148130" y="294731"/>
                </a:lnTo>
                <a:lnTo>
                  <a:pt x="1148130" y="0"/>
                </a:lnTo>
                <a:lnTo>
                  <a:pt x="0" y="0"/>
                </a:lnTo>
                <a:lnTo>
                  <a:pt x="0" y="2947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537683" y="1471941"/>
            <a:ext cx="1148715" cy="295275"/>
          </a:xfrm>
          <a:custGeom>
            <a:avLst/>
            <a:gdLst/>
            <a:ahLst/>
            <a:cxnLst/>
            <a:rect l="l" t="t" r="r" b="b"/>
            <a:pathLst>
              <a:path w="1148715" h="295275">
                <a:moveTo>
                  <a:pt x="0" y="0"/>
                </a:moveTo>
                <a:lnTo>
                  <a:pt x="1148130" y="0"/>
                </a:lnTo>
                <a:lnTo>
                  <a:pt x="1148130" y="294731"/>
                </a:lnTo>
                <a:lnTo>
                  <a:pt x="0" y="294731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020907" y="3038968"/>
            <a:ext cx="2351405" cy="3445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3000"/>
              </a:lnSpc>
            </a:pPr>
            <a:r>
              <a:rPr sz="1500" b="1" spc="15" dirty="0">
                <a:latin typeface="Courier New" panose="02070309020205020404"/>
                <a:cs typeface="Courier New" panose="02070309020205020404"/>
              </a:rPr>
              <a:t>blk_dev_init(); chr_dev_init(); tty_init(); time_init(); sched_init(); buffer_init(); hd_init(); floppy_init(); sti(); </a:t>
            </a:r>
            <a:r>
              <a:rPr sz="1500" b="1" i="1" spc="1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move_to_user_mode(); if(!fork()){init();}</a:t>
            </a:r>
            <a:endParaRPr sz="1500">
              <a:latin typeface="Courier New" panose="02070309020205020404"/>
              <a:cs typeface="Courier New" panose="02070309020205020404"/>
            </a:endParaRPr>
          </a:p>
          <a:p>
            <a:pPr marL="1557020">
              <a:lnSpc>
                <a:spcPct val="100000"/>
              </a:lnSpc>
              <a:spcBef>
                <a:spcPts val="1020"/>
              </a:spcBef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?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2009" y="6124230"/>
            <a:ext cx="142875" cy="220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20" dirty="0">
                <a:latin typeface="Courier New" panose="02070309020205020404"/>
                <a:cs typeface="Courier New" panose="02070309020205020404"/>
              </a:rPr>
              <a:t>}</a:t>
            </a:r>
            <a:endParaRPr sz="15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38735" y="1513319"/>
            <a:ext cx="14605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0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537683" y="1766672"/>
            <a:ext cx="1148715" cy="295275"/>
          </a:xfrm>
          <a:custGeom>
            <a:avLst/>
            <a:gdLst/>
            <a:ahLst/>
            <a:cxnLst/>
            <a:rect l="l" t="t" r="r" b="b"/>
            <a:pathLst>
              <a:path w="1148715" h="295275">
                <a:moveTo>
                  <a:pt x="0" y="294731"/>
                </a:moveTo>
                <a:lnTo>
                  <a:pt x="1148130" y="294731"/>
                </a:lnTo>
                <a:lnTo>
                  <a:pt x="1148130" y="0"/>
                </a:lnTo>
                <a:lnTo>
                  <a:pt x="0" y="0"/>
                </a:lnTo>
                <a:lnTo>
                  <a:pt x="0" y="2947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537683" y="1766672"/>
            <a:ext cx="1148715" cy="295275"/>
          </a:xfrm>
          <a:custGeom>
            <a:avLst/>
            <a:gdLst/>
            <a:ahLst/>
            <a:cxnLst/>
            <a:rect l="l" t="t" r="r" b="b"/>
            <a:pathLst>
              <a:path w="1148715" h="295275">
                <a:moveTo>
                  <a:pt x="0" y="0"/>
                </a:moveTo>
                <a:lnTo>
                  <a:pt x="1148130" y="0"/>
                </a:lnTo>
                <a:lnTo>
                  <a:pt x="1148130" y="294731"/>
                </a:lnTo>
                <a:lnTo>
                  <a:pt x="0" y="294731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8038735" y="1807970"/>
            <a:ext cx="14605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0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537683" y="2061404"/>
            <a:ext cx="1148715" cy="295275"/>
          </a:xfrm>
          <a:custGeom>
            <a:avLst/>
            <a:gdLst/>
            <a:ahLst/>
            <a:cxnLst/>
            <a:rect l="l" t="t" r="r" b="b"/>
            <a:pathLst>
              <a:path w="1148715" h="295275">
                <a:moveTo>
                  <a:pt x="0" y="0"/>
                </a:moveTo>
                <a:lnTo>
                  <a:pt x="1148130" y="0"/>
                </a:lnTo>
                <a:lnTo>
                  <a:pt x="1148130" y="294731"/>
                </a:lnTo>
                <a:lnTo>
                  <a:pt x="0" y="294731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038735" y="2102622"/>
            <a:ext cx="14605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0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537683" y="2356135"/>
            <a:ext cx="1148715" cy="295275"/>
          </a:xfrm>
          <a:custGeom>
            <a:avLst/>
            <a:gdLst/>
            <a:ahLst/>
            <a:cxnLst/>
            <a:rect l="l" t="t" r="r" b="b"/>
            <a:pathLst>
              <a:path w="1148715" h="295275">
                <a:moveTo>
                  <a:pt x="0" y="0"/>
                </a:moveTo>
                <a:lnTo>
                  <a:pt x="1148130" y="0"/>
                </a:lnTo>
                <a:lnTo>
                  <a:pt x="1148130" y="294731"/>
                </a:lnTo>
                <a:lnTo>
                  <a:pt x="0" y="294731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7972472" y="2397273"/>
            <a:ext cx="27876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5" dirty="0">
                <a:latin typeface="Arial" panose="020B0604020202020204"/>
                <a:cs typeface="Arial" panose="020B0604020202020204"/>
              </a:rPr>
              <a:t>L6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537683" y="1275453"/>
            <a:ext cx="0" cy="1523365"/>
          </a:xfrm>
          <a:custGeom>
            <a:avLst/>
            <a:gdLst/>
            <a:ahLst/>
            <a:cxnLst/>
            <a:rect l="l" t="t" r="r" b="b"/>
            <a:pathLst>
              <a:path h="1523364">
                <a:moveTo>
                  <a:pt x="0" y="0"/>
                </a:moveTo>
                <a:lnTo>
                  <a:pt x="0" y="1522779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685813" y="1275453"/>
            <a:ext cx="0" cy="1523365"/>
          </a:xfrm>
          <a:custGeom>
            <a:avLst/>
            <a:gdLst/>
            <a:ahLst/>
            <a:cxnLst/>
            <a:rect l="l" t="t" r="r" b="b"/>
            <a:pathLst>
              <a:path h="1523364">
                <a:moveTo>
                  <a:pt x="0" y="0"/>
                </a:moveTo>
                <a:lnTo>
                  <a:pt x="0" y="1522779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7666594" y="1035137"/>
            <a:ext cx="962025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执行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ma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723857" y="1175456"/>
            <a:ext cx="2921000" cy="726440"/>
          </a:xfrm>
          <a:custGeom>
            <a:avLst/>
            <a:gdLst/>
            <a:ahLst/>
            <a:cxnLst/>
            <a:rect l="l" t="t" r="r" b="b"/>
            <a:pathLst>
              <a:path w="2921000" h="726439">
                <a:moveTo>
                  <a:pt x="2844680" y="0"/>
                </a:moveTo>
                <a:lnTo>
                  <a:pt x="918462" y="0"/>
                </a:lnTo>
                <a:lnTo>
                  <a:pt x="587425" y="266"/>
                </a:lnTo>
                <a:lnTo>
                  <a:pt x="548410" y="15109"/>
                </a:lnTo>
                <a:lnTo>
                  <a:pt x="523443" y="47659"/>
                </a:lnTo>
                <a:lnTo>
                  <a:pt x="518068" y="75731"/>
                </a:lnTo>
                <a:lnTo>
                  <a:pt x="518068" y="378647"/>
                </a:lnTo>
                <a:lnTo>
                  <a:pt x="533182" y="424043"/>
                </a:lnTo>
                <a:lnTo>
                  <a:pt x="565741" y="449003"/>
                </a:lnTo>
                <a:lnTo>
                  <a:pt x="593820" y="454376"/>
                </a:lnTo>
                <a:lnTo>
                  <a:pt x="918462" y="454376"/>
                </a:lnTo>
                <a:lnTo>
                  <a:pt x="0" y="726203"/>
                </a:lnTo>
                <a:lnTo>
                  <a:pt x="1519053" y="454376"/>
                </a:lnTo>
                <a:lnTo>
                  <a:pt x="2851075" y="454110"/>
                </a:lnTo>
                <a:lnTo>
                  <a:pt x="2865208" y="451563"/>
                </a:lnTo>
                <a:lnTo>
                  <a:pt x="2900320" y="430038"/>
                </a:lnTo>
                <a:lnTo>
                  <a:pt x="2919045" y="393145"/>
                </a:lnTo>
                <a:lnTo>
                  <a:pt x="2920432" y="265052"/>
                </a:lnTo>
                <a:lnTo>
                  <a:pt x="2920166" y="69337"/>
                </a:lnTo>
                <a:lnTo>
                  <a:pt x="2905318" y="30333"/>
                </a:lnTo>
                <a:lnTo>
                  <a:pt x="2872759" y="5373"/>
                </a:lnTo>
                <a:lnTo>
                  <a:pt x="2859184" y="1386"/>
                </a:lnTo>
                <a:lnTo>
                  <a:pt x="28446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723857" y="1175455"/>
            <a:ext cx="2921000" cy="726440"/>
          </a:xfrm>
          <a:custGeom>
            <a:avLst/>
            <a:gdLst/>
            <a:ahLst/>
            <a:cxnLst/>
            <a:rect l="l" t="t" r="r" b="b"/>
            <a:pathLst>
              <a:path w="2921000" h="726439">
                <a:moveTo>
                  <a:pt x="2920432" y="378646"/>
                </a:moveTo>
                <a:lnTo>
                  <a:pt x="2908729" y="419102"/>
                </a:lnTo>
                <a:lnTo>
                  <a:pt x="2878299" y="446529"/>
                </a:lnTo>
                <a:lnTo>
                  <a:pt x="1519053" y="454377"/>
                </a:lnTo>
                <a:lnTo>
                  <a:pt x="0" y="726204"/>
                </a:lnTo>
                <a:lnTo>
                  <a:pt x="918462" y="454377"/>
                </a:lnTo>
                <a:lnTo>
                  <a:pt x="593820" y="454377"/>
                </a:lnTo>
                <a:lnTo>
                  <a:pt x="579316" y="452991"/>
                </a:lnTo>
                <a:lnTo>
                  <a:pt x="542414" y="434271"/>
                </a:lnTo>
                <a:lnTo>
                  <a:pt x="520882" y="399168"/>
                </a:lnTo>
                <a:lnTo>
                  <a:pt x="518068" y="378649"/>
                </a:lnTo>
                <a:lnTo>
                  <a:pt x="518068" y="265053"/>
                </a:lnTo>
                <a:lnTo>
                  <a:pt x="518068" y="75731"/>
                </a:lnTo>
                <a:lnTo>
                  <a:pt x="519455" y="61231"/>
                </a:lnTo>
                <a:lnTo>
                  <a:pt x="538180" y="24339"/>
                </a:lnTo>
                <a:lnTo>
                  <a:pt x="573292" y="2813"/>
                </a:lnTo>
                <a:lnTo>
                  <a:pt x="918462" y="0"/>
                </a:lnTo>
                <a:lnTo>
                  <a:pt x="1519053" y="0"/>
                </a:lnTo>
                <a:lnTo>
                  <a:pt x="2844680" y="0"/>
                </a:lnTo>
                <a:lnTo>
                  <a:pt x="2859184" y="1386"/>
                </a:lnTo>
                <a:lnTo>
                  <a:pt x="2896086" y="20106"/>
                </a:lnTo>
                <a:lnTo>
                  <a:pt x="2917617" y="55209"/>
                </a:lnTo>
                <a:lnTo>
                  <a:pt x="2920432" y="265053"/>
                </a:lnTo>
                <a:lnTo>
                  <a:pt x="2920432" y="378649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3384094" y="1258376"/>
            <a:ext cx="2117090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开始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语言程序了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!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403262" y="2127472"/>
            <a:ext cx="2792095" cy="150495"/>
          </a:xfrm>
          <a:custGeom>
            <a:avLst/>
            <a:gdLst/>
            <a:ahLst/>
            <a:cxnLst/>
            <a:rect l="l" t="t" r="r" b="b"/>
            <a:pathLst>
              <a:path w="2792095" h="150494">
                <a:moveTo>
                  <a:pt x="268623" y="95065"/>
                </a:moveTo>
                <a:lnTo>
                  <a:pt x="70316" y="95065"/>
                </a:lnTo>
                <a:lnTo>
                  <a:pt x="110592" y="101107"/>
                </a:lnTo>
                <a:lnTo>
                  <a:pt x="172915" y="109313"/>
                </a:lnTo>
                <a:lnTo>
                  <a:pt x="242417" y="117030"/>
                </a:lnTo>
                <a:lnTo>
                  <a:pt x="280597" y="120651"/>
                </a:lnTo>
                <a:lnTo>
                  <a:pt x="321457" y="124087"/>
                </a:lnTo>
                <a:lnTo>
                  <a:pt x="365292" y="127318"/>
                </a:lnTo>
                <a:lnTo>
                  <a:pt x="463083" y="133083"/>
                </a:lnTo>
                <a:lnTo>
                  <a:pt x="576352" y="137783"/>
                </a:lnTo>
                <a:lnTo>
                  <a:pt x="787549" y="143108"/>
                </a:lnTo>
                <a:lnTo>
                  <a:pt x="1466281" y="150384"/>
                </a:lnTo>
                <a:lnTo>
                  <a:pt x="1764691" y="148814"/>
                </a:lnTo>
                <a:lnTo>
                  <a:pt x="1943160" y="145387"/>
                </a:lnTo>
                <a:lnTo>
                  <a:pt x="2059793" y="141331"/>
                </a:lnTo>
                <a:lnTo>
                  <a:pt x="2159915" y="135859"/>
                </a:lnTo>
                <a:lnTo>
                  <a:pt x="2221026" y="131437"/>
                </a:lnTo>
                <a:lnTo>
                  <a:pt x="2278270" y="126441"/>
                </a:lnTo>
                <a:lnTo>
                  <a:pt x="2282126" y="126043"/>
                </a:lnTo>
                <a:lnTo>
                  <a:pt x="1466255" y="126043"/>
                </a:lnTo>
                <a:lnTo>
                  <a:pt x="788027" y="118771"/>
                </a:lnTo>
                <a:lnTo>
                  <a:pt x="577085" y="113452"/>
                </a:lnTo>
                <a:lnTo>
                  <a:pt x="464196" y="108767"/>
                </a:lnTo>
                <a:lnTo>
                  <a:pt x="366844" y="103026"/>
                </a:lnTo>
                <a:lnTo>
                  <a:pt x="323248" y="99811"/>
                </a:lnTo>
                <a:lnTo>
                  <a:pt x="282638" y="96395"/>
                </a:lnTo>
                <a:lnTo>
                  <a:pt x="268623" y="95065"/>
                </a:lnTo>
                <a:close/>
              </a:path>
              <a:path w="2792095" h="150494">
                <a:moveTo>
                  <a:pt x="2711902" y="0"/>
                </a:moveTo>
                <a:lnTo>
                  <a:pt x="2658692" y="38798"/>
                </a:lnTo>
                <a:lnTo>
                  <a:pt x="2588447" y="55058"/>
                </a:lnTo>
                <a:lnTo>
                  <a:pt x="2550963" y="62849"/>
                </a:lnTo>
                <a:lnTo>
                  <a:pt x="2511554" y="70355"/>
                </a:lnTo>
                <a:lnTo>
                  <a:pt x="2469937" y="77537"/>
                </a:lnTo>
                <a:lnTo>
                  <a:pt x="2425832" y="84355"/>
                </a:lnTo>
                <a:lnTo>
                  <a:pt x="2378956" y="90770"/>
                </a:lnTo>
                <a:lnTo>
                  <a:pt x="2329030" y="96740"/>
                </a:lnTo>
                <a:lnTo>
                  <a:pt x="2275773" y="102227"/>
                </a:lnTo>
                <a:lnTo>
                  <a:pt x="2218909" y="107187"/>
                </a:lnTo>
                <a:lnTo>
                  <a:pt x="2158157" y="111580"/>
                </a:lnTo>
                <a:lnTo>
                  <a:pt x="2093243" y="115366"/>
                </a:lnTo>
                <a:lnTo>
                  <a:pt x="1942443" y="121056"/>
                </a:lnTo>
                <a:lnTo>
                  <a:pt x="1764309" y="124475"/>
                </a:lnTo>
                <a:lnTo>
                  <a:pt x="1466255" y="126043"/>
                </a:lnTo>
                <a:lnTo>
                  <a:pt x="2282126" y="126043"/>
                </a:lnTo>
                <a:lnTo>
                  <a:pt x="2331923" y="120910"/>
                </a:lnTo>
                <a:lnTo>
                  <a:pt x="2382259" y="114886"/>
                </a:lnTo>
                <a:lnTo>
                  <a:pt x="2429554" y="108411"/>
                </a:lnTo>
                <a:lnTo>
                  <a:pt x="2474080" y="101523"/>
                </a:lnTo>
                <a:lnTo>
                  <a:pt x="2516112" y="94267"/>
                </a:lnTo>
                <a:lnTo>
                  <a:pt x="2555920" y="86681"/>
                </a:lnTo>
                <a:lnTo>
                  <a:pt x="2593778" y="78809"/>
                </a:lnTo>
                <a:lnTo>
                  <a:pt x="2664799" y="62362"/>
                </a:lnTo>
                <a:lnTo>
                  <a:pt x="2724548" y="46888"/>
                </a:lnTo>
                <a:lnTo>
                  <a:pt x="2757475" y="46888"/>
                </a:lnTo>
                <a:lnTo>
                  <a:pt x="2791936" y="16240"/>
                </a:lnTo>
                <a:lnTo>
                  <a:pt x="2711902" y="0"/>
                </a:lnTo>
                <a:close/>
              </a:path>
              <a:path w="2792095" h="150494">
                <a:moveTo>
                  <a:pt x="77791" y="47025"/>
                </a:moveTo>
                <a:lnTo>
                  <a:pt x="0" y="71878"/>
                </a:lnTo>
                <a:lnTo>
                  <a:pt x="66563" y="119183"/>
                </a:lnTo>
                <a:lnTo>
                  <a:pt x="70316" y="95065"/>
                </a:lnTo>
                <a:lnTo>
                  <a:pt x="268623" y="95065"/>
                </a:lnTo>
                <a:lnTo>
                  <a:pt x="209184" y="89038"/>
                </a:lnTo>
                <a:lnTo>
                  <a:pt x="113889" y="76989"/>
                </a:lnTo>
                <a:lnTo>
                  <a:pt x="74058" y="71013"/>
                </a:lnTo>
                <a:lnTo>
                  <a:pt x="77791" y="47025"/>
                </a:lnTo>
                <a:close/>
              </a:path>
              <a:path w="2792095" h="150494">
                <a:moveTo>
                  <a:pt x="2757475" y="46888"/>
                </a:moveTo>
                <a:lnTo>
                  <a:pt x="2724548" y="46888"/>
                </a:lnTo>
                <a:lnTo>
                  <a:pt x="2730919" y="70506"/>
                </a:lnTo>
                <a:lnTo>
                  <a:pt x="2757475" y="46888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3761536" y="2397200"/>
            <a:ext cx="3669665" cy="67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4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三个参数分别是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v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dirty="0">
                <a:latin typeface="Arial" panose="020B0604020202020204"/>
                <a:cs typeface="Arial" panose="020B0604020202020204"/>
              </a:rPr>
              <a:t>,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g</a:t>
            </a:r>
            <a:r>
              <a:rPr sz="2000" b="1" spc="-130" dirty="0">
                <a:latin typeface="Arial" panose="020B0604020202020204"/>
                <a:cs typeface="Arial" panose="020B0604020202020204"/>
              </a:rPr>
              <a:t>v</a:t>
            </a:r>
            <a:r>
              <a:rPr sz="2000" b="1" dirty="0">
                <a:latin typeface="Arial" panose="020B0604020202020204"/>
                <a:cs typeface="Arial" panose="020B0604020202020204"/>
              </a:rPr>
              <a:t>,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g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但此处</a:t>
            </a:r>
            <a:r>
              <a:rPr sz="2000" b="1" spc="40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并没使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用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530047" y="2500724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3761536" y="3221887"/>
            <a:ext cx="3572510" cy="653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5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此处的</a:t>
            </a:r>
            <a:r>
              <a:rPr sz="2000" b="1" spc="40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只保留传统</a:t>
            </a:r>
            <a:r>
              <a:rPr sz="2000" b="1" spc="40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2925" b="1" spc="8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的 </a:t>
            </a: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形式和命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名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530047" y="3312112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587406" y="2992966"/>
            <a:ext cx="2276475" cy="775335"/>
          </a:xfrm>
          <a:custGeom>
            <a:avLst/>
            <a:gdLst/>
            <a:ahLst/>
            <a:cxnLst/>
            <a:rect l="l" t="t" r="r" b="b"/>
            <a:pathLst>
              <a:path w="2276475" h="775335">
                <a:moveTo>
                  <a:pt x="2275900" y="645727"/>
                </a:moveTo>
                <a:lnTo>
                  <a:pt x="2268754" y="688193"/>
                </a:lnTo>
                <a:lnTo>
                  <a:pt x="2248924" y="724722"/>
                </a:lnTo>
                <a:lnTo>
                  <a:pt x="2218825" y="752900"/>
                </a:lnTo>
                <a:lnTo>
                  <a:pt x="2180869" y="770315"/>
                </a:lnTo>
                <a:lnTo>
                  <a:pt x="1081256" y="774876"/>
                </a:lnTo>
                <a:lnTo>
                  <a:pt x="569265" y="774876"/>
                </a:lnTo>
                <a:lnTo>
                  <a:pt x="357123" y="774876"/>
                </a:lnTo>
                <a:lnTo>
                  <a:pt x="342453" y="774053"/>
                </a:lnTo>
                <a:lnTo>
                  <a:pt x="301687" y="762414"/>
                </a:lnTo>
                <a:lnTo>
                  <a:pt x="267664" y="738899"/>
                </a:lnTo>
                <a:lnTo>
                  <a:pt x="242799" y="705922"/>
                </a:lnTo>
                <a:lnTo>
                  <a:pt x="229504" y="665894"/>
                </a:lnTo>
                <a:lnTo>
                  <a:pt x="227939" y="322864"/>
                </a:lnTo>
                <a:lnTo>
                  <a:pt x="0" y="256570"/>
                </a:lnTo>
                <a:lnTo>
                  <a:pt x="227939" y="129145"/>
                </a:lnTo>
                <a:lnTo>
                  <a:pt x="228762" y="114483"/>
                </a:lnTo>
                <a:lnTo>
                  <a:pt x="240404" y="73728"/>
                </a:lnTo>
                <a:lnTo>
                  <a:pt x="263925" y="39715"/>
                </a:lnTo>
                <a:lnTo>
                  <a:pt x="296912" y="14856"/>
                </a:lnTo>
                <a:lnTo>
                  <a:pt x="336950" y="1565"/>
                </a:lnTo>
                <a:lnTo>
                  <a:pt x="569265" y="0"/>
                </a:lnTo>
                <a:lnTo>
                  <a:pt x="1081256" y="0"/>
                </a:lnTo>
                <a:lnTo>
                  <a:pt x="2146715" y="0"/>
                </a:lnTo>
                <a:lnTo>
                  <a:pt x="2161385" y="823"/>
                </a:lnTo>
                <a:lnTo>
                  <a:pt x="2202151" y="12462"/>
                </a:lnTo>
                <a:lnTo>
                  <a:pt x="2236174" y="35976"/>
                </a:lnTo>
                <a:lnTo>
                  <a:pt x="2261039" y="68954"/>
                </a:lnTo>
                <a:lnTo>
                  <a:pt x="2274334" y="108982"/>
                </a:lnTo>
                <a:lnTo>
                  <a:pt x="2275900" y="129145"/>
                </a:lnTo>
                <a:lnTo>
                  <a:pt x="2275900" y="322864"/>
                </a:lnTo>
                <a:lnTo>
                  <a:pt x="2275900" y="645727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8004172" y="3091035"/>
            <a:ext cx="1669414" cy="607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5560">
              <a:lnSpc>
                <a:spcPct val="103000"/>
              </a:lnSpc>
            </a:pPr>
            <a:r>
              <a:rPr sz="2000" b="1" spc="40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表示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925" b="1" spc="8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语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言函数的入口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!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723661" y="4056040"/>
            <a:ext cx="5245735" cy="67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4000"/>
              </a:lnSpc>
            </a:pPr>
            <a:r>
              <a:rPr sz="2000" b="1" spc="40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的工作就是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xx_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t: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内存、中断、设备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2925" b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时钟、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U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等内容的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初始化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…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492172" y="4146491"/>
            <a:ext cx="160969" cy="16362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142199" y="6344442"/>
            <a:ext cx="775335" cy="494030"/>
          </a:xfrm>
          <a:custGeom>
            <a:avLst/>
            <a:gdLst/>
            <a:ahLst/>
            <a:cxnLst/>
            <a:rect l="l" t="t" r="r" b="b"/>
            <a:pathLst>
              <a:path w="775335" h="494029">
                <a:moveTo>
                  <a:pt x="0" y="0"/>
                </a:moveTo>
                <a:lnTo>
                  <a:pt x="255653" y="228537"/>
                </a:lnTo>
                <a:lnTo>
                  <a:pt x="255919" y="424252"/>
                </a:lnTo>
                <a:lnTo>
                  <a:pt x="258467" y="438381"/>
                </a:lnTo>
                <a:lnTo>
                  <a:pt x="279999" y="473483"/>
                </a:lnTo>
                <a:lnTo>
                  <a:pt x="316901" y="492203"/>
                </a:lnTo>
                <a:lnTo>
                  <a:pt x="331405" y="493590"/>
                </a:lnTo>
                <a:lnTo>
                  <a:pt x="472083" y="493590"/>
                </a:lnTo>
                <a:lnTo>
                  <a:pt x="705727" y="493324"/>
                </a:lnTo>
                <a:lnTo>
                  <a:pt x="744741" y="478480"/>
                </a:lnTo>
                <a:lnTo>
                  <a:pt x="769708" y="445930"/>
                </a:lnTo>
                <a:lnTo>
                  <a:pt x="775083" y="417859"/>
                </a:lnTo>
                <a:lnTo>
                  <a:pt x="775083" y="114943"/>
                </a:lnTo>
                <a:lnTo>
                  <a:pt x="255653" y="114943"/>
                </a:lnTo>
                <a:lnTo>
                  <a:pt x="0" y="0"/>
                </a:lnTo>
                <a:close/>
              </a:path>
              <a:path w="775335" h="494029">
                <a:moveTo>
                  <a:pt x="699331" y="39212"/>
                </a:moveTo>
                <a:lnTo>
                  <a:pt x="342225" y="39212"/>
                </a:lnTo>
                <a:lnTo>
                  <a:pt x="325010" y="39478"/>
                </a:lnTo>
                <a:lnTo>
                  <a:pt x="285995" y="54322"/>
                </a:lnTo>
                <a:lnTo>
                  <a:pt x="261028" y="86872"/>
                </a:lnTo>
                <a:lnTo>
                  <a:pt x="255653" y="114943"/>
                </a:lnTo>
                <a:lnTo>
                  <a:pt x="775083" y="114943"/>
                </a:lnTo>
                <a:lnTo>
                  <a:pt x="759969" y="69546"/>
                </a:lnTo>
                <a:lnTo>
                  <a:pt x="727410" y="44585"/>
                </a:lnTo>
                <a:lnTo>
                  <a:pt x="699331" y="392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146009" y="5962172"/>
            <a:ext cx="775335" cy="494030"/>
          </a:xfrm>
          <a:custGeom>
            <a:avLst/>
            <a:gdLst/>
            <a:ahLst/>
            <a:cxnLst/>
            <a:rect l="l" t="t" r="r" b="b"/>
            <a:pathLst>
              <a:path w="775335" h="494029">
                <a:moveTo>
                  <a:pt x="775082" y="417859"/>
                </a:moveTo>
                <a:lnTo>
                  <a:pt x="763380" y="458315"/>
                </a:lnTo>
                <a:lnTo>
                  <a:pt x="732950" y="485742"/>
                </a:lnTo>
                <a:lnTo>
                  <a:pt x="472082" y="493590"/>
                </a:lnTo>
                <a:lnTo>
                  <a:pt x="342224" y="493590"/>
                </a:lnTo>
                <a:lnTo>
                  <a:pt x="331404" y="493590"/>
                </a:lnTo>
                <a:lnTo>
                  <a:pt x="316901" y="492204"/>
                </a:lnTo>
                <a:lnTo>
                  <a:pt x="279998" y="473484"/>
                </a:lnTo>
                <a:lnTo>
                  <a:pt x="258467" y="438381"/>
                </a:lnTo>
                <a:lnTo>
                  <a:pt x="255652" y="228537"/>
                </a:lnTo>
                <a:lnTo>
                  <a:pt x="0" y="0"/>
                </a:lnTo>
                <a:lnTo>
                  <a:pt x="255652" y="114942"/>
                </a:lnTo>
                <a:lnTo>
                  <a:pt x="257039" y="100444"/>
                </a:lnTo>
                <a:lnTo>
                  <a:pt x="275764" y="63552"/>
                </a:lnTo>
                <a:lnTo>
                  <a:pt x="310876" y="42026"/>
                </a:lnTo>
                <a:lnTo>
                  <a:pt x="342224" y="39213"/>
                </a:lnTo>
                <a:lnTo>
                  <a:pt x="472082" y="39213"/>
                </a:lnTo>
                <a:lnTo>
                  <a:pt x="699330" y="39213"/>
                </a:lnTo>
                <a:lnTo>
                  <a:pt x="713834" y="40599"/>
                </a:lnTo>
                <a:lnTo>
                  <a:pt x="750737" y="59319"/>
                </a:lnTo>
                <a:lnTo>
                  <a:pt x="772268" y="94422"/>
                </a:lnTo>
                <a:lnTo>
                  <a:pt x="775082" y="114942"/>
                </a:lnTo>
                <a:lnTo>
                  <a:pt x="775082" y="228537"/>
                </a:lnTo>
                <a:lnTo>
                  <a:pt x="775082" y="417859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51743" y="980723"/>
            <a:ext cx="1566406" cy="378242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935">
              <a:lnSpc>
                <a:spcPct val="100000"/>
              </a:lnSpc>
            </a:pP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看一看</a:t>
            </a:r>
            <a:r>
              <a:rPr sz="3050" spc="5" dirty="0"/>
              <a:t>mem_init…</a:t>
            </a:r>
            <a:endParaRPr sz="30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0071" y="1808840"/>
            <a:ext cx="5563870" cy="3132455"/>
          </a:xfrm>
          <a:custGeom>
            <a:avLst/>
            <a:gdLst/>
            <a:ahLst/>
            <a:cxnLst/>
            <a:rect l="l" t="t" r="r" b="b"/>
            <a:pathLst>
              <a:path w="5563870" h="3132454">
                <a:moveTo>
                  <a:pt x="0" y="0"/>
                </a:moveTo>
                <a:lnTo>
                  <a:pt x="5563790" y="0"/>
                </a:lnTo>
                <a:lnTo>
                  <a:pt x="5563790" y="3131970"/>
                </a:lnTo>
                <a:lnTo>
                  <a:pt x="0" y="3131970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19781" y="1885558"/>
            <a:ext cx="4884420" cy="802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650" b="1" spc="4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sz="17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linux/mm/memory.c</a:t>
            </a:r>
            <a:r>
              <a:rPr sz="1650" b="1" spc="4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r>
              <a:rPr sz="1500" b="1" spc="15" dirty="0">
                <a:latin typeface="Courier New" panose="02070309020205020404"/>
                <a:cs typeface="Courier New" panose="02070309020205020404"/>
              </a:rPr>
              <a:t>voi</a:t>
            </a:r>
            <a:r>
              <a:rPr sz="1500" b="1" spc="20" dirty="0">
                <a:latin typeface="Courier New" panose="02070309020205020404"/>
                <a:cs typeface="Courier New" panose="02070309020205020404"/>
              </a:rPr>
              <a:t>d</a:t>
            </a:r>
            <a:r>
              <a:rPr sz="1500" b="1" spc="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500" b="1" spc="15" dirty="0">
                <a:latin typeface="Courier New" panose="02070309020205020404"/>
                <a:cs typeface="Courier New" panose="02070309020205020404"/>
              </a:rPr>
              <a:t>mem_init(lon</a:t>
            </a:r>
            <a:r>
              <a:rPr sz="1500" b="1" spc="20" dirty="0">
                <a:latin typeface="Courier New" panose="02070309020205020404"/>
                <a:cs typeface="Courier New" panose="02070309020205020404"/>
              </a:rPr>
              <a:t>g</a:t>
            </a:r>
            <a:r>
              <a:rPr sz="1500" b="1" spc="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500" b="1" spc="15" dirty="0">
                <a:latin typeface="Courier New" panose="02070309020205020404"/>
                <a:cs typeface="Courier New" panose="02070309020205020404"/>
              </a:rPr>
              <a:t>start_mem,lon</a:t>
            </a:r>
            <a:r>
              <a:rPr sz="1500" b="1" spc="20" dirty="0">
                <a:latin typeface="Courier New" panose="02070309020205020404"/>
                <a:cs typeface="Courier New" panose="02070309020205020404"/>
              </a:rPr>
              <a:t>g</a:t>
            </a:r>
            <a:r>
              <a:rPr sz="1500" b="1" spc="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500" b="1" spc="15" dirty="0">
                <a:latin typeface="Courier New" panose="02070309020205020404"/>
                <a:cs typeface="Courier New" panose="02070309020205020404"/>
              </a:rPr>
              <a:t>end_mem)</a:t>
            </a:r>
            <a:endParaRPr sz="150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r>
              <a:rPr sz="1500" b="1" spc="20" dirty="0">
                <a:latin typeface="Courier New" panose="02070309020205020404"/>
                <a:cs typeface="Courier New" panose="02070309020205020404"/>
              </a:rPr>
              <a:t>{</a:t>
            </a:r>
            <a:endParaRPr sz="15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8678" y="2772344"/>
            <a:ext cx="697865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500" b="1" spc="15" dirty="0">
                <a:latin typeface="Courier New" panose="02070309020205020404"/>
                <a:cs typeface="Courier New" panose="02070309020205020404"/>
              </a:rPr>
              <a:t>in</a:t>
            </a:r>
            <a:r>
              <a:rPr sz="1500" b="1" spc="20" dirty="0">
                <a:latin typeface="Courier New" panose="02070309020205020404"/>
                <a:cs typeface="Courier New" panose="02070309020205020404"/>
              </a:rPr>
              <a:t>t</a:t>
            </a:r>
            <a:r>
              <a:rPr sz="1500" b="1" spc="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500" b="1" spc="15" dirty="0">
                <a:latin typeface="Courier New" panose="02070309020205020404"/>
                <a:cs typeface="Courier New" panose="02070309020205020404"/>
              </a:rPr>
              <a:t>i;</a:t>
            </a:r>
            <a:endParaRPr sz="15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68678" y="3051668"/>
            <a:ext cx="3373120" cy="1928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500" b="1" spc="15" dirty="0">
                <a:latin typeface="Courier New" panose="02070309020205020404"/>
                <a:cs typeface="Courier New" panose="02070309020205020404"/>
              </a:rPr>
              <a:t>for(i=0</a:t>
            </a:r>
            <a:r>
              <a:rPr sz="1500" b="1" spc="20" dirty="0">
                <a:latin typeface="Courier New" panose="02070309020205020404"/>
                <a:cs typeface="Courier New" panose="02070309020205020404"/>
              </a:rPr>
              <a:t>;</a:t>
            </a:r>
            <a:r>
              <a:rPr sz="1500" b="1" spc="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500" b="1" spc="15" dirty="0">
                <a:latin typeface="Courier New" panose="02070309020205020404"/>
                <a:cs typeface="Courier New" panose="02070309020205020404"/>
              </a:rPr>
              <a:t>i&lt;PAGING_PAGES</a:t>
            </a:r>
            <a:r>
              <a:rPr sz="1500" b="1" spc="20" dirty="0">
                <a:latin typeface="Courier New" panose="02070309020205020404"/>
                <a:cs typeface="Courier New" panose="02070309020205020404"/>
              </a:rPr>
              <a:t>;</a:t>
            </a:r>
            <a:r>
              <a:rPr sz="1500" b="1" spc="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500" b="1" spc="15" dirty="0">
                <a:latin typeface="Courier New" panose="02070309020205020404"/>
                <a:cs typeface="Courier New" panose="02070309020205020404"/>
              </a:rPr>
              <a:t>i++)</a:t>
            </a:r>
            <a:endParaRPr sz="1500">
              <a:latin typeface="Courier New" panose="02070309020205020404"/>
              <a:cs typeface="Courier New" panose="02070309020205020404"/>
            </a:endParaRPr>
          </a:p>
          <a:p>
            <a:pPr indent="464820">
              <a:lnSpc>
                <a:spcPct val="100000"/>
              </a:lnSpc>
              <a:spcBef>
                <a:spcPts val="400"/>
              </a:spcBef>
            </a:pPr>
            <a:r>
              <a:rPr sz="1500" b="1" spc="15" dirty="0">
                <a:latin typeface="Courier New" panose="02070309020205020404"/>
                <a:cs typeface="Courier New" panose="02070309020205020404"/>
              </a:rPr>
              <a:t>mem_map[i</a:t>
            </a:r>
            <a:r>
              <a:rPr sz="1500" b="1" spc="20" dirty="0">
                <a:latin typeface="Courier New" panose="02070309020205020404"/>
                <a:cs typeface="Courier New" panose="02070309020205020404"/>
              </a:rPr>
              <a:t>]</a:t>
            </a:r>
            <a:r>
              <a:rPr sz="1500" b="1" spc="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500" b="1" spc="20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1500" b="1" spc="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500" b="1" spc="15" dirty="0">
                <a:latin typeface="Courier New" panose="02070309020205020404"/>
                <a:cs typeface="Courier New" panose="02070309020205020404"/>
              </a:rPr>
              <a:t>USED;</a:t>
            </a:r>
            <a:endParaRPr sz="1500">
              <a:latin typeface="Courier New" panose="02070309020205020404"/>
              <a:cs typeface="Courier New" panose="02070309020205020404"/>
            </a:endParaRPr>
          </a:p>
          <a:p>
            <a:pPr marR="807085">
              <a:lnSpc>
                <a:spcPct val="122000"/>
              </a:lnSpc>
              <a:spcBef>
                <a:spcPts val="30"/>
              </a:spcBef>
            </a:pPr>
            <a:r>
              <a:rPr sz="1500" b="1" spc="20" dirty="0">
                <a:latin typeface="Courier New" panose="02070309020205020404"/>
                <a:cs typeface="Courier New" panose="02070309020205020404"/>
              </a:rPr>
              <a:t>i</a:t>
            </a:r>
            <a:r>
              <a:rPr sz="1500" b="1" spc="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500" b="1" spc="20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1500" b="1" spc="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500" b="1" spc="15" dirty="0">
                <a:latin typeface="Courier New" panose="02070309020205020404"/>
                <a:cs typeface="Courier New" panose="02070309020205020404"/>
              </a:rPr>
              <a:t>MAP_NR(start_mem); end_me</a:t>
            </a:r>
            <a:r>
              <a:rPr sz="1500" b="1" spc="20" dirty="0">
                <a:latin typeface="Courier New" panose="02070309020205020404"/>
                <a:cs typeface="Courier New" panose="02070309020205020404"/>
              </a:rPr>
              <a:t>m</a:t>
            </a:r>
            <a:r>
              <a:rPr sz="1500" b="1" spc="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500" b="1" spc="15" dirty="0">
                <a:latin typeface="Courier New" panose="02070309020205020404"/>
                <a:cs typeface="Courier New" panose="02070309020205020404"/>
              </a:rPr>
              <a:t>-</a:t>
            </a:r>
            <a:r>
              <a:rPr sz="1500" b="1" spc="20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1500" b="1" spc="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500" b="1" spc="15" dirty="0">
                <a:latin typeface="Courier New" panose="02070309020205020404"/>
                <a:cs typeface="Courier New" panose="02070309020205020404"/>
              </a:rPr>
              <a:t>start_mem; end_me</a:t>
            </a:r>
            <a:r>
              <a:rPr sz="1500" b="1" spc="20" dirty="0">
                <a:latin typeface="Courier New" panose="02070309020205020404"/>
                <a:cs typeface="Courier New" panose="02070309020205020404"/>
              </a:rPr>
              <a:t>m</a:t>
            </a:r>
            <a:r>
              <a:rPr sz="1500" b="1" spc="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500" b="1" spc="15" dirty="0">
                <a:latin typeface="Courier New" panose="02070309020205020404"/>
                <a:cs typeface="Courier New" panose="02070309020205020404"/>
              </a:rPr>
              <a:t>&gt;&gt;</a:t>
            </a:r>
            <a:r>
              <a:rPr sz="1500" b="1" spc="20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1500" b="1" spc="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500" b="1" spc="15" dirty="0">
                <a:latin typeface="Courier New" panose="02070309020205020404"/>
                <a:cs typeface="Courier New" panose="02070309020205020404"/>
              </a:rPr>
              <a:t>12;</a:t>
            </a:r>
            <a:r>
              <a:rPr lang="en-US" sz="1500" b="1" spc="15" dirty="0">
                <a:latin typeface="Courier New" panose="02070309020205020404"/>
                <a:cs typeface="Courier New" panose="02070309020205020404"/>
              </a:rPr>
              <a:t>(4k)</a:t>
            </a:r>
            <a:r>
              <a:rPr sz="1500" b="1" spc="15" dirty="0">
                <a:latin typeface="Courier New" panose="02070309020205020404"/>
                <a:cs typeface="Courier New" panose="02070309020205020404"/>
              </a:rPr>
              <a:t> while(end_me</a:t>
            </a:r>
            <a:r>
              <a:rPr sz="1500" b="1" spc="20" dirty="0">
                <a:latin typeface="Courier New" panose="02070309020205020404"/>
                <a:cs typeface="Courier New" panose="02070309020205020404"/>
              </a:rPr>
              <a:t>m</a:t>
            </a:r>
            <a:r>
              <a:rPr sz="1500" b="1" spc="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500" b="1" spc="15" dirty="0">
                <a:latin typeface="Courier New" panose="02070309020205020404"/>
                <a:cs typeface="Courier New" panose="02070309020205020404"/>
              </a:rPr>
              <a:t>-</a:t>
            </a:r>
            <a:r>
              <a:rPr sz="1500" b="1" spc="20" dirty="0">
                <a:latin typeface="Courier New" panose="02070309020205020404"/>
                <a:cs typeface="Courier New" panose="02070309020205020404"/>
              </a:rPr>
              <a:t>-</a:t>
            </a:r>
            <a:r>
              <a:rPr sz="1500" b="1" spc="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500" b="1" spc="20" dirty="0">
                <a:latin typeface="Courier New" panose="02070309020205020404"/>
                <a:cs typeface="Courier New" panose="02070309020205020404"/>
              </a:rPr>
              <a:t>&gt;</a:t>
            </a:r>
            <a:r>
              <a:rPr sz="1500" b="1" spc="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500" b="1" spc="15" dirty="0">
                <a:latin typeface="Courier New" panose="02070309020205020404"/>
                <a:cs typeface="Courier New" panose="02070309020205020404"/>
              </a:rPr>
              <a:t>0)</a:t>
            </a:r>
            <a:endParaRPr sz="1500">
              <a:latin typeface="Courier New" panose="02070309020205020404"/>
              <a:cs typeface="Courier New" panose="02070309020205020404"/>
            </a:endParaRPr>
          </a:p>
          <a:p>
            <a:pPr marL="348615">
              <a:lnSpc>
                <a:spcPct val="100000"/>
              </a:lnSpc>
              <a:spcBef>
                <a:spcPts val="430"/>
              </a:spcBef>
            </a:pPr>
            <a:r>
              <a:rPr sz="1500" b="1" spc="15" dirty="0">
                <a:latin typeface="Courier New" panose="02070309020205020404"/>
                <a:cs typeface="Courier New" panose="02070309020205020404"/>
              </a:rPr>
              <a:t>mem_map[i++</a:t>
            </a:r>
            <a:r>
              <a:rPr sz="1500" b="1" spc="20" dirty="0">
                <a:latin typeface="Courier New" panose="02070309020205020404"/>
                <a:cs typeface="Courier New" panose="02070309020205020404"/>
              </a:rPr>
              <a:t>]</a:t>
            </a:r>
            <a:r>
              <a:rPr sz="1500" b="1" spc="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500" b="1" spc="20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1500" b="1" spc="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500" b="1" spc="15" dirty="0">
                <a:latin typeface="Courier New" panose="02070309020205020404"/>
                <a:cs typeface="Courier New" panose="02070309020205020404"/>
              </a:rPr>
              <a:t>0</a:t>
            </a:r>
            <a:r>
              <a:rPr sz="1500" b="1" spc="20" dirty="0">
                <a:latin typeface="Courier New" panose="02070309020205020404"/>
                <a:cs typeface="Courier New" panose="02070309020205020404"/>
              </a:rPr>
              <a:t>;</a:t>
            </a:r>
            <a:r>
              <a:rPr sz="1500" b="1" spc="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500" b="1" spc="20" dirty="0">
                <a:latin typeface="Courier New" panose="02070309020205020404"/>
                <a:cs typeface="Courier New" panose="02070309020205020404"/>
              </a:rPr>
              <a:t>}</a:t>
            </a:r>
            <a:endParaRPr sz="15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2068" y="2402674"/>
            <a:ext cx="2922270" cy="590550"/>
          </a:xfrm>
          <a:custGeom>
            <a:avLst/>
            <a:gdLst/>
            <a:ahLst/>
            <a:cxnLst/>
            <a:rect l="l" t="t" r="r" b="b"/>
            <a:pathLst>
              <a:path w="2922270" h="590550">
                <a:moveTo>
                  <a:pt x="1329006" y="0"/>
                </a:moveTo>
                <a:lnTo>
                  <a:pt x="486964" y="135914"/>
                </a:lnTo>
                <a:lnTo>
                  <a:pt x="69357" y="136180"/>
                </a:lnTo>
                <a:lnTo>
                  <a:pt x="55224" y="138727"/>
                </a:lnTo>
                <a:lnTo>
                  <a:pt x="20112" y="160252"/>
                </a:lnTo>
                <a:lnTo>
                  <a:pt x="1386" y="197144"/>
                </a:lnTo>
                <a:lnTo>
                  <a:pt x="0" y="211644"/>
                </a:lnTo>
                <a:lnTo>
                  <a:pt x="0" y="325239"/>
                </a:lnTo>
                <a:lnTo>
                  <a:pt x="266" y="520954"/>
                </a:lnTo>
                <a:lnTo>
                  <a:pt x="15114" y="559958"/>
                </a:lnTo>
                <a:lnTo>
                  <a:pt x="47672" y="584919"/>
                </a:lnTo>
                <a:lnTo>
                  <a:pt x="75751" y="590292"/>
                </a:lnTo>
                <a:lnTo>
                  <a:pt x="1217414" y="590292"/>
                </a:lnTo>
                <a:lnTo>
                  <a:pt x="2852437" y="590026"/>
                </a:lnTo>
                <a:lnTo>
                  <a:pt x="2891451" y="575182"/>
                </a:lnTo>
                <a:lnTo>
                  <a:pt x="2916419" y="542632"/>
                </a:lnTo>
                <a:lnTo>
                  <a:pt x="2921793" y="514560"/>
                </a:lnTo>
                <a:lnTo>
                  <a:pt x="2921793" y="211644"/>
                </a:lnTo>
                <a:lnTo>
                  <a:pt x="2906680" y="166247"/>
                </a:lnTo>
                <a:lnTo>
                  <a:pt x="2874121" y="141287"/>
                </a:lnTo>
                <a:lnTo>
                  <a:pt x="2846042" y="135914"/>
                </a:lnTo>
                <a:lnTo>
                  <a:pt x="1217414" y="135914"/>
                </a:lnTo>
                <a:lnTo>
                  <a:pt x="1329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112068" y="2402675"/>
            <a:ext cx="2922270" cy="590550"/>
          </a:xfrm>
          <a:custGeom>
            <a:avLst/>
            <a:gdLst/>
            <a:ahLst/>
            <a:cxnLst/>
            <a:rect l="l" t="t" r="r" b="b"/>
            <a:pathLst>
              <a:path w="2922270" h="590550">
                <a:moveTo>
                  <a:pt x="2921793" y="514561"/>
                </a:moveTo>
                <a:lnTo>
                  <a:pt x="2910090" y="555016"/>
                </a:lnTo>
                <a:lnTo>
                  <a:pt x="2879661" y="582443"/>
                </a:lnTo>
                <a:lnTo>
                  <a:pt x="1217414" y="590291"/>
                </a:lnTo>
                <a:lnTo>
                  <a:pt x="486965" y="590291"/>
                </a:lnTo>
                <a:lnTo>
                  <a:pt x="75751" y="590291"/>
                </a:lnTo>
                <a:lnTo>
                  <a:pt x="61247" y="588905"/>
                </a:lnTo>
                <a:lnTo>
                  <a:pt x="24344" y="570185"/>
                </a:lnTo>
                <a:lnTo>
                  <a:pt x="2814" y="535082"/>
                </a:lnTo>
                <a:lnTo>
                  <a:pt x="0" y="325239"/>
                </a:lnTo>
                <a:lnTo>
                  <a:pt x="0" y="211644"/>
                </a:lnTo>
                <a:lnTo>
                  <a:pt x="1387" y="197144"/>
                </a:lnTo>
                <a:lnTo>
                  <a:pt x="5374" y="183573"/>
                </a:lnTo>
                <a:lnTo>
                  <a:pt x="30342" y="151023"/>
                </a:lnTo>
                <a:lnTo>
                  <a:pt x="69357" y="136179"/>
                </a:lnTo>
                <a:lnTo>
                  <a:pt x="486965" y="135913"/>
                </a:lnTo>
                <a:lnTo>
                  <a:pt x="1329007" y="0"/>
                </a:lnTo>
                <a:lnTo>
                  <a:pt x="1217414" y="135913"/>
                </a:lnTo>
                <a:lnTo>
                  <a:pt x="2846042" y="135913"/>
                </a:lnTo>
                <a:lnTo>
                  <a:pt x="2860546" y="137300"/>
                </a:lnTo>
                <a:lnTo>
                  <a:pt x="2897448" y="156020"/>
                </a:lnTo>
                <a:lnTo>
                  <a:pt x="2918979" y="191123"/>
                </a:lnTo>
                <a:lnTo>
                  <a:pt x="2921793" y="211644"/>
                </a:lnTo>
                <a:lnTo>
                  <a:pt x="2921793" y="325239"/>
                </a:lnTo>
                <a:lnTo>
                  <a:pt x="2921793" y="514561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325086" y="2633839"/>
            <a:ext cx="2494915" cy="268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85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这两个参数从哪里来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?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47129" y="2245781"/>
            <a:ext cx="1582420" cy="1415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400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就是初始化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了</a:t>
            </a:r>
            <a:r>
              <a:rPr sz="19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一个称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sz="19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spc="40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40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_</a:t>
            </a:r>
            <a:r>
              <a:rPr sz="2000" b="1" spc="40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p</a:t>
            </a:r>
            <a:r>
              <a:rPr sz="2925" b="1" spc="8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的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表格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…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115641" y="2295172"/>
            <a:ext cx="160969" cy="1636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730067" y="4161366"/>
            <a:ext cx="2304415" cy="454659"/>
          </a:xfrm>
          <a:custGeom>
            <a:avLst/>
            <a:gdLst/>
            <a:ahLst/>
            <a:cxnLst/>
            <a:rect l="l" t="t" r="r" b="b"/>
            <a:pathLst>
              <a:path w="2304415" h="454660">
                <a:moveTo>
                  <a:pt x="0" y="254723"/>
                </a:moveTo>
                <a:lnTo>
                  <a:pt x="355932" y="378647"/>
                </a:lnTo>
                <a:lnTo>
                  <a:pt x="356198" y="385039"/>
                </a:lnTo>
                <a:lnTo>
                  <a:pt x="358747" y="399167"/>
                </a:lnTo>
                <a:lnTo>
                  <a:pt x="380278" y="434270"/>
                </a:lnTo>
                <a:lnTo>
                  <a:pt x="417180" y="452990"/>
                </a:lnTo>
                <a:lnTo>
                  <a:pt x="431684" y="454376"/>
                </a:lnTo>
                <a:lnTo>
                  <a:pt x="1167541" y="454376"/>
                </a:lnTo>
                <a:lnTo>
                  <a:pt x="2234438" y="454110"/>
                </a:lnTo>
                <a:lnTo>
                  <a:pt x="2273453" y="439266"/>
                </a:lnTo>
                <a:lnTo>
                  <a:pt x="2298420" y="406717"/>
                </a:lnTo>
                <a:lnTo>
                  <a:pt x="2303795" y="265052"/>
                </a:lnTo>
                <a:lnTo>
                  <a:pt x="355932" y="265052"/>
                </a:lnTo>
                <a:lnTo>
                  <a:pt x="0" y="254723"/>
                </a:lnTo>
                <a:close/>
              </a:path>
              <a:path w="2304415" h="454660">
                <a:moveTo>
                  <a:pt x="2228042" y="0"/>
                </a:moveTo>
                <a:lnTo>
                  <a:pt x="680576" y="0"/>
                </a:lnTo>
                <a:lnTo>
                  <a:pt x="425289" y="266"/>
                </a:lnTo>
                <a:lnTo>
                  <a:pt x="386274" y="15109"/>
                </a:lnTo>
                <a:lnTo>
                  <a:pt x="361307" y="47659"/>
                </a:lnTo>
                <a:lnTo>
                  <a:pt x="355932" y="75731"/>
                </a:lnTo>
                <a:lnTo>
                  <a:pt x="355932" y="265052"/>
                </a:lnTo>
                <a:lnTo>
                  <a:pt x="2303795" y="265052"/>
                </a:lnTo>
                <a:lnTo>
                  <a:pt x="2303529" y="69336"/>
                </a:lnTo>
                <a:lnTo>
                  <a:pt x="2288680" y="30332"/>
                </a:lnTo>
                <a:lnTo>
                  <a:pt x="2256121" y="5372"/>
                </a:lnTo>
                <a:lnTo>
                  <a:pt x="222804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730068" y="4161366"/>
            <a:ext cx="2304415" cy="454659"/>
          </a:xfrm>
          <a:custGeom>
            <a:avLst/>
            <a:gdLst/>
            <a:ahLst/>
            <a:cxnLst/>
            <a:rect l="l" t="t" r="r" b="b"/>
            <a:pathLst>
              <a:path w="2304415" h="454660">
                <a:moveTo>
                  <a:pt x="2303794" y="378646"/>
                </a:moveTo>
                <a:lnTo>
                  <a:pt x="2292091" y="419101"/>
                </a:lnTo>
                <a:lnTo>
                  <a:pt x="2261662" y="446529"/>
                </a:lnTo>
                <a:lnTo>
                  <a:pt x="1167541" y="454377"/>
                </a:lnTo>
                <a:lnTo>
                  <a:pt x="680576" y="454377"/>
                </a:lnTo>
                <a:lnTo>
                  <a:pt x="431684" y="454377"/>
                </a:lnTo>
                <a:lnTo>
                  <a:pt x="417180" y="452991"/>
                </a:lnTo>
                <a:lnTo>
                  <a:pt x="380278" y="434271"/>
                </a:lnTo>
                <a:lnTo>
                  <a:pt x="358746" y="399168"/>
                </a:lnTo>
                <a:lnTo>
                  <a:pt x="355932" y="378648"/>
                </a:lnTo>
                <a:lnTo>
                  <a:pt x="0" y="254725"/>
                </a:lnTo>
                <a:lnTo>
                  <a:pt x="355932" y="265053"/>
                </a:lnTo>
                <a:lnTo>
                  <a:pt x="355932" y="75731"/>
                </a:lnTo>
                <a:lnTo>
                  <a:pt x="357319" y="61232"/>
                </a:lnTo>
                <a:lnTo>
                  <a:pt x="376044" y="24339"/>
                </a:lnTo>
                <a:lnTo>
                  <a:pt x="411156" y="2813"/>
                </a:lnTo>
                <a:lnTo>
                  <a:pt x="680576" y="0"/>
                </a:lnTo>
                <a:lnTo>
                  <a:pt x="1167541" y="0"/>
                </a:lnTo>
                <a:lnTo>
                  <a:pt x="2228042" y="0"/>
                </a:lnTo>
                <a:lnTo>
                  <a:pt x="2242546" y="1386"/>
                </a:lnTo>
                <a:lnTo>
                  <a:pt x="2279448" y="20106"/>
                </a:lnTo>
                <a:lnTo>
                  <a:pt x="2300980" y="55208"/>
                </a:lnTo>
                <a:lnTo>
                  <a:pt x="2303794" y="265053"/>
                </a:lnTo>
                <a:lnTo>
                  <a:pt x="2303794" y="378648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331472" y="4256176"/>
            <a:ext cx="1456055" cy="268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85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干了些什么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?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157443" y="5273276"/>
            <a:ext cx="4283075" cy="812800"/>
          </a:xfrm>
          <a:custGeom>
            <a:avLst/>
            <a:gdLst/>
            <a:ahLst/>
            <a:cxnLst/>
            <a:rect l="l" t="t" r="r" b="b"/>
            <a:pathLst>
              <a:path w="4283075" h="812800">
                <a:moveTo>
                  <a:pt x="0" y="812433"/>
                </a:moveTo>
                <a:lnTo>
                  <a:pt x="4282765" y="812433"/>
                </a:lnTo>
                <a:lnTo>
                  <a:pt x="4282765" y="0"/>
                </a:lnTo>
                <a:lnTo>
                  <a:pt x="0" y="0"/>
                </a:lnTo>
                <a:lnTo>
                  <a:pt x="0" y="812433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157443" y="5273276"/>
            <a:ext cx="4283075" cy="812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7210" marR="528955" indent="121920">
              <a:lnSpc>
                <a:spcPts val="2870"/>
              </a:lnSpc>
              <a:tabLst>
                <a:tab pos="2224405" algn="l"/>
              </a:tabLst>
            </a:pPr>
            <a:r>
              <a:rPr sz="3450" b="1" spc="112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管理硬件</a:t>
            </a:r>
            <a:r>
              <a:rPr sz="24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?	</a:t>
            </a:r>
            <a:r>
              <a:rPr sz="3450" b="1" spc="112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如何管理</a:t>
            </a:r>
            <a:r>
              <a:rPr sz="24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? </a:t>
            </a:r>
            <a:r>
              <a:rPr sz="3450" b="1" spc="112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就是用数据结构</a:t>
            </a:r>
            <a:r>
              <a:rPr sz="2400" b="1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+</a:t>
            </a:r>
            <a:r>
              <a:rPr sz="3450" b="1" spc="112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算法</a:t>
            </a:r>
            <a:r>
              <a:rPr sz="24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…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386679" y="5209894"/>
            <a:ext cx="965064" cy="7973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1010" name="标题 171009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zh-CN" altLang="en-US" dirty="0"/>
              <a:t>系统启动总结</a:t>
            </a:r>
            <a:endParaRPr lang="zh-CN" altLang="en-US" dirty="0"/>
          </a:p>
        </p:txBody>
      </p:sp>
      <p:pic>
        <p:nvPicPr>
          <p:cNvPr id="171012" name="图片 171011" descr="j02977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2872" y="0"/>
            <a:ext cx="1091494" cy="134337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1013" name="矩形 171012"/>
          <p:cNvSpPr/>
          <p:nvPr/>
        </p:nvSpPr>
        <p:spPr>
          <a:xfrm>
            <a:off x="648376" y="1161462"/>
            <a:ext cx="8728457" cy="953309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zh-CN" altLang="en-US" sz="2645" dirty="0">
                <a:solidFill>
                  <a:srgbClr val="FF0000"/>
                </a:solidFill>
              </a:rPr>
              <a:t>学习操作系统根本目标</a:t>
            </a:r>
            <a:r>
              <a:rPr lang="en-US" altLang="zh-CN" sz="2645">
                <a:solidFill>
                  <a:srgbClr val="FF0000"/>
                </a:solidFill>
              </a:rPr>
              <a:t>: </a:t>
            </a:r>
            <a:r>
              <a:rPr lang="zh-CN" altLang="en-US" sz="2645" dirty="0">
                <a:solidFill>
                  <a:srgbClr val="FF0000"/>
                </a:solidFill>
              </a:rPr>
              <a:t>认识、编写一个操作系统</a:t>
            </a:r>
            <a:endParaRPr lang="zh-CN" altLang="en-US" sz="2645">
              <a:solidFill>
                <a:srgbClr val="FF0000"/>
              </a:solidFill>
            </a:endParaRPr>
          </a:p>
        </p:txBody>
      </p:sp>
      <p:sp>
        <p:nvSpPr>
          <p:cNvPr id="171014" name="矩形 171013"/>
          <p:cNvSpPr/>
          <p:nvPr/>
        </p:nvSpPr>
        <p:spPr>
          <a:xfrm>
            <a:off x="644878" y="1778927"/>
            <a:ext cx="9487606" cy="95330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zh-CN" altLang="en-US" sz="2645" dirty="0">
                <a:sym typeface="Symbol" panose="05050102010706020507" pitchFamily="18" charset="2"/>
              </a:rPr>
              <a:t>认识操作系统</a:t>
            </a:r>
            <a:r>
              <a:rPr lang="zh-CN" altLang="en-US" sz="2645">
                <a:sym typeface="Symbol" panose="05050102010706020507" pitchFamily="18" charset="2"/>
              </a:rPr>
              <a:t> </a:t>
            </a:r>
            <a:r>
              <a:rPr lang="en-US" altLang="zh-CN" sz="2645">
                <a:sym typeface="Symbol" panose="05050102010706020507" pitchFamily="18" charset="2"/>
              </a:rPr>
              <a:t> </a:t>
            </a:r>
            <a:r>
              <a:rPr lang="zh-CN" altLang="en-US" sz="2645" dirty="0">
                <a:sym typeface="Symbol" panose="05050102010706020507" pitchFamily="18" charset="2"/>
              </a:rPr>
              <a:t>揭开操作系统神秘面纱</a:t>
            </a:r>
            <a:endParaRPr lang="zh-CN" altLang="zh-CN" sz="2645" dirty="0">
              <a:sym typeface="Symbol" panose="05050102010706020507" pitchFamily="18" charset="2"/>
            </a:endParaRPr>
          </a:p>
        </p:txBody>
      </p:sp>
      <p:sp>
        <p:nvSpPr>
          <p:cNvPr id="171015" name="矩形 171014"/>
          <p:cNvSpPr/>
          <p:nvPr/>
        </p:nvSpPr>
        <p:spPr>
          <a:xfrm>
            <a:off x="644878" y="2450615"/>
            <a:ext cx="9487606" cy="95330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zh-CN" altLang="en-US" sz="2645" dirty="0">
                <a:sym typeface="Symbol" panose="05050102010706020507" pitchFamily="18" charset="2"/>
              </a:rPr>
              <a:t>把黑屏背后的东西展现给大家</a:t>
            </a:r>
            <a:r>
              <a:rPr lang="zh-CN" altLang="en-US" sz="2645">
                <a:sym typeface="Symbol" panose="05050102010706020507" pitchFamily="18" charset="2"/>
              </a:rPr>
              <a:t> </a:t>
            </a:r>
            <a:r>
              <a:rPr lang="en-US" altLang="zh-CN" sz="2645">
                <a:sym typeface="Symbol" panose="05050102010706020507" pitchFamily="18" charset="2"/>
              </a:rPr>
              <a:t> </a:t>
            </a:r>
            <a:r>
              <a:rPr lang="zh-CN" altLang="en-US" sz="2645" dirty="0">
                <a:sym typeface="Symbol" panose="05050102010706020507" pitchFamily="18" charset="2"/>
              </a:rPr>
              <a:t>从开启电源后的黑屏开始</a:t>
            </a:r>
            <a:endParaRPr lang="zh-CN" altLang="en-US" sz="2645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171017" name="矩形 171016"/>
          <p:cNvSpPr/>
          <p:nvPr/>
        </p:nvSpPr>
        <p:spPr>
          <a:xfrm>
            <a:off x="644878" y="3122304"/>
            <a:ext cx="9487606" cy="95330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zh-CN" altLang="en-US" sz="2645" dirty="0">
                <a:sym typeface="Symbol" panose="05050102010706020507" pitchFamily="18" charset="2"/>
              </a:rPr>
              <a:t>打开电源</a:t>
            </a:r>
            <a:r>
              <a:rPr lang="zh-CN" altLang="en-US" sz="2645">
                <a:sym typeface="Symbol" panose="05050102010706020507" pitchFamily="18" charset="2"/>
              </a:rPr>
              <a:t> </a:t>
            </a:r>
            <a:r>
              <a:rPr lang="en-US" altLang="zh-CN" sz="2645">
                <a:sym typeface="Symbol" panose="05050102010706020507" pitchFamily="18" charset="2"/>
              </a:rPr>
              <a:t> CS:IP=0xFFFF0  </a:t>
            </a:r>
            <a:r>
              <a:rPr lang="zh-CN" altLang="en-US" sz="2645" dirty="0">
                <a:sym typeface="Symbol" panose="05050102010706020507" pitchFamily="18" charset="2"/>
              </a:rPr>
              <a:t>进入</a:t>
            </a:r>
            <a:r>
              <a:rPr lang="en-US" altLang="zh-CN" sz="2645">
                <a:sym typeface="Symbol" panose="05050102010706020507" pitchFamily="18" charset="2"/>
              </a:rPr>
              <a:t>BIOS  BIOS</a:t>
            </a:r>
            <a:r>
              <a:rPr lang="zh-CN" altLang="en-US" sz="2645" dirty="0">
                <a:sym typeface="Symbol" panose="05050102010706020507" pitchFamily="18" charset="2"/>
              </a:rPr>
              <a:t>自检 </a:t>
            </a:r>
            <a:endParaRPr lang="zh-CN" altLang="zh-CN" sz="2645" dirty="0">
              <a:sym typeface="Symbol" panose="05050102010706020507" pitchFamily="18" charset="2"/>
            </a:endParaRPr>
          </a:p>
        </p:txBody>
      </p:sp>
      <p:sp>
        <p:nvSpPr>
          <p:cNvPr id="171018" name="矩形 171017"/>
          <p:cNvSpPr/>
          <p:nvPr/>
        </p:nvSpPr>
        <p:spPr>
          <a:xfrm>
            <a:off x="644878" y="3764256"/>
            <a:ext cx="9487606" cy="953309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en-US" altLang="zh-CN" sz="2645">
                <a:sym typeface="Symbol" panose="05050102010706020507" pitchFamily="18" charset="2"/>
              </a:rPr>
              <a:t>BIOS</a:t>
            </a:r>
            <a:r>
              <a:rPr lang="zh-CN" altLang="en-US" sz="2645" dirty="0">
                <a:sym typeface="Symbol" panose="05050102010706020507" pitchFamily="18" charset="2"/>
              </a:rPr>
              <a:t>根据</a:t>
            </a:r>
            <a:r>
              <a:rPr lang="en-US" altLang="zh-CN" sz="2645">
                <a:sym typeface="Symbol" panose="05050102010706020507" pitchFamily="18" charset="2"/>
              </a:rPr>
              <a:t>COMS</a:t>
            </a:r>
            <a:r>
              <a:rPr lang="zh-CN" altLang="en-US" sz="2645" dirty="0">
                <a:sym typeface="Symbol" panose="05050102010706020507" pitchFamily="18" charset="2"/>
              </a:rPr>
              <a:t>找到启动盘 </a:t>
            </a:r>
            <a:r>
              <a:rPr lang="en-US" altLang="zh-CN" sz="2645">
                <a:sym typeface="Symbol" panose="05050102010706020507" pitchFamily="18" charset="2"/>
              </a:rPr>
              <a:t> </a:t>
            </a:r>
            <a:r>
              <a:rPr lang="zh-CN" altLang="en-US" sz="2645" dirty="0">
                <a:sym typeface="Symbol" panose="05050102010706020507" pitchFamily="18" charset="2"/>
              </a:rPr>
              <a:t>将其</a:t>
            </a:r>
            <a:r>
              <a:rPr lang="en-US" altLang="zh-CN" sz="2645">
                <a:sym typeface="Symbol" panose="05050102010706020507" pitchFamily="18" charset="2"/>
              </a:rPr>
              <a:t>0</a:t>
            </a:r>
            <a:r>
              <a:rPr lang="zh-CN" altLang="en-US" sz="2645" dirty="0">
                <a:sym typeface="Symbol" panose="05050102010706020507" pitchFamily="18" charset="2"/>
              </a:rPr>
              <a:t>扇区读入</a:t>
            </a:r>
            <a:r>
              <a:rPr lang="en-US" altLang="zh-CN" sz="2645">
                <a:sym typeface="Symbol" panose="05050102010706020507" pitchFamily="18" charset="2"/>
              </a:rPr>
              <a:t>0x7c00</a:t>
            </a:r>
            <a:r>
              <a:rPr lang="zh-CN" altLang="en-US" sz="2645" dirty="0">
                <a:sym typeface="Symbol" panose="05050102010706020507" pitchFamily="18" charset="2"/>
              </a:rPr>
              <a:t>处</a:t>
            </a:r>
            <a:endParaRPr lang="zh-CN" altLang="en-US" sz="2645" dirty="0">
              <a:sym typeface="Symbol" panose="05050102010706020507" pitchFamily="18" charset="2"/>
            </a:endParaRPr>
          </a:p>
        </p:txBody>
      </p:sp>
      <p:sp>
        <p:nvSpPr>
          <p:cNvPr id="171019" name="矩形 171018"/>
          <p:cNvSpPr/>
          <p:nvPr/>
        </p:nvSpPr>
        <p:spPr>
          <a:xfrm>
            <a:off x="644878" y="4465682"/>
            <a:ext cx="9487606" cy="95330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en-US" altLang="zh-CN" sz="2645">
                <a:sym typeface="Symbol" panose="05050102010706020507" pitchFamily="18" charset="2"/>
              </a:rPr>
              <a:t>CS=0x07c0, IP=0x0000  </a:t>
            </a:r>
            <a:r>
              <a:rPr lang="zh-CN" altLang="en-US" sz="2645" dirty="0">
                <a:sym typeface="Symbol" panose="05050102010706020507" pitchFamily="18" charset="2"/>
              </a:rPr>
              <a:t>开始执行引导扇区</a:t>
            </a:r>
            <a:r>
              <a:rPr lang="en-US" altLang="zh-CN" sz="2645" err="1">
                <a:sym typeface="Symbol" panose="05050102010706020507" pitchFamily="18" charset="2"/>
              </a:rPr>
              <a:t>bootsect.s</a:t>
            </a:r>
            <a:endParaRPr lang="en-US" altLang="zh-CN" sz="2645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171020" name="矩形 171019"/>
          <p:cNvSpPr/>
          <p:nvPr/>
        </p:nvSpPr>
        <p:spPr>
          <a:xfrm>
            <a:off x="644878" y="5809060"/>
            <a:ext cx="9487606" cy="95330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en-US" altLang="zh-CN" sz="2645">
                <a:sym typeface="Symbol" panose="05050102010706020507" pitchFamily="18" charset="2"/>
              </a:rPr>
              <a:t>setup</a:t>
            </a:r>
            <a:r>
              <a:rPr lang="zh-CN" altLang="en-US" sz="2645" dirty="0">
                <a:sym typeface="Symbol" panose="05050102010706020507" pitchFamily="18" charset="2"/>
              </a:rPr>
              <a:t>启动保护模式</a:t>
            </a:r>
            <a:r>
              <a:rPr lang="en-US" altLang="zh-CN" sz="2645">
                <a:sym typeface="Symbol" panose="05050102010706020507" pitchFamily="18" charset="2"/>
              </a:rPr>
              <a:t>(</a:t>
            </a:r>
            <a:r>
              <a:rPr lang="zh-CN" altLang="en-US" sz="2645" dirty="0">
                <a:sym typeface="Symbol" panose="05050102010706020507" pitchFamily="18" charset="2"/>
              </a:rPr>
              <a:t>设置</a:t>
            </a:r>
            <a:r>
              <a:rPr lang="en-US" altLang="zh-CN" sz="2645">
                <a:sym typeface="Symbol" panose="05050102010706020507" pitchFamily="18" charset="2"/>
              </a:rPr>
              <a:t>cr0)</a:t>
            </a:r>
            <a:r>
              <a:rPr lang="zh-CN" altLang="en-US" sz="2645" dirty="0">
                <a:sym typeface="Symbol" panose="05050102010706020507" pitchFamily="18" charset="2"/>
              </a:rPr>
              <a:t>后调用</a:t>
            </a:r>
            <a:r>
              <a:rPr lang="en-US" altLang="zh-CN" sz="2645">
                <a:sym typeface="Symbol" panose="05050102010706020507" pitchFamily="18" charset="2"/>
              </a:rPr>
              <a:t>system</a:t>
            </a:r>
            <a:r>
              <a:rPr lang="zh-CN" altLang="en-US" sz="2645" dirty="0">
                <a:sym typeface="Symbol" panose="05050102010706020507" pitchFamily="18" charset="2"/>
              </a:rPr>
              <a:t>的</a:t>
            </a:r>
            <a:r>
              <a:rPr lang="en-US" altLang="zh-CN" sz="2645" err="1">
                <a:sym typeface="Symbol" panose="05050102010706020507" pitchFamily="18" charset="2"/>
              </a:rPr>
              <a:t>head.s</a:t>
            </a:r>
            <a:r>
              <a:rPr lang="en-US" altLang="zh-CN" sz="2645">
                <a:sym typeface="Symbol" panose="05050102010706020507" pitchFamily="18" charset="2"/>
              </a:rPr>
              <a:t> </a:t>
            </a:r>
            <a:endParaRPr lang="en-US" altLang="zh-CN" sz="2645">
              <a:sym typeface="Symbol" panose="05050102010706020507" pitchFamily="18" charset="2"/>
            </a:endParaRPr>
          </a:p>
        </p:txBody>
      </p:sp>
      <p:sp>
        <p:nvSpPr>
          <p:cNvPr id="171022" name="矩形 171021"/>
          <p:cNvSpPr/>
          <p:nvPr/>
        </p:nvSpPr>
        <p:spPr>
          <a:xfrm>
            <a:off x="644878" y="5137371"/>
            <a:ext cx="9487606" cy="95330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en-US" altLang="zh-CN" sz="2645" err="1">
                <a:sym typeface="Symbol" panose="05050102010706020507" pitchFamily="18" charset="2"/>
              </a:rPr>
              <a:t>bootsect</a:t>
            </a:r>
            <a:r>
              <a:rPr lang="zh-CN" altLang="en-US" sz="2645" dirty="0">
                <a:sym typeface="Symbol" panose="05050102010706020507" pitchFamily="18" charset="2"/>
              </a:rPr>
              <a:t>将</a:t>
            </a:r>
            <a:r>
              <a:rPr lang="en-US" altLang="zh-CN" sz="2645">
                <a:sym typeface="Symbol" panose="05050102010706020507" pitchFamily="18" charset="2"/>
              </a:rPr>
              <a:t>setup</a:t>
            </a:r>
            <a:r>
              <a:rPr lang="zh-CN" altLang="en-US" sz="2645" dirty="0">
                <a:sym typeface="Symbol" panose="05050102010706020507" pitchFamily="18" charset="2"/>
              </a:rPr>
              <a:t>模块和</a:t>
            </a:r>
            <a:r>
              <a:rPr lang="en-US" altLang="zh-CN" sz="2645">
                <a:sym typeface="Symbol" panose="05050102010706020507" pitchFamily="18" charset="2"/>
              </a:rPr>
              <a:t>system</a:t>
            </a:r>
            <a:r>
              <a:rPr lang="zh-CN" altLang="en-US" sz="2645" dirty="0">
                <a:sym typeface="Symbol" panose="05050102010706020507" pitchFamily="18" charset="2"/>
              </a:rPr>
              <a:t>模块读入</a:t>
            </a:r>
            <a:r>
              <a:rPr lang="zh-CN" altLang="en-US" sz="2645">
                <a:sym typeface="Symbol" panose="05050102010706020507" pitchFamily="18" charset="2"/>
              </a:rPr>
              <a:t> </a:t>
            </a:r>
            <a:r>
              <a:rPr lang="en-US" altLang="zh-CN" sz="2645">
                <a:sym typeface="Symbol" panose="05050102010706020507" pitchFamily="18" charset="2"/>
              </a:rPr>
              <a:t> </a:t>
            </a:r>
            <a:r>
              <a:rPr lang="zh-CN" altLang="en-US" sz="2645" dirty="0">
                <a:sym typeface="Symbol" panose="05050102010706020507" pitchFamily="18" charset="2"/>
              </a:rPr>
              <a:t>转入</a:t>
            </a:r>
            <a:r>
              <a:rPr lang="en-US" altLang="zh-CN" sz="2645">
                <a:sym typeface="Symbol" panose="05050102010706020507" pitchFamily="18" charset="2"/>
              </a:rPr>
              <a:t>setup</a:t>
            </a:r>
            <a:endParaRPr lang="en-US" altLang="zh-CN" sz="2645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171024" name="矩形 171023"/>
          <p:cNvSpPr/>
          <p:nvPr/>
        </p:nvSpPr>
        <p:spPr>
          <a:xfrm>
            <a:off x="644878" y="6451012"/>
            <a:ext cx="9487606" cy="953309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en-US" altLang="zh-CN" sz="2645" err="1">
                <a:sym typeface="Symbol" panose="05050102010706020507" pitchFamily="18" charset="2"/>
              </a:rPr>
              <a:t>head.s</a:t>
            </a:r>
            <a:r>
              <a:rPr lang="zh-CN" altLang="en-US" sz="2645" dirty="0">
                <a:sym typeface="Symbol" panose="05050102010706020507" pitchFamily="18" charset="2"/>
              </a:rPr>
              <a:t>完成</a:t>
            </a:r>
            <a:r>
              <a:rPr lang="en-US" altLang="zh-CN" sz="2645" err="1">
                <a:sym typeface="Symbol" panose="05050102010706020507" pitchFamily="18" charset="2"/>
              </a:rPr>
              <a:t>idt,gdt</a:t>
            </a:r>
            <a:r>
              <a:rPr lang="zh-CN" altLang="en-US" sz="2645" dirty="0">
                <a:sym typeface="Symbol" panose="05050102010706020507" pitchFamily="18" charset="2"/>
              </a:rPr>
              <a:t>等设置 </a:t>
            </a:r>
            <a:r>
              <a:rPr lang="en-US" altLang="zh-CN" sz="2645" dirty="0">
                <a:sym typeface="Symbol" panose="05050102010706020507" pitchFamily="18" charset="2"/>
              </a:rPr>
              <a:t> </a:t>
            </a:r>
            <a:r>
              <a:rPr lang="zh-CN" altLang="en-US" sz="2645" dirty="0">
                <a:sym typeface="Symbol" panose="05050102010706020507" pitchFamily="18" charset="2"/>
              </a:rPr>
              <a:t>调用</a:t>
            </a:r>
            <a:r>
              <a:rPr lang="en-US" altLang="zh-CN" sz="2645">
                <a:sym typeface="Symbol" panose="05050102010706020507" pitchFamily="18" charset="2"/>
              </a:rPr>
              <a:t>main()</a:t>
            </a:r>
            <a:r>
              <a:rPr lang="zh-CN" altLang="en-US" sz="2645" dirty="0">
                <a:sym typeface="Symbol" panose="05050102010706020507" pitchFamily="18" charset="2"/>
              </a:rPr>
              <a:t>进行</a:t>
            </a:r>
            <a:r>
              <a:rPr lang="en-US" altLang="zh-CN" sz="2645">
                <a:sym typeface="Symbol" panose="05050102010706020507" pitchFamily="18" charset="2"/>
              </a:rPr>
              <a:t>OS</a:t>
            </a:r>
            <a:r>
              <a:rPr lang="zh-CN" altLang="en-US" sz="2645" dirty="0">
                <a:sym typeface="Symbol" panose="05050102010706020507" pitchFamily="18" charset="2"/>
              </a:rPr>
              <a:t>初始化</a:t>
            </a:r>
            <a:endParaRPr lang="zh-CN" altLang="en-US" sz="2645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1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1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1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71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71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71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71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7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3" grpId="0"/>
      <p:bldP spid="171014" grpId="0"/>
      <p:bldP spid="171015" grpId="0"/>
      <p:bldP spid="171017" grpId="0"/>
      <p:bldP spid="171018" grpId="0"/>
      <p:bldP spid="171019" grpId="0"/>
      <p:bldP spid="171020" grpId="0"/>
      <p:bldP spid="171022" grpId="0"/>
      <p:bldP spid="17102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89159" y="1736706"/>
            <a:ext cx="306070" cy="306070"/>
          </a:xfrm>
          <a:custGeom>
            <a:avLst/>
            <a:gdLst/>
            <a:ahLst/>
            <a:cxnLst/>
            <a:rect l="l" t="t" r="r" b="b"/>
            <a:pathLst>
              <a:path w="306070" h="306069">
                <a:moveTo>
                  <a:pt x="297974" y="38249"/>
                </a:moveTo>
                <a:lnTo>
                  <a:pt x="38259" y="297893"/>
                </a:lnTo>
                <a:lnTo>
                  <a:pt x="45911" y="305544"/>
                </a:lnTo>
                <a:lnTo>
                  <a:pt x="305626" y="45899"/>
                </a:lnTo>
                <a:lnTo>
                  <a:pt x="297974" y="38249"/>
                </a:lnTo>
                <a:close/>
              </a:path>
              <a:path w="306070" h="306069">
                <a:moveTo>
                  <a:pt x="275018" y="15299"/>
                </a:moveTo>
                <a:lnTo>
                  <a:pt x="15303" y="274943"/>
                </a:lnTo>
                <a:lnTo>
                  <a:pt x="30607" y="290243"/>
                </a:lnTo>
                <a:lnTo>
                  <a:pt x="290322" y="30599"/>
                </a:lnTo>
                <a:lnTo>
                  <a:pt x="275018" y="15299"/>
                </a:lnTo>
                <a:close/>
              </a:path>
              <a:path w="306070" h="306069">
                <a:moveTo>
                  <a:pt x="259715" y="0"/>
                </a:moveTo>
                <a:lnTo>
                  <a:pt x="0" y="259643"/>
                </a:lnTo>
                <a:lnTo>
                  <a:pt x="7651" y="267294"/>
                </a:lnTo>
                <a:lnTo>
                  <a:pt x="267366" y="7650"/>
                </a:lnTo>
                <a:lnTo>
                  <a:pt x="259715" y="0"/>
                </a:lnTo>
                <a:close/>
              </a:path>
            </a:pathLst>
          </a:custGeom>
          <a:solidFill>
            <a:srgbClr val="99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71830" y="1786702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10819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71830" y="1759656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21638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71830" y="1732609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10819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905635" y="2031365"/>
            <a:ext cx="7117080" cy="31826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2338705" algn="l"/>
                <a:tab pos="5048885" algn="l"/>
              </a:tabLst>
            </a:pPr>
            <a:r>
              <a:rPr sz="5925" b="1" spc="195" baseline="4000" dirty="0">
                <a:solidFill>
                  <a:srgbClr val="0033CC"/>
                </a:solidFill>
                <a:latin typeface="华文琥珀" panose="02010800040101010101" charset="-122"/>
                <a:cs typeface="华文琥珀" panose="02010800040101010101" charset="-122"/>
              </a:rPr>
              <a:t>操作系</a:t>
            </a:r>
            <a:r>
              <a:rPr sz="5925" b="1" spc="217" baseline="4000" dirty="0">
                <a:solidFill>
                  <a:srgbClr val="0033CC"/>
                </a:solidFill>
                <a:latin typeface="华文琥珀" panose="02010800040101010101" charset="-122"/>
                <a:cs typeface="华文琥珀" panose="02010800040101010101" charset="-122"/>
              </a:rPr>
              <a:t>统</a:t>
            </a:r>
            <a:r>
              <a:rPr sz="5925" b="1" baseline="4000" dirty="0">
                <a:solidFill>
                  <a:srgbClr val="0033CC"/>
                </a:solidFill>
                <a:latin typeface="华文琥珀" panose="02010800040101010101" charset="-122"/>
                <a:cs typeface="华文琥珀" panose="02010800040101010101" charset="-122"/>
              </a:rPr>
              <a:t>	</a:t>
            </a:r>
            <a:r>
              <a:rPr sz="4600" b="1" spc="-10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p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er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4600" b="1" spc="-10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g	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m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endParaRPr sz="4600" b="1" dirty="0">
              <a:solidFill>
                <a:srgbClr val="0033CC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tabLst>
                <a:tab pos="2338705" algn="l"/>
                <a:tab pos="5048885" algn="l"/>
              </a:tabLst>
            </a:pPr>
            <a:endParaRPr sz="4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lang="en-US" sz="5100" b="1" spc="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  <a:sym typeface="+mn-ea"/>
              </a:rPr>
              <a:t>     </a:t>
            </a:r>
            <a:r>
              <a:rPr sz="5100" b="1" spc="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  <a:sym typeface="+mn-ea"/>
              </a:rPr>
              <a:t>L4</a:t>
            </a:r>
            <a:r>
              <a:rPr sz="5100" b="1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  <a:sym typeface="+mn-ea"/>
              </a:rPr>
              <a:t>.</a:t>
            </a:r>
            <a:r>
              <a:rPr sz="5100" b="1" spc="10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  <a:sym typeface="+mn-ea"/>
              </a:rPr>
              <a:t> </a:t>
            </a:r>
            <a:r>
              <a:rPr sz="5100" b="1" spc="14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  <a:sym typeface="+mn-ea"/>
              </a:rPr>
              <a:t>操作系统接</a:t>
            </a:r>
            <a:r>
              <a:rPr sz="5100" b="1" spc="13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  <a:sym typeface="+mn-ea"/>
              </a:rPr>
              <a:t>口</a:t>
            </a:r>
            <a:endParaRPr sz="5100">
              <a:latin typeface="黑体" panose="02010609060101010101" charset="-122"/>
              <a:cs typeface="黑体" panose="02010609060101010101" charset="-122"/>
            </a:endParaRPr>
          </a:p>
          <a:p>
            <a:pPr marL="2233295">
              <a:lnSpc>
                <a:spcPct val="100000"/>
              </a:lnSpc>
              <a:spcBef>
                <a:spcPts val="2680"/>
              </a:spcBef>
            </a:pPr>
            <a:r>
              <a:rPr lang="en-US" sz="34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   </a:t>
            </a:r>
            <a:r>
              <a:rPr sz="3400" b="1" spc="5" dirty="0">
                <a:latin typeface="Times New Roman" panose="02020603050405020304"/>
                <a:cs typeface="Times New Roman" panose="02020603050405020304"/>
                <a:sym typeface="+mn-ea"/>
              </a:rPr>
              <a:t>O</a:t>
            </a:r>
            <a:r>
              <a:rPr sz="3400" b="1" dirty="0">
                <a:latin typeface="Times New Roman" panose="02020603050405020304"/>
                <a:cs typeface="Times New Roman" panose="02020603050405020304"/>
                <a:sym typeface="+mn-ea"/>
              </a:rPr>
              <a:t>S</a:t>
            </a:r>
            <a:r>
              <a:rPr sz="3400" b="1" spc="5" dirty="0">
                <a:latin typeface="Times New Roman" panose="02020603050405020304"/>
                <a:cs typeface="Times New Roman" panose="02020603050405020304"/>
                <a:sym typeface="+mn-ea"/>
              </a:rPr>
              <a:t> Int</a:t>
            </a:r>
            <a:r>
              <a:rPr sz="3400" b="1" dirty="0">
                <a:latin typeface="Times New Roman" panose="02020603050405020304"/>
                <a:cs typeface="Times New Roman" panose="02020603050405020304"/>
                <a:sym typeface="+mn-ea"/>
              </a:rPr>
              <a:t>e</a:t>
            </a:r>
            <a:r>
              <a:rPr sz="34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r</a:t>
            </a:r>
            <a:r>
              <a:rPr sz="3400" b="1" spc="5" dirty="0">
                <a:latin typeface="Times New Roman" panose="02020603050405020304"/>
                <a:cs typeface="Times New Roman" panose="02020603050405020304"/>
                <a:sym typeface="+mn-ea"/>
              </a:rPr>
              <a:t>f</a:t>
            </a:r>
            <a:r>
              <a:rPr sz="3400" b="1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z="34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ce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"/>
          <p:cNvSpPr txBox="1"/>
          <p:nvPr>
            <p:custDataLst>
              <p:tags r:id="rId1"/>
            </p:custDataLst>
          </p:nvPr>
        </p:nvSpPr>
        <p:spPr>
          <a:xfrm>
            <a:off x="694287" y="1379513"/>
            <a:ext cx="3398520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lnSpc>
                <a:spcPct val="100000"/>
              </a:lnSpc>
            </a:pPr>
            <a:r>
              <a:rPr lang="zh-CN" altLang="en-US" sz="1950" b="1">
                <a:latin typeface="华文隶书" panose="02010800040101010101" charset="-122"/>
                <a:cs typeface="华文隶书" panose="02010800040101010101" charset="-122"/>
              </a:rPr>
              <a:t>苏州大学未来科学与工程学院</a:t>
            </a:r>
            <a:endParaRPr lang="zh-CN" altLang="en-US" sz="1950" b="1">
              <a:latin typeface="华文隶书" panose="02010800040101010101" charset="-122"/>
              <a:cs typeface="华文隶书" panose="02010800040101010101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50" spc="100" dirty="0"/>
              <a:t>接口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(</a:t>
            </a:r>
            <a:r>
              <a:rPr sz="3050" spc="-5" dirty="0">
                <a:latin typeface="Arial" panose="020B0604020202020204"/>
                <a:cs typeface="Arial" panose="020B0604020202020204"/>
              </a:rPr>
              <a:t>I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nt</a:t>
            </a:r>
            <a:r>
              <a:rPr sz="3050" dirty="0">
                <a:latin typeface="Arial" panose="020B0604020202020204"/>
                <a:cs typeface="Arial" panose="020B0604020202020204"/>
              </a:rPr>
              <a:t>e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rf</a:t>
            </a:r>
            <a:r>
              <a:rPr sz="3050" dirty="0">
                <a:latin typeface="Arial" panose="020B0604020202020204"/>
                <a:cs typeface="Arial" panose="020B0604020202020204"/>
              </a:rPr>
              <a:t>ace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)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4963" y="1957036"/>
            <a:ext cx="6123305" cy="842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仍然从常识开始</a:t>
            </a:r>
            <a:r>
              <a:rPr sz="2400" b="1" dirty="0">
                <a:latin typeface="Arial" panose="020B0604020202020204"/>
                <a:cs typeface="Arial" panose="020B0604020202020204"/>
              </a:rPr>
              <a:t>…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659130">
              <a:lnSpc>
                <a:spcPct val="100000"/>
              </a:lnSpc>
              <a:spcBef>
                <a:spcPts val="1295"/>
              </a:spcBef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日常生活中有很多接口：电源插座；汽车油门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…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9951" y="2560226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432655" y="2821222"/>
            <a:ext cx="1623218" cy="16227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931058" y="2941579"/>
            <a:ext cx="2142648" cy="12414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50374" y="4529792"/>
            <a:ext cx="2321560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那什么是接口</a:t>
            </a:r>
            <a:r>
              <a:rPr sz="2400" b="1" dirty="0">
                <a:latin typeface="Arial" panose="020B0604020202020204"/>
                <a:cs typeface="Arial" panose="020B0604020202020204"/>
              </a:rPr>
              <a:t>?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32079" y="5073883"/>
            <a:ext cx="6153150" cy="1036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24000"/>
              </a:lnSpc>
            </a:pP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f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ace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: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u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li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n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k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g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on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ev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w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h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o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h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b</a:t>
            </a:r>
            <a:r>
              <a:rPr sz="2000" b="1" dirty="0">
                <a:latin typeface="Arial" panose="020B0604020202020204"/>
                <a:cs typeface="Arial" panose="020B0604020202020204"/>
              </a:rPr>
              <a:t>li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ng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ta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o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on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f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o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40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o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be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s</a:t>
            </a:r>
            <a:r>
              <a:rPr sz="2000" b="1" spc="40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tt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no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h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dirty="0">
                <a:latin typeface="Arial" panose="020B0604020202020204"/>
                <a:cs typeface="Arial" panose="020B0604020202020204"/>
              </a:rPr>
              <a:t>(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出自牛津辞典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)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9951" y="5190478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047426" y="4545769"/>
            <a:ext cx="4438015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连接两个东西、信号转换、屏蔽细节</a:t>
            </a:r>
            <a:r>
              <a:rPr sz="2000" b="1" spc="3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…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sp>
        <p:nvSpPr>
          <p:cNvPr id="13" name="object 2"/>
          <p:cNvSpPr/>
          <p:nvPr>
            <p:custDataLst>
              <p:tags r:id="rId4"/>
            </p:custDataLst>
          </p:nvPr>
        </p:nvSpPr>
        <p:spPr>
          <a:xfrm>
            <a:off x="3175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2415">
              <a:lnSpc>
                <a:spcPct val="100000"/>
              </a:lnSpc>
            </a:pPr>
            <a:r>
              <a:rPr sz="2950" spc="100" dirty="0"/>
              <a:t>什么是操作系统接口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?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5022" y="4924071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671343" y="2992967"/>
            <a:ext cx="2061845" cy="633095"/>
          </a:xfrm>
          <a:custGeom>
            <a:avLst/>
            <a:gdLst/>
            <a:ahLst/>
            <a:cxnLst/>
            <a:rect l="l" t="t" r="r" b="b"/>
            <a:pathLst>
              <a:path w="2061845" h="633095">
                <a:moveTo>
                  <a:pt x="0" y="632882"/>
                </a:moveTo>
                <a:lnTo>
                  <a:pt x="2061489" y="632882"/>
                </a:lnTo>
                <a:lnTo>
                  <a:pt x="2061489" y="0"/>
                </a:lnTo>
                <a:lnTo>
                  <a:pt x="0" y="0"/>
                </a:lnTo>
                <a:lnTo>
                  <a:pt x="0" y="632882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732833" y="2782006"/>
            <a:ext cx="211454" cy="843915"/>
          </a:xfrm>
          <a:custGeom>
            <a:avLst/>
            <a:gdLst/>
            <a:ahLst/>
            <a:cxnLst/>
            <a:rect l="l" t="t" r="r" b="b"/>
            <a:pathLst>
              <a:path w="211454" h="843914">
                <a:moveTo>
                  <a:pt x="211016" y="0"/>
                </a:moveTo>
                <a:lnTo>
                  <a:pt x="0" y="210962"/>
                </a:lnTo>
                <a:lnTo>
                  <a:pt x="0" y="843843"/>
                </a:lnTo>
                <a:lnTo>
                  <a:pt x="211016" y="632884"/>
                </a:lnTo>
                <a:lnTo>
                  <a:pt x="211016" y="0"/>
                </a:lnTo>
                <a:close/>
              </a:path>
            </a:pathLst>
          </a:custGeom>
          <a:solidFill>
            <a:srgbClr val="6767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671343" y="2782006"/>
            <a:ext cx="2272665" cy="211454"/>
          </a:xfrm>
          <a:custGeom>
            <a:avLst/>
            <a:gdLst/>
            <a:ahLst/>
            <a:cxnLst/>
            <a:rect l="l" t="t" r="r" b="b"/>
            <a:pathLst>
              <a:path w="2272665" h="211455">
                <a:moveTo>
                  <a:pt x="2272506" y="0"/>
                </a:moveTo>
                <a:lnTo>
                  <a:pt x="211019" y="0"/>
                </a:lnTo>
                <a:lnTo>
                  <a:pt x="0" y="210962"/>
                </a:lnTo>
                <a:lnTo>
                  <a:pt x="2061489" y="210962"/>
                </a:lnTo>
                <a:lnTo>
                  <a:pt x="2272506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671343" y="2782006"/>
            <a:ext cx="2272665" cy="843915"/>
          </a:xfrm>
          <a:custGeom>
            <a:avLst/>
            <a:gdLst/>
            <a:ahLst/>
            <a:cxnLst/>
            <a:rect l="l" t="t" r="r" b="b"/>
            <a:pathLst>
              <a:path w="2272665" h="843914">
                <a:moveTo>
                  <a:pt x="0" y="210962"/>
                </a:moveTo>
                <a:lnTo>
                  <a:pt x="211019" y="0"/>
                </a:lnTo>
                <a:lnTo>
                  <a:pt x="2272506" y="0"/>
                </a:lnTo>
                <a:lnTo>
                  <a:pt x="2272506" y="632884"/>
                </a:lnTo>
                <a:lnTo>
                  <a:pt x="2061489" y="843844"/>
                </a:lnTo>
                <a:lnTo>
                  <a:pt x="0" y="843844"/>
                </a:lnTo>
                <a:lnTo>
                  <a:pt x="0" y="210962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671343" y="2782006"/>
            <a:ext cx="2272665" cy="211454"/>
          </a:xfrm>
          <a:custGeom>
            <a:avLst/>
            <a:gdLst/>
            <a:ahLst/>
            <a:cxnLst/>
            <a:rect l="l" t="t" r="r" b="b"/>
            <a:pathLst>
              <a:path w="2272665" h="211455">
                <a:moveTo>
                  <a:pt x="0" y="210962"/>
                </a:moveTo>
                <a:lnTo>
                  <a:pt x="2061489" y="210962"/>
                </a:lnTo>
                <a:lnTo>
                  <a:pt x="2272506" y="0"/>
                </a:lnTo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732833" y="2992968"/>
            <a:ext cx="0" cy="633095"/>
          </a:xfrm>
          <a:custGeom>
            <a:avLst/>
            <a:gdLst/>
            <a:ahLst/>
            <a:cxnLst/>
            <a:rect l="l" t="t" r="r" b="b"/>
            <a:pathLst>
              <a:path h="633095">
                <a:moveTo>
                  <a:pt x="0" y="0"/>
                </a:moveTo>
                <a:lnTo>
                  <a:pt x="0" y="632882"/>
                </a:lnTo>
              </a:path>
            </a:pathLst>
          </a:custGeom>
          <a:ln w="8116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862073" y="2388576"/>
            <a:ext cx="787258" cy="11764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969918" y="2913860"/>
            <a:ext cx="259715" cy="452755"/>
          </a:xfrm>
          <a:custGeom>
            <a:avLst/>
            <a:gdLst/>
            <a:ahLst/>
            <a:cxnLst/>
            <a:rect l="l" t="t" r="r" b="b"/>
            <a:pathLst>
              <a:path w="259715" h="452754">
                <a:moveTo>
                  <a:pt x="0" y="0"/>
                </a:moveTo>
                <a:lnTo>
                  <a:pt x="33" y="386928"/>
                </a:lnTo>
                <a:lnTo>
                  <a:pt x="19048" y="420000"/>
                </a:lnTo>
                <a:lnTo>
                  <a:pt x="53326" y="438722"/>
                </a:lnTo>
                <a:lnTo>
                  <a:pt x="101241" y="449919"/>
                </a:lnTo>
                <a:lnTo>
                  <a:pt x="139197" y="452175"/>
                </a:lnTo>
                <a:lnTo>
                  <a:pt x="157186" y="450860"/>
                </a:lnTo>
                <a:lnTo>
                  <a:pt x="205173" y="439942"/>
                </a:lnTo>
                <a:lnTo>
                  <a:pt x="240500" y="420464"/>
                </a:lnTo>
                <a:lnTo>
                  <a:pt x="259715" y="385401"/>
                </a:lnTo>
                <a:lnTo>
                  <a:pt x="259687" y="66772"/>
                </a:lnTo>
                <a:lnTo>
                  <a:pt x="120518" y="66772"/>
                </a:lnTo>
                <a:lnTo>
                  <a:pt x="102529" y="65457"/>
                </a:lnTo>
                <a:lnTo>
                  <a:pt x="54542" y="54539"/>
                </a:lnTo>
                <a:lnTo>
                  <a:pt x="19214" y="35061"/>
                </a:lnTo>
                <a:lnTo>
                  <a:pt x="1288" y="9467"/>
                </a:lnTo>
                <a:lnTo>
                  <a:pt x="0" y="0"/>
                </a:lnTo>
                <a:close/>
              </a:path>
              <a:path w="259715" h="452754">
                <a:moveTo>
                  <a:pt x="259681" y="1525"/>
                </a:moveTo>
                <a:lnTo>
                  <a:pt x="240666" y="34597"/>
                </a:lnTo>
                <a:lnTo>
                  <a:pt x="206389" y="53319"/>
                </a:lnTo>
                <a:lnTo>
                  <a:pt x="158474" y="64516"/>
                </a:lnTo>
                <a:lnTo>
                  <a:pt x="120518" y="66772"/>
                </a:lnTo>
                <a:lnTo>
                  <a:pt x="259687" y="66772"/>
                </a:lnTo>
                <a:lnTo>
                  <a:pt x="259681" y="15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969918" y="2847087"/>
            <a:ext cx="259715" cy="133985"/>
          </a:xfrm>
          <a:custGeom>
            <a:avLst/>
            <a:gdLst/>
            <a:ahLst/>
            <a:cxnLst/>
            <a:rect l="l" t="t" r="r" b="b"/>
            <a:pathLst>
              <a:path w="259715" h="133985">
                <a:moveTo>
                  <a:pt x="120518" y="0"/>
                </a:moveTo>
                <a:lnTo>
                  <a:pt x="69365" y="7521"/>
                </a:lnTo>
                <a:lnTo>
                  <a:pt x="29291" y="24417"/>
                </a:lnTo>
                <a:lnTo>
                  <a:pt x="1288" y="57304"/>
                </a:lnTo>
                <a:lnTo>
                  <a:pt x="0" y="66772"/>
                </a:lnTo>
                <a:lnTo>
                  <a:pt x="67" y="68946"/>
                </a:lnTo>
                <a:lnTo>
                  <a:pt x="19512" y="101713"/>
                </a:lnTo>
                <a:lnTo>
                  <a:pt x="53949" y="120235"/>
                </a:lnTo>
                <a:lnTo>
                  <a:pt x="102045" y="131292"/>
                </a:lnTo>
                <a:lnTo>
                  <a:pt x="140206" y="133505"/>
                </a:lnTo>
                <a:lnTo>
                  <a:pt x="158063" y="132128"/>
                </a:lnTo>
                <a:lnTo>
                  <a:pt x="205665" y="121035"/>
                </a:lnTo>
                <a:lnTo>
                  <a:pt x="240673" y="101254"/>
                </a:lnTo>
                <a:lnTo>
                  <a:pt x="259681" y="65246"/>
                </a:lnTo>
                <a:lnTo>
                  <a:pt x="258139" y="56341"/>
                </a:lnTo>
                <a:lnTo>
                  <a:pt x="230951" y="25226"/>
                </a:lnTo>
                <a:lnTo>
                  <a:pt x="191776" y="8781"/>
                </a:lnTo>
                <a:lnTo>
                  <a:pt x="140019" y="555"/>
                </a:lnTo>
                <a:lnTo>
                  <a:pt x="12051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969952" y="2847126"/>
            <a:ext cx="259715" cy="133985"/>
          </a:xfrm>
          <a:custGeom>
            <a:avLst/>
            <a:gdLst/>
            <a:ahLst/>
            <a:cxnLst/>
            <a:rect l="l" t="t" r="r" b="b"/>
            <a:pathLst>
              <a:path w="259715" h="133985">
                <a:moveTo>
                  <a:pt x="259681" y="66733"/>
                </a:moveTo>
                <a:lnTo>
                  <a:pt x="240467" y="101795"/>
                </a:lnTo>
                <a:lnTo>
                  <a:pt x="205139" y="121273"/>
                </a:lnTo>
                <a:lnTo>
                  <a:pt x="157152" y="132191"/>
                </a:lnTo>
                <a:lnTo>
                  <a:pt x="139163" y="133506"/>
                </a:lnTo>
                <a:lnTo>
                  <a:pt x="119662" y="132950"/>
                </a:lnTo>
                <a:lnTo>
                  <a:pt x="67905" y="124724"/>
                </a:lnTo>
                <a:lnTo>
                  <a:pt x="28730" y="108279"/>
                </a:lnTo>
                <a:lnTo>
                  <a:pt x="1542" y="77164"/>
                </a:lnTo>
                <a:lnTo>
                  <a:pt x="0" y="68259"/>
                </a:lnTo>
                <a:lnTo>
                  <a:pt x="1268" y="58474"/>
                </a:lnTo>
                <a:lnTo>
                  <a:pt x="28989" y="24830"/>
                </a:lnTo>
                <a:lnTo>
                  <a:pt x="68715" y="7695"/>
                </a:lnTo>
                <a:lnTo>
                  <a:pt x="119475" y="0"/>
                </a:lnTo>
                <a:lnTo>
                  <a:pt x="139090" y="540"/>
                </a:lnTo>
                <a:lnTo>
                  <a:pt x="191069" y="8654"/>
                </a:lnTo>
                <a:lnTo>
                  <a:pt x="230395" y="24914"/>
                </a:lnTo>
                <a:lnTo>
                  <a:pt x="257925" y="55730"/>
                </a:lnTo>
                <a:lnTo>
                  <a:pt x="259681" y="66733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969918" y="2913860"/>
            <a:ext cx="259715" cy="452755"/>
          </a:xfrm>
          <a:custGeom>
            <a:avLst/>
            <a:gdLst/>
            <a:ahLst/>
            <a:cxnLst/>
            <a:rect l="l" t="t" r="r" b="b"/>
            <a:pathLst>
              <a:path w="259715" h="452754">
                <a:moveTo>
                  <a:pt x="259715" y="0"/>
                </a:moveTo>
                <a:lnTo>
                  <a:pt x="259715" y="385402"/>
                </a:lnTo>
                <a:lnTo>
                  <a:pt x="258426" y="394870"/>
                </a:lnTo>
                <a:lnTo>
                  <a:pt x="230423" y="427757"/>
                </a:lnTo>
                <a:lnTo>
                  <a:pt x="190349" y="444654"/>
                </a:lnTo>
                <a:lnTo>
                  <a:pt x="139196" y="452175"/>
                </a:lnTo>
                <a:lnTo>
                  <a:pt x="119695" y="451619"/>
                </a:lnTo>
                <a:lnTo>
                  <a:pt x="67938" y="443393"/>
                </a:lnTo>
                <a:lnTo>
                  <a:pt x="28763" y="426948"/>
                </a:lnTo>
                <a:lnTo>
                  <a:pt x="1575" y="395833"/>
                </a:lnTo>
                <a:lnTo>
                  <a:pt x="33" y="386928"/>
                </a:lnTo>
                <a:lnTo>
                  <a:pt x="0" y="0"/>
                </a:lnTo>
              </a:path>
            </a:pathLst>
          </a:custGeom>
          <a:ln w="81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969918" y="2782006"/>
            <a:ext cx="259715" cy="194945"/>
          </a:xfrm>
          <a:custGeom>
            <a:avLst/>
            <a:gdLst/>
            <a:ahLst/>
            <a:cxnLst/>
            <a:rect l="l" t="t" r="r" b="b"/>
            <a:pathLst>
              <a:path w="259715" h="194944">
                <a:moveTo>
                  <a:pt x="0" y="0"/>
                </a:moveTo>
                <a:lnTo>
                  <a:pt x="0" y="129877"/>
                </a:lnTo>
                <a:lnTo>
                  <a:pt x="27678" y="169502"/>
                </a:lnTo>
                <a:lnTo>
                  <a:pt x="66734" y="185842"/>
                </a:lnTo>
                <a:lnTo>
                  <a:pt x="118452" y="194046"/>
                </a:lnTo>
                <a:lnTo>
                  <a:pt x="137914" y="194610"/>
                </a:lnTo>
                <a:lnTo>
                  <a:pt x="156070" y="193409"/>
                </a:lnTo>
                <a:lnTo>
                  <a:pt x="204543" y="182929"/>
                </a:lnTo>
                <a:lnTo>
                  <a:pt x="240268" y="164007"/>
                </a:lnTo>
                <a:lnTo>
                  <a:pt x="259707" y="129877"/>
                </a:lnTo>
                <a:lnTo>
                  <a:pt x="259714" y="64788"/>
                </a:lnTo>
                <a:lnTo>
                  <a:pt x="121800" y="64788"/>
                </a:lnTo>
                <a:lnTo>
                  <a:pt x="103644" y="63587"/>
                </a:lnTo>
                <a:lnTo>
                  <a:pt x="55171" y="53107"/>
                </a:lnTo>
                <a:lnTo>
                  <a:pt x="19446" y="34184"/>
                </a:lnTo>
                <a:lnTo>
                  <a:pt x="1304" y="9237"/>
                </a:lnTo>
                <a:lnTo>
                  <a:pt x="0" y="0"/>
                </a:lnTo>
                <a:close/>
              </a:path>
              <a:path w="259715" h="194944">
                <a:moveTo>
                  <a:pt x="259714" y="55"/>
                </a:moveTo>
                <a:lnTo>
                  <a:pt x="232036" y="39679"/>
                </a:lnTo>
                <a:lnTo>
                  <a:pt x="192980" y="56020"/>
                </a:lnTo>
                <a:lnTo>
                  <a:pt x="141262" y="64224"/>
                </a:lnTo>
                <a:lnTo>
                  <a:pt x="121800" y="64788"/>
                </a:lnTo>
                <a:lnTo>
                  <a:pt x="259714" y="64788"/>
                </a:lnTo>
                <a:lnTo>
                  <a:pt x="259714" y="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969918" y="2717216"/>
            <a:ext cx="259715" cy="130175"/>
          </a:xfrm>
          <a:custGeom>
            <a:avLst/>
            <a:gdLst/>
            <a:ahLst/>
            <a:cxnLst/>
            <a:rect l="l" t="t" r="r" b="b"/>
            <a:pathLst>
              <a:path w="259715" h="130175">
                <a:moveTo>
                  <a:pt x="121799" y="0"/>
                </a:moveTo>
                <a:lnTo>
                  <a:pt x="70150" y="7130"/>
                </a:lnTo>
                <a:lnTo>
                  <a:pt x="29639" y="23507"/>
                </a:lnTo>
                <a:lnTo>
                  <a:pt x="1304" y="55551"/>
                </a:lnTo>
                <a:lnTo>
                  <a:pt x="0" y="64789"/>
                </a:lnTo>
                <a:lnTo>
                  <a:pt x="1209" y="73666"/>
                </a:lnTo>
                <a:lnTo>
                  <a:pt x="27696" y="104478"/>
                </a:lnTo>
                <a:lnTo>
                  <a:pt x="66758" y="120813"/>
                </a:lnTo>
                <a:lnTo>
                  <a:pt x="118483" y="129013"/>
                </a:lnTo>
                <a:lnTo>
                  <a:pt x="137949" y="129576"/>
                </a:lnTo>
                <a:lnTo>
                  <a:pt x="156101" y="128373"/>
                </a:lnTo>
                <a:lnTo>
                  <a:pt x="204561" y="117886"/>
                </a:lnTo>
                <a:lnTo>
                  <a:pt x="240274" y="98953"/>
                </a:lnTo>
                <a:lnTo>
                  <a:pt x="259714" y="64732"/>
                </a:lnTo>
                <a:lnTo>
                  <a:pt x="258511" y="55931"/>
                </a:lnTo>
                <a:lnTo>
                  <a:pt x="232035" y="25108"/>
                </a:lnTo>
                <a:lnTo>
                  <a:pt x="192979" y="8767"/>
                </a:lnTo>
                <a:lnTo>
                  <a:pt x="141261" y="563"/>
                </a:lnTo>
                <a:lnTo>
                  <a:pt x="1217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969918" y="2717217"/>
            <a:ext cx="259715" cy="130175"/>
          </a:xfrm>
          <a:custGeom>
            <a:avLst/>
            <a:gdLst/>
            <a:ahLst/>
            <a:cxnLst/>
            <a:rect l="l" t="t" r="r" b="b"/>
            <a:pathLst>
              <a:path w="259715" h="130175">
                <a:moveTo>
                  <a:pt x="259714" y="64787"/>
                </a:moveTo>
                <a:lnTo>
                  <a:pt x="240268" y="98972"/>
                </a:lnTo>
                <a:lnTo>
                  <a:pt x="204543" y="117894"/>
                </a:lnTo>
                <a:lnTo>
                  <a:pt x="156070" y="128375"/>
                </a:lnTo>
                <a:lnTo>
                  <a:pt x="137914" y="129575"/>
                </a:lnTo>
                <a:lnTo>
                  <a:pt x="118452" y="129011"/>
                </a:lnTo>
                <a:lnTo>
                  <a:pt x="66734" y="120808"/>
                </a:lnTo>
                <a:lnTo>
                  <a:pt x="27678" y="104467"/>
                </a:lnTo>
                <a:lnTo>
                  <a:pt x="1203" y="73644"/>
                </a:lnTo>
                <a:lnTo>
                  <a:pt x="0" y="64842"/>
                </a:lnTo>
                <a:lnTo>
                  <a:pt x="1304" y="55593"/>
                </a:lnTo>
                <a:lnTo>
                  <a:pt x="29630" y="23521"/>
                </a:lnTo>
                <a:lnTo>
                  <a:pt x="70129" y="7136"/>
                </a:lnTo>
                <a:lnTo>
                  <a:pt x="121765" y="0"/>
                </a:lnTo>
                <a:lnTo>
                  <a:pt x="141231" y="563"/>
                </a:lnTo>
                <a:lnTo>
                  <a:pt x="192956" y="8762"/>
                </a:lnTo>
                <a:lnTo>
                  <a:pt x="232018" y="25097"/>
                </a:lnTo>
                <a:lnTo>
                  <a:pt x="258505" y="55909"/>
                </a:lnTo>
                <a:lnTo>
                  <a:pt x="259714" y="64787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969918" y="2782004"/>
            <a:ext cx="259715" cy="194945"/>
          </a:xfrm>
          <a:custGeom>
            <a:avLst/>
            <a:gdLst/>
            <a:ahLst/>
            <a:cxnLst/>
            <a:rect l="l" t="t" r="r" b="b"/>
            <a:pathLst>
              <a:path w="259715" h="194944">
                <a:moveTo>
                  <a:pt x="259715" y="0"/>
                </a:moveTo>
                <a:lnTo>
                  <a:pt x="259715" y="129822"/>
                </a:lnTo>
                <a:lnTo>
                  <a:pt x="258410" y="139059"/>
                </a:lnTo>
                <a:lnTo>
                  <a:pt x="230075" y="171103"/>
                </a:lnTo>
                <a:lnTo>
                  <a:pt x="189564" y="187480"/>
                </a:lnTo>
                <a:lnTo>
                  <a:pt x="137914" y="194610"/>
                </a:lnTo>
                <a:lnTo>
                  <a:pt x="118452" y="194046"/>
                </a:lnTo>
                <a:lnTo>
                  <a:pt x="66734" y="185843"/>
                </a:lnTo>
                <a:lnTo>
                  <a:pt x="27678" y="169502"/>
                </a:lnTo>
                <a:lnTo>
                  <a:pt x="1203" y="138679"/>
                </a:lnTo>
                <a:lnTo>
                  <a:pt x="0" y="129877"/>
                </a:lnTo>
                <a:lnTo>
                  <a:pt x="0" y="0"/>
                </a:lnTo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996473" y="3009195"/>
            <a:ext cx="1866900" cy="633095"/>
          </a:xfrm>
          <a:custGeom>
            <a:avLst/>
            <a:gdLst/>
            <a:ahLst/>
            <a:cxnLst/>
            <a:rect l="l" t="t" r="r" b="b"/>
            <a:pathLst>
              <a:path w="1866900" h="633095">
                <a:moveTo>
                  <a:pt x="0" y="632882"/>
                </a:moveTo>
                <a:lnTo>
                  <a:pt x="1866700" y="632882"/>
                </a:lnTo>
                <a:lnTo>
                  <a:pt x="1866700" y="0"/>
                </a:lnTo>
                <a:lnTo>
                  <a:pt x="0" y="0"/>
                </a:lnTo>
                <a:lnTo>
                  <a:pt x="0" y="632882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863174" y="2798232"/>
            <a:ext cx="211454" cy="843915"/>
          </a:xfrm>
          <a:custGeom>
            <a:avLst/>
            <a:gdLst/>
            <a:ahLst/>
            <a:cxnLst/>
            <a:rect l="l" t="t" r="r" b="b"/>
            <a:pathLst>
              <a:path w="211455" h="843914">
                <a:moveTo>
                  <a:pt x="211019" y="0"/>
                </a:moveTo>
                <a:lnTo>
                  <a:pt x="0" y="210962"/>
                </a:lnTo>
                <a:lnTo>
                  <a:pt x="0" y="843845"/>
                </a:lnTo>
                <a:lnTo>
                  <a:pt x="211019" y="632882"/>
                </a:lnTo>
                <a:lnTo>
                  <a:pt x="211019" y="0"/>
                </a:lnTo>
                <a:close/>
              </a:path>
            </a:pathLst>
          </a:custGeom>
          <a:solidFill>
            <a:srgbClr val="6767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996473" y="2798232"/>
            <a:ext cx="2077720" cy="211454"/>
          </a:xfrm>
          <a:custGeom>
            <a:avLst/>
            <a:gdLst/>
            <a:ahLst/>
            <a:cxnLst/>
            <a:rect l="l" t="t" r="r" b="b"/>
            <a:pathLst>
              <a:path w="2077720" h="211455">
                <a:moveTo>
                  <a:pt x="2077720" y="0"/>
                </a:moveTo>
                <a:lnTo>
                  <a:pt x="211019" y="0"/>
                </a:lnTo>
                <a:lnTo>
                  <a:pt x="0" y="210962"/>
                </a:lnTo>
                <a:lnTo>
                  <a:pt x="1866700" y="210962"/>
                </a:lnTo>
                <a:lnTo>
                  <a:pt x="2077720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996473" y="2798232"/>
            <a:ext cx="2077720" cy="843915"/>
          </a:xfrm>
          <a:custGeom>
            <a:avLst/>
            <a:gdLst/>
            <a:ahLst/>
            <a:cxnLst/>
            <a:rect l="l" t="t" r="r" b="b"/>
            <a:pathLst>
              <a:path w="2077720" h="843914">
                <a:moveTo>
                  <a:pt x="0" y="210961"/>
                </a:moveTo>
                <a:lnTo>
                  <a:pt x="211019" y="0"/>
                </a:lnTo>
                <a:lnTo>
                  <a:pt x="2077720" y="0"/>
                </a:lnTo>
                <a:lnTo>
                  <a:pt x="2077720" y="632882"/>
                </a:lnTo>
                <a:lnTo>
                  <a:pt x="1866700" y="843844"/>
                </a:lnTo>
                <a:lnTo>
                  <a:pt x="0" y="843844"/>
                </a:lnTo>
                <a:lnTo>
                  <a:pt x="0" y="210961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96473" y="2798232"/>
            <a:ext cx="2077720" cy="211454"/>
          </a:xfrm>
          <a:custGeom>
            <a:avLst/>
            <a:gdLst/>
            <a:ahLst/>
            <a:cxnLst/>
            <a:rect l="l" t="t" r="r" b="b"/>
            <a:pathLst>
              <a:path w="2077720" h="211455">
                <a:moveTo>
                  <a:pt x="0" y="210961"/>
                </a:moveTo>
                <a:lnTo>
                  <a:pt x="1866700" y="210961"/>
                </a:lnTo>
                <a:lnTo>
                  <a:pt x="2077720" y="0"/>
                </a:lnTo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863174" y="3009194"/>
            <a:ext cx="0" cy="633095"/>
          </a:xfrm>
          <a:custGeom>
            <a:avLst/>
            <a:gdLst/>
            <a:ahLst/>
            <a:cxnLst/>
            <a:rect l="l" t="t" r="r" b="b"/>
            <a:pathLst>
              <a:path h="633095">
                <a:moveTo>
                  <a:pt x="0" y="0"/>
                </a:moveTo>
                <a:lnTo>
                  <a:pt x="0" y="632882"/>
                </a:lnTo>
              </a:path>
            </a:pathLst>
          </a:custGeom>
          <a:ln w="8116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905476" y="2668410"/>
            <a:ext cx="130175" cy="205740"/>
          </a:xfrm>
          <a:custGeom>
            <a:avLst/>
            <a:gdLst/>
            <a:ahLst/>
            <a:cxnLst/>
            <a:rect l="l" t="t" r="r" b="b"/>
            <a:pathLst>
              <a:path w="130175" h="205739">
                <a:moveTo>
                  <a:pt x="129857" y="124664"/>
                </a:moveTo>
                <a:lnTo>
                  <a:pt x="0" y="124664"/>
                </a:lnTo>
                <a:lnTo>
                  <a:pt x="64928" y="205552"/>
                </a:lnTo>
                <a:lnTo>
                  <a:pt x="129857" y="124664"/>
                </a:lnTo>
                <a:close/>
              </a:path>
              <a:path w="130175" h="205739">
                <a:moveTo>
                  <a:pt x="97392" y="0"/>
                </a:moveTo>
                <a:lnTo>
                  <a:pt x="32465" y="0"/>
                </a:lnTo>
                <a:lnTo>
                  <a:pt x="32465" y="124664"/>
                </a:lnTo>
                <a:lnTo>
                  <a:pt x="97392" y="124664"/>
                </a:lnTo>
                <a:lnTo>
                  <a:pt x="9739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905476" y="2668410"/>
            <a:ext cx="130175" cy="205740"/>
          </a:xfrm>
          <a:custGeom>
            <a:avLst/>
            <a:gdLst/>
            <a:ahLst/>
            <a:cxnLst/>
            <a:rect l="l" t="t" r="r" b="b"/>
            <a:pathLst>
              <a:path w="130175" h="205739">
                <a:moveTo>
                  <a:pt x="0" y="124663"/>
                </a:moveTo>
                <a:lnTo>
                  <a:pt x="32464" y="124663"/>
                </a:lnTo>
                <a:lnTo>
                  <a:pt x="32464" y="0"/>
                </a:lnTo>
                <a:lnTo>
                  <a:pt x="97393" y="0"/>
                </a:lnTo>
                <a:lnTo>
                  <a:pt x="97393" y="124663"/>
                </a:lnTo>
                <a:lnTo>
                  <a:pt x="129857" y="124663"/>
                </a:lnTo>
                <a:lnTo>
                  <a:pt x="64928" y="205551"/>
                </a:lnTo>
                <a:lnTo>
                  <a:pt x="0" y="124663"/>
                </a:lnTo>
                <a:close/>
              </a:path>
            </a:pathLst>
          </a:custGeom>
          <a:ln w="81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905476" y="3577166"/>
            <a:ext cx="130175" cy="194945"/>
          </a:xfrm>
          <a:custGeom>
            <a:avLst/>
            <a:gdLst/>
            <a:ahLst/>
            <a:cxnLst/>
            <a:rect l="l" t="t" r="r" b="b"/>
            <a:pathLst>
              <a:path w="130175" h="194945">
                <a:moveTo>
                  <a:pt x="129857" y="113593"/>
                </a:moveTo>
                <a:lnTo>
                  <a:pt x="0" y="113593"/>
                </a:lnTo>
                <a:lnTo>
                  <a:pt x="64928" y="194732"/>
                </a:lnTo>
                <a:lnTo>
                  <a:pt x="129857" y="113593"/>
                </a:lnTo>
                <a:close/>
              </a:path>
              <a:path w="130175" h="194945">
                <a:moveTo>
                  <a:pt x="97392" y="0"/>
                </a:moveTo>
                <a:lnTo>
                  <a:pt x="32463" y="0"/>
                </a:lnTo>
                <a:lnTo>
                  <a:pt x="32463" y="113593"/>
                </a:lnTo>
                <a:lnTo>
                  <a:pt x="97392" y="113593"/>
                </a:lnTo>
                <a:lnTo>
                  <a:pt x="9739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905476" y="3577166"/>
            <a:ext cx="130175" cy="194945"/>
          </a:xfrm>
          <a:custGeom>
            <a:avLst/>
            <a:gdLst/>
            <a:ahLst/>
            <a:cxnLst/>
            <a:rect l="l" t="t" r="r" b="b"/>
            <a:pathLst>
              <a:path w="130175" h="194945">
                <a:moveTo>
                  <a:pt x="0" y="113594"/>
                </a:moveTo>
                <a:lnTo>
                  <a:pt x="32464" y="113594"/>
                </a:lnTo>
                <a:lnTo>
                  <a:pt x="32464" y="0"/>
                </a:lnTo>
                <a:lnTo>
                  <a:pt x="97393" y="0"/>
                </a:lnTo>
                <a:lnTo>
                  <a:pt x="97393" y="113594"/>
                </a:lnTo>
                <a:lnTo>
                  <a:pt x="129857" y="113594"/>
                </a:lnTo>
                <a:lnTo>
                  <a:pt x="64928" y="194733"/>
                </a:lnTo>
                <a:lnTo>
                  <a:pt x="0" y="113594"/>
                </a:lnTo>
                <a:close/>
              </a:path>
            </a:pathLst>
          </a:custGeom>
          <a:ln w="81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450975" y="3771899"/>
            <a:ext cx="1107847" cy="9330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190773" y="3690761"/>
            <a:ext cx="130175" cy="259715"/>
          </a:xfrm>
          <a:custGeom>
            <a:avLst/>
            <a:gdLst/>
            <a:ahLst/>
            <a:cxnLst/>
            <a:rect l="l" t="t" r="r" b="b"/>
            <a:pathLst>
              <a:path w="130175" h="259714">
                <a:moveTo>
                  <a:pt x="129857" y="194732"/>
                </a:moveTo>
                <a:lnTo>
                  <a:pt x="0" y="194732"/>
                </a:lnTo>
                <a:lnTo>
                  <a:pt x="64928" y="259643"/>
                </a:lnTo>
                <a:lnTo>
                  <a:pt x="129857" y="194732"/>
                </a:lnTo>
                <a:close/>
              </a:path>
              <a:path w="130175" h="259714">
                <a:moveTo>
                  <a:pt x="97392" y="0"/>
                </a:moveTo>
                <a:lnTo>
                  <a:pt x="32463" y="0"/>
                </a:lnTo>
                <a:lnTo>
                  <a:pt x="32463" y="194732"/>
                </a:lnTo>
                <a:lnTo>
                  <a:pt x="97392" y="194732"/>
                </a:lnTo>
                <a:lnTo>
                  <a:pt x="973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190773" y="3690761"/>
            <a:ext cx="130175" cy="259715"/>
          </a:xfrm>
          <a:custGeom>
            <a:avLst/>
            <a:gdLst/>
            <a:ahLst/>
            <a:cxnLst/>
            <a:rect l="l" t="t" r="r" b="b"/>
            <a:pathLst>
              <a:path w="130175" h="259714">
                <a:moveTo>
                  <a:pt x="0" y="194733"/>
                </a:moveTo>
                <a:lnTo>
                  <a:pt x="32464" y="194733"/>
                </a:lnTo>
                <a:lnTo>
                  <a:pt x="32464" y="0"/>
                </a:lnTo>
                <a:lnTo>
                  <a:pt x="97393" y="0"/>
                </a:lnTo>
                <a:lnTo>
                  <a:pt x="97393" y="194733"/>
                </a:lnTo>
                <a:lnTo>
                  <a:pt x="129857" y="194733"/>
                </a:lnTo>
                <a:lnTo>
                  <a:pt x="64928" y="259644"/>
                </a:lnTo>
                <a:lnTo>
                  <a:pt x="0" y="194733"/>
                </a:lnTo>
                <a:close/>
              </a:path>
            </a:pathLst>
          </a:custGeom>
          <a:ln w="811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1126511" y="4877266"/>
            <a:ext cx="4307840" cy="1262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什么是操作系统接口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?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都是命令吗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?…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2700" marR="494030">
              <a:lnSpc>
                <a:spcPct val="143000"/>
              </a:lnSpc>
              <a:spcBef>
                <a:spcPts val="760"/>
              </a:spcBef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问题：操作系统直接面对用户吗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?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即用户是怎么用操作系统的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?</a:t>
            </a:r>
            <a:r>
              <a:rPr sz="2000" b="1" dirty="0">
                <a:latin typeface="Arial" panose="020B0604020202020204"/>
                <a:cs typeface="Arial" panose="020B0604020202020204"/>
              </a:rPr>
              <a:t>.</a:t>
            </a:r>
            <a:r>
              <a:rPr sz="2000" b="1" dirty="0">
                <a:latin typeface="Arial" panose="020B0604020202020204"/>
                <a:cs typeface="Arial" panose="020B0604020202020204"/>
              </a:rPr>
              <a:t>.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.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580631" y="2381677"/>
            <a:ext cx="1611630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一个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h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ll</a:t>
            </a:r>
            <a:r>
              <a:rPr sz="1700" b="1" dirty="0">
                <a:latin typeface="Arial" panose="020B0604020202020204"/>
                <a:cs typeface="Arial" panose="020B0604020202020204"/>
              </a:rPr>
              <a:t>o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字符串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895022" y="5456883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480034" y="1957036"/>
            <a:ext cx="5150485" cy="2223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连接上层用户和操作系统软</a:t>
            </a:r>
            <a:r>
              <a:rPr sz="3450" b="1" spc="135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件</a:t>
            </a:r>
            <a:endParaRPr sz="3450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659130">
              <a:lnSpc>
                <a:spcPct val="100000"/>
              </a:lnSpc>
              <a:spcBef>
                <a:spcPts val="715"/>
              </a:spcBef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键入一个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h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ll</a:t>
            </a:r>
            <a:r>
              <a:rPr sz="1700" b="1" dirty="0">
                <a:latin typeface="Arial" panose="020B0604020202020204"/>
                <a:cs typeface="Arial" panose="020B0604020202020204"/>
              </a:rPr>
              <a:t>o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命令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450">
              <a:latin typeface="Times New Roman" panose="02020603050405020304"/>
              <a:cs typeface="Times New Roman" panose="02020603050405020304"/>
            </a:endParaRPr>
          </a:p>
          <a:p>
            <a:pPr marL="2282190" indent="454025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操作系统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250">
              <a:latin typeface="Times New Roman" panose="02020603050405020304"/>
              <a:cs typeface="Times New Roman" panose="02020603050405020304"/>
            </a:endParaRPr>
          </a:p>
          <a:p>
            <a:pPr marL="2282190">
              <a:lnSpc>
                <a:spcPts val="233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方便了使用，屏蔽了细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节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sp>
        <p:nvSpPr>
          <p:cNvPr id="37" name="object 37"/>
          <p:cNvSpPr txBox="1"/>
          <p:nvPr/>
        </p:nvSpPr>
        <p:spPr>
          <a:xfrm>
            <a:off x="6255988" y="4004013"/>
            <a:ext cx="1539875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屏幕上的像素了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7185">
              <a:lnSpc>
                <a:spcPct val="100000"/>
              </a:lnSpc>
            </a:pPr>
            <a:r>
              <a:rPr sz="2950" spc="100" dirty="0">
                <a:solidFill>
                  <a:srgbClr val="FF0000"/>
                </a:solidFill>
              </a:rPr>
              <a:t>会学习从会问问题开始</a:t>
            </a:r>
            <a:r>
              <a:rPr sz="3050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…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89809" y="3079515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89809" y="3857096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89809" y="5041723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664331" y="5070122"/>
            <a:ext cx="2507872" cy="9993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74821" y="1957036"/>
            <a:ext cx="4863465" cy="2182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看来操作系统接口连接的不是用</a:t>
            </a:r>
            <a:r>
              <a:rPr sz="3450" b="1" spc="135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户</a:t>
            </a:r>
            <a:endParaRPr sz="3450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7780">
              <a:lnSpc>
                <a:spcPct val="100000"/>
              </a:lnSpc>
              <a:spcBef>
                <a:spcPts val="1735"/>
              </a:spcBef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用户如何使用计算机</a:t>
            </a:r>
            <a:r>
              <a:rPr sz="2400" b="1" dirty="0">
                <a:latin typeface="Arial" panose="020B0604020202020204"/>
                <a:cs typeface="Arial" panose="020B0604020202020204"/>
              </a:rPr>
              <a:t>?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659130">
              <a:lnSpc>
                <a:spcPct val="100000"/>
              </a:lnSpc>
              <a:spcBef>
                <a:spcPts val="990"/>
              </a:spcBef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命令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行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659130">
              <a:lnSpc>
                <a:spcPts val="2330"/>
              </a:lnSpc>
              <a:spcBef>
                <a:spcPts val="1660"/>
              </a:spcBef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图形按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钮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21297" y="4988126"/>
            <a:ext cx="106299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应用程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序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554763" y="2971329"/>
            <a:ext cx="4723566" cy="4787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714379" y="3715101"/>
            <a:ext cx="3181508" cy="111160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7010">
              <a:lnSpc>
                <a:spcPct val="100000"/>
              </a:lnSpc>
            </a:pPr>
            <a:r>
              <a:rPr sz="2950" spc="100" dirty="0"/>
              <a:t>命令行是怎么回事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?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9749" y="1957036"/>
            <a:ext cx="531685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命令是什么</a:t>
            </a:r>
            <a:r>
              <a:rPr sz="2400" b="1" dirty="0">
                <a:latin typeface="Arial" panose="020B0604020202020204"/>
                <a:cs typeface="Arial" panose="020B0604020202020204"/>
              </a:rPr>
              <a:t>?</a:t>
            </a:r>
            <a:r>
              <a:rPr sz="24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命令输入后发生了什么</a:t>
            </a:r>
            <a:r>
              <a:rPr sz="2400" b="1" dirty="0">
                <a:latin typeface="Arial" panose="020B0604020202020204"/>
                <a:cs typeface="Arial" panose="020B0604020202020204"/>
              </a:rPr>
              <a:t>?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01687" y="2408767"/>
            <a:ext cx="3571240" cy="1071245"/>
          </a:xfrm>
          <a:custGeom>
            <a:avLst/>
            <a:gdLst/>
            <a:ahLst/>
            <a:cxnLst/>
            <a:rect l="l" t="t" r="r" b="b"/>
            <a:pathLst>
              <a:path w="3571240" h="1071245">
                <a:moveTo>
                  <a:pt x="0" y="0"/>
                </a:moveTo>
                <a:lnTo>
                  <a:pt x="3571081" y="0"/>
                </a:lnTo>
                <a:lnTo>
                  <a:pt x="3571081" y="1071033"/>
                </a:lnTo>
                <a:lnTo>
                  <a:pt x="0" y="1071033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66902" y="2471286"/>
            <a:ext cx="3397250" cy="965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#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latin typeface="Arial" panose="020B0604020202020204"/>
                <a:cs typeface="Arial" panose="020B0604020202020204"/>
              </a:rPr>
              <a:t>n</a:t>
            </a:r>
            <a:r>
              <a:rPr sz="1700" b="1" dirty="0">
                <a:latin typeface="Arial" panose="020B0604020202020204"/>
                <a:cs typeface="Arial" panose="020B0604020202020204"/>
              </a:rPr>
              <a:t>c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l</a:t>
            </a:r>
            <a:r>
              <a:rPr sz="1700" b="1" dirty="0">
                <a:latin typeface="Arial" panose="020B0604020202020204"/>
                <a:cs typeface="Arial" panose="020B0604020202020204"/>
              </a:rPr>
              <a:t>ud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&lt;</a:t>
            </a:r>
            <a:r>
              <a:rPr sz="1700" b="1" dirty="0">
                <a:latin typeface="Arial" panose="020B0604020202020204"/>
                <a:cs typeface="Arial" panose="020B0604020202020204"/>
              </a:rPr>
              <a:t>s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d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latin typeface="Arial" panose="020B0604020202020204"/>
                <a:cs typeface="Arial" panose="020B0604020202020204"/>
              </a:rPr>
              <a:t>o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.</a:t>
            </a:r>
            <a:r>
              <a:rPr sz="1700" b="1" dirty="0">
                <a:latin typeface="Arial" panose="020B0604020202020204"/>
                <a:cs typeface="Arial" panose="020B0604020202020204"/>
              </a:rPr>
              <a:t>h</a:t>
            </a:r>
            <a:r>
              <a:rPr sz="1700" b="1" dirty="0">
                <a:latin typeface="Arial" panose="020B0604020202020204"/>
                <a:cs typeface="Arial" panose="020B0604020202020204"/>
              </a:rPr>
              <a:t>&gt;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n</a:t>
            </a:r>
            <a:r>
              <a:rPr sz="1700" b="1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ma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n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n</a:t>
            </a:r>
            <a:r>
              <a:rPr sz="1700" b="1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a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r</a:t>
            </a:r>
            <a:r>
              <a:rPr sz="1700" b="1" dirty="0">
                <a:latin typeface="Arial" panose="020B0604020202020204"/>
                <a:cs typeface="Arial" panose="020B0604020202020204"/>
              </a:rPr>
              <a:t>g</a:t>
            </a:r>
            <a:r>
              <a:rPr sz="1700" b="1" dirty="0">
                <a:latin typeface="Arial" panose="020B0604020202020204"/>
                <a:cs typeface="Arial" panose="020B0604020202020204"/>
              </a:rPr>
              <a:t>c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,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c</a:t>
            </a:r>
            <a:r>
              <a:rPr sz="1700" b="1" dirty="0">
                <a:latin typeface="Arial" panose="020B0604020202020204"/>
                <a:cs typeface="Arial" panose="020B0604020202020204"/>
              </a:rPr>
              <a:t>h</a:t>
            </a:r>
            <a:r>
              <a:rPr sz="1700" b="1" dirty="0">
                <a:latin typeface="Arial" panose="020B0604020202020204"/>
                <a:cs typeface="Arial" panose="020B0604020202020204"/>
              </a:rPr>
              <a:t>a</a:t>
            </a:r>
            <a:r>
              <a:rPr sz="1700" b="1" dirty="0">
                <a:latin typeface="Arial" panose="020B0604020202020204"/>
                <a:cs typeface="Arial" panose="020B0604020202020204"/>
              </a:rPr>
              <a:t>r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*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a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r</a:t>
            </a:r>
            <a:r>
              <a:rPr sz="1700" b="1" dirty="0">
                <a:latin typeface="Arial" panose="020B0604020202020204"/>
                <a:cs typeface="Arial" panose="020B0604020202020204"/>
              </a:rPr>
              <a:t>g</a:t>
            </a:r>
            <a:r>
              <a:rPr sz="1700" b="1" dirty="0">
                <a:latin typeface="Arial" panose="020B0604020202020204"/>
                <a:cs typeface="Arial" panose="020B0604020202020204"/>
              </a:rPr>
              <a:t>v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[]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700" b="1" dirty="0">
                <a:latin typeface="Arial" panose="020B0604020202020204"/>
                <a:cs typeface="Arial" panose="020B0604020202020204"/>
              </a:rPr>
              <a:t>{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5" dirty="0">
                <a:solidFill>
                  <a:srgbClr val="FF33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solidFill>
                  <a:srgbClr val="FF330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700" b="1" spc="-10" dirty="0">
                <a:solidFill>
                  <a:srgbClr val="FF33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700" b="1" spc="5" dirty="0">
                <a:solidFill>
                  <a:srgbClr val="FF330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1700" b="1" spc="-5" dirty="0">
                <a:solidFill>
                  <a:srgbClr val="FF33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700" b="1" spc="-5" dirty="0">
                <a:solidFill>
                  <a:srgbClr val="FF3300"/>
                </a:solidFill>
                <a:latin typeface="Arial" panose="020B0604020202020204"/>
                <a:cs typeface="Arial" panose="020B0604020202020204"/>
              </a:rPr>
              <a:t>f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“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CH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O:%</a:t>
            </a:r>
            <a:r>
              <a:rPr sz="1700" b="1" dirty="0">
                <a:latin typeface="Arial" panose="020B0604020202020204"/>
                <a:cs typeface="Arial" panose="020B0604020202020204"/>
              </a:rPr>
              <a:t>s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\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n</a:t>
            </a:r>
            <a:r>
              <a:rPr sz="1700" b="1" dirty="0">
                <a:latin typeface="Arial" panose="020B0604020202020204"/>
                <a:cs typeface="Arial" panose="020B0604020202020204"/>
              </a:rPr>
              <a:t>”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,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a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r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g</a:t>
            </a:r>
            <a:r>
              <a:rPr sz="1700" b="1" dirty="0">
                <a:latin typeface="Arial" panose="020B0604020202020204"/>
                <a:cs typeface="Arial" panose="020B0604020202020204"/>
              </a:rPr>
              <a:t>v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[</a:t>
            </a:r>
            <a:r>
              <a:rPr sz="1700" b="1" dirty="0">
                <a:latin typeface="Arial" panose="020B0604020202020204"/>
                <a:cs typeface="Arial" panose="020B0604020202020204"/>
              </a:rPr>
              <a:t>1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])</a:t>
            </a:r>
            <a:r>
              <a:rPr sz="1700" b="1" dirty="0">
                <a:latin typeface="Arial" panose="020B0604020202020204"/>
                <a:cs typeface="Arial" panose="020B0604020202020204"/>
              </a:rPr>
              <a:t>;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}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24906" y="3512256"/>
            <a:ext cx="130175" cy="259715"/>
          </a:xfrm>
          <a:custGeom>
            <a:avLst/>
            <a:gdLst/>
            <a:ahLst/>
            <a:cxnLst/>
            <a:rect l="l" t="t" r="r" b="b"/>
            <a:pathLst>
              <a:path w="130175" h="259714">
                <a:moveTo>
                  <a:pt x="129857" y="194732"/>
                </a:moveTo>
                <a:lnTo>
                  <a:pt x="0" y="194732"/>
                </a:lnTo>
                <a:lnTo>
                  <a:pt x="64928" y="259643"/>
                </a:lnTo>
                <a:lnTo>
                  <a:pt x="129857" y="194732"/>
                </a:lnTo>
                <a:close/>
              </a:path>
              <a:path w="130175" h="259714">
                <a:moveTo>
                  <a:pt x="97393" y="0"/>
                </a:moveTo>
                <a:lnTo>
                  <a:pt x="32465" y="0"/>
                </a:lnTo>
                <a:lnTo>
                  <a:pt x="32465" y="194732"/>
                </a:lnTo>
                <a:lnTo>
                  <a:pt x="97393" y="194732"/>
                </a:lnTo>
                <a:lnTo>
                  <a:pt x="973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424906" y="3512256"/>
            <a:ext cx="130175" cy="259715"/>
          </a:xfrm>
          <a:custGeom>
            <a:avLst/>
            <a:gdLst/>
            <a:ahLst/>
            <a:cxnLst/>
            <a:rect l="l" t="t" r="r" b="b"/>
            <a:pathLst>
              <a:path w="130175" h="259714">
                <a:moveTo>
                  <a:pt x="0" y="194733"/>
                </a:moveTo>
                <a:lnTo>
                  <a:pt x="32464" y="194733"/>
                </a:lnTo>
                <a:lnTo>
                  <a:pt x="32464" y="0"/>
                </a:lnTo>
                <a:lnTo>
                  <a:pt x="97393" y="0"/>
                </a:lnTo>
                <a:lnTo>
                  <a:pt x="97393" y="194733"/>
                </a:lnTo>
                <a:lnTo>
                  <a:pt x="129857" y="194733"/>
                </a:lnTo>
                <a:lnTo>
                  <a:pt x="64928" y="259644"/>
                </a:lnTo>
                <a:lnTo>
                  <a:pt x="0" y="194733"/>
                </a:lnTo>
                <a:close/>
              </a:path>
            </a:pathLst>
          </a:custGeom>
          <a:ln w="81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01687" y="3836811"/>
            <a:ext cx="3571240" cy="346710"/>
          </a:xfrm>
          <a:prstGeom prst="rect">
            <a:avLst/>
          </a:prstGeom>
          <a:solidFill>
            <a:srgbClr val="FFCC66"/>
          </a:solidFill>
          <a:ln w="811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>
              <a:lnSpc>
                <a:spcPct val="100000"/>
              </a:lnSpc>
            </a:pPr>
            <a:r>
              <a:rPr sz="1700" b="1" spc="5" dirty="0">
                <a:latin typeface="Arial" panose="020B0604020202020204"/>
                <a:cs typeface="Arial" panose="020B0604020202020204"/>
              </a:rPr>
              <a:t>g</a:t>
            </a:r>
            <a:r>
              <a:rPr sz="1700" b="1" dirty="0">
                <a:latin typeface="Arial" panose="020B0604020202020204"/>
                <a:cs typeface="Arial" panose="020B0604020202020204"/>
              </a:rPr>
              <a:t>c</a:t>
            </a:r>
            <a:r>
              <a:rPr sz="1700" b="1" dirty="0">
                <a:latin typeface="Arial" panose="020B0604020202020204"/>
                <a:cs typeface="Arial" panose="020B0604020202020204"/>
              </a:rPr>
              <a:t>c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–</a:t>
            </a:r>
            <a:r>
              <a:rPr sz="1700" b="1" dirty="0">
                <a:latin typeface="Arial" panose="020B0604020202020204"/>
                <a:cs typeface="Arial" panose="020B0604020202020204"/>
              </a:rPr>
              <a:t>o 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ou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pu</a:t>
            </a:r>
            <a:r>
              <a:rPr sz="1700" b="1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ou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pu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.</a:t>
            </a:r>
            <a:r>
              <a:rPr sz="1700" b="1" dirty="0">
                <a:latin typeface="Arial" panose="020B0604020202020204"/>
                <a:cs typeface="Arial" panose="020B0604020202020204"/>
              </a:rPr>
              <a:t>c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70404" y="4226278"/>
            <a:ext cx="130175" cy="259715"/>
          </a:xfrm>
          <a:custGeom>
            <a:avLst/>
            <a:gdLst/>
            <a:ahLst/>
            <a:cxnLst/>
            <a:rect l="l" t="t" r="r" b="b"/>
            <a:pathLst>
              <a:path w="130175" h="259714">
                <a:moveTo>
                  <a:pt x="129857" y="194732"/>
                </a:moveTo>
                <a:lnTo>
                  <a:pt x="0" y="194732"/>
                </a:lnTo>
                <a:lnTo>
                  <a:pt x="64928" y="259643"/>
                </a:lnTo>
                <a:lnTo>
                  <a:pt x="129857" y="194732"/>
                </a:lnTo>
                <a:close/>
              </a:path>
              <a:path w="130175" h="259714">
                <a:moveTo>
                  <a:pt x="97393" y="0"/>
                </a:moveTo>
                <a:lnTo>
                  <a:pt x="32465" y="0"/>
                </a:lnTo>
                <a:lnTo>
                  <a:pt x="32465" y="194732"/>
                </a:lnTo>
                <a:lnTo>
                  <a:pt x="97393" y="194732"/>
                </a:lnTo>
                <a:lnTo>
                  <a:pt x="973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970404" y="4226278"/>
            <a:ext cx="130175" cy="259715"/>
          </a:xfrm>
          <a:custGeom>
            <a:avLst/>
            <a:gdLst/>
            <a:ahLst/>
            <a:cxnLst/>
            <a:rect l="l" t="t" r="r" b="b"/>
            <a:pathLst>
              <a:path w="130175" h="259714">
                <a:moveTo>
                  <a:pt x="0" y="194733"/>
                </a:moveTo>
                <a:lnTo>
                  <a:pt x="32464" y="194733"/>
                </a:lnTo>
                <a:lnTo>
                  <a:pt x="32464" y="0"/>
                </a:lnTo>
                <a:lnTo>
                  <a:pt x="97393" y="0"/>
                </a:lnTo>
                <a:lnTo>
                  <a:pt x="97393" y="194733"/>
                </a:lnTo>
                <a:lnTo>
                  <a:pt x="129857" y="194733"/>
                </a:lnTo>
                <a:lnTo>
                  <a:pt x="64928" y="259644"/>
                </a:lnTo>
                <a:lnTo>
                  <a:pt x="0" y="194733"/>
                </a:lnTo>
                <a:close/>
              </a:path>
            </a:pathLst>
          </a:custGeom>
          <a:ln w="81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01687" y="4529196"/>
            <a:ext cx="1948180" cy="346710"/>
          </a:xfrm>
          <a:custGeom>
            <a:avLst/>
            <a:gdLst/>
            <a:ahLst/>
            <a:cxnLst/>
            <a:rect l="l" t="t" r="r" b="b"/>
            <a:pathLst>
              <a:path w="1948180" h="346710">
                <a:moveTo>
                  <a:pt x="0" y="0"/>
                </a:moveTo>
                <a:lnTo>
                  <a:pt x="1947862" y="0"/>
                </a:lnTo>
                <a:lnTo>
                  <a:pt x="1947862" y="346192"/>
                </a:lnTo>
                <a:lnTo>
                  <a:pt x="0" y="346192"/>
                </a:lnTo>
                <a:lnTo>
                  <a:pt x="0" y="0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976304" y="4591139"/>
            <a:ext cx="159766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" dirty="0">
                <a:latin typeface="Arial" panose="020B0604020202020204"/>
                <a:cs typeface="Arial" panose="020B0604020202020204"/>
              </a:rPr>
              <a:t>./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o</a:t>
            </a:r>
            <a:r>
              <a:rPr sz="1700" b="1" dirty="0">
                <a:latin typeface="Arial" panose="020B0604020202020204"/>
                <a:cs typeface="Arial" panose="020B0604020202020204"/>
              </a:rPr>
              <a:t>u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pu</a:t>
            </a:r>
            <a:r>
              <a:rPr sz="1700" b="1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“</a:t>
            </a:r>
            <a:r>
              <a:rPr sz="1700" b="1" dirty="0">
                <a:latin typeface="Arial" panose="020B0604020202020204"/>
                <a:cs typeface="Arial" panose="020B0604020202020204"/>
              </a:rPr>
              <a:t>h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ll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o</a:t>
            </a:r>
            <a:r>
              <a:rPr sz="1700" b="1" dirty="0">
                <a:latin typeface="Arial" panose="020B0604020202020204"/>
                <a:cs typeface="Arial" panose="020B0604020202020204"/>
              </a:rPr>
              <a:t>”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937912" y="2366845"/>
            <a:ext cx="3012440" cy="752475"/>
          </a:xfrm>
          <a:custGeom>
            <a:avLst/>
            <a:gdLst/>
            <a:ahLst/>
            <a:cxnLst/>
            <a:rect l="l" t="t" r="r" b="b"/>
            <a:pathLst>
              <a:path w="3012440" h="752475">
                <a:moveTo>
                  <a:pt x="3012332" y="378645"/>
                </a:moveTo>
                <a:lnTo>
                  <a:pt x="3000630" y="419101"/>
                </a:lnTo>
                <a:lnTo>
                  <a:pt x="2970200" y="446529"/>
                </a:lnTo>
                <a:lnTo>
                  <a:pt x="1383703" y="454377"/>
                </a:lnTo>
                <a:lnTo>
                  <a:pt x="0" y="751891"/>
                </a:lnTo>
                <a:lnTo>
                  <a:pt x="685719" y="454377"/>
                </a:lnTo>
                <a:lnTo>
                  <a:pt x="296149" y="454377"/>
                </a:lnTo>
                <a:lnTo>
                  <a:pt x="281645" y="452991"/>
                </a:lnTo>
                <a:lnTo>
                  <a:pt x="244742" y="434271"/>
                </a:lnTo>
                <a:lnTo>
                  <a:pt x="223211" y="399169"/>
                </a:lnTo>
                <a:lnTo>
                  <a:pt x="220396" y="378648"/>
                </a:lnTo>
                <a:lnTo>
                  <a:pt x="220396" y="265053"/>
                </a:lnTo>
                <a:lnTo>
                  <a:pt x="220396" y="75732"/>
                </a:lnTo>
                <a:lnTo>
                  <a:pt x="221783" y="61232"/>
                </a:lnTo>
                <a:lnTo>
                  <a:pt x="240508" y="24339"/>
                </a:lnTo>
                <a:lnTo>
                  <a:pt x="275619" y="2813"/>
                </a:lnTo>
                <a:lnTo>
                  <a:pt x="685719" y="0"/>
                </a:lnTo>
                <a:lnTo>
                  <a:pt x="1383703" y="0"/>
                </a:lnTo>
                <a:lnTo>
                  <a:pt x="2936580" y="0"/>
                </a:lnTo>
                <a:lnTo>
                  <a:pt x="2951083" y="1386"/>
                </a:lnTo>
                <a:lnTo>
                  <a:pt x="2987986" y="20106"/>
                </a:lnTo>
                <a:lnTo>
                  <a:pt x="3009518" y="55208"/>
                </a:lnTo>
                <a:lnTo>
                  <a:pt x="3012332" y="265053"/>
                </a:lnTo>
                <a:lnTo>
                  <a:pt x="3012332" y="378648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372825" y="2449442"/>
            <a:ext cx="236093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命令，一段程序而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已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814478" y="4291188"/>
            <a:ext cx="3830954" cy="2158365"/>
          </a:xfrm>
          <a:custGeom>
            <a:avLst/>
            <a:gdLst/>
            <a:ahLst/>
            <a:cxnLst/>
            <a:rect l="l" t="t" r="r" b="b"/>
            <a:pathLst>
              <a:path w="3830954" h="2158365">
                <a:moveTo>
                  <a:pt x="0" y="0"/>
                </a:moveTo>
                <a:lnTo>
                  <a:pt x="3830796" y="0"/>
                </a:lnTo>
                <a:lnTo>
                  <a:pt x="3830796" y="2158294"/>
                </a:lnTo>
                <a:lnTo>
                  <a:pt x="0" y="2158294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879693" y="4353197"/>
            <a:ext cx="3562985" cy="2057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n</a:t>
            </a:r>
            <a:r>
              <a:rPr sz="1700" b="1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ma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n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n</a:t>
            </a:r>
            <a:r>
              <a:rPr sz="1700" b="1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a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r</a:t>
            </a:r>
            <a:r>
              <a:rPr sz="1700" b="1" dirty="0">
                <a:latin typeface="Arial" panose="020B0604020202020204"/>
                <a:cs typeface="Arial" panose="020B0604020202020204"/>
              </a:rPr>
              <a:t>g</a:t>
            </a:r>
            <a:r>
              <a:rPr sz="1700" b="1" dirty="0">
                <a:latin typeface="Arial" panose="020B0604020202020204"/>
                <a:cs typeface="Arial" panose="020B0604020202020204"/>
              </a:rPr>
              <a:t>c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,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c</a:t>
            </a:r>
            <a:r>
              <a:rPr sz="1700" b="1" dirty="0">
                <a:latin typeface="Arial" panose="020B0604020202020204"/>
                <a:cs typeface="Arial" panose="020B0604020202020204"/>
              </a:rPr>
              <a:t>h</a:t>
            </a:r>
            <a:r>
              <a:rPr sz="1700" b="1" dirty="0">
                <a:latin typeface="Arial" panose="020B0604020202020204"/>
                <a:cs typeface="Arial" panose="020B0604020202020204"/>
              </a:rPr>
              <a:t>a</a:t>
            </a:r>
            <a:r>
              <a:rPr sz="1700" b="1" dirty="0">
                <a:latin typeface="Arial" panose="020B0604020202020204"/>
                <a:cs typeface="Arial" panose="020B0604020202020204"/>
              </a:rPr>
              <a:t>r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*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a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r</a:t>
            </a:r>
            <a:r>
              <a:rPr sz="1700" b="1" dirty="0">
                <a:latin typeface="Arial" panose="020B0604020202020204"/>
                <a:cs typeface="Arial" panose="020B0604020202020204"/>
              </a:rPr>
              <a:t>g</a:t>
            </a:r>
            <a:r>
              <a:rPr sz="1700" b="1" dirty="0">
                <a:latin typeface="Arial" panose="020B0604020202020204"/>
                <a:cs typeface="Arial" panose="020B0604020202020204"/>
              </a:rPr>
              <a:t>v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[]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1700" b="1" dirty="0">
                <a:latin typeface="Arial" panose="020B0604020202020204"/>
                <a:cs typeface="Arial" panose="020B0604020202020204"/>
              </a:rPr>
              <a:t>{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c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h</a:t>
            </a:r>
            <a:r>
              <a:rPr sz="1700" b="1" dirty="0">
                <a:latin typeface="Arial" panose="020B0604020202020204"/>
                <a:cs typeface="Arial" panose="020B0604020202020204"/>
              </a:rPr>
              <a:t>a</a:t>
            </a:r>
            <a:r>
              <a:rPr sz="1700" b="1" dirty="0">
                <a:latin typeface="Arial" panose="020B0604020202020204"/>
                <a:cs typeface="Arial" panose="020B0604020202020204"/>
              </a:rPr>
              <a:t>r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cm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d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[</a:t>
            </a:r>
            <a:r>
              <a:rPr sz="1700" b="1" dirty="0">
                <a:latin typeface="Arial" panose="020B0604020202020204"/>
                <a:cs typeface="Arial" panose="020B0604020202020204"/>
              </a:rPr>
              <a:t>20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];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250190">
              <a:lnSpc>
                <a:spcPct val="100000"/>
              </a:lnSpc>
              <a:spcBef>
                <a:spcPts val="790"/>
              </a:spcBef>
            </a:pPr>
            <a:r>
              <a:rPr sz="1700" b="1" spc="-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17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h</a:t>
            </a:r>
            <a:r>
              <a:rPr sz="1700" b="1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il</a:t>
            </a:r>
            <a:r>
              <a:rPr sz="17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700" b="1" spc="-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7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)</a:t>
            </a:r>
            <a:r>
              <a:rPr sz="17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{</a:t>
            </a:r>
            <a:r>
              <a:rPr sz="1700" b="1" spc="-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sca</a:t>
            </a:r>
            <a:r>
              <a:rPr sz="17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1700" b="1" spc="-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f(</a:t>
            </a:r>
            <a:r>
              <a:rPr sz="17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7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%s</a:t>
            </a:r>
            <a:r>
              <a:rPr sz="17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700" b="1" spc="-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,</a:t>
            </a:r>
            <a:r>
              <a:rPr sz="1700" b="1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cm</a:t>
            </a:r>
            <a:r>
              <a:rPr sz="17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700" b="1" spc="-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);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023620">
              <a:lnSpc>
                <a:spcPct val="100000"/>
              </a:lnSpc>
              <a:spcBef>
                <a:spcPts val="825"/>
              </a:spcBef>
            </a:pP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if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(!f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k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()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{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exec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cm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);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}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023620">
              <a:lnSpc>
                <a:spcPct val="100000"/>
              </a:lnSpc>
              <a:spcBef>
                <a:spcPts val="825"/>
              </a:spcBef>
            </a:pP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l</a:t>
            </a:r>
            <a:r>
              <a:rPr sz="1700" b="1" dirty="0">
                <a:latin typeface="Arial" panose="020B0604020202020204"/>
                <a:cs typeface="Arial" panose="020B0604020202020204"/>
              </a:rPr>
              <a:t>se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{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w</a:t>
            </a:r>
            <a:r>
              <a:rPr sz="1700" b="1" dirty="0">
                <a:latin typeface="Arial" panose="020B0604020202020204"/>
                <a:cs typeface="Arial" panose="020B0604020202020204"/>
              </a:rPr>
              <a:t>a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it();</a:t>
            </a:r>
            <a:r>
              <a:rPr sz="1700" b="1" dirty="0">
                <a:latin typeface="Arial" panose="020B0604020202020204"/>
                <a:cs typeface="Arial" panose="020B0604020202020204"/>
              </a:rPr>
              <a:t>}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}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//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w</a:t>
            </a:r>
            <a:r>
              <a:rPr sz="1700" b="1" dirty="0">
                <a:latin typeface="Arial" panose="020B0604020202020204"/>
                <a:cs typeface="Arial" panose="020B0604020202020204"/>
              </a:rPr>
              <a:t>h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il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1)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1700" b="1" dirty="0">
                <a:latin typeface="Arial" panose="020B0604020202020204"/>
                <a:cs typeface="Arial" panose="020B0604020202020204"/>
              </a:rPr>
              <a:t>}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32483" y="3382433"/>
            <a:ext cx="4318000" cy="651510"/>
          </a:xfrm>
          <a:custGeom>
            <a:avLst/>
            <a:gdLst/>
            <a:ahLst/>
            <a:cxnLst/>
            <a:rect l="l" t="t" r="r" b="b"/>
            <a:pathLst>
              <a:path w="4318000" h="651510">
                <a:moveTo>
                  <a:pt x="4317761" y="424850"/>
                </a:moveTo>
                <a:lnTo>
                  <a:pt x="4307218" y="465873"/>
                </a:lnTo>
                <a:lnTo>
                  <a:pt x="4279304" y="495965"/>
                </a:lnTo>
                <a:lnTo>
                  <a:pt x="4239595" y="509552"/>
                </a:lnTo>
                <a:lnTo>
                  <a:pt x="1799067" y="509823"/>
                </a:lnTo>
                <a:lnTo>
                  <a:pt x="368218" y="651463"/>
                </a:lnTo>
                <a:lnTo>
                  <a:pt x="719626" y="509823"/>
                </a:lnTo>
                <a:lnTo>
                  <a:pt x="84995" y="509823"/>
                </a:lnTo>
                <a:lnTo>
                  <a:pt x="70446" y="508583"/>
                </a:lnTo>
                <a:lnTo>
                  <a:pt x="32437" y="491634"/>
                </a:lnTo>
                <a:lnTo>
                  <a:pt x="7221" y="459178"/>
                </a:lnTo>
                <a:lnTo>
                  <a:pt x="0" y="424850"/>
                </a:lnTo>
                <a:lnTo>
                  <a:pt x="0" y="297395"/>
                </a:lnTo>
                <a:lnTo>
                  <a:pt x="0" y="84972"/>
                </a:lnTo>
                <a:lnTo>
                  <a:pt x="1240" y="70427"/>
                </a:lnTo>
                <a:lnTo>
                  <a:pt x="18193" y="32429"/>
                </a:lnTo>
                <a:lnTo>
                  <a:pt x="50658" y="7219"/>
                </a:lnTo>
                <a:lnTo>
                  <a:pt x="719626" y="0"/>
                </a:lnTo>
                <a:lnTo>
                  <a:pt x="1799067" y="0"/>
                </a:lnTo>
                <a:lnTo>
                  <a:pt x="4232766" y="0"/>
                </a:lnTo>
                <a:lnTo>
                  <a:pt x="4247315" y="1239"/>
                </a:lnTo>
                <a:lnTo>
                  <a:pt x="4285324" y="18188"/>
                </a:lnTo>
                <a:lnTo>
                  <a:pt x="4310540" y="50644"/>
                </a:lnTo>
                <a:lnTo>
                  <a:pt x="4317761" y="297395"/>
                </a:lnTo>
                <a:lnTo>
                  <a:pt x="4317761" y="424850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077570" y="3467461"/>
            <a:ext cx="3426460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s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h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l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也是一段程序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: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即</a:t>
            </a:r>
            <a:r>
              <a:rPr sz="2000" b="1" dirty="0">
                <a:latin typeface="Arial" panose="020B0604020202020204"/>
                <a:cs typeface="Arial" panose="020B0604020202020204"/>
              </a:rPr>
              <a:t>/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b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2000" b="1" dirty="0">
                <a:latin typeface="Arial" panose="020B0604020202020204"/>
                <a:cs typeface="Arial" panose="020B0604020202020204"/>
              </a:rPr>
              <a:t>/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s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h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565585" y="4615743"/>
            <a:ext cx="325120" cy="194945"/>
          </a:xfrm>
          <a:custGeom>
            <a:avLst/>
            <a:gdLst/>
            <a:ahLst/>
            <a:cxnLst/>
            <a:rect l="l" t="t" r="r" b="b"/>
            <a:pathLst>
              <a:path w="325119" h="194945">
                <a:moveTo>
                  <a:pt x="243481" y="0"/>
                </a:moveTo>
                <a:lnTo>
                  <a:pt x="243481" y="48684"/>
                </a:lnTo>
                <a:lnTo>
                  <a:pt x="0" y="48684"/>
                </a:lnTo>
                <a:lnTo>
                  <a:pt x="0" y="146050"/>
                </a:lnTo>
                <a:lnTo>
                  <a:pt x="243481" y="146050"/>
                </a:lnTo>
                <a:lnTo>
                  <a:pt x="243481" y="194734"/>
                </a:lnTo>
                <a:lnTo>
                  <a:pt x="324643" y="97367"/>
                </a:lnTo>
                <a:lnTo>
                  <a:pt x="2434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565585" y="4615744"/>
            <a:ext cx="325120" cy="194945"/>
          </a:xfrm>
          <a:custGeom>
            <a:avLst/>
            <a:gdLst/>
            <a:ahLst/>
            <a:cxnLst/>
            <a:rect l="l" t="t" r="r" b="b"/>
            <a:pathLst>
              <a:path w="325119" h="194945">
                <a:moveTo>
                  <a:pt x="243482" y="194733"/>
                </a:moveTo>
                <a:lnTo>
                  <a:pt x="243482" y="146050"/>
                </a:lnTo>
                <a:lnTo>
                  <a:pt x="0" y="146050"/>
                </a:lnTo>
                <a:lnTo>
                  <a:pt x="0" y="48683"/>
                </a:lnTo>
                <a:lnTo>
                  <a:pt x="243482" y="48683"/>
                </a:lnTo>
                <a:lnTo>
                  <a:pt x="243482" y="0"/>
                </a:lnTo>
                <a:lnTo>
                  <a:pt x="324643" y="97366"/>
                </a:lnTo>
                <a:lnTo>
                  <a:pt x="243482" y="194733"/>
                </a:lnTo>
                <a:close/>
              </a:path>
            </a:pathLst>
          </a:custGeom>
          <a:ln w="81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890701" y="3238139"/>
            <a:ext cx="1011555" cy="2258060"/>
          </a:xfrm>
          <a:custGeom>
            <a:avLst/>
            <a:gdLst/>
            <a:ahLst/>
            <a:cxnLst/>
            <a:rect l="l" t="t" r="r" b="b"/>
            <a:pathLst>
              <a:path w="1011554" h="2258060">
                <a:moveTo>
                  <a:pt x="288287" y="0"/>
                </a:moveTo>
                <a:lnTo>
                  <a:pt x="295145" y="23360"/>
                </a:lnTo>
                <a:lnTo>
                  <a:pt x="284438" y="26504"/>
                </a:lnTo>
                <a:lnTo>
                  <a:pt x="244910" y="39596"/>
                </a:lnTo>
                <a:lnTo>
                  <a:pt x="206595" y="54136"/>
                </a:lnTo>
                <a:lnTo>
                  <a:pt x="169953" y="70622"/>
                </a:lnTo>
                <a:lnTo>
                  <a:pt x="135456" y="89561"/>
                </a:lnTo>
                <a:lnTo>
                  <a:pt x="103615" y="111469"/>
                </a:lnTo>
                <a:lnTo>
                  <a:pt x="50866" y="165054"/>
                </a:lnTo>
                <a:lnTo>
                  <a:pt x="30293" y="198441"/>
                </a:lnTo>
                <a:lnTo>
                  <a:pt x="14627" y="236487"/>
                </a:lnTo>
                <a:lnTo>
                  <a:pt x="4385" y="279481"/>
                </a:lnTo>
                <a:lnTo>
                  <a:pt x="0" y="328382"/>
                </a:lnTo>
                <a:lnTo>
                  <a:pt x="163" y="354540"/>
                </a:lnTo>
                <a:lnTo>
                  <a:pt x="5346" y="411285"/>
                </a:lnTo>
                <a:lnTo>
                  <a:pt x="17338" y="474320"/>
                </a:lnTo>
                <a:lnTo>
                  <a:pt x="36531" y="544084"/>
                </a:lnTo>
                <a:lnTo>
                  <a:pt x="48840" y="581511"/>
                </a:lnTo>
                <a:lnTo>
                  <a:pt x="62885" y="620580"/>
                </a:lnTo>
                <a:lnTo>
                  <a:pt x="78606" y="661240"/>
                </a:lnTo>
                <a:lnTo>
                  <a:pt x="95947" y="703442"/>
                </a:lnTo>
                <a:lnTo>
                  <a:pt x="114886" y="747218"/>
                </a:lnTo>
                <a:lnTo>
                  <a:pt x="157137" y="838847"/>
                </a:lnTo>
                <a:lnTo>
                  <a:pt x="204942" y="935807"/>
                </a:lnTo>
                <a:lnTo>
                  <a:pt x="257840" y="1037661"/>
                </a:lnTo>
                <a:lnTo>
                  <a:pt x="315367" y="1143970"/>
                </a:lnTo>
                <a:lnTo>
                  <a:pt x="377064" y="1254292"/>
                </a:lnTo>
                <a:lnTo>
                  <a:pt x="442466" y="1368184"/>
                </a:lnTo>
                <a:lnTo>
                  <a:pt x="511110" y="1485200"/>
                </a:lnTo>
                <a:lnTo>
                  <a:pt x="582532" y="1604893"/>
                </a:lnTo>
                <a:lnTo>
                  <a:pt x="656268" y="1726817"/>
                </a:lnTo>
                <a:lnTo>
                  <a:pt x="731856" y="1850524"/>
                </a:lnTo>
                <a:lnTo>
                  <a:pt x="947145" y="2198902"/>
                </a:lnTo>
                <a:lnTo>
                  <a:pt x="944418" y="2202147"/>
                </a:lnTo>
                <a:lnTo>
                  <a:pt x="940509" y="2211450"/>
                </a:lnTo>
                <a:lnTo>
                  <a:pt x="939833" y="2222236"/>
                </a:lnTo>
                <a:lnTo>
                  <a:pt x="943041" y="2234540"/>
                </a:lnTo>
                <a:lnTo>
                  <a:pt x="950783" y="2248400"/>
                </a:lnTo>
                <a:lnTo>
                  <a:pt x="960644" y="2254785"/>
                </a:lnTo>
                <a:lnTo>
                  <a:pt x="971980" y="2257662"/>
                </a:lnTo>
                <a:lnTo>
                  <a:pt x="983918" y="2256782"/>
                </a:lnTo>
                <a:lnTo>
                  <a:pt x="995586" y="2251897"/>
                </a:lnTo>
                <a:lnTo>
                  <a:pt x="1003994" y="2244147"/>
                </a:lnTo>
                <a:lnTo>
                  <a:pt x="1009330" y="2234320"/>
                </a:lnTo>
                <a:lnTo>
                  <a:pt x="1011289" y="2223032"/>
                </a:lnTo>
                <a:lnTo>
                  <a:pt x="1009570" y="2210899"/>
                </a:lnTo>
                <a:lnTo>
                  <a:pt x="1003869" y="2198535"/>
                </a:lnTo>
                <a:lnTo>
                  <a:pt x="994153" y="2190092"/>
                </a:lnTo>
                <a:lnTo>
                  <a:pt x="983659" y="2186087"/>
                </a:lnTo>
                <a:lnTo>
                  <a:pt x="967847" y="2186087"/>
                </a:lnTo>
                <a:lnTo>
                  <a:pt x="752593" y="1837767"/>
                </a:lnTo>
                <a:lnTo>
                  <a:pt x="677047" y="1714129"/>
                </a:lnTo>
                <a:lnTo>
                  <a:pt x="603368" y="1592299"/>
                </a:lnTo>
                <a:lnTo>
                  <a:pt x="532019" y="1472730"/>
                </a:lnTo>
                <a:lnTo>
                  <a:pt x="463468" y="1355871"/>
                </a:lnTo>
                <a:lnTo>
                  <a:pt x="398180" y="1242174"/>
                </a:lnTo>
                <a:lnTo>
                  <a:pt x="336619" y="1132091"/>
                </a:lnTo>
                <a:lnTo>
                  <a:pt x="279255" y="1026078"/>
                </a:lnTo>
                <a:lnTo>
                  <a:pt x="226551" y="924590"/>
                </a:lnTo>
                <a:lnTo>
                  <a:pt x="178977" y="828086"/>
                </a:lnTo>
                <a:lnTo>
                  <a:pt x="136998" y="737029"/>
                </a:lnTo>
                <a:lnTo>
                  <a:pt x="118295" y="693781"/>
                </a:lnTo>
                <a:lnTo>
                  <a:pt x="101128" y="651992"/>
                </a:lnTo>
                <a:lnTo>
                  <a:pt x="85596" y="611805"/>
                </a:lnTo>
                <a:lnTo>
                  <a:pt x="71754" y="573281"/>
                </a:lnTo>
                <a:lnTo>
                  <a:pt x="59662" y="536483"/>
                </a:lnTo>
                <a:lnTo>
                  <a:pt x="40933" y="468311"/>
                </a:lnTo>
                <a:lnTo>
                  <a:pt x="29364" y="407292"/>
                </a:lnTo>
                <a:lnTo>
                  <a:pt x="24464" y="353002"/>
                </a:lnTo>
                <a:lnTo>
                  <a:pt x="24347" y="328248"/>
                </a:lnTo>
                <a:lnTo>
                  <a:pt x="28409" y="283688"/>
                </a:lnTo>
                <a:lnTo>
                  <a:pt x="37758" y="244254"/>
                </a:lnTo>
                <a:lnTo>
                  <a:pt x="70407" y="179660"/>
                </a:lnTo>
                <a:lnTo>
                  <a:pt x="119706" y="129736"/>
                </a:lnTo>
                <a:lnTo>
                  <a:pt x="181640" y="91975"/>
                </a:lnTo>
                <a:lnTo>
                  <a:pt x="216568" y="76343"/>
                </a:lnTo>
                <a:lnTo>
                  <a:pt x="253540" y="62356"/>
                </a:lnTo>
                <a:lnTo>
                  <a:pt x="292088" y="49613"/>
                </a:lnTo>
                <a:lnTo>
                  <a:pt x="301999" y="46709"/>
                </a:lnTo>
                <a:lnTo>
                  <a:pt x="333984" y="46709"/>
                </a:lnTo>
                <a:lnTo>
                  <a:pt x="368660" y="14471"/>
                </a:lnTo>
                <a:lnTo>
                  <a:pt x="288287" y="0"/>
                </a:lnTo>
                <a:close/>
              </a:path>
              <a:path w="1011554" h="2258060">
                <a:moveTo>
                  <a:pt x="969801" y="2185363"/>
                </a:moveTo>
                <a:lnTo>
                  <a:pt x="967847" y="2186087"/>
                </a:lnTo>
                <a:lnTo>
                  <a:pt x="983659" y="2186087"/>
                </a:lnTo>
                <a:lnTo>
                  <a:pt x="982405" y="2185609"/>
                </a:lnTo>
                <a:lnTo>
                  <a:pt x="969801" y="2185363"/>
                </a:lnTo>
                <a:close/>
              </a:path>
              <a:path w="1011554" h="2258060">
                <a:moveTo>
                  <a:pt x="333984" y="46709"/>
                </a:moveTo>
                <a:lnTo>
                  <a:pt x="301999" y="46709"/>
                </a:lnTo>
                <a:lnTo>
                  <a:pt x="308856" y="70069"/>
                </a:lnTo>
                <a:lnTo>
                  <a:pt x="333984" y="467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310246" y="1759656"/>
            <a:ext cx="450215" cy="1399540"/>
          </a:xfrm>
          <a:custGeom>
            <a:avLst/>
            <a:gdLst/>
            <a:ahLst/>
            <a:cxnLst/>
            <a:rect l="l" t="t" r="r" b="b"/>
            <a:pathLst>
              <a:path w="450214" h="1399539">
                <a:moveTo>
                  <a:pt x="33133" y="1326929"/>
                </a:moveTo>
                <a:lnTo>
                  <a:pt x="22572" y="1330306"/>
                </a:lnTo>
                <a:lnTo>
                  <a:pt x="12104" y="1338132"/>
                </a:lnTo>
                <a:lnTo>
                  <a:pt x="1969" y="1351100"/>
                </a:lnTo>
                <a:lnTo>
                  <a:pt x="0" y="1362641"/>
                </a:lnTo>
                <a:lnTo>
                  <a:pt x="1839" y="1374184"/>
                </a:lnTo>
                <a:lnTo>
                  <a:pt x="7395" y="1384851"/>
                </a:lnTo>
                <a:lnTo>
                  <a:pt x="16576" y="1393764"/>
                </a:lnTo>
                <a:lnTo>
                  <a:pt x="26958" y="1398341"/>
                </a:lnTo>
                <a:lnTo>
                  <a:pt x="38052" y="1399282"/>
                </a:lnTo>
                <a:lnTo>
                  <a:pt x="49208" y="1396508"/>
                </a:lnTo>
                <a:lnTo>
                  <a:pt x="59775" y="1389942"/>
                </a:lnTo>
                <a:lnTo>
                  <a:pt x="69103" y="1379505"/>
                </a:lnTo>
                <a:lnTo>
                  <a:pt x="72717" y="1367524"/>
                </a:lnTo>
                <a:lnTo>
                  <a:pt x="72123" y="1355288"/>
                </a:lnTo>
                <a:lnTo>
                  <a:pt x="67508" y="1343898"/>
                </a:lnTo>
                <a:lnTo>
                  <a:pt x="66081" y="1342382"/>
                </a:lnTo>
                <a:lnTo>
                  <a:pt x="76055" y="1328309"/>
                </a:lnTo>
                <a:lnTo>
                  <a:pt x="46214" y="1328309"/>
                </a:lnTo>
                <a:lnTo>
                  <a:pt x="43549" y="1327306"/>
                </a:lnTo>
                <a:lnTo>
                  <a:pt x="33133" y="1326929"/>
                </a:lnTo>
                <a:close/>
              </a:path>
              <a:path w="450214" h="1399539">
                <a:moveTo>
                  <a:pt x="338705" y="72226"/>
                </a:moveTo>
                <a:lnTo>
                  <a:pt x="312421" y="72226"/>
                </a:lnTo>
                <a:lnTo>
                  <a:pt x="317024" y="83531"/>
                </a:lnTo>
                <a:lnTo>
                  <a:pt x="347565" y="162460"/>
                </a:lnTo>
                <a:lnTo>
                  <a:pt x="375012" y="241548"/>
                </a:lnTo>
                <a:lnTo>
                  <a:pt x="397932" y="321213"/>
                </a:lnTo>
                <a:lnTo>
                  <a:pt x="407181" y="361133"/>
                </a:lnTo>
                <a:lnTo>
                  <a:pt x="414730" y="401205"/>
                </a:lnTo>
                <a:lnTo>
                  <a:pt x="420398" y="441454"/>
                </a:lnTo>
                <a:lnTo>
                  <a:pt x="424004" y="481907"/>
                </a:lnTo>
                <a:lnTo>
                  <a:pt x="425364" y="522597"/>
                </a:lnTo>
                <a:lnTo>
                  <a:pt x="424298" y="563556"/>
                </a:lnTo>
                <a:lnTo>
                  <a:pt x="420623" y="604820"/>
                </a:lnTo>
                <a:lnTo>
                  <a:pt x="414147" y="646445"/>
                </a:lnTo>
                <a:lnTo>
                  <a:pt x="404723" y="688519"/>
                </a:lnTo>
                <a:lnTo>
                  <a:pt x="392461" y="731037"/>
                </a:lnTo>
                <a:lnTo>
                  <a:pt x="377541" y="773971"/>
                </a:lnTo>
                <a:lnTo>
                  <a:pt x="360144" y="817288"/>
                </a:lnTo>
                <a:lnTo>
                  <a:pt x="340455" y="860955"/>
                </a:lnTo>
                <a:lnTo>
                  <a:pt x="318661" y="904942"/>
                </a:lnTo>
                <a:lnTo>
                  <a:pt x="294949" y="949218"/>
                </a:lnTo>
                <a:lnTo>
                  <a:pt x="269572" y="993650"/>
                </a:lnTo>
                <a:lnTo>
                  <a:pt x="214243" y="1083421"/>
                </a:lnTo>
                <a:lnTo>
                  <a:pt x="154277" y="1173888"/>
                </a:lnTo>
                <a:lnTo>
                  <a:pt x="91195" y="1264846"/>
                </a:lnTo>
                <a:lnTo>
                  <a:pt x="46214" y="1328309"/>
                </a:lnTo>
                <a:lnTo>
                  <a:pt x="76055" y="1328309"/>
                </a:lnTo>
                <a:lnTo>
                  <a:pt x="111062" y="1278920"/>
                </a:lnTo>
                <a:lnTo>
                  <a:pt x="174286" y="1187758"/>
                </a:lnTo>
                <a:lnTo>
                  <a:pt x="234539" y="1096868"/>
                </a:lnTo>
                <a:lnTo>
                  <a:pt x="290301" y="1006421"/>
                </a:lnTo>
                <a:lnTo>
                  <a:pt x="316092" y="961292"/>
                </a:lnTo>
                <a:lnTo>
                  <a:pt x="340125" y="916434"/>
                </a:lnTo>
                <a:lnTo>
                  <a:pt x="362273" y="871762"/>
                </a:lnTo>
                <a:lnTo>
                  <a:pt x="382340" y="827294"/>
                </a:lnTo>
                <a:lnTo>
                  <a:pt x="400134" y="783046"/>
                </a:lnTo>
                <a:lnTo>
                  <a:pt x="415459" y="739033"/>
                </a:lnTo>
                <a:lnTo>
                  <a:pt x="428116" y="695270"/>
                </a:lnTo>
                <a:lnTo>
                  <a:pt x="437904" y="651776"/>
                </a:lnTo>
                <a:lnTo>
                  <a:pt x="444679" y="608576"/>
                </a:lnTo>
                <a:lnTo>
                  <a:pt x="448550" y="565730"/>
                </a:lnTo>
                <a:lnTo>
                  <a:pt x="449703" y="523245"/>
                </a:lnTo>
                <a:lnTo>
                  <a:pt x="448338" y="481107"/>
                </a:lnTo>
                <a:lnTo>
                  <a:pt x="444651" y="439305"/>
                </a:lnTo>
                <a:lnTo>
                  <a:pt x="438842" y="397821"/>
                </a:lnTo>
                <a:lnTo>
                  <a:pt x="431111" y="356636"/>
                </a:lnTo>
                <a:lnTo>
                  <a:pt x="421654" y="315725"/>
                </a:lnTo>
                <a:lnTo>
                  <a:pt x="398413" y="234824"/>
                </a:lnTo>
                <a:lnTo>
                  <a:pt x="370570" y="154486"/>
                </a:lnTo>
                <a:lnTo>
                  <a:pt x="339733" y="74750"/>
                </a:lnTo>
                <a:lnTo>
                  <a:pt x="338705" y="72226"/>
                </a:lnTo>
                <a:close/>
              </a:path>
              <a:path w="450214" h="1399539">
                <a:moveTo>
                  <a:pt x="296168" y="0"/>
                </a:moveTo>
                <a:lnTo>
                  <a:pt x="289869" y="81400"/>
                </a:lnTo>
                <a:lnTo>
                  <a:pt x="312421" y="72226"/>
                </a:lnTo>
                <a:lnTo>
                  <a:pt x="338705" y="72226"/>
                </a:lnTo>
                <a:lnTo>
                  <a:pt x="334973" y="63052"/>
                </a:lnTo>
                <a:lnTo>
                  <a:pt x="357527" y="53878"/>
                </a:lnTo>
                <a:lnTo>
                  <a:pt x="2961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216842" y="3122875"/>
            <a:ext cx="130175" cy="129539"/>
          </a:xfrm>
          <a:custGeom>
            <a:avLst/>
            <a:gdLst/>
            <a:ahLst/>
            <a:cxnLst/>
            <a:rect l="l" t="t" r="r" b="b"/>
            <a:pathLst>
              <a:path w="130175" h="129539">
                <a:moveTo>
                  <a:pt x="61539" y="0"/>
                </a:moveTo>
                <a:lnTo>
                  <a:pt x="22924" y="15323"/>
                </a:lnTo>
                <a:lnTo>
                  <a:pt x="1609" y="50395"/>
                </a:lnTo>
                <a:lnTo>
                  <a:pt x="0" y="64824"/>
                </a:lnTo>
                <a:lnTo>
                  <a:pt x="763" y="74763"/>
                </a:lnTo>
                <a:lnTo>
                  <a:pt x="18720" y="109411"/>
                </a:lnTo>
                <a:lnTo>
                  <a:pt x="56833" y="127980"/>
                </a:lnTo>
                <a:lnTo>
                  <a:pt x="73164" y="129214"/>
                </a:lnTo>
                <a:lnTo>
                  <a:pt x="86368" y="126055"/>
                </a:lnTo>
                <a:lnTo>
                  <a:pt x="117547" y="101428"/>
                </a:lnTo>
                <a:lnTo>
                  <a:pt x="129575" y="58738"/>
                </a:lnTo>
                <a:lnTo>
                  <a:pt x="126778" y="45091"/>
                </a:lnTo>
                <a:lnTo>
                  <a:pt x="102881" y="12694"/>
                </a:lnTo>
                <a:lnTo>
                  <a:pt x="615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216842" y="3122875"/>
            <a:ext cx="130175" cy="129539"/>
          </a:xfrm>
          <a:custGeom>
            <a:avLst/>
            <a:gdLst/>
            <a:ahLst/>
            <a:cxnLst/>
            <a:rect l="l" t="t" r="r" b="b"/>
            <a:pathLst>
              <a:path w="130175" h="129539">
                <a:moveTo>
                  <a:pt x="0" y="64824"/>
                </a:moveTo>
                <a:lnTo>
                  <a:pt x="13426" y="25291"/>
                </a:lnTo>
                <a:lnTo>
                  <a:pt x="47335" y="2324"/>
                </a:lnTo>
                <a:lnTo>
                  <a:pt x="61539" y="0"/>
                </a:lnTo>
                <a:lnTo>
                  <a:pt x="76797" y="1496"/>
                </a:lnTo>
                <a:lnTo>
                  <a:pt x="113155" y="21741"/>
                </a:lnTo>
                <a:lnTo>
                  <a:pt x="129575" y="58738"/>
                </a:lnTo>
                <a:lnTo>
                  <a:pt x="128210" y="74605"/>
                </a:lnTo>
                <a:lnTo>
                  <a:pt x="108870" y="111940"/>
                </a:lnTo>
                <a:lnTo>
                  <a:pt x="73164" y="129215"/>
                </a:lnTo>
                <a:lnTo>
                  <a:pt x="56833" y="127980"/>
                </a:lnTo>
                <a:lnTo>
                  <a:pt x="18721" y="109411"/>
                </a:lnTo>
                <a:lnTo>
                  <a:pt x="763" y="74764"/>
                </a:lnTo>
                <a:lnTo>
                  <a:pt x="0" y="64824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414512" y="3185803"/>
            <a:ext cx="3802379" cy="510540"/>
          </a:xfrm>
          <a:custGeom>
            <a:avLst/>
            <a:gdLst/>
            <a:ahLst/>
            <a:cxnLst/>
            <a:rect l="l" t="t" r="r" b="b"/>
            <a:pathLst>
              <a:path w="3802379" h="510539">
                <a:moveTo>
                  <a:pt x="183529" y="280570"/>
                </a:moveTo>
                <a:lnTo>
                  <a:pt x="67223" y="280570"/>
                </a:lnTo>
                <a:lnTo>
                  <a:pt x="314680" y="333535"/>
                </a:lnTo>
                <a:lnTo>
                  <a:pt x="456629" y="362184"/>
                </a:lnTo>
                <a:lnTo>
                  <a:pt x="600315" y="389125"/>
                </a:lnTo>
                <a:lnTo>
                  <a:pt x="746336" y="413791"/>
                </a:lnTo>
                <a:lnTo>
                  <a:pt x="895256" y="435607"/>
                </a:lnTo>
                <a:lnTo>
                  <a:pt x="1047645" y="453999"/>
                </a:lnTo>
                <a:lnTo>
                  <a:pt x="1204064" y="468393"/>
                </a:lnTo>
                <a:lnTo>
                  <a:pt x="1534542" y="492756"/>
                </a:lnTo>
                <a:lnTo>
                  <a:pt x="1707237" y="502655"/>
                </a:lnTo>
                <a:lnTo>
                  <a:pt x="1882432" y="509005"/>
                </a:lnTo>
                <a:lnTo>
                  <a:pt x="1970464" y="510374"/>
                </a:lnTo>
                <a:lnTo>
                  <a:pt x="2058334" y="510282"/>
                </a:lnTo>
                <a:lnTo>
                  <a:pt x="2145882" y="508535"/>
                </a:lnTo>
                <a:lnTo>
                  <a:pt x="2232875" y="504946"/>
                </a:lnTo>
                <a:lnTo>
                  <a:pt x="2319075" y="499320"/>
                </a:lnTo>
                <a:lnTo>
                  <a:pt x="2404246" y="491467"/>
                </a:lnTo>
                <a:lnTo>
                  <a:pt x="2448585" y="486036"/>
                </a:lnTo>
                <a:lnTo>
                  <a:pt x="1970841" y="486036"/>
                </a:lnTo>
                <a:lnTo>
                  <a:pt x="1883314" y="484680"/>
                </a:lnTo>
                <a:lnTo>
                  <a:pt x="1708630" y="478353"/>
                </a:lnTo>
                <a:lnTo>
                  <a:pt x="1536263" y="468475"/>
                </a:lnTo>
                <a:lnTo>
                  <a:pt x="1206294" y="444154"/>
                </a:lnTo>
                <a:lnTo>
                  <a:pt x="1050562" y="429832"/>
                </a:lnTo>
                <a:lnTo>
                  <a:pt x="898787" y="411521"/>
                </a:lnTo>
                <a:lnTo>
                  <a:pt x="750392" y="389789"/>
                </a:lnTo>
                <a:lnTo>
                  <a:pt x="604803" y="365201"/>
                </a:lnTo>
                <a:lnTo>
                  <a:pt x="461447" y="338324"/>
                </a:lnTo>
                <a:lnTo>
                  <a:pt x="319777" y="309732"/>
                </a:lnTo>
                <a:lnTo>
                  <a:pt x="183529" y="280570"/>
                </a:lnTo>
                <a:close/>
              </a:path>
              <a:path w="3802379" h="510539">
                <a:moveTo>
                  <a:pt x="3720685" y="0"/>
                </a:moveTo>
                <a:lnTo>
                  <a:pt x="3647019" y="61619"/>
                </a:lnTo>
                <a:lnTo>
                  <a:pt x="3496611" y="130980"/>
                </a:lnTo>
                <a:lnTo>
                  <a:pt x="3345538" y="197641"/>
                </a:lnTo>
                <a:lnTo>
                  <a:pt x="3193316" y="260320"/>
                </a:lnTo>
                <a:lnTo>
                  <a:pt x="3116738" y="289721"/>
                </a:lnTo>
                <a:lnTo>
                  <a:pt x="3039758" y="317618"/>
                </a:lnTo>
                <a:lnTo>
                  <a:pt x="2962330" y="343849"/>
                </a:lnTo>
                <a:lnTo>
                  <a:pt x="2884405" y="368249"/>
                </a:lnTo>
                <a:lnTo>
                  <a:pt x="2805936" y="390653"/>
                </a:lnTo>
                <a:lnTo>
                  <a:pt x="2726877" y="410898"/>
                </a:lnTo>
                <a:lnTo>
                  <a:pt x="2647177" y="428818"/>
                </a:lnTo>
                <a:lnTo>
                  <a:pt x="2566800" y="444249"/>
                </a:lnTo>
                <a:lnTo>
                  <a:pt x="2485193" y="457029"/>
                </a:lnTo>
                <a:lnTo>
                  <a:pt x="2402008" y="467227"/>
                </a:lnTo>
                <a:lnTo>
                  <a:pt x="2317487" y="475032"/>
                </a:lnTo>
                <a:lnTo>
                  <a:pt x="2231870" y="480626"/>
                </a:lnTo>
                <a:lnTo>
                  <a:pt x="2145397" y="484198"/>
                </a:lnTo>
                <a:lnTo>
                  <a:pt x="2058307" y="485940"/>
                </a:lnTo>
                <a:lnTo>
                  <a:pt x="1970841" y="486036"/>
                </a:lnTo>
                <a:lnTo>
                  <a:pt x="2448585" y="486036"/>
                </a:lnTo>
                <a:lnTo>
                  <a:pt x="2488155" y="481190"/>
                </a:lnTo>
                <a:lnTo>
                  <a:pt x="2570567" y="468298"/>
                </a:lnTo>
                <a:lnTo>
                  <a:pt x="2651767" y="452723"/>
                </a:lnTo>
                <a:lnTo>
                  <a:pt x="2732217" y="434647"/>
                </a:lnTo>
                <a:lnTo>
                  <a:pt x="2811976" y="414234"/>
                </a:lnTo>
                <a:lnTo>
                  <a:pt x="2891089" y="391655"/>
                </a:lnTo>
                <a:lnTo>
                  <a:pt x="2969606" y="367079"/>
                </a:lnTo>
                <a:lnTo>
                  <a:pt x="3047572" y="340672"/>
                </a:lnTo>
                <a:lnTo>
                  <a:pt x="3125036" y="312605"/>
                </a:lnTo>
                <a:lnTo>
                  <a:pt x="3202045" y="283044"/>
                </a:lnTo>
                <a:lnTo>
                  <a:pt x="3354811" y="220149"/>
                </a:lnTo>
                <a:lnTo>
                  <a:pt x="3506442" y="153248"/>
                </a:lnTo>
                <a:lnTo>
                  <a:pt x="3657218" y="83722"/>
                </a:lnTo>
                <a:lnTo>
                  <a:pt x="3741446" y="44037"/>
                </a:lnTo>
                <a:lnTo>
                  <a:pt x="3769158" y="44037"/>
                </a:lnTo>
                <a:lnTo>
                  <a:pt x="3802329" y="1896"/>
                </a:lnTo>
                <a:lnTo>
                  <a:pt x="3720685" y="0"/>
                </a:lnTo>
                <a:close/>
              </a:path>
              <a:path w="3802379" h="510539">
                <a:moveTo>
                  <a:pt x="32254" y="225340"/>
                </a:moveTo>
                <a:lnTo>
                  <a:pt x="21377" y="228881"/>
                </a:lnTo>
                <a:lnTo>
                  <a:pt x="11929" y="236409"/>
                </a:lnTo>
                <a:lnTo>
                  <a:pt x="4580" y="247918"/>
                </a:lnTo>
                <a:lnTo>
                  <a:pt x="0" y="263402"/>
                </a:lnTo>
                <a:lnTo>
                  <a:pt x="2765" y="275023"/>
                </a:lnTo>
                <a:lnTo>
                  <a:pt x="9509" y="285178"/>
                </a:lnTo>
                <a:lnTo>
                  <a:pt x="19984" y="293087"/>
                </a:lnTo>
                <a:lnTo>
                  <a:pt x="33941" y="297970"/>
                </a:lnTo>
                <a:lnTo>
                  <a:pt x="46514" y="296650"/>
                </a:lnTo>
                <a:lnTo>
                  <a:pt x="57652" y="291279"/>
                </a:lnTo>
                <a:lnTo>
                  <a:pt x="66392" y="282481"/>
                </a:lnTo>
                <a:lnTo>
                  <a:pt x="67223" y="280570"/>
                </a:lnTo>
                <a:lnTo>
                  <a:pt x="183529" y="280570"/>
                </a:lnTo>
                <a:lnTo>
                  <a:pt x="72320" y="256768"/>
                </a:lnTo>
                <a:lnTo>
                  <a:pt x="71770" y="252174"/>
                </a:lnTo>
                <a:lnTo>
                  <a:pt x="66155" y="240294"/>
                </a:lnTo>
                <a:lnTo>
                  <a:pt x="56624" y="231117"/>
                </a:lnTo>
                <a:lnTo>
                  <a:pt x="43887" y="225791"/>
                </a:lnTo>
                <a:lnTo>
                  <a:pt x="32254" y="225340"/>
                </a:lnTo>
                <a:close/>
              </a:path>
              <a:path w="3802379" h="510539">
                <a:moveTo>
                  <a:pt x="3769158" y="44037"/>
                </a:moveTo>
                <a:lnTo>
                  <a:pt x="3741446" y="44037"/>
                </a:lnTo>
                <a:lnTo>
                  <a:pt x="3751825" y="66056"/>
                </a:lnTo>
                <a:lnTo>
                  <a:pt x="3769158" y="440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477223" y="5071947"/>
            <a:ext cx="2331085" cy="730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命令是什么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?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一个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用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语言写的程序而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已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45735" y="5156670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827270" y="1195740"/>
            <a:ext cx="3960653" cy="4016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13992" y="1759656"/>
            <a:ext cx="1456055" cy="0"/>
          </a:xfrm>
          <a:custGeom>
            <a:avLst/>
            <a:gdLst/>
            <a:ahLst/>
            <a:cxnLst/>
            <a:rect l="l" t="t" r="r" b="b"/>
            <a:pathLst>
              <a:path w="1456054">
                <a:moveTo>
                  <a:pt x="0" y="0"/>
                </a:moveTo>
                <a:lnTo>
                  <a:pt x="1455486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2400" y="1759656"/>
            <a:ext cx="5064760" cy="0"/>
          </a:xfrm>
          <a:custGeom>
            <a:avLst/>
            <a:gdLst/>
            <a:ahLst/>
            <a:cxnLst/>
            <a:rect l="l" t="t" r="r" b="b"/>
            <a:pathLst>
              <a:path w="5064760">
                <a:moveTo>
                  <a:pt x="0" y="0"/>
                </a:moveTo>
                <a:lnTo>
                  <a:pt x="5064442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374183" y="2100366"/>
            <a:ext cx="1582420" cy="1165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4600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图形界面是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什</a:t>
            </a:r>
            <a:r>
              <a:rPr sz="1950" b="1" spc="3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么：一个包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括</a:t>
            </a:r>
            <a:r>
              <a:rPr sz="1950" b="1" spc="3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画图的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程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序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142695" y="2139656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80832" y="2538589"/>
            <a:ext cx="2792095" cy="1752600"/>
          </a:xfrm>
          <a:custGeom>
            <a:avLst/>
            <a:gdLst/>
            <a:ahLst/>
            <a:cxnLst/>
            <a:rect l="l" t="t" r="r" b="b"/>
            <a:pathLst>
              <a:path w="2792095" h="1752600">
                <a:moveTo>
                  <a:pt x="0" y="1752600"/>
                </a:moveTo>
                <a:lnTo>
                  <a:pt x="2791936" y="1752600"/>
                </a:lnTo>
                <a:lnTo>
                  <a:pt x="2791936" y="0"/>
                </a:lnTo>
                <a:lnTo>
                  <a:pt x="0" y="0"/>
                </a:lnTo>
                <a:lnTo>
                  <a:pt x="0" y="1752600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80832" y="2538589"/>
            <a:ext cx="2792095" cy="1752600"/>
          </a:xfrm>
          <a:custGeom>
            <a:avLst/>
            <a:gdLst/>
            <a:ahLst/>
            <a:cxnLst/>
            <a:rect l="l" t="t" r="r" b="b"/>
            <a:pathLst>
              <a:path w="2792095" h="1752600">
                <a:moveTo>
                  <a:pt x="0" y="0"/>
                </a:moveTo>
                <a:lnTo>
                  <a:pt x="2791936" y="0"/>
                </a:lnTo>
                <a:lnTo>
                  <a:pt x="2791936" y="1752600"/>
                </a:ln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03998" y="2668410"/>
            <a:ext cx="1047115" cy="357505"/>
          </a:xfrm>
          <a:prstGeom prst="rect">
            <a:avLst/>
          </a:prstGeom>
          <a:ln w="811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>
              <a:lnSpc>
                <a:spcPct val="100000"/>
              </a:lnSpc>
            </a:pP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硬件输入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450975" y="2826632"/>
            <a:ext cx="454659" cy="73025"/>
          </a:xfrm>
          <a:custGeom>
            <a:avLst/>
            <a:gdLst/>
            <a:ahLst/>
            <a:cxnLst/>
            <a:rect l="l" t="t" r="r" b="b"/>
            <a:pathLst>
              <a:path w="454660" h="73025">
                <a:moveTo>
                  <a:pt x="0" y="24340"/>
                </a:moveTo>
                <a:lnTo>
                  <a:pt x="0" y="48682"/>
                </a:lnTo>
                <a:lnTo>
                  <a:pt x="381455" y="48682"/>
                </a:lnTo>
                <a:lnTo>
                  <a:pt x="381455" y="73025"/>
                </a:lnTo>
                <a:lnTo>
                  <a:pt x="454501" y="36512"/>
                </a:lnTo>
                <a:lnTo>
                  <a:pt x="430153" y="24342"/>
                </a:lnTo>
                <a:lnTo>
                  <a:pt x="0" y="24340"/>
                </a:lnTo>
                <a:close/>
              </a:path>
              <a:path w="454660" h="73025">
                <a:moveTo>
                  <a:pt x="381455" y="0"/>
                </a:moveTo>
                <a:lnTo>
                  <a:pt x="381455" y="24342"/>
                </a:lnTo>
                <a:lnTo>
                  <a:pt x="430153" y="24342"/>
                </a:lnTo>
                <a:lnTo>
                  <a:pt x="3814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216842" y="1564921"/>
            <a:ext cx="2597150" cy="2142490"/>
          </a:xfrm>
          <a:custGeom>
            <a:avLst/>
            <a:gdLst/>
            <a:ahLst/>
            <a:cxnLst/>
            <a:rect l="l" t="t" r="r" b="b"/>
            <a:pathLst>
              <a:path w="2597150" h="2142490">
                <a:moveTo>
                  <a:pt x="0" y="2142067"/>
                </a:moveTo>
                <a:lnTo>
                  <a:pt x="2597150" y="2142067"/>
                </a:lnTo>
                <a:lnTo>
                  <a:pt x="2597150" y="0"/>
                </a:lnTo>
                <a:lnTo>
                  <a:pt x="0" y="0"/>
                </a:lnTo>
                <a:lnTo>
                  <a:pt x="0" y="2142067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216842" y="1564921"/>
            <a:ext cx="2597150" cy="2142490"/>
          </a:xfrm>
          <a:custGeom>
            <a:avLst/>
            <a:gdLst/>
            <a:ahLst/>
            <a:cxnLst/>
            <a:rect l="l" t="t" r="r" b="b"/>
            <a:pathLst>
              <a:path w="2597150" h="2142490">
                <a:moveTo>
                  <a:pt x="0" y="0"/>
                </a:moveTo>
                <a:lnTo>
                  <a:pt x="2597150" y="0"/>
                </a:lnTo>
                <a:lnTo>
                  <a:pt x="2597150" y="2142066"/>
                </a:lnTo>
                <a:lnTo>
                  <a:pt x="0" y="2142066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866415" y="1625562"/>
            <a:ext cx="1136015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应用程序</a:t>
            </a:r>
            <a:r>
              <a:rPr sz="2000" b="1" spc="5" dirty="0">
                <a:solidFill>
                  <a:srgbClr val="FF3300"/>
                </a:solidFill>
                <a:latin typeface="Arial" panose="020B0604020202020204"/>
                <a:cs typeface="Arial" panose="020B0604020202020204"/>
              </a:rPr>
              <a:t>i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022056" y="2566988"/>
            <a:ext cx="519430" cy="73025"/>
          </a:xfrm>
          <a:custGeom>
            <a:avLst/>
            <a:gdLst/>
            <a:ahLst/>
            <a:cxnLst/>
            <a:rect l="l" t="t" r="r" b="b"/>
            <a:pathLst>
              <a:path w="519429" h="73025">
                <a:moveTo>
                  <a:pt x="446384" y="0"/>
                </a:moveTo>
                <a:lnTo>
                  <a:pt x="446384" y="24340"/>
                </a:lnTo>
                <a:lnTo>
                  <a:pt x="0" y="24340"/>
                </a:lnTo>
                <a:lnTo>
                  <a:pt x="0" y="48681"/>
                </a:lnTo>
                <a:lnTo>
                  <a:pt x="446384" y="48682"/>
                </a:lnTo>
                <a:lnTo>
                  <a:pt x="446384" y="73025"/>
                </a:lnTo>
                <a:lnTo>
                  <a:pt x="519429" y="36512"/>
                </a:lnTo>
                <a:lnTo>
                  <a:pt x="446384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022056" y="2603500"/>
            <a:ext cx="0" cy="617220"/>
          </a:xfrm>
          <a:custGeom>
            <a:avLst/>
            <a:gdLst/>
            <a:ahLst/>
            <a:cxnLst/>
            <a:rect l="l" t="t" r="r" b="b"/>
            <a:pathLst>
              <a:path h="617219">
                <a:moveTo>
                  <a:pt x="0" y="0"/>
                </a:moveTo>
                <a:lnTo>
                  <a:pt x="0" y="616655"/>
                </a:lnTo>
              </a:path>
            </a:pathLst>
          </a:custGeom>
          <a:ln w="24348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242911" y="3220156"/>
            <a:ext cx="779145" cy="0"/>
          </a:xfrm>
          <a:custGeom>
            <a:avLst/>
            <a:gdLst/>
            <a:ahLst/>
            <a:cxnLst/>
            <a:rect l="l" t="t" r="r" b="b"/>
            <a:pathLst>
              <a:path w="779145">
                <a:moveTo>
                  <a:pt x="0" y="0"/>
                </a:moveTo>
                <a:lnTo>
                  <a:pt x="779145" y="0"/>
                </a:lnTo>
              </a:path>
            </a:pathLst>
          </a:custGeom>
          <a:ln w="24341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2130">
              <a:lnSpc>
                <a:spcPct val="100000"/>
              </a:lnSpc>
            </a:pPr>
            <a:r>
              <a:rPr sz="2950" spc="100" dirty="0"/>
              <a:t>图形按钮又是怎么回事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?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2258" y="1892143"/>
            <a:ext cx="3954779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鼠标点击、键盘按下以后</a:t>
            </a:r>
            <a:r>
              <a:rPr sz="2400" b="1" dirty="0">
                <a:latin typeface="Arial" panose="020B0604020202020204"/>
                <a:cs typeface="Arial" panose="020B0604020202020204"/>
              </a:rPr>
              <a:t>…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93700" y="4616684"/>
            <a:ext cx="4740275" cy="1904364"/>
          </a:xfrm>
          <a:custGeom>
            <a:avLst/>
            <a:gdLst/>
            <a:ahLst/>
            <a:cxnLst/>
            <a:rect l="l" t="t" r="r" b="b"/>
            <a:pathLst>
              <a:path w="4740275" h="1904364">
                <a:moveTo>
                  <a:pt x="0" y="0"/>
                </a:moveTo>
                <a:lnTo>
                  <a:pt x="4739798" y="0"/>
                </a:lnTo>
                <a:lnTo>
                  <a:pt x="4739798" y="1904059"/>
                </a:lnTo>
                <a:lnTo>
                  <a:pt x="0" y="1904059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11924" y="3778123"/>
            <a:ext cx="4526280" cy="2754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81100">
              <a:lnSpc>
                <a:spcPct val="100000"/>
              </a:lnSpc>
            </a:pPr>
            <a:r>
              <a:rPr sz="1500" b="1" spc="25" dirty="0">
                <a:latin typeface="Arial" panose="020B0604020202020204"/>
                <a:cs typeface="Arial" panose="020B0604020202020204"/>
              </a:rPr>
              <a:t>WM</a:t>
            </a:r>
            <a:r>
              <a:rPr sz="1500" b="1" spc="10" dirty="0">
                <a:latin typeface="Arial" panose="020B0604020202020204"/>
                <a:cs typeface="Arial" panose="020B0604020202020204"/>
              </a:rPr>
              <a:t>_</a:t>
            </a:r>
            <a:r>
              <a:rPr sz="1500" b="1" spc="25" dirty="0">
                <a:latin typeface="Arial" panose="020B0604020202020204"/>
                <a:cs typeface="Arial" panose="020B0604020202020204"/>
              </a:rPr>
              <a:t>M</a:t>
            </a:r>
            <a:r>
              <a:rPr sz="1500" b="1" spc="20" dirty="0">
                <a:latin typeface="Arial" panose="020B0604020202020204"/>
                <a:cs typeface="Arial" panose="020B0604020202020204"/>
              </a:rPr>
              <a:t>O</a:t>
            </a:r>
            <a:r>
              <a:rPr sz="1500" b="1" spc="20" dirty="0">
                <a:latin typeface="Arial" panose="020B0604020202020204"/>
                <a:cs typeface="Arial" panose="020B0604020202020204"/>
              </a:rPr>
              <a:t>U</a:t>
            </a:r>
            <a:r>
              <a:rPr sz="1500" b="1" spc="15" dirty="0">
                <a:latin typeface="Arial" panose="020B0604020202020204"/>
                <a:cs typeface="Arial" panose="020B0604020202020204"/>
              </a:rPr>
              <a:t>S</a:t>
            </a:r>
            <a:r>
              <a:rPr sz="1500" b="1" spc="15" dirty="0">
                <a:latin typeface="Arial" panose="020B0604020202020204"/>
                <a:cs typeface="Arial" panose="020B0604020202020204"/>
              </a:rPr>
              <a:t>E</a:t>
            </a:r>
            <a:r>
              <a:rPr sz="1500" b="1" spc="20" dirty="0">
                <a:latin typeface="Arial" panose="020B0604020202020204"/>
                <a:cs typeface="Arial" panose="020B0604020202020204"/>
              </a:rPr>
              <a:t>D</a:t>
            </a:r>
            <a:r>
              <a:rPr sz="1500" b="1" spc="20" dirty="0">
                <a:latin typeface="Arial" panose="020B0604020202020204"/>
                <a:cs typeface="Arial" panose="020B0604020202020204"/>
              </a:rPr>
              <a:t>O</a:t>
            </a:r>
            <a:r>
              <a:rPr sz="1500" b="1" spc="25" dirty="0">
                <a:latin typeface="Arial" panose="020B0604020202020204"/>
                <a:cs typeface="Arial" panose="020B0604020202020204"/>
              </a:rPr>
              <a:t>WN</a:t>
            </a:r>
            <a:endParaRPr sz="1500">
              <a:latin typeface="Arial" panose="020B0604020202020204"/>
              <a:cs typeface="Arial" panose="020B0604020202020204"/>
            </a:endParaRPr>
          </a:p>
          <a:p>
            <a:pPr marL="12700" indent="2442845">
              <a:lnSpc>
                <a:spcPct val="100000"/>
              </a:lnSpc>
              <a:spcBef>
                <a:spcPts val="1125"/>
              </a:spcBef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应用消息队列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1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vo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latin typeface="Arial" panose="020B0604020202020204"/>
                <a:cs typeface="Arial" panose="020B0604020202020204"/>
              </a:rPr>
              <a:t>d 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C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O</a:t>
            </a:r>
            <a:r>
              <a:rPr sz="1700" b="1" dirty="0">
                <a:latin typeface="Arial" panose="020B0604020202020204"/>
                <a:cs typeface="Arial" panose="020B0604020202020204"/>
              </a:rPr>
              <a:t>u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pu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D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l</a:t>
            </a:r>
            <a:r>
              <a:rPr sz="1700" b="1" dirty="0">
                <a:latin typeface="Arial" panose="020B0604020202020204"/>
                <a:cs typeface="Arial" panose="020B0604020202020204"/>
              </a:rPr>
              <a:t>g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::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O</a:t>
            </a:r>
            <a:r>
              <a:rPr sz="1700" b="1" dirty="0">
                <a:latin typeface="Arial" panose="020B0604020202020204"/>
                <a:cs typeface="Arial" panose="020B0604020202020204"/>
              </a:rPr>
              <a:t>n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O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K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91135" marR="5080" indent="-179070">
              <a:lnSpc>
                <a:spcPct val="15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{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G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D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l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g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em</a:t>
            </a:r>
            <a:r>
              <a:rPr sz="1700" b="1" spc="-12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ex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t(I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DC</a:t>
            </a:r>
            <a:r>
              <a:rPr sz="1700" b="1" dirty="0">
                <a:latin typeface="Arial" panose="020B0604020202020204"/>
                <a:cs typeface="Arial" panose="020B0604020202020204"/>
              </a:rPr>
              <a:t>_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D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1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,</a:t>
            </a:r>
            <a:r>
              <a:rPr sz="1700" b="1" dirty="0">
                <a:latin typeface="Arial" panose="020B0604020202020204"/>
                <a:cs typeface="Arial" panose="020B0604020202020204"/>
              </a:rPr>
              <a:t>m_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ou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S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tr);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F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L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*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f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=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f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op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n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"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d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: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\\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ou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.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x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"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,</a:t>
            </a:r>
            <a:r>
              <a:rPr sz="1700" b="1" dirty="0">
                <a:latin typeface="Arial" panose="020B0604020202020204"/>
                <a:cs typeface="Arial" panose="020B0604020202020204"/>
              </a:rPr>
              <a:t>"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w</a:t>
            </a:r>
            <a:r>
              <a:rPr sz="1700" b="1" dirty="0">
                <a:latin typeface="Arial" panose="020B0604020202020204"/>
                <a:cs typeface="Arial" panose="020B0604020202020204"/>
              </a:rPr>
              <a:t>"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)</a:t>
            </a:r>
            <a:r>
              <a:rPr sz="1700" b="1" dirty="0">
                <a:latin typeface="Arial" panose="020B0604020202020204"/>
                <a:cs typeface="Arial" panose="020B0604020202020204"/>
              </a:rPr>
              <a:t>;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f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ri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tf(f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,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_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ou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700" b="1" spc="-1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,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_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ou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700" b="1" spc="-1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.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G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ng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h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());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f</a:t>
            </a:r>
            <a:r>
              <a:rPr sz="1700" b="1" dirty="0">
                <a:latin typeface="Arial" panose="020B0604020202020204"/>
                <a:cs typeface="Arial" panose="020B0604020202020204"/>
              </a:rPr>
              <a:t>c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l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o</a:t>
            </a:r>
            <a:r>
              <a:rPr sz="1700" b="1" dirty="0">
                <a:latin typeface="Arial" panose="020B0604020202020204"/>
                <a:cs typeface="Arial" panose="020B0604020202020204"/>
              </a:rPr>
              <a:t>se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(f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)</a:t>
            </a:r>
            <a:r>
              <a:rPr sz="1700" b="1" dirty="0">
                <a:latin typeface="Arial" panose="020B0604020202020204"/>
                <a:cs typeface="Arial" panose="020B0604020202020204"/>
              </a:rPr>
              <a:t>;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}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05476" y="2668410"/>
            <a:ext cx="1688464" cy="389890"/>
          </a:xfrm>
          <a:prstGeom prst="rect">
            <a:avLst/>
          </a:prstGeom>
          <a:solidFill>
            <a:srgbClr val="FFFFFF"/>
          </a:solidFill>
          <a:ln w="811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843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系统消息队列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541486" y="1954389"/>
            <a:ext cx="1948180" cy="361315"/>
          </a:xfrm>
          <a:custGeom>
            <a:avLst/>
            <a:gdLst/>
            <a:ahLst/>
            <a:cxnLst/>
            <a:rect l="l" t="t" r="r" b="b"/>
            <a:pathLst>
              <a:path w="1948179" h="361314">
                <a:moveTo>
                  <a:pt x="0" y="361068"/>
                </a:moveTo>
                <a:lnTo>
                  <a:pt x="1947862" y="361068"/>
                </a:lnTo>
                <a:lnTo>
                  <a:pt x="1947862" y="0"/>
                </a:lnTo>
                <a:lnTo>
                  <a:pt x="0" y="0"/>
                </a:lnTo>
                <a:lnTo>
                  <a:pt x="0" y="3610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541486" y="1954389"/>
            <a:ext cx="1948180" cy="361315"/>
          </a:xfrm>
          <a:custGeom>
            <a:avLst/>
            <a:gdLst/>
            <a:ahLst/>
            <a:cxnLst/>
            <a:rect l="l" t="t" r="r" b="b"/>
            <a:pathLst>
              <a:path w="1948179" h="361314">
                <a:moveTo>
                  <a:pt x="0" y="0"/>
                </a:moveTo>
                <a:lnTo>
                  <a:pt x="1947862" y="0"/>
                </a:lnTo>
                <a:lnTo>
                  <a:pt x="1947862" y="361068"/>
                </a:lnTo>
                <a:lnTo>
                  <a:pt x="0" y="361068"/>
                </a:lnTo>
                <a:lnTo>
                  <a:pt x="0" y="0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541486" y="2315457"/>
            <a:ext cx="1948180" cy="548005"/>
          </a:xfrm>
          <a:custGeom>
            <a:avLst/>
            <a:gdLst/>
            <a:ahLst/>
            <a:cxnLst/>
            <a:rect l="l" t="t" r="r" b="b"/>
            <a:pathLst>
              <a:path w="1948179" h="548005">
                <a:moveTo>
                  <a:pt x="0" y="547687"/>
                </a:moveTo>
                <a:lnTo>
                  <a:pt x="1947862" y="547687"/>
                </a:lnTo>
                <a:lnTo>
                  <a:pt x="1947862" y="0"/>
                </a:lnTo>
                <a:lnTo>
                  <a:pt x="0" y="0"/>
                </a:lnTo>
                <a:lnTo>
                  <a:pt x="0" y="54768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541486" y="2315457"/>
            <a:ext cx="1948180" cy="548005"/>
          </a:xfrm>
          <a:custGeom>
            <a:avLst/>
            <a:gdLst/>
            <a:ahLst/>
            <a:cxnLst/>
            <a:rect l="l" t="t" r="r" b="b"/>
            <a:pathLst>
              <a:path w="1948179" h="548005">
                <a:moveTo>
                  <a:pt x="0" y="0"/>
                </a:moveTo>
                <a:lnTo>
                  <a:pt x="1947862" y="0"/>
                </a:lnTo>
                <a:lnTo>
                  <a:pt x="1947862" y="547687"/>
                </a:lnTo>
                <a:lnTo>
                  <a:pt x="0" y="547687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295048" y="3475743"/>
            <a:ext cx="1169035" cy="73025"/>
          </a:xfrm>
          <a:custGeom>
            <a:avLst/>
            <a:gdLst/>
            <a:ahLst/>
            <a:cxnLst/>
            <a:rect l="l" t="t" r="r" b="b"/>
            <a:pathLst>
              <a:path w="1169035" h="73025">
                <a:moveTo>
                  <a:pt x="0" y="24340"/>
                </a:moveTo>
                <a:lnTo>
                  <a:pt x="0" y="48682"/>
                </a:lnTo>
                <a:lnTo>
                  <a:pt x="1095672" y="48684"/>
                </a:lnTo>
                <a:lnTo>
                  <a:pt x="1095672" y="73025"/>
                </a:lnTo>
                <a:lnTo>
                  <a:pt x="1168717" y="36512"/>
                </a:lnTo>
                <a:lnTo>
                  <a:pt x="1144369" y="24342"/>
                </a:lnTo>
                <a:lnTo>
                  <a:pt x="0" y="24340"/>
                </a:lnTo>
                <a:close/>
              </a:path>
              <a:path w="1169035" h="73025">
                <a:moveTo>
                  <a:pt x="1095672" y="0"/>
                </a:moveTo>
                <a:lnTo>
                  <a:pt x="1095672" y="24342"/>
                </a:lnTo>
                <a:lnTo>
                  <a:pt x="1144369" y="24342"/>
                </a:lnTo>
                <a:lnTo>
                  <a:pt x="10956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295048" y="3057878"/>
            <a:ext cx="0" cy="454659"/>
          </a:xfrm>
          <a:custGeom>
            <a:avLst/>
            <a:gdLst/>
            <a:ahLst/>
            <a:cxnLst/>
            <a:rect l="l" t="t" r="r" b="b"/>
            <a:pathLst>
              <a:path h="454660">
                <a:moveTo>
                  <a:pt x="0" y="0"/>
                </a:moveTo>
                <a:lnTo>
                  <a:pt x="0" y="454377"/>
                </a:lnTo>
              </a:path>
            </a:pathLst>
          </a:custGeom>
          <a:ln w="243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346700" y="2336252"/>
            <a:ext cx="2320925" cy="1241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15" algn="ctr">
              <a:lnSpc>
                <a:spcPts val="1945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消息循环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9685" algn="ctr">
              <a:lnSpc>
                <a:spcPts val="2005"/>
              </a:lnSpc>
            </a:pPr>
            <a:r>
              <a:rPr sz="1700" b="1" spc="-5" dirty="0">
                <a:latin typeface="Arial" panose="020B0604020202020204"/>
                <a:cs typeface="Arial" panose="020B0604020202020204"/>
              </a:rPr>
              <a:t>(G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M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essa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g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 marL="64770" algn="ctr">
              <a:lnSpc>
                <a:spcPct val="100000"/>
              </a:lnSpc>
              <a:spcBef>
                <a:spcPts val="1095"/>
              </a:spcBef>
              <a:tabLst>
                <a:tab pos="1298575" algn="l"/>
              </a:tabLst>
            </a:pPr>
            <a:r>
              <a:rPr sz="1700" b="1" spc="-15" dirty="0">
                <a:latin typeface="Arial" panose="020B0604020202020204"/>
                <a:cs typeface="Arial" panose="020B0604020202020204"/>
              </a:rPr>
              <a:t>W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n</a:t>
            </a:r>
            <a:r>
              <a:rPr sz="1700" b="1" dirty="0"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r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o</a:t>
            </a:r>
            <a:r>
              <a:rPr sz="1700" b="1" dirty="0">
                <a:latin typeface="Arial" panose="020B0604020202020204"/>
                <a:cs typeface="Arial" panose="020B0604020202020204"/>
              </a:rPr>
              <a:t>c1</a:t>
            </a:r>
            <a:r>
              <a:rPr sz="1700" b="1" dirty="0">
                <a:latin typeface="Arial" panose="020B0604020202020204"/>
                <a:cs typeface="Arial" panose="020B0604020202020204"/>
              </a:rPr>
              <a:t>	</a:t>
            </a:r>
            <a:r>
              <a:rPr sz="1700" b="1" spc="-15" dirty="0">
                <a:latin typeface="Arial" panose="020B0604020202020204"/>
                <a:cs typeface="Arial" panose="020B0604020202020204"/>
              </a:rPr>
              <a:t>W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n</a:t>
            </a:r>
            <a:r>
              <a:rPr sz="1700" b="1" dirty="0"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r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o</a:t>
            </a:r>
            <a:r>
              <a:rPr sz="1700" b="1" dirty="0">
                <a:latin typeface="Arial" panose="020B0604020202020204"/>
                <a:cs typeface="Arial" panose="020B0604020202020204"/>
              </a:rPr>
              <a:t>c2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931344" y="2068407"/>
            <a:ext cx="105600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15" dirty="0">
                <a:latin typeface="Arial" panose="020B0604020202020204"/>
                <a:cs typeface="Arial" panose="020B0604020202020204"/>
              </a:rPr>
              <a:t>W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n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M</a:t>
            </a:r>
            <a:r>
              <a:rPr sz="1700" b="1" dirty="0">
                <a:latin typeface="Arial" panose="020B0604020202020204"/>
                <a:cs typeface="Arial" panose="020B0604020202020204"/>
              </a:rPr>
              <a:t>a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n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128183" y="2863143"/>
            <a:ext cx="73660" cy="259715"/>
          </a:xfrm>
          <a:custGeom>
            <a:avLst/>
            <a:gdLst/>
            <a:ahLst/>
            <a:cxnLst/>
            <a:rect l="l" t="t" r="r" b="b"/>
            <a:pathLst>
              <a:path w="73659" h="259714">
                <a:moveTo>
                  <a:pt x="73044" y="186620"/>
                </a:moveTo>
                <a:lnTo>
                  <a:pt x="0" y="186620"/>
                </a:lnTo>
                <a:lnTo>
                  <a:pt x="36522" y="259645"/>
                </a:lnTo>
                <a:lnTo>
                  <a:pt x="73044" y="186620"/>
                </a:lnTo>
                <a:close/>
              </a:path>
              <a:path w="73659" h="259714">
                <a:moveTo>
                  <a:pt x="48695" y="0"/>
                </a:moveTo>
                <a:lnTo>
                  <a:pt x="24347" y="1"/>
                </a:lnTo>
                <a:lnTo>
                  <a:pt x="24347" y="186620"/>
                </a:lnTo>
                <a:lnTo>
                  <a:pt x="48695" y="186620"/>
                </a:lnTo>
                <a:lnTo>
                  <a:pt x="48695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894537" y="2863143"/>
            <a:ext cx="73660" cy="259715"/>
          </a:xfrm>
          <a:custGeom>
            <a:avLst/>
            <a:gdLst/>
            <a:ahLst/>
            <a:cxnLst/>
            <a:rect l="l" t="t" r="r" b="b"/>
            <a:pathLst>
              <a:path w="73660" h="259714">
                <a:moveTo>
                  <a:pt x="73044" y="186620"/>
                </a:moveTo>
                <a:lnTo>
                  <a:pt x="0" y="186620"/>
                </a:lnTo>
                <a:lnTo>
                  <a:pt x="36522" y="259645"/>
                </a:lnTo>
                <a:lnTo>
                  <a:pt x="73044" y="186620"/>
                </a:lnTo>
                <a:close/>
              </a:path>
              <a:path w="73660" h="259714">
                <a:moveTo>
                  <a:pt x="48695" y="0"/>
                </a:moveTo>
                <a:lnTo>
                  <a:pt x="24347" y="1"/>
                </a:lnTo>
                <a:lnTo>
                  <a:pt x="24347" y="186620"/>
                </a:lnTo>
                <a:lnTo>
                  <a:pt x="48695" y="186620"/>
                </a:lnTo>
                <a:lnTo>
                  <a:pt x="48695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346700" y="3122789"/>
            <a:ext cx="1169035" cy="454659"/>
          </a:xfrm>
          <a:custGeom>
            <a:avLst/>
            <a:gdLst/>
            <a:ahLst/>
            <a:cxnLst/>
            <a:rect l="l" t="t" r="r" b="b"/>
            <a:pathLst>
              <a:path w="1169034" h="454660">
                <a:moveTo>
                  <a:pt x="0" y="454377"/>
                </a:moveTo>
                <a:lnTo>
                  <a:pt x="1168717" y="454377"/>
                </a:lnTo>
                <a:lnTo>
                  <a:pt x="1168717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346700" y="3122789"/>
            <a:ext cx="1169035" cy="454659"/>
          </a:xfrm>
          <a:custGeom>
            <a:avLst/>
            <a:gdLst/>
            <a:ahLst/>
            <a:cxnLst/>
            <a:rect l="l" t="t" r="r" b="b"/>
            <a:pathLst>
              <a:path w="1169034" h="454660">
                <a:moveTo>
                  <a:pt x="0" y="0"/>
                </a:moveTo>
                <a:lnTo>
                  <a:pt x="1168717" y="0"/>
                </a:lnTo>
                <a:lnTo>
                  <a:pt x="1168717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580346" y="3122789"/>
            <a:ext cx="1169035" cy="454659"/>
          </a:xfrm>
          <a:custGeom>
            <a:avLst/>
            <a:gdLst/>
            <a:ahLst/>
            <a:cxnLst/>
            <a:rect l="l" t="t" r="r" b="b"/>
            <a:pathLst>
              <a:path w="1169034" h="454660">
                <a:moveTo>
                  <a:pt x="0" y="454377"/>
                </a:moveTo>
                <a:lnTo>
                  <a:pt x="1168717" y="454377"/>
                </a:lnTo>
                <a:lnTo>
                  <a:pt x="1168717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580346" y="3122789"/>
            <a:ext cx="1169035" cy="454659"/>
          </a:xfrm>
          <a:custGeom>
            <a:avLst/>
            <a:gdLst/>
            <a:ahLst/>
            <a:cxnLst/>
            <a:rect l="l" t="t" r="r" b="b"/>
            <a:pathLst>
              <a:path w="1169034" h="454660">
                <a:moveTo>
                  <a:pt x="0" y="0"/>
                </a:moveTo>
                <a:lnTo>
                  <a:pt x="1168717" y="0"/>
                </a:lnTo>
                <a:lnTo>
                  <a:pt x="1168717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829325" y="3411067"/>
            <a:ext cx="3452495" cy="454025"/>
          </a:xfrm>
          <a:custGeom>
            <a:avLst/>
            <a:gdLst/>
            <a:ahLst/>
            <a:cxnLst/>
            <a:rect l="l" t="t" r="r" b="b"/>
            <a:pathLst>
              <a:path w="3452495" h="454025">
                <a:moveTo>
                  <a:pt x="283725" y="52228"/>
                </a:moveTo>
                <a:lnTo>
                  <a:pt x="68870" y="52228"/>
                </a:lnTo>
                <a:lnTo>
                  <a:pt x="3378005" y="429560"/>
                </a:lnTo>
                <a:lnTo>
                  <a:pt x="3375245" y="453745"/>
                </a:lnTo>
                <a:lnTo>
                  <a:pt x="3451958" y="425743"/>
                </a:lnTo>
                <a:lnTo>
                  <a:pt x="3420672" y="405375"/>
                </a:lnTo>
                <a:lnTo>
                  <a:pt x="3380763" y="405375"/>
                </a:lnTo>
                <a:lnTo>
                  <a:pt x="283725" y="52228"/>
                </a:lnTo>
                <a:close/>
              </a:path>
              <a:path w="3452495" h="454025">
                <a:moveTo>
                  <a:pt x="3383523" y="381190"/>
                </a:moveTo>
                <a:lnTo>
                  <a:pt x="3380763" y="405375"/>
                </a:lnTo>
                <a:lnTo>
                  <a:pt x="3420672" y="405375"/>
                </a:lnTo>
                <a:lnTo>
                  <a:pt x="3383523" y="381190"/>
                </a:lnTo>
                <a:close/>
              </a:path>
              <a:path w="3452495" h="454025">
                <a:moveTo>
                  <a:pt x="40544" y="0"/>
                </a:moveTo>
                <a:lnTo>
                  <a:pt x="3527" y="23697"/>
                </a:lnTo>
                <a:lnTo>
                  <a:pt x="0" y="39199"/>
                </a:lnTo>
                <a:lnTo>
                  <a:pt x="3287" y="51336"/>
                </a:lnTo>
                <a:lnTo>
                  <a:pt x="10752" y="61563"/>
                </a:lnTo>
                <a:lnTo>
                  <a:pt x="21955" y="69006"/>
                </a:lnTo>
                <a:lnTo>
                  <a:pt x="36459" y="72792"/>
                </a:lnTo>
                <a:lnTo>
                  <a:pt x="49238" y="70469"/>
                </a:lnTo>
                <a:lnTo>
                  <a:pt x="60150" y="64018"/>
                </a:lnTo>
                <a:lnTo>
                  <a:pt x="68229" y="54209"/>
                </a:lnTo>
                <a:lnTo>
                  <a:pt x="68870" y="52228"/>
                </a:lnTo>
                <a:lnTo>
                  <a:pt x="283725" y="52228"/>
                </a:lnTo>
                <a:lnTo>
                  <a:pt x="71630" y="28044"/>
                </a:lnTo>
                <a:lnTo>
                  <a:pt x="70699" y="23697"/>
                </a:lnTo>
                <a:lnTo>
                  <a:pt x="63983" y="12339"/>
                </a:lnTo>
                <a:lnTo>
                  <a:pt x="53642" y="4075"/>
                </a:lnTo>
                <a:lnTo>
                  <a:pt x="405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216842" y="3410540"/>
            <a:ext cx="1685925" cy="445134"/>
          </a:xfrm>
          <a:custGeom>
            <a:avLst/>
            <a:gdLst/>
            <a:ahLst/>
            <a:cxnLst/>
            <a:rect l="l" t="t" r="r" b="b"/>
            <a:pathLst>
              <a:path w="1685925" h="445135">
                <a:moveTo>
                  <a:pt x="62689" y="373945"/>
                </a:moveTo>
                <a:lnTo>
                  <a:pt x="0" y="426270"/>
                </a:lnTo>
                <a:lnTo>
                  <a:pt x="79485" y="445014"/>
                </a:lnTo>
                <a:lnTo>
                  <a:pt x="73887" y="421323"/>
                </a:lnTo>
                <a:lnTo>
                  <a:pt x="174181" y="397634"/>
                </a:lnTo>
                <a:lnTo>
                  <a:pt x="68289" y="397634"/>
                </a:lnTo>
                <a:lnTo>
                  <a:pt x="62689" y="373945"/>
                </a:lnTo>
                <a:close/>
              </a:path>
              <a:path w="1685925" h="445135">
                <a:moveTo>
                  <a:pt x="1650309" y="0"/>
                </a:moveTo>
                <a:lnTo>
                  <a:pt x="1613347" y="28365"/>
                </a:lnTo>
                <a:lnTo>
                  <a:pt x="1612938" y="32790"/>
                </a:lnTo>
                <a:lnTo>
                  <a:pt x="68289" y="397634"/>
                </a:lnTo>
                <a:lnTo>
                  <a:pt x="174181" y="397634"/>
                </a:lnTo>
                <a:lnTo>
                  <a:pt x="1618536" y="56479"/>
                </a:lnTo>
                <a:lnTo>
                  <a:pt x="1678453" y="56479"/>
                </a:lnTo>
                <a:lnTo>
                  <a:pt x="1682729" y="49875"/>
                </a:lnTo>
                <a:lnTo>
                  <a:pt x="1685363" y="38334"/>
                </a:lnTo>
                <a:lnTo>
                  <a:pt x="1680421" y="21713"/>
                </a:lnTo>
                <a:lnTo>
                  <a:pt x="1672949" y="10301"/>
                </a:lnTo>
                <a:lnTo>
                  <a:pt x="1663539" y="3444"/>
                </a:lnTo>
                <a:lnTo>
                  <a:pt x="1654986" y="793"/>
                </a:lnTo>
                <a:lnTo>
                  <a:pt x="1650309" y="0"/>
                </a:lnTo>
                <a:close/>
              </a:path>
              <a:path w="1685925" h="445135">
                <a:moveTo>
                  <a:pt x="1678453" y="56479"/>
                </a:moveTo>
                <a:lnTo>
                  <a:pt x="1618536" y="56479"/>
                </a:lnTo>
                <a:lnTo>
                  <a:pt x="1619407" y="58370"/>
                </a:lnTo>
                <a:lnTo>
                  <a:pt x="1628288" y="66953"/>
                </a:lnTo>
                <a:lnTo>
                  <a:pt x="1639479" y="72090"/>
                </a:lnTo>
                <a:lnTo>
                  <a:pt x="1652016" y="73186"/>
                </a:lnTo>
                <a:lnTo>
                  <a:pt x="1665838" y="68064"/>
                </a:lnTo>
                <a:lnTo>
                  <a:pt x="1676148" y="60039"/>
                </a:lnTo>
                <a:lnTo>
                  <a:pt x="1678453" y="564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216842" y="3836811"/>
            <a:ext cx="5064760" cy="734695"/>
          </a:xfrm>
          <a:custGeom>
            <a:avLst/>
            <a:gdLst/>
            <a:ahLst/>
            <a:cxnLst/>
            <a:rect l="l" t="t" r="r" b="b"/>
            <a:pathLst>
              <a:path w="5064759" h="734695">
                <a:moveTo>
                  <a:pt x="0" y="0"/>
                </a:moveTo>
                <a:lnTo>
                  <a:pt x="5064442" y="0"/>
                </a:lnTo>
                <a:lnTo>
                  <a:pt x="5064442" y="734307"/>
                </a:lnTo>
                <a:lnTo>
                  <a:pt x="0" y="734307"/>
                </a:lnTo>
                <a:lnTo>
                  <a:pt x="0" y="0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5282057" y="3890450"/>
            <a:ext cx="3749040" cy="639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" dirty="0">
                <a:latin typeface="Arial" panose="020B0604020202020204"/>
                <a:cs typeface="Arial" panose="020B0604020202020204"/>
              </a:rPr>
              <a:t>O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U</a:t>
            </a:r>
            <a:r>
              <a:rPr sz="1700" b="1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P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U</a:t>
            </a:r>
            <a:r>
              <a:rPr sz="1700" b="1" dirty="0">
                <a:latin typeface="Arial" panose="020B0604020202020204"/>
                <a:cs typeface="Arial" panose="020B0604020202020204"/>
              </a:rPr>
              <a:t>T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按钮的</a:t>
            </a:r>
            <a:r>
              <a:rPr sz="1700" b="1" spc="-15" dirty="0">
                <a:latin typeface="Arial" panose="020B0604020202020204"/>
                <a:cs typeface="Arial" panose="020B0604020202020204"/>
              </a:rPr>
              <a:t>W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n</a:t>
            </a:r>
            <a:r>
              <a:rPr sz="1700" b="1" dirty="0"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r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o</a:t>
            </a:r>
            <a:r>
              <a:rPr sz="1700" b="1" dirty="0">
                <a:latin typeface="Arial" panose="020B0604020202020204"/>
                <a:cs typeface="Arial" panose="020B0604020202020204"/>
              </a:rPr>
              <a:t>c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1700" b="1" spc="-5" dirty="0">
                <a:latin typeface="Arial" panose="020B0604020202020204"/>
                <a:cs typeface="Arial" panose="020B0604020202020204"/>
              </a:rPr>
              <a:t>{</a:t>
            </a:r>
            <a:r>
              <a:rPr sz="1700" b="1" dirty="0">
                <a:latin typeface="Arial" panose="020B0604020202020204"/>
                <a:cs typeface="Arial" panose="020B0604020202020204"/>
              </a:rPr>
              <a:t>case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_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SE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1700" b="1" dirty="0">
                <a:latin typeface="Arial" panose="020B0604020202020204"/>
                <a:cs typeface="Arial" panose="020B0604020202020204"/>
              </a:rPr>
              <a:t>: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O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n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O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K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()</a:t>
            </a:r>
            <a:r>
              <a:rPr sz="1700" b="1" dirty="0">
                <a:latin typeface="Arial" panose="020B0604020202020204"/>
                <a:cs typeface="Arial" panose="020B0604020202020204"/>
              </a:rPr>
              <a:t>;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}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204051" y="4359120"/>
            <a:ext cx="2049780" cy="334645"/>
          </a:xfrm>
          <a:custGeom>
            <a:avLst/>
            <a:gdLst/>
            <a:ahLst/>
            <a:cxnLst/>
            <a:rect l="l" t="t" r="r" b="b"/>
            <a:pathLst>
              <a:path w="2049779" h="334645">
                <a:moveTo>
                  <a:pt x="67358" y="261846"/>
                </a:moveTo>
                <a:lnTo>
                  <a:pt x="0" y="308011"/>
                </a:lnTo>
                <a:lnTo>
                  <a:pt x="77356" y="334184"/>
                </a:lnTo>
                <a:lnTo>
                  <a:pt x="74023" y="310072"/>
                </a:lnTo>
                <a:lnTo>
                  <a:pt x="248633" y="285958"/>
                </a:lnTo>
                <a:lnTo>
                  <a:pt x="70690" y="285958"/>
                </a:lnTo>
                <a:lnTo>
                  <a:pt x="67358" y="261846"/>
                </a:lnTo>
                <a:close/>
              </a:path>
              <a:path w="2049779" h="334645">
                <a:moveTo>
                  <a:pt x="2017424" y="0"/>
                </a:moveTo>
                <a:lnTo>
                  <a:pt x="2000624" y="3298"/>
                </a:lnTo>
                <a:lnTo>
                  <a:pt x="1988637" y="9681"/>
                </a:lnTo>
                <a:lnTo>
                  <a:pt x="1980929" y="18483"/>
                </a:lnTo>
                <a:lnTo>
                  <a:pt x="1977448" y="28487"/>
                </a:lnTo>
                <a:lnTo>
                  <a:pt x="70690" y="285958"/>
                </a:lnTo>
                <a:lnTo>
                  <a:pt x="248633" y="285958"/>
                </a:lnTo>
                <a:lnTo>
                  <a:pt x="1980566" y="52629"/>
                </a:lnTo>
                <a:lnTo>
                  <a:pt x="2044848" y="52629"/>
                </a:lnTo>
                <a:lnTo>
                  <a:pt x="2045986" y="51052"/>
                </a:lnTo>
                <a:lnTo>
                  <a:pt x="2049203" y="39012"/>
                </a:lnTo>
                <a:lnTo>
                  <a:pt x="2045516" y="23463"/>
                </a:lnTo>
                <a:lnTo>
                  <a:pt x="2038474" y="11653"/>
                </a:lnTo>
                <a:lnTo>
                  <a:pt x="2028852" y="3770"/>
                </a:lnTo>
                <a:lnTo>
                  <a:pt x="2017424" y="0"/>
                </a:lnTo>
                <a:close/>
              </a:path>
              <a:path w="2049779" h="334645">
                <a:moveTo>
                  <a:pt x="2044848" y="52629"/>
                </a:moveTo>
                <a:lnTo>
                  <a:pt x="1980566" y="52629"/>
                </a:lnTo>
                <a:lnTo>
                  <a:pt x="1981236" y="54600"/>
                </a:lnTo>
                <a:lnTo>
                  <a:pt x="1989417" y="64252"/>
                </a:lnTo>
                <a:lnTo>
                  <a:pt x="2000362" y="70538"/>
                </a:lnTo>
                <a:lnTo>
                  <a:pt x="2013105" y="72711"/>
                </a:lnTo>
                <a:lnTo>
                  <a:pt x="2027533" y="68759"/>
                </a:lnTo>
                <a:lnTo>
                  <a:pt x="2038628" y="61253"/>
                </a:lnTo>
                <a:lnTo>
                  <a:pt x="2044848" y="52629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3459709" y="3118732"/>
          <a:ext cx="791845" cy="787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9145"/>
              </a:tblGrid>
              <a:tr h="194733">
                <a:tc>
                  <a:txBody>
                    <a:bodyPr/>
                    <a:lstStyle/>
                    <a:p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8114">
                      <a:solidFill>
                        <a:srgbClr val="000000"/>
                      </a:solidFill>
                      <a:prstDash val="solid"/>
                    </a:lnL>
                    <a:lnR w="8114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94733">
                <a:tc>
                  <a:txBody>
                    <a:bodyPr/>
                    <a:lstStyle/>
                    <a:p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8114">
                      <a:solidFill>
                        <a:srgbClr val="000000"/>
                      </a:solidFill>
                      <a:prstDash val="solid"/>
                    </a:lnL>
                    <a:lnR w="8114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94733">
                <a:tc>
                  <a:txBody>
                    <a:bodyPr/>
                    <a:lstStyle/>
                    <a:p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8114">
                      <a:solidFill>
                        <a:srgbClr val="000000"/>
                      </a:solidFill>
                      <a:prstDash val="solid"/>
                    </a:lnL>
                    <a:lnR w="8114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94733">
                <a:tc>
                  <a:txBody>
                    <a:bodyPr/>
                    <a:lstStyle/>
                    <a:p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8114">
                      <a:solidFill>
                        <a:srgbClr val="000000"/>
                      </a:solidFill>
                      <a:prstDash val="solid"/>
                    </a:lnL>
                    <a:lnR w="8114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8115" name="矩形 388114"/>
          <p:cNvSpPr/>
          <p:nvPr/>
        </p:nvSpPr>
        <p:spPr>
          <a:xfrm>
            <a:off x="152400" y="266700"/>
            <a:ext cx="10388600" cy="74485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6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sz="3965">
                <a:solidFill>
                  <a:srgbClr val="FF3300"/>
                </a:solidFill>
              </a:rPr>
              <a:t>什么是操作系统的接口呢？</a:t>
            </a:r>
            <a:endParaRPr lang="zh-CN" altLang="en-US" sz="3965">
              <a:solidFill>
                <a:srgbClr val="FF3300"/>
              </a:solidFill>
            </a:endParaRPr>
          </a:p>
        </p:txBody>
      </p:sp>
      <p:sp>
        <p:nvSpPr>
          <p:cNvPr id="388118" name="矩形 388117"/>
          <p:cNvSpPr/>
          <p:nvPr/>
        </p:nvSpPr>
        <p:spPr>
          <a:xfrm>
            <a:off x="1148644" y="3267487"/>
            <a:ext cx="8896379" cy="953309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20000"/>
              </a:lnSpc>
              <a:spcBef>
                <a:spcPct val="30000"/>
              </a:spcBef>
            </a:pPr>
            <a:r>
              <a:rPr lang="zh-CN" altLang="en-US" sz="3085" dirty="0"/>
              <a:t>用户使用计算机总结：</a:t>
            </a:r>
            <a:r>
              <a:rPr lang="zh-CN" altLang="en-US" sz="3085" dirty="0">
                <a:solidFill>
                  <a:srgbClr val="FF0000"/>
                </a:solidFill>
              </a:rPr>
              <a:t>应用操作系统提供的接口编写程序；应用这些程序解决问题</a:t>
            </a:r>
            <a:endParaRPr lang="zh-CN" altLang="en-US" sz="3085">
              <a:solidFill>
                <a:srgbClr val="FF0000"/>
              </a:solidFill>
            </a:endParaRPr>
          </a:p>
        </p:txBody>
      </p:sp>
      <p:grpSp>
        <p:nvGrpSpPr>
          <p:cNvPr id="388119" name="组合 388118"/>
          <p:cNvGrpSpPr/>
          <p:nvPr/>
        </p:nvGrpSpPr>
        <p:grpSpPr>
          <a:xfrm>
            <a:off x="1232606" y="1175456"/>
            <a:ext cx="8396111" cy="661194"/>
            <a:chOff x="576" y="1183"/>
            <a:chExt cx="4800" cy="378"/>
          </a:xfrm>
        </p:grpSpPr>
        <p:sp>
          <p:nvSpPr>
            <p:cNvPr id="388120" name="矩形 388119"/>
            <p:cNvSpPr/>
            <p:nvPr/>
          </p:nvSpPr>
          <p:spPr>
            <a:xfrm>
              <a:off x="576" y="1183"/>
              <a:ext cx="4800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>
                <a:lnSpc>
                  <a:spcPct val="140000"/>
                </a:lnSpc>
                <a:spcBef>
                  <a:spcPct val="0"/>
                </a:spcBef>
              </a:pPr>
              <a:r>
                <a:rPr lang="zh-CN" altLang="en-US" sz="2645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命令行</a:t>
              </a:r>
              <a:r>
                <a:rPr lang="en-US" altLang="zh-CN" sz="2645" b="1">
                  <a:solidFill>
                    <a:schemeClr val="tx1"/>
                  </a:solidFill>
                  <a:latin typeface="Arial" panose="020B0604020202020204" pitchFamily="34" charset="0"/>
                </a:rPr>
                <a:t>:  </a:t>
              </a:r>
              <a:r>
                <a:rPr lang="zh-CN" altLang="en-US" sz="2645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命令程序</a:t>
              </a:r>
              <a:r>
                <a:rPr lang="en-US" altLang="zh-CN" sz="2645" b="1">
                  <a:solidFill>
                    <a:schemeClr val="tx1"/>
                  </a:solidFill>
                  <a:latin typeface="Arial" panose="020B0604020202020204" pitchFamily="34" charset="0"/>
                </a:rPr>
                <a:t>+shell+</a:t>
              </a:r>
              <a:r>
                <a:rPr lang="zh-CN" altLang="en-US" sz="2645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字符显示</a:t>
              </a:r>
              <a:endParaRPr lang="zh-CN" altLang="en-US" sz="2645" b="1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388121" name="图片 388120" descr="j01158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41" y="1343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388122" name="组合 388121"/>
          <p:cNvGrpSpPr/>
          <p:nvPr/>
        </p:nvGrpSpPr>
        <p:grpSpPr>
          <a:xfrm>
            <a:off x="1232606" y="1847144"/>
            <a:ext cx="8396111" cy="661194"/>
            <a:chOff x="576" y="1183"/>
            <a:chExt cx="4800" cy="378"/>
          </a:xfrm>
        </p:grpSpPr>
        <p:sp>
          <p:nvSpPr>
            <p:cNvPr id="388123" name="矩形 388122"/>
            <p:cNvSpPr/>
            <p:nvPr/>
          </p:nvSpPr>
          <p:spPr>
            <a:xfrm>
              <a:off x="576" y="1183"/>
              <a:ext cx="4800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>
                <a:lnSpc>
                  <a:spcPct val="140000"/>
                </a:lnSpc>
                <a:spcBef>
                  <a:spcPct val="0"/>
                </a:spcBef>
              </a:pPr>
              <a:r>
                <a:rPr lang="en-US" altLang="zh-CN" sz="2645" b="1">
                  <a:solidFill>
                    <a:schemeClr val="tx1"/>
                  </a:solidFill>
                  <a:latin typeface="Arial" panose="020B0604020202020204" pitchFamily="34" charset="0"/>
                </a:rPr>
                <a:t>GUI: </a:t>
              </a:r>
              <a:r>
                <a:rPr lang="zh-CN" altLang="en-US" sz="2645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消息处理程序</a:t>
              </a:r>
              <a:r>
                <a:rPr lang="en-US" altLang="zh-CN" sz="2645" b="1">
                  <a:solidFill>
                    <a:schemeClr val="tx1"/>
                  </a:solidFill>
                  <a:latin typeface="Arial" panose="020B0604020202020204" pitchFamily="34" charset="0"/>
                </a:rPr>
                <a:t>+</a:t>
              </a:r>
              <a:r>
                <a:rPr lang="zh-CN" altLang="en-US" sz="2645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消息框架</a:t>
              </a:r>
              <a:r>
                <a:rPr lang="en-US" altLang="zh-CN" sz="2645" b="1">
                  <a:solidFill>
                    <a:schemeClr val="tx1"/>
                  </a:solidFill>
                  <a:latin typeface="Arial" panose="020B0604020202020204" pitchFamily="34" charset="0"/>
                </a:rPr>
                <a:t>+</a:t>
              </a:r>
              <a:r>
                <a:rPr lang="zh-CN" altLang="en-US" sz="2645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图形显示</a:t>
              </a:r>
              <a:endParaRPr lang="zh-CN" altLang="en-US" sz="2645" b="1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388124" name="图片 388123" descr="j01158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41" y="1343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388125" name="组合 388124"/>
          <p:cNvGrpSpPr/>
          <p:nvPr/>
        </p:nvGrpSpPr>
        <p:grpSpPr>
          <a:xfrm>
            <a:off x="1232606" y="2518833"/>
            <a:ext cx="8396111" cy="661194"/>
            <a:chOff x="576" y="1183"/>
            <a:chExt cx="4800" cy="378"/>
          </a:xfrm>
        </p:grpSpPr>
        <p:sp>
          <p:nvSpPr>
            <p:cNvPr id="388126" name="矩形 388125"/>
            <p:cNvSpPr/>
            <p:nvPr/>
          </p:nvSpPr>
          <p:spPr>
            <a:xfrm>
              <a:off x="576" y="1183"/>
              <a:ext cx="4800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>
                <a:lnSpc>
                  <a:spcPct val="140000"/>
                </a:lnSpc>
                <a:spcBef>
                  <a:spcPct val="0"/>
                </a:spcBef>
              </a:pPr>
              <a:r>
                <a:rPr lang="zh-CN" altLang="en-US" sz="2645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应用程序</a:t>
              </a:r>
              <a:r>
                <a:rPr lang="en-US" altLang="zh-CN" sz="2645" b="1">
                  <a:solidFill>
                    <a:schemeClr val="tx1"/>
                  </a:solidFill>
                  <a:latin typeface="Arial" panose="020B0604020202020204" pitchFamily="34" charset="0"/>
                </a:rPr>
                <a:t>:  </a:t>
              </a:r>
              <a:r>
                <a:rPr lang="zh-CN" altLang="en-US" sz="2645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将上述部分组成一个整体</a:t>
              </a:r>
              <a:r>
                <a:rPr lang="en-US" altLang="zh-CN" sz="2645" b="1">
                  <a:solidFill>
                    <a:schemeClr val="tx1"/>
                  </a:solidFill>
                  <a:latin typeface="Arial" panose="020B0604020202020204" pitchFamily="34" charset="0"/>
                </a:rPr>
                <a:t>…</a:t>
              </a:r>
              <a:endParaRPr lang="en-US" altLang="zh-CN" sz="2645" b="1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388127" name="图片 388126" descr="j01158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41" y="1343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388128" name="左大括号 388127"/>
          <p:cNvSpPr/>
          <p:nvPr/>
        </p:nvSpPr>
        <p:spPr>
          <a:xfrm>
            <a:off x="1232606" y="1504303"/>
            <a:ext cx="251883" cy="1427339"/>
          </a:xfrm>
          <a:prstGeom prst="leftBrace">
            <a:avLst>
              <a:gd name="adj1" fmla="val 47222"/>
              <a:gd name="adj2" fmla="val 50000"/>
            </a:avLst>
          </a:prstGeom>
          <a:noFill/>
          <a:ln w="28575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 sz="2645"/>
          </a:p>
        </p:txBody>
      </p:sp>
      <p:sp>
        <p:nvSpPr>
          <p:cNvPr id="388130" name="左弧形箭头 388129"/>
          <p:cNvSpPr/>
          <p:nvPr/>
        </p:nvSpPr>
        <p:spPr>
          <a:xfrm>
            <a:off x="644878" y="2008070"/>
            <a:ext cx="503767" cy="2015067"/>
          </a:xfrm>
          <a:prstGeom prst="curvedRightArrow">
            <a:avLst>
              <a:gd name="adj1" fmla="val 80000"/>
              <a:gd name="adj2" fmla="val 160000"/>
              <a:gd name="adj3" fmla="val 33333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sz="2645"/>
          </a:p>
        </p:txBody>
      </p:sp>
      <p:grpSp>
        <p:nvGrpSpPr>
          <p:cNvPr id="388137" name="组合 388136"/>
          <p:cNvGrpSpPr/>
          <p:nvPr/>
        </p:nvGrpSpPr>
        <p:grpSpPr>
          <a:xfrm>
            <a:off x="1232606" y="4449939"/>
            <a:ext cx="8647994" cy="1233179"/>
            <a:chOff x="528" y="2544"/>
            <a:chExt cx="4944" cy="705"/>
          </a:xfrm>
        </p:grpSpPr>
        <p:sp>
          <p:nvSpPr>
            <p:cNvPr id="388132" name="矩形 388131"/>
            <p:cNvSpPr/>
            <p:nvPr/>
          </p:nvSpPr>
          <p:spPr>
            <a:xfrm>
              <a:off x="528" y="2544"/>
              <a:ext cx="4944" cy="70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>
                <a:lnSpc>
                  <a:spcPct val="140000"/>
                </a:lnSpc>
                <a:spcBef>
                  <a:spcPct val="0"/>
                </a:spcBef>
              </a:pPr>
              <a:r>
                <a:rPr lang="zh-CN" altLang="en-US" sz="2645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因此：用户通过</a:t>
              </a:r>
              <a:r>
                <a:rPr lang="en-US" altLang="zh-CN" sz="2645" b="1">
                  <a:solidFill>
                    <a:schemeClr val="tx1"/>
                  </a:solidFill>
                  <a:latin typeface="Arial" panose="020B0604020202020204" pitchFamily="34" charset="0"/>
                </a:rPr>
                <a:t>OS</a:t>
              </a:r>
              <a:r>
                <a:rPr lang="zh-CN" altLang="en-US" sz="2645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接口使用计算机；</a:t>
              </a:r>
              <a:r>
                <a:rPr lang="en-US" altLang="zh-CN" sz="2645" b="1">
                  <a:solidFill>
                    <a:schemeClr val="tx1"/>
                  </a:solidFill>
                  <a:latin typeface="Arial" panose="020B0604020202020204" pitchFamily="34" charset="0"/>
                </a:rPr>
                <a:t>OS</a:t>
              </a:r>
              <a:r>
                <a:rPr lang="zh-CN" altLang="en-US" sz="2645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接口影响计算机的使用方式</a:t>
              </a:r>
              <a:endParaRPr lang="zh-CN" altLang="en-US" sz="2645" b="1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388133" name="图片 388132" descr="j01158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93" y="2724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388134" name="圆角矩形标注 388133"/>
          <p:cNvSpPr/>
          <p:nvPr/>
        </p:nvSpPr>
        <p:spPr>
          <a:xfrm rot="10800000">
            <a:off x="4758972" y="5121628"/>
            <a:ext cx="5205589" cy="839611"/>
          </a:xfrm>
          <a:prstGeom prst="wedgeRoundRectCallout">
            <a:avLst>
              <a:gd name="adj1" fmla="val 57153"/>
              <a:gd name="adj2" fmla="val 33954"/>
              <a:gd name="adj3" fmla="val 16667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/>
          <a:p>
            <a:pPr algn="ctr">
              <a:spcBef>
                <a:spcPct val="0"/>
              </a:spcBef>
            </a:pPr>
            <a:r>
              <a:rPr lang="zh-CN" altLang="en-US" sz="2205" b="1" dirty="0">
                <a:solidFill>
                  <a:schemeClr val="tx1"/>
                </a:solidFill>
                <a:latin typeface="Arial" panose="020B0604020202020204" pitchFamily="34" charset="0"/>
              </a:rPr>
              <a:t>这么重要，得起个名字：</a:t>
            </a:r>
            <a:r>
              <a:rPr lang="zh-CN" altLang="en-US" sz="2205" b="1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zh-CN" altLang="en-US" sz="2205" b="1" dirty="0">
                <a:solidFill>
                  <a:schemeClr val="tx1"/>
                </a:solidFill>
                <a:latin typeface="Arial" panose="020B0604020202020204" pitchFamily="34" charset="0"/>
              </a:rPr>
              <a:t>接口表现为函数调用，又由</a:t>
            </a:r>
            <a:r>
              <a:rPr lang="en-US" altLang="zh-CN" sz="2205" b="1">
                <a:solidFill>
                  <a:schemeClr val="tx1"/>
                </a:solidFill>
                <a:latin typeface="Arial" panose="020B0604020202020204" pitchFamily="34" charset="0"/>
              </a:rPr>
              <a:t>OS</a:t>
            </a:r>
            <a:r>
              <a:rPr lang="zh-CN" altLang="en-US" sz="2205" b="1" dirty="0">
                <a:solidFill>
                  <a:schemeClr val="tx1"/>
                </a:solidFill>
                <a:latin typeface="Arial" panose="020B0604020202020204" pitchFamily="34" charset="0"/>
              </a:rPr>
              <a:t>提供，叫系统调用</a:t>
            </a:r>
            <a:endParaRPr lang="zh-CN" altLang="en-US" sz="2205" b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388139" name="组合 388138"/>
          <p:cNvGrpSpPr/>
          <p:nvPr/>
        </p:nvGrpSpPr>
        <p:grpSpPr>
          <a:xfrm>
            <a:off x="1232606" y="6136158"/>
            <a:ext cx="8647994" cy="661194"/>
            <a:chOff x="528" y="3456"/>
            <a:chExt cx="4944" cy="378"/>
          </a:xfrm>
        </p:grpSpPr>
        <p:sp>
          <p:nvSpPr>
            <p:cNvPr id="388135" name="矩形 388134"/>
            <p:cNvSpPr/>
            <p:nvPr/>
          </p:nvSpPr>
          <p:spPr>
            <a:xfrm>
              <a:off x="528" y="3456"/>
              <a:ext cx="4944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>
                <a:lnSpc>
                  <a:spcPct val="140000"/>
                </a:lnSpc>
                <a:spcBef>
                  <a:spcPct val="0"/>
                </a:spcBef>
              </a:pPr>
              <a:r>
                <a:rPr lang="zh-CN" altLang="en-US" sz="264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系统调用是学习操作系统的首要任务</a:t>
              </a:r>
              <a:r>
                <a:rPr lang="en-US" altLang="zh-CN" sz="2645" b="1">
                  <a:solidFill>
                    <a:srgbClr val="FF0000"/>
                  </a:solidFill>
                  <a:latin typeface="Arial" panose="020B0604020202020204" pitchFamily="34" charset="0"/>
                </a:rPr>
                <a:t>…</a:t>
              </a:r>
              <a:endParaRPr lang="en-US" altLang="zh-CN" sz="2645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388136" name="图片 388135" descr="j01158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93" y="3612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388152" name="组合 388151"/>
          <p:cNvGrpSpPr/>
          <p:nvPr/>
        </p:nvGrpSpPr>
        <p:grpSpPr>
          <a:xfrm>
            <a:off x="7781572" y="1007533"/>
            <a:ext cx="2602794" cy="1707209"/>
            <a:chOff x="3168" y="1376"/>
            <a:chExt cx="1536" cy="1072"/>
          </a:xfrm>
        </p:grpSpPr>
        <p:sp>
          <p:nvSpPr>
            <p:cNvPr id="388153" name="立方体 388152"/>
            <p:cNvSpPr/>
            <p:nvPr/>
          </p:nvSpPr>
          <p:spPr>
            <a:xfrm>
              <a:off x="3168" y="1836"/>
              <a:ext cx="1536" cy="612"/>
            </a:xfrm>
            <a:prstGeom prst="cube">
              <a:avLst>
                <a:gd name="adj" fmla="val 25000"/>
              </a:avLst>
            </a:prstGeom>
            <a:solidFill>
              <a:srgbClr val="808080"/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2645"/>
            </a:p>
          </p:txBody>
        </p:sp>
        <p:sp>
          <p:nvSpPr>
            <p:cNvPr id="388154" name="圆柱形 388153"/>
            <p:cNvSpPr/>
            <p:nvPr/>
          </p:nvSpPr>
          <p:spPr>
            <a:xfrm>
              <a:off x="3322" y="1872"/>
              <a:ext cx="143" cy="288"/>
            </a:xfrm>
            <a:prstGeom prst="can">
              <a:avLst>
                <a:gd name="adj" fmla="val 51921"/>
              </a:avLst>
            </a:prstGeom>
            <a:solidFill>
              <a:srgbClr val="FFFFFF">
                <a:alpha val="11000"/>
              </a:srgbClr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2645"/>
            </a:p>
          </p:txBody>
        </p:sp>
        <p:sp>
          <p:nvSpPr>
            <p:cNvPr id="388155" name="圆柱形 388154"/>
            <p:cNvSpPr/>
            <p:nvPr/>
          </p:nvSpPr>
          <p:spPr>
            <a:xfrm>
              <a:off x="3322" y="1800"/>
              <a:ext cx="143" cy="144"/>
            </a:xfrm>
            <a:prstGeom prst="can">
              <a:avLst>
                <a:gd name="adj" fmla="val 50347"/>
              </a:avLst>
            </a:prstGeom>
            <a:solidFill>
              <a:srgbClr val="FFFFFF">
                <a:alpha val="89000"/>
              </a:srgbClr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2645"/>
            </a:p>
          </p:txBody>
        </p:sp>
        <p:sp>
          <p:nvSpPr>
            <p:cNvPr id="388156" name="圆柱形 388155"/>
            <p:cNvSpPr/>
            <p:nvPr/>
          </p:nvSpPr>
          <p:spPr>
            <a:xfrm>
              <a:off x="3644" y="1872"/>
              <a:ext cx="143" cy="288"/>
            </a:xfrm>
            <a:prstGeom prst="can">
              <a:avLst>
                <a:gd name="adj" fmla="val 51921"/>
              </a:avLst>
            </a:prstGeom>
            <a:solidFill>
              <a:srgbClr val="FFFFFF">
                <a:alpha val="11000"/>
              </a:srgbClr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2645"/>
            </a:p>
          </p:txBody>
        </p:sp>
        <p:sp>
          <p:nvSpPr>
            <p:cNvPr id="388157" name="圆柱形 388156"/>
            <p:cNvSpPr/>
            <p:nvPr/>
          </p:nvSpPr>
          <p:spPr>
            <a:xfrm>
              <a:off x="3644" y="1800"/>
              <a:ext cx="143" cy="144"/>
            </a:xfrm>
            <a:prstGeom prst="can">
              <a:avLst>
                <a:gd name="adj" fmla="val 50347"/>
              </a:avLst>
            </a:prstGeom>
            <a:solidFill>
              <a:srgbClr val="FFFFFF">
                <a:alpha val="89000"/>
              </a:srgbClr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2645"/>
            </a:p>
          </p:txBody>
        </p:sp>
        <p:sp>
          <p:nvSpPr>
            <p:cNvPr id="388158" name="圆柱形 388157"/>
            <p:cNvSpPr/>
            <p:nvPr/>
          </p:nvSpPr>
          <p:spPr>
            <a:xfrm>
              <a:off x="4360" y="1872"/>
              <a:ext cx="143" cy="288"/>
            </a:xfrm>
            <a:prstGeom prst="can">
              <a:avLst>
                <a:gd name="adj" fmla="val 51921"/>
              </a:avLst>
            </a:prstGeom>
            <a:solidFill>
              <a:srgbClr val="FFFFFF">
                <a:alpha val="11000"/>
              </a:srgbClr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2645"/>
            </a:p>
          </p:txBody>
        </p:sp>
        <p:sp>
          <p:nvSpPr>
            <p:cNvPr id="388159" name="圆柱形 388158"/>
            <p:cNvSpPr/>
            <p:nvPr/>
          </p:nvSpPr>
          <p:spPr>
            <a:xfrm>
              <a:off x="4360" y="1800"/>
              <a:ext cx="143" cy="144"/>
            </a:xfrm>
            <a:prstGeom prst="can">
              <a:avLst>
                <a:gd name="adj" fmla="val 50347"/>
              </a:avLst>
            </a:prstGeom>
            <a:solidFill>
              <a:srgbClr val="FFFFFF">
                <a:alpha val="89000"/>
              </a:srgbClr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2645"/>
            </a:p>
          </p:txBody>
        </p:sp>
        <p:sp>
          <p:nvSpPr>
            <p:cNvPr id="388160" name="直接连接符 388159"/>
            <p:cNvSpPr/>
            <p:nvPr/>
          </p:nvSpPr>
          <p:spPr>
            <a:xfrm flipV="1">
              <a:off x="3394" y="1620"/>
              <a:ext cx="429" cy="288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88161" name="直接连接符 388160"/>
            <p:cNvSpPr/>
            <p:nvPr/>
          </p:nvSpPr>
          <p:spPr>
            <a:xfrm flipV="1">
              <a:off x="3716" y="1620"/>
              <a:ext cx="107" cy="288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88162" name="直接连接符 388161"/>
            <p:cNvSpPr/>
            <p:nvPr/>
          </p:nvSpPr>
          <p:spPr>
            <a:xfrm flipH="1" flipV="1">
              <a:off x="3823" y="1620"/>
              <a:ext cx="608" cy="288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88163" name="文本框 388162"/>
            <p:cNvSpPr txBox="1"/>
            <p:nvPr/>
          </p:nvSpPr>
          <p:spPr>
            <a:xfrm>
              <a:off x="3409" y="1376"/>
              <a:ext cx="911" cy="249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FF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algn="ctr"/>
              <a:r>
                <a:rPr lang="zh-CN" altLang="en-US" sz="1985" b="1" dirty="0">
                  <a:latin typeface="Arial" panose="020B0604020202020204" pitchFamily="34" charset="0"/>
                </a:rPr>
                <a:t>系统调用</a:t>
              </a:r>
              <a:endParaRPr lang="zh-CN" altLang="en-US" sz="1985" b="1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8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88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88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88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88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88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88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7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88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88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88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88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88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88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8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15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388115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388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388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8118" grpId="0"/>
      <p:bldP spid="388134" grpId="0" bldLvl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22" name="标题 389121"/>
          <p:cNvSpPr>
            <a:spLocks noGrp="1"/>
          </p:cNvSpPr>
          <p:nvPr>
            <p:ph type="title"/>
          </p:nvPr>
        </p:nvSpPr>
        <p:spPr>
          <a:xfrm>
            <a:off x="728839" y="335844"/>
            <a:ext cx="9403644" cy="745155"/>
          </a:xfrm>
        </p:spPr>
        <p:txBody>
          <a:bodyPr anchor="ctr" anchorCtr="0"/>
          <a:p>
            <a:r>
              <a:rPr lang="zh-CN" altLang="en-US" dirty="0"/>
              <a:t>提供哪些系统调用</a:t>
            </a:r>
            <a:r>
              <a:rPr lang="en-US" altLang="zh-CN"/>
              <a:t>?</a:t>
            </a:r>
            <a:endParaRPr lang="en-US" altLang="zh-CN"/>
          </a:p>
        </p:txBody>
      </p:sp>
      <p:sp>
        <p:nvSpPr>
          <p:cNvPr id="389123" name="矩形 389122"/>
          <p:cNvSpPr/>
          <p:nvPr/>
        </p:nvSpPr>
        <p:spPr>
          <a:xfrm>
            <a:off x="1152143" y="1259417"/>
            <a:ext cx="8896379" cy="953309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10000"/>
              </a:lnSpc>
            </a:pPr>
            <a:r>
              <a:rPr lang="en-US" altLang="zh-CN" sz="3085"/>
              <a:t>POSIX: </a:t>
            </a:r>
            <a:r>
              <a:rPr lang="zh-CN" altLang="en-US" sz="3085" dirty="0"/>
              <a:t>将接口统一比较好</a:t>
            </a:r>
            <a:r>
              <a:rPr lang="en-US" altLang="zh-CN" sz="3085"/>
              <a:t>!</a:t>
            </a:r>
            <a:endParaRPr lang="en-US" altLang="zh-CN" sz="3085"/>
          </a:p>
        </p:txBody>
      </p:sp>
      <p:grpSp>
        <p:nvGrpSpPr>
          <p:cNvPr id="389124" name="组合 389123"/>
          <p:cNvGrpSpPr/>
          <p:nvPr/>
        </p:nvGrpSpPr>
        <p:grpSpPr>
          <a:xfrm>
            <a:off x="1484489" y="1805164"/>
            <a:ext cx="8396111" cy="661194"/>
            <a:chOff x="576" y="1183"/>
            <a:chExt cx="4800" cy="378"/>
          </a:xfrm>
        </p:grpSpPr>
        <p:sp>
          <p:nvSpPr>
            <p:cNvPr id="389125" name="矩形 389124"/>
            <p:cNvSpPr/>
            <p:nvPr/>
          </p:nvSpPr>
          <p:spPr>
            <a:xfrm>
              <a:off x="576" y="1183"/>
              <a:ext cx="4800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>
                <a:lnSpc>
                  <a:spcPct val="140000"/>
                </a:lnSpc>
                <a:spcBef>
                  <a:spcPct val="0"/>
                </a:spcBef>
              </a:pPr>
              <a:r>
                <a:rPr lang="en-US" altLang="zh-CN" sz="2645" b="1">
                  <a:solidFill>
                    <a:schemeClr val="tx1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Portable Operating System Interface of Unix</a:t>
              </a:r>
              <a:r>
                <a:rPr lang="en-US" altLang="zh-CN" sz="2645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</a:t>
              </a:r>
              <a:endParaRPr lang="en-US" altLang="zh-CN" sz="2645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pic>
          <p:nvPicPr>
            <p:cNvPr id="389126" name="图片 389125" descr="j01158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41" y="1343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389156" name="组合 389155"/>
          <p:cNvGrpSpPr/>
          <p:nvPr/>
        </p:nvGrpSpPr>
        <p:grpSpPr>
          <a:xfrm>
            <a:off x="7697611" y="139935"/>
            <a:ext cx="2602794" cy="1707209"/>
            <a:chOff x="3168" y="1376"/>
            <a:chExt cx="1536" cy="1072"/>
          </a:xfrm>
        </p:grpSpPr>
        <p:sp>
          <p:nvSpPr>
            <p:cNvPr id="389157" name="立方体 389156"/>
            <p:cNvSpPr/>
            <p:nvPr/>
          </p:nvSpPr>
          <p:spPr>
            <a:xfrm>
              <a:off x="3168" y="1836"/>
              <a:ext cx="1536" cy="612"/>
            </a:xfrm>
            <a:prstGeom prst="cube">
              <a:avLst>
                <a:gd name="adj" fmla="val 25000"/>
              </a:avLst>
            </a:prstGeom>
            <a:solidFill>
              <a:srgbClr val="808080"/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2645"/>
            </a:p>
          </p:txBody>
        </p:sp>
        <p:sp>
          <p:nvSpPr>
            <p:cNvPr id="389158" name="圆柱形 389157"/>
            <p:cNvSpPr/>
            <p:nvPr/>
          </p:nvSpPr>
          <p:spPr>
            <a:xfrm>
              <a:off x="3322" y="1872"/>
              <a:ext cx="143" cy="288"/>
            </a:xfrm>
            <a:prstGeom prst="can">
              <a:avLst>
                <a:gd name="adj" fmla="val 51921"/>
              </a:avLst>
            </a:prstGeom>
            <a:solidFill>
              <a:srgbClr val="FFFFFF">
                <a:alpha val="11000"/>
              </a:srgbClr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2645"/>
            </a:p>
          </p:txBody>
        </p:sp>
        <p:sp>
          <p:nvSpPr>
            <p:cNvPr id="389159" name="圆柱形 389158"/>
            <p:cNvSpPr/>
            <p:nvPr/>
          </p:nvSpPr>
          <p:spPr>
            <a:xfrm>
              <a:off x="3322" y="1800"/>
              <a:ext cx="143" cy="144"/>
            </a:xfrm>
            <a:prstGeom prst="can">
              <a:avLst>
                <a:gd name="adj" fmla="val 50347"/>
              </a:avLst>
            </a:prstGeom>
            <a:solidFill>
              <a:srgbClr val="FFFFFF">
                <a:alpha val="89000"/>
              </a:srgbClr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2645"/>
            </a:p>
          </p:txBody>
        </p:sp>
        <p:sp>
          <p:nvSpPr>
            <p:cNvPr id="389160" name="圆柱形 389159"/>
            <p:cNvSpPr/>
            <p:nvPr/>
          </p:nvSpPr>
          <p:spPr>
            <a:xfrm>
              <a:off x="3644" y="1872"/>
              <a:ext cx="143" cy="288"/>
            </a:xfrm>
            <a:prstGeom prst="can">
              <a:avLst>
                <a:gd name="adj" fmla="val 51921"/>
              </a:avLst>
            </a:prstGeom>
            <a:solidFill>
              <a:srgbClr val="FFFFFF">
                <a:alpha val="11000"/>
              </a:srgbClr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2645"/>
            </a:p>
          </p:txBody>
        </p:sp>
        <p:sp>
          <p:nvSpPr>
            <p:cNvPr id="389161" name="圆柱形 389160"/>
            <p:cNvSpPr/>
            <p:nvPr/>
          </p:nvSpPr>
          <p:spPr>
            <a:xfrm>
              <a:off x="3644" y="1800"/>
              <a:ext cx="143" cy="144"/>
            </a:xfrm>
            <a:prstGeom prst="can">
              <a:avLst>
                <a:gd name="adj" fmla="val 50347"/>
              </a:avLst>
            </a:prstGeom>
            <a:solidFill>
              <a:srgbClr val="FFFFFF">
                <a:alpha val="89000"/>
              </a:srgbClr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2645"/>
            </a:p>
          </p:txBody>
        </p:sp>
        <p:sp>
          <p:nvSpPr>
            <p:cNvPr id="389162" name="圆柱形 389161"/>
            <p:cNvSpPr/>
            <p:nvPr/>
          </p:nvSpPr>
          <p:spPr>
            <a:xfrm>
              <a:off x="4360" y="1872"/>
              <a:ext cx="143" cy="288"/>
            </a:xfrm>
            <a:prstGeom prst="can">
              <a:avLst>
                <a:gd name="adj" fmla="val 51921"/>
              </a:avLst>
            </a:prstGeom>
            <a:solidFill>
              <a:srgbClr val="FFFFFF">
                <a:alpha val="11000"/>
              </a:srgbClr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2645"/>
            </a:p>
          </p:txBody>
        </p:sp>
        <p:sp>
          <p:nvSpPr>
            <p:cNvPr id="389163" name="圆柱形 389162"/>
            <p:cNvSpPr/>
            <p:nvPr/>
          </p:nvSpPr>
          <p:spPr>
            <a:xfrm>
              <a:off x="4360" y="1800"/>
              <a:ext cx="143" cy="144"/>
            </a:xfrm>
            <a:prstGeom prst="can">
              <a:avLst>
                <a:gd name="adj" fmla="val 50347"/>
              </a:avLst>
            </a:prstGeom>
            <a:solidFill>
              <a:srgbClr val="FFFFFF">
                <a:alpha val="89000"/>
              </a:srgbClr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2645"/>
            </a:p>
          </p:txBody>
        </p:sp>
        <p:sp>
          <p:nvSpPr>
            <p:cNvPr id="389164" name="直接连接符 389163"/>
            <p:cNvSpPr/>
            <p:nvPr/>
          </p:nvSpPr>
          <p:spPr>
            <a:xfrm flipV="1">
              <a:off x="3394" y="1620"/>
              <a:ext cx="429" cy="288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89165" name="直接连接符 389164"/>
            <p:cNvSpPr/>
            <p:nvPr/>
          </p:nvSpPr>
          <p:spPr>
            <a:xfrm flipV="1">
              <a:off x="3716" y="1620"/>
              <a:ext cx="107" cy="288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89166" name="直接连接符 389165"/>
            <p:cNvSpPr/>
            <p:nvPr/>
          </p:nvSpPr>
          <p:spPr>
            <a:xfrm flipH="1" flipV="1">
              <a:off x="3823" y="1620"/>
              <a:ext cx="608" cy="288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89167" name="文本框 389166"/>
            <p:cNvSpPr txBox="1"/>
            <p:nvPr/>
          </p:nvSpPr>
          <p:spPr>
            <a:xfrm>
              <a:off x="3409" y="1376"/>
              <a:ext cx="911" cy="249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FF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algn="ctr"/>
              <a:r>
                <a:rPr lang="zh-CN" altLang="en-US" sz="1985" b="1" dirty="0">
                  <a:latin typeface="Arial" panose="020B0604020202020204" pitchFamily="34" charset="0"/>
                </a:rPr>
                <a:t>系统调用</a:t>
              </a:r>
              <a:endParaRPr lang="zh-CN" altLang="en-US" sz="1985" b="1">
                <a:latin typeface="Arial" panose="020B0604020202020204" pitchFamily="34" charset="0"/>
              </a:endParaRPr>
            </a:p>
          </p:txBody>
        </p:sp>
      </p:grpSp>
      <p:grpSp>
        <p:nvGrpSpPr>
          <p:cNvPr id="389168" name="组合 389167"/>
          <p:cNvGrpSpPr/>
          <p:nvPr/>
        </p:nvGrpSpPr>
        <p:grpSpPr>
          <a:xfrm>
            <a:off x="1484489" y="2392892"/>
            <a:ext cx="8396111" cy="661194"/>
            <a:chOff x="576" y="1183"/>
            <a:chExt cx="4800" cy="378"/>
          </a:xfrm>
        </p:grpSpPr>
        <p:sp>
          <p:nvSpPr>
            <p:cNvPr id="389169" name="矩形 389168"/>
            <p:cNvSpPr/>
            <p:nvPr/>
          </p:nvSpPr>
          <p:spPr>
            <a:xfrm>
              <a:off x="576" y="1183"/>
              <a:ext cx="4800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>
                <a:lnSpc>
                  <a:spcPct val="140000"/>
                </a:lnSpc>
                <a:spcBef>
                  <a:spcPct val="0"/>
                </a:spcBef>
              </a:pPr>
              <a:r>
                <a:rPr lang="zh-CN" altLang="en-US" sz="2645" b="1" dirty="0">
                  <a:solidFill>
                    <a:schemeClr val="tx1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由</a:t>
              </a:r>
              <a:r>
                <a:rPr lang="en-US" altLang="zh-CN" sz="2645" b="1">
                  <a:solidFill>
                    <a:schemeClr val="tx1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IEEE</a:t>
              </a:r>
              <a:r>
                <a:rPr lang="zh-CN" altLang="en-US" sz="2645" b="1" dirty="0">
                  <a:solidFill>
                    <a:schemeClr val="tx1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开发，是一个标准族</a:t>
              </a:r>
              <a:r>
                <a:rPr lang="en-US" altLang="zh-CN" sz="2645" b="1">
                  <a:solidFill>
                    <a:schemeClr val="tx1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: </a:t>
              </a:r>
              <a:r>
                <a:rPr lang="en-US" altLang="zh-CN" sz="2645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</a:t>
              </a:r>
              <a:r>
                <a:rPr lang="en-US" altLang="zh-CN" sz="2645" b="1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1003.1, 2003…</a:t>
              </a:r>
              <a:endParaRPr lang="en-US" altLang="zh-CN" sz="2645" b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pic>
          <p:nvPicPr>
            <p:cNvPr id="389170" name="图片 389169" descr="j01158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41" y="1343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389204" name="组合 389203"/>
          <p:cNvGrpSpPr/>
          <p:nvPr/>
        </p:nvGrpSpPr>
        <p:grpSpPr>
          <a:xfrm>
            <a:off x="1988256" y="3040092"/>
            <a:ext cx="7304617" cy="4236538"/>
            <a:chOff x="960" y="1738"/>
            <a:chExt cx="4176" cy="2422"/>
          </a:xfrm>
        </p:grpSpPr>
        <p:sp>
          <p:nvSpPr>
            <p:cNvPr id="389171" name="直接连接符 389170"/>
            <p:cNvSpPr/>
            <p:nvPr/>
          </p:nvSpPr>
          <p:spPr>
            <a:xfrm>
              <a:off x="960" y="2054"/>
              <a:ext cx="41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172" name="直接连接符 389171"/>
            <p:cNvSpPr/>
            <p:nvPr/>
          </p:nvSpPr>
          <p:spPr>
            <a:xfrm>
              <a:off x="1872" y="1760"/>
              <a:ext cx="0" cy="24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173" name="直接连接符 389172"/>
            <p:cNvSpPr/>
            <p:nvPr/>
          </p:nvSpPr>
          <p:spPr>
            <a:xfrm>
              <a:off x="960" y="1760"/>
              <a:ext cx="0" cy="24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174" name="直接连接符 389173"/>
            <p:cNvSpPr/>
            <p:nvPr/>
          </p:nvSpPr>
          <p:spPr>
            <a:xfrm>
              <a:off x="3216" y="1766"/>
              <a:ext cx="0" cy="239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175" name="直接连接符 389174"/>
            <p:cNvSpPr/>
            <p:nvPr/>
          </p:nvSpPr>
          <p:spPr>
            <a:xfrm>
              <a:off x="5088" y="1760"/>
              <a:ext cx="0" cy="24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176" name="直接连接符 389175"/>
            <p:cNvSpPr/>
            <p:nvPr/>
          </p:nvSpPr>
          <p:spPr>
            <a:xfrm>
              <a:off x="960" y="1760"/>
              <a:ext cx="41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177" name="文本框 389176"/>
            <p:cNvSpPr txBox="1"/>
            <p:nvPr/>
          </p:nvSpPr>
          <p:spPr>
            <a:xfrm>
              <a:off x="1142" y="1738"/>
              <a:ext cx="768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645" b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分类</a:t>
              </a:r>
              <a:endParaRPr lang="zh-CN" altLang="en-US" sz="2645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178" name="文本框 389177"/>
            <p:cNvSpPr txBox="1"/>
            <p:nvPr/>
          </p:nvSpPr>
          <p:spPr>
            <a:xfrm>
              <a:off x="2016" y="1766"/>
              <a:ext cx="1152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645" b="1">
                  <a:solidFill>
                    <a:schemeClr val="accent2"/>
                  </a:solidFill>
                  <a:latin typeface="Arial" panose="020B0604020202020204" pitchFamily="34" charset="0"/>
                </a:rPr>
                <a:t>POSIX</a:t>
              </a:r>
              <a:r>
                <a:rPr lang="zh-CN" altLang="en-US" sz="2645" b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定义</a:t>
              </a:r>
              <a:endParaRPr lang="zh-CN" altLang="en-US" sz="2645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179" name="文本框 389178"/>
            <p:cNvSpPr txBox="1"/>
            <p:nvPr/>
          </p:nvSpPr>
          <p:spPr>
            <a:xfrm>
              <a:off x="3862" y="1748"/>
              <a:ext cx="768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645" b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描述</a:t>
              </a:r>
              <a:endParaRPr lang="zh-CN" altLang="en-US" sz="2645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180" name="直接连接符 389179"/>
            <p:cNvSpPr/>
            <p:nvPr/>
          </p:nvSpPr>
          <p:spPr>
            <a:xfrm>
              <a:off x="960" y="2918"/>
              <a:ext cx="41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181" name="直接连接符 389180"/>
            <p:cNvSpPr/>
            <p:nvPr/>
          </p:nvSpPr>
          <p:spPr>
            <a:xfrm>
              <a:off x="1872" y="2342"/>
              <a:ext cx="32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182" name="文本框 389181"/>
            <p:cNvSpPr txBox="1"/>
            <p:nvPr/>
          </p:nvSpPr>
          <p:spPr>
            <a:xfrm>
              <a:off x="1048" y="2318"/>
              <a:ext cx="768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205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任务管理</a:t>
              </a:r>
              <a:endParaRPr lang="zh-CN" altLang="en-US" sz="2205" b="1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183" name="文本框 389182"/>
            <p:cNvSpPr txBox="1"/>
            <p:nvPr/>
          </p:nvSpPr>
          <p:spPr>
            <a:xfrm>
              <a:off x="2400" y="2092"/>
              <a:ext cx="768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205" b="1">
                  <a:latin typeface="Arial" panose="020B0604020202020204" pitchFamily="34" charset="0"/>
                </a:rPr>
                <a:t>fork</a:t>
              </a:r>
              <a:endParaRPr lang="en-US" altLang="zh-CN" sz="2205" b="1">
                <a:latin typeface="Arial" panose="020B0604020202020204" pitchFamily="34" charset="0"/>
              </a:endParaRPr>
            </a:p>
          </p:txBody>
        </p:sp>
        <p:sp>
          <p:nvSpPr>
            <p:cNvPr id="389185" name="文本框 389184"/>
            <p:cNvSpPr txBox="1"/>
            <p:nvPr/>
          </p:nvSpPr>
          <p:spPr>
            <a:xfrm>
              <a:off x="2328" y="2342"/>
              <a:ext cx="768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205" b="1" err="1">
                  <a:solidFill>
                    <a:schemeClr val="tx1"/>
                  </a:solidFill>
                  <a:latin typeface="Arial" panose="020B0604020202020204" pitchFamily="34" charset="0"/>
                </a:rPr>
                <a:t>execl</a:t>
              </a:r>
              <a:endParaRPr lang="en-US" altLang="zh-CN" sz="2205" b="1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186" name="直接连接符 389185"/>
            <p:cNvSpPr/>
            <p:nvPr/>
          </p:nvSpPr>
          <p:spPr>
            <a:xfrm>
              <a:off x="1872" y="2630"/>
              <a:ext cx="32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187" name="文本框 389186"/>
            <p:cNvSpPr txBox="1"/>
            <p:nvPr/>
          </p:nvSpPr>
          <p:spPr>
            <a:xfrm>
              <a:off x="3600" y="2074"/>
              <a:ext cx="1488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205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创建一个进程</a:t>
              </a:r>
              <a:endParaRPr lang="zh-CN" altLang="en-US" sz="2205" b="1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188" name="文本框 389187"/>
            <p:cNvSpPr txBox="1"/>
            <p:nvPr/>
          </p:nvSpPr>
          <p:spPr>
            <a:xfrm>
              <a:off x="3312" y="2380"/>
              <a:ext cx="1824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205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运行一个可执行程序</a:t>
              </a:r>
              <a:endParaRPr lang="zh-CN" altLang="en-US" sz="2205" b="1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189" name="文本框 389188"/>
            <p:cNvSpPr txBox="1"/>
            <p:nvPr/>
          </p:nvSpPr>
          <p:spPr>
            <a:xfrm>
              <a:off x="1968" y="2652"/>
              <a:ext cx="1440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205" b="1" err="1">
                  <a:solidFill>
                    <a:schemeClr val="tx1"/>
                  </a:solidFill>
                  <a:latin typeface="Arial" panose="020B0604020202020204" pitchFamily="34" charset="0"/>
                </a:rPr>
                <a:t>pthread_create</a:t>
              </a:r>
              <a:endParaRPr lang="en-US" altLang="zh-CN" sz="2205" b="1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190" name="文本框 389189"/>
            <p:cNvSpPr txBox="1"/>
            <p:nvPr/>
          </p:nvSpPr>
          <p:spPr>
            <a:xfrm>
              <a:off x="3600" y="2668"/>
              <a:ext cx="1488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205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创建一个线程</a:t>
              </a:r>
              <a:endParaRPr lang="zh-CN" altLang="en-US" sz="2205" b="1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191" name="文本框 389190"/>
            <p:cNvSpPr txBox="1"/>
            <p:nvPr/>
          </p:nvSpPr>
          <p:spPr>
            <a:xfrm>
              <a:off x="1040" y="3398"/>
              <a:ext cx="768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205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文件系统</a:t>
              </a:r>
              <a:endParaRPr lang="zh-CN" altLang="en-US" sz="2205" b="1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192" name="直接连接符 389191"/>
            <p:cNvSpPr/>
            <p:nvPr/>
          </p:nvSpPr>
          <p:spPr>
            <a:xfrm>
              <a:off x="1872" y="3234"/>
              <a:ext cx="32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193" name="文本框 389192"/>
            <p:cNvSpPr txBox="1"/>
            <p:nvPr/>
          </p:nvSpPr>
          <p:spPr>
            <a:xfrm>
              <a:off x="2320" y="2960"/>
              <a:ext cx="768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205" b="1">
                  <a:solidFill>
                    <a:schemeClr val="tx1"/>
                  </a:solidFill>
                  <a:latin typeface="Arial" panose="020B0604020202020204" pitchFamily="34" charset="0"/>
                </a:rPr>
                <a:t>open</a:t>
              </a:r>
              <a:endParaRPr lang="en-US" altLang="zh-CN" sz="2205" b="1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194" name="文本框 389193"/>
            <p:cNvSpPr txBox="1"/>
            <p:nvPr/>
          </p:nvSpPr>
          <p:spPr>
            <a:xfrm>
              <a:off x="3128" y="2966"/>
              <a:ext cx="1920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/>
              <a:r>
                <a:rPr lang="zh-CN" altLang="en-US" sz="2205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打开一个文件或目录</a:t>
              </a:r>
              <a:endParaRPr lang="zh-CN" altLang="en-US" sz="2205" b="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195" name="直接连接符 389194"/>
            <p:cNvSpPr/>
            <p:nvPr/>
          </p:nvSpPr>
          <p:spPr>
            <a:xfrm>
              <a:off x="1872" y="3536"/>
              <a:ext cx="32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196" name="文本框 389195"/>
            <p:cNvSpPr txBox="1"/>
            <p:nvPr/>
          </p:nvSpPr>
          <p:spPr>
            <a:xfrm>
              <a:off x="2224" y="3326"/>
              <a:ext cx="992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205" b="1">
                  <a:latin typeface="Arial" panose="020B0604020202020204" pitchFamily="34" charset="0"/>
                </a:rPr>
                <a:t>EACCES</a:t>
              </a:r>
              <a:endParaRPr lang="en-US" altLang="zh-CN" sz="2205" b="1">
                <a:latin typeface="Arial" panose="020B0604020202020204" pitchFamily="34" charset="0"/>
              </a:endParaRPr>
            </a:p>
          </p:txBody>
        </p:sp>
        <p:sp>
          <p:nvSpPr>
            <p:cNvPr id="389197" name="文本框 389196"/>
            <p:cNvSpPr txBox="1"/>
            <p:nvPr/>
          </p:nvSpPr>
          <p:spPr>
            <a:xfrm>
              <a:off x="3280" y="3302"/>
              <a:ext cx="1808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205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返回值，表示没有权限</a:t>
              </a:r>
              <a:endParaRPr lang="zh-CN" altLang="en-US" sz="2205" b="1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198" name="直接连接符 389197"/>
            <p:cNvSpPr/>
            <p:nvPr/>
          </p:nvSpPr>
          <p:spPr>
            <a:xfrm flipV="1">
              <a:off x="960" y="4154"/>
              <a:ext cx="4128" cy="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199" name="文本框 389198"/>
            <p:cNvSpPr txBox="1"/>
            <p:nvPr/>
          </p:nvSpPr>
          <p:spPr>
            <a:xfrm>
              <a:off x="1872" y="3584"/>
              <a:ext cx="1536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205" b="1" err="1">
                  <a:latin typeface="Arial" panose="020B0604020202020204" pitchFamily="34" charset="0"/>
                </a:rPr>
                <a:t>mode_t</a:t>
              </a:r>
              <a:r>
                <a:rPr lang="en-US" altLang="zh-CN" sz="2205" b="1">
                  <a:latin typeface="Arial" panose="020B0604020202020204" pitchFamily="34" charset="0"/>
                </a:rPr>
                <a:t> </a:t>
              </a:r>
              <a:r>
                <a:rPr lang="en-US" altLang="zh-CN" sz="2205" b="1" err="1">
                  <a:latin typeface="Arial" panose="020B0604020202020204" pitchFamily="34" charset="0"/>
                </a:rPr>
                <a:t>st_mode</a:t>
              </a:r>
              <a:endParaRPr lang="en-US" altLang="zh-CN" sz="2205" b="1">
                <a:latin typeface="Arial" panose="020B0604020202020204" pitchFamily="34" charset="0"/>
              </a:endParaRPr>
            </a:p>
          </p:txBody>
        </p:sp>
        <p:sp>
          <p:nvSpPr>
            <p:cNvPr id="389200" name="文本框 389199"/>
            <p:cNvSpPr txBox="1"/>
            <p:nvPr/>
          </p:nvSpPr>
          <p:spPr>
            <a:xfrm>
              <a:off x="3280" y="3604"/>
              <a:ext cx="1808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205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文件头结构</a:t>
              </a:r>
              <a:r>
                <a:rPr lang="en-US" altLang="zh-CN" sz="2205" b="1">
                  <a:solidFill>
                    <a:schemeClr val="tx1"/>
                  </a:solidFill>
                  <a:latin typeface="Arial" panose="020B0604020202020204" pitchFamily="34" charset="0"/>
                </a:rPr>
                <a:t>: </a:t>
              </a:r>
              <a:r>
                <a:rPr lang="zh-CN" altLang="en-US" sz="2205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文件属性</a:t>
              </a:r>
              <a:endParaRPr lang="zh-CN" altLang="en-US" sz="2205" b="1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201" name="直接连接符 389200"/>
            <p:cNvSpPr/>
            <p:nvPr/>
          </p:nvSpPr>
          <p:spPr>
            <a:xfrm>
              <a:off x="1872" y="3848"/>
              <a:ext cx="32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202" name="文本框 389201"/>
            <p:cNvSpPr txBox="1"/>
            <p:nvPr/>
          </p:nvSpPr>
          <p:spPr>
            <a:xfrm>
              <a:off x="1872" y="3872"/>
              <a:ext cx="1344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/>
              <a:r>
                <a:rPr lang="en-US" altLang="zh-CN" sz="2205" b="1" err="1">
                  <a:latin typeface="Arial" panose="020B0604020202020204" pitchFamily="34" charset="0"/>
                </a:rPr>
                <a:t>S_ISDIR(m</a:t>
              </a:r>
              <a:r>
                <a:rPr lang="en-US" altLang="zh-CN" sz="2205" b="1">
                  <a:latin typeface="Arial" panose="020B0604020202020204" pitchFamily="34" charset="0"/>
                </a:rPr>
                <a:t>)</a:t>
              </a:r>
              <a:endParaRPr lang="en-US" altLang="zh-CN" sz="2205" b="1">
                <a:latin typeface="Arial" panose="020B0604020202020204" pitchFamily="34" charset="0"/>
              </a:endParaRPr>
            </a:p>
          </p:txBody>
        </p:sp>
        <p:sp>
          <p:nvSpPr>
            <p:cNvPr id="389203" name="文本框 389202"/>
            <p:cNvSpPr txBox="1"/>
            <p:nvPr/>
          </p:nvSpPr>
          <p:spPr>
            <a:xfrm>
              <a:off x="3224" y="3884"/>
              <a:ext cx="1904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205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宏展开，是否为目录文件</a:t>
              </a:r>
              <a:endParaRPr lang="zh-CN" altLang="en-US" sz="2205" b="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89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89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89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89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2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1102" y="1379513"/>
            <a:ext cx="3398520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1950" b="1">
                <a:latin typeface="华文隶书" panose="02010800040101010101" charset="-122"/>
                <a:cs typeface="华文隶书" panose="02010800040101010101" charset="-122"/>
              </a:rPr>
              <a:t>苏州大学未来科学与工程学院</a:t>
            </a:r>
            <a:endParaRPr lang="zh-CN" altLang="en-US" sz="1950" b="1">
              <a:latin typeface="华文隶书" panose="02010800040101010101" charset="-122"/>
              <a:cs typeface="华文隶书" panose="0201080004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9153" y="1736703"/>
            <a:ext cx="306070" cy="306070"/>
          </a:xfrm>
          <a:custGeom>
            <a:avLst/>
            <a:gdLst/>
            <a:ahLst/>
            <a:cxnLst/>
            <a:rect l="l" t="t" r="r" b="b"/>
            <a:pathLst>
              <a:path w="306070" h="306069">
                <a:moveTo>
                  <a:pt x="297980" y="38252"/>
                </a:moveTo>
                <a:lnTo>
                  <a:pt x="38265" y="297891"/>
                </a:lnTo>
                <a:lnTo>
                  <a:pt x="45923" y="305549"/>
                </a:lnTo>
                <a:lnTo>
                  <a:pt x="305638" y="45897"/>
                </a:lnTo>
                <a:lnTo>
                  <a:pt x="297980" y="38252"/>
                </a:lnTo>
                <a:close/>
              </a:path>
              <a:path w="306070" h="306069">
                <a:moveTo>
                  <a:pt x="275031" y="15303"/>
                </a:moveTo>
                <a:lnTo>
                  <a:pt x="15316" y="274942"/>
                </a:lnTo>
                <a:lnTo>
                  <a:pt x="30619" y="290245"/>
                </a:lnTo>
                <a:lnTo>
                  <a:pt x="290334" y="30607"/>
                </a:lnTo>
                <a:lnTo>
                  <a:pt x="275031" y="15303"/>
                </a:lnTo>
                <a:close/>
              </a:path>
              <a:path w="306070" h="306069">
                <a:moveTo>
                  <a:pt x="259715" y="0"/>
                </a:moveTo>
                <a:lnTo>
                  <a:pt x="0" y="259651"/>
                </a:lnTo>
                <a:lnTo>
                  <a:pt x="7658" y="267296"/>
                </a:lnTo>
                <a:lnTo>
                  <a:pt x="267373" y="7658"/>
                </a:lnTo>
                <a:lnTo>
                  <a:pt x="259715" y="0"/>
                </a:lnTo>
                <a:close/>
              </a:path>
            </a:pathLst>
          </a:custGeom>
          <a:solidFill>
            <a:srgbClr val="99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71830" y="1786703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79" y="0"/>
                </a:lnTo>
              </a:path>
            </a:pathLst>
          </a:custGeom>
          <a:ln w="10820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71830" y="1759652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79" y="0"/>
                </a:lnTo>
              </a:path>
            </a:pathLst>
          </a:custGeom>
          <a:ln w="21640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71830" y="1732614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79" y="0"/>
                </a:lnTo>
              </a:path>
            </a:pathLst>
          </a:custGeom>
          <a:ln w="10820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905761" y="2070015"/>
            <a:ext cx="2103755" cy="532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950" b="1" spc="130" dirty="0">
                <a:solidFill>
                  <a:srgbClr val="0033CC"/>
                </a:solidFill>
                <a:latin typeface="华文琥珀" panose="02010800040101010101" charset="-122"/>
                <a:cs typeface="华文琥珀" panose="02010800040101010101" charset="-122"/>
              </a:rPr>
              <a:t>操作系</a:t>
            </a:r>
            <a:r>
              <a:rPr sz="3950" b="1" spc="145" dirty="0">
                <a:solidFill>
                  <a:srgbClr val="0033CC"/>
                </a:solidFill>
                <a:latin typeface="华文琥珀" panose="02010800040101010101" charset="-122"/>
                <a:cs typeface="华文琥珀" panose="02010800040101010101" charset="-122"/>
              </a:rPr>
              <a:t>统</a:t>
            </a:r>
            <a:endParaRPr sz="3950">
              <a:latin typeface="华文琥珀" panose="02010800040101010101" charset="-122"/>
              <a:cs typeface="华文琥珀" panose="02010800040101010101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59267" y="2031349"/>
            <a:ext cx="4519930" cy="60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Operating</a:t>
            </a:r>
            <a:r>
              <a:rPr sz="4600" b="1" spc="-1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System</a:t>
            </a:r>
            <a:endParaRPr sz="4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477135" y="3009900"/>
            <a:ext cx="6585585" cy="235458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111885" marR="5080" indent="-1099820">
              <a:lnSpc>
                <a:spcPct val="100000"/>
              </a:lnSpc>
            </a:pPr>
            <a:r>
              <a:rPr sz="5100" b="1" spc="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  <a:sym typeface="+mn-ea"/>
              </a:rPr>
              <a:t>L5</a:t>
            </a:r>
            <a:r>
              <a:rPr sz="5100" b="1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  <a:sym typeface="+mn-ea"/>
              </a:rPr>
              <a:t>.</a:t>
            </a:r>
            <a:r>
              <a:rPr sz="5100" b="1" spc="10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  <a:sym typeface="+mn-ea"/>
              </a:rPr>
              <a:t> </a:t>
            </a:r>
            <a:r>
              <a:rPr sz="5100" b="1" spc="14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  <a:sym typeface="+mn-ea"/>
              </a:rPr>
              <a:t>系统调用的实</a:t>
            </a:r>
            <a:r>
              <a:rPr sz="5100" b="1" spc="13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  <a:sym typeface="+mn-ea"/>
              </a:rPr>
              <a:t>现</a:t>
            </a:r>
            <a:r>
              <a:rPr sz="5100" b="1" spc="-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?</a:t>
            </a:r>
            <a:endParaRPr sz="5100">
              <a:latin typeface="Arial Black" panose="020B0A04020102020204"/>
              <a:cs typeface="Arial Black" panose="020B0A04020102020204"/>
            </a:endParaRPr>
          </a:p>
          <a:p>
            <a:pPr marL="2440305">
              <a:lnSpc>
                <a:spcPct val="100000"/>
              </a:lnSpc>
              <a:spcBef>
                <a:spcPts val="1645"/>
              </a:spcBef>
            </a:pPr>
            <a:r>
              <a:rPr sz="3400" b="1" dirty="0">
                <a:latin typeface="Times New Roman" panose="02020603050405020304"/>
                <a:cs typeface="Times New Roman" panose="02020603050405020304"/>
                <a:sym typeface="+mn-ea"/>
              </a:rPr>
              <a:t>Sy</a:t>
            </a:r>
            <a:r>
              <a:rPr sz="3400" b="1" spc="5" dirty="0">
                <a:latin typeface="Times New Roman" panose="02020603050405020304"/>
                <a:cs typeface="Times New Roman" panose="02020603050405020304"/>
                <a:sym typeface="+mn-ea"/>
              </a:rPr>
              <a:t>st</a:t>
            </a:r>
            <a:r>
              <a:rPr sz="34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e</a:t>
            </a:r>
            <a:r>
              <a:rPr sz="3400" b="1" dirty="0">
                <a:latin typeface="Times New Roman" panose="02020603050405020304"/>
                <a:cs typeface="Times New Roman" panose="02020603050405020304"/>
                <a:sym typeface="+mn-ea"/>
              </a:rPr>
              <a:t>m</a:t>
            </a:r>
            <a:r>
              <a:rPr sz="3400" b="1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3400" b="1" dirty="0">
                <a:latin typeface="Times New Roman" panose="02020603050405020304"/>
                <a:cs typeface="Times New Roman" panose="02020603050405020304"/>
                <a:sym typeface="+mn-ea"/>
              </a:rPr>
              <a:t>Cal</a:t>
            </a:r>
            <a:r>
              <a:rPr sz="34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l</a:t>
            </a:r>
            <a:r>
              <a:rPr sz="3400" b="1" dirty="0">
                <a:latin typeface="Times New Roman" panose="02020603050405020304"/>
                <a:cs typeface="Times New Roman" panose="02020603050405020304"/>
                <a:sym typeface="+mn-ea"/>
              </a:rPr>
              <a:t>?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95022" y="2560227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113053" y="2928056"/>
            <a:ext cx="1883410" cy="1038860"/>
          </a:xfrm>
          <a:custGeom>
            <a:avLst/>
            <a:gdLst/>
            <a:ahLst/>
            <a:cxnLst/>
            <a:rect l="l" t="t" r="r" b="b"/>
            <a:pathLst>
              <a:path w="1883410" h="1038860">
                <a:moveTo>
                  <a:pt x="0" y="0"/>
                </a:moveTo>
                <a:lnTo>
                  <a:pt x="1882933" y="0"/>
                </a:lnTo>
                <a:lnTo>
                  <a:pt x="1882933" y="1038577"/>
                </a:lnTo>
                <a:lnTo>
                  <a:pt x="0" y="1038577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113053" y="3966633"/>
            <a:ext cx="1883410" cy="1882775"/>
          </a:xfrm>
          <a:custGeom>
            <a:avLst/>
            <a:gdLst/>
            <a:ahLst/>
            <a:cxnLst/>
            <a:rect l="l" t="t" r="r" b="b"/>
            <a:pathLst>
              <a:path w="1883410" h="1882775">
                <a:moveTo>
                  <a:pt x="0" y="0"/>
                </a:moveTo>
                <a:lnTo>
                  <a:pt x="1882933" y="0"/>
                </a:lnTo>
                <a:lnTo>
                  <a:pt x="1882933" y="1882422"/>
                </a:lnTo>
                <a:lnTo>
                  <a:pt x="0" y="1882422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573422" y="3836811"/>
            <a:ext cx="4707890" cy="431800"/>
          </a:xfrm>
          <a:custGeom>
            <a:avLst/>
            <a:gdLst/>
            <a:ahLst/>
            <a:cxnLst/>
            <a:rect l="l" t="t" r="r" b="b"/>
            <a:pathLst>
              <a:path w="4707890" h="431800">
                <a:moveTo>
                  <a:pt x="4635943" y="0"/>
                </a:moveTo>
                <a:lnTo>
                  <a:pt x="559301" y="0"/>
                </a:lnTo>
                <a:lnTo>
                  <a:pt x="519148" y="12314"/>
                </a:lnTo>
                <a:lnTo>
                  <a:pt x="493134" y="43936"/>
                </a:lnTo>
                <a:lnTo>
                  <a:pt x="487493" y="251641"/>
                </a:lnTo>
                <a:lnTo>
                  <a:pt x="0" y="344691"/>
                </a:lnTo>
                <a:lnTo>
                  <a:pt x="487493" y="359490"/>
                </a:lnTo>
                <a:lnTo>
                  <a:pt x="488972" y="374070"/>
                </a:lnTo>
                <a:lnTo>
                  <a:pt x="493175" y="387547"/>
                </a:lnTo>
                <a:lnTo>
                  <a:pt x="519232" y="419130"/>
                </a:lnTo>
                <a:lnTo>
                  <a:pt x="559410" y="431388"/>
                </a:lnTo>
                <a:lnTo>
                  <a:pt x="4636053" y="431388"/>
                </a:lnTo>
                <a:lnTo>
                  <a:pt x="4676206" y="419073"/>
                </a:lnTo>
                <a:lnTo>
                  <a:pt x="4702220" y="387452"/>
                </a:lnTo>
                <a:lnTo>
                  <a:pt x="4707862" y="359490"/>
                </a:lnTo>
                <a:lnTo>
                  <a:pt x="4707861" y="71788"/>
                </a:lnTo>
                <a:lnTo>
                  <a:pt x="4695543" y="31646"/>
                </a:lnTo>
                <a:lnTo>
                  <a:pt x="4663913" y="5640"/>
                </a:lnTo>
                <a:lnTo>
                  <a:pt x="4650424" y="1458"/>
                </a:lnTo>
                <a:lnTo>
                  <a:pt x="463594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573422" y="3836810"/>
            <a:ext cx="4707890" cy="431800"/>
          </a:xfrm>
          <a:custGeom>
            <a:avLst/>
            <a:gdLst/>
            <a:ahLst/>
            <a:cxnLst/>
            <a:rect l="l" t="t" r="r" b="b"/>
            <a:pathLst>
              <a:path w="4707890" h="431800">
                <a:moveTo>
                  <a:pt x="4707861" y="359489"/>
                </a:moveTo>
                <a:lnTo>
                  <a:pt x="4695600" y="399657"/>
                </a:lnTo>
                <a:lnTo>
                  <a:pt x="4664009" y="425708"/>
                </a:lnTo>
                <a:lnTo>
                  <a:pt x="2245980" y="431388"/>
                </a:lnTo>
                <a:lnTo>
                  <a:pt x="1190887" y="431388"/>
                </a:lnTo>
                <a:lnTo>
                  <a:pt x="559411" y="431388"/>
                </a:lnTo>
                <a:lnTo>
                  <a:pt x="544930" y="429930"/>
                </a:lnTo>
                <a:lnTo>
                  <a:pt x="508593" y="410366"/>
                </a:lnTo>
                <a:lnTo>
                  <a:pt x="488972" y="374071"/>
                </a:lnTo>
                <a:lnTo>
                  <a:pt x="487493" y="359489"/>
                </a:lnTo>
                <a:lnTo>
                  <a:pt x="0" y="344692"/>
                </a:lnTo>
                <a:lnTo>
                  <a:pt x="487493" y="251641"/>
                </a:lnTo>
                <a:lnTo>
                  <a:pt x="487493" y="71898"/>
                </a:lnTo>
                <a:lnTo>
                  <a:pt x="488951" y="57421"/>
                </a:lnTo>
                <a:lnTo>
                  <a:pt x="508521" y="21094"/>
                </a:lnTo>
                <a:lnTo>
                  <a:pt x="544826" y="1479"/>
                </a:lnTo>
                <a:lnTo>
                  <a:pt x="1190887" y="0"/>
                </a:lnTo>
                <a:lnTo>
                  <a:pt x="2245980" y="0"/>
                </a:lnTo>
                <a:lnTo>
                  <a:pt x="4635943" y="0"/>
                </a:lnTo>
                <a:lnTo>
                  <a:pt x="4650424" y="1458"/>
                </a:lnTo>
                <a:lnTo>
                  <a:pt x="4686761" y="21022"/>
                </a:lnTo>
                <a:lnTo>
                  <a:pt x="4706382" y="57318"/>
                </a:lnTo>
                <a:lnTo>
                  <a:pt x="4707861" y="251641"/>
                </a:lnTo>
                <a:lnTo>
                  <a:pt x="4707861" y="359489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95022" y="3562291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95022" y="4549481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126490" y="5460365"/>
            <a:ext cx="5821045" cy="743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063875" algn="l"/>
              </a:tabLst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可以通过显存看到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别</a:t>
            </a:r>
            <a:r>
              <a:rPr sz="1950" b="1" spc="-45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3000" b="1" spc="30" baseline="1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100</a:t>
            </a:r>
            <a:r>
              <a:rPr sz="3000" b="1" spc="15" baseline="1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:</a:t>
            </a:r>
            <a:r>
              <a:rPr sz="3000" b="1" baseline="1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3000" b="1" spc="30" baseline="1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lang="en-US" sz="3000" b="1" spc="30" baseline="1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Zhipeng Cheng</a:t>
            </a:r>
            <a:r>
              <a:rPr sz="3000" b="1" spc="22" baseline="1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”</a:t>
            </a:r>
            <a:endParaRPr sz="3000" baseline="10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人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w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o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d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里的内容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…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18705" y="3911503"/>
            <a:ext cx="3703320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都在内存中，这内存不都是我买的吗</a:t>
            </a:r>
            <a:r>
              <a:rPr sz="1700" b="1" dirty="0">
                <a:latin typeface="Arial" panose="020B0604020202020204"/>
                <a:cs typeface="Arial" panose="020B0604020202020204"/>
              </a:rPr>
              <a:t>…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26511" y="3514504"/>
            <a:ext cx="2620645" cy="730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600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不能随意的调用数据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9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不能随意的</a:t>
            </a:r>
            <a:r>
              <a:rPr sz="2000" b="1" dirty="0">
                <a:latin typeface="Arial" panose="020B0604020202020204"/>
                <a:cs typeface="Arial" panose="020B0604020202020204"/>
              </a:rPr>
              <a:t>j</a:t>
            </a:r>
            <a:r>
              <a:rPr sz="2000" b="1" spc="35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p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26511" y="4501425"/>
            <a:ext cx="2346325" cy="730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3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可以看到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o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o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密码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925" b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可以修改它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…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95022" y="5509624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470">
              <a:lnSpc>
                <a:spcPct val="100000"/>
              </a:lnSpc>
            </a:pP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系统调用的直观实现</a:t>
            </a:r>
            <a:r>
              <a:rPr sz="2950" spc="39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50" spc="100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问题</a:t>
            </a:r>
            <a:r>
              <a:rPr sz="3050" dirty="0">
                <a:solidFill>
                  <a:srgbClr val="FF3300"/>
                </a:solidFill>
              </a:rPr>
              <a:t>+</a:t>
            </a:r>
            <a:r>
              <a:rPr sz="2950" spc="100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直观想法</a:t>
            </a:r>
            <a:r>
              <a:rPr sz="3050" spc="15" dirty="0">
                <a:solidFill>
                  <a:srgbClr val="FF3300"/>
                </a:solidFill>
              </a:rPr>
              <a:t>…</a:t>
            </a:r>
            <a:endParaRPr sz="30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0060" y="1957070"/>
            <a:ext cx="10083800" cy="879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0">
              <a:lnSpc>
                <a:spcPct val="100000"/>
              </a:lnSpc>
              <a:buFont typeface="Wingdings" panose="05000000000000000000" charset="0"/>
              <a:buNone/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实现一个</a:t>
            </a:r>
            <a:r>
              <a:rPr sz="2400" b="1" spc="-15" dirty="0">
                <a:latin typeface="Arial" panose="020B0604020202020204"/>
                <a:cs typeface="Arial" panose="020B0604020202020204"/>
              </a:rPr>
              <a:t>w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ho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a</a:t>
            </a:r>
            <a:r>
              <a:rPr sz="2400" b="1" spc="-15" dirty="0">
                <a:latin typeface="Arial" panose="020B0604020202020204"/>
                <a:cs typeface="Arial" panose="020B0604020202020204"/>
              </a:rPr>
              <a:t>m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i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系统调</a:t>
            </a:r>
            <a:r>
              <a:rPr sz="3450" b="1" spc="135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用</a:t>
            </a:r>
            <a:endParaRPr sz="3450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659130">
              <a:lnSpc>
                <a:spcPct val="100000"/>
              </a:lnSpc>
              <a:spcBef>
                <a:spcPts val="1580"/>
              </a:spcBef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用户程序调用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w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hoa</a:t>
            </a:r>
            <a:r>
              <a:rPr sz="2000" b="1" spc="40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i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925" b="1" spc="-615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一个字符串“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Zhipeng Cheng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”放在操作系统中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系统引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导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26511" y="2948625"/>
            <a:ext cx="2447925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时载入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)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，取出来打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印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78268" y="4062466"/>
            <a:ext cx="1814195" cy="1214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3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ho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b="1" spc="4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()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{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55575">
              <a:lnSpc>
                <a:spcPct val="100000"/>
              </a:lnSpc>
              <a:spcBef>
                <a:spcPts val="65"/>
              </a:spcBef>
            </a:pP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f(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100</a:t>
            </a:r>
            <a:r>
              <a:rPr sz="20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,</a:t>
            </a:r>
            <a:r>
              <a:rPr sz="20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8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;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}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43196" y="3135030"/>
            <a:ext cx="1596390" cy="593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4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2000" b="1" spc="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000" b="1" spc="1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2000" b="1" spc="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)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  <a:tabLst>
                <a:tab pos="257175" algn="l"/>
              </a:tabLst>
            </a:pPr>
            <a:r>
              <a:rPr sz="2000" b="1" spc="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{</a:t>
            </a:r>
            <a:r>
              <a:rPr sz="2000" b="1" spc="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000" b="1" spc="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who</a:t>
            </a:r>
            <a:r>
              <a:rPr sz="2000" b="1" spc="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b="1" spc="4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2000" b="1" spc="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000" b="1" spc="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();</a:t>
            </a:r>
            <a:r>
              <a:rPr sz="2000" b="1" spc="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}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822415" y="3122789"/>
            <a:ext cx="1472565" cy="394970"/>
          </a:xfrm>
          <a:custGeom>
            <a:avLst/>
            <a:gdLst/>
            <a:ahLst/>
            <a:cxnLst/>
            <a:rect l="l" t="t" r="r" b="b"/>
            <a:pathLst>
              <a:path w="1472565" h="394970">
                <a:moveTo>
                  <a:pt x="1407217" y="0"/>
                </a:moveTo>
                <a:lnTo>
                  <a:pt x="300039" y="87"/>
                </a:lnTo>
                <a:lnTo>
                  <a:pt x="261425" y="15411"/>
                </a:lnTo>
                <a:lnTo>
                  <a:pt x="240110" y="50484"/>
                </a:lnTo>
                <a:lnTo>
                  <a:pt x="238500" y="64912"/>
                </a:lnTo>
                <a:lnTo>
                  <a:pt x="238500" y="227189"/>
                </a:lnTo>
                <a:lnTo>
                  <a:pt x="0" y="394459"/>
                </a:lnTo>
                <a:lnTo>
                  <a:pt x="238500" y="324556"/>
                </a:lnTo>
                <a:lnTo>
                  <a:pt x="1472147" y="324556"/>
                </a:lnTo>
                <a:lnTo>
                  <a:pt x="1472060" y="61521"/>
                </a:lnTo>
                <a:lnTo>
                  <a:pt x="1456731" y="22918"/>
                </a:lnTo>
                <a:lnTo>
                  <a:pt x="1421649" y="1609"/>
                </a:lnTo>
                <a:lnTo>
                  <a:pt x="1407217" y="0"/>
                </a:lnTo>
                <a:close/>
              </a:path>
              <a:path w="1472565" h="394970">
                <a:moveTo>
                  <a:pt x="1472147" y="324556"/>
                </a:moveTo>
                <a:lnTo>
                  <a:pt x="238500" y="324556"/>
                </a:lnTo>
                <a:lnTo>
                  <a:pt x="238587" y="327945"/>
                </a:lnTo>
                <a:lnTo>
                  <a:pt x="253916" y="366548"/>
                </a:lnTo>
                <a:lnTo>
                  <a:pt x="288998" y="387857"/>
                </a:lnTo>
                <a:lnTo>
                  <a:pt x="303430" y="389467"/>
                </a:lnTo>
                <a:lnTo>
                  <a:pt x="1410608" y="389380"/>
                </a:lnTo>
                <a:lnTo>
                  <a:pt x="1449222" y="374055"/>
                </a:lnTo>
                <a:lnTo>
                  <a:pt x="1470537" y="338983"/>
                </a:lnTo>
                <a:lnTo>
                  <a:pt x="1472147" y="3245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822415" y="3122789"/>
            <a:ext cx="1472565" cy="394970"/>
          </a:xfrm>
          <a:custGeom>
            <a:avLst/>
            <a:gdLst/>
            <a:ahLst/>
            <a:cxnLst/>
            <a:rect l="l" t="t" r="r" b="b"/>
            <a:pathLst>
              <a:path w="1472565" h="394970">
                <a:moveTo>
                  <a:pt x="1472146" y="324554"/>
                </a:moveTo>
                <a:lnTo>
                  <a:pt x="1458720" y="364086"/>
                </a:lnTo>
                <a:lnTo>
                  <a:pt x="1424811" y="387055"/>
                </a:lnTo>
                <a:lnTo>
                  <a:pt x="752519" y="389466"/>
                </a:lnTo>
                <a:lnTo>
                  <a:pt x="444108" y="389466"/>
                </a:lnTo>
                <a:lnTo>
                  <a:pt x="303430" y="389466"/>
                </a:lnTo>
                <a:lnTo>
                  <a:pt x="288997" y="387857"/>
                </a:lnTo>
                <a:lnTo>
                  <a:pt x="253916" y="366547"/>
                </a:lnTo>
                <a:lnTo>
                  <a:pt x="238587" y="327944"/>
                </a:lnTo>
                <a:lnTo>
                  <a:pt x="238500" y="324555"/>
                </a:lnTo>
                <a:lnTo>
                  <a:pt x="0" y="394459"/>
                </a:lnTo>
                <a:lnTo>
                  <a:pt x="238500" y="227189"/>
                </a:lnTo>
                <a:lnTo>
                  <a:pt x="238500" y="64912"/>
                </a:lnTo>
                <a:lnTo>
                  <a:pt x="240110" y="50483"/>
                </a:lnTo>
                <a:lnTo>
                  <a:pt x="261425" y="15411"/>
                </a:lnTo>
                <a:lnTo>
                  <a:pt x="300039" y="86"/>
                </a:lnTo>
                <a:lnTo>
                  <a:pt x="444108" y="0"/>
                </a:lnTo>
                <a:lnTo>
                  <a:pt x="752519" y="0"/>
                </a:lnTo>
                <a:lnTo>
                  <a:pt x="1407217" y="0"/>
                </a:lnTo>
                <a:lnTo>
                  <a:pt x="1421649" y="1609"/>
                </a:lnTo>
                <a:lnTo>
                  <a:pt x="1456731" y="22918"/>
                </a:lnTo>
                <a:lnTo>
                  <a:pt x="1472059" y="61522"/>
                </a:lnTo>
                <a:lnTo>
                  <a:pt x="1472146" y="227189"/>
                </a:lnTo>
                <a:lnTo>
                  <a:pt x="1472146" y="324555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6232157" y="3195629"/>
            <a:ext cx="890905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用户程序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7921625" cy="0"/>
          </a:xfrm>
          <a:custGeom>
            <a:avLst/>
            <a:gdLst/>
            <a:ahLst/>
            <a:cxnLst/>
            <a:rect l="l" t="t" r="r" b="b"/>
            <a:pathLst>
              <a:path w="7921625">
                <a:moveTo>
                  <a:pt x="0" y="0"/>
                </a:moveTo>
                <a:lnTo>
                  <a:pt x="7921307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295846" y="3822153"/>
            <a:ext cx="2360930" cy="1026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2600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内核态可以访问任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何</a:t>
            </a:r>
            <a:r>
              <a:rPr sz="1950" b="1" spc="3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数据，用户态不能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访</a:t>
            </a:r>
            <a:r>
              <a:rPr sz="1950" b="1" spc="3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问内核数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据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069768" y="3863857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392135" y="3792409"/>
            <a:ext cx="2360930" cy="67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600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对于指令跳转也一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样</a:t>
            </a:r>
            <a:r>
              <a:rPr sz="1950" b="1" spc="3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实现了隔离</a:t>
            </a:r>
            <a:r>
              <a:rPr sz="2000" b="1" spc="3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…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166058" y="3840868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060">
              <a:lnSpc>
                <a:spcPct val="100000"/>
              </a:lnSpc>
            </a:pP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内核</a:t>
            </a:r>
            <a:r>
              <a:rPr sz="3050" spc="5" dirty="0"/>
              <a:t>(</a:t>
            </a: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用户</a:t>
            </a:r>
            <a:r>
              <a:rPr sz="3050" spc="5" dirty="0"/>
              <a:t>)</a:t>
            </a: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态，内核</a:t>
            </a:r>
            <a:r>
              <a:rPr sz="3050" spc="5" dirty="0"/>
              <a:t>(</a:t>
            </a: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用户</a:t>
            </a:r>
            <a:r>
              <a:rPr sz="3050" spc="5" dirty="0"/>
              <a:t>)</a:t>
            </a: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段</a:t>
            </a:r>
            <a:endParaRPr sz="2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24880" y="2560226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073707" y="1693534"/>
            <a:ext cx="1824355" cy="565150"/>
          </a:xfrm>
          <a:custGeom>
            <a:avLst/>
            <a:gdLst/>
            <a:ahLst/>
            <a:cxnLst/>
            <a:rect l="l" t="t" r="r" b="b"/>
            <a:pathLst>
              <a:path w="1824354" h="565150">
                <a:moveTo>
                  <a:pt x="0" y="565126"/>
                </a:moveTo>
                <a:lnTo>
                  <a:pt x="1824365" y="565126"/>
                </a:lnTo>
                <a:lnTo>
                  <a:pt x="1824365" y="0"/>
                </a:lnTo>
                <a:lnTo>
                  <a:pt x="0" y="0"/>
                </a:lnTo>
                <a:lnTo>
                  <a:pt x="0" y="565126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898072" y="1505158"/>
            <a:ext cx="188595" cy="753745"/>
          </a:xfrm>
          <a:custGeom>
            <a:avLst/>
            <a:gdLst/>
            <a:ahLst/>
            <a:cxnLst/>
            <a:rect l="l" t="t" r="r" b="b"/>
            <a:pathLst>
              <a:path w="188595" h="753744">
                <a:moveTo>
                  <a:pt x="188426" y="0"/>
                </a:moveTo>
                <a:lnTo>
                  <a:pt x="0" y="188375"/>
                </a:lnTo>
                <a:lnTo>
                  <a:pt x="0" y="753502"/>
                </a:lnTo>
                <a:lnTo>
                  <a:pt x="188426" y="565125"/>
                </a:lnTo>
                <a:lnTo>
                  <a:pt x="188426" y="0"/>
                </a:lnTo>
                <a:close/>
              </a:path>
            </a:pathLst>
          </a:custGeom>
          <a:solidFill>
            <a:srgbClr val="6767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073707" y="1505158"/>
            <a:ext cx="2012950" cy="188595"/>
          </a:xfrm>
          <a:custGeom>
            <a:avLst/>
            <a:gdLst/>
            <a:ahLst/>
            <a:cxnLst/>
            <a:rect l="l" t="t" r="r" b="b"/>
            <a:pathLst>
              <a:path w="2012950" h="188594">
                <a:moveTo>
                  <a:pt x="2012791" y="0"/>
                </a:moveTo>
                <a:lnTo>
                  <a:pt x="188426" y="0"/>
                </a:lnTo>
                <a:lnTo>
                  <a:pt x="0" y="188375"/>
                </a:lnTo>
                <a:lnTo>
                  <a:pt x="1824365" y="188375"/>
                </a:lnTo>
                <a:lnTo>
                  <a:pt x="2012791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073707" y="1505158"/>
            <a:ext cx="2012950" cy="753745"/>
          </a:xfrm>
          <a:custGeom>
            <a:avLst/>
            <a:gdLst/>
            <a:ahLst/>
            <a:cxnLst/>
            <a:rect l="l" t="t" r="r" b="b"/>
            <a:pathLst>
              <a:path w="2012950" h="753744">
                <a:moveTo>
                  <a:pt x="0" y="188375"/>
                </a:moveTo>
                <a:lnTo>
                  <a:pt x="188426" y="0"/>
                </a:lnTo>
                <a:lnTo>
                  <a:pt x="2012791" y="0"/>
                </a:lnTo>
                <a:lnTo>
                  <a:pt x="2012791" y="565126"/>
                </a:lnTo>
                <a:lnTo>
                  <a:pt x="1824364" y="753502"/>
                </a:lnTo>
                <a:lnTo>
                  <a:pt x="0" y="753502"/>
                </a:lnTo>
                <a:lnTo>
                  <a:pt x="0" y="188375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073707" y="1505158"/>
            <a:ext cx="2012950" cy="188595"/>
          </a:xfrm>
          <a:custGeom>
            <a:avLst/>
            <a:gdLst/>
            <a:ahLst/>
            <a:cxnLst/>
            <a:rect l="l" t="t" r="r" b="b"/>
            <a:pathLst>
              <a:path w="2012950" h="188594">
                <a:moveTo>
                  <a:pt x="0" y="188375"/>
                </a:moveTo>
                <a:lnTo>
                  <a:pt x="1824364" y="188375"/>
                </a:lnTo>
                <a:lnTo>
                  <a:pt x="2012791" y="0"/>
                </a:lnTo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898072" y="1693533"/>
            <a:ext cx="0" cy="565150"/>
          </a:xfrm>
          <a:custGeom>
            <a:avLst/>
            <a:gdLst/>
            <a:ahLst/>
            <a:cxnLst/>
            <a:rect l="l" t="t" r="r" b="b"/>
            <a:pathLst>
              <a:path h="565150">
                <a:moveTo>
                  <a:pt x="0" y="0"/>
                </a:moveTo>
                <a:lnTo>
                  <a:pt x="0" y="565126"/>
                </a:lnTo>
              </a:path>
            </a:pathLst>
          </a:custGeom>
          <a:ln w="8116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271452" y="934743"/>
            <a:ext cx="1555710" cy="9732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414494" y="2859086"/>
            <a:ext cx="2308986" cy="16308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100548" y="4527218"/>
            <a:ext cx="1323340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处理器保护环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873012" y="4940300"/>
            <a:ext cx="1428750" cy="398145"/>
          </a:xfrm>
          <a:custGeom>
            <a:avLst/>
            <a:gdLst/>
            <a:ahLst/>
            <a:cxnLst/>
            <a:rect l="l" t="t" r="r" b="b"/>
            <a:pathLst>
              <a:path w="1428750" h="398145">
                <a:moveTo>
                  <a:pt x="0" y="0"/>
                </a:moveTo>
                <a:lnTo>
                  <a:pt x="1428432" y="0"/>
                </a:lnTo>
                <a:lnTo>
                  <a:pt x="1428432" y="397580"/>
                </a:lnTo>
                <a:lnTo>
                  <a:pt x="0" y="397580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047628" y="5010181"/>
            <a:ext cx="107886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)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873012" y="5386563"/>
            <a:ext cx="1428750" cy="398145"/>
          </a:xfrm>
          <a:custGeom>
            <a:avLst/>
            <a:gdLst/>
            <a:ahLst/>
            <a:cxnLst/>
            <a:rect l="l" t="t" r="r" b="b"/>
            <a:pathLst>
              <a:path w="1428750" h="398145">
                <a:moveTo>
                  <a:pt x="0" y="0"/>
                </a:moveTo>
                <a:lnTo>
                  <a:pt x="1428432" y="0"/>
                </a:lnTo>
                <a:lnTo>
                  <a:pt x="1428432" y="397580"/>
                </a:lnTo>
                <a:lnTo>
                  <a:pt x="0" y="397580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047628" y="5456324"/>
            <a:ext cx="107886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)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873012" y="5849054"/>
            <a:ext cx="1428750" cy="398145"/>
          </a:xfrm>
          <a:custGeom>
            <a:avLst/>
            <a:gdLst/>
            <a:ahLst/>
            <a:cxnLst/>
            <a:rect l="l" t="t" r="r" b="b"/>
            <a:pathLst>
              <a:path w="1428750" h="398145">
                <a:moveTo>
                  <a:pt x="0" y="0"/>
                </a:moveTo>
                <a:lnTo>
                  <a:pt x="1428432" y="0"/>
                </a:lnTo>
                <a:lnTo>
                  <a:pt x="1428432" y="397580"/>
                </a:lnTo>
                <a:lnTo>
                  <a:pt x="0" y="397580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314710" y="5918689"/>
            <a:ext cx="54419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5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L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291203" y="5135033"/>
            <a:ext cx="594995" cy="915669"/>
          </a:xfrm>
          <a:custGeom>
            <a:avLst/>
            <a:gdLst/>
            <a:ahLst/>
            <a:cxnLst/>
            <a:rect l="l" t="t" r="r" b="b"/>
            <a:pathLst>
              <a:path w="594995" h="915670">
                <a:moveTo>
                  <a:pt x="594600" y="0"/>
                </a:moveTo>
                <a:lnTo>
                  <a:pt x="524377" y="41682"/>
                </a:lnTo>
                <a:lnTo>
                  <a:pt x="544859" y="54846"/>
                </a:lnTo>
                <a:lnTo>
                  <a:pt x="0" y="902173"/>
                </a:lnTo>
                <a:lnTo>
                  <a:pt x="20481" y="915337"/>
                </a:lnTo>
                <a:lnTo>
                  <a:pt x="565340" y="68008"/>
                </a:lnTo>
                <a:lnTo>
                  <a:pt x="587245" y="68008"/>
                </a:lnTo>
                <a:lnTo>
                  <a:pt x="594600" y="0"/>
                </a:lnTo>
                <a:close/>
              </a:path>
              <a:path w="594995" h="915670">
                <a:moveTo>
                  <a:pt x="587245" y="68008"/>
                </a:moveTo>
                <a:lnTo>
                  <a:pt x="565340" y="68008"/>
                </a:lnTo>
                <a:lnTo>
                  <a:pt x="585821" y="81172"/>
                </a:lnTo>
                <a:lnTo>
                  <a:pt x="587245" y="680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293969" y="5135033"/>
            <a:ext cx="592455" cy="464184"/>
          </a:xfrm>
          <a:custGeom>
            <a:avLst/>
            <a:gdLst/>
            <a:ahLst/>
            <a:cxnLst/>
            <a:rect l="l" t="t" r="r" b="b"/>
            <a:pathLst>
              <a:path w="592454" h="464185">
                <a:moveTo>
                  <a:pt x="591833" y="0"/>
                </a:moveTo>
                <a:lnTo>
                  <a:pt x="511752" y="16012"/>
                </a:lnTo>
                <a:lnTo>
                  <a:pt x="526700" y="35225"/>
                </a:lnTo>
                <a:lnTo>
                  <a:pt x="0" y="444771"/>
                </a:lnTo>
                <a:lnTo>
                  <a:pt x="14949" y="463985"/>
                </a:lnTo>
                <a:lnTo>
                  <a:pt x="541649" y="54441"/>
                </a:lnTo>
                <a:lnTo>
                  <a:pt x="565789" y="54441"/>
                </a:lnTo>
                <a:lnTo>
                  <a:pt x="591833" y="0"/>
                </a:lnTo>
                <a:close/>
              </a:path>
              <a:path w="592454" h="464185">
                <a:moveTo>
                  <a:pt x="565789" y="54441"/>
                </a:moveTo>
                <a:lnTo>
                  <a:pt x="541649" y="54441"/>
                </a:lnTo>
                <a:lnTo>
                  <a:pt x="556597" y="73654"/>
                </a:lnTo>
                <a:lnTo>
                  <a:pt x="565789" y="544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301444" y="5098521"/>
            <a:ext cx="584835" cy="73025"/>
          </a:xfrm>
          <a:custGeom>
            <a:avLst/>
            <a:gdLst/>
            <a:ahLst/>
            <a:cxnLst/>
            <a:rect l="l" t="t" r="r" b="b"/>
            <a:pathLst>
              <a:path w="584835" h="73025">
                <a:moveTo>
                  <a:pt x="0" y="24340"/>
                </a:moveTo>
                <a:lnTo>
                  <a:pt x="0" y="48682"/>
                </a:lnTo>
                <a:lnTo>
                  <a:pt x="511313" y="48682"/>
                </a:lnTo>
                <a:lnTo>
                  <a:pt x="511313" y="73025"/>
                </a:lnTo>
                <a:lnTo>
                  <a:pt x="584358" y="36512"/>
                </a:lnTo>
                <a:lnTo>
                  <a:pt x="560011" y="24342"/>
                </a:lnTo>
                <a:lnTo>
                  <a:pt x="0" y="24340"/>
                </a:lnTo>
                <a:close/>
              </a:path>
              <a:path w="584835" h="73025">
                <a:moveTo>
                  <a:pt x="511313" y="0"/>
                </a:moveTo>
                <a:lnTo>
                  <a:pt x="511313" y="24342"/>
                </a:lnTo>
                <a:lnTo>
                  <a:pt x="560011" y="24342"/>
                </a:lnTo>
                <a:lnTo>
                  <a:pt x="5113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885803" y="4940300"/>
            <a:ext cx="1038860" cy="398145"/>
          </a:xfrm>
          <a:custGeom>
            <a:avLst/>
            <a:gdLst/>
            <a:ahLst/>
            <a:cxnLst/>
            <a:rect l="l" t="t" r="r" b="b"/>
            <a:pathLst>
              <a:path w="1038860" h="398145">
                <a:moveTo>
                  <a:pt x="0" y="0"/>
                </a:moveTo>
                <a:lnTo>
                  <a:pt x="1038860" y="0"/>
                </a:lnTo>
                <a:lnTo>
                  <a:pt x="1038860" y="397580"/>
                </a:lnTo>
                <a:lnTo>
                  <a:pt x="0" y="397580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4132769" y="5000023"/>
            <a:ext cx="54356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检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查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626087" y="5250000"/>
            <a:ext cx="1558290" cy="988694"/>
          </a:xfrm>
          <a:custGeom>
            <a:avLst/>
            <a:gdLst/>
            <a:ahLst/>
            <a:cxnLst/>
            <a:rect l="l" t="t" r="r" b="b"/>
            <a:pathLst>
              <a:path w="1558289" h="988695">
                <a:moveTo>
                  <a:pt x="706139" y="0"/>
                </a:moveTo>
                <a:lnTo>
                  <a:pt x="259714" y="209588"/>
                </a:lnTo>
                <a:lnTo>
                  <a:pt x="123076" y="209762"/>
                </a:lnTo>
                <a:lnTo>
                  <a:pt x="108613" y="211317"/>
                </a:lnTo>
                <a:lnTo>
                  <a:pt x="68691" y="224864"/>
                </a:lnTo>
                <a:lnTo>
                  <a:pt x="35826" y="249876"/>
                </a:lnTo>
                <a:lnTo>
                  <a:pt x="12405" y="283966"/>
                </a:lnTo>
                <a:lnTo>
                  <a:pt x="819" y="324746"/>
                </a:lnTo>
                <a:lnTo>
                  <a:pt x="0" y="534142"/>
                </a:lnTo>
                <a:lnTo>
                  <a:pt x="174" y="865478"/>
                </a:lnTo>
                <a:lnTo>
                  <a:pt x="9371" y="907210"/>
                </a:lnTo>
                <a:lnTo>
                  <a:pt x="30833" y="942684"/>
                </a:lnTo>
                <a:lnTo>
                  <a:pt x="62171" y="969510"/>
                </a:lnTo>
                <a:lnTo>
                  <a:pt x="100997" y="985302"/>
                </a:lnTo>
                <a:lnTo>
                  <a:pt x="129861" y="988521"/>
                </a:lnTo>
                <a:lnTo>
                  <a:pt x="649287" y="988521"/>
                </a:lnTo>
                <a:lnTo>
                  <a:pt x="1435214" y="988346"/>
                </a:lnTo>
                <a:lnTo>
                  <a:pt x="1476958" y="979152"/>
                </a:lnTo>
                <a:lnTo>
                  <a:pt x="1512441" y="957696"/>
                </a:lnTo>
                <a:lnTo>
                  <a:pt x="1539275" y="926367"/>
                </a:lnTo>
                <a:lnTo>
                  <a:pt x="1555071" y="887551"/>
                </a:lnTo>
                <a:lnTo>
                  <a:pt x="1558291" y="858695"/>
                </a:lnTo>
                <a:lnTo>
                  <a:pt x="1558291" y="339410"/>
                </a:lnTo>
                <a:lnTo>
                  <a:pt x="1548919" y="290897"/>
                </a:lnTo>
                <a:lnTo>
                  <a:pt x="1527458" y="255424"/>
                </a:lnTo>
                <a:lnTo>
                  <a:pt x="1496120" y="228598"/>
                </a:lnTo>
                <a:lnTo>
                  <a:pt x="1457294" y="212806"/>
                </a:lnTo>
                <a:lnTo>
                  <a:pt x="1428429" y="209588"/>
                </a:lnTo>
                <a:lnTo>
                  <a:pt x="649287" y="209588"/>
                </a:lnTo>
                <a:lnTo>
                  <a:pt x="7061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626088" y="5250000"/>
            <a:ext cx="1558290" cy="988694"/>
          </a:xfrm>
          <a:custGeom>
            <a:avLst/>
            <a:gdLst/>
            <a:ahLst/>
            <a:cxnLst/>
            <a:rect l="l" t="t" r="r" b="b"/>
            <a:pathLst>
              <a:path w="1558289" h="988695">
                <a:moveTo>
                  <a:pt x="1558290" y="858695"/>
                </a:moveTo>
                <a:lnTo>
                  <a:pt x="1551179" y="901175"/>
                </a:lnTo>
                <a:lnTo>
                  <a:pt x="1531438" y="937760"/>
                </a:lnTo>
                <a:lnTo>
                  <a:pt x="1501456" y="966063"/>
                </a:lnTo>
                <a:lnTo>
                  <a:pt x="1463620" y="983697"/>
                </a:lnTo>
                <a:lnTo>
                  <a:pt x="649287" y="988521"/>
                </a:lnTo>
                <a:lnTo>
                  <a:pt x="259715" y="988521"/>
                </a:lnTo>
                <a:lnTo>
                  <a:pt x="129860" y="988521"/>
                </a:lnTo>
                <a:lnTo>
                  <a:pt x="115189" y="987701"/>
                </a:lnTo>
                <a:lnTo>
                  <a:pt x="74398" y="976118"/>
                </a:lnTo>
                <a:lnTo>
                  <a:pt x="40299" y="952705"/>
                </a:lnTo>
                <a:lnTo>
                  <a:pt x="15280" y="919848"/>
                </a:lnTo>
                <a:lnTo>
                  <a:pt x="1729" y="879937"/>
                </a:lnTo>
                <a:lnTo>
                  <a:pt x="0" y="534143"/>
                </a:lnTo>
                <a:lnTo>
                  <a:pt x="0" y="339410"/>
                </a:lnTo>
                <a:lnTo>
                  <a:pt x="819" y="324746"/>
                </a:lnTo>
                <a:lnTo>
                  <a:pt x="12405" y="283966"/>
                </a:lnTo>
                <a:lnTo>
                  <a:pt x="35825" y="249876"/>
                </a:lnTo>
                <a:lnTo>
                  <a:pt x="68691" y="224863"/>
                </a:lnTo>
                <a:lnTo>
                  <a:pt x="108613" y="211317"/>
                </a:lnTo>
                <a:lnTo>
                  <a:pt x="259715" y="209587"/>
                </a:lnTo>
                <a:lnTo>
                  <a:pt x="706138" y="0"/>
                </a:lnTo>
                <a:lnTo>
                  <a:pt x="649287" y="209587"/>
                </a:lnTo>
                <a:lnTo>
                  <a:pt x="1428429" y="209587"/>
                </a:lnTo>
                <a:lnTo>
                  <a:pt x="1443100" y="210407"/>
                </a:lnTo>
                <a:lnTo>
                  <a:pt x="1483891" y="221990"/>
                </a:lnTo>
                <a:lnTo>
                  <a:pt x="1517990" y="245403"/>
                </a:lnTo>
                <a:lnTo>
                  <a:pt x="1543009" y="278260"/>
                </a:lnTo>
                <a:lnTo>
                  <a:pt x="1556560" y="318172"/>
                </a:lnTo>
                <a:lnTo>
                  <a:pt x="1558290" y="339410"/>
                </a:lnTo>
                <a:lnTo>
                  <a:pt x="1558290" y="534143"/>
                </a:lnTo>
                <a:lnTo>
                  <a:pt x="1558290" y="858695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3802067" y="5566913"/>
            <a:ext cx="1205865" cy="593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000"/>
              </a:lnSpc>
            </a:pPr>
            <a:r>
              <a:rPr sz="2000" b="1" spc="25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L</a:t>
            </a:r>
            <a:r>
              <a:rPr sz="2925" b="1" spc="67" baseline="1000" dirty="0">
                <a:latin typeface="Symbol" panose="05050102010706020507"/>
                <a:cs typeface="Symbol" panose="05050102010706020507"/>
              </a:rPr>
              <a:t>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L</a:t>
            </a:r>
            <a:r>
              <a:rPr sz="2925" b="1" spc="67" baseline="1000" dirty="0">
                <a:latin typeface="Symbol" panose="05050102010706020507"/>
                <a:cs typeface="Symbol" panose="05050102010706020507"/>
              </a:rPr>
              <a:t>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L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318435" y="2841506"/>
            <a:ext cx="7092950" cy="788670"/>
          </a:xfrm>
          <a:custGeom>
            <a:avLst/>
            <a:gdLst/>
            <a:ahLst/>
            <a:cxnLst/>
            <a:rect l="l" t="t" r="r" b="b"/>
            <a:pathLst>
              <a:path w="7092950" h="788670">
                <a:moveTo>
                  <a:pt x="6961268" y="0"/>
                </a:moveTo>
                <a:lnTo>
                  <a:pt x="1609834" y="0"/>
                </a:lnTo>
                <a:lnTo>
                  <a:pt x="635339" y="327"/>
                </a:lnTo>
                <a:lnTo>
                  <a:pt x="593849" y="10194"/>
                </a:lnTo>
                <a:lnTo>
                  <a:pt x="558648" y="32071"/>
                </a:lnTo>
                <a:lnTo>
                  <a:pt x="532069" y="63628"/>
                </a:lnTo>
                <a:lnTo>
                  <a:pt x="516442" y="102534"/>
                </a:lnTo>
                <a:lnTo>
                  <a:pt x="513260" y="131403"/>
                </a:lnTo>
                <a:lnTo>
                  <a:pt x="0" y="326273"/>
                </a:lnTo>
                <a:lnTo>
                  <a:pt x="513260" y="328503"/>
                </a:lnTo>
                <a:lnTo>
                  <a:pt x="513588" y="666353"/>
                </a:lnTo>
                <a:lnTo>
                  <a:pt x="515399" y="680734"/>
                </a:lnTo>
                <a:lnTo>
                  <a:pt x="529532" y="720377"/>
                </a:lnTo>
                <a:lnTo>
                  <a:pt x="554901" y="752954"/>
                </a:lnTo>
                <a:lnTo>
                  <a:pt x="589175" y="776135"/>
                </a:lnTo>
                <a:lnTo>
                  <a:pt x="630023" y="787591"/>
                </a:lnTo>
                <a:lnTo>
                  <a:pt x="644697" y="788400"/>
                </a:lnTo>
                <a:lnTo>
                  <a:pt x="3254696" y="788400"/>
                </a:lnTo>
                <a:lnTo>
                  <a:pt x="6970628" y="788072"/>
                </a:lnTo>
                <a:lnTo>
                  <a:pt x="7012118" y="778205"/>
                </a:lnTo>
                <a:lnTo>
                  <a:pt x="7047319" y="756328"/>
                </a:lnTo>
                <a:lnTo>
                  <a:pt x="7073898" y="724772"/>
                </a:lnTo>
                <a:lnTo>
                  <a:pt x="7089525" y="685866"/>
                </a:lnTo>
                <a:lnTo>
                  <a:pt x="7092707" y="656997"/>
                </a:lnTo>
                <a:lnTo>
                  <a:pt x="7092707" y="131403"/>
                </a:lnTo>
                <a:lnTo>
                  <a:pt x="7082509" y="80567"/>
                </a:lnTo>
                <a:lnTo>
                  <a:pt x="7060626" y="45376"/>
                </a:lnTo>
                <a:lnTo>
                  <a:pt x="7029061" y="18804"/>
                </a:lnTo>
                <a:lnTo>
                  <a:pt x="6990145" y="3181"/>
                </a:lnTo>
                <a:lnTo>
                  <a:pt x="6975942" y="809"/>
                </a:lnTo>
                <a:lnTo>
                  <a:pt x="69612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318435" y="2841507"/>
            <a:ext cx="7092950" cy="788670"/>
          </a:xfrm>
          <a:custGeom>
            <a:avLst/>
            <a:gdLst/>
            <a:ahLst/>
            <a:cxnLst/>
            <a:rect l="l" t="t" r="r" b="b"/>
            <a:pathLst>
              <a:path w="7092950" h="788670">
                <a:moveTo>
                  <a:pt x="7092706" y="656997"/>
                </a:moveTo>
                <a:lnTo>
                  <a:pt x="7085676" y="699507"/>
                </a:lnTo>
                <a:lnTo>
                  <a:pt x="7066139" y="736222"/>
                </a:lnTo>
                <a:lnTo>
                  <a:pt x="7036427" y="764811"/>
                </a:lnTo>
                <a:lnTo>
                  <a:pt x="6998871" y="782943"/>
                </a:lnTo>
                <a:lnTo>
                  <a:pt x="3254695" y="788399"/>
                </a:lnTo>
                <a:lnTo>
                  <a:pt x="1609834" y="788399"/>
                </a:lnTo>
                <a:lnTo>
                  <a:pt x="644697" y="788399"/>
                </a:lnTo>
                <a:lnTo>
                  <a:pt x="630023" y="787590"/>
                </a:lnTo>
                <a:lnTo>
                  <a:pt x="589175" y="776135"/>
                </a:lnTo>
                <a:lnTo>
                  <a:pt x="554900" y="752953"/>
                </a:lnTo>
                <a:lnTo>
                  <a:pt x="529531" y="720376"/>
                </a:lnTo>
                <a:lnTo>
                  <a:pt x="515398" y="680734"/>
                </a:lnTo>
                <a:lnTo>
                  <a:pt x="513260" y="328502"/>
                </a:lnTo>
                <a:lnTo>
                  <a:pt x="0" y="326272"/>
                </a:lnTo>
                <a:lnTo>
                  <a:pt x="513260" y="131402"/>
                </a:lnTo>
                <a:lnTo>
                  <a:pt x="514070" y="116732"/>
                </a:lnTo>
                <a:lnTo>
                  <a:pt x="516442" y="102533"/>
                </a:lnTo>
                <a:lnTo>
                  <a:pt x="532069" y="63627"/>
                </a:lnTo>
                <a:lnTo>
                  <a:pt x="558648" y="32071"/>
                </a:lnTo>
                <a:lnTo>
                  <a:pt x="593849" y="10194"/>
                </a:lnTo>
                <a:lnTo>
                  <a:pt x="635339" y="327"/>
                </a:lnTo>
                <a:lnTo>
                  <a:pt x="1609834" y="0"/>
                </a:lnTo>
                <a:lnTo>
                  <a:pt x="3254695" y="0"/>
                </a:lnTo>
                <a:lnTo>
                  <a:pt x="6961268" y="0"/>
                </a:lnTo>
                <a:lnTo>
                  <a:pt x="6975943" y="809"/>
                </a:lnTo>
                <a:lnTo>
                  <a:pt x="7016791" y="12264"/>
                </a:lnTo>
                <a:lnTo>
                  <a:pt x="7051065" y="35446"/>
                </a:lnTo>
                <a:lnTo>
                  <a:pt x="7076435" y="68023"/>
                </a:lnTo>
                <a:lnTo>
                  <a:pt x="7090567" y="107665"/>
                </a:lnTo>
                <a:lnTo>
                  <a:pt x="7092706" y="131402"/>
                </a:lnTo>
                <a:lnTo>
                  <a:pt x="7092706" y="328502"/>
                </a:lnTo>
                <a:lnTo>
                  <a:pt x="7092706" y="656997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609892" y="1957036"/>
            <a:ext cx="9760585" cy="1311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将内核程序和用户程序</a:t>
            </a: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隔离</a:t>
            </a: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!!!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659130">
              <a:lnSpc>
                <a:spcPct val="100000"/>
              </a:lnSpc>
              <a:spcBef>
                <a:spcPts val="1320"/>
              </a:spcBef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区分</a:t>
            </a: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内核态和用户态</a:t>
            </a: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：一种处理器“硬件设计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272155">
              <a:lnSpc>
                <a:spcPct val="100000"/>
              </a:lnSpc>
              <a:spcBef>
                <a:spcPts val="1290"/>
              </a:spcBef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当前程序执行在什么态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哪层环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)?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由于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S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: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是当前指令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584101" y="990062"/>
            <a:ext cx="804545" cy="215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2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系统调用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749835" y="3432521"/>
            <a:ext cx="80454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96759" y="3229349"/>
            <a:ext cx="770255" cy="1014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53000"/>
              </a:lnSpc>
            </a:pPr>
            <a:r>
              <a:rPr sz="1650" b="1" spc="3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核心态 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O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S</a:t>
            </a:r>
            <a:r>
              <a:rPr sz="16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服务 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用户态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040761" y="3253458"/>
            <a:ext cx="6026150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所以用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S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的最低两位来表示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: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0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是内核态，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3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是用户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态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12114" y="5232400"/>
            <a:ext cx="1626235" cy="1103630"/>
          </a:xfrm>
          <a:custGeom>
            <a:avLst/>
            <a:gdLst/>
            <a:ahLst/>
            <a:cxnLst/>
            <a:rect l="l" t="t" r="r" b="b"/>
            <a:pathLst>
              <a:path w="1626235" h="1103629">
                <a:moveTo>
                  <a:pt x="1244464" y="0"/>
                </a:moveTo>
                <a:lnTo>
                  <a:pt x="183968" y="0"/>
                </a:lnTo>
                <a:lnTo>
                  <a:pt x="168880" y="609"/>
                </a:lnTo>
                <a:lnTo>
                  <a:pt x="125820" y="9376"/>
                </a:lnTo>
                <a:lnTo>
                  <a:pt x="87061" y="27555"/>
                </a:lnTo>
                <a:lnTo>
                  <a:pt x="53883" y="53868"/>
                </a:lnTo>
                <a:lnTo>
                  <a:pt x="27562" y="87038"/>
                </a:lnTo>
                <a:lnTo>
                  <a:pt x="9378" y="125786"/>
                </a:lnTo>
                <a:lnTo>
                  <a:pt x="609" y="168834"/>
                </a:lnTo>
                <a:lnTo>
                  <a:pt x="0" y="919570"/>
                </a:lnTo>
                <a:lnTo>
                  <a:pt x="609" y="934654"/>
                </a:lnTo>
                <a:lnTo>
                  <a:pt x="9378" y="977702"/>
                </a:lnTo>
                <a:lnTo>
                  <a:pt x="27562" y="1016450"/>
                </a:lnTo>
                <a:lnTo>
                  <a:pt x="53883" y="1049620"/>
                </a:lnTo>
                <a:lnTo>
                  <a:pt x="87061" y="1075933"/>
                </a:lnTo>
                <a:lnTo>
                  <a:pt x="125820" y="1094112"/>
                </a:lnTo>
                <a:lnTo>
                  <a:pt x="168880" y="1102879"/>
                </a:lnTo>
                <a:lnTo>
                  <a:pt x="183968" y="1103488"/>
                </a:lnTo>
                <a:lnTo>
                  <a:pt x="1244464" y="1103488"/>
                </a:lnTo>
                <a:lnTo>
                  <a:pt x="1288673" y="1098143"/>
                </a:lnTo>
                <a:lnTo>
                  <a:pt x="1329008" y="1082960"/>
                </a:lnTo>
                <a:lnTo>
                  <a:pt x="1364188" y="1059216"/>
                </a:lnTo>
                <a:lnTo>
                  <a:pt x="1392937" y="1028190"/>
                </a:lnTo>
                <a:lnTo>
                  <a:pt x="1413975" y="991159"/>
                </a:lnTo>
                <a:lnTo>
                  <a:pt x="1426024" y="949402"/>
                </a:lnTo>
                <a:lnTo>
                  <a:pt x="1428432" y="919570"/>
                </a:lnTo>
                <a:lnTo>
                  <a:pt x="1428432" y="459786"/>
                </a:lnTo>
                <a:lnTo>
                  <a:pt x="1625969" y="363799"/>
                </a:lnTo>
                <a:lnTo>
                  <a:pt x="1428432" y="183913"/>
                </a:lnTo>
                <a:lnTo>
                  <a:pt x="1427822" y="168834"/>
                </a:lnTo>
                <a:lnTo>
                  <a:pt x="1426024" y="154086"/>
                </a:lnTo>
                <a:lnTo>
                  <a:pt x="1413975" y="112329"/>
                </a:lnTo>
                <a:lnTo>
                  <a:pt x="1392937" y="75298"/>
                </a:lnTo>
                <a:lnTo>
                  <a:pt x="1364188" y="44272"/>
                </a:lnTo>
                <a:lnTo>
                  <a:pt x="1329008" y="20528"/>
                </a:lnTo>
                <a:lnTo>
                  <a:pt x="1288673" y="5345"/>
                </a:lnTo>
                <a:lnTo>
                  <a:pt x="1259552" y="609"/>
                </a:lnTo>
                <a:lnTo>
                  <a:pt x="12444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12114" y="5232400"/>
            <a:ext cx="1626235" cy="1103630"/>
          </a:xfrm>
          <a:custGeom>
            <a:avLst/>
            <a:gdLst/>
            <a:ahLst/>
            <a:cxnLst/>
            <a:rect l="l" t="t" r="r" b="b"/>
            <a:pathLst>
              <a:path w="1626235" h="1103629">
                <a:moveTo>
                  <a:pt x="1428432" y="919570"/>
                </a:moveTo>
                <a:lnTo>
                  <a:pt x="1423085" y="963767"/>
                </a:lnTo>
                <a:lnTo>
                  <a:pt x="1407898" y="1004091"/>
                </a:lnTo>
                <a:lnTo>
                  <a:pt x="1384148" y="1039262"/>
                </a:lnTo>
                <a:lnTo>
                  <a:pt x="1353113" y="1068003"/>
                </a:lnTo>
                <a:lnTo>
                  <a:pt x="1316072" y="1089035"/>
                </a:lnTo>
                <a:lnTo>
                  <a:pt x="1274304" y="1101081"/>
                </a:lnTo>
                <a:lnTo>
                  <a:pt x="1244464" y="1103488"/>
                </a:lnTo>
                <a:lnTo>
                  <a:pt x="1190360" y="1103488"/>
                </a:lnTo>
                <a:lnTo>
                  <a:pt x="833252" y="1103488"/>
                </a:lnTo>
                <a:lnTo>
                  <a:pt x="183968" y="1103488"/>
                </a:lnTo>
                <a:lnTo>
                  <a:pt x="168880" y="1102879"/>
                </a:lnTo>
                <a:lnTo>
                  <a:pt x="125820" y="1094112"/>
                </a:lnTo>
                <a:lnTo>
                  <a:pt x="87061" y="1075933"/>
                </a:lnTo>
                <a:lnTo>
                  <a:pt x="53883" y="1049620"/>
                </a:lnTo>
                <a:lnTo>
                  <a:pt x="27562" y="1016450"/>
                </a:lnTo>
                <a:lnTo>
                  <a:pt x="9378" y="977702"/>
                </a:lnTo>
                <a:lnTo>
                  <a:pt x="609" y="934654"/>
                </a:lnTo>
                <a:lnTo>
                  <a:pt x="0" y="919570"/>
                </a:lnTo>
                <a:lnTo>
                  <a:pt x="0" y="459787"/>
                </a:lnTo>
                <a:lnTo>
                  <a:pt x="0" y="183913"/>
                </a:lnTo>
                <a:lnTo>
                  <a:pt x="609" y="168834"/>
                </a:lnTo>
                <a:lnTo>
                  <a:pt x="9378" y="125786"/>
                </a:lnTo>
                <a:lnTo>
                  <a:pt x="27562" y="87038"/>
                </a:lnTo>
                <a:lnTo>
                  <a:pt x="53883" y="53868"/>
                </a:lnTo>
                <a:lnTo>
                  <a:pt x="87061" y="27555"/>
                </a:lnTo>
                <a:lnTo>
                  <a:pt x="125820" y="9376"/>
                </a:lnTo>
                <a:lnTo>
                  <a:pt x="168880" y="609"/>
                </a:lnTo>
                <a:lnTo>
                  <a:pt x="183968" y="0"/>
                </a:lnTo>
                <a:lnTo>
                  <a:pt x="833252" y="0"/>
                </a:lnTo>
                <a:lnTo>
                  <a:pt x="1190360" y="0"/>
                </a:lnTo>
                <a:lnTo>
                  <a:pt x="1244464" y="0"/>
                </a:lnTo>
                <a:lnTo>
                  <a:pt x="1259552" y="609"/>
                </a:lnTo>
                <a:lnTo>
                  <a:pt x="1302612" y="9376"/>
                </a:lnTo>
                <a:lnTo>
                  <a:pt x="1341370" y="27555"/>
                </a:lnTo>
                <a:lnTo>
                  <a:pt x="1374549" y="53868"/>
                </a:lnTo>
                <a:lnTo>
                  <a:pt x="1400869" y="87038"/>
                </a:lnTo>
                <a:lnTo>
                  <a:pt x="1419053" y="125786"/>
                </a:lnTo>
                <a:lnTo>
                  <a:pt x="1427822" y="168834"/>
                </a:lnTo>
                <a:lnTo>
                  <a:pt x="1428432" y="183919"/>
                </a:lnTo>
                <a:lnTo>
                  <a:pt x="1625969" y="363798"/>
                </a:lnTo>
                <a:lnTo>
                  <a:pt x="1428432" y="459787"/>
                </a:lnTo>
                <a:lnTo>
                  <a:pt x="1428432" y="91957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543472" y="5358551"/>
            <a:ext cx="1164590" cy="886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50165" algn="just">
              <a:lnSpc>
                <a:spcPct val="10100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访问的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数</a:t>
            </a:r>
            <a:r>
              <a:rPr sz="19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据段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S</a:t>
            </a:r>
            <a:r>
              <a:rPr sz="2925" b="1" spc="8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的 </a:t>
            </a: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最低两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位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7921625" cy="0"/>
          </a:xfrm>
          <a:custGeom>
            <a:avLst/>
            <a:gdLst/>
            <a:ahLst/>
            <a:cxnLst/>
            <a:rect l="l" t="t" r="r" b="b"/>
            <a:pathLst>
              <a:path w="7921625">
                <a:moveTo>
                  <a:pt x="0" y="0"/>
                </a:moveTo>
                <a:lnTo>
                  <a:pt x="7921307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12400" y="1213270"/>
            <a:ext cx="9868598" cy="453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060">
              <a:lnSpc>
                <a:spcPct val="100000"/>
              </a:lnSpc>
            </a:pPr>
            <a:r>
              <a:rPr lang="en-US" sz="295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CPL</a:t>
            </a:r>
            <a:r>
              <a:rPr lang="zh-CN" altLang="en-US" sz="295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、</a:t>
            </a:r>
            <a:r>
              <a:rPr lang="en-US" altLang="zh-CN" sz="295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DPL</a:t>
            </a:r>
            <a:r>
              <a:rPr lang="zh-CN" altLang="en-US" sz="295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、</a:t>
            </a:r>
            <a:r>
              <a:rPr lang="en-US" altLang="zh-CN" sz="295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RPL</a:t>
            </a:r>
            <a:r>
              <a:rPr lang="zh-CN" altLang="en-US" sz="2950">
                <a:latin typeface="宋体" panose="02010600030101010101" pitchFamily="2" charset="-122"/>
                <a:cs typeface="宋体" panose="02010600030101010101" pitchFamily="2" charset="-122"/>
              </a:rPr>
              <a:t>的关系</a:t>
            </a:r>
            <a:endParaRPr lang="zh-CN" altLang="en-US" sz="2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88900" y="2343785"/>
            <a:ext cx="4938395" cy="3206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4737100" y="2516505"/>
            <a:ext cx="5572125" cy="32626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7921625" cy="0"/>
          </a:xfrm>
          <a:custGeom>
            <a:avLst/>
            <a:gdLst/>
            <a:ahLst/>
            <a:cxnLst/>
            <a:rect l="l" t="t" r="r" b="b"/>
            <a:pathLst>
              <a:path w="7921625">
                <a:moveTo>
                  <a:pt x="0" y="0"/>
                </a:moveTo>
                <a:lnTo>
                  <a:pt x="7921307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12400" y="1213270"/>
            <a:ext cx="9868598" cy="453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060">
              <a:lnSpc>
                <a:spcPct val="100000"/>
              </a:lnSpc>
            </a:pPr>
            <a:r>
              <a:rPr lang="en-US" sz="2950">
                <a:latin typeface="宋体" panose="02010600030101010101" pitchFamily="2" charset="-122"/>
                <a:cs typeface="宋体" panose="02010600030101010101" pitchFamily="2" charset="-122"/>
              </a:rPr>
              <a:t>CPL</a:t>
            </a:r>
            <a:r>
              <a:rPr lang="zh-CN" altLang="en-US" sz="295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950">
                <a:latin typeface="宋体" panose="02010600030101010101" pitchFamily="2" charset="-122"/>
                <a:cs typeface="宋体" panose="02010600030101010101" pitchFamily="2" charset="-122"/>
              </a:rPr>
              <a:t>DPL</a:t>
            </a:r>
            <a:r>
              <a:rPr lang="zh-CN" altLang="en-US" sz="295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950">
                <a:latin typeface="宋体" panose="02010600030101010101" pitchFamily="2" charset="-122"/>
                <a:cs typeface="宋体" panose="02010600030101010101" pitchFamily="2" charset="-122"/>
              </a:rPr>
              <a:t>RPL</a:t>
            </a:r>
            <a:r>
              <a:rPr lang="zh-CN" altLang="en-US" sz="2950">
                <a:latin typeface="宋体" panose="02010600030101010101" pitchFamily="2" charset="-122"/>
                <a:cs typeface="宋体" panose="02010600030101010101" pitchFamily="2" charset="-122"/>
              </a:rPr>
              <a:t>之间的</a:t>
            </a:r>
            <a:r>
              <a:rPr lang="zh-CN" altLang="en-US" sz="2950">
                <a:latin typeface="宋体" panose="02010600030101010101" pitchFamily="2" charset="-122"/>
                <a:cs typeface="宋体" panose="02010600030101010101" pitchFamily="2" charset="-122"/>
              </a:rPr>
              <a:t>联系</a:t>
            </a:r>
            <a:endParaRPr lang="zh-CN" altLang="en-US" sz="2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sp>
        <p:nvSpPr>
          <p:cNvPr id="3" name="文本框 2"/>
          <p:cNvSpPr txBox="1"/>
          <p:nvPr/>
        </p:nvSpPr>
        <p:spPr>
          <a:xfrm>
            <a:off x="393700" y="2025650"/>
            <a:ext cx="62909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b="1"/>
              <a:t>为什么要引入</a:t>
            </a:r>
            <a:r>
              <a:rPr lang="en-US" altLang="zh-CN" b="1"/>
              <a:t>RPL</a:t>
            </a:r>
            <a:r>
              <a:rPr lang="zh-CN" altLang="en-US" b="1"/>
              <a:t>，不直接使用</a:t>
            </a:r>
            <a:r>
              <a:rPr lang="en-US" altLang="zh-CN" b="1"/>
              <a:t>CPL</a:t>
            </a:r>
            <a:r>
              <a:rPr lang="zh-CN" altLang="en-US" b="1"/>
              <a:t>和</a:t>
            </a:r>
            <a:r>
              <a:rPr lang="en-US" altLang="zh-CN" b="1"/>
              <a:t>DPL</a:t>
            </a:r>
            <a:r>
              <a:rPr lang="zh-CN" altLang="en-US" b="1"/>
              <a:t>进行限制？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/>
          </a:p>
          <a:p>
            <a:pPr marL="742950" lvl="1" indent="-285750">
              <a:buFont typeface="Wingdings" panose="05000000000000000000" charset="0"/>
              <a:buChar char="ü"/>
            </a:pPr>
            <a:r>
              <a:rPr lang="zh-CN" altLang="en-US" b="1">
                <a:solidFill>
                  <a:srgbClr val="FF0000"/>
                </a:solidFill>
              </a:rPr>
              <a:t>系统的安全性考虑，</a:t>
            </a:r>
            <a:r>
              <a:rPr b="1">
                <a:solidFill>
                  <a:srgbClr val="FF0000"/>
                </a:solidFill>
              </a:rPr>
              <a:t>RPL 引入的目的是避免低特权级的程序访问高特权级的资源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69900" y="3244850"/>
            <a:ext cx="870331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一个普通用户，特权级为3，通过调用门后，CPL为0，但是当前段选择子的RPL位仍为3。对</a:t>
            </a:r>
            <a:r>
              <a:rPr lang="en-US" altLang="zh-CN"/>
              <a:t>CPU</a:t>
            </a:r>
            <a:r>
              <a:rPr lang="zh-CN" altLang="en-US"/>
              <a:t>来说，当前用户还是3级用户，无法访问</a:t>
            </a:r>
            <a:r>
              <a:rPr lang="zh-CN" altLang="en-US"/>
              <a:t>内核。在请求某特权级为 DPL 级别的资源时，参与特权检查的不只是 CPL，还要加上 RPL. CPL 和 RPL 的特权必须同时大于等于受访者的特权 DPL，即:</a:t>
            </a:r>
            <a:r>
              <a:rPr lang="en-US" altLang="zh-CN"/>
              <a:t> </a:t>
            </a:r>
            <a:r>
              <a:rPr lang="zh-CN" altLang="en-US"/>
              <a:t>数值上 CPL &lt;= DPL 并且 RPL &lt;= DPL</a:t>
            </a:r>
            <a:endParaRPr lang="zh-CN" altLang="en-US"/>
          </a:p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46100" y="4540250"/>
            <a:ext cx="8707120" cy="18218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400"/>
              <a:t>报考驾校也要有个年龄限制，即使考 C 本 B 本也要分年龄的。假如某个 </a:t>
            </a:r>
            <a:r>
              <a:rPr lang="zh-CN" altLang="en-US" sz="1400">
                <a:solidFill>
                  <a:srgbClr val="FF0000"/>
                </a:solidFill>
              </a:rPr>
              <a:t>小学生 A （用户进程）</a:t>
            </a:r>
            <a:r>
              <a:rPr lang="zh-CN" altLang="en-US" sz="1400"/>
              <a:t>特别喜欢开车，他就是想考个驾照，可驾校的</a:t>
            </a:r>
            <a:r>
              <a:rPr lang="zh-CN" altLang="en-US" sz="1400">
                <a:solidFill>
                  <a:srgbClr val="FF0000"/>
                </a:solidFill>
              </a:rPr>
              <a:t>门卫（调用门）</a:t>
            </a:r>
            <a:r>
              <a:rPr lang="zh-CN" altLang="en-US" sz="1400"/>
              <a:t>一看他年龄太小都不 让他进门，连填写报名登记表的机会都没有，怎么办?于是他就求他的</a:t>
            </a:r>
            <a:r>
              <a:rPr lang="zh-CN" altLang="en-US" sz="1400">
                <a:solidFill>
                  <a:srgbClr val="FF0000"/>
                </a:solidFill>
              </a:rPr>
              <a:t>长辈 B (内核）</a:t>
            </a:r>
            <a:r>
              <a:rPr lang="zh-CN" altLang="en-US" sz="1400"/>
              <a:t>帮他去报名，长辈 的年龄肯定够了，门卫对他放行，他来到驾校招生办公室后，对招生人员说要帮别人报名。人家招生人员 对 B 说，好吧，帮别人代报名需要出示对方的</a:t>
            </a:r>
            <a:r>
              <a:rPr lang="zh-CN" altLang="en-US" sz="1400">
                <a:solidFill>
                  <a:srgbClr val="FF0000"/>
                </a:solidFill>
              </a:rPr>
              <a:t>身份证( RPL)</a:t>
            </a:r>
            <a:r>
              <a:rPr lang="zh-CN" altLang="en-US" sz="1400"/>
              <a:t>，于是长辈 B 就把小学生 A 的身份证(现在 小孩子就可以申请身份证，只是年龄越小有效期越短，因为小孩子长得快嘛)拿出来了，招生人员一看， 年纪这么小啊，不到法制学车年纪呢，拒绝接收。这时候驾校招生人员的安全意识开始泛滥了，以纵容小孩子危险驾驶为名把长辈 B 批评了一顿(引发异常)。</a:t>
            </a:r>
            <a:endParaRPr lang="zh-CN" altLang="en-US" sz="1400"/>
          </a:p>
          <a:p>
            <a:endParaRPr lang="zh-CN" altLang="en-US" sz="14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470">
              <a:lnSpc>
                <a:spcPts val="3470"/>
              </a:lnSpc>
            </a:pP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硬件提供了“主动进入内核的方法”</a:t>
            </a:r>
            <a:endParaRPr sz="2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9951" y="2560226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283335" y="1890395"/>
            <a:ext cx="6854825" cy="1445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9130" marR="5080" indent="-647065">
              <a:lnSpc>
                <a:spcPct val="148000"/>
              </a:lnSpc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对于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In</a:t>
            </a:r>
            <a:r>
              <a:rPr sz="2400" b="1" dirty="0">
                <a:latin typeface="Arial" panose="020B0604020202020204"/>
                <a:cs typeface="Arial" panose="020B0604020202020204"/>
              </a:rPr>
              <a:t>t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e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l</a:t>
            </a:r>
            <a:r>
              <a:rPr sz="24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x8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6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，那就是中断指令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int </a:t>
            </a:r>
            <a:endParaRPr sz="2400" b="1" spc="-10" dirty="0">
              <a:latin typeface="Arial" panose="020B0604020202020204"/>
              <a:cs typeface="Arial" panose="020B0604020202020204"/>
            </a:endParaRPr>
          </a:p>
          <a:p>
            <a:pPr marL="659130" marR="5080" indent="-647065">
              <a:lnSpc>
                <a:spcPct val="148000"/>
              </a:lnSpc>
            </a:pP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指令将使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中的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改成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，“进入内核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sz="2925" b="1" spc="5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sz="2925" b="1" spc="52" baseline="1000" dirty="0">
              <a:solidFill>
                <a:srgbClr val="FF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659130" marR="5080" indent="-647065">
              <a:lnSpc>
                <a:spcPct val="14800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这是用户程序发起的调用内核代码的唯一方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式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9951" y="3032184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593416" y="2354674"/>
            <a:ext cx="2402840" cy="786130"/>
          </a:xfrm>
          <a:custGeom>
            <a:avLst/>
            <a:gdLst/>
            <a:ahLst/>
            <a:cxnLst/>
            <a:rect l="l" t="t" r="r" b="b"/>
            <a:pathLst>
              <a:path w="2402840" h="786130">
                <a:moveTo>
                  <a:pt x="2402819" y="654744"/>
                </a:moveTo>
                <a:lnTo>
                  <a:pt x="2395766" y="697246"/>
                </a:lnTo>
                <a:lnTo>
                  <a:pt x="2376171" y="733924"/>
                </a:lnTo>
                <a:lnTo>
                  <a:pt x="2346382" y="762432"/>
                </a:lnTo>
                <a:lnTo>
                  <a:pt x="2308746" y="780423"/>
                </a:lnTo>
                <a:lnTo>
                  <a:pt x="1146628" y="785695"/>
                </a:lnTo>
                <a:lnTo>
                  <a:pt x="608261" y="785695"/>
                </a:lnTo>
                <a:lnTo>
                  <a:pt x="380335" y="785695"/>
                </a:lnTo>
                <a:lnTo>
                  <a:pt x="365662" y="784882"/>
                </a:lnTo>
                <a:lnTo>
                  <a:pt x="324830" y="773391"/>
                </a:lnTo>
                <a:lnTo>
                  <a:pt x="290605" y="750144"/>
                </a:lnTo>
                <a:lnTo>
                  <a:pt x="265335" y="717487"/>
                </a:lnTo>
                <a:lnTo>
                  <a:pt x="251367" y="677768"/>
                </a:lnTo>
                <a:lnTo>
                  <a:pt x="249349" y="654746"/>
                </a:lnTo>
                <a:lnTo>
                  <a:pt x="0" y="671479"/>
                </a:lnTo>
                <a:lnTo>
                  <a:pt x="249349" y="458321"/>
                </a:lnTo>
                <a:lnTo>
                  <a:pt x="249349" y="130950"/>
                </a:lnTo>
                <a:lnTo>
                  <a:pt x="250162" y="116281"/>
                </a:lnTo>
                <a:lnTo>
                  <a:pt x="261656" y="75460"/>
                </a:lnTo>
                <a:lnTo>
                  <a:pt x="284910" y="41244"/>
                </a:lnTo>
                <a:lnTo>
                  <a:pt x="317575" y="15981"/>
                </a:lnTo>
                <a:lnTo>
                  <a:pt x="357305" y="2017"/>
                </a:lnTo>
                <a:lnTo>
                  <a:pt x="608261" y="0"/>
                </a:lnTo>
                <a:lnTo>
                  <a:pt x="1146628" y="0"/>
                </a:lnTo>
                <a:lnTo>
                  <a:pt x="2271833" y="0"/>
                </a:lnTo>
                <a:lnTo>
                  <a:pt x="2286506" y="812"/>
                </a:lnTo>
                <a:lnTo>
                  <a:pt x="2327338" y="12303"/>
                </a:lnTo>
                <a:lnTo>
                  <a:pt x="2361563" y="35551"/>
                </a:lnTo>
                <a:lnTo>
                  <a:pt x="2386833" y="68208"/>
                </a:lnTo>
                <a:lnTo>
                  <a:pt x="2400801" y="107927"/>
                </a:lnTo>
                <a:lnTo>
                  <a:pt x="2402819" y="458321"/>
                </a:lnTo>
                <a:lnTo>
                  <a:pt x="2402819" y="654746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979529" y="2453444"/>
            <a:ext cx="1878330" cy="603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此时，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=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3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而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sz="2000" b="1" spc="25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=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0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91439" y="4033651"/>
            <a:ext cx="1929130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系统调用的核心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: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9951" y="4095103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96473" y="4457523"/>
            <a:ext cx="5648960" cy="398145"/>
          </a:xfrm>
          <a:custGeom>
            <a:avLst/>
            <a:gdLst/>
            <a:ahLst/>
            <a:cxnLst/>
            <a:rect l="l" t="t" r="r" b="b"/>
            <a:pathLst>
              <a:path w="5648959" h="398145">
                <a:moveTo>
                  <a:pt x="0" y="0"/>
                </a:moveTo>
                <a:lnTo>
                  <a:pt x="5648801" y="0"/>
                </a:lnTo>
                <a:lnTo>
                  <a:pt x="5648801" y="397580"/>
                </a:lnTo>
                <a:lnTo>
                  <a:pt x="0" y="397580"/>
                </a:lnTo>
                <a:lnTo>
                  <a:pt x="0" y="0"/>
                </a:lnTo>
                <a:close/>
              </a:path>
            </a:pathLst>
          </a:custGeom>
          <a:ln w="8113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061688" y="4517378"/>
            <a:ext cx="4884420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1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)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用户程序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中包含一段包含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的代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码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96473" y="4968698"/>
            <a:ext cx="5648960" cy="393700"/>
          </a:xfrm>
          <a:prstGeom prst="rect">
            <a:avLst/>
          </a:prstGeom>
          <a:ln w="8113">
            <a:solidFill>
              <a:srgbClr val="FF33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>
              <a:lnSpc>
                <a:spcPct val="100000"/>
              </a:lnSpc>
            </a:pPr>
            <a:r>
              <a:rPr sz="2000" b="1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2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)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操作系统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写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中断处理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，获取想调程序的编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号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96473" y="5487987"/>
            <a:ext cx="5648960" cy="398145"/>
          </a:xfrm>
          <a:prstGeom prst="rect">
            <a:avLst/>
          </a:prstGeom>
          <a:ln w="8113">
            <a:solidFill>
              <a:srgbClr val="FF33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>
              <a:lnSpc>
                <a:spcPct val="100000"/>
              </a:lnSpc>
            </a:pPr>
            <a:r>
              <a:rPr sz="2000" b="1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3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)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操作系统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根据编号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执行相应代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码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048125" y="4003146"/>
            <a:ext cx="2792095" cy="520700"/>
          </a:xfrm>
          <a:custGeom>
            <a:avLst/>
            <a:gdLst/>
            <a:ahLst/>
            <a:cxnLst/>
            <a:rect l="l" t="t" r="r" b="b"/>
            <a:pathLst>
              <a:path w="2792095" h="520700">
                <a:moveTo>
                  <a:pt x="2716183" y="0"/>
                </a:moveTo>
                <a:lnTo>
                  <a:pt x="465322" y="0"/>
                </a:lnTo>
                <a:lnTo>
                  <a:pt x="69356" y="266"/>
                </a:lnTo>
                <a:lnTo>
                  <a:pt x="30341" y="15110"/>
                </a:lnTo>
                <a:lnTo>
                  <a:pt x="5374" y="47659"/>
                </a:lnTo>
                <a:lnTo>
                  <a:pt x="0" y="75731"/>
                </a:lnTo>
                <a:lnTo>
                  <a:pt x="0" y="378647"/>
                </a:lnTo>
                <a:lnTo>
                  <a:pt x="15114" y="424043"/>
                </a:lnTo>
                <a:lnTo>
                  <a:pt x="47672" y="449003"/>
                </a:lnTo>
                <a:lnTo>
                  <a:pt x="75751" y="454376"/>
                </a:lnTo>
                <a:lnTo>
                  <a:pt x="465322" y="454376"/>
                </a:lnTo>
                <a:lnTo>
                  <a:pt x="1249922" y="520640"/>
                </a:lnTo>
                <a:lnTo>
                  <a:pt x="1163306" y="454376"/>
                </a:lnTo>
                <a:lnTo>
                  <a:pt x="2722579" y="454110"/>
                </a:lnTo>
                <a:lnTo>
                  <a:pt x="2736712" y="451562"/>
                </a:lnTo>
                <a:lnTo>
                  <a:pt x="2771824" y="430037"/>
                </a:lnTo>
                <a:lnTo>
                  <a:pt x="2790549" y="393144"/>
                </a:lnTo>
                <a:lnTo>
                  <a:pt x="2791936" y="265052"/>
                </a:lnTo>
                <a:lnTo>
                  <a:pt x="2791670" y="69336"/>
                </a:lnTo>
                <a:lnTo>
                  <a:pt x="2776821" y="30333"/>
                </a:lnTo>
                <a:lnTo>
                  <a:pt x="2744262" y="5373"/>
                </a:lnTo>
                <a:lnTo>
                  <a:pt x="2730687" y="1386"/>
                </a:lnTo>
                <a:lnTo>
                  <a:pt x="271618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048125" y="4003145"/>
            <a:ext cx="2792095" cy="520700"/>
          </a:xfrm>
          <a:custGeom>
            <a:avLst/>
            <a:gdLst/>
            <a:ahLst/>
            <a:cxnLst/>
            <a:rect l="l" t="t" r="r" b="b"/>
            <a:pathLst>
              <a:path w="2792095" h="520700">
                <a:moveTo>
                  <a:pt x="2791936" y="378645"/>
                </a:moveTo>
                <a:lnTo>
                  <a:pt x="2780233" y="419101"/>
                </a:lnTo>
                <a:lnTo>
                  <a:pt x="2749804" y="446529"/>
                </a:lnTo>
                <a:lnTo>
                  <a:pt x="1163306" y="454377"/>
                </a:lnTo>
                <a:lnTo>
                  <a:pt x="1249922" y="520641"/>
                </a:lnTo>
                <a:lnTo>
                  <a:pt x="465322" y="454377"/>
                </a:lnTo>
                <a:lnTo>
                  <a:pt x="75752" y="454377"/>
                </a:lnTo>
                <a:lnTo>
                  <a:pt x="61249" y="452991"/>
                </a:lnTo>
                <a:lnTo>
                  <a:pt x="24346" y="434271"/>
                </a:lnTo>
                <a:lnTo>
                  <a:pt x="2814" y="399169"/>
                </a:lnTo>
                <a:lnTo>
                  <a:pt x="0" y="378648"/>
                </a:lnTo>
                <a:lnTo>
                  <a:pt x="0" y="265053"/>
                </a:lnTo>
                <a:lnTo>
                  <a:pt x="0" y="75732"/>
                </a:lnTo>
                <a:lnTo>
                  <a:pt x="1386" y="61232"/>
                </a:lnTo>
                <a:lnTo>
                  <a:pt x="20111" y="24339"/>
                </a:lnTo>
                <a:lnTo>
                  <a:pt x="55223" y="2813"/>
                </a:lnTo>
                <a:lnTo>
                  <a:pt x="465322" y="0"/>
                </a:lnTo>
                <a:lnTo>
                  <a:pt x="1163306" y="0"/>
                </a:lnTo>
                <a:lnTo>
                  <a:pt x="2716183" y="0"/>
                </a:lnTo>
                <a:lnTo>
                  <a:pt x="2730687" y="1386"/>
                </a:lnTo>
                <a:lnTo>
                  <a:pt x="2767590" y="20106"/>
                </a:lnTo>
                <a:lnTo>
                  <a:pt x="2789121" y="55208"/>
                </a:lnTo>
                <a:lnTo>
                  <a:pt x="2791936" y="265053"/>
                </a:lnTo>
                <a:lnTo>
                  <a:pt x="2791936" y="378648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493887" y="4085299"/>
            <a:ext cx="1899285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由谁做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?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库函数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!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103835" y="3313735"/>
            <a:ext cx="1631332" cy="9815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7010">
              <a:lnSpc>
                <a:spcPts val="3470"/>
              </a:lnSpc>
            </a:pP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系统调用的实现</a:t>
            </a:r>
            <a:endParaRPr sz="2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1830" y="2203215"/>
            <a:ext cx="2597150" cy="519430"/>
          </a:xfrm>
          <a:custGeom>
            <a:avLst/>
            <a:gdLst/>
            <a:ahLst/>
            <a:cxnLst/>
            <a:rect l="l" t="t" r="r" b="b"/>
            <a:pathLst>
              <a:path w="2597150" h="519430">
                <a:moveTo>
                  <a:pt x="0" y="0"/>
                </a:moveTo>
                <a:lnTo>
                  <a:pt x="2597150" y="0"/>
                </a:lnTo>
                <a:lnTo>
                  <a:pt x="2597150" y="519288"/>
                </a:lnTo>
                <a:lnTo>
                  <a:pt x="0" y="519288"/>
                </a:lnTo>
                <a:lnTo>
                  <a:pt x="0" y="0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50041" y="2328575"/>
            <a:ext cx="1640205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调用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f(</a:t>
            </a:r>
            <a:r>
              <a:rPr sz="2000" b="1" spc="40" dirty="0">
                <a:latin typeface="Arial" panose="020B0604020202020204"/>
                <a:cs typeface="Arial" panose="020B0604020202020204"/>
              </a:rPr>
              <a:t>…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)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49835" y="1886488"/>
            <a:ext cx="106299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应用程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序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1830" y="3241793"/>
            <a:ext cx="2597150" cy="519430"/>
          </a:xfrm>
          <a:custGeom>
            <a:avLst/>
            <a:gdLst/>
            <a:ahLst/>
            <a:cxnLst/>
            <a:rect l="l" t="t" r="r" b="b"/>
            <a:pathLst>
              <a:path w="2597150" h="519429">
                <a:moveTo>
                  <a:pt x="0" y="0"/>
                </a:moveTo>
                <a:lnTo>
                  <a:pt x="2597150" y="0"/>
                </a:lnTo>
                <a:lnTo>
                  <a:pt x="2597150" y="519288"/>
                </a:lnTo>
                <a:lnTo>
                  <a:pt x="0" y="519288"/>
                </a:lnTo>
                <a:lnTo>
                  <a:pt x="0" y="0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71830" y="3955815"/>
            <a:ext cx="2597150" cy="519430"/>
          </a:xfrm>
          <a:custGeom>
            <a:avLst/>
            <a:gdLst/>
            <a:ahLst/>
            <a:cxnLst/>
            <a:rect l="l" t="t" r="r" b="b"/>
            <a:pathLst>
              <a:path w="2597150" h="519429">
                <a:moveTo>
                  <a:pt x="0" y="0"/>
                </a:moveTo>
                <a:lnTo>
                  <a:pt x="2597150" y="0"/>
                </a:lnTo>
                <a:lnTo>
                  <a:pt x="2597150" y="519288"/>
                </a:lnTo>
                <a:lnTo>
                  <a:pt x="0" y="519288"/>
                </a:lnTo>
                <a:lnTo>
                  <a:pt x="0" y="0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71830" y="4929482"/>
            <a:ext cx="2597150" cy="519430"/>
          </a:xfrm>
          <a:custGeom>
            <a:avLst/>
            <a:gdLst/>
            <a:ahLst/>
            <a:cxnLst/>
            <a:rect l="l" t="t" r="r" b="b"/>
            <a:pathLst>
              <a:path w="2597150" h="519429">
                <a:moveTo>
                  <a:pt x="0" y="0"/>
                </a:moveTo>
                <a:lnTo>
                  <a:pt x="2597150" y="0"/>
                </a:lnTo>
                <a:lnTo>
                  <a:pt x="2597150" y="519288"/>
                </a:lnTo>
                <a:lnTo>
                  <a:pt x="0" y="519288"/>
                </a:lnTo>
                <a:lnTo>
                  <a:pt x="0" y="0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13337" y="2555901"/>
            <a:ext cx="649605" cy="815975"/>
          </a:xfrm>
          <a:custGeom>
            <a:avLst/>
            <a:gdLst/>
            <a:ahLst/>
            <a:cxnLst/>
            <a:rect l="l" t="t" r="r" b="b"/>
            <a:pathLst>
              <a:path w="649605" h="815975">
                <a:moveTo>
                  <a:pt x="611067" y="0"/>
                </a:moveTo>
                <a:lnTo>
                  <a:pt x="576569" y="33977"/>
                </a:lnTo>
                <a:lnTo>
                  <a:pt x="576826" y="36043"/>
                </a:lnTo>
                <a:lnTo>
                  <a:pt x="476403" y="70144"/>
                </a:lnTo>
                <a:lnTo>
                  <a:pt x="412292" y="93117"/>
                </a:lnTo>
                <a:lnTo>
                  <a:pt x="350938" y="116701"/>
                </a:lnTo>
                <a:lnTo>
                  <a:pt x="293273" y="141099"/>
                </a:lnTo>
                <a:lnTo>
                  <a:pt x="240220" y="166531"/>
                </a:lnTo>
                <a:lnTo>
                  <a:pt x="192485" y="193354"/>
                </a:lnTo>
                <a:lnTo>
                  <a:pt x="151312" y="221684"/>
                </a:lnTo>
                <a:lnTo>
                  <a:pt x="115076" y="250954"/>
                </a:lnTo>
                <a:lnTo>
                  <a:pt x="81357" y="281296"/>
                </a:lnTo>
                <a:lnTo>
                  <a:pt x="51479" y="312925"/>
                </a:lnTo>
                <a:lnTo>
                  <a:pt x="26698" y="346356"/>
                </a:lnTo>
                <a:lnTo>
                  <a:pt x="9110" y="381309"/>
                </a:lnTo>
                <a:lnTo>
                  <a:pt x="229" y="420005"/>
                </a:lnTo>
                <a:lnTo>
                  <a:pt x="0" y="437998"/>
                </a:lnTo>
                <a:lnTo>
                  <a:pt x="128" y="439242"/>
                </a:lnTo>
                <a:lnTo>
                  <a:pt x="8627" y="477123"/>
                </a:lnTo>
                <a:lnTo>
                  <a:pt x="30206" y="516166"/>
                </a:lnTo>
                <a:lnTo>
                  <a:pt x="64653" y="555876"/>
                </a:lnTo>
                <a:lnTo>
                  <a:pt x="109849" y="595998"/>
                </a:lnTo>
                <a:lnTo>
                  <a:pt x="164153" y="636760"/>
                </a:lnTo>
                <a:lnTo>
                  <a:pt x="225941" y="678160"/>
                </a:lnTo>
                <a:lnTo>
                  <a:pt x="259128" y="699071"/>
                </a:lnTo>
                <a:lnTo>
                  <a:pt x="328984" y="741193"/>
                </a:lnTo>
                <a:lnTo>
                  <a:pt x="402239" y="783675"/>
                </a:lnTo>
                <a:lnTo>
                  <a:pt x="413634" y="790160"/>
                </a:lnTo>
                <a:lnTo>
                  <a:pt x="401588" y="811315"/>
                </a:lnTo>
                <a:lnTo>
                  <a:pt x="483136" y="815713"/>
                </a:lnTo>
                <a:lnTo>
                  <a:pt x="451883" y="769007"/>
                </a:lnTo>
                <a:lnTo>
                  <a:pt x="425681" y="769007"/>
                </a:lnTo>
                <a:lnTo>
                  <a:pt x="414456" y="762618"/>
                </a:lnTo>
                <a:lnTo>
                  <a:pt x="341558" y="720349"/>
                </a:lnTo>
                <a:lnTo>
                  <a:pt x="272109" y="678478"/>
                </a:lnTo>
                <a:lnTo>
                  <a:pt x="239281" y="657797"/>
                </a:lnTo>
                <a:lnTo>
                  <a:pt x="178456" y="617061"/>
                </a:lnTo>
                <a:lnTo>
                  <a:pt x="125554" y="577396"/>
                </a:lnTo>
                <a:lnTo>
                  <a:pt x="82377" y="539186"/>
                </a:lnTo>
                <a:lnTo>
                  <a:pt x="50706" y="503033"/>
                </a:lnTo>
                <a:lnTo>
                  <a:pt x="31500" y="468649"/>
                </a:lnTo>
                <a:lnTo>
                  <a:pt x="24366" y="436746"/>
                </a:lnTo>
                <a:lnTo>
                  <a:pt x="24565" y="421167"/>
                </a:lnTo>
                <a:lnTo>
                  <a:pt x="38129" y="375554"/>
                </a:lnTo>
                <a:lnTo>
                  <a:pt x="69262" y="329552"/>
                </a:lnTo>
                <a:lnTo>
                  <a:pt x="97653" y="299382"/>
                </a:lnTo>
                <a:lnTo>
                  <a:pt x="130385" y="269883"/>
                </a:lnTo>
                <a:lnTo>
                  <a:pt x="165672" y="241341"/>
                </a:lnTo>
                <a:lnTo>
                  <a:pt x="204836" y="214331"/>
                </a:lnTo>
                <a:lnTo>
                  <a:pt x="250753" y="188478"/>
                </a:lnTo>
                <a:lnTo>
                  <a:pt x="302765" y="163515"/>
                </a:lnTo>
                <a:lnTo>
                  <a:pt x="359677" y="139420"/>
                </a:lnTo>
                <a:lnTo>
                  <a:pt x="420508" y="116032"/>
                </a:lnTo>
                <a:lnTo>
                  <a:pt x="484289" y="93174"/>
                </a:lnTo>
                <a:lnTo>
                  <a:pt x="584552" y="59127"/>
                </a:lnTo>
                <a:lnTo>
                  <a:pt x="641680" y="59127"/>
                </a:lnTo>
                <a:lnTo>
                  <a:pt x="641902" y="58915"/>
                </a:lnTo>
                <a:lnTo>
                  <a:pt x="647311" y="48317"/>
                </a:lnTo>
                <a:lnTo>
                  <a:pt x="649085" y="36041"/>
                </a:lnTo>
                <a:lnTo>
                  <a:pt x="646744" y="22822"/>
                </a:lnTo>
                <a:lnTo>
                  <a:pt x="639313" y="11453"/>
                </a:lnTo>
                <a:lnTo>
                  <a:pt x="628580" y="3759"/>
                </a:lnTo>
                <a:lnTo>
                  <a:pt x="615797" y="365"/>
                </a:lnTo>
                <a:lnTo>
                  <a:pt x="611067" y="0"/>
                </a:lnTo>
                <a:close/>
              </a:path>
              <a:path w="649605" h="815975">
                <a:moveTo>
                  <a:pt x="437727" y="747853"/>
                </a:moveTo>
                <a:lnTo>
                  <a:pt x="425681" y="769007"/>
                </a:lnTo>
                <a:lnTo>
                  <a:pt x="451883" y="769007"/>
                </a:lnTo>
                <a:lnTo>
                  <a:pt x="437727" y="747853"/>
                </a:lnTo>
                <a:close/>
              </a:path>
              <a:path w="649605" h="815975">
                <a:moveTo>
                  <a:pt x="641680" y="59127"/>
                </a:moveTo>
                <a:lnTo>
                  <a:pt x="584552" y="59127"/>
                </a:lnTo>
                <a:lnTo>
                  <a:pt x="587118" y="62558"/>
                </a:lnTo>
                <a:lnTo>
                  <a:pt x="595272" y="68483"/>
                </a:lnTo>
                <a:lnTo>
                  <a:pt x="605583" y="71622"/>
                </a:lnTo>
                <a:lnTo>
                  <a:pt x="618216" y="71365"/>
                </a:lnTo>
                <a:lnTo>
                  <a:pt x="633336" y="67102"/>
                </a:lnTo>
                <a:lnTo>
                  <a:pt x="641680" y="5912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72655" y="3464605"/>
            <a:ext cx="649605" cy="687705"/>
          </a:xfrm>
          <a:custGeom>
            <a:avLst/>
            <a:gdLst/>
            <a:ahLst/>
            <a:cxnLst/>
            <a:rect l="l" t="t" r="r" b="b"/>
            <a:pathLst>
              <a:path w="649605" h="687704">
                <a:moveTo>
                  <a:pt x="612947" y="0"/>
                </a:moveTo>
                <a:lnTo>
                  <a:pt x="576763" y="32176"/>
                </a:lnTo>
                <a:lnTo>
                  <a:pt x="576914" y="34254"/>
                </a:lnTo>
                <a:lnTo>
                  <a:pt x="477009" y="62527"/>
                </a:lnTo>
                <a:lnTo>
                  <a:pt x="412919" y="81666"/>
                </a:lnTo>
                <a:lnTo>
                  <a:pt x="351596" y="101309"/>
                </a:lnTo>
                <a:lnTo>
                  <a:pt x="293972" y="121626"/>
                </a:lnTo>
                <a:lnTo>
                  <a:pt x="240970" y="142801"/>
                </a:lnTo>
                <a:lnTo>
                  <a:pt x="193302" y="165124"/>
                </a:lnTo>
                <a:lnTo>
                  <a:pt x="152166" y="188711"/>
                </a:lnTo>
                <a:lnTo>
                  <a:pt x="115931" y="213103"/>
                </a:lnTo>
                <a:lnTo>
                  <a:pt x="82200" y="238396"/>
                </a:lnTo>
                <a:lnTo>
                  <a:pt x="52278" y="264789"/>
                </a:lnTo>
                <a:lnTo>
                  <a:pt x="17446" y="307339"/>
                </a:lnTo>
                <a:lnTo>
                  <a:pt x="318" y="354705"/>
                </a:lnTo>
                <a:lnTo>
                  <a:pt x="0" y="371350"/>
                </a:lnTo>
                <a:lnTo>
                  <a:pt x="183" y="372835"/>
                </a:lnTo>
                <a:lnTo>
                  <a:pt x="18319" y="421962"/>
                </a:lnTo>
                <a:lnTo>
                  <a:pt x="46705" y="454939"/>
                </a:lnTo>
                <a:lnTo>
                  <a:pt x="86848" y="488260"/>
                </a:lnTo>
                <a:lnTo>
                  <a:pt x="136819" y="521968"/>
                </a:lnTo>
                <a:lnTo>
                  <a:pt x="195062" y="556205"/>
                </a:lnTo>
                <a:lnTo>
                  <a:pt x="259961" y="590936"/>
                </a:lnTo>
                <a:lnTo>
                  <a:pt x="329807" y="626031"/>
                </a:lnTo>
                <a:lnTo>
                  <a:pt x="411926" y="665637"/>
                </a:lnTo>
                <a:lnTo>
                  <a:pt x="401490" y="687630"/>
                </a:lnTo>
                <a:lnTo>
                  <a:pt x="483139" y="685942"/>
                </a:lnTo>
                <a:lnTo>
                  <a:pt x="450019" y="643644"/>
                </a:lnTo>
                <a:lnTo>
                  <a:pt x="422363" y="643644"/>
                </a:lnTo>
                <a:lnTo>
                  <a:pt x="340741" y="604282"/>
                </a:lnTo>
                <a:lnTo>
                  <a:pt x="271282" y="569385"/>
                </a:lnTo>
                <a:lnTo>
                  <a:pt x="207148" y="535073"/>
                </a:lnTo>
                <a:lnTo>
                  <a:pt x="150053" y="501535"/>
                </a:lnTo>
                <a:lnTo>
                  <a:pt x="101807" y="469055"/>
                </a:lnTo>
                <a:lnTo>
                  <a:pt x="64276" y="438089"/>
                </a:lnTo>
                <a:lnTo>
                  <a:pt x="38815" y="408745"/>
                </a:lnTo>
                <a:lnTo>
                  <a:pt x="24374" y="369851"/>
                </a:lnTo>
                <a:lnTo>
                  <a:pt x="24562" y="357573"/>
                </a:lnTo>
                <a:lnTo>
                  <a:pt x="37611" y="320982"/>
                </a:lnTo>
                <a:lnTo>
                  <a:pt x="68405" y="283027"/>
                </a:lnTo>
                <a:lnTo>
                  <a:pt x="129536" y="233290"/>
                </a:lnTo>
                <a:lnTo>
                  <a:pt x="164825" y="209505"/>
                </a:lnTo>
                <a:lnTo>
                  <a:pt x="204025" y="186978"/>
                </a:lnTo>
                <a:lnTo>
                  <a:pt x="250009" y="165403"/>
                </a:lnTo>
                <a:lnTo>
                  <a:pt x="302073" y="144581"/>
                </a:lnTo>
                <a:lnTo>
                  <a:pt x="359026" y="124489"/>
                </a:lnTo>
                <a:lnTo>
                  <a:pt x="419888" y="104989"/>
                </a:lnTo>
                <a:lnTo>
                  <a:pt x="483689" y="85934"/>
                </a:lnTo>
                <a:lnTo>
                  <a:pt x="583454" y="57701"/>
                </a:lnTo>
                <a:lnTo>
                  <a:pt x="642253" y="57701"/>
                </a:lnTo>
                <a:lnTo>
                  <a:pt x="646567" y="50403"/>
                </a:lnTo>
                <a:lnTo>
                  <a:pt x="649072" y="38103"/>
                </a:lnTo>
                <a:lnTo>
                  <a:pt x="647415" y="24611"/>
                </a:lnTo>
                <a:lnTo>
                  <a:pt x="640572" y="12877"/>
                </a:lnTo>
                <a:lnTo>
                  <a:pt x="630246" y="4647"/>
                </a:lnTo>
                <a:lnTo>
                  <a:pt x="617652" y="607"/>
                </a:lnTo>
                <a:lnTo>
                  <a:pt x="612947" y="0"/>
                </a:lnTo>
                <a:close/>
              </a:path>
              <a:path w="649605" h="687704">
                <a:moveTo>
                  <a:pt x="432799" y="621653"/>
                </a:moveTo>
                <a:lnTo>
                  <a:pt x="422363" y="643644"/>
                </a:lnTo>
                <a:lnTo>
                  <a:pt x="450019" y="643644"/>
                </a:lnTo>
                <a:lnTo>
                  <a:pt x="432799" y="621653"/>
                </a:lnTo>
                <a:close/>
              </a:path>
              <a:path w="649605" h="687704">
                <a:moveTo>
                  <a:pt x="642253" y="57701"/>
                </a:moveTo>
                <a:lnTo>
                  <a:pt x="583454" y="57701"/>
                </a:lnTo>
                <a:lnTo>
                  <a:pt x="585357" y="60710"/>
                </a:lnTo>
                <a:lnTo>
                  <a:pt x="593187" y="67317"/>
                </a:lnTo>
                <a:lnTo>
                  <a:pt x="603333" y="71217"/>
                </a:lnTo>
                <a:lnTo>
                  <a:pt x="615956" y="71806"/>
                </a:lnTo>
                <a:lnTo>
                  <a:pt x="631214" y="68476"/>
                </a:lnTo>
                <a:lnTo>
                  <a:pt x="640436" y="60773"/>
                </a:lnTo>
                <a:lnTo>
                  <a:pt x="642253" y="5770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72658" y="4308501"/>
            <a:ext cx="649605" cy="815975"/>
          </a:xfrm>
          <a:custGeom>
            <a:avLst/>
            <a:gdLst/>
            <a:ahLst/>
            <a:cxnLst/>
            <a:rect l="l" t="t" r="r" b="b"/>
            <a:pathLst>
              <a:path w="649605" h="815975">
                <a:moveTo>
                  <a:pt x="611067" y="0"/>
                </a:moveTo>
                <a:lnTo>
                  <a:pt x="576569" y="33977"/>
                </a:lnTo>
                <a:lnTo>
                  <a:pt x="576826" y="36043"/>
                </a:lnTo>
                <a:lnTo>
                  <a:pt x="476403" y="70144"/>
                </a:lnTo>
                <a:lnTo>
                  <a:pt x="412292" y="93117"/>
                </a:lnTo>
                <a:lnTo>
                  <a:pt x="350938" y="116701"/>
                </a:lnTo>
                <a:lnTo>
                  <a:pt x="293273" y="141099"/>
                </a:lnTo>
                <a:lnTo>
                  <a:pt x="240221" y="166531"/>
                </a:lnTo>
                <a:lnTo>
                  <a:pt x="192485" y="193354"/>
                </a:lnTo>
                <a:lnTo>
                  <a:pt x="151312" y="221684"/>
                </a:lnTo>
                <a:lnTo>
                  <a:pt x="115077" y="250954"/>
                </a:lnTo>
                <a:lnTo>
                  <a:pt x="81358" y="281296"/>
                </a:lnTo>
                <a:lnTo>
                  <a:pt x="51479" y="312925"/>
                </a:lnTo>
                <a:lnTo>
                  <a:pt x="26698" y="346356"/>
                </a:lnTo>
                <a:lnTo>
                  <a:pt x="9110" y="381309"/>
                </a:lnTo>
                <a:lnTo>
                  <a:pt x="229" y="420005"/>
                </a:lnTo>
                <a:lnTo>
                  <a:pt x="0" y="437998"/>
                </a:lnTo>
                <a:lnTo>
                  <a:pt x="128" y="439242"/>
                </a:lnTo>
                <a:lnTo>
                  <a:pt x="8627" y="477123"/>
                </a:lnTo>
                <a:lnTo>
                  <a:pt x="30206" y="516166"/>
                </a:lnTo>
                <a:lnTo>
                  <a:pt x="64654" y="555876"/>
                </a:lnTo>
                <a:lnTo>
                  <a:pt x="109849" y="595998"/>
                </a:lnTo>
                <a:lnTo>
                  <a:pt x="164153" y="636760"/>
                </a:lnTo>
                <a:lnTo>
                  <a:pt x="225941" y="678160"/>
                </a:lnTo>
                <a:lnTo>
                  <a:pt x="259128" y="699071"/>
                </a:lnTo>
                <a:lnTo>
                  <a:pt x="328984" y="741193"/>
                </a:lnTo>
                <a:lnTo>
                  <a:pt x="402239" y="783675"/>
                </a:lnTo>
                <a:lnTo>
                  <a:pt x="413634" y="790160"/>
                </a:lnTo>
                <a:lnTo>
                  <a:pt x="401588" y="811315"/>
                </a:lnTo>
                <a:lnTo>
                  <a:pt x="483136" y="815713"/>
                </a:lnTo>
                <a:lnTo>
                  <a:pt x="451883" y="769007"/>
                </a:lnTo>
                <a:lnTo>
                  <a:pt x="425681" y="769007"/>
                </a:lnTo>
                <a:lnTo>
                  <a:pt x="414456" y="762618"/>
                </a:lnTo>
                <a:lnTo>
                  <a:pt x="341558" y="720349"/>
                </a:lnTo>
                <a:lnTo>
                  <a:pt x="272109" y="678478"/>
                </a:lnTo>
                <a:lnTo>
                  <a:pt x="239281" y="657797"/>
                </a:lnTo>
                <a:lnTo>
                  <a:pt x="178456" y="617061"/>
                </a:lnTo>
                <a:lnTo>
                  <a:pt x="125554" y="577396"/>
                </a:lnTo>
                <a:lnTo>
                  <a:pt x="82377" y="539186"/>
                </a:lnTo>
                <a:lnTo>
                  <a:pt x="50706" y="503033"/>
                </a:lnTo>
                <a:lnTo>
                  <a:pt x="31500" y="468649"/>
                </a:lnTo>
                <a:lnTo>
                  <a:pt x="24366" y="436746"/>
                </a:lnTo>
                <a:lnTo>
                  <a:pt x="24565" y="421167"/>
                </a:lnTo>
                <a:lnTo>
                  <a:pt x="38129" y="375554"/>
                </a:lnTo>
                <a:lnTo>
                  <a:pt x="69262" y="329552"/>
                </a:lnTo>
                <a:lnTo>
                  <a:pt x="97653" y="299382"/>
                </a:lnTo>
                <a:lnTo>
                  <a:pt x="130385" y="269883"/>
                </a:lnTo>
                <a:lnTo>
                  <a:pt x="165672" y="241341"/>
                </a:lnTo>
                <a:lnTo>
                  <a:pt x="204836" y="214331"/>
                </a:lnTo>
                <a:lnTo>
                  <a:pt x="250753" y="188478"/>
                </a:lnTo>
                <a:lnTo>
                  <a:pt x="302765" y="163515"/>
                </a:lnTo>
                <a:lnTo>
                  <a:pt x="359677" y="139420"/>
                </a:lnTo>
                <a:lnTo>
                  <a:pt x="420508" y="116032"/>
                </a:lnTo>
                <a:lnTo>
                  <a:pt x="484289" y="93174"/>
                </a:lnTo>
                <a:lnTo>
                  <a:pt x="584552" y="59127"/>
                </a:lnTo>
                <a:lnTo>
                  <a:pt x="641680" y="59127"/>
                </a:lnTo>
                <a:lnTo>
                  <a:pt x="641903" y="58915"/>
                </a:lnTo>
                <a:lnTo>
                  <a:pt x="647311" y="48317"/>
                </a:lnTo>
                <a:lnTo>
                  <a:pt x="649085" y="36041"/>
                </a:lnTo>
                <a:lnTo>
                  <a:pt x="646744" y="22822"/>
                </a:lnTo>
                <a:lnTo>
                  <a:pt x="639313" y="11453"/>
                </a:lnTo>
                <a:lnTo>
                  <a:pt x="628580" y="3759"/>
                </a:lnTo>
                <a:lnTo>
                  <a:pt x="615797" y="365"/>
                </a:lnTo>
                <a:lnTo>
                  <a:pt x="611067" y="0"/>
                </a:lnTo>
                <a:close/>
              </a:path>
              <a:path w="649605" h="815975">
                <a:moveTo>
                  <a:pt x="437727" y="747853"/>
                </a:moveTo>
                <a:lnTo>
                  <a:pt x="425681" y="769007"/>
                </a:lnTo>
                <a:lnTo>
                  <a:pt x="451883" y="769007"/>
                </a:lnTo>
                <a:lnTo>
                  <a:pt x="437727" y="747853"/>
                </a:lnTo>
                <a:close/>
              </a:path>
              <a:path w="649605" h="815975">
                <a:moveTo>
                  <a:pt x="641680" y="59127"/>
                </a:moveTo>
                <a:lnTo>
                  <a:pt x="584552" y="59127"/>
                </a:lnTo>
                <a:lnTo>
                  <a:pt x="587119" y="62558"/>
                </a:lnTo>
                <a:lnTo>
                  <a:pt x="595272" y="68483"/>
                </a:lnTo>
                <a:lnTo>
                  <a:pt x="605583" y="71622"/>
                </a:lnTo>
                <a:lnTo>
                  <a:pt x="618217" y="71365"/>
                </a:lnTo>
                <a:lnTo>
                  <a:pt x="633336" y="67102"/>
                </a:lnTo>
                <a:lnTo>
                  <a:pt x="641680" y="5912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896624" y="2445279"/>
            <a:ext cx="5670550" cy="1062990"/>
          </a:xfrm>
          <a:custGeom>
            <a:avLst/>
            <a:gdLst/>
            <a:ahLst/>
            <a:cxnLst/>
            <a:rect l="l" t="t" r="r" b="b"/>
            <a:pathLst>
              <a:path w="5670550" h="1062989">
                <a:moveTo>
                  <a:pt x="0" y="0"/>
                </a:moveTo>
                <a:lnTo>
                  <a:pt x="5670444" y="0"/>
                </a:lnTo>
                <a:lnTo>
                  <a:pt x="5670444" y="1062919"/>
                </a:lnTo>
                <a:lnTo>
                  <a:pt x="0" y="1062919"/>
                </a:lnTo>
                <a:lnTo>
                  <a:pt x="0" y="0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020218" y="3366870"/>
            <a:ext cx="8014970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8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库函数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f(</a:t>
            </a:r>
            <a:r>
              <a:rPr sz="2000" b="1" spc="40" dirty="0">
                <a:latin typeface="Arial" panose="020B0604020202020204"/>
                <a:cs typeface="Arial" panose="020B0604020202020204"/>
              </a:rPr>
              <a:t>…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)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2938780">
              <a:lnSpc>
                <a:spcPts val="202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#define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_syscall3(type,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name,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...)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type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49835" y="2953174"/>
            <a:ext cx="991235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函数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库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48617" y="4080699"/>
            <a:ext cx="1842770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库函数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wr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000" b="1" spc="40" dirty="0">
                <a:latin typeface="Arial" panose="020B0604020202020204"/>
                <a:cs typeface="Arial" panose="020B0604020202020204"/>
              </a:rPr>
              <a:t>…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)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8845" y="4544695"/>
            <a:ext cx="2748915" cy="803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5080" indent="1830705">
              <a:lnSpc>
                <a:spcPct val="137000"/>
              </a:lnSpc>
            </a:pP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OS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内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核</a:t>
            </a:r>
            <a:r>
              <a:rPr sz="2925" b="1" spc="5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系统调用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wr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000" b="1" spc="40" dirty="0">
                <a:latin typeface="Arial" panose="020B0604020202020204"/>
                <a:cs typeface="Arial" panose="020B0604020202020204"/>
              </a:rPr>
              <a:t>…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)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74433" y="2580729"/>
            <a:ext cx="2466975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#include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&lt;unistd.h&gt;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74433" y="2893911"/>
            <a:ext cx="5322570" cy="525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_syscall3(int,</a:t>
            </a:r>
            <a:r>
              <a:rPr sz="1700" b="1" spc="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write,</a:t>
            </a:r>
            <a:r>
              <a:rPr sz="1700" b="1" spc="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int,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fd,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const</a:t>
            </a:r>
            <a:r>
              <a:rPr sz="1700" b="1" spc="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char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*buf,</a:t>
            </a:r>
            <a:r>
              <a:rPr sz="1700" b="1" spc="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off_t,</a:t>
            </a:r>
            <a:r>
              <a:rPr sz="1700" b="1" spc="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count)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893568" y="3566347"/>
            <a:ext cx="5674360" cy="1049655"/>
          </a:xfrm>
          <a:custGeom>
            <a:avLst/>
            <a:gdLst/>
            <a:ahLst/>
            <a:cxnLst/>
            <a:rect l="l" t="t" r="r" b="b"/>
            <a:pathLst>
              <a:path w="5674359" h="1049654">
                <a:moveTo>
                  <a:pt x="0" y="0"/>
                </a:moveTo>
                <a:lnTo>
                  <a:pt x="5673885" y="0"/>
                </a:lnTo>
                <a:lnTo>
                  <a:pt x="5673885" y="1049396"/>
                </a:lnTo>
                <a:lnTo>
                  <a:pt x="0" y="1049396"/>
                </a:lnTo>
                <a:lnTo>
                  <a:pt x="0" y="0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3946854" y="4001975"/>
            <a:ext cx="145351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name(...)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\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946854" y="4310924"/>
            <a:ext cx="495871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{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u="heavy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u="heavy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asm</a:t>
            </a:r>
            <a:r>
              <a:rPr sz="1700" b="1" u="heavy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u="heavy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(“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int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0x80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”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:”=a”(</a:t>
            </a:r>
            <a:r>
              <a:rPr sz="1700" b="1" u="heavy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u="heavy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res)...}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07840" y="2002155"/>
            <a:ext cx="4314190" cy="307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最终</a:t>
            </a:r>
            <a:r>
              <a:rPr lang="zh-CN"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宏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展开成包含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指令的代码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…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081942" y="2050403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6917869" y="2560181"/>
            <a:ext cx="2639695" cy="240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650" b="1" spc="4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sz="17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linux/lib/write.c</a:t>
            </a:r>
            <a:r>
              <a:rPr sz="1650" b="1" spc="4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sp>
        <p:nvSpPr>
          <p:cNvPr id="26" name="object 26"/>
          <p:cNvSpPr txBox="1"/>
          <p:nvPr/>
        </p:nvSpPr>
        <p:spPr>
          <a:xfrm>
            <a:off x="6905169" y="3969730"/>
            <a:ext cx="3314065" cy="266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sz="17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linux/include/unistd.h</a:t>
            </a:r>
            <a:r>
              <a:rPr sz="1650" b="1" spc="4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893820" y="5013960"/>
            <a:ext cx="5648960" cy="10960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400">
                <a:solidFill>
                  <a:srgbClr val="FF0000"/>
                </a:solidFill>
              </a:rPr>
              <a:t>Tips: </a:t>
            </a:r>
            <a:r>
              <a:rPr lang="zh-CN" altLang="en-US" sz="1400">
                <a:solidFill>
                  <a:srgbClr val="FF0000"/>
                </a:solidFill>
              </a:rPr>
              <a:t>int write(int fd, char *buf, int n)：从buf 写n 个字节到文件描述符fd;；返回n</a:t>
            </a:r>
            <a:endParaRPr lang="zh-CN" altLang="en-US" sz="14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0681" y="3282146"/>
            <a:ext cx="6430645" cy="582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100" b="1" spc="-10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L</a:t>
            </a:r>
            <a:r>
              <a:rPr sz="4100" b="1" spc="-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i</a:t>
            </a:r>
            <a:r>
              <a:rPr sz="4100" b="1" spc="-10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nu</a:t>
            </a:r>
            <a:r>
              <a:rPr sz="4100" b="1" spc="-1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x</a:t>
            </a:r>
            <a:r>
              <a:rPr sz="3950" spc="114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系统调用的实现细节</a:t>
            </a:r>
            <a:r>
              <a:rPr sz="4100" b="1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!</a:t>
            </a:r>
            <a:endParaRPr sz="41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将关于</a:t>
            </a:r>
            <a:r>
              <a:rPr sz="3050" spc="5" dirty="0"/>
              <a:t>writ</a:t>
            </a:r>
            <a:r>
              <a:rPr sz="3050" dirty="0"/>
              <a:t>e</a:t>
            </a: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的故事完整的讲完</a:t>
            </a:r>
            <a:r>
              <a:rPr sz="3050" spc="10" dirty="0">
                <a:latin typeface="Comic Sans MS" panose="030F0702030302020204"/>
                <a:cs typeface="Comic Sans MS" panose="030F0702030302020204"/>
              </a:rPr>
              <a:t>…</a:t>
            </a:r>
            <a:endParaRPr sz="305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3160" y="1832890"/>
            <a:ext cx="9521190" cy="2350135"/>
          </a:xfrm>
          <a:custGeom>
            <a:avLst/>
            <a:gdLst/>
            <a:ahLst/>
            <a:cxnLst/>
            <a:rect l="l" t="t" r="r" b="b"/>
            <a:pathLst>
              <a:path w="9521190" h="2350135">
                <a:moveTo>
                  <a:pt x="0" y="0"/>
                </a:moveTo>
                <a:lnTo>
                  <a:pt x="9520964" y="0"/>
                </a:lnTo>
                <a:lnTo>
                  <a:pt x="9520964" y="2350112"/>
                </a:lnTo>
                <a:lnTo>
                  <a:pt x="0" y="2350112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42152" y="1899896"/>
            <a:ext cx="3314065" cy="266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sz="17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linux/include/unistd.h</a:t>
            </a:r>
            <a:r>
              <a:rPr sz="1650" b="1" spc="4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2152" y="2233628"/>
            <a:ext cx="7684770" cy="1176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783590">
              <a:lnSpc>
                <a:spcPct val="119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#define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_syscall3(type,name,atype,a,btype,b,ctype,c)\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type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name(atype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a,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btype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b,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ctype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c)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\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  <a:tabLst>
                <a:tab pos="401955" algn="l"/>
              </a:tabLst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{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long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u="heavy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u="heavy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res;\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401955">
              <a:lnSpc>
                <a:spcPct val="100000"/>
              </a:lnSpc>
              <a:spcBef>
                <a:spcPts val="425"/>
              </a:spcBef>
            </a:pPr>
            <a:r>
              <a:rPr sz="1700" b="1" u="heavy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u="heavy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asm</a:t>
            </a:r>
            <a:r>
              <a:rPr sz="1700" b="1" u="heavy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u="heavy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volatile(“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int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0x80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”: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”=a”(</a:t>
            </a:r>
            <a:r>
              <a:rPr sz="1700" b="1" u="heavy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u="heavy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res)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: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””(</a:t>
            </a:r>
            <a:r>
              <a:rPr sz="1700" b="1" u="heavy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u="heavy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NR_##name)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,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2152" y="3435980"/>
            <a:ext cx="7814309" cy="1174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1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”b”((long)(a)),”c”((long)(b)),“d”((long)(c))));</a:t>
            </a:r>
            <a:r>
              <a:rPr sz="1700" b="1" spc="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if(</a:t>
            </a:r>
            <a:r>
              <a:rPr sz="1700" b="1" u="heavy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u="heavy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res&gt;=0)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(type)</a:t>
            </a:r>
            <a:r>
              <a:rPr sz="1700" b="1" u="heavy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u="heavy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res;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errno=-</a:t>
            </a:r>
            <a:r>
              <a:rPr sz="1700" b="1" u="heavy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u="heavy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res;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return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-1;}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50">
              <a:latin typeface="Times New Roman" panose="02020603050405020304"/>
              <a:cs typeface="Times New Roman" panose="02020603050405020304"/>
            </a:endParaRPr>
          </a:p>
          <a:p>
            <a:pPr marL="142240">
              <a:lnSpc>
                <a:spcPct val="100000"/>
              </a:lnSpc>
              <a:tabLst>
                <a:tab pos="1210310" algn="l"/>
              </a:tabLst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显然，</a:t>
            </a:r>
            <a:r>
              <a:rPr sz="2000" b="1" u="heavy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	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NR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_w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是系统调用号，放在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eax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中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61212" y="3477890"/>
            <a:ext cx="80454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return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0521" y="4442648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90769" y="4783432"/>
            <a:ext cx="6219825" cy="1044575"/>
          </a:xfrm>
          <a:prstGeom prst="rect">
            <a:avLst/>
          </a:prstGeom>
          <a:ln w="8113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9690">
              <a:lnSpc>
                <a:spcPct val="100000"/>
              </a:lnSpc>
            </a:pPr>
            <a:r>
              <a:rPr sz="1650" b="1" spc="4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sz="17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linux/include/unistd.h</a:t>
            </a:r>
            <a:r>
              <a:rPr sz="1650" b="1" spc="4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9690">
              <a:lnSpc>
                <a:spcPct val="100000"/>
              </a:lnSpc>
              <a:spcBef>
                <a:spcPts val="425"/>
              </a:spcBef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#define</a:t>
            </a:r>
            <a:r>
              <a:rPr sz="1700" b="1" spc="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u="heavy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u="heavy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NR_write</a:t>
            </a:r>
            <a:r>
              <a:rPr sz="1700" b="1" spc="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4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//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一堆连续正整数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(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数组下标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,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59690">
              <a:lnSpc>
                <a:spcPct val="100000"/>
              </a:lnSpc>
              <a:spcBef>
                <a:spcPts val="390"/>
              </a:spcBef>
            </a:pP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函数表索引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)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2009" y="5980455"/>
            <a:ext cx="6086475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同时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eax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也存放返回值，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b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x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ecx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x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存放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3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个参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数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40521" y="6065426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957127" y="1675812"/>
            <a:ext cx="2922270" cy="389890"/>
          </a:xfrm>
          <a:custGeom>
            <a:avLst/>
            <a:gdLst/>
            <a:ahLst/>
            <a:cxnLst/>
            <a:rect l="l" t="t" r="r" b="b"/>
            <a:pathLst>
              <a:path w="2922270" h="389889">
                <a:moveTo>
                  <a:pt x="2856865" y="0"/>
                </a:moveTo>
                <a:lnTo>
                  <a:pt x="61539" y="86"/>
                </a:lnTo>
                <a:lnTo>
                  <a:pt x="22924" y="15410"/>
                </a:lnTo>
                <a:lnTo>
                  <a:pt x="1609" y="50482"/>
                </a:lnTo>
                <a:lnTo>
                  <a:pt x="0" y="64910"/>
                </a:lnTo>
                <a:lnTo>
                  <a:pt x="86" y="327944"/>
                </a:lnTo>
                <a:lnTo>
                  <a:pt x="15414" y="366547"/>
                </a:lnTo>
                <a:lnTo>
                  <a:pt x="50496" y="387857"/>
                </a:lnTo>
                <a:lnTo>
                  <a:pt x="64928" y="389467"/>
                </a:lnTo>
                <a:lnTo>
                  <a:pt x="2860254" y="389380"/>
                </a:lnTo>
                <a:lnTo>
                  <a:pt x="2898868" y="374056"/>
                </a:lnTo>
                <a:lnTo>
                  <a:pt x="2920183" y="338984"/>
                </a:lnTo>
                <a:lnTo>
                  <a:pt x="2921793" y="324556"/>
                </a:lnTo>
                <a:lnTo>
                  <a:pt x="2921706" y="61522"/>
                </a:lnTo>
                <a:lnTo>
                  <a:pt x="2906378" y="22918"/>
                </a:lnTo>
                <a:lnTo>
                  <a:pt x="2871297" y="1609"/>
                </a:lnTo>
                <a:lnTo>
                  <a:pt x="285686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957127" y="1675812"/>
            <a:ext cx="2922270" cy="389890"/>
          </a:xfrm>
          <a:custGeom>
            <a:avLst/>
            <a:gdLst/>
            <a:ahLst/>
            <a:cxnLst/>
            <a:rect l="l" t="t" r="r" b="b"/>
            <a:pathLst>
              <a:path w="2922270" h="389889">
                <a:moveTo>
                  <a:pt x="2921793" y="324555"/>
                </a:moveTo>
                <a:lnTo>
                  <a:pt x="2908367" y="364087"/>
                </a:lnTo>
                <a:lnTo>
                  <a:pt x="2874458" y="387055"/>
                </a:lnTo>
                <a:lnTo>
                  <a:pt x="1217414" y="389466"/>
                </a:lnTo>
                <a:lnTo>
                  <a:pt x="486965" y="389466"/>
                </a:lnTo>
                <a:lnTo>
                  <a:pt x="64928" y="389466"/>
                </a:lnTo>
                <a:lnTo>
                  <a:pt x="50496" y="387857"/>
                </a:lnTo>
                <a:lnTo>
                  <a:pt x="15414" y="366547"/>
                </a:lnTo>
                <a:lnTo>
                  <a:pt x="86" y="327943"/>
                </a:lnTo>
                <a:lnTo>
                  <a:pt x="0" y="162277"/>
                </a:lnTo>
                <a:lnTo>
                  <a:pt x="0" y="64911"/>
                </a:lnTo>
                <a:lnTo>
                  <a:pt x="1609" y="50482"/>
                </a:lnTo>
                <a:lnTo>
                  <a:pt x="6203" y="37187"/>
                </a:lnTo>
                <a:lnTo>
                  <a:pt x="34346" y="7636"/>
                </a:lnTo>
                <a:lnTo>
                  <a:pt x="486965" y="0"/>
                </a:lnTo>
                <a:lnTo>
                  <a:pt x="721127" y="0"/>
                </a:lnTo>
                <a:lnTo>
                  <a:pt x="1217414" y="0"/>
                </a:lnTo>
                <a:lnTo>
                  <a:pt x="2856865" y="0"/>
                </a:lnTo>
                <a:lnTo>
                  <a:pt x="2871297" y="1609"/>
                </a:lnTo>
                <a:lnTo>
                  <a:pt x="2906378" y="22918"/>
                </a:lnTo>
                <a:lnTo>
                  <a:pt x="2921706" y="61522"/>
                </a:lnTo>
                <a:lnTo>
                  <a:pt x="2921793" y="64911"/>
                </a:lnTo>
                <a:lnTo>
                  <a:pt x="2921793" y="162277"/>
                </a:lnTo>
                <a:lnTo>
                  <a:pt x="2921793" y="324555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214917" y="1749046"/>
            <a:ext cx="2405380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_sysca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l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l</a:t>
            </a:r>
            <a:r>
              <a:rPr sz="1700" b="1" dirty="0">
                <a:latin typeface="Arial" panose="020B0604020202020204"/>
                <a:cs typeface="Arial" panose="020B0604020202020204"/>
              </a:rPr>
              <a:t>3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表示有</a:t>
            </a:r>
            <a:r>
              <a:rPr sz="1700" b="1" dirty="0">
                <a:latin typeface="Arial" panose="020B0604020202020204"/>
                <a:cs typeface="Arial" panose="020B0604020202020204"/>
              </a:rPr>
              <a:t>3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个参数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int</a:t>
            </a:r>
            <a:r>
              <a:rPr spc="5" dirty="0"/>
              <a:t> </a:t>
            </a:r>
            <a:r>
              <a:rPr dirty="0"/>
              <a:t>0x80</a:t>
            </a: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中断的处理</a:t>
            </a:r>
            <a:endParaRPr sz="2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90770" y="1761944"/>
            <a:ext cx="7063740" cy="711835"/>
          </a:xfrm>
          <a:custGeom>
            <a:avLst/>
            <a:gdLst/>
            <a:ahLst/>
            <a:cxnLst/>
            <a:rect l="l" t="t" r="r" b="b"/>
            <a:pathLst>
              <a:path w="7063740" h="711835">
                <a:moveTo>
                  <a:pt x="0" y="0"/>
                </a:moveTo>
                <a:lnTo>
                  <a:pt x="7063506" y="0"/>
                </a:lnTo>
                <a:lnTo>
                  <a:pt x="7063506" y="711733"/>
                </a:lnTo>
                <a:lnTo>
                  <a:pt x="0" y="711733"/>
                </a:lnTo>
                <a:lnTo>
                  <a:pt x="0" y="0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42152" y="1855553"/>
            <a:ext cx="5944870" cy="914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void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sched_init(void)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142240" indent="-130175">
              <a:lnSpc>
                <a:spcPct val="100000"/>
              </a:lnSpc>
              <a:spcBef>
                <a:spcPts val="425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{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set_system_gate(0x80,&amp;system_call);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}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142240">
              <a:lnSpc>
                <a:spcPct val="100000"/>
              </a:lnSpc>
              <a:spcBef>
                <a:spcPts val="560"/>
              </a:spcBef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显然，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se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_sys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40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_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g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用来设置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0x80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的中断处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理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40521" y="2560226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90770" y="2807327"/>
            <a:ext cx="7063740" cy="2828925"/>
          </a:xfrm>
          <a:prstGeom prst="rect">
            <a:avLst/>
          </a:prstGeom>
          <a:ln w="8114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9690">
              <a:lnSpc>
                <a:spcPct val="100000"/>
              </a:lnSpc>
            </a:pPr>
            <a:r>
              <a:rPr sz="1650" b="1" spc="4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sz="17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linux/include/asm/system.h</a:t>
            </a:r>
            <a:r>
              <a:rPr sz="1650" b="1" spc="4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9690">
              <a:lnSpc>
                <a:spcPct val="100000"/>
              </a:lnSpc>
              <a:spcBef>
                <a:spcPts val="390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#define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set_system_gate(n,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addr)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\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59690">
              <a:lnSpc>
                <a:spcPct val="100000"/>
              </a:lnSpc>
              <a:spcBef>
                <a:spcPts val="425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_set_gate(&amp;idt[n],15,3,addr);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//idt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是中断向量表基址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9690">
              <a:lnSpc>
                <a:spcPct val="100000"/>
              </a:lnSpc>
              <a:spcBef>
                <a:spcPts val="390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#define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_set_gate(gate_addr,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type,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dpl,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addr)\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59690" marR="756285">
              <a:lnSpc>
                <a:spcPct val="119000"/>
              </a:lnSpc>
              <a:spcBef>
                <a:spcPts val="30"/>
              </a:spcBef>
            </a:pPr>
            <a:r>
              <a:rPr sz="1700" b="1" u="heavy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u="heavy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asm</a:t>
            </a:r>
            <a:r>
              <a:rPr sz="1700" b="1" u="heavy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u="heavy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(“movw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%%dx,%%ax\n\t”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“movw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%0,%%dx\n\t”\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“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movl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%%eax,%1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\n\t”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“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movl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%%edx,%2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”:\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59690">
              <a:lnSpc>
                <a:spcPct val="100000"/>
              </a:lnSpc>
              <a:spcBef>
                <a:spcPts val="425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:”i”((short)(0x8000+(dpl&lt;&lt;13)+type&lt;&lt;8))),“o”(*((</a:t>
            </a:r>
            <a:r>
              <a:rPr sz="1700" b="1" spc="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\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59690">
              <a:lnSpc>
                <a:spcPct val="100000"/>
              </a:lnSpc>
              <a:spcBef>
                <a:spcPts val="390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char*)(gate_addr))),”o”(*(4+(char*)(gate_addr))),\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59690">
              <a:lnSpc>
                <a:spcPct val="100000"/>
              </a:lnSpc>
              <a:spcBef>
                <a:spcPts val="425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“d”((char*)(addr),”a”(0x00080000))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29212" y="6024706"/>
            <a:ext cx="3011170" cy="349250"/>
          </a:xfrm>
          <a:custGeom>
            <a:avLst/>
            <a:gdLst/>
            <a:ahLst/>
            <a:cxnLst/>
            <a:rect l="l" t="t" r="r" b="b"/>
            <a:pathLst>
              <a:path w="3011170" h="349250">
                <a:moveTo>
                  <a:pt x="0" y="348747"/>
                </a:moveTo>
                <a:lnTo>
                  <a:pt x="3010848" y="348747"/>
                </a:lnTo>
                <a:lnTo>
                  <a:pt x="3010848" y="0"/>
                </a:lnTo>
                <a:lnTo>
                  <a:pt x="0" y="0"/>
                </a:lnTo>
                <a:lnTo>
                  <a:pt x="0" y="3487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42258" y="5810770"/>
            <a:ext cx="133985" cy="568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5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15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51096" y="5675960"/>
            <a:ext cx="3074670" cy="349250"/>
          </a:xfrm>
          <a:custGeom>
            <a:avLst/>
            <a:gdLst/>
            <a:ahLst/>
            <a:cxnLst/>
            <a:rect l="l" t="t" r="r" b="b"/>
            <a:pathLst>
              <a:path w="3074670" h="349250">
                <a:moveTo>
                  <a:pt x="0" y="348747"/>
                </a:moveTo>
                <a:lnTo>
                  <a:pt x="3074379" y="348747"/>
                </a:lnTo>
                <a:lnTo>
                  <a:pt x="3074379" y="0"/>
                </a:lnTo>
                <a:lnTo>
                  <a:pt x="0" y="0"/>
                </a:lnTo>
                <a:lnTo>
                  <a:pt x="0" y="3487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266745" y="5675960"/>
            <a:ext cx="1573530" cy="349250"/>
          </a:xfrm>
          <a:custGeom>
            <a:avLst/>
            <a:gdLst/>
            <a:ahLst/>
            <a:cxnLst/>
            <a:rect l="l" t="t" r="r" b="b"/>
            <a:pathLst>
              <a:path w="1573529" h="349250">
                <a:moveTo>
                  <a:pt x="0" y="348747"/>
                </a:moveTo>
                <a:lnTo>
                  <a:pt x="1573315" y="348747"/>
                </a:lnTo>
                <a:lnTo>
                  <a:pt x="1573315" y="0"/>
                </a:lnTo>
                <a:lnTo>
                  <a:pt x="0" y="0"/>
                </a:lnTo>
                <a:lnTo>
                  <a:pt x="0" y="3487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829212" y="5675960"/>
            <a:ext cx="205740" cy="349250"/>
          </a:xfrm>
          <a:custGeom>
            <a:avLst/>
            <a:gdLst/>
            <a:ahLst/>
            <a:cxnLst/>
            <a:rect l="l" t="t" r="r" b="b"/>
            <a:pathLst>
              <a:path w="205739" h="349250">
                <a:moveTo>
                  <a:pt x="0" y="348747"/>
                </a:moveTo>
                <a:lnTo>
                  <a:pt x="205539" y="348747"/>
                </a:lnTo>
                <a:lnTo>
                  <a:pt x="205539" y="0"/>
                </a:lnTo>
                <a:lnTo>
                  <a:pt x="0" y="0"/>
                </a:lnTo>
                <a:lnTo>
                  <a:pt x="0" y="3487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034751" y="5675960"/>
            <a:ext cx="480059" cy="349250"/>
          </a:xfrm>
          <a:custGeom>
            <a:avLst/>
            <a:gdLst/>
            <a:ahLst/>
            <a:cxnLst/>
            <a:rect l="l" t="t" r="r" b="b"/>
            <a:pathLst>
              <a:path w="480060" h="349250">
                <a:moveTo>
                  <a:pt x="0" y="348747"/>
                </a:moveTo>
                <a:lnTo>
                  <a:pt x="479593" y="348747"/>
                </a:lnTo>
                <a:lnTo>
                  <a:pt x="479593" y="0"/>
                </a:lnTo>
                <a:lnTo>
                  <a:pt x="0" y="0"/>
                </a:lnTo>
                <a:lnTo>
                  <a:pt x="0" y="3487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514345" y="5675960"/>
            <a:ext cx="752475" cy="349250"/>
          </a:xfrm>
          <a:custGeom>
            <a:avLst/>
            <a:gdLst/>
            <a:ahLst/>
            <a:cxnLst/>
            <a:rect l="l" t="t" r="r" b="b"/>
            <a:pathLst>
              <a:path w="752475" h="349250">
                <a:moveTo>
                  <a:pt x="0" y="348747"/>
                </a:moveTo>
                <a:lnTo>
                  <a:pt x="752400" y="348747"/>
                </a:lnTo>
                <a:lnTo>
                  <a:pt x="752400" y="0"/>
                </a:lnTo>
                <a:lnTo>
                  <a:pt x="0" y="0"/>
                </a:lnTo>
                <a:lnTo>
                  <a:pt x="0" y="3487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738925" y="5663785"/>
          <a:ext cx="6125845" cy="721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76248"/>
                <a:gridCol w="207406"/>
                <a:gridCol w="479593"/>
                <a:gridCol w="752401"/>
                <a:gridCol w="1573314"/>
              </a:tblGrid>
              <a:tr h="348747">
                <a:tc>
                  <a:txBody>
                    <a:bodyPr/>
                    <a:lstStyle/>
                    <a:p>
                      <a:pPr marL="508635">
                        <a:lnSpc>
                          <a:spcPct val="100000"/>
                        </a:lnSpc>
                      </a:pPr>
                      <a:r>
                        <a:rPr sz="15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处理函数入口点偏移</a:t>
                      </a:r>
                      <a:endParaRPr sz="15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4341">
                      <a:solidFill>
                        <a:srgbClr val="000000"/>
                      </a:solidFill>
                      <a:prstDash val="solid"/>
                    </a:lnL>
                    <a:lnR w="24346">
                      <a:solidFill>
                        <a:srgbClr val="000000"/>
                      </a:solidFill>
                      <a:prstDash val="solid"/>
                    </a:lnR>
                    <a:lnT w="24341">
                      <a:solidFill>
                        <a:srgbClr val="000000"/>
                      </a:solidFill>
                      <a:prstDash val="solid"/>
                    </a:lnT>
                    <a:lnB w="2434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ts val="1745"/>
                        </a:lnSpc>
                      </a:pPr>
                      <a:r>
                        <a:rPr sz="1500" b="1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4346">
                      <a:solidFill>
                        <a:srgbClr val="000000"/>
                      </a:solidFill>
                      <a:prstDash val="solid"/>
                    </a:lnL>
                    <a:lnR w="24343">
                      <a:solidFill>
                        <a:srgbClr val="000000"/>
                      </a:solidFill>
                      <a:prstDash val="solid"/>
                    </a:lnR>
                    <a:lnT w="24346">
                      <a:solidFill>
                        <a:srgbClr val="000000"/>
                      </a:solidFill>
                      <a:prstDash val="solid"/>
                    </a:lnT>
                    <a:lnB w="2434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1500" b="1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r>
                        <a:rPr sz="1500" b="1" spc="-5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1500" b="1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L</a:t>
                      </a:r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4343">
                      <a:solidFill>
                        <a:srgbClr val="000000"/>
                      </a:solidFill>
                      <a:prstDash val="solid"/>
                    </a:lnL>
                    <a:lnR w="24342">
                      <a:solidFill>
                        <a:srgbClr val="000000"/>
                      </a:solidFill>
                      <a:prstDash val="solid"/>
                    </a:lnR>
                    <a:lnT w="24343">
                      <a:solidFill>
                        <a:srgbClr val="000000"/>
                      </a:solidFill>
                      <a:prstDash val="solid"/>
                    </a:lnT>
                    <a:lnB w="2434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1675"/>
                        </a:lnSpc>
                      </a:pPr>
                      <a:r>
                        <a:rPr sz="1500" b="1" spc="-5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r>
                        <a:rPr sz="1500" b="1" spc="-90" dirty="0">
                          <a:latin typeface="Arial" panose="020B0604020202020204"/>
                          <a:cs typeface="Arial" panose="020B0604020202020204"/>
                        </a:rPr>
                        <a:t>11</a:t>
                      </a:r>
                      <a:r>
                        <a:rPr sz="1500" b="1" spc="-5" dirty="0">
                          <a:latin typeface="Arial" panose="020B0604020202020204"/>
                          <a:cs typeface="Arial" panose="020B0604020202020204"/>
                        </a:rPr>
                        <a:t>10</a:t>
                      </a:r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4342">
                      <a:solidFill>
                        <a:srgbClr val="000000"/>
                      </a:solidFill>
                      <a:prstDash val="solid"/>
                    </a:lnL>
                    <a:lnR w="24342">
                      <a:solidFill>
                        <a:srgbClr val="000000"/>
                      </a:solidFill>
                      <a:prstDash val="solid"/>
                    </a:lnR>
                    <a:lnT w="24342">
                      <a:solidFill>
                        <a:srgbClr val="000000"/>
                      </a:solidFill>
                      <a:prstDash val="solid"/>
                    </a:lnT>
                    <a:lnB w="24342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4342">
                      <a:solidFill>
                        <a:srgbClr val="000000"/>
                      </a:solidFill>
                      <a:prstDash val="solid"/>
                    </a:lnL>
                    <a:lnR w="24341">
                      <a:solidFill>
                        <a:srgbClr val="000000"/>
                      </a:solidFill>
                      <a:prstDash val="solid"/>
                    </a:lnR>
                    <a:lnT w="24341">
                      <a:solidFill>
                        <a:srgbClr val="000000"/>
                      </a:solidFill>
                      <a:prstDash val="solid"/>
                    </a:lnT>
                    <a:lnB w="2434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8747">
                <a:tc>
                  <a:txBody>
                    <a:bodyPr/>
                    <a:lstStyle/>
                    <a:p>
                      <a:pPr marR="59055" algn="ctr">
                        <a:lnSpc>
                          <a:spcPct val="100000"/>
                        </a:lnSpc>
                      </a:pPr>
                      <a:r>
                        <a:rPr sz="15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段选择符</a:t>
                      </a:r>
                      <a:endParaRPr sz="15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4341">
                      <a:solidFill>
                        <a:srgbClr val="000000"/>
                      </a:solidFill>
                      <a:prstDash val="solid"/>
                    </a:lnL>
                    <a:lnR w="24341">
                      <a:solidFill>
                        <a:srgbClr val="000000"/>
                      </a:solidFill>
                      <a:prstDash val="solid"/>
                    </a:lnR>
                    <a:lnT w="24341">
                      <a:solidFill>
                        <a:srgbClr val="000000"/>
                      </a:solidFill>
                      <a:prstDash val="solid"/>
                    </a:lnT>
                    <a:lnB w="24341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414655">
                        <a:lnSpc>
                          <a:spcPct val="100000"/>
                        </a:lnSpc>
                      </a:pPr>
                      <a:r>
                        <a:rPr sz="15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处理函数入口点偏移</a:t>
                      </a:r>
                      <a:endParaRPr sz="15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4341">
                      <a:solidFill>
                        <a:srgbClr val="000000"/>
                      </a:solidFill>
                      <a:prstDash val="solid"/>
                    </a:lnL>
                    <a:lnR w="24341">
                      <a:solidFill>
                        <a:srgbClr val="000000"/>
                      </a:solidFill>
                      <a:prstDash val="solid"/>
                    </a:lnR>
                    <a:lnT w="24342">
                      <a:solidFill>
                        <a:srgbClr val="000000"/>
                      </a:solidFill>
                      <a:prstDash val="solid"/>
                    </a:lnT>
                    <a:lnB w="2434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中断处理程序</a:t>
            </a:r>
            <a:r>
              <a:rPr sz="3050" spc="5" dirty="0"/>
              <a:t>:</a:t>
            </a:r>
            <a:r>
              <a:rPr sz="3050" spc="5" dirty="0"/>
              <a:t> </a:t>
            </a:r>
            <a:r>
              <a:rPr sz="3050" dirty="0"/>
              <a:t>sys</a:t>
            </a:r>
            <a:r>
              <a:rPr sz="3050" spc="5" dirty="0"/>
              <a:t>t</a:t>
            </a:r>
            <a:r>
              <a:rPr sz="3050" dirty="0"/>
              <a:t>e</a:t>
            </a:r>
            <a:r>
              <a:rPr sz="3050" spc="15" dirty="0"/>
              <a:t>m</a:t>
            </a:r>
            <a:r>
              <a:rPr sz="3050" dirty="0"/>
              <a:t>_ca</a:t>
            </a:r>
            <a:r>
              <a:rPr sz="3050" spc="-5" dirty="0"/>
              <a:t>l</a:t>
            </a:r>
            <a:r>
              <a:rPr sz="3050" dirty="0"/>
              <a:t>l</a:t>
            </a:r>
            <a:endParaRPr sz="30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40521" y="6145212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90770" y="1814926"/>
            <a:ext cx="7063740" cy="4151629"/>
          </a:xfrm>
          <a:custGeom>
            <a:avLst/>
            <a:gdLst/>
            <a:ahLst/>
            <a:cxnLst/>
            <a:rect l="l" t="t" r="r" b="b"/>
            <a:pathLst>
              <a:path w="7063740" h="4151629">
                <a:moveTo>
                  <a:pt x="0" y="0"/>
                </a:moveTo>
                <a:lnTo>
                  <a:pt x="7063506" y="0"/>
                </a:lnTo>
                <a:lnTo>
                  <a:pt x="7063506" y="4151388"/>
                </a:lnTo>
                <a:lnTo>
                  <a:pt x="0" y="4151388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42152" y="4991801"/>
            <a:ext cx="6758940" cy="1347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178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pushl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%eax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//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返回值压栈，留着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ret_from_sys_call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时用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71780">
              <a:lnSpc>
                <a:spcPct val="100000"/>
              </a:lnSpc>
              <a:spcBef>
                <a:spcPts val="425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...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//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其他代码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ret_from_sys_call: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popl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%eax,</a:t>
            </a:r>
            <a:r>
              <a:rPr sz="1700" b="1" spc="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其他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pop,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iret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142240">
              <a:lnSpc>
                <a:spcPct val="100000"/>
              </a:lnSpc>
              <a:spcBef>
                <a:spcPts val="1340"/>
              </a:spcBef>
            </a:pP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_sys_ca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_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b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+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4*</a:t>
            </a:r>
            <a:r>
              <a:rPr sz="2000" b="1" spc="4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%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ea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x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就是相应系统调用处理函数入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口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2152" y="1876914"/>
            <a:ext cx="5478145" cy="1197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sz="17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linux/kernel/system_call.s</a:t>
            </a:r>
            <a:r>
              <a:rPr sz="1650" b="1" spc="4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nr_system_calls=72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.globl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_system_call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_system_call: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cmpl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$nr_system_calls-1,%eax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1796" y="3145944"/>
            <a:ext cx="2362200" cy="550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000"/>
              </a:lnSpc>
              <a:tabLst>
                <a:tab pos="1310640" algn="l"/>
              </a:tabLst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ja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bad_sys_call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push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%ds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push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%es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98210" y="3454907"/>
            <a:ext cx="106426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push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%fs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1796" y="3772360"/>
            <a:ext cx="288163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570355" algn="l"/>
              </a:tabLst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pushl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%edx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pushl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%ecx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17492" y="3772360"/>
            <a:ext cx="67500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pushl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1796" y="4081310"/>
            <a:ext cx="544830" cy="863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movl movl 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call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50900" y="4081310"/>
            <a:ext cx="1323975" cy="554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$0x10,%edx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$0x17,%edx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08748" y="4081310"/>
            <a:ext cx="1453515" cy="554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1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mov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%dx,%ds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mov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%dx,%fs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50900" y="4703387"/>
            <a:ext cx="314071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_sys_call_table(,%eax,4)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074439" y="2214032"/>
            <a:ext cx="3135630" cy="727710"/>
          </a:xfrm>
          <a:custGeom>
            <a:avLst/>
            <a:gdLst/>
            <a:ahLst/>
            <a:cxnLst/>
            <a:rect l="l" t="t" r="r" b="b"/>
            <a:pathLst>
              <a:path w="3135629" h="727710">
                <a:moveTo>
                  <a:pt x="3070593" y="0"/>
                </a:moveTo>
                <a:lnTo>
                  <a:pt x="275267" y="86"/>
                </a:lnTo>
                <a:lnTo>
                  <a:pt x="236653" y="15411"/>
                </a:lnTo>
                <a:lnTo>
                  <a:pt x="215338" y="50482"/>
                </a:lnTo>
                <a:lnTo>
                  <a:pt x="213728" y="64910"/>
                </a:lnTo>
                <a:lnTo>
                  <a:pt x="213815" y="327944"/>
                </a:lnTo>
                <a:lnTo>
                  <a:pt x="229143" y="366548"/>
                </a:lnTo>
                <a:lnTo>
                  <a:pt x="264224" y="387857"/>
                </a:lnTo>
                <a:lnTo>
                  <a:pt x="278657" y="389467"/>
                </a:lnTo>
                <a:lnTo>
                  <a:pt x="700693" y="389467"/>
                </a:lnTo>
                <a:lnTo>
                  <a:pt x="0" y="727563"/>
                </a:lnTo>
                <a:lnTo>
                  <a:pt x="1431141" y="389467"/>
                </a:lnTo>
                <a:lnTo>
                  <a:pt x="3073982" y="389380"/>
                </a:lnTo>
                <a:lnTo>
                  <a:pt x="3088186" y="387056"/>
                </a:lnTo>
                <a:lnTo>
                  <a:pt x="3122095" y="364088"/>
                </a:lnTo>
                <a:lnTo>
                  <a:pt x="3135522" y="324556"/>
                </a:lnTo>
                <a:lnTo>
                  <a:pt x="3135435" y="61522"/>
                </a:lnTo>
                <a:lnTo>
                  <a:pt x="3120106" y="22919"/>
                </a:lnTo>
                <a:lnTo>
                  <a:pt x="3085025" y="1609"/>
                </a:lnTo>
                <a:lnTo>
                  <a:pt x="30705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074439" y="2214033"/>
            <a:ext cx="3135630" cy="727710"/>
          </a:xfrm>
          <a:custGeom>
            <a:avLst/>
            <a:gdLst/>
            <a:ahLst/>
            <a:cxnLst/>
            <a:rect l="l" t="t" r="r" b="b"/>
            <a:pathLst>
              <a:path w="3135629" h="727710">
                <a:moveTo>
                  <a:pt x="3135521" y="324555"/>
                </a:moveTo>
                <a:lnTo>
                  <a:pt x="3122095" y="364087"/>
                </a:lnTo>
                <a:lnTo>
                  <a:pt x="3088186" y="387055"/>
                </a:lnTo>
                <a:lnTo>
                  <a:pt x="1431142" y="389466"/>
                </a:lnTo>
                <a:lnTo>
                  <a:pt x="0" y="727563"/>
                </a:lnTo>
                <a:lnTo>
                  <a:pt x="700693" y="389466"/>
                </a:lnTo>
                <a:lnTo>
                  <a:pt x="278656" y="389466"/>
                </a:lnTo>
                <a:lnTo>
                  <a:pt x="264224" y="387857"/>
                </a:lnTo>
                <a:lnTo>
                  <a:pt x="229143" y="366547"/>
                </a:lnTo>
                <a:lnTo>
                  <a:pt x="213815" y="327943"/>
                </a:lnTo>
                <a:lnTo>
                  <a:pt x="213728" y="324555"/>
                </a:lnTo>
                <a:lnTo>
                  <a:pt x="213728" y="227188"/>
                </a:lnTo>
                <a:lnTo>
                  <a:pt x="213728" y="64911"/>
                </a:lnTo>
                <a:lnTo>
                  <a:pt x="215337" y="50482"/>
                </a:lnTo>
                <a:lnTo>
                  <a:pt x="236653" y="15410"/>
                </a:lnTo>
                <a:lnTo>
                  <a:pt x="275267" y="86"/>
                </a:lnTo>
                <a:lnTo>
                  <a:pt x="700693" y="0"/>
                </a:lnTo>
                <a:lnTo>
                  <a:pt x="1431142" y="0"/>
                </a:lnTo>
                <a:lnTo>
                  <a:pt x="3070593" y="0"/>
                </a:lnTo>
                <a:lnTo>
                  <a:pt x="3085025" y="1609"/>
                </a:lnTo>
                <a:lnTo>
                  <a:pt x="3120106" y="22918"/>
                </a:lnTo>
                <a:lnTo>
                  <a:pt x="3135434" y="61522"/>
                </a:lnTo>
                <a:lnTo>
                  <a:pt x="3135521" y="227188"/>
                </a:lnTo>
                <a:lnTo>
                  <a:pt x="3135521" y="324555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972008" y="3237736"/>
            <a:ext cx="5129530" cy="388620"/>
          </a:xfrm>
          <a:custGeom>
            <a:avLst/>
            <a:gdLst/>
            <a:ahLst/>
            <a:cxnLst/>
            <a:rect l="l" t="t" r="r" b="b"/>
            <a:pathLst>
              <a:path w="5129530" h="388620">
                <a:moveTo>
                  <a:pt x="0" y="388114"/>
                </a:moveTo>
                <a:lnTo>
                  <a:pt x="5129371" y="388114"/>
                </a:lnTo>
                <a:lnTo>
                  <a:pt x="5129371" y="0"/>
                </a:lnTo>
                <a:lnTo>
                  <a:pt x="0" y="0"/>
                </a:lnTo>
                <a:lnTo>
                  <a:pt x="0" y="388114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696416" y="3321064"/>
            <a:ext cx="3077210" cy="1623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8455">
              <a:lnSpc>
                <a:spcPct val="100000"/>
              </a:lnSpc>
            </a:pPr>
            <a:r>
              <a:rPr sz="1700" b="1" u="heavy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u="heavy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asm</a:t>
            </a:r>
            <a:r>
              <a:rPr sz="1700" b="1" u="heavy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u="heavy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volatile(“int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1510"/>
              </a:spcBef>
              <a:tabLst>
                <a:tab pos="791210" algn="l"/>
              </a:tabLst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%ebx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//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调用的参数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mov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%dx,%es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//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内核数据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//fs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可以找到用户数据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//a(,%eax,4)=a+4*eax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sp>
        <p:nvSpPr>
          <p:cNvPr id="20" name="object 20"/>
          <p:cNvSpPr txBox="1"/>
          <p:nvPr/>
        </p:nvSpPr>
        <p:spPr>
          <a:xfrm>
            <a:off x="6473607" y="2287121"/>
            <a:ext cx="2550160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eax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中存放的是系统调用号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78291" y="3321064"/>
            <a:ext cx="223266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0x80”:”=a”(</a:t>
            </a:r>
            <a:r>
              <a:rPr sz="1700" b="1" u="heavy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u="heavy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res)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90770" y="3255107"/>
            <a:ext cx="7063740" cy="776605"/>
          </a:xfrm>
          <a:custGeom>
            <a:avLst/>
            <a:gdLst/>
            <a:ahLst/>
            <a:cxnLst/>
            <a:rect l="l" t="t" r="r" b="b"/>
            <a:pathLst>
              <a:path w="7063740" h="776604">
                <a:moveTo>
                  <a:pt x="0" y="0"/>
                </a:moveTo>
                <a:lnTo>
                  <a:pt x="7063506" y="0"/>
                </a:lnTo>
                <a:lnTo>
                  <a:pt x="7063506" y="776436"/>
                </a:lnTo>
                <a:lnTo>
                  <a:pt x="0" y="776436"/>
                </a:lnTo>
                <a:lnTo>
                  <a:pt x="0" y="0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42152" y="3327554"/>
            <a:ext cx="5899785" cy="1416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sz="17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include/linux/sched.h</a:t>
            </a:r>
            <a:r>
              <a:rPr sz="1650" b="1" spc="4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typedef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int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(fn_ptr*)();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50">
              <a:latin typeface="Times New Roman" panose="02020603050405020304"/>
              <a:cs typeface="Times New Roman" panose="02020603050405020304"/>
            </a:endParaRPr>
          </a:p>
          <a:p>
            <a:pPr marL="142240">
              <a:lnSpc>
                <a:spcPct val="100000"/>
              </a:lnSpc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ca</a:t>
            </a:r>
            <a:r>
              <a:rPr sz="2000" b="1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_sys_ca</a:t>
            </a:r>
            <a:r>
              <a:rPr sz="2000" b="1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_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b</a:t>
            </a:r>
            <a:r>
              <a:rPr sz="2000" b="1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000" b="1" dirty="0">
                <a:latin typeface="Arial" panose="020B0604020202020204"/>
                <a:cs typeface="Arial" panose="020B0604020202020204"/>
              </a:rPr>
              <a:t>,</a:t>
            </a:r>
            <a:r>
              <a:rPr sz="2000" b="1" spc="40" dirty="0">
                <a:latin typeface="Arial" panose="020B0604020202020204"/>
                <a:cs typeface="Arial" panose="020B0604020202020204"/>
              </a:rPr>
              <a:t>%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eax</a:t>
            </a:r>
            <a:r>
              <a:rPr sz="2000" b="1" dirty="0">
                <a:latin typeface="Arial" panose="020B0604020202020204"/>
                <a:cs typeface="Arial" panose="020B0604020202020204"/>
              </a:rPr>
              <a:t>,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4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)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就是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ca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sys_w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009650">
              <a:lnSpc>
                <a:spcPct val="100000"/>
              </a:lnSpc>
              <a:spcBef>
                <a:spcPts val="725"/>
              </a:spcBef>
            </a:pPr>
            <a:r>
              <a:rPr sz="1700" b="1" dirty="0">
                <a:latin typeface="Arial" panose="020B0604020202020204"/>
                <a:cs typeface="Arial" panose="020B0604020202020204"/>
              </a:rPr>
              <a:t>eax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=</a:t>
            </a:r>
            <a:r>
              <a:rPr sz="1700" b="1" dirty="0">
                <a:latin typeface="Arial" panose="020B0604020202020204"/>
                <a:cs typeface="Arial" panose="020B0604020202020204"/>
              </a:rPr>
              <a:t>4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，函数入口地址长度也为</a:t>
            </a:r>
            <a:r>
              <a:rPr sz="1700" b="1" dirty="0">
                <a:latin typeface="Arial" panose="020B0604020202020204"/>
                <a:cs typeface="Arial" panose="020B0604020202020204"/>
              </a:rPr>
              <a:t>4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_sys_call_</a:t>
            </a:r>
            <a:r>
              <a:rPr spc="5" dirty="0"/>
              <a:t>t</a:t>
            </a:r>
            <a:r>
              <a:rPr dirty="0"/>
              <a:t>a</a:t>
            </a:r>
            <a:r>
              <a:rPr spc="10" dirty="0"/>
              <a:t>b</a:t>
            </a:r>
            <a:r>
              <a:rPr dirty="0"/>
              <a:t>le</a:t>
            </a:r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440521" y="4183004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90770" y="1828935"/>
            <a:ext cx="7063740" cy="1358900"/>
          </a:xfrm>
          <a:custGeom>
            <a:avLst/>
            <a:gdLst/>
            <a:ahLst/>
            <a:cxnLst/>
            <a:rect l="l" t="t" r="r" b="b"/>
            <a:pathLst>
              <a:path w="7063740" h="1358900">
                <a:moveTo>
                  <a:pt x="0" y="0"/>
                </a:moveTo>
                <a:lnTo>
                  <a:pt x="7063506" y="0"/>
                </a:lnTo>
                <a:lnTo>
                  <a:pt x="7063506" y="1358764"/>
                </a:lnTo>
                <a:lnTo>
                  <a:pt x="0" y="1358764"/>
                </a:lnTo>
                <a:lnTo>
                  <a:pt x="0" y="0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42152" y="1899896"/>
            <a:ext cx="3141345" cy="575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sz="17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include/linux/sys.h</a:t>
            </a:r>
            <a:r>
              <a:rPr sz="1650" b="1" spc="4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fn_ptr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sys_call_table[]=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2152" y="2542577"/>
            <a:ext cx="6776084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{sys_setup,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sys_exit,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sys_fork,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sys_read,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sys_write,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1796" y="2855759"/>
            <a:ext cx="67500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...};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790547" y="1751542"/>
            <a:ext cx="4646295" cy="492759"/>
          </a:xfrm>
          <a:custGeom>
            <a:avLst/>
            <a:gdLst/>
            <a:ahLst/>
            <a:cxnLst/>
            <a:rect l="l" t="t" r="r" b="b"/>
            <a:pathLst>
              <a:path w="4646295" h="492760">
                <a:moveTo>
                  <a:pt x="4567671" y="0"/>
                </a:moveTo>
                <a:lnTo>
                  <a:pt x="1119686" y="0"/>
                </a:lnTo>
                <a:lnTo>
                  <a:pt x="482463" y="639"/>
                </a:lnTo>
                <a:lnTo>
                  <a:pt x="444105" y="16814"/>
                </a:lnTo>
                <a:lnTo>
                  <a:pt x="419717" y="49855"/>
                </a:lnTo>
                <a:lnTo>
                  <a:pt x="414488" y="77985"/>
                </a:lnTo>
                <a:lnTo>
                  <a:pt x="414488" y="272940"/>
                </a:lnTo>
                <a:lnTo>
                  <a:pt x="0" y="492271"/>
                </a:lnTo>
                <a:lnTo>
                  <a:pt x="414488" y="389914"/>
                </a:lnTo>
                <a:lnTo>
                  <a:pt x="4645679" y="389914"/>
                </a:lnTo>
                <a:lnTo>
                  <a:pt x="4645679" y="272940"/>
                </a:lnTo>
                <a:lnTo>
                  <a:pt x="4645039" y="67955"/>
                </a:lnTo>
                <a:lnTo>
                  <a:pt x="4628859" y="29608"/>
                </a:lnTo>
                <a:lnTo>
                  <a:pt x="4595809" y="5227"/>
                </a:lnTo>
                <a:lnTo>
                  <a:pt x="4582187" y="1347"/>
                </a:lnTo>
                <a:lnTo>
                  <a:pt x="4567671" y="0"/>
                </a:lnTo>
                <a:close/>
              </a:path>
              <a:path w="4646295" h="492760">
                <a:moveTo>
                  <a:pt x="4645679" y="389914"/>
                </a:moveTo>
                <a:lnTo>
                  <a:pt x="414488" y="389914"/>
                </a:lnTo>
                <a:lnTo>
                  <a:pt x="415127" y="399945"/>
                </a:lnTo>
                <a:lnTo>
                  <a:pt x="431308" y="438292"/>
                </a:lnTo>
                <a:lnTo>
                  <a:pt x="464358" y="462673"/>
                </a:lnTo>
                <a:lnTo>
                  <a:pt x="492495" y="467901"/>
                </a:lnTo>
                <a:lnTo>
                  <a:pt x="2177484" y="467901"/>
                </a:lnTo>
                <a:lnTo>
                  <a:pt x="4577705" y="467261"/>
                </a:lnTo>
                <a:lnTo>
                  <a:pt x="4616062" y="451085"/>
                </a:lnTo>
                <a:lnTo>
                  <a:pt x="4640450" y="418044"/>
                </a:lnTo>
                <a:lnTo>
                  <a:pt x="4645679" y="38991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790546" y="1751542"/>
            <a:ext cx="4646295" cy="492759"/>
          </a:xfrm>
          <a:custGeom>
            <a:avLst/>
            <a:gdLst/>
            <a:ahLst/>
            <a:cxnLst/>
            <a:rect l="l" t="t" r="r" b="b"/>
            <a:pathLst>
              <a:path w="4646295" h="492760">
                <a:moveTo>
                  <a:pt x="4645679" y="389915"/>
                </a:moveTo>
                <a:lnTo>
                  <a:pt x="4634281" y="430524"/>
                </a:lnTo>
                <a:lnTo>
                  <a:pt x="4604502" y="458679"/>
                </a:lnTo>
                <a:lnTo>
                  <a:pt x="2177485" y="467900"/>
                </a:lnTo>
                <a:lnTo>
                  <a:pt x="1119687" y="467900"/>
                </a:lnTo>
                <a:lnTo>
                  <a:pt x="492495" y="467900"/>
                </a:lnTo>
                <a:lnTo>
                  <a:pt x="477980" y="466553"/>
                </a:lnTo>
                <a:lnTo>
                  <a:pt x="440777" y="448297"/>
                </a:lnTo>
                <a:lnTo>
                  <a:pt x="418238" y="413870"/>
                </a:lnTo>
                <a:lnTo>
                  <a:pt x="414489" y="389915"/>
                </a:lnTo>
                <a:lnTo>
                  <a:pt x="0" y="492270"/>
                </a:lnTo>
                <a:lnTo>
                  <a:pt x="414489" y="272941"/>
                </a:lnTo>
                <a:lnTo>
                  <a:pt x="414489" y="77985"/>
                </a:lnTo>
                <a:lnTo>
                  <a:pt x="415837" y="63473"/>
                </a:lnTo>
                <a:lnTo>
                  <a:pt x="434097" y="26280"/>
                </a:lnTo>
                <a:lnTo>
                  <a:pt x="468534" y="3748"/>
                </a:lnTo>
                <a:lnTo>
                  <a:pt x="1119687" y="0"/>
                </a:lnTo>
                <a:lnTo>
                  <a:pt x="2177485" y="0"/>
                </a:lnTo>
                <a:lnTo>
                  <a:pt x="4567672" y="0"/>
                </a:lnTo>
                <a:lnTo>
                  <a:pt x="4582188" y="1347"/>
                </a:lnTo>
                <a:lnTo>
                  <a:pt x="4619391" y="19603"/>
                </a:lnTo>
                <a:lnTo>
                  <a:pt x="4641929" y="54030"/>
                </a:lnTo>
                <a:lnTo>
                  <a:pt x="4645679" y="272941"/>
                </a:lnTo>
                <a:lnTo>
                  <a:pt x="4645679" y="389915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600761" y="1828582"/>
            <a:ext cx="3438525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sys_ca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l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l</a:t>
            </a:r>
            <a:r>
              <a:rPr sz="1700" b="1" dirty="0">
                <a:latin typeface="Arial" panose="020B0604020202020204"/>
                <a:cs typeface="Arial" panose="020B0604020202020204"/>
              </a:rPr>
              <a:t>_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ab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l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是一个全局函数数组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632483" y="2758126"/>
            <a:ext cx="5519420" cy="548640"/>
          </a:xfrm>
          <a:custGeom>
            <a:avLst/>
            <a:gdLst/>
            <a:ahLst/>
            <a:cxnLst/>
            <a:rect l="l" t="t" r="r" b="b"/>
            <a:pathLst>
              <a:path w="5519420" h="548639">
                <a:moveTo>
                  <a:pt x="2406095" y="0"/>
                </a:moveTo>
                <a:lnTo>
                  <a:pt x="919824" y="137473"/>
                </a:lnTo>
                <a:lnTo>
                  <a:pt x="59309" y="138089"/>
                </a:lnTo>
                <a:lnTo>
                  <a:pt x="45480" y="141446"/>
                </a:lnTo>
                <a:lnTo>
                  <a:pt x="12799" y="166109"/>
                </a:lnTo>
                <a:lnTo>
                  <a:pt x="0" y="205990"/>
                </a:lnTo>
                <a:lnTo>
                  <a:pt x="0" y="308767"/>
                </a:lnTo>
                <a:lnTo>
                  <a:pt x="615" y="489283"/>
                </a:lnTo>
                <a:lnTo>
                  <a:pt x="18306" y="526676"/>
                </a:lnTo>
                <a:lnTo>
                  <a:pt x="54075" y="547050"/>
                </a:lnTo>
                <a:lnTo>
                  <a:pt x="68534" y="548577"/>
                </a:lnTo>
                <a:lnTo>
                  <a:pt x="2299559" y="548577"/>
                </a:lnTo>
                <a:lnTo>
                  <a:pt x="5459634" y="547962"/>
                </a:lnTo>
                <a:lnTo>
                  <a:pt x="5497037" y="530276"/>
                </a:lnTo>
                <a:lnTo>
                  <a:pt x="5517415" y="494515"/>
                </a:lnTo>
                <a:lnTo>
                  <a:pt x="5518943" y="480061"/>
                </a:lnTo>
                <a:lnTo>
                  <a:pt x="5518943" y="205990"/>
                </a:lnTo>
                <a:lnTo>
                  <a:pt x="5500637" y="159374"/>
                </a:lnTo>
                <a:lnTo>
                  <a:pt x="5464868" y="139001"/>
                </a:lnTo>
                <a:lnTo>
                  <a:pt x="5450409" y="137473"/>
                </a:lnTo>
                <a:lnTo>
                  <a:pt x="2299559" y="137473"/>
                </a:lnTo>
                <a:lnTo>
                  <a:pt x="24060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632483" y="2758127"/>
            <a:ext cx="5519420" cy="548640"/>
          </a:xfrm>
          <a:custGeom>
            <a:avLst/>
            <a:gdLst/>
            <a:ahLst/>
            <a:cxnLst/>
            <a:rect l="l" t="t" r="r" b="b"/>
            <a:pathLst>
              <a:path w="5519420" h="548639">
                <a:moveTo>
                  <a:pt x="5518943" y="480060"/>
                </a:moveTo>
                <a:lnTo>
                  <a:pt x="5506144" y="519940"/>
                </a:lnTo>
                <a:lnTo>
                  <a:pt x="5473463" y="544603"/>
                </a:lnTo>
                <a:lnTo>
                  <a:pt x="2299559" y="548576"/>
                </a:lnTo>
                <a:lnTo>
                  <a:pt x="919823" y="548576"/>
                </a:lnTo>
                <a:lnTo>
                  <a:pt x="68533" y="548576"/>
                </a:lnTo>
                <a:lnTo>
                  <a:pt x="54075" y="547049"/>
                </a:lnTo>
                <a:lnTo>
                  <a:pt x="18305" y="526675"/>
                </a:lnTo>
                <a:lnTo>
                  <a:pt x="615" y="489282"/>
                </a:lnTo>
                <a:lnTo>
                  <a:pt x="0" y="308766"/>
                </a:lnTo>
                <a:lnTo>
                  <a:pt x="0" y="205989"/>
                </a:lnTo>
                <a:lnTo>
                  <a:pt x="1527" y="191534"/>
                </a:lnTo>
                <a:lnTo>
                  <a:pt x="5900" y="178135"/>
                </a:lnTo>
                <a:lnTo>
                  <a:pt x="32906" y="147447"/>
                </a:lnTo>
                <a:lnTo>
                  <a:pt x="919823" y="137473"/>
                </a:lnTo>
                <a:lnTo>
                  <a:pt x="2406094" y="0"/>
                </a:lnTo>
                <a:lnTo>
                  <a:pt x="2299559" y="137473"/>
                </a:lnTo>
                <a:lnTo>
                  <a:pt x="5450409" y="137473"/>
                </a:lnTo>
                <a:lnTo>
                  <a:pt x="5464868" y="139000"/>
                </a:lnTo>
                <a:lnTo>
                  <a:pt x="5500637" y="159374"/>
                </a:lnTo>
                <a:lnTo>
                  <a:pt x="5518328" y="196767"/>
                </a:lnTo>
                <a:lnTo>
                  <a:pt x="5518943" y="205989"/>
                </a:lnTo>
                <a:lnTo>
                  <a:pt x="5518943" y="308766"/>
                </a:lnTo>
                <a:lnTo>
                  <a:pt x="5518943" y="480060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140452" y="2969558"/>
            <a:ext cx="3138170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sys_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w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r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对应的数组下标为</a:t>
            </a:r>
            <a:r>
              <a:rPr sz="1700" b="1" dirty="0">
                <a:latin typeface="Arial" panose="020B0604020202020204"/>
                <a:cs typeface="Arial" panose="020B0604020202020204"/>
              </a:rPr>
              <a:t>4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700" b="1" u="heavy" spc="-5" dirty="0">
                <a:latin typeface="Arial" panose="020B0604020202020204"/>
                <a:cs typeface="Arial" panose="020B0604020202020204"/>
              </a:rPr>
              <a:t> 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433289" y="2978050"/>
            <a:ext cx="120840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5" dirty="0">
                <a:latin typeface="Arial" panose="020B0604020202020204"/>
                <a:cs typeface="Arial" panose="020B0604020202020204"/>
              </a:rPr>
              <a:t>NR</a:t>
            </a:r>
            <a:r>
              <a:rPr sz="1700" b="1" dirty="0">
                <a:latin typeface="Arial" panose="020B0604020202020204"/>
                <a:cs typeface="Arial" panose="020B0604020202020204"/>
              </a:rPr>
              <a:t>_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w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r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=</a:t>
            </a:r>
            <a:r>
              <a:rPr sz="1700" b="1" dirty="0">
                <a:latin typeface="Arial" panose="020B0604020202020204"/>
                <a:cs typeface="Arial" panose="020B0604020202020204"/>
              </a:rPr>
              <a:t>4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385887" y="4472932"/>
            <a:ext cx="3571240" cy="465455"/>
          </a:xfrm>
          <a:custGeom>
            <a:avLst/>
            <a:gdLst/>
            <a:ahLst/>
            <a:cxnLst/>
            <a:rect l="l" t="t" r="r" b="b"/>
            <a:pathLst>
              <a:path w="3571240" h="465454">
                <a:moveTo>
                  <a:pt x="2740624" y="0"/>
                </a:moveTo>
                <a:lnTo>
                  <a:pt x="2083130" y="75713"/>
                </a:lnTo>
                <a:lnTo>
                  <a:pt x="61537" y="75800"/>
                </a:lnTo>
                <a:lnTo>
                  <a:pt x="47334" y="78125"/>
                </a:lnTo>
                <a:lnTo>
                  <a:pt x="13425" y="101094"/>
                </a:lnTo>
                <a:lnTo>
                  <a:pt x="0" y="140627"/>
                </a:lnTo>
                <a:lnTo>
                  <a:pt x="87" y="403658"/>
                </a:lnTo>
                <a:lnTo>
                  <a:pt x="15416" y="442262"/>
                </a:lnTo>
                <a:lnTo>
                  <a:pt x="50497" y="463571"/>
                </a:lnTo>
                <a:lnTo>
                  <a:pt x="64930" y="465180"/>
                </a:lnTo>
                <a:lnTo>
                  <a:pt x="3509543" y="465093"/>
                </a:lnTo>
                <a:lnTo>
                  <a:pt x="3548156" y="449768"/>
                </a:lnTo>
                <a:lnTo>
                  <a:pt x="3569471" y="414695"/>
                </a:lnTo>
                <a:lnTo>
                  <a:pt x="3571081" y="400267"/>
                </a:lnTo>
                <a:lnTo>
                  <a:pt x="3570994" y="137234"/>
                </a:lnTo>
                <a:lnTo>
                  <a:pt x="3555664" y="98631"/>
                </a:lnTo>
                <a:lnTo>
                  <a:pt x="3520582" y="77322"/>
                </a:lnTo>
                <a:lnTo>
                  <a:pt x="3506149" y="75713"/>
                </a:lnTo>
                <a:lnTo>
                  <a:pt x="2975900" y="75713"/>
                </a:lnTo>
                <a:lnTo>
                  <a:pt x="2740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r>
              <a:rPr lang="en-US" b="1"/>
              <a:t>eax=4</a:t>
            </a:r>
            <a:r>
              <a:rPr lang="zh-CN" altLang="en-US" b="1"/>
              <a:t>，函数入口地址长度也为</a:t>
            </a:r>
            <a:r>
              <a:rPr lang="en-US" altLang="zh-CN" b="1"/>
              <a:t>4</a:t>
            </a:r>
            <a:endParaRPr lang="en-US" altLang="zh-CN" b="1"/>
          </a:p>
        </p:txBody>
      </p:sp>
      <p:sp>
        <p:nvSpPr>
          <p:cNvPr id="19" name="object 19"/>
          <p:cNvSpPr/>
          <p:nvPr/>
        </p:nvSpPr>
        <p:spPr>
          <a:xfrm>
            <a:off x="1321117" y="4345298"/>
            <a:ext cx="3571240" cy="465455"/>
          </a:xfrm>
          <a:custGeom>
            <a:avLst/>
            <a:gdLst/>
            <a:ahLst/>
            <a:cxnLst/>
            <a:rect l="l" t="t" r="r" b="b"/>
            <a:pathLst>
              <a:path w="3571240" h="465454">
                <a:moveTo>
                  <a:pt x="3571081" y="400266"/>
                </a:moveTo>
                <a:lnTo>
                  <a:pt x="3557655" y="439798"/>
                </a:lnTo>
                <a:lnTo>
                  <a:pt x="3523747" y="462767"/>
                </a:lnTo>
                <a:lnTo>
                  <a:pt x="2975901" y="465179"/>
                </a:lnTo>
                <a:lnTo>
                  <a:pt x="2083130" y="465179"/>
                </a:lnTo>
                <a:lnTo>
                  <a:pt x="64930" y="465179"/>
                </a:lnTo>
                <a:lnTo>
                  <a:pt x="50498" y="463570"/>
                </a:lnTo>
                <a:lnTo>
                  <a:pt x="15416" y="442261"/>
                </a:lnTo>
                <a:lnTo>
                  <a:pt x="87" y="403658"/>
                </a:lnTo>
                <a:lnTo>
                  <a:pt x="0" y="237989"/>
                </a:lnTo>
                <a:lnTo>
                  <a:pt x="0" y="140623"/>
                </a:lnTo>
                <a:lnTo>
                  <a:pt x="1609" y="126198"/>
                </a:lnTo>
                <a:lnTo>
                  <a:pt x="22924" y="91125"/>
                </a:lnTo>
                <a:lnTo>
                  <a:pt x="61537" y="75800"/>
                </a:lnTo>
                <a:lnTo>
                  <a:pt x="2083130" y="75713"/>
                </a:lnTo>
                <a:lnTo>
                  <a:pt x="2740625" y="0"/>
                </a:lnTo>
                <a:lnTo>
                  <a:pt x="2975901" y="75713"/>
                </a:lnTo>
                <a:lnTo>
                  <a:pt x="3506150" y="75713"/>
                </a:lnTo>
                <a:lnTo>
                  <a:pt x="3520582" y="77322"/>
                </a:lnTo>
                <a:lnTo>
                  <a:pt x="3555664" y="98631"/>
                </a:lnTo>
                <a:lnTo>
                  <a:pt x="3570994" y="137234"/>
                </a:lnTo>
                <a:lnTo>
                  <a:pt x="3571081" y="140623"/>
                </a:lnTo>
                <a:lnTo>
                  <a:pt x="3571081" y="237989"/>
                </a:lnTo>
                <a:lnTo>
                  <a:pt x="3571081" y="400266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79749" y="5243217"/>
            <a:ext cx="681990" cy="1103630"/>
          </a:xfrm>
          <a:prstGeom prst="rect">
            <a:avLst/>
          </a:prstGeom>
          <a:ln w="24346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40360" marR="99060" algn="just">
              <a:lnSpc>
                <a:spcPts val="1670"/>
              </a:lnSpc>
            </a:pPr>
            <a:r>
              <a:rPr sz="1700" b="1" spc="-45" dirty="0">
                <a:latin typeface="宋体" panose="02010600030101010101" pitchFamily="2" charset="-122"/>
                <a:cs typeface="宋体" panose="02010600030101010101" pitchFamily="2" charset="-122"/>
              </a:rPr>
              <a:t>用 户 调 用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59896" y="5505057"/>
            <a:ext cx="241935" cy="57721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5" dirty="0"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r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n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f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256188" y="5730052"/>
            <a:ext cx="259715" cy="194945"/>
          </a:xfrm>
          <a:custGeom>
            <a:avLst/>
            <a:gdLst/>
            <a:ahLst/>
            <a:cxnLst/>
            <a:rect l="l" t="t" r="r" b="b"/>
            <a:pathLst>
              <a:path w="259715" h="194945">
                <a:moveTo>
                  <a:pt x="194786" y="0"/>
                </a:moveTo>
                <a:lnTo>
                  <a:pt x="194786" y="48682"/>
                </a:lnTo>
                <a:lnTo>
                  <a:pt x="0" y="48682"/>
                </a:lnTo>
                <a:lnTo>
                  <a:pt x="0" y="146050"/>
                </a:lnTo>
                <a:lnTo>
                  <a:pt x="194786" y="146050"/>
                </a:lnTo>
                <a:lnTo>
                  <a:pt x="194786" y="194732"/>
                </a:lnTo>
                <a:lnTo>
                  <a:pt x="259715" y="97365"/>
                </a:lnTo>
                <a:lnTo>
                  <a:pt x="19478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256188" y="5730052"/>
            <a:ext cx="259715" cy="194945"/>
          </a:xfrm>
          <a:custGeom>
            <a:avLst/>
            <a:gdLst/>
            <a:ahLst/>
            <a:cxnLst/>
            <a:rect l="l" t="t" r="r" b="b"/>
            <a:pathLst>
              <a:path w="259715" h="194945">
                <a:moveTo>
                  <a:pt x="0" y="48683"/>
                </a:moveTo>
                <a:lnTo>
                  <a:pt x="194786" y="48683"/>
                </a:lnTo>
                <a:lnTo>
                  <a:pt x="194786" y="0"/>
                </a:lnTo>
                <a:lnTo>
                  <a:pt x="259715" y="97366"/>
                </a:lnTo>
                <a:lnTo>
                  <a:pt x="194786" y="194733"/>
                </a:lnTo>
                <a:lnTo>
                  <a:pt x="194786" y="146050"/>
                </a:lnTo>
                <a:lnTo>
                  <a:pt x="0" y="146050"/>
                </a:lnTo>
                <a:lnTo>
                  <a:pt x="0" y="48683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656614" y="5350646"/>
            <a:ext cx="522605" cy="915669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98425" marR="5080" indent="-86360">
              <a:lnSpc>
                <a:spcPct val="100000"/>
              </a:lnSpc>
            </a:pPr>
            <a:r>
              <a:rPr sz="1700" b="1" spc="5" dirty="0"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r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n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f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latin typeface="Arial" panose="020B0604020202020204"/>
                <a:cs typeface="Arial" panose="020B0604020202020204"/>
              </a:rPr>
              <a:t>n</a:t>
            </a:r>
            <a:r>
              <a:rPr sz="1700" b="1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0x80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77340" y="5243195"/>
            <a:ext cx="681990" cy="1129665"/>
          </a:xfrm>
          <a:prstGeom prst="rect">
            <a:avLst/>
          </a:prstGeom>
          <a:ln w="24346">
            <a:solidFill>
              <a:srgbClr val="FF0000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marL="353060" marR="86360">
              <a:lnSpc>
                <a:spcPts val="1670"/>
              </a:lnSpc>
            </a:pP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359977" y="5730052"/>
            <a:ext cx="259715" cy="194945"/>
          </a:xfrm>
          <a:custGeom>
            <a:avLst/>
            <a:gdLst/>
            <a:ahLst/>
            <a:cxnLst/>
            <a:rect l="l" t="t" r="r" b="b"/>
            <a:pathLst>
              <a:path w="259714" h="194945">
                <a:moveTo>
                  <a:pt x="194786" y="0"/>
                </a:moveTo>
                <a:lnTo>
                  <a:pt x="194786" y="48682"/>
                </a:lnTo>
                <a:lnTo>
                  <a:pt x="0" y="48682"/>
                </a:lnTo>
                <a:lnTo>
                  <a:pt x="0" y="146050"/>
                </a:lnTo>
                <a:lnTo>
                  <a:pt x="194786" y="146050"/>
                </a:lnTo>
                <a:lnTo>
                  <a:pt x="194786" y="194732"/>
                </a:lnTo>
                <a:lnTo>
                  <a:pt x="259715" y="97365"/>
                </a:lnTo>
                <a:lnTo>
                  <a:pt x="19478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359977" y="5730052"/>
            <a:ext cx="259715" cy="194945"/>
          </a:xfrm>
          <a:custGeom>
            <a:avLst/>
            <a:gdLst/>
            <a:ahLst/>
            <a:cxnLst/>
            <a:rect l="l" t="t" r="r" b="b"/>
            <a:pathLst>
              <a:path w="259714" h="194945">
                <a:moveTo>
                  <a:pt x="0" y="48683"/>
                </a:moveTo>
                <a:lnTo>
                  <a:pt x="194786" y="48683"/>
                </a:lnTo>
                <a:lnTo>
                  <a:pt x="194786" y="0"/>
                </a:lnTo>
                <a:lnTo>
                  <a:pt x="259715" y="97366"/>
                </a:lnTo>
                <a:lnTo>
                  <a:pt x="194786" y="194733"/>
                </a:lnTo>
                <a:lnTo>
                  <a:pt x="194786" y="146050"/>
                </a:lnTo>
                <a:lnTo>
                  <a:pt x="0" y="146050"/>
                </a:lnTo>
                <a:lnTo>
                  <a:pt x="0" y="48683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2717084" y="5145852"/>
            <a:ext cx="681990" cy="1363345"/>
          </a:xfrm>
          <a:prstGeom prst="rect">
            <a:avLst/>
          </a:prstGeom>
          <a:ln w="24346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40360" marR="99060" algn="just">
              <a:lnSpc>
                <a:spcPts val="1670"/>
              </a:lnSpc>
            </a:pPr>
            <a:r>
              <a:rPr sz="1700" b="1" spc="-45" dirty="0">
                <a:latin typeface="宋体" panose="02010600030101010101" pitchFamily="2" charset="-122"/>
                <a:cs typeface="宋体" panose="02010600030101010101" pitchFamily="2" charset="-122"/>
              </a:rPr>
              <a:t>中 断 处 理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797233" y="5200926"/>
            <a:ext cx="241935" cy="125095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sys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em_ca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l</a:t>
            </a:r>
            <a:r>
              <a:rPr sz="1700" b="1" dirty="0">
                <a:latin typeface="Arial" panose="020B0604020202020204"/>
                <a:cs typeface="Arial" panose="020B0604020202020204"/>
              </a:rPr>
              <a:t>l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528695" y="5730052"/>
            <a:ext cx="259715" cy="194945"/>
          </a:xfrm>
          <a:custGeom>
            <a:avLst/>
            <a:gdLst/>
            <a:ahLst/>
            <a:cxnLst/>
            <a:rect l="l" t="t" r="r" b="b"/>
            <a:pathLst>
              <a:path w="259714" h="194945">
                <a:moveTo>
                  <a:pt x="194786" y="0"/>
                </a:moveTo>
                <a:lnTo>
                  <a:pt x="194786" y="48682"/>
                </a:lnTo>
                <a:lnTo>
                  <a:pt x="0" y="48682"/>
                </a:lnTo>
                <a:lnTo>
                  <a:pt x="0" y="146050"/>
                </a:lnTo>
                <a:lnTo>
                  <a:pt x="194786" y="146050"/>
                </a:lnTo>
                <a:lnTo>
                  <a:pt x="194786" y="194732"/>
                </a:lnTo>
                <a:lnTo>
                  <a:pt x="259714" y="97365"/>
                </a:lnTo>
                <a:lnTo>
                  <a:pt x="19478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528695" y="5730052"/>
            <a:ext cx="259715" cy="194945"/>
          </a:xfrm>
          <a:custGeom>
            <a:avLst/>
            <a:gdLst/>
            <a:ahLst/>
            <a:cxnLst/>
            <a:rect l="l" t="t" r="r" b="b"/>
            <a:pathLst>
              <a:path w="259714" h="194945">
                <a:moveTo>
                  <a:pt x="0" y="48683"/>
                </a:moveTo>
                <a:lnTo>
                  <a:pt x="194786" y="48683"/>
                </a:lnTo>
                <a:lnTo>
                  <a:pt x="194786" y="0"/>
                </a:lnTo>
                <a:lnTo>
                  <a:pt x="259715" y="97366"/>
                </a:lnTo>
                <a:lnTo>
                  <a:pt x="194786" y="194733"/>
                </a:lnTo>
                <a:lnTo>
                  <a:pt x="194786" y="146050"/>
                </a:lnTo>
                <a:lnTo>
                  <a:pt x="0" y="146050"/>
                </a:lnTo>
                <a:lnTo>
                  <a:pt x="0" y="48683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3885803" y="5254037"/>
            <a:ext cx="681990" cy="1136015"/>
          </a:xfrm>
          <a:prstGeom prst="rect">
            <a:avLst/>
          </a:prstGeom>
          <a:ln w="24346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53060" marR="86360">
              <a:lnSpc>
                <a:spcPts val="1670"/>
              </a:lnSpc>
            </a:pPr>
            <a:r>
              <a:rPr sz="1700" b="1" spc="-45" dirty="0">
                <a:latin typeface="宋体" panose="02010600030101010101" pitchFamily="2" charset="-122"/>
                <a:cs typeface="宋体" panose="02010600030101010101" pitchFamily="2" charset="-122"/>
              </a:rPr>
              <a:t>查 表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965950" y="5315840"/>
            <a:ext cx="499745" cy="100901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 marR="5080" indent="463550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sys_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ca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l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l</a:t>
            </a:r>
            <a:r>
              <a:rPr sz="1700" b="1" dirty="0">
                <a:latin typeface="Arial" panose="020B0604020202020204"/>
                <a:cs typeface="Arial" panose="020B0604020202020204"/>
              </a:rPr>
              <a:t>_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ab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l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697412" y="5740869"/>
            <a:ext cx="259715" cy="194945"/>
          </a:xfrm>
          <a:custGeom>
            <a:avLst/>
            <a:gdLst/>
            <a:ahLst/>
            <a:cxnLst/>
            <a:rect l="l" t="t" r="r" b="b"/>
            <a:pathLst>
              <a:path w="259714" h="194945">
                <a:moveTo>
                  <a:pt x="194786" y="0"/>
                </a:moveTo>
                <a:lnTo>
                  <a:pt x="194786" y="48684"/>
                </a:lnTo>
                <a:lnTo>
                  <a:pt x="0" y="48684"/>
                </a:lnTo>
                <a:lnTo>
                  <a:pt x="0" y="146049"/>
                </a:lnTo>
                <a:lnTo>
                  <a:pt x="194786" y="146049"/>
                </a:lnTo>
                <a:lnTo>
                  <a:pt x="194786" y="194734"/>
                </a:lnTo>
                <a:lnTo>
                  <a:pt x="259714" y="97367"/>
                </a:lnTo>
                <a:lnTo>
                  <a:pt x="19478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697412" y="5740869"/>
            <a:ext cx="259715" cy="194945"/>
          </a:xfrm>
          <a:custGeom>
            <a:avLst/>
            <a:gdLst/>
            <a:ahLst/>
            <a:cxnLst/>
            <a:rect l="l" t="t" r="r" b="b"/>
            <a:pathLst>
              <a:path w="259714" h="194945">
                <a:moveTo>
                  <a:pt x="0" y="48683"/>
                </a:moveTo>
                <a:lnTo>
                  <a:pt x="194786" y="48683"/>
                </a:lnTo>
                <a:lnTo>
                  <a:pt x="194786" y="0"/>
                </a:lnTo>
                <a:lnTo>
                  <a:pt x="259715" y="97366"/>
                </a:lnTo>
                <a:lnTo>
                  <a:pt x="194786" y="194733"/>
                </a:lnTo>
                <a:lnTo>
                  <a:pt x="194786" y="146050"/>
                </a:lnTo>
                <a:lnTo>
                  <a:pt x="0" y="146050"/>
                </a:lnTo>
                <a:lnTo>
                  <a:pt x="0" y="48683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5054520" y="5178306"/>
            <a:ext cx="681990" cy="1341755"/>
          </a:xfrm>
          <a:prstGeom prst="rect">
            <a:avLst/>
          </a:prstGeom>
          <a:ln w="24346">
            <a:solidFill>
              <a:srgbClr val="FF0000"/>
            </a:solidFill>
          </a:ln>
        </p:spPr>
        <p:txBody>
          <a:bodyPr vert="vert" wrap="square" lIns="0" tIns="0" rIns="0" bIns="0" rtlCol="0">
            <a:spAutoFit/>
          </a:bodyPr>
          <a:lstStyle/>
          <a:p>
            <a:pPr algn="ctr">
              <a:lnSpc>
                <a:spcPts val="203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__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NR</a:t>
            </a:r>
            <a:r>
              <a:rPr sz="1700" b="1" dirty="0">
                <a:latin typeface="Arial" panose="020B0604020202020204"/>
                <a:cs typeface="Arial" panose="020B0604020202020204"/>
              </a:rPr>
              <a:t>_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w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r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ts val="2035"/>
              </a:lnSpc>
            </a:pPr>
            <a:r>
              <a:rPr sz="1700" b="1" spc="-5" dirty="0">
                <a:latin typeface="Arial" panose="020B0604020202020204"/>
                <a:cs typeface="Arial" panose="020B0604020202020204"/>
              </a:rPr>
              <a:t>=4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801201" y="5740869"/>
            <a:ext cx="259715" cy="194945"/>
          </a:xfrm>
          <a:custGeom>
            <a:avLst/>
            <a:gdLst/>
            <a:ahLst/>
            <a:cxnLst/>
            <a:rect l="l" t="t" r="r" b="b"/>
            <a:pathLst>
              <a:path w="259714" h="194945">
                <a:moveTo>
                  <a:pt x="194787" y="0"/>
                </a:moveTo>
                <a:lnTo>
                  <a:pt x="194787" y="48684"/>
                </a:lnTo>
                <a:lnTo>
                  <a:pt x="0" y="48684"/>
                </a:lnTo>
                <a:lnTo>
                  <a:pt x="0" y="146049"/>
                </a:lnTo>
                <a:lnTo>
                  <a:pt x="194787" y="146049"/>
                </a:lnTo>
                <a:lnTo>
                  <a:pt x="194787" y="194734"/>
                </a:lnTo>
                <a:lnTo>
                  <a:pt x="259714" y="97367"/>
                </a:lnTo>
                <a:lnTo>
                  <a:pt x="19478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801201" y="5740869"/>
            <a:ext cx="259715" cy="194945"/>
          </a:xfrm>
          <a:custGeom>
            <a:avLst/>
            <a:gdLst/>
            <a:ahLst/>
            <a:cxnLst/>
            <a:rect l="l" t="t" r="r" b="b"/>
            <a:pathLst>
              <a:path w="259714" h="194945">
                <a:moveTo>
                  <a:pt x="0" y="48683"/>
                </a:moveTo>
                <a:lnTo>
                  <a:pt x="194786" y="48683"/>
                </a:lnTo>
                <a:lnTo>
                  <a:pt x="194786" y="0"/>
                </a:lnTo>
                <a:lnTo>
                  <a:pt x="259715" y="97366"/>
                </a:lnTo>
                <a:lnTo>
                  <a:pt x="194786" y="194733"/>
                </a:lnTo>
                <a:lnTo>
                  <a:pt x="194786" y="146050"/>
                </a:lnTo>
                <a:lnTo>
                  <a:pt x="0" y="146050"/>
                </a:lnTo>
                <a:lnTo>
                  <a:pt x="0" y="48683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6158308" y="5243217"/>
            <a:ext cx="681990" cy="1168400"/>
          </a:xfrm>
          <a:prstGeom prst="rect">
            <a:avLst/>
          </a:prstGeom>
          <a:ln w="24346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40360" marR="99060">
              <a:lnSpc>
                <a:spcPts val="1670"/>
              </a:lnSpc>
            </a:pPr>
            <a:r>
              <a:rPr sz="1700" b="1" spc="-45" dirty="0">
                <a:latin typeface="宋体" panose="02010600030101010101" pitchFamily="2" charset="-122"/>
                <a:cs typeface="宋体" panose="02010600030101010101" pitchFamily="2" charset="-122"/>
              </a:rPr>
              <a:t>调 用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238456" y="5321243"/>
            <a:ext cx="241935" cy="100901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sys_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w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r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5268276" y="4615744"/>
            <a:ext cx="1572260" cy="504825"/>
          </a:xfrm>
          <a:custGeom>
            <a:avLst/>
            <a:gdLst/>
            <a:ahLst/>
            <a:cxnLst/>
            <a:rect l="l" t="t" r="r" b="b"/>
            <a:pathLst>
              <a:path w="1572259" h="504825">
                <a:moveTo>
                  <a:pt x="1571785" y="324553"/>
                </a:moveTo>
                <a:lnTo>
                  <a:pt x="1558359" y="364086"/>
                </a:lnTo>
                <a:lnTo>
                  <a:pt x="1524450" y="387054"/>
                </a:lnTo>
                <a:lnTo>
                  <a:pt x="662782" y="389466"/>
                </a:lnTo>
                <a:lnTo>
                  <a:pt x="0" y="504432"/>
                </a:lnTo>
                <a:lnTo>
                  <a:pt x="273210" y="389466"/>
                </a:lnTo>
                <a:lnTo>
                  <a:pt x="78425" y="389466"/>
                </a:lnTo>
                <a:lnTo>
                  <a:pt x="63993" y="387857"/>
                </a:lnTo>
                <a:lnTo>
                  <a:pt x="28911" y="366548"/>
                </a:lnTo>
                <a:lnTo>
                  <a:pt x="13582" y="327945"/>
                </a:lnTo>
                <a:lnTo>
                  <a:pt x="13495" y="324555"/>
                </a:lnTo>
                <a:lnTo>
                  <a:pt x="13495" y="227188"/>
                </a:lnTo>
                <a:lnTo>
                  <a:pt x="13495" y="64912"/>
                </a:lnTo>
                <a:lnTo>
                  <a:pt x="15105" y="50484"/>
                </a:lnTo>
                <a:lnTo>
                  <a:pt x="36420" y="15412"/>
                </a:lnTo>
                <a:lnTo>
                  <a:pt x="75033" y="87"/>
                </a:lnTo>
                <a:lnTo>
                  <a:pt x="273210" y="0"/>
                </a:lnTo>
                <a:lnTo>
                  <a:pt x="662782" y="0"/>
                </a:lnTo>
                <a:lnTo>
                  <a:pt x="1506854" y="0"/>
                </a:lnTo>
                <a:lnTo>
                  <a:pt x="1521287" y="1609"/>
                </a:lnTo>
                <a:lnTo>
                  <a:pt x="1556369" y="22918"/>
                </a:lnTo>
                <a:lnTo>
                  <a:pt x="1571698" y="61521"/>
                </a:lnTo>
                <a:lnTo>
                  <a:pt x="1571785" y="227188"/>
                </a:lnTo>
                <a:lnTo>
                  <a:pt x="1571785" y="324555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5579454" y="4688179"/>
            <a:ext cx="963294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故事结束</a:t>
            </a:r>
            <a:r>
              <a:rPr sz="1700" b="1" dirty="0">
                <a:latin typeface="Arial" panose="020B0604020202020204"/>
                <a:cs typeface="Arial" panose="020B0604020202020204"/>
              </a:rPr>
              <a:t>!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2424906" y="4832115"/>
            <a:ext cx="0" cy="1558290"/>
          </a:xfrm>
          <a:custGeom>
            <a:avLst/>
            <a:gdLst/>
            <a:ahLst/>
            <a:cxnLst/>
            <a:rect l="l" t="t" r="r" b="b"/>
            <a:pathLst>
              <a:path h="1558289">
                <a:moveTo>
                  <a:pt x="0" y="0"/>
                </a:moveTo>
                <a:lnTo>
                  <a:pt x="0" y="1557866"/>
                </a:lnTo>
              </a:path>
            </a:pathLst>
          </a:custGeom>
          <a:ln w="243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1676323" y="4820590"/>
            <a:ext cx="1507490" cy="246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45185" algn="l"/>
              </a:tabLst>
            </a:pP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用户态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sz="2475" b="1" spc="60" baseline="3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内核态</a:t>
            </a:r>
            <a:endParaRPr sz="2475" baseline="3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46" name="object 46"/>
          <p:cNvSpPr txBox="1"/>
          <p:nvPr/>
        </p:nvSpPr>
        <p:spPr>
          <a:xfrm>
            <a:off x="5131033" y="6459594"/>
            <a:ext cx="43116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b="1" spc="5" dirty="0">
                <a:latin typeface="Arial" panose="020B0604020202020204"/>
                <a:cs typeface="Arial" panose="020B0604020202020204"/>
              </a:rPr>
              <a:t>-</a:t>
            </a:r>
            <a:r>
              <a:rPr sz="135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1350" b="1" dirty="0">
                <a:latin typeface="Arial" panose="020B0604020202020204"/>
                <a:cs typeface="Arial" panose="020B0604020202020204"/>
              </a:rPr>
              <a:t>1</a:t>
            </a:r>
            <a:r>
              <a:rPr sz="1350" b="1" spc="5" dirty="0">
                <a:latin typeface="Arial" panose="020B0604020202020204"/>
                <a:cs typeface="Arial" panose="020B0604020202020204"/>
              </a:rPr>
              <a:t>0</a:t>
            </a:r>
            <a:r>
              <a:rPr sz="1350" b="1" dirty="0">
                <a:latin typeface="Arial" panose="020B0604020202020204"/>
                <a:cs typeface="Arial" panose="020B0604020202020204"/>
              </a:rPr>
              <a:t> </a:t>
            </a:r>
            <a:r>
              <a:rPr sz="1350" b="1" spc="5" dirty="0">
                <a:latin typeface="Arial" panose="020B0604020202020204"/>
                <a:cs typeface="Arial" panose="020B0604020202020204"/>
              </a:rPr>
              <a:t>-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23766" y="5841692"/>
            <a:ext cx="45910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100: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61402" y="2473678"/>
            <a:ext cx="1883410" cy="1038860"/>
          </a:xfrm>
          <a:custGeom>
            <a:avLst/>
            <a:gdLst/>
            <a:ahLst/>
            <a:cxnLst/>
            <a:rect l="l" t="t" r="r" b="b"/>
            <a:pathLst>
              <a:path w="1883410" h="1038860">
                <a:moveTo>
                  <a:pt x="0" y="0"/>
                </a:moveTo>
                <a:lnTo>
                  <a:pt x="1882933" y="0"/>
                </a:lnTo>
                <a:lnTo>
                  <a:pt x="1882933" y="1038577"/>
                </a:lnTo>
                <a:lnTo>
                  <a:pt x="0" y="1038577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61402" y="3512256"/>
            <a:ext cx="1883410" cy="1882775"/>
          </a:xfrm>
          <a:custGeom>
            <a:avLst/>
            <a:gdLst/>
            <a:ahLst/>
            <a:cxnLst/>
            <a:rect l="l" t="t" r="r" b="b"/>
            <a:pathLst>
              <a:path w="1883410" h="1882775">
                <a:moveTo>
                  <a:pt x="0" y="0"/>
                </a:moveTo>
                <a:lnTo>
                  <a:pt x="1882933" y="0"/>
                </a:lnTo>
                <a:lnTo>
                  <a:pt x="1882933" y="1882422"/>
                </a:lnTo>
                <a:lnTo>
                  <a:pt x="0" y="1882422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26616" y="4998077"/>
            <a:ext cx="985519" cy="522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lang="en-US"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zhipeng cheng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”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7329" y="4998077"/>
            <a:ext cx="45910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100: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98837" y="3966633"/>
            <a:ext cx="454659" cy="194945"/>
          </a:xfrm>
          <a:custGeom>
            <a:avLst/>
            <a:gdLst/>
            <a:ahLst/>
            <a:cxnLst/>
            <a:rect l="l" t="t" r="r" b="b"/>
            <a:pathLst>
              <a:path w="454660" h="194945">
                <a:moveTo>
                  <a:pt x="357098" y="0"/>
                </a:moveTo>
                <a:lnTo>
                  <a:pt x="357098" y="48684"/>
                </a:lnTo>
                <a:lnTo>
                  <a:pt x="0" y="48684"/>
                </a:lnTo>
                <a:lnTo>
                  <a:pt x="0" y="146050"/>
                </a:lnTo>
                <a:lnTo>
                  <a:pt x="357098" y="146050"/>
                </a:lnTo>
                <a:lnTo>
                  <a:pt x="357098" y="194734"/>
                </a:lnTo>
                <a:lnTo>
                  <a:pt x="454501" y="97367"/>
                </a:lnTo>
                <a:lnTo>
                  <a:pt x="357098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398837" y="3966633"/>
            <a:ext cx="454659" cy="194945"/>
          </a:xfrm>
          <a:custGeom>
            <a:avLst/>
            <a:gdLst/>
            <a:ahLst/>
            <a:cxnLst/>
            <a:rect l="l" t="t" r="r" b="b"/>
            <a:pathLst>
              <a:path w="454660" h="194945">
                <a:moveTo>
                  <a:pt x="0" y="48683"/>
                </a:moveTo>
                <a:lnTo>
                  <a:pt x="357098" y="48683"/>
                </a:lnTo>
                <a:lnTo>
                  <a:pt x="357098" y="0"/>
                </a:lnTo>
                <a:lnTo>
                  <a:pt x="454501" y="97366"/>
                </a:lnTo>
                <a:lnTo>
                  <a:pt x="357098" y="194733"/>
                </a:lnTo>
                <a:lnTo>
                  <a:pt x="357098" y="146050"/>
                </a:lnTo>
                <a:lnTo>
                  <a:pt x="0" y="146050"/>
                </a:lnTo>
                <a:lnTo>
                  <a:pt x="0" y="48683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12" name="object 12"/>
          <p:cNvSpPr txBox="1"/>
          <p:nvPr/>
        </p:nvSpPr>
        <p:spPr>
          <a:xfrm>
            <a:off x="5135793" y="6459594"/>
            <a:ext cx="42164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b="1" spc="5" dirty="0">
                <a:latin typeface="Arial" panose="020B0604020202020204"/>
                <a:cs typeface="Arial" panose="020B0604020202020204"/>
              </a:rPr>
              <a:t>-</a:t>
            </a:r>
            <a:r>
              <a:rPr sz="135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1350" b="1" spc="-75" dirty="0">
                <a:latin typeface="Arial" panose="020B0604020202020204"/>
                <a:cs typeface="Arial" panose="020B0604020202020204"/>
              </a:rPr>
              <a:t>1</a:t>
            </a:r>
            <a:r>
              <a:rPr sz="1350" b="1" spc="5" dirty="0">
                <a:latin typeface="Arial" panose="020B0604020202020204"/>
                <a:cs typeface="Arial" panose="020B0604020202020204"/>
              </a:rPr>
              <a:t>1</a:t>
            </a:r>
            <a:r>
              <a:rPr sz="1350" b="1" dirty="0">
                <a:latin typeface="Arial" panose="020B0604020202020204"/>
                <a:cs typeface="Arial" panose="020B0604020202020204"/>
              </a:rPr>
              <a:t> </a:t>
            </a:r>
            <a:r>
              <a:rPr sz="1350" b="1" spc="5" dirty="0">
                <a:latin typeface="Arial" panose="020B0604020202020204"/>
                <a:cs typeface="Arial" panose="020B0604020202020204"/>
              </a:rPr>
              <a:t>-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26616" y="2672727"/>
            <a:ext cx="1512570" cy="194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470">
              <a:lnSpc>
                <a:spcPts val="2035"/>
              </a:lnSpc>
            </a:pPr>
            <a:r>
              <a:rPr sz="17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ma</a:t>
            </a:r>
            <a:r>
              <a:rPr sz="1700" b="1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1700" b="1" spc="-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 indent="64770">
              <a:lnSpc>
                <a:spcPts val="2035"/>
              </a:lnSpc>
            </a:pPr>
            <a:r>
              <a:rPr sz="17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{</a:t>
            </a:r>
            <a:r>
              <a:rPr sz="17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1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1700" b="1" spc="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ho</a:t>
            </a:r>
            <a:r>
              <a:rPr sz="17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am</a:t>
            </a:r>
            <a:r>
              <a:rPr sz="1700" b="1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700" b="1" spc="-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();}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2035"/>
              </a:lnSpc>
              <a:spcBef>
                <a:spcPts val="1275"/>
              </a:spcBef>
            </a:pP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ho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am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()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35"/>
              </a:lnSpc>
            </a:pP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{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31445">
              <a:lnSpc>
                <a:spcPts val="2035"/>
              </a:lnSpc>
            </a:pP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f(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100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,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8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;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}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4303782" y="1885420"/>
          <a:ext cx="2284730" cy="43573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72506"/>
              </a:tblGrid>
              <a:tr h="1038577">
                <a:tc>
                  <a:txBody>
                    <a:bodyPr/>
                    <a:lstStyle/>
                    <a:p>
                      <a:pPr marL="138430">
                        <a:lnSpc>
                          <a:spcPts val="2035"/>
                        </a:lnSpc>
                      </a:pPr>
                      <a:r>
                        <a:rPr sz="1700" b="1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ma</a:t>
                      </a:r>
                      <a:r>
                        <a:rPr sz="1700" b="1" spc="-5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sz="1700" b="1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n</a:t>
                      </a:r>
                      <a:r>
                        <a:rPr sz="1700" b="1" spc="-5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(</a:t>
                      </a:r>
                      <a:r>
                        <a:rPr sz="1700" b="1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)</a:t>
                      </a:r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marL="376555" marR="800735" indent="-238125">
                        <a:lnSpc>
                          <a:spcPts val="2030"/>
                        </a:lnSpc>
                        <a:spcBef>
                          <a:spcPts val="70"/>
                        </a:spcBef>
                        <a:tabLst>
                          <a:tab pos="400685" algn="l"/>
                        </a:tabLst>
                      </a:pPr>
                      <a:r>
                        <a:rPr sz="1700" b="1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{</a:t>
                      </a:r>
                      <a:r>
                        <a:rPr sz="1700" b="1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		</a:t>
                      </a:r>
                      <a:r>
                        <a:rPr sz="1700" b="1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eax</a:t>
                      </a:r>
                      <a:r>
                        <a:rPr sz="1700" b="1" spc="-5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700" b="1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=</a:t>
                      </a:r>
                      <a:r>
                        <a:rPr sz="1700" b="1" spc="-1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700" b="1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72</a:t>
                      </a:r>
                      <a:r>
                        <a:rPr sz="1700" b="1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;</a:t>
                      </a:r>
                      <a:r>
                        <a:rPr sz="1700" b="1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700" b="1" spc="-5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sz="1700" b="1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n</a:t>
                      </a:r>
                      <a:r>
                        <a:rPr sz="1700" b="1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t</a:t>
                      </a:r>
                      <a:r>
                        <a:rPr sz="1700" b="1" spc="-1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700" b="1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0x80</a:t>
                      </a:r>
                      <a:r>
                        <a:rPr sz="1700" b="1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;</a:t>
                      </a:r>
                      <a:r>
                        <a:rPr sz="1700" b="1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700" b="1" spc="-15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700" b="1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}</a:t>
                      </a:r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8114">
                      <a:solidFill>
                        <a:srgbClr val="000000"/>
                      </a:solidFill>
                      <a:prstDash val="solid"/>
                    </a:lnL>
                    <a:lnR w="8114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28044">
                <a:tc>
                  <a:txBody>
                    <a:bodyPr/>
                    <a:lstStyle/>
                    <a:p>
                      <a:pPr marL="203200" marR="105410" indent="-130175">
                        <a:lnSpc>
                          <a:spcPct val="150000"/>
                        </a:lnSpc>
                      </a:pPr>
                      <a:r>
                        <a:rPr sz="1700" b="1" dirty="0">
                          <a:latin typeface="Courier New" panose="02070309020205020404"/>
                          <a:cs typeface="Courier New" panose="02070309020205020404"/>
                        </a:rPr>
                        <a:t>_system_call: call</a:t>
                      </a:r>
                      <a:r>
                        <a:rPr sz="1700" b="1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700" b="1" dirty="0">
                          <a:latin typeface="Courier New" panose="02070309020205020404"/>
                          <a:cs typeface="Courier New" panose="02070309020205020404"/>
                        </a:rPr>
                        <a:t>sys_whoami</a:t>
                      </a:r>
                      <a:endParaRPr sz="1700">
                        <a:latin typeface="Courier New" panose="02070309020205020404"/>
                        <a:cs typeface="Courier New" panose="02070309020205020404"/>
                      </a:endParaRPr>
                    </a:p>
                    <a:p>
                      <a:pPr marL="73660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sz="1700" b="1" dirty="0">
                          <a:latin typeface="Courier New" panose="02070309020205020404"/>
                          <a:cs typeface="Courier New" panose="02070309020205020404"/>
                        </a:rPr>
                        <a:t>//sys_call_table</a:t>
                      </a:r>
                      <a:endParaRPr sz="1700">
                        <a:latin typeface="Courier New" panose="02070309020205020404"/>
                        <a:cs typeface="Courier New" panose="02070309020205020404"/>
                      </a:endParaRPr>
                    </a:p>
                    <a:p>
                      <a:pPr marL="7366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700" b="1" dirty="0">
                          <a:latin typeface="Courier New" panose="02070309020205020404"/>
                          <a:cs typeface="Courier New" panose="02070309020205020404"/>
                        </a:rPr>
                        <a:t>+</a:t>
                      </a:r>
                      <a:r>
                        <a:rPr sz="1700" b="1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700" b="1" dirty="0">
                          <a:latin typeface="Courier New" panose="02070309020205020404"/>
                          <a:cs typeface="Courier New" panose="02070309020205020404"/>
                        </a:rPr>
                        <a:t>eax*4</a:t>
                      </a:r>
                      <a:endParaRPr sz="17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8114">
                      <a:solidFill>
                        <a:srgbClr val="000000"/>
                      </a:solidFill>
                      <a:prstDash val="solid"/>
                    </a:lnL>
                    <a:lnR w="8114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82422">
                <a:tc>
                  <a:txBody>
                    <a:bodyPr/>
                    <a:lstStyle/>
                    <a:p>
                      <a:pPr marL="73660">
                        <a:lnSpc>
                          <a:spcPts val="2035"/>
                        </a:lnSpc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sys_</a:t>
                      </a:r>
                      <a:r>
                        <a:rPr sz="1700" b="1" spc="-5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w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ho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am</a:t>
                      </a:r>
                      <a:r>
                        <a:rPr sz="1700" b="1" spc="-5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sz="1700" b="1" spc="-5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(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)</a:t>
                      </a:r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marL="73660">
                        <a:lnSpc>
                          <a:spcPts val="2035"/>
                        </a:lnSpc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{</a:t>
                      </a:r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marL="252095">
                        <a:lnSpc>
                          <a:spcPts val="2035"/>
                        </a:lnSpc>
                      </a:pPr>
                      <a:r>
                        <a:rPr sz="1700" b="1" spc="5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1700" b="1" spc="-5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1700" b="1" spc="-5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sz="1700" b="1" spc="5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n</a:t>
                      </a:r>
                      <a:r>
                        <a:rPr sz="1700" b="1" spc="-5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t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k</a:t>
                      </a:r>
                      <a:r>
                        <a:rPr sz="1700" b="1" spc="-5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(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100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,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8</a:t>
                      </a:r>
                      <a:r>
                        <a:rPr sz="1700" b="1" spc="-5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)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;</a:t>
                      </a:r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marL="7366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}</a:t>
                      </a:r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4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73660">
                        <a:lnSpc>
                          <a:spcPct val="100000"/>
                        </a:lnSpc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“</a:t>
                      </a:r>
                      <a:r>
                        <a:rPr lang="en-US" sz="1700" b="1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  <a:sym typeface="+mn-ea"/>
                        </a:rPr>
                        <a:t>zhipeng cheng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”</a:t>
                      </a:r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8114">
                      <a:solidFill>
                        <a:srgbClr val="000000"/>
                      </a:solidFill>
                      <a:prstDash val="solid"/>
                    </a:lnL>
                    <a:lnR w="8114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1010" name="标题 171009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zh-CN" altLang="en-US" dirty="0"/>
              <a:t>系统接口总结</a:t>
            </a:r>
            <a:endParaRPr lang="zh-CN" altLang="en-US" dirty="0"/>
          </a:p>
        </p:txBody>
      </p:sp>
      <p:pic>
        <p:nvPicPr>
          <p:cNvPr id="171012" name="图片 171011" descr="j02977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2872" y="0"/>
            <a:ext cx="1091494" cy="134337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1013" name="矩形 171012"/>
          <p:cNvSpPr/>
          <p:nvPr/>
        </p:nvSpPr>
        <p:spPr>
          <a:xfrm>
            <a:off x="648376" y="1161462"/>
            <a:ext cx="8728457" cy="953309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zh-CN" altLang="en-US" sz="2645" dirty="0"/>
              <a:t>对于用户来说</a:t>
            </a:r>
            <a:r>
              <a:rPr lang="zh-CN" altLang="en-US" sz="2645"/>
              <a:t> </a:t>
            </a:r>
            <a:r>
              <a:rPr lang="en-US" altLang="zh-CN" sz="2645">
                <a:sym typeface="Symbol" panose="05050102010706020507" pitchFamily="18" charset="2"/>
              </a:rPr>
              <a:t> </a:t>
            </a:r>
            <a:r>
              <a:rPr lang="zh-CN" altLang="en-US" sz="2645" dirty="0">
                <a:sym typeface="Symbol" panose="05050102010706020507" pitchFamily="18" charset="2"/>
              </a:rPr>
              <a:t>操作系统是个“黑盒子”</a:t>
            </a:r>
            <a:endParaRPr lang="zh-CN" altLang="en-US" sz="2645" dirty="0">
              <a:solidFill>
                <a:srgbClr val="FF0000"/>
              </a:solidFill>
            </a:endParaRPr>
          </a:p>
        </p:txBody>
      </p:sp>
      <p:sp>
        <p:nvSpPr>
          <p:cNvPr id="171015" name="矩形 171014"/>
          <p:cNvSpPr/>
          <p:nvPr/>
        </p:nvSpPr>
        <p:spPr>
          <a:xfrm>
            <a:off x="644878" y="1847144"/>
            <a:ext cx="9487606" cy="953309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zh-CN" altLang="en-US" sz="2645" dirty="0">
                <a:sym typeface="Symbol" panose="05050102010706020507" pitchFamily="18" charset="2"/>
              </a:rPr>
              <a:t>要打开这个盒子</a:t>
            </a:r>
            <a:r>
              <a:rPr lang="zh-CN" altLang="en-US" sz="2645">
                <a:sym typeface="Symbol" panose="05050102010706020507" pitchFamily="18" charset="2"/>
              </a:rPr>
              <a:t> </a:t>
            </a:r>
            <a:r>
              <a:rPr lang="en-US" altLang="zh-CN" sz="2645">
                <a:sym typeface="Symbol" panose="05050102010706020507" pitchFamily="18" charset="2"/>
              </a:rPr>
              <a:t> </a:t>
            </a:r>
            <a:r>
              <a:rPr lang="zh-CN" altLang="en-US" sz="2645" dirty="0">
                <a:sym typeface="Symbol" panose="05050102010706020507" pitchFamily="18" charset="2"/>
              </a:rPr>
              <a:t>先得找到“盒子的入口” </a:t>
            </a:r>
            <a:r>
              <a:rPr lang="en-US" altLang="zh-CN" sz="2645">
                <a:sym typeface="Symbol" panose="05050102010706020507" pitchFamily="18" charset="2"/>
              </a:rPr>
              <a:t> </a:t>
            </a:r>
            <a:r>
              <a:rPr lang="zh-CN" altLang="en-US" sz="2645" dirty="0">
                <a:sym typeface="Symbol" panose="05050102010706020507" pitchFamily="18" charset="2"/>
              </a:rPr>
              <a:t>系统接口</a:t>
            </a:r>
            <a:endParaRPr lang="zh-CN" altLang="en-US" sz="2645">
              <a:sym typeface="Symbol" panose="05050102010706020507" pitchFamily="18" charset="2"/>
            </a:endParaRPr>
          </a:p>
        </p:txBody>
      </p:sp>
      <p:sp>
        <p:nvSpPr>
          <p:cNvPr id="171017" name="矩形 171016"/>
          <p:cNvSpPr/>
          <p:nvPr/>
        </p:nvSpPr>
        <p:spPr>
          <a:xfrm>
            <a:off x="644878" y="2518833"/>
            <a:ext cx="9487606" cy="953309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zh-CN" altLang="en-US" sz="2645" dirty="0">
                <a:sym typeface="Symbol" panose="05050102010706020507" pitchFamily="18" charset="2"/>
              </a:rPr>
              <a:t>接口</a:t>
            </a:r>
            <a:r>
              <a:rPr lang="en-US" altLang="zh-CN" sz="2645">
                <a:sym typeface="Symbol" panose="05050102010706020507" pitchFamily="18" charset="2"/>
              </a:rPr>
              <a:t>: </a:t>
            </a:r>
            <a:r>
              <a:rPr lang="zh-CN" altLang="en-US" sz="2645" dirty="0">
                <a:sym typeface="Symbol" panose="05050102010706020507" pitchFamily="18" charset="2"/>
              </a:rPr>
              <a:t>连接两个设备并转换数据</a:t>
            </a:r>
            <a:r>
              <a:rPr lang="zh-CN" altLang="en-US" sz="2645">
                <a:sym typeface="Symbol" panose="05050102010706020507" pitchFamily="18" charset="2"/>
              </a:rPr>
              <a:t> </a:t>
            </a:r>
            <a:r>
              <a:rPr lang="en-US" altLang="zh-CN" sz="2645">
                <a:sym typeface="Symbol" panose="05050102010706020507" pitchFamily="18" charset="2"/>
              </a:rPr>
              <a:t> </a:t>
            </a:r>
            <a:r>
              <a:rPr lang="zh-CN" altLang="en-US" sz="2645" dirty="0">
                <a:sym typeface="Symbol" panose="05050102010706020507" pitchFamily="18" charset="2"/>
              </a:rPr>
              <a:t>系统接口连接用户和</a:t>
            </a:r>
            <a:r>
              <a:rPr lang="en-US" altLang="zh-CN" sz="2645">
                <a:sym typeface="Symbol" panose="05050102010706020507" pitchFamily="18" charset="2"/>
              </a:rPr>
              <a:t>OS</a:t>
            </a:r>
            <a:endParaRPr lang="zh-CN" altLang="zh-CN" sz="2645" dirty="0">
              <a:sym typeface="Symbol" panose="05050102010706020507" pitchFamily="18" charset="2"/>
            </a:endParaRPr>
          </a:p>
        </p:txBody>
      </p:sp>
      <p:sp>
        <p:nvSpPr>
          <p:cNvPr id="171018" name="矩形 171017"/>
          <p:cNvSpPr/>
          <p:nvPr/>
        </p:nvSpPr>
        <p:spPr>
          <a:xfrm>
            <a:off x="644878" y="3160787"/>
            <a:ext cx="9487606" cy="95330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zh-CN" altLang="en-US" sz="2645" dirty="0">
                <a:sym typeface="Symbol" panose="05050102010706020507" pitchFamily="18" charset="2"/>
              </a:rPr>
              <a:t>学习转换 </a:t>
            </a:r>
            <a:r>
              <a:rPr lang="en-US" altLang="zh-CN" sz="2645" dirty="0">
                <a:sym typeface="Symbol" panose="05050102010706020507" pitchFamily="18" charset="2"/>
              </a:rPr>
              <a:t> </a:t>
            </a:r>
            <a:r>
              <a:rPr lang="zh-CN" altLang="en-US" sz="2645" dirty="0">
                <a:sym typeface="Symbol" panose="05050102010706020507" pitchFamily="18" charset="2"/>
              </a:rPr>
              <a:t>转换之前</a:t>
            </a:r>
            <a:r>
              <a:rPr lang="en-US" altLang="zh-CN" sz="2645">
                <a:sym typeface="Symbol" panose="05050102010706020507" pitchFamily="18" charset="2"/>
              </a:rPr>
              <a:t>:</a:t>
            </a:r>
            <a:r>
              <a:rPr lang="zh-CN" altLang="en-US" sz="2645" dirty="0">
                <a:sym typeface="Symbol" panose="05050102010706020507" pitchFamily="18" charset="2"/>
              </a:rPr>
              <a:t>用户如何使用计算机</a:t>
            </a:r>
            <a:r>
              <a:rPr lang="en-US" altLang="zh-CN" sz="2645">
                <a:sym typeface="Symbol" panose="05050102010706020507" pitchFamily="18" charset="2"/>
              </a:rPr>
              <a:t>?</a:t>
            </a:r>
            <a:endParaRPr lang="en-US" altLang="zh-CN" sz="2645">
              <a:sym typeface="Symbol" panose="05050102010706020507" pitchFamily="18" charset="2"/>
            </a:endParaRPr>
          </a:p>
        </p:txBody>
      </p:sp>
      <p:sp>
        <p:nvSpPr>
          <p:cNvPr id="171019" name="矩形 171018"/>
          <p:cNvSpPr/>
          <p:nvPr/>
        </p:nvSpPr>
        <p:spPr>
          <a:xfrm>
            <a:off x="644878" y="3862211"/>
            <a:ext cx="9487606" cy="953309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zh-CN" altLang="en-US" sz="2645" dirty="0">
                <a:sym typeface="Symbol" panose="05050102010706020507" pitchFamily="18" charset="2"/>
              </a:rPr>
              <a:t>命令、</a:t>
            </a:r>
            <a:r>
              <a:rPr lang="en-US" altLang="zh-CN" sz="2645">
                <a:sym typeface="Symbol" panose="05050102010706020507" pitchFamily="18" charset="2"/>
              </a:rPr>
              <a:t>GUI</a:t>
            </a:r>
            <a:r>
              <a:rPr lang="zh-CN" altLang="en-US" sz="2645" dirty="0">
                <a:sym typeface="Symbol" panose="05050102010706020507" pitchFamily="18" charset="2"/>
              </a:rPr>
              <a:t>、</a:t>
            </a:r>
            <a:r>
              <a:rPr lang="en-US" altLang="zh-CN" sz="2645">
                <a:sym typeface="Symbol" panose="05050102010706020507" pitchFamily="18" charset="2"/>
              </a:rPr>
              <a:t>Apps  </a:t>
            </a:r>
            <a:r>
              <a:rPr lang="zh-CN" altLang="en-US" sz="2645" dirty="0">
                <a:sym typeface="Symbol" panose="05050102010706020507" pitchFamily="18" charset="2"/>
              </a:rPr>
              <a:t>都是应用</a:t>
            </a:r>
            <a:r>
              <a:rPr lang="en-US" altLang="zh-CN" sz="2645">
                <a:sym typeface="Symbol" panose="05050102010706020507" pitchFamily="18" charset="2"/>
              </a:rPr>
              <a:t>OS</a:t>
            </a:r>
            <a:r>
              <a:rPr lang="zh-CN" altLang="en-US" sz="2645" dirty="0">
                <a:sym typeface="Symbol" panose="05050102010706020507" pitchFamily="18" charset="2"/>
              </a:rPr>
              <a:t>提供的函数接口编程序</a:t>
            </a:r>
            <a:endParaRPr lang="zh-CN" altLang="en-US" sz="2645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171020" name="矩形 171019"/>
          <p:cNvSpPr/>
          <p:nvPr/>
        </p:nvSpPr>
        <p:spPr>
          <a:xfrm>
            <a:off x="644878" y="5205589"/>
            <a:ext cx="9487606" cy="953309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zh-CN" altLang="en-US" sz="2645" dirty="0">
                <a:sym typeface="Symbol" panose="05050102010706020507" pitchFamily="18" charset="2"/>
              </a:rPr>
              <a:t>系统调用有哪些</a:t>
            </a:r>
            <a:r>
              <a:rPr lang="en-US" altLang="zh-CN" sz="2645">
                <a:sym typeface="Symbol" panose="05050102010706020507" pitchFamily="18" charset="2"/>
              </a:rPr>
              <a:t>?  </a:t>
            </a:r>
            <a:r>
              <a:rPr lang="en-US" altLang="zh-CN" sz="2645">
                <a:solidFill>
                  <a:srgbClr val="FF0000"/>
                </a:solidFill>
                <a:sym typeface="Symbol" panose="05050102010706020507" pitchFamily="18" charset="2"/>
              </a:rPr>
              <a:t>POSIX</a:t>
            </a:r>
            <a:endParaRPr lang="en-US" altLang="zh-CN" sz="2645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171022" name="矩形 171021"/>
          <p:cNvSpPr/>
          <p:nvPr/>
        </p:nvSpPr>
        <p:spPr>
          <a:xfrm>
            <a:off x="644878" y="4533900"/>
            <a:ext cx="9487606" cy="953309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en-US" altLang="zh-CN" sz="2645">
                <a:sym typeface="Symbol" panose="05050102010706020507" pitchFamily="18" charset="2"/>
              </a:rPr>
              <a:t>OS</a:t>
            </a:r>
            <a:r>
              <a:rPr lang="zh-CN" altLang="en-US" sz="2645" dirty="0">
                <a:sym typeface="Symbol" panose="05050102010706020507" pitchFamily="18" charset="2"/>
              </a:rPr>
              <a:t>提供的函数</a:t>
            </a:r>
            <a:r>
              <a:rPr lang="zh-CN" altLang="en-US" sz="2645">
                <a:sym typeface="Symbol" panose="05050102010706020507" pitchFamily="18" charset="2"/>
              </a:rPr>
              <a:t> </a:t>
            </a:r>
            <a:r>
              <a:rPr lang="en-US" altLang="zh-CN" sz="2645">
                <a:sym typeface="Symbol" panose="05050102010706020507" pitchFamily="18" charset="2"/>
              </a:rPr>
              <a:t> </a:t>
            </a:r>
            <a:r>
              <a:rPr lang="zh-CN" altLang="en-US" sz="2645" dirty="0">
                <a:solidFill>
                  <a:srgbClr val="FF0000"/>
                </a:solidFill>
                <a:sym typeface="Symbol" panose="05050102010706020507" pitchFamily="18" charset="2"/>
              </a:rPr>
              <a:t>系统调用 </a:t>
            </a:r>
            <a:r>
              <a:rPr lang="en-US" altLang="zh-CN" sz="2645">
                <a:sym typeface="Symbol" panose="05050102010706020507" pitchFamily="18" charset="2"/>
              </a:rPr>
              <a:t> </a:t>
            </a:r>
            <a:r>
              <a:rPr lang="zh-CN" altLang="en-US" sz="2645" dirty="0">
                <a:sym typeface="Symbol" panose="05050102010706020507" pitchFamily="18" charset="2"/>
              </a:rPr>
              <a:t>系统调用有哪些</a:t>
            </a:r>
            <a:r>
              <a:rPr lang="en-US" altLang="zh-CN" sz="2645">
                <a:sym typeface="Symbol" panose="05050102010706020507" pitchFamily="18" charset="2"/>
              </a:rPr>
              <a:t>?</a:t>
            </a:r>
            <a:r>
              <a:rPr lang="zh-CN" altLang="en-US" sz="2645" dirty="0">
                <a:sym typeface="Symbol" panose="05050102010706020507" pitchFamily="18" charset="2"/>
              </a:rPr>
              <a:t>怎么做</a:t>
            </a:r>
            <a:r>
              <a:rPr lang="en-US" altLang="zh-CN" sz="2645">
                <a:sym typeface="Symbol" panose="05050102010706020507" pitchFamily="18" charset="2"/>
              </a:rPr>
              <a:t>?</a:t>
            </a:r>
            <a:endParaRPr lang="en-US" altLang="zh-CN" sz="2645">
              <a:sym typeface="Symbol" panose="05050102010706020507" pitchFamily="18" charset="2"/>
            </a:endParaRPr>
          </a:p>
        </p:txBody>
      </p:sp>
      <p:sp>
        <p:nvSpPr>
          <p:cNvPr id="171024" name="矩形 171023"/>
          <p:cNvSpPr/>
          <p:nvPr/>
        </p:nvSpPr>
        <p:spPr>
          <a:xfrm>
            <a:off x="644878" y="5847542"/>
            <a:ext cx="9487606" cy="95330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zh-CN" altLang="en-US" sz="2645" dirty="0">
                <a:sym typeface="Symbol" panose="05050102010706020507" pitchFamily="18" charset="2"/>
              </a:rPr>
              <a:t>系统调用怎么实现</a:t>
            </a:r>
            <a:r>
              <a:rPr lang="en-US" altLang="zh-CN" sz="2645">
                <a:sym typeface="Symbol" panose="05050102010706020507" pitchFamily="18" charset="2"/>
              </a:rPr>
              <a:t>?  </a:t>
            </a:r>
            <a:r>
              <a:rPr lang="zh-CN" altLang="en-US" sz="2645" dirty="0">
                <a:solidFill>
                  <a:srgbClr val="FF0000"/>
                </a:solidFill>
                <a:sym typeface="Symbol" panose="05050102010706020507" pitchFamily="18" charset="2"/>
              </a:rPr>
              <a:t>用户函数展成</a:t>
            </a:r>
            <a:r>
              <a:rPr lang="en-US" altLang="zh-CN" sz="2645" err="1">
                <a:solidFill>
                  <a:srgbClr val="FF0000"/>
                </a:solidFill>
                <a:sym typeface="Symbol" panose="05050102010706020507" pitchFamily="18" charset="2"/>
              </a:rPr>
              <a:t>int</a:t>
            </a:r>
            <a:r>
              <a:rPr lang="zh-CN" altLang="en-US" sz="2645" dirty="0">
                <a:solidFill>
                  <a:srgbClr val="FF0000"/>
                </a:solidFill>
                <a:sym typeface="Symbol" panose="05050102010706020507" pitchFamily="18" charset="2"/>
              </a:rPr>
              <a:t>指令进入内核</a:t>
            </a:r>
            <a:endParaRPr lang="zh-CN" altLang="en-US" sz="2645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171025" name="矩形 171024"/>
          <p:cNvSpPr/>
          <p:nvPr/>
        </p:nvSpPr>
        <p:spPr>
          <a:xfrm>
            <a:off x="644878" y="6519231"/>
            <a:ext cx="9487606" cy="7014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en-US" altLang="zh-CN" sz="2645" err="1">
                <a:solidFill>
                  <a:srgbClr val="FF0000"/>
                </a:solidFill>
                <a:sym typeface="Symbol" panose="05050102010706020507" pitchFamily="18" charset="2"/>
              </a:rPr>
              <a:t>printfwriteint</a:t>
            </a:r>
            <a:r>
              <a:rPr lang="en-US" altLang="zh-CN" sz="2645">
                <a:solidFill>
                  <a:srgbClr val="FF0000"/>
                </a:solidFill>
                <a:sym typeface="Symbol" panose="05050102010706020507" pitchFamily="18" charset="2"/>
              </a:rPr>
              <a:t> 0x80(eax=4)system_callsys_write</a:t>
            </a:r>
            <a:r>
              <a:rPr lang="en-US" altLang="zh-CN" sz="2645">
                <a:sym typeface="Symbol" panose="05050102010706020507" pitchFamily="18" charset="2"/>
              </a:rPr>
              <a:t> </a:t>
            </a:r>
            <a:endParaRPr lang="en-US" altLang="zh-CN" sz="2645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1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1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1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71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71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71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7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7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3" grpId="0"/>
      <p:bldP spid="171015" grpId="0"/>
      <p:bldP spid="171017" grpId="0"/>
      <p:bldP spid="171018" grpId="0"/>
      <p:bldP spid="171019" grpId="0"/>
      <p:bldP spid="171020" grpId="0"/>
      <p:bldP spid="171022" grpId="0"/>
      <p:bldP spid="171024" grpId="0"/>
      <p:bldP spid="171025" grpId="0" bldLvl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89159" y="1736706"/>
            <a:ext cx="306070" cy="306070"/>
          </a:xfrm>
          <a:custGeom>
            <a:avLst/>
            <a:gdLst/>
            <a:ahLst/>
            <a:cxnLst/>
            <a:rect l="l" t="t" r="r" b="b"/>
            <a:pathLst>
              <a:path w="306070" h="306069">
                <a:moveTo>
                  <a:pt x="297974" y="38249"/>
                </a:moveTo>
                <a:lnTo>
                  <a:pt x="38259" y="297893"/>
                </a:lnTo>
                <a:lnTo>
                  <a:pt x="45911" y="305544"/>
                </a:lnTo>
                <a:lnTo>
                  <a:pt x="305626" y="45899"/>
                </a:lnTo>
                <a:lnTo>
                  <a:pt x="297974" y="38249"/>
                </a:lnTo>
                <a:close/>
              </a:path>
              <a:path w="306070" h="306069">
                <a:moveTo>
                  <a:pt x="275018" y="15299"/>
                </a:moveTo>
                <a:lnTo>
                  <a:pt x="15303" y="274943"/>
                </a:lnTo>
                <a:lnTo>
                  <a:pt x="30607" y="290243"/>
                </a:lnTo>
                <a:lnTo>
                  <a:pt x="290322" y="30599"/>
                </a:lnTo>
                <a:lnTo>
                  <a:pt x="275018" y="15299"/>
                </a:lnTo>
                <a:close/>
              </a:path>
              <a:path w="306070" h="306069">
                <a:moveTo>
                  <a:pt x="259715" y="0"/>
                </a:moveTo>
                <a:lnTo>
                  <a:pt x="0" y="259643"/>
                </a:lnTo>
                <a:lnTo>
                  <a:pt x="7651" y="267294"/>
                </a:lnTo>
                <a:lnTo>
                  <a:pt x="267366" y="7650"/>
                </a:lnTo>
                <a:lnTo>
                  <a:pt x="259715" y="0"/>
                </a:lnTo>
                <a:close/>
              </a:path>
            </a:pathLst>
          </a:custGeom>
          <a:solidFill>
            <a:srgbClr val="99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71830" y="1786702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10819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71830" y="1759656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21638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71830" y="1732609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10819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905635" y="2031365"/>
            <a:ext cx="7117080" cy="31826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2338705" algn="l"/>
                <a:tab pos="5048885" algn="l"/>
              </a:tabLst>
            </a:pPr>
            <a:r>
              <a:rPr sz="5925" b="1" spc="195" baseline="4000" dirty="0">
                <a:solidFill>
                  <a:srgbClr val="0033CC"/>
                </a:solidFill>
                <a:latin typeface="华文琥珀" panose="02010800040101010101" charset="-122"/>
                <a:cs typeface="华文琥珀" panose="02010800040101010101" charset="-122"/>
              </a:rPr>
              <a:t>操作系</a:t>
            </a:r>
            <a:r>
              <a:rPr sz="5925" b="1" spc="217" baseline="4000" dirty="0">
                <a:solidFill>
                  <a:srgbClr val="0033CC"/>
                </a:solidFill>
                <a:latin typeface="华文琥珀" panose="02010800040101010101" charset="-122"/>
                <a:cs typeface="华文琥珀" panose="02010800040101010101" charset="-122"/>
              </a:rPr>
              <a:t>统</a:t>
            </a:r>
            <a:r>
              <a:rPr sz="5925" b="1" baseline="4000" dirty="0">
                <a:solidFill>
                  <a:srgbClr val="0033CC"/>
                </a:solidFill>
                <a:latin typeface="华文琥珀" panose="02010800040101010101" charset="-122"/>
                <a:cs typeface="华文琥珀" panose="02010800040101010101" charset="-122"/>
              </a:rPr>
              <a:t>	</a:t>
            </a:r>
            <a:r>
              <a:rPr sz="4600" b="1" spc="-10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p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er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4600" b="1" spc="-10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g	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m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endParaRPr sz="4600" b="1" dirty="0">
              <a:solidFill>
                <a:srgbClr val="0033CC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tabLst>
                <a:tab pos="2338705" algn="l"/>
                <a:tab pos="5048885" algn="l"/>
              </a:tabLst>
            </a:pPr>
            <a:endParaRPr sz="4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lang="en-US" sz="5100" b="1" spc="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  <a:sym typeface="+mn-ea"/>
              </a:rPr>
              <a:t>     </a:t>
            </a:r>
            <a:r>
              <a:rPr sz="5100" b="1" spc="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  <a:sym typeface="+mn-ea"/>
              </a:rPr>
              <a:t>L6</a:t>
            </a:r>
            <a:r>
              <a:rPr sz="5100" b="1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  <a:sym typeface="+mn-ea"/>
              </a:rPr>
              <a:t>.</a:t>
            </a:r>
            <a:r>
              <a:rPr sz="5100" b="1" spc="10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  <a:sym typeface="+mn-ea"/>
              </a:rPr>
              <a:t> </a:t>
            </a:r>
            <a:r>
              <a:rPr sz="5100" b="1" spc="14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  <a:sym typeface="+mn-ea"/>
              </a:rPr>
              <a:t>操作系统历</a:t>
            </a:r>
            <a:r>
              <a:rPr sz="5100" b="1" spc="13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  <a:sym typeface="+mn-ea"/>
              </a:rPr>
              <a:t>史</a:t>
            </a:r>
            <a:endParaRPr sz="5100">
              <a:latin typeface="黑体" panose="02010609060101010101" charset="-122"/>
              <a:cs typeface="黑体" panose="02010609060101010101" charset="-122"/>
            </a:endParaRPr>
          </a:p>
          <a:p>
            <a:pPr marL="2233295">
              <a:lnSpc>
                <a:spcPct val="100000"/>
              </a:lnSpc>
              <a:spcBef>
                <a:spcPts val="2680"/>
              </a:spcBef>
            </a:pPr>
            <a:r>
              <a:rPr lang="en-US" sz="34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   </a:t>
            </a:r>
            <a:r>
              <a:rPr sz="3400" b="1" dirty="0">
                <a:latin typeface="Times New Roman" panose="02020603050405020304"/>
                <a:cs typeface="Times New Roman" panose="02020603050405020304"/>
                <a:sym typeface="+mn-ea"/>
              </a:rPr>
              <a:t>Hi</a:t>
            </a:r>
            <a:r>
              <a:rPr sz="3400" b="1" spc="5" dirty="0">
                <a:latin typeface="Times New Roman" panose="02020603050405020304"/>
                <a:cs typeface="Times New Roman" panose="02020603050405020304"/>
                <a:sym typeface="+mn-ea"/>
              </a:rPr>
              <a:t>st</a:t>
            </a:r>
            <a:r>
              <a:rPr sz="3400" b="1" dirty="0">
                <a:latin typeface="Times New Roman" panose="02020603050405020304"/>
                <a:cs typeface="Times New Roman" panose="02020603050405020304"/>
                <a:sym typeface="+mn-ea"/>
              </a:rPr>
              <a:t>o</a:t>
            </a:r>
            <a:r>
              <a:rPr sz="34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r</a:t>
            </a:r>
            <a:r>
              <a:rPr sz="3400" b="1" dirty="0">
                <a:latin typeface="Times New Roman" panose="02020603050405020304"/>
                <a:cs typeface="Times New Roman" panose="02020603050405020304"/>
                <a:sym typeface="+mn-ea"/>
              </a:rPr>
              <a:t>y</a:t>
            </a:r>
            <a:r>
              <a:rPr sz="3400" b="1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3400" b="1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z="3400" b="1" spc="5" dirty="0">
                <a:latin typeface="Times New Roman" panose="02020603050405020304"/>
                <a:cs typeface="Times New Roman" panose="02020603050405020304"/>
                <a:sym typeface="+mn-ea"/>
              </a:rPr>
              <a:t> OS</a:t>
            </a:r>
            <a:endParaRPr sz="3400">
              <a:latin typeface="Times New Roman" panose="02020603050405020304"/>
              <a:cs typeface="Times New Roman" panose="02020603050405020304"/>
            </a:endParaRPr>
          </a:p>
          <a:p>
            <a:pPr marL="2233295">
              <a:lnSpc>
                <a:spcPct val="100000"/>
              </a:lnSpc>
              <a:spcBef>
                <a:spcPts val="2680"/>
              </a:spcBef>
            </a:pP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"/>
          <p:cNvSpPr txBox="1"/>
          <p:nvPr>
            <p:custDataLst>
              <p:tags r:id="rId1"/>
            </p:custDataLst>
          </p:nvPr>
        </p:nvSpPr>
        <p:spPr>
          <a:xfrm>
            <a:off x="694287" y="1379513"/>
            <a:ext cx="3398520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lnSpc>
                <a:spcPct val="100000"/>
              </a:lnSpc>
            </a:pPr>
            <a:r>
              <a:rPr lang="zh-CN" altLang="en-US" sz="1950" b="1">
                <a:latin typeface="华文隶书" panose="02010800040101010101" charset="-122"/>
                <a:cs typeface="华文隶书" panose="02010800040101010101" charset="-122"/>
              </a:rPr>
              <a:t>苏州大学未来科学与工程学院</a:t>
            </a:r>
            <a:endParaRPr lang="zh-CN" altLang="en-US" sz="1950" b="1">
              <a:latin typeface="华文隶书" panose="02010800040101010101" charset="-122"/>
              <a:cs typeface="华文隶书" panose="02010800040101010101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1436" y="1214867"/>
            <a:ext cx="6581775" cy="379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0"/>
              </a:lnSpc>
              <a:tabLst>
                <a:tab pos="3842385" algn="l"/>
              </a:tabLst>
            </a:pP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培根：读史使人明智</a:t>
            </a: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操作系统的简史</a:t>
            </a:r>
            <a:endParaRPr sz="2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73774" y="3116027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73774" y="3613679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69420" y="5703006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79">
                <a:moveTo>
                  <a:pt x="81160" y="0"/>
                </a:moveTo>
                <a:lnTo>
                  <a:pt x="16232" y="16226"/>
                </a:lnTo>
                <a:lnTo>
                  <a:pt x="0" y="81137"/>
                </a:lnTo>
                <a:lnTo>
                  <a:pt x="81160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36364" y="5135033"/>
            <a:ext cx="714375" cy="649605"/>
          </a:xfrm>
          <a:custGeom>
            <a:avLst/>
            <a:gdLst/>
            <a:ahLst/>
            <a:cxnLst/>
            <a:rect l="l" t="t" r="r" b="b"/>
            <a:pathLst>
              <a:path w="714375" h="649604">
                <a:moveTo>
                  <a:pt x="633055" y="649111"/>
                </a:moveTo>
                <a:lnTo>
                  <a:pt x="649287" y="584200"/>
                </a:lnTo>
                <a:lnTo>
                  <a:pt x="714216" y="567972"/>
                </a:lnTo>
                <a:lnTo>
                  <a:pt x="633055" y="649111"/>
                </a:lnTo>
                <a:lnTo>
                  <a:pt x="0" y="649111"/>
                </a:lnTo>
                <a:lnTo>
                  <a:pt x="0" y="0"/>
                </a:lnTo>
                <a:lnTo>
                  <a:pt x="714216" y="0"/>
                </a:lnTo>
                <a:lnTo>
                  <a:pt x="714216" y="567972"/>
                </a:lnTo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683636" y="5703006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79">
                <a:moveTo>
                  <a:pt x="81160" y="0"/>
                </a:moveTo>
                <a:lnTo>
                  <a:pt x="16231" y="16226"/>
                </a:lnTo>
                <a:lnTo>
                  <a:pt x="0" y="81137"/>
                </a:lnTo>
                <a:lnTo>
                  <a:pt x="81160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50581" y="5135033"/>
            <a:ext cx="714375" cy="649605"/>
          </a:xfrm>
          <a:custGeom>
            <a:avLst/>
            <a:gdLst/>
            <a:ahLst/>
            <a:cxnLst/>
            <a:rect l="l" t="t" r="r" b="b"/>
            <a:pathLst>
              <a:path w="714375" h="649604">
                <a:moveTo>
                  <a:pt x="633055" y="649111"/>
                </a:moveTo>
                <a:lnTo>
                  <a:pt x="649287" y="584200"/>
                </a:lnTo>
                <a:lnTo>
                  <a:pt x="714216" y="567972"/>
                </a:lnTo>
                <a:lnTo>
                  <a:pt x="633055" y="649111"/>
                </a:lnTo>
                <a:lnTo>
                  <a:pt x="0" y="649111"/>
                </a:lnTo>
                <a:lnTo>
                  <a:pt x="0" y="0"/>
                </a:lnTo>
                <a:lnTo>
                  <a:pt x="714216" y="0"/>
                </a:lnTo>
                <a:lnTo>
                  <a:pt x="714216" y="567972"/>
                </a:lnTo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397852" y="5703006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79">
                <a:moveTo>
                  <a:pt x="81160" y="0"/>
                </a:moveTo>
                <a:lnTo>
                  <a:pt x="16231" y="16226"/>
                </a:lnTo>
                <a:lnTo>
                  <a:pt x="0" y="81137"/>
                </a:lnTo>
                <a:lnTo>
                  <a:pt x="81160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764797" y="5135033"/>
            <a:ext cx="714375" cy="649605"/>
          </a:xfrm>
          <a:custGeom>
            <a:avLst/>
            <a:gdLst/>
            <a:ahLst/>
            <a:cxnLst/>
            <a:rect l="l" t="t" r="r" b="b"/>
            <a:pathLst>
              <a:path w="714375" h="649604">
                <a:moveTo>
                  <a:pt x="633055" y="649111"/>
                </a:moveTo>
                <a:lnTo>
                  <a:pt x="649287" y="584200"/>
                </a:lnTo>
                <a:lnTo>
                  <a:pt x="714216" y="567972"/>
                </a:lnTo>
                <a:lnTo>
                  <a:pt x="633055" y="649111"/>
                </a:lnTo>
                <a:lnTo>
                  <a:pt x="0" y="649111"/>
                </a:lnTo>
                <a:lnTo>
                  <a:pt x="0" y="0"/>
                </a:lnTo>
                <a:lnTo>
                  <a:pt x="714216" y="0"/>
                </a:lnTo>
                <a:lnTo>
                  <a:pt x="714216" y="567972"/>
                </a:lnTo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98063" y="5311999"/>
            <a:ext cx="184467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26440" algn="l"/>
                <a:tab pos="1615440" algn="l"/>
              </a:tabLst>
            </a:pPr>
            <a:r>
              <a:rPr sz="1700" b="1" dirty="0">
                <a:latin typeface="Arial" panose="020B0604020202020204"/>
                <a:cs typeface="Arial" panose="020B0604020202020204"/>
              </a:rPr>
              <a:t>J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O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B</a:t>
            </a:r>
            <a:r>
              <a:rPr sz="1700" b="1" dirty="0">
                <a:latin typeface="Arial" panose="020B0604020202020204"/>
                <a:cs typeface="Arial" panose="020B0604020202020204"/>
              </a:rPr>
              <a:t>1</a:t>
            </a:r>
            <a:r>
              <a:rPr sz="1700" b="1" dirty="0">
                <a:latin typeface="Arial" panose="020B0604020202020204"/>
                <a:cs typeface="Arial" panose="020B0604020202020204"/>
              </a:rPr>
              <a:t>	</a:t>
            </a:r>
            <a:r>
              <a:rPr sz="1700" b="1" dirty="0">
                <a:latin typeface="Arial" panose="020B0604020202020204"/>
                <a:cs typeface="Arial" panose="020B0604020202020204"/>
              </a:rPr>
              <a:t>J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O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B</a:t>
            </a:r>
            <a:r>
              <a:rPr sz="1700" b="1" dirty="0">
                <a:latin typeface="Arial" panose="020B0604020202020204"/>
                <a:cs typeface="Arial" panose="020B0604020202020204"/>
              </a:rPr>
              <a:t>2</a:t>
            </a:r>
            <a:r>
              <a:rPr sz="1700" b="1" dirty="0">
                <a:latin typeface="Arial" panose="020B0604020202020204"/>
                <a:cs typeface="Arial" panose="020B0604020202020204"/>
              </a:rPr>
              <a:t>	</a:t>
            </a:r>
            <a:r>
              <a:rPr sz="1700" b="1" dirty="0">
                <a:latin typeface="Arial" panose="020B0604020202020204"/>
                <a:cs typeface="Arial" panose="020B0604020202020204"/>
              </a:rPr>
              <a:t>…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268979" y="4485921"/>
            <a:ext cx="1493520" cy="649605"/>
          </a:xfrm>
          <a:custGeom>
            <a:avLst/>
            <a:gdLst/>
            <a:ahLst/>
            <a:cxnLst/>
            <a:rect l="l" t="t" r="r" b="b"/>
            <a:pathLst>
              <a:path w="1493520" h="649604">
                <a:moveTo>
                  <a:pt x="0" y="0"/>
                </a:moveTo>
                <a:lnTo>
                  <a:pt x="1493361" y="0"/>
                </a:lnTo>
                <a:lnTo>
                  <a:pt x="1493361" y="649111"/>
                </a:lnTo>
                <a:lnTo>
                  <a:pt x="0" y="649111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268979" y="5135033"/>
            <a:ext cx="1493520" cy="909319"/>
          </a:xfrm>
          <a:custGeom>
            <a:avLst/>
            <a:gdLst/>
            <a:ahLst/>
            <a:cxnLst/>
            <a:rect l="l" t="t" r="r" b="b"/>
            <a:pathLst>
              <a:path w="1493520" h="909320">
                <a:moveTo>
                  <a:pt x="0" y="0"/>
                </a:moveTo>
                <a:lnTo>
                  <a:pt x="1493361" y="0"/>
                </a:lnTo>
                <a:lnTo>
                  <a:pt x="1493361" y="908755"/>
                </a:lnTo>
                <a:lnTo>
                  <a:pt x="0" y="908755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475376" y="5464436"/>
            <a:ext cx="107950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B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709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4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489835" y="5459588"/>
            <a:ext cx="755015" cy="124460"/>
          </a:xfrm>
          <a:custGeom>
            <a:avLst/>
            <a:gdLst/>
            <a:ahLst/>
            <a:cxnLst/>
            <a:rect l="l" t="t" r="r" b="b"/>
            <a:pathLst>
              <a:path w="755014" h="124460">
                <a:moveTo>
                  <a:pt x="0" y="31103"/>
                </a:moveTo>
                <a:lnTo>
                  <a:pt x="330294" y="31103"/>
                </a:lnTo>
                <a:lnTo>
                  <a:pt x="330294" y="0"/>
                </a:lnTo>
                <a:lnTo>
                  <a:pt x="754796" y="62206"/>
                </a:lnTo>
                <a:lnTo>
                  <a:pt x="330294" y="124412"/>
                </a:lnTo>
                <a:lnTo>
                  <a:pt x="330294" y="93309"/>
                </a:lnTo>
                <a:lnTo>
                  <a:pt x="0" y="93309"/>
                </a:lnTo>
                <a:lnTo>
                  <a:pt x="0" y="31103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527591" y="2480439"/>
            <a:ext cx="2478114" cy="16457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505262" y="6110242"/>
            <a:ext cx="3140075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典型代表：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B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SYS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监控系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统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273774" y="6156031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773162" y="5524500"/>
            <a:ext cx="755015" cy="124460"/>
          </a:xfrm>
          <a:custGeom>
            <a:avLst/>
            <a:gdLst/>
            <a:ahLst/>
            <a:cxnLst/>
            <a:rect l="l" t="t" r="r" b="b"/>
            <a:pathLst>
              <a:path w="755014" h="124460">
                <a:moveTo>
                  <a:pt x="0" y="31103"/>
                </a:moveTo>
                <a:lnTo>
                  <a:pt x="330294" y="31103"/>
                </a:lnTo>
                <a:lnTo>
                  <a:pt x="330294" y="0"/>
                </a:lnTo>
                <a:lnTo>
                  <a:pt x="754796" y="62206"/>
                </a:lnTo>
                <a:lnTo>
                  <a:pt x="330294" y="124412"/>
                </a:lnTo>
                <a:lnTo>
                  <a:pt x="330294" y="93309"/>
                </a:lnTo>
                <a:lnTo>
                  <a:pt x="0" y="93309"/>
                </a:lnTo>
                <a:lnTo>
                  <a:pt x="0" y="31103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446430" y="5832828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79">
                <a:moveTo>
                  <a:pt x="81160" y="0"/>
                </a:moveTo>
                <a:lnTo>
                  <a:pt x="16233" y="16228"/>
                </a:lnTo>
                <a:lnTo>
                  <a:pt x="0" y="81139"/>
                </a:lnTo>
                <a:lnTo>
                  <a:pt x="81160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552307" y="5264854"/>
            <a:ext cx="975360" cy="649605"/>
          </a:xfrm>
          <a:custGeom>
            <a:avLst/>
            <a:gdLst/>
            <a:ahLst/>
            <a:cxnLst/>
            <a:rect l="l" t="t" r="r" b="b"/>
            <a:pathLst>
              <a:path w="975359" h="649604">
                <a:moveTo>
                  <a:pt x="894123" y="649111"/>
                </a:moveTo>
                <a:lnTo>
                  <a:pt x="910356" y="584200"/>
                </a:lnTo>
                <a:lnTo>
                  <a:pt x="975284" y="567972"/>
                </a:lnTo>
                <a:lnTo>
                  <a:pt x="894123" y="649111"/>
                </a:lnTo>
                <a:lnTo>
                  <a:pt x="0" y="649111"/>
                </a:lnTo>
                <a:lnTo>
                  <a:pt x="0" y="0"/>
                </a:lnTo>
                <a:lnTo>
                  <a:pt x="975284" y="0"/>
                </a:lnTo>
                <a:lnTo>
                  <a:pt x="975284" y="567972"/>
                </a:lnTo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5918954" y="5441786"/>
            <a:ext cx="24130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…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20723" y="3901721"/>
            <a:ext cx="2567305" cy="861694"/>
          </a:xfrm>
          <a:custGeom>
            <a:avLst/>
            <a:gdLst/>
            <a:ahLst/>
            <a:cxnLst/>
            <a:rect l="l" t="t" r="r" b="b"/>
            <a:pathLst>
              <a:path w="2567304" h="861695">
                <a:moveTo>
                  <a:pt x="2272503" y="0"/>
                </a:moveTo>
                <a:lnTo>
                  <a:pt x="1401378" y="0"/>
                </a:lnTo>
                <a:lnTo>
                  <a:pt x="123076" y="174"/>
                </a:lnTo>
                <a:lnTo>
                  <a:pt x="81332" y="9368"/>
                </a:lnTo>
                <a:lnTo>
                  <a:pt x="45849" y="30824"/>
                </a:lnTo>
                <a:lnTo>
                  <a:pt x="19015" y="62153"/>
                </a:lnTo>
                <a:lnTo>
                  <a:pt x="3219" y="100969"/>
                </a:lnTo>
                <a:lnTo>
                  <a:pt x="0" y="129825"/>
                </a:lnTo>
                <a:lnTo>
                  <a:pt x="0" y="649110"/>
                </a:lnTo>
                <a:lnTo>
                  <a:pt x="9370" y="697623"/>
                </a:lnTo>
                <a:lnTo>
                  <a:pt x="30832" y="733096"/>
                </a:lnTo>
                <a:lnTo>
                  <a:pt x="62169" y="759923"/>
                </a:lnTo>
                <a:lnTo>
                  <a:pt x="100995" y="775715"/>
                </a:lnTo>
                <a:lnTo>
                  <a:pt x="129860" y="778934"/>
                </a:lnTo>
                <a:lnTo>
                  <a:pt x="1401378" y="778934"/>
                </a:lnTo>
                <a:lnTo>
                  <a:pt x="2567190" y="861696"/>
                </a:lnTo>
                <a:lnTo>
                  <a:pt x="2001969" y="778934"/>
                </a:lnTo>
                <a:lnTo>
                  <a:pt x="2279287" y="778760"/>
                </a:lnTo>
                <a:lnTo>
                  <a:pt x="2293749" y="777205"/>
                </a:lnTo>
                <a:lnTo>
                  <a:pt x="2333672" y="763658"/>
                </a:lnTo>
                <a:lnTo>
                  <a:pt x="2366537" y="738646"/>
                </a:lnTo>
                <a:lnTo>
                  <a:pt x="2389957" y="704555"/>
                </a:lnTo>
                <a:lnTo>
                  <a:pt x="2401543" y="663775"/>
                </a:lnTo>
                <a:lnTo>
                  <a:pt x="2402363" y="454376"/>
                </a:lnTo>
                <a:lnTo>
                  <a:pt x="2402189" y="123044"/>
                </a:lnTo>
                <a:lnTo>
                  <a:pt x="2392992" y="81311"/>
                </a:lnTo>
                <a:lnTo>
                  <a:pt x="2371531" y="45837"/>
                </a:lnTo>
                <a:lnTo>
                  <a:pt x="2340193" y="19010"/>
                </a:lnTo>
                <a:lnTo>
                  <a:pt x="2301367" y="3218"/>
                </a:lnTo>
                <a:lnTo>
                  <a:pt x="2287174" y="819"/>
                </a:lnTo>
                <a:lnTo>
                  <a:pt x="22725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920723" y="3901722"/>
            <a:ext cx="2567305" cy="861694"/>
          </a:xfrm>
          <a:custGeom>
            <a:avLst/>
            <a:gdLst/>
            <a:ahLst/>
            <a:cxnLst/>
            <a:rect l="l" t="t" r="r" b="b"/>
            <a:pathLst>
              <a:path w="2567304" h="861695">
                <a:moveTo>
                  <a:pt x="2402363" y="649108"/>
                </a:moveTo>
                <a:lnTo>
                  <a:pt x="2395252" y="691588"/>
                </a:lnTo>
                <a:lnTo>
                  <a:pt x="2375511" y="728173"/>
                </a:lnTo>
                <a:lnTo>
                  <a:pt x="2345529" y="756476"/>
                </a:lnTo>
                <a:lnTo>
                  <a:pt x="2307693" y="774110"/>
                </a:lnTo>
                <a:lnTo>
                  <a:pt x="2001969" y="778933"/>
                </a:lnTo>
                <a:lnTo>
                  <a:pt x="2567190" y="861695"/>
                </a:lnTo>
                <a:lnTo>
                  <a:pt x="1401378" y="778933"/>
                </a:lnTo>
                <a:lnTo>
                  <a:pt x="129860" y="778933"/>
                </a:lnTo>
                <a:lnTo>
                  <a:pt x="115188" y="778113"/>
                </a:lnTo>
                <a:lnTo>
                  <a:pt x="74397" y="766530"/>
                </a:lnTo>
                <a:lnTo>
                  <a:pt x="40298" y="743117"/>
                </a:lnTo>
                <a:lnTo>
                  <a:pt x="15279" y="710260"/>
                </a:lnTo>
                <a:lnTo>
                  <a:pt x="1729" y="670348"/>
                </a:lnTo>
                <a:lnTo>
                  <a:pt x="0" y="649111"/>
                </a:lnTo>
                <a:lnTo>
                  <a:pt x="0" y="454376"/>
                </a:lnTo>
                <a:lnTo>
                  <a:pt x="0" y="129824"/>
                </a:lnTo>
                <a:lnTo>
                  <a:pt x="819" y="115157"/>
                </a:lnTo>
                <a:lnTo>
                  <a:pt x="12405" y="74377"/>
                </a:lnTo>
                <a:lnTo>
                  <a:pt x="35825" y="40287"/>
                </a:lnTo>
                <a:lnTo>
                  <a:pt x="68691" y="15275"/>
                </a:lnTo>
                <a:lnTo>
                  <a:pt x="108614" y="1728"/>
                </a:lnTo>
                <a:lnTo>
                  <a:pt x="1401378" y="0"/>
                </a:lnTo>
                <a:lnTo>
                  <a:pt x="2001969" y="0"/>
                </a:lnTo>
                <a:lnTo>
                  <a:pt x="2272503" y="0"/>
                </a:lnTo>
                <a:lnTo>
                  <a:pt x="2287175" y="819"/>
                </a:lnTo>
                <a:lnTo>
                  <a:pt x="2327966" y="12402"/>
                </a:lnTo>
                <a:lnTo>
                  <a:pt x="2362065" y="35816"/>
                </a:lnTo>
                <a:lnTo>
                  <a:pt x="2387084" y="68672"/>
                </a:lnTo>
                <a:lnTo>
                  <a:pt x="2400634" y="108584"/>
                </a:lnTo>
                <a:lnTo>
                  <a:pt x="2402363" y="454376"/>
                </a:lnTo>
                <a:lnTo>
                  <a:pt x="2402363" y="649111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>
            <a:spLocks noGrp="1"/>
          </p:cNvSpPr>
          <p:nvPr>
            <p:ph type="body" idx="1"/>
          </p:nvPr>
        </p:nvSpPr>
        <p:spPr>
          <a:xfrm>
            <a:off x="858785" y="2001750"/>
            <a:ext cx="8975828" cy="2358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b="0" spc="40" dirty="0">
                <a:solidFill>
                  <a:srgbClr val="993300"/>
                </a:solidFill>
                <a:latin typeface="Lucida Sans" panose="020B0602030504020204"/>
                <a:cs typeface="Lucida Sans" panose="020B0602030504020204"/>
              </a:rPr>
              <a:t> </a:t>
            </a:r>
            <a:r>
              <a:rPr spc="-5" dirty="0"/>
              <a:t>(195</a:t>
            </a:r>
            <a:r>
              <a:rPr spc="-10" dirty="0"/>
              <a:t>5</a:t>
            </a:r>
            <a:r>
              <a:rPr spc="-5" dirty="0"/>
              <a:t>-</a:t>
            </a:r>
            <a:r>
              <a:rPr spc="-5" dirty="0"/>
              <a:t>1965)</a:t>
            </a:r>
            <a:r>
              <a:rPr sz="3450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计算机非常昂贵，上古神机</a:t>
            </a:r>
            <a:r>
              <a:rPr sz="2400" spc="-10" dirty="0"/>
              <a:t>IBM</a:t>
            </a:r>
            <a:r>
              <a:rPr sz="2400" spc="-5" dirty="0"/>
              <a:t>7</a:t>
            </a:r>
            <a:r>
              <a:rPr sz="2400" spc="-5" dirty="0"/>
              <a:t>09</a:t>
            </a:r>
            <a:r>
              <a:rPr sz="2400" spc="-10" dirty="0"/>
              <a:t>4</a:t>
            </a:r>
            <a:r>
              <a:rPr sz="3450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，造价在</a:t>
            </a:r>
            <a:r>
              <a:rPr sz="2400" spc="-5" dirty="0"/>
              <a:t>250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659130" indent="-354965">
              <a:lnSpc>
                <a:spcPct val="100000"/>
              </a:lnSpc>
              <a:spcBef>
                <a:spcPts val="885"/>
              </a:spcBef>
            </a:pPr>
            <a:r>
              <a:rPr sz="2300" spc="75" dirty="0">
                <a:latin typeface="宋体" panose="02010600030101010101" pitchFamily="2" charset="-122"/>
                <a:cs typeface="宋体" panose="02010600030101010101" pitchFamily="2" charset="-122"/>
              </a:rPr>
              <a:t>万美元以</a:t>
            </a:r>
            <a:r>
              <a:rPr sz="2300" spc="90" dirty="0">
                <a:latin typeface="宋体" panose="02010600030101010101" pitchFamily="2" charset="-122"/>
                <a:cs typeface="宋体" panose="02010600030101010101" pitchFamily="2" charset="-122"/>
              </a:rPr>
              <a:t>上</a:t>
            </a:r>
            <a:endParaRPr sz="23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659130" marR="4212590">
              <a:lnSpc>
                <a:spcPct val="168000"/>
              </a:lnSpc>
              <a:spcBef>
                <a:spcPts val="460"/>
              </a:spcBef>
            </a:pPr>
            <a:r>
              <a:rPr sz="1950" spc="85" dirty="0">
                <a:latin typeface="宋体" panose="02010600030101010101" pitchFamily="2" charset="-122"/>
                <a:cs typeface="宋体" panose="02010600030101010101" pitchFamily="2" charset="-122"/>
              </a:rPr>
              <a:t>计算机使用原则：只专注于计</a:t>
            </a:r>
            <a:r>
              <a:rPr sz="1950" spc="75" dirty="0">
                <a:latin typeface="宋体" panose="02010600030101010101" pitchFamily="2" charset="-122"/>
                <a:cs typeface="宋体" panose="02010600030101010101" pitchFamily="2" charset="-122"/>
              </a:rPr>
              <a:t>算</a:t>
            </a:r>
            <a:r>
              <a:rPr sz="1950" spc="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批处理操作系统</a:t>
            </a:r>
            <a:r>
              <a:rPr sz="2000" spc="10" dirty="0"/>
              <a:t>(</a:t>
            </a:r>
            <a:r>
              <a:rPr sz="2000" spc="25" dirty="0"/>
              <a:t>B</a:t>
            </a:r>
            <a:r>
              <a:rPr sz="2000" spc="20" dirty="0"/>
              <a:t>a</a:t>
            </a:r>
            <a:r>
              <a:rPr sz="2000" spc="10" dirty="0"/>
              <a:t>t</a:t>
            </a:r>
            <a:r>
              <a:rPr sz="2000" spc="20" dirty="0"/>
              <a:t>c</a:t>
            </a:r>
            <a:r>
              <a:rPr sz="2000" spc="20" dirty="0"/>
              <a:t>h</a:t>
            </a:r>
            <a:r>
              <a:rPr sz="2000" spc="10" dirty="0"/>
              <a:t> </a:t>
            </a:r>
            <a:r>
              <a:rPr sz="2000" spc="20" dirty="0"/>
              <a:t>sys</a:t>
            </a:r>
            <a:r>
              <a:rPr sz="2000" spc="10" dirty="0"/>
              <a:t>t</a:t>
            </a:r>
            <a:r>
              <a:rPr sz="2000" spc="20" dirty="0"/>
              <a:t>e</a:t>
            </a:r>
            <a:r>
              <a:rPr sz="2000" spc="40" dirty="0"/>
              <a:t>m</a:t>
            </a:r>
            <a:r>
              <a:rPr sz="2000" spc="10" dirty="0"/>
              <a:t>)</a:t>
            </a:r>
            <a:endParaRPr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24155">
              <a:lnSpc>
                <a:spcPts val="2330"/>
              </a:lnSpc>
              <a:spcBef>
                <a:spcPts val="1115"/>
              </a:spcBef>
            </a:pPr>
            <a:r>
              <a:rPr sz="1950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一个作业完成，</a:t>
            </a:r>
            <a:r>
              <a:rPr sz="1950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自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sp>
        <p:nvSpPr>
          <p:cNvPr id="27" name="object 27"/>
          <p:cNvSpPr txBox="1"/>
          <p:nvPr/>
        </p:nvSpPr>
        <p:spPr>
          <a:xfrm>
            <a:off x="3483490" y="4675556"/>
            <a:ext cx="106299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监控系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统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6080" y="4312922"/>
            <a:ext cx="2315845" cy="704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13995">
              <a:lnSpc>
                <a:spcPct val="14400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动读入下一个作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业</a:t>
            </a:r>
            <a:r>
              <a:rPr sz="1950" b="1" spc="3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输入磁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带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456553" y="4920258"/>
            <a:ext cx="106299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输出磁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带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470">
              <a:lnSpc>
                <a:spcPct val="100000"/>
              </a:lnSpc>
            </a:pP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从</a:t>
            </a:r>
            <a:r>
              <a:rPr sz="3050" spc="5" dirty="0"/>
              <a:t>IBSY</a:t>
            </a:r>
            <a:r>
              <a:rPr sz="3050" spc="5" dirty="0"/>
              <a:t>S</a:t>
            </a: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到</a:t>
            </a:r>
            <a:r>
              <a:rPr sz="3050" spc="5" dirty="0"/>
              <a:t>OS/360</a:t>
            </a:r>
            <a:r>
              <a:rPr sz="3050" dirty="0"/>
              <a:t>(</a:t>
            </a:r>
            <a:r>
              <a:rPr sz="3050" dirty="0"/>
              <a:t>196</a:t>
            </a:r>
            <a:r>
              <a:rPr sz="3050" spc="-5" dirty="0"/>
              <a:t>5</a:t>
            </a:r>
            <a:r>
              <a:rPr sz="3050" spc="5" dirty="0"/>
              <a:t>-</a:t>
            </a:r>
            <a:r>
              <a:rPr sz="3050" dirty="0"/>
              <a:t>1980)</a:t>
            </a:r>
            <a:endParaRPr sz="30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5106" y="1989050"/>
            <a:ext cx="9110980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计算机开始进入多个行业：科学计算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I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B</a:t>
            </a:r>
            <a:r>
              <a:rPr sz="2400" b="1" dirty="0">
                <a:latin typeface="Arial" panose="020B0604020202020204"/>
                <a:cs typeface="Arial" panose="020B0604020202020204"/>
              </a:rPr>
              <a:t>M</a:t>
            </a:r>
            <a:r>
              <a:rPr sz="2400"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7094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)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，银行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I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B</a:t>
            </a:r>
            <a:r>
              <a:rPr sz="2400" b="1" dirty="0">
                <a:latin typeface="Arial" panose="020B0604020202020204"/>
                <a:cs typeface="Arial" panose="020B0604020202020204"/>
              </a:rPr>
              <a:t>M</a:t>
            </a:r>
            <a:r>
              <a:rPr sz="2400"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1401</a:t>
            </a:r>
            <a:r>
              <a:rPr sz="2400" b="1" dirty="0">
                <a:latin typeface="Arial" panose="020B0604020202020204"/>
                <a:cs typeface="Arial" panose="020B0604020202020204"/>
              </a:rPr>
              <a:t>)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1582" y="2711652"/>
            <a:ext cx="314007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需要让一台计算机干多种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事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0094" y="2786062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61582" y="3245057"/>
            <a:ext cx="3528060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多道程序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000" b="1" spc="35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u</a:t>
            </a:r>
            <a:r>
              <a:rPr sz="2000" b="1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og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40" dirty="0">
                <a:latin typeface="Arial" panose="020B0604020202020204"/>
                <a:cs typeface="Arial" panose="020B0604020202020204"/>
              </a:rPr>
              <a:t>mm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ng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)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0094" y="3325637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816697" y="2473678"/>
            <a:ext cx="1493520" cy="649605"/>
          </a:xfrm>
          <a:custGeom>
            <a:avLst/>
            <a:gdLst/>
            <a:ahLst/>
            <a:cxnLst/>
            <a:rect l="l" t="t" r="r" b="b"/>
            <a:pathLst>
              <a:path w="1493520" h="649605">
                <a:moveTo>
                  <a:pt x="0" y="0"/>
                </a:moveTo>
                <a:lnTo>
                  <a:pt x="1493361" y="0"/>
                </a:lnTo>
                <a:lnTo>
                  <a:pt x="1493361" y="649111"/>
                </a:lnTo>
                <a:lnTo>
                  <a:pt x="0" y="649111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031208" y="2663858"/>
            <a:ext cx="106299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操作系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统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816697" y="3122789"/>
            <a:ext cx="1493520" cy="1298575"/>
          </a:xfrm>
          <a:custGeom>
            <a:avLst/>
            <a:gdLst/>
            <a:ahLst/>
            <a:cxnLst/>
            <a:rect l="l" t="t" r="r" b="b"/>
            <a:pathLst>
              <a:path w="1493520" h="1298575">
                <a:moveTo>
                  <a:pt x="0" y="0"/>
                </a:moveTo>
                <a:lnTo>
                  <a:pt x="1493361" y="0"/>
                </a:lnTo>
                <a:lnTo>
                  <a:pt x="1493361" y="1298222"/>
                </a:lnTo>
                <a:lnTo>
                  <a:pt x="0" y="1298222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30094" y="4987631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228897" y="3690761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79">
                <a:moveTo>
                  <a:pt x="81160" y="0"/>
                </a:moveTo>
                <a:lnTo>
                  <a:pt x="16233" y="16229"/>
                </a:lnTo>
                <a:lnTo>
                  <a:pt x="0" y="81139"/>
                </a:lnTo>
                <a:lnTo>
                  <a:pt x="81160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816697" y="3122789"/>
            <a:ext cx="1493520" cy="649605"/>
          </a:xfrm>
          <a:custGeom>
            <a:avLst/>
            <a:gdLst/>
            <a:ahLst/>
            <a:cxnLst/>
            <a:rect l="l" t="t" r="r" b="b"/>
            <a:pathLst>
              <a:path w="1493520" h="649604">
                <a:moveTo>
                  <a:pt x="1412199" y="649111"/>
                </a:moveTo>
                <a:lnTo>
                  <a:pt x="1428433" y="584200"/>
                </a:lnTo>
                <a:lnTo>
                  <a:pt x="1493361" y="567971"/>
                </a:lnTo>
                <a:lnTo>
                  <a:pt x="1412199" y="649111"/>
                </a:lnTo>
                <a:lnTo>
                  <a:pt x="0" y="649111"/>
                </a:lnTo>
                <a:lnTo>
                  <a:pt x="0" y="0"/>
                </a:lnTo>
                <a:lnTo>
                  <a:pt x="1493361" y="0"/>
                </a:lnTo>
                <a:lnTo>
                  <a:pt x="1493361" y="567971"/>
                </a:lnTo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228897" y="4339871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79">
                <a:moveTo>
                  <a:pt x="81160" y="0"/>
                </a:moveTo>
                <a:lnTo>
                  <a:pt x="16233" y="16229"/>
                </a:lnTo>
                <a:lnTo>
                  <a:pt x="0" y="81139"/>
                </a:lnTo>
                <a:lnTo>
                  <a:pt x="81160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816697" y="3771900"/>
            <a:ext cx="1493520" cy="649605"/>
          </a:xfrm>
          <a:custGeom>
            <a:avLst/>
            <a:gdLst/>
            <a:ahLst/>
            <a:cxnLst/>
            <a:rect l="l" t="t" r="r" b="b"/>
            <a:pathLst>
              <a:path w="1493520" h="649604">
                <a:moveTo>
                  <a:pt x="1412199" y="649111"/>
                </a:moveTo>
                <a:lnTo>
                  <a:pt x="1428433" y="584200"/>
                </a:lnTo>
                <a:lnTo>
                  <a:pt x="1493361" y="567971"/>
                </a:lnTo>
                <a:lnTo>
                  <a:pt x="1412199" y="649111"/>
                </a:lnTo>
                <a:lnTo>
                  <a:pt x="0" y="649111"/>
                </a:lnTo>
                <a:lnTo>
                  <a:pt x="0" y="0"/>
                </a:lnTo>
                <a:lnTo>
                  <a:pt x="1493361" y="0"/>
                </a:lnTo>
                <a:lnTo>
                  <a:pt x="1493361" y="567971"/>
                </a:lnTo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073012" y="3930781"/>
            <a:ext cx="6009640" cy="163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3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作业之间的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切换和调度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成为核心：因为既有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O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任务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925" b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又有计算任务，需要让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U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忙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碌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1704340">
              <a:lnSpc>
                <a:spcPct val="143000"/>
              </a:lnSpc>
              <a:spcBef>
                <a:spcPts val="290"/>
              </a:spcBef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典型代表：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B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O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S</a:t>
            </a:r>
            <a:r>
              <a:rPr sz="2000" b="1" dirty="0">
                <a:latin typeface="Arial" panose="020B0604020202020204"/>
                <a:cs typeface="Arial" panose="020B0604020202020204"/>
              </a:rPr>
              <a:t>/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3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60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(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360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表示全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方</a:t>
            </a:r>
            <a:r>
              <a:rPr sz="2925" b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位服务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)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，开发周期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5000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个人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年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67862" y="3300300"/>
            <a:ext cx="59055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J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O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B</a:t>
            </a:r>
            <a:r>
              <a:rPr sz="1700" b="1" dirty="0">
                <a:latin typeface="Arial" panose="020B0604020202020204"/>
                <a:cs typeface="Arial" panose="020B0604020202020204"/>
              </a:rPr>
              <a:t>1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267862" y="3949236"/>
            <a:ext cx="59055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J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O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B</a:t>
            </a:r>
            <a:r>
              <a:rPr sz="1700" b="1" dirty="0">
                <a:latin typeface="Arial" panose="020B0604020202020204"/>
                <a:cs typeface="Arial" panose="020B0604020202020204"/>
              </a:rPr>
              <a:t>2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0094" y="4078875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858382" y="2725208"/>
            <a:ext cx="2597150" cy="1217295"/>
          </a:xfrm>
          <a:custGeom>
            <a:avLst/>
            <a:gdLst/>
            <a:ahLst/>
            <a:cxnLst/>
            <a:rect l="l" t="t" r="r" b="b"/>
            <a:pathLst>
              <a:path w="2597150" h="1217295">
                <a:moveTo>
                  <a:pt x="2597150" y="775324"/>
                </a:moveTo>
                <a:lnTo>
                  <a:pt x="2591142" y="818208"/>
                </a:lnTo>
                <a:lnTo>
                  <a:pt x="2574235" y="856482"/>
                </a:lnTo>
                <a:lnTo>
                  <a:pt x="2548103" y="888474"/>
                </a:lnTo>
                <a:lnTo>
                  <a:pt x="2514419" y="912509"/>
                </a:lnTo>
                <a:lnTo>
                  <a:pt x="2474858" y="926914"/>
                </a:lnTo>
                <a:lnTo>
                  <a:pt x="2164291" y="930392"/>
                </a:lnTo>
                <a:lnTo>
                  <a:pt x="1454404" y="1216915"/>
                </a:lnTo>
                <a:lnTo>
                  <a:pt x="1515004" y="930392"/>
                </a:lnTo>
                <a:lnTo>
                  <a:pt x="155110" y="930392"/>
                </a:lnTo>
                <a:lnTo>
                  <a:pt x="140403" y="929704"/>
                </a:lnTo>
                <a:lnTo>
                  <a:pt x="98858" y="919880"/>
                </a:lnTo>
                <a:lnTo>
                  <a:pt x="62482" y="899717"/>
                </a:lnTo>
                <a:lnTo>
                  <a:pt x="32948" y="870890"/>
                </a:lnTo>
                <a:lnTo>
                  <a:pt x="11931" y="835071"/>
                </a:lnTo>
                <a:lnTo>
                  <a:pt x="1105" y="793934"/>
                </a:lnTo>
                <a:lnTo>
                  <a:pt x="0" y="775327"/>
                </a:lnTo>
                <a:lnTo>
                  <a:pt x="0" y="542729"/>
                </a:lnTo>
                <a:lnTo>
                  <a:pt x="0" y="155068"/>
                </a:lnTo>
                <a:lnTo>
                  <a:pt x="688" y="140364"/>
                </a:lnTo>
                <a:lnTo>
                  <a:pt x="10514" y="98831"/>
                </a:lnTo>
                <a:lnTo>
                  <a:pt x="30683" y="62465"/>
                </a:lnTo>
                <a:lnTo>
                  <a:pt x="59518" y="32939"/>
                </a:lnTo>
                <a:lnTo>
                  <a:pt x="95347" y="11928"/>
                </a:lnTo>
                <a:lnTo>
                  <a:pt x="136495" y="1105"/>
                </a:lnTo>
                <a:lnTo>
                  <a:pt x="1515004" y="0"/>
                </a:lnTo>
                <a:lnTo>
                  <a:pt x="2164291" y="0"/>
                </a:lnTo>
                <a:lnTo>
                  <a:pt x="2442039" y="0"/>
                </a:lnTo>
                <a:lnTo>
                  <a:pt x="2456747" y="688"/>
                </a:lnTo>
                <a:lnTo>
                  <a:pt x="2498291" y="10512"/>
                </a:lnTo>
                <a:lnTo>
                  <a:pt x="2534668" y="30674"/>
                </a:lnTo>
                <a:lnTo>
                  <a:pt x="2564201" y="59502"/>
                </a:lnTo>
                <a:lnTo>
                  <a:pt x="2585218" y="95321"/>
                </a:lnTo>
                <a:lnTo>
                  <a:pt x="2596044" y="136458"/>
                </a:lnTo>
                <a:lnTo>
                  <a:pt x="2597150" y="542729"/>
                </a:lnTo>
                <a:lnTo>
                  <a:pt x="2597150" y="775327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975538" y="2843593"/>
            <a:ext cx="2360930" cy="594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8315" marR="5080" indent="-476250">
              <a:lnSpc>
                <a:spcPct val="10000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多进程结构和进程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管</a:t>
            </a:r>
            <a:r>
              <a:rPr sz="1950" b="1" spc="3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理概念萌芽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!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686840" y="3122789"/>
            <a:ext cx="130175" cy="259715"/>
          </a:xfrm>
          <a:custGeom>
            <a:avLst/>
            <a:gdLst/>
            <a:ahLst/>
            <a:cxnLst/>
            <a:rect l="l" t="t" r="r" b="b"/>
            <a:pathLst>
              <a:path w="130175" h="259714">
                <a:moveTo>
                  <a:pt x="129857" y="194732"/>
                </a:moveTo>
                <a:lnTo>
                  <a:pt x="0" y="194732"/>
                </a:lnTo>
                <a:lnTo>
                  <a:pt x="64928" y="259643"/>
                </a:lnTo>
                <a:lnTo>
                  <a:pt x="129857" y="194732"/>
                </a:lnTo>
                <a:close/>
              </a:path>
              <a:path w="130175" h="259714">
                <a:moveTo>
                  <a:pt x="97393" y="0"/>
                </a:moveTo>
                <a:lnTo>
                  <a:pt x="32465" y="0"/>
                </a:lnTo>
                <a:lnTo>
                  <a:pt x="32465" y="194732"/>
                </a:lnTo>
                <a:lnTo>
                  <a:pt x="97393" y="194732"/>
                </a:lnTo>
                <a:lnTo>
                  <a:pt x="97393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686840" y="3122789"/>
            <a:ext cx="130175" cy="259715"/>
          </a:xfrm>
          <a:custGeom>
            <a:avLst/>
            <a:gdLst/>
            <a:ahLst/>
            <a:cxnLst/>
            <a:rect l="l" t="t" r="r" b="b"/>
            <a:pathLst>
              <a:path w="130175" h="259714">
                <a:moveTo>
                  <a:pt x="0" y="194733"/>
                </a:moveTo>
                <a:lnTo>
                  <a:pt x="32464" y="194733"/>
                </a:lnTo>
                <a:lnTo>
                  <a:pt x="32464" y="0"/>
                </a:lnTo>
                <a:lnTo>
                  <a:pt x="97393" y="0"/>
                </a:lnTo>
                <a:lnTo>
                  <a:pt x="97393" y="194733"/>
                </a:lnTo>
                <a:lnTo>
                  <a:pt x="129857" y="194733"/>
                </a:lnTo>
                <a:lnTo>
                  <a:pt x="64928" y="259644"/>
                </a:lnTo>
                <a:lnTo>
                  <a:pt x="0" y="194733"/>
                </a:lnTo>
                <a:close/>
              </a:path>
            </a:pathLst>
          </a:custGeom>
          <a:ln w="8115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686840" y="3447343"/>
            <a:ext cx="130175" cy="259715"/>
          </a:xfrm>
          <a:custGeom>
            <a:avLst/>
            <a:gdLst/>
            <a:ahLst/>
            <a:cxnLst/>
            <a:rect l="l" t="t" r="r" b="b"/>
            <a:pathLst>
              <a:path w="130175" h="259714">
                <a:moveTo>
                  <a:pt x="129857" y="194734"/>
                </a:moveTo>
                <a:lnTo>
                  <a:pt x="0" y="194734"/>
                </a:lnTo>
                <a:lnTo>
                  <a:pt x="64928" y="259645"/>
                </a:lnTo>
                <a:lnTo>
                  <a:pt x="129857" y="194734"/>
                </a:lnTo>
                <a:close/>
              </a:path>
              <a:path w="130175" h="259714">
                <a:moveTo>
                  <a:pt x="97393" y="0"/>
                </a:moveTo>
                <a:lnTo>
                  <a:pt x="32465" y="0"/>
                </a:lnTo>
                <a:lnTo>
                  <a:pt x="32465" y="194734"/>
                </a:lnTo>
                <a:lnTo>
                  <a:pt x="97393" y="194734"/>
                </a:lnTo>
                <a:lnTo>
                  <a:pt x="97393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686840" y="3447343"/>
            <a:ext cx="130175" cy="259715"/>
          </a:xfrm>
          <a:custGeom>
            <a:avLst/>
            <a:gdLst/>
            <a:ahLst/>
            <a:cxnLst/>
            <a:rect l="l" t="t" r="r" b="b"/>
            <a:pathLst>
              <a:path w="130175" h="259714">
                <a:moveTo>
                  <a:pt x="0" y="194733"/>
                </a:moveTo>
                <a:lnTo>
                  <a:pt x="32464" y="194733"/>
                </a:lnTo>
                <a:lnTo>
                  <a:pt x="32464" y="0"/>
                </a:lnTo>
                <a:lnTo>
                  <a:pt x="97393" y="0"/>
                </a:lnTo>
                <a:lnTo>
                  <a:pt x="97393" y="194733"/>
                </a:lnTo>
                <a:lnTo>
                  <a:pt x="129857" y="194733"/>
                </a:lnTo>
                <a:lnTo>
                  <a:pt x="64928" y="259644"/>
                </a:lnTo>
                <a:lnTo>
                  <a:pt x="0" y="194733"/>
                </a:lnTo>
                <a:close/>
              </a:path>
            </a:pathLst>
          </a:custGeom>
          <a:ln w="8115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621911" y="3771900"/>
            <a:ext cx="130175" cy="259715"/>
          </a:xfrm>
          <a:custGeom>
            <a:avLst/>
            <a:gdLst/>
            <a:ahLst/>
            <a:cxnLst/>
            <a:rect l="l" t="t" r="r" b="b"/>
            <a:pathLst>
              <a:path w="130175" h="259714">
                <a:moveTo>
                  <a:pt x="129857" y="194732"/>
                </a:moveTo>
                <a:lnTo>
                  <a:pt x="0" y="194732"/>
                </a:lnTo>
                <a:lnTo>
                  <a:pt x="64928" y="259643"/>
                </a:lnTo>
                <a:lnTo>
                  <a:pt x="129857" y="194732"/>
                </a:lnTo>
                <a:close/>
              </a:path>
              <a:path w="130175" h="259714">
                <a:moveTo>
                  <a:pt x="97393" y="0"/>
                </a:moveTo>
                <a:lnTo>
                  <a:pt x="32465" y="0"/>
                </a:lnTo>
                <a:lnTo>
                  <a:pt x="32465" y="194732"/>
                </a:lnTo>
                <a:lnTo>
                  <a:pt x="97393" y="194732"/>
                </a:lnTo>
                <a:lnTo>
                  <a:pt x="97393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621911" y="3771900"/>
            <a:ext cx="130175" cy="259715"/>
          </a:xfrm>
          <a:custGeom>
            <a:avLst/>
            <a:gdLst/>
            <a:ahLst/>
            <a:cxnLst/>
            <a:rect l="l" t="t" r="r" b="b"/>
            <a:pathLst>
              <a:path w="130175" h="259714">
                <a:moveTo>
                  <a:pt x="0" y="194733"/>
                </a:moveTo>
                <a:lnTo>
                  <a:pt x="32464" y="194733"/>
                </a:lnTo>
                <a:lnTo>
                  <a:pt x="32464" y="0"/>
                </a:lnTo>
                <a:lnTo>
                  <a:pt x="97393" y="0"/>
                </a:lnTo>
                <a:lnTo>
                  <a:pt x="97393" y="194733"/>
                </a:lnTo>
                <a:lnTo>
                  <a:pt x="129857" y="194733"/>
                </a:lnTo>
                <a:lnTo>
                  <a:pt x="64928" y="259644"/>
                </a:lnTo>
                <a:lnTo>
                  <a:pt x="0" y="194733"/>
                </a:lnTo>
                <a:close/>
              </a:path>
            </a:pathLst>
          </a:custGeom>
          <a:ln w="8115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444092" y="4465637"/>
            <a:ext cx="1331038" cy="18621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从</a:t>
            </a:r>
            <a:r>
              <a:rPr sz="3050" spc="5" dirty="0"/>
              <a:t>OS/36</a:t>
            </a:r>
            <a:r>
              <a:rPr sz="3050" spc="-5" dirty="0"/>
              <a:t>0</a:t>
            </a: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到</a:t>
            </a:r>
            <a:r>
              <a:rPr sz="3050" spc="10" dirty="0"/>
              <a:t>MULT</a:t>
            </a:r>
            <a:r>
              <a:rPr sz="3050" spc="-5" dirty="0"/>
              <a:t>I</a:t>
            </a:r>
            <a:r>
              <a:rPr sz="3050" spc="10" dirty="0"/>
              <a:t>C</a:t>
            </a:r>
            <a:r>
              <a:rPr sz="3050" spc="5" dirty="0"/>
              <a:t>S</a:t>
            </a:r>
            <a:r>
              <a:rPr sz="3050" spc="5" dirty="0"/>
              <a:t>(</a:t>
            </a:r>
            <a:r>
              <a:rPr sz="3050" dirty="0"/>
              <a:t>1</a:t>
            </a:r>
            <a:r>
              <a:rPr sz="3050" dirty="0"/>
              <a:t>96</a:t>
            </a:r>
            <a:r>
              <a:rPr sz="3050" spc="5" dirty="0"/>
              <a:t>5</a:t>
            </a:r>
            <a:r>
              <a:rPr sz="3050" spc="5" dirty="0"/>
              <a:t>-</a:t>
            </a:r>
            <a:r>
              <a:rPr sz="3050" dirty="0"/>
              <a:t>1980)</a:t>
            </a:r>
            <a:endParaRPr sz="30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0177" y="1989050"/>
            <a:ext cx="5166360" cy="344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计算机进入多个行业，使用人数增</a:t>
            </a:r>
            <a:r>
              <a:rPr sz="3450" b="1" spc="135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加</a:t>
            </a:r>
            <a:endParaRPr sz="3450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5165" y="2721151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5165" y="3299942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5165" y="3917951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03003" y="2406729"/>
            <a:ext cx="5476875" cy="2952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64160">
              <a:lnSpc>
                <a:spcPts val="46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如果每个人启动一个作业，作业之间快速切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换</a:t>
            </a:r>
            <a:r>
              <a:rPr sz="19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分时系统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(t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40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es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h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ng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)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43000"/>
              </a:lnSpc>
              <a:spcBef>
                <a:spcPts val="905"/>
              </a:spcBef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代表：</a:t>
            </a:r>
            <a:r>
              <a:rPr sz="2000" b="1" spc="35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35" dirty="0">
                <a:latin typeface="Arial" panose="020B0604020202020204"/>
                <a:cs typeface="Arial" panose="020B0604020202020204"/>
              </a:rPr>
              <a:t>MU</a:t>
            </a:r>
            <a:r>
              <a:rPr sz="2000" b="1" spc="-130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S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000" b="1" spc="35" dirty="0">
                <a:latin typeface="Arial" panose="020B0604020202020204"/>
                <a:cs typeface="Arial" panose="020B0604020202020204"/>
              </a:rPr>
              <a:t>MU</a:t>
            </a:r>
            <a:r>
              <a:rPr sz="2000" b="1" spc="-130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-15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exe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f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o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40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o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nd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o</a:t>
            </a:r>
            <a:r>
              <a:rPr sz="2000" b="1" spc="40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pu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S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v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)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47000"/>
              </a:lnSpc>
              <a:spcBef>
                <a:spcPts val="1270"/>
              </a:spcBef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核心仍然是</a:t>
            </a: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任务切换</a:t>
            </a: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，但是资源复用的思想对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操</a:t>
            </a:r>
            <a:r>
              <a:rPr sz="19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作系统影响很大，</a:t>
            </a: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虚拟内存就是一种复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用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65165" y="4956528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028451" y="2019300"/>
            <a:ext cx="584835" cy="389890"/>
          </a:xfrm>
          <a:custGeom>
            <a:avLst/>
            <a:gdLst/>
            <a:ahLst/>
            <a:cxnLst/>
            <a:rect l="l" t="t" r="r" b="b"/>
            <a:pathLst>
              <a:path w="584834" h="389889">
                <a:moveTo>
                  <a:pt x="0" y="389466"/>
                </a:moveTo>
                <a:lnTo>
                  <a:pt x="584358" y="389466"/>
                </a:lnTo>
                <a:lnTo>
                  <a:pt x="584358" y="0"/>
                </a:lnTo>
                <a:lnTo>
                  <a:pt x="0" y="0"/>
                </a:lnTo>
                <a:lnTo>
                  <a:pt x="0" y="389466"/>
                </a:lnTo>
                <a:close/>
              </a:path>
            </a:pathLst>
          </a:custGeom>
          <a:solidFill>
            <a:srgbClr val="00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028451" y="2019300"/>
            <a:ext cx="584835" cy="389890"/>
          </a:xfrm>
          <a:custGeom>
            <a:avLst/>
            <a:gdLst/>
            <a:ahLst/>
            <a:cxnLst/>
            <a:rect l="l" t="t" r="r" b="b"/>
            <a:pathLst>
              <a:path w="584834" h="389889">
                <a:moveTo>
                  <a:pt x="0" y="0"/>
                </a:moveTo>
                <a:lnTo>
                  <a:pt x="584358" y="0"/>
                </a:lnTo>
                <a:lnTo>
                  <a:pt x="584358" y="389466"/>
                </a:lnTo>
                <a:lnTo>
                  <a:pt x="0" y="389466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612811" y="2019300"/>
            <a:ext cx="584835" cy="389890"/>
          </a:xfrm>
          <a:custGeom>
            <a:avLst/>
            <a:gdLst/>
            <a:ahLst/>
            <a:cxnLst/>
            <a:rect l="l" t="t" r="r" b="b"/>
            <a:pathLst>
              <a:path w="584834" h="389889">
                <a:moveTo>
                  <a:pt x="0" y="389466"/>
                </a:moveTo>
                <a:lnTo>
                  <a:pt x="584358" y="389466"/>
                </a:lnTo>
                <a:lnTo>
                  <a:pt x="584358" y="0"/>
                </a:lnTo>
                <a:lnTo>
                  <a:pt x="0" y="0"/>
                </a:lnTo>
                <a:lnTo>
                  <a:pt x="0" y="389466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612811" y="2019300"/>
            <a:ext cx="584835" cy="389890"/>
          </a:xfrm>
          <a:custGeom>
            <a:avLst/>
            <a:gdLst/>
            <a:ahLst/>
            <a:cxnLst/>
            <a:rect l="l" t="t" r="r" b="b"/>
            <a:pathLst>
              <a:path w="584834" h="389889">
                <a:moveTo>
                  <a:pt x="0" y="0"/>
                </a:moveTo>
                <a:lnTo>
                  <a:pt x="584358" y="0"/>
                </a:lnTo>
                <a:lnTo>
                  <a:pt x="584358" y="389466"/>
                </a:lnTo>
                <a:lnTo>
                  <a:pt x="0" y="389466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197169" y="2019300"/>
            <a:ext cx="584835" cy="389890"/>
          </a:xfrm>
          <a:custGeom>
            <a:avLst/>
            <a:gdLst/>
            <a:ahLst/>
            <a:cxnLst/>
            <a:rect l="l" t="t" r="r" b="b"/>
            <a:pathLst>
              <a:path w="584834" h="389889">
                <a:moveTo>
                  <a:pt x="0" y="389466"/>
                </a:moveTo>
                <a:lnTo>
                  <a:pt x="584358" y="389466"/>
                </a:lnTo>
                <a:lnTo>
                  <a:pt x="584358" y="0"/>
                </a:lnTo>
                <a:lnTo>
                  <a:pt x="0" y="0"/>
                </a:lnTo>
                <a:lnTo>
                  <a:pt x="0" y="389466"/>
                </a:lnTo>
                <a:close/>
              </a:path>
            </a:pathLst>
          </a:custGeom>
          <a:solidFill>
            <a:srgbClr val="99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197169" y="2019300"/>
            <a:ext cx="584835" cy="389890"/>
          </a:xfrm>
          <a:custGeom>
            <a:avLst/>
            <a:gdLst/>
            <a:ahLst/>
            <a:cxnLst/>
            <a:rect l="l" t="t" r="r" b="b"/>
            <a:pathLst>
              <a:path w="584834" h="389889">
                <a:moveTo>
                  <a:pt x="0" y="0"/>
                </a:moveTo>
                <a:lnTo>
                  <a:pt x="584358" y="0"/>
                </a:lnTo>
                <a:lnTo>
                  <a:pt x="584358" y="389466"/>
                </a:lnTo>
                <a:lnTo>
                  <a:pt x="0" y="389466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781528" y="2019300"/>
            <a:ext cx="584835" cy="389890"/>
          </a:xfrm>
          <a:custGeom>
            <a:avLst/>
            <a:gdLst/>
            <a:ahLst/>
            <a:cxnLst/>
            <a:rect l="l" t="t" r="r" b="b"/>
            <a:pathLst>
              <a:path w="584834" h="389889">
                <a:moveTo>
                  <a:pt x="0" y="389466"/>
                </a:moveTo>
                <a:lnTo>
                  <a:pt x="584358" y="389466"/>
                </a:lnTo>
                <a:lnTo>
                  <a:pt x="584358" y="0"/>
                </a:lnTo>
                <a:lnTo>
                  <a:pt x="0" y="0"/>
                </a:lnTo>
                <a:lnTo>
                  <a:pt x="0" y="389466"/>
                </a:lnTo>
                <a:close/>
              </a:path>
            </a:pathLst>
          </a:custGeom>
          <a:solidFill>
            <a:srgbClr val="00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781528" y="2019300"/>
            <a:ext cx="584835" cy="389890"/>
          </a:xfrm>
          <a:custGeom>
            <a:avLst/>
            <a:gdLst/>
            <a:ahLst/>
            <a:cxnLst/>
            <a:rect l="l" t="t" r="r" b="b"/>
            <a:pathLst>
              <a:path w="584834" h="389889">
                <a:moveTo>
                  <a:pt x="0" y="0"/>
                </a:moveTo>
                <a:lnTo>
                  <a:pt x="584358" y="0"/>
                </a:lnTo>
                <a:lnTo>
                  <a:pt x="584358" y="389466"/>
                </a:lnTo>
                <a:lnTo>
                  <a:pt x="0" y="389466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028451" y="2372254"/>
            <a:ext cx="3441700" cy="73025"/>
          </a:xfrm>
          <a:custGeom>
            <a:avLst/>
            <a:gdLst/>
            <a:ahLst/>
            <a:cxnLst/>
            <a:rect l="l" t="t" r="r" b="b"/>
            <a:pathLst>
              <a:path w="3441700" h="73025">
                <a:moveTo>
                  <a:pt x="0" y="24340"/>
                </a:moveTo>
                <a:lnTo>
                  <a:pt x="0" y="48682"/>
                </a:lnTo>
                <a:lnTo>
                  <a:pt x="3368179" y="48684"/>
                </a:lnTo>
                <a:lnTo>
                  <a:pt x="3368179" y="73025"/>
                </a:lnTo>
                <a:lnTo>
                  <a:pt x="3441223" y="36512"/>
                </a:lnTo>
                <a:lnTo>
                  <a:pt x="3416876" y="24342"/>
                </a:lnTo>
                <a:lnTo>
                  <a:pt x="0" y="24340"/>
                </a:lnTo>
                <a:close/>
              </a:path>
              <a:path w="3441700" h="73025">
                <a:moveTo>
                  <a:pt x="3368179" y="0"/>
                </a:moveTo>
                <a:lnTo>
                  <a:pt x="3368179" y="24342"/>
                </a:lnTo>
                <a:lnTo>
                  <a:pt x="3416876" y="24342"/>
                </a:lnTo>
                <a:lnTo>
                  <a:pt x="33681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8625888" y="2014923"/>
            <a:ext cx="54356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时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间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671961" y="2469620"/>
          <a:ext cx="1505585" cy="1891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3361"/>
              </a:tblGrid>
              <a:tr h="519288">
                <a:tc>
                  <a:txBody>
                    <a:bodyPr/>
                    <a:lstStyle/>
                    <a:p>
                      <a:pPr marL="222885">
                        <a:lnSpc>
                          <a:spcPct val="100000"/>
                        </a:lnSpc>
                      </a:pPr>
                      <a:r>
                        <a:rPr sz="195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操作系</a:t>
                      </a:r>
                      <a:r>
                        <a:rPr sz="195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统</a:t>
                      </a:r>
                      <a:endParaRPr sz="19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8114">
                      <a:solidFill>
                        <a:srgbClr val="000000"/>
                      </a:solidFill>
                      <a:prstDash val="solid"/>
                    </a:lnL>
                    <a:lnR w="8114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4377">
                <a:tc>
                  <a:txBody>
                    <a:bodyPr/>
                    <a:lstStyle/>
                    <a:p>
                      <a:pPr marL="459740">
                        <a:lnSpc>
                          <a:spcPct val="100000"/>
                        </a:lnSpc>
                      </a:pPr>
                      <a:r>
                        <a:rPr sz="1700" b="1" dirty="0">
                          <a:latin typeface="Arial" panose="020B0604020202020204"/>
                          <a:cs typeface="Arial" panose="020B0604020202020204"/>
                        </a:rPr>
                        <a:t>J</a:t>
                      </a:r>
                      <a:r>
                        <a:rPr sz="1700" b="1" spc="-5" dirty="0">
                          <a:latin typeface="Arial" panose="020B0604020202020204"/>
                          <a:cs typeface="Arial" panose="020B0604020202020204"/>
                        </a:rPr>
                        <a:t>O</a:t>
                      </a:r>
                      <a:r>
                        <a:rPr sz="1700" b="1" spc="5" dirty="0"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r>
                        <a:rPr sz="1700" b="1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8114">
                      <a:solidFill>
                        <a:srgbClr val="000000"/>
                      </a:solidFill>
                      <a:prstDash val="solid"/>
                    </a:lnL>
                    <a:lnR w="8114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  <a:solidFill>
                      <a:srgbClr val="0099FF"/>
                    </a:solidFill>
                  </a:tcPr>
                </a:tc>
              </a:tr>
              <a:tr h="454377">
                <a:tc>
                  <a:txBody>
                    <a:bodyPr/>
                    <a:lstStyle/>
                    <a:p>
                      <a:pPr marL="459740">
                        <a:lnSpc>
                          <a:spcPct val="100000"/>
                        </a:lnSpc>
                      </a:pPr>
                      <a:r>
                        <a:rPr sz="1700" b="1" dirty="0">
                          <a:latin typeface="Arial" panose="020B0604020202020204"/>
                          <a:cs typeface="Arial" panose="020B0604020202020204"/>
                        </a:rPr>
                        <a:t>J</a:t>
                      </a:r>
                      <a:r>
                        <a:rPr sz="1700" b="1" spc="-5" dirty="0">
                          <a:latin typeface="Arial" panose="020B0604020202020204"/>
                          <a:cs typeface="Arial" panose="020B0604020202020204"/>
                        </a:rPr>
                        <a:t>O</a:t>
                      </a:r>
                      <a:r>
                        <a:rPr sz="1700" b="1" spc="5" dirty="0"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r>
                        <a:rPr sz="1700" b="1" dirty="0"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8114">
                      <a:solidFill>
                        <a:srgbClr val="000000"/>
                      </a:solidFill>
                      <a:prstDash val="solid"/>
                    </a:lnL>
                    <a:lnR w="8114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  <a:solidFill>
                      <a:srgbClr val="FFCC66"/>
                    </a:solidFill>
                  </a:tcPr>
                </a:tc>
              </a:tr>
              <a:tr h="454377">
                <a:tc>
                  <a:txBody>
                    <a:bodyPr/>
                    <a:lstStyle/>
                    <a:p>
                      <a:pPr marL="459740">
                        <a:lnSpc>
                          <a:spcPct val="100000"/>
                        </a:lnSpc>
                      </a:pPr>
                      <a:r>
                        <a:rPr sz="1700" b="1" dirty="0">
                          <a:latin typeface="Arial" panose="020B0604020202020204"/>
                          <a:cs typeface="Arial" panose="020B0604020202020204"/>
                        </a:rPr>
                        <a:t>J</a:t>
                      </a:r>
                      <a:r>
                        <a:rPr sz="1700" b="1" spc="-5" dirty="0">
                          <a:latin typeface="Arial" panose="020B0604020202020204"/>
                          <a:cs typeface="Arial" panose="020B0604020202020204"/>
                        </a:rPr>
                        <a:t>O</a:t>
                      </a:r>
                      <a:r>
                        <a:rPr sz="1700" b="1" spc="5" dirty="0"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r>
                        <a:rPr sz="1700" b="1" dirty="0">
                          <a:latin typeface="Arial" panose="020B0604020202020204"/>
                          <a:cs typeface="Arial" panose="020B0604020202020204"/>
                        </a:rPr>
                        <a:t>3</a:t>
                      </a:r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8114">
                      <a:solidFill>
                        <a:srgbClr val="000000"/>
                      </a:solidFill>
                      <a:prstDash val="solid"/>
                    </a:lnL>
                    <a:lnR w="8114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  <a:solidFill>
                      <a:srgbClr val="99CC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7010">
              <a:lnSpc>
                <a:spcPct val="100000"/>
              </a:lnSpc>
            </a:pP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从</a:t>
            </a:r>
            <a:r>
              <a:rPr sz="3050" spc="10" dirty="0"/>
              <a:t>MULT</a:t>
            </a:r>
            <a:r>
              <a:rPr sz="3050" spc="-5" dirty="0"/>
              <a:t>I</a:t>
            </a:r>
            <a:r>
              <a:rPr sz="3050" spc="10" dirty="0"/>
              <a:t>C</a:t>
            </a:r>
            <a:r>
              <a:rPr sz="3050" spc="5" dirty="0"/>
              <a:t>S</a:t>
            </a: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到</a:t>
            </a:r>
            <a:r>
              <a:rPr sz="3050" spc="5" dirty="0"/>
              <a:t>UNI</a:t>
            </a:r>
            <a:r>
              <a:rPr sz="3050" spc="5" dirty="0"/>
              <a:t>X</a:t>
            </a:r>
            <a:r>
              <a:rPr sz="3050" spc="5" dirty="0"/>
              <a:t>(</a:t>
            </a:r>
            <a:r>
              <a:rPr sz="3050" dirty="0"/>
              <a:t>198</a:t>
            </a:r>
            <a:r>
              <a:rPr sz="3050" spc="5" dirty="0"/>
              <a:t>0</a:t>
            </a:r>
            <a:r>
              <a:rPr sz="3050" spc="5" dirty="0"/>
              <a:t>-</a:t>
            </a:r>
            <a:r>
              <a:rPr sz="3050" dirty="0"/>
              <a:t>1990)</a:t>
            </a:r>
            <a:endParaRPr sz="30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4963" y="1989050"/>
            <a:ext cx="9179560" cy="976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小型化计算机出现，</a:t>
            </a:r>
            <a:r>
              <a:rPr sz="2400" b="1" spc="-15" dirty="0">
                <a:latin typeface="Arial" panose="020B0604020202020204"/>
                <a:cs typeface="Arial" panose="020B0604020202020204"/>
              </a:rPr>
              <a:t>P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D</a:t>
            </a:r>
            <a:r>
              <a:rPr sz="2400" b="1" spc="-20" dirty="0">
                <a:latin typeface="Arial" panose="020B0604020202020204"/>
                <a:cs typeface="Arial" panose="020B0604020202020204"/>
              </a:rPr>
              <a:t>P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-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1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每台售价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120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,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000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美元，不足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7094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5%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65913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越来越多的个人可以使用计算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机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9951" y="2684639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91439" y="3168447"/>
            <a:ext cx="4164965" cy="1601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3000"/>
              </a:lnSpc>
            </a:pP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1969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年：贝尔实验室的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K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0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Tho</a:t>
            </a:r>
            <a:r>
              <a:rPr sz="2000" b="1" spc="3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2925" b="1" spc="-615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nn</a:t>
            </a:r>
            <a:r>
              <a:rPr sz="20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it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h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等在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一</a:t>
            </a:r>
            <a:r>
              <a:rPr sz="2925" b="1" spc="5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台没人使用的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-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7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上开发一个简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化</a:t>
            </a:r>
            <a:r>
              <a:rPr sz="2925" b="1" spc="5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spc="3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MU</a:t>
            </a:r>
            <a:r>
              <a:rPr sz="2000" b="1" spc="-13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0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，就是后来的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UN</a:t>
            </a:r>
            <a:r>
              <a:rPr sz="20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X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9951" y="3276952"/>
            <a:ext cx="160969" cy="16362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532018" y="2585920"/>
            <a:ext cx="2061488" cy="16065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937258" y="2635026"/>
            <a:ext cx="2302264" cy="1492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998132" y="4159208"/>
            <a:ext cx="3695065" cy="351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b="1" spc="37" baseline="-15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K</a:t>
            </a:r>
            <a:r>
              <a:rPr sz="3000" b="1" spc="30" baseline="-15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3000" b="1" spc="30" baseline="-15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3000" b="1" spc="15" baseline="-15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b="1" spc="30" baseline="-15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Tho</a:t>
            </a:r>
            <a:r>
              <a:rPr sz="3000" b="1" spc="60" baseline="-15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3000" b="1" spc="30" baseline="-15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3000" b="1" spc="30" baseline="-15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3000" b="1" spc="30" baseline="-15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3000" b="1" baseline="-15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b="1" spc="-209" baseline="-15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nn</a:t>
            </a:r>
            <a:r>
              <a:rPr sz="20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it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h</a:t>
            </a:r>
            <a:r>
              <a:rPr sz="20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91439" y="5073340"/>
            <a:ext cx="3856354" cy="713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4000"/>
              </a:lnSpc>
            </a:pPr>
            <a:r>
              <a:rPr sz="2000" b="1" spc="25" dirty="0">
                <a:latin typeface="Arial" panose="020B0604020202020204"/>
                <a:cs typeface="Arial" panose="020B0604020202020204"/>
              </a:rPr>
              <a:t>UN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X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是一个简化的</a:t>
            </a:r>
            <a:r>
              <a:rPr sz="2000" b="1" spc="35" dirty="0">
                <a:latin typeface="Arial" panose="020B0604020202020204"/>
                <a:cs typeface="Arial" panose="020B0604020202020204"/>
              </a:rPr>
              <a:t>MU</a:t>
            </a:r>
            <a:r>
              <a:rPr sz="2000" b="1" spc="-130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S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核</a:t>
            </a:r>
            <a:r>
              <a:rPr sz="2925" b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心概念差不多，但更灵活和成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功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9951" y="5187773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从</a:t>
            </a:r>
            <a:r>
              <a:rPr sz="3050" spc="5" dirty="0"/>
              <a:t>UNI</a:t>
            </a:r>
            <a:r>
              <a:rPr sz="3050" spc="5" dirty="0"/>
              <a:t>X</a:t>
            </a: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到</a:t>
            </a:r>
            <a:r>
              <a:rPr sz="3050" spc="5" dirty="0"/>
              <a:t>Linu</a:t>
            </a:r>
            <a:r>
              <a:rPr sz="3050" dirty="0"/>
              <a:t>x</a:t>
            </a:r>
            <a:r>
              <a:rPr sz="3050" spc="5" dirty="0"/>
              <a:t>(</a:t>
            </a:r>
            <a:r>
              <a:rPr sz="3050" dirty="0"/>
              <a:t>199</a:t>
            </a:r>
            <a:r>
              <a:rPr sz="3050" spc="5" dirty="0"/>
              <a:t>0</a:t>
            </a:r>
            <a:r>
              <a:rPr sz="3050" spc="5" dirty="0"/>
              <a:t>-</a:t>
            </a:r>
            <a:r>
              <a:rPr sz="3050" dirty="0"/>
              <a:t>2000)</a:t>
            </a:r>
            <a:endParaRPr sz="30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5022" y="2656240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5022" y="3133608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95022" y="4047773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441636" y="1882716"/>
            <a:ext cx="1496066" cy="22718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80034" y="1989050"/>
            <a:ext cx="6550025" cy="4210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Arial" panose="020B0604020202020204"/>
                <a:cs typeface="Arial" panose="020B0604020202020204"/>
              </a:rPr>
              <a:t>1981</a:t>
            </a:r>
            <a:r>
              <a:rPr lang="zh-CN" sz="2400" b="1" spc="-5" dirty="0">
                <a:latin typeface="Arial" panose="020B0604020202020204"/>
                <a:cs typeface="Arial" panose="020B0604020202020204"/>
              </a:rPr>
              <a:t>年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IBM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推出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IB</a:t>
            </a:r>
            <a:r>
              <a:rPr sz="2400" b="1" dirty="0">
                <a:latin typeface="Arial" panose="020B0604020202020204"/>
                <a:cs typeface="Arial" panose="020B0604020202020204"/>
              </a:rPr>
              <a:t>M</a:t>
            </a:r>
            <a:r>
              <a:rPr sz="2400"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spc="-15" dirty="0">
                <a:latin typeface="Arial" panose="020B0604020202020204"/>
                <a:cs typeface="Arial" panose="020B0604020202020204"/>
              </a:rPr>
              <a:t>P</a:t>
            </a:r>
            <a:r>
              <a:rPr sz="2400" b="1" spc="-15" dirty="0">
                <a:latin typeface="Arial" panose="020B0604020202020204"/>
                <a:cs typeface="Arial" panose="020B0604020202020204"/>
              </a:rPr>
              <a:t>C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；个人计算机开始普</a:t>
            </a:r>
            <a:r>
              <a:rPr sz="3450" b="1" spc="135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及</a:t>
            </a:r>
            <a:endParaRPr sz="3450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659130" marR="1805305">
              <a:lnSpc>
                <a:spcPct val="151000"/>
              </a:lnSpc>
              <a:spcBef>
                <a:spcPts val="850"/>
              </a:spcBef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很多人可以用计算机并接触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UN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X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1987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年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w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13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nb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u</a:t>
            </a:r>
            <a:r>
              <a:rPr sz="2000" b="1" spc="40" dirty="0">
                <a:latin typeface="Arial" panose="020B0604020202020204"/>
                <a:cs typeface="Arial" panose="020B0604020202020204"/>
              </a:rPr>
              <a:t>m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发布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了</a:t>
            </a:r>
            <a:r>
              <a:rPr sz="2925" b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spc="35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N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X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非常类似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UN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X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)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用于教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学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659130" marR="1517650">
              <a:lnSpc>
                <a:spcPct val="143000"/>
              </a:lnSpc>
              <a:spcBef>
                <a:spcPts val="290"/>
              </a:spcBef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nus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13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o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va</a:t>
            </a:r>
            <a:r>
              <a:rPr sz="2000" b="1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s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386sx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兼容微机上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学</a:t>
            </a:r>
            <a:r>
              <a:rPr sz="2925" b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习</a:t>
            </a:r>
            <a:r>
              <a:rPr sz="2000" b="1" spc="35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x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，作出小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nu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x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于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1991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年发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布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659130" marR="1570990">
              <a:lnSpc>
                <a:spcPct val="143000"/>
              </a:lnSpc>
              <a:spcBef>
                <a:spcPts val="800"/>
              </a:spcBef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1994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年，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nux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1</a:t>
            </a:r>
            <a:r>
              <a:rPr sz="2000" b="1" dirty="0">
                <a:latin typeface="Arial" panose="020B0604020202020204"/>
                <a:cs typeface="Arial" panose="020B0604020202020204"/>
              </a:rPr>
              <a:t>.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0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发布并采用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GP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L</a:t>
            </a:r>
            <a:r>
              <a:rPr sz="2925" b="1" spc="8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协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议，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1998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年以后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互联网世界里展开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了</a:t>
            </a:r>
            <a:r>
              <a:rPr sz="2925" b="1" spc="5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一场历史性的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nu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x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产业化运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动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95022" y="5021438"/>
            <a:ext cx="160969" cy="16362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706513" y="2441221"/>
            <a:ext cx="2332024" cy="1752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7472" y="1202167"/>
            <a:ext cx="9998455" cy="469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2750">
              <a:lnSpc>
                <a:spcPct val="100000"/>
              </a:lnSpc>
            </a:pPr>
            <a:r>
              <a:rPr spc="5" dirty="0">
                <a:solidFill>
                  <a:srgbClr val="FF3300"/>
                </a:solidFill>
              </a:rPr>
              <a:t>IBSYS</a:t>
            </a:r>
            <a:r>
              <a:rPr lang="en-US" spc="5" dirty="0">
                <a:solidFill>
                  <a:srgbClr val="FF3300"/>
                </a:solidFill>
              </a:rPr>
              <a:t>--&gt;</a:t>
            </a:r>
            <a:r>
              <a:rPr sz="3050" spc="5" dirty="0">
                <a:solidFill>
                  <a:srgbClr val="FF3300"/>
                </a:solidFill>
              </a:rPr>
              <a:t>OS/36</a:t>
            </a:r>
            <a:r>
              <a:rPr lang="en-US" sz="3050" spc="5" dirty="0">
                <a:solidFill>
                  <a:srgbClr val="FF3300"/>
                </a:solidFill>
              </a:rPr>
              <a:t>0--&gt;</a:t>
            </a:r>
            <a:r>
              <a:rPr sz="3050" spc="10" dirty="0">
                <a:solidFill>
                  <a:srgbClr val="FF3300"/>
                </a:solidFill>
              </a:rPr>
              <a:t>MULT</a:t>
            </a:r>
            <a:r>
              <a:rPr sz="3050" spc="-5" dirty="0">
                <a:solidFill>
                  <a:srgbClr val="FF3300"/>
                </a:solidFill>
              </a:rPr>
              <a:t>I</a:t>
            </a:r>
            <a:r>
              <a:rPr sz="3050" spc="10" dirty="0">
                <a:solidFill>
                  <a:srgbClr val="FF3300"/>
                </a:solidFill>
              </a:rPr>
              <a:t>C</a:t>
            </a:r>
            <a:r>
              <a:rPr sz="3050" spc="5" dirty="0">
                <a:solidFill>
                  <a:srgbClr val="FF3300"/>
                </a:solidFill>
              </a:rPr>
              <a:t>S</a:t>
            </a:r>
            <a:r>
              <a:rPr lang="en-US" sz="3050" spc="5" dirty="0">
                <a:solidFill>
                  <a:srgbClr val="FF3300"/>
                </a:solidFill>
              </a:rPr>
              <a:t>--&gt;</a:t>
            </a:r>
            <a:r>
              <a:rPr sz="3050" spc="5" dirty="0">
                <a:solidFill>
                  <a:srgbClr val="FF3300"/>
                </a:solidFill>
              </a:rPr>
              <a:t>Uni</a:t>
            </a:r>
            <a:r>
              <a:rPr lang="en-US" sz="3050" spc="5" dirty="0">
                <a:solidFill>
                  <a:srgbClr val="FF3300"/>
                </a:solidFill>
              </a:rPr>
              <a:t>x--&gt;</a:t>
            </a:r>
            <a:r>
              <a:rPr sz="3050" spc="5" dirty="0">
                <a:solidFill>
                  <a:srgbClr val="FF3300"/>
                </a:solidFill>
              </a:rPr>
              <a:t>Linux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4536" y="2001115"/>
            <a:ext cx="4911725" cy="908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总结历史：</a:t>
            </a: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历史要开始让人明智</a:t>
            </a:r>
            <a:r>
              <a:rPr sz="3450" b="1" spc="135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了</a:t>
            </a:r>
            <a:endParaRPr sz="3450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659130">
              <a:lnSpc>
                <a:spcPct val="100000"/>
              </a:lnSpc>
              <a:spcBef>
                <a:spcPts val="2000"/>
              </a:spcBef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用户通过执行程序来使用计算机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吻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合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49523" y="2645422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81012" y="3031094"/>
            <a:ext cx="3919220" cy="1388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53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冯诺依曼的思想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) </a:t>
            </a:r>
            <a:endParaRPr sz="2000" b="1" spc="10" dirty="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5300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作为管理者，操作系统要让多个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程</a:t>
            </a: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序合理推进，就是</a:t>
            </a:r>
            <a:r>
              <a:rPr sz="1950" b="1" spc="85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进程管</a:t>
            </a:r>
            <a:r>
              <a:rPr sz="1950" b="1" spc="75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理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49523" y="3559586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581012" y="4487905"/>
            <a:ext cx="4351655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多进程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用户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)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推进时需要内存复用等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等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49523" y="4538662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233227" y="1889478"/>
            <a:ext cx="1321435" cy="562610"/>
          </a:xfrm>
          <a:custGeom>
            <a:avLst/>
            <a:gdLst/>
            <a:ahLst/>
            <a:cxnLst/>
            <a:rect l="l" t="t" r="r" b="b"/>
            <a:pathLst>
              <a:path w="1321434" h="562610">
                <a:moveTo>
                  <a:pt x="0" y="0"/>
                </a:moveTo>
                <a:lnTo>
                  <a:pt x="1321050" y="0"/>
                </a:lnTo>
                <a:lnTo>
                  <a:pt x="1321050" y="562562"/>
                </a:lnTo>
                <a:lnTo>
                  <a:pt x="0" y="562562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361605" y="2036554"/>
            <a:ext cx="106299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操作系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统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233227" y="2452041"/>
            <a:ext cx="1321435" cy="1125220"/>
          </a:xfrm>
          <a:custGeom>
            <a:avLst/>
            <a:gdLst/>
            <a:ahLst/>
            <a:cxnLst/>
            <a:rect l="l" t="t" r="r" b="b"/>
            <a:pathLst>
              <a:path w="1321434" h="1125220">
                <a:moveTo>
                  <a:pt x="0" y="0"/>
                </a:moveTo>
                <a:lnTo>
                  <a:pt x="1321050" y="0"/>
                </a:lnTo>
                <a:lnTo>
                  <a:pt x="1321050" y="1125125"/>
                </a:lnTo>
                <a:lnTo>
                  <a:pt x="0" y="1125125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483938" y="2944284"/>
            <a:ext cx="70485" cy="70485"/>
          </a:xfrm>
          <a:custGeom>
            <a:avLst/>
            <a:gdLst/>
            <a:ahLst/>
            <a:cxnLst/>
            <a:rect l="l" t="t" r="r" b="b"/>
            <a:pathLst>
              <a:path w="70484" h="70485">
                <a:moveTo>
                  <a:pt x="70338" y="0"/>
                </a:moveTo>
                <a:lnTo>
                  <a:pt x="14067" y="14062"/>
                </a:lnTo>
                <a:lnTo>
                  <a:pt x="0" y="70319"/>
                </a:lnTo>
                <a:lnTo>
                  <a:pt x="70338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233227" y="2452041"/>
            <a:ext cx="1321435" cy="562610"/>
          </a:xfrm>
          <a:custGeom>
            <a:avLst/>
            <a:gdLst/>
            <a:ahLst/>
            <a:cxnLst/>
            <a:rect l="l" t="t" r="r" b="b"/>
            <a:pathLst>
              <a:path w="1321434" h="562610">
                <a:moveTo>
                  <a:pt x="1250711" y="562562"/>
                </a:moveTo>
                <a:lnTo>
                  <a:pt x="1264778" y="506306"/>
                </a:lnTo>
                <a:lnTo>
                  <a:pt x="1321050" y="492242"/>
                </a:lnTo>
                <a:lnTo>
                  <a:pt x="1250711" y="562562"/>
                </a:lnTo>
                <a:lnTo>
                  <a:pt x="0" y="562562"/>
                </a:lnTo>
                <a:lnTo>
                  <a:pt x="0" y="0"/>
                </a:lnTo>
                <a:lnTo>
                  <a:pt x="1321050" y="0"/>
                </a:lnTo>
                <a:lnTo>
                  <a:pt x="1321050" y="492242"/>
                </a:lnTo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598260" y="2591880"/>
            <a:ext cx="59055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J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O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B</a:t>
            </a:r>
            <a:r>
              <a:rPr sz="1700" b="1" dirty="0">
                <a:latin typeface="Arial" panose="020B0604020202020204"/>
                <a:cs typeface="Arial" panose="020B0604020202020204"/>
              </a:rPr>
              <a:t>1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233227" y="3014604"/>
            <a:ext cx="1321435" cy="562610"/>
          </a:xfrm>
          <a:custGeom>
            <a:avLst/>
            <a:gdLst/>
            <a:ahLst/>
            <a:cxnLst/>
            <a:rect l="l" t="t" r="r" b="b"/>
            <a:pathLst>
              <a:path w="1321434" h="562610">
                <a:moveTo>
                  <a:pt x="1321050" y="0"/>
                </a:moveTo>
                <a:lnTo>
                  <a:pt x="0" y="0"/>
                </a:lnTo>
                <a:lnTo>
                  <a:pt x="0" y="562563"/>
                </a:lnTo>
                <a:lnTo>
                  <a:pt x="1250711" y="562563"/>
                </a:lnTo>
                <a:lnTo>
                  <a:pt x="1321050" y="492243"/>
                </a:lnTo>
                <a:lnTo>
                  <a:pt x="13210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483938" y="3506847"/>
            <a:ext cx="70485" cy="70485"/>
          </a:xfrm>
          <a:custGeom>
            <a:avLst/>
            <a:gdLst/>
            <a:ahLst/>
            <a:cxnLst/>
            <a:rect l="l" t="t" r="r" b="b"/>
            <a:pathLst>
              <a:path w="70484" h="70485">
                <a:moveTo>
                  <a:pt x="70338" y="0"/>
                </a:moveTo>
                <a:lnTo>
                  <a:pt x="14067" y="14062"/>
                </a:lnTo>
                <a:lnTo>
                  <a:pt x="0" y="70319"/>
                </a:lnTo>
                <a:lnTo>
                  <a:pt x="70338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233227" y="3014604"/>
            <a:ext cx="1321435" cy="562610"/>
          </a:xfrm>
          <a:custGeom>
            <a:avLst/>
            <a:gdLst/>
            <a:ahLst/>
            <a:cxnLst/>
            <a:rect l="l" t="t" r="r" b="b"/>
            <a:pathLst>
              <a:path w="1321434" h="562610">
                <a:moveTo>
                  <a:pt x="1250711" y="562562"/>
                </a:moveTo>
                <a:lnTo>
                  <a:pt x="1264778" y="506306"/>
                </a:lnTo>
                <a:lnTo>
                  <a:pt x="1321050" y="492242"/>
                </a:lnTo>
                <a:lnTo>
                  <a:pt x="1250711" y="562562"/>
                </a:lnTo>
                <a:lnTo>
                  <a:pt x="0" y="562562"/>
                </a:lnTo>
                <a:lnTo>
                  <a:pt x="0" y="0"/>
                </a:lnTo>
                <a:lnTo>
                  <a:pt x="1321050" y="0"/>
                </a:lnTo>
                <a:lnTo>
                  <a:pt x="1321050" y="492242"/>
                </a:lnTo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598260" y="3154291"/>
            <a:ext cx="59055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J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O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B</a:t>
            </a:r>
            <a:r>
              <a:rPr sz="1700" b="1" dirty="0">
                <a:latin typeface="Arial" panose="020B0604020202020204"/>
                <a:cs typeface="Arial" panose="020B0604020202020204"/>
              </a:rPr>
              <a:t>2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118353" y="2452041"/>
            <a:ext cx="114935" cy="225425"/>
          </a:xfrm>
          <a:custGeom>
            <a:avLst/>
            <a:gdLst/>
            <a:ahLst/>
            <a:cxnLst/>
            <a:rect l="l" t="t" r="r" b="b"/>
            <a:pathLst>
              <a:path w="114935" h="225425">
                <a:moveTo>
                  <a:pt x="114874" y="167604"/>
                </a:moveTo>
                <a:lnTo>
                  <a:pt x="0" y="167604"/>
                </a:lnTo>
                <a:lnTo>
                  <a:pt x="57437" y="225024"/>
                </a:lnTo>
                <a:lnTo>
                  <a:pt x="114874" y="167604"/>
                </a:lnTo>
                <a:close/>
              </a:path>
              <a:path w="114935" h="225425">
                <a:moveTo>
                  <a:pt x="86155" y="0"/>
                </a:moveTo>
                <a:lnTo>
                  <a:pt x="28718" y="0"/>
                </a:lnTo>
                <a:lnTo>
                  <a:pt x="28718" y="167604"/>
                </a:lnTo>
                <a:lnTo>
                  <a:pt x="86155" y="167604"/>
                </a:lnTo>
                <a:lnTo>
                  <a:pt x="86155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118353" y="2452041"/>
            <a:ext cx="114935" cy="225425"/>
          </a:xfrm>
          <a:custGeom>
            <a:avLst/>
            <a:gdLst/>
            <a:ahLst/>
            <a:cxnLst/>
            <a:rect l="l" t="t" r="r" b="b"/>
            <a:pathLst>
              <a:path w="114935" h="225425">
                <a:moveTo>
                  <a:pt x="0" y="167604"/>
                </a:moveTo>
                <a:lnTo>
                  <a:pt x="28718" y="167604"/>
                </a:lnTo>
                <a:lnTo>
                  <a:pt x="28718" y="0"/>
                </a:lnTo>
                <a:lnTo>
                  <a:pt x="86155" y="0"/>
                </a:lnTo>
                <a:lnTo>
                  <a:pt x="86155" y="167604"/>
                </a:lnTo>
                <a:lnTo>
                  <a:pt x="114873" y="167604"/>
                </a:lnTo>
                <a:lnTo>
                  <a:pt x="57436" y="225025"/>
                </a:lnTo>
                <a:lnTo>
                  <a:pt x="0" y="167604"/>
                </a:lnTo>
                <a:close/>
              </a:path>
            </a:pathLst>
          </a:custGeom>
          <a:ln w="8115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118353" y="2733321"/>
            <a:ext cx="114935" cy="225425"/>
          </a:xfrm>
          <a:custGeom>
            <a:avLst/>
            <a:gdLst/>
            <a:ahLst/>
            <a:cxnLst/>
            <a:rect l="l" t="t" r="r" b="b"/>
            <a:pathLst>
              <a:path w="114935" h="225425">
                <a:moveTo>
                  <a:pt x="114874" y="167604"/>
                </a:moveTo>
                <a:lnTo>
                  <a:pt x="0" y="167604"/>
                </a:lnTo>
                <a:lnTo>
                  <a:pt x="57437" y="225024"/>
                </a:lnTo>
                <a:lnTo>
                  <a:pt x="114874" y="167604"/>
                </a:lnTo>
                <a:close/>
              </a:path>
              <a:path w="114935" h="225425">
                <a:moveTo>
                  <a:pt x="86155" y="0"/>
                </a:moveTo>
                <a:lnTo>
                  <a:pt x="28718" y="0"/>
                </a:lnTo>
                <a:lnTo>
                  <a:pt x="28718" y="167604"/>
                </a:lnTo>
                <a:lnTo>
                  <a:pt x="86155" y="167604"/>
                </a:lnTo>
                <a:lnTo>
                  <a:pt x="86155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118353" y="2733321"/>
            <a:ext cx="114935" cy="225425"/>
          </a:xfrm>
          <a:custGeom>
            <a:avLst/>
            <a:gdLst/>
            <a:ahLst/>
            <a:cxnLst/>
            <a:rect l="l" t="t" r="r" b="b"/>
            <a:pathLst>
              <a:path w="114935" h="225425">
                <a:moveTo>
                  <a:pt x="0" y="167604"/>
                </a:moveTo>
                <a:lnTo>
                  <a:pt x="28718" y="167604"/>
                </a:lnTo>
                <a:lnTo>
                  <a:pt x="28718" y="0"/>
                </a:lnTo>
                <a:lnTo>
                  <a:pt x="86155" y="0"/>
                </a:lnTo>
                <a:lnTo>
                  <a:pt x="86155" y="167604"/>
                </a:lnTo>
                <a:lnTo>
                  <a:pt x="114873" y="167604"/>
                </a:lnTo>
                <a:lnTo>
                  <a:pt x="57436" y="225025"/>
                </a:lnTo>
                <a:lnTo>
                  <a:pt x="0" y="167604"/>
                </a:lnTo>
                <a:close/>
              </a:path>
            </a:pathLst>
          </a:custGeom>
          <a:ln w="8115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060916" y="3014604"/>
            <a:ext cx="114935" cy="225425"/>
          </a:xfrm>
          <a:custGeom>
            <a:avLst/>
            <a:gdLst/>
            <a:ahLst/>
            <a:cxnLst/>
            <a:rect l="l" t="t" r="r" b="b"/>
            <a:pathLst>
              <a:path w="114935" h="225425">
                <a:moveTo>
                  <a:pt x="114874" y="167603"/>
                </a:moveTo>
                <a:lnTo>
                  <a:pt x="0" y="167603"/>
                </a:lnTo>
                <a:lnTo>
                  <a:pt x="57437" y="225024"/>
                </a:lnTo>
                <a:lnTo>
                  <a:pt x="114874" y="167603"/>
                </a:lnTo>
                <a:close/>
              </a:path>
              <a:path w="114935" h="225425">
                <a:moveTo>
                  <a:pt x="86155" y="0"/>
                </a:moveTo>
                <a:lnTo>
                  <a:pt x="28718" y="0"/>
                </a:lnTo>
                <a:lnTo>
                  <a:pt x="28718" y="167603"/>
                </a:lnTo>
                <a:lnTo>
                  <a:pt x="86155" y="167603"/>
                </a:lnTo>
                <a:lnTo>
                  <a:pt x="86155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060916" y="3014604"/>
            <a:ext cx="114935" cy="225425"/>
          </a:xfrm>
          <a:custGeom>
            <a:avLst/>
            <a:gdLst/>
            <a:ahLst/>
            <a:cxnLst/>
            <a:rect l="l" t="t" r="r" b="b"/>
            <a:pathLst>
              <a:path w="114935" h="225425">
                <a:moveTo>
                  <a:pt x="0" y="167604"/>
                </a:moveTo>
                <a:lnTo>
                  <a:pt x="28718" y="167604"/>
                </a:lnTo>
                <a:lnTo>
                  <a:pt x="28718" y="0"/>
                </a:lnTo>
                <a:lnTo>
                  <a:pt x="86155" y="0"/>
                </a:lnTo>
                <a:lnTo>
                  <a:pt x="86155" y="167604"/>
                </a:lnTo>
                <a:lnTo>
                  <a:pt x="114873" y="167604"/>
                </a:lnTo>
                <a:lnTo>
                  <a:pt x="57436" y="225025"/>
                </a:lnTo>
                <a:lnTo>
                  <a:pt x="0" y="167604"/>
                </a:lnTo>
                <a:close/>
              </a:path>
            </a:pathLst>
          </a:custGeom>
          <a:ln w="8115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061402" y="2668410"/>
            <a:ext cx="325120" cy="2077720"/>
          </a:xfrm>
          <a:custGeom>
            <a:avLst/>
            <a:gdLst/>
            <a:ahLst/>
            <a:cxnLst/>
            <a:rect l="l" t="t" r="r" b="b"/>
            <a:pathLst>
              <a:path w="325119" h="2077720">
                <a:moveTo>
                  <a:pt x="324646" y="0"/>
                </a:moveTo>
                <a:lnTo>
                  <a:pt x="285637" y="7666"/>
                </a:lnTo>
                <a:lnTo>
                  <a:pt x="250049" y="29442"/>
                </a:lnTo>
                <a:lnTo>
                  <a:pt x="219007" y="63496"/>
                </a:lnTo>
                <a:lnTo>
                  <a:pt x="193641" y="107994"/>
                </a:lnTo>
                <a:lnTo>
                  <a:pt x="175079" y="161104"/>
                </a:lnTo>
                <a:lnTo>
                  <a:pt x="167040" y="200390"/>
                </a:lnTo>
                <a:lnTo>
                  <a:pt x="162861" y="242145"/>
                </a:lnTo>
                <a:lnTo>
                  <a:pt x="162323" y="263778"/>
                </a:lnTo>
                <a:lnTo>
                  <a:pt x="162323" y="774799"/>
                </a:lnTo>
                <a:lnTo>
                  <a:pt x="161784" y="796433"/>
                </a:lnTo>
                <a:lnTo>
                  <a:pt x="157605" y="838188"/>
                </a:lnTo>
                <a:lnTo>
                  <a:pt x="149566" y="877473"/>
                </a:lnTo>
                <a:lnTo>
                  <a:pt x="131004" y="930583"/>
                </a:lnTo>
                <a:lnTo>
                  <a:pt x="105638" y="975081"/>
                </a:lnTo>
                <a:lnTo>
                  <a:pt x="74596" y="1009135"/>
                </a:lnTo>
                <a:lnTo>
                  <a:pt x="39008" y="1030911"/>
                </a:lnTo>
                <a:lnTo>
                  <a:pt x="0" y="1038578"/>
                </a:lnTo>
                <a:lnTo>
                  <a:pt x="13313" y="1039452"/>
                </a:lnTo>
                <a:lnTo>
                  <a:pt x="51306" y="1052025"/>
                </a:lnTo>
                <a:lnTo>
                  <a:pt x="85504" y="1078098"/>
                </a:lnTo>
                <a:lnTo>
                  <a:pt x="114779" y="1115836"/>
                </a:lnTo>
                <a:lnTo>
                  <a:pt x="138003" y="1163409"/>
                </a:lnTo>
                <a:lnTo>
                  <a:pt x="154047" y="1218982"/>
                </a:lnTo>
                <a:lnTo>
                  <a:pt x="160198" y="1259570"/>
                </a:lnTo>
                <a:lnTo>
                  <a:pt x="162323" y="1302357"/>
                </a:lnTo>
                <a:lnTo>
                  <a:pt x="162320" y="1813377"/>
                </a:lnTo>
                <a:lnTo>
                  <a:pt x="162858" y="1835011"/>
                </a:lnTo>
                <a:lnTo>
                  <a:pt x="167038" y="1876766"/>
                </a:lnTo>
                <a:lnTo>
                  <a:pt x="175076" y="1916051"/>
                </a:lnTo>
                <a:lnTo>
                  <a:pt x="193639" y="1969161"/>
                </a:lnTo>
                <a:lnTo>
                  <a:pt x="219005" y="2013659"/>
                </a:lnTo>
                <a:lnTo>
                  <a:pt x="250047" y="2047713"/>
                </a:lnTo>
                <a:lnTo>
                  <a:pt x="285635" y="2069489"/>
                </a:lnTo>
                <a:lnTo>
                  <a:pt x="324643" y="2077156"/>
                </a:lnTo>
                <a:lnTo>
                  <a:pt x="3246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061402" y="2668410"/>
            <a:ext cx="325120" cy="2077720"/>
          </a:xfrm>
          <a:custGeom>
            <a:avLst/>
            <a:gdLst/>
            <a:ahLst/>
            <a:cxnLst/>
            <a:rect l="l" t="t" r="r" b="b"/>
            <a:pathLst>
              <a:path w="325119" h="2077720">
                <a:moveTo>
                  <a:pt x="324643" y="2077155"/>
                </a:moveTo>
                <a:lnTo>
                  <a:pt x="285635" y="2069489"/>
                </a:lnTo>
                <a:lnTo>
                  <a:pt x="250046" y="2047713"/>
                </a:lnTo>
                <a:lnTo>
                  <a:pt x="219005" y="2013659"/>
                </a:lnTo>
                <a:lnTo>
                  <a:pt x="193639" y="1969161"/>
                </a:lnTo>
                <a:lnTo>
                  <a:pt x="175076" y="1916051"/>
                </a:lnTo>
                <a:lnTo>
                  <a:pt x="167038" y="1876766"/>
                </a:lnTo>
                <a:lnTo>
                  <a:pt x="162858" y="1835011"/>
                </a:lnTo>
                <a:lnTo>
                  <a:pt x="162320" y="1813377"/>
                </a:lnTo>
                <a:lnTo>
                  <a:pt x="162322" y="1302356"/>
                </a:lnTo>
                <a:lnTo>
                  <a:pt x="161784" y="1280722"/>
                </a:lnTo>
                <a:lnTo>
                  <a:pt x="157605" y="1238967"/>
                </a:lnTo>
                <a:lnTo>
                  <a:pt x="149566" y="1199682"/>
                </a:lnTo>
                <a:lnTo>
                  <a:pt x="131004" y="1146572"/>
                </a:lnTo>
                <a:lnTo>
                  <a:pt x="105638" y="1102074"/>
                </a:lnTo>
                <a:lnTo>
                  <a:pt x="74596" y="1068020"/>
                </a:lnTo>
                <a:lnTo>
                  <a:pt x="39008" y="1046243"/>
                </a:lnTo>
                <a:lnTo>
                  <a:pt x="0" y="1038577"/>
                </a:lnTo>
                <a:lnTo>
                  <a:pt x="13313" y="1037703"/>
                </a:lnTo>
                <a:lnTo>
                  <a:pt x="51306" y="1025130"/>
                </a:lnTo>
                <a:lnTo>
                  <a:pt x="85504" y="999057"/>
                </a:lnTo>
                <a:lnTo>
                  <a:pt x="114779" y="961318"/>
                </a:lnTo>
                <a:lnTo>
                  <a:pt x="138003" y="913746"/>
                </a:lnTo>
                <a:lnTo>
                  <a:pt x="154047" y="858173"/>
                </a:lnTo>
                <a:lnTo>
                  <a:pt x="160198" y="817585"/>
                </a:lnTo>
                <a:lnTo>
                  <a:pt x="162322" y="774799"/>
                </a:lnTo>
                <a:lnTo>
                  <a:pt x="162322" y="263778"/>
                </a:lnTo>
                <a:lnTo>
                  <a:pt x="162861" y="242144"/>
                </a:lnTo>
                <a:lnTo>
                  <a:pt x="167040" y="200389"/>
                </a:lnTo>
                <a:lnTo>
                  <a:pt x="175079" y="161104"/>
                </a:lnTo>
                <a:lnTo>
                  <a:pt x="193641" y="107994"/>
                </a:lnTo>
                <a:lnTo>
                  <a:pt x="219007" y="63496"/>
                </a:lnTo>
                <a:lnTo>
                  <a:pt x="250049" y="29442"/>
                </a:lnTo>
                <a:lnTo>
                  <a:pt x="285637" y="7666"/>
                </a:lnTo>
                <a:lnTo>
                  <a:pt x="311333" y="874"/>
                </a:lnTo>
                <a:lnTo>
                  <a:pt x="324646" y="0"/>
                </a:lnTo>
              </a:path>
            </a:pathLst>
          </a:custGeom>
          <a:ln w="16232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282543" y="3065873"/>
            <a:ext cx="803275" cy="886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2000"/>
              </a:lnSpc>
            </a:pPr>
            <a:r>
              <a:rPr sz="1950" b="1" spc="85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核心</a:t>
            </a:r>
            <a:r>
              <a:rPr sz="1950" b="1" spc="75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</a:t>
            </a:r>
            <a:r>
              <a:rPr sz="1950" b="1" spc="35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想、</a:t>
            </a:r>
            <a:r>
              <a:rPr sz="1950" b="1" spc="75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技</a:t>
            </a:r>
            <a:r>
              <a:rPr sz="1950" b="1" spc="55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术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82543" y="5207358"/>
            <a:ext cx="803275" cy="577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000"/>
              </a:lnSpc>
            </a:pPr>
            <a:r>
              <a:rPr sz="1950" b="1" spc="85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软件</a:t>
            </a:r>
            <a:r>
              <a:rPr sz="1950" b="1" spc="75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实</a:t>
            </a:r>
            <a:r>
              <a:rPr sz="1950" b="1" spc="55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现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079793" y="5070576"/>
            <a:ext cx="306705" cy="778510"/>
          </a:xfrm>
          <a:custGeom>
            <a:avLst/>
            <a:gdLst/>
            <a:ahLst/>
            <a:cxnLst/>
            <a:rect l="l" t="t" r="r" b="b"/>
            <a:pathLst>
              <a:path w="306705" h="778510">
                <a:moveTo>
                  <a:pt x="306252" y="778478"/>
                </a:moveTo>
                <a:lnTo>
                  <a:pt x="251394" y="774287"/>
                </a:lnTo>
                <a:lnTo>
                  <a:pt x="204543" y="762687"/>
                </a:lnTo>
                <a:lnTo>
                  <a:pt x="169010" y="745137"/>
                </a:lnTo>
                <a:lnTo>
                  <a:pt x="144961" y="715005"/>
                </a:lnTo>
                <a:lnTo>
                  <a:pt x="143930" y="460595"/>
                </a:lnTo>
                <a:lnTo>
                  <a:pt x="142834" y="452229"/>
                </a:lnTo>
                <a:lnTo>
                  <a:pt x="118552" y="422146"/>
                </a:lnTo>
                <a:lnTo>
                  <a:pt x="82885" y="404650"/>
                </a:lnTo>
                <a:lnTo>
                  <a:pt x="35934" y="393119"/>
                </a:lnTo>
                <a:lnTo>
                  <a:pt x="0" y="389466"/>
                </a:lnTo>
                <a:lnTo>
                  <a:pt x="16857" y="388780"/>
                </a:lnTo>
                <a:lnTo>
                  <a:pt x="65564" y="380352"/>
                </a:lnTo>
                <a:lnTo>
                  <a:pt x="106885" y="363859"/>
                </a:lnTo>
                <a:lnTo>
                  <a:pt x="140300" y="332642"/>
                </a:lnTo>
                <a:lnTo>
                  <a:pt x="143930" y="71129"/>
                </a:lnTo>
                <a:lnTo>
                  <a:pt x="145027" y="62762"/>
                </a:lnTo>
                <a:lnTo>
                  <a:pt x="169309" y="32680"/>
                </a:lnTo>
                <a:lnTo>
                  <a:pt x="204976" y="15184"/>
                </a:lnTo>
                <a:lnTo>
                  <a:pt x="251927" y="3652"/>
                </a:lnTo>
                <a:lnTo>
                  <a:pt x="269512" y="1386"/>
                </a:lnTo>
                <a:lnTo>
                  <a:pt x="287861" y="0"/>
                </a:lnTo>
              </a:path>
            </a:pathLst>
          </a:custGeom>
          <a:ln w="16231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855926" y="1889477"/>
            <a:ext cx="2207895" cy="779145"/>
          </a:xfrm>
          <a:custGeom>
            <a:avLst/>
            <a:gdLst/>
            <a:ahLst/>
            <a:cxnLst/>
            <a:rect l="l" t="t" r="r" b="b"/>
            <a:pathLst>
              <a:path w="2207895" h="779144">
                <a:moveTo>
                  <a:pt x="2207577" y="649109"/>
                </a:moveTo>
                <a:lnTo>
                  <a:pt x="2200466" y="691588"/>
                </a:lnTo>
                <a:lnTo>
                  <a:pt x="2180725" y="728173"/>
                </a:lnTo>
                <a:lnTo>
                  <a:pt x="2150743" y="756476"/>
                </a:lnTo>
                <a:lnTo>
                  <a:pt x="2112907" y="774110"/>
                </a:lnTo>
                <a:lnTo>
                  <a:pt x="919823" y="778933"/>
                </a:lnTo>
                <a:lnTo>
                  <a:pt x="537985" y="778933"/>
                </a:lnTo>
                <a:lnTo>
                  <a:pt x="367929" y="778933"/>
                </a:lnTo>
                <a:lnTo>
                  <a:pt x="129859" y="778933"/>
                </a:lnTo>
                <a:lnTo>
                  <a:pt x="115187" y="778113"/>
                </a:lnTo>
                <a:lnTo>
                  <a:pt x="74396" y="766530"/>
                </a:lnTo>
                <a:lnTo>
                  <a:pt x="40297" y="743116"/>
                </a:lnTo>
                <a:lnTo>
                  <a:pt x="15279" y="710260"/>
                </a:lnTo>
                <a:lnTo>
                  <a:pt x="1729" y="670348"/>
                </a:lnTo>
                <a:lnTo>
                  <a:pt x="0" y="649111"/>
                </a:lnTo>
                <a:lnTo>
                  <a:pt x="0" y="454378"/>
                </a:lnTo>
                <a:lnTo>
                  <a:pt x="0" y="129824"/>
                </a:lnTo>
                <a:lnTo>
                  <a:pt x="819" y="115156"/>
                </a:lnTo>
                <a:lnTo>
                  <a:pt x="12406" y="74376"/>
                </a:lnTo>
                <a:lnTo>
                  <a:pt x="35826" y="40286"/>
                </a:lnTo>
                <a:lnTo>
                  <a:pt x="68691" y="15275"/>
                </a:lnTo>
                <a:lnTo>
                  <a:pt x="108614" y="1728"/>
                </a:lnTo>
                <a:lnTo>
                  <a:pt x="367929" y="0"/>
                </a:lnTo>
                <a:lnTo>
                  <a:pt x="919823" y="0"/>
                </a:lnTo>
                <a:lnTo>
                  <a:pt x="2077718" y="0"/>
                </a:lnTo>
                <a:lnTo>
                  <a:pt x="2092389" y="819"/>
                </a:lnTo>
                <a:lnTo>
                  <a:pt x="2133180" y="12402"/>
                </a:lnTo>
                <a:lnTo>
                  <a:pt x="2167279" y="35816"/>
                </a:lnTo>
                <a:lnTo>
                  <a:pt x="2192298" y="68673"/>
                </a:lnTo>
                <a:lnTo>
                  <a:pt x="2205848" y="108585"/>
                </a:lnTo>
                <a:lnTo>
                  <a:pt x="2207577" y="454378"/>
                </a:lnTo>
                <a:lnTo>
                  <a:pt x="2207577" y="649111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7994717" y="2000698"/>
            <a:ext cx="1929130" cy="594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43180">
              <a:lnSpc>
                <a:spcPct val="10000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多进程结构是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</a:t>
            </a:r>
            <a:r>
              <a:rPr sz="1950" b="1" spc="3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作系统基本图谱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!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349523" y="5122862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1550670" y="4914900"/>
            <a:ext cx="6003925" cy="1045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7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对于操作系统，实现很重要</a:t>
            </a:r>
            <a:r>
              <a:rPr lang="en-US"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OS360-&gt;UNIX</a:t>
            </a:r>
            <a:endParaRPr sz="2925" b="1" spc="127" baseline="10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5080">
              <a:lnSpc>
                <a:spcPct val="17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需要真正的群体智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慧</a:t>
            </a:r>
            <a:r>
              <a:rPr sz="2925" b="1" spc="-615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UN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X</a:t>
            </a:r>
            <a:r>
              <a:rPr lang="en-US" sz="2000" b="1" spc="25" dirty="0">
                <a:latin typeface="Arial" panose="020B0604020202020204"/>
                <a:cs typeface="Arial" panose="020B0604020202020204"/>
              </a:rPr>
              <a:t>--&gt;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nux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349523" y="5642151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818643" y="5570458"/>
            <a:ext cx="1216204" cy="10575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1384141" y="6902591"/>
            <a:ext cx="5973445" cy="389890"/>
          </a:xfrm>
          <a:prstGeom prst="rect">
            <a:avLst/>
          </a:prstGeom>
          <a:solidFill>
            <a:srgbClr val="EAEAEA"/>
          </a:solidFill>
        </p:spPr>
        <p:txBody>
          <a:bodyPr vert="horz" wrap="square" lIns="0" tIns="0" rIns="0" bIns="0" rtlCol="0">
            <a:spAutoFit/>
          </a:bodyPr>
          <a:lstStyle/>
          <a:p>
            <a:pPr marL="475615">
              <a:lnSpc>
                <a:spcPct val="100000"/>
              </a:lnSpc>
            </a:pPr>
            <a:r>
              <a:rPr sz="2925" b="1" spc="127" baseline="1000" dirty="0">
                <a:solidFill>
                  <a:srgbClr val="00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任务：掌握操作系统的多进程图谱并实现它</a:t>
            </a:r>
            <a:r>
              <a:rPr sz="2000" b="1" spc="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!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855926" y="2780653"/>
            <a:ext cx="2207895" cy="1172845"/>
          </a:xfrm>
          <a:custGeom>
            <a:avLst/>
            <a:gdLst/>
            <a:ahLst/>
            <a:cxnLst/>
            <a:rect l="l" t="t" r="r" b="b"/>
            <a:pathLst>
              <a:path w="2207895" h="1172845">
                <a:moveTo>
                  <a:pt x="2207577" y="977043"/>
                </a:moveTo>
                <a:lnTo>
                  <a:pt x="2201896" y="1024003"/>
                </a:lnTo>
                <a:lnTo>
                  <a:pt x="2185759" y="1066846"/>
                </a:lnTo>
                <a:lnTo>
                  <a:pt x="2160525" y="1104216"/>
                </a:lnTo>
                <a:lnTo>
                  <a:pt x="2127551" y="1134753"/>
                </a:lnTo>
                <a:lnTo>
                  <a:pt x="2088195" y="1157099"/>
                </a:lnTo>
                <a:lnTo>
                  <a:pt x="2043816" y="1169898"/>
                </a:lnTo>
                <a:lnTo>
                  <a:pt x="2012111" y="1172456"/>
                </a:lnTo>
                <a:lnTo>
                  <a:pt x="919823" y="1172456"/>
                </a:lnTo>
                <a:lnTo>
                  <a:pt x="537985" y="1172456"/>
                </a:lnTo>
                <a:lnTo>
                  <a:pt x="367929" y="1172456"/>
                </a:lnTo>
                <a:lnTo>
                  <a:pt x="195466" y="1172456"/>
                </a:lnTo>
                <a:lnTo>
                  <a:pt x="179434" y="1171808"/>
                </a:lnTo>
                <a:lnTo>
                  <a:pt x="133683" y="1162494"/>
                </a:lnTo>
                <a:lnTo>
                  <a:pt x="92502" y="1143179"/>
                </a:lnTo>
                <a:lnTo>
                  <a:pt x="57250" y="1115221"/>
                </a:lnTo>
                <a:lnTo>
                  <a:pt x="29285" y="1079978"/>
                </a:lnTo>
                <a:lnTo>
                  <a:pt x="9964" y="1038808"/>
                </a:lnTo>
                <a:lnTo>
                  <a:pt x="647" y="993070"/>
                </a:lnTo>
                <a:lnTo>
                  <a:pt x="0" y="977043"/>
                </a:lnTo>
                <a:lnTo>
                  <a:pt x="0" y="683932"/>
                </a:lnTo>
                <a:lnTo>
                  <a:pt x="0" y="195413"/>
                </a:lnTo>
                <a:lnTo>
                  <a:pt x="647" y="179386"/>
                </a:lnTo>
                <a:lnTo>
                  <a:pt x="9964" y="133647"/>
                </a:lnTo>
                <a:lnTo>
                  <a:pt x="29285" y="92477"/>
                </a:lnTo>
                <a:lnTo>
                  <a:pt x="57250" y="57235"/>
                </a:lnTo>
                <a:lnTo>
                  <a:pt x="92502" y="29277"/>
                </a:lnTo>
                <a:lnTo>
                  <a:pt x="133683" y="9962"/>
                </a:lnTo>
                <a:lnTo>
                  <a:pt x="179434" y="647"/>
                </a:lnTo>
                <a:lnTo>
                  <a:pt x="195466" y="0"/>
                </a:lnTo>
                <a:lnTo>
                  <a:pt x="367929" y="0"/>
                </a:lnTo>
                <a:lnTo>
                  <a:pt x="919823" y="0"/>
                </a:lnTo>
                <a:lnTo>
                  <a:pt x="2012111" y="0"/>
                </a:lnTo>
                <a:lnTo>
                  <a:pt x="2028142" y="647"/>
                </a:lnTo>
                <a:lnTo>
                  <a:pt x="2073893" y="9962"/>
                </a:lnTo>
                <a:lnTo>
                  <a:pt x="2115074" y="29277"/>
                </a:lnTo>
                <a:lnTo>
                  <a:pt x="2150326" y="57235"/>
                </a:lnTo>
                <a:lnTo>
                  <a:pt x="2178292" y="92477"/>
                </a:lnTo>
                <a:lnTo>
                  <a:pt x="2197612" y="133647"/>
                </a:lnTo>
                <a:lnTo>
                  <a:pt x="2206929" y="179386"/>
                </a:lnTo>
                <a:lnTo>
                  <a:pt x="2207577" y="195413"/>
                </a:lnTo>
                <a:lnTo>
                  <a:pt x="2207577" y="683932"/>
                </a:lnTo>
                <a:lnTo>
                  <a:pt x="2207577" y="977047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8037996" y="2910836"/>
            <a:ext cx="1841500" cy="903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 marR="5080" algn="ctr">
              <a:lnSpc>
                <a:spcPct val="10200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对于操作系统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950" b="1" spc="3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实现概念远比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理</a:t>
            </a:r>
            <a:r>
              <a:rPr sz="1950" b="1" spc="3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解概念重要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!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87924" y="2196453"/>
            <a:ext cx="1517709" cy="136854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982093" y="1761007"/>
            <a:ext cx="1404084" cy="7667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历史是多线条的：</a:t>
            </a:r>
            <a:r>
              <a:rPr sz="3050" spc="5" dirty="0"/>
              <a:t>P</a:t>
            </a:r>
            <a:r>
              <a:rPr sz="3050" spc="10" dirty="0"/>
              <a:t>C</a:t>
            </a: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与</a:t>
            </a:r>
            <a:r>
              <a:rPr sz="3050" spc="10" dirty="0"/>
              <a:t>DOS</a:t>
            </a:r>
            <a:endParaRPr sz="30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4963" y="1989050"/>
            <a:ext cx="686625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latin typeface="Arial" panose="020B0604020202020204"/>
                <a:cs typeface="Arial" panose="020B0604020202020204"/>
              </a:rPr>
              <a:t>P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C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机的诞生一定会导致百花齐放。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IBM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推出</a:t>
            </a:r>
            <a:r>
              <a:rPr sz="2400" b="1" spc="-15" dirty="0">
                <a:latin typeface="Arial" panose="020B0604020202020204"/>
                <a:cs typeface="Arial" panose="020B0604020202020204"/>
              </a:rPr>
              <a:t>P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C</a:t>
            </a:r>
            <a:r>
              <a:rPr sz="3450" b="1" spc="135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endParaRPr sz="3450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9951" y="3063288"/>
            <a:ext cx="160969" cy="1636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74833" y="2357872"/>
            <a:ext cx="4571365" cy="2366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7030" marR="5080" indent="-354965">
              <a:lnSpc>
                <a:spcPct val="150000"/>
              </a:lnSpc>
            </a:pPr>
            <a:r>
              <a:rPr sz="230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自然要给这个机器配一个操作系</a:t>
            </a:r>
            <a:r>
              <a:rPr sz="2300" b="1" spc="90" dirty="0">
                <a:latin typeface="宋体" panose="02010600030101010101" pitchFamily="2" charset="-122"/>
                <a:cs typeface="宋体" panose="02010600030101010101" pitchFamily="2" charset="-122"/>
              </a:rPr>
              <a:t>统</a:t>
            </a:r>
            <a:r>
              <a:rPr sz="2300" b="1" spc="4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1975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年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g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esea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h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lt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8800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开发了操作系统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/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endParaRPr sz="2000" b="1" spc="5" dirty="0">
              <a:latin typeface="Arial" panose="020B0604020202020204"/>
              <a:cs typeface="Arial" panose="020B0604020202020204"/>
            </a:endParaRPr>
          </a:p>
          <a:p>
            <a:pPr marL="367030" marR="5080" indent="-354965">
              <a:lnSpc>
                <a:spcPct val="150000"/>
              </a:lnSpc>
            </a:pPr>
            <a:r>
              <a:rPr lang="en-US"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    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0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2000" b="1" spc="3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：写命令让用户用，执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行</a:t>
            </a:r>
            <a:r>
              <a:rPr sz="2925" b="1" spc="5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命令对应的程序，单任务执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行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9951" y="3967985"/>
            <a:ext cx="160969" cy="1636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947210" y="2275849"/>
            <a:ext cx="1700530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8080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芯片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8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位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82995" y="3045802"/>
            <a:ext cx="12668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lt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880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467089" y="2833394"/>
            <a:ext cx="3051651" cy="19040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623918" y="3431106"/>
            <a:ext cx="67373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0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91439" y="4723596"/>
            <a:ext cx="4788535" cy="730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3000"/>
              </a:lnSpc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1980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出现了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808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6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16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位芯片，从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/</a:t>
            </a:r>
            <a:r>
              <a:rPr sz="2000" b="1" spc="35" dirty="0">
                <a:latin typeface="Arial" panose="020B0604020202020204"/>
                <a:cs typeface="Arial" panose="020B0604020202020204"/>
              </a:rPr>
              <a:t>M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基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础</a:t>
            </a:r>
            <a:r>
              <a:rPr sz="2925" b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上开发了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Q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OS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(Qu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k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nd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ty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OS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)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9951" y="4928129"/>
            <a:ext cx="160969" cy="1636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7010">
              <a:lnSpc>
                <a:spcPct val="100000"/>
              </a:lnSpc>
            </a:pP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从</a:t>
            </a:r>
            <a:r>
              <a:rPr sz="3050" spc="10" dirty="0"/>
              <a:t>QDO</a:t>
            </a:r>
            <a:r>
              <a:rPr sz="3050" spc="5" dirty="0"/>
              <a:t>S</a:t>
            </a: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到</a:t>
            </a:r>
            <a:r>
              <a:rPr sz="3050" spc="10" dirty="0"/>
              <a:t>M</a:t>
            </a:r>
            <a:r>
              <a:rPr sz="3050" spc="5" dirty="0"/>
              <a:t>S</a:t>
            </a:r>
            <a:r>
              <a:rPr sz="3050" spc="10" dirty="0"/>
              <a:t>-DOS</a:t>
            </a:r>
            <a:endParaRPr sz="30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5022" y="2424995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5022" y="3370262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56005" y="1910715"/>
            <a:ext cx="7973060" cy="2160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9130" marR="5080" indent="-647065">
              <a:lnSpc>
                <a:spcPct val="135000"/>
              </a:lnSpc>
            </a:pPr>
            <a:r>
              <a:rPr sz="2400" b="1" spc="-10" dirty="0">
                <a:latin typeface="Arial" panose="020B0604020202020204"/>
                <a:cs typeface="Arial" panose="020B0604020202020204"/>
              </a:rPr>
              <a:t>Bil</a:t>
            </a:r>
            <a:r>
              <a:rPr sz="2400" b="1" dirty="0">
                <a:latin typeface="Arial" panose="020B0604020202020204"/>
                <a:cs typeface="Arial" panose="020B0604020202020204"/>
              </a:rPr>
              <a:t>l</a:t>
            </a:r>
            <a:r>
              <a:rPr sz="2400" b="1" spc="-15" dirty="0">
                <a:latin typeface="Arial" panose="020B0604020202020204"/>
                <a:cs typeface="Arial" panose="020B0604020202020204"/>
              </a:rPr>
              <a:t> G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a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e</a:t>
            </a:r>
            <a:r>
              <a:rPr sz="2400" b="1" dirty="0">
                <a:latin typeface="Arial" panose="020B0604020202020204"/>
                <a:cs typeface="Arial" panose="020B0604020202020204"/>
              </a:rPr>
              <a:t>s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要进入历史舞台了</a:t>
            </a:r>
            <a:r>
              <a:rPr sz="2400" b="1" dirty="0">
                <a:latin typeface="Arial" panose="020B0604020202020204"/>
                <a:cs typeface="Arial" panose="020B0604020202020204"/>
              </a:rPr>
              <a:t>…   </a:t>
            </a:r>
            <a:endParaRPr sz="2400" b="1" dirty="0">
              <a:latin typeface="Arial" panose="020B0604020202020204"/>
              <a:cs typeface="Arial" panose="020B0604020202020204"/>
            </a:endParaRPr>
          </a:p>
          <a:p>
            <a:pPr marL="659130" marR="5080" indent="-647065">
              <a:lnSpc>
                <a:spcPct val="135000"/>
              </a:lnSpc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1975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年，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22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岁的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Pa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u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dirty="0">
                <a:latin typeface="Arial" panose="020B0604020202020204"/>
                <a:cs typeface="Arial" panose="020B0604020202020204"/>
              </a:rPr>
              <a:t>ll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n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20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岁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2925" b="1" spc="-615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B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ll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G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es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endParaRPr sz="2925" b="1" spc="127" baseline="10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659130" marR="5080" indent="-647065">
              <a:lnSpc>
                <a:spcPct val="135000"/>
              </a:lnSpc>
            </a:pPr>
            <a:r>
              <a:rPr sz="2000" b="1" spc="25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lt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8800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开发了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BA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S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解释器，据此开创了微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软</a:t>
            </a:r>
            <a:endParaRPr sz="2925" b="1" spc="112" baseline="10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659130" marR="5080" indent="-647065">
              <a:lnSpc>
                <a:spcPct val="135000"/>
              </a:lnSpc>
            </a:pP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1977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年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B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ll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G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es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开发</a:t>
            </a:r>
            <a:r>
              <a:rPr sz="2000" b="1" spc="-90" dirty="0">
                <a:latin typeface="Arial" panose="020B0604020202020204"/>
                <a:cs typeface="Arial" panose="020B0604020202020204"/>
              </a:rPr>
              <a:t>F</a:t>
            </a:r>
            <a:r>
              <a:rPr sz="2000" b="1" spc="-1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T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管理磁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盘</a:t>
            </a:r>
            <a:r>
              <a:rPr sz="2925" b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sz="2925" b="1" spc="52" baseline="10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659130" marR="5080" indent="-647065">
              <a:lnSpc>
                <a:spcPct val="135000"/>
              </a:lnSpc>
            </a:pPr>
            <a:r>
              <a:rPr sz="2000" b="1" spc="30" dirty="0">
                <a:latin typeface="Arial" panose="020B0604020202020204"/>
                <a:cs typeface="Arial" panose="020B0604020202020204"/>
              </a:rPr>
              <a:t>Q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DOS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的成功在于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CP</a:t>
            </a:r>
            <a:r>
              <a:rPr sz="20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2000" b="1" spc="3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为基础将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BAS</a:t>
            </a:r>
            <a:r>
              <a:rPr sz="20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sz="2000" b="1" spc="-9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F</a:t>
            </a:r>
            <a:r>
              <a:rPr sz="2000" b="1" spc="-1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包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含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了进来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95022" y="3889551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333422" y="2722504"/>
            <a:ext cx="1688147" cy="1517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359977" y="4227983"/>
            <a:ext cx="4869815" cy="507365"/>
          </a:xfrm>
          <a:custGeom>
            <a:avLst/>
            <a:gdLst/>
            <a:ahLst/>
            <a:cxnLst/>
            <a:rect l="l" t="t" r="r" b="b"/>
            <a:pathLst>
              <a:path w="4869815" h="507364">
                <a:moveTo>
                  <a:pt x="4869656" y="431553"/>
                </a:moveTo>
                <a:lnTo>
                  <a:pt x="4857953" y="472008"/>
                </a:lnTo>
                <a:lnTo>
                  <a:pt x="4827523" y="499435"/>
                </a:lnTo>
                <a:lnTo>
                  <a:pt x="4058046" y="507283"/>
                </a:lnTo>
                <a:lnTo>
                  <a:pt x="2840632" y="507283"/>
                </a:lnTo>
                <a:lnTo>
                  <a:pt x="75750" y="507283"/>
                </a:lnTo>
                <a:lnTo>
                  <a:pt x="61246" y="505896"/>
                </a:lnTo>
                <a:lnTo>
                  <a:pt x="24344" y="487176"/>
                </a:lnTo>
                <a:lnTo>
                  <a:pt x="2813" y="452073"/>
                </a:lnTo>
                <a:lnTo>
                  <a:pt x="0" y="242229"/>
                </a:lnTo>
                <a:lnTo>
                  <a:pt x="0" y="128634"/>
                </a:lnTo>
                <a:lnTo>
                  <a:pt x="1387" y="114135"/>
                </a:lnTo>
                <a:lnTo>
                  <a:pt x="5374" y="100563"/>
                </a:lnTo>
                <a:lnTo>
                  <a:pt x="30342" y="68013"/>
                </a:lnTo>
                <a:lnTo>
                  <a:pt x="69357" y="53171"/>
                </a:lnTo>
                <a:lnTo>
                  <a:pt x="2840632" y="52905"/>
                </a:lnTo>
                <a:lnTo>
                  <a:pt x="3631739" y="0"/>
                </a:lnTo>
                <a:lnTo>
                  <a:pt x="4058046" y="52905"/>
                </a:lnTo>
                <a:lnTo>
                  <a:pt x="4793906" y="52905"/>
                </a:lnTo>
                <a:lnTo>
                  <a:pt x="4808409" y="54291"/>
                </a:lnTo>
                <a:lnTo>
                  <a:pt x="4845312" y="73012"/>
                </a:lnTo>
                <a:lnTo>
                  <a:pt x="4866842" y="108115"/>
                </a:lnTo>
                <a:lnTo>
                  <a:pt x="4869656" y="128634"/>
                </a:lnTo>
                <a:lnTo>
                  <a:pt x="4869656" y="242229"/>
                </a:lnTo>
                <a:lnTo>
                  <a:pt x="4869656" y="431553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531219" y="4308369"/>
            <a:ext cx="4525645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文件管理和编程环境</a:t>
            </a:r>
            <a:r>
              <a:rPr sz="2000" b="1" spc="40" dirty="0">
                <a:latin typeface="Arial" panose="020B0604020202020204"/>
                <a:cs typeface="Arial" panose="020B0604020202020204"/>
              </a:rPr>
              <a:t>…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都是用户关心的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!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242617" y="4540026"/>
            <a:ext cx="1918103" cy="16876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126511" y="4812373"/>
            <a:ext cx="5191760" cy="1601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3000"/>
              </a:lnSpc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1980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年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35" dirty="0">
                <a:latin typeface="Arial" panose="020B0604020202020204"/>
                <a:cs typeface="Arial" panose="020B0604020202020204"/>
              </a:rPr>
              <a:t>BM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想和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g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esea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h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协议授权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使</a:t>
            </a:r>
            <a:r>
              <a:rPr sz="2925" b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用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/</a:t>
            </a:r>
            <a:r>
              <a:rPr sz="2000" b="1" spc="35" dirty="0">
                <a:latin typeface="Arial" panose="020B0604020202020204"/>
                <a:cs typeface="Arial" panose="020B0604020202020204"/>
              </a:rPr>
              <a:t>M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，但没有达成，转向和微软合作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；</a:t>
            </a:r>
            <a:r>
              <a:rPr sz="2925" b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1981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微软买下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Q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OS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，改名为</a:t>
            </a:r>
            <a:r>
              <a:rPr sz="2000" b="1" spc="35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S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-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O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S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s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k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OS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)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，和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B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打包一起出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售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95022" y="4997203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217614" y="6624630"/>
            <a:ext cx="13595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727420" y="1045632"/>
            <a:ext cx="2570096" cy="16227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562394" y="2299229"/>
            <a:ext cx="2827106" cy="21217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从</a:t>
            </a:r>
            <a:r>
              <a:rPr sz="3050" spc="10" dirty="0"/>
              <a:t>M</a:t>
            </a:r>
            <a:r>
              <a:rPr sz="3050" spc="5" dirty="0"/>
              <a:t>S</a:t>
            </a:r>
            <a:r>
              <a:rPr sz="3050" spc="10" dirty="0"/>
              <a:t>-DO</a:t>
            </a:r>
            <a:r>
              <a:rPr sz="3050" spc="5" dirty="0"/>
              <a:t>S</a:t>
            </a: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到</a:t>
            </a:r>
            <a:r>
              <a:rPr sz="3050" spc="15" dirty="0"/>
              <a:t>W</a:t>
            </a:r>
            <a:r>
              <a:rPr sz="3050" spc="-5" dirty="0"/>
              <a:t>i</a:t>
            </a:r>
            <a:r>
              <a:rPr sz="3050" spc="5" dirty="0"/>
              <a:t>ndo</a:t>
            </a:r>
            <a:r>
              <a:rPr sz="3050" spc="5" dirty="0"/>
              <a:t>w</a:t>
            </a:r>
            <a:r>
              <a:rPr sz="3050" spc="5" dirty="0"/>
              <a:t>s</a:t>
            </a:r>
            <a:endParaRPr sz="30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95022" y="3063286"/>
            <a:ext cx="160969" cy="1636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95022" y="4422363"/>
            <a:ext cx="160969" cy="1636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95022" y="4928129"/>
            <a:ext cx="160969" cy="1636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904373" y="949619"/>
            <a:ext cx="2791936" cy="177694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892198" y="1988196"/>
            <a:ext cx="2804110" cy="15578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80034" y="1989050"/>
            <a:ext cx="5817235" cy="4316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800" marR="1564005" indent="-292100">
              <a:lnSpc>
                <a:spcPct val="131000"/>
              </a:lnSpc>
            </a:pPr>
            <a:r>
              <a:rPr sz="2100" spc="40" dirty="0">
                <a:solidFill>
                  <a:srgbClr val="993300"/>
                </a:solidFill>
                <a:latin typeface="Lucida Sans" panose="020B0602030504020204"/>
                <a:cs typeface="Lucida Sans" panose="020B0602030504020204"/>
              </a:rPr>
              <a:t> 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M</a:t>
            </a:r>
            <a:r>
              <a:rPr sz="2400" b="1" spc="-15" dirty="0">
                <a:latin typeface="Arial" panose="020B0604020202020204"/>
                <a:cs typeface="Arial" panose="020B0604020202020204"/>
              </a:rPr>
              <a:t>S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-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D</a:t>
            </a:r>
            <a:r>
              <a:rPr sz="2400" b="1" spc="-15" dirty="0">
                <a:latin typeface="Arial" panose="020B0604020202020204"/>
                <a:cs typeface="Arial" panose="020B0604020202020204"/>
              </a:rPr>
              <a:t>OS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的磁盘、文件、命</a:t>
            </a:r>
            <a:r>
              <a:rPr sz="3450" b="1" spc="135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令</a:t>
            </a:r>
            <a:r>
              <a:rPr sz="3450" b="1" spc="6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30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让用方便，但似乎可以更方</a:t>
            </a:r>
            <a:r>
              <a:rPr sz="2300" b="1" spc="90" dirty="0">
                <a:latin typeface="宋体" panose="02010600030101010101" pitchFamily="2" charset="-122"/>
                <a:cs typeface="宋体" panose="02010600030101010101" pitchFamily="2" charset="-122"/>
              </a:rPr>
              <a:t>便</a:t>
            </a:r>
            <a:endParaRPr sz="23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659130">
              <a:lnSpc>
                <a:spcPct val="100000"/>
              </a:lnSpc>
              <a:spcBef>
                <a:spcPts val="1620"/>
              </a:spcBef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1989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年，</a:t>
            </a:r>
            <a:r>
              <a:rPr sz="2000" b="1" spc="35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S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-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OS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4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.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0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出现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659130" marR="1765300">
              <a:lnSpc>
                <a:spcPts val="3460"/>
              </a:lnSpc>
              <a:spcBef>
                <a:spcPts val="235"/>
              </a:spcBef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支持了鼠标和键盘，此时微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软</a:t>
            </a:r>
            <a:r>
              <a:rPr sz="19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已经决定要放弃</a:t>
            </a:r>
            <a:r>
              <a:rPr sz="2000" b="1" spc="35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S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-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OS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659130">
              <a:lnSpc>
                <a:spcPct val="100000"/>
              </a:lnSpc>
              <a:spcBef>
                <a:spcPts val="1140"/>
              </a:spcBef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不久后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W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indow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s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3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.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0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大获成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功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659130" marR="5080">
              <a:lnSpc>
                <a:spcPct val="151000"/>
              </a:lnSpc>
              <a:spcBef>
                <a:spcPts val="350"/>
              </a:spcBef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后来就是一发不可收拾了，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95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XP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V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s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925" b="1" spc="8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W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in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7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W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in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8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…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endParaRPr sz="2000" b="1" spc="5" dirty="0">
              <a:latin typeface="Arial" panose="020B0604020202020204"/>
              <a:cs typeface="Arial" panose="020B0604020202020204"/>
            </a:endParaRPr>
          </a:p>
          <a:p>
            <a:pPr marL="659130" marR="5080">
              <a:lnSpc>
                <a:spcPct val="151000"/>
              </a:lnSpc>
              <a:spcBef>
                <a:spcPts val="350"/>
              </a:spcBef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文件、开发环境、图形界面对于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OS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的重要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性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33092" y="2772709"/>
            <a:ext cx="61595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06852" y="1895294"/>
            <a:ext cx="149606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35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S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-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OS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4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.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0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312066" y="3452738"/>
            <a:ext cx="159258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W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indow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s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3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.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0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03233" y="1345052"/>
            <a:ext cx="112141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3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_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95657" y="6014238"/>
            <a:ext cx="160969" cy="1636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18" name="object 18"/>
          <p:cNvSpPr txBox="1"/>
          <p:nvPr/>
        </p:nvSpPr>
        <p:spPr>
          <a:xfrm>
            <a:off x="5131033" y="6459594"/>
            <a:ext cx="43116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b="1" spc="5" dirty="0">
                <a:latin typeface="Arial" panose="020B0604020202020204"/>
                <a:cs typeface="Arial" panose="020B0604020202020204"/>
              </a:rPr>
              <a:t>-</a:t>
            </a:r>
            <a:r>
              <a:rPr sz="135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1350" b="1" dirty="0">
                <a:latin typeface="Arial" panose="020B0604020202020204"/>
                <a:cs typeface="Arial" panose="020B0604020202020204"/>
              </a:rPr>
              <a:t>1</a:t>
            </a:r>
            <a:r>
              <a:rPr sz="1350" b="1" spc="5" dirty="0">
                <a:latin typeface="Arial" panose="020B0604020202020204"/>
                <a:cs typeface="Arial" panose="020B0604020202020204"/>
              </a:rPr>
              <a:t>0</a:t>
            </a:r>
            <a:r>
              <a:rPr sz="1350" b="1" dirty="0">
                <a:latin typeface="Arial" panose="020B0604020202020204"/>
                <a:cs typeface="Arial" panose="020B0604020202020204"/>
              </a:rPr>
              <a:t> </a:t>
            </a:r>
            <a:r>
              <a:rPr sz="1350" b="1" spc="5" dirty="0">
                <a:latin typeface="Arial" panose="020B0604020202020204"/>
                <a:cs typeface="Arial" panose="020B0604020202020204"/>
              </a:rPr>
              <a:t>-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470">
              <a:lnSpc>
                <a:spcPct val="100000"/>
              </a:lnSpc>
            </a:pP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还要说一说</a:t>
            </a:r>
            <a:r>
              <a:rPr sz="3050" spc="10" dirty="0"/>
              <a:t>M</a:t>
            </a:r>
            <a:r>
              <a:rPr sz="3050" dirty="0"/>
              <a:t>a</a:t>
            </a:r>
            <a:r>
              <a:rPr sz="3050" spc="5" dirty="0"/>
              <a:t>c</a:t>
            </a:r>
            <a:r>
              <a:rPr sz="3050" spc="-5" dirty="0"/>
              <a:t> </a:t>
            </a:r>
            <a:r>
              <a:rPr sz="3050" spc="5" dirty="0"/>
              <a:t>O</a:t>
            </a:r>
            <a:r>
              <a:rPr sz="3050" spc="10" dirty="0"/>
              <a:t>S</a:t>
            </a:r>
            <a:r>
              <a:rPr sz="2950" spc="100" dirty="0">
                <a:latin typeface="宋体" panose="02010600030101010101" pitchFamily="2" charset="-122"/>
                <a:cs typeface="宋体" panose="02010600030101010101" pitchFamily="2" charset="-122"/>
              </a:rPr>
              <a:t>与</a:t>
            </a:r>
            <a:r>
              <a:rPr sz="3050" spc="5" dirty="0"/>
              <a:t>iOS</a:t>
            </a:r>
            <a:endParaRPr sz="30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0094" y="3443287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30094" y="3954462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30094" y="4473751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203565" y="953675"/>
            <a:ext cx="2207577" cy="14659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593137" y="2454746"/>
            <a:ext cx="1818004" cy="13631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999677" y="1639300"/>
            <a:ext cx="1225530" cy="217452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15106" y="1989050"/>
            <a:ext cx="6755130" cy="423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800" marR="5080" indent="-292100">
              <a:lnSpc>
                <a:spcPct val="130000"/>
              </a:lnSpc>
            </a:pPr>
            <a:r>
              <a:rPr sz="2400" b="1" spc="-5" dirty="0">
                <a:latin typeface="Arial" panose="020B0604020202020204"/>
                <a:cs typeface="Arial" panose="020B0604020202020204"/>
              </a:rPr>
              <a:t>1984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年，苹果推出</a:t>
            </a:r>
            <a:r>
              <a:rPr sz="2400" b="1" spc="-15" dirty="0">
                <a:latin typeface="Arial" panose="020B0604020202020204"/>
                <a:cs typeface="Arial" panose="020B0604020202020204"/>
              </a:rPr>
              <a:t>P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C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麦金塔机，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M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a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c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in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o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s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h</a:t>
            </a:r>
            <a:r>
              <a:rPr sz="2400" b="1" dirty="0">
                <a:latin typeface="Arial" panose="020B0604020202020204"/>
                <a:cs typeface="Arial" panose="020B0604020202020204"/>
              </a:rPr>
              <a:t>)</a:t>
            </a:r>
            <a:r>
              <a:rPr sz="3450" b="1" spc="9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 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简称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M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a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c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机，其处理器使用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IBM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In</a:t>
            </a:r>
            <a:r>
              <a:rPr sz="2400" b="1" dirty="0">
                <a:latin typeface="Arial" panose="020B0604020202020204"/>
                <a:cs typeface="Arial" panose="020B0604020202020204"/>
              </a:rPr>
              <a:t>t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e</a:t>
            </a:r>
            <a:r>
              <a:rPr sz="2400" b="1" spc="-15" dirty="0">
                <a:latin typeface="Arial" panose="020B0604020202020204"/>
                <a:cs typeface="Arial" panose="020B0604020202020204"/>
              </a:rPr>
              <a:t>l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或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AMD </a:t>
            </a:r>
            <a:r>
              <a:rPr sz="230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等，核心在于屏幕、能耗</a:t>
            </a:r>
            <a:r>
              <a:rPr sz="2300" b="1" spc="90" dirty="0">
                <a:latin typeface="宋体" panose="02010600030101010101" pitchFamily="2" charset="-122"/>
                <a:cs typeface="宋体" panose="02010600030101010101" pitchFamily="2" charset="-122"/>
              </a:rPr>
              <a:t>等</a:t>
            </a:r>
            <a:endParaRPr sz="23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659130">
              <a:lnSpc>
                <a:spcPct val="100000"/>
              </a:lnSpc>
              <a:spcBef>
                <a:spcPts val="925"/>
              </a:spcBef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与</a:t>
            </a:r>
            <a:r>
              <a:rPr sz="2000" b="1" spc="35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c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机一起发布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Sy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s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X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系统，一上来就是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G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U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I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659130">
              <a:lnSpc>
                <a:spcPct val="100000"/>
              </a:lnSpc>
              <a:spcBef>
                <a:spcPts val="1580"/>
              </a:spcBef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Sy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s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7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以后改名为</a:t>
            </a:r>
            <a:r>
              <a:rPr sz="2000" b="1" spc="35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O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S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8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659130" marR="477520">
              <a:lnSpc>
                <a:spcPct val="144000"/>
              </a:lnSpc>
              <a:spcBef>
                <a:spcPts val="630"/>
              </a:spcBef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2007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年发布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O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S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，核心仍然是</a:t>
            </a:r>
            <a:r>
              <a:rPr sz="2000" b="1" spc="35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O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S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，专为移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动</a:t>
            </a:r>
            <a:r>
              <a:rPr sz="2925" b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设备，如手势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等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659130" marR="1141095">
              <a:lnSpc>
                <a:spcPct val="144000"/>
              </a:lnSpc>
              <a:spcBef>
                <a:spcPts val="410"/>
              </a:spcBef>
            </a:pPr>
            <a:r>
              <a:rPr sz="2000" b="1" spc="3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核心是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UN</a:t>
            </a:r>
            <a:r>
              <a:rPr sz="20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X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，专注于界面、文件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2925" b="1" spc="5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媒体等和用户有关的内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容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28494" y="1933149"/>
            <a:ext cx="138239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Sy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000" b="1" spc="3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.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53137" y="3239130"/>
            <a:ext cx="119253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3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8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0094" y="5396030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700" y="909320"/>
            <a:ext cx="10068560" cy="924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0060">
              <a:lnSpc>
                <a:spcPts val="3620"/>
              </a:lnSpc>
            </a:pPr>
            <a:r>
              <a:rPr spc="10" dirty="0">
                <a:solidFill>
                  <a:srgbClr val="FF3300"/>
                </a:solidFill>
              </a:rPr>
              <a:t>C</a:t>
            </a:r>
            <a:r>
              <a:rPr spc="5" dirty="0">
                <a:solidFill>
                  <a:srgbClr val="FF3300"/>
                </a:solidFill>
              </a:rPr>
              <a:t>P/</a:t>
            </a:r>
            <a:r>
              <a:rPr lang="en-US" spc="5" dirty="0">
                <a:solidFill>
                  <a:srgbClr val="FF3300"/>
                </a:solidFill>
              </a:rPr>
              <a:t>M--&gt;</a:t>
            </a:r>
            <a:r>
              <a:rPr sz="3050" spc="10" dirty="0">
                <a:solidFill>
                  <a:srgbClr val="FF3300"/>
                </a:solidFill>
              </a:rPr>
              <a:t>QDO</a:t>
            </a:r>
            <a:r>
              <a:rPr sz="3050" spc="5" dirty="0">
                <a:solidFill>
                  <a:srgbClr val="FF3300"/>
                </a:solidFill>
              </a:rPr>
              <a:t>S</a:t>
            </a:r>
            <a:r>
              <a:rPr lang="en-US" sz="3050" spc="5" dirty="0">
                <a:solidFill>
                  <a:srgbClr val="FF3300"/>
                </a:solidFill>
              </a:rPr>
              <a:t>--&gt;</a:t>
            </a:r>
            <a:r>
              <a:rPr sz="3050" spc="10" dirty="0">
                <a:solidFill>
                  <a:srgbClr val="FF3300"/>
                </a:solidFill>
              </a:rPr>
              <a:t>M</a:t>
            </a:r>
            <a:r>
              <a:rPr sz="3050" spc="5" dirty="0">
                <a:solidFill>
                  <a:srgbClr val="FF3300"/>
                </a:solidFill>
              </a:rPr>
              <a:t>S</a:t>
            </a:r>
            <a:r>
              <a:rPr sz="3050" spc="10" dirty="0">
                <a:solidFill>
                  <a:srgbClr val="FF3300"/>
                </a:solidFill>
              </a:rPr>
              <a:t>-DO</a:t>
            </a:r>
            <a:r>
              <a:rPr sz="3050" spc="5" dirty="0">
                <a:solidFill>
                  <a:srgbClr val="FF3300"/>
                </a:solidFill>
              </a:rPr>
              <a:t>S</a:t>
            </a:r>
            <a:r>
              <a:rPr lang="en-US" sz="3050" spc="5" dirty="0">
                <a:solidFill>
                  <a:srgbClr val="FF3300"/>
                </a:solidFill>
              </a:rPr>
              <a:t>--&gt;</a:t>
            </a:r>
            <a:r>
              <a:rPr sz="3050" spc="15" dirty="0">
                <a:solidFill>
                  <a:srgbClr val="FF3300"/>
                </a:solidFill>
              </a:rPr>
              <a:t>W</a:t>
            </a:r>
            <a:r>
              <a:rPr sz="3050" spc="-5" dirty="0">
                <a:solidFill>
                  <a:srgbClr val="FF3300"/>
                </a:solidFill>
              </a:rPr>
              <a:t>i</a:t>
            </a:r>
            <a:r>
              <a:rPr sz="3050" spc="5" dirty="0">
                <a:solidFill>
                  <a:srgbClr val="FF3300"/>
                </a:solidFill>
              </a:rPr>
              <a:t>ndo</a:t>
            </a:r>
            <a:r>
              <a:rPr sz="3050" spc="5" dirty="0">
                <a:solidFill>
                  <a:srgbClr val="FF3300"/>
                </a:solidFill>
              </a:rPr>
              <a:t>w</a:t>
            </a:r>
            <a:r>
              <a:rPr sz="3050" spc="5" dirty="0">
                <a:solidFill>
                  <a:srgbClr val="FF3300"/>
                </a:solidFill>
              </a:rPr>
              <a:t>s</a:t>
            </a:r>
            <a:endParaRPr sz="30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3590"/>
              </a:lnSpc>
              <a:tabLst>
                <a:tab pos="479425" algn="l"/>
              </a:tabLst>
            </a:pPr>
            <a:r>
              <a:rPr u="heavy" dirty="0">
                <a:solidFill>
                  <a:srgbClr val="FF3300"/>
                </a:solidFill>
              </a:rPr>
              <a:t> </a:t>
            </a:r>
            <a:r>
              <a:rPr dirty="0">
                <a:solidFill>
                  <a:srgbClr val="FF3300"/>
                </a:solidFill>
              </a:rPr>
              <a:t>	</a:t>
            </a:r>
            <a:r>
              <a:rPr u="heavy" spc="5" dirty="0">
                <a:solidFill>
                  <a:srgbClr val="FF3300"/>
                </a:solidFill>
              </a:rPr>
              <a:t>Uni</a:t>
            </a:r>
            <a:r>
              <a:rPr u="heavy" dirty="0">
                <a:solidFill>
                  <a:srgbClr val="FF3300"/>
                </a:solidFill>
              </a:rPr>
              <a:t>x</a:t>
            </a:r>
            <a:r>
              <a:rPr lang="en-US" u="heavy" dirty="0">
                <a:solidFill>
                  <a:srgbClr val="FF3300"/>
                </a:solidFill>
              </a:rPr>
              <a:t>--&gt;</a:t>
            </a:r>
            <a:r>
              <a:rPr sz="3050" u="heavy" spc="5" dirty="0">
                <a:solidFill>
                  <a:srgbClr val="FF3300"/>
                </a:solidFill>
              </a:rPr>
              <a:t>System</a:t>
            </a:r>
            <a:r>
              <a:rPr lang="en-US" sz="3050" u="heavy" spc="5" dirty="0">
                <a:solidFill>
                  <a:srgbClr val="FF3300"/>
                </a:solidFill>
              </a:rPr>
              <a:t>--&gt;</a:t>
            </a:r>
            <a:r>
              <a:rPr sz="3050" u="heavy" spc="10" dirty="0">
                <a:solidFill>
                  <a:srgbClr val="FF3300"/>
                </a:solidFill>
              </a:rPr>
              <a:t>M</a:t>
            </a:r>
            <a:r>
              <a:rPr sz="3050" u="heavy" dirty="0">
                <a:solidFill>
                  <a:srgbClr val="FF3300"/>
                </a:solidFill>
              </a:rPr>
              <a:t>a</a:t>
            </a:r>
            <a:r>
              <a:rPr sz="3050" u="heavy" spc="5" dirty="0">
                <a:solidFill>
                  <a:srgbClr val="FF3300"/>
                </a:solidFill>
              </a:rPr>
              <a:t>c</a:t>
            </a:r>
            <a:r>
              <a:rPr sz="3050" u="heavy" spc="-5" dirty="0">
                <a:solidFill>
                  <a:srgbClr val="FF3300"/>
                </a:solidFill>
              </a:rPr>
              <a:t> </a:t>
            </a:r>
            <a:r>
              <a:rPr sz="3050" u="heavy" spc="5" dirty="0">
                <a:solidFill>
                  <a:srgbClr val="FF3300"/>
                </a:solidFill>
              </a:rPr>
              <a:t>O</a:t>
            </a:r>
            <a:r>
              <a:rPr sz="3050" u="heavy" spc="10" dirty="0">
                <a:solidFill>
                  <a:srgbClr val="FF3300"/>
                </a:solidFill>
              </a:rPr>
              <a:t>S</a:t>
            </a:r>
            <a:r>
              <a:rPr lang="en-US" sz="3050" u="heavy" spc="10" dirty="0">
                <a:solidFill>
                  <a:srgbClr val="FF3300"/>
                </a:solidFill>
              </a:rPr>
              <a:t>--&gt;</a:t>
            </a:r>
            <a:r>
              <a:rPr sz="3050" u="heavy" spc="5" dirty="0">
                <a:solidFill>
                  <a:srgbClr val="FF3300"/>
                </a:solidFill>
              </a:rPr>
              <a:t>iOS</a:t>
            </a:r>
            <a:r>
              <a:rPr sz="3050" u="heavy" dirty="0">
                <a:solidFill>
                  <a:srgbClr val="FF3300"/>
                </a:solidFill>
              </a:rPr>
              <a:t> 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9464" y="2001750"/>
            <a:ext cx="5166360" cy="889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总结历史：</a:t>
            </a: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历史又要开始让人明智</a:t>
            </a:r>
            <a:r>
              <a:rPr sz="3450" b="1" spc="135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了</a:t>
            </a:r>
            <a:endParaRPr sz="3450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659130">
              <a:lnSpc>
                <a:spcPts val="2230"/>
              </a:lnSpc>
              <a:spcBef>
                <a:spcPts val="2020"/>
              </a:spcBef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仍然是程序执行、多进程、程序执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行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14452" y="2645422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689121" y="2890759"/>
            <a:ext cx="3919220" cy="1394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5500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带动其他设备使用的基本结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构</a:t>
            </a:r>
            <a:r>
              <a:rPr sz="1950" b="1" spc="3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sz="1950" b="1" spc="35" dirty="0">
              <a:solidFill>
                <a:srgbClr val="FF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5080">
              <a:lnSpc>
                <a:spcPct val="15500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但用户的使用感觉倍加重视了：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各</a:t>
            </a:r>
            <a:r>
              <a:rPr sz="19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种文件、编程环境、图形界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面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14452" y="3559586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29239" y="2668436"/>
            <a:ext cx="321945" cy="1493520"/>
          </a:xfrm>
          <a:custGeom>
            <a:avLst/>
            <a:gdLst/>
            <a:ahLst/>
            <a:cxnLst/>
            <a:rect l="l" t="t" r="r" b="b"/>
            <a:pathLst>
              <a:path w="321944" h="1493520">
                <a:moveTo>
                  <a:pt x="318827" y="0"/>
                </a:moveTo>
                <a:lnTo>
                  <a:pt x="276357" y="6488"/>
                </a:lnTo>
                <a:lnTo>
                  <a:pt x="238251" y="23370"/>
                </a:lnTo>
                <a:lnTo>
                  <a:pt x="206006" y="49127"/>
                </a:lnTo>
                <a:lnTo>
                  <a:pt x="181120" y="82242"/>
                </a:lnTo>
                <a:lnTo>
                  <a:pt x="165090" y="121197"/>
                </a:lnTo>
                <a:lnTo>
                  <a:pt x="159414" y="164475"/>
                </a:lnTo>
                <a:lnTo>
                  <a:pt x="159413" y="582533"/>
                </a:lnTo>
                <a:lnTo>
                  <a:pt x="158703" y="597461"/>
                </a:lnTo>
                <a:lnTo>
                  <a:pt x="149144" y="639751"/>
                </a:lnTo>
                <a:lnTo>
                  <a:pt x="129701" y="677091"/>
                </a:lnTo>
                <a:lnTo>
                  <a:pt x="101994" y="707922"/>
                </a:lnTo>
                <a:lnTo>
                  <a:pt x="67638" y="730688"/>
                </a:lnTo>
                <a:lnTo>
                  <a:pt x="28252" y="743831"/>
                </a:lnTo>
                <a:lnTo>
                  <a:pt x="0" y="746478"/>
                </a:lnTo>
                <a:lnTo>
                  <a:pt x="14549" y="747392"/>
                </a:lnTo>
                <a:lnTo>
                  <a:pt x="55731" y="757513"/>
                </a:lnTo>
                <a:lnTo>
                  <a:pt x="92050" y="777522"/>
                </a:lnTo>
                <a:lnTo>
                  <a:pt x="122009" y="805900"/>
                </a:lnTo>
                <a:lnTo>
                  <a:pt x="144109" y="841130"/>
                </a:lnTo>
                <a:lnTo>
                  <a:pt x="156854" y="881695"/>
                </a:lnTo>
                <a:lnTo>
                  <a:pt x="159440" y="1331375"/>
                </a:lnTo>
                <a:lnTo>
                  <a:pt x="160342" y="1346120"/>
                </a:lnTo>
                <a:lnTo>
                  <a:pt x="170329" y="1387855"/>
                </a:lnTo>
                <a:lnTo>
                  <a:pt x="190073" y="1424662"/>
                </a:lnTo>
                <a:lnTo>
                  <a:pt x="218075" y="1455022"/>
                </a:lnTo>
                <a:lnTo>
                  <a:pt x="252838" y="1477420"/>
                </a:lnTo>
                <a:lnTo>
                  <a:pt x="292866" y="1490336"/>
                </a:lnTo>
                <a:lnTo>
                  <a:pt x="321735" y="1492930"/>
                </a:lnTo>
                <a:lnTo>
                  <a:pt x="31882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29239" y="2668436"/>
            <a:ext cx="321945" cy="1493520"/>
          </a:xfrm>
          <a:custGeom>
            <a:avLst/>
            <a:gdLst/>
            <a:ahLst/>
            <a:cxnLst/>
            <a:rect l="l" t="t" r="r" b="b"/>
            <a:pathLst>
              <a:path w="321944" h="1493520">
                <a:moveTo>
                  <a:pt x="321735" y="1492929"/>
                </a:moveTo>
                <a:lnTo>
                  <a:pt x="279031" y="1487177"/>
                </a:lnTo>
                <a:lnTo>
                  <a:pt x="240591" y="1470932"/>
                </a:lnTo>
                <a:lnTo>
                  <a:pt x="207915" y="1445712"/>
                </a:lnTo>
                <a:lnTo>
                  <a:pt x="182499" y="1413034"/>
                </a:lnTo>
                <a:lnTo>
                  <a:pt x="165842" y="1374416"/>
                </a:lnTo>
                <a:lnTo>
                  <a:pt x="159439" y="1331375"/>
                </a:lnTo>
                <a:lnTo>
                  <a:pt x="159414" y="910953"/>
                </a:lnTo>
                <a:lnTo>
                  <a:pt x="158764" y="896140"/>
                </a:lnTo>
                <a:lnTo>
                  <a:pt x="149471" y="854134"/>
                </a:lnTo>
                <a:lnTo>
                  <a:pt x="130322" y="816957"/>
                </a:lnTo>
                <a:lnTo>
                  <a:pt x="102817" y="786126"/>
                </a:lnTo>
                <a:lnTo>
                  <a:pt x="68451" y="763159"/>
                </a:lnTo>
                <a:lnTo>
                  <a:pt x="28724" y="749573"/>
                </a:lnTo>
                <a:lnTo>
                  <a:pt x="0" y="746477"/>
                </a:lnTo>
                <a:lnTo>
                  <a:pt x="14286" y="745804"/>
                </a:lnTo>
                <a:lnTo>
                  <a:pt x="54989" y="736215"/>
                </a:lnTo>
                <a:lnTo>
                  <a:pt x="91201" y="716484"/>
                </a:lnTo>
                <a:lnTo>
                  <a:pt x="121304" y="688168"/>
                </a:lnTo>
                <a:lnTo>
                  <a:pt x="143681" y="652825"/>
                </a:lnTo>
                <a:lnTo>
                  <a:pt x="156714" y="612011"/>
                </a:lnTo>
                <a:lnTo>
                  <a:pt x="159414" y="164475"/>
                </a:lnTo>
                <a:lnTo>
                  <a:pt x="160063" y="149662"/>
                </a:lnTo>
                <a:lnTo>
                  <a:pt x="169356" y="107656"/>
                </a:lnTo>
                <a:lnTo>
                  <a:pt x="188505" y="70479"/>
                </a:lnTo>
                <a:lnTo>
                  <a:pt x="216010" y="39648"/>
                </a:lnTo>
                <a:lnTo>
                  <a:pt x="250376" y="16681"/>
                </a:lnTo>
                <a:lnTo>
                  <a:pt x="290103" y="3095"/>
                </a:lnTo>
                <a:lnTo>
                  <a:pt x="304278" y="914"/>
                </a:lnTo>
                <a:lnTo>
                  <a:pt x="318828" y="0"/>
                </a:lnTo>
              </a:path>
            </a:pathLst>
          </a:custGeom>
          <a:ln w="16231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47472" y="3065873"/>
            <a:ext cx="803275" cy="886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2000"/>
              </a:lnSpc>
            </a:pPr>
            <a:r>
              <a:rPr sz="1950" b="1" spc="85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核心</a:t>
            </a:r>
            <a:r>
              <a:rPr sz="1950" b="1" spc="75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</a:t>
            </a:r>
            <a:r>
              <a:rPr sz="1950" b="1" spc="35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想、</a:t>
            </a:r>
            <a:r>
              <a:rPr sz="1950" b="1" spc="75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技</a:t>
            </a:r>
            <a:r>
              <a:rPr sz="1950" b="1" spc="55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术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7472" y="4623317"/>
            <a:ext cx="803275" cy="577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000"/>
              </a:lnSpc>
            </a:pPr>
            <a:r>
              <a:rPr sz="1950" b="1" spc="85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软件</a:t>
            </a:r>
            <a:r>
              <a:rPr sz="1950" b="1" spc="75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实</a:t>
            </a:r>
            <a:r>
              <a:rPr sz="1950" b="1" spc="55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现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44722" y="4486376"/>
            <a:ext cx="306705" cy="778510"/>
          </a:xfrm>
          <a:custGeom>
            <a:avLst/>
            <a:gdLst/>
            <a:ahLst/>
            <a:cxnLst/>
            <a:rect l="l" t="t" r="r" b="b"/>
            <a:pathLst>
              <a:path w="306705" h="778510">
                <a:moveTo>
                  <a:pt x="306252" y="778478"/>
                </a:moveTo>
                <a:lnTo>
                  <a:pt x="251394" y="774287"/>
                </a:lnTo>
                <a:lnTo>
                  <a:pt x="204543" y="762687"/>
                </a:lnTo>
                <a:lnTo>
                  <a:pt x="169010" y="745137"/>
                </a:lnTo>
                <a:lnTo>
                  <a:pt x="144961" y="715005"/>
                </a:lnTo>
                <a:lnTo>
                  <a:pt x="143930" y="460595"/>
                </a:lnTo>
                <a:lnTo>
                  <a:pt x="142834" y="452229"/>
                </a:lnTo>
                <a:lnTo>
                  <a:pt x="118552" y="422146"/>
                </a:lnTo>
                <a:lnTo>
                  <a:pt x="82885" y="404650"/>
                </a:lnTo>
                <a:lnTo>
                  <a:pt x="35934" y="393119"/>
                </a:lnTo>
                <a:lnTo>
                  <a:pt x="0" y="389466"/>
                </a:lnTo>
                <a:lnTo>
                  <a:pt x="16857" y="388780"/>
                </a:lnTo>
                <a:lnTo>
                  <a:pt x="65564" y="380352"/>
                </a:lnTo>
                <a:lnTo>
                  <a:pt x="106885" y="363859"/>
                </a:lnTo>
                <a:lnTo>
                  <a:pt x="140300" y="332642"/>
                </a:lnTo>
                <a:lnTo>
                  <a:pt x="143930" y="71129"/>
                </a:lnTo>
                <a:lnTo>
                  <a:pt x="145027" y="62762"/>
                </a:lnTo>
                <a:lnTo>
                  <a:pt x="169309" y="32680"/>
                </a:lnTo>
                <a:lnTo>
                  <a:pt x="204976" y="15184"/>
                </a:lnTo>
                <a:lnTo>
                  <a:pt x="251927" y="3652"/>
                </a:lnTo>
                <a:lnTo>
                  <a:pt x="269512" y="1386"/>
                </a:lnTo>
                <a:lnTo>
                  <a:pt x="287861" y="0"/>
                </a:lnTo>
              </a:path>
            </a:pathLst>
          </a:custGeom>
          <a:ln w="16231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414452" y="4538662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645941" y="4360270"/>
            <a:ext cx="5476875" cy="813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7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如何通过文件存储代码、执行代码、操作屏幕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…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如何让文件和操作变成图标、点击或触碰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…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414452" y="5057951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273143" y="5327041"/>
            <a:ext cx="1216205" cy="10575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061402" y="5589411"/>
            <a:ext cx="5454015" cy="707390"/>
          </a:xfrm>
          <a:prstGeom prst="rect">
            <a:avLst/>
          </a:prstGeom>
          <a:solidFill>
            <a:srgbClr val="EAEAEA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925" b="1" spc="127" baseline="1000" dirty="0">
                <a:solidFill>
                  <a:srgbClr val="00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任务：</a:t>
            </a:r>
            <a:r>
              <a:rPr sz="2000" b="1" spc="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2000" b="1" spc="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000" b="1" spc="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)</a:t>
            </a:r>
            <a:r>
              <a:rPr sz="2925" b="1" spc="127" baseline="1000" dirty="0">
                <a:solidFill>
                  <a:srgbClr val="00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掌握、实现操作系统的多进程图谱</a:t>
            </a:r>
            <a:r>
              <a:rPr sz="2925" b="1" spc="112" baseline="1000" dirty="0">
                <a:solidFill>
                  <a:srgbClr val="00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；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ts val="65"/>
              </a:spcBef>
            </a:pPr>
            <a:r>
              <a:rPr sz="2000" b="1" spc="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2000" b="1" spc="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000" b="1" spc="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)</a:t>
            </a:r>
            <a:r>
              <a:rPr sz="2925" b="1" spc="127" baseline="1000" dirty="0">
                <a:solidFill>
                  <a:srgbClr val="00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掌握、实现操作系统的文件操作视图</a:t>
            </a:r>
            <a:r>
              <a:rPr sz="2925" b="1" spc="112" baseline="1000" dirty="0">
                <a:solidFill>
                  <a:srgbClr val="00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531649" y="1924637"/>
            <a:ext cx="3684706" cy="234491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98635" y="1339965"/>
            <a:ext cx="9363414" cy="2182989"/>
          </a:xfrm>
        </p:spPr>
        <p:txBody>
          <a:bodyPr vert="horz" wrap="square" lIns="100733" tIns="50366" rIns="100733" bIns="50366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br>
              <a:rPr kumimoji="0" lang="en-US" altLang="zh-CN" sz="595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zh-CN" altLang="en-US" sz="595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操作系统结构</a:t>
            </a:r>
            <a:endParaRPr kumimoji="0" lang="zh-CN" altLang="en-US" sz="595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</p:spTree>
  </p:cSld>
  <p:clrMapOvr>
    <a:masterClrMapping/>
  </p:clrMapOvr>
  <p:transition advTm="9139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100733" tIns="50366" rIns="100733" bIns="50366" anchor="ctr" anchorCtr="0"/>
          <a:p>
            <a:r>
              <a:rPr lang="zh-CN" altLang="en-US" dirty="0"/>
              <a:t>内容</a:t>
            </a:r>
            <a:endParaRPr lang="zh-CN" altLang="en-US" dirty="0"/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0753" tIns="50376" rIns="100753" bIns="50376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简单结构</a:t>
            </a:r>
            <a:endParaRPr kumimoji="0" lang="zh-CN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层次结构</a:t>
            </a:r>
            <a:endParaRPr kumimoji="0" lang="zh-CN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微内核结构</a:t>
            </a:r>
            <a:endParaRPr kumimoji="0" lang="zh-CN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模块化结构</a:t>
            </a:r>
            <a:endParaRPr kumimoji="0" lang="zh-CN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混合结构</a:t>
            </a:r>
            <a:endParaRPr kumimoji="0" lang="zh-CN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31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lIns="100733" tIns="50366" rIns="100733" bIns="50366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545" dirty="0"/>
            </a:fld>
            <a:endParaRPr lang="zh-CN" altLang="en-US" sz="1545" dirty="0"/>
          </a:p>
        </p:txBody>
      </p:sp>
    </p:spTree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100733" tIns="50366" rIns="100733" bIns="50366" anchor="ctr" anchorCtr="0"/>
          <a:p>
            <a:r>
              <a:rPr lang="zh-CN" altLang="en-US" dirty="0"/>
              <a:t>通用操作系统是个庞然大物</a:t>
            </a:r>
            <a:endParaRPr lang="zh-CN" altLang="en-US" dirty="0"/>
          </a:p>
        </p:txBody>
      </p:sp>
      <p:sp>
        <p:nvSpPr>
          <p:cNvPr id="14339" name="内容占位符 2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/>
          <a:p>
            <a:endParaRPr lang="zh-CN" altLang="en-US" dirty="0"/>
          </a:p>
        </p:txBody>
      </p:sp>
      <p:pic>
        <p:nvPicPr>
          <p:cNvPr id="14340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592" y="2025809"/>
            <a:ext cx="7878351" cy="492047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/>
          </p:cNvSpPr>
          <p:nvPr>
            <p:ph type="title"/>
          </p:nvPr>
        </p:nvSpPr>
        <p:spPr>
          <a:xfrm>
            <a:off x="1538714" y="605220"/>
            <a:ext cx="9067800" cy="731161"/>
          </a:xfrm>
        </p:spPr>
        <p:txBody>
          <a:bodyPr vert="horz" wrap="square" lIns="100733" tIns="50366" rIns="100733" bIns="50366" anchor="ctr" anchorCtr="0"/>
          <a:p>
            <a:r>
              <a:rPr lang="zh-CN" altLang="en-US" dirty="0"/>
              <a:t>简单结构</a:t>
            </a:r>
            <a:endParaRPr lang="zh-CN" altLang="en-US" dirty="0"/>
          </a:p>
        </p:txBody>
      </p:sp>
      <p:sp>
        <p:nvSpPr>
          <p:cNvPr id="15363" name="Rectangle 3"/>
          <p:cNvSpPr>
            <a:spLocks noGrp="1"/>
          </p:cNvSpPr>
          <p:nvPr>
            <p:ph idx="1"/>
          </p:nvPr>
        </p:nvSpPr>
        <p:spPr>
          <a:xfrm>
            <a:off x="812800" y="1715956"/>
            <a:ext cx="4477926" cy="5139120"/>
          </a:xfrm>
          <a:noFill/>
          <a:ln>
            <a:noFill/>
          </a:ln>
        </p:spPr>
        <p:txBody>
          <a:bodyPr/>
          <a:p>
            <a:r>
              <a:rPr lang="zh-CN" altLang="en-US" sz="3085" dirty="0"/>
              <a:t>无结构</a:t>
            </a:r>
            <a:endParaRPr lang="en-US" altLang="zh-CN" sz="3085" dirty="0"/>
          </a:p>
          <a:p>
            <a:r>
              <a:rPr lang="zh-CN" altLang="en-US" sz="3085" dirty="0"/>
              <a:t>早期操作系统采用</a:t>
            </a:r>
            <a:endParaRPr lang="en-US" altLang="zh-CN" sz="3085" dirty="0"/>
          </a:p>
          <a:p>
            <a:pPr lvl="1"/>
            <a:r>
              <a:rPr lang="zh-CN" altLang="en-US" sz="2645" dirty="0"/>
              <a:t>规模小，简单</a:t>
            </a:r>
            <a:endParaRPr lang="en-US" altLang="zh-CN" sz="2645" dirty="0"/>
          </a:p>
          <a:p>
            <a:pPr lvl="1"/>
            <a:r>
              <a:rPr lang="zh-CN" altLang="en-US" sz="2645" dirty="0"/>
              <a:t>功能有限</a:t>
            </a:r>
            <a:endParaRPr lang="en-US" altLang="zh-CN" sz="2645" dirty="0"/>
          </a:p>
          <a:p>
            <a:r>
              <a:rPr lang="zh-CN" altLang="en-US" sz="3085" dirty="0"/>
              <a:t>问题：</a:t>
            </a:r>
            <a:endParaRPr lang="en-US" altLang="zh-CN" sz="3085" dirty="0"/>
          </a:p>
          <a:p>
            <a:pPr lvl="1"/>
            <a:r>
              <a:rPr lang="zh-CN" altLang="en-US" sz="2645" dirty="0"/>
              <a:t>混乱</a:t>
            </a:r>
            <a:endParaRPr lang="en-US" altLang="zh-CN" sz="2645" dirty="0"/>
          </a:p>
          <a:p>
            <a:pPr lvl="1"/>
            <a:r>
              <a:rPr lang="zh-CN" altLang="en-US" sz="2645" dirty="0"/>
              <a:t>不易维护和更新</a:t>
            </a:r>
            <a:endParaRPr lang="en-US" altLang="zh-CN" sz="2645" dirty="0"/>
          </a:p>
          <a:p>
            <a:pPr lvl="1"/>
            <a:r>
              <a:rPr lang="zh-CN" altLang="en-US" sz="2645" dirty="0"/>
              <a:t>不适合大规模系统开发</a:t>
            </a:r>
            <a:endParaRPr lang="en-US" altLang="zh-CN" sz="2645" dirty="0"/>
          </a:p>
        </p:txBody>
      </p:sp>
      <p:pic>
        <p:nvPicPr>
          <p:cNvPr id="1536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9634" y="1794669"/>
            <a:ext cx="5027172" cy="352636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100733" tIns="50366" rIns="100733" bIns="50366" anchor="ctr" anchorCtr="0"/>
          <a:p>
            <a:r>
              <a:rPr lang="zh-CN" altLang="en-US" dirty="0"/>
              <a:t>例子：</a:t>
            </a:r>
            <a:r>
              <a:rPr lang="en-US" altLang="zh-CN" dirty="0"/>
              <a:t>MS-DOS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12800" y="1763183"/>
            <a:ext cx="4296010" cy="4986941"/>
          </a:xfr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08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不划分模块</a:t>
            </a:r>
            <a:endParaRPr kumimoji="0" lang="zh-CN" altLang="en-US" sz="3085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08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尽管</a:t>
            </a:r>
            <a:r>
              <a:rPr kumimoji="0" lang="en-US" altLang="zh-CN" sz="308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MS-DOS</a:t>
            </a:r>
            <a:r>
              <a:rPr kumimoji="0" lang="zh-CN" altLang="en-US" sz="308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有某种结构，其接口和功能层没有划分清楚 </a:t>
            </a:r>
            <a:endParaRPr kumimoji="0" lang="zh-CN" altLang="en-US" sz="3085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endParaRPr kumimoji="0" lang="zh-CN" altLang="en-US" sz="3965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638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lIns="100733" tIns="50366" rIns="100733" bIns="50366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545" dirty="0"/>
            </a:fld>
            <a:endParaRPr lang="zh-CN" altLang="en-US" sz="1545" dirty="0"/>
          </a:p>
        </p:txBody>
      </p:sp>
      <p:pic>
        <p:nvPicPr>
          <p:cNvPr id="16389" name="Picture 4"/>
          <p:cNvPicPr>
            <a:picLocks noChangeAspect="1"/>
          </p:cNvPicPr>
          <p:nvPr/>
        </p:nvPicPr>
        <p:blipFill>
          <a:blip r:embed="rId1"/>
          <a:srcRect l="11720" t="757" r="11531" b="757"/>
          <a:stretch>
            <a:fillRect/>
          </a:stretch>
        </p:blipFill>
        <p:spPr>
          <a:xfrm>
            <a:off x="5187524" y="1873383"/>
            <a:ext cx="4700072" cy="4523405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2" name="圆角矩形 1"/>
          <p:cNvSpPr/>
          <p:nvPr/>
        </p:nvSpPr>
        <p:spPr bwMode="auto">
          <a:xfrm>
            <a:off x="5187524" y="3064581"/>
            <a:ext cx="544546" cy="622651"/>
          </a:xfrm>
          <a:prstGeom prst="roundRect">
            <a:avLst/>
          </a:prstGeom>
          <a:solidFill>
            <a:schemeClr val="lt1">
              <a:alpha val="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100753" tIns="50376" rIns="100753" bIns="50376" numCol="1" spcCol="0" rtlCol="0" fromWordArt="0" anchor="t" anchorCtr="0" forceAA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985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1458252" y="762647"/>
            <a:ext cx="8546541" cy="503767"/>
          </a:xfrm>
        </p:spPr>
        <p:txBody>
          <a:bodyPr vert="horz" wrap="square" lIns="100733" tIns="50366" rIns="100733" bIns="50366" anchor="ctr" anchorCtr="0"/>
          <a:p>
            <a:r>
              <a:rPr lang="zh-CN" altLang="en-US" dirty="0"/>
              <a:t>例子：早期</a:t>
            </a:r>
            <a:r>
              <a:rPr lang="en-US" altLang="zh-CN" dirty="0"/>
              <a:t>UNIX</a:t>
            </a:r>
            <a:endParaRPr lang="en-US" altLang="zh-CN" dirty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702602" y="1569024"/>
            <a:ext cx="3898945" cy="4859249"/>
          </a:xfr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en-US" altLang="zh-CN" sz="220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UNIX</a:t>
            </a:r>
            <a:endParaRPr kumimoji="0" lang="en-US" altLang="zh-CN" sz="2205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en-US" altLang="zh-CN" sz="220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20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受到硬件限制，原始</a:t>
            </a:r>
            <a:r>
              <a:rPr kumimoji="0" lang="en-US" altLang="zh-CN" sz="220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UNIX</a:t>
            </a:r>
            <a:r>
              <a:rPr kumimoji="0" lang="zh-CN" altLang="en-US" sz="220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操作系统由两个独立部分组成：</a:t>
            </a:r>
            <a:endParaRPr kumimoji="0" lang="zh-CN" altLang="en-US" sz="2205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645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系统程序</a:t>
            </a:r>
            <a:endParaRPr kumimoji="0" lang="zh-CN" altLang="en-US" sz="2645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645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内核</a:t>
            </a:r>
            <a:endParaRPr kumimoji="0" lang="zh-CN" altLang="en-US" sz="2645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20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接口和驱动程序，硬件上和系统调用接口下的所有部分</a:t>
            </a:r>
            <a:endParaRPr kumimoji="0" lang="zh-CN" altLang="en-US" sz="2205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205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文件系统、</a:t>
            </a:r>
            <a:r>
              <a:rPr kumimoji="0" lang="en-US" altLang="zh-CN" sz="2205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CPU</a:t>
            </a:r>
            <a:r>
              <a:rPr kumimoji="0" lang="zh-CN" altLang="en-US" sz="2205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调度、内存管理和其他操作系统功能</a:t>
            </a:r>
            <a:endParaRPr kumimoji="0" lang="zh-CN" altLang="en-US" sz="2205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pic>
        <p:nvPicPr>
          <p:cNvPr id="17412" name="Picture 4"/>
          <p:cNvPicPr>
            <a:picLocks noChangeAspect="1"/>
          </p:cNvPicPr>
          <p:nvPr/>
        </p:nvPicPr>
        <p:blipFill>
          <a:blip r:embed="rId1"/>
          <a:srcRect l="380" t="10139" r="380" b="10139"/>
          <a:stretch>
            <a:fillRect/>
          </a:stretch>
        </p:blipFill>
        <p:spPr>
          <a:xfrm>
            <a:off x="4633031" y="2826691"/>
            <a:ext cx="5280805" cy="3181777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100733" tIns="50366" rIns="100733" bIns="50366" anchor="ctr" anchorCtr="0"/>
          <a:p>
            <a:pPr>
              <a:buNone/>
            </a:pPr>
            <a:r>
              <a:rPr lang="zh-CN" altLang="en-US" dirty="0"/>
              <a:t>操作系统规模</a:t>
            </a:r>
            <a:endParaRPr lang="zh-CN" altLang="en-US" dirty="0"/>
          </a:p>
        </p:txBody>
      </p:sp>
      <p:graphicFrame>
        <p:nvGraphicFramePr>
          <p:cNvPr id="18435" name="内容占位符 4"/>
          <p:cNvGraphicFramePr>
            <a:graphicFrameLocks noGrp="1"/>
          </p:cNvGraphicFramePr>
          <p:nvPr>
            <p:ph idx="1"/>
          </p:nvPr>
        </p:nvGraphicFramePr>
        <p:xfrm>
          <a:off x="756826" y="1707209"/>
          <a:ext cx="9179748" cy="50988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8327390" imgH="4626610" progId="Excel.Chart.8">
                  <p:embed/>
                </p:oleObj>
              </mc:Choice>
              <mc:Fallback>
                <p:oleObj name="" r:id="rId1" imgW="8327390" imgH="4626610" progId="Excel.Chart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56826" y="1707209"/>
                        <a:ext cx="9179748" cy="5098889"/>
                      </a:xfrm>
                      <a:prstGeom prst="rect">
                        <a:avLst/>
                      </a:prstGeom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lIns="100733" tIns="50366" rIns="100733" bIns="50366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545" dirty="0"/>
            </a:fld>
            <a:endParaRPr lang="zh-CN" altLang="en-US" sz="1545" dirty="0"/>
          </a:p>
        </p:txBody>
      </p:sp>
    </p:spTree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xfrm>
            <a:off x="1458252" y="524757"/>
            <a:ext cx="9067800" cy="843109"/>
          </a:xfrm>
        </p:spPr>
        <p:txBody>
          <a:bodyPr vert="horz" wrap="square" lIns="100733" tIns="50366" rIns="100733" bIns="50366" anchor="ctr" anchorCtr="0"/>
          <a:p>
            <a:r>
              <a:rPr lang="zh-CN" altLang="en-US" dirty="0"/>
              <a:t>层次结构</a:t>
            </a:r>
            <a:endParaRPr lang="zh-CN" altLang="zh-CN" dirty="0"/>
          </a:p>
        </p:txBody>
      </p:sp>
      <p:sp>
        <p:nvSpPr>
          <p:cNvPr id="19459" name="Rectangle 3"/>
          <p:cNvSpPr>
            <a:spLocks noGrp="1"/>
          </p:cNvSpPr>
          <p:nvPr>
            <p:ph idx="1"/>
          </p:nvPr>
        </p:nvSpPr>
        <p:spPr>
          <a:xfrm>
            <a:off x="665868" y="1715956"/>
            <a:ext cx="4918722" cy="5473214"/>
          </a:xfrm>
          <a:noFill/>
          <a:ln>
            <a:noFill/>
          </a:ln>
        </p:spPr>
        <p:txBody>
          <a:bodyPr/>
          <a:p>
            <a:r>
              <a:rPr lang="zh-CN" altLang="en-US" sz="3085" dirty="0"/>
              <a:t>操作系统划分为若干层</a:t>
            </a:r>
            <a:endParaRPr lang="en-US" altLang="zh-CN" sz="3085" dirty="0"/>
          </a:p>
          <a:p>
            <a:r>
              <a:rPr lang="zh-CN" altLang="en-US" sz="3085" dirty="0"/>
              <a:t>在低层上构建高层</a:t>
            </a:r>
            <a:endParaRPr lang="en-US" altLang="zh-CN" sz="3085" dirty="0"/>
          </a:p>
          <a:p>
            <a:r>
              <a:rPr lang="zh-CN" altLang="en-US" sz="3085" dirty="0"/>
              <a:t>底层（0层）为硬件</a:t>
            </a:r>
            <a:endParaRPr lang="en-US" altLang="zh-CN" sz="3085" dirty="0"/>
          </a:p>
          <a:p>
            <a:r>
              <a:rPr lang="zh-CN" altLang="en-US" sz="3085" dirty="0"/>
              <a:t>最高层（ </a:t>
            </a:r>
            <a:r>
              <a:rPr lang="en-US" altLang="zh-CN" sz="3085" dirty="0"/>
              <a:t>N</a:t>
            </a:r>
            <a:r>
              <a:rPr lang="zh-CN" altLang="en-US" sz="3085" dirty="0"/>
              <a:t>层）为用户层</a:t>
            </a:r>
            <a:endParaRPr lang="zh-CN" altLang="en-US" sz="3085" dirty="0"/>
          </a:p>
          <a:p>
            <a:r>
              <a:rPr lang="zh-CN" altLang="en-US" sz="3085" dirty="0"/>
              <a:t>每层只使用低层次的功能和服务</a:t>
            </a:r>
            <a:endParaRPr lang="zh-CN" altLang="en-US" sz="3085" dirty="0"/>
          </a:p>
        </p:txBody>
      </p:sp>
      <p:pic>
        <p:nvPicPr>
          <p:cNvPr id="19460" name="Picture 3"/>
          <p:cNvPicPr>
            <a:picLocks noChangeAspect="1"/>
          </p:cNvPicPr>
          <p:nvPr/>
        </p:nvPicPr>
        <p:blipFill>
          <a:blip r:embed="rId1"/>
          <a:srcRect l="13089" t="708" r="13089" b="708"/>
          <a:stretch>
            <a:fillRect/>
          </a:stretch>
        </p:blipFill>
        <p:spPr>
          <a:xfrm>
            <a:off x="5663304" y="2270448"/>
            <a:ext cx="4282017" cy="4289013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标题 1"/>
          <p:cNvSpPr>
            <a:spLocks noGrp="1"/>
          </p:cNvSpPr>
          <p:nvPr>
            <p:ph type="title"/>
          </p:nvPr>
        </p:nvSpPr>
        <p:spPr>
          <a:xfrm>
            <a:off x="1696141" y="762647"/>
            <a:ext cx="7318610" cy="647200"/>
          </a:xfrm>
        </p:spPr>
        <p:txBody>
          <a:bodyPr vert="horz" wrap="square" lIns="100733" tIns="50366" rIns="100733" bIns="50366" anchor="ctr" anchorCtr="0"/>
          <a:p>
            <a:r>
              <a:rPr lang="zh-CN" altLang="en-US" dirty="0"/>
              <a:t>层次结构</a:t>
            </a:r>
            <a:endParaRPr lang="zh-CN" altLang="en-US" dirty="0"/>
          </a:p>
        </p:txBody>
      </p:sp>
      <p:sp>
        <p:nvSpPr>
          <p:cNvPr id="20483" name="内容占位符 2"/>
          <p:cNvSpPr>
            <a:spLocks noGrp="1"/>
          </p:cNvSpPr>
          <p:nvPr>
            <p:ph idx="1"/>
          </p:nvPr>
        </p:nvSpPr>
        <p:spPr>
          <a:xfrm>
            <a:off x="665868" y="1763183"/>
            <a:ext cx="5632391" cy="4986941"/>
          </a:xfrm>
          <a:noFill/>
          <a:ln>
            <a:noFill/>
          </a:ln>
        </p:spPr>
        <p:txBody>
          <a:bodyPr/>
          <a:p>
            <a:r>
              <a:rPr lang="zh-CN" altLang="en-US" sz="3085" dirty="0"/>
              <a:t>优点</a:t>
            </a:r>
            <a:endParaRPr lang="en-US" altLang="zh-CN" sz="3085" dirty="0"/>
          </a:p>
          <a:p>
            <a:pPr lvl="1"/>
            <a:r>
              <a:rPr lang="zh-CN" altLang="en-US" sz="2645" dirty="0"/>
              <a:t>简化了系统设计和实现，便于调试和升级维护</a:t>
            </a:r>
            <a:endParaRPr lang="en-US" altLang="zh-CN" sz="2645" dirty="0"/>
          </a:p>
          <a:p>
            <a:r>
              <a:rPr lang="zh-CN" altLang="en-US" sz="3085" dirty="0"/>
              <a:t>缺点</a:t>
            </a:r>
            <a:endParaRPr lang="en-US" altLang="zh-CN" sz="3085" dirty="0"/>
          </a:p>
          <a:p>
            <a:pPr lvl="1"/>
            <a:r>
              <a:rPr lang="zh-CN" altLang="en-US" sz="2645" dirty="0"/>
              <a:t>层定义困难</a:t>
            </a:r>
            <a:endParaRPr lang="en-US" altLang="zh-CN" sz="2645" dirty="0"/>
          </a:p>
          <a:p>
            <a:pPr lvl="1"/>
            <a:r>
              <a:rPr lang="zh-CN" altLang="en-US" sz="2645" dirty="0"/>
              <a:t>效率差</a:t>
            </a:r>
            <a:endParaRPr lang="en-US" altLang="zh-CN" sz="2645" dirty="0"/>
          </a:p>
          <a:p>
            <a:r>
              <a:rPr lang="zh-CN" altLang="en-US" sz="3085" dirty="0"/>
              <a:t>例子</a:t>
            </a:r>
            <a:r>
              <a:rPr lang="en-US" altLang="zh-CN" sz="3085" dirty="0"/>
              <a:t>-THE</a:t>
            </a:r>
            <a:endParaRPr lang="en-US" altLang="zh-CN" sz="3085" dirty="0"/>
          </a:p>
          <a:p>
            <a:pPr lvl="1"/>
            <a:r>
              <a:rPr lang="en-US" altLang="zh-CN" sz="2645" dirty="0"/>
              <a:t>1968</a:t>
            </a:r>
            <a:r>
              <a:rPr lang="zh-CN" altLang="en-US" sz="2645" dirty="0"/>
              <a:t>年</a:t>
            </a:r>
            <a:r>
              <a:rPr lang="en-US" altLang="zh-CN" sz="2645" dirty="0"/>
              <a:t>Dijkstra</a:t>
            </a:r>
            <a:r>
              <a:rPr lang="zh-CN" altLang="en-US" sz="2645" dirty="0"/>
              <a:t>开发</a:t>
            </a:r>
            <a:endParaRPr lang="en-US" altLang="zh-CN" sz="2645" dirty="0"/>
          </a:p>
          <a:p>
            <a:pPr lvl="1"/>
            <a:r>
              <a:rPr lang="zh-CN" altLang="en-US" sz="2645" dirty="0"/>
              <a:t>荷兰</a:t>
            </a:r>
            <a:r>
              <a:rPr lang="en-US" altLang="zh-CN" sz="2645" dirty="0"/>
              <a:t>Electrologica X8 </a:t>
            </a:r>
            <a:r>
              <a:rPr lang="zh-CN" altLang="en-US" sz="2645" dirty="0"/>
              <a:t>（</a:t>
            </a:r>
            <a:r>
              <a:rPr lang="en-US" altLang="zh-CN" sz="2645" dirty="0"/>
              <a:t>32K</a:t>
            </a:r>
            <a:r>
              <a:rPr lang="zh-CN" altLang="en-US" sz="2645" dirty="0"/>
              <a:t>内存）简单批处理系统</a:t>
            </a:r>
            <a:endParaRPr lang="zh-CN" altLang="en-US" sz="2645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695326" y="2429625"/>
          <a:ext cx="3093720" cy="4050030"/>
        </p:xfrm>
        <a:graphic>
          <a:graphicData uri="http://schemas.openxmlformats.org/drawingml/2006/table">
            <a:tbl>
              <a:tblPr firstRow="1" firstCol="1" bandRow="1"/>
              <a:tblGrid>
                <a:gridCol w="3093720"/>
              </a:tblGrid>
              <a:tr h="675005">
                <a:tc>
                  <a:txBody>
                    <a:bodyPr/>
                    <a:lstStyle/>
                    <a:p>
                      <a:pPr algn="l" latinLnBrk="1">
                        <a:lnSpc>
                          <a:spcPts val="1800"/>
                        </a:lnSpc>
                        <a:spcBef>
                          <a:spcPts val="375"/>
                        </a:spcBef>
                        <a:spcAft>
                          <a:spcPts val="375"/>
                        </a:spcAft>
                      </a:pPr>
                      <a:r>
                        <a:rPr lang="zh-CN" sz="1765" kern="0" dirty="0">
                          <a:solidFill>
                            <a:srgbClr val="333333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第五层 用户程序</a:t>
                      </a:r>
                      <a:endParaRPr lang="zh-CN" sz="1765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75563" marR="7556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5005">
                <a:tc>
                  <a:txBody>
                    <a:bodyPr/>
                    <a:lstStyle/>
                    <a:p>
                      <a:pPr algn="l" latinLnBrk="1">
                        <a:lnSpc>
                          <a:spcPts val="1800"/>
                        </a:lnSpc>
                        <a:spcBef>
                          <a:spcPts val="375"/>
                        </a:spcBef>
                        <a:spcAft>
                          <a:spcPts val="375"/>
                        </a:spcAft>
                      </a:pPr>
                      <a:r>
                        <a:rPr lang="zh-CN" sz="1765" kern="0" dirty="0">
                          <a:solidFill>
                            <a:srgbClr val="333333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第四层 输入</a:t>
                      </a:r>
                      <a:r>
                        <a:rPr lang="en-US" sz="1765" kern="0" dirty="0">
                          <a:solidFill>
                            <a:srgbClr val="333333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</a:t>
                      </a:r>
                      <a:r>
                        <a:rPr lang="zh-CN" sz="1765" kern="0" dirty="0">
                          <a:solidFill>
                            <a:srgbClr val="333333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输出管理</a:t>
                      </a:r>
                      <a:endParaRPr lang="zh-CN" sz="1765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75563" marR="7556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5005">
                <a:tc>
                  <a:txBody>
                    <a:bodyPr/>
                    <a:lstStyle/>
                    <a:p>
                      <a:pPr algn="l" latinLnBrk="1">
                        <a:lnSpc>
                          <a:spcPts val="1800"/>
                        </a:lnSpc>
                        <a:spcBef>
                          <a:spcPts val="375"/>
                        </a:spcBef>
                        <a:spcAft>
                          <a:spcPts val="375"/>
                        </a:spcAft>
                      </a:pPr>
                      <a:r>
                        <a:rPr lang="zh-CN" sz="1765" kern="0" dirty="0">
                          <a:solidFill>
                            <a:srgbClr val="333333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第三层 操作员控制台</a:t>
                      </a:r>
                      <a:endParaRPr lang="zh-CN" sz="1765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75563" marR="7556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5005">
                <a:tc>
                  <a:txBody>
                    <a:bodyPr/>
                    <a:lstStyle/>
                    <a:p>
                      <a:pPr algn="l" latinLnBrk="1">
                        <a:lnSpc>
                          <a:spcPts val="1800"/>
                        </a:lnSpc>
                        <a:spcBef>
                          <a:spcPts val="375"/>
                        </a:spcBef>
                        <a:spcAft>
                          <a:spcPts val="375"/>
                        </a:spcAft>
                      </a:pPr>
                      <a:r>
                        <a:rPr lang="zh-CN" sz="1765" kern="0" dirty="0">
                          <a:solidFill>
                            <a:srgbClr val="333333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第二层 储存管理</a:t>
                      </a:r>
                      <a:endParaRPr lang="zh-CN" sz="1765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75563" marR="7556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5005">
                <a:tc>
                  <a:txBody>
                    <a:bodyPr/>
                    <a:lstStyle/>
                    <a:p>
                      <a:pPr algn="l" latinLnBrk="1">
                        <a:lnSpc>
                          <a:spcPts val="1800"/>
                        </a:lnSpc>
                        <a:spcBef>
                          <a:spcPts val="375"/>
                        </a:spcBef>
                        <a:spcAft>
                          <a:spcPts val="375"/>
                        </a:spcAft>
                      </a:pPr>
                      <a:r>
                        <a:rPr lang="zh-CN" sz="1765" kern="0" dirty="0">
                          <a:solidFill>
                            <a:srgbClr val="333333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第一层</a:t>
                      </a:r>
                      <a:r>
                        <a:rPr lang="en-US" sz="1765" kern="0" dirty="0">
                          <a:solidFill>
                            <a:srgbClr val="333333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CPU</a:t>
                      </a:r>
                      <a:r>
                        <a:rPr lang="zh-CN" sz="1765" kern="0" dirty="0">
                          <a:solidFill>
                            <a:srgbClr val="333333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调度与信号</a:t>
                      </a:r>
                      <a:endParaRPr lang="zh-CN" sz="1765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75563" marR="7556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5005">
                <a:tc>
                  <a:txBody>
                    <a:bodyPr/>
                    <a:lstStyle/>
                    <a:p>
                      <a:pPr algn="l" latinLnBrk="1">
                        <a:lnSpc>
                          <a:spcPts val="1800"/>
                        </a:lnSpc>
                        <a:spcBef>
                          <a:spcPts val="375"/>
                        </a:spcBef>
                        <a:spcAft>
                          <a:spcPts val="375"/>
                        </a:spcAft>
                      </a:pPr>
                      <a:r>
                        <a:rPr lang="zh-CN" sz="1765" kern="0" dirty="0">
                          <a:solidFill>
                            <a:srgbClr val="333333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第零层 硬件设施</a:t>
                      </a:r>
                      <a:endParaRPr lang="zh-CN" sz="1765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75563" marR="7556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2"/>
          <p:cNvSpPr>
            <a:spLocks noGrp="1"/>
          </p:cNvSpPr>
          <p:nvPr>
            <p:ph type="title"/>
          </p:nvPr>
        </p:nvSpPr>
        <p:spPr>
          <a:xfrm>
            <a:off x="1538714" y="843109"/>
            <a:ext cx="6426523" cy="634956"/>
          </a:xfrm>
        </p:spPr>
        <p:txBody>
          <a:bodyPr vert="horz" wrap="square" lIns="100733" tIns="50366" rIns="100733" bIns="50366" anchor="ctr" anchorCtr="0"/>
          <a:p>
            <a:pPr eaLnBrk="1" hangingPunct="1"/>
            <a:r>
              <a:rPr lang="en-US" altLang="zh-CN" dirty="0"/>
              <a:t>iOS</a:t>
            </a:r>
            <a:endParaRPr lang="en-US" altLang="zh-CN" dirty="0"/>
          </a:p>
        </p:txBody>
      </p:sp>
      <p:sp>
        <p:nvSpPr>
          <p:cNvPr id="21507" name="Rectangle 3"/>
          <p:cNvSpPr>
            <a:spLocks noGrp="1"/>
          </p:cNvSpPr>
          <p:nvPr>
            <p:ph idx="1"/>
          </p:nvPr>
        </p:nvSpPr>
        <p:spPr>
          <a:xfrm>
            <a:off x="585405" y="1715956"/>
            <a:ext cx="4444692" cy="5632391"/>
          </a:xfrm>
          <a:noFill/>
          <a:ln>
            <a:noFill/>
          </a:ln>
        </p:spPr>
        <p:txBody>
          <a:bodyPr/>
          <a:p>
            <a:r>
              <a:rPr lang="zh-CN" altLang="en-US" sz="3085" dirty="0"/>
              <a:t>基于</a:t>
            </a:r>
            <a:r>
              <a:rPr lang="en-US" altLang="zh-CN" sz="3085" dirty="0"/>
              <a:t>Mac OS X, </a:t>
            </a:r>
            <a:r>
              <a:rPr lang="zh-CN" altLang="en-US" sz="3085" dirty="0"/>
              <a:t>增加部分功能性部件</a:t>
            </a:r>
            <a:endParaRPr lang="en-US" altLang="zh-CN" sz="3085" dirty="0"/>
          </a:p>
          <a:p>
            <a:pPr lvl="1"/>
            <a:r>
              <a:rPr lang="en-US" altLang="zh-CN" sz="2645" dirty="0"/>
              <a:t>Cocoa Touch</a:t>
            </a:r>
            <a:r>
              <a:rPr lang="zh-CN" altLang="en-US" sz="2645" dirty="0"/>
              <a:t>：开发</a:t>
            </a:r>
            <a:r>
              <a:rPr lang="en-US" altLang="zh-CN" sz="2645" dirty="0"/>
              <a:t>Apps</a:t>
            </a:r>
            <a:endParaRPr lang="en-US" altLang="zh-CN" sz="2645" dirty="0"/>
          </a:p>
          <a:p>
            <a:pPr lvl="1"/>
            <a:r>
              <a:rPr lang="en-US" altLang="zh-CN" sz="2645" dirty="0"/>
              <a:t>Media services</a:t>
            </a:r>
            <a:r>
              <a:rPr lang="zh-CN" altLang="en-US" sz="2645" dirty="0"/>
              <a:t>：图像、视频和声音等服务</a:t>
            </a:r>
            <a:endParaRPr lang="en-US" altLang="zh-CN" sz="2645" dirty="0"/>
          </a:p>
          <a:p>
            <a:pPr lvl="1"/>
            <a:r>
              <a:rPr lang="en-US" altLang="zh-CN" sz="2645" dirty="0"/>
              <a:t>Core services</a:t>
            </a:r>
            <a:r>
              <a:rPr lang="zh-CN" altLang="en-US" sz="2645" dirty="0"/>
              <a:t>：提供云计算、数据库等服务</a:t>
            </a:r>
            <a:endParaRPr lang="en-US" altLang="zh-CN" sz="2645" dirty="0"/>
          </a:p>
          <a:p>
            <a:pPr lvl="1"/>
            <a:r>
              <a:rPr lang="en-US" altLang="zh-CN" sz="2645" dirty="0"/>
              <a:t>Core OS</a:t>
            </a:r>
            <a:r>
              <a:rPr lang="zh-CN" altLang="en-US" sz="2645" dirty="0"/>
              <a:t>：</a:t>
            </a:r>
            <a:r>
              <a:rPr lang="en-US" altLang="zh-CN" sz="2645" dirty="0"/>
              <a:t>Mac OS X </a:t>
            </a:r>
            <a:r>
              <a:rPr lang="zh-CN" altLang="en-US" sz="2645" dirty="0"/>
              <a:t>内核</a:t>
            </a:r>
            <a:endParaRPr lang="en-US" altLang="zh-CN" sz="2645" dirty="0"/>
          </a:p>
        </p:txBody>
      </p:sp>
      <p:graphicFrame>
        <p:nvGraphicFramePr>
          <p:cNvPr id="2" name="图示 1"/>
          <p:cNvGraphicFramePr/>
          <p:nvPr/>
        </p:nvGraphicFramePr>
        <p:xfrm>
          <a:off x="4949989" y="2429433"/>
          <a:ext cx="5050704" cy="33671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100733" tIns="50366" rIns="100733" bIns="50366" anchor="ctr" anchorCtr="0"/>
          <a:p>
            <a:r>
              <a:rPr lang="zh-CN" altLang="en-US" dirty="0"/>
              <a:t>微内核 </a:t>
            </a:r>
            <a:endParaRPr lang="zh-CN" altLang="en-US" dirty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>
          <a:xfrm>
            <a:off x="825045" y="1635493"/>
            <a:ext cx="9067800" cy="4986941"/>
          </a:xfr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08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问题：内核越来越大，越来越难管理</a:t>
            </a:r>
            <a:endParaRPr kumimoji="0" lang="en-US" altLang="zh-CN" sz="3085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08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内核微型化：核内移出尽可能多功能到用户空间</a:t>
            </a:r>
            <a:endParaRPr kumimoji="0" lang="en-US" altLang="zh-CN" sz="3085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08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好处</a:t>
            </a:r>
            <a:r>
              <a:rPr kumimoji="0" lang="en-US" altLang="zh-CN" sz="308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en-US" altLang="zh-CN" sz="3085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64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便于扩充微内核</a:t>
            </a:r>
            <a:endParaRPr kumimoji="0" lang="zh-CN" altLang="en-US" sz="2645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64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便于移植操作系统到新架构系统上</a:t>
            </a:r>
            <a:endParaRPr kumimoji="0" lang="en-US" altLang="zh-CN" sz="2645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64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更稳定</a:t>
            </a:r>
            <a:r>
              <a:rPr kumimoji="0" lang="en-US" altLang="zh-CN" sz="264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 (</a:t>
            </a:r>
            <a:r>
              <a:rPr kumimoji="0" lang="zh-CN" altLang="en-US" sz="264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更少的代码运行在核心态</a:t>
            </a:r>
            <a:r>
              <a:rPr kumimoji="0" lang="en-US" altLang="zh-CN" sz="264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)</a:t>
            </a:r>
            <a:endParaRPr kumimoji="0" lang="en-US" altLang="zh-CN" sz="2645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64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更安全</a:t>
            </a:r>
            <a:endParaRPr kumimoji="0" lang="zh-CN" altLang="en-US" sz="2645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08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坏处</a:t>
            </a:r>
            <a:r>
              <a:rPr kumimoji="0" lang="en-US" altLang="zh-CN" sz="308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en-US" altLang="zh-CN" sz="3085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64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用户空间和内核</a:t>
            </a:r>
            <a:r>
              <a:rPr kumimoji="0" lang="zh-CN" altLang="en-US" sz="2645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空间通信的系统开销</a:t>
            </a:r>
            <a:r>
              <a:rPr kumimoji="0" lang="zh-CN" altLang="en-US" sz="264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增加</a:t>
            </a:r>
            <a:endParaRPr kumimoji="0" lang="en-US" altLang="zh-CN" sz="2645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645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解决</a:t>
            </a:r>
            <a:r>
              <a:rPr kumimoji="0" lang="zh-CN" altLang="en-US" sz="264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方法：提出</a:t>
            </a:r>
            <a:r>
              <a:rPr kumimoji="0" lang="zh-CN" altLang="en-US" sz="2645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消息传递</a:t>
            </a:r>
            <a:r>
              <a:rPr kumimoji="0" lang="zh-CN" altLang="en-US" sz="264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机制</a:t>
            </a:r>
            <a:endParaRPr kumimoji="0" lang="en-US" altLang="zh-CN" sz="2205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100733" tIns="50366" rIns="100733" bIns="50366" anchor="ctr" anchorCtr="0"/>
          <a:p>
            <a:r>
              <a:rPr lang="zh-CN" altLang="en-US" dirty="0"/>
              <a:t>微内核系统</a:t>
            </a:r>
            <a:endParaRPr lang="zh-CN" altLang="en-US" dirty="0"/>
          </a:p>
        </p:txBody>
      </p:sp>
      <p:sp>
        <p:nvSpPr>
          <p:cNvPr id="23555" name="内容占位符 2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/>
          <a:p>
            <a:r>
              <a:rPr lang="zh-CN" altLang="en-US" dirty="0"/>
              <a:t>第一个微内核系统：</a:t>
            </a:r>
            <a:r>
              <a:rPr lang="en-US" altLang="zh-CN" dirty="0"/>
              <a:t>CMU</a:t>
            </a:r>
            <a:r>
              <a:rPr lang="zh-CN" altLang="en-US" dirty="0"/>
              <a:t>的</a:t>
            </a:r>
            <a:r>
              <a:rPr lang="en-US" altLang="zh-CN" dirty="0"/>
              <a:t>Mach</a:t>
            </a:r>
            <a:endParaRPr lang="en-US" altLang="zh-CN" dirty="0"/>
          </a:p>
          <a:p>
            <a:pPr lvl="1"/>
            <a:r>
              <a:rPr lang="en-US" altLang="zh-CN" dirty="0"/>
              <a:t>http://www.cs.cmu.edu/afs/cs/project/mach/public/www/mach.html</a:t>
            </a:r>
            <a:endParaRPr lang="en-US" altLang="zh-CN" dirty="0"/>
          </a:p>
          <a:p>
            <a:r>
              <a:rPr lang="en-US" altLang="zh-CN" dirty="0"/>
              <a:t>Tru64 Unix</a:t>
            </a:r>
            <a:r>
              <a:rPr lang="zh-CN" altLang="en-US" dirty="0"/>
              <a:t>使用</a:t>
            </a:r>
            <a:r>
              <a:rPr lang="en-US" altLang="zh-CN" dirty="0"/>
              <a:t>Mach</a:t>
            </a:r>
            <a:r>
              <a:rPr lang="zh-CN" altLang="en-US" dirty="0"/>
              <a:t>内核</a:t>
            </a:r>
            <a:endParaRPr lang="en-US" altLang="zh-CN" dirty="0"/>
          </a:p>
          <a:p>
            <a:r>
              <a:rPr lang="en-US" altLang="zh-CN" dirty="0"/>
              <a:t>QNX-</a:t>
            </a:r>
            <a:r>
              <a:rPr lang="zh-CN" altLang="en-US" dirty="0"/>
              <a:t>基于微内核的实时操作系统</a:t>
            </a:r>
            <a:endParaRPr lang="en-US" altLang="zh-CN" dirty="0"/>
          </a:p>
          <a:p>
            <a:r>
              <a:rPr lang="en-US" altLang="zh-CN" dirty="0"/>
              <a:t>Windows NT</a:t>
            </a:r>
            <a:r>
              <a:rPr lang="zh-CN" altLang="en-US" dirty="0"/>
              <a:t>，</a:t>
            </a:r>
            <a:r>
              <a:rPr lang="en-US" altLang="zh-CN" dirty="0"/>
              <a:t>2000</a:t>
            </a:r>
            <a:r>
              <a:rPr lang="zh-CN" altLang="en-US" dirty="0"/>
              <a:t>，</a:t>
            </a:r>
            <a:r>
              <a:rPr lang="en-US" altLang="zh-CN" dirty="0"/>
              <a:t>2003</a:t>
            </a:r>
            <a:r>
              <a:rPr lang="zh-CN" altLang="en-US" dirty="0"/>
              <a:t>以及后续版本等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2"/>
          <p:cNvSpPr>
            <a:spLocks noGrp="1"/>
          </p:cNvSpPr>
          <p:nvPr>
            <p:ph type="title"/>
          </p:nvPr>
        </p:nvSpPr>
        <p:spPr>
          <a:xfrm>
            <a:off x="1538714" y="843109"/>
            <a:ext cx="8256176" cy="596474"/>
          </a:xfrm>
        </p:spPr>
        <p:txBody>
          <a:bodyPr vert="horz" wrap="square" lIns="100733" tIns="50366" rIns="100733" bIns="50366" anchor="ctr" anchorCtr="0"/>
          <a:p>
            <a:r>
              <a:rPr lang="zh-CN" altLang="en-US" dirty="0"/>
              <a:t> </a:t>
            </a:r>
            <a:r>
              <a:rPr lang="en-US" altLang="zh-CN" dirty="0"/>
              <a:t>Windows 2000 </a:t>
            </a:r>
            <a:r>
              <a:rPr lang="zh-CN" altLang="en-US" dirty="0"/>
              <a:t>微内核结构</a:t>
            </a:r>
            <a:endParaRPr lang="zh-CN" altLang="en-US" dirty="0"/>
          </a:p>
        </p:txBody>
      </p:sp>
      <p:pic>
        <p:nvPicPr>
          <p:cNvPr id="24579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2615" y="1635493"/>
            <a:ext cx="6108171" cy="56778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100733" tIns="50366" rIns="100733" bIns="50366" anchor="ctr" anchorCtr="0"/>
          <a:p>
            <a:r>
              <a:rPr lang="zh-CN" altLang="en-US" dirty="0"/>
              <a:t>模块结构</a:t>
            </a:r>
            <a:endParaRPr lang="zh-CN" altLang="en-US" dirty="0"/>
          </a:p>
        </p:txBody>
      </p:sp>
      <p:sp>
        <p:nvSpPr>
          <p:cNvPr id="25603" name="Rectangle 3"/>
          <p:cNvSpPr>
            <a:spLocks noGrp="1"/>
          </p:cNvSpPr>
          <p:nvPr>
            <p:ph idx="1"/>
          </p:nvPr>
        </p:nvSpPr>
        <p:spPr>
          <a:xfrm>
            <a:off x="1220362" y="1478066"/>
            <a:ext cx="8100497" cy="2945636"/>
          </a:xfrm>
          <a:noFill/>
          <a:ln>
            <a:noFill/>
          </a:ln>
        </p:spPr>
        <p:txBody>
          <a:bodyPr/>
          <a:p>
            <a:r>
              <a:rPr lang="zh-CN" altLang="en-US" sz="2645" dirty="0"/>
              <a:t>大部分现代操作系统采用模块结构</a:t>
            </a:r>
            <a:endParaRPr lang="zh-CN" altLang="en-US" sz="2645" dirty="0"/>
          </a:p>
          <a:p>
            <a:pPr lvl="1"/>
            <a:r>
              <a:rPr lang="zh-CN" altLang="en-US" sz="2205" dirty="0"/>
              <a:t>使用面向对象方法</a:t>
            </a:r>
            <a:endParaRPr lang="zh-CN" altLang="en-US" sz="2205" dirty="0"/>
          </a:p>
          <a:p>
            <a:pPr lvl="1"/>
            <a:r>
              <a:rPr lang="zh-CN" altLang="en-US" sz="2205" dirty="0"/>
              <a:t>每个核心部件分开</a:t>
            </a:r>
            <a:endParaRPr lang="en-US" altLang="zh-CN" sz="2205" dirty="0"/>
          </a:p>
          <a:p>
            <a:pPr lvl="1"/>
            <a:r>
              <a:rPr lang="zh-CN" altLang="en-US" sz="2205" dirty="0"/>
              <a:t>每个与其他模块的会话被称为接口</a:t>
            </a:r>
            <a:endParaRPr lang="en-US" altLang="zh-CN" sz="2205" dirty="0"/>
          </a:p>
          <a:p>
            <a:pPr lvl="1"/>
            <a:r>
              <a:rPr lang="zh-CN" altLang="en-US" sz="2205" dirty="0"/>
              <a:t>每个模块在需要时被加载到内核</a:t>
            </a:r>
            <a:endParaRPr lang="en-US" altLang="zh-CN" sz="2205" dirty="0"/>
          </a:p>
          <a:p>
            <a:r>
              <a:rPr lang="zh-CN" altLang="en-US" sz="2645" dirty="0"/>
              <a:t>总体而言，类似于分层方法，但更灵活</a:t>
            </a:r>
            <a:endParaRPr lang="zh-CN" altLang="en-US" sz="2645" dirty="0"/>
          </a:p>
        </p:txBody>
      </p:sp>
      <p:graphicFrame>
        <p:nvGraphicFramePr>
          <p:cNvPr id="2" name="图示 1"/>
          <p:cNvGraphicFramePr/>
          <p:nvPr/>
        </p:nvGraphicFramePr>
        <p:xfrm>
          <a:off x="1141566" y="4412987"/>
          <a:ext cx="4865945" cy="2873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aphicFrame>
        <p:nvGraphicFramePr>
          <p:cNvPr id="3" name="图示 2"/>
          <p:cNvGraphicFramePr/>
          <p:nvPr/>
        </p:nvGraphicFramePr>
        <p:xfrm>
          <a:off x="5584726" y="4571671"/>
          <a:ext cx="3437787" cy="24769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cxnSp>
        <p:nvCxnSpPr>
          <p:cNvPr id="5" name="直接连接符 4"/>
          <p:cNvCxnSpPr/>
          <p:nvPr/>
        </p:nvCxnSpPr>
        <p:spPr bwMode="auto">
          <a:xfrm flipH="1">
            <a:off x="6457436" y="5286052"/>
            <a:ext cx="556242" cy="951559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 bwMode="auto">
          <a:xfrm>
            <a:off x="7646885" y="5205589"/>
            <a:ext cx="556242" cy="103202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 bwMode="auto">
          <a:xfrm>
            <a:off x="6735557" y="6634678"/>
            <a:ext cx="1149218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100733" tIns="50366" rIns="100733" bIns="50366" anchor="ctr" anchorCtr="0"/>
          <a:p>
            <a:r>
              <a:rPr lang="en-US" altLang="zh-CN" dirty="0"/>
              <a:t>Solaris </a:t>
            </a:r>
            <a:r>
              <a:rPr lang="zh-CN" altLang="en-US" dirty="0"/>
              <a:t>模块</a:t>
            </a:r>
            <a:endParaRPr lang="zh-CN" altLang="en-US" dirty="0"/>
          </a:p>
        </p:txBody>
      </p:sp>
      <p:pic>
        <p:nvPicPr>
          <p:cNvPr id="26627" name="Picture 4"/>
          <p:cNvPicPr>
            <a:picLocks noChangeAspect="1"/>
          </p:cNvPicPr>
          <p:nvPr/>
        </p:nvPicPr>
        <p:blipFill>
          <a:blip r:embed="rId1"/>
          <a:srcRect l="528" t="18747" r="351" b="19215"/>
          <a:stretch>
            <a:fillRect/>
          </a:stretch>
        </p:blipFill>
        <p:spPr>
          <a:xfrm>
            <a:off x="982472" y="2191735"/>
            <a:ext cx="8959350" cy="4205052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  <p:transition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100733" tIns="50366" rIns="100733" bIns="50366" anchor="ctr" anchorCtr="0"/>
          <a:p>
            <a:r>
              <a:rPr lang="zh-CN" altLang="en-US" dirty="0"/>
              <a:t>混合结构</a:t>
            </a:r>
            <a:r>
              <a:rPr lang="en-US" altLang="zh-CN" dirty="0"/>
              <a:t>--Mac OS X</a:t>
            </a:r>
            <a:endParaRPr lang="zh-CN" altLang="en-US" dirty="0"/>
          </a:p>
        </p:txBody>
      </p:sp>
      <p:pic>
        <p:nvPicPr>
          <p:cNvPr id="27651" name="Content Placeholder 3" descr="2_16.pdf"/>
          <p:cNvPicPr>
            <a:picLocks noChangeAspect="1"/>
          </p:cNvPicPr>
          <p:nvPr/>
        </p:nvPicPr>
        <p:blipFill>
          <a:blip r:embed="rId1"/>
          <a:srcRect l="554" r="554"/>
          <a:stretch>
            <a:fillRect/>
          </a:stretch>
        </p:blipFill>
        <p:spPr>
          <a:xfrm>
            <a:off x="1384786" y="2777713"/>
            <a:ext cx="7542506" cy="415257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7348" name="TextBox 1"/>
          <p:cNvSpPr txBox="1">
            <a:spLocks noChangeArrowheads="1"/>
          </p:cNvSpPr>
          <p:nvPr/>
        </p:nvSpPr>
        <p:spPr bwMode="auto">
          <a:xfrm>
            <a:off x="1300825" y="1556779"/>
            <a:ext cx="8329642" cy="121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 kumimoji="1" sz="2400">
                <a:solidFill>
                  <a:schemeClr val="tx1"/>
                </a:solidFill>
                <a:latin typeface="Helvetica" pitchFamily="34" charset="0"/>
              </a:defRPr>
            </a:lvl1pPr>
            <a:lvl2pPr>
              <a:defRPr kumimoji="1" sz="2000">
                <a:solidFill>
                  <a:schemeClr val="tx1"/>
                </a:solidFill>
                <a:latin typeface="Helvetica" pitchFamily="34" charset="0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34" charset="0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34" charset="0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34" charset="0"/>
              </a:defRPr>
            </a:lvl5pPr>
            <a:lvl6pPr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</a:defRPr>
            </a:lvl6pPr>
            <a:lvl7pPr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</a:defRPr>
            </a:lvl7pPr>
            <a:lvl8pPr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</a:defRPr>
            </a:lvl8pPr>
            <a:lvl9pPr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kumimoji="1" lang="zh-CN" altLang="en-US" sz="264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许多现代操作系统不是</a:t>
            </a:r>
            <a:r>
              <a:rPr kumimoji="1" lang="zh-CN" altLang="en-US" sz="264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采用单一</a:t>
            </a:r>
            <a:r>
              <a:rPr kumimoji="1" lang="zh-CN" altLang="en-US" sz="264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结构，通过采用多种结构获取性能、安全、使用等</a:t>
            </a:r>
            <a:r>
              <a:rPr kumimoji="1" lang="zh-CN" altLang="en-US" sz="264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方面需求</a:t>
            </a:r>
            <a:endParaRPr kumimoji="1" lang="en-US" altLang="zh-CN" sz="264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endParaRPr kumimoji="0" lang="en-US" altLang="zh-CN" sz="1985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89159" y="1736706"/>
            <a:ext cx="306070" cy="306070"/>
          </a:xfrm>
          <a:custGeom>
            <a:avLst/>
            <a:gdLst/>
            <a:ahLst/>
            <a:cxnLst/>
            <a:rect l="l" t="t" r="r" b="b"/>
            <a:pathLst>
              <a:path w="306070" h="306069">
                <a:moveTo>
                  <a:pt x="297974" y="38249"/>
                </a:moveTo>
                <a:lnTo>
                  <a:pt x="38259" y="297893"/>
                </a:lnTo>
                <a:lnTo>
                  <a:pt x="45911" y="305544"/>
                </a:lnTo>
                <a:lnTo>
                  <a:pt x="305626" y="45899"/>
                </a:lnTo>
                <a:lnTo>
                  <a:pt x="297974" y="38249"/>
                </a:lnTo>
                <a:close/>
              </a:path>
              <a:path w="306070" h="306069">
                <a:moveTo>
                  <a:pt x="275018" y="15299"/>
                </a:moveTo>
                <a:lnTo>
                  <a:pt x="15303" y="274943"/>
                </a:lnTo>
                <a:lnTo>
                  <a:pt x="30607" y="290243"/>
                </a:lnTo>
                <a:lnTo>
                  <a:pt x="290322" y="30599"/>
                </a:lnTo>
                <a:lnTo>
                  <a:pt x="275018" y="15299"/>
                </a:lnTo>
                <a:close/>
              </a:path>
              <a:path w="306070" h="306069">
                <a:moveTo>
                  <a:pt x="259715" y="0"/>
                </a:moveTo>
                <a:lnTo>
                  <a:pt x="0" y="259643"/>
                </a:lnTo>
                <a:lnTo>
                  <a:pt x="7651" y="267294"/>
                </a:lnTo>
                <a:lnTo>
                  <a:pt x="267366" y="7650"/>
                </a:lnTo>
                <a:lnTo>
                  <a:pt x="259715" y="0"/>
                </a:lnTo>
                <a:close/>
              </a:path>
            </a:pathLst>
          </a:custGeom>
          <a:solidFill>
            <a:srgbClr val="99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71830" y="1786702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10819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71830" y="1759656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21638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71830" y="1732609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10819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905635" y="2031365"/>
            <a:ext cx="7117080" cy="31826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2338705" algn="l"/>
                <a:tab pos="5048885" algn="l"/>
              </a:tabLst>
            </a:pPr>
            <a:r>
              <a:rPr sz="5925" b="1" spc="195" baseline="4000" dirty="0">
                <a:solidFill>
                  <a:srgbClr val="0033CC"/>
                </a:solidFill>
                <a:latin typeface="华文琥珀" panose="02010800040101010101" charset="-122"/>
                <a:cs typeface="华文琥珀" panose="02010800040101010101" charset="-122"/>
              </a:rPr>
              <a:t>操作系</a:t>
            </a:r>
            <a:r>
              <a:rPr sz="5925" b="1" spc="217" baseline="4000" dirty="0">
                <a:solidFill>
                  <a:srgbClr val="0033CC"/>
                </a:solidFill>
                <a:latin typeface="华文琥珀" panose="02010800040101010101" charset="-122"/>
                <a:cs typeface="华文琥珀" panose="02010800040101010101" charset="-122"/>
              </a:rPr>
              <a:t>统</a:t>
            </a:r>
            <a:r>
              <a:rPr sz="5925" b="1" baseline="4000" dirty="0">
                <a:solidFill>
                  <a:srgbClr val="0033CC"/>
                </a:solidFill>
                <a:latin typeface="华文琥珀" panose="02010800040101010101" charset="-122"/>
                <a:cs typeface="华文琥珀" panose="02010800040101010101" charset="-122"/>
              </a:rPr>
              <a:t>	</a:t>
            </a:r>
            <a:r>
              <a:rPr sz="4600" b="1" spc="-10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p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er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4600" b="1" spc="-10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g	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m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endParaRPr sz="4600" b="1" dirty="0">
              <a:solidFill>
                <a:srgbClr val="0033CC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tabLst>
                <a:tab pos="2338705" algn="l"/>
                <a:tab pos="5048885" algn="l"/>
              </a:tabLst>
            </a:pPr>
            <a:endParaRPr sz="4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lang="en-US" sz="5100" b="1" spc="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  <a:sym typeface="+mn-ea"/>
              </a:rPr>
              <a:t>     </a:t>
            </a:r>
            <a:r>
              <a:rPr sz="5100" b="1" spc="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  <a:sym typeface="+mn-ea"/>
              </a:rPr>
              <a:t>L</a:t>
            </a:r>
            <a:r>
              <a:rPr lang="en-US" sz="5100" b="1" spc="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  <a:sym typeface="+mn-ea"/>
              </a:rPr>
              <a:t>7</a:t>
            </a:r>
            <a:r>
              <a:rPr sz="5100" b="1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  <a:sym typeface="+mn-ea"/>
              </a:rPr>
              <a:t>.</a:t>
            </a:r>
            <a:r>
              <a:rPr sz="5100" b="1" spc="10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  <a:sym typeface="+mn-ea"/>
              </a:rPr>
              <a:t> </a:t>
            </a:r>
            <a:r>
              <a:rPr sz="5100" b="1" spc="14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  <a:sym typeface="+mn-ea"/>
              </a:rPr>
              <a:t>我们的任</a:t>
            </a:r>
            <a:r>
              <a:rPr sz="5100" b="1" spc="13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  <a:sym typeface="+mn-ea"/>
              </a:rPr>
              <a:t>务</a:t>
            </a:r>
            <a:endParaRPr sz="5100">
              <a:latin typeface="黑体" panose="02010609060101010101" charset="-122"/>
              <a:cs typeface="黑体" panose="02010609060101010101" charset="-122"/>
            </a:endParaRPr>
          </a:p>
          <a:p>
            <a:pPr marL="2233295">
              <a:lnSpc>
                <a:spcPct val="100000"/>
              </a:lnSpc>
              <a:spcBef>
                <a:spcPts val="2680"/>
              </a:spcBef>
            </a:pPr>
            <a:r>
              <a:rPr lang="en-US" sz="34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   </a:t>
            </a:r>
            <a:r>
              <a:rPr sz="3400" b="1" spc="5" dirty="0">
                <a:latin typeface="Times New Roman" panose="02020603050405020304"/>
                <a:cs typeface="Times New Roman" panose="02020603050405020304"/>
                <a:sym typeface="+mn-ea"/>
              </a:rPr>
              <a:t>Ou</a:t>
            </a:r>
            <a:r>
              <a:rPr sz="3400" b="1" dirty="0">
                <a:latin typeface="Times New Roman" panose="02020603050405020304"/>
                <a:cs typeface="Times New Roman" panose="02020603050405020304"/>
                <a:sym typeface="+mn-ea"/>
              </a:rPr>
              <a:t>r</a:t>
            </a:r>
            <a:r>
              <a:rPr sz="3400" b="1" spc="-6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3400" b="1" spc="5" dirty="0">
                <a:latin typeface="Times New Roman" panose="02020603050405020304"/>
                <a:cs typeface="Times New Roman" panose="02020603050405020304"/>
                <a:sym typeface="+mn-ea"/>
              </a:rPr>
              <a:t>Obj</a:t>
            </a:r>
            <a:r>
              <a:rPr sz="3400" b="1" dirty="0">
                <a:latin typeface="Times New Roman" panose="02020603050405020304"/>
                <a:cs typeface="Times New Roman" panose="02020603050405020304"/>
                <a:sym typeface="+mn-ea"/>
              </a:rPr>
              <a:t>e</a:t>
            </a:r>
            <a:r>
              <a:rPr sz="34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c</a:t>
            </a:r>
            <a:r>
              <a:rPr sz="3400" b="1" spc="5" dirty="0">
                <a:latin typeface="Times New Roman" panose="02020603050405020304"/>
                <a:cs typeface="Times New Roman" panose="02020603050405020304"/>
                <a:sym typeface="+mn-ea"/>
              </a:rPr>
              <a:t>ts</a:t>
            </a:r>
            <a:endParaRPr sz="3400">
              <a:latin typeface="Times New Roman" panose="02020603050405020304"/>
              <a:cs typeface="Times New Roman" panose="02020603050405020304"/>
            </a:endParaRPr>
          </a:p>
          <a:p>
            <a:pPr marL="2233295">
              <a:lnSpc>
                <a:spcPct val="100000"/>
              </a:lnSpc>
              <a:spcBef>
                <a:spcPts val="2680"/>
              </a:spcBef>
            </a:pPr>
            <a:endParaRPr sz="3400">
              <a:latin typeface="Times New Roman" panose="02020603050405020304"/>
              <a:cs typeface="Times New Roman" panose="02020603050405020304"/>
            </a:endParaRPr>
          </a:p>
          <a:p>
            <a:pPr marL="2233295">
              <a:lnSpc>
                <a:spcPct val="100000"/>
              </a:lnSpc>
              <a:spcBef>
                <a:spcPts val="2680"/>
              </a:spcBef>
            </a:pP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"/>
          <p:cNvSpPr txBox="1"/>
          <p:nvPr>
            <p:custDataLst>
              <p:tags r:id="rId1"/>
            </p:custDataLst>
          </p:nvPr>
        </p:nvSpPr>
        <p:spPr>
          <a:xfrm>
            <a:off x="694287" y="1379513"/>
            <a:ext cx="3398520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lnSpc>
                <a:spcPct val="100000"/>
              </a:lnSpc>
            </a:pPr>
            <a:r>
              <a:rPr lang="zh-CN" altLang="en-US" sz="1950" b="1">
                <a:latin typeface="华文隶书" panose="02010800040101010101" charset="-122"/>
                <a:cs typeface="华文隶书" panose="02010800040101010101" charset="-122"/>
              </a:rPr>
              <a:t>苏州大学未来科学与工程学院</a:t>
            </a:r>
            <a:endParaRPr lang="zh-CN" altLang="en-US" sz="1950" b="1">
              <a:latin typeface="华文隶书" panose="02010800040101010101" charset="-122"/>
              <a:cs typeface="华文隶书" panose="02010800040101010101" charset="-122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470">
              <a:lnSpc>
                <a:spcPct val="100000"/>
              </a:lnSpc>
            </a:pPr>
            <a:r>
              <a:rPr sz="2950" spc="100" dirty="0"/>
              <a:t>计算机硬件、操作系统、启动、接口</a:t>
            </a:r>
            <a:r>
              <a:rPr sz="3050" spc="15" dirty="0">
                <a:latin typeface="Arial" panose="020B0604020202020204"/>
                <a:cs typeface="Arial" panose="020B0604020202020204"/>
              </a:rPr>
              <a:t>…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91674" y="4262420"/>
            <a:ext cx="4342765" cy="194310"/>
          </a:xfrm>
          <a:custGeom>
            <a:avLst/>
            <a:gdLst/>
            <a:ahLst/>
            <a:cxnLst/>
            <a:rect l="l" t="t" r="r" b="b"/>
            <a:pathLst>
              <a:path w="4342765" h="194310">
                <a:moveTo>
                  <a:pt x="4342281" y="0"/>
                </a:moveTo>
                <a:lnTo>
                  <a:pt x="47080" y="414"/>
                </a:lnTo>
                <a:lnTo>
                  <a:pt x="16356" y="27227"/>
                </a:lnTo>
                <a:lnTo>
                  <a:pt x="2714" y="70920"/>
                </a:lnTo>
                <a:lnTo>
                  <a:pt x="0" y="109106"/>
                </a:lnTo>
                <a:lnTo>
                  <a:pt x="2072" y="126445"/>
                </a:lnTo>
                <a:lnTo>
                  <a:pt x="17198" y="169321"/>
                </a:lnTo>
                <a:lnTo>
                  <a:pt x="42213" y="192063"/>
                </a:lnTo>
                <a:lnTo>
                  <a:pt x="51977" y="193742"/>
                </a:lnTo>
              </a:path>
              <a:path w="4342765" h="194310">
                <a:moveTo>
                  <a:pt x="4337383" y="193327"/>
                </a:moveTo>
                <a:lnTo>
                  <a:pt x="4306660" y="166515"/>
                </a:lnTo>
                <a:lnTo>
                  <a:pt x="4293018" y="122821"/>
                </a:lnTo>
                <a:lnTo>
                  <a:pt x="4290303" y="84635"/>
                </a:lnTo>
                <a:lnTo>
                  <a:pt x="4292376" y="67296"/>
                </a:lnTo>
                <a:lnTo>
                  <a:pt x="4307502" y="24421"/>
                </a:lnTo>
                <a:lnTo>
                  <a:pt x="4332517" y="1679"/>
                </a:lnTo>
                <a:lnTo>
                  <a:pt x="4342281" y="0"/>
                </a:lnTo>
              </a:path>
            </a:pathLst>
          </a:custGeom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91674" y="4262420"/>
            <a:ext cx="4342281" cy="19374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482256" y="4262420"/>
            <a:ext cx="103675" cy="1933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481978" y="4262835"/>
            <a:ext cx="104139" cy="193675"/>
          </a:xfrm>
          <a:custGeom>
            <a:avLst/>
            <a:gdLst/>
            <a:ahLst/>
            <a:cxnLst/>
            <a:rect l="l" t="t" r="r" b="b"/>
            <a:pathLst>
              <a:path w="104139" h="193675">
                <a:moveTo>
                  <a:pt x="51977" y="193327"/>
                </a:moveTo>
                <a:lnTo>
                  <a:pt x="17198" y="168906"/>
                </a:lnTo>
                <a:lnTo>
                  <a:pt x="2072" y="126030"/>
                </a:lnTo>
                <a:lnTo>
                  <a:pt x="0" y="108692"/>
                </a:lnTo>
                <a:lnTo>
                  <a:pt x="634" y="88790"/>
                </a:lnTo>
                <a:lnTo>
                  <a:pt x="10702" y="39372"/>
                </a:lnTo>
                <a:lnTo>
                  <a:pt x="38436" y="2899"/>
                </a:lnTo>
                <a:lnTo>
                  <a:pt x="47079" y="0"/>
                </a:lnTo>
                <a:lnTo>
                  <a:pt x="58083" y="1472"/>
                </a:lnTo>
                <a:lnTo>
                  <a:pt x="91989" y="34857"/>
                </a:lnTo>
                <a:lnTo>
                  <a:pt x="103675" y="80718"/>
                </a:lnTo>
                <a:lnTo>
                  <a:pt x="103153" y="101081"/>
                </a:lnTo>
                <a:lnTo>
                  <a:pt x="93729" y="151366"/>
                </a:lnTo>
                <a:lnTo>
                  <a:pt x="67267" y="189036"/>
                </a:lnTo>
                <a:lnTo>
                  <a:pt x="51977" y="193327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91674" y="4262420"/>
            <a:ext cx="4342765" cy="194310"/>
          </a:xfrm>
          <a:custGeom>
            <a:avLst/>
            <a:gdLst/>
            <a:ahLst/>
            <a:cxnLst/>
            <a:rect l="l" t="t" r="r" b="b"/>
            <a:pathLst>
              <a:path w="4342765" h="194310">
                <a:moveTo>
                  <a:pt x="4342280" y="193742"/>
                </a:moveTo>
                <a:lnTo>
                  <a:pt x="51977" y="193742"/>
                </a:lnTo>
                <a:lnTo>
                  <a:pt x="42213" y="192063"/>
                </a:lnTo>
                <a:lnTo>
                  <a:pt x="10837" y="156858"/>
                </a:lnTo>
                <a:lnTo>
                  <a:pt x="0" y="109107"/>
                </a:lnTo>
                <a:lnTo>
                  <a:pt x="634" y="89205"/>
                </a:lnTo>
                <a:lnTo>
                  <a:pt x="10702" y="39787"/>
                </a:lnTo>
                <a:lnTo>
                  <a:pt x="38436" y="3314"/>
                </a:lnTo>
                <a:lnTo>
                  <a:pt x="47079" y="415"/>
                </a:lnTo>
                <a:lnTo>
                  <a:pt x="4342280" y="0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312412" y="2898476"/>
            <a:ext cx="1265811" cy="13700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246942" y="4456163"/>
            <a:ext cx="215900" cy="242570"/>
          </a:xfrm>
          <a:custGeom>
            <a:avLst/>
            <a:gdLst/>
            <a:ahLst/>
            <a:cxnLst/>
            <a:rect l="l" t="t" r="r" b="b"/>
            <a:pathLst>
              <a:path w="215900" h="242570">
                <a:moveTo>
                  <a:pt x="215446" y="199100"/>
                </a:moveTo>
                <a:lnTo>
                  <a:pt x="0" y="199100"/>
                </a:lnTo>
                <a:lnTo>
                  <a:pt x="107723" y="242178"/>
                </a:lnTo>
                <a:lnTo>
                  <a:pt x="215446" y="199100"/>
                </a:lnTo>
                <a:close/>
              </a:path>
              <a:path w="215900" h="242570">
                <a:moveTo>
                  <a:pt x="161584" y="43078"/>
                </a:moveTo>
                <a:lnTo>
                  <a:pt x="53861" y="43078"/>
                </a:lnTo>
                <a:lnTo>
                  <a:pt x="53861" y="199100"/>
                </a:lnTo>
                <a:lnTo>
                  <a:pt x="161584" y="199100"/>
                </a:lnTo>
                <a:lnTo>
                  <a:pt x="161584" y="43078"/>
                </a:lnTo>
                <a:close/>
              </a:path>
              <a:path w="215900" h="242570">
                <a:moveTo>
                  <a:pt x="107723" y="0"/>
                </a:moveTo>
                <a:lnTo>
                  <a:pt x="0" y="43078"/>
                </a:lnTo>
                <a:lnTo>
                  <a:pt x="215446" y="43078"/>
                </a:lnTo>
                <a:lnTo>
                  <a:pt x="107723" y="0"/>
                </a:lnTo>
                <a:close/>
              </a:path>
            </a:pathLst>
          </a:custGeom>
          <a:solidFill>
            <a:srgbClr val="CC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246942" y="4456163"/>
            <a:ext cx="215900" cy="242570"/>
          </a:xfrm>
          <a:custGeom>
            <a:avLst/>
            <a:gdLst/>
            <a:ahLst/>
            <a:cxnLst/>
            <a:rect l="l" t="t" r="r" b="b"/>
            <a:pathLst>
              <a:path w="215900" h="242570">
                <a:moveTo>
                  <a:pt x="0" y="43077"/>
                </a:moveTo>
                <a:lnTo>
                  <a:pt x="107723" y="0"/>
                </a:lnTo>
                <a:lnTo>
                  <a:pt x="215445" y="43077"/>
                </a:lnTo>
                <a:lnTo>
                  <a:pt x="161584" y="43077"/>
                </a:lnTo>
                <a:lnTo>
                  <a:pt x="161584" y="199100"/>
                </a:lnTo>
                <a:lnTo>
                  <a:pt x="215445" y="199100"/>
                </a:lnTo>
                <a:lnTo>
                  <a:pt x="107723" y="242178"/>
                </a:lnTo>
                <a:lnTo>
                  <a:pt x="0" y="199100"/>
                </a:lnTo>
                <a:lnTo>
                  <a:pt x="53861" y="199100"/>
                </a:lnTo>
                <a:lnTo>
                  <a:pt x="53861" y="43077"/>
                </a:lnTo>
                <a:lnTo>
                  <a:pt x="0" y="43077"/>
                </a:lnTo>
                <a:close/>
              </a:path>
            </a:pathLst>
          </a:custGeom>
          <a:ln w="81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246942" y="4976845"/>
            <a:ext cx="215900" cy="242570"/>
          </a:xfrm>
          <a:custGeom>
            <a:avLst/>
            <a:gdLst/>
            <a:ahLst/>
            <a:cxnLst/>
            <a:rect l="l" t="t" r="r" b="b"/>
            <a:pathLst>
              <a:path w="215900" h="242570">
                <a:moveTo>
                  <a:pt x="215446" y="199101"/>
                </a:moveTo>
                <a:lnTo>
                  <a:pt x="0" y="199101"/>
                </a:lnTo>
                <a:lnTo>
                  <a:pt x="107723" y="242178"/>
                </a:lnTo>
                <a:lnTo>
                  <a:pt x="215446" y="199101"/>
                </a:lnTo>
                <a:close/>
              </a:path>
              <a:path w="215900" h="242570">
                <a:moveTo>
                  <a:pt x="161584" y="43078"/>
                </a:moveTo>
                <a:lnTo>
                  <a:pt x="53861" y="43078"/>
                </a:lnTo>
                <a:lnTo>
                  <a:pt x="53861" y="199101"/>
                </a:lnTo>
                <a:lnTo>
                  <a:pt x="161584" y="199101"/>
                </a:lnTo>
                <a:lnTo>
                  <a:pt x="161584" y="43078"/>
                </a:lnTo>
                <a:close/>
              </a:path>
              <a:path w="215900" h="242570">
                <a:moveTo>
                  <a:pt x="107723" y="0"/>
                </a:moveTo>
                <a:lnTo>
                  <a:pt x="0" y="43078"/>
                </a:lnTo>
                <a:lnTo>
                  <a:pt x="215446" y="43078"/>
                </a:lnTo>
                <a:lnTo>
                  <a:pt x="107723" y="0"/>
                </a:lnTo>
                <a:close/>
              </a:path>
            </a:pathLst>
          </a:custGeom>
          <a:solidFill>
            <a:srgbClr val="CC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246942" y="4976845"/>
            <a:ext cx="215900" cy="242570"/>
          </a:xfrm>
          <a:custGeom>
            <a:avLst/>
            <a:gdLst/>
            <a:ahLst/>
            <a:cxnLst/>
            <a:rect l="l" t="t" r="r" b="b"/>
            <a:pathLst>
              <a:path w="215900" h="242570">
                <a:moveTo>
                  <a:pt x="0" y="43077"/>
                </a:moveTo>
                <a:lnTo>
                  <a:pt x="107723" y="0"/>
                </a:lnTo>
                <a:lnTo>
                  <a:pt x="215445" y="43077"/>
                </a:lnTo>
                <a:lnTo>
                  <a:pt x="161584" y="43077"/>
                </a:lnTo>
                <a:lnTo>
                  <a:pt x="161584" y="199100"/>
                </a:lnTo>
                <a:lnTo>
                  <a:pt x="215445" y="199100"/>
                </a:lnTo>
                <a:lnTo>
                  <a:pt x="107723" y="242178"/>
                </a:lnTo>
                <a:lnTo>
                  <a:pt x="0" y="199100"/>
                </a:lnTo>
                <a:lnTo>
                  <a:pt x="53861" y="199100"/>
                </a:lnTo>
                <a:lnTo>
                  <a:pt x="53861" y="43077"/>
                </a:lnTo>
                <a:lnTo>
                  <a:pt x="0" y="43077"/>
                </a:lnTo>
                <a:close/>
              </a:path>
            </a:pathLst>
          </a:custGeom>
          <a:ln w="81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966864" y="5159489"/>
            <a:ext cx="684937" cy="7376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345714" y="4020243"/>
            <a:ext cx="215900" cy="242570"/>
          </a:xfrm>
          <a:custGeom>
            <a:avLst/>
            <a:gdLst/>
            <a:ahLst/>
            <a:cxnLst/>
            <a:rect l="l" t="t" r="r" b="b"/>
            <a:pathLst>
              <a:path w="215900" h="242570">
                <a:moveTo>
                  <a:pt x="215446" y="199100"/>
                </a:moveTo>
                <a:lnTo>
                  <a:pt x="0" y="199100"/>
                </a:lnTo>
                <a:lnTo>
                  <a:pt x="107723" y="242177"/>
                </a:lnTo>
                <a:lnTo>
                  <a:pt x="215446" y="199100"/>
                </a:lnTo>
                <a:close/>
              </a:path>
              <a:path w="215900" h="242570">
                <a:moveTo>
                  <a:pt x="161584" y="43077"/>
                </a:moveTo>
                <a:lnTo>
                  <a:pt x="53861" y="43077"/>
                </a:lnTo>
                <a:lnTo>
                  <a:pt x="53861" y="199100"/>
                </a:lnTo>
                <a:lnTo>
                  <a:pt x="161584" y="199100"/>
                </a:lnTo>
                <a:lnTo>
                  <a:pt x="161584" y="43077"/>
                </a:lnTo>
                <a:close/>
              </a:path>
              <a:path w="215900" h="242570">
                <a:moveTo>
                  <a:pt x="107723" y="0"/>
                </a:moveTo>
                <a:lnTo>
                  <a:pt x="0" y="43077"/>
                </a:lnTo>
                <a:lnTo>
                  <a:pt x="215446" y="43077"/>
                </a:lnTo>
                <a:lnTo>
                  <a:pt x="107723" y="0"/>
                </a:lnTo>
                <a:close/>
              </a:path>
            </a:pathLst>
          </a:custGeom>
          <a:solidFill>
            <a:srgbClr val="CC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345714" y="4020243"/>
            <a:ext cx="215900" cy="242570"/>
          </a:xfrm>
          <a:custGeom>
            <a:avLst/>
            <a:gdLst/>
            <a:ahLst/>
            <a:cxnLst/>
            <a:rect l="l" t="t" r="r" b="b"/>
            <a:pathLst>
              <a:path w="215900" h="242570">
                <a:moveTo>
                  <a:pt x="0" y="43077"/>
                </a:moveTo>
                <a:lnTo>
                  <a:pt x="107723" y="0"/>
                </a:lnTo>
                <a:lnTo>
                  <a:pt x="215445" y="43077"/>
                </a:lnTo>
                <a:lnTo>
                  <a:pt x="161584" y="43077"/>
                </a:lnTo>
                <a:lnTo>
                  <a:pt x="161584" y="199100"/>
                </a:lnTo>
                <a:lnTo>
                  <a:pt x="215445" y="199100"/>
                </a:lnTo>
                <a:lnTo>
                  <a:pt x="107723" y="242178"/>
                </a:lnTo>
                <a:lnTo>
                  <a:pt x="0" y="199100"/>
                </a:lnTo>
                <a:lnTo>
                  <a:pt x="53861" y="199100"/>
                </a:lnTo>
                <a:lnTo>
                  <a:pt x="53861" y="43077"/>
                </a:lnTo>
                <a:lnTo>
                  <a:pt x="0" y="43077"/>
                </a:lnTo>
                <a:close/>
              </a:path>
            </a:pathLst>
          </a:custGeom>
          <a:ln w="81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771193" y="3717519"/>
            <a:ext cx="1273175" cy="314960"/>
          </a:xfrm>
          <a:custGeom>
            <a:avLst/>
            <a:gdLst/>
            <a:ahLst/>
            <a:cxnLst/>
            <a:rect l="l" t="t" r="r" b="b"/>
            <a:pathLst>
              <a:path w="1273175" h="314960">
                <a:moveTo>
                  <a:pt x="0" y="0"/>
                </a:moveTo>
                <a:lnTo>
                  <a:pt x="1272923" y="0"/>
                </a:lnTo>
                <a:lnTo>
                  <a:pt x="1272923" y="314831"/>
                </a:lnTo>
                <a:lnTo>
                  <a:pt x="0" y="314831"/>
                </a:lnTo>
                <a:lnTo>
                  <a:pt x="0" y="0"/>
                </a:lnTo>
                <a:close/>
              </a:path>
            </a:pathLst>
          </a:custGeom>
          <a:ln w="1622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216633" y="3281598"/>
            <a:ext cx="1319652" cy="1937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520619" y="3281598"/>
            <a:ext cx="31404" cy="19246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040033" y="2599442"/>
            <a:ext cx="1817855" cy="112213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457925" y="4674123"/>
            <a:ext cx="1511300" cy="314960"/>
          </a:xfrm>
          <a:custGeom>
            <a:avLst/>
            <a:gdLst/>
            <a:ahLst/>
            <a:cxnLst/>
            <a:rect l="l" t="t" r="r" b="b"/>
            <a:pathLst>
              <a:path w="1511300" h="314960">
                <a:moveTo>
                  <a:pt x="0" y="0"/>
                </a:moveTo>
                <a:lnTo>
                  <a:pt x="1510811" y="0"/>
                </a:lnTo>
                <a:lnTo>
                  <a:pt x="1510811" y="314831"/>
                </a:lnTo>
                <a:lnTo>
                  <a:pt x="0" y="314831"/>
                </a:lnTo>
                <a:lnTo>
                  <a:pt x="0" y="0"/>
                </a:lnTo>
                <a:close/>
              </a:path>
            </a:pathLst>
          </a:custGeom>
          <a:ln w="1622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099772" y="4444055"/>
            <a:ext cx="215900" cy="242570"/>
          </a:xfrm>
          <a:custGeom>
            <a:avLst/>
            <a:gdLst/>
            <a:ahLst/>
            <a:cxnLst/>
            <a:rect l="l" t="t" r="r" b="b"/>
            <a:pathLst>
              <a:path w="215900" h="242570">
                <a:moveTo>
                  <a:pt x="215445" y="199100"/>
                </a:moveTo>
                <a:lnTo>
                  <a:pt x="0" y="199100"/>
                </a:lnTo>
                <a:lnTo>
                  <a:pt x="107722" y="242177"/>
                </a:lnTo>
                <a:lnTo>
                  <a:pt x="215445" y="199100"/>
                </a:lnTo>
                <a:close/>
              </a:path>
              <a:path w="215900" h="242570">
                <a:moveTo>
                  <a:pt x="161584" y="43077"/>
                </a:moveTo>
                <a:lnTo>
                  <a:pt x="53861" y="43077"/>
                </a:lnTo>
                <a:lnTo>
                  <a:pt x="53861" y="199100"/>
                </a:lnTo>
                <a:lnTo>
                  <a:pt x="161584" y="199100"/>
                </a:lnTo>
                <a:lnTo>
                  <a:pt x="161584" y="43077"/>
                </a:lnTo>
                <a:close/>
              </a:path>
              <a:path w="215900" h="242570">
                <a:moveTo>
                  <a:pt x="107722" y="0"/>
                </a:moveTo>
                <a:lnTo>
                  <a:pt x="0" y="43077"/>
                </a:lnTo>
                <a:lnTo>
                  <a:pt x="215445" y="43077"/>
                </a:lnTo>
                <a:lnTo>
                  <a:pt x="107722" y="0"/>
                </a:lnTo>
                <a:close/>
              </a:path>
            </a:pathLst>
          </a:custGeom>
          <a:solidFill>
            <a:srgbClr val="CC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099772" y="4444055"/>
            <a:ext cx="215900" cy="242570"/>
          </a:xfrm>
          <a:custGeom>
            <a:avLst/>
            <a:gdLst/>
            <a:ahLst/>
            <a:cxnLst/>
            <a:rect l="l" t="t" r="r" b="b"/>
            <a:pathLst>
              <a:path w="215900" h="242570">
                <a:moveTo>
                  <a:pt x="0" y="43077"/>
                </a:moveTo>
                <a:lnTo>
                  <a:pt x="107723" y="0"/>
                </a:lnTo>
                <a:lnTo>
                  <a:pt x="215445" y="43077"/>
                </a:lnTo>
                <a:lnTo>
                  <a:pt x="161584" y="43077"/>
                </a:lnTo>
                <a:lnTo>
                  <a:pt x="161584" y="199100"/>
                </a:lnTo>
                <a:lnTo>
                  <a:pt x="215445" y="199100"/>
                </a:lnTo>
                <a:lnTo>
                  <a:pt x="107723" y="242178"/>
                </a:lnTo>
                <a:lnTo>
                  <a:pt x="0" y="199100"/>
                </a:lnTo>
                <a:lnTo>
                  <a:pt x="53861" y="199100"/>
                </a:lnTo>
                <a:lnTo>
                  <a:pt x="53861" y="43077"/>
                </a:lnTo>
                <a:lnTo>
                  <a:pt x="0" y="43077"/>
                </a:lnTo>
                <a:close/>
              </a:path>
            </a:pathLst>
          </a:custGeom>
          <a:ln w="81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949146" y="5219025"/>
            <a:ext cx="1319652" cy="19374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253130" y="5219025"/>
            <a:ext cx="31405" cy="19246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743876" y="4972789"/>
            <a:ext cx="2757427" cy="120082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9177783" y="878600"/>
            <a:ext cx="986720" cy="103984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8100029" y="1811218"/>
            <a:ext cx="821115" cy="78936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101128" y="3686704"/>
            <a:ext cx="2143125" cy="584200"/>
          </a:xfrm>
          <a:custGeom>
            <a:avLst/>
            <a:gdLst/>
            <a:ahLst/>
            <a:cxnLst/>
            <a:rect l="l" t="t" r="r" b="b"/>
            <a:pathLst>
              <a:path w="2143125" h="584200">
                <a:moveTo>
                  <a:pt x="0" y="0"/>
                </a:moveTo>
                <a:lnTo>
                  <a:pt x="2142648" y="0"/>
                </a:lnTo>
                <a:lnTo>
                  <a:pt x="2142648" y="584200"/>
                </a:lnTo>
                <a:lnTo>
                  <a:pt x="0" y="584200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101128" y="3102504"/>
            <a:ext cx="2143125" cy="584200"/>
          </a:xfrm>
          <a:custGeom>
            <a:avLst/>
            <a:gdLst/>
            <a:ahLst/>
            <a:cxnLst/>
            <a:rect l="l" t="t" r="r" b="b"/>
            <a:pathLst>
              <a:path w="2143125" h="584200">
                <a:moveTo>
                  <a:pt x="0" y="584200"/>
                </a:moveTo>
                <a:lnTo>
                  <a:pt x="2142648" y="584200"/>
                </a:lnTo>
                <a:lnTo>
                  <a:pt x="2142648" y="0"/>
                </a:lnTo>
                <a:lnTo>
                  <a:pt x="0" y="0"/>
                </a:lnTo>
                <a:lnTo>
                  <a:pt x="0" y="584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101128" y="3102504"/>
            <a:ext cx="2143125" cy="584200"/>
          </a:xfrm>
          <a:custGeom>
            <a:avLst/>
            <a:gdLst/>
            <a:ahLst/>
            <a:cxnLst/>
            <a:rect l="l" t="t" r="r" b="b"/>
            <a:pathLst>
              <a:path w="2143125" h="584200">
                <a:moveTo>
                  <a:pt x="0" y="0"/>
                </a:moveTo>
                <a:lnTo>
                  <a:pt x="2142648" y="0"/>
                </a:lnTo>
                <a:lnTo>
                  <a:pt x="2142648" y="584200"/>
                </a:lnTo>
                <a:lnTo>
                  <a:pt x="0" y="584200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101128" y="2518304"/>
            <a:ext cx="2143125" cy="584200"/>
          </a:xfrm>
          <a:custGeom>
            <a:avLst/>
            <a:gdLst/>
            <a:ahLst/>
            <a:cxnLst/>
            <a:rect l="l" t="t" r="r" b="b"/>
            <a:pathLst>
              <a:path w="2143125" h="584200">
                <a:moveTo>
                  <a:pt x="0" y="584200"/>
                </a:moveTo>
                <a:lnTo>
                  <a:pt x="2142648" y="584200"/>
                </a:lnTo>
                <a:lnTo>
                  <a:pt x="2142648" y="0"/>
                </a:lnTo>
                <a:lnTo>
                  <a:pt x="0" y="0"/>
                </a:lnTo>
                <a:lnTo>
                  <a:pt x="0" y="584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101128" y="2518304"/>
            <a:ext cx="2143125" cy="584200"/>
          </a:xfrm>
          <a:custGeom>
            <a:avLst/>
            <a:gdLst/>
            <a:ahLst/>
            <a:cxnLst/>
            <a:rect l="l" t="t" r="r" b="b"/>
            <a:pathLst>
              <a:path w="2143125" h="584200">
                <a:moveTo>
                  <a:pt x="0" y="0"/>
                </a:moveTo>
                <a:lnTo>
                  <a:pt x="2142648" y="0"/>
                </a:lnTo>
                <a:lnTo>
                  <a:pt x="2142648" y="584200"/>
                </a:lnTo>
                <a:lnTo>
                  <a:pt x="0" y="584200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869607" y="2012033"/>
            <a:ext cx="7833359" cy="1781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温故：操作系统要管理硬件，方便我们使用</a:t>
            </a:r>
            <a:r>
              <a:rPr sz="2400" b="1" dirty="0">
                <a:latin typeface="Arial" panose="020B0604020202020204"/>
                <a:cs typeface="Arial" panose="020B0604020202020204"/>
              </a:rPr>
              <a:t>…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6783070" marR="5080" algn="r">
              <a:lnSpc>
                <a:spcPct val="197000"/>
              </a:lnSpc>
              <a:spcBef>
                <a:spcPts val="200"/>
              </a:spcBef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应用软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件</a:t>
            </a:r>
            <a:r>
              <a:rPr sz="19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操作系</a:t>
            </a:r>
            <a:r>
              <a:rPr sz="1950" b="1" spc="75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统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R="255905" algn="ctr">
              <a:lnSpc>
                <a:spcPts val="1605"/>
              </a:lnSpc>
            </a:pPr>
            <a:r>
              <a:rPr sz="15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15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5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15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-</a:t>
            </a:r>
            <a:r>
              <a:rPr sz="1500" b="1" spc="2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内存总线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919046" y="4022245"/>
            <a:ext cx="73977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5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15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500" b="1" spc="2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总线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445637" y="3768026"/>
            <a:ext cx="999490" cy="215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2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图形控制器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708329" y="4686232"/>
            <a:ext cx="1292860" cy="314960"/>
          </a:xfrm>
          <a:prstGeom prst="rect">
            <a:avLst/>
          </a:prstGeom>
          <a:ln w="16228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3515">
              <a:lnSpc>
                <a:spcPct val="100000"/>
              </a:lnSpc>
            </a:pPr>
            <a:r>
              <a:rPr sz="15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ID</a:t>
            </a:r>
            <a:r>
              <a:rPr sz="15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500" b="1" spc="2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控制器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907971" y="3768027"/>
            <a:ext cx="999490" cy="215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2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总线控制器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616247" y="4724370"/>
            <a:ext cx="1193800" cy="215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2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扩展总线接口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859498" y="4978589"/>
            <a:ext cx="1864360" cy="941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1059180">
              <a:lnSpc>
                <a:spcPct val="100000"/>
              </a:lnSpc>
            </a:pPr>
            <a:r>
              <a:rPr sz="1500" b="1" spc="2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扩展总线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500" b="1" spc="2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并行口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899839" y="3844108"/>
            <a:ext cx="54356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硬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件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7166061" y="2972682"/>
            <a:ext cx="2012950" cy="649605"/>
          </a:xfrm>
          <a:custGeom>
            <a:avLst/>
            <a:gdLst/>
            <a:ahLst/>
            <a:cxnLst/>
            <a:rect l="l" t="t" r="r" b="b"/>
            <a:pathLst>
              <a:path w="2012950" h="649604">
                <a:moveTo>
                  <a:pt x="1904572" y="0"/>
                </a:moveTo>
                <a:lnTo>
                  <a:pt x="107488" y="2"/>
                </a:lnTo>
                <a:lnTo>
                  <a:pt x="65619" y="8702"/>
                </a:lnTo>
                <a:lnTo>
                  <a:pt x="31455" y="31924"/>
                </a:lnTo>
                <a:lnTo>
                  <a:pt x="8435" y="66232"/>
                </a:lnTo>
                <a:lnTo>
                  <a:pt x="46" y="107461"/>
                </a:lnTo>
                <a:lnTo>
                  <a:pt x="0" y="541649"/>
                </a:lnTo>
                <a:lnTo>
                  <a:pt x="1074" y="556245"/>
                </a:lnTo>
                <a:lnTo>
                  <a:pt x="15001" y="595917"/>
                </a:lnTo>
                <a:lnTo>
                  <a:pt x="42308" y="626740"/>
                </a:lnTo>
                <a:lnTo>
                  <a:pt x="79556" y="645277"/>
                </a:lnTo>
                <a:lnTo>
                  <a:pt x="108213" y="649110"/>
                </a:lnTo>
                <a:lnTo>
                  <a:pt x="1905298" y="649108"/>
                </a:lnTo>
                <a:lnTo>
                  <a:pt x="1947166" y="640408"/>
                </a:lnTo>
                <a:lnTo>
                  <a:pt x="1981329" y="617185"/>
                </a:lnTo>
                <a:lnTo>
                  <a:pt x="2004349" y="582877"/>
                </a:lnTo>
                <a:lnTo>
                  <a:pt x="2012738" y="541649"/>
                </a:lnTo>
                <a:lnTo>
                  <a:pt x="2012785" y="107461"/>
                </a:lnTo>
                <a:lnTo>
                  <a:pt x="2011710" y="92865"/>
                </a:lnTo>
                <a:lnTo>
                  <a:pt x="1997784" y="53193"/>
                </a:lnTo>
                <a:lnTo>
                  <a:pt x="1970477" y="22370"/>
                </a:lnTo>
                <a:lnTo>
                  <a:pt x="1933229" y="3833"/>
                </a:lnTo>
                <a:lnTo>
                  <a:pt x="19045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166058" y="2972682"/>
            <a:ext cx="2012950" cy="649605"/>
          </a:xfrm>
          <a:custGeom>
            <a:avLst/>
            <a:gdLst/>
            <a:ahLst/>
            <a:cxnLst/>
            <a:rect l="l" t="t" r="r" b="b"/>
            <a:pathLst>
              <a:path w="2012950" h="649604">
                <a:moveTo>
                  <a:pt x="0" y="108187"/>
                </a:moveTo>
                <a:lnTo>
                  <a:pt x="8437" y="66233"/>
                </a:lnTo>
                <a:lnTo>
                  <a:pt x="31458" y="31925"/>
                </a:lnTo>
                <a:lnTo>
                  <a:pt x="65621" y="8702"/>
                </a:lnTo>
                <a:lnTo>
                  <a:pt x="107490" y="2"/>
                </a:lnTo>
                <a:lnTo>
                  <a:pt x="1904574" y="0"/>
                </a:lnTo>
                <a:lnTo>
                  <a:pt x="1919200" y="979"/>
                </a:lnTo>
                <a:lnTo>
                  <a:pt x="1958998" y="14656"/>
                </a:lnTo>
                <a:lnTo>
                  <a:pt x="1990001" y="41766"/>
                </a:lnTo>
                <a:lnTo>
                  <a:pt x="2008771" y="78870"/>
                </a:lnTo>
                <a:lnTo>
                  <a:pt x="2012791" y="540924"/>
                </a:lnTo>
                <a:lnTo>
                  <a:pt x="2011811" y="555546"/>
                </a:lnTo>
                <a:lnTo>
                  <a:pt x="1998130" y="595333"/>
                </a:lnTo>
                <a:lnTo>
                  <a:pt x="1971013" y="626327"/>
                </a:lnTo>
                <a:lnTo>
                  <a:pt x="1933899" y="645091"/>
                </a:lnTo>
                <a:lnTo>
                  <a:pt x="108216" y="649111"/>
                </a:lnTo>
                <a:lnTo>
                  <a:pt x="93590" y="648131"/>
                </a:lnTo>
                <a:lnTo>
                  <a:pt x="53792" y="634454"/>
                </a:lnTo>
                <a:lnTo>
                  <a:pt x="22789" y="607344"/>
                </a:lnTo>
                <a:lnTo>
                  <a:pt x="4020" y="570240"/>
                </a:lnTo>
                <a:lnTo>
                  <a:pt x="0" y="108187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sp>
        <p:nvSpPr>
          <p:cNvPr id="45" name="object 2"/>
          <p:cNvSpPr/>
          <p:nvPr>
            <p:custDataLst>
              <p:tags r:id="rId13"/>
            </p:custDataLst>
          </p:nvPr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50" spc="100" dirty="0"/>
              <a:t>计算机硬件、操作系统、启动、接口</a:t>
            </a:r>
            <a:r>
              <a:rPr sz="3050" spc="15" dirty="0">
                <a:latin typeface="Arial" panose="020B0604020202020204"/>
                <a:cs typeface="Arial" panose="020B0604020202020204"/>
              </a:rPr>
              <a:t>…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4678" y="2012033"/>
            <a:ext cx="920559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温故：</a:t>
            </a: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设备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管理的表格进行了初始化；等待用户的</a:t>
            </a: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设备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使用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系统</a:t>
            </a:r>
            <a:r>
              <a:rPr sz="3450" b="1" spc="135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调</a:t>
            </a:r>
            <a:endParaRPr sz="3450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6778" y="2481819"/>
            <a:ext cx="3461385" cy="342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用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)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，将其展开成</a:t>
            </a: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设备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细</a:t>
            </a:r>
            <a:r>
              <a:rPr sz="3450" b="1" spc="135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节</a:t>
            </a:r>
            <a:endParaRPr sz="3450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047926" y="980024"/>
            <a:ext cx="986720" cy="103984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243404" y="2947283"/>
            <a:ext cx="3046095" cy="3456940"/>
          </a:xfrm>
          <a:prstGeom prst="rect">
            <a:avLst/>
          </a:prstGeom>
          <a:ln w="8115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88925">
              <a:lnSpc>
                <a:spcPct val="100000"/>
              </a:lnSpc>
            </a:pPr>
            <a:r>
              <a:rPr sz="1500" b="1" spc="15" dirty="0">
                <a:latin typeface="Courier New" panose="02070309020205020404"/>
                <a:cs typeface="Courier New" panose="02070309020205020404"/>
              </a:rPr>
              <a:t>voi</a:t>
            </a:r>
            <a:r>
              <a:rPr sz="1500" b="1" spc="20" dirty="0">
                <a:latin typeface="Courier New" panose="02070309020205020404"/>
                <a:cs typeface="Courier New" panose="02070309020205020404"/>
              </a:rPr>
              <a:t>d</a:t>
            </a:r>
            <a:r>
              <a:rPr sz="1500" b="1" spc="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500" b="1" spc="15" dirty="0">
                <a:latin typeface="Courier New" panose="02070309020205020404"/>
                <a:cs typeface="Courier New" panose="02070309020205020404"/>
              </a:rPr>
              <a:t>main(void)</a:t>
            </a:r>
            <a:endParaRPr sz="1500">
              <a:latin typeface="Courier New" panose="02070309020205020404"/>
              <a:cs typeface="Courier New" panose="02070309020205020404"/>
            </a:endParaRPr>
          </a:p>
          <a:p>
            <a:pPr marL="638175" marR="995680" indent="-349250">
              <a:lnSpc>
                <a:spcPct val="122000"/>
              </a:lnSpc>
              <a:tabLst>
                <a:tab pos="638175" algn="l"/>
              </a:tabLst>
            </a:pPr>
            <a:r>
              <a:rPr sz="1500" b="1" spc="20" dirty="0">
                <a:latin typeface="Courier New" panose="02070309020205020404"/>
                <a:cs typeface="Courier New" panose="02070309020205020404"/>
              </a:rPr>
              <a:t>{</a:t>
            </a:r>
            <a:r>
              <a:rPr sz="1500" b="1" spc="20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1500" b="1" spc="15" dirty="0">
                <a:latin typeface="Courier New" panose="02070309020205020404"/>
                <a:cs typeface="Courier New" panose="02070309020205020404"/>
              </a:rPr>
              <a:t>mem_init();</a:t>
            </a:r>
            <a:r>
              <a:rPr sz="1500" b="1" spc="15" dirty="0">
                <a:latin typeface="Courier New" panose="02070309020205020404"/>
                <a:cs typeface="Courier New" panose="02070309020205020404"/>
              </a:rPr>
              <a:t> trap_init();</a:t>
            </a:r>
            <a:endParaRPr sz="1500">
              <a:latin typeface="Courier New" panose="02070309020205020404"/>
              <a:cs typeface="Courier New" panose="02070309020205020404"/>
            </a:endParaRPr>
          </a:p>
          <a:p>
            <a:pPr marL="638175" marR="763270">
              <a:lnSpc>
                <a:spcPct val="123000"/>
              </a:lnSpc>
              <a:spcBef>
                <a:spcPts val="25"/>
              </a:spcBef>
            </a:pPr>
            <a:r>
              <a:rPr sz="1500" b="1" spc="15" dirty="0">
                <a:latin typeface="Courier New" panose="02070309020205020404"/>
                <a:cs typeface="Courier New" panose="02070309020205020404"/>
              </a:rPr>
              <a:t>…… sched_init(); buffer_init(); hd_init(); floppy_init(); sti();</a:t>
            </a:r>
            <a:endParaRPr sz="1500">
              <a:latin typeface="Courier New" panose="02070309020205020404"/>
              <a:cs typeface="Courier New" panose="02070309020205020404"/>
            </a:endParaRPr>
          </a:p>
          <a:p>
            <a:pPr marL="638175" marR="65405">
              <a:lnSpc>
                <a:spcPct val="122000"/>
              </a:lnSpc>
            </a:pPr>
            <a:r>
              <a:rPr sz="1500" b="1" i="1" spc="1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move_to_user_mode(); if(!fork()){init();}</a:t>
            </a:r>
            <a:endParaRPr sz="1500">
              <a:latin typeface="Courier New" panose="02070309020205020404"/>
              <a:cs typeface="Courier New" panose="02070309020205020404"/>
            </a:endParaRPr>
          </a:p>
          <a:p>
            <a:pPr marL="288925">
              <a:lnSpc>
                <a:spcPct val="100000"/>
              </a:lnSpc>
              <a:spcBef>
                <a:spcPts val="400"/>
              </a:spcBef>
            </a:pPr>
            <a:r>
              <a:rPr sz="1500" b="1" spc="20" dirty="0">
                <a:latin typeface="Courier New" panose="02070309020205020404"/>
                <a:cs typeface="Courier New" panose="02070309020205020404"/>
              </a:rPr>
              <a:t>}</a:t>
            </a:r>
            <a:endParaRPr sz="15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16842" y="3302648"/>
            <a:ext cx="2061845" cy="633095"/>
          </a:xfrm>
          <a:custGeom>
            <a:avLst/>
            <a:gdLst/>
            <a:ahLst/>
            <a:cxnLst/>
            <a:rect l="l" t="t" r="r" b="b"/>
            <a:pathLst>
              <a:path w="2061845" h="633095">
                <a:moveTo>
                  <a:pt x="0" y="632882"/>
                </a:moveTo>
                <a:lnTo>
                  <a:pt x="2061489" y="632882"/>
                </a:lnTo>
                <a:lnTo>
                  <a:pt x="2061489" y="0"/>
                </a:lnTo>
                <a:lnTo>
                  <a:pt x="0" y="0"/>
                </a:lnTo>
                <a:lnTo>
                  <a:pt x="0" y="632882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278331" y="3091685"/>
            <a:ext cx="211454" cy="843915"/>
          </a:xfrm>
          <a:custGeom>
            <a:avLst/>
            <a:gdLst/>
            <a:ahLst/>
            <a:cxnLst/>
            <a:rect l="l" t="t" r="r" b="b"/>
            <a:pathLst>
              <a:path w="211454" h="843914">
                <a:moveTo>
                  <a:pt x="211016" y="0"/>
                </a:moveTo>
                <a:lnTo>
                  <a:pt x="0" y="210962"/>
                </a:lnTo>
                <a:lnTo>
                  <a:pt x="0" y="843845"/>
                </a:lnTo>
                <a:lnTo>
                  <a:pt x="211016" y="632885"/>
                </a:lnTo>
                <a:lnTo>
                  <a:pt x="211016" y="0"/>
                </a:lnTo>
                <a:close/>
              </a:path>
            </a:pathLst>
          </a:custGeom>
          <a:solidFill>
            <a:srgbClr val="6767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216842" y="3091685"/>
            <a:ext cx="2272665" cy="211454"/>
          </a:xfrm>
          <a:custGeom>
            <a:avLst/>
            <a:gdLst/>
            <a:ahLst/>
            <a:cxnLst/>
            <a:rect l="l" t="t" r="r" b="b"/>
            <a:pathLst>
              <a:path w="2272665" h="211454">
                <a:moveTo>
                  <a:pt x="2272506" y="0"/>
                </a:moveTo>
                <a:lnTo>
                  <a:pt x="211019" y="0"/>
                </a:lnTo>
                <a:lnTo>
                  <a:pt x="0" y="210962"/>
                </a:lnTo>
                <a:lnTo>
                  <a:pt x="2061489" y="210962"/>
                </a:lnTo>
                <a:lnTo>
                  <a:pt x="2272506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216842" y="3091685"/>
            <a:ext cx="2272665" cy="843915"/>
          </a:xfrm>
          <a:custGeom>
            <a:avLst/>
            <a:gdLst/>
            <a:ahLst/>
            <a:cxnLst/>
            <a:rect l="l" t="t" r="r" b="b"/>
            <a:pathLst>
              <a:path w="2272665" h="843914">
                <a:moveTo>
                  <a:pt x="0" y="210962"/>
                </a:moveTo>
                <a:lnTo>
                  <a:pt x="211019" y="0"/>
                </a:lnTo>
                <a:lnTo>
                  <a:pt x="2272506" y="0"/>
                </a:lnTo>
                <a:lnTo>
                  <a:pt x="2272506" y="632884"/>
                </a:lnTo>
                <a:lnTo>
                  <a:pt x="2061489" y="843844"/>
                </a:lnTo>
                <a:lnTo>
                  <a:pt x="0" y="843844"/>
                </a:lnTo>
                <a:lnTo>
                  <a:pt x="0" y="210962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216842" y="3091685"/>
            <a:ext cx="2272665" cy="211454"/>
          </a:xfrm>
          <a:custGeom>
            <a:avLst/>
            <a:gdLst/>
            <a:ahLst/>
            <a:cxnLst/>
            <a:rect l="l" t="t" r="r" b="b"/>
            <a:pathLst>
              <a:path w="2272665" h="211454">
                <a:moveTo>
                  <a:pt x="0" y="210962"/>
                </a:moveTo>
                <a:lnTo>
                  <a:pt x="2061489" y="210962"/>
                </a:lnTo>
                <a:lnTo>
                  <a:pt x="2272506" y="0"/>
                </a:lnTo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278331" y="3302648"/>
            <a:ext cx="0" cy="633095"/>
          </a:xfrm>
          <a:custGeom>
            <a:avLst/>
            <a:gdLst/>
            <a:ahLst/>
            <a:cxnLst/>
            <a:rect l="l" t="t" r="r" b="b"/>
            <a:pathLst>
              <a:path h="633095">
                <a:moveTo>
                  <a:pt x="0" y="0"/>
                </a:moveTo>
                <a:lnTo>
                  <a:pt x="0" y="632882"/>
                </a:lnTo>
              </a:path>
            </a:pathLst>
          </a:custGeom>
          <a:ln w="8116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407571" y="2698257"/>
            <a:ext cx="787258" cy="11764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515417" y="3223540"/>
            <a:ext cx="259715" cy="452755"/>
          </a:xfrm>
          <a:custGeom>
            <a:avLst/>
            <a:gdLst/>
            <a:ahLst/>
            <a:cxnLst/>
            <a:rect l="l" t="t" r="r" b="b"/>
            <a:pathLst>
              <a:path w="259715" h="452754">
                <a:moveTo>
                  <a:pt x="0" y="0"/>
                </a:moveTo>
                <a:lnTo>
                  <a:pt x="33" y="386928"/>
                </a:lnTo>
                <a:lnTo>
                  <a:pt x="19048" y="420000"/>
                </a:lnTo>
                <a:lnTo>
                  <a:pt x="53326" y="438722"/>
                </a:lnTo>
                <a:lnTo>
                  <a:pt x="101241" y="449919"/>
                </a:lnTo>
                <a:lnTo>
                  <a:pt x="139197" y="452175"/>
                </a:lnTo>
                <a:lnTo>
                  <a:pt x="157186" y="450860"/>
                </a:lnTo>
                <a:lnTo>
                  <a:pt x="205173" y="439942"/>
                </a:lnTo>
                <a:lnTo>
                  <a:pt x="240500" y="420464"/>
                </a:lnTo>
                <a:lnTo>
                  <a:pt x="259715" y="385401"/>
                </a:lnTo>
                <a:lnTo>
                  <a:pt x="259687" y="66772"/>
                </a:lnTo>
                <a:lnTo>
                  <a:pt x="120518" y="66772"/>
                </a:lnTo>
                <a:lnTo>
                  <a:pt x="102529" y="65457"/>
                </a:lnTo>
                <a:lnTo>
                  <a:pt x="54542" y="54539"/>
                </a:lnTo>
                <a:lnTo>
                  <a:pt x="19214" y="35061"/>
                </a:lnTo>
                <a:lnTo>
                  <a:pt x="1288" y="9467"/>
                </a:lnTo>
                <a:lnTo>
                  <a:pt x="0" y="0"/>
                </a:lnTo>
                <a:close/>
              </a:path>
              <a:path w="259715" h="452754">
                <a:moveTo>
                  <a:pt x="259681" y="1525"/>
                </a:moveTo>
                <a:lnTo>
                  <a:pt x="240666" y="34597"/>
                </a:lnTo>
                <a:lnTo>
                  <a:pt x="206389" y="53319"/>
                </a:lnTo>
                <a:lnTo>
                  <a:pt x="158474" y="64516"/>
                </a:lnTo>
                <a:lnTo>
                  <a:pt x="120518" y="66772"/>
                </a:lnTo>
                <a:lnTo>
                  <a:pt x="259687" y="66772"/>
                </a:lnTo>
                <a:lnTo>
                  <a:pt x="259681" y="15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515417" y="3156768"/>
            <a:ext cx="259715" cy="133985"/>
          </a:xfrm>
          <a:custGeom>
            <a:avLst/>
            <a:gdLst/>
            <a:ahLst/>
            <a:cxnLst/>
            <a:rect l="l" t="t" r="r" b="b"/>
            <a:pathLst>
              <a:path w="259715" h="133985">
                <a:moveTo>
                  <a:pt x="120518" y="0"/>
                </a:moveTo>
                <a:lnTo>
                  <a:pt x="69365" y="7521"/>
                </a:lnTo>
                <a:lnTo>
                  <a:pt x="29291" y="24417"/>
                </a:lnTo>
                <a:lnTo>
                  <a:pt x="1288" y="57304"/>
                </a:lnTo>
                <a:lnTo>
                  <a:pt x="0" y="66772"/>
                </a:lnTo>
                <a:lnTo>
                  <a:pt x="67" y="68946"/>
                </a:lnTo>
                <a:lnTo>
                  <a:pt x="19512" y="101713"/>
                </a:lnTo>
                <a:lnTo>
                  <a:pt x="53949" y="120235"/>
                </a:lnTo>
                <a:lnTo>
                  <a:pt x="102045" y="131292"/>
                </a:lnTo>
                <a:lnTo>
                  <a:pt x="140206" y="133505"/>
                </a:lnTo>
                <a:lnTo>
                  <a:pt x="158063" y="132128"/>
                </a:lnTo>
                <a:lnTo>
                  <a:pt x="205665" y="121035"/>
                </a:lnTo>
                <a:lnTo>
                  <a:pt x="240673" y="101254"/>
                </a:lnTo>
                <a:lnTo>
                  <a:pt x="259681" y="65246"/>
                </a:lnTo>
                <a:lnTo>
                  <a:pt x="258139" y="56341"/>
                </a:lnTo>
                <a:lnTo>
                  <a:pt x="230951" y="25226"/>
                </a:lnTo>
                <a:lnTo>
                  <a:pt x="191776" y="8781"/>
                </a:lnTo>
                <a:lnTo>
                  <a:pt x="140019" y="555"/>
                </a:lnTo>
                <a:lnTo>
                  <a:pt x="12051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515450" y="3156807"/>
            <a:ext cx="259715" cy="133985"/>
          </a:xfrm>
          <a:custGeom>
            <a:avLst/>
            <a:gdLst/>
            <a:ahLst/>
            <a:cxnLst/>
            <a:rect l="l" t="t" r="r" b="b"/>
            <a:pathLst>
              <a:path w="259715" h="133985">
                <a:moveTo>
                  <a:pt x="259681" y="66733"/>
                </a:moveTo>
                <a:lnTo>
                  <a:pt x="240467" y="101795"/>
                </a:lnTo>
                <a:lnTo>
                  <a:pt x="205139" y="121273"/>
                </a:lnTo>
                <a:lnTo>
                  <a:pt x="157152" y="132191"/>
                </a:lnTo>
                <a:lnTo>
                  <a:pt x="139163" y="133506"/>
                </a:lnTo>
                <a:lnTo>
                  <a:pt x="119662" y="132950"/>
                </a:lnTo>
                <a:lnTo>
                  <a:pt x="67905" y="124724"/>
                </a:lnTo>
                <a:lnTo>
                  <a:pt x="28730" y="108279"/>
                </a:lnTo>
                <a:lnTo>
                  <a:pt x="1542" y="77164"/>
                </a:lnTo>
                <a:lnTo>
                  <a:pt x="0" y="68259"/>
                </a:lnTo>
                <a:lnTo>
                  <a:pt x="1268" y="58474"/>
                </a:lnTo>
                <a:lnTo>
                  <a:pt x="28989" y="24830"/>
                </a:lnTo>
                <a:lnTo>
                  <a:pt x="68715" y="7695"/>
                </a:lnTo>
                <a:lnTo>
                  <a:pt x="119475" y="0"/>
                </a:lnTo>
                <a:lnTo>
                  <a:pt x="139090" y="540"/>
                </a:lnTo>
                <a:lnTo>
                  <a:pt x="191069" y="8654"/>
                </a:lnTo>
                <a:lnTo>
                  <a:pt x="230395" y="24914"/>
                </a:lnTo>
                <a:lnTo>
                  <a:pt x="257925" y="55730"/>
                </a:lnTo>
                <a:lnTo>
                  <a:pt x="259681" y="66733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515417" y="3223540"/>
            <a:ext cx="259715" cy="452755"/>
          </a:xfrm>
          <a:custGeom>
            <a:avLst/>
            <a:gdLst/>
            <a:ahLst/>
            <a:cxnLst/>
            <a:rect l="l" t="t" r="r" b="b"/>
            <a:pathLst>
              <a:path w="259715" h="452754">
                <a:moveTo>
                  <a:pt x="259715" y="0"/>
                </a:moveTo>
                <a:lnTo>
                  <a:pt x="259715" y="385402"/>
                </a:lnTo>
                <a:lnTo>
                  <a:pt x="258426" y="394870"/>
                </a:lnTo>
                <a:lnTo>
                  <a:pt x="230423" y="427757"/>
                </a:lnTo>
                <a:lnTo>
                  <a:pt x="190349" y="444654"/>
                </a:lnTo>
                <a:lnTo>
                  <a:pt x="139196" y="452175"/>
                </a:lnTo>
                <a:lnTo>
                  <a:pt x="119695" y="451619"/>
                </a:lnTo>
                <a:lnTo>
                  <a:pt x="67938" y="443393"/>
                </a:lnTo>
                <a:lnTo>
                  <a:pt x="28763" y="426948"/>
                </a:lnTo>
                <a:lnTo>
                  <a:pt x="1575" y="395833"/>
                </a:lnTo>
                <a:lnTo>
                  <a:pt x="33" y="386928"/>
                </a:lnTo>
                <a:lnTo>
                  <a:pt x="0" y="0"/>
                </a:lnTo>
              </a:path>
            </a:pathLst>
          </a:custGeom>
          <a:ln w="81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515417" y="3091685"/>
            <a:ext cx="259715" cy="194945"/>
          </a:xfrm>
          <a:custGeom>
            <a:avLst/>
            <a:gdLst/>
            <a:ahLst/>
            <a:cxnLst/>
            <a:rect l="l" t="t" r="r" b="b"/>
            <a:pathLst>
              <a:path w="259715" h="194945">
                <a:moveTo>
                  <a:pt x="0" y="0"/>
                </a:moveTo>
                <a:lnTo>
                  <a:pt x="0" y="129878"/>
                </a:lnTo>
                <a:lnTo>
                  <a:pt x="27678" y="169503"/>
                </a:lnTo>
                <a:lnTo>
                  <a:pt x="66734" y="185844"/>
                </a:lnTo>
                <a:lnTo>
                  <a:pt x="118452" y="194047"/>
                </a:lnTo>
                <a:lnTo>
                  <a:pt x="137914" y="194611"/>
                </a:lnTo>
                <a:lnTo>
                  <a:pt x="156070" y="193411"/>
                </a:lnTo>
                <a:lnTo>
                  <a:pt x="204543" y="182930"/>
                </a:lnTo>
                <a:lnTo>
                  <a:pt x="240268" y="164008"/>
                </a:lnTo>
                <a:lnTo>
                  <a:pt x="259707" y="129878"/>
                </a:lnTo>
                <a:lnTo>
                  <a:pt x="259714" y="64789"/>
                </a:lnTo>
                <a:lnTo>
                  <a:pt x="121799" y="64789"/>
                </a:lnTo>
                <a:lnTo>
                  <a:pt x="103644" y="63589"/>
                </a:lnTo>
                <a:lnTo>
                  <a:pt x="55170" y="53108"/>
                </a:lnTo>
                <a:lnTo>
                  <a:pt x="19446" y="34185"/>
                </a:lnTo>
                <a:lnTo>
                  <a:pt x="1304" y="9237"/>
                </a:lnTo>
                <a:lnTo>
                  <a:pt x="0" y="0"/>
                </a:lnTo>
                <a:close/>
              </a:path>
              <a:path w="259715" h="194945">
                <a:moveTo>
                  <a:pt x="259714" y="56"/>
                </a:moveTo>
                <a:lnTo>
                  <a:pt x="232035" y="39680"/>
                </a:lnTo>
                <a:lnTo>
                  <a:pt x="192979" y="56022"/>
                </a:lnTo>
                <a:lnTo>
                  <a:pt x="141261" y="64225"/>
                </a:lnTo>
                <a:lnTo>
                  <a:pt x="121799" y="64789"/>
                </a:lnTo>
                <a:lnTo>
                  <a:pt x="259714" y="64789"/>
                </a:lnTo>
                <a:lnTo>
                  <a:pt x="259714" y="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515417" y="3026897"/>
            <a:ext cx="259715" cy="130175"/>
          </a:xfrm>
          <a:custGeom>
            <a:avLst/>
            <a:gdLst/>
            <a:ahLst/>
            <a:cxnLst/>
            <a:rect l="l" t="t" r="r" b="b"/>
            <a:pathLst>
              <a:path w="259715" h="130175">
                <a:moveTo>
                  <a:pt x="121800" y="0"/>
                </a:moveTo>
                <a:lnTo>
                  <a:pt x="70151" y="7130"/>
                </a:lnTo>
                <a:lnTo>
                  <a:pt x="29640" y="23507"/>
                </a:lnTo>
                <a:lnTo>
                  <a:pt x="1304" y="55550"/>
                </a:lnTo>
                <a:lnTo>
                  <a:pt x="0" y="64788"/>
                </a:lnTo>
                <a:lnTo>
                  <a:pt x="1209" y="73665"/>
                </a:lnTo>
                <a:lnTo>
                  <a:pt x="27697" y="104478"/>
                </a:lnTo>
                <a:lnTo>
                  <a:pt x="66758" y="120813"/>
                </a:lnTo>
                <a:lnTo>
                  <a:pt x="118483" y="129013"/>
                </a:lnTo>
                <a:lnTo>
                  <a:pt x="137950" y="129576"/>
                </a:lnTo>
                <a:lnTo>
                  <a:pt x="156101" y="128373"/>
                </a:lnTo>
                <a:lnTo>
                  <a:pt x="204561" y="117886"/>
                </a:lnTo>
                <a:lnTo>
                  <a:pt x="240274" y="98953"/>
                </a:lnTo>
                <a:lnTo>
                  <a:pt x="259714" y="64732"/>
                </a:lnTo>
                <a:lnTo>
                  <a:pt x="258511" y="55931"/>
                </a:lnTo>
                <a:lnTo>
                  <a:pt x="232036" y="25108"/>
                </a:lnTo>
                <a:lnTo>
                  <a:pt x="192980" y="8767"/>
                </a:lnTo>
                <a:lnTo>
                  <a:pt x="141262" y="563"/>
                </a:lnTo>
                <a:lnTo>
                  <a:pt x="1218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515417" y="3026898"/>
            <a:ext cx="259715" cy="130175"/>
          </a:xfrm>
          <a:custGeom>
            <a:avLst/>
            <a:gdLst/>
            <a:ahLst/>
            <a:cxnLst/>
            <a:rect l="l" t="t" r="r" b="b"/>
            <a:pathLst>
              <a:path w="259715" h="130175">
                <a:moveTo>
                  <a:pt x="259714" y="64787"/>
                </a:moveTo>
                <a:lnTo>
                  <a:pt x="240268" y="98972"/>
                </a:lnTo>
                <a:lnTo>
                  <a:pt x="204543" y="117894"/>
                </a:lnTo>
                <a:lnTo>
                  <a:pt x="156070" y="128375"/>
                </a:lnTo>
                <a:lnTo>
                  <a:pt x="137914" y="129575"/>
                </a:lnTo>
                <a:lnTo>
                  <a:pt x="118452" y="129011"/>
                </a:lnTo>
                <a:lnTo>
                  <a:pt x="66734" y="120808"/>
                </a:lnTo>
                <a:lnTo>
                  <a:pt x="27678" y="104467"/>
                </a:lnTo>
                <a:lnTo>
                  <a:pt x="1203" y="73644"/>
                </a:lnTo>
                <a:lnTo>
                  <a:pt x="0" y="64842"/>
                </a:lnTo>
                <a:lnTo>
                  <a:pt x="1304" y="55593"/>
                </a:lnTo>
                <a:lnTo>
                  <a:pt x="29630" y="23521"/>
                </a:lnTo>
                <a:lnTo>
                  <a:pt x="70129" y="7136"/>
                </a:lnTo>
                <a:lnTo>
                  <a:pt x="121765" y="0"/>
                </a:lnTo>
                <a:lnTo>
                  <a:pt x="141231" y="563"/>
                </a:lnTo>
                <a:lnTo>
                  <a:pt x="192956" y="8762"/>
                </a:lnTo>
                <a:lnTo>
                  <a:pt x="232018" y="25097"/>
                </a:lnTo>
                <a:lnTo>
                  <a:pt x="258505" y="55909"/>
                </a:lnTo>
                <a:lnTo>
                  <a:pt x="259714" y="64787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515417" y="3091685"/>
            <a:ext cx="259715" cy="194945"/>
          </a:xfrm>
          <a:custGeom>
            <a:avLst/>
            <a:gdLst/>
            <a:ahLst/>
            <a:cxnLst/>
            <a:rect l="l" t="t" r="r" b="b"/>
            <a:pathLst>
              <a:path w="259715" h="194945">
                <a:moveTo>
                  <a:pt x="259715" y="0"/>
                </a:moveTo>
                <a:lnTo>
                  <a:pt x="259715" y="129822"/>
                </a:lnTo>
                <a:lnTo>
                  <a:pt x="258410" y="139059"/>
                </a:lnTo>
                <a:lnTo>
                  <a:pt x="230075" y="171103"/>
                </a:lnTo>
                <a:lnTo>
                  <a:pt x="189564" y="187480"/>
                </a:lnTo>
                <a:lnTo>
                  <a:pt x="137914" y="194610"/>
                </a:lnTo>
                <a:lnTo>
                  <a:pt x="118452" y="194046"/>
                </a:lnTo>
                <a:lnTo>
                  <a:pt x="66734" y="185843"/>
                </a:lnTo>
                <a:lnTo>
                  <a:pt x="27678" y="169502"/>
                </a:lnTo>
                <a:lnTo>
                  <a:pt x="1203" y="138679"/>
                </a:lnTo>
                <a:lnTo>
                  <a:pt x="0" y="129877"/>
                </a:lnTo>
                <a:lnTo>
                  <a:pt x="0" y="0"/>
                </a:lnTo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6126130" y="2691274"/>
            <a:ext cx="1611630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一个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h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ll</a:t>
            </a:r>
            <a:r>
              <a:rPr sz="1700" b="1" dirty="0">
                <a:latin typeface="Arial" panose="020B0604020202020204"/>
                <a:cs typeface="Arial" panose="020B0604020202020204"/>
              </a:rPr>
              <a:t>o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字符串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736272" y="4000441"/>
            <a:ext cx="130175" cy="259715"/>
          </a:xfrm>
          <a:custGeom>
            <a:avLst/>
            <a:gdLst/>
            <a:ahLst/>
            <a:cxnLst/>
            <a:rect l="l" t="t" r="r" b="b"/>
            <a:pathLst>
              <a:path w="130175" h="259714">
                <a:moveTo>
                  <a:pt x="129857" y="194732"/>
                </a:moveTo>
                <a:lnTo>
                  <a:pt x="0" y="194732"/>
                </a:lnTo>
                <a:lnTo>
                  <a:pt x="64928" y="259643"/>
                </a:lnTo>
                <a:lnTo>
                  <a:pt x="129857" y="194732"/>
                </a:lnTo>
                <a:close/>
              </a:path>
              <a:path w="130175" h="259714">
                <a:moveTo>
                  <a:pt x="97393" y="0"/>
                </a:moveTo>
                <a:lnTo>
                  <a:pt x="32465" y="0"/>
                </a:lnTo>
                <a:lnTo>
                  <a:pt x="32465" y="194732"/>
                </a:lnTo>
                <a:lnTo>
                  <a:pt x="97393" y="194732"/>
                </a:lnTo>
                <a:lnTo>
                  <a:pt x="9739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736272" y="4000441"/>
            <a:ext cx="130175" cy="259715"/>
          </a:xfrm>
          <a:custGeom>
            <a:avLst/>
            <a:gdLst/>
            <a:ahLst/>
            <a:cxnLst/>
            <a:rect l="l" t="t" r="r" b="b"/>
            <a:pathLst>
              <a:path w="130175" h="259714">
                <a:moveTo>
                  <a:pt x="0" y="194733"/>
                </a:moveTo>
                <a:lnTo>
                  <a:pt x="32464" y="194733"/>
                </a:lnTo>
                <a:lnTo>
                  <a:pt x="32464" y="0"/>
                </a:lnTo>
                <a:lnTo>
                  <a:pt x="97393" y="0"/>
                </a:lnTo>
                <a:lnTo>
                  <a:pt x="97393" y="194733"/>
                </a:lnTo>
                <a:lnTo>
                  <a:pt x="129857" y="194733"/>
                </a:lnTo>
                <a:lnTo>
                  <a:pt x="64928" y="259644"/>
                </a:lnTo>
                <a:lnTo>
                  <a:pt x="0" y="194733"/>
                </a:lnTo>
                <a:close/>
              </a:path>
            </a:pathLst>
          </a:custGeom>
          <a:ln w="811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801486" y="4313610"/>
            <a:ext cx="1539875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屏幕上的像素了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sp>
        <p:nvSpPr>
          <p:cNvPr id="28" name="object 2"/>
          <p:cNvSpPr/>
          <p:nvPr>
            <p:custDataLst>
              <p:tags r:id="rId3"/>
            </p:custDataLst>
          </p:nvPr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470">
              <a:lnSpc>
                <a:spcPct val="100000"/>
              </a:lnSpc>
            </a:pPr>
            <a:r>
              <a:rPr sz="2950" spc="100" dirty="0"/>
              <a:t>可以知新了</a:t>
            </a:r>
            <a:r>
              <a:rPr sz="3050" spc="15" dirty="0">
                <a:latin typeface="Arial" panose="020B0604020202020204"/>
                <a:cs typeface="Arial" panose="020B0604020202020204"/>
              </a:rPr>
              <a:t>…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9607" y="1989050"/>
            <a:ext cx="2440305" cy="344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要管理硬件资</a:t>
            </a:r>
            <a:r>
              <a:rPr sz="3450" b="1" spc="135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源</a:t>
            </a:r>
            <a:endParaRPr sz="3450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12659" y="1889478"/>
            <a:ext cx="1493520" cy="568960"/>
          </a:xfrm>
          <a:custGeom>
            <a:avLst/>
            <a:gdLst/>
            <a:ahLst/>
            <a:cxnLst/>
            <a:rect l="l" t="t" r="r" b="b"/>
            <a:pathLst>
              <a:path w="1493520" h="568960">
                <a:moveTo>
                  <a:pt x="1417610" y="0"/>
                </a:moveTo>
                <a:lnTo>
                  <a:pt x="871127" y="0"/>
                </a:lnTo>
                <a:lnTo>
                  <a:pt x="69357" y="265"/>
                </a:lnTo>
                <a:lnTo>
                  <a:pt x="30342" y="15109"/>
                </a:lnTo>
                <a:lnTo>
                  <a:pt x="5374" y="47658"/>
                </a:lnTo>
                <a:lnTo>
                  <a:pt x="0" y="75730"/>
                </a:lnTo>
                <a:lnTo>
                  <a:pt x="0" y="378646"/>
                </a:lnTo>
                <a:lnTo>
                  <a:pt x="15114" y="424044"/>
                </a:lnTo>
                <a:lnTo>
                  <a:pt x="47672" y="449004"/>
                </a:lnTo>
                <a:lnTo>
                  <a:pt x="75751" y="454378"/>
                </a:lnTo>
                <a:lnTo>
                  <a:pt x="871127" y="454378"/>
                </a:lnTo>
                <a:lnTo>
                  <a:pt x="747160" y="568940"/>
                </a:lnTo>
                <a:lnTo>
                  <a:pt x="1244467" y="454378"/>
                </a:lnTo>
                <a:lnTo>
                  <a:pt x="1424005" y="454112"/>
                </a:lnTo>
                <a:lnTo>
                  <a:pt x="1438137" y="451564"/>
                </a:lnTo>
                <a:lnTo>
                  <a:pt x="1473249" y="430039"/>
                </a:lnTo>
                <a:lnTo>
                  <a:pt x="1491974" y="393146"/>
                </a:lnTo>
                <a:lnTo>
                  <a:pt x="1493361" y="378646"/>
                </a:lnTo>
                <a:lnTo>
                  <a:pt x="1493361" y="265054"/>
                </a:lnTo>
                <a:lnTo>
                  <a:pt x="1493095" y="69338"/>
                </a:lnTo>
                <a:lnTo>
                  <a:pt x="1478248" y="30333"/>
                </a:lnTo>
                <a:lnTo>
                  <a:pt x="1445690" y="5373"/>
                </a:lnTo>
                <a:lnTo>
                  <a:pt x="1432114" y="1386"/>
                </a:lnTo>
                <a:lnTo>
                  <a:pt x="1417610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712659" y="1889478"/>
            <a:ext cx="1493520" cy="568960"/>
          </a:xfrm>
          <a:custGeom>
            <a:avLst/>
            <a:gdLst/>
            <a:ahLst/>
            <a:cxnLst/>
            <a:rect l="l" t="t" r="r" b="b"/>
            <a:pathLst>
              <a:path w="1493520" h="568960">
                <a:moveTo>
                  <a:pt x="1493361" y="378647"/>
                </a:moveTo>
                <a:lnTo>
                  <a:pt x="1481658" y="419102"/>
                </a:lnTo>
                <a:lnTo>
                  <a:pt x="1451228" y="446530"/>
                </a:lnTo>
                <a:lnTo>
                  <a:pt x="1244467" y="454377"/>
                </a:lnTo>
                <a:lnTo>
                  <a:pt x="747159" y="568940"/>
                </a:lnTo>
                <a:lnTo>
                  <a:pt x="871127" y="454377"/>
                </a:lnTo>
                <a:lnTo>
                  <a:pt x="75751" y="454377"/>
                </a:lnTo>
                <a:lnTo>
                  <a:pt x="61247" y="452991"/>
                </a:lnTo>
                <a:lnTo>
                  <a:pt x="24344" y="434271"/>
                </a:lnTo>
                <a:lnTo>
                  <a:pt x="2813" y="399168"/>
                </a:lnTo>
                <a:lnTo>
                  <a:pt x="0" y="378647"/>
                </a:lnTo>
                <a:lnTo>
                  <a:pt x="0" y="265054"/>
                </a:lnTo>
                <a:lnTo>
                  <a:pt x="0" y="75730"/>
                </a:lnTo>
                <a:lnTo>
                  <a:pt x="1386" y="61230"/>
                </a:lnTo>
                <a:lnTo>
                  <a:pt x="20112" y="24338"/>
                </a:lnTo>
                <a:lnTo>
                  <a:pt x="55224" y="2813"/>
                </a:lnTo>
                <a:lnTo>
                  <a:pt x="871127" y="0"/>
                </a:lnTo>
                <a:lnTo>
                  <a:pt x="1244467" y="0"/>
                </a:lnTo>
                <a:lnTo>
                  <a:pt x="1417610" y="0"/>
                </a:lnTo>
                <a:lnTo>
                  <a:pt x="1432114" y="1386"/>
                </a:lnTo>
                <a:lnTo>
                  <a:pt x="1469016" y="20106"/>
                </a:lnTo>
                <a:lnTo>
                  <a:pt x="1490547" y="55209"/>
                </a:lnTo>
                <a:lnTo>
                  <a:pt x="1493361" y="265054"/>
                </a:lnTo>
                <a:lnTo>
                  <a:pt x="1493361" y="378647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912301" y="1972205"/>
            <a:ext cx="1092835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管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理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347740" y="2473678"/>
            <a:ext cx="1741805" cy="454659"/>
          </a:xfrm>
          <a:custGeom>
            <a:avLst/>
            <a:gdLst/>
            <a:ahLst/>
            <a:cxnLst/>
            <a:rect l="l" t="t" r="r" b="b"/>
            <a:pathLst>
              <a:path w="1741804" h="454660">
                <a:moveTo>
                  <a:pt x="0" y="262425"/>
                </a:moveTo>
                <a:lnTo>
                  <a:pt x="247853" y="378646"/>
                </a:lnTo>
                <a:lnTo>
                  <a:pt x="248119" y="385040"/>
                </a:lnTo>
                <a:lnTo>
                  <a:pt x="250667" y="399168"/>
                </a:lnTo>
                <a:lnTo>
                  <a:pt x="272198" y="434271"/>
                </a:lnTo>
                <a:lnTo>
                  <a:pt x="309101" y="452991"/>
                </a:lnTo>
                <a:lnTo>
                  <a:pt x="323604" y="454378"/>
                </a:lnTo>
                <a:lnTo>
                  <a:pt x="870087" y="454378"/>
                </a:lnTo>
                <a:lnTo>
                  <a:pt x="1671858" y="454112"/>
                </a:lnTo>
                <a:lnTo>
                  <a:pt x="1710873" y="439268"/>
                </a:lnTo>
                <a:lnTo>
                  <a:pt x="1735839" y="406718"/>
                </a:lnTo>
                <a:lnTo>
                  <a:pt x="1741214" y="378646"/>
                </a:lnTo>
                <a:lnTo>
                  <a:pt x="1741214" y="265054"/>
                </a:lnTo>
                <a:lnTo>
                  <a:pt x="247853" y="265054"/>
                </a:lnTo>
                <a:lnTo>
                  <a:pt x="0" y="262425"/>
                </a:lnTo>
                <a:close/>
              </a:path>
              <a:path w="1741804" h="454660">
                <a:moveTo>
                  <a:pt x="1665464" y="0"/>
                </a:moveTo>
                <a:lnTo>
                  <a:pt x="496746" y="0"/>
                </a:lnTo>
                <a:lnTo>
                  <a:pt x="317210" y="265"/>
                </a:lnTo>
                <a:lnTo>
                  <a:pt x="278195" y="15109"/>
                </a:lnTo>
                <a:lnTo>
                  <a:pt x="253227" y="47658"/>
                </a:lnTo>
                <a:lnTo>
                  <a:pt x="247853" y="75730"/>
                </a:lnTo>
                <a:lnTo>
                  <a:pt x="247853" y="265054"/>
                </a:lnTo>
                <a:lnTo>
                  <a:pt x="1741214" y="265054"/>
                </a:lnTo>
                <a:lnTo>
                  <a:pt x="1740948" y="69338"/>
                </a:lnTo>
                <a:lnTo>
                  <a:pt x="1726101" y="30333"/>
                </a:lnTo>
                <a:lnTo>
                  <a:pt x="1693543" y="5373"/>
                </a:lnTo>
                <a:lnTo>
                  <a:pt x="1665464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347740" y="2473678"/>
            <a:ext cx="1741805" cy="454659"/>
          </a:xfrm>
          <a:custGeom>
            <a:avLst/>
            <a:gdLst/>
            <a:ahLst/>
            <a:cxnLst/>
            <a:rect l="l" t="t" r="r" b="b"/>
            <a:pathLst>
              <a:path w="1741804" h="454660">
                <a:moveTo>
                  <a:pt x="1741214" y="378647"/>
                </a:moveTo>
                <a:lnTo>
                  <a:pt x="1729511" y="419102"/>
                </a:lnTo>
                <a:lnTo>
                  <a:pt x="1699081" y="446530"/>
                </a:lnTo>
                <a:lnTo>
                  <a:pt x="870087" y="454377"/>
                </a:lnTo>
                <a:lnTo>
                  <a:pt x="496746" y="454377"/>
                </a:lnTo>
                <a:lnTo>
                  <a:pt x="323604" y="454377"/>
                </a:lnTo>
                <a:lnTo>
                  <a:pt x="309100" y="452991"/>
                </a:lnTo>
                <a:lnTo>
                  <a:pt x="272198" y="434271"/>
                </a:lnTo>
                <a:lnTo>
                  <a:pt x="250667" y="399168"/>
                </a:lnTo>
                <a:lnTo>
                  <a:pt x="247853" y="378647"/>
                </a:lnTo>
                <a:lnTo>
                  <a:pt x="0" y="262425"/>
                </a:lnTo>
                <a:lnTo>
                  <a:pt x="247853" y="265054"/>
                </a:lnTo>
                <a:lnTo>
                  <a:pt x="247853" y="75730"/>
                </a:lnTo>
                <a:lnTo>
                  <a:pt x="249240" y="61230"/>
                </a:lnTo>
                <a:lnTo>
                  <a:pt x="267965" y="24338"/>
                </a:lnTo>
                <a:lnTo>
                  <a:pt x="303077" y="2813"/>
                </a:lnTo>
                <a:lnTo>
                  <a:pt x="496746" y="0"/>
                </a:lnTo>
                <a:lnTo>
                  <a:pt x="870087" y="0"/>
                </a:lnTo>
                <a:lnTo>
                  <a:pt x="1665463" y="0"/>
                </a:lnTo>
                <a:lnTo>
                  <a:pt x="1679967" y="1386"/>
                </a:lnTo>
                <a:lnTo>
                  <a:pt x="1716869" y="20106"/>
                </a:lnTo>
                <a:lnTo>
                  <a:pt x="1738400" y="55209"/>
                </a:lnTo>
                <a:lnTo>
                  <a:pt x="1741214" y="265054"/>
                </a:lnTo>
                <a:lnTo>
                  <a:pt x="1741214" y="378647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810108" y="2556246"/>
            <a:ext cx="106299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内存管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理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310295" y="4940300"/>
            <a:ext cx="1635760" cy="454659"/>
          </a:xfrm>
          <a:custGeom>
            <a:avLst/>
            <a:gdLst/>
            <a:ahLst/>
            <a:cxnLst/>
            <a:rect l="l" t="t" r="r" b="b"/>
            <a:pathLst>
              <a:path w="1635760" h="454660">
                <a:moveTo>
                  <a:pt x="1417610" y="0"/>
                </a:moveTo>
                <a:lnTo>
                  <a:pt x="871127" y="0"/>
                </a:lnTo>
                <a:lnTo>
                  <a:pt x="69357" y="265"/>
                </a:lnTo>
                <a:lnTo>
                  <a:pt x="30342" y="15109"/>
                </a:lnTo>
                <a:lnTo>
                  <a:pt x="5374" y="47659"/>
                </a:lnTo>
                <a:lnTo>
                  <a:pt x="0" y="75728"/>
                </a:lnTo>
                <a:lnTo>
                  <a:pt x="24" y="207646"/>
                </a:lnTo>
                <a:lnTo>
                  <a:pt x="265" y="385040"/>
                </a:lnTo>
                <a:lnTo>
                  <a:pt x="15113" y="424044"/>
                </a:lnTo>
                <a:lnTo>
                  <a:pt x="47672" y="449004"/>
                </a:lnTo>
                <a:lnTo>
                  <a:pt x="75751" y="454378"/>
                </a:lnTo>
                <a:lnTo>
                  <a:pt x="1244467" y="454378"/>
                </a:lnTo>
                <a:lnTo>
                  <a:pt x="1424003" y="454112"/>
                </a:lnTo>
                <a:lnTo>
                  <a:pt x="1463019" y="439269"/>
                </a:lnTo>
                <a:lnTo>
                  <a:pt x="1487986" y="406719"/>
                </a:lnTo>
                <a:lnTo>
                  <a:pt x="1493361" y="378647"/>
                </a:lnTo>
                <a:lnTo>
                  <a:pt x="1493361" y="189323"/>
                </a:lnTo>
                <a:lnTo>
                  <a:pt x="1615770" y="189323"/>
                </a:lnTo>
                <a:lnTo>
                  <a:pt x="1493361" y="75728"/>
                </a:lnTo>
                <a:lnTo>
                  <a:pt x="1493095" y="69338"/>
                </a:lnTo>
                <a:lnTo>
                  <a:pt x="1490547" y="55210"/>
                </a:lnTo>
                <a:lnTo>
                  <a:pt x="1469016" y="20107"/>
                </a:lnTo>
                <a:lnTo>
                  <a:pt x="1432114" y="1386"/>
                </a:lnTo>
                <a:lnTo>
                  <a:pt x="1417610" y="0"/>
                </a:lnTo>
                <a:close/>
              </a:path>
              <a:path w="1635760" h="454660">
                <a:moveTo>
                  <a:pt x="1615770" y="189323"/>
                </a:moveTo>
                <a:lnTo>
                  <a:pt x="1493361" y="189323"/>
                </a:lnTo>
                <a:lnTo>
                  <a:pt x="1635514" y="207646"/>
                </a:lnTo>
                <a:lnTo>
                  <a:pt x="1615770" y="189323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310295" y="4940300"/>
            <a:ext cx="1635760" cy="454659"/>
          </a:xfrm>
          <a:custGeom>
            <a:avLst/>
            <a:gdLst/>
            <a:ahLst/>
            <a:cxnLst/>
            <a:rect l="l" t="t" r="r" b="b"/>
            <a:pathLst>
              <a:path w="1635760" h="454660">
                <a:moveTo>
                  <a:pt x="1493361" y="378647"/>
                </a:moveTo>
                <a:lnTo>
                  <a:pt x="1481658" y="419102"/>
                </a:lnTo>
                <a:lnTo>
                  <a:pt x="1451228" y="446530"/>
                </a:lnTo>
                <a:lnTo>
                  <a:pt x="1244467" y="454377"/>
                </a:lnTo>
                <a:lnTo>
                  <a:pt x="871127" y="454377"/>
                </a:lnTo>
                <a:lnTo>
                  <a:pt x="75751" y="454377"/>
                </a:lnTo>
                <a:lnTo>
                  <a:pt x="61247" y="452991"/>
                </a:lnTo>
                <a:lnTo>
                  <a:pt x="24344" y="434271"/>
                </a:lnTo>
                <a:lnTo>
                  <a:pt x="2813" y="399168"/>
                </a:lnTo>
                <a:lnTo>
                  <a:pt x="0" y="189323"/>
                </a:lnTo>
                <a:lnTo>
                  <a:pt x="0" y="75728"/>
                </a:lnTo>
                <a:lnTo>
                  <a:pt x="1386" y="61230"/>
                </a:lnTo>
                <a:lnTo>
                  <a:pt x="20112" y="24338"/>
                </a:lnTo>
                <a:lnTo>
                  <a:pt x="55224" y="2813"/>
                </a:lnTo>
                <a:lnTo>
                  <a:pt x="871127" y="0"/>
                </a:lnTo>
                <a:lnTo>
                  <a:pt x="1244467" y="0"/>
                </a:lnTo>
                <a:lnTo>
                  <a:pt x="1417610" y="0"/>
                </a:lnTo>
                <a:lnTo>
                  <a:pt x="1432114" y="1386"/>
                </a:lnTo>
                <a:lnTo>
                  <a:pt x="1469016" y="20106"/>
                </a:lnTo>
                <a:lnTo>
                  <a:pt x="1490547" y="55209"/>
                </a:lnTo>
                <a:lnTo>
                  <a:pt x="1493361" y="75728"/>
                </a:lnTo>
                <a:lnTo>
                  <a:pt x="1635514" y="207646"/>
                </a:lnTo>
                <a:lnTo>
                  <a:pt x="1493361" y="189323"/>
                </a:lnTo>
                <a:lnTo>
                  <a:pt x="1493361" y="378647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524811" y="5022198"/>
            <a:ext cx="106299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磁盘管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理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749182" y="5669592"/>
            <a:ext cx="1818005" cy="699135"/>
          </a:xfrm>
          <a:custGeom>
            <a:avLst/>
            <a:gdLst/>
            <a:ahLst/>
            <a:cxnLst/>
            <a:rect l="l" t="t" r="r" b="b"/>
            <a:pathLst>
              <a:path w="1818004" h="699135">
                <a:moveTo>
                  <a:pt x="1109565" y="0"/>
                </a:moveTo>
                <a:lnTo>
                  <a:pt x="1060503" y="244374"/>
                </a:lnTo>
                <a:lnTo>
                  <a:pt x="69356" y="244640"/>
                </a:lnTo>
                <a:lnTo>
                  <a:pt x="55224" y="247188"/>
                </a:lnTo>
                <a:lnTo>
                  <a:pt x="20112" y="268714"/>
                </a:lnTo>
                <a:lnTo>
                  <a:pt x="1387" y="305606"/>
                </a:lnTo>
                <a:lnTo>
                  <a:pt x="0" y="433698"/>
                </a:lnTo>
                <a:lnTo>
                  <a:pt x="266" y="629415"/>
                </a:lnTo>
                <a:lnTo>
                  <a:pt x="15114" y="668419"/>
                </a:lnTo>
                <a:lnTo>
                  <a:pt x="47674" y="693379"/>
                </a:lnTo>
                <a:lnTo>
                  <a:pt x="75752" y="698752"/>
                </a:lnTo>
                <a:lnTo>
                  <a:pt x="1515004" y="698752"/>
                </a:lnTo>
                <a:lnTo>
                  <a:pt x="1748648" y="698486"/>
                </a:lnTo>
                <a:lnTo>
                  <a:pt x="1787663" y="683642"/>
                </a:lnTo>
                <a:lnTo>
                  <a:pt x="1812630" y="651092"/>
                </a:lnTo>
                <a:lnTo>
                  <a:pt x="1818004" y="623020"/>
                </a:lnTo>
                <a:lnTo>
                  <a:pt x="1818004" y="320103"/>
                </a:lnTo>
                <a:lnTo>
                  <a:pt x="1802890" y="274708"/>
                </a:lnTo>
                <a:lnTo>
                  <a:pt x="1770332" y="249747"/>
                </a:lnTo>
                <a:lnTo>
                  <a:pt x="1742253" y="244374"/>
                </a:lnTo>
                <a:lnTo>
                  <a:pt x="1515004" y="244374"/>
                </a:lnTo>
                <a:lnTo>
                  <a:pt x="1109565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749182" y="5669592"/>
            <a:ext cx="1818005" cy="699135"/>
          </a:xfrm>
          <a:custGeom>
            <a:avLst/>
            <a:gdLst/>
            <a:ahLst/>
            <a:cxnLst/>
            <a:rect l="l" t="t" r="r" b="b"/>
            <a:pathLst>
              <a:path w="1818004" h="699135">
                <a:moveTo>
                  <a:pt x="1818005" y="623020"/>
                </a:moveTo>
                <a:lnTo>
                  <a:pt x="1806302" y="663476"/>
                </a:lnTo>
                <a:lnTo>
                  <a:pt x="1775872" y="690903"/>
                </a:lnTo>
                <a:lnTo>
                  <a:pt x="1515004" y="698751"/>
                </a:lnTo>
                <a:lnTo>
                  <a:pt x="1060502" y="698751"/>
                </a:lnTo>
                <a:lnTo>
                  <a:pt x="75751" y="698751"/>
                </a:lnTo>
                <a:lnTo>
                  <a:pt x="61248" y="697365"/>
                </a:lnTo>
                <a:lnTo>
                  <a:pt x="24345" y="678645"/>
                </a:lnTo>
                <a:lnTo>
                  <a:pt x="2814" y="643542"/>
                </a:lnTo>
                <a:lnTo>
                  <a:pt x="0" y="433698"/>
                </a:lnTo>
                <a:lnTo>
                  <a:pt x="0" y="320103"/>
                </a:lnTo>
                <a:lnTo>
                  <a:pt x="1386" y="305606"/>
                </a:lnTo>
                <a:lnTo>
                  <a:pt x="20111" y="268713"/>
                </a:lnTo>
                <a:lnTo>
                  <a:pt x="55223" y="247187"/>
                </a:lnTo>
                <a:lnTo>
                  <a:pt x="1060502" y="244374"/>
                </a:lnTo>
                <a:lnTo>
                  <a:pt x="1109565" y="0"/>
                </a:lnTo>
                <a:lnTo>
                  <a:pt x="1515004" y="244374"/>
                </a:lnTo>
                <a:lnTo>
                  <a:pt x="1742252" y="244374"/>
                </a:lnTo>
                <a:lnTo>
                  <a:pt x="1756756" y="245760"/>
                </a:lnTo>
                <a:lnTo>
                  <a:pt x="1793659" y="264480"/>
                </a:lnTo>
                <a:lnTo>
                  <a:pt x="1815190" y="299583"/>
                </a:lnTo>
                <a:lnTo>
                  <a:pt x="1818005" y="320103"/>
                </a:lnTo>
                <a:lnTo>
                  <a:pt x="1818005" y="433698"/>
                </a:lnTo>
                <a:lnTo>
                  <a:pt x="1818005" y="62302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866332" y="5995600"/>
            <a:ext cx="158242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终端设备管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理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17227" y="3762671"/>
            <a:ext cx="73977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5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15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500" b="1" spc="2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总线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089854" y="4002776"/>
            <a:ext cx="4342765" cy="194310"/>
          </a:xfrm>
          <a:custGeom>
            <a:avLst/>
            <a:gdLst/>
            <a:ahLst/>
            <a:cxnLst/>
            <a:rect l="l" t="t" r="r" b="b"/>
            <a:pathLst>
              <a:path w="4342765" h="194310">
                <a:moveTo>
                  <a:pt x="4342280" y="0"/>
                </a:moveTo>
                <a:lnTo>
                  <a:pt x="47079" y="414"/>
                </a:lnTo>
                <a:lnTo>
                  <a:pt x="16356" y="27227"/>
                </a:lnTo>
                <a:lnTo>
                  <a:pt x="2714" y="70921"/>
                </a:lnTo>
                <a:lnTo>
                  <a:pt x="0" y="109107"/>
                </a:lnTo>
                <a:lnTo>
                  <a:pt x="2072" y="126446"/>
                </a:lnTo>
                <a:lnTo>
                  <a:pt x="17199" y="169321"/>
                </a:lnTo>
                <a:lnTo>
                  <a:pt x="42213" y="192063"/>
                </a:lnTo>
                <a:lnTo>
                  <a:pt x="51977" y="193742"/>
                </a:lnTo>
              </a:path>
              <a:path w="4342765" h="194310">
                <a:moveTo>
                  <a:pt x="4337383" y="193327"/>
                </a:moveTo>
                <a:lnTo>
                  <a:pt x="4306660" y="166515"/>
                </a:lnTo>
                <a:lnTo>
                  <a:pt x="4293018" y="122821"/>
                </a:lnTo>
                <a:lnTo>
                  <a:pt x="4290303" y="84635"/>
                </a:lnTo>
                <a:lnTo>
                  <a:pt x="4292376" y="67296"/>
                </a:lnTo>
                <a:lnTo>
                  <a:pt x="4307502" y="24421"/>
                </a:lnTo>
                <a:lnTo>
                  <a:pt x="4332516" y="1679"/>
                </a:lnTo>
                <a:lnTo>
                  <a:pt x="4342280" y="0"/>
                </a:lnTo>
              </a:path>
            </a:pathLst>
          </a:custGeom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089854" y="4002776"/>
            <a:ext cx="4342280" cy="19374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380437" y="4002776"/>
            <a:ext cx="103675" cy="1933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380159" y="4003192"/>
            <a:ext cx="104139" cy="193675"/>
          </a:xfrm>
          <a:custGeom>
            <a:avLst/>
            <a:gdLst/>
            <a:ahLst/>
            <a:cxnLst/>
            <a:rect l="l" t="t" r="r" b="b"/>
            <a:pathLst>
              <a:path w="104139" h="193675">
                <a:moveTo>
                  <a:pt x="51977" y="193327"/>
                </a:moveTo>
                <a:lnTo>
                  <a:pt x="17198" y="168906"/>
                </a:lnTo>
                <a:lnTo>
                  <a:pt x="2072" y="126030"/>
                </a:lnTo>
                <a:lnTo>
                  <a:pt x="0" y="108692"/>
                </a:lnTo>
                <a:lnTo>
                  <a:pt x="634" y="88790"/>
                </a:lnTo>
                <a:lnTo>
                  <a:pt x="10702" y="39372"/>
                </a:lnTo>
                <a:lnTo>
                  <a:pt x="38436" y="2899"/>
                </a:lnTo>
                <a:lnTo>
                  <a:pt x="47079" y="0"/>
                </a:lnTo>
                <a:lnTo>
                  <a:pt x="58083" y="1472"/>
                </a:lnTo>
                <a:lnTo>
                  <a:pt x="91989" y="34857"/>
                </a:lnTo>
                <a:lnTo>
                  <a:pt x="103675" y="80718"/>
                </a:lnTo>
                <a:lnTo>
                  <a:pt x="103153" y="101081"/>
                </a:lnTo>
                <a:lnTo>
                  <a:pt x="93729" y="151366"/>
                </a:lnTo>
                <a:lnTo>
                  <a:pt x="67267" y="189036"/>
                </a:lnTo>
                <a:lnTo>
                  <a:pt x="51977" y="193327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089855" y="4002776"/>
            <a:ext cx="4342765" cy="194310"/>
          </a:xfrm>
          <a:custGeom>
            <a:avLst/>
            <a:gdLst/>
            <a:ahLst/>
            <a:cxnLst/>
            <a:rect l="l" t="t" r="r" b="b"/>
            <a:pathLst>
              <a:path w="4342765" h="194310">
                <a:moveTo>
                  <a:pt x="4342280" y="193742"/>
                </a:moveTo>
                <a:lnTo>
                  <a:pt x="51977" y="193742"/>
                </a:lnTo>
                <a:lnTo>
                  <a:pt x="42213" y="192063"/>
                </a:lnTo>
                <a:lnTo>
                  <a:pt x="10837" y="156858"/>
                </a:lnTo>
                <a:lnTo>
                  <a:pt x="0" y="109107"/>
                </a:lnTo>
                <a:lnTo>
                  <a:pt x="634" y="89205"/>
                </a:lnTo>
                <a:lnTo>
                  <a:pt x="10702" y="39787"/>
                </a:lnTo>
                <a:lnTo>
                  <a:pt x="38436" y="3314"/>
                </a:lnTo>
                <a:lnTo>
                  <a:pt x="47079" y="415"/>
                </a:lnTo>
                <a:lnTo>
                  <a:pt x="4342280" y="0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210593" y="2638832"/>
            <a:ext cx="1265811" cy="13700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2343817" y="3508452"/>
            <a:ext cx="999490" cy="215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2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图形控制器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145123" y="4196519"/>
            <a:ext cx="215900" cy="242570"/>
          </a:xfrm>
          <a:custGeom>
            <a:avLst/>
            <a:gdLst/>
            <a:ahLst/>
            <a:cxnLst/>
            <a:rect l="l" t="t" r="r" b="b"/>
            <a:pathLst>
              <a:path w="215900" h="242570">
                <a:moveTo>
                  <a:pt x="215446" y="199100"/>
                </a:moveTo>
                <a:lnTo>
                  <a:pt x="0" y="199100"/>
                </a:lnTo>
                <a:lnTo>
                  <a:pt x="107723" y="242177"/>
                </a:lnTo>
                <a:lnTo>
                  <a:pt x="215446" y="199100"/>
                </a:lnTo>
                <a:close/>
              </a:path>
              <a:path w="215900" h="242570">
                <a:moveTo>
                  <a:pt x="161584" y="43077"/>
                </a:moveTo>
                <a:lnTo>
                  <a:pt x="53861" y="43077"/>
                </a:lnTo>
                <a:lnTo>
                  <a:pt x="53861" y="199100"/>
                </a:lnTo>
                <a:lnTo>
                  <a:pt x="161584" y="199100"/>
                </a:lnTo>
                <a:lnTo>
                  <a:pt x="161584" y="43077"/>
                </a:lnTo>
                <a:close/>
              </a:path>
              <a:path w="215900" h="242570">
                <a:moveTo>
                  <a:pt x="107723" y="0"/>
                </a:moveTo>
                <a:lnTo>
                  <a:pt x="0" y="43077"/>
                </a:lnTo>
                <a:lnTo>
                  <a:pt x="215446" y="43077"/>
                </a:lnTo>
                <a:lnTo>
                  <a:pt x="107723" y="0"/>
                </a:lnTo>
                <a:close/>
              </a:path>
            </a:pathLst>
          </a:custGeom>
          <a:solidFill>
            <a:srgbClr val="CC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145123" y="4196519"/>
            <a:ext cx="215900" cy="242570"/>
          </a:xfrm>
          <a:custGeom>
            <a:avLst/>
            <a:gdLst/>
            <a:ahLst/>
            <a:cxnLst/>
            <a:rect l="l" t="t" r="r" b="b"/>
            <a:pathLst>
              <a:path w="215900" h="242570">
                <a:moveTo>
                  <a:pt x="0" y="43077"/>
                </a:moveTo>
                <a:lnTo>
                  <a:pt x="107723" y="0"/>
                </a:lnTo>
                <a:lnTo>
                  <a:pt x="215445" y="43077"/>
                </a:lnTo>
                <a:lnTo>
                  <a:pt x="161584" y="43077"/>
                </a:lnTo>
                <a:lnTo>
                  <a:pt x="161584" y="199100"/>
                </a:lnTo>
                <a:lnTo>
                  <a:pt x="215445" y="199100"/>
                </a:lnTo>
                <a:lnTo>
                  <a:pt x="107723" y="242178"/>
                </a:lnTo>
                <a:lnTo>
                  <a:pt x="0" y="199100"/>
                </a:lnTo>
                <a:lnTo>
                  <a:pt x="53861" y="199100"/>
                </a:lnTo>
                <a:lnTo>
                  <a:pt x="53861" y="43077"/>
                </a:lnTo>
                <a:lnTo>
                  <a:pt x="0" y="43077"/>
                </a:lnTo>
                <a:close/>
              </a:path>
            </a:pathLst>
          </a:custGeom>
          <a:ln w="81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145123" y="4717201"/>
            <a:ext cx="215900" cy="242570"/>
          </a:xfrm>
          <a:custGeom>
            <a:avLst/>
            <a:gdLst/>
            <a:ahLst/>
            <a:cxnLst/>
            <a:rect l="l" t="t" r="r" b="b"/>
            <a:pathLst>
              <a:path w="215900" h="242570">
                <a:moveTo>
                  <a:pt x="215446" y="199100"/>
                </a:moveTo>
                <a:lnTo>
                  <a:pt x="0" y="199100"/>
                </a:lnTo>
                <a:lnTo>
                  <a:pt x="107723" y="242177"/>
                </a:lnTo>
                <a:lnTo>
                  <a:pt x="215446" y="199100"/>
                </a:lnTo>
                <a:close/>
              </a:path>
              <a:path w="215900" h="242570">
                <a:moveTo>
                  <a:pt x="161584" y="43077"/>
                </a:moveTo>
                <a:lnTo>
                  <a:pt x="53861" y="43077"/>
                </a:lnTo>
                <a:lnTo>
                  <a:pt x="53861" y="199100"/>
                </a:lnTo>
                <a:lnTo>
                  <a:pt x="161584" y="199100"/>
                </a:lnTo>
                <a:lnTo>
                  <a:pt x="161584" y="43077"/>
                </a:lnTo>
                <a:close/>
              </a:path>
              <a:path w="215900" h="242570">
                <a:moveTo>
                  <a:pt x="107723" y="0"/>
                </a:moveTo>
                <a:lnTo>
                  <a:pt x="0" y="43077"/>
                </a:lnTo>
                <a:lnTo>
                  <a:pt x="215446" y="43077"/>
                </a:lnTo>
                <a:lnTo>
                  <a:pt x="107723" y="0"/>
                </a:lnTo>
                <a:close/>
              </a:path>
            </a:pathLst>
          </a:custGeom>
          <a:solidFill>
            <a:srgbClr val="CC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145123" y="4717201"/>
            <a:ext cx="215900" cy="242570"/>
          </a:xfrm>
          <a:custGeom>
            <a:avLst/>
            <a:gdLst/>
            <a:ahLst/>
            <a:cxnLst/>
            <a:rect l="l" t="t" r="r" b="b"/>
            <a:pathLst>
              <a:path w="215900" h="242570">
                <a:moveTo>
                  <a:pt x="0" y="43077"/>
                </a:moveTo>
                <a:lnTo>
                  <a:pt x="107723" y="0"/>
                </a:lnTo>
                <a:lnTo>
                  <a:pt x="215445" y="43077"/>
                </a:lnTo>
                <a:lnTo>
                  <a:pt x="161584" y="43077"/>
                </a:lnTo>
                <a:lnTo>
                  <a:pt x="161584" y="199100"/>
                </a:lnTo>
                <a:lnTo>
                  <a:pt x="215445" y="199100"/>
                </a:lnTo>
                <a:lnTo>
                  <a:pt x="107723" y="242178"/>
                </a:lnTo>
                <a:lnTo>
                  <a:pt x="0" y="199100"/>
                </a:lnTo>
                <a:lnTo>
                  <a:pt x="53861" y="199100"/>
                </a:lnTo>
                <a:lnTo>
                  <a:pt x="53861" y="43077"/>
                </a:lnTo>
                <a:lnTo>
                  <a:pt x="0" y="43077"/>
                </a:lnTo>
                <a:close/>
              </a:path>
            </a:pathLst>
          </a:custGeom>
          <a:ln w="81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2606509" y="4426588"/>
            <a:ext cx="1292860" cy="314960"/>
          </a:xfrm>
          <a:prstGeom prst="rect">
            <a:avLst/>
          </a:prstGeom>
          <a:ln w="16228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3515">
              <a:lnSpc>
                <a:spcPct val="100000"/>
              </a:lnSpc>
            </a:pPr>
            <a:r>
              <a:rPr sz="15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ID</a:t>
            </a:r>
            <a:r>
              <a:rPr sz="15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500" b="1" spc="2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控制器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865045" y="4899844"/>
            <a:ext cx="684937" cy="7376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243896" y="3760598"/>
            <a:ext cx="215900" cy="242570"/>
          </a:xfrm>
          <a:custGeom>
            <a:avLst/>
            <a:gdLst/>
            <a:ahLst/>
            <a:cxnLst/>
            <a:rect l="l" t="t" r="r" b="b"/>
            <a:pathLst>
              <a:path w="215900" h="242570">
                <a:moveTo>
                  <a:pt x="215445" y="199100"/>
                </a:moveTo>
                <a:lnTo>
                  <a:pt x="0" y="199100"/>
                </a:lnTo>
                <a:lnTo>
                  <a:pt x="107722" y="242177"/>
                </a:lnTo>
                <a:lnTo>
                  <a:pt x="215445" y="199100"/>
                </a:lnTo>
                <a:close/>
              </a:path>
              <a:path w="215900" h="242570">
                <a:moveTo>
                  <a:pt x="161583" y="43077"/>
                </a:moveTo>
                <a:lnTo>
                  <a:pt x="53860" y="43077"/>
                </a:lnTo>
                <a:lnTo>
                  <a:pt x="53860" y="199100"/>
                </a:lnTo>
                <a:lnTo>
                  <a:pt x="161583" y="199100"/>
                </a:lnTo>
                <a:lnTo>
                  <a:pt x="161583" y="43077"/>
                </a:lnTo>
                <a:close/>
              </a:path>
              <a:path w="215900" h="242570">
                <a:moveTo>
                  <a:pt x="107722" y="0"/>
                </a:moveTo>
                <a:lnTo>
                  <a:pt x="0" y="43077"/>
                </a:lnTo>
                <a:lnTo>
                  <a:pt x="215445" y="43077"/>
                </a:lnTo>
                <a:lnTo>
                  <a:pt x="107722" y="0"/>
                </a:lnTo>
                <a:close/>
              </a:path>
            </a:pathLst>
          </a:custGeom>
          <a:solidFill>
            <a:srgbClr val="CC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243896" y="3760598"/>
            <a:ext cx="215900" cy="242570"/>
          </a:xfrm>
          <a:custGeom>
            <a:avLst/>
            <a:gdLst/>
            <a:ahLst/>
            <a:cxnLst/>
            <a:rect l="l" t="t" r="r" b="b"/>
            <a:pathLst>
              <a:path w="215900" h="242570">
                <a:moveTo>
                  <a:pt x="0" y="43077"/>
                </a:moveTo>
                <a:lnTo>
                  <a:pt x="107723" y="0"/>
                </a:lnTo>
                <a:lnTo>
                  <a:pt x="215445" y="43077"/>
                </a:lnTo>
                <a:lnTo>
                  <a:pt x="161584" y="43077"/>
                </a:lnTo>
                <a:lnTo>
                  <a:pt x="161584" y="199100"/>
                </a:lnTo>
                <a:lnTo>
                  <a:pt x="215445" y="199100"/>
                </a:lnTo>
                <a:lnTo>
                  <a:pt x="107723" y="242178"/>
                </a:lnTo>
                <a:lnTo>
                  <a:pt x="0" y="199100"/>
                </a:lnTo>
                <a:lnTo>
                  <a:pt x="53861" y="199100"/>
                </a:lnTo>
                <a:lnTo>
                  <a:pt x="53861" y="43077"/>
                </a:lnTo>
                <a:lnTo>
                  <a:pt x="0" y="43077"/>
                </a:lnTo>
                <a:close/>
              </a:path>
            </a:pathLst>
          </a:custGeom>
          <a:ln w="81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669374" y="3457876"/>
            <a:ext cx="1273175" cy="314960"/>
          </a:xfrm>
          <a:custGeom>
            <a:avLst/>
            <a:gdLst/>
            <a:ahLst/>
            <a:cxnLst/>
            <a:rect l="l" t="t" r="r" b="b"/>
            <a:pathLst>
              <a:path w="1273175" h="314960">
                <a:moveTo>
                  <a:pt x="0" y="0"/>
                </a:moveTo>
                <a:lnTo>
                  <a:pt x="1272923" y="0"/>
                </a:lnTo>
                <a:lnTo>
                  <a:pt x="1272923" y="314831"/>
                </a:lnTo>
                <a:lnTo>
                  <a:pt x="0" y="314831"/>
                </a:lnTo>
                <a:lnTo>
                  <a:pt x="0" y="0"/>
                </a:lnTo>
                <a:close/>
              </a:path>
            </a:pathLst>
          </a:custGeom>
          <a:ln w="1622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3806151" y="3508453"/>
            <a:ext cx="999490" cy="215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2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总线控制器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114814" y="3021954"/>
            <a:ext cx="1320165" cy="194310"/>
          </a:xfrm>
          <a:custGeom>
            <a:avLst/>
            <a:gdLst/>
            <a:ahLst/>
            <a:cxnLst/>
            <a:rect l="l" t="t" r="r" b="b"/>
            <a:pathLst>
              <a:path w="1320164" h="194310">
                <a:moveTo>
                  <a:pt x="1319652" y="0"/>
                </a:moveTo>
                <a:lnTo>
                  <a:pt x="13154" y="1281"/>
                </a:lnTo>
                <a:lnTo>
                  <a:pt x="2094" y="51760"/>
                </a:lnTo>
                <a:lnTo>
                  <a:pt x="0" y="111730"/>
                </a:lnTo>
                <a:lnTo>
                  <a:pt x="823" y="130897"/>
                </a:lnTo>
                <a:lnTo>
                  <a:pt x="6569" y="176088"/>
                </a:lnTo>
                <a:lnTo>
                  <a:pt x="15737" y="193742"/>
                </a:lnTo>
                <a:lnTo>
                  <a:pt x="1317070" y="192461"/>
                </a:lnTo>
                <a:lnTo>
                  <a:pt x="1314326" y="188045"/>
                </a:lnTo>
                <a:lnTo>
                  <a:pt x="1311800" y="180632"/>
                </a:lnTo>
                <a:lnTo>
                  <a:pt x="1306010" y="141982"/>
                </a:lnTo>
                <a:lnTo>
                  <a:pt x="1303916" y="82012"/>
                </a:lnTo>
                <a:lnTo>
                  <a:pt x="1304740" y="62844"/>
                </a:lnTo>
                <a:lnTo>
                  <a:pt x="1310486" y="17654"/>
                </a:lnTo>
                <a:lnTo>
                  <a:pt x="1316335" y="2105"/>
                </a:lnTo>
                <a:lnTo>
                  <a:pt x="1319652" y="0"/>
                </a:lnTo>
              </a:path>
            </a:pathLst>
          </a:custGeom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114814" y="3021954"/>
            <a:ext cx="1319652" cy="19374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418799" y="3021954"/>
            <a:ext cx="31404" cy="19246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938214" y="2339799"/>
            <a:ext cx="1817855" cy="112213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4912357" y="3266340"/>
            <a:ext cx="128079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15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5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15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-</a:t>
            </a:r>
            <a:r>
              <a:rPr sz="1500" b="1" spc="2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内存总线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356106" y="4414479"/>
            <a:ext cx="1511300" cy="314960"/>
          </a:xfrm>
          <a:custGeom>
            <a:avLst/>
            <a:gdLst/>
            <a:ahLst/>
            <a:cxnLst/>
            <a:rect l="l" t="t" r="r" b="b"/>
            <a:pathLst>
              <a:path w="1511300" h="314960">
                <a:moveTo>
                  <a:pt x="0" y="0"/>
                </a:moveTo>
                <a:lnTo>
                  <a:pt x="1510811" y="0"/>
                </a:lnTo>
                <a:lnTo>
                  <a:pt x="1510811" y="314831"/>
                </a:lnTo>
                <a:lnTo>
                  <a:pt x="0" y="314831"/>
                </a:lnTo>
                <a:lnTo>
                  <a:pt x="0" y="0"/>
                </a:lnTo>
                <a:close/>
              </a:path>
            </a:pathLst>
          </a:custGeom>
          <a:ln w="1622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4514428" y="4464796"/>
            <a:ext cx="1193800" cy="215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2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扩展总线接口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997953" y="4184410"/>
            <a:ext cx="215900" cy="242570"/>
          </a:xfrm>
          <a:custGeom>
            <a:avLst/>
            <a:gdLst/>
            <a:ahLst/>
            <a:cxnLst/>
            <a:rect l="l" t="t" r="r" b="b"/>
            <a:pathLst>
              <a:path w="215900" h="242570">
                <a:moveTo>
                  <a:pt x="215446" y="199100"/>
                </a:moveTo>
                <a:lnTo>
                  <a:pt x="0" y="199100"/>
                </a:lnTo>
                <a:lnTo>
                  <a:pt x="107723" y="242178"/>
                </a:lnTo>
                <a:lnTo>
                  <a:pt x="215446" y="199100"/>
                </a:lnTo>
                <a:close/>
              </a:path>
              <a:path w="215900" h="242570">
                <a:moveTo>
                  <a:pt x="161584" y="43077"/>
                </a:moveTo>
                <a:lnTo>
                  <a:pt x="53861" y="43077"/>
                </a:lnTo>
                <a:lnTo>
                  <a:pt x="53861" y="199100"/>
                </a:lnTo>
                <a:lnTo>
                  <a:pt x="161584" y="199100"/>
                </a:lnTo>
                <a:lnTo>
                  <a:pt x="161584" y="43077"/>
                </a:lnTo>
                <a:close/>
              </a:path>
              <a:path w="215900" h="242570">
                <a:moveTo>
                  <a:pt x="107723" y="0"/>
                </a:moveTo>
                <a:lnTo>
                  <a:pt x="0" y="43077"/>
                </a:lnTo>
                <a:lnTo>
                  <a:pt x="215446" y="43077"/>
                </a:lnTo>
                <a:lnTo>
                  <a:pt x="107723" y="0"/>
                </a:lnTo>
                <a:close/>
              </a:path>
            </a:pathLst>
          </a:custGeom>
          <a:solidFill>
            <a:srgbClr val="CC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997953" y="4184410"/>
            <a:ext cx="215900" cy="242570"/>
          </a:xfrm>
          <a:custGeom>
            <a:avLst/>
            <a:gdLst/>
            <a:ahLst/>
            <a:cxnLst/>
            <a:rect l="l" t="t" r="r" b="b"/>
            <a:pathLst>
              <a:path w="215900" h="242570">
                <a:moveTo>
                  <a:pt x="0" y="43077"/>
                </a:moveTo>
                <a:lnTo>
                  <a:pt x="107723" y="0"/>
                </a:lnTo>
                <a:lnTo>
                  <a:pt x="215445" y="43077"/>
                </a:lnTo>
                <a:lnTo>
                  <a:pt x="161584" y="43077"/>
                </a:lnTo>
                <a:lnTo>
                  <a:pt x="161584" y="199100"/>
                </a:lnTo>
                <a:lnTo>
                  <a:pt x="215445" y="199100"/>
                </a:lnTo>
                <a:lnTo>
                  <a:pt x="107723" y="242178"/>
                </a:lnTo>
                <a:lnTo>
                  <a:pt x="0" y="199100"/>
                </a:lnTo>
                <a:lnTo>
                  <a:pt x="53861" y="199100"/>
                </a:lnTo>
                <a:lnTo>
                  <a:pt x="53861" y="43077"/>
                </a:lnTo>
                <a:lnTo>
                  <a:pt x="0" y="43077"/>
                </a:lnTo>
                <a:close/>
              </a:path>
            </a:pathLst>
          </a:custGeom>
          <a:ln w="81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847327" y="4959380"/>
            <a:ext cx="1319653" cy="19374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151312" y="4959380"/>
            <a:ext cx="31404" cy="19246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642057" y="4713145"/>
            <a:ext cx="2757427" cy="120082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5817227" y="4719015"/>
            <a:ext cx="804545" cy="215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2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扩展总线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51" name="object 5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sp>
        <p:nvSpPr>
          <p:cNvPr id="49" name="object 49"/>
          <p:cNvSpPr txBox="1"/>
          <p:nvPr/>
        </p:nvSpPr>
        <p:spPr>
          <a:xfrm>
            <a:off x="4757680" y="5445353"/>
            <a:ext cx="609600" cy="215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2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并行口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object 2"/>
          <p:cNvSpPr/>
          <p:nvPr>
            <p:custDataLst>
              <p:tags r:id="rId11"/>
            </p:custDataLst>
          </p:nvPr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2115" y="1214867"/>
            <a:ext cx="5261610" cy="405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630"/>
              </a:lnSpc>
              <a:tabLst>
                <a:tab pos="2911475" algn="l"/>
              </a:tabLst>
            </a:pPr>
            <a:r>
              <a:rPr sz="2950" spc="100" dirty="0"/>
              <a:t>我们要学什么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?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	</a:t>
            </a:r>
            <a:r>
              <a:rPr sz="2950" spc="100" dirty="0"/>
              <a:t>再具体一些</a:t>
            </a:r>
            <a:r>
              <a:rPr sz="3050" spc="15" dirty="0">
                <a:latin typeface="Arial" panose="020B0604020202020204"/>
                <a:cs typeface="Arial" panose="020B0604020202020204"/>
              </a:rPr>
              <a:t>…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2548" y="1850332"/>
            <a:ext cx="3348990" cy="34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05"/>
              </a:lnSpc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方便用户使用硬件资</a:t>
            </a:r>
            <a:r>
              <a:rPr sz="3450" b="1" spc="135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源</a:t>
            </a:r>
            <a:endParaRPr sz="3450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63766" y="2343856"/>
            <a:ext cx="1493520" cy="538480"/>
          </a:xfrm>
          <a:custGeom>
            <a:avLst/>
            <a:gdLst/>
            <a:ahLst/>
            <a:cxnLst/>
            <a:rect l="l" t="t" r="r" b="b"/>
            <a:pathLst>
              <a:path w="1493520" h="538480">
                <a:moveTo>
                  <a:pt x="1417610" y="0"/>
                </a:moveTo>
                <a:lnTo>
                  <a:pt x="248893" y="0"/>
                </a:lnTo>
                <a:lnTo>
                  <a:pt x="69357" y="265"/>
                </a:lnTo>
                <a:lnTo>
                  <a:pt x="30341" y="15108"/>
                </a:lnTo>
                <a:lnTo>
                  <a:pt x="5374" y="47658"/>
                </a:lnTo>
                <a:lnTo>
                  <a:pt x="0" y="75730"/>
                </a:lnTo>
                <a:lnTo>
                  <a:pt x="0" y="378646"/>
                </a:lnTo>
                <a:lnTo>
                  <a:pt x="15112" y="424042"/>
                </a:lnTo>
                <a:lnTo>
                  <a:pt x="47671" y="449003"/>
                </a:lnTo>
                <a:lnTo>
                  <a:pt x="75750" y="454376"/>
                </a:lnTo>
                <a:lnTo>
                  <a:pt x="248893" y="454376"/>
                </a:lnTo>
                <a:lnTo>
                  <a:pt x="158983" y="538382"/>
                </a:lnTo>
                <a:lnTo>
                  <a:pt x="622233" y="454376"/>
                </a:lnTo>
                <a:lnTo>
                  <a:pt x="1424003" y="454110"/>
                </a:lnTo>
                <a:lnTo>
                  <a:pt x="1438136" y="451563"/>
                </a:lnTo>
                <a:lnTo>
                  <a:pt x="1473248" y="430038"/>
                </a:lnTo>
                <a:lnTo>
                  <a:pt x="1491974" y="393146"/>
                </a:lnTo>
                <a:lnTo>
                  <a:pt x="1493361" y="378646"/>
                </a:lnTo>
                <a:lnTo>
                  <a:pt x="1493361" y="265054"/>
                </a:lnTo>
                <a:lnTo>
                  <a:pt x="1493095" y="69338"/>
                </a:lnTo>
                <a:lnTo>
                  <a:pt x="1478248" y="30333"/>
                </a:lnTo>
                <a:lnTo>
                  <a:pt x="1445689" y="5373"/>
                </a:lnTo>
                <a:lnTo>
                  <a:pt x="1432114" y="1386"/>
                </a:lnTo>
                <a:lnTo>
                  <a:pt x="141761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463766" y="2343855"/>
            <a:ext cx="1493520" cy="538480"/>
          </a:xfrm>
          <a:custGeom>
            <a:avLst/>
            <a:gdLst/>
            <a:ahLst/>
            <a:cxnLst/>
            <a:rect l="l" t="t" r="r" b="b"/>
            <a:pathLst>
              <a:path w="1493520" h="538480">
                <a:moveTo>
                  <a:pt x="1493361" y="378647"/>
                </a:moveTo>
                <a:lnTo>
                  <a:pt x="1481658" y="419102"/>
                </a:lnTo>
                <a:lnTo>
                  <a:pt x="1451228" y="446530"/>
                </a:lnTo>
                <a:lnTo>
                  <a:pt x="622233" y="454377"/>
                </a:lnTo>
                <a:lnTo>
                  <a:pt x="158983" y="538382"/>
                </a:lnTo>
                <a:lnTo>
                  <a:pt x="248893" y="454377"/>
                </a:lnTo>
                <a:lnTo>
                  <a:pt x="75751" y="454377"/>
                </a:lnTo>
                <a:lnTo>
                  <a:pt x="61247" y="452991"/>
                </a:lnTo>
                <a:lnTo>
                  <a:pt x="24344" y="434271"/>
                </a:lnTo>
                <a:lnTo>
                  <a:pt x="2813" y="399168"/>
                </a:lnTo>
                <a:lnTo>
                  <a:pt x="0" y="378647"/>
                </a:lnTo>
                <a:lnTo>
                  <a:pt x="0" y="265054"/>
                </a:lnTo>
                <a:lnTo>
                  <a:pt x="0" y="75730"/>
                </a:lnTo>
                <a:lnTo>
                  <a:pt x="1386" y="61230"/>
                </a:lnTo>
                <a:lnTo>
                  <a:pt x="20112" y="24338"/>
                </a:lnTo>
                <a:lnTo>
                  <a:pt x="55224" y="2813"/>
                </a:lnTo>
                <a:lnTo>
                  <a:pt x="248893" y="0"/>
                </a:lnTo>
                <a:lnTo>
                  <a:pt x="622233" y="0"/>
                </a:lnTo>
                <a:lnTo>
                  <a:pt x="1417610" y="0"/>
                </a:lnTo>
                <a:lnTo>
                  <a:pt x="1432114" y="1386"/>
                </a:lnTo>
                <a:lnTo>
                  <a:pt x="1469016" y="20106"/>
                </a:lnTo>
                <a:lnTo>
                  <a:pt x="1490547" y="55209"/>
                </a:lnTo>
                <a:lnTo>
                  <a:pt x="1493361" y="265054"/>
                </a:lnTo>
                <a:lnTo>
                  <a:pt x="1493361" y="378647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75595" y="3247754"/>
            <a:ext cx="2459355" cy="848994"/>
          </a:xfrm>
          <a:custGeom>
            <a:avLst/>
            <a:gdLst/>
            <a:ahLst/>
            <a:cxnLst/>
            <a:rect l="l" t="t" r="r" b="b"/>
            <a:pathLst>
              <a:path w="2459354" h="848995">
                <a:moveTo>
                  <a:pt x="0" y="0"/>
                </a:moveTo>
                <a:lnTo>
                  <a:pt x="1214784" y="394323"/>
                </a:lnTo>
                <a:lnTo>
                  <a:pt x="1035248" y="394589"/>
                </a:lnTo>
                <a:lnTo>
                  <a:pt x="1021115" y="397136"/>
                </a:lnTo>
                <a:lnTo>
                  <a:pt x="986003" y="418661"/>
                </a:lnTo>
                <a:lnTo>
                  <a:pt x="967277" y="455553"/>
                </a:lnTo>
                <a:lnTo>
                  <a:pt x="965890" y="583647"/>
                </a:lnTo>
                <a:lnTo>
                  <a:pt x="966156" y="779362"/>
                </a:lnTo>
                <a:lnTo>
                  <a:pt x="981004" y="818367"/>
                </a:lnTo>
                <a:lnTo>
                  <a:pt x="1013562" y="843328"/>
                </a:lnTo>
                <a:lnTo>
                  <a:pt x="1041641" y="848701"/>
                </a:lnTo>
                <a:lnTo>
                  <a:pt x="1588124" y="848701"/>
                </a:lnTo>
                <a:lnTo>
                  <a:pt x="2389895" y="848435"/>
                </a:lnTo>
                <a:lnTo>
                  <a:pt x="2428910" y="833591"/>
                </a:lnTo>
                <a:lnTo>
                  <a:pt x="2453877" y="801041"/>
                </a:lnTo>
                <a:lnTo>
                  <a:pt x="2459252" y="772970"/>
                </a:lnTo>
                <a:lnTo>
                  <a:pt x="2459252" y="470052"/>
                </a:lnTo>
                <a:lnTo>
                  <a:pt x="2444139" y="424657"/>
                </a:lnTo>
                <a:lnTo>
                  <a:pt x="2411580" y="399696"/>
                </a:lnTo>
                <a:lnTo>
                  <a:pt x="2383501" y="394323"/>
                </a:lnTo>
                <a:lnTo>
                  <a:pt x="1588124" y="394323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75594" y="3247755"/>
            <a:ext cx="2459355" cy="848994"/>
          </a:xfrm>
          <a:custGeom>
            <a:avLst/>
            <a:gdLst/>
            <a:ahLst/>
            <a:cxnLst/>
            <a:rect l="l" t="t" r="r" b="b"/>
            <a:pathLst>
              <a:path w="2459354" h="848995">
                <a:moveTo>
                  <a:pt x="2459253" y="772970"/>
                </a:moveTo>
                <a:lnTo>
                  <a:pt x="2447550" y="813426"/>
                </a:lnTo>
                <a:lnTo>
                  <a:pt x="2417120" y="840853"/>
                </a:lnTo>
                <a:lnTo>
                  <a:pt x="1588125" y="848700"/>
                </a:lnTo>
                <a:lnTo>
                  <a:pt x="1214785" y="848700"/>
                </a:lnTo>
                <a:lnTo>
                  <a:pt x="1041642" y="848700"/>
                </a:lnTo>
                <a:lnTo>
                  <a:pt x="1027139" y="847314"/>
                </a:lnTo>
                <a:lnTo>
                  <a:pt x="990236" y="828594"/>
                </a:lnTo>
                <a:lnTo>
                  <a:pt x="968705" y="793491"/>
                </a:lnTo>
                <a:lnTo>
                  <a:pt x="965891" y="583646"/>
                </a:lnTo>
                <a:lnTo>
                  <a:pt x="965891" y="470051"/>
                </a:lnTo>
                <a:lnTo>
                  <a:pt x="967278" y="455553"/>
                </a:lnTo>
                <a:lnTo>
                  <a:pt x="986003" y="418661"/>
                </a:lnTo>
                <a:lnTo>
                  <a:pt x="1021116" y="397136"/>
                </a:lnTo>
                <a:lnTo>
                  <a:pt x="1214785" y="394323"/>
                </a:lnTo>
                <a:lnTo>
                  <a:pt x="0" y="0"/>
                </a:lnTo>
                <a:lnTo>
                  <a:pt x="1588125" y="394323"/>
                </a:lnTo>
                <a:lnTo>
                  <a:pt x="2383502" y="394323"/>
                </a:lnTo>
                <a:lnTo>
                  <a:pt x="2398005" y="395709"/>
                </a:lnTo>
                <a:lnTo>
                  <a:pt x="2434908" y="414429"/>
                </a:lnTo>
                <a:lnTo>
                  <a:pt x="2456439" y="449532"/>
                </a:lnTo>
                <a:lnTo>
                  <a:pt x="2459253" y="470051"/>
                </a:lnTo>
                <a:lnTo>
                  <a:pt x="2459253" y="583646"/>
                </a:lnTo>
                <a:lnTo>
                  <a:pt x="2459253" y="77297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424906" y="5839050"/>
            <a:ext cx="1493520" cy="659130"/>
          </a:xfrm>
          <a:custGeom>
            <a:avLst/>
            <a:gdLst/>
            <a:ahLst/>
            <a:cxnLst/>
            <a:rect l="l" t="t" r="r" b="b"/>
            <a:pathLst>
              <a:path w="1493520" h="659129">
                <a:moveTo>
                  <a:pt x="100130" y="0"/>
                </a:moveTo>
                <a:lnTo>
                  <a:pt x="248893" y="204737"/>
                </a:lnTo>
                <a:lnTo>
                  <a:pt x="69357" y="205003"/>
                </a:lnTo>
                <a:lnTo>
                  <a:pt x="55224" y="207551"/>
                </a:lnTo>
                <a:lnTo>
                  <a:pt x="20112" y="229075"/>
                </a:lnTo>
                <a:lnTo>
                  <a:pt x="1387" y="265968"/>
                </a:lnTo>
                <a:lnTo>
                  <a:pt x="0" y="394061"/>
                </a:lnTo>
                <a:lnTo>
                  <a:pt x="266" y="589776"/>
                </a:lnTo>
                <a:lnTo>
                  <a:pt x="15113" y="628781"/>
                </a:lnTo>
                <a:lnTo>
                  <a:pt x="47671" y="653742"/>
                </a:lnTo>
                <a:lnTo>
                  <a:pt x="75750" y="659115"/>
                </a:lnTo>
                <a:lnTo>
                  <a:pt x="622233" y="659115"/>
                </a:lnTo>
                <a:lnTo>
                  <a:pt x="1424004" y="658849"/>
                </a:lnTo>
                <a:lnTo>
                  <a:pt x="1463018" y="644006"/>
                </a:lnTo>
                <a:lnTo>
                  <a:pt x="1487986" y="611456"/>
                </a:lnTo>
                <a:lnTo>
                  <a:pt x="1493361" y="583385"/>
                </a:lnTo>
                <a:lnTo>
                  <a:pt x="1493361" y="280466"/>
                </a:lnTo>
                <a:lnTo>
                  <a:pt x="1478248" y="235071"/>
                </a:lnTo>
                <a:lnTo>
                  <a:pt x="1445689" y="210111"/>
                </a:lnTo>
                <a:lnTo>
                  <a:pt x="1417610" y="204737"/>
                </a:lnTo>
                <a:lnTo>
                  <a:pt x="622233" y="204737"/>
                </a:lnTo>
                <a:lnTo>
                  <a:pt x="10013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424906" y="5839050"/>
            <a:ext cx="1493520" cy="659130"/>
          </a:xfrm>
          <a:custGeom>
            <a:avLst/>
            <a:gdLst/>
            <a:ahLst/>
            <a:cxnLst/>
            <a:rect l="l" t="t" r="r" b="b"/>
            <a:pathLst>
              <a:path w="1493520" h="659129">
                <a:moveTo>
                  <a:pt x="1493361" y="583385"/>
                </a:moveTo>
                <a:lnTo>
                  <a:pt x="1481658" y="623841"/>
                </a:lnTo>
                <a:lnTo>
                  <a:pt x="1451228" y="651268"/>
                </a:lnTo>
                <a:lnTo>
                  <a:pt x="622233" y="659115"/>
                </a:lnTo>
                <a:lnTo>
                  <a:pt x="248893" y="659115"/>
                </a:lnTo>
                <a:lnTo>
                  <a:pt x="75751" y="659115"/>
                </a:lnTo>
                <a:lnTo>
                  <a:pt x="61247" y="657729"/>
                </a:lnTo>
                <a:lnTo>
                  <a:pt x="24344" y="639009"/>
                </a:lnTo>
                <a:lnTo>
                  <a:pt x="2813" y="603906"/>
                </a:lnTo>
                <a:lnTo>
                  <a:pt x="0" y="394061"/>
                </a:lnTo>
                <a:lnTo>
                  <a:pt x="0" y="280466"/>
                </a:lnTo>
                <a:lnTo>
                  <a:pt x="1386" y="265968"/>
                </a:lnTo>
                <a:lnTo>
                  <a:pt x="20112" y="229076"/>
                </a:lnTo>
                <a:lnTo>
                  <a:pt x="55224" y="207551"/>
                </a:lnTo>
                <a:lnTo>
                  <a:pt x="248893" y="204738"/>
                </a:lnTo>
                <a:lnTo>
                  <a:pt x="100130" y="0"/>
                </a:lnTo>
                <a:lnTo>
                  <a:pt x="622233" y="204738"/>
                </a:lnTo>
                <a:lnTo>
                  <a:pt x="1417610" y="204738"/>
                </a:lnTo>
                <a:lnTo>
                  <a:pt x="1432114" y="206124"/>
                </a:lnTo>
                <a:lnTo>
                  <a:pt x="1469016" y="224844"/>
                </a:lnTo>
                <a:lnTo>
                  <a:pt x="1490547" y="259947"/>
                </a:lnTo>
                <a:lnTo>
                  <a:pt x="1493361" y="280466"/>
                </a:lnTo>
                <a:lnTo>
                  <a:pt x="1493361" y="394061"/>
                </a:lnTo>
                <a:lnTo>
                  <a:pt x="1493361" y="583385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973728" y="5738331"/>
            <a:ext cx="1957070" cy="868044"/>
          </a:xfrm>
          <a:custGeom>
            <a:avLst/>
            <a:gdLst/>
            <a:ahLst/>
            <a:cxnLst/>
            <a:rect l="l" t="t" r="r" b="b"/>
            <a:pathLst>
              <a:path w="1957070" h="868045">
                <a:moveTo>
                  <a:pt x="1956899" y="0"/>
                </a:moveTo>
                <a:lnTo>
                  <a:pt x="1060502" y="413642"/>
                </a:lnTo>
                <a:lnTo>
                  <a:pt x="69356" y="413908"/>
                </a:lnTo>
                <a:lnTo>
                  <a:pt x="55224" y="416456"/>
                </a:lnTo>
                <a:lnTo>
                  <a:pt x="20111" y="437982"/>
                </a:lnTo>
                <a:lnTo>
                  <a:pt x="1386" y="474874"/>
                </a:lnTo>
                <a:lnTo>
                  <a:pt x="0" y="602966"/>
                </a:lnTo>
                <a:lnTo>
                  <a:pt x="266" y="798682"/>
                </a:lnTo>
                <a:lnTo>
                  <a:pt x="15114" y="837687"/>
                </a:lnTo>
                <a:lnTo>
                  <a:pt x="47672" y="862647"/>
                </a:lnTo>
                <a:lnTo>
                  <a:pt x="75751" y="868020"/>
                </a:lnTo>
                <a:lnTo>
                  <a:pt x="1515003" y="868020"/>
                </a:lnTo>
                <a:lnTo>
                  <a:pt x="1748648" y="867754"/>
                </a:lnTo>
                <a:lnTo>
                  <a:pt x="1787662" y="852910"/>
                </a:lnTo>
                <a:lnTo>
                  <a:pt x="1812630" y="820360"/>
                </a:lnTo>
                <a:lnTo>
                  <a:pt x="1818004" y="792288"/>
                </a:lnTo>
                <a:lnTo>
                  <a:pt x="1818004" y="489372"/>
                </a:lnTo>
                <a:lnTo>
                  <a:pt x="1802890" y="443976"/>
                </a:lnTo>
                <a:lnTo>
                  <a:pt x="1770331" y="419015"/>
                </a:lnTo>
                <a:lnTo>
                  <a:pt x="1742252" y="413642"/>
                </a:lnTo>
                <a:lnTo>
                  <a:pt x="1515003" y="413642"/>
                </a:lnTo>
                <a:lnTo>
                  <a:pt x="1956899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973728" y="5738330"/>
            <a:ext cx="1957070" cy="868044"/>
          </a:xfrm>
          <a:custGeom>
            <a:avLst/>
            <a:gdLst/>
            <a:ahLst/>
            <a:cxnLst/>
            <a:rect l="l" t="t" r="r" b="b"/>
            <a:pathLst>
              <a:path w="1957070" h="868045">
                <a:moveTo>
                  <a:pt x="1818005" y="792289"/>
                </a:moveTo>
                <a:lnTo>
                  <a:pt x="1806302" y="832744"/>
                </a:lnTo>
                <a:lnTo>
                  <a:pt x="1775872" y="860172"/>
                </a:lnTo>
                <a:lnTo>
                  <a:pt x="1515004" y="868020"/>
                </a:lnTo>
                <a:lnTo>
                  <a:pt x="1060502" y="868020"/>
                </a:lnTo>
                <a:lnTo>
                  <a:pt x="75751" y="868020"/>
                </a:lnTo>
                <a:lnTo>
                  <a:pt x="61248" y="866634"/>
                </a:lnTo>
                <a:lnTo>
                  <a:pt x="24345" y="847914"/>
                </a:lnTo>
                <a:lnTo>
                  <a:pt x="2814" y="812811"/>
                </a:lnTo>
                <a:lnTo>
                  <a:pt x="0" y="602967"/>
                </a:lnTo>
                <a:lnTo>
                  <a:pt x="0" y="489372"/>
                </a:lnTo>
                <a:lnTo>
                  <a:pt x="1386" y="474874"/>
                </a:lnTo>
                <a:lnTo>
                  <a:pt x="20111" y="437982"/>
                </a:lnTo>
                <a:lnTo>
                  <a:pt x="55223" y="416456"/>
                </a:lnTo>
                <a:lnTo>
                  <a:pt x="1060502" y="413643"/>
                </a:lnTo>
                <a:lnTo>
                  <a:pt x="1956900" y="0"/>
                </a:lnTo>
                <a:lnTo>
                  <a:pt x="1515004" y="413643"/>
                </a:lnTo>
                <a:lnTo>
                  <a:pt x="1742252" y="413643"/>
                </a:lnTo>
                <a:lnTo>
                  <a:pt x="1756756" y="415029"/>
                </a:lnTo>
                <a:lnTo>
                  <a:pt x="1793659" y="433749"/>
                </a:lnTo>
                <a:lnTo>
                  <a:pt x="1815190" y="468851"/>
                </a:lnTo>
                <a:lnTo>
                  <a:pt x="1818005" y="489372"/>
                </a:lnTo>
                <a:lnTo>
                  <a:pt x="1818005" y="602967"/>
                </a:lnTo>
                <a:lnTo>
                  <a:pt x="1818005" y="792289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386460" y="4456949"/>
            <a:ext cx="4342765" cy="194310"/>
          </a:xfrm>
          <a:custGeom>
            <a:avLst/>
            <a:gdLst/>
            <a:ahLst/>
            <a:cxnLst/>
            <a:rect l="l" t="t" r="r" b="b"/>
            <a:pathLst>
              <a:path w="4342765" h="194310">
                <a:moveTo>
                  <a:pt x="4342281" y="0"/>
                </a:moveTo>
                <a:lnTo>
                  <a:pt x="47079" y="416"/>
                </a:lnTo>
                <a:lnTo>
                  <a:pt x="16356" y="27228"/>
                </a:lnTo>
                <a:lnTo>
                  <a:pt x="2714" y="70922"/>
                </a:lnTo>
                <a:lnTo>
                  <a:pt x="0" y="109108"/>
                </a:lnTo>
                <a:lnTo>
                  <a:pt x="2072" y="126447"/>
                </a:lnTo>
                <a:lnTo>
                  <a:pt x="17198" y="169322"/>
                </a:lnTo>
                <a:lnTo>
                  <a:pt x="42213" y="192064"/>
                </a:lnTo>
                <a:lnTo>
                  <a:pt x="51977" y="193743"/>
                </a:lnTo>
              </a:path>
              <a:path w="4342765" h="194310">
                <a:moveTo>
                  <a:pt x="4337382" y="193328"/>
                </a:moveTo>
                <a:lnTo>
                  <a:pt x="4306659" y="166514"/>
                </a:lnTo>
                <a:lnTo>
                  <a:pt x="4293018" y="122820"/>
                </a:lnTo>
                <a:lnTo>
                  <a:pt x="4290303" y="84635"/>
                </a:lnTo>
                <a:lnTo>
                  <a:pt x="4292376" y="67296"/>
                </a:lnTo>
                <a:lnTo>
                  <a:pt x="4307502" y="24420"/>
                </a:lnTo>
                <a:lnTo>
                  <a:pt x="4332517" y="1679"/>
                </a:lnTo>
                <a:lnTo>
                  <a:pt x="4342281" y="0"/>
                </a:lnTo>
              </a:path>
            </a:pathLst>
          </a:custGeom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386460" y="4456949"/>
            <a:ext cx="4342281" cy="19374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677042" y="4456949"/>
            <a:ext cx="103674" cy="1933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676763" y="4457364"/>
            <a:ext cx="104139" cy="193675"/>
          </a:xfrm>
          <a:custGeom>
            <a:avLst/>
            <a:gdLst/>
            <a:ahLst/>
            <a:cxnLst/>
            <a:rect l="l" t="t" r="r" b="b"/>
            <a:pathLst>
              <a:path w="104139" h="193675">
                <a:moveTo>
                  <a:pt x="51977" y="193327"/>
                </a:moveTo>
                <a:lnTo>
                  <a:pt x="17198" y="168906"/>
                </a:lnTo>
                <a:lnTo>
                  <a:pt x="2072" y="126031"/>
                </a:lnTo>
                <a:lnTo>
                  <a:pt x="0" y="108692"/>
                </a:lnTo>
                <a:lnTo>
                  <a:pt x="634" y="88790"/>
                </a:lnTo>
                <a:lnTo>
                  <a:pt x="10702" y="39372"/>
                </a:lnTo>
                <a:lnTo>
                  <a:pt x="38436" y="2899"/>
                </a:lnTo>
                <a:lnTo>
                  <a:pt x="47079" y="0"/>
                </a:lnTo>
                <a:lnTo>
                  <a:pt x="58083" y="1472"/>
                </a:lnTo>
                <a:lnTo>
                  <a:pt x="91989" y="34857"/>
                </a:lnTo>
                <a:lnTo>
                  <a:pt x="103675" y="80718"/>
                </a:lnTo>
                <a:lnTo>
                  <a:pt x="103153" y="101081"/>
                </a:lnTo>
                <a:lnTo>
                  <a:pt x="93729" y="151366"/>
                </a:lnTo>
                <a:lnTo>
                  <a:pt x="67267" y="189036"/>
                </a:lnTo>
                <a:lnTo>
                  <a:pt x="51977" y="193327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386459" y="4456949"/>
            <a:ext cx="4342765" cy="194310"/>
          </a:xfrm>
          <a:custGeom>
            <a:avLst/>
            <a:gdLst/>
            <a:ahLst/>
            <a:cxnLst/>
            <a:rect l="l" t="t" r="r" b="b"/>
            <a:pathLst>
              <a:path w="4342765" h="194310">
                <a:moveTo>
                  <a:pt x="4342280" y="193742"/>
                </a:moveTo>
                <a:lnTo>
                  <a:pt x="51977" y="193742"/>
                </a:lnTo>
                <a:lnTo>
                  <a:pt x="42213" y="192063"/>
                </a:lnTo>
                <a:lnTo>
                  <a:pt x="10837" y="156859"/>
                </a:lnTo>
                <a:lnTo>
                  <a:pt x="0" y="109107"/>
                </a:lnTo>
                <a:lnTo>
                  <a:pt x="634" y="89205"/>
                </a:lnTo>
                <a:lnTo>
                  <a:pt x="10702" y="39787"/>
                </a:lnTo>
                <a:lnTo>
                  <a:pt x="38436" y="3314"/>
                </a:lnTo>
                <a:lnTo>
                  <a:pt x="47079" y="415"/>
                </a:lnTo>
                <a:lnTo>
                  <a:pt x="4342280" y="0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507199" y="3093173"/>
            <a:ext cx="1265810" cy="13698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441728" y="4650668"/>
            <a:ext cx="215900" cy="242570"/>
          </a:xfrm>
          <a:custGeom>
            <a:avLst/>
            <a:gdLst/>
            <a:ahLst/>
            <a:cxnLst/>
            <a:rect l="l" t="t" r="r" b="b"/>
            <a:pathLst>
              <a:path w="215900" h="242570">
                <a:moveTo>
                  <a:pt x="215445" y="199071"/>
                </a:moveTo>
                <a:lnTo>
                  <a:pt x="0" y="199071"/>
                </a:lnTo>
                <a:lnTo>
                  <a:pt x="107722" y="242148"/>
                </a:lnTo>
                <a:lnTo>
                  <a:pt x="215445" y="199071"/>
                </a:lnTo>
                <a:close/>
              </a:path>
              <a:path w="215900" h="242570">
                <a:moveTo>
                  <a:pt x="161584" y="43077"/>
                </a:moveTo>
                <a:lnTo>
                  <a:pt x="53861" y="43077"/>
                </a:lnTo>
                <a:lnTo>
                  <a:pt x="53861" y="199071"/>
                </a:lnTo>
                <a:lnTo>
                  <a:pt x="161584" y="199071"/>
                </a:lnTo>
                <a:lnTo>
                  <a:pt x="161584" y="43077"/>
                </a:lnTo>
                <a:close/>
              </a:path>
              <a:path w="215900" h="242570">
                <a:moveTo>
                  <a:pt x="107722" y="0"/>
                </a:moveTo>
                <a:lnTo>
                  <a:pt x="0" y="43077"/>
                </a:lnTo>
                <a:lnTo>
                  <a:pt x="215445" y="43077"/>
                </a:lnTo>
                <a:lnTo>
                  <a:pt x="107722" y="0"/>
                </a:lnTo>
                <a:close/>
              </a:path>
            </a:pathLst>
          </a:custGeom>
          <a:solidFill>
            <a:srgbClr val="CC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441728" y="4650668"/>
            <a:ext cx="215900" cy="242570"/>
          </a:xfrm>
          <a:custGeom>
            <a:avLst/>
            <a:gdLst/>
            <a:ahLst/>
            <a:cxnLst/>
            <a:rect l="l" t="t" r="r" b="b"/>
            <a:pathLst>
              <a:path w="215900" h="242570">
                <a:moveTo>
                  <a:pt x="0" y="43077"/>
                </a:moveTo>
                <a:lnTo>
                  <a:pt x="107722" y="0"/>
                </a:lnTo>
                <a:lnTo>
                  <a:pt x="215445" y="43077"/>
                </a:lnTo>
                <a:lnTo>
                  <a:pt x="161583" y="43077"/>
                </a:lnTo>
                <a:lnTo>
                  <a:pt x="161583" y="199071"/>
                </a:lnTo>
                <a:lnTo>
                  <a:pt x="215445" y="199071"/>
                </a:lnTo>
                <a:lnTo>
                  <a:pt x="107722" y="242148"/>
                </a:lnTo>
                <a:lnTo>
                  <a:pt x="0" y="199071"/>
                </a:lnTo>
                <a:lnTo>
                  <a:pt x="53861" y="199071"/>
                </a:lnTo>
                <a:lnTo>
                  <a:pt x="53861" y="43077"/>
                </a:lnTo>
                <a:lnTo>
                  <a:pt x="0" y="43077"/>
                </a:lnTo>
                <a:close/>
              </a:path>
            </a:pathLst>
          </a:custGeom>
          <a:ln w="81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441728" y="5171287"/>
            <a:ext cx="215900" cy="242570"/>
          </a:xfrm>
          <a:custGeom>
            <a:avLst/>
            <a:gdLst/>
            <a:ahLst/>
            <a:cxnLst/>
            <a:rect l="l" t="t" r="r" b="b"/>
            <a:pathLst>
              <a:path w="215900" h="242570">
                <a:moveTo>
                  <a:pt x="215445" y="199071"/>
                </a:moveTo>
                <a:lnTo>
                  <a:pt x="0" y="199071"/>
                </a:lnTo>
                <a:lnTo>
                  <a:pt x="107722" y="242148"/>
                </a:lnTo>
                <a:lnTo>
                  <a:pt x="215445" y="199071"/>
                </a:lnTo>
                <a:close/>
              </a:path>
              <a:path w="215900" h="242570">
                <a:moveTo>
                  <a:pt x="161584" y="43077"/>
                </a:moveTo>
                <a:lnTo>
                  <a:pt x="53861" y="43077"/>
                </a:lnTo>
                <a:lnTo>
                  <a:pt x="53861" y="199071"/>
                </a:lnTo>
                <a:lnTo>
                  <a:pt x="161584" y="199071"/>
                </a:lnTo>
                <a:lnTo>
                  <a:pt x="161584" y="43077"/>
                </a:lnTo>
                <a:close/>
              </a:path>
              <a:path w="215900" h="242570">
                <a:moveTo>
                  <a:pt x="107722" y="0"/>
                </a:moveTo>
                <a:lnTo>
                  <a:pt x="0" y="43077"/>
                </a:lnTo>
                <a:lnTo>
                  <a:pt x="215445" y="43077"/>
                </a:lnTo>
                <a:lnTo>
                  <a:pt x="107722" y="0"/>
                </a:lnTo>
                <a:close/>
              </a:path>
            </a:pathLst>
          </a:custGeom>
          <a:solidFill>
            <a:srgbClr val="CC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441728" y="5171287"/>
            <a:ext cx="215900" cy="242570"/>
          </a:xfrm>
          <a:custGeom>
            <a:avLst/>
            <a:gdLst/>
            <a:ahLst/>
            <a:cxnLst/>
            <a:rect l="l" t="t" r="r" b="b"/>
            <a:pathLst>
              <a:path w="215900" h="242570">
                <a:moveTo>
                  <a:pt x="0" y="43077"/>
                </a:moveTo>
                <a:lnTo>
                  <a:pt x="107722" y="0"/>
                </a:lnTo>
                <a:lnTo>
                  <a:pt x="215445" y="43077"/>
                </a:lnTo>
                <a:lnTo>
                  <a:pt x="161583" y="43077"/>
                </a:lnTo>
                <a:lnTo>
                  <a:pt x="161583" y="199071"/>
                </a:lnTo>
                <a:lnTo>
                  <a:pt x="215445" y="199071"/>
                </a:lnTo>
                <a:lnTo>
                  <a:pt x="107722" y="242148"/>
                </a:lnTo>
                <a:lnTo>
                  <a:pt x="0" y="199071"/>
                </a:lnTo>
                <a:lnTo>
                  <a:pt x="53861" y="199071"/>
                </a:lnTo>
                <a:lnTo>
                  <a:pt x="53861" y="43077"/>
                </a:lnTo>
                <a:lnTo>
                  <a:pt x="0" y="43077"/>
                </a:lnTo>
                <a:close/>
              </a:path>
            </a:pathLst>
          </a:custGeom>
          <a:ln w="81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903115" y="4880709"/>
            <a:ext cx="1292860" cy="314960"/>
          </a:xfrm>
          <a:custGeom>
            <a:avLst/>
            <a:gdLst/>
            <a:ahLst/>
            <a:cxnLst/>
            <a:rect l="l" t="t" r="r" b="b"/>
            <a:pathLst>
              <a:path w="1292860" h="314960">
                <a:moveTo>
                  <a:pt x="0" y="0"/>
                </a:moveTo>
                <a:lnTo>
                  <a:pt x="1292672" y="0"/>
                </a:lnTo>
                <a:lnTo>
                  <a:pt x="1292672" y="314793"/>
                </a:lnTo>
                <a:lnTo>
                  <a:pt x="0" y="314793"/>
                </a:lnTo>
                <a:lnTo>
                  <a:pt x="0" y="0"/>
                </a:lnTo>
                <a:close/>
              </a:path>
            </a:pathLst>
          </a:custGeom>
          <a:ln w="1622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161650" y="5353908"/>
            <a:ext cx="684937" cy="7375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540500" y="4214801"/>
            <a:ext cx="215900" cy="242570"/>
          </a:xfrm>
          <a:custGeom>
            <a:avLst/>
            <a:gdLst/>
            <a:ahLst/>
            <a:cxnLst/>
            <a:rect l="l" t="t" r="r" b="b"/>
            <a:pathLst>
              <a:path w="215900" h="242570">
                <a:moveTo>
                  <a:pt x="215445" y="199071"/>
                </a:moveTo>
                <a:lnTo>
                  <a:pt x="0" y="199071"/>
                </a:lnTo>
                <a:lnTo>
                  <a:pt x="107722" y="242148"/>
                </a:lnTo>
                <a:lnTo>
                  <a:pt x="215445" y="199071"/>
                </a:lnTo>
                <a:close/>
              </a:path>
              <a:path w="215900" h="242570">
                <a:moveTo>
                  <a:pt x="161583" y="43077"/>
                </a:moveTo>
                <a:lnTo>
                  <a:pt x="53860" y="43077"/>
                </a:lnTo>
                <a:lnTo>
                  <a:pt x="53860" y="199071"/>
                </a:lnTo>
                <a:lnTo>
                  <a:pt x="161583" y="199071"/>
                </a:lnTo>
                <a:lnTo>
                  <a:pt x="161583" y="43077"/>
                </a:lnTo>
                <a:close/>
              </a:path>
              <a:path w="215900" h="242570">
                <a:moveTo>
                  <a:pt x="107722" y="0"/>
                </a:moveTo>
                <a:lnTo>
                  <a:pt x="0" y="43077"/>
                </a:lnTo>
                <a:lnTo>
                  <a:pt x="215445" y="43077"/>
                </a:lnTo>
                <a:lnTo>
                  <a:pt x="107722" y="0"/>
                </a:lnTo>
                <a:close/>
              </a:path>
            </a:pathLst>
          </a:custGeom>
          <a:solidFill>
            <a:srgbClr val="CC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540500" y="4214801"/>
            <a:ext cx="215900" cy="242570"/>
          </a:xfrm>
          <a:custGeom>
            <a:avLst/>
            <a:gdLst/>
            <a:ahLst/>
            <a:cxnLst/>
            <a:rect l="l" t="t" r="r" b="b"/>
            <a:pathLst>
              <a:path w="215900" h="242570">
                <a:moveTo>
                  <a:pt x="0" y="43077"/>
                </a:moveTo>
                <a:lnTo>
                  <a:pt x="107722" y="0"/>
                </a:lnTo>
                <a:lnTo>
                  <a:pt x="215445" y="43077"/>
                </a:lnTo>
                <a:lnTo>
                  <a:pt x="161583" y="43077"/>
                </a:lnTo>
                <a:lnTo>
                  <a:pt x="161583" y="199071"/>
                </a:lnTo>
                <a:lnTo>
                  <a:pt x="215445" y="199071"/>
                </a:lnTo>
                <a:lnTo>
                  <a:pt x="107722" y="242148"/>
                </a:lnTo>
                <a:lnTo>
                  <a:pt x="0" y="199071"/>
                </a:lnTo>
                <a:lnTo>
                  <a:pt x="53861" y="199071"/>
                </a:lnTo>
                <a:lnTo>
                  <a:pt x="53861" y="43077"/>
                </a:lnTo>
                <a:lnTo>
                  <a:pt x="0" y="43077"/>
                </a:lnTo>
                <a:close/>
              </a:path>
            </a:pathLst>
          </a:custGeom>
          <a:ln w="81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965979" y="3912115"/>
            <a:ext cx="1273175" cy="314960"/>
          </a:xfrm>
          <a:custGeom>
            <a:avLst/>
            <a:gdLst/>
            <a:ahLst/>
            <a:cxnLst/>
            <a:rect l="l" t="t" r="r" b="b"/>
            <a:pathLst>
              <a:path w="1273175" h="314960">
                <a:moveTo>
                  <a:pt x="0" y="0"/>
                </a:moveTo>
                <a:lnTo>
                  <a:pt x="1272923" y="0"/>
                </a:lnTo>
                <a:lnTo>
                  <a:pt x="1272923" y="314793"/>
                </a:lnTo>
                <a:lnTo>
                  <a:pt x="0" y="314793"/>
                </a:lnTo>
                <a:lnTo>
                  <a:pt x="0" y="0"/>
                </a:lnTo>
                <a:close/>
              </a:path>
            </a:pathLst>
          </a:custGeom>
          <a:ln w="1622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411420" y="3476249"/>
            <a:ext cx="1319652" cy="1937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411420" y="3476249"/>
            <a:ext cx="1320165" cy="194310"/>
          </a:xfrm>
          <a:custGeom>
            <a:avLst/>
            <a:gdLst/>
            <a:ahLst/>
            <a:cxnLst/>
            <a:rect l="l" t="t" r="r" b="b"/>
            <a:pathLst>
              <a:path w="1320164" h="194310">
                <a:moveTo>
                  <a:pt x="1319652" y="0"/>
                </a:moveTo>
                <a:lnTo>
                  <a:pt x="13153" y="1281"/>
                </a:lnTo>
                <a:lnTo>
                  <a:pt x="2093" y="51761"/>
                </a:lnTo>
                <a:lnTo>
                  <a:pt x="0" y="111731"/>
                </a:lnTo>
                <a:lnTo>
                  <a:pt x="823" y="130899"/>
                </a:lnTo>
                <a:lnTo>
                  <a:pt x="6569" y="176089"/>
                </a:lnTo>
                <a:lnTo>
                  <a:pt x="15735" y="193743"/>
                </a:lnTo>
                <a:lnTo>
                  <a:pt x="1317069" y="192462"/>
                </a:lnTo>
                <a:lnTo>
                  <a:pt x="1314325" y="188045"/>
                </a:lnTo>
                <a:lnTo>
                  <a:pt x="1311799" y="180632"/>
                </a:lnTo>
                <a:lnTo>
                  <a:pt x="1306009" y="141982"/>
                </a:lnTo>
                <a:lnTo>
                  <a:pt x="1303915" y="82011"/>
                </a:lnTo>
                <a:lnTo>
                  <a:pt x="1304739" y="62844"/>
                </a:lnTo>
                <a:lnTo>
                  <a:pt x="1310485" y="17654"/>
                </a:lnTo>
                <a:lnTo>
                  <a:pt x="1316334" y="2105"/>
                </a:lnTo>
                <a:lnTo>
                  <a:pt x="1319652" y="0"/>
                </a:lnTo>
              </a:path>
            </a:pathLst>
          </a:custGeom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715404" y="3476249"/>
            <a:ext cx="31404" cy="19246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715404" y="3476249"/>
            <a:ext cx="31750" cy="193040"/>
          </a:xfrm>
          <a:custGeom>
            <a:avLst/>
            <a:gdLst/>
            <a:ahLst/>
            <a:cxnLst/>
            <a:rect l="l" t="t" r="r" b="b"/>
            <a:pathLst>
              <a:path w="31750" h="193039">
                <a:moveTo>
                  <a:pt x="15668" y="0"/>
                </a:moveTo>
                <a:lnTo>
                  <a:pt x="3476" y="37891"/>
                </a:lnTo>
                <a:lnTo>
                  <a:pt x="177" y="91742"/>
                </a:lnTo>
                <a:lnTo>
                  <a:pt x="0" y="114109"/>
                </a:lnTo>
                <a:lnTo>
                  <a:pt x="909" y="132761"/>
                </a:lnTo>
                <a:lnTo>
                  <a:pt x="7245" y="176354"/>
                </a:lnTo>
                <a:lnTo>
                  <a:pt x="18250" y="192462"/>
                </a:lnTo>
                <a:lnTo>
                  <a:pt x="20994" y="188046"/>
                </a:lnTo>
                <a:lnTo>
                  <a:pt x="29310" y="141982"/>
                </a:lnTo>
                <a:lnTo>
                  <a:pt x="31404" y="82011"/>
                </a:lnTo>
                <a:lnTo>
                  <a:pt x="30580" y="62844"/>
                </a:lnTo>
                <a:lnTo>
                  <a:pt x="24834" y="17654"/>
                </a:lnTo>
                <a:lnTo>
                  <a:pt x="15668" y="0"/>
                </a:lnTo>
              </a:path>
            </a:pathLst>
          </a:custGeom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234819" y="2794175"/>
            <a:ext cx="1817855" cy="11219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652711" y="4868603"/>
            <a:ext cx="1511300" cy="314960"/>
          </a:xfrm>
          <a:custGeom>
            <a:avLst/>
            <a:gdLst/>
            <a:ahLst/>
            <a:cxnLst/>
            <a:rect l="l" t="t" r="r" b="b"/>
            <a:pathLst>
              <a:path w="1511300" h="314960">
                <a:moveTo>
                  <a:pt x="0" y="0"/>
                </a:moveTo>
                <a:lnTo>
                  <a:pt x="1510811" y="0"/>
                </a:lnTo>
                <a:lnTo>
                  <a:pt x="1510811" y="314793"/>
                </a:lnTo>
                <a:lnTo>
                  <a:pt x="0" y="314793"/>
                </a:lnTo>
                <a:lnTo>
                  <a:pt x="0" y="0"/>
                </a:lnTo>
                <a:close/>
              </a:path>
            </a:pathLst>
          </a:custGeom>
          <a:ln w="1622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294558" y="4638561"/>
            <a:ext cx="215900" cy="242570"/>
          </a:xfrm>
          <a:custGeom>
            <a:avLst/>
            <a:gdLst/>
            <a:ahLst/>
            <a:cxnLst/>
            <a:rect l="l" t="t" r="r" b="b"/>
            <a:pathLst>
              <a:path w="215900" h="242570">
                <a:moveTo>
                  <a:pt x="215445" y="199071"/>
                </a:moveTo>
                <a:lnTo>
                  <a:pt x="0" y="199071"/>
                </a:lnTo>
                <a:lnTo>
                  <a:pt x="107722" y="242148"/>
                </a:lnTo>
                <a:lnTo>
                  <a:pt x="215445" y="199071"/>
                </a:lnTo>
                <a:close/>
              </a:path>
              <a:path w="215900" h="242570">
                <a:moveTo>
                  <a:pt x="161584" y="43077"/>
                </a:moveTo>
                <a:lnTo>
                  <a:pt x="53861" y="43077"/>
                </a:lnTo>
                <a:lnTo>
                  <a:pt x="53861" y="199071"/>
                </a:lnTo>
                <a:lnTo>
                  <a:pt x="161584" y="199071"/>
                </a:lnTo>
                <a:lnTo>
                  <a:pt x="161584" y="43077"/>
                </a:lnTo>
                <a:close/>
              </a:path>
              <a:path w="215900" h="242570">
                <a:moveTo>
                  <a:pt x="107722" y="0"/>
                </a:moveTo>
                <a:lnTo>
                  <a:pt x="0" y="43077"/>
                </a:lnTo>
                <a:lnTo>
                  <a:pt x="215445" y="43077"/>
                </a:lnTo>
                <a:lnTo>
                  <a:pt x="107722" y="0"/>
                </a:lnTo>
                <a:close/>
              </a:path>
            </a:pathLst>
          </a:custGeom>
          <a:solidFill>
            <a:srgbClr val="CC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294558" y="4638561"/>
            <a:ext cx="215900" cy="242570"/>
          </a:xfrm>
          <a:custGeom>
            <a:avLst/>
            <a:gdLst/>
            <a:ahLst/>
            <a:cxnLst/>
            <a:rect l="l" t="t" r="r" b="b"/>
            <a:pathLst>
              <a:path w="215900" h="242570">
                <a:moveTo>
                  <a:pt x="0" y="43077"/>
                </a:moveTo>
                <a:lnTo>
                  <a:pt x="107722" y="0"/>
                </a:lnTo>
                <a:lnTo>
                  <a:pt x="215445" y="43077"/>
                </a:lnTo>
                <a:lnTo>
                  <a:pt x="161583" y="43077"/>
                </a:lnTo>
                <a:lnTo>
                  <a:pt x="161583" y="199071"/>
                </a:lnTo>
                <a:lnTo>
                  <a:pt x="215445" y="199071"/>
                </a:lnTo>
                <a:lnTo>
                  <a:pt x="107722" y="242148"/>
                </a:lnTo>
                <a:lnTo>
                  <a:pt x="0" y="199071"/>
                </a:lnTo>
                <a:lnTo>
                  <a:pt x="53861" y="199071"/>
                </a:lnTo>
                <a:lnTo>
                  <a:pt x="53861" y="43077"/>
                </a:lnTo>
                <a:lnTo>
                  <a:pt x="0" y="43077"/>
                </a:lnTo>
                <a:close/>
              </a:path>
            </a:pathLst>
          </a:custGeom>
          <a:ln w="81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143933" y="5413437"/>
            <a:ext cx="1319652" cy="19374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143933" y="5413437"/>
            <a:ext cx="1320165" cy="194310"/>
          </a:xfrm>
          <a:custGeom>
            <a:avLst/>
            <a:gdLst/>
            <a:ahLst/>
            <a:cxnLst/>
            <a:rect l="l" t="t" r="r" b="b"/>
            <a:pathLst>
              <a:path w="1320164" h="194310">
                <a:moveTo>
                  <a:pt x="1319652" y="0"/>
                </a:moveTo>
                <a:lnTo>
                  <a:pt x="13154" y="1281"/>
                </a:lnTo>
                <a:lnTo>
                  <a:pt x="2094" y="51761"/>
                </a:lnTo>
                <a:lnTo>
                  <a:pt x="0" y="111731"/>
                </a:lnTo>
                <a:lnTo>
                  <a:pt x="823" y="130899"/>
                </a:lnTo>
                <a:lnTo>
                  <a:pt x="6570" y="176089"/>
                </a:lnTo>
                <a:lnTo>
                  <a:pt x="15737" y="193743"/>
                </a:lnTo>
                <a:lnTo>
                  <a:pt x="1317070" y="192462"/>
                </a:lnTo>
                <a:lnTo>
                  <a:pt x="1314326" y="188046"/>
                </a:lnTo>
                <a:lnTo>
                  <a:pt x="1311800" y="180633"/>
                </a:lnTo>
                <a:lnTo>
                  <a:pt x="1306010" y="141982"/>
                </a:lnTo>
                <a:lnTo>
                  <a:pt x="1303916" y="82012"/>
                </a:lnTo>
                <a:lnTo>
                  <a:pt x="1304740" y="62844"/>
                </a:lnTo>
                <a:lnTo>
                  <a:pt x="1310485" y="17654"/>
                </a:lnTo>
                <a:lnTo>
                  <a:pt x="1316335" y="2105"/>
                </a:lnTo>
                <a:lnTo>
                  <a:pt x="1319652" y="0"/>
                </a:lnTo>
              </a:path>
            </a:pathLst>
          </a:custGeom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447918" y="5413437"/>
            <a:ext cx="31404" cy="19246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447918" y="5413437"/>
            <a:ext cx="31750" cy="193040"/>
          </a:xfrm>
          <a:custGeom>
            <a:avLst/>
            <a:gdLst/>
            <a:ahLst/>
            <a:cxnLst/>
            <a:rect l="l" t="t" r="r" b="b"/>
            <a:pathLst>
              <a:path w="31750" h="193039">
                <a:moveTo>
                  <a:pt x="15667" y="0"/>
                </a:moveTo>
                <a:lnTo>
                  <a:pt x="3476" y="37891"/>
                </a:lnTo>
                <a:lnTo>
                  <a:pt x="177" y="91742"/>
                </a:lnTo>
                <a:lnTo>
                  <a:pt x="0" y="114109"/>
                </a:lnTo>
                <a:lnTo>
                  <a:pt x="909" y="132761"/>
                </a:lnTo>
                <a:lnTo>
                  <a:pt x="7245" y="176354"/>
                </a:lnTo>
                <a:lnTo>
                  <a:pt x="18249" y="192462"/>
                </a:lnTo>
                <a:lnTo>
                  <a:pt x="20993" y="188046"/>
                </a:lnTo>
                <a:lnTo>
                  <a:pt x="29310" y="141982"/>
                </a:lnTo>
                <a:lnTo>
                  <a:pt x="31404" y="82012"/>
                </a:lnTo>
                <a:lnTo>
                  <a:pt x="30580" y="62844"/>
                </a:lnTo>
                <a:lnTo>
                  <a:pt x="24834" y="17654"/>
                </a:lnTo>
                <a:lnTo>
                  <a:pt x="15667" y="0"/>
                </a:lnTo>
              </a:path>
            </a:pathLst>
          </a:custGeom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139876" y="4126206"/>
            <a:ext cx="3028885" cy="218804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076009" y="5329694"/>
            <a:ext cx="688014" cy="56703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057345" y="2339798"/>
            <a:ext cx="2280620" cy="124142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1092247" y="2232148"/>
            <a:ext cx="3639185" cy="861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50" marR="5080" indent="-159385">
              <a:lnSpc>
                <a:spcPts val="4570"/>
              </a:lnSpc>
              <a:tabLst>
                <a:tab pos="2558415" algn="l"/>
              </a:tabLst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进程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(fo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k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())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U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管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理</a:t>
            </a:r>
            <a:r>
              <a:rPr sz="2925" b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进程管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理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562863" y="2406850"/>
            <a:ext cx="2345549" cy="117641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5676788" y="3581453"/>
            <a:ext cx="1133475" cy="765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69850">
              <a:lnSpc>
                <a:spcPct val="16400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内存管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理</a:t>
            </a:r>
            <a:r>
              <a:rPr sz="19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设备文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件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639422" y="6125387"/>
            <a:ext cx="106299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磁盘管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理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090877" y="6233543"/>
            <a:ext cx="158242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终端设备管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理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349000" y="4174393"/>
            <a:ext cx="73977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5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15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500" b="1" spc="2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总线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640423" y="3962571"/>
            <a:ext cx="999490" cy="215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2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图形控制器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082219" y="4930900"/>
            <a:ext cx="934719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ID</a:t>
            </a:r>
            <a:r>
              <a:rPr sz="15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500" b="1" spc="2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控制器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102755" y="3962570"/>
            <a:ext cx="999490" cy="215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2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总线控制器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208961" y="3720487"/>
            <a:ext cx="128079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15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5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15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-</a:t>
            </a:r>
            <a:r>
              <a:rPr sz="1500" b="1" spc="2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内存总线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811033" y="4918797"/>
            <a:ext cx="1193800" cy="215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2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扩展总线接口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113832" y="5172984"/>
            <a:ext cx="804545" cy="215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2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扩展总线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521340" y="2588119"/>
            <a:ext cx="1273175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地址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*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7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626144" y="3168350"/>
            <a:ext cx="106299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虚拟内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存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343129" y="5001154"/>
            <a:ext cx="2150762" cy="130633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425116" y="5087092"/>
            <a:ext cx="1336675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文件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(op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61702" y="5930707"/>
            <a:ext cx="106299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文件系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统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885859" y="5937467"/>
            <a:ext cx="106299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设备驱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动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object 6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63" name="object 63"/>
          <p:cNvSpPr txBox="1">
            <a:spLocks noGrp="1"/>
          </p:cNvSpPr>
          <p:nvPr>
            <p:ph type="sldNum" sz="quarter" idx="7"/>
          </p:nvPr>
        </p:nvSpPr>
        <p:spPr>
          <a:xfrm>
            <a:off x="5194279" y="6655174"/>
            <a:ext cx="335279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sp>
        <p:nvSpPr>
          <p:cNvPr id="60" name="object 2"/>
          <p:cNvSpPr/>
          <p:nvPr>
            <p:custDataLst>
              <p:tags r:id="rId15"/>
            </p:custDataLst>
          </p:nvPr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2258" y="1202167"/>
            <a:ext cx="5651500" cy="430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911475" algn="l"/>
              </a:tabLst>
            </a:pPr>
            <a:r>
              <a:rPr sz="2950" spc="100" dirty="0"/>
              <a:t>我们要学什么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?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	</a:t>
            </a:r>
            <a:r>
              <a:rPr sz="2950" spc="100" dirty="0"/>
              <a:t>再再具体一些</a:t>
            </a:r>
            <a:r>
              <a:rPr sz="3050" spc="15" dirty="0">
                <a:latin typeface="Arial" panose="020B0604020202020204"/>
                <a:cs typeface="Arial" panose="020B0604020202020204"/>
              </a:rPr>
              <a:t>…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16084" y="2021953"/>
            <a:ext cx="5866765" cy="1165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43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认识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U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 </a:t>
            </a:r>
            <a:r>
              <a:rPr sz="2925" b="1" spc="120" baseline="1000" dirty="0">
                <a:latin typeface="Symbol" panose="05050102010706020507"/>
                <a:cs typeface="Symbol" panose="05050102010706020507"/>
              </a:rPr>
              <a:t></a:t>
            </a:r>
            <a:r>
              <a:rPr sz="2925" b="1" spc="120" baseline="1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U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管理的直观想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法</a:t>
            </a:r>
            <a:r>
              <a:rPr sz="2925" b="1" spc="-615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0" baseline="1000" dirty="0">
                <a:latin typeface="Symbol" panose="05050102010706020507"/>
                <a:cs typeface="Symbol" panose="05050102010706020507"/>
              </a:rPr>
              <a:t></a:t>
            </a:r>
            <a:r>
              <a:rPr sz="2925" b="1" spc="120" baseline="1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到进程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2925" b="1" spc="5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抽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象</a:t>
            </a:r>
            <a:r>
              <a:rPr sz="2925" b="1" spc="-615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0" baseline="1000" dirty="0">
                <a:latin typeface="Symbol" panose="05050102010706020507"/>
                <a:cs typeface="Symbol" panose="05050102010706020507"/>
              </a:rPr>
              <a:t></a:t>
            </a:r>
            <a:r>
              <a:rPr sz="2925" b="1" spc="120" baseline="1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多进程基本结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构</a:t>
            </a:r>
            <a:r>
              <a:rPr sz="2925" b="1" spc="-615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0" baseline="1000" dirty="0">
                <a:latin typeface="Symbol" panose="05050102010706020507"/>
                <a:cs typeface="Symbol" panose="05050102010706020507"/>
              </a:rPr>
              <a:t></a:t>
            </a:r>
            <a:r>
              <a:rPr sz="2925" b="1" spc="120" baseline="1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多进程相关问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题</a:t>
            </a:r>
            <a:r>
              <a:rPr sz="2925" b="1" spc="-615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0" baseline="1000" dirty="0">
                <a:latin typeface="Symbol" panose="05050102010706020507"/>
                <a:cs typeface="Symbol" panose="05050102010706020507"/>
              </a:rPr>
              <a:t></a:t>
            </a:r>
            <a:r>
              <a:rPr sz="2925" b="1" spc="120" baseline="1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fo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k</a:t>
            </a:r>
            <a:r>
              <a:rPr sz="20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如何工作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?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84596" y="2082859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521494" y="3449609"/>
            <a:ext cx="5993130" cy="730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600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认识内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存</a:t>
            </a:r>
            <a:r>
              <a:rPr sz="1950" b="1" spc="-409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0" dirty="0">
                <a:latin typeface="Symbol" panose="05050102010706020507"/>
                <a:cs typeface="Symbol" panose="05050102010706020507"/>
              </a:rPr>
              <a:t></a:t>
            </a:r>
            <a:r>
              <a:rPr sz="1950" b="1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内存管理的直观想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法</a:t>
            </a:r>
            <a:r>
              <a:rPr sz="1950" b="1" spc="-409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0" dirty="0">
                <a:latin typeface="Symbol" panose="05050102010706020507"/>
                <a:cs typeface="Symbol" panose="05050102010706020507"/>
              </a:rPr>
              <a:t></a:t>
            </a:r>
            <a:r>
              <a:rPr sz="1950" b="1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物理地址到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虚</a:t>
            </a:r>
            <a:r>
              <a:rPr sz="1950" b="1" spc="3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拟地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址</a:t>
            </a:r>
            <a:r>
              <a:rPr sz="2925" b="1" spc="-615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0" baseline="1000" dirty="0">
                <a:latin typeface="Symbol" panose="05050102010706020507"/>
                <a:cs typeface="Symbol" panose="05050102010706020507"/>
              </a:rPr>
              <a:t></a:t>
            </a:r>
            <a:r>
              <a:rPr sz="2925" b="1" spc="120" baseline="1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*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7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的背后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?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25" b="1" spc="120" baseline="1000" dirty="0">
                <a:latin typeface="Symbol" panose="05050102010706020507"/>
                <a:cs typeface="Symbol" panose="05050102010706020507"/>
              </a:rPr>
              <a:t></a:t>
            </a:r>
            <a:r>
              <a:rPr sz="2925" b="1" spc="120" baseline="1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进程虚拟内存如何产生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?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90006" y="3497380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521494" y="4487905"/>
            <a:ext cx="5236210" cy="730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600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认识设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备</a:t>
            </a:r>
            <a:r>
              <a:rPr sz="1950" b="1" spc="-409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0" dirty="0">
                <a:latin typeface="Symbol" panose="05050102010706020507"/>
                <a:cs typeface="Symbol" panose="05050102010706020507"/>
              </a:rPr>
              <a:t></a:t>
            </a:r>
            <a:r>
              <a:rPr sz="1950" b="1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设备使用的基本结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构</a:t>
            </a:r>
            <a:r>
              <a:rPr sz="1950" b="1" spc="-409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0" dirty="0">
                <a:latin typeface="Symbol" panose="05050102010706020507"/>
                <a:cs typeface="Symbol" panose="05050102010706020507"/>
              </a:rPr>
              <a:t></a:t>
            </a:r>
            <a:r>
              <a:rPr sz="1950" b="1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从设备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到</a:t>
            </a:r>
            <a:r>
              <a:rPr sz="1950" b="1" spc="3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文件的抽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象</a:t>
            </a:r>
            <a:r>
              <a:rPr sz="2925" b="1" spc="-615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0" baseline="1000" dirty="0">
                <a:latin typeface="Symbol" panose="05050102010706020507"/>
                <a:cs typeface="Symbol" panose="05050102010706020507"/>
              </a:rPr>
              <a:t></a:t>
            </a:r>
            <a:r>
              <a:rPr sz="2925" b="1" spc="120" baseline="1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op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rea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wr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的背后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?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90006" y="4535958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06901" y="5394678"/>
            <a:ext cx="1169035" cy="389890"/>
          </a:xfrm>
          <a:custGeom>
            <a:avLst/>
            <a:gdLst/>
            <a:ahLst/>
            <a:cxnLst/>
            <a:rect l="l" t="t" r="r" b="b"/>
            <a:pathLst>
              <a:path w="1169035" h="389889">
                <a:moveTo>
                  <a:pt x="0" y="64912"/>
                </a:moveTo>
                <a:lnTo>
                  <a:pt x="13425" y="25379"/>
                </a:lnTo>
                <a:lnTo>
                  <a:pt x="47334" y="2411"/>
                </a:lnTo>
                <a:lnTo>
                  <a:pt x="1103787" y="0"/>
                </a:lnTo>
                <a:lnTo>
                  <a:pt x="1118219" y="1609"/>
                </a:lnTo>
                <a:lnTo>
                  <a:pt x="1153301" y="22918"/>
                </a:lnTo>
                <a:lnTo>
                  <a:pt x="1168630" y="61521"/>
                </a:lnTo>
                <a:lnTo>
                  <a:pt x="1168717" y="324554"/>
                </a:lnTo>
                <a:lnTo>
                  <a:pt x="1167107" y="338982"/>
                </a:lnTo>
                <a:lnTo>
                  <a:pt x="1145792" y="374054"/>
                </a:lnTo>
                <a:lnTo>
                  <a:pt x="1107178" y="389379"/>
                </a:lnTo>
                <a:lnTo>
                  <a:pt x="64930" y="389466"/>
                </a:lnTo>
                <a:lnTo>
                  <a:pt x="50497" y="387857"/>
                </a:lnTo>
                <a:lnTo>
                  <a:pt x="15415" y="366548"/>
                </a:lnTo>
                <a:lnTo>
                  <a:pt x="87" y="327944"/>
                </a:lnTo>
                <a:lnTo>
                  <a:pt x="0" y="64912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840547" y="5524500"/>
            <a:ext cx="194945" cy="130175"/>
          </a:xfrm>
          <a:custGeom>
            <a:avLst/>
            <a:gdLst/>
            <a:ahLst/>
            <a:cxnLst/>
            <a:rect l="l" t="t" r="r" b="b"/>
            <a:pathLst>
              <a:path w="194944" h="130175">
                <a:moveTo>
                  <a:pt x="0" y="32455"/>
                </a:moveTo>
                <a:lnTo>
                  <a:pt x="129857" y="32455"/>
                </a:lnTo>
                <a:lnTo>
                  <a:pt x="129857" y="0"/>
                </a:lnTo>
                <a:lnTo>
                  <a:pt x="194786" y="64911"/>
                </a:lnTo>
                <a:lnTo>
                  <a:pt x="129857" y="129822"/>
                </a:lnTo>
                <a:lnTo>
                  <a:pt x="129857" y="97366"/>
                </a:lnTo>
                <a:lnTo>
                  <a:pt x="0" y="97366"/>
                </a:lnTo>
                <a:lnTo>
                  <a:pt x="0" y="32455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100262" y="5394678"/>
            <a:ext cx="1558290" cy="389890"/>
          </a:xfrm>
          <a:custGeom>
            <a:avLst/>
            <a:gdLst/>
            <a:ahLst/>
            <a:cxnLst/>
            <a:rect l="l" t="t" r="r" b="b"/>
            <a:pathLst>
              <a:path w="1558289" h="389889">
                <a:moveTo>
                  <a:pt x="0" y="64912"/>
                </a:moveTo>
                <a:lnTo>
                  <a:pt x="13425" y="25380"/>
                </a:lnTo>
                <a:lnTo>
                  <a:pt x="47334" y="2411"/>
                </a:lnTo>
                <a:lnTo>
                  <a:pt x="1493359" y="0"/>
                </a:lnTo>
                <a:lnTo>
                  <a:pt x="1507791" y="1609"/>
                </a:lnTo>
                <a:lnTo>
                  <a:pt x="1542873" y="22918"/>
                </a:lnTo>
                <a:lnTo>
                  <a:pt x="1558202" y="61521"/>
                </a:lnTo>
                <a:lnTo>
                  <a:pt x="1558290" y="324553"/>
                </a:lnTo>
                <a:lnTo>
                  <a:pt x="1556680" y="338982"/>
                </a:lnTo>
                <a:lnTo>
                  <a:pt x="1535365" y="374054"/>
                </a:lnTo>
                <a:lnTo>
                  <a:pt x="1496751" y="389379"/>
                </a:lnTo>
                <a:lnTo>
                  <a:pt x="64930" y="389466"/>
                </a:lnTo>
                <a:lnTo>
                  <a:pt x="50498" y="387857"/>
                </a:lnTo>
                <a:lnTo>
                  <a:pt x="15416" y="366548"/>
                </a:lnTo>
                <a:lnTo>
                  <a:pt x="87" y="327945"/>
                </a:lnTo>
                <a:lnTo>
                  <a:pt x="0" y="64912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723481" y="5524500"/>
            <a:ext cx="194945" cy="130175"/>
          </a:xfrm>
          <a:custGeom>
            <a:avLst/>
            <a:gdLst/>
            <a:ahLst/>
            <a:cxnLst/>
            <a:rect l="l" t="t" r="r" b="b"/>
            <a:pathLst>
              <a:path w="194945" h="130175">
                <a:moveTo>
                  <a:pt x="0" y="32455"/>
                </a:moveTo>
                <a:lnTo>
                  <a:pt x="129857" y="32455"/>
                </a:lnTo>
                <a:lnTo>
                  <a:pt x="129857" y="0"/>
                </a:lnTo>
                <a:lnTo>
                  <a:pt x="194786" y="64911"/>
                </a:lnTo>
                <a:lnTo>
                  <a:pt x="129857" y="129822"/>
                </a:lnTo>
                <a:lnTo>
                  <a:pt x="129857" y="97366"/>
                </a:lnTo>
                <a:lnTo>
                  <a:pt x="0" y="97366"/>
                </a:lnTo>
                <a:lnTo>
                  <a:pt x="0" y="32455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983196" y="5394678"/>
            <a:ext cx="1169035" cy="389890"/>
          </a:xfrm>
          <a:custGeom>
            <a:avLst/>
            <a:gdLst/>
            <a:ahLst/>
            <a:cxnLst/>
            <a:rect l="l" t="t" r="r" b="b"/>
            <a:pathLst>
              <a:path w="1169035" h="389889">
                <a:moveTo>
                  <a:pt x="0" y="64912"/>
                </a:moveTo>
                <a:lnTo>
                  <a:pt x="13425" y="25379"/>
                </a:lnTo>
                <a:lnTo>
                  <a:pt x="47334" y="2411"/>
                </a:lnTo>
                <a:lnTo>
                  <a:pt x="1103787" y="0"/>
                </a:lnTo>
                <a:lnTo>
                  <a:pt x="1118219" y="1609"/>
                </a:lnTo>
                <a:lnTo>
                  <a:pt x="1153301" y="22918"/>
                </a:lnTo>
                <a:lnTo>
                  <a:pt x="1168630" y="61521"/>
                </a:lnTo>
                <a:lnTo>
                  <a:pt x="1168717" y="324554"/>
                </a:lnTo>
                <a:lnTo>
                  <a:pt x="1167107" y="338982"/>
                </a:lnTo>
                <a:lnTo>
                  <a:pt x="1145792" y="374054"/>
                </a:lnTo>
                <a:lnTo>
                  <a:pt x="1107178" y="389379"/>
                </a:lnTo>
                <a:lnTo>
                  <a:pt x="64930" y="389466"/>
                </a:lnTo>
                <a:lnTo>
                  <a:pt x="50497" y="387857"/>
                </a:lnTo>
                <a:lnTo>
                  <a:pt x="15415" y="366548"/>
                </a:lnTo>
                <a:lnTo>
                  <a:pt x="87" y="327944"/>
                </a:lnTo>
                <a:lnTo>
                  <a:pt x="0" y="64912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216842" y="5524500"/>
            <a:ext cx="194945" cy="130175"/>
          </a:xfrm>
          <a:custGeom>
            <a:avLst/>
            <a:gdLst/>
            <a:ahLst/>
            <a:cxnLst/>
            <a:rect l="l" t="t" r="r" b="b"/>
            <a:pathLst>
              <a:path w="194945" h="130175">
                <a:moveTo>
                  <a:pt x="0" y="32455"/>
                </a:moveTo>
                <a:lnTo>
                  <a:pt x="129857" y="32455"/>
                </a:lnTo>
                <a:lnTo>
                  <a:pt x="129857" y="0"/>
                </a:lnTo>
                <a:lnTo>
                  <a:pt x="194786" y="64911"/>
                </a:lnTo>
                <a:lnTo>
                  <a:pt x="129857" y="129822"/>
                </a:lnTo>
                <a:lnTo>
                  <a:pt x="129857" y="97366"/>
                </a:lnTo>
                <a:lnTo>
                  <a:pt x="0" y="97366"/>
                </a:lnTo>
                <a:lnTo>
                  <a:pt x="0" y="32455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541486" y="5394678"/>
            <a:ext cx="1169035" cy="389890"/>
          </a:xfrm>
          <a:custGeom>
            <a:avLst/>
            <a:gdLst/>
            <a:ahLst/>
            <a:cxnLst/>
            <a:rect l="l" t="t" r="r" b="b"/>
            <a:pathLst>
              <a:path w="1169034" h="389889">
                <a:moveTo>
                  <a:pt x="0" y="64912"/>
                </a:moveTo>
                <a:lnTo>
                  <a:pt x="13425" y="25379"/>
                </a:lnTo>
                <a:lnTo>
                  <a:pt x="47334" y="2411"/>
                </a:lnTo>
                <a:lnTo>
                  <a:pt x="1103787" y="0"/>
                </a:lnTo>
                <a:lnTo>
                  <a:pt x="1118219" y="1609"/>
                </a:lnTo>
                <a:lnTo>
                  <a:pt x="1153301" y="22918"/>
                </a:lnTo>
                <a:lnTo>
                  <a:pt x="1168630" y="61521"/>
                </a:lnTo>
                <a:lnTo>
                  <a:pt x="1168717" y="324554"/>
                </a:lnTo>
                <a:lnTo>
                  <a:pt x="1167107" y="338982"/>
                </a:lnTo>
                <a:lnTo>
                  <a:pt x="1145792" y="374054"/>
                </a:lnTo>
                <a:lnTo>
                  <a:pt x="1107178" y="389379"/>
                </a:lnTo>
                <a:lnTo>
                  <a:pt x="64930" y="389466"/>
                </a:lnTo>
                <a:lnTo>
                  <a:pt x="50497" y="387857"/>
                </a:lnTo>
                <a:lnTo>
                  <a:pt x="15415" y="366548"/>
                </a:lnTo>
                <a:lnTo>
                  <a:pt x="87" y="327944"/>
                </a:lnTo>
                <a:lnTo>
                  <a:pt x="0" y="64912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77078" y="5784144"/>
            <a:ext cx="6363335" cy="252729"/>
          </a:xfrm>
          <a:custGeom>
            <a:avLst/>
            <a:gdLst/>
            <a:ahLst/>
            <a:cxnLst/>
            <a:rect l="l" t="t" r="r" b="b"/>
            <a:pathLst>
              <a:path w="6363334" h="252729">
                <a:moveTo>
                  <a:pt x="6362982" y="0"/>
                </a:moveTo>
                <a:lnTo>
                  <a:pt x="6361959" y="39680"/>
                </a:lnTo>
                <a:lnTo>
                  <a:pt x="6357086" y="89306"/>
                </a:lnTo>
                <a:lnTo>
                  <a:pt x="6346028" y="126912"/>
                </a:lnTo>
                <a:lnTo>
                  <a:pt x="3202976" y="129822"/>
                </a:lnTo>
                <a:lnTo>
                  <a:pt x="3199607" y="131406"/>
                </a:lnTo>
                <a:lnTo>
                  <a:pt x="3186040" y="179641"/>
                </a:lnTo>
                <a:lnTo>
                  <a:pt x="3181955" y="232185"/>
                </a:lnTo>
                <a:lnTo>
                  <a:pt x="3181508" y="252191"/>
                </a:lnTo>
                <a:lnTo>
                  <a:pt x="3181205" y="232738"/>
                </a:lnTo>
                <a:lnTo>
                  <a:pt x="3177157" y="180014"/>
                </a:lnTo>
                <a:lnTo>
                  <a:pt x="3166197" y="135301"/>
                </a:lnTo>
                <a:lnTo>
                  <a:pt x="21467" y="129822"/>
                </a:lnTo>
                <a:lnTo>
                  <a:pt x="18098" y="128238"/>
                </a:lnTo>
                <a:lnTo>
                  <a:pt x="4532" y="80002"/>
                </a:lnTo>
                <a:lnTo>
                  <a:pt x="447" y="27459"/>
                </a:lnTo>
                <a:lnTo>
                  <a:pt x="0" y="7452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554763" y="6043788"/>
            <a:ext cx="2207895" cy="389890"/>
          </a:xfrm>
          <a:custGeom>
            <a:avLst/>
            <a:gdLst/>
            <a:ahLst/>
            <a:cxnLst/>
            <a:rect l="l" t="t" r="r" b="b"/>
            <a:pathLst>
              <a:path w="2207895" h="389889">
                <a:moveTo>
                  <a:pt x="0" y="64913"/>
                </a:moveTo>
                <a:lnTo>
                  <a:pt x="13425" y="25380"/>
                </a:lnTo>
                <a:lnTo>
                  <a:pt x="47334" y="2411"/>
                </a:lnTo>
                <a:lnTo>
                  <a:pt x="2142646" y="0"/>
                </a:lnTo>
                <a:lnTo>
                  <a:pt x="2157078" y="1609"/>
                </a:lnTo>
                <a:lnTo>
                  <a:pt x="2192160" y="22918"/>
                </a:lnTo>
                <a:lnTo>
                  <a:pt x="2207490" y="61521"/>
                </a:lnTo>
                <a:lnTo>
                  <a:pt x="2207577" y="324553"/>
                </a:lnTo>
                <a:lnTo>
                  <a:pt x="2205967" y="338981"/>
                </a:lnTo>
                <a:lnTo>
                  <a:pt x="2184653" y="374053"/>
                </a:lnTo>
                <a:lnTo>
                  <a:pt x="2146039" y="389379"/>
                </a:lnTo>
                <a:lnTo>
                  <a:pt x="64930" y="389466"/>
                </a:lnTo>
                <a:lnTo>
                  <a:pt x="50498" y="387857"/>
                </a:lnTo>
                <a:lnTo>
                  <a:pt x="15416" y="366548"/>
                </a:lnTo>
                <a:lnTo>
                  <a:pt x="87" y="327945"/>
                </a:lnTo>
                <a:lnTo>
                  <a:pt x="0" y="64913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745686" y="5466901"/>
            <a:ext cx="5825490" cy="899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tabLst>
                <a:tab pos="1471295" algn="l"/>
                <a:tab pos="3375660" algn="l"/>
                <a:tab pos="4933950" algn="l"/>
              </a:tabLst>
            </a:pP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认识硬件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让硬件用起来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进行抽象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映射等等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1260"/>
              </a:spcBef>
            </a:pP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系统调用的背后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…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7472" y="2224327"/>
            <a:ext cx="666115" cy="674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Arial" panose="020B0604020202020204"/>
                <a:cs typeface="Arial" panose="020B0604020202020204"/>
              </a:rPr>
              <a:t>C</a:t>
            </a:r>
            <a:r>
              <a:rPr sz="2400" b="1" spc="-20" dirty="0">
                <a:latin typeface="Arial" panose="020B0604020202020204"/>
                <a:cs typeface="Arial" panose="020B0604020202020204"/>
              </a:rPr>
              <a:t>P</a:t>
            </a:r>
            <a:r>
              <a:rPr sz="2400" b="1" dirty="0">
                <a:latin typeface="Arial" panose="020B0604020202020204"/>
                <a:cs typeface="Arial" panose="020B0604020202020204"/>
              </a:rPr>
              <a:t>U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730"/>
              </a:lnSpc>
              <a:spcBef>
                <a:spcPts val="50"/>
              </a:spcBef>
            </a:pPr>
            <a:r>
              <a:rPr sz="230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管</a:t>
            </a:r>
            <a:r>
              <a:rPr sz="2300" b="1" spc="90" dirty="0">
                <a:latin typeface="宋体" panose="02010600030101010101" pitchFamily="2" charset="-122"/>
                <a:cs typeface="宋体" panose="02010600030101010101" pitchFamily="2" charset="-122"/>
              </a:rPr>
              <a:t>理</a:t>
            </a:r>
            <a:endParaRPr sz="23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7472" y="3397347"/>
            <a:ext cx="633730" cy="669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730"/>
              </a:lnSpc>
            </a:pPr>
            <a:r>
              <a:rPr sz="230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内</a:t>
            </a:r>
            <a:r>
              <a:rPr sz="2300" b="1" spc="90" dirty="0">
                <a:latin typeface="宋体" panose="02010600030101010101" pitchFamily="2" charset="-122"/>
                <a:cs typeface="宋体" panose="02010600030101010101" pitchFamily="2" charset="-122"/>
              </a:rPr>
              <a:t>存</a:t>
            </a:r>
            <a:r>
              <a:rPr sz="2300" b="1" spc="4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30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管</a:t>
            </a:r>
            <a:r>
              <a:rPr sz="2300" b="1" spc="90" dirty="0">
                <a:latin typeface="宋体" panose="02010600030101010101" pitchFamily="2" charset="-122"/>
                <a:cs typeface="宋体" panose="02010600030101010101" pitchFamily="2" charset="-122"/>
              </a:rPr>
              <a:t>理</a:t>
            </a:r>
            <a:endParaRPr sz="23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1530" y="4500536"/>
            <a:ext cx="633730" cy="669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730"/>
              </a:lnSpc>
            </a:pPr>
            <a:r>
              <a:rPr sz="230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文</a:t>
            </a:r>
            <a:r>
              <a:rPr sz="2300" b="1" spc="90" dirty="0">
                <a:latin typeface="宋体" panose="02010600030101010101" pitchFamily="2" charset="-122"/>
                <a:cs typeface="宋体" panose="02010600030101010101" pitchFamily="2" charset="-122"/>
              </a:rPr>
              <a:t>件</a:t>
            </a:r>
            <a:r>
              <a:rPr sz="2300" b="1" spc="4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30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管</a:t>
            </a:r>
            <a:r>
              <a:rPr sz="2300" b="1" spc="90" dirty="0">
                <a:latin typeface="宋体" panose="02010600030101010101" pitchFamily="2" charset="-122"/>
                <a:cs typeface="宋体" panose="02010600030101010101" pitchFamily="2" charset="-122"/>
              </a:rPr>
              <a:t>理</a:t>
            </a:r>
            <a:endParaRPr sz="23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sp>
        <p:nvSpPr>
          <p:cNvPr id="22" name="object 2"/>
          <p:cNvSpPr/>
          <p:nvPr>
            <p:custDataLst>
              <p:tags r:id="rId2"/>
            </p:custDataLst>
          </p:nvPr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8385" y="3599008"/>
            <a:ext cx="5867400" cy="878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470"/>
              </a:lnSpc>
            </a:pPr>
            <a:r>
              <a:rPr sz="2950" b="1" spc="100" dirty="0">
                <a:latin typeface="黑体" panose="02010609060101010101" charset="-122"/>
                <a:cs typeface="黑体" panose="02010609060101010101" charset="-122"/>
              </a:rPr>
              <a:t>迫不及待的要看看操作系统的核心 </a:t>
            </a:r>
            <a:r>
              <a:rPr sz="2950" b="1" spc="100" dirty="0">
                <a:latin typeface="黑体" panose="02010609060101010101" charset="-122"/>
                <a:cs typeface="黑体" panose="02010609060101010101" charset="-122"/>
              </a:rPr>
              <a:t>图像了：</a:t>
            </a:r>
            <a:r>
              <a:rPr sz="2950" b="1" spc="1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多进程切换、文件操作</a:t>
            </a:r>
            <a:r>
              <a:rPr sz="3050" b="1" spc="1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…</a:t>
            </a:r>
            <a:endParaRPr sz="305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264550" y="1094315"/>
            <a:ext cx="1779270" cy="2207260"/>
          </a:xfrm>
          <a:custGeom>
            <a:avLst/>
            <a:gdLst/>
            <a:ahLst/>
            <a:cxnLst/>
            <a:rect l="l" t="t" r="r" b="b"/>
            <a:pathLst>
              <a:path w="1779270" h="2207260">
                <a:moveTo>
                  <a:pt x="0" y="0"/>
                </a:moveTo>
                <a:lnTo>
                  <a:pt x="0" y="2206978"/>
                </a:lnTo>
                <a:lnTo>
                  <a:pt x="1779149" y="2206978"/>
                </a:lnTo>
                <a:lnTo>
                  <a:pt x="1779149" y="0"/>
                </a:lnTo>
                <a:lnTo>
                  <a:pt x="0" y="0"/>
                </a:lnTo>
                <a:close/>
              </a:path>
            </a:pathLst>
          </a:custGeom>
          <a:solidFill>
            <a:srgbClr val="33A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54623" y="1144384"/>
            <a:ext cx="1789075" cy="209533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</a:t>
            </a:r>
            <a:endParaRPr spc="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UNIT_TABLE_BEAUTIFY" val="smartTable{57a2655c-8c91-4c9b-b072-39619a8f9de4}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PP_MARK_KEY" val="e08f79c3-7305-4162-9e60-b5661f0645cb"/>
  <p:tag name="COMMONDATA" val="eyJoZGlkIjoiYWNhNTcxMTM1NDk1YWM4ODVlM2VmZjA2NGExNzU1YjIifQ=="/>
  <p:tag name="commondata" val="eyJoZGlkIjoiMmY5YTJiMTFlYzU2N2QxYWZmODJmYjM5ZDA3ZDExYjQ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S-Lizhiju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suda">
  <a:themeElements>
    <a:clrScheme name="suda 1">
      <a:dk1>
        <a:srgbClr val="0033CC"/>
      </a:dk1>
      <a:lt1>
        <a:srgbClr val="FFFFFF"/>
      </a:lt1>
      <a:dk2>
        <a:srgbClr val="007572"/>
      </a:dk2>
      <a:lt2>
        <a:srgbClr val="C0C0C0"/>
      </a:lt2>
      <a:accent1>
        <a:srgbClr val="CCECFF"/>
      </a:accent1>
      <a:accent2>
        <a:srgbClr val="3399FF"/>
      </a:accent2>
      <a:accent3>
        <a:srgbClr val="FFFFFF"/>
      </a:accent3>
      <a:accent4>
        <a:srgbClr val="002AAE"/>
      </a:accent4>
      <a:accent5>
        <a:srgbClr val="E2F4FF"/>
      </a:accent5>
      <a:accent6>
        <a:srgbClr val="2D8AE7"/>
      </a:accent6>
      <a:hlink>
        <a:srgbClr val="CC0066"/>
      </a:hlink>
      <a:folHlink>
        <a:srgbClr val="7D7DA9"/>
      </a:folHlink>
    </a:clrScheme>
    <a:fontScheme name="suda">
      <a:majorFont>
        <a:latin typeface="Arial"/>
        <a:ea typeface="华文新魏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uda 1">
        <a:dk1>
          <a:srgbClr val="0033CC"/>
        </a:dk1>
        <a:lt1>
          <a:srgbClr val="FFFFFF"/>
        </a:lt1>
        <a:dk2>
          <a:srgbClr val="007572"/>
        </a:dk2>
        <a:lt2>
          <a:srgbClr val="C0C0C0"/>
        </a:lt2>
        <a:accent1>
          <a:srgbClr val="CCECFF"/>
        </a:accent1>
        <a:accent2>
          <a:srgbClr val="3399FF"/>
        </a:accent2>
        <a:accent3>
          <a:srgbClr val="FFFFFF"/>
        </a:accent3>
        <a:accent4>
          <a:srgbClr val="002AAE"/>
        </a:accent4>
        <a:accent5>
          <a:srgbClr val="E2F4FF"/>
        </a:accent5>
        <a:accent6>
          <a:srgbClr val="2D8AE7"/>
        </a:accent6>
        <a:hlink>
          <a:srgbClr val="CC0066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2">
        <a:dk1>
          <a:srgbClr val="007A77"/>
        </a:dk1>
        <a:lt1>
          <a:srgbClr val="EFF6EE"/>
        </a:lt1>
        <a:dk2>
          <a:srgbClr val="0066CC"/>
        </a:dk2>
        <a:lt2>
          <a:srgbClr val="C0C0C0"/>
        </a:lt2>
        <a:accent1>
          <a:srgbClr val="E7EEE6"/>
        </a:accent1>
        <a:accent2>
          <a:srgbClr val="FF9933"/>
        </a:accent2>
        <a:accent3>
          <a:srgbClr val="F6FAF5"/>
        </a:accent3>
        <a:accent4>
          <a:srgbClr val="006765"/>
        </a:accent4>
        <a:accent5>
          <a:srgbClr val="F1F5F0"/>
        </a:accent5>
        <a:accent6>
          <a:srgbClr val="E78A2D"/>
        </a:accent6>
        <a:hlink>
          <a:srgbClr val="636395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3">
        <a:dk1>
          <a:srgbClr val="000000"/>
        </a:dk1>
        <a:lt1>
          <a:srgbClr val="CCFFCC"/>
        </a:lt1>
        <a:dk2>
          <a:srgbClr val="E88A00"/>
        </a:dk2>
        <a:lt2>
          <a:srgbClr val="C0C0C0"/>
        </a:lt2>
        <a:accent1>
          <a:srgbClr val="CCECFF"/>
        </a:accent1>
        <a:accent2>
          <a:srgbClr val="336600"/>
        </a:accent2>
        <a:accent3>
          <a:srgbClr val="E2FFE2"/>
        </a:accent3>
        <a:accent4>
          <a:srgbClr val="000000"/>
        </a:accent4>
        <a:accent5>
          <a:srgbClr val="E2F4FF"/>
        </a:accent5>
        <a:accent6>
          <a:srgbClr val="2D5C00"/>
        </a:accent6>
        <a:hlink>
          <a:srgbClr val="3333CC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4">
        <a:dk1>
          <a:srgbClr val="000000"/>
        </a:dk1>
        <a:lt1>
          <a:srgbClr val="FFFFCC"/>
        </a:lt1>
        <a:dk2>
          <a:srgbClr val="CC3300"/>
        </a:dk2>
        <a:lt2>
          <a:srgbClr val="C0C0C0"/>
        </a:lt2>
        <a:accent1>
          <a:srgbClr val="FFFFCC"/>
        </a:accent1>
        <a:accent2>
          <a:srgbClr val="339933"/>
        </a:accent2>
        <a:accent3>
          <a:srgbClr val="FFFFE2"/>
        </a:accent3>
        <a:accent4>
          <a:srgbClr val="000000"/>
        </a:accent4>
        <a:accent5>
          <a:srgbClr val="FFFFE2"/>
        </a:accent5>
        <a:accent6>
          <a:srgbClr val="2D8A2D"/>
        </a:accent6>
        <a:hlink>
          <a:srgbClr val="0066FF"/>
        </a:hlink>
        <a:folHlink>
          <a:srgbClr val="6F6F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5">
        <a:dk1>
          <a:srgbClr val="636395"/>
        </a:dk1>
        <a:lt1>
          <a:srgbClr val="FFE2C5"/>
        </a:lt1>
        <a:dk2>
          <a:srgbClr val="000000"/>
        </a:dk2>
        <a:lt2>
          <a:srgbClr val="C0C0C0"/>
        </a:lt2>
        <a:accent1>
          <a:srgbClr val="FFE1E1"/>
        </a:accent1>
        <a:accent2>
          <a:srgbClr val="FF9933"/>
        </a:accent2>
        <a:accent3>
          <a:srgbClr val="FFEEDF"/>
        </a:accent3>
        <a:accent4>
          <a:srgbClr val="53537E"/>
        </a:accent4>
        <a:accent5>
          <a:srgbClr val="FFEEEE"/>
        </a:accent5>
        <a:accent6>
          <a:srgbClr val="E78A2D"/>
        </a:accent6>
        <a:hlink>
          <a:srgbClr val="008080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6">
        <a:dk1>
          <a:srgbClr val="626292"/>
        </a:dk1>
        <a:lt1>
          <a:srgbClr val="CCECFF"/>
        </a:lt1>
        <a:dk2>
          <a:srgbClr val="3333CC"/>
        </a:dk2>
        <a:lt2>
          <a:srgbClr val="C0C0C0"/>
        </a:lt2>
        <a:accent1>
          <a:srgbClr val="D9F1FF"/>
        </a:accent1>
        <a:accent2>
          <a:srgbClr val="FF9900"/>
        </a:accent2>
        <a:accent3>
          <a:srgbClr val="E2F4FF"/>
        </a:accent3>
        <a:accent4>
          <a:srgbClr val="53537C"/>
        </a:accent4>
        <a:accent5>
          <a:srgbClr val="E9F7FF"/>
        </a:accent5>
        <a:accent6>
          <a:srgbClr val="E78A00"/>
        </a:accent6>
        <a:hlink>
          <a:srgbClr val="CC0066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7">
        <a:dk1>
          <a:srgbClr val="0066CC"/>
        </a:dk1>
        <a:lt1>
          <a:srgbClr val="FFE1E1"/>
        </a:lt1>
        <a:dk2>
          <a:srgbClr val="006600"/>
        </a:dk2>
        <a:lt2>
          <a:srgbClr val="C0C0C0"/>
        </a:lt2>
        <a:accent1>
          <a:srgbClr val="FFFFCC"/>
        </a:accent1>
        <a:accent2>
          <a:srgbClr val="009999"/>
        </a:accent2>
        <a:accent3>
          <a:srgbClr val="FFEEEE"/>
        </a:accent3>
        <a:accent4>
          <a:srgbClr val="0056AE"/>
        </a:accent4>
        <a:accent5>
          <a:srgbClr val="FFFFE2"/>
        </a:accent5>
        <a:accent6>
          <a:srgbClr val="008A8A"/>
        </a:accent6>
        <a:hlink>
          <a:srgbClr val="EC0000"/>
        </a:hlink>
        <a:folHlink>
          <a:srgbClr val="00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8">
        <a:dk1>
          <a:srgbClr val="292929"/>
        </a:dk1>
        <a:lt1>
          <a:srgbClr val="DDDDDD"/>
        </a:lt1>
        <a:dk2>
          <a:srgbClr val="0066CC"/>
        </a:dk2>
        <a:lt2>
          <a:srgbClr val="B2B2B2"/>
        </a:lt2>
        <a:accent1>
          <a:srgbClr val="CACADC"/>
        </a:accent1>
        <a:accent2>
          <a:srgbClr val="FFCC00"/>
        </a:accent2>
        <a:accent3>
          <a:srgbClr val="EBEBEB"/>
        </a:accent3>
        <a:accent4>
          <a:srgbClr val="212121"/>
        </a:accent4>
        <a:accent5>
          <a:srgbClr val="E1E1EB"/>
        </a:accent5>
        <a:accent6>
          <a:srgbClr val="E7B900"/>
        </a:accent6>
        <a:hlink>
          <a:srgbClr val="008080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20102</Words>
  <Application>WPS 演示</Application>
  <PresentationFormat>On-screen Show (4:3)</PresentationFormat>
  <Paragraphs>2247</Paragraphs>
  <Slides>92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92</vt:i4>
      </vt:variant>
    </vt:vector>
  </HeadingPairs>
  <TitlesOfParts>
    <vt:vector size="127" baseType="lpstr">
      <vt:lpstr>Arial</vt:lpstr>
      <vt:lpstr>宋体</vt:lpstr>
      <vt:lpstr>Wingdings</vt:lpstr>
      <vt:lpstr>Times New Roman</vt:lpstr>
      <vt:lpstr>Arial</vt:lpstr>
      <vt:lpstr>华文隶书</vt:lpstr>
      <vt:lpstr>华文琥珀</vt:lpstr>
      <vt:lpstr>Arial Black</vt:lpstr>
      <vt:lpstr>黑体</vt:lpstr>
      <vt:lpstr>Wingdings</vt:lpstr>
      <vt:lpstr>Lucida Sans</vt:lpstr>
      <vt:lpstr>Symbol</vt:lpstr>
      <vt:lpstr>Arial Rounded MT Bold</vt:lpstr>
      <vt:lpstr>Calibri</vt:lpstr>
      <vt:lpstr>微软雅黑</vt:lpstr>
      <vt:lpstr>Arial Unicode MS</vt:lpstr>
      <vt:lpstr>Tahoma</vt:lpstr>
      <vt:lpstr>Courier New</vt:lpstr>
      <vt:lpstr>Webdings</vt:lpstr>
      <vt:lpstr>Times New Roman</vt:lpstr>
      <vt:lpstr>Symbol</vt:lpstr>
      <vt:lpstr>MS Mincho</vt:lpstr>
      <vt:lpstr>Yu Gothic</vt:lpstr>
      <vt:lpstr>Comic Sans MS</vt:lpstr>
      <vt:lpstr>Calibri</vt:lpstr>
      <vt:lpstr>MS PGothic</vt:lpstr>
      <vt:lpstr>Helvetica</vt:lpstr>
      <vt:lpstr>华文新魏</vt:lpstr>
      <vt:lpstr>Office Theme</vt:lpstr>
      <vt:lpstr>1_OS-Lizhijun</vt:lpstr>
      <vt:lpstr>1_Office Theme</vt:lpstr>
      <vt:lpstr>2_Office Theme</vt:lpstr>
      <vt:lpstr>suda</vt:lpstr>
      <vt:lpstr>Excel.Chart.8</vt:lpstr>
      <vt:lpstr>MS_ClipArt_Gallery.2</vt:lpstr>
      <vt:lpstr>PowerPoint 演示文稿</vt:lpstr>
      <vt:lpstr>先给大家看副图</vt:lpstr>
      <vt:lpstr>是计算机</vt:lpstr>
      <vt:lpstr>是计算机，更确切的说是计算机硬件</vt:lpstr>
      <vt:lpstr>什么是操作系统?</vt:lpstr>
      <vt:lpstr>操作系统课，我们要学什么?</vt:lpstr>
      <vt:lpstr>学习操作系统可以有很多层次</vt:lpstr>
      <vt:lpstr>我们的课程目标</vt:lpstr>
      <vt:lpstr>别的学生在干什么?</vt:lpstr>
      <vt:lpstr>动手实践一个真实的操作系统</vt:lpstr>
      <vt:lpstr>PowerPoint 演示文稿</vt:lpstr>
      <vt:lpstr>这神秘的黑色背后发生着 什么?…</vt:lpstr>
      <vt:lpstr>从白纸到图灵机</vt:lpstr>
      <vt:lpstr>从图灵机到通用图灵机</vt:lpstr>
      <vt:lpstr>从通用图灵机到计算机</vt:lpstr>
      <vt:lpstr>打开电源，计算机执行的第 一句指令什么?</vt:lpstr>
      <vt:lpstr>可以打开电源了…</vt:lpstr>
      <vt:lpstr>0x7c00处存放的代码</vt:lpstr>
      <vt:lpstr>引导扇区代码:	bootsect.s</vt:lpstr>
      <vt:lpstr>jmpi go, INITSEG</vt:lpstr>
      <vt:lpstr>读入setup模块后: ok_load_setup</vt:lpstr>
      <vt:lpstr>read_it //读入system模块</vt:lpstr>
      <vt:lpstr>PowerPoint 演示文稿</vt:lpstr>
      <vt:lpstr>setup模块，即setup.s</vt:lpstr>
      <vt:lpstr>进入保护模式</vt:lpstr>
      <vt:lpstr>保护模式下的地址翻译和中断处理</vt:lpstr>
      <vt:lpstr>将setup移到0地址处...</vt:lpstr>
      <vt:lpstr>jmpi 0,8	//gdt中的8</vt:lpstr>
      <vt:lpstr>跳到system模块执行...</vt:lpstr>
      <vt:lpstr>head.s //一段在保护模式下运行的代码</vt:lpstr>
      <vt:lpstr>关于汇编…head.s的汇编和前面不一样?</vt:lpstr>
      <vt:lpstr>after_page_tables //设置了页表之后</vt:lpstr>
      <vt:lpstr>进入main函数</vt:lpstr>
      <vt:lpstr>看一看mem_init…</vt:lpstr>
      <vt:lpstr>系统启动总结</vt:lpstr>
      <vt:lpstr>PowerPoint 演示文稿</vt:lpstr>
      <vt:lpstr>接口(Interface)</vt:lpstr>
      <vt:lpstr>什么是操作系统接口?</vt:lpstr>
      <vt:lpstr>会学习从会问问题开始…</vt:lpstr>
      <vt:lpstr>命令行是怎么回事?</vt:lpstr>
      <vt:lpstr>图形按钮又是怎么回事?</vt:lpstr>
      <vt:lpstr>总结其中最重要的概念</vt:lpstr>
      <vt:lpstr>学习转换—提供哪些系统调用?</vt:lpstr>
      <vt:lpstr>PowerPoint 演示文稿</vt:lpstr>
      <vt:lpstr>系统调用的直观实现 问题+直观想法…</vt:lpstr>
      <vt:lpstr>内核(用户)态，内核(用户)段</vt:lpstr>
      <vt:lpstr>CPL、DPL、RPL的关系</vt:lpstr>
      <vt:lpstr>CPL、DPL、RPL之间的联系</vt:lpstr>
      <vt:lpstr>硬件提供了“主动进入内核的方法”</vt:lpstr>
      <vt:lpstr>系统调用的实现</vt:lpstr>
      <vt:lpstr>Linux系统调用的实现细节!</vt:lpstr>
      <vt:lpstr>将关于write的故事完整的讲完…</vt:lpstr>
      <vt:lpstr>int 0x80中断的处理</vt:lpstr>
      <vt:lpstr>中断处理程序: system_call</vt:lpstr>
      <vt:lpstr>_sys_call_table</vt:lpstr>
      <vt:lpstr>PowerPoint 演示文稿</vt:lpstr>
      <vt:lpstr>系统接口总结</vt:lpstr>
      <vt:lpstr>PowerPoint 演示文稿</vt:lpstr>
      <vt:lpstr>培根：读史使人明智	操作系统的简史</vt:lpstr>
      <vt:lpstr>从IBSYS到OS/360(1965-1980)</vt:lpstr>
      <vt:lpstr>从OS/360到MULTICS(1965-1980)</vt:lpstr>
      <vt:lpstr>从MULTICS到UNIX(1980-1990)</vt:lpstr>
      <vt:lpstr>从UNIX到Linux(1990-2000)</vt:lpstr>
      <vt:lpstr>IBSYS--&gt;OS/360--&gt;MULTICS--&gt;Unix--&gt;Linux</vt:lpstr>
      <vt:lpstr>历史是多线条的：PC与DOS</vt:lpstr>
      <vt:lpstr>从QDOS到MS-DOS</vt:lpstr>
      <vt:lpstr>从MS-DOS到Windows</vt:lpstr>
      <vt:lpstr>还要说一说Mac OS与iOS</vt:lpstr>
      <vt:lpstr> 	Unix--&gt;System--&gt;Mac OS--&gt;iOS </vt:lpstr>
      <vt:lpstr>  第二章 操作系统结构（二）  操作系统结构</vt:lpstr>
      <vt:lpstr>内容</vt:lpstr>
      <vt:lpstr>通用操作系统是个庞然大物</vt:lpstr>
      <vt:lpstr>简单结构</vt:lpstr>
      <vt:lpstr>例子：MS-DOS</vt:lpstr>
      <vt:lpstr>例子：早期UNIX</vt:lpstr>
      <vt:lpstr>操作系统规模</vt:lpstr>
      <vt:lpstr>层次结构</vt:lpstr>
      <vt:lpstr>层次结构</vt:lpstr>
      <vt:lpstr>iOS</vt:lpstr>
      <vt:lpstr>微内核 </vt:lpstr>
      <vt:lpstr>微内核系统</vt:lpstr>
      <vt:lpstr> Windows 2000 微内核结构</vt:lpstr>
      <vt:lpstr>模块结构</vt:lpstr>
      <vt:lpstr>Solaris 模块</vt:lpstr>
      <vt:lpstr>混合结构--Mac OS X</vt:lpstr>
      <vt:lpstr>PowerPoint 演示文稿</vt:lpstr>
      <vt:lpstr>计算机硬件、操作系统、启动、接口…</vt:lpstr>
      <vt:lpstr>计算机硬件、操作系统、启动、接口…</vt:lpstr>
      <vt:lpstr>可以知新了…</vt:lpstr>
      <vt:lpstr>我们要学什么?	再具体一些…</vt:lpstr>
      <vt:lpstr>我们要学什么?	再再具体一些…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L1 什么是操作系统</dc:title>
  <dc:creator>李治军</dc:creator>
  <cp:lastModifiedBy>旁白</cp:lastModifiedBy>
  <cp:revision>38</cp:revision>
  <dcterms:created xsi:type="dcterms:W3CDTF">2023-08-27T06:59:00Z</dcterms:created>
  <dcterms:modified xsi:type="dcterms:W3CDTF">2025-09-07T07:25:33Z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2018-01-25T00:00:00Z</vt:filetime>
  </property>
  <property fmtid="{D5CDD505-2E9C-101B-9397-08002B2CF9AE}" pid="3" name="Creator">
    <vt:lpwstr>PowerPoint</vt:lpwstr>
  </property>
  <property fmtid="{D5CDD505-2E9C-101B-9397-08002B2CF9AE}" pid="4" name="LastSaved">
    <vt:filetime>2023-08-29T00:00:00Z</vt:filetime>
  </property>
  <property fmtid="{D5CDD505-2E9C-101B-9397-08002B2CF9AE}" pid="5" name="ICV">
    <vt:lpwstr>6B9F0640F7A943B0A0B7D3DC1BD708CF_12</vt:lpwstr>
  </property>
  <property fmtid="{D5CDD505-2E9C-101B-9397-08002B2CF9AE}" pid="6" name="KSOProductBuildVer">
    <vt:lpwstr>2052-12.1.0.16120</vt:lpwstr>
  </property>
</Properties>
</file>