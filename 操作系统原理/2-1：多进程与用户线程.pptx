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sldIdLst>
    <p:sldId id="265" r:id="rId4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274" r:id="rId14"/>
    <p:sldId id="275" r:id="rId15"/>
    <p:sldId id="276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289" r:id="rId31"/>
    <p:sldId id="290" r:id="rId32"/>
    <p:sldId id="324" r:id="rId33"/>
    <p:sldId id="325" r:id="rId34"/>
    <p:sldId id="326" r:id="rId35"/>
    <p:sldId id="327" r:id="rId36"/>
    <p:sldId id="329" r:id="rId37"/>
    <p:sldId id="295" r:id="rId38"/>
    <p:sldId id="296" r:id="rId39"/>
    <p:sldId id="297" r:id="rId40"/>
    <p:sldId id="298" r:id="rId41"/>
    <p:sldId id="299" r:id="rId42"/>
    <p:sldId id="300" r:id="rId43"/>
    <p:sldId id="330" r:id="rId44"/>
    <p:sldId id="301" r:id="rId45"/>
  </p:sldIdLst>
  <p:sldSz cx="10693400" cy="7556500"/>
  <p:notesSz cx="10693400" cy="7556500"/>
  <p:custDataLst>
    <p:tags r:id="rId5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pone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7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0" Type="http://schemas.openxmlformats.org/officeDocument/2006/relationships/tags" Target="tags/tag20.xml"/><Relationship Id="rId5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119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031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340" y="3636566"/>
            <a:ext cx="8554720" cy="29753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119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标题 31745"/>
          <p:cNvSpPr>
            <a:spLocks noGrp="1"/>
          </p:cNvSpPr>
          <p:nvPr>
            <p:ph type="ctrTitle"/>
          </p:nvPr>
        </p:nvSpPr>
        <p:spPr>
          <a:xfrm>
            <a:off x="1069340" y="2347413"/>
            <a:ext cx="9089390" cy="1619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>
              <a:buClrTx/>
              <a:buSzTx/>
              <a:buFontTx/>
              <a:defRPr sz="595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1747" name="副标题 31746"/>
          <p:cNvSpPr>
            <a:spLocks noGrp="1"/>
          </p:cNvSpPr>
          <p:nvPr>
            <p:ph type="subTitle" idx="1"/>
          </p:nvPr>
        </p:nvSpPr>
        <p:spPr>
          <a:xfrm>
            <a:off x="5881370" y="5793317"/>
            <a:ext cx="4188248" cy="73990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rgbClr val="993300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1pPr>
            <a:lvl2pPr marL="503555" lvl="1" indent="0" algn="ctr">
              <a:buClr>
                <a:srgbClr val="CC6600"/>
              </a:buClr>
              <a:buSzPct val="80000"/>
              <a:buFont typeface="Wingdings" panose="05000000000000000000" pitchFamily="2" charset="2"/>
              <a:buNone/>
              <a:defRPr>
                <a:solidFill>
                  <a:srgbClr val="993300"/>
                </a:solidFill>
              </a:defRPr>
            </a:lvl2pPr>
            <a:lvl3pPr marL="1007745" lvl="2" indent="0" algn="ctr">
              <a:buClr>
                <a:srgbClr val="009900"/>
              </a:buClr>
              <a:buSzPct val="75000"/>
              <a:buFont typeface="Webdings" panose="05030102010509060703" pitchFamily="18" charset="2"/>
              <a:buNone/>
              <a:defRPr>
                <a:solidFill>
                  <a:srgbClr val="993300"/>
                </a:solidFill>
              </a:defRPr>
            </a:lvl3pPr>
            <a:lvl4pPr marL="1511300" lvl="3" indent="0" algn="ctr">
              <a:buClr>
                <a:srgbClr val="FF6600"/>
              </a:buClr>
              <a:buSzPct val="75000"/>
              <a:buFont typeface="Times New Roman" panose="02020603050405020304" pitchFamily="18" charset="0"/>
              <a:buNone/>
              <a:defRPr>
                <a:solidFill>
                  <a:srgbClr val="993300"/>
                </a:solidFill>
              </a:defRPr>
            </a:lvl4pPr>
            <a:lvl5pPr marL="2014855" lvl="4" indent="0" algn="ctr">
              <a:buClr>
                <a:srgbClr val="FF0066"/>
              </a:buClr>
              <a:buSzPct val="75000"/>
              <a:buFont typeface="Times New Roman" panose="02020603050405020304" pitchFamily="18" charset="0"/>
              <a:buNone/>
              <a:defRPr>
                <a:solidFill>
                  <a:srgbClr val="993300"/>
                </a:solidFill>
              </a:defRPr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31748" name="日期占位符 31747"/>
          <p:cNvSpPr>
            <a:spLocks noGrp="1"/>
          </p:cNvSpPr>
          <p:nvPr>
            <p:ph type="dt" sz="half" idx="2"/>
          </p:nvPr>
        </p:nvSpPr>
        <p:spPr>
          <a:xfrm>
            <a:off x="534670" y="6881313"/>
            <a:ext cx="2495127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545">
                <a:solidFill>
                  <a:srgbClr val="009900"/>
                </a:solidFill>
              </a:defRPr>
            </a:lvl1pPr>
          </a:lstStyle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9" name="页脚占位符 31748"/>
          <p:cNvSpPr>
            <a:spLocks noGrp="1"/>
          </p:cNvSpPr>
          <p:nvPr>
            <p:ph type="ftr" sz="quarter" idx="3"/>
          </p:nvPr>
        </p:nvSpPr>
        <p:spPr>
          <a:xfrm>
            <a:off x="3653578" y="6881313"/>
            <a:ext cx="3386243" cy="52475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545">
                <a:solidFill>
                  <a:srgbClr val="009900"/>
                </a:solidFill>
              </a:defRPr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5" name="文本框 31754"/>
          <p:cNvSpPr txBox="1"/>
          <p:nvPr userDrawn="1"/>
        </p:nvSpPr>
        <p:spPr>
          <a:xfrm>
            <a:off x="445558" y="671689"/>
            <a:ext cx="5524923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哈工大计算机科学与技术学院</a:t>
            </a:r>
            <a:endParaRPr lang="zh-CN" altLang="en-US" sz="2645" b="1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31756" name="文本框 31755"/>
          <p:cNvSpPr txBox="1"/>
          <p:nvPr userDrawn="1"/>
        </p:nvSpPr>
        <p:spPr>
          <a:xfrm>
            <a:off x="6707510" y="671689"/>
            <a:ext cx="3718555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r">
              <a:spcBef>
                <a:spcPct val="50000"/>
              </a:spcBef>
            </a:pPr>
            <a:r>
              <a:rPr lang="zh-CN" altLang="en-US" sz="2645" b="1" dirty="0">
                <a:solidFill>
                  <a:srgbClr val="0000FF"/>
                </a:solidFill>
                <a:latin typeface="Arial" panose="020B0604020202020204" pitchFamily="34" charset="0"/>
                <a:ea typeface="华文隶书" panose="02010800040101010101" charset="-122"/>
              </a:rPr>
              <a:t>软件基础教研室</a:t>
            </a:r>
            <a:endParaRPr lang="zh-CN" altLang="en-US" sz="2645" b="1" dirty="0">
              <a:solidFill>
                <a:srgbClr val="0000FF"/>
              </a:solidFill>
              <a:latin typeface="Arial" panose="020B0604020202020204" pitchFamily="34" charset="0"/>
              <a:ea typeface="华文隶书" panose="02010800040101010101" charset="-122"/>
            </a:endParaRPr>
          </a:p>
        </p:txBody>
      </p:sp>
      <p:sp>
        <p:nvSpPr>
          <p:cNvPr id="31757" name="直接连接符 31756"/>
          <p:cNvSpPr/>
          <p:nvPr userDrawn="1"/>
        </p:nvSpPr>
        <p:spPr>
          <a:xfrm flipV="1">
            <a:off x="267335" y="1175456"/>
            <a:ext cx="267335" cy="335844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8" name="直接连接符 31757"/>
          <p:cNvSpPr/>
          <p:nvPr userDrawn="1"/>
        </p:nvSpPr>
        <p:spPr>
          <a:xfrm>
            <a:off x="534670" y="1175456"/>
            <a:ext cx="9802283" cy="0"/>
          </a:xfrm>
          <a:prstGeom prst="line">
            <a:avLst/>
          </a:prstGeom>
          <a:ln w="76200" cap="flat" cmpd="tri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8"/>
            <a:ext cx="9223058" cy="165298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34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113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912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6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477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2260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6606" y="1397603"/>
            <a:ext cx="4539311" cy="49869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41196" y="1397603"/>
            <a:ext cx="4539311" cy="49869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0900" y="1959575"/>
            <a:ext cx="4274531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0900" y="2936853"/>
            <a:ext cx="4274531" cy="38832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7857" y="1959575"/>
            <a:ext cx="4295582" cy="907829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5650" indent="0">
              <a:buNone/>
              <a:defRPr sz="1655"/>
            </a:lvl3pPr>
            <a:lvl4pPr marL="1133475" indent="0">
              <a:buNone/>
              <a:defRPr sz="1490"/>
            </a:lvl4pPr>
            <a:lvl5pPr marL="1511300" indent="0">
              <a:buNone/>
              <a:defRPr sz="1490"/>
            </a:lvl5pPr>
            <a:lvl6pPr marL="1889125" indent="0">
              <a:buNone/>
              <a:defRPr sz="1490"/>
            </a:lvl6pPr>
            <a:lvl7pPr marL="2266950" indent="0">
              <a:buNone/>
              <a:defRPr sz="1490"/>
            </a:lvl7pPr>
            <a:lvl8pPr marL="2644775" indent="0">
              <a:buNone/>
              <a:defRPr sz="1490"/>
            </a:lvl8pPr>
            <a:lvl9pPr marL="3022600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7857" y="2936853"/>
            <a:ext cx="4295582" cy="38832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320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3475" indent="0">
              <a:buNone/>
              <a:defRPr sz="825"/>
            </a:lvl4pPr>
            <a:lvl5pPr marL="1511300" indent="0">
              <a:buNone/>
              <a:defRPr sz="825"/>
            </a:lvl5pPr>
            <a:lvl6pPr marL="1889125" indent="0">
              <a:buNone/>
              <a:defRPr sz="825"/>
            </a:lvl6pPr>
            <a:lvl7pPr marL="2266950" indent="0">
              <a:buNone/>
              <a:defRPr sz="825"/>
            </a:lvl7pPr>
            <a:lvl8pPr marL="2644775" indent="0">
              <a:buNone/>
              <a:defRPr sz="825"/>
            </a:lvl8pPr>
            <a:lvl9pPr marL="3022600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653358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503768"/>
            <a:ext cx="5413534" cy="5954242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5650" indent="0">
              <a:buNone/>
              <a:defRPr sz="1985"/>
            </a:lvl3pPr>
            <a:lvl4pPr marL="1133475" indent="0">
              <a:buNone/>
              <a:defRPr sz="1655"/>
            </a:lvl4pPr>
            <a:lvl5pPr marL="1511300" indent="0">
              <a:buNone/>
              <a:defRPr sz="1655"/>
            </a:lvl5pPr>
            <a:lvl6pPr marL="1889125" indent="0">
              <a:buNone/>
              <a:defRPr sz="1655"/>
            </a:lvl6pPr>
            <a:lvl7pPr marL="2266950" indent="0">
              <a:buNone/>
              <a:defRPr sz="1655"/>
            </a:lvl7pPr>
            <a:lvl8pPr marL="2644775" indent="0">
              <a:buNone/>
              <a:defRPr sz="1655"/>
            </a:lvl8pPr>
            <a:lvl9pPr marL="3022600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653358" cy="4199805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5650" indent="0">
              <a:buNone/>
              <a:defRPr sz="1320"/>
            </a:lvl3pPr>
            <a:lvl4pPr marL="1133475" indent="0">
              <a:buNone/>
              <a:defRPr sz="1155"/>
            </a:lvl4pPr>
            <a:lvl5pPr marL="1511300" indent="0">
              <a:buNone/>
              <a:defRPr sz="1155"/>
            </a:lvl5pPr>
            <a:lvl6pPr marL="1889125" indent="0">
              <a:buNone/>
              <a:defRPr sz="1155"/>
            </a:lvl6pPr>
            <a:lvl7pPr marL="2266950" indent="0">
              <a:buNone/>
              <a:defRPr sz="1155"/>
            </a:lvl7pPr>
            <a:lvl8pPr marL="2644775" indent="0">
              <a:buNone/>
              <a:defRPr sz="1155"/>
            </a:lvl8pPr>
            <a:lvl9pPr marL="3022600" indent="0">
              <a:buNone/>
              <a:defRPr sz="11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96770" y="335844"/>
            <a:ext cx="2383737" cy="60486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5558" y="335844"/>
            <a:ext cx="7013024" cy="60486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35171" y="2011568"/>
            <a:ext cx="4544695" cy="479453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5413534" y="2011568"/>
            <a:ext cx="4544695" cy="479453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472" y="1202167"/>
            <a:ext cx="9392454" cy="404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79039" y="6459594"/>
            <a:ext cx="335279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标题 30721"/>
          <p:cNvSpPr>
            <a:spLocks noGrp="1"/>
          </p:cNvSpPr>
          <p:nvPr>
            <p:ph type="title"/>
          </p:nvPr>
        </p:nvSpPr>
        <p:spPr>
          <a:xfrm>
            <a:off x="445558" y="335844"/>
            <a:ext cx="9178502" cy="7451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23" name="文本占位符 30722"/>
          <p:cNvSpPr>
            <a:spLocks noGrp="1"/>
          </p:cNvSpPr>
          <p:nvPr>
            <p:ph type="body" idx="1"/>
          </p:nvPr>
        </p:nvSpPr>
        <p:spPr>
          <a:xfrm>
            <a:off x="716606" y="1397603"/>
            <a:ext cx="9263900" cy="498694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29" name="文本框 30728"/>
          <p:cNvSpPr txBox="1"/>
          <p:nvPr userDrawn="1"/>
        </p:nvSpPr>
        <p:spPr>
          <a:xfrm>
            <a:off x="4812030" y="7185672"/>
            <a:ext cx="1069340" cy="36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ctr" eaLnBrk="0" hangingPunct="0">
              <a:spcBef>
                <a:spcPct val="50000"/>
              </a:spcBef>
            </a:pPr>
            <a:r>
              <a:rPr lang="en-US" altLang="zh-CN" sz="1765" b="1">
                <a:latin typeface="Arial" panose="020B0604020202020204" pitchFamily="34" charset="0"/>
                <a:ea typeface="华文琥珀" panose="02010800040101010101" charset="-122"/>
              </a:rPr>
              <a:t>- </a:t>
            </a:r>
            <a:fld id="{9A0DB2DC-4C9A-4742-B13C-FB6460FD3503}" type="slidenum">
              <a:rPr lang="zh-CN" altLang="en-US" sz="1765" b="1">
                <a:latin typeface="Arial" panose="020B0604020202020204" pitchFamily="34" charset="0"/>
                <a:ea typeface="华文琥珀" panose="02010800040101010101" charset="-122"/>
              </a:rPr>
            </a:fld>
            <a:r>
              <a:rPr lang="zh-CN" altLang="en-US" sz="1765" b="1">
                <a:latin typeface="Arial" panose="020B0604020202020204" pitchFamily="34" charset="0"/>
                <a:ea typeface="华文琥珀" panose="02010800040101010101" charset="-122"/>
              </a:rPr>
              <a:t> </a:t>
            </a:r>
            <a:r>
              <a:rPr lang="en-US" altLang="zh-CN" sz="1765" b="1">
                <a:latin typeface="Arial" panose="020B0604020202020204" pitchFamily="34" charset="0"/>
                <a:ea typeface="华文琥珀" panose="02010800040101010101" charset="-122"/>
              </a:rPr>
              <a:t>-</a:t>
            </a:r>
            <a:endParaRPr lang="en-US" altLang="zh-CN" sz="1765" b="1">
              <a:latin typeface="Arial" panose="020B0604020202020204" pitchFamily="34" charset="0"/>
              <a:ea typeface="华文琥珀" panose="02010800040101010101" charset="-122"/>
            </a:endParaRPr>
          </a:p>
        </p:txBody>
      </p:sp>
      <p:sp>
        <p:nvSpPr>
          <p:cNvPr id="30731" name="文本框 30730"/>
          <p:cNvSpPr txBox="1"/>
          <p:nvPr userDrawn="1"/>
        </p:nvSpPr>
        <p:spPr>
          <a:xfrm>
            <a:off x="0" y="7185672"/>
            <a:ext cx="1912620" cy="36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lvl="0" eaLnBrk="0" hangingPunct="0">
              <a:spcBef>
                <a:spcPct val="50000"/>
              </a:spcBef>
            </a:pPr>
            <a:r>
              <a:rPr lang="en-US" altLang="zh-CN" sz="1765" b="1">
                <a:latin typeface="Times New Roman" panose="02020603050405020304" pitchFamily="18" charset="0"/>
                <a:ea typeface="MS Mincho" pitchFamily="49" charset="-128"/>
              </a:rPr>
              <a:t>Operating System</a:t>
            </a:r>
            <a:endParaRPr lang="en-US" altLang="zh-CN" sz="1765" b="1">
              <a:latin typeface="Times New Roman" panose="02020603050405020304" pitchFamily="18" charset="0"/>
              <a:ea typeface="MS Mincho" pitchFamily="49" charset="-128"/>
            </a:endParaRPr>
          </a:p>
        </p:txBody>
      </p:sp>
      <p:pic>
        <p:nvPicPr>
          <p:cNvPr id="30751" name="图片 3075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815279" y="6381044"/>
            <a:ext cx="878121" cy="1175456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30752" name="直接连接符 30751"/>
          <p:cNvSpPr/>
          <p:nvPr userDrawn="1"/>
        </p:nvSpPr>
        <p:spPr>
          <a:xfrm>
            <a:off x="0" y="1175456"/>
            <a:ext cx="9384573" cy="0"/>
          </a:xfrm>
          <a:prstGeom prst="line">
            <a:avLst/>
          </a:prstGeom>
          <a:ln w="50800" cap="flat" cmpd="sng">
            <a:solidFill>
              <a:srgbClr val="C1C43C"/>
            </a:solidFill>
            <a:prstDash val="solid"/>
            <a:headEnd type="none" w="sm" len="sm"/>
            <a:tailEnd type="none" w="sm" len="sm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hf hdr="0" dt="0"/>
  <p:txStyles>
    <p:title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65" b="1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825" lvl="0" indent="-37782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n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18515" lvl="1" indent="-314960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l"/>
        <a:defRPr sz="3085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59205" lvl="2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sz="220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763395" lvl="3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6600"/>
        </a:buClr>
        <a:buSzPct val="75000"/>
        <a:buFont typeface="Times New Roman" panose="02020603050405020304" pitchFamily="18" charset="0"/>
        <a:buChar char="–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266950" lvl="4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770505" lvl="5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274695" lvl="6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778250" lvl="7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281805" lvl="8" indent="-252095" algn="l" defTabSz="1007745" rtl="0" eaLnBrk="1" fontAlgn="base" latinLnBrk="0" hangingPunct="1">
        <a:lnSpc>
          <a:spcPct val="100000"/>
        </a:lnSpc>
        <a:spcBef>
          <a:spcPct val="22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9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03555" lvl="1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1007745" lvl="2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511300" lvl="3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14855" lvl="4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9045" lvl="5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3022600" lvl="6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526155" lvl="7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4030345" lvl="8" indent="0" algn="l" defTabSz="1007745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jpe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1.xml"/><Relationship Id="rId5" Type="http://schemas.openxmlformats.org/officeDocument/2006/relationships/image" Target="../media/image15.png"/><Relationship Id="rId4" Type="http://schemas.openxmlformats.org/officeDocument/2006/relationships/tags" Target="../tags/tag10.xml"/><Relationship Id="rId3" Type="http://schemas.openxmlformats.org/officeDocument/2006/relationships/image" Target="../media/image14.png"/><Relationship Id="rId2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6.wmf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://cms.hit.edu.cn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84479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</a:t>
            </a: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8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CP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U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管理的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直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观想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法</a:t>
            </a:r>
            <a:endParaRPr sz="5100">
              <a:latin typeface="黑体" panose="02010609060101010101" charset="-122"/>
              <a:cs typeface="黑体" panose="02010609060101010101" charset="-122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  CPU?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标题 18124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管理</a:t>
            </a:r>
            <a:r>
              <a:rPr lang="en-US" altLang="zh-CN"/>
              <a:t>CPU</a:t>
            </a:r>
            <a:r>
              <a:rPr lang="zh-CN" altLang="en-US" dirty="0"/>
              <a:t>，先要了解</a:t>
            </a:r>
            <a:r>
              <a:rPr lang="en-US" altLang="zh-CN"/>
              <a:t>CPU</a:t>
            </a:r>
            <a:endParaRPr lang="en-US" altLang="zh-CN"/>
          </a:p>
        </p:txBody>
      </p:sp>
      <p:graphicFrame>
        <p:nvGraphicFramePr>
          <p:cNvPr id="181252" name="内容占位符 181251"/>
          <p:cNvGraphicFramePr/>
          <p:nvPr>
            <p:ph sz="half" idx="2"/>
          </p:nvPr>
        </p:nvGraphicFramePr>
        <p:xfrm>
          <a:off x="9112706" y="0"/>
          <a:ext cx="1271660" cy="1343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2706" y="0"/>
                        <a:ext cx="1271660" cy="134337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矩形 181252"/>
          <p:cNvSpPr/>
          <p:nvPr/>
        </p:nvSpPr>
        <p:spPr>
          <a:xfrm>
            <a:off x="984221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3085"/>
              <a:t>CPU</a:t>
            </a:r>
            <a:r>
              <a:rPr lang="zh-CN" altLang="en-US" sz="3085" dirty="0"/>
              <a:t>的工作原理</a:t>
            </a:r>
            <a:endParaRPr lang="zh-CN" altLang="en-US" sz="3085"/>
          </a:p>
        </p:txBody>
      </p:sp>
      <p:grpSp>
        <p:nvGrpSpPr>
          <p:cNvPr id="181255" name="组合 181254"/>
          <p:cNvGrpSpPr/>
          <p:nvPr/>
        </p:nvGrpSpPr>
        <p:grpSpPr>
          <a:xfrm>
            <a:off x="1400528" y="2106025"/>
            <a:ext cx="6893558" cy="661194"/>
            <a:chOff x="523" y="1876"/>
            <a:chExt cx="3941" cy="378"/>
          </a:xfrm>
        </p:grpSpPr>
        <p:sp>
          <p:nvSpPr>
            <p:cNvPr id="181256" name="矩形 181255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上电以后发生了什么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?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81257" name="图片 181256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1427" name="组合 181426"/>
          <p:cNvGrpSpPr/>
          <p:nvPr/>
        </p:nvGrpSpPr>
        <p:grpSpPr>
          <a:xfrm>
            <a:off x="728839" y="4114094"/>
            <a:ext cx="6716889" cy="1427339"/>
            <a:chOff x="1008" y="1968"/>
            <a:chExt cx="3264" cy="816"/>
          </a:xfrm>
        </p:grpSpPr>
        <p:sp>
          <p:nvSpPr>
            <p:cNvPr id="181268" name="圆柱形 181267"/>
            <p:cNvSpPr/>
            <p:nvPr/>
          </p:nvSpPr>
          <p:spPr>
            <a:xfrm rot="5400000">
              <a:off x="2544" y="1056"/>
              <a:ext cx="192" cy="3264"/>
            </a:xfrm>
            <a:prstGeom prst="can">
              <a:avLst>
                <a:gd name="adj" fmla="val 36046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1270" name="上下箭头 181269"/>
            <p:cNvSpPr/>
            <p:nvPr/>
          </p:nvSpPr>
          <p:spPr>
            <a:xfrm>
              <a:off x="1296" y="2352"/>
              <a:ext cx="240" cy="240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66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1271" name="上下箭头 181270"/>
            <p:cNvSpPr/>
            <p:nvPr/>
          </p:nvSpPr>
          <p:spPr>
            <a:xfrm>
              <a:off x="3696" y="2352"/>
              <a:ext cx="240" cy="240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66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181272" name="组合 181271"/>
            <p:cNvGrpSpPr/>
            <p:nvPr/>
          </p:nvGrpSpPr>
          <p:grpSpPr>
            <a:xfrm rot="376460">
              <a:off x="1053" y="1968"/>
              <a:ext cx="723" cy="442"/>
              <a:chOff x="2515" y="1988"/>
              <a:chExt cx="824" cy="394"/>
            </a:xfrm>
          </p:grpSpPr>
          <p:sp>
            <p:nvSpPr>
              <p:cNvPr id="181273" name="任意多边形 181272"/>
              <p:cNvSpPr/>
              <p:nvPr/>
            </p:nvSpPr>
            <p:spPr>
              <a:xfrm>
                <a:off x="2515" y="1988"/>
                <a:ext cx="824" cy="394"/>
              </a:xfrm>
              <a:custGeom>
                <a:avLst/>
                <a:gdLst/>
                <a:ahLst/>
                <a:cxnLst/>
                <a:pathLst>
                  <a:path w="3296" h="1577">
                    <a:moveTo>
                      <a:pt x="1959" y="237"/>
                    </a:moveTo>
                    <a:lnTo>
                      <a:pt x="1970" y="248"/>
                    </a:lnTo>
                    <a:lnTo>
                      <a:pt x="1987" y="253"/>
                    </a:lnTo>
                    <a:lnTo>
                      <a:pt x="2009" y="256"/>
                    </a:lnTo>
                    <a:lnTo>
                      <a:pt x="2030" y="253"/>
                    </a:lnTo>
                    <a:lnTo>
                      <a:pt x="2055" y="250"/>
                    </a:lnTo>
                    <a:lnTo>
                      <a:pt x="2078" y="248"/>
                    </a:lnTo>
                    <a:lnTo>
                      <a:pt x="2096" y="244"/>
                    </a:lnTo>
                    <a:lnTo>
                      <a:pt x="2110" y="244"/>
                    </a:lnTo>
                    <a:lnTo>
                      <a:pt x="2115" y="201"/>
                    </a:lnTo>
                    <a:lnTo>
                      <a:pt x="2124" y="150"/>
                    </a:lnTo>
                    <a:lnTo>
                      <a:pt x="2142" y="111"/>
                    </a:lnTo>
                    <a:lnTo>
                      <a:pt x="2181" y="117"/>
                    </a:lnTo>
                    <a:lnTo>
                      <a:pt x="2195" y="147"/>
                    </a:lnTo>
                    <a:lnTo>
                      <a:pt x="2214" y="177"/>
                    </a:lnTo>
                    <a:lnTo>
                      <a:pt x="2235" y="209"/>
                    </a:lnTo>
                    <a:lnTo>
                      <a:pt x="2260" y="237"/>
                    </a:lnTo>
                    <a:lnTo>
                      <a:pt x="2260" y="204"/>
                    </a:lnTo>
                    <a:lnTo>
                      <a:pt x="2257" y="177"/>
                    </a:lnTo>
                    <a:lnTo>
                      <a:pt x="2260" y="150"/>
                    </a:lnTo>
                    <a:lnTo>
                      <a:pt x="2271" y="125"/>
                    </a:lnTo>
                    <a:lnTo>
                      <a:pt x="2278" y="120"/>
                    </a:lnTo>
                    <a:lnTo>
                      <a:pt x="2290" y="117"/>
                    </a:lnTo>
                    <a:lnTo>
                      <a:pt x="2298" y="117"/>
                    </a:lnTo>
                    <a:lnTo>
                      <a:pt x="2306" y="125"/>
                    </a:lnTo>
                    <a:lnTo>
                      <a:pt x="2382" y="226"/>
                    </a:lnTo>
                    <a:lnTo>
                      <a:pt x="2388" y="201"/>
                    </a:lnTo>
                    <a:lnTo>
                      <a:pt x="2391" y="179"/>
                    </a:lnTo>
                    <a:lnTo>
                      <a:pt x="2388" y="155"/>
                    </a:lnTo>
                    <a:lnTo>
                      <a:pt x="2391" y="136"/>
                    </a:lnTo>
                    <a:lnTo>
                      <a:pt x="2398" y="111"/>
                    </a:lnTo>
                    <a:lnTo>
                      <a:pt x="2407" y="95"/>
                    </a:lnTo>
                    <a:lnTo>
                      <a:pt x="2415" y="92"/>
                    </a:lnTo>
                    <a:lnTo>
                      <a:pt x="2426" y="97"/>
                    </a:lnTo>
                    <a:lnTo>
                      <a:pt x="2439" y="111"/>
                    </a:lnTo>
                    <a:lnTo>
                      <a:pt x="2459" y="133"/>
                    </a:lnTo>
                    <a:lnTo>
                      <a:pt x="2483" y="163"/>
                    </a:lnTo>
                    <a:lnTo>
                      <a:pt x="2515" y="201"/>
                    </a:lnTo>
                    <a:lnTo>
                      <a:pt x="2549" y="196"/>
                    </a:lnTo>
                    <a:lnTo>
                      <a:pt x="2573" y="191"/>
                    </a:lnTo>
                    <a:lnTo>
                      <a:pt x="2593" y="188"/>
                    </a:lnTo>
                    <a:lnTo>
                      <a:pt x="2609" y="191"/>
                    </a:lnTo>
                    <a:lnTo>
                      <a:pt x="2625" y="196"/>
                    </a:lnTo>
                    <a:lnTo>
                      <a:pt x="2641" y="207"/>
                    </a:lnTo>
                    <a:lnTo>
                      <a:pt x="2664" y="223"/>
                    </a:lnTo>
                    <a:lnTo>
                      <a:pt x="2687" y="244"/>
                    </a:lnTo>
                    <a:lnTo>
                      <a:pt x="2712" y="256"/>
                    </a:lnTo>
                    <a:lnTo>
                      <a:pt x="2736" y="269"/>
                    </a:lnTo>
                    <a:lnTo>
                      <a:pt x="2761" y="285"/>
                    </a:lnTo>
                    <a:lnTo>
                      <a:pt x="2786" y="302"/>
                    </a:lnTo>
                    <a:lnTo>
                      <a:pt x="2811" y="322"/>
                    </a:lnTo>
                    <a:lnTo>
                      <a:pt x="2835" y="338"/>
                    </a:lnTo>
                    <a:lnTo>
                      <a:pt x="2859" y="354"/>
                    </a:lnTo>
                    <a:lnTo>
                      <a:pt x="2887" y="368"/>
                    </a:lnTo>
                    <a:lnTo>
                      <a:pt x="2871" y="389"/>
                    </a:lnTo>
                    <a:lnTo>
                      <a:pt x="2851" y="400"/>
                    </a:lnTo>
                    <a:lnTo>
                      <a:pt x="2835" y="400"/>
                    </a:lnTo>
                    <a:lnTo>
                      <a:pt x="2823" y="400"/>
                    </a:lnTo>
                    <a:lnTo>
                      <a:pt x="2823" y="405"/>
                    </a:lnTo>
                    <a:lnTo>
                      <a:pt x="2837" y="421"/>
                    </a:lnTo>
                    <a:lnTo>
                      <a:pt x="2871" y="455"/>
                    </a:lnTo>
                    <a:lnTo>
                      <a:pt x="2928" y="512"/>
                    </a:lnTo>
                    <a:lnTo>
                      <a:pt x="2944" y="509"/>
                    </a:lnTo>
                    <a:lnTo>
                      <a:pt x="2958" y="506"/>
                    </a:lnTo>
                    <a:lnTo>
                      <a:pt x="2972" y="506"/>
                    </a:lnTo>
                    <a:lnTo>
                      <a:pt x="2982" y="506"/>
                    </a:lnTo>
                    <a:lnTo>
                      <a:pt x="2995" y="509"/>
                    </a:lnTo>
                    <a:lnTo>
                      <a:pt x="3009" y="509"/>
                    </a:lnTo>
                    <a:lnTo>
                      <a:pt x="3023" y="515"/>
                    </a:lnTo>
                    <a:lnTo>
                      <a:pt x="3037" y="517"/>
                    </a:lnTo>
                    <a:lnTo>
                      <a:pt x="3055" y="550"/>
                    </a:lnTo>
                    <a:lnTo>
                      <a:pt x="3075" y="582"/>
                    </a:lnTo>
                    <a:lnTo>
                      <a:pt x="3094" y="616"/>
                    </a:lnTo>
                    <a:lnTo>
                      <a:pt x="3113" y="648"/>
                    </a:lnTo>
                    <a:lnTo>
                      <a:pt x="3135" y="681"/>
                    </a:lnTo>
                    <a:lnTo>
                      <a:pt x="3154" y="713"/>
                    </a:lnTo>
                    <a:lnTo>
                      <a:pt x="3173" y="749"/>
                    </a:lnTo>
                    <a:lnTo>
                      <a:pt x="3192" y="782"/>
                    </a:lnTo>
                    <a:lnTo>
                      <a:pt x="3192" y="795"/>
                    </a:lnTo>
                    <a:lnTo>
                      <a:pt x="3189" y="814"/>
                    </a:lnTo>
                    <a:lnTo>
                      <a:pt x="3186" y="830"/>
                    </a:lnTo>
                    <a:lnTo>
                      <a:pt x="3184" y="847"/>
                    </a:lnTo>
                    <a:lnTo>
                      <a:pt x="3170" y="855"/>
                    </a:lnTo>
                    <a:lnTo>
                      <a:pt x="3154" y="855"/>
                    </a:lnTo>
                    <a:lnTo>
                      <a:pt x="3138" y="855"/>
                    </a:lnTo>
                    <a:lnTo>
                      <a:pt x="3121" y="858"/>
                    </a:lnTo>
                    <a:lnTo>
                      <a:pt x="3131" y="877"/>
                    </a:lnTo>
                    <a:lnTo>
                      <a:pt x="3159" y="904"/>
                    </a:lnTo>
                    <a:lnTo>
                      <a:pt x="3195" y="936"/>
                    </a:lnTo>
                    <a:lnTo>
                      <a:pt x="3232" y="970"/>
                    </a:lnTo>
                    <a:lnTo>
                      <a:pt x="3268" y="1005"/>
                    </a:lnTo>
                    <a:lnTo>
                      <a:pt x="3290" y="1037"/>
                    </a:lnTo>
                    <a:lnTo>
                      <a:pt x="3296" y="1065"/>
                    </a:lnTo>
                    <a:lnTo>
                      <a:pt x="3274" y="1087"/>
                    </a:lnTo>
                    <a:lnTo>
                      <a:pt x="3214" y="1097"/>
                    </a:lnTo>
                    <a:lnTo>
                      <a:pt x="3156" y="1106"/>
                    </a:lnTo>
                    <a:lnTo>
                      <a:pt x="3096" y="1117"/>
                    </a:lnTo>
                    <a:lnTo>
                      <a:pt x="3037" y="1125"/>
                    </a:lnTo>
                    <a:lnTo>
                      <a:pt x="2977" y="1136"/>
                    </a:lnTo>
                    <a:lnTo>
                      <a:pt x="2919" y="1147"/>
                    </a:lnTo>
                    <a:lnTo>
                      <a:pt x="2859" y="1155"/>
                    </a:lnTo>
                    <a:lnTo>
                      <a:pt x="2800" y="1166"/>
                    </a:lnTo>
                    <a:lnTo>
                      <a:pt x="2740" y="1174"/>
                    </a:lnTo>
                    <a:lnTo>
                      <a:pt x="2682" y="1185"/>
                    </a:lnTo>
                    <a:lnTo>
                      <a:pt x="2623" y="1196"/>
                    </a:lnTo>
                    <a:lnTo>
                      <a:pt x="2563" y="1204"/>
                    </a:lnTo>
                    <a:lnTo>
                      <a:pt x="2503" y="1215"/>
                    </a:lnTo>
                    <a:lnTo>
                      <a:pt x="2445" y="1223"/>
                    </a:lnTo>
                    <a:lnTo>
                      <a:pt x="2386" y="1234"/>
                    </a:lnTo>
                    <a:lnTo>
                      <a:pt x="2325" y="1242"/>
                    </a:lnTo>
                    <a:lnTo>
                      <a:pt x="2303" y="1248"/>
                    </a:lnTo>
                    <a:lnTo>
                      <a:pt x="2281" y="1253"/>
                    </a:lnTo>
                    <a:lnTo>
                      <a:pt x="2260" y="1256"/>
                    </a:lnTo>
                    <a:lnTo>
                      <a:pt x="2237" y="1258"/>
                    </a:lnTo>
                    <a:lnTo>
                      <a:pt x="2214" y="1262"/>
                    </a:lnTo>
                    <a:lnTo>
                      <a:pt x="2191" y="1267"/>
                    </a:lnTo>
                    <a:lnTo>
                      <a:pt x="2167" y="1272"/>
                    </a:lnTo>
                    <a:lnTo>
                      <a:pt x="2145" y="1278"/>
                    </a:lnTo>
                    <a:lnTo>
                      <a:pt x="2137" y="1264"/>
                    </a:lnTo>
                    <a:lnTo>
                      <a:pt x="2120" y="1239"/>
                    </a:lnTo>
                    <a:lnTo>
                      <a:pt x="2101" y="1212"/>
                    </a:lnTo>
                    <a:lnTo>
                      <a:pt x="2083" y="1180"/>
                    </a:lnTo>
                    <a:lnTo>
                      <a:pt x="2060" y="1147"/>
                    </a:lnTo>
                    <a:lnTo>
                      <a:pt x="2042" y="1120"/>
                    </a:lnTo>
                    <a:lnTo>
                      <a:pt x="2028" y="1103"/>
                    </a:lnTo>
                    <a:lnTo>
                      <a:pt x="2020" y="1097"/>
                    </a:lnTo>
                    <a:lnTo>
                      <a:pt x="2006" y="1101"/>
                    </a:lnTo>
                    <a:lnTo>
                      <a:pt x="2009" y="1122"/>
                    </a:lnTo>
                    <a:lnTo>
                      <a:pt x="2025" y="1152"/>
                    </a:lnTo>
                    <a:lnTo>
                      <a:pt x="2047" y="1191"/>
                    </a:lnTo>
                    <a:lnTo>
                      <a:pt x="2066" y="1228"/>
                    </a:lnTo>
                    <a:lnTo>
                      <a:pt x="2078" y="1262"/>
                    </a:lnTo>
                    <a:lnTo>
                      <a:pt x="2078" y="1286"/>
                    </a:lnTo>
                    <a:lnTo>
                      <a:pt x="2055" y="1294"/>
                    </a:lnTo>
                    <a:lnTo>
                      <a:pt x="2020" y="1302"/>
                    </a:lnTo>
                    <a:lnTo>
                      <a:pt x="1982" y="1308"/>
                    </a:lnTo>
                    <a:lnTo>
                      <a:pt x="1947" y="1313"/>
                    </a:lnTo>
                    <a:lnTo>
                      <a:pt x="1908" y="1318"/>
                    </a:lnTo>
                    <a:lnTo>
                      <a:pt x="1869" y="1322"/>
                    </a:lnTo>
                    <a:lnTo>
                      <a:pt x="1832" y="1327"/>
                    </a:lnTo>
                    <a:lnTo>
                      <a:pt x="1793" y="1332"/>
                    </a:lnTo>
                    <a:lnTo>
                      <a:pt x="1756" y="1338"/>
                    </a:lnTo>
                    <a:lnTo>
                      <a:pt x="1669" y="1354"/>
                    </a:lnTo>
                    <a:lnTo>
                      <a:pt x="1584" y="1368"/>
                    </a:lnTo>
                    <a:lnTo>
                      <a:pt x="1497" y="1384"/>
                    </a:lnTo>
                    <a:lnTo>
                      <a:pt x="1409" y="1398"/>
                    </a:lnTo>
                    <a:lnTo>
                      <a:pt x="1322" y="1411"/>
                    </a:lnTo>
                    <a:lnTo>
                      <a:pt x="1235" y="1428"/>
                    </a:lnTo>
                    <a:lnTo>
                      <a:pt x="1147" y="1441"/>
                    </a:lnTo>
                    <a:lnTo>
                      <a:pt x="1060" y="1458"/>
                    </a:lnTo>
                    <a:lnTo>
                      <a:pt x="973" y="1471"/>
                    </a:lnTo>
                    <a:lnTo>
                      <a:pt x="886" y="1485"/>
                    </a:lnTo>
                    <a:lnTo>
                      <a:pt x="798" y="1501"/>
                    </a:lnTo>
                    <a:lnTo>
                      <a:pt x="711" y="1515"/>
                    </a:lnTo>
                    <a:lnTo>
                      <a:pt x="621" y="1531"/>
                    </a:lnTo>
                    <a:lnTo>
                      <a:pt x="534" y="1547"/>
                    </a:lnTo>
                    <a:lnTo>
                      <a:pt x="447" y="1561"/>
                    </a:lnTo>
                    <a:lnTo>
                      <a:pt x="359" y="1577"/>
                    </a:lnTo>
                    <a:lnTo>
                      <a:pt x="352" y="1575"/>
                    </a:lnTo>
                    <a:lnTo>
                      <a:pt x="343" y="1572"/>
                    </a:lnTo>
                    <a:lnTo>
                      <a:pt x="336" y="1572"/>
                    </a:lnTo>
                    <a:lnTo>
                      <a:pt x="324" y="1572"/>
                    </a:lnTo>
                    <a:lnTo>
                      <a:pt x="306" y="1515"/>
                    </a:lnTo>
                    <a:lnTo>
                      <a:pt x="286" y="1460"/>
                    </a:lnTo>
                    <a:lnTo>
                      <a:pt x="264" y="1405"/>
                    </a:lnTo>
                    <a:lnTo>
                      <a:pt x="242" y="1348"/>
                    </a:lnTo>
                    <a:lnTo>
                      <a:pt x="221" y="1294"/>
                    </a:lnTo>
                    <a:lnTo>
                      <a:pt x="202" y="1237"/>
                    </a:lnTo>
                    <a:lnTo>
                      <a:pt x="182" y="1180"/>
                    </a:lnTo>
                    <a:lnTo>
                      <a:pt x="163" y="1122"/>
                    </a:lnTo>
                    <a:lnTo>
                      <a:pt x="155" y="1101"/>
                    </a:lnTo>
                    <a:lnTo>
                      <a:pt x="142" y="1081"/>
                    </a:lnTo>
                    <a:lnTo>
                      <a:pt x="131" y="1062"/>
                    </a:lnTo>
                    <a:lnTo>
                      <a:pt x="117" y="1044"/>
                    </a:lnTo>
                    <a:lnTo>
                      <a:pt x="104" y="1024"/>
                    </a:lnTo>
                    <a:lnTo>
                      <a:pt x="92" y="1005"/>
                    </a:lnTo>
                    <a:lnTo>
                      <a:pt x="85" y="984"/>
                    </a:lnTo>
                    <a:lnTo>
                      <a:pt x="79" y="959"/>
                    </a:lnTo>
                    <a:lnTo>
                      <a:pt x="104" y="943"/>
                    </a:lnTo>
                    <a:lnTo>
                      <a:pt x="63" y="817"/>
                    </a:lnTo>
                    <a:lnTo>
                      <a:pt x="0" y="727"/>
                    </a:lnTo>
                    <a:lnTo>
                      <a:pt x="11" y="670"/>
                    </a:lnTo>
                    <a:lnTo>
                      <a:pt x="25" y="616"/>
                    </a:lnTo>
                    <a:lnTo>
                      <a:pt x="38" y="564"/>
                    </a:lnTo>
                    <a:lnTo>
                      <a:pt x="49" y="506"/>
                    </a:lnTo>
                    <a:lnTo>
                      <a:pt x="99" y="501"/>
                    </a:lnTo>
                    <a:lnTo>
                      <a:pt x="142" y="501"/>
                    </a:lnTo>
                    <a:lnTo>
                      <a:pt x="177" y="495"/>
                    </a:lnTo>
                    <a:lnTo>
                      <a:pt x="210" y="487"/>
                    </a:lnTo>
                    <a:lnTo>
                      <a:pt x="235" y="474"/>
                    </a:lnTo>
                    <a:lnTo>
                      <a:pt x="251" y="446"/>
                    </a:lnTo>
                    <a:lnTo>
                      <a:pt x="258" y="409"/>
                    </a:lnTo>
                    <a:lnTo>
                      <a:pt x="258" y="351"/>
                    </a:lnTo>
                    <a:lnTo>
                      <a:pt x="283" y="338"/>
                    </a:lnTo>
                    <a:lnTo>
                      <a:pt x="299" y="343"/>
                    </a:lnTo>
                    <a:lnTo>
                      <a:pt x="313" y="359"/>
                    </a:lnTo>
                    <a:lnTo>
                      <a:pt x="327" y="386"/>
                    </a:lnTo>
                    <a:lnTo>
                      <a:pt x="338" y="414"/>
                    </a:lnTo>
                    <a:lnTo>
                      <a:pt x="352" y="441"/>
                    </a:lnTo>
                    <a:lnTo>
                      <a:pt x="368" y="460"/>
                    </a:lnTo>
                    <a:lnTo>
                      <a:pt x="389" y="465"/>
                    </a:lnTo>
                    <a:lnTo>
                      <a:pt x="398" y="430"/>
                    </a:lnTo>
                    <a:lnTo>
                      <a:pt x="403" y="395"/>
                    </a:lnTo>
                    <a:lnTo>
                      <a:pt x="407" y="359"/>
                    </a:lnTo>
                    <a:lnTo>
                      <a:pt x="409" y="327"/>
                    </a:lnTo>
                    <a:lnTo>
                      <a:pt x="414" y="322"/>
                    </a:lnTo>
                    <a:lnTo>
                      <a:pt x="423" y="322"/>
                    </a:lnTo>
                    <a:lnTo>
                      <a:pt x="433" y="324"/>
                    </a:lnTo>
                    <a:lnTo>
                      <a:pt x="444" y="322"/>
                    </a:lnTo>
                    <a:lnTo>
                      <a:pt x="458" y="351"/>
                    </a:lnTo>
                    <a:lnTo>
                      <a:pt x="469" y="381"/>
                    </a:lnTo>
                    <a:lnTo>
                      <a:pt x="483" y="411"/>
                    </a:lnTo>
                    <a:lnTo>
                      <a:pt x="504" y="435"/>
                    </a:lnTo>
                    <a:lnTo>
                      <a:pt x="513" y="398"/>
                    </a:lnTo>
                    <a:lnTo>
                      <a:pt x="518" y="345"/>
                    </a:lnTo>
                    <a:lnTo>
                      <a:pt x="529" y="304"/>
                    </a:lnTo>
                    <a:lnTo>
                      <a:pt x="564" y="297"/>
                    </a:lnTo>
                    <a:lnTo>
                      <a:pt x="578" y="329"/>
                    </a:lnTo>
                    <a:lnTo>
                      <a:pt x="594" y="362"/>
                    </a:lnTo>
                    <a:lnTo>
                      <a:pt x="607" y="398"/>
                    </a:lnTo>
                    <a:lnTo>
                      <a:pt x="624" y="430"/>
                    </a:lnTo>
                    <a:lnTo>
                      <a:pt x="635" y="428"/>
                    </a:lnTo>
                    <a:lnTo>
                      <a:pt x="649" y="428"/>
                    </a:lnTo>
                    <a:lnTo>
                      <a:pt x="660" y="425"/>
                    </a:lnTo>
                    <a:lnTo>
                      <a:pt x="673" y="421"/>
                    </a:lnTo>
                    <a:lnTo>
                      <a:pt x="687" y="419"/>
                    </a:lnTo>
                    <a:lnTo>
                      <a:pt x="701" y="419"/>
                    </a:lnTo>
                    <a:lnTo>
                      <a:pt x="715" y="416"/>
                    </a:lnTo>
                    <a:lnTo>
                      <a:pt x="731" y="416"/>
                    </a:lnTo>
                    <a:lnTo>
                      <a:pt x="731" y="386"/>
                    </a:lnTo>
                    <a:lnTo>
                      <a:pt x="736" y="345"/>
                    </a:lnTo>
                    <a:lnTo>
                      <a:pt x="744" y="308"/>
                    </a:lnTo>
                    <a:lnTo>
                      <a:pt x="761" y="280"/>
                    </a:lnTo>
                    <a:lnTo>
                      <a:pt x="774" y="280"/>
                    </a:lnTo>
                    <a:lnTo>
                      <a:pt x="785" y="278"/>
                    </a:lnTo>
                    <a:lnTo>
                      <a:pt x="793" y="280"/>
                    </a:lnTo>
                    <a:lnTo>
                      <a:pt x="802" y="285"/>
                    </a:lnTo>
                    <a:lnTo>
                      <a:pt x="807" y="308"/>
                    </a:lnTo>
                    <a:lnTo>
                      <a:pt x="821" y="343"/>
                    </a:lnTo>
                    <a:lnTo>
                      <a:pt x="837" y="375"/>
                    </a:lnTo>
                    <a:lnTo>
                      <a:pt x="851" y="392"/>
                    </a:lnTo>
                    <a:lnTo>
                      <a:pt x="858" y="354"/>
                    </a:lnTo>
                    <a:lnTo>
                      <a:pt x="862" y="258"/>
                    </a:lnTo>
                    <a:lnTo>
                      <a:pt x="858" y="161"/>
                    </a:lnTo>
                    <a:lnTo>
                      <a:pt x="862" y="106"/>
                    </a:lnTo>
                    <a:lnTo>
                      <a:pt x="872" y="101"/>
                    </a:lnTo>
                    <a:lnTo>
                      <a:pt x="892" y="97"/>
                    </a:lnTo>
                    <a:lnTo>
                      <a:pt x="916" y="92"/>
                    </a:lnTo>
                    <a:lnTo>
                      <a:pt x="943" y="90"/>
                    </a:lnTo>
                    <a:lnTo>
                      <a:pt x="970" y="87"/>
                    </a:lnTo>
                    <a:lnTo>
                      <a:pt x="993" y="85"/>
                    </a:lnTo>
                    <a:lnTo>
                      <a:pt x="1011" y="81"/>
                    </a:lnTo>
                    <a:lnTo>
                      <a:pt x="1019" y="81"/>
                    </a:lnTo>
                    <a:lnTo>
                      <a:pt x="1069" y="76"/>
                    </a:lnTo>
                    <a:lnTo>
                      <a:pt x="1115" y="71"/>
                    </a:lnTo>
                    <a:lnTo>
                      <a:pt x="1164" y="65"/>
                    </a:lnTo>
                    <a:lnTo>
                      <a:pt x="1210" y="60"/>
                    </a:lnTo>
                    <a:lnTo>
                      <a:pt x="1257" y="57"/>
                    </a:lnTo>
                    <a:lnTo>
                      <a:pt x="1306" y="51"/>
                    </a:lnTo>
                    <a:lnTo>
                      <a:pt x="1352" y="46"/>
                    </a:lnTo>
                    <a:lnTo>
                      <a:pt x="1401" y="43"/>
                    </a:lnTo>
                    <a:lnTo>
                      <a:pt x="1448" y="37"/>
                    </a:lnTo>
                    <a:lnTo>
                      <a:pt x="1494" y="32"/>
                    </a:lnTo>
                    <a:lnTo>
                      <a:pt x="1543" y="30"/>
                    </a:lnTo>
                    <a:lnTo>
                      <a:pt x="1589" y="24"/>
                    </a:lnTo>
                    <a:lnTo>
                      <a:pt x="1635" y="19"/>
                    </a:lnTo>
                    <a:lnTo>
                      <a:pt x="1685" y="14"/>
                    </a:lnTo>
                    <a:lnTo>
                      <a:pt x="1731" y="5"/>
                    </a:lnTo>
                    <a:lnTo>
                      <a:pt x="1780" y="0"/>
                    </a:lnTo>
                    <a:lnTo>
                      <a:pt x="1807" y="24"/>
                    </a:lnTo>
                    <a:lnTo>
                      <a:pt x="1832" y="51"/>
                    </a:lnTo>
                    <a:lnTo>
                      <a:pt x="1856" y="78"/>
                    </a:lnTo>
                    <a:lnTo>
                      <a:pt x="1878" y="108"/>
                    </a:lnTo>
                    <a:lnTo>
                      <a:pt x="1897" y="141"/>
                    </a:lnTo>
                    <a:lnTo>
                      <a:pt x="1917" y="174"/>
                    </a:lnTo>
                    <a:lnTo>
                      <a:pt x="1938" y="207"/>
                    </a:lnTo>
                    <a:lnTo>
                      <a:pt x="1959" y="2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4" name="任意多边形 181273"/>
              <p:cNvSpPr/>
              <p:nvPr/>
            </p:nvSpPr>
            <p:spPr>
              <a:xfrm>
                <a:off x="2901" y="1996"/>
                <a:ext cx="93" cy="41"/>
              </a:xfrm>
              <a:custGeom>
                <a:avLst/>
                <a:gdLst/>
                <a:ahLst/>
                <a:cxnLst/>
                <a:pathLst>
                  <a:path w="376" h="166">
                    <a:moveTo>
                      <a:pt x="166" y="0"/>
                    </a:moveTo>
                    <a:lnTo>
                      <a:pt x="163" y="0"/>
                    </a:lnTo>
                    <a:lnTo>
                      <a:pt x="158" y="0"/>
                    </a:lnTo>
                    <a:lnTo>
                      <a:pt x="155" y="2"/>
                    </a:lnTo>
                    <a:lnTo>
                      <a:pt x="155" y="5"/>
                    </a:lnTo>
                    <a:lnTo>
                      <a:pt x="158" y="19"/>
                    </a:lnTo>
                    <a:lnTo>
                      <a:pt x="166" y="30"/>
                    </a:lnTo>
                    <a:lnTo>
                      <a:pt x="174" y="35"/>
                    </a:lnTo>
                    <a:lnTo>
                      <a:pt x="185" y="41"/>
                    </a:lnTo>
                    <a:lnTo>
                      <a:pt x="196" y="43"/>
                    </a:lnTo>
                    <a:lnTo>
                      <a:pt x="207" y="43"/>
                    </a:lnTo>
                    <a:lnTo>
                      <a:pt x="218" y="43"/>
                    </a:lnTo>
                    <a:lnTo>
                      <a:pt x="232" y="43"/>
                    </a:lnTo>
                    <a:lnTo>
                      <a:pt x="243" y="41"/>
                    </a:lnTo>
                    <a:lnTo>
                      <a:pt x="253" y="37"/>
                    </a:lnTo>
                    <a:lnTo>
                      <a:pt x="264" y="32"/>
                    </a:lnTo>
                    <a:lnTo>
                      <a:pt x="273" y="27"/>
                    </a:lnTo>
                    <a:lnTo>
                      <a:pt x="286" y="43"/>
                    </a:lnTo>
                    <a:lnTo>
                      <a:pt x="303" y="57"/>
                    </a:lnTo>
                    <a:lnTo>
                      <a:pt x="313" y="76"/>
                    </a:lnTo>
                    <a:lnTo>
                      <a:pt x="326" y="92"/>
                    </a:lnTo>
                    <a:lnTo>
                      <a:pt x="340" y="111"/>
                    </a:lnTo>
                    <a:lnTo>
                      <a:pt x="351" y="131"/>
                    </a:lnTo>
                    <a:lnTo>
                      <a:pt x="365" y="149"/>
                    </a:lnTo>
                    <a:lnTo>
                      <a:pt x="376" y="166"/>
                    </a:lnTo>
                    <a:lnTo>
                      <a:pt x="365" y="158"/>
                    </a:lnTo>
                    <a:lnTo>
                      <a:pt x="356" y="152"/>
                    </a:lnTo>
                    <a:lnTo>
                      <a:pt x="349" y="149"/>
                    </a:lnTo>
                    <a:lnTo>
                      <a:pt x="340" y="147"/>
                    </a:lnTo>
                    <a:lnTo>
                      <a:pt x="310" y="127"/>
                    </a:lnTo>
                    <a:lnTo>
                      <a:pt x="280" y="111"/>
                    </a:lnTo>
                    <a:lnTo>
                      <a:pt x="253" y="92"/>
                    </a:lnTo>
                    <a:lnTo>
                      <a:pt x="223" y="76"/>
                    </a:lnTo>
                    <a:lnTo>
                      <a:pt x="193" y="60"/>
                    </a:lnTo>
                    <a:lnTo>
                      <a:pt x="161" y="46"/>
                    </a:lnTo>
                    <a:lnTo>
                      <a:pt x="128" y="37"/>
                    </a:lnTo>
                    <a:lnTo>
                      <a:pt x="92" y="32"/>
                    </a:lnTo>
                    <a:lnTo>
                      <a:pt x="82" y="30"/>
                    </a:lnTo>
                    <a:lnTo>
                      <a:pt x="71" y="24"/>
                    </a:lnTo>
                    <a:lnTo>
                      <a:pt x="60" y="21"/>
                    </a:lnTo>
                    <a:lnTo>
                      <a:pt x="48" y="19"/>
                    </a:lnTo>
                    <a:lnTo>
                      <a:pt x="36" y="16"/>
                    </a:lnTo>
                    <a:lnTo>
                      <a:pt x="25" y="16"/>
                    </a:lnTo>
                    <a:lnTo>
                      <a:pt x="11" y="13"/>
                    </a:lnTo>
                    <a:lnTo>
                      <a:pt x="0" y="11"/>
                    </a:lnTo>
                    <a:lnTo>
                      <a:pt x="22" y="7"/>
                    </a:lnTo>
                    <a:lnTo>
                      <a:pt x="43" y="7"/>
                    </a:lnTo>
                    <a:lnTo>
                      <a:pt x="62" y="5"/>
                    </a:lnTo>
                    <a:lnTo>
                      <a:pt x="84" y="5"/>
                    </a:lnTo>
                    <a:lnTo>
                      <a:pt x="103" y="5"/>
                    </a:lnTo>
                    <a:lnTo>
                      <a:pt x="126" y="2"/>
                    </a:lnTo>
                    <a:lnTo>
                      <a:pt x="144" y="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5" name="任意多边形 181274"/>
              <p:cNvSpPr/>
              <p:nvPr/>
            </p:nvSpPr>
            <p:spPr>
              <a:xfrm>
                <a:off x="2780" y="2002"/>
                <a:ext cx="237" cy="82"/>
              </a:xfrm>
              <a:custGeom>
                <a:avLst/>
                <a:gdLst/>
                <a:ahLst/>
                <a:cxnLst/>
                <a:pathLst>
                  <a:path w="949" h="330">
                    <a:moveTo>
                      <a:pt x="505" y="6"/>
                    </a:moveTo>
                    <a:lnTo>
                      <a:pt x="526" y="13"/>
                    </a:lnTo>
                    <a:lnTo>
                      <a:pt x="545" y="19"/>
                    </a:lnTo>
                    <a:lnTo>
                      <a:pt x="567" y="24"/>
                    </a:lnTo>
                    <a:lnTo>
                      <a:pt x="586" y="27"/>
                    </a:lnTo>
                    <a:lnTo>
                      <a:pt x="609" y="33"/>
                    </a:lnTo>
                    <a:lnTo>
                      <a:pt x="627" y="38"/>
                    </a:lnTo>
                    <a:lnTo>
                      <a:pt x="649" y="43"/>
                    </a:lnTo>
                    <a:lnTo>
                      <a:pt x="668" y="52"/>
                    </a:lnTo>
                    <a:lnTo>
                      <a:pt x="685" y="63"/>
                    </a:lnTo>
                    <a:lnTo>
                      <a:pt x="701" y="71"/>
                    </a:lnTo>
                    <a:lnTo>
                      <a:pt x="717" y="79"/>
                    </a:lnTo>
                    <a:lnTo>
                      <a:pt x="733" y="87"/>
                    </a:lnTo>
                    <a:lnTo>
                      <a:pt x="747" y="96"/>
                    </a:lnTo>
                    <a:lnTo>
                      <a:pt x="763" y="103"/>
                    </a:lnTo>
                    <a:lnTo>
                      <a:pt x="780" y="114"/>
                    </a:lnTo>
                    <a:lnTo>
                      <a:pt x="796" y="125"/>
                    </a:lnTo>
                    <a:lnTo>
                      <a:pt x="804" y="128"/>
                    </a:lnTo>
                    <a:lnTo>
                      <a:pt x="813" y="134"/>
                    </a:lnTo>
                    <a:lnTo>
                      <a:pt x="821" y="139"/>
                    </a:lnTo>
                    <a:lnTo>
                      <a:pt x="827" y="147"/>
                    </a:lnTo>
                    <a:lnTo>
                      <a:pt x="834" y="147"/>
                    </a:lnTo>
                    <a:lnTo>
                      <a:pt x="853" y="158"/>
                    </a:lnTo>
                    <a:lnTo>
                      <a:pt x="867" y="169"/>
                    </a:lnTo>
                    <a:lnTo>
                      <a:pt x="881" y="183"/>
                    </a:lnTo>
                    <a:lnTo>
                      <a:pt x="892" y="196"/>
                    </a:lnTo>
                    <a:lnTo>
                      <a:pt x="899" y="213"/>
                    </a:lnTo>
                    <a:lnTo>
                      <a:pt x="910" y="229"/>
                    </a:lnTo>
                    <a:lnTo>
                      <a:pt x="919" y="245"/>
                    </a:lnTo>
                    <a:lnTo>
                      <a:pt x="930" y="261"/>
                    </a:lnTo>
                    <a:lnTo>
                      <a:pt x="935" y="278"/>
                    </a:lnTo>
                    <a:lnTo>
                      <a:pt x="943" y="294"/>
                    </a:lnTo>
                    <a:lnTo>
                      <a:pt x="949" y="311"/>
                    </a:lnTo>
                    <a:lnTo>
                      <a:pt x="949" y="327"/>
                    </a:lnTo>
                    <a:lnTo>
                      <a:pt x="943" y="330"/>
                    </a:lnTo>
                    <a:lnTo>
                      <a:pt x="935" y="327"/>
                    </a:lnTo>
                    <a:lnTo>
                      <a:pt x="927" y="324"/>
                    </a:lnTo>
                    <a:lnTo>
                      <a:pt x="917" y="321"/>
                    </a:lnTo>
                    <a:lnTo>
                      <a:pt x="917" y="297"/>
                    </a:lnTo>
                    <a:lnTo>
                      <a:pt x="913" y="275"/>
                    </a:lnTo>
                    <a:lnTo>
                      <a:pt x="908" y="254"/>
                    </a:lnTo>
                    <a:lnTo>
                      <a:pt x="894" y="238"/>
                    </a:lnTo>
                    <a:lnTo>
                      <a:pt x="881" y="224"/>
                    </a:lnTo>
                    <a:lnTo>
                      <a:pt x="869" y="204"/>
                    </a:lnTo>
                    <a:lnTo>
                      <a:pt x="857" y="188"/>
                    </a:lnTo>
                    <a:lnTo>
                      <a:pt x="843" y="169"/>
                    </a:lnTo>
                    <a:lnTo>
                      <a:pt x="829" y="155"/>
                    </a:lnTo>
                    <a:lnTo>
                      <a:pt x="813" y="142"/>
                    </a:lnTo>
                    <a:lnTo>
                      <a:pt x="796" y="137"/>
                    </a:lnTo>
                    <a:lnTo>
                      <a:pt x="774" y="137"/>
                    </a:lnTo>
                    <a:lnTo>
                      <a:pt x="756" y="139"/>
                    </a:lnTo>
                    <a:lnTo>
                      <a:pt x="733" y="147"/>
                    </a:lnTo>
                    <a:lnTo>
                      <a:pt x="712" y="144"/>
                    </a:lnTo>
                    <a:lnTo>
                      <a:pt x="696" y="128"/>
                    </a:lnTo>
                    <a:lnTo>
                      <a:pt x="673" y="107"/>
                    </a:lnTo>
                    <a:lnTo>
                      <a:pt x="652" y="84"/>
                    </a:lnTo>
                    <a:lnTo>
                      <a:pt x="625" y="68"/>
                    </a:lnTo>
                    <a:lnTo>
                      <a:pt x="600" y="52"/>
                    </a:lnTo>
                    <a:lnTo>
                      <a:pt x="573" y="41"/>
                    </a:lnTo>
                    <a:lnTo>
                      <a:pt x="543" y="31"/>
                    </a:lnTo>
                    <a:lnTo>
                      <a:pt x="515" y="22"/>
                    </a:lnTo>
                    <a:lnTo>
                      <a:pt x="485" y="17"/>
                    </a:lnTo>
                    <a:lnTo>
                      <a:pt x="485" y="31"/>
                    </a:lnTo>
                    <a:lnTo>
                      <a:pt x="485" y="43"/>
                    </a:lnTo>
                    <a:lnTo>
                      <a:pt x="485" y="57"/>
                    </a:lnTo>
                    <a:lnTo>
                      <a:pt x="483" y="71"/>
                    </a:lnTo>
                    <a:lnTo>
                      <a:pt x="469" y="128"/>
                    </a:lnTo>
                    <a:lnTo>
                      <a:pt x="455" y="128"/>
                    </a:lnTo>
                    <a:lnTo>
                      <a:pt x="458" y="120"/>
                    </a:lnTo>
                    <a:lnTo>
                      <a:pt x="455" y="112"/>
                    </a:lnTo>
                    <a:lnTo>
                      <a:pt x="450" y="103"/>
                    </a:lnTo>
                    <a:lnTo>
                      <a:pt x="444" y="93"/>
                    </a:lnTo>
                    <a:lnTo>
                      <a:pt x="428" y="82"/>
                    </a:lnTo>
                    <a:lnTo>
                      <a:pt x="409" y="73"/>
                    </a:lnTo>
                    <a:lnTo>
                      <a:pt x="393" y="66"/>
                    </a:lnTo>
                    <a:lnTo>
                      <a:pt x="374" y="57"/>
                    </a:lnTo>
                    <a:lnTo>
                      <a:pt x="354" y="49"/>
                    </a:lnTo>
                    <a:lnTo>
                      <a:pt x="336" y="43"/>
                    </a:lnTo>
                    <a:lnTo>
                      <a:pt x="317" y="38"/>
                    </a:lnTo>
                    <a:lnTo>
                      <a:pt x="297" y="33"/>
                    </a:lnTo>
                    <a:lnTo>
                      <a:pt x="281" y="31"/>
                    </a:lnTo>
                    <a:lnTo>
                      <a:pt x="262" y="31"/>
                    </a:lnTo>
                    <a:lnTo>
                      <a:pt x="246" y="27"/>
                    </a:lnTo>
                    <a:lnTo>
                      <a:pt x="227" y="27"/>
                    </a:lnTo>
                    <a:lnTo>
                      <a:pt x="211" y="27"/>
                    </a:lnTo>
                    <a:lnTo>
                      <a:pt x="193" y="31"/>
                    </a:lnTo>
                    <a:lnTo>
                      <a:pt x="177" y="33"/>
                    </a:lnTo>
                    <a:lnTo>
                      <a:pt x="161" y="41"/>
                    </a:lnTo>
                    <a:lnTo>
                      <a:pt x="180" y="54"/>
                    </a:lnTo>
                    <a:lnTo>
                      <a:pt x="200" y="68"/>
                    </a:lnTo>
                    <a:lnTo>
                      <a:pt x="218" y="82"/>
                    </a:lnTo>
                    <a:lnTo>
                      <a:pt x="237" y="98"/>
                    </a:lnTo>
                    <a:lnTo>
                      <a:pt x="257" y="112"/>
                    </a:lnTo>
                    <a:lnTo>
                      <a:pt x="276" y="125"/>
                    </a:lnTo>
                    <a:lnTo>
                      <a:pt x="297" y="142"/>
                    </a:lnTo>
                    <a:lnTo>
                      <a:pt x="317" y="155"/>
                    </a:lnTo>
                    <a:lnTo>
                      <a:pt x="301" y="160"/>
                    </a:lnTo>
                    <a:lnTo>
                      <a:pt x="283" y="169"/>
                    </a:lnTo>
                    <a:lnTo>
                      <a:pt x="271" y="174"/>
                    </a:lnTo>
                    <a:lnTo>
                      <a:pt x="257" y="178"/>
                    </a:lnTo>
                    <a:lnTo>
                      <a:pt x="235" y="167"/>
                    </a:lnTo>
                    <a:lnTo>
                      <a:pt x="213" y="155"/>
                    </a:lnTo>
                    <a:lnTo>
                      <a:pt x="191" y="150"/>
                    </a:lnTo>
                    <a:lnTo>
                      <a:pt x="170" y="144"/>
                    </a:lnTo>
                    <a:lnTo>
                      <a:pt x="145" y="139"/>
                    </a:lnTo>
                    <a:lnTo>
                      <a:pt x="123" y="137"/>
                    </a:lnTo>
                    <a:lnTo>
                      <a:pt x="99" y="131"/>
                    </a:lnTo>
                    <a:lnTo>
                      <a:pt x="76" y="125"/>
                    </a:lnTo>
                    <a:lnTo>
                      <a:pt x="52" y="128"/>
                    </a:lnTo>
                    <a:lnTo>
                      <a:pt x="36" y="134"/>
                    </a:lnTo>
                    <a:lnTo>
                      <a:pt x="16" y="144"/>
                    </a:lnTo>
                    <a:lnTo>
                      <a:pt x="0" y="153"/>
                    </a:lnTo>
                    <a:lnTo>
                      <a:pt x="3" y="139"/>
                    </a:lnTo>
                    <a:lnTo>
                      <a:pt x="9" y="123"/>
                    </a:lnTo>
                    <a:lnTo>
                      <a:pt x="16" y="112"/>
                    </a:lnTo>
                    <a:lnTo>
                      <a:pt x="28" y="98"/>
                    </a:lnTo>
                    <a:lnTo>
                      <a:pt x="39" y="87"/>
                    </a:lnTo>
                    <a:lnTo>
                      <a:pt x="52" y="73"/>
                    </a:lnTo>
                    <a:lnTo>
                      <a:pt x="66" y="63"/>
                    </a:lnTo>
                    <a:lnTo>
                      <a:pt x="82" y="52"/>
                    </a:lnTo>
                    <a:lnTo>
                      <a:pt x="87" y="52"/>
                    </a:lnTo>
                    <a:lnTo>
                      <a:pt x="92" y="49"/>
                    </a:lnTo>
                    <a:lnTo>
                      <a:pt x="96" y="43"/>
                    </a:lnTo>
                    <a:lnTo>
                      <a:pt x="101" y="41"/>
                    </a:lnTo>
                    <a:lnTo>
                      <a:pt x="145" y="31"/>
                    </a:lnTo>
                    <a:lnTo>
                      <a:pt x="188" y="19"/>
                    </a:lnTo>
                    <a:lnTo>
                      <a:pt x="232" y="11"/>
                    </a:lnTo>
                    <a:lnTo>
                      <a:pt x="276" y="6"/>
                    </a:lnTo>
                    <a:lnTo>
                      <a:pt x="319" y="3"/>
                    </a:lnTo>
                    <a:lnTo>
                      <a:pt x="365" y="3"/>
                    </a:lnTo>
                    <a:lnTo>
                      <a:pt x="409" y="0"/>
                    </a:lnTo>
                    <a:lnTo>
                      <a:pt x="453" y="3"/>
                    </a:lnTo>
                    <a:lnTo>
                      <a:pt x="466" y="3"/>
                    </a:lnTo>
                    <a:lnTo>
                      <a:pt x="478" y="3"/>
                    </a:lnTo>
                    <a:lnTo>
                      <a:pt x="491" y="6"/>
                    </a:lnTo>
                    <a:lnTo>
                      <a:pt x="505" y="6"/>
                    </a:lnTo>
                    <a:close/>
                  </a:path>
                </a:pathLst>
              </a:custGeom>
              <a:solidFill>
                <a:srgbClr val="CECEC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6" name="任意多边形 181275"/>
              <p:cNvSpPr/>
              <p:nvPr/>
            </p:nvSpPr>
            <p:spPr>
              <a:xfrm>
                <a:off x="2741" y="2007"/>
                <a:ext cx="65" cy="81"/>
              </a:xfrm>
              <a:custGeom>
                <a:avLst/>
                <a:gdLst/>
                <a:ahLst/>
                <a:cxnLst/>
                <a:pathLst>
                  <a:path w="261" h="324">
                    <a:moveTo>
                      <a:pt x="261" y="0"/>
                    </a:moveTo>
                    <a:lnTo>
                      <a:pt x="218" y="21"/>
                    </a:lnTo>
                    <a:lnTo>
                      <a:pt x="183" y="51"/>
                    </a:lnTo>
                    <a:lnTo>
                      <a:pt x="153" y="90"/>
                    </a:lnTo>
                    <a:lnTo>
                      <a:pt x="130" y="133"/>
                    </a:lnTo>
                    <a:lnTo>
                      <a:pt x="114" y="180"/>
                    </a:lnTo>
                    <a:lnTo>
                      <a:pt x="109" y="228"/>
                    </a:lnTo>
                    <a:lnTo>
                      <a:pt x="111" y="278"/>
                    </a:lnTo>
                    <a:lnTo>
                      <a:pt x="125" y="324"/>
                    </a:lnTo>
                    <a:lnTo>
                      <a:pt x="111" y="299"/>
                    </a:lnTo>
                    <a:lnTo>
                      <a:pt x="98" y="278"/>
                    </a:lnTo>
                    <a:lnTo>
                      <a:pt x="84" y="253"/>
                    </a:lnTo>
                    <a:lnTo>
                      <a:pt x="74" y="228"/>
                    </a:lnTo>
                    <a:lnTo>
                      <a:pt x="60" y="204"/>
                    </a:lnTo>
                    <a:lnTo>
                      <a:pt x="49" y="180"/>
                    </a:lnTo>
                    <a:lnTo>
                      <a:pt x="38" y="156"/>
                    </a:lnTo>
                    <a:lnTo>
                      <a:pt x="27" y="131"/>
                    </a:lnTo>
                    <a:lnTo>
                      <a:pt x="22" y="120"/>
                    </a:lnTo>
                    <a:lnTo>
                      <a:pt x="14" y="109"/>
                    </a:lnTo>
                    <a:lnTo>
                      <a:pt x="5" y="98"/>
                    </a:lnTo>
                    <a:lnTo>
                      <a:pt x="0" y="85"/>
                    </a:lnTo>
                    <a:lnTo>
                      <a:pt x="22" y="90"/>
                    </a:lnTo>
                    <a:lnTo>
                      <a:pt x="40" y="90"/>
                    </a:lnTo>
                    <a:lnTo>
                      <a:pt x="63" y="87"/>
                    </a:lnTo>
                    <a:lnTo>
                      <a:pt x="79" y="79"/>
                    </a:lnTo>
                    <a:lnTo>
                      <a:pt x="93" y="71"/>
                    </a:lnTo>
                    <a:lnTo>
                      <a:pt x="98" y="57"/>
                    </a:lnTo>
                    <a:lnTo>
                      <a:pt x="93" y="41"/>
                    </a:lnTo>
                    <a:lnTo>
                      <a:pt x="76" y="25"/>
                    </a:lnTo>
                    <a:lnTo>
                      <a:pt x="98" y="19"/>
                    </a:lnTo>
                    <a:lnTo>
                      <a:pt x="123" y="16"/>
                    </a:lnTo>
                    <a:lnTo>
                      <a:pt x="144" y="14"/>
                    </a:lnTo>
                    <a:lnTo>
                      <a:pt x="169" y="11"/>
                    </a:lnTo>
                    <a:lnTo>
                      <a:pt x="194" y="9"/>
                    </a:lnTo>
                    <a:lnTo>
                      <a:pt x="215" y="5"/>
                    </a:lnTo>
                    <a:lnTo>
                      <a:pt x="240" y="2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7" name="任意多边形 181276"/>
              <p:cNvSpPr/>
              <p:nvPr/>
            </p:nvSpPr>
            <p:spPr>
              <a:xfrm>
                <a:off x="2902" y="2012"/>
                <a:ext cx="54" cy="33"/>
              </a:xfrm>
              <a:custGeom>
                <a:avLst/>
                <a:gdLst/>
                <a:ahLst/>
                <a:cxnLst/>
                <a:pathLst>
                  <a:path w="215" h="131">
                    <a:moveTo>
                      <a:pt x="197" y="101"/>
                    </a:moveTo>
                    <a:lnTo>
                      <a:pt x="215" y="112"/>
                    </a:lnTo>
                    <a:lnTo>
                      <a:pt x="202" y="114"/>
                    </a:lnTo>
                    <a:lnTo>
                      <a:pt x="185" y="117"/>
                    </a:lnTo>
                    <a:lnTo>
                      <a:pt x="172" y="123"/>
                    </a:lnTo>
                    <a:lnTo>
                      <a:pt x="158" y="128"/>
                    </a:lnTo>
                    <a:lnTo>
                      <a:pt x="142" y="131"/>
                    </a:lnTo>
                    <a:lnTo>
                      <a:pt x="128" y="131"/>
                    </a:lnTo>
                    <a:lnTo>
                      <a:pt x="114" y="126"/>
                    </a:lnTo>
                    <a:lnTo>
                      <a:pt x="101" y="112"/>
                    </a:lnTo>
                    <a:lnTo>
                      <a:pt x="87" y="109"/>
                    </a:lnTo>
                    <a:lnTo>
                      <a:pt x="77" y="106"/>
                    </a:lnTo>
                    <a:lnTo>
                      <a:pt x="63" y="106"/>
                    </a:lnTo>
                    <a:lnTo>
                      <a:pt x="52" y="101"/>
                    </a:lnTo>
                    <a:lnTo>
                      <a:pt x="38" y="98"/>
                    </a:lnTo>
                    <a:lnTo>
                      <a:pt x="25" y="96"/>
                    </a:lnTo>
                    <a:lnTo>
                      <a:pt x="13" y="90"/>
                    </a:lnTo>
                    <a:lnTo>
                      <a:pt x="0" y="84"/>
                    </a:lnTo>
                    <a:lnTo>
                      <a:pt x="6" y="62"/>
                    </a:lnTo>
                    <a:lnTo>
                      <a:pt x="8" y="41"/>
                    </a:lnTo>
                    <a:lnTo>
                      <a:pt x="13" y="18"/>
                    </a:lnTo>
                    <a:lnTo>
                      <a:pt x="22" y="0"/>
                    </a:lnTo>
                    <a:lnTo>
                      <a:pt x="47" y="6"/>
                    </a:lnTo>
                    <a:lnTo>
                      <a:pt x="71" y="13"/>
                    </a:lnTo>
                    <a:lnTo>
                      <a:pt x="96" y="25"/>
                    </a:lnTo>
                    <a:lnTo>
                      <a:pt x="117" y="38"/>
                    </a:lnTo>
                    <a:lnTo>
                      <a:pt x="139" y="52"/>
                    </a:lnTo>
                    <a:lnTo>
                      <a:pt x="158" y="68"/>
                    </a:lnTo>
                    <a:lnTo>
                      <a:pt x="178" y="84"/>
                    </a:lnTo>
                    <a:lnTo>
                      <a:pt x="197" y="101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8" name="任意多边形 181277"/>
              <p:cNvSpPr/>
              <p:nvPr/>
            </p:nvSpPr>
            <p:spPr>
              <a:xfrm>
                <a:off x="2830" y="2013"/>
                <a:ext cx="60" cy="26"/>
              </a:xfrm>
              <a:custGeom>
                <a:avLst/>
                <a:gdLst/>
                <a:ahLst/>
                <a:cxnLst/>
                <a:pathLst>
                  <a:path w="237" h="104">
                    <a:moveTo>
                      <a:pt x="226" y="69"/>
                    </a:moveTo>
                    <a:lnTo>
                      <a:pt x="229" y="71"/>
                    </a:lnTo>
                    <a:lnTo>
                      <a:pt x="235" y="77"/>
                    </a:lnTo>
                    <a:lnTo>
                      <a:pt x="237" y="80"/>
                    </a:lnTo>
                    <a:lnTo>
                      <a:pt x="237" y="85"/>
                    </a:lnTo>
                    <a:lnTo>
                      <a:pt x="223" y="85"/>
                    </a:lnTo>
                    <a:lnTo>
                      <a:pt x="210" y="88"/>
                    </a:lnTo>
                    <a:lnTo>
                      <a:pt x="196" y="91"/>
                    </a:lnTo>
                    <a:lnTo>
                      <a:pt x="182" y="94"/>
                    </a:lnTo>
                    <a:lnTo>
                      <a:pt x="169" y="96"/>
                    </a:lnTo>
                    <a:lnTo>
                      <a:pt x="156" y="99"/>
                    </a:lnTo>
                    <a:lnTo>
                      <a:pt x="142" y="101"/>
                    </a:lnTo>
                    <a:lnTo>
                      <a:pt x="128" y="104"/>
                    </a:lnTo>
                    <a:lnTo>
                      <a:pt x="115" y="91"/>
                    </a:lnTo>
                    <a:lnTo>
                      <a:pt x="99" y="80"/>
                    </a:lnTo>
                    <a:lnTo>
                      <a:pt x="85" y="66"/>
                    </a:lnTo>
                    <a:lnTo>
                      <a:pt x="69" y="55"/>
                    </a:lnTo>
                    <a:lnTo>
                      <a:pt x="51" y="41"/>
                    </a:lnTo>
                    <a:lnTo>
                      <a:pt x="35" y="30"/>
                    </a:lnTo>
                    <a:lnTo>
                      <a:pt x="19" y="20"/>
                    </a:lnTo>
                    <a:lnTo>
                      <a:pt x="0" y="9"/>
                    </a:lnTo>
                    <a:lnTo>
                      <a:pt x="14" y="4"/>
                    </a:lnTo>
                    <a:lnTo>
                      <a:pt x="30" y="0"/>
                    </a:lnTo>
                    <a:lnTo>
                      <a:pt x="46" y="0"/>
                    </a:lnTo>
                    <a:lnTo>
                      <a:pt x="63" y="4"/>
                    </a:lnTo>
                    <a:lnTo>
                      <a:pt x="79" y="6"/>
                    </a:lnTo>
                    <a:lnTo>
                      <a:pt x="92" y="11"/>
                    </a:lnTo>
                    <a:lnTo>
                      <a:pt x="109" y="14"/>
                    </a:lnTo>
                    <a:lnTo>
                      <a:pt x="125" y="14"/>
                    </a:lnTo>
                    <a:lnTo>
                      <a:pt x="139" y="20"/>
                    </a:lnTo>
                    <a:lnTo>
                      <a:pt x="152" y="23"/>
                    </a:lnTo>
                    <a:lnTo>
                      <a:pt x="166" y="28"/>
                    </a:lnTo>
                    <a:lnTo>
                      <a:pt x="180" y="34"/>
                    </a:lnTo>
                    <a:lnTo>
                      <a:pt x="191" y="39"/>
                    </a:lnTo>
                    <a:lnTo>
                      <a:pt x="205" y="47"/>
                    </a:lnTo>
                    <a:lnTo>
                      <a:pt x="216" y="58"/>
                    </a:lnTo>
                    <a:lnTo>
                      <a:pt x="226" y="69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79" name="任意多边形 181278"/>
              <p:cNvSpPr/>
              <p:nvPr/>
            </p:nvSpPr>
            <p:spPr>
              <a:xfrm>
                <a:off x="3114" y="2017"/>
                <a:ext cx="120" cy="177"/>
              </a:xfrm>
              <a:custGeom>
                <a:avLst/>
                <a:gdLst/>
                <a:ahLst/>
                <a:cxnLst/>
                <a:pathLst>
                  <a:path w="482" h="706">
                    <a:moveTo>
                      <a:pt x="482" y="539"/>
                    </a:moveTo>
                    <a:lnTo>
                      <a:pt x="480" y="539"/>
                    </a:lnTo>
                    <a:lnTo>
                      <a:pt x="477" y="536"/>
                    </a:lnTo>
                    <a:lnTo>
                      <a:pt x="475" y="536"/>
                    </a:lnTo>
                    <a:lnTo>
                      <a:pt x="471" y="539"/>
                    </a:lnTo>
                    <a:lnTo>
                      <a:pt x="466" y="545"/>
                    </a:lnTo>
                    <a:lnTo>
                      <a:pt x="466" y="586"/>
                    </a:lnTo>
                    <a:lnTo>
                      <a:pt x="457" y="624"/>
                    </a:lnTo>
                    <a:lnTo>
                      <a:pt x="450" y="665"/>
                    </a:lnTo>
                    <a:lnTo>
                      <a:pt x="441" y="706"/>
                    </a:lnTo>
                    <a:lnTo>
                      <a:pt x="427" y="686"/>
                    </a:lnTo>
                    <a:lnTo>
                      <a:pt x="415" y="665"/>
                    </a:lnTo>
                    <a:lnTo>
                      <a:pt x="401" y="646"/>
                    </a:lnTo>
                    <a:lnTo>
                      <a:pt x="390" y="624"/>
                    </a:lnTo>
                    <a:lnTo>
                      <a:pt x="384" y="621"/>
                    </a:lnTo>
                    <a:lnTo>
                      <a:pt x="379" y="619"/>
                    </a:lnTo>
                    <a:lnTo>
                      <a:pt x="376" y="616"/>
                    </a:lnTo>
                    <a:lnTo>
                      <a:pt x="371" y="621"/>
                    </a:lnTo>
                    <a:lnTo>
                      <a:pt x="368" y="607"/>
                    </a:lnTo>
                    <a:lnTo>
                      <a:pt x="371" y="596"/>
                    </a:lnTo>
                    <a:lnTo>
                      <a:pt x="368" y="583"/>
                    </a:lnTo>
                    <a:lnTo>
                      <a:pt x="360" y="575"/>
                    </a:lnTo>
                    <a:lnTo>
                      <a:pt x="346" y="575"/>
                    </a:lnTo>
                    <a:lnTo>
                      <a:pt x="0" y="125"/>
                    </a:lnTo>
                    <a:lnTo>
                      <a:pt x="8" y="95"/>
                    </a:lnTo>
                    <a:lnTo>
                      <a:pt x="13" y="62"/>
                    </a:lnTo>
                    <a:lnTo>
                      <a:pt x="13" y="33"/>
                    </a:lnTo>
                    <a:lnTo>
                      <a:pt x="16" y="0"/>
                    </a:lnTo>
                    <a:lnTo>
                      <a:pt x="30" y="8"/>
                    </a:lnTo>
                    <a:lnTo>
                      <a:pt x="57" y="40"/>
                    </a:lnTo>
                    <a:lnTo>
                      <a:pt x="87" y="74"/>
                    </a:lnTo>
                    <a:lnTo>
                      <a:pt x="114" y="106"/>
                    </a:lnTo>
                    <a:lnTo>
                      <a:pt x="144" y="136"/>
                    </a:lnTo>
                    <a:lnTo>
                      <a:pt x="172" y="168"/>
                    </a:lnTo>
                    <a:lnTo>
                      <a:pt x="199" y="201"/>
                    </a:lnTo>
                    <a:lnTo>
                      <a:pt x="229" y="237"/>
                    </a:lnTo>
                    <a:lnTo>
                      <a:pt x="256" y="269"/>
                    </a:lnTo>
                    <a:lnTo>
                      <a:pt x="286" y="302"/>
                    </a:lnTo>
                    <a:lnTo>
                      <a:pt x="314" y="334"/>
                    </a:lnTo>
                    <a:lnTo>
                      <a:pt x="344" y="368"/>
                    </a:lnTo>
                    <a:lnTo>
                      <a:pt x="371" y="403"/>
                    </a:lnTo>
                    <a:lnTo>
                      <a:pt x="398" y="435"/>
                    </a:lnTo>
                    <a:lnTo>
                      <a:pt x="427" y="471"/>
                    </a:lnTo>
                    <a:lnTo>
                      <a:pt x="455" y="504"/>
                    </a:lnTo>
                    <a:lnTo>
                      <a:pt x="482" y="539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0" name="任意多边形 181279"/>
              <p:cNvSpPr/>
              <p:nvPr/>
            </p:nvSpPr>
            <p:spPr>
              <a:xfrm>
                <a:off x="3084" y="2022"/>
                <a:ext cx="114" cy="181"/>
              </a:xfrm>
              <a:custGeom>
                <a:avLst/>
                <a:gdLst/>
                <a:ahLst/>
                <a:cxnLst/>
                <a:pathLst>
                  <a:path w="455" h="722">
                    <a:moveTo>
                      <a:pt x="126" y="136"/>
                    </a:moveTo>
                    <a:lnTo>
                      <a:pt x="455" y="561"/>
                    </a:lnTo>
                    <a:lnTo>
                      <a:pt x="444" y="586"/>
                    </a:lnTo>
                    <a:lnTo>
                      <a:pt x="441" y="621"/>
                    </a:lnTo>
                    <a:lnTo>
                      <a:pt x="436" y="653"/>
                    </a:lnTo>
                    <a:lnTo>
                      <a:pt x="434" y="687"/>
                    </a:lnTo>
                    <a:lnTo>
                      <a:pt x="430" y="722"/>
                    </a:lnTo>
                    <a:lnTo>
                      <a:pt x="409" y="694"/>
                    </a:lnTo>
                    <a:lnTo>
                      <a:pt x="390" y="667"/>
                    </a:lnTo>
                    <a:lnTo>
                      <a:pt x="374" y="643"/>
                    </a:lnTo>
                    <a:lnTo>
                      <a:pt x="354" y="616"/>
                    </a:lnTo>
                    <a:lnTo>
                      <a:pt x="352" y="613"/>
                    </a:lnTo>
                    <a:lnTo>
                      <a:pt x="349" y="613"/>
                    </a:lnTo>
                    <a:lnTo>
                      <a:pt x="344" y="616"/>
                    </a:lnTo>
                    <a:lnTo>
                      <a:pt x="340" y="616"/>
                    </a:lnTo>
                    <a:lnTo>
                      <a:pt x="340" y="605"/>
                    </a:lnTo>
                    <a:lnTo>
                      <a:pt x="344" y="593"/>
                    </a:lnTo>
                    <a:lnTo>
                      <a:pt x="340" y="583"/>
                    </a:lnTo>
                    <a:lnTo>
                      <a:pt x="335" y="575"/>
                    </a:lnTo>
                    <a:lnTo>
                      <a:pt x="330" y="577"/>
                    </a:lnTo>
                    <a:lnTo>
                      <a:pt x="324" y="575"/>
                    </a:lnTo>
                    <a:lnTo>
                      <a:pt x="322" y="572"/>
                    </a:lnTo>
                    <a:lnTo>
                      <a:pt x="317" y="567"/>
                    </a:lnTo>
                    <a:lnTo>
                      <a:pt x="275" y="512"/>
                    </a:lnTo>
                    <a:lnTo>
                      <a:pt x="237" y="455"/>
                    </a:lnTo>
                    <a:lnTo>
                      <a:pt x="196" y="400"/>
                    </a:lnTo>
                    <a:lnTo>
                      <a:pt x="158" y="346"/>
                    </a:lnTo>
                    <a:lnTo>
                      <a:pt x="117" y="289"/>
                    </a:lnTo>
                    <a:lnTo>
                      <a:pt x="80" y="234"/>
                    </a:lnTo>
                    <a:lnTo>
                      <a:pt x="39" y="179"/>
                    </a:lnTo>
                    <a:lnTo>
                      <a:pt x="0" y="126"/>
                    </a:lnTo>
                    <a:lnTo>
                      <a:pt x="2" y="96"/>
                    </a:lnTo>
                    <a:lnTo>
                      <a:pt x="2" y="62"/>
                    </a:lnTo>
                    <a:lnTo>
                      <a:pt x="5" y="30"/>
                    </a:lnTo>
                    <a:lnTo>
                      <a:pt x="14" y="0"/>
                    </a:lnTo>
                    <a:lnTo>
                      <a:pt x="27" y="16"/>
                    </a:lnTo>
                    <a:lnTo>
                      <a:pt x="44" y="32"/>
                    </a:lnTo>
                    <a:lnTo>
                      <a:pt x="57" y="49"/>
                    </a:lnTo>
                    <a:lnTo>
                      <a:pt x="71" y="65"/>
                    </a:lnTo>
                    <a:lnTo>
                      <a:pt x="82" y="85"/>
                    </a:lnTo>
                    <a:lnTo>
                      <a:pt x="96" y="101"/>
                    </a:lnTo>
                    <a:lnTo>
                      <a:pt x="112" y="120"/>
                    </a:lnTo>
                    <a:lnTo>
                      <a:pt x="126" y="136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1" name="任意多边形 181280"/>
              <p:cNvSpPr/>
              <p:nvPr/>
            </p:nvSpPr>
            <p:spPr>
              <a:xfrm>
                <a:off x="3049" y="2022"/>
                <a:ext cx="112" cy="186"/>
              </a:xfrm>
              <a:custGeom>
                <a:avLst/>
                <a:gdLst/>
                <a:ahLst/>
                <a:cxnLst/>
                <a:pathLst>
                  <a:path w="449" h="741">
                    <a:moveTo>
                      <a:pt x="449" y="580"/>
                    </a:moveTo>
                    <a:lnTo>
                      <a:pt x="439" y="618"/>
                    </a:lnTo>
                    <a:lnTo>
                      <a:pt x="433" y="659"/>
                    </a:lnTo>
                    <a:lnTo>
                      <a:pt x="428" y="701"/>
                    </a:lnTo>
                    <a:lnTo>
                      <a:pt x="420" y="741"/>
                    </a:lnTo>
                    <a:lnTo>
                      <a:pt x="371" y="671"/>
                    </a:lnTo>
                    <a:lnTo>
                      <a:pt x="322" y="600"/>
                    </a:lnTo>
                    <a:lnTo>
                      <a:pt x="272" y="529"/>
                    </a:lnTo>
                    <a:lnTo>
                      <a:pt x="224" y="457"/>
                    </a:lnTo>
                    <a:lnTo>
                      <a:pt x="175" y="386"/>
                    </a:lnTo>
                    <a:lnTo>
                      <a:pt x="125" y="315"/>
                    </a:lnTo>
                    <a:lnTo>
                      <a:pt x="79" y="242"/>
                    </a:lnTo>
                    <a:lnTo>
                      <a:pt x="33" y="172"/>
                    </a:lnTo>
                    <a:lnTo>
                      <a:pt x="3" y="133"/>
                    </a:lnTo>
                    <a:lnTo>
                      <a:pt x="0" y="85"/>
                    </a:lnTo>
                    <a:lnTo>
                      <a:pt x="11" y="35"/>
                    </a:lnTo>
                    <a:lnTo>
                      <a:pt x="24" y="0"/>
                    </a:lnTo>
                    <a:lnTo>
                      <a:pt x="449" y="580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2" name="任意多边形 181281"/>
              <p:cNvSpPr/>
              <p:nvPr/>
            </p:nvSpPr>
            <p:spPr>
              <a:xfrm>
                <a:off x="2733" y="2025"/>
                <a:ext cx="78" cy="178"/>
              </a:xfrm>
              <a:custGeom>
                <a:avLst/>
                <a:gdLst/>
                <a:ahLst/>
                <a:cxnLst/>
                <a:pathLst>
                  <a:path w="314" h="713">
                    <a:moveTo>
                      <a:pt x="248" y="474"/>
                    </a:moveTo>
                    <a:lnTo>
                      <a:pt x="259" y="501"/>
                    </a:lnTo>
                    <a:lnTo>
                      <a:pt x="275" y="539"/>
                    </a:lnTo>
                    <a:lnTo>
                      <a:pt x="294" y="572"/>
                    </a:lnTo>
                    <a:lnTo>
                      <a:pt x="314" y="580"/>
                    </a:lnTo>
                    <a:lnTo>
                      <a:pt x="308" y="616"/>
                    </a:lnTo>
                    <a:lnTo>
                      <a:pt x="305" y="646"/>
                    </a:lnTo>
                    <a:lnTo>
                      <a:pt x="305" y="678"/>
                    </a:lnTo>
                    <a:lnTo>
                      <a:pt x="305" y="713"/>
                    </a:lnTo>
                    <a:lnTo>
                      <a:pt x="270" y="646"/>
                    </a:lnTo>
                    <a:lnTo>
                      <a:pt x="234" y="575"/>
                    </a:lnTo>
                    <a:lnTo>
                      <a:pt x="199" y="506"/>
                    </a:lnTo>
                    <a:lnTo>
                      <a:pt x="163" y="435"/>
                    </a:lnTo>
                    <a:lnTo>
                      <a:pt x="128" y="368"/>
                    </a:lnTo>
                    <a:lnTo>
                      <a:pt x="96" y="299"/>
                    </a:lnTo>
                    <a:lnTo>
                      <a:pt x="60" y="228"/>
                    </a:lnTo>
                    <a:lnTo>
                      <a:pt x="27" y="161"/>
                    </a:lnTo>
                    <a:lnTo>
                      <a:pt x="25" y="150"/>
                    </a:lnTo>
                    <a:lnTo>
                      <a:pt x="22" y="145"/>
                    </a:lnTo>
                    <a:lnTo>
                      <a:pt x="16" y="138"/>
                    </a:lnTo>
                    <a:lnTo>
                      <a:pt x="8" y="138"/>
                    </a:lnTo>
                    <a:lnTo>
                      <a:pt x="6" y="106"/>
                    </a:lnTo>
                    <a:lnTo>
                      <a:pt x="3" y="71"/>
                    </a:lnTo>
                    <a:lnTo>
                      <a:pt x="0" y="35"/>
                    </a:lnTo>
                    <a:lnTo>
                      <a:pt x="3" y="0"/>
                    </a:lnTo>
                    <a:lnTo>
                      <a:pt x="36" y="60"/>
                    </a:lnTo>
                    <a:lnTo>
                      <a:pt x="66" y="117"/>
                    </a:lnTo>
                    <a:lnTo>
                      <a:pt x="96" y="177"/>
                    </a:lnTo>
                    <a:lnTo>
                      <a:pt x="126" y="237"/>
                    </a:lnTo>
                    <a:lnTo>
                      <a:pt x="156" y="297"/>
                    </a:lnTo>
                    <a:lnTo>
                      <a:pt x="186" y="357"/>
                    </a:lnTo>
                    <a:lnTo>
                      <a:pt x="216" y="414"/>
                    </a:lnTo>
                    <a:lnTo>
                      <a:pt x="248" y="474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3" name="任意多边形 181282"/>
              <p:cNvSpPr/>
              <p:nvPr/>
            </p:nvSpPr>
            <p:spPr>
              <a:xfrm>
                <a:off x="2838" y="2041"/>
                <a:ext cx="116" cy="61"/>
              </a:xfrm>
              <a:custGeom>
                <a:avLst/>
                <a:gdLst/>
                <a:ahLst/>
                <a:cxnLst/>
                <a:pathLst>
                  <a:path w="464" h="245">
                    <a:moveTo>
                      <a:pt x="464" y="139"/>
                    </a:moveTo>
                    <a:lnTo>
                      <a:pt x="455" y="166"/>
                    </a:lnTo>
                    <a:lnTo>
                      <a:pt x="439" y="191"/>
                    </a:lnTo>
                    <a:lnTo>
                      <a:pt x="417" y="209"/>
                    </a:lnTo>
                    <a:lnTo>
                      <a:pt x="387" y="223"/>
                    </a:lnTo>
                    <a:lnTo>
                      <a:pt x="354" y="234"/>
                    </a:lnTo>
                    <a:lnTo>
                      <a:pt x="319" y="243"/>
                    </a:lnTo>
                    <a:lnTo>
                      <a:pt x="281" y="245"/>
                    </a:lnTo>
                    <a:lnTo>
                      <a:pt x="240" y="245"/>
                    </a:lnTo>
                    <a:lnTo>
                      <a:pt x="199" y="243"/>
                    </a:lnTo>
                    <a:lnTo>
                      <a:pt x="161" y="234"/>
                    </a:lnTo>
                    <a:lnTo>
                      <a:pt x="122" y="227"/>
                    </a:lnTo>
                    <a:lnTo>
                      <a:pt x="87" y="213"/>
                    </a:lnTo>
                    <a:lnTo>
                      <a:pt x="57" y="197"/>
                    </a:lnTo>
                    <a:lnTo>
                      <a:pt x="33" y="177"/>
                    </a:lnTo>
                    <a:lnTo>
                      <a:pt x="11" y="158"/>
                    </a:lnTo>
                    <a:lnTo>
                      <a:pt x="0" y="133"/>
                    </a:lnTo>
                    <a:lnTo>
                      <a:pt x="9" y="115"/>
                    </a:lnTo>
                    <a:lnTo>
                      <a:pt x="14" y="76"/>
                    </a:lnTo>
                    <a:lnTo>
                      <a:pt x="27" y="41"/>
                    </a:lnTo>
                    <a:lnTo>
                      <a:pt x="60" y="25"/>
                    </a:lnTo>
                    <a:lnTo>
                      <a:pt x="152" y="6"/>
                    </a:lnTo>
                    <a:lnTo>
                      <a:pt x="234" y="0"/>
                    </a:lnTo>
                    <a:lnTo>
                      <a:pt x="303" y="6"/>
                    </a:lnTo>
                    <a:lnTo>
                      <a:pt x="357" y="25"/>
                    </a:lnTo>
                    <a:lnTo>
                      <a:pt x="400" y="50"/>
                    </a:lnTo>
                    <a:lnTo>
                      <a:pt x="434" y="76"/>
                    </a:lnTo>
                    <a:lnTo>
                      <a:pt x="455" y="110"/>
                    </a:lnTo>
                    <a:lnTo>
                      <a:pt x="464" y="139"/>
                    </a:lnTo>
                    <a:close/>
                  </a:path>
                </a:pathLst>
              </a:custGeom>
              <a:solidFill>
                <a:srgbClr val="DDDD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4" name="任意多边形 181283"/>
              <p:cNvSpPr/>
              <p:nvPr/>
            </p:nvSpPr>
            <p:spPr>
              <a:xfrm>
                <a:off x="2777" y="2039"/>
                <a:ext cx="66" cy="19"/>
              </a:xfrm>
              <a:custGeom>
                <a:avLst/>
                <a:gdLst/>
                <a:ahLst/>
                <a:cxnLst/>
                <a:pathLst>
                  <a:path w="262" h="79">
                    <a:moveTo>
                      <a:pt x="262" y="43"/>
                    </a:moveTo>
                    <a:lnTo>
                      <a:pt x="232" y="79"/>
                    </a:lnTo>
                    <a:lnTo>
                      <a:pt x="204" y="73"/>
                    </a:lnTo>
                    <a:lnTo>
                      <a:pt x="175" y="68"/>
                    </a:lnTo>
                    <a:lnTo>
                      <a:pt x="147" y="63"/>
                    </a:lnTo>
                    <a:lnTo>
                      <a:pt x="117" y="61"/>
                    </a:lnTo>
                    <a:lnTo>
                      <a:pt x="87" y="55"/>
                    </a:lnTo>
                    <a:lnTo>
                      <a:pt x="57" y="52"/>
                    </a:lnTo>
                    <a:lnTo>
                      <a:pt x="30" y="49"/>
                    </a:lnTo>
                    <a:lnTo>
                      <a:pt x="0" y="49"/>
                    </a:lnTo>
                    <a:lnTo>
                      <a:pt x="11" y="31"/>
                    </a:lnTo>
                    <a:lnTo>
                      <a:pt x="27" y="17"/>
                    </a:lnTo>
                    <a:lnTo>
                      <a:pt x="50" y="8"/>
                    </a:lnTo>
                    <a:lnTo>
                      <a:pt x="71" y="0"/>
                    </a:lnTo>
                    <a:lnTo>
                      <a:pt x="96" y="3"/>
                    </a:lnTo>
                    <a:lnTo>
                      <a:pt x="121" y="6"/>
                    </a:lnTo>
                    <a:lnTo>
                      <a:pt x="145" y="8"/>
                    </a:lnTo>
                    <a:lnTo>
                      <a:pt x="169" y="13"/>
                    </a:lnTo>
                    <a:lnTo>
                      <a:pt x="194" y="20"/>
                    </a:lnTo>
                    <a:lnTo>
                      <a:pt x="216" y="25"/>
                    </a:lnTo>
                    <a:lnTo>
                      <a:pt x="240" y="33"/>
                    </a:lnTo>
                    <a:lnTo>
                      <a:pt x="262" y="43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5" name="任意多边形 181284"/>
              <p:cNvSpPr/>
              <p:nvPr/>
            </p:nvSpPr>
            <p:spPr>
              <a:xfrm>
                <a:off x="2941" y="2040"/>
                <a:ext cx="64" cy="41"/>
              </a:xfrm>
              <a:custGeom>
                <a:avLst/>
                <a:gdLst/>
                <a:ahLst/>
                <a:cxnLst/>
                <a:pathLst>
                  <a:path w="255" h="163">
                    <a:moveTo>
                      <a:pt x="225" y="78"/>
                    </a:moveTo>
                    <a:lnTo>
                      <a:pt x="239" y="97"/>
                    </a:lnTo>
                    <a:lnTo>
                      <a:pt x="248" y="117"/>
                    </a:lnTo>
                    <a:lnTo>
                      <a:pt x="253" y="138"/>
                    </a:lnTo>
                    <a:lnTo>
                      <a:pt x="255" y="163"/>
                    </a:lnTo>
                    <a:lnTo>
                      <a:pt x="231" y="161"/>
                    </a:lnTo>
                    <a:lnTo>
                      <a:pt x="209" y="155"/>
                    </a:lnTo>
                    <a:lnTo>
                      <a:pt x="185" y="152"/>
                    </a:lnTo>
                    <a:lnTo>
                      <a:pt x="163" y="147"/>
                    </a:lnTo>
                    <a:lnTo>
                      <a:pt x="142" y="144"/>
                    </a:lnTo>
                    <a:lnTo>
                      <a:pt x="117" y="138"/>
                    </a:lnTo>
                    <a:lnTo>
                      <a:pt x="95" y="136"/>
                    </a:lnTo>
                    <a:lnTo>
                      <a:pt x="71" y="133"/>
                    </a:lnTo>
                    <a:lnTo>
                      <a:pt x="59" y="103"/>
                    </a:lnTo>
                    <a:lnTo>
                      <a:pt x="43" y="76"/>
                    </a:lnTo>
                    <a:lnTo>
                      <a:pt x="24" y="51"/>
                    </a:lnTo>
                    <a:lnTo>
                      <a:pt x="0" y="30"/>
                    </a:lnTo>
                    <a:lnTo>
                      <a:pt x="16" y="27"/>
                    </a:lnTo>
                    <a:lnTo>
                      <a:pt x="29" y="25"/>
                    </a:lnTo>
                    <a:lnTo>
                      <a:pt x="46" y="21"/>
                    </a:lnTo>
                    <a:lnTo>
                      <a:pt x="62" y="19"/>
                    </a:lnTo>
                    <a:lnTo>
                      <a:pt x="76" y="16"/>
                    </a:lnTo>
                    <a:lnTo>
                      <a:pt x="92" y="14"/>
                    </a:lnTo>
                    <a:lnTo>
                      <a:pt x="108" y="7"/>
                    </a:lnTo>
                    <a:lnTo>
                      <a:pt x="125" y="2"/>
                    </a:lnTo>
                    <a:lnTo>
                      <a:pt x="144" y="0"/>
                    </a:lnTo>
                    <a:lnTo>
                      <a:pt x="160" y="5"/>
                    </a:lnTo>
                    <a:lnTo>
                      <a:pt x="174" y="14"/>
                    </a:lnTo>
                    <a:lnTo>
                      <a:pt x="185" y="25"/>
                    </a:lnTo>
                    <a:lnTo>
                      <a:pt x="195" y="37"/>
                    </a:lnTo>
                    <a:lnTo>
                      <a:pt x="204" y="51"/>
                    </a:lnTo>
                    <a:lnTo>
                      <a:pt x="215" y="65"/>
                    </a:lnTo>
                    <a:lnTo>
                      <a:pt x="225" y="78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6" name="任意多边形 181285"/>
              <p:cNvSpPr/>
              <p:nvPr/>
            </p:nvSpPr>
            <p:spPr>
              <a:xfrm>
                <a:off x="3149" y="2043"/>
                <a:ext cx="156" cy="152"/>
              </a:xfrm>
              <a:custGeom>
                <a:avLst/>
                <a:gdLst/>
                <a:ahLst/>
                <a:cxnLst/>
                <a:pathLst>
                  <a:path w="623" h="607">
                    <a:moveTo>
                      <a:pt x="117" y="51"/>
                    </a:moveTo>
                    <a:lnTo>
                      <a:pt x="136" y="59"/>
                    </a:lnTo>
                    <a:lnTo>
                      <a:pt x="156" y="71"/>
                    </a:lnTo>
                    <a:lnTo>
                      <a:pt x="174" y="81"/>
                    </a:lnTo>
                    <a:lnTo>
                      <a:pt x="193" y="92"/>
                    </a:lnTo>
                    <a:lnTo>
                      <a:pt x="212" y="103"/>
                    </a:lnTo>
                    <a:lnTo>
                      <a:pt x="232" y="117"/>
                    </a:lnTo>
                    <a:lnTo>
                      <a:pt x="250" y="127"/>
                    </a:lnTo>
                    <a:lnTo>
                      <a:pt x="269" y="141"/>
                    </a:lnTo>
                    <a:lnTo>
                      <a:pt x="250" y="144"/>
                    </a:lnTo>
                    <a:lnTo>
                      <a:pt x="239" y="154"/>
                    </a:lnTo>
                    <a:lnTo>
                      <a:pt x="229" y="168"/>
                    </a:lnTo>
                    <a:lnTo>
                      <a:pt x="223" y="182"/>
                    </a:lnTo>
                    <a:lnTo>
                      <a:pt x="223" y="184"/>
                    </a:lnTo>
                    <a:lnTo>
                      <a:pt x="223" y="188"/>
                    </a:lnTo>
                    <a:lnTo>
                      <a:pt x="223" y="190"/>
                    </a:lnTo>
                    <a:lnTo>
                      <a:pt x="248" y="200"/>
                    </a:lnTo>
                    <a:lnTo>
                      <a:pt x="269" y="218"/>
                    </a:lnTo>
                    <a:lnTo>
                      <a:pt x="289" y="234"/>
                    </a:lnTo>
                    <a:lnTo>
                      <a:pt x="308" y="253"/>
                    </a:lnTo>
                    <a:lnTo>
                      <a:pt x="324" y="274"/>
                    </a:lnTo>
                    <a:lnTo>
                      <a:pt x="340" y="294"/>
                    </a:lnTo>
                    <a:lnTo>
                      <a:pt x="359" y="310"/>
                    </a:lnTo>
                    <a:lnTo>
                      <a:pt x="379" y="326"/>
                    </a:lnTo>
                    <a:lnTo>
                      <a:pt x="390" y="324"/>
                    </a:lnTo>
                    <a:lnTo>
                      <a:pt x="400" y="324"/>
                    </a:lnTo>
                    <a:lnTo>
                      <a:pt x="411" y="321"/>
                    </a:lnTo>
                    <a:lnTo>
                      <a:pt x="425" y="318"/>
                    </a:lnTo>
                    <a:lnTo>
                      <a:pt x="436" y="318"/>
                    </a:lnTo>
                    <a:lnTo>
                      <a:pt x="446" y="315"/>
                    </a:lnTo>
                    <a:lnTo>
                      <a:pt x="457" y="315"/>
                    </a:lnTo>
                    <a:lnTo>
                      <a:pt x="469" y="315"/>
                    </a:lnTo>
                    <a:lnTo>
                      <a:pt x="490" y="345"/>
                    </a:lnTo>
                    <a:lnTo>
                      <a:pt x="510" y="375"/>
                    </a:lnTo>
                    <a:lnTo>
                      <a:pt x="529" y="405"/>
                    </a:lnTo>
                    <a:lnTo>
                      <a:pt x="547" y="438"/>
                    </a:lnTo>
                    <a:lnTo>
                      <a:pt x="567" y="468"/>
                    </a:lnTo>
                    <a:lnTo>
                      <a:pt x="586" y="501"/>
                    </a:lnTo>
                    <a:lnTo>
                      <a:pt x="605" y="531"/>
                    </a:lnTo>
                    <a:lnTo>
                      <a:pt x="623" y="561"/>
                    </a:lnTo>
                    <a:lnTo>
                      <a:pt x="591" y="566"/>
                    </a:lnTo>
                    <a:lnTo>
                      <a:pt x="558" y="574"/>
                    </a:lnTo>
                    <a:lnTo>
                      <a:pt x="526" y="580"/>
                    </a:lnTo>
                    <a:lnTo>
                      <a:pt x="496" y="586"/>
                    </a:lnTo>
                    <a:lnTo>
                      <a:pt x="464" y="591"/>
                    </a:lnTo>
                    <a:lnTo>
                      <a:pt x="430" y="596"/>
                    </a:lnTo>
                    <a:lnTo>
                      <a:pt x="398" y="602"/>
                    </a:lnTo>
                    <a:lnTo>
                      <a:pt x="365" y="607"/>
                    </a:lnTo>
                    <a:lnTo>
                      <a:pt x="363" y="568"/>
                    </a:lnTo>
                    <a:lnTo>
                      <a:pt x="363" y="528"/>
                    </a:lnTo>
                    <a:lnTo>
                      <a:pt x="359" y="487"/>
                    </a:lnTo>
                    <a:lnTo>
                      <a:pt x="349" y="446"/>
                    </a:lnTo>
                    <a:lnTo>
                      <a:pt x="359" y="435"/>
                    </a:lnTo>
                    <a:lnTo>
                      <a:pt x="315" y="381"/>
                    </a:lnTo>
                    <a:lnTo>
                      <a:pt x="269" y="326"/>
                    </a:lnTo>
                    <a:lnTo>
                      <a:pt x="226" y="274"/>
                    </a:lnTo>
                    <a:lnTo>
                      <a:pt x="179" y="220"/>
                    </a:lnTo>
                    <a:lnTo>
                      <a:pt x="136" y="168"/>
                    </a:lnTo>
                    <a:lnTo>
                      <a:pt x="90" y="114"/>
                    </a:lnTo>
                    <a:lnTo>
                      <a:pt x="46" y="62"/>
                    </a:lnTo>
                    <a:lnTo>
                      <a:pt x="0" y="11"/>
                    </a:lnTo>
                    <a:lnTo>
                      <a:pt x="7" y="5"/>
                    </a:lnTo>
                    <a:lnTo>
                      <a:pt x="21" y="2"/>
                    </a:lnTo>
                    <a:lnTo>
                      <a:pt x="35" y="2"/>
                    </a:lnTo>
                    <a:lnTo>
                      <a:pt x="48" y="0"/>
                    </a:lnTo>
                    <a:lnTo>
                      <a:pt x="68" y="7"/>
                    </a:lnTo>
                    <a:lnTo>
                      <a:pt x="85" y="21"/>
                    </a:lnTo>
                    <a:lnTo>
                      <a:pt x="101" y="37"/>
                    </a:lnTo>
                    <a:lnTo>
                      <a:pt x="117" y="51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7" name="任意多边形 181286"/>
              <p:cNvSpPr/>
              <p:nvPr/>
            </p:nvSpPr>
            <p:spPr>
              <a:xfrm>
                <a:off x="3015" y="2054"/>
                <a:ext cx="136" cy="164"/>
              </a:xfrm>
              <a:custGeom>
                <a:avLst/>
                <a:gdLst/>
                <a:ahLst/>
                <a:cxnLst/>
                <a:pathLst>
                  <a:path w="545" h="654">
                    <a:moveTo>
                      <a:pt x="211" y="136"/>
                    </a:moveTo>
                    <a:lnTo>
                      <a:pt x="255" y="196"/>
                    </a:lnTo>
                    <a:lnTo>
                      <a:pt x="295" y="256"/>
                    </a:lnTo>
                    <a:lnTo>
                      <a:pt x="338" y="316"/>
                    </a:lnTo>
                    <a:lnTo>
                      <a:pt x="379" y="376"/>
                    </a:lnTo>
                    <a:lnTo>
                      <a:pt x="423" y="439"/>
                    </a:lnTo>
                    <a:lnTo>
                      <a:pt x="464" y="499"/>
                    </a:lnTo>
                    <a:lnTo>
                      <a:pt x="505" y="559"/>
                    </a:lnTo>
                    <a:lnTo>
                      <a:pt x="545" y="619"/>
                    </a:lnTo>
                    <a:lnTo>
                      <a:pt x="522" y="624"/>
                    </a:lnTo>
                    <a:lnTo>
                      <a:pt x="497" y="630"/>
                    </a:lnTo>
                    <a:lnTo>
                      <a:pt x="469" y="632"/>
                    </a:lnTo>
                    <a:lnTo>
                      <a:pt x="445" y="637"/>
                    </a:lnTo>
                    <a:lnTo>
                      <a:pt x="418" y="640"/>
                    </a:lnTo>
                    <a:lnTo>
                      <a:pt x="393" y="646"/>
                    </a:lnTo>
                    <a:lnTo>
                      <a:pt x="366" y="649"/>
                    </a:lnTo>
                    <a:lnTo>
                      <a:pt x="342" y="654"/>
                    </a:lnTo>
                    <a:lnTo>
                      <a:pt x="338" y="626"/>
                    </a:lnTo>
                    <a:lnTo>
                      <a:pt x="336" y="602"/>
                    </a:lnTo>
                    <a:lnTo>
                      <a:pt x="336" y="578"/>
                    </a:lnTo>
                    <a:lnTo>
                      <a:pt x="336" y="553"/>
                    </a:lnTo>
                    <a:lnTo>
                      <a:pt x="347" y="553"/>
                    </a:lnTo>
                    <a:lnTo>
                      <a:pt x="361" y="553"/>
                    </a:lnTo>
                    <a:lnTo>
                      <a:pt x="374" y="553"/>
                    </a:lnTo>
                    <a:lnTo>
                      <a:pt x="386" y="550"/>
                    </a:lnTo>
                    <a:lnTo>
                      <a:pt x="396" y="550"/>
                    </a:lnTo>
                    <a:lnTo>
                      <a:pt x="407" y="545"/>
                    </a:lnTo>
                    <a:lnTo>
                      <a:pt x="415" y="537"/>
                    </a:lnTo>
                    <a:lnTo>
                      <a:pt x="421" y="523"/>
                    </a:lnTo>
                    <a:lnTo>
                      <a:pt x="421" y="509"/>
                    </a:lnTo>
                    <a:lnTo>
                      <a:pt x="418" y="499"/>
                    </a:lnTo>
                    <a:lnTo>
                      <a:pt x="412" y="488"/>
                    </a:lnTo>
                    <a:lnTo>
                      <a:pt x="402" y="483"/>
                    </a:lnTo>
                    <a:lnTo>
                      <a:pt x="391" y="479"/>
                    </a:lnTo>
                    <a:lnTo>
                      <a:pt x="377" y="477"/>
                    </a:lnTo>
                    <a:lnTo>
                      <a:pt x="366" y="477"/>
                    </a:lnTo>
                    <a:lnTo>
                      <a:pt x="356" y="477"/>
                    </a:lnTo>
                    <a:lnTo>
                      <a:pt x="342" y="477"/>
                    </a:lnTo>
                    <a:lnTo>
                      <a:pt x="331" y="477"/>
                    </a:lnTo>
                    <a:lnTo>
                      <a:pt x="322" y="477"/>
                    </a:lnTo>
                    <a:lnTo>
                      <a:pt x="312" y="477"/>
                    </a:lnTo>
                    <a:lnTo>
                      <a:pt x="298" y="463"/>
                    </a:lnTo>
                    <a:lnTo>
                      <a:pt x="285" y="447"/>
                    </a:lnTo>
                    <a:lnTo>
                      <a:pt x="271" y="430"/>
                    </a:lnTo>
                    <a:lnTo>
                      <a:pt x="260" y="414"/>
                    </a:lnTo>
                    <a:lnTo>
                      <a:pt x="246" y="401"/>
                    </a:lnTo>
                    <a:lnTo>
                      <a:pt x="235" y="384"/>
                    </a:lnTo>
                    <a:lnTo>
                      <a:pt x="225" y="368"/>
                    </a:lnTo>
                    <a:lnTo>
                      <a:pt x="211" y="354"/>
                    </a:lnTo>
                    <a:lnTo>
                      <a:pt x="214" y="338"/>
                    </a:lnTo>
                    <a:lnTo>
                      <a:pt x="216" y="324"/>
                    </a:lnTo>
                    <a:lnTo>
                      <a:pt x="214" y="313"/>
                    </a:lnTo>
                    <a:lnTo>
                      <a:pt x="200" y="302"/>
                    </a:lnTo>
                    <a:lnTo>
                      <a:pt x="202" y="292"/>
                    </a:lnTo>
                    <a:lnTo>
                      <a:pt x="197" y="283"/>
                    </a:lnTo>
                    <a:lnTo>
                      <a:pt x="189" y="278"/>
                    </a:lnTo>
                    <a:lnTo>
                      <a:pt x="186" y="267"/>
                    </a:lnTo>
                    <a:lnTo>
                      <a:pt x="120" y="177"/>
                    </a:lnTo>
                    <a:lnTo>
                      <a:pt x="137" y="175"/>
                    </a:lnTo>
                    <a:lnTo>
                      <a:pt x="154" y="171"/>
                    </a:lnTo>
                    <a:lnTo>
                      <a:pt x="167" y="169"/>
                    </a:lnTo>
                    <a:lnTo>
                      <a:pt x="175" y="157"/>
                    </a:lnTo>
                    <a:lnTo>
                      <a:pt x="175" y="150"/>
                    </a:lnTo>
                    <a:lnTo>
                      <a:pt x="178" y="141"/>
                    </a:lnTo>
                    <a:lnTo>
                      <a:pt x="181" y="134"/>
                    </a:lnTo>
                    <a:lnTo>
                      <a:pt x="181" y="128"/>
                    </a:lnTo>
                    <a:lnTo>
                      <a:pt x="170" y="117"/>
                    </a:lnTo>
                    <a:lnTo>
                      <a:pt x="156" y="106"/>
                    </a:lnTo>
                    <a:lnTo>
                      <a:pt x="142" y="101"/>
                    </a:lnTo>
                    <a:lnTo>
                      <a:pt x="129" y="95"/>
                    </a:lnTo>
                    <a:lnTo>
                      <a:pt x="115" y="93"/>
                    </a:lnTo>
                    <a:lnTo>
                      <a:pt x="99" y="93"/>
                    </a:lnTo>
                    <a:lnTo>
                      <a:pt x="85" y="95"/>
                    </a:lnTo>
                    <a:lnTo>
                      <a:pt x="69" y="98"/>
                    </a:lnTo>
                    <a:lnTo>
                      <a:pt x="0" y="8"/>
                    </a:lnTo>
                    <a:lnTo>
                      <a:pt x="12" y="5"/>
                    </a:lnTo>
                    <a:lnTo>
                      <a:pt x="23" y="3"/>
                    </a:lnTo>
                    <a:lnTo>
                      <a:pt x="34" y="3"/>
                    </a:lnTo>
                    <a:lnTo>
                      <a:pt x="44" y="8"/>
                    </a:lnTo>
                    <a:lnTo>
                      <a:pt x="64" y="5"/>
                    </a:lnTo>
                    <a:lnTo>
                      <a:pt x="80" y="3"/>
                    </a:lnTo>
                    <a:lnTo>
                      <a:pt x="96" y="0"/>
                    </a:lnTo>
                    <a:lnTo>
                      <a:pt x="110" y="3"/>
                    </a:lnTo>
                    <a:lnTo>
                      <a:pt x="211" y="136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8" name="任意多边形 181287"/>
              <p:cNvSpPr/>
              <p:nvPr/>
            </p:nvSpPr>
            <p:spPr>
              <a:xfrm>
                <a:off x="2702" y="2062"/>
                <a:ext cx="83" cy="205"/>
              </a:xfrm>
              <a:custGeom>
                <a:avLst/>
                <a:gdLst/>
                <a:ahLst/>
                <a:cxnLst/>
                <a:pathLst>
                  <a:path w="329" h="820">
                    <a:moveTo>
                      <a:pt x="35" y="11"/>
                    </a:moveTo>
                    <a:lnTo>
                      <a:pt x="38" y="25"/>
                    </a:lnTo>
                    <a:lnTo>
                      <a:pt x="46" y="35"/>
                    </a:lnTo>
                    <a:lnTo>
                      <a:pt x="54" y="48"/>
                    </a:lnTo>
                    <a:lnTo>
                      <a:pt x="59" y="60"/>
                    </a:lnTo>
                    <a:lnTo>
                      <a:pt x="89" y="133"/>
                    </a:lnTo>
                    <a:lnTo>
                      <a:pt x="122" y="204"/>
                    </a:lnTo>
                    <a:lnTo>
                      <a:pt x="155" y="278"/>
                    </a:lnTo>
                    <a:lnTo>
                      <a:pt x="188" y="349"/>
                    </a:lnTo>
                    <a:lnTo>
                      <a:pt x="220" y="422"/>
                    </a:lnTo>
                    <a:lnTo>
                      <a:pt x="253" y="492"/>
                    </a:lnTo>
                    <a:lnTo>
                      <a:pt x="289" y="563"/>
                    </a:lnTo>
                    <a:lnTo>
                      <a:pt x="321" y="634"/>
                    </a:lnTo>
                    <a:lnTo>
                      <a:pt x="324" y="678"/>
                    </a:lnTo>
                    <a:lnTo>
                      <a:pt x="326" y="724"/>
                    </a:lnTo>
                    <a:lnTo>
                      <a:pt x="329" y="768"/>
                    </a:lnTo>
                    <a:lnTo>
                      <a:pt x="329" y="814"/>
                    </a:lnTo>
                    <a:lnTo>
                      <a:pt x="324" y="814"/>
                    </a:lnTo>
                    <a:lnTo>
                      <a:pt x="319" y="818"/>
                    </a:lnTo>
                    <a:lnTo>
                      <a:pt x="313" y="820"/>
                    </a:lnTo>
                    <a:lnTo>
                      <a:pt x="305" y="820"/>
                    </a:lnTo>
                    <a:lnTo>
                      <a:pt x="308" y="814"/>
                    </a:lnTo>
                    <a:lnTo>
                      <a:pt x="305" y="812"/>
                    </a:lnTo>
                    <a:lnTo>
                      <a:pt x="303" y="806"/>
                    </a:lnTo>
                    <a:lnTo>
                      <a:pt x="303" y="800"/>
                    </a:lnTo>
                    <a:lnTo>
                      <a:pt x="319" y="779"/>
                    </a:lnTo>
                    <a:lnTo>
                      <a:pt x="324" y="719"/>
                    </a:lnTo>
                    <a:lnTo>
                      <a:pt x="316" y="664"/>
                    </a:lnTo>
                    <a:lnTo>
                      <a:pt x="299" y="651"/>
                    </a:lnTo>
                    <a:lnTo>
                      <a:pt x="299" y="689"/>
                    </a:lnTo>
                    <a:lnTo>
                      <a:pt x="303" y="722"/>
                    </a:lnTo>
                    <a:lnTo>
                      <a:pt x="303" y="757"/>
                    </a:lnTo>
                    <a:lnTo>
                      <a:pt x="299" y="795"/>
                    </a:lnTo>
                    <a:lnTo>
                      <a:pt x="261" y="708"/>
                    </a:lnTo>
                    <a:lnTo>
                      <a:pt x="223" y="623"/>
                    </a:lnTo>
                    <a:lnTo>
                      <a:pt x="185" y="536"/>
                    </a:lnTo>
                    <a:lnTo>
                      <a:pt x="149" y="452"/>
                    </a:lnTo>
                    <a:lnTo>
                      <a:pt x="112" y="365"/>
                    </a:lnTo>
                    <a:lnTo>
                      <a:pt x="73" y="280"/>
                    </a:lnTo>
                    <a:lnTo>
                      <a:pt x="38" y="193"/>
                    </a:lnTo>
                    <a:lnTo>
                      <a:pt x="0" y="108"/>
                    </a:lnTo>
                    <a:lnTo>
                      <a:pt x="2" y="81"/>
                    </a:lnTo>
                    <a:lnTo>
                      <a:pt x="8" y="51"/>
                    </a:lnTo>
                    <a:lnTo>
                      <a:pt x="13" y="25"/>
                    </a:lnTo>
                    <a:lnTo>
                      <a:pt x="21" y="0"/>
                    </a:lnTo>
                    <a:lnTo>
                      <a:pt x="27" y="0"/>
                    </a:lnTo>
                    <a:lnTo>
                      <a:pt x="32" y="2"/>
                    </a:lnTo>
                    <a:lnTo>
                      <a:pt x="35" y="7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89" name="任意多边形 181288"/>
              <p:cNvSpPr/>
              <p:nvPr/>
            </p:nvSpPr>
            <p:spPr>
              <a:xfrm>
                <a:off x="2780" y="2064"/>
                <a:ext cx="281" cy="106"/>
              </a:xfrm>
              <a:custGeom>
                <a:avLst/>
                <a:gdLst/>
                <a:ahLst/>
                <a:cxnLst/>
                <a:pathLst>
                  <a:path w="1126" h="423">
                    <a:moveTo>
                      <a:pt x="1126" y="262"/>
                    </a:moveTo>
                    <a:lnTo>
                      <a:pt x="1104" y="278"/>
                    </a:lnTo>
                    <a:lnTo>
                      <a:pt x="1082" y="292"/>
                    </a:lnTo>
                    <a:lnTo>
                      <a:pt x="1058" y="301"/>
                    </a:lnTo>
                    <a:lnTo>
                      <a:pt x="1034" y="306"/>
                    </a:lnTo>
                    <a:lnTo>
                      <a:pt x="1006" y="312"/>
                    </a:lnTo>
                    <a:lnTo>
                      <a:pt x="979" y="314"/>
                    </a:lnTo>
                    <a:lnTo>
                      <a:pt x="952" y="317"/>
                    </a:lnTo>
                    <a:lnTo>
                      <a:pt x="924" y="322"/>
                    </a:lnTo>
                    <a:lnTo>
                      <a:pt x="881" y="331"/>
                    </a:lnTo>
                    <a:lnTo>
                      <a:pt x="839" y="336"/>
                    </a:lnTo>
                    <a:lnTo>
                      <a:pt x="796" y="344"/>
                    </a:lnTo>
                    <a:lnTo>
                      <a:pt x="752" y="349"/>
                    </a:lnTo>
                    <a:lnTo>
                      <a:pt x="712" y="358"/>
                    </a:lnTo>
                    <a:lnTo>
                      <a:pt x="668" y="363"/>
                    </a:lnTo>
                    <a:lnTo>
                      <a:pt x="625" y="368"/>
                    </a:lnTo>
                    <a:lnTo>
                      <a:pt x="584" y="374"/>
                    </a:lnTo>
                    <a:lnTo>
                      <a:pt x="540" y="379"/>
                    </a:lnTo>
                    <a:lnTo>
                      <a:pt x="499" y="388"/>
                    </a:lnTo>
                    <a:lnTo>
                      <a:pt x="455" y="393"/>
                    </a:lnTo>
                    <a:lnTo>
                      <a:pt x="414" y="399"/>
                    </a:lnTo>
                    <a:lnTo>
                      <a:pt x="371" y="404"/>
                    </a:lnTo>
                    <a:lnTo>
                      <a:pt x="330" y="409"/>
                    </a:lnTo>
                    <a:lnTo>
                      <a:pt x="287" y="418"/>
                    </a:lnTo>
                    <a:lnTo>
                      <a:pt x="246" y="423"/>
                    </a:lnTo>
                    <a:lnTo>
                      <a:pt x="232" y="423"/>
                    </a:lnTo>
                    <a:lnTo>
                      <a:pt x="216" y="423"/>
                    </a:lnTo>
                    <a:lnTo>
                      <a:pt x="202" y="423"/>
                    </a:lnTo>
                    <a:lnTo>
                      <a:pt x="188" y="420"/>
                    </a:lnTo>
                    <a:lnTo>
                      <a:pt x="172" y="420"/>
                    </a:lnTo>
                    <a:lnTo>
                      <a:pt x="158" y="415"/>
                    </a:lnTo>
                    <a:lnTo>
                      <a:pt x="145" y="412"/>
                    </a:lnTo>
                    <a:lnTo>
                      <a:pt x="131" y="407"/>
                    </a:lnTo>
                    <a:lnTo>
                      <a:pt x="112" y="379"/>
                    </a:lnTo>
                    <a:lnTo>
                      <a:pt x="96" y="349"/>
                    </a:lnTo>
                    <a:lnTo>
                      <a:pt x="80" y="319"/>
                    </a:lnTo>
                    <a:lnTo>
                      <a:pt x="66" y="289"/>
                    </a:lnTo>
                    <a:lnTo>
                      <a:pt x="50" y="257"/>
                    </a:lnTo>
                    <a:lnTo>
                      <a:pt x="33" y="227"/>
                    </a:lnTo>
                    <a:lnTo>
                      <a:pt x="16" y="197"/>
                    </a:lnTo>
                    <a:lnTo>
                      <a:pt x="0" y="167"/>
                    </a:lnTo>
                    <a:lnTo>
                      <a:pt x="39" y="208"/>
                    </a:lnTo>
                    <a:lnTo>
                      <a:pt x="85" y="246"/>
                    </a:lnTo>
                    <a:lnTo>
                      <a:pt x="140" y="278"/>
                    </a:lnTo>
                    <a:lnTo>
                      <a:pt x="200" y="306"/>
                    </a:lnTo>
                    <a:lnTo>
                      <a:pt x="265" y="328"/>
                    </a:lnTo>
                    <a:lnTo>
                      <a:pt x="333" y="347"/>
                    </a:lnTo>
                    <a:lnTo>
                      <a:pt x="404" y="358"/>
                    </a:lnTo>
                    <a:lnTo>
                      <a:pt x="478" y="363"/>
                    </a:lnTo>
                    <a:lnTo>
                      <a:pt x="549" y="363"/>
                    </a:lnTo>
                    <a:lnTo>
                      <a:pt x="619" y="358"/>
                    </a:lnTo>
                    <a:lnTo>
                      <a:pt x="687" y="349"/>
                    </a:lnTo>
                    <a:lnTo>
                      <a:pt x="750" y="331"/>
                    </a:lnTo>
                    <a:lnTo>
                      <a:pt x="809" y="308"/>
                    </a:lnTo>
                    <a:lnTo>
                      <a:pt x="864" y="278"/>
                    </a:lnTo>
                    <a:lnTo>
                      <a:pt x="908" y="243"/>
                    </a:lnTo>
                    <a:lnTo>
                      <a:pt x="946" y="202"/>
                    </a:lnTo>
                    <a:lnTo>
                      <a:pt x="960" y="151"/>
                    </a:lnTo>
                    <a:lnTo>
                      <a:pt x="970" y="96"/>
                    </a:lnTo>
                    <a:lnTo>
                      <a:pt x="968" y="44"/>
                    </a:lnTo>
                    <a:lnTo>
                      <a:pt x="940" y="0"/>
                    </a:lnTo>
                    <a:lnTo>
                      <a:pt x="965" y="31"/>
                    </a:lnTo>
                    <a:lnTo>
                      <a:pt x="990" y="64"/>
                    </a:lnTo>
                    <a:lnTo>
                      <a:pt x="1014" y="96"/>
                    </a:lnTo>
                    <a:lnTo>
                      <a:pt x="1036" y="129"/>
                    </a:lnTo>
                    <a:lnTo>
                      <a:pt x="1058" y="161"/>
                    </a:lnTo>
                    <a:lnTo>
                      <a:pt x="1082" y="195"/>
                    </a:lnTo>
                    <a:lnTo>
                      <a:pt x="1104" y="230"/>
                    </a:lnTo>
                    <a:lnTo>
                      <a:pt x="1126" y="262"/>
                    </a:lnTo>
                    <a:close/>
                  </a:path>
                </a:pathLst>
              </a:custGeom>
              <a:solidFill>
                <a:srgbClr val="70707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0" name="任意多边形 181289"/>
              <p:cNvSpPr/>
              <p:nvPr/>
            </p:nvSpPr>
            <p:spPr>
              <a:xfrm>
                <a:off x="2646" y="2067"/>
                <a:ext cx="83" cy="211"/>
              </a:xfrm>
              <a:custGeom>
                <a:avLst/>
                <a:gdLst/>
                <a:ahLst/>
                <a:cxnLst/>
                <a:pathLst>
                  <a:path w="330" h="842">
                    <a:moveTo>
                      <a:pt x="44" y="20"/>
                    </a:moveTo>
                    <a:lnTo>
                      <a:pt x="49" y="44"/>
                    </a:lnTo>
                    <a:lnTo>
                      <a:pt x="58" y="66"/>
                    </a:lnTo>
                    <a:lnTo>
                      <a:pt x="68" y="88"/>
                    </a:lnTo>
                    <a:lnTo>
                      <a:pt x="79" y="113"/>
                    </a:lnTo>
                    <a:lnTo>
                      <a:pt x="84" y="113"/>
                    </a:lnTo>
                    <a:lnTo>
                      <a:pt x="111" y="186"/>
                    </a:lnTo>
                    <a:lnTo>
                      <a:pt x="141" y="260"/>
                    </a:lnTo>
                    <a:lnTo>
                      <a:pt x="171" y="333"/>
                    </a:lnTo>
                    <a:lnTo>
                      <a:pt x="201" y="407"/>
                    </a:lnTo>
                    <a:lnTo>
                      <a:pt x="235" y="480"/>
                    </a:lnTo>
                    <a:lnTo>
                      <a:pt x="265" y="551"/>
                    </a:lnTo>
                    <a:lnTo>
                      <a:pt x="295" y="625"/>
                    </a:lnTo>
                    <a:lnTo>
                      <a:pt x="325" y="699"/>
                    </a:lnTo>
                    <a:lnTo>
                      <a:pt x="322" y="729"/>
                    </a:lnTo>
                    <a:lnTo>
                      <a:pt x="325" y="758"/>
                    </a:lnTo>
                    <a:lnTo>
                      <a:pt x="327" y="791"/>
                    </a:lnTo>
                    <a:lnTo>
                      <a:pt x="330" y="818"/>
                    </a:lnTo>
                    <a:lnTo>
                      <a:pt x="330" y="832"/>
                    </a:lnTo>
                    <a:lnTo>
                      <a:pt x="322" y="840"/>
                    </a:lnTo>
                    <a:lnTo>
                      <a:pt x="308" y="842"/>
                    </a:lnTo>
                    <a:lnTo>
                      <a:pt x="295" y="842"/>
                    </a:lnTo>
                    <a:lnTo>
                      <a:pt x="259" y="750"/>
                    </a:lnTo>
                    <a:lnTo>
                      <a:pt x="221" y="660"/>
                    </a:lnTo>
                    <a:lnTo>
                      <a:pt x="185" y="568"/>
                    </a:lnTo>
                    <a:lnTo>
                      <a:pt x="147" y="474"/>
                    </a:lnTo>
                    <a:lnTo>
                      <a:pt x="111" y="385"/>
                    </a:lnTo>
                    <a:lnTo>
                      <a:pt x="74" y="292"/>
                    </a:lnTo>
                    <a:lnTo>
                      <a:pt x="38" y="202"/>
                    </a:lnTo>
                    <a:lnTo>
                      <a:pt x="0" y="113"/>
                    </a:lnTo>
                    <a:lnTo>
                      <a:pt x="3" y="94"/>
                    </a:lnTo>
                    <a:lnTo>
                      <a:pt x="5" y="71"/>
                    </a:lnTo>
                    <a:lnTo>
                      <a:pt x="8" y="50"/>
                    </a:lnTo>
                    <a:lnTo>
                      <a:pt x="14" y="30"/>
                    </a:lnTo>
                    <a:lnTo>
                      <a:pt x="14" y="12"/>
                    </a:lnTo>
                    <a:lnTo>
                      <a:pt x="33" y="0"/>
                    </a:lnTo>
                    <a:lnTo>
                      <a:pt x="44" y="20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1" name="任意多边形 181290"/>
              <p:cNvSpPr/>
              <p:nvPr/>
            </p:nvSpPr>
            <p:spPr>
              <a:xfrm>
                <a:off x="2774" y="2073"/>
                <a:ext cx="64" cy="30"/>
              </a:xfrm>
              <a:custGeom>
                <a:avLst/>
                <a:gdLst/>
                <a:ahLst/>
                <a:cxnLst/>
                <a:pathLst>
                  <a:path w="257" h="120">
                    <a:moveTo>
                      <a:pt x="227" y="0"/>
                    </a:moveTo>
                    <a:lnTo>
                      <a:pt x="230" y="19"/>
                    </a:lnTo>
                    <a:lnTo>
                      <a:pt x="238" y="30"/>
                    </a:lnTo>
                    <a:lnTo>
                      <a:pt x="248" y="38"/>
                    </a:lnTo>
                    <a:lnTo>
                      <a:pt x="257" y="60"/>
                    </a:lnTo>
                    <a:lnTo>
                      <a:pt x="230" y="69"/>
                    </a:lnTo>
                    <a:lnTo>
                      <a:pt x="205" y="76"/>
                    </a:lnTo>
                    <a:lnTo>
                      <a:pt x="178" y="85"/>
                    </a:lnTo>
                    <a:lnTo>
                      <a:pt x="151" y="90"/>
                    </a:lnTo>
                    <a:lnTo>
                      <a:pt x="124" y="99"/>
                    </a:lnTo>
                    <a:lnTo>
                      <a:pt x="99" y="106"/>
                    </a:lnTo>
                    <a:lnTo>
                      <a:pt x="71" y="111"/>
                    </a:lnTo>
                    <a:lnTo>
                      <a:pt x="44" y="120"/>
                    </a:lnTo>
                    <a:lnTo>
                      <a:pt x="31" y="99"/>
                    </a:lnTo>
                    <a:lnTo>
                      <a:pt x="20" y="74"/>
                    </a:lnTo>
                    <a:lnTo>
                      <a:pt x="11" y="49"/>
                    </a:lnTo>
                    <a:lnTo>
                      <a:pt x="0" y="22"/>
                    </a:lnTo>
                    <a:lnTo>
                      <a:pt x="28" y="19"/>
                    </a:lnTo>
                    <a:lnTo>
                      <a:pt x="58" y="14"/>
                    </a:lnTo>
                    <a:lnTo>
                      <a:pt x="85" y="11"/>
                    </a:lnTo>
                    <a:lnTo>
                      <a:pt x="112" y="5"/>
                    </a:lnTo>
                    <a:lnTo>
                      <a:pt x="140" y="3"/>
                    </a:lnTo>
                    <a:lnTo>
                      <a:pt x="167" y="3"/>
                    </a:lnTo>
                    <a:lnTo>
                      <a:pt x="197" y="0"/>
                    </a:lnTo>
                    <a:lnTo>
                      <a:pt x="227" y="0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2" name="任意多边形 181291"/>
              <p:cNvSpPr/>
              <p:nvPr/>
            </p:nvSpPr>
            <p:spPr>
              <a:xfrm>
                <a:off x="2617" y="2073"/>
                <a:ext cx="78" cy="209"/>
              </a:xfrm>
              <a:custGeom>
                <a:avLst/>
                <a:gdLst/>
                <a:ahLst/>
                <a:cxnLst/>
                <a:pathLst>
                  <a:path w="311" h="834">
                    <a:moveTo>
                      <a:pt x="35" y="28"/>
                    </a:moveTo>
                    <a:lnTo>
                      <a:pt x="68" y="109"/>
                    </a:lnTo>
                    <a:lnTo>
                      <a:pt x="98" y="189"/>
                    </a:lnTo>
                    <a:lnTo>
                      <a:pt x="131" y="270"/>
                    </a:lnTo>
                    <a:lnTo>
                      <a:pt x="163" y="352"/>
                    </a:lnTo>
                    <a:lnTo>
                      <a:pt x="196" y="433"/>
                    </a:lnTo>
                    <a:lnTo>
                      <a:pt x="228" y="515"/>
                    </a:lnTo>
                    <a:lnTo>
                      <a:pt x="258" y="596"/>
                    </a:lnTo>
                    <a:lnTo>
                      <a:pt x="292" y="679"/>
                    </a:lnTo>
                    <a:lnTo>
                      <a:pt x="297" y="717"/>
                    </a:lnTo>
                    <a:lnTo>
                      <a:pt x="299" y="755"/>
                    </a:lnTo>
                    <a:lnTo>
                      <a:pt x="302" y="793"/>
                    </a:lnTo>
                    <a:lnTo>
                      <a:pt x="311" y="831"/>
                    </a:lnTo>
                    <a:lnTo>
                      <a:pt x="302" y="831"/>
                    </a:lnTo>
                    <a:lnTo>
                      <a:pt x="292" y="831"/>
                    </a:lnTo>
                    <a:lnTo>
                      <a:pt x="283" y="834"/>
                    </a:lnTo>
                    <a:lnTo>
                      <a:pt x="272" y="834"/>
                    </a:lnTo>
                    <a:lnTo>
                      <a:pt x="237" y="747"/>
                    </a:lnTo>
                    <a:lnTo>
                      <a:pt x="205" y="660"/>
                    </a:lnTo>
                    <a:lnTo>
                      <a:pt x="169" y="573"/>
                    </a:lnTo>
                    <a:lnTo>
                      <a:pt x="136" y="485"/>
                    </a:lnTo>
                    <a:lnTo>
                      <a:pt x="101" y="396"/>
                    </a:lnTo>
                    <a:lnTo>
                      <a:pt x="68" y="308"/>
                    </a:lnTo>
                    <a:lnTo>
                      <a:pt x="33" y="221"/>
                    </a:lnTo>
                    <a:lnTo>
                      <a:pt x="0" y="131"/>
                    </a:lnTo>
                    <a:lnTo>
                      <a:pt x="5" y="101"/>
                    </a:lnTo>
                    <a:lnTo>
                      <a:pt x="8" y="69"/>
                    </a:lnTo>
                    <a:lnTo>
                      <a:pt x="14" y="35"/>
                    </a:lnTo>
                    <a:lnTo>
                      <a:pt x="16" y="0"/>
                    </a:lnTo>
                    <a:lnTo>
                      <a:pt x="24" y="3"/>
                    </a:lnTo>
                    <a:lnTo>
                      <a:pt x="30" y="8"/>
                    </a:lnTo>
                    <a:lnTo>
                      <a:pt x="33" y="19"/>
                    </a:lnTo>
                    <a:lnTo>
                      <a:pt x="35" y="28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3" name="任意多边形 181292"/>
              <p:cNvSpPr/>
              <p:nvPr/>
            </p:nvSpPr>
            <p:spPr>
              <a:xfrm>
                <a:off x="2579" y="2078"/>
                <a:ext cx="83" cy="211"/>
              </a:xfrm>
              <a:custGeom>
                <a:avLst/>
                <a:gdLst/>
                <a:ahLst/>
                <a:cxnLst/>
                <a:pathLst>
                  <a:path w="331" h="844">
                    <a:moveTo>
                      <a:pt x="61" y="35"/>
                    </a:moveTo>
                    <a:lnTo>
                      <a:pt x="91" y="117"/>
                    </a:lnTo>
                    <a:lnTo>
                      <a:pt x="121" y="201"/>
                    </a:lnTo>
                    <a:lnTo>
                      <a:pt x="154" y="283"/>
                    </a:lnTo>
                    <a:lnTo>
                      <a:pt x="184" y="365"/>
                    </a:lnTo>
                    <a:lnTo>
                      <a:pt x="214" y="446"/>
                    </a:lnTo>
                    <a:lnTo>
                      <a:pt x="246" y="528"/>
                    </a:lnTo>
                    <a:lnTo>
                      <a:pt x="276" y="609"/>
                    </a:lnTo>
                    <a:lnTo>
                      <a:pt x="306" y="692"/>
                    </a:lnTo>
                    <a:lnTo>
                      <a:pt x="317" y="727"/>
                    </a:lnTo>
                    <a:lnTo>
                      <a:pt x="322" y="763"/>
                    </a:lnTo>
                    <a:lnTo>
                      <a:pt x="326" y="798"/>
                    </a:lnTo>
                    <a:lnTo>
                      <a:pt x="331" y="831"/>
                    </a:lnTo>
                    <a:lnTo>
                      <a:pt x="320" y="834"/>
                    </a:lnTo>
                    <a:lnTo>
                      <a:pt x="312" y="836"/>
                    </a:lnTo>
                    <a:lnTo>
                      <a:pt x="303" y="839"/>
                    </a:lnTo>
                    <a:lnTo>
                      <a:pt x="292" y="841"/>
                    </a:lnTo>
                    <a:lnTo>
                      <a:pt x="296" y="811"/>
                    </a:lnTo>
                    <a:lnTo>
                      <a:pt x="296" y="779"/>
                    </a:lnTo>
                    <a:lnTo>
                      <a:pt x="296" y="749"/>
                    </a:lnTo>
                    <a:lnTo>
                      <a:pt x="298" y="716"/>
                    </a:lnTo>
                    <a:lnTo>
                      <a:pt x="292" y="710"/>
                    </a:lnTo>
                    <a:lnTo>
                      <a:pt x="292" y="705"/>
                    </a:lnTo>
                    <a:lnTo>
                      <a:pt x="292" y="700"/>
                    </a:lnTo>
                    <a:lnTo>
                      <a:pt x="287" y="694"/>
                    </a:lnTo>
                    <a:lnTo>
                      <a:pt x="282" y="730"/>
                    </a:lnTo>
                    <a:lnTo>
                      <a:pt x="278" y="768"/>
                    </a:lnTo>
                    <a:lnTo>
                      <a:pt x="278" y="804"/>
                    </a:lnTo>
                    <a:lnTo>
                      <a:pt x="276" y="836"/>
                    </a:lnTo>
                    <a:lnTo>
                      <a:pt x="278" y="839"/>
                    </a:lnTo>
                    <a:lnTo>
                      <a:pt x="285" y="841"/>
                    </a:lnTo>
                    <a:lnTo>
                      <a:pt x="287" y="841"/>
                    </a:lnTo>
                    <a:lnTo>
                      <a:pt x="276" y="844"/>
                    </a:lnTo>
                    <a:lnTo>
                      <a:pt x="241" y="758"/>
                    </a:lnTo>
                    <a:lnTo>
                      <a:pt x="205" y="670"/>
                    </a:lnTo>
                    <a:lnTo>
                      <a:pt x="170" y="579"/>
                    </a:lnTo>
                    <a:lnTo>
                      <a:pt x="137" y="493"/>
                    </a:lnTo>
                    <a:lnTo>
                      <a:pt x="101" y="406"/>
                    </a:lnTo>
                    <a:lnTo>
                      <a:pt x="69" y="319"/>
                    </a:lnTo>
                    <a:lnTo>
                      <a:pt x="34" y="231"/>
                    </a:lnTo>
                    <a:lnTo>
                      <a:pt x="0" y="144"/>
                    </a:lnTo>
                    <a:lnTo>
                      <a:pt x="9" y="108"/>
                    </a:lnTo>
                    <a:lnTo>
                      <a:pt x="14" y="71"/>
                    </a:lnTo>
                    <a:lnTo>
                      <a:pt x="20" y="35"/>
                    </a:lnTo>
                    <a:lnTo>
                      <a:pt x="31" y="0"/>
                    </a:lnTo>
                    <a:lnTo>
                      <a:pt x="39" y="5"/>
                    </a:lnTo>
                    <a:lnTo>
                      <a:pt x="48" y="16"/>
                    </a:lnTo>
                    <a:lnTo>
                      <a:pt x="55" y="27"/>
                    </a:lnTo>
                    <a:lnTo>
                      <a:pt x="61" y="35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4" name="任意多边形 181293"/>
              <p:cNvSpPr/>
              <p:nvPr/>
            </p:nvSpPr>
            <p:spPr>
              <a:xfrm>
                <a:off x="2951" y="2078"/>
                <a:ext cx="65" cy="57"/>
              </a:xfrm>
              <a:custGeom>
                <a:avLst/>
                <a:gdLst/>
                <a:ahLst/>
                <a:cxnLst/>
                <a:pathLst>
                  <a:path w="261" h="229">
                    <a:moveTo>
                      <a:pt x="261" y="48"/>
                    </a:moveTo>
                    <a:lnTo>
                      <a:pt x="261" y="82"/>
                    </a:lnTo>
                    <a:lnTo>
                      <a:pt x="255" y="112"/>
                    </a:lnTo>
                    <a:lnTo>
                      <a:pt x="239" y="144"/>
                    </a:lnTo>
                    <a:lnTo>
                      <a:pt x="214" y="168"/>
                    </a:lnTo>
                    <a:lnTo>
                      <a:pt x="204" y="177"/>
                    </a:lnTo>
                    <a:lnTo>
                      <a:pt x="196" y="185"/>
                    </a:lnTo>
                    <a:lnTo>
                      <a:pt x="184" y="193"/>
                    </a:lnTo>
                    <a:lnTo>
                      <a:pt x="172" y="201"/>
                    </a:lnTo>
                    <a:lnTo>
                      <a:pt x="161" y="207"/>
                    </a:lnTo>
                    <a:lnTo>
                      <a:pt x="149" y="215"/>
                    </a:lnTo>
                    <a:lnTo>
                      <a:pt x="136" y="220"/>
                    </a:lnTo>
                    <a:lnTo>
                      <a:pt x="124" y="229"/>
                    </a:lnTo>
                    <a:lnTo>
                      <a:pt x="111" y="212"/>
                    </a:lnTo>
                    <a:lnTo>
                      <a:pt x="98" y="195"/>
                    </a:lnTo>
                    <a:lnTo>
                      <a:pt x="84" y="179"/>
                    </a:lnTo>
                    <a:lnTo>
                      <a:pt x="67" y="165"/>
                    </a:lnTo>
                    <a:lnTo>
                      <a:pt x="48" y="152"/>
                    </a:lnTo>
                    <a:lnTo>
                      <a:pt x="32" y="142"/>
                    </a:lnTo>
                    <a:lnTo>
                      <a:pt x="16" y="128"/>
                    </a:lnTo>
                    <a:lnTo>
                      <a:pt x="0" y="114"/>
                    </a:lnTo>
                    <a:lnTo>
                      <a:pt x="2" y="87"/>
                    </a:lnTo>
                    <a:lnTo>
                      <a:pt x="11" y="62"/>
                    </a:lnTo>
                    <a:lnTo>
                      <a:pt x="21" y="38"/>
                    </a:lnTo>
                    <a:lnTo>
                      <a:pt x="35" y="13"/>
                    </a:lnTo>
                    <a:lnTo>
                      <a:pt x="37" y="8"/>
                    </a:lnTo>
                    <a:lnTo>
                      <a:pt x="35" y="5"/>
                    </a:lnTo>
                    <a:lnTo>
                      <a:pt x="32" y="2"/>
                    </a:lnTo>
                    <a:lnTo>
                      <a:pt x="30" y="0"/>
                    </a:lnTo>
                    <a:lnTo>
                      <a:pt x="60" y="5"/>
                    </a:lnTo>
                    <a:lnTo>
                      <a:pt x="89" y="11"/>
                    </a:lnTo>
                    <a:lnTo>
                      <a:pt x="119" y="16"/>
                    </a:lnTo>
                    <a:lnTo>
                      <a:pt x="149" y="18"/>
                    </a:lnTo>
                    <a:lnTo>
                      <a:pt x="177" y="27"/>
                    </a:lnTo>
                    <a:lnTo>
                      <a:pt x="207" y="32"/>
                    </a:lnTo>
                    <a:lnTo>
                      <a:pt x="234" y="41"/>
                    </a:lnTo>
                    <a:lnTo>
                      <a:pt x="261" y="48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5" name="任意多边形 181294"/>
              <p:cNvSpPr/>
              <p:nvPr/>
            </p:nvSpPr>
            <p:spPr>
              <a:xfrm>
                <a:off x="2727" y="2079"/>
                <a:ext cx="81" cy="175"/>
              </a:xfrm>
              <a:custGeom>
                <a:avLst/>
                <a:gdLst/>
                <a:ahLst/>
                <a:cxnLst/>
                <a:pathLst>
                  <a:path w="324" h="700">
                    <a:moveTo>
                      <a:pt x="315" y="574"/>
                    </a:moveTo>
                    <a:lnTo>
                      <a:pt x="324" y="581"/>
                    </a:lnTo>
                    <a:lnTo>
                      <a:pt x="324" y="592"/>
                    </a:lnTo>
                    <a:lnTo>
                      <a:pt x="321" y="602"/>
                    </a:lnTo>
                    <a:lnTo>
                      <a:pt x="324" y="616"/>
                    </a:lnTo>
                    <a:lnTo>
                      <a:pt x="321" y="700"/>
                    </a:lnTo>
                    <a:lnTo>
                      <a:pt x="310" y="670"/>
                    </a:lnTo>
                    <a:lnTo>
                      <a:pt x="294" y="640"/>
                    </a:lnTo>
                    <a:lnTo>
                      <a:pt x="275" y="611"/>
                    </a:lnTo>
                    <a:lnTo>
                      <a:pt x="255" y="581"/>
                    </a:lnTo>
                    <a:lnTo>
                      <a:pt x="253" y="581"/>
                    </a:lnTo>
                    <a:lnTo>
                      <a:pt x="248" y="578"/>
                    </a:lnTo>
                    <a:lnTo>
                      <a:pt x="245" y="572"/>
                    </a:lnTo>
                    <a:lnTo>
                      <a:pt x="239" y="569"/>
                    </a:lnTo>
                    <a:lnTo>
                      <a:pt x="209" y="504"/>
                    </a:lnTo>
                    <a:lnTo>
                      <a:pt x="179" y="439"/>
                    </a:lnTo>
                    <a:lnTo>
                      <a:pt x="149" y="374"/>
                    </a:lnTo>
                    <a:lnTo>
                      <a:pt x="119" y="308"/>
                    </a:lnTo>
                    <a:lnTo>
                      <a:pt x="89" y="243"/>
                    </a:lnTo>
                    <a:lnTo>
                      <a:pt x="59" y="174"/>
                    </a:lnTo>
                    <a:lnTo>
                      <a:pt x="29" y="109"/>
                    </a:lnTo>
                    <a:lnTo>
                      <a:pt x="0" y="41"/>
                    </a:lnTo>
                    <a:lnTo>
                      <a:pt x="7" y="43"/>
                    </a:lnTo>
                    <a:lnTo>
                      <a:pt x="16" y="43"/>
                    </a:lnTo>
                    <a:lnTo>
                      <a:pt x="18" y="43"/>
                    </a:lnTo>
                    <a:lnTo>
                      <a:pt x="24" y="38"/>
                    </a:lnTo>
                    <a:lnTo>
                      <a:pt x="29" y="0"/>
                    </a:lnTo>
                    <a:lnTo>
                      <a:pt x="68" y="71"/>
                    </a:lnTo>
                    <a:lnTo>
                      <a:pt x="103" y="142"/>
                    </a:lnTo>
                    <a:lnTo>
                      <a:pt x="138" y="213"/>
                    </a:lnTo>
                    <a:lnTo>
                      <a:pt x="174" y="284"/>
                    </a:lnTo>
                    <a:lnTo>
                      <a:pt x="209" y="357"/>
                    </a:lnTo>
                    <a:lnTo>
                      <a:pt x="245" y="427"/>
                    </a:lnTo>
                    <a:lnTo>
                      <a:pt x="280" y="501"/>
                    </a:lnTo>
                    <a:lnTo>
                      <a:pt x="315" y="574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6" name="任意多边形 181295"/>
              <p:cNvSpPr/>
              <p:nvPr/>
            </p:nvSpPr>
            <p:spPr>
              <a:xfrm>
                <a:off x="2843" y="2091"/>
                <a:ext cx="8" cy="7"/>
              </a:xfrm>
              <a:custGeom>
                <a:avLst/>
                <a:gdLst/>
                <a:ahLst/>
                <a:cxnLst/>
                <a:pathLst>
                  <a:path w="36" h="30">
                    <a:moveTo>
                      <a:pt x="36" y="19"/>
                    </a:moveTo>
                    <a:lnTo>
                      <a:pt x="6" y="30"/>
                    </a:lnTo>
                    <a:lnTo>
                      <a:pt x="2" y="22"/>
                    </a:lnTo>
                    <a:lnTo>
                      <a:pt x="2" y="14"/>
                    </a:lnTo>
                    <a:lnTo>
                      <a:pt x="0" y="5"/>
                    </a:lnTo>
                    <a:lnTo>
                      <a:pt x="6" y="0"/>
                    </a:lnTo>
                    <a:lnTo>
                      <a:pt x="14" y="5"/>
                    </a:lnTo>
                    <a:lnTo>
                      <a:pt x="22" y="8"/>
                    </a:lnTo>
                    <a:lnTo>
                      <a:pt x="30" y="14"/>
                    </a:ln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7" name="任意多边形 181296"/>
              <p:cNvSpPr/>
              <p:nvPr/>
            </p:nvSpPr>
            <p:spPr>
              <a:xfrm>
                <a:off x="2672" y="2096"/>
                <a:ext cx="103" cy="179"/>
              </a:xfrm>
              <a:custGeom>
                <a:avLst/>
                <a:gdLst/>
                <a:ahLst/>
                <a:cxnLst/>
                <a:pathLst>
                  <a:path w="411" h="717">
                    <a:moveTo>
                      <a:pt x="405" y="679"/>
                    </a:moveTo>
                    <a:lnTo>
                      <a:pt x="405" y="681"/>
                    </a:lnTo>
                    <a:lnTo>
                      <a:pt x="405" y="685"/>
                    </a:lnTo>
                    <a:lnTo>
                      <a:pt x="409" y="687"/>
                    </a:lnTo>
                    <a:lnTo>
                      <a:pt x="411" y="687"/>
                    </a:lnTo>
                    <a:lnTo>
                      <a:pt x="389" y="692"/>
                    </a:lnTo>
                    <a:lnTo>
                      <a:pt x="370" y="697"/>
                    </a:lnTo>
                    <a:lnTo>
                      <a:pt x="349" y="701"/>
                    </a:lnTo>
                    <a:lnTo>
                      <a:pt x="329" y="706"/>
                    </a:lnTo>
                    <a:lnTo>
                      <a:pt x="308" y="708"/>
                    </a:lnTo>
                    <a:lnTo>
                      <a:pt x="289" y="711"/>
                    </a:lnTo>
                    <a:lnTo>
                      <a:pt x="269" y="715"/>
                    </a:lnTo>
                    <a:lnTo>
                      <a:pt x="250" y="717"/>
                    </a:lnTo>
                    <a:lnTo>
                      <a:pt x="245" y="690"/>
                    </a:lnTo>
                    <a:lnTo>
                      <a:pt x="242" y="662"/>
                    </a:lnTo>
                    <a:lnTo>
                      <a:pt x="239" y="637"/>
                    </a:lnTo>
                    <a:lnTo>
                      <a:pt x="237" y="614"/>
                    </a:lnTo>
                    <a:lnTo>
                      <a:pt x="248" y="616"/>
                    </a:lnTo>
                    <a:lnTo>
                      <a:pt x="258" y="619"/>
                    </a:lnTo>
                    <a:lnTo>
                      <a:pt x="269" y="619"/>
                    </a:lnTo>
                    <a:lnTo>
                      <a:pt x="280" y="619"/>
                    </a:lnTo>
                    <a:lnTo>
                      <a:pt x="292" y="619"/>
                    </a:lnTo>
                    <a:lnTo>
                      <a:pt x="302" y="616"/>
                    </a:lnTo>
                    <a:lnTo>
                      <a:pt x="313" y="614"/>
                    </a:lnTo>
                    <a:lnTo>
                      <a:pt x="324" y="607"/>
                    </a:lnTo>
                    <a:lnTo>
                      <a:pt x="329" y="597"/>
                    </a:lnTo>
                    <a:lnTo>
                      <a:pt x="329" y="584"/>
                    </a:lnTo>
                    <a:lnTo>
                      <a:pt x="329" y="570"/>
                    </a:lnTo>
                    <a:lnTo>
                      <a:pt x="327" y="559"/>
                    </a:lnTo>
                    <a:lnTo>
                      <a:pt x="319" y="550"/>
                    </a:lnTo>
                    <a:lnTo>
                      <a:pt x="310" y="545"/>
                    </a:lnTo>
                    <a:lnTo>
                      <a:pt x="302" y="540"/>
                    </a:lnTo>
                    <a:lnTo>
                      <a:pt x="292" y="536"/>
                    </a:lnTo>
                    <a:lnTo>
                      <a:pt x="280" y="534"/>
                    </a:lnTo>
                    <a:lnTo>
                      <a:pt x="267" y="534"/>
                    </a:lnTo>
                    <a:lnTo>
                      <a:pt x="256" y="534"/>
                    </a:lnTo>
                    <a:lnTo>
                      <a:pt x="245" y="536"/>
                    </a:lnTo>
                    <a:lnTo>
                      <a:pt x="226" y="543"/>
                    </a:lnTo>
                    <a:lnTo>
                      <a:pt x="207" y="496"/>
                    </a:lnTo>
                    <a:lnTo>
                      <a:pt x="185" y="453"/>
                    </a:lnTo>
                    <a:lnTo>
                      <a:pt x="166" y="407"/>
                    </a:lnTo>
                    <a:lnTo>
                      <a:pt x="147" y="359"/>
                    </a:lnTo>
                    <a:lnTo>
                      <a:pt x="125" y="313"/>
                    </a:lnTo>
                    <a:lnTo>
                      <a:pt x="106" y="264"/>
                    </a:lnTo>
                    <a:lnTo>
                      <a:pt x="85" y="218"/>
                    </a:lnTo>
                    <a:lnTo>
                      <a:pt x="65" y="172"/>
                    </a:lnTo>
                    <a:lnTo>
                      <a:pt x="76" y="170"/>
                    </a:lnTo>
                    <a:lnTo>
                      <a:pt x="90" y="170"/>
                    </a:lnTo>
                    <a:lnTo>
                      <a:pt x="101" y="170"/>
                    </a:lnTo>
                    <a:lnTo>
                      <a:pt x="111" y="166"/>
                    </a:lnTo>
                    <a:lnTo>
                      <a:pt x="125" y="163"/>
                    </a:lnTo>
                    <a:lnTo>
                      <a:pt x="136" y="161"/>
                    </a:lnTo>
                    <a:lnTo>
                      <a:pt x="144" y="156"/>
                    </a:lnTo>
                    <a:lnTo>
                      <a:pt x="155" y="147"/>
                    </a:lnTo>
                    <a:lnTo>
                      <a:pt x="152" y="134"/>
                    </a:lnTo>
                    <a:lnTo>
                      <a:pt x="147" y="120"/>
                    </a:lnTo>
                    <a:lnTo>
                      <a:pt x="141" y="109"/>
                    </a:lnTo>
                    <a:lnTo>
                      <a:pt x="131" y="95"/>
                    </a:lnTo>
                    <a:lnTo>
                      <a:pt x="120" y="92"/>
                    </a:lnTo>
                    <a:lnTo>
                      <a:pt x="106" y="92"/>
                    </a:lnTo>
                    <a:lnTo>
                      <a:pt x="95" y="92"/>
                    </a:lnTo>
                    <a:lnTo>
                      <a:pt x="81" y="92"/>
                    </a:lnTo>
                    <a:lnTo>
                      <a:pt x="71" y="95"/>
                    </a:lnTo>
                    <a:lnTo>
                      <a:pt x="60" y="99"/>
                    </a:lnTo>
                    <a:lnTo>
                      <a:pt x="49" y="101"/>
                    </a:lnTo>
                    <a:lnTo>
                      <a:pt x="41" y="106"/>
                    </a:lnTo>
                    <a:lnTo>
                      <a:pt x="41" y="112"/>
                    </a:lnTo>
                    <a:lnTo>
                      <a:pt x="0" y="16"/>
                    </a:lnTo>
                    <a:lnTo>
                      <a:pt x="14" y="14"/>
                    </a:lnTo>
                    <a:lnTo>
                      <a:pt x="27" y="11"/>
                    </a:lnTo>
                    <a:lnTo>
                      <a:pt x="43" y="9"/>
                    </a:lnTo>
                    <a:lnTo>
                      <a:pt x="57" y="5"/>
                    </a:lnTo>
                    <a:lnTo>
                      <a:pt x="73" y="5"/>
                    </a:lnTo>
                    <a:lnTo>
                      <a:pt x="90" y="3"/>
                    </a:lnTo>
                    <a:lnTo>
                      <a:pt x="103" y="3"/>
                    </a:lnTo>
                    <a:lnTo>
                      <a:pt x="120" y="0"/>
                    </a:lnTo>
                    <a:lnTo>
                      <a:pt x="405" y="679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8" name="任意多边形 181297"/>
              <p:cNvSpPr/>
              <p:nvPr/>
            </p:nvSpPr>
            <p:spPr>
              <a:xfrm>
                <a:off x="2847" y="2099"/>
                <a:ext cx="35" cy="6"/>
              </a:xfrm>
              <a:custGeom>
                <a:avLst/>
                <a:gdLst/>
                <a:ahLst/>
                <a:cxnLst/>
                <a:pathLst>
                  <a:path w="138" h="21">
                    <a:moveTo>
                      <a:pt x="0" y="13"/>
                    </a:moveTo>
                    <a:lnTo>
                      <a:pt x="16" y="5"/>
                    </a:lnTo>
                    <a:lnTo>
                      <a:pt x="35" y="0"/>
                    </a:lnTo>
                    <a:lnTo>
                      <a:pt x="51" y="0"/>
                    </a:lnTo>
                    <a:lnTo>
                      <a:pt x="70" y="2"/>
                    </a:lnTo>
                    <a:lnTo>
                      <a:pt x="87" y="7"/>
                    </a:lnTo>
                    <a:lnTo>
                      <a:pt x="106" y="13"/>
                    </a:lnTo>
                    <a:lnTo>
                      <a:pt x="122" y="19"/>
                    </a:lnTo>
                    <a:lnTo>
                      <a:pt x="138" y="21"/>
                    </a:lnTo>
                    <a:lnTo>
                      <a:pt x="133" y="21"/>
                    </a:lnTo>
                    <a:lnTo>
                      <a:pt x="122" y="21"/>
                    </a:lnTo>
                    <a:lnTo>
                      <a:pt x="106" y="19"/>
                    </a:lnTo>
                    <a:lnTo>
                      <a:pt x="83" y="16"/>
                    </a:lnTo>
                    <a:lnTo>
                      <a:pt x="62" y="16"/>
                    </a:lnTo>
                    <a:lnTo>
                      <a:pt x="37" y="13"/>
                    </a:lnTo>
                    <a:lnTo>
                      <a:pt x="16" y="13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299" name="任意多边形 181298"/>
              <p:cNvSpPr/>
              <p:nvPr/>
            </p:nvSpPr>
            <p:spPr>
              <a:xfrm>
                <a:off x="2637" y="2100"/>
                <a:ext cx="78" cy="180"/>
              </a:xfrm>
              <a:custGeom>
                <a:avLst/>
                <a:gdLst/>
                <a:ahLst/>
                <a:cxnLst/>
                <a:pathLst>
                  <a:path w="312" h="722">
                    <a:moveTo>
                      <a:pt x="34" y="5"/>
                    </a:moveTo>
                    <a:lnTo>
                      <a:pt x="66" y="93"/>
                    </a:lnTo>
                    <a:lnTo>
                      <a:pt x="101" y="184"/>
                    </a:lnTo>
                    <a:lnTo>
                      <a:pt x="137" y="270"/>
                    </a:lnTo>
                    <a:lnTo>
                      <a:pt x="172" y="357"/>
                    </a:lnTo>
                    <a:lnTo>
                      <a:pt x="205" y="448"/>
                    </a:lnTo>
                    <a:lnTo>
                      <a:pt x="241" y="534"/>
                    </a:lnTo>
                    <a:lnTo>
                      <a:pt x="276" y="625"/>
                    </a:lnTo>
                    <a:lnTo>
                      <a:pt x="312" y="711"/>
                    </a:lnTo>
                    <a:lnTo>
                      <a:pt x="292" y="715"/>
                    </a:lnTo>
                    <a:lnTo>
                      <a:pt x="276" y="717"/>
                    </a:lnTo>
                    <a:lnTo>
                      <a:pt x="257" y="720"/>
                    </a:lnTo>
                    <a:lnTo>
                      <a:pt x="241" y="722"/>
                    </a:lnTo>
                    <a:lnTo>
                      <a:pt x="241" y="679"/>
                    </a:lnTo>
                    <a:lnTo>
                      <a:pt x="237" y="638"/>
                    </a:lnTo>
                    <a:lnTo>
                      <a:pt x="232" y="595"/>
                    </a:lnTo>
                    <a:lnTo>
                      <a:pt x="225" y="551"/>
                    </a:lnTo>
                    <a:lnTo>
                      <a:pt x="195" y="483"/>
                    </a:lnTo>
                    <a:lnTo>
                      <a:pt x="167" y="414"/>
                    </a:lnTo>
                    <a:lnTo>
                      <a:pt x="137" y="347"/>
                    </a:lnTo>
                    <a:lnTo>
                      <a:pt x="110" y="278"/>
                    </a:lnTo>
                    <a:lnTo>
                      <a:pt x="82" y="207"/>
                    </a:lnTo>
                    <a:lnTo>
                      <a:pt x="55" y="140"/>
                    </a:lnTo>
                    <a:lnTo>
                      <a:pt x="28" y="69"/>
                    </a:lnTo>
                    <a:lnTo>
                      <a:pt x="0" y="0"/>
                    </a:lnTo>
                    <a:lnTo>
                      <a:pt x="6" y="3"/>
                    </a:lnTo>
                    <a:lnTo>
                      <a:pt x="14" y="5"/>
                    </a:lnTo>
                    <a:lnTo>
                      <a:pt x="23" y="9"/>
                    </a:lnTo>
                    <a:lnTo>
                      <a:pt x="34" y="5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0" name="任意多边形 181299"/>
              <p:cNvSpPr/>
              <p:nvPr/>
            </p:nvSpPr>
            <p:spPr>
              <a:xfrm>
                <a:off x="2900" y="2103"/>
                <a:ext cx="79" cy="47"/>
              </a:xfrm>
              <a:custGeom>
                <a:avLst/>
                <a:gdLst/>
                <a:ahLst/>
                <a:cxnLst/>
                <a:pathLst>
                  <a:path w="316" h="186">
                    <a:moveTo>
                      <a:pt x="223" y="46"/>
                    </a:moveTo>
                    <a:lnTo>
                      <a:pt x="237" y="55"/>
                    </a:lnTo>
                    <a:lnTo>
                      <a:pt x="248" y="62"/>
                    </a:lnTo>
                    <a:lnTo>
                      <a:pt x="256" y="71"/>
                    </a:lnTo>
                    <a:lnTo>
                      <a:pt x="267" y="82"/>
                    </a:lnTo>
                    <a:lnTo>
                      <a:pt x="278" y="92"/>
                    </a:lnTo>
                    <a:lnTo>
                      <a:pt x="286" y="104"/>
                    </a:lnTo>
                    <a:lnTo>
                      <a:pt x="297" y="115"/>
                    </a:lnTo>
                    <a:lnTo>
                      <a:pt x="311" y="122"/>
                    </a:lnTo>
                    <a:lnTo>
                      <a:pt x="316" y="133"/>
                    </a:lnTo>
                    <a:lnTo>
                      <a:pt x="308" y="142"/>
                    </a:lnTo>
                    <a:lnTo>
                      <a:pt x="294" y="147"/>
                    </a:lnTo>
                    <a:lnTo>
                      <a:pt x="281" y="152"/>
                    </a:lnTo>
                    <a:lnTo>
                      <a:pt x="253" y="163"/>
                    </a:lnTo>
                    <a:lnTo>
                      <a:pt x="226" y="172"/>
                    </a:lnTo>
                    <a:lnTo>
                      <a:pt x="196" y="177"/>
                    </a:lnTo>
                    <a:lnTo>
                      <a:pt x="166" y="180"/>
                    </a:lnTo>
                    <a:lnTo>
                      <a:pt x="136" y="182"/>
                    </a:lnTo>
                    <a:lnTo>
                      <a:pt x="106" y="186"/>
                    </a:lnTo>
                    <a:lnTo>
                      <a:pt x="74" y="186"/>
                    </a:lnTo>
                    <a:lnTo>
                      <a:pt x="44" y="186"/>
                    </a:lnTo>
                    <a:lnTo>
                      <a:pt x="28" y="180"/>
                    </a:lnTo>
                    <a:lnTo>
                      <a:pt x="19" y="170"/>
                    </a:lnTo>
                    <a:lnTo>
                      <a:pt x="11" y="152"/>
                    </a:lnTo>
                    <a:lnTo>
                      <a:pt x="5" y="136"/>
                    </a:lnTo>
                    <a:lnTo>
                      <a:pt x="3" y="120"/>
                    </a:lnTo>
                    <a:lnTo>
                      <a:pt x="0" y="104"/>
                    </a:lnTo>
                    <a:lnTo>
                      <a:pt x="3" y="87"/>
                    </a:lnTo>
                    <a:lnTo>
                      <a:pt x="14" y="76"/>
                    </a:lnTo>
                    <a:lnTo>
                      <a:pt x="28" y="71"/>
                    </a:lnTo>
                    <a:lnTo>
                      <a:pt x="41" y="65"/>
                    </a:lnTo>
                    <a:lnTo>
                      <a:pt x="55" y="57"/>
                    </a:lnTo>
                    <a:lnTo>
                      <a:pt x="69" y="52"/>
                    </a:lnTo>
                    <a:lnTo>
                      <a:pt x="81" y="44"/>
                    </a:lnTo>
                    <a:lnTo>
                      <a:pt x="95" y="35"/>
                    </a:lnTo>
                    <a:lnTo>
                      <a:pt x="109" y="30"/>
                    </a:lnTo>
                    <a:lnTo>
                      <a:pt x="120" y="22"/>
                    </a:lnTo>
                    <a:lnTo>
                      <a:pt x="131" y="22"/>
                    </a:lnTo>
                    <a:lnTo>
                      <a:pt x="136" y="14"/>
                    </a:lnTo>
                    <a:lnTo>
                      <a:pt x="142" y="5"/>
                    </a:lnTo>
                    <a:lnTo>
                      <a:pt x="150" y="0"/>
                    </a:lnTo>
                    <a:lnTo>
                      <a:pt x="169" y="5"/>
                    </a:lnTo>
                    <a:lnTo>
                      <a:pt x="188" y="19"/>
                    </a:lnTo>
                    <a:lnTo>
                      <a:pt x="205" y="35"/>
                    </a:lnTo>
                    <a:lnTo>
                      <a:pt x="223" y="46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1" name="任意多边形 181300"/>
              <p:cNvSpPr/>
              <p:nvPr/>
            </p:nvSpPr>
            <p:spPr>
              <a:xfrm>
                <a:off x="2885" y="2105"/>
                <a:ext cx="11" cy="20"/>
              </a:xfrm>
              <a:custGeom>
                <a:avLst/>
                <a:gdLst/>
                <a:ahLst/>
                <a:cxnLst/>
                <a:pathLst>
                  <a:path w="46" h="82">
                    <a:moveTo>
                      <a:pt x="44" y="6"/>
                    </a:moveTo>
                    <a:lnTo>
                      <a:pt x="46" y="25"/>
                    </a:lnTo>
                    <a:lnTo>
                      <a:pt x="44" y="44"/>
                    </a:lnTo>
                    <a:lnTo>
                      <a:pt x="41" y="64"/>
                    </a:lnTo>
                    <a:lnTo>
                      <a:pt x="44" y="82"/>
                    </a:lnTo>
                    <a:lnTo>
                      <a:pt x="33" y="77"/>
                    </a:lnTo>
                    <a:lnTo>
                      <a:pt x="19" y="77"/>
                    </a:lnTo>
                    <a:lnTo>
                      <a:pt x="5" y="71"/>
                    </a:lnTo>
                    <a:lnTo>
                      <a:pt x="0" y="60"/>
                    </a:lnTo>
                    <a:lnTo>
                      <a:pt x="14" y="0"/>
                    </a:lnTo>
                    <a:lnTo>
                      <a:pt x="22" y="4"/>
                    </a:lnTo>
                    <a:lnTo>
                      <a:pt x="30" y="6"/>
                    </a:lnTo>
                    <a:lnTo>
                      <a:pt x="35" y="6"/>
                    </a:lnTo>
                    <a:lnTo>
                      <a:pt x="44" y="6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2" name="任意多边形 181301"/>
              <p:cNvSpPr/>
              <p:nvPr/>
            </p:nvSpPr>
            <p:spPr>
              <a:xfrm>
                <a:off x="2820" y="2106"/>
                <a:ext cx="63" cy="39"/>
              </a:xfrm>
              <a:custGeom>
                <a:avLst/>
                <a:gdLst/>
                <a:ahLst/>
                <a:cxnLst/>
                <a:pathLst>
                  <a:path w="253" h="155">
                    <a:moveTo>
                      <a:pt x="253" y="11"/>
                    </a:moveTo>
                    <a:lnTo>
                      <a:pt x="248" y="49"/>
                    </a:lnTo>
                    <a:lnTo>
                      <a:pt x="241" y="85"/>
                    </a:lnTo>
                    <a:lnTo>
                      <a:pt x="227" y="120"/>
                    </a:lnTo>
                    <a:lnTo>
                      <a:pt x="216" y="155"/>
                    </a:lnTo>
                    <a:lnTo>
                      <a:pt x="188" y="152"/>
                    </a:lnTo>
                    <a:lnTo>
                      <a:pt x="161" y="147"/>
                    </a:lnTo>
                    <a:lnTo>
                      <a:pt x="133" y="141"/>
                    </a:lnTo>
                    <a:lnTo>
                      <a:pt x="106" y="134"/>
                    </a:lnTo>
                    <a:lnTo>
                      <a:pt x="80" y="122"/>
                    </a:lnTo>
                    <a:lnTo>
                      <a:pt x="52" y="115"/>
                    </a:lnTo>
                    <a:lnTo>
                      <a:pt x="27" y="104"/>
                    </a:lnTo>
                    <a:lnTo>
                      <a:pt x="0" y="95"/>
                    </a:lnTo>
                    <a:lnTo>
                      <a:pt x="6" y="68"/>
                    </a:lnTo>
                    <a:lnTo>
                      <a:pt x="19" y="44"/>
                    </a:lnTo>
                    <a:lnTo>
                      <a:pt x="39" y="28"/>
                    </a:lnTo>
                    <a:lnTo>
                      <a:pt x="60" y="11"/>
                    </a:lnTo>
                    <a:lnTo>
                      <a:pt x="68" y="11"/>
                    </a:lnTo>
                    <a:lnTo>
                      <a:pt x="74" y="8"/>
                    </a:lnTo>
                    <a:lnTo>
                      <a:pt x="80" y="5"/>
                    </a:lnTo>
                    <a:lnTo>
                      <a:pt x="85" y="0"/>
                    </a:lnTo>
                    <a:lnTo>
                      <a:pt x="106" y="3"/>
                    </a:lnTo>
                    <a:lnTo>
                      <a:pt x="126" y="5"/>
                    </a:lnTo>
                    <a:lnTo>
                      <a:pt x="147" y="8"/>
                    </a:lnTo>
                    <a:lnTo>
                      <a:pt x="169" y="11"/>
                    </a:lnTo>
                    <a:lnTo>
                      <a:pt x="191" y="14"/>
                    </a:lnTo>
                    <a:lnTo>
                      <a:pt x="213" y="14"/>
                    </a:lnTo>
                    <a:lnTo>
                      <a:pt x="232" y="14"/>
                    </a:lnTo>
                    <a:lnTo>
                      <a:pt x="253" y="11"/>
                    </a:lnTo>
                    <a:close/>
                  </a:path>
                </a:pathLst>
              </a:custGeom>
              <a:solidFill>
                <a:srgbClr val="9E9E9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3" name="任意多边形 181302"/>
              <p:cNvSpPr/>
              <p:nvPr/>
            </p:nvSpPr>
            <p:spPr>
              <a:xfrm>
                <a:off x="2901" y="2106"/>
                <a:ext cx="14" cy="9"/>
              </a:xfrm>
              <a:custGeom>
                <a:avLst/>
                <a:gdLst/>
                <a:ahLst/>
                <a:cxnLst/>
                <a:pathLst>
                  <a:path w="55" h="35">
                    <a:moveTo>
                      <a:pt x="20" y="0"/>
                    </a:moveTo>
                    <a:lnTo>
                      <a:pt x="20" y="3"/>
                    </a:lnTo>
                    <a:lnTo>
                      <a:pt x="20" y="5"/>
                    </a:lnTo>
                    <a:lnTo>
                      <a:pt x="28" y="8"/>
                    </a:lnTo>
                    <a:lnTo>
                      <a:pt x="39" y="8"/>
                    </a:lnTo>
                    <a:lnTo>
                      <a:pt x="46" y="5"/>
                    </a:lnTo>
                    <a:lnTo>
                      <a:pt x="55" y="5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8E8E8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4" name="任意多边形 181303"/>
              <p:cNvSpPr/>
              <p:nvPr/>
            </p:nvSpPr>
            <p:spPr>
              <a:xfrm>
                <a:off x="2606" y="2107"/>
                <a:ext cx="75" cy="178"/>
              </a:xfrm>
              <a:custGeom>
                <a:avLst/>
                <a:gdLst/>
                <a:ahLst/>
                <a:cxnLst/>
                <a:pathLst>
                  <a:path w="300" h="712">
                    <a:moveTo>
                      <a:pt x="44" y="25"/>
                    </a:moveTo>
                    <a:lnTo>
                      <a:pt x="77" y="110"/>
                    </a:lnTo>
                    <a:lnTo>
                      <a:pt x="109" y="194"/>
                    </a:lnTo>
                    <a:lnTo>
                      <a:pt x="142" y="278"/>
                    </a:lnTo>
                    <a:lnTo>
                      <a:pt x="171" y="363"/>
                    </a:lnTo>
                    <a:lnTo>
                      <a:pt x="205" y="448"/>
                    </a:lnTo>
                    <a:lnTo>
                      <a:pt x="237" y="532"/>
                    </a:lnTo>
                    <a:lnTo>
                      <a:pt x="267" y="616"/>
                    </a:lnTo>
                    <a:lnTo>
                      <a:pt x="300" y="701"/>
                    </a:lnTo>
                    <a:lnTo>
                      <a:pt x="240" y="712"/>
                    </a:lnTo>
                    <a:lnTo>
                      <a:pt x="235" y="649"/>
                    </a:lnTo>
                    <a:lnTo>
                      <a:pt x="224" y="586"/>
                    </a:lnTo>
                    <a:lnTo>
                      <a:pt x="205" y="526"/>
                    </a:lnTo>
                    <a:lnTo>
                      <a:pt x="183" y="469"/>
                    </a:lnTo>
                    <a:lnTo>
                      <a:pt x="159" y="409"/>
                    </a:lnTo>
                    <a:lnTo>
                      <a:pt x="131" y="352"/>
                    </a:lnTo>
                    <a:lnTo>
                      <a:pt x="107" y="295"/>
                    </a:lnTo>
                    <a:lnTo>
                      <a:pt x="85" y="235"/>
                    </a:lnTo>
                    <a:lnTo>
                      <a:pt x="0" y="0"/>
                    </a:lnTo>
                    <a:lnTo>
                      <a:pt x="14" y="3"/>
                    </a:lnTo>
                    <a:lnTo>
                      <a:pt x="28" y="3"/>
                    </a:lnTo>
                    <a:lnTo>
                      <a:pt x="38" y="9"/>
                    </a:lnTo>
                    <a:lnTo>
                      <a:pt x="44" y="25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5" name="任意多边形 181304"/>
              <p:cNvSpPr/>
              <p:nvPr/>
            </p:nvSpPr>
            <p:spPr>
              <a:xfrm>
                <a:off x="2526" y="2116"/>
                <a:ext cx="117" cy="179"/>
              </a:xfrm>
              <a:custGeom>
                <a:avLst/>
                <a:gdLst/>
                <a:ahLst/>
                <a:cxnLst/>
                <a:pathLst>
                  <a:path w="471" h="716">
                    <a:moveTo>
                      <a:pt x="269" y="164"/>
                    </a:moveTo>
                    <a:lnTo>
                      <a:pt x="471" y="689"/>
                    </a:lnTo>
                    <a:lnTo>
                      <a:pt x="450" y="695"/>
                    </a:lnTo>
                    <a:lnTo>
                      <a:pt x="428" y="697"/>
                    </a:lnTo>
                    <a:lnTo>
                      <a:pt x="406" y="703"/>
                    </a:lnTo>
                    <a:lnTo>
                      <a:pt x="386" y="706"/>
                    </a:lnTo>
                    <a:lnTo>
                      <a:pt x="365" y="711"/>
                    </a:lnTo>
                    <a:lnTo>
                      <a:pt x="345" y="714"/>
                    </a:lnTo>
                    <a:lnTo>
                      <a:pt x="324" y="716"/>
                    </a:lnTo>
                    <a:lnTo>
                      <a:pt x="305" y="716"/>
                    </a:lnTo>
                    <a:lnTo>
                      <a:pt x="269" y="689"/>
                    </a:lnTo>
                    <a:lnTo>
                      <a:pt x="237" y="659"/>
                    </a:lnTo>
                    <a:lnTo>
                      <a:pt x="207" y="633"/>
                    </a:lnTo>
                    <a:lnTo>
                      <a:pt x="179" y="603"/>
                    </a:lnTo>
                    <a:lnTo>
                      <a:pt x="152" y="569"/>
                    </a:lnTo>
                    <a:lnTo>
                      <a:pt x="128" y="537"/>
                    </a:lnTo>
                    <a:lnTo>
                      <a:pt x="106" y="504"/>
                    </a:lnTo>
                    <a:lnTo>
                      <a:pt x="84" y="466"/>
                    </a:lnTo>
                    <a:lnTo>
                      <a:pt x="98" y="454"/>
                    </a:lnTo>
                    <a:lnTo>
                      <a:pt x="114" y="452"/>
                    </a:lnTo>
                    <a:lnTo>
                      <a:pt x="133" y="449"/>
                    </a:lnTo>
                    <a:lnTo>
                      <a:pt x="149" y="447"/>
                    </a:lnTo>
                    <a:lnTo>
                      <a:pt x="166" y="447"/>
                    </a:lnTo>
                    <a:lnTo>
                      <a:pt x="179" y="438"/>
                    </a:lnTo>
                    <a:lnTo>
                      <a:pt x="188" y="428"/>
                    </a:lnTo>
                    <a:lnTo>
                      <a:pt x="191" y="406"/>
                    </a:lnTo>
                    <a:lnTo>
                      <a:pt x="177" y="371"/>
                    </a:lnTo>
                    <a:lnTo>
                      <a:pt x="163" y="335"/>
                    </a:lnTo>
                    <a:lnTo>
                      <a:pt x="152" y="297"/>
                    </a:lnTo>
                    <a:lnTo>
                      <a:pt x="138" y="256"/>
                    </a:lnTo>
                    <a:lnTo>
                      <a:pt x="122" y="247"/>
                    </a:lnTo>
                    <a:lnTo>
                      <a:pt x="106" y="245"/>
                    </a:lnTo>
                    <a:lnTo>
                      <a:pt x="90" y="245"/>
                    </a:lnTo>
                    <a:lnTo>
                      <a:pt x="73" y="247"/>
                    </a:lnTo>
                    <a:lnTo>
                      <a:pt x="55" y="251"/>
                    </a:lnTo>
                    <a:lnTo>
                      <a:pt x="37" y="253"/>
                    </a:lnTo>
                    <a:lnTo>
                      <a:pt x="21" y="256"/>
                    </a:lnTo>
                    <a:lnTo>
                      <a:pt x="5" y="259"/>
                    </a:lnTo>
                    <a:lnTo>
                      <a:pt x="0" y="199"/>
                    </a:lnTo>
                    <a:lnTo>
                      <a:pt x="11" y="144"/>
                    </a:lnTo>
                    <a:lnTo>
                      <a:pt x="25" y="88"/>
                    </a:lnTo>
                    <a:lnTo>
                      <a:pt x="41" y="24"/>
                    </a:lnTo>
                    <a:lnTo>
                      <a:pt x="207" y="0"/>
                    </a:lnTo>
                    <a:lnTo>
                      <a:pt x="269" y="164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6" name="任意多边形 181305"/>
              <p:cNvSpPr/>
              <p:nvPr/>
            </p:nvSpPr>
            <p:spPr>
              <a:xfrm>
                <a:off x="3030" y="2120"/>
                <a:ext cx="27" cy="15"/>
              </a:xfrm>
              <a:custGeom>
                <a:avLst/>
                <a:gdLst/>
                <a:ahLst/>
                <a:cxnLst/>
                <a:pathLst>
                  <a:path w="110" h="61">
                    <a:moveTo>
                      <a:pt x="96" y="11"/>
                    </a:moveTo>
                    <a:lnTo>
                      <a:pt x="99" y="20"/>
                    </a:lnTo>
                    <a:lnTo>
                      <a:pt x="104" y="27"/>
                    </a:lnTo>
                    <a:lnTo>
                      <a:pt x="110" y="36"/>
                    </a:lnTo>
                    <a:lnTo>
                      <a:pt x="107" y="47"/>
                    </a:lnTo>
                    <a:lnTo>
                      <a:pt x="94" y="57"/>
                    </a:lnTo>
                    <a:lnTo>
                      <a:pt x="77" y="61"/>
                    </a:lnTo>
                    <a:lnTo>
                      <a:pt x="58" y="61"/>
                    </a:lnTo>
                    <a:lnTo>
                      <a:pt x="39" y="61"/>
                    </a:lnTo>
                    <a:lnTo>
                      <a:pt x="28" y="57"/>
                    </a:lnTo>
                    <a:lnTo>
                      <a:pt x="14" y="55"/>
                    </a:lnTo>
                    <a:lnTo>
                      <a:pt x="4" y="50"/>
                    </a:lnTo>
                    <a:lnTo>
                      <a:pt x="0" y="36"/>
                    </a:lnTo>
                    <a:lnTo>
                      <a:pt x="4" y="25"/>
                    </a:lnTo>
                    <a:lnTo>
                      <a:pt x="9" y="17"/>
                    </a:lnTo>
                    <a:lnTo>
                      <a:pt x="18" y="11"/>
                    </a:lnTo>
                    <a:lnTo>
                      <a:pt x="25" y="6"/>
                    </a:lnTo>
                    <a:lnTo>
                      <a:pt x="41" y="4"/>
                    </a:lnTo>
                    <a:lnTo>
                      <a:pt x="64" y="0"/>
                    </a:lnTo>
                    <a:lnTo>
                      <a:pt x="82" y="4"/>
                    </a:lnTo>
                    <a:lnTo>
                      <a:pt x="96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7" name="任意多边形 181306"/>
              <p:cNvSpPr/>
              <p:nvPr/>
            </p:nvSpPr>
            <p:spPr>
              <a:xfrm>
                <a:off x="2819" y="2143"/>
                <a:ext cx="238" cy="71"/>
              </a:xfrm>
              <a:custGeom>
                <a:avLst/>
                <a:gdLst/>
                <a:ahLst/>
                <a:cxnLst/>
                <a:pathLst>
                  <a:path w="954" h="280">
                    <a:moveTo>
                      <a:pt x="945" y="120"/>
                    </a:moveTo>
                    <a:lnTo>
                      <a:pt x="11" y="280"/>
                    </a:lnTo>
                    <a:lnTo>
                      <a:pt x="0" y="248"/>
                    </a:lnTo>
                    <a:lnTo>
                      <a:pt x="0" y="207"/>
                    </a:lnTo>
                    <a:lnTo>
                      <a:pt x="2" y="166"/>
                    </a:lnTo>
                    <a:lnTo>
                      <a:pt x="5" y="131"/>
                    </a:lnTo>
                    <a:lnTo>
                      <a:pt x="37" y="131"/>
                    </a:lnTo>
                    <a:lnTo>
                      <a:pt x="81" y="131"/>
                    </a:lnTo>
                    <a:lnTo>
                      <a:pt x="136" y="128"/>
                    </a:lnTo>
                    <a:lnTo>
                      <a:pt x="196" y="122"/>
                    </a:lnTo>
                    <a:lnTo>
                      <a:pt x="262" y="115"/>
                    </a:lnTo>
                    <a:lnTo>
                      <a:pt x="329" y="106"/>
                    </a:lnTo>
                    <a:lnTo>
                      <a:pt x="403" y="98"/>
                    </a:lnTo>
                    <a:lnTo>
                      <a:pt x="476" y="87"/>
                    </a:lnTo>
                    <a:lnTo>
                      <a:pt x="554" y="76"/>
                    </a:lnTo>
                    <a:lnTo>
                      <a:pt x="624" y="65"/>
                    </a:lnTo>
                    <a:lnTo>
                      <a:pt x="695" y="51"/>
                    </a:lnTo>
                    <a:lnTo>
                      <a:pt x="761" y="41"/>
                    </a:lnTo>
                    <a:lnTo>
                      <a:pt x="820" y="30"/>
                    </a:lnTo>
                    <a:lnTo>
                      <a:pt x="874" y="19"/>
                    </a:lnTo>
                    <a:lnTo>
                      <a:pt x="918" y="9"/>
                    </a:lnTo>
                    <a:lnTo>
                      <a:pt x="954" y="0"/>
                    </a:lnTo>
                    <a:lnTo>
                      <a:pt x="951" y="32"/>
                    </a:lnTo>
                    <a:lnTo>
                      <a:pt x="951" y="60"/>
                    </a:lnTo>
                    <a:lnTo>
                      <a:pt x="948" y="90"/>
                    </a:lnTo>
                    <a:lnTo>
                      <a:pt x="945" y="120"/>
                    </a:lnTo>
                    <a:close/>
                  </a:path>
                </a:pathLst>
              </a:custGeom>
              <a:solidFill>
                <a:srgbClr val="AFAFA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8" name="任意多边形 181307"/>
              <p:cNvSpPr/>
              <p:nvPr/>
            </p:nvSpPr>
            <p:spPr>
              <a:xfrm>
                <a:off x="3065" y="2148"/>
                <a:ext cx="25" cy="68"/>
              </a:xfrm>
              <a:custGeom>
                <a:avLst/>
                <a:gdLst/>
                <a:ahLst/>
                <a:cxnLst/>
                <a:pathLst>
                  <a:path w="101" h="276">
                    <a:moveTo>
                      <a:pt x="101" y="128"/>
                    </a:moveTo>
                    <a:lnTo>
                      <a:pt x="95" y="164"/>
                    </a:lnTo>
                    <a:lnTo>
                      <a:pt x="92" y="202"/>
                    </a:lnTo>
                    <a:lnTo>
                      <a:pt x="92" y="237"/>
                    </a:lnTo>
                    <a:lnTo>
                      <a:pt x="90" y="276"/>
                    </a:lnTo>
                    <a:lnTo>
                      <a:pt x="78" y="257"/>
                    </a:lnTo>
                    <a:lnTo>
                      <a:pt x="65" y="240"/>
                    </a:lnTo>
                    <a:lnTo>
                      <a:pt x="51" y="221"/>
                    </a:lnTo>
                    <a:lnTo>
                      <a:pt x="37" y="202"/>
                    </a:lnTo>
                    <a:lnTo>
                      <a:pt x="25" y="182"/>
                    </a:lnTo>
                    <a:lnTo>
                      <a:pt x="14" y="164"/>
                    </a:lnTo>
                    <a:lnTo>
                      <a:pt x="5" y="145"/>
                    </a:lnTo>
                    <a:lnTo>
                      <a:pt x="0" y="126"/>
                    </a:lnTo>
                    <a:lnTo>
                      <a:pt x="5" y="96"/>
                    </a:lnTo>
                    <a:lnTo>
                      <a:pt x="7" y="66"/>
                    </a:lnTo>
                    <a:lnTo>
                      <a:pt x="7" y="33"/>
                    </a:lnTo>
                    <a:lnTo>
                      <a:pt x="11" y="0"/>
                    </a:lnTo>
                    <a:lnTo>
                      <a:pt x="21" y="16"/>
                    </a:lnTo>
                    <a:lnTo>
                      <a:pt x="32" y="33"/>
                    </a:lnTo>
                    <a:lnTo>
                      <a:pt x="43" y="49"/>
                    </a:lnTo>
                    <a:lnTo>
                      <a:pt x="55" y="66"/>
                    </a:lnTo>
                    <a:lnTo>
                      <a:pt x="65" y="82"/>
                    </a:lnTo>
                    <a:lnTo>
                      <a:pt x="76" y="99"/>
                    </a:lnTo>
                    <a:lnTo>
                      <a:pt x="87" y="115"/>
                    </a:lnTo>
                    <a:lnTo>
                      <a:pt x="101" y="128"/>
                    </a:lnTo>
                    <a:close/>
                  </a:path>
                </a:pathLst>
              </a:custGeom>
              <a:solidFill>
                <a:srgbClr val="ADE2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09" name="任意多边形 181308"/>
              <p:cNvSpPr/>
              <p:nvPr/>
            </p:nvSpPr>
            <p:spPr>
              <a:xfrm>
                <a:off x="2810" y="2149"/>
                <a:ext cx="32" cy="18"/>
              </a:xfrm>
              <a:custGeom>
                <a:avLst/>
                <a:gdLst/>
                <a:ahLst/>
                <a:cxnLst/>
                <a:pathLst>
                  <a:path w="125" h="74">
                    <a:moveTo>
                      <a:pt x="123" y="34"/>
                    </a:moveTo>
                    <a:lnTo>
                      <a:pt x="125" y="47"/>
                    </a:lnTo>
                    <a:lnTo>
                      <a:pt x="118" y="55"/>
                    </a:lnTo>
                    <a:lnTo>
                      <a:pt x="104" y="61"/>
                    </a:lnTo>
                    <a:lnTo>
                      <a:pt x="93" y="69"/>
                    </a:lnTo>
                    <a:lnTo>
                      <a:pt x="82" y="71"/>
                    </a:lnTo>
                    <a:lnTo>
                      <a:pt x="70" y="71"/>
                    </a:lnTo>
                    <a:lnTo>
                      <a:pt x="60" y="74"/>
                    </a:lnTo>
                    <a:lnTo>
                      <a:pt x="49" y="74"/>
                    </a:lnTo>
                    <a:lnTo>
                      <a:pt x="38" y="71"/>
                    </a:lnTo>
                    <a:lnTo>
                      <a:pt x="27" y="69"/>
                    </a:lnTo>
                    <a:lnTo>
                      <a:pt x="17" y="64"/>
                    </a:lnTo>
                    <a:lnTo>
                      <a:pt x="8" y="55"/>
                    </a:lnTo>
                    <a:lnTo>
                      <a:pt x="3" y="50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3" y="20"/>
                    </a:lnTo>
                    <a:lnTo>
                      <a:pt x="11" y="11"/>
                    </a:lnTo>
                    <a:lnTo>
                      <a:pt x="22" y="6"/>
                    </a:lnTo>
                    <a:lnTo>
                      <a:pt x="35" y="4"/>
                    </a:lnTo>
                    <a:lnTo>
                      <a:pt x="47" y="0"/>
                    </a:lnTo>
                    <a:lnTo>
                      <a:pt x="60" y="4"/>
                    </a:lnTo>
                    <a:lnTo>
                      <a:pt x="74" y="4"/>
                    </a:lnTo>
                    <a:lnTo>
                      <a:pt x="88" y="6"/>
                    </a:lnTo>
                    <a:lnTo>
                      <a:pt x="98" y="9"/>
                    </a:lnTo>
                    <a:lnTo>
                      <a:pt x="123" y="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0" name="任意多边形 181309"/>
              <p:cNvSpPr/>
              <p:nvPr/>
            </p:nvSpPr>
            <p:spPr>
              <a:xfrm>
                <a:off x="3228" y="2154"/>
                <a:ext cx="7" cy="43"/>
              </a:xfrm>
              <a:custGeom>
                <a:avLst/>
                <a:gdLst/>
                <a:ahLst/>
                <a:cxnLst/>
                <a:pathLst>
                  <a:path w="30" h="171">
                    <a:moveTo>
                      <a:pt x="27" y="168"/>
                    </a:moveTo>
                    <a:lnTo>
                      <a:pt x="22" y="168"/>
                    </a:lnTo>
                    <a:lnTo>
                      <a:pt x="16" y="171"/>
                    </a:lnTo>
                    <a:lnTo>
                      <a:pt x="8" y="171"/>
                    </a:lnTo>
                    <a:lnTo>
                      <a:pt x="0" y="171"/>
                    </a:lnTo>
                    <a:lnTo>
                      <a:pt x="6" y="127"/>
                    </a:lnTo>
                    <a:lnTo>
                      <a:pt x="16" y="87"/>
                    </a:lnTo>
                    <a:lnTo>
                      <a:pt x="25" y="44"/>
                    </a:lnTo>
                    <a:lnTo>
                      <a:pt x="27" y="0"/>
                    </a:lnTo>
                    <a:lnTo>
                      <a:pt x="30" y="44"/>
                    </a:lnTo>
                    <a:lnTo>
                      <a:pt x="30" y="87"/>
                    </a:lnTo>
                    <a:lnTo>
                      <a:pt x="27" y="127"/>
                    </a:lnTo>
                    <a:lnTo>
                      <a:pt x="27" y="168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1" name="任意多边形 181310"/>
              <p:cNvSpPr/>
              <p:nvPr/>
            </p:nvSpPr>
            <p:spPr>
              <a:xfrm>
                <a:off x="3195" y="2167"/>
                <a:ext cx="7" cy="36"/>
              </a:xfrm>
              <a:custGeom>
                <a:avLst/>
                <a:gdLst/>
                <a:ahLst/>
                <a:cxnLst/>
                <a:pathLst>
                  <a:path w="27" h="142">
                    <a:moveTo>
                      <a:pt x="22" y="126"/>
                    </a:moveTo>
                    <a:lnTo>
                      <a:pt x="25" y="137"/>
                    </a:lnTo>
                    <a:lnTo>
                      <a:pt x="27" y="139"/>
                    </a:lnTo>
                    <a:lnTo>
                      <a:pt x="22" y="139"/>
                    </a:lnTo>
                    <a:lnTo>
                      <a:pt x="0" y="142"/>
                    </a:lnTo>
                    <a:lnTo>
                      <a:pt x="27" y="0"/>
                    </a:lnTo>
                    <a:lnTo>
                      <a:pt x="25" y="31"/>
                    </a:lnTo>
                    <a:lnTo>
                      <a:pt x="25" y="63"/>
                    </a:lnTo>
                    <a:lnTo>
                      <a:pt x="25" y="96"/>
                    </a:lnTo>
                    <a:lnTo>
                      <a:pt x="22" y="126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2" name="任意多边形 181311"/>
              <p:cNvSpPr/>
              <p:nvPr/>
            </p:nvSpPr>
            <p:spPr>
              <a:xfrm>
                <a:off x="3157" y="2171"/>
                <a:ext cx="8" cy="37"/>
              </a:xfrm>
              <a:custGeom>
                <a:avLst/>
                <a:gdLst/>
                <a:ahLst/>
                <a:cxnLst/>
                <a:pathLst>
                  <a:path w="30" h="144">
                    <a:moveTo>
                      <a:pt x="23" y="139"/>
                    </a:moveTo>
                    <a:lnTo>
                      <a:pt x="23" y="141"/>
                    </a:lnTo>
                    <a:lnTo>
                      <a:pt x="16" y="144"/>
                    </a:lnTo>
                    <a:lnTo>
                      <a:pt x="9" y="144"/>
                    </a:lnTo>
                    <a:lnTo>
                      <a:pt x="0" y="144"/>
                    </a:lnTo>
                    <a:lnTo>
                      <a:pt x="6" y="109"/>
                    </a:lnTo>
                    <a:lnTo>
                      <a:pt x="11" y="74"/>
                    </a:lnTo>
                    <a:lnTo>
                      <a:pt x="19" y="35"/>
                    </a:lnTo>
                    <a:lnTo>
                      <a:pt x="28" y="0"/>
                    </a:lnTo>
                    <a:lnTo>
                      <a:pt x="30" y="35"/>
                    </a:lnTo>
                    <a:lnTo>
                      <a:pt x="30" y="70"/>
                    </a:lnTo>
                    <a:lnTo>
                      <a:pt x="28" y="106"/>
                    </a:lnTo>
                    <a:lnTo>
                      <a:pt x="23" y="139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3" name="任意多边形 181312"/>
              <p:cNvSpPr/>
              <p:nvPr/>
            </p:nvSpPr>
            <p:spPr>
              <a:xfrm>
                <a:off x="3205" y="2176"/>
                <a:ext cx="18" cy="25"/>
              </a:xfrm>
              <a:custGeom>
                <a:avLst/>
                <a:gdLst/>
                <a:ahLst/>
                <a:cxnLst/>
                <a:pathLst>
                  <a:path w="71" h="101">
                    <a:moveTo>
                      <a:pt x="71" y="85"/>
                    </a:moveTo>
                    <a:lnTo>
                      <a:pt x="0" y="101"/>
                    </a:lnTo>
                    <a:lnTo>
                      <a:pt x="6" y="0"/>
                    </a:lnTo>
                    <a:lnTo>
                      <a:pt x="25" y="19"/>
                    </a:lnTo>
                    <a:lnTo>
                      <a:pt x="41" y="41"/>
                    </a:lnTo>
                    <a:lnTo>
                      <a:pt x="55" y="65"/>
                    </a:lnTo>
                    <a:lnTo>
                      <a:pt x="71" y="85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4" name="任意多边形 181313"/>
              <p:cNvSpPr/>
              <p:nvPr/>
            </p:nvSpPr>
            <p:spPr>
              <a:xfrm>
                <a:off x="3167" y="2179"/>
                <a:ext cx="20" cy="27"/>
              </a:xfrm>
              <a:custGeom>
                <a:avLst/>
                <a:gdLst/>
                <a:ahLst/>
                <a:cxnLst/>
                <a:pathLst>
                  <a:path w="76" h="107">
                    <a:moveTo>
                      <a:pt x="76" y="95"/>
                    </a:moveTo>
                    <a:lnTo>
                      <a:pt x="0" y="107"/>
                    </a:lnTo>
                    <a:lnTo>
                      <a:pt x="3" y="82"/>
                    </a:lnTo>
                    <a:lnTo>
                      <a:pt x="5" y="58"/>
                    </a:lnTo>
                    <a:lnTo>
                      <a:pt x="5" y="30"/>
                    </a:lnTo>
                    <a:lnTo>
                      <a:pt x="5" y="0"/>
                    </a:lnTo>
                    <a:lnTo>
                      <a:pt x="25" y="24"/>
                    </a:lnTo>
                    <a:lnTo>
                      <a:pt x="41" y="49"/>
                    </a:lnTo>
                    <a:lnTo>
                      <a:pt x="60" y="74"/>
                    </a:lnTo>
                    <a:lnTo>
                      <a:pt x="76" y="95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5" name="任意多边形 181314"/>
              <p:cNvSpPr/>
              <p:nvPr/>
            </p:nvSpPr>
            <p:spPr>
              <a:xfrm>
                <a:off x="3057" y="2182"/>
                <a:ext cx="6" cy="42"/>
              </a:xfrm>
              <a:custGeom>
                <a:avLst/>
                <a:gdLst/>
                <a:ahLst/>
                <a:cxnLst/>
                <a:pathLst>
                  <a:path w="25" h="166">
                    <a:moveTo>
                      <a:pt x="16" y="0"/>
                    </a:moveTo>
                    <a:lnTo>
                      <a:pt x="14" y="37"/>
                    </a:lnTo>
                    <a:lnTo>
                      <a:pt x="16" y="76"/>
                    </a:lnTo>
                    <a:lnTo>
                      <a:pt x="19" y="113"/>
                    </a:lnTo>
                    <a:lnTo>
                      <a:pt x="16" y="154"/>
                    </a:lnTo>
                    <a:lnTo>
                      <a:pt x="19" y="157"/>
                    </a:lnTo>
                    <a:lnTo>
                      <a:pt x="21" y="159"/>
                    </a:lnTo>
                    <a:lnTo>
                      <a:pt x="25" y="159"/>
                    </a:lnTo>
                    <a:lnTo>
                      <a:pt x="19" y="159"/>
                    </a:lnTo>
                    <a:lnTo>
                      <a:pt x="14" y="163"/>
                    </a:lnTo>
                    <a:lnTo>
                      <a:pt x="11" y="166"/>
                    </a:lnTo>
                    <a:lnTo>
                      <a:pt x="5" y="166"/>
                    </a:lnTo>
                    <a:lnTo>
                      <a:pt x="8" y="157"/>
                    </a:lnTo>
                    <a:lnTo>
                      <a:pt x="8" y="149"/>
                    </a:lnTo>
                    <a:lnTo>
                      <a:pt x="2" y="143"/>
                    </a:lnTo>
                    <a:lnTo>
                      <a:pt x="0" y="136"/>
                    </a:lnTo>
                    <a:lnTo>
                      <a:pt x="0" y="106"/>
                    </a:lnTo>
                    <a:lnTo>
                      <a:pt x="2" y="73"/>
                    </a:lnTo>
                    <a:lnTo>
                      <a:pt x="8" y="40"/>
                    </a:lnTo>
                    <a:lnTo>
                      <a:pt x="11" y="10"/>
                    </a:lnTo>
                    <a:lnTo>
                      <a:pt x="5" y="5"/>
                    </a:lnTo>
                    <a:lnTo>
                      <a:pt x="8" y="2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6" name="任意多边形 181315"/>
              <p:cNvSpPr/>
              <p:nvPr/>
            </p:nvSpPr>
            <p:spPr>
              <a:xfrm>
                <a:off x="3091" y="2182"/>
                <a:ext cx="4" cy="37"/>
              </a:xfrm>
              <a:custGeom>
                <a:avLst/>
                <a:gdLst/>
                <a:ahLst/>
                <a:cxnLst/>
                <a:pathLst>
                  <a:path w="14" h="147">
                    <a:moveTo>
                      <a:pt x="14" y="46"/>
                    </a:moveTo>
                    <a:lnTo>
                      <a:pt x="14" y="141"/>
                    </a:lnTo>
                    <a:lnTo>
                      <a:pt x="11" y="141"/>
                    </a:lnTo>
                    <a:lnTo>
                      <a:pt x="9" y="141"/>
                    </a:lnTo>
                    <a:lnTo>
                      <a:pt x="6" y="143"/>
                    </a:lnTo>
                    <a:lnTo>
                      <a:pt x="0" y="147"/>
                    </a:lnTo>
                    <a:lnTo>
                      <a:pt x="6" y="108"/>
                    </a:lnTo>
                    <a:lnTo>
                      <a:pt x="6" y="70"/>
                    </a:lnTo>
                    <a:lnTo>
                      <a:pt x="6" y="35"/>
                    </a:lnTo>
                    <a:lnTo>
                      <a:pt x="11" y="0"/>
                    </a:lnTo>
                    <a:lnTo>
                      <a:pt x="14" y="10"/>
                    </a:lnTo>
                    <a:lnTo>
                      <a:pt x="11" y="21"/>
                    </a:lnTo>
                    <a:lnTo>
                      <a:pt x="9" y="35"/>
                    </a:lnTo>
                    <a:lnTo>
                      <a:pt x="14" y="46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7" name="任意多边形 181316"/>
              <p:cNvSpPr/>
              <p:nvPr/>
            </p:nvSpPr>
            <p:spPr>
              <a:xfrm>
                <a:off x="3046" y="2184"/>
                <a:ext cx="9" cy="27"/>
              </a:xfrm>
              <a:custGeom>
                <a:avLst/>
                <a:gdLst/>
                <a:ahLst/>
                <a:cxnLst/>
                <a:pathLst>
                  <a:path w="35" h="108">
                    <a:moveTo>
                      <a:pt x="35" y="0"/>
                    </a:moveTo>
                    <a:lnTo>
                      <a:pt x="33" y="27"/>
                    </a:lnTo>
                    <a:lnTo>
                      <a:pt x="30" y="55"/>
                    </a:lnTo>
                    <a:lnTo>
                      <a:pt x="28" y="84"/>
                    </a:lnTo>
                    <a:lnTo>
                      <a:pt x="25" y="108"/>
                    </a:lnTo>
                    <a:lnTo>
                      <a:pt x="19" y="101"/>
                    </a:lnTo>
                    <a:lnTo>
                      <a:pt x="16" y="90"/>
                    </a:lnTo>
                    <a:lnTo>
                      <a:pt x="8" y="81"/>
                    </a:lnTo>
                    <a:lnTo>
                      <a:pt x="0" y="78"/>
                    </a:lnTo>
                    <a:lnTo>
                      <a:pt x="0" y="11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16" y="5"/>
                    </a:lnTo>
                    <a:lnTo>
                      <a:pt x="25" y="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8" name="任意多边形 181317"/>
              <p:cNvSpPr/>
              <p:nvPr/>
            </p:nvSpPr>
            <p:spPr>
              <a:xfrm>
                <a:off x="3024" y="2186"/>
                <a:ext cx="15" cy="32"/>
              </a:xfrm>
              <a:custGeom>
                <a:avLst/>
                <a:gdLst/>
                <a:ahLst/>
                <a:cxnLst/>
                <a:pathLst>
                  <a:path w="60" h="125">
                    <a:moveTo>
                      <a:pt x="60" y="0"/>
                    </a:moveTo>
                    <a:lnTo>
                      <a:pt x="52" y="30"/>
                    </a:lnTo>
                    <a:lnTo>
                      <a:pt x="49" y="62"/>
                    </a:lnTo>
                    <a:lnTo>
                      <a:pt x="47" y="92"/>
                    </a:lnTo>
                    <a:lnTo>
                      <a:pt x="44" y="125"/>
                    </a:lnTo>
                    <a:lnTo>
                      <a:pt x="33" y="111"/>
                    </a:lnTo>
                    <a:lnTo>
                      <a:pt x="22" y="95"/>
                    </a:lnTo>
                    <a:lnTo>
                      <a:pt x="14" y="81"/>
                    </a:lnTo>
                    <a:lnTo>
                      <a:pt x="8" y="67"/>
                    </a:lnTo>
                    <a:lnTo>
                      <a:pt x="3" y="57"/>
                    </a:lnTo>
                    <a:lnTo>
                      <a:pt x="0" y="40"/>
                    </a:lnTo>
                    <a:lnTo>
                      <a:pt x="3" y="26"/>
                    </a:lnTo>
                    <a:lnTo>
                      <a:pt x="3" y="14"/>
                    </a:lnTo>
                    <a:lnTo>
                      <a:pt x="3" y="10"/>
                    </a:lnTo>
                    <a:lnTo>
                      <a:pt x="3" y="8"/>
                    </a:lnTo>
                    <a:lnTo>
                      <a:pt x="0" y="8"/>
                    </a:lnTo>
                    <a:lnTo>
                      <a:pt x="11" y="5"/>
                    </a:lnTo>
                    <a:lnTo>
                      <a:pt x="28" y="2"/>
                    </a:lnTo>
                    <a:lnTo>
                      <a:pt x="44" y="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19" name="任意多边形 181318"/>
              <p:cNvSpPr/>
              <p:nvPr/>
            </p:nvSpPr>
            <p:spPr>
              <a:xfrm>
                <a:off x="2547" y="2189"/>
                <a:ext cx="16" cy="31"/>
              </a:xfrm>
              <a:custGeom>
                <a:avLst/>
                <a:gdLst/>
                <a:ahLst/>
                <a:cxnLst/>
                <a:pathLst>
                  <a:path w="65" h="125">
                    <a:moveTo>
                      <a:pt x="65" y="123"/>
                    </a:moveTo>
                    <a:lnTo>
                      <a:pt x="35" y="125"/>
                    </a:lnTo>
                    <a:lnTo>
                      <a:pt x="27" y="98"/>
                    </a:lnTo>
                    <a:lnTo>
                      <a:pt x="19" y="68"/>
                    </a:lnTo>
                    <a:lnTo>
                      <a:pt x="8" y="41"/>
                    </a:lnTo>
                    <a:lnTo>
                      <a:pt x="0" y="11"/>
                    </a:lnTo>
                    <a:lnTo>
                      <a:pt x="3" y="6"/>
                    </a:lnTo>
                    <a:lnTo>
                      <a:pt x="8" y="0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65" y="123"/>
                    </a:lnTo>
                    <a:close/>
                  </a:path>
                </a:pathLst>
              </a:custGeom>
              <a:solidFill>
                <a:srgbClr val="3FFF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0" name="任意多边形 181319"/>
              <p:cNvSpPr/>
              <p:nvPr/>
            </p:nvSpPr>
            <p:spPr>
              <a:xfrm>
                <a:off x="2998" y="2190"/>
                <a:ext cx="18" cy="31"/>
              </a:xfrm>
              <a:custGeom>
                <a:avLst/>
                <a:gdLst/>
                <a:ahLst/>
                <a:cxnLst/>
                <a:pathLst>
                  <a:path w="73" h="124">
                    <a:moveTo>
                      <a:pt x="73" y="0"/>
                    </a:moveTo>
                    <a:lnTo>
                      <a:pt x="67" y="30"/>
                    </a:lnTo>
                    <a:lnTo>
                      <a:pt x="65" y="62"/>
                    </a:lnTo>
                    <a:lnTo>
                      <a:pt x="60" y="92"/>
                    </a:lnTo>
                    <a:lnTo>
                      <a:pt x="51" y="124"/>
                    </a:lnTo>
                    <a:lnTo>
                      <a:pt x="30" y="97"/>
                    </a:lnTo>
                    <a:lnTo>
                      <a:pt x="10" y="70"/>
                    </a:lnTo>
                    <a:lnTo>
                      <a:pt x="0" y="40"/>
                    </a:lnTo>
                    <a:lnTo>
                      <a:pt x="2" y="10"/>
                    </a:lnTo>
                    <a:lnTo>
                      <a:pt x="21" y="7"/>
                    </a:lnTo>
                    <a:lnTo>
                      <a:pt x="37" y="2"/>
                    </a:lnTo>
                    <a:lnTo>
                      <a:pt x="57" y="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1" name="任意多边形 181320"/>
              <p:cNvSpPr/>
              <p:nvPr/>
            </p:nvSpPr>
            <p:spPr>
              <a:xfrm>
                <a:off x="3038" y="2190"/>
                <a:ext cx="5" cy="37"/>
              </a:xfrm>
              <a:custGeom>
                <a:avLst/>
                <a:gdLst/>
                <a:ahLst/>
                <a:cxnLst/>
                <a:pathLst>
                  <a:path w="19" h="147">
                    <a:moveTo>
                      <a:pt x="10" y="141"/>
                    </a:moveTo>
                    <a:lnTo>
                      <a:pt x="16" y="147"/>
                    </a:lnTo>
                    <a:lnTo>
                      <a:pt x="13" y="147"/>
                    </a:lnTo>
                    <a:lnTo>
                      <a:pt x="7" y="147"/>
                    </a:lnTo>
                    <a:lnTo>
                      <a:pt x="5" y="147"/>
                    </a:lnTo>
                    <a:lnTo>
                      <a:pt x="0" y="122"/>
                    </a:lnTo>
                    <a:lnTo>
                      <a:pt x="0" y="97"/>
                    </a:lnTo>
                    <a:lnTo>
                      <a:pt x="2" y="73"/>
                    </a:lnTo>
                    <a:lnTo>
                      <a:pt x="5" y="46"/>
                    </a:lnTo>
                    <a:lnTo>
                      <a:pt x="5" y="35"/>
                    </a:lnTo>
                    <a:lnTo>
                      <a:pt x="7" y="21"/>
                    </a:lnTo>
                    <a:lnTo>
                      <a:pt x="13" y="10"/>
                    </a:lnTo>
                    <a:lnTo>
                      <a:pt x="16" y="0"/>
                    </a:lnTo>
                    <a:lnTo>
                      <a:pt x="16" y="35"/>
                    </a:lnTo>
                    <a:lnTo>
                      <a:pt x="19" y="70"/>
                    </a:lnTo>
                    <a:lnTo>
                      <a:pt x="16" y="106"/>
                    </a:lnTo>
                    <a:lnTo>
                      <a:pt x="10" y="141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2" name="任意多边形 181321"/>
              <p:cNvSpPr/>
              <p:nvPr/>
            </p:nvSpPr>
            <p:spPr>
              <a:xfrm>
                <a:off x="3065" y="2193"/>
                <a:ext cx="19" cy="29"/>
              </a:xfrm>
              <a:custGeom>
                <a:avLst/>
                <a:gdLst/>
                <a:ahLst/>
                <a:cxnLst/>
                <a:pathLst>
                  <a:path w="76" h="119">
                    <a:moveTo>
                      <a:pt x="76" y="109"/>
                    </a:moveTo>
                    <a:lnTo>
                      <a:pt x="0" y="119"/>
                    </a:lnTo>
                    <a:lnTo>
                      <a:pt x="5" y="114"/>
                    </a:lnTo>
                    <a:lnTo>
                      <a:pt x="5" y="0"/>
                    </a:lnTo>
                    <a:lnTo>
                      <a:pt x="21" y="30"/>
                    </a:lnTo>
                    <a:lnTo>
                      <a:pt x="41" y="55"/>
                    </a:lnTo>
                    <a:lnTo>
                      <a:pt x="60" y="82"/>
                    </a:lnTo>
                    <a:lnTo>
                      <a:pt x="76" y="109"/>
                    </a:lnTo>
                    <a:close/>
                  </a:path>
                </a:pathLst>
              </a:custGeom>
              <a:solidFill>
                <a:srgbClr val="E8E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3" name="任意多边形 181322"/>
              <p:cNvSpPr/>
              <p:nvPr/>
            </p:nvSpPr>
            <p:spPr>
              <a:xfrm>
                <a:off x="2968" y="2194"/>
                <a:ext cx="22" cy="37"/>
              </a:xfrm>
              <a:custGeom>
                <a:avLst/>
                <a:gdLst/>
                <a:ahLst/>
                <a:cxnLst/>
                <a:pathLst>
                  <a:path w="87" h="150">
                    <a:moveTo>
                      <a:pt x="87" y="0"/>
                    </a:moveTo>
                    <a:lnTo>
                      <a:pt x="87" y="30"/>
                    </a:lnTo>
                    <a:lnTo>
                      <a:pt x="85" y="57"/>
                    </a:lnTo>
                    <a:lnTo>
                      <a:pt x="80" y="87"/>
                    </a:lnTo>
                    <a:lnTo>
                      <a:pt x="77" y="113"/>
                    </a:lnTo>
                    <a:lnTo>
                      <a:pt x="75" y="122"/>
                    </a:lnTo>
                    <a:lnTo>
                      <a:pt x="75" y="131"/>
                    </a:lnTo>
                    <a:lnTo>
                      <a:pt x="71" y="138"/>
                    </a:lnTo>
                    <a:lnTo>
                      <a:pt x="71" y="150"/>
                    </a:lnTo>
                    <a:lnTo>
                      <a:pt x="55" y="125"/>
                    </a:lnTo>
                    <a:lnTo>
                      <a:pt x="39" y="97"/>
                    </a:lnTo>
                    <a:lnTo>
                      <a:pt x="20" y="73"/>
                    </a:lnTo>
                    <a:lnTo>
                      <a:pt x="4" y="49"/>
                    </a:lnTo>
                    <a:lnTo>
                      <a:pt x="6" y="37"/>
                    </a:lnTo>
                    <a:lnTo>
                      <a:pt x="4" y="30"/>
                    </a:lnTo>
                    <a:lnTo>
                      <a:pt x="0" y="21"/>
                    </a:lnTo>
                    <a:lnTo>
                      <a:pt x="4" y="14"/>
                    </a:lnTo>
                    <a:lnTo>
                      <a:pt x="14" y="10"/>
                    </a:lnTo>
                    <a:lnTo>
                      <a:pt x="25" y="7"/>
                    </a:lnTo>
                    <a:lnTo>
                      <a:pt x="36" y="7"/>
                    </a:lnTo>
                    <a:lnTo>
                      <a:pt x="47" y="5"/>
                    </a:lnTo>
                    <a:lnTo>
                      <a:pt x="55" y="2"/>
                    </a:lnTo>
                    <a:lnTo>
                      <a:pt x="66" y="0"/>
                    </a:lnTo>
                    <a:lnTo>
                      <a:pt x="77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4" name="任意多边形 181323"/>
              <p:cNvSpPr/>
              <p:nvPr/>
            </p:nvSpPr>
            <p:spPr>
              <a:xfrm>
                <a:off x="3014" y="2195"/>
                <a:ext cx="7" cy="36"/>
              </a:xfrm>
              <a:custGeom>
                <a:avLst/>
                <a:gdLst/>
                <a:ahLst/>
                <a:cxnLst/>
                <a:pathLst>
                  <a:path w="27" h="145">
                    <a:moveTo>
                      <a:pt x="22" y="133"/>
                    </a:moveTo>
                    <a:lnTo>
                      <a:pt x="25" y="133"/>
                    </a:lnTo>
                    <a:lnTo>
                      <a:pt x="27" y="133"/>
                    </a:lnTo>
                    <a:lnTo>
                      <a:pt x="22" y="138"/>
                    </a:lnTo>
                    <a:lnTo>
                      <a:pt x="16" y="142"/>
                    </a:lnTo>
                    <a:lnTo>
                      <a:pt x="11" y="142"/>
                    </a:lnTo>
                    <a:lnTo>
                      <a:pt x="8" y="145"/>
                    </a:lnTo>
                    <a:lnTo>
                      <a:pt x="2" y="138"/>
                    </a:lnTo>
                    <a:lnTo>
                      <a:pt x="0" y="128"/>
                    </a:lnTo>
                    <a:lnTo>
                      <a:pt x="0" y="115"/>
                    </a:lnTo>
                    <a:lnTo>
                      <a:pt x="2" y="98"/>
                    </a:lnTo>
                    <a:lnTo>
                      <a:pt x="2" y="85"/>
                    </a:lnTo>
                    <a:lnTo>
                      <a:pt x="11" y="66"/>
                    </a:lnTo>
                    <a:lnTo>
                      <a:pt x="14" y="41"/>
                    </a:lnTo>
                    <a:lnTo>
                      <a:pt x="16" y="19"/>
                    </a:lnTo>
                    <a:lnTo>
                      <a:pt x="22" y="0"/>
                    </a:lnTo>
                    <a:lnTo>
                      <a:pt x="22" y="133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5" name="任意多边形 181324"/>
              <p:cNvSpPr/>
              <p:nvPr/>
            </p:nvSpPr>
            <p:spPr>
              <a:xfrm>
                <a:off x="2943" y="2199"/>
                <a:ext cx="18" cy="32"/>
              </a:xfrm>
              <a:custGeom>
                <a:avLst/>
                <a:gdLst/>
                <a:ahLst/>
                <a:cxnLst/>
                <a:pathLst>
                  <a:path w="71" h="131">
                    <a:moveTo>
                      <a:pt x="71" y="0"/>
                    </a:moveTo>
                    <a:lnTo>
                      <a:pt x="65" y="35"/>
                    </a:lnTo>
                    <a:lnTo>
                      <a:pt x="62" y="68"/>
                    </a:lnTo>
                    <a:lnTo>
                      <a:pt x="60" y="101"/>
                    </a:lnTo>
                    <a:lnTo>
                      <a:pt x="55" y="131"/>
                    </a:lnTo>
                    <a:lnTo>
                      <a:pt x="43" y="108"/>
                    </a:lnTo>
                    <a:lnTo>
                      <a:pt x="32" y="87"/>
                    </a:lnTo>
                    <a:lnTo>
                      <a:pt x="18" y="65"/>
                    </a:lnTo>
                    <a:lnTo>
                      <a:pt x="5" y="46"/>
                    </a:lnTo>
                    <a:lnTo>
                      <a:pt x="5" y="38"/>
                    </a:lnTo>
                    <a:lnTo>
                      <a:pt x="2" y="27"/>
                    </a:lnTo>
                    <a:lnTo>
                      <a:pt x="0" y="18"/>
                    </a:lnTo>
                    <a:lnTo>
                      <a:pt x="0" y="11"/>
                    </a:lnTo>
                    <a:lnTo>
                      <a:pt x="18" y="11"/>
                    </a:lnTo>
                    <a:lnTo>
                      <a:pt x="35" y="8"/>
                    </a:lnTo>
                    <a:lnTo>
                      <a:pt x="55" y="2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6" name="任意多边形 181325"/>
              <p:cNvSpPr/>
              <p:nvPr/>
            </p:nvSpPr>
            <p:spPr>
              <a:xfrm>
                <a:off x="2990" y="2199"/>
                <a:ext cx="4" cy="36"/>
              </a:xfrm>
              <a:custGeom>
                <a:avLst/>
                <a:gdLst/>
                <a:ahLst/>
                <a:cxnLst/>
                <a:pathLst>
                  <a:path w="20" h="144">
                    <a:moveTo>
                      <a:pt x="18" y="136"/>
                    </a:moveTo>
                    <a:lnTo>
                      <a:pt x="20" y="142"/>
                    </a:lnTo>
                    <a:lnTo>
                      <a:pt x="14" y="142"/>
                    </a:lnTo>
                    <a:lnTo>
                      <a:pt x="9" y="144"/>
                    </a:lnTo>
                    <a:lnTo>
                      <a:pt x="7" y="144"/>
                    </a:lnTo>
                    <a:lnTo>
                      <a:pt x="0" y="142"/>
                    </a:lnTo>
                    <a:lnTo>
                      <a:pt x="7" y="106"/>
                    </a:lnTo>
                    <a:lnTo>
                      <a:pt x="12" y="71"/>
                    </a:lnTo>
                    <a:lnTo>
                      <a:pt x="18" y="35"/>
                    </a:lnTo>
                    <a:lnTo>
                      <a:pt x="20" y="0"/>
                    </a:lnTo>
                    <a:lnTo>
                      <a:pt x="20" y="35"/>
                    </a:lnTo>
                    <a:lnTo>
                      <a:pt x="20" y="68"/>
                    </a:lnTo>
                    <a:lnTo>
                      <a:pt x="20" y="101"/>
                    </a:lnTo>
                    <a:lnTo>
                      <a:pt x="18" y="136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7" name="任意多边形 181326"/>
              <p:cNvSpPr/>
              <p:nvPr/>
            </p:nvSpPr>
            <p:spPr>
              <a:xfrm>
                <a:off x="2922" y="2203"/>
                <a:ext cx="15" cy="33"/>
              </a:xfrm>
              <a:custGeom>
                <a:avLst/>
                <a:gdLst/>
                <a:ahLst/>
                <a:cxnLst/>
                <a:pathLst>
                  <a:path w="60" h="133">
                    <a:moveTo>
                      <a:pt x="60" y="0"/>
                    </a:moveTo>
                    <a:lnTo>
                      <a:pt x="52" y="32"/>
                    </a:lnTo>
                    <a:lnTo>
                      <a:pt x="49" y="68"/>
                    </a:lnTo>
                    <a:lnTo>
                      <a:pt x="44" y="103"/>
                    </a:lnTo>
                    <a:lnTo>
                      <a:pt x="44" y="133"/>
                    </a:lnTo>
                    <a:lnTo>
                      <a:pt x="32" y="108"/>
                    </a:lnTo>
                    <a:lnTo>
                      <a:pt x="21" y="82"/>
                    </a:lnTo>
                    <a:lnTo>
                      <a:pt x="11" y="57"/>
                    </a:lnTo>
                    <a:lnTo>
                      <a:pt x="0" y="30"/>
                    </a:lnTo>
                    <a:lnTo>
                      <a:pt x="3" y="11"/>
                    </a:lnTo>
                    <a:lnTo>
                      <a:pt x="19" y="5"/>
                    </a:lnTo>
                    <a:lnTo>
                      <a:pt x="41" y="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8" name="任意多边形 181327"/>
              <p:cNvSpPr/>
              <p:nvPr/>
            </p:nvSpPr>
            <p:spPr>
              <a:xfrm>
                <a:off x="2961" y="2203"/>
                <a:ext cx="5" cy="36"/>
              </a:xfrm>
              <a:custGeom>
                <a:avLst/>
                <a:gdLst/>
                <a:ahLst/>
                <a:cxnLst/>
                <a:pathLst>
                  <a:path w="19" h="142">
                    <a:moveTo>
                      <a:pt x="13" y="142"/>
                    </a:moveTo>
                    <a:lnTo>
                      <a:pt x="0" y="142"/>
                    </a:lnTo>
                    <a:lnTo>
                      <a:pt x="0" y="106"/>
                    </a:lnTo>
                    <a:lnTo>
                      <a:pt x="2" y="71"/>
                    </a:lnTo>
                    <a:lnTo>
                      <a:pt x="7" y="34"/>
                    </a:lnTo>
                    <a:lnTo>
                      <a:pt x="13" y="0"/>
                    </a:lnTo>
                    <a:lnTo>
                      <a:pt x="16" y="36"/>
                    </a:lnTo>
                    <a:lnTo>
                      <a:pt x="19" y="74"/>
                    </a:lnTo>
                    <a:lnTo>
                      <a:pt x="19" y="110"/>
                    </a:lnTo>
                    <a:lnTo>
                      <a:pt x="13" y="142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29" name="任意多边形 181328"/>
              <p:cNvSpPr/>
              <p:nvPr/>
            </p:nvSpPr>
            <p:spPr>
              <a:xfrm>
                <a:off x="3032" y="2204"/>
                <a:ext cx="269" cy="62"/>
              </a:xfrm>
              <a:custGeom>
                <a:avLst/>
                <a:gdLst/>
                <a:ahLst/>
                <a:cxnLst/>
                <a:pathLst>
                  <a:path w="1074" h="246">
                    <a:moveTo>
                      <a:pt x="1074" y="68"/>
                    </a:moveTo>
                    <a:lnTo>
                      <a:pt x="1009" y="80"/>
                    </a:lnTo>
                    <a:lnTo>
                      <a:pt x="943" y="91"/>
                    </a:lnTo>
                    <a:lnTo>
                      <a:pt x="875" y="101"/>
                    </a:lnTo>
                    <a:lnTo>
                      <a:pt x="809" y="112"/>
                    </a:lnTo>
                    <a:lnTo>
                      <a:pt x="744" y="123"/>
                    </a:lnTo>
                    <a:lnTo>
                      <a:pt x="676" y="134"/>
                    </a:lnTo>
                    <a:lnTo>
                      <a:pt x="611" y="145"/>
                    </a:lnTo>
                    <a:lnTo>
                      <a:pt x="545" y="156"/>
                    </a:lnTo>
                    <a:lnTo>
                      <a:pt x="476" y="167"/>
                    </a:lnTo>
                    <a:lnTo>
                      <a:pt x="411" y="178"/>
                    </a:lnTo>
                    <a:lnTo>
                      <a:pt x="346" y="188"/>
                    </a:lnTo>
                    <a:lnTo>
                      <a:pt x="278" y="202"/>
                    </a:lnTo>
                    <a:lnTo>
                      <a:pt x="212" y="213"/>
                    </a:lnTo>
                    <a:lnTo>
                      <a:pt x="145" y="224"/>
                    </a:lnTo>
                    <a:lnTo>
                      <a:pt x="79" y="234"/>
                    </a:lnTo>
                    <a:lnTo>
                      <a:pt x="11" y="246"/>
                    </a:lnTo>
                    <a:lnTo>
                      <a:pt x="9" y="243"/>
                    </a:lnTo>
                    <a:lnTo>
                      <a:pt x="2" y="238"/>
                    </a:lnTo>
                    <a:lnTo>
                      <a:pt x="0" y="234"/>
                    </a:lnTo>
                    <a:lnTo>
                      <a:pt x="0" y="229"/>
                    </a:lnTo>
                    <a:lnTo>
                      <a:pt x="11" y="227"/>
                    </a:lnTo>
                    <a:lnTo>
                      <a:pt x="21" y="224"/>
                    </a:lnTo>
                    <a:lnTo>
                      <a:pt x="35" y="224"/>
                    </a:lnTo>
                    <a:lnTo>
                      <a:pt x="46" y="224"/>
                    </a:lnTo>
                    <a:lnTo>
                      <a:pt x="57" y="221"/>
                    </a:lnTo>
                    <a:lnTo>
                      <a:pt x="68" y="218"/>
                    </a:lnTo>
                    <a:lnTo>
                      <a:pt x="76" y="210"/>
                    </a:lnTo>
                    <a:lnTo>
                      <a:pt x="82" y="199"/>
                    </a:lnTo>
                    <a:lnTo>
                      <a:pt x="85" y="186"/>
                    </a:lnTo>
                    <a:lnTo>
                      <a:pt x="82" y="174"/>
                    </a:lnTo>
                    <a:lnTo>
                      <a:pt x="79" y="164"/>
                    </a:lnTo>
                    <a:lnTo>
                      <a:pt x="82" y="151"/>
                    </a:lnTo>
                    <a:lnTo>
                      <a:pt x="1009" y="0"/>
                    </a:lnTo>
                    <a:lnTo>
                      <a:pt x="1025" y="17"/>
                    </a:lnTo>
                    <a:lnTo>
                      <a:pt x="1041" y="33"/>
                    </a:lnTo>
                    <a:lnTo>
                      <a:pt x="1057" y="50"/>
                    </a:lnTo>
                    <a:lnTo>
                      <a:pt x="1074" y="68"/>
                    </a:lnTo>
                    <a:close/>
                  </a:path>
                </a:pathLst>
              </a:custGeom>
              <a:solidFill>
                <a:srgbClr val="3FFF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0" name="任意多边形 181329"/>
              <p:cNvSpPr/>
              <p:nvPr/>
            </p:nvSpPr>
            <p:spPr>
              <a:xfrm>
                <a:off x="2894" y="2206"/>
                <a:ext cx="21" cy="30"/>
              </a:xfrm>
              <a:custGeom>
                <a:avLst/>
                <a:gdLst/>
                <a:ahLst/>
                <a:cxnLst/>
                <a:pathLst>
                  <a:path w="82" h="119">
                    <a:moveTo>
                      <a:pt x="82" y="0"/>
                    </a:moveTo>
                    <a:lnTo>
                      <a:pt x="73" y="29"/>
                    </a:lnTo>
                    <a:lnTo>
                      <a:pt x="71" y="59"/>
                    </a:lnTo>
                    <a:lnTo>
                      <a:pt x="71" y="89"/>
                    </a:lnTo>
                    <a:lnTo>
                      <a:pt x="66" y="119"/>
                    </a:lnTo>
                    <a:lnTo>
                      <a:pt x="11" y="24"/>
                    </a:lnTo>
                    <a:lnTo>
                      <a:pt x="0" y="16"/>
                    </a:lnTo>
                    <a:lnTo>
                      <a:pt x="11" y="13"/>
                    </a:lnTo>
                    <a:lnTo>
                      <a:pt x="22" y="11"/>
                    </a:lnTo>
                    <a:lnTo>
                      <a:pt x="33" y="8"/>
                    </a:lnTo>
                    <a:lnTo>
                      <a:pt x="41" y="5"/>
                    </a:lnTo>
                    <a:lnTo>
                      <a:pt x="52" y="5"/>
                    </a:lnTo>
                    <a:lnTo>
                      <a:pt x="63" y="2"/>
                    </a:lnTo>
                    <a:lnTo>
                      <a:pt x="73" y="2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1" name="任意多边形 181330"/>
              <p:cNvSpPr/>
              <p:nvPr/>
            </p:nvSpPr>
            <p:spPr>
              <a:xfrm>
                <a:off x="2937" y="2208"/>
                <a:ext cx="4" cy="35"/>
              </a:xfrm>
              <a:custGeom>
                <a:avLst/>
                <a:gdLst/>
                <a:ahLst/>
                <a:cxnLst/>
                <a:pathLst>
                  <a:path w="14" h="142">
                    <a:moveTo>
                      <a:pt x="11" y="139"/>
                    </a:moveTo>
                    <a:lnTo>
                      <a:pt x="5" y="142"/>
                    </a:lnTo>
                    <a:lnTo>
                      <a:pt x="0" y="107"/>
                    </a:lnTo>
                    <a:lnTo>
                      <a:pt x="2" y="71"/>
                    </a:lnTo>
                    <a:lnTo>
                      <a:pt x="8" y="36"/>
                    </a:lnTo>
                    <a:lnTo>
                      <a:pt x="11" y="0"/>
                    </a:lnTo>
                    <a:lnTo>
                      <a:pt x="14" y="36"/>
                    </a:lnTo>
                    <a:lnTo>
                      <a:pt x="14" y="68"/>
                    </a:lnTo>
                    <a:lnTo>
                      <a:pt x="11" y="103"/>
                    </a:lnTo>
                    <a:lnTo>
                      <a:pt x="11" y="139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2" name="任意多边形 181331"/>
              <p:cNvSpPr/>
              <p:nvPr/>
            </p:nvSpPr>
            <p:spPr>
              <a:xfrm>
                <a:off x="3024" y="2209"/>
                <a:ext cx="11" cy="20"/>
              </a:xfrm>
              <a:custGeom>
                <a:avLst/>
                <a:gdLst/>
                <a:ahLst/>
                <a:cxnLst/>
                <a:pathLst>
                  <a:path w="44" h="78">
                    <a:moveTo>
                      <a:pt x="35" y="71"/>
                    </a:moveTo>
                    <a:lnTo>
                      <a:pt x="44" y="71"/>
                    </a:lnTo>
                    <a:lnTo>
                      <a:pt x="35" y="76"/>
                    </a:lnTo>
                    <a:lnTo>
                      <a:pt x="22" y="78"/>
                    </a:lnTo>
                    <a:lnTo>
                      <a:pt x="11" y="78"/>
                    </a:lnTo>
                    <a:lnTo>
                      <a:pt x="0" y="78"/>
                    </a:lnTo>
                    <a:lnTo>
                      <a:pt x="0" y="60"/>
                    </a:lnTo>
                    <a:lnTo>
                      <a:pt x="3" y="41"/>
                    </a:lnTo>
                    <a:lnTo>
                      <a:pt x="3" y="21"/>
                    </a:lnTo>
                    <a:lnTo>
                      <a:pt x="3" y="0"/>
                    </a:lnTo>
                    <a:lnTo>
                      <a:pt x="11" y="16"/>
                    </a:lnTo>
                    <a:lnTo>
                      <a:pt x="22" y="32"/>
                    </a:lnTo>
                    <a:lnTo>
                      <a:pt x="30" y="51"/>
                    </a:lnTo>
                    <a:lnTo>
                      <a:pt x="35" y="71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3" name="任意多边形 181332"/>
              <p:cNvSpPr/>
              <p:nvPr/>
            </p:nvSpPr>
            <p:spPr>
              <a:xfrm>
                <a:off x="3046" y="2209"/>
                <a:ext cx="9" cy="16"/>
              </a:xfrm>
              <a:custGeom>
                <a:avLst/>
                <a:gdLst/>
                <a:ahLst/>
                <a:cxnLst/>
                <a:pathLst>
                  <a:path w="35" h="65">
                    <a:moveTo>
                      <a:pt x="35" y="60"/>
                    </a:moveTo>
                    <a:lnTo>
                      <a:pt x="28" y="62"/>
                    </a:lnTo>
                    <a:lnTo>
                      <a:pt x="19" y="65"/>
                    </a:lnTo>
                    <a:lnTo>
                      <a:pt x="11" y="65"/>
                    </a:lnTo>
                    <a:lnTo>
                      <a:pt x="0" y="65"/>
                    </a:lnTo>
                    <a:lnTo>
                      <a:pt x="0" y="0"/>
                    </a:lnTo>
                    <a:lnTo>
                      <a:pt x="14" y="13"/>
                    </a:lnTo>
                    <a:lnTo>
                      <a:pt x="22" y="30"/>
                    </a:lnTo>
                    <a:lnTo>
                      <a:pt x="30" y="46"/>
                    </a:lnTo>
                    <a:lnTo>
                      <a:pt x="35" y="60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4" name="任意多边形 181333"/>
              <p:cNvSpPr/>
              <p:nvPr/>
            </p:nvSpPr>
            <p:spPr>
              <a:xfrm>
                <a:off x="2870" y="2210"/>
                <a:ext cx="20" cy="33"/>
              </a:xfrm>
              <a:custGeom>
                <a:avLst/>
                <a:gdLst/>
                <a:ahLst/>
                <a:cxnLst/>
                <a:pathLst>
                  <a:path w="79" h="131">
                    <a:moveTo>
                      <a:pt x="79" y="0"/>
                    </a:moveTo>
                    <a:lnTo>
                      <a:pt x="74" y="32"/>
                    </a:lnTo>
                    <a:lnTo>
                      <a:pt x="71" y="66"/>
                    </a:lnTo>
                    <a:lnTo>
                      <a:pt x="65" y="98"/>
                    </a:lnTo>
                    <a:lnTo>
                      <a:pt x="60" y="131"/>
                    </a:lnTo>
                    <a:lnTo>
                      <a:pt x="49" y="106"/>
                    </a:lnTo>
                    <a:lnTo>
                      <a:pt x="38" y="78"/>
                    </a:lnTo>
                    <a:lnTo>
                      <a:pt x="28" y="55"/>
                    </a:lnTo>
                    <a:lnTo>
                      <a:pt x="17" y="30"/>
                    </a:lnTo>
                    <a:lnTo>
                      <a:pt x="0" y="30"/>
                    </a:lnTo>
                    <a:lnTo>
                      <a:pt x="0" y="13"/>
                    </a:lnTo>
                    <a:lnTo>
                      <a:pt x="19" y="11"/>
                    </a:lnTo>
                    <a:lnTo>
                      <a:pt x="42" y="8"/>
                    </a:lnTo>
                    <a:lnTo>
                      <a:pt x="60" y="6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5" name="任意多边形 181334"/>
              <p:cNvSpPr/>
              <p:nvPr/>
            </p:nvSpPr>
            <p:spPr>
              <a:xfrm>
                <a:off x="2913" y="2211"/>
                <a:ext cx="6" cy="35"/>
              </a:xfrm>
              <a:custGeom>
                <a:avLst/>
                <a:gdLst/>
                <a:ahLst/>
                <a:cxnLst/>
                <a:pathLst>
                  <a:path w="21" h="142">
                    <a:moveTo>
                      <a:pt x="16" y="137"/>
                    </a:moveTo>
                    <a:lnTo>
                      <a:pt x="14" y="140"/>
                    </a:lnTo>
                    <a:lnTo>
                      <a:pt x="8" y="142"/>
                    </a:lnTo>
                    <a:lnTo>
                      <a:pt x="5" y="142"/>
                    </a:lnTo>
                    <a:lnTo>
                      <a:pt x="0" y="142"/>
                    </a:lnTo>
                    <a:lnTo>
                      <a:pt x="2" y="137"/>
                    </a:lnTo>
                    <a:lnTo>
                      <a:pt x="5" y="131"/>
                    </a:lnTo>
                    <a:lnTo>
                      <a:pt x="5" y="129"/>
                    </a:lnTo>
                    <a:lnTo>
                      <a:pt x="0" y="126"/>
                    </a:lnTo>
                    <a:lnTo>
                      <a:pt x="2" y="94"/>
                    </a:lnTo>
                    <a:lnTo>
                      <a:pt x="5" y="64"/>
                    </a:lnTo>
                    <a:lnTo>
                      <a:pt x="8" y="30"/>
                    </a:lnTo>
                    <a:lnTo>
                      <a:pt x="14" y="0"/>
                    </a:lnTo>
                    <a:lnTo>
                      <a:pt x="21" y="36"/>
                    </a:lnTo>
                    <a:lnTo>
                      <a:pt x="21" y="71"/>
                    </a:lnTo>
                    <a:lnTo>
                      <a:pt x="19" y="107"/>
                    </a:lnTo>
                    <a:lnTo>
                      <a:pt x="16" y="137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6" name="任意多边形 181335"/>
              <p:cNvSpPr/>
              <p:nvPr/>
            </p:nvSpPr>
            <p:spPr>
              <a:xfrm>
                <a:off x="2998" y="2212"/>
                <a:ext cx="11" cy="21"/>
              </a:xfrm>
              <a:custGeom>
                <a:avLst/>
                <a:gdLst/>
                <a:ahLst/>
                <a:cxnLst/>
                <a:pathLst>
                  <a:path w="46" h="82">
                    <a:moveTo>
                      <a:pt x="46" y="77"/>
                    </a:moveTo>
                    <a:lnTo>
                      <a:pt x="2" y="82"/>
                    </a:lnTo>
                    <a:lnTo>
                      <a:pt x="5" y="63"/>
                    </a:lnTo>
                    <a:lnTo>
                      <a:pt x="2" y="40"/>
                    </a:lnTo>
                    <a:lnTo>
                      <a:pt x="0" y="19"/>
                    </a:lnTo>
                    <a:lnTo>
                      <a:pt x="2" y="0"/>
                    </a:lnTo>
                    <a:lnTo>
                      <a:pt x="16" y="17"/>
                    </a:lnTo>
                    <a:lnTo>
                      <a:pt x="30" y="35"/>
                    </a:lnTo>
                    <a:lnTo>
                      <a:pt x="40" y="54"/>
                    </a:lnTo>
                    <a:lnTo>
                      <a:pt x="46" y="77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7" name="任意多边形 181336"/>
              <p:cNvSpPr/>
              <p:nvPr/>
            </p:nvSpPr>
            <p:spPr>
              <a:xfrm>
                <a:off x="2969" y="2214"/>
                <a:ext cx="13" cy="23"/>
              </a:xfrm>
              <a:custGeom>
                <a:avLst/>
                <a:gdLst/>
                <a:ahLst/>
                <a:cxnLst/>
                <a:pathLst>
                  <a:path w="53" h="96">
                    <a:moveTo>
                      <a:pt x="53" y="88"/>
                    </a:moveTo>
                    <a:lnTo>
                      <a:pt x="5" y="96"/>
                    </a:lnTo>
                    <a:lnTo>
                      <a:pt x="0" y="0"/>
                    </a:lnTo>
                    <a:lnTo>
                      <a:pt x="16" y="23"/>
                    </a:lnTo>
                    <a:lnTo>
                      <a:pt x="30" y="42"/>
                    </a:lnTo>
                    <a:lnTo>
                      <a:pt x="43" y="63"/>
                    </a:lnTo>
                    <a:lnTo>
                      <a:pt x="53" y="88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8" name="任意多边形 181337"/>
              <p:cNvSpPr/>
              <p:nvPr/>
            </p:nvSpPr>
            <p:spPr>
              <a:xfrm>
                <a:off x="2845" y="2215"/>
                <a:ext cx="19" cy="30"/>
              </a:xfrm>
              <a:custGeom>
                <a:avLst/>
                <a:gdLst/>
                <a:ahLst/>
                <a:cxnLst/>
                <a:pathLst>
                  <a:path w="74" h="120">
                    <a:moveTo>
                      <a:pt x="74" y="0"/>
                    </a:moveTo>
                    <a:lnTo>
                      <a:pt x="68" y="29"/>
                    </a:lnTo>
                    <a:lnTo>
                      <a:pt x="68" y="59"/>
                    </a:lnTo>
                    <a:lnTo>
                      <a:pt x="65" y="90"/>
                    </a:lnTo>
                    <a:lnTo>
                      <a:pt x="60" y="120"/>
                    </a:lnTo>
                    <a:lnTo>
                      <a:pt x="14" y="24"/>
                    </a:lnTo>
                    <a:lnTo>
                      <a:pt x="0" y="24"/>
                    </a:lnTo>
                    <a:lnTo>
                      <a:pt x="0" y="19"/>
                    </a:lnTo>
                    <a:lnTo>
                      <a:pt x="3" y="13"/>
                    </a:lnTo>
                    <a:lnTo>
                      <a:pt x="9" y="11"/>
                    </a:lnTo>
                    <a:lnTo>
                      <a:pt x="14" y="11"/>
                    </a:lnTo>
                    <a:lnTo>
                      <a:pt x="30" y="8"/>
                    </a:lnTo>
                    <a:lnTo>
                      <a:pt x="46" y="6"/>
                    </a:lnTo>
                    <a:lnTo>
                      <a:pt x="60" y="3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39" name="任意多边形 181338"/>
              <p:cNvSpPr/>
              <p:nvPr/>
            </p:nvSpPr>
            <p:spPr>
              <a:xfrm>
                <a:off x="2863" y="2218"/>
                <a:ext cx="5" cy="36"/>
              </a:xfrm>
              <a:custGeom>
                <a:avLst/>
                <a:gdLst/>
                <a:ahLst/>
                <a:cxnLst/>
                <a:pathLst>
                  <a:path w="19" h="144">
                    <a:moveTo>
                      <a:pt x="19" y="144"/>
                    </a:moveTo>
                    <a:lnTo>
                      <a:pt x="14" y="144"/>
                    </a:lnTo>
                    <a:lnTo>
                      <a:pt x="3" y="133"/>
                    </a:lnTo>
                    <a:lnTo>
                      <a:pt x="0" y="119"/>
                    </a:lnTo>
                    <a:lnTo>
                      <a:pt x="3" y="109"/>
                    </a:lnTo>
                    <a:lnTo>
                      <a:pt x="3" y="98"/>
                    </a:lnTo>
                    <a:lnTo>
                      <a:pt x="8" y="73"/>
                    </a:lnTo>
                    <a:lnTo>
                      <a:pt x="11" y="48"/>
                    </a:lnTo>
                    <a:lnTo>
                      <a:pt x="16" y="25"/>
                    </a:lnTo>
                    <a:lnTo>
                      <a:pt x="19" y="0"/>
                    </a:lnTo>
                    <a:lnTo>
                      <a:pt x="19" y="144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0" name="任意多边形 181339"/>
              <p:cNvSpPr/>
              <p:nvPr/>
            </p:nvSpPr>
            <p:spPr>
              <a:xfrm>
                <a:off x="2896" y="2218"/>
                <a:ext cx="13" cy="31"/>
              </a:xfrm>
              <a:custGeom>
                <a:avLst/>
                <a:gdLst/>
                <a:ahLst/>
                <a:cxnLst/>
                <a:pathLst>
                  <a:path w="55" h="126">
                    <a:moveTo>
                      <a:pt x="55" y="109"/>
                    </a:moveTo>
                    <a:lnTo>
                      <a:pt x="55" y="114"/>
                    </a:lnTo>
                    <a:lnTo>
                      <a:pt x="5" y="126"/>
                    </a:lnTo>
                    <a:lnTo>
                      <a:pt x="5" y="96"/>
                    </a:lnTo>
                    <a:lnTo>
                      <a:pt x="2" y="62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6" y="25"/>
                    </a:lnTo>
                    <a:lnTo>
                      <a:pt x="27" y="52"/>
                    </a:lnTo>
                    <a:lnTo>
                      <a:pt x="41" y="82"/>
                    </a:lnTo>
                    <a:lnTo>
                      <a:pt x="55" y="109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1" name="任意多边形 181340"/>
              <p:cNvSpPr/>
              <p:nvPr/>
            </p:nvSpPr>
            <p:spPr>
              <a:xfrm>
                <a:off x="2945" y="2218"/>
                <a:ext cx="11" cy="24"/>
              </a:xfrm>
              <a:custGeom>
                <a:avLst/>
                <a:gdLst/>
                <a:ahLst/>
                <a:cxnLst/>
                <a:pathLst>
                  <a:path w="43" h="96">
                    <a:moveTo>
                      <a:pt x="43" y="90"/>
                    </a:moveTo>
                    <a:lnTo>
                      <a:pt x="0" y="96"/>
                    </a:lnTo>
                    <a:lnTo>
                      <a:pt x="0" y="0"/>
                    </a:lnTo>
                    <a:lnTo>
                      <a:pt x="11" y="22"/>
                    </a:lnTo>
                    <a:lnTo>
                      <a:pt x="25" y="43"/>
                    </a:lnTo>
                    <a:lnTo>
                      <a:pt x="36" y="66"/>
                    </a:lnTo>
                    <a:lnTo>
                      <a:pt x="43" y="90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2" name="任意多边形 181341"/>
              <p:cNvSpPr/>
              <p:nvPr/>
            </p:nvSpPr>
            <p:spPr>
              <a:xfrm>
                <a:off x="2817" y="2219"/>
                <a:ext cx="21" cy="33"/>
              </a:xfrm>
              <a:custGeom>
                <a:avLst/>
                <a:gdLst/>
                <a:ahLst/>
                <a:cxnLst/>
                <a:pathLst>
                  <a:path w="85" h="133">
                    <a:moveTo>
                      <a:pt x="85" y="0"/>
                    </a:moveTo>
                    <a:lnTo>
                      <a:pt x="76" y="32"/>
                    </a:lnTo>
                    <a:lnTo>
                      <a:pt x="71" y="65"/>
                    </a:lnTo>
                    <a:lnTo>
                      <a:pt x="69" y="100"/>
                    </a:lnTo>
                    <a:lnTo>
                      <a:pt x="66" y="133"/>
                    </a:lnTo>
                    <a:lnTo>
                      <a:pt x="53" y="108"/>
                    </a:lnTo>
                    <a:lnTo>
                      <a:pt x="41" y="86"/>
                    </a:lnTo>
                    <a:lnTo>
                      <a:pt x="25" y="62"/>
                    </a:lnTo>
                    <a:lnTo>
                      <a:pt x="9" y="42"/>
                    </a:lnTo>
                    <a:lnTo>
                      <a:pt x="3" y="37"/>
                    </a:lnTo>
                    <a:lnTo>
                      <a:pt x="0" y="30"/>
                    </a:lnTo>
                    <a:lnTo>
                      <a:pt x="0" y="21"/>
                    </a:lnTo>
                    <a:lnTo>
                      <a:pt x="0" y="12"/>
                    </a:lnTo>
                    <a:lnTo>
                      <a:pt x="9" y="12"/>
                    </a:lnTo>
                    <a:lnTo>
                      <a:pt x="20" y="10"/>
                    </a:lnTo>
                    <a:lnTo>
                      <a:pt x="30" y="10"/>
                    </a:lnTo>
                    <a:lnTo>
                      <a:pt x="41" y="7"/>
                    </a:lnTo>
                    <a:lnTo>
                      <a:pt x="53" y="5"/>
                    </a:lnTo>
                    <a:lnTo>
                      <a:pt x="64" y="2"/>
                    </a:lnTo>
                    <a:lnTo>
                      <a:pt x="74" y="2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89D6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3" name="任意多边形 181342"/>
              <p:cNvSpPr/>
              <p:nvPr/>
            </p:nvSpPr>
            <p:spPr>
              <a:xfrm>
                <a:off x="2836" y="2220"/>
                <a:ext cx="6" cy="39"/>
              </a:xfrm>
              <a:custGeom>
                <a:avLst/>
                <a:gdLst/>
                <a:ahLst/>
                <a:cxnLst/>
                <a:pathLst>
                  <a:path w="21" h="155">
                    <a:moveTo>
                      <a:pt x="19" y="155"/>
                    </a:moveTo>
                    <a:lnTo>
                      <a:pt x="8" y="153"/>
                    </a:lnTo>
                    <a:lnTo>
                      <a:pt x="5" y="145"/>
                    </a:lnTo>
                    <a:lnTo>
                      <a:pt x="5" y="134"/>
                    </a:lnTo>
                    <a:lnTo>
                      <a:pt x="0" y="125"/>
                    </a:lnTo>
                    <a:lnTo>
                      <a:pt x="2" y="95"/>
                    </a:lnTo>
                    <a:lnTo>
                      <a:pt x="5" y="63"/>
                    </a:lnTo>
                    <a:lnTo>
                      <a:pt x="10" y="33"/>
                    </a:lnTo>
                    <a:lnTo>
                      <a:pt x="19" y="0"/>
                    </a:lnTo>
                    <a:lnTo>
                      <a:pt x="21" y="40"/>
                    </a:lnTo>
                    <a:lnTo>
                      <a:pt x="21" y="79"/>
                    </a:lnTo>
                    <a:lnTo>
                      <a:pt x="19" y="118"/>
                    </a:lnTo>
                    <a:lnTo>
                      <a:pt x="19" y="155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4" name="任意多边形 181343"/>
              <p:cNvSpPr/>
              <p:nvPr/>
            </p:nvSpPr>
            <p:spPr>
              <a:xfrm>
                <a:off x="2922" y="2220"/>
                <a:ext cx="9" cy="25"/>
              </a:xfrm>
              <a:custGeom>
                <a:avLst/>
                <a:gdLst/>
                <a:ahLst/>
                <a:cxnLst/>
                <a:pathLst>
                  <a:path w="35" h="101">
                    <a:moveTo>
                      <a:pt x="35" y="93"/>
                    </a:moveTo>
                    <a:lnTo>
                      <a:pt x="0" y="101"/>
                    </a:lnTo>
                    <a:lnTo>
                      <a:pt x="0" y="0"/>
                    </a:lnTo>
                    <a:lnTo>
                      <a:pt x="11" y="24"/>
                    </a:lnTo>
                    <a:lnTo>
                      <a:pt x="19" y="49"/>
                    </a:lnTo>
                    <a:lnTo>
                      <a:pt x="27" y="71"/>
                    </a:lnTo>
                    <a:lnTo>
                      <a:pt x="35" y="93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5" name="任意多边形 181344"/>
              <p:cNvSpPr/>
              <p:nvPr/>
            </p:nvSpPr>
            <p:spPr>
              <a:xfrm>
                <a:off x="2890" y="2221"/>
                <a:ext cx="4" cy="29"/>
              </a:xfrm>
              <a:custGeom>
                <a:avLst/>
                <a:gdLst/>
                <a:ahLst/>
                <a:cxnLst/>
                <a:pathLst>
                  <a:path w="16" h="115">
                    <a:moveTo>
                      <a:pt x="16" y="113"/>
                    </a:moveTo>
                    <a:lnTo>
                      <a:pt x="14" y="113"/>
                    </a:lnTo>
                    <a:lnTo>
                      <a:pt x="9" y="115"/>
                    </a:lnTo>
                    <a:lnTo>
                      <a:pt x="5" y="115"/>
                    </a:lnTo>
                    <a:lnTo>
                      <a:pt x="0" y="113"/>
                    </a:lnTo>
                    <a:lnTo>
                      <a:pt x="0" y="85"/>
                    </a:lnTo>
                    <a:lnTo>
                      <a:pt x="3" y="58"/>
                    </a:lnTo>
                    <a:lnTo>
                      <a:pt x="5" y="30"/>
                    </a:lnTo>
                    <a:lnTo>
                      <a:pt x="11" y="0"/>
                    </a:lnTo>
                    <a:lnTo>
                      <a:pt x="14" y="30"/>
                    </a:lnTo>
                    <a:lnTo>
                      <a:pt x="14" y="58"/>
                    </a:lnTo>
                    <a:lnTo>
                      <a:pt x="11" y="85"/>
                    </a:lnTo>
                    <a:lnTo>
                      <a:pt x="16" y="113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6" name="任意多边形 181345"/>
              <p:cNvSpPr/>
              <p:nvPr/>
            </p:nvSpPr>
            <p:spPr>
              <a:xfrm>
                <a:off x="2811" y="2224"/>
                <a:ext cx="5" cy="38"/>
              </a:xfrm>
              <a:custGeom>
                <a:avLst/>
                <a:gdLst/>
                <a:ahLst/>
                <a:cxnLst/>
                <a:pathLst>
                  <a:path w="19" h="152">
                    <a:moveTo>
                      <a:pt x="10" y="138"/>
                    </a:moveTo>
                    <a:lnTo>
                      <a:pt x="14" y="138"/>
                    </a:lnTo>
                    <a:lnTo>
                      <a:pt x="16" y="141"/>
                    </a:lnTo>
                    <a:lnTo>
                      <a:pt x="19" y="147"/>
                    </a:lnTo>
                    <a:lnTo>
                      <a:pt x="19" y="149"/>
                    </a:lnTo>
                    <a:lnTo>
                      <a:pt x="16" y="152"/>
                    </a:lnTo>
                    <a:lnTo>
                      <a:pt x="14" y="152"/>
                    </a:lnTo>
                    <a:lnTo>
                      <a:pt x="8" y="149"/>
                    </a:lnTo>
                    <a:lnTo>
                      <a:pt x="5" y="149"/>
                    </a:lnTo>
                    <a:lnTo>
                      <a:pt x="5" y="141"/>
                    </a:lnTo>
                    <a:lnTo>
                      <a:pt x="5" y="128"/>
                    </a:lnTo>
                    <a:lnTo>
                      <a:pt x="3" y="117"/>
                    </a:lnTo>
                    <a:lnTo>
                      <a:pt x="0" y="108"/>
                    </a:lnTo>
                    <a:lnTo>
                      <a:pt x="3" y="81"/>
                    </a:lnTo>
                    <a:lnTo>
                      <a:pt x="0" y="54"/>
                    </a:lnTo>
                    <a:lnTo>
                      <a:pt x="0" y="27"/>
                    </a:lnTo>
                    <a:lnTo>
                      <a:pt x="5" y="0"/>
                    </a:lnTo>
                    <a:lnTo>
                      <a:pt x="10" y="35"/>
                    </a:lnTo>
                    <a:lnTo>
                      <a:pt x="14" y="71"/>
                    </a:lnTo>
                    <a:lnTo>
                      <a:pt x="10" y="106"/>
                    </a:lnTo>
                    <a:lnTo>
                      <a:pt x="10" y="138"/>
                    </a:lnTo>
                    <a:close/>
                  </a:path>
                </a:pathLst>
              </a:custGeom>
              <a:solidFill>
                <a:srgbClr val="BFD1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7" name="任意多边形 181346"/>
              <p:cNvSpPr/>
              <p:nvPr/>
            </p:nvSpPr>
            <p:spPr>
              <a:xfrm>
                <a:off x="2870" y="2224"/>
                <a:ext cx="15" cy="28"/>
              </a:xfrm>
              <a:custGeom>
                <a:avLst/>
                <a:gdLst/>
                <a:ahLst/>
                <a:cxnLst/>
                <a:pathLst>
                  <a:path w="57" h="114">
                    <a:moveTo>
                      <a:pt x="57" y="106"/>
                    </a:moveTo>
                    <a:lnTo>
                      <a:pt x="46" y="111"/>
                    </a:lnTo>
                    <a:lnTo>
                      <a:pt x="35" y="114"/>
                    </a:lnTo>
                    <a:lnTo>
                      <a:pt x="21" y="114"/>
                    </a:lnTo>
                    <a:lnTo>
                      <a:pt x="8" y="114"/>
                    </a:lnTo>
                    <a:lnTo>
                      <a:pt x="5" y="84"/>
                    </a:lnTo>
                    <a:lnTo>
                      <a:pt x="2" y="57"/>
                    </a:lnTo>
                    <a:lnTo>
                      <a:pt x="0" y="30"/>
                    </a:lnTo>
                    <a:lnTo>
                      <a:pt x="2" y="0"/>
                    </a:lnTo>
                    <a:lnTo>
                      <a:pt x="19" y="23"/>
                    </a:lnTo>
                    <a:lnTo>
                      <a:pt x="30" y="51"/>
                    </a:lnTo>
                    <a:lnTo>
                      <a:pt x="41" y="81"/>
                    </a:lnTo>
                    <a:lnTo>
                      <a:pt x="57" y="106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8" name="任意多边形 181347"/>
              <p:cNvSpPr/>
              <p:nvPr/>
            </p:nvSpPr>
            <p:spPr>
              <a:xfrm>
                <a:off x="3037" y="2225"/>
                <a:ext cx="289" cy="68"/>
              </a:xfrm>
              <a:custGeom>
                <a:avLst/>
                <a:gdLst/>
                <a:ahLst/>
                <a:cxnLst/>
                <a:pathLst>
                  <a:path w="1156" h="270">
                    <a:moveTo>
                      <a:pt x="1156" y="89"/>
                    </a:moveTo>
                    <a:lnTo>
                      <a:pt x="355" y="229"/>
                    </a:lnTo>
                    <a:lnTo>
                      <a:pt x="336" y="223"/>
                    </a:lnTo>
                    <a:lnTo>
                      <a:pt x="66" y="270"/>
                    </a:lnTo>
                    <a:lnTo>
                      <a:pt x="47" y="248"/>
                    </a:lnTo>
                    <a:lnTo>
                      <a:pt x="34" y="223"/>
                    </a:lnTo>
                    <a:lnTo>
                      <a:pt x="20" y="199"/>
                    </a:lnTo>
                    <a:lnTo>
                      <a:pt x="0" y="174"/>
                    </a:lnTo>
                    <a:lnTo>
                      <a:pt x="1059" y="0"/>
                    </a:lnTo>
                    <a:lnTo>
                      <a:pt x="1071" y="0"/>
                    </a:lnTo>
                    <a:lnTo>
                      <a:pt x="1156" y="89"/>
                    </a:lnTo>
                    <a:close/>
                  </a:path>
                </a:pathLst>
              </a:custGeom>
              <a:solidFill>
                <a:srgbClr val="FFBF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49" name="任意多边形 181348"/>
              <p:cNvSpPr/>
              <p:nvPr/>
            </p:nvSpPr>
            <p:spPr>
              <a:xfrm>
                <a:off x="2845" y="2227"/>
                <a:ext cx="15" cy="29"/>
              </a:xfrm>
              <a:custGeom>
                <a:avLst/>
                <a:gdLst/>
                <a:ahLst/>
                <a:cxnLst/>
                <a:pathLst>
                  <a:path w="60" h="119">
                    <a:moveTo>
                      <a:pt x="60" y="113"/>
                    </a:moveTo>
                    <a:lnTo>
                      <a:pt x="0" y="119"/>
                    </a:lnTo>
                    <a:lnTo>
                      <a:pt x="0" y="90"/>
                    </a:lnTo>
                    <a:lnTo>
                      <a:pt x="0" y="56"/>
                    </a:lnTo>
                    <a:lnTo>
                      <a:pt x="0" y="26"/>
                    </a:lnTo>
                    <a:lnTo>
                      <a:pt x="0" y="0"/>
                    </a:lnTo>
                    <a:lnTo>
                      <a:pt x="14" y="26"/>
                    </a:lnTo>
                    <a:lnTo>
                      <a:pt x="30" y="56"/>
                    </a:lnTo>
                    <a:lnTo>
                      <a:pt x="44" y="87"/>
                    </a:lnTo>
                    <a:lnTo>
                      <a:pt x="60" y="113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0" name="任意多边形 181349"/>
              <p:cNvSpPr/>
              <p:nvPr/>
            </p:nvSpPr>
            <p:spPr>
              <a:xfrm>
                <a:off x="2789" y="2231"/>
                <a:ext cx="15" cy="35"/>
              </a:xfrm>
              <a:custGeom>
                <a:avLst/>
                <a:gdLst/>
                <a:ahLst/>
                <a:cxnLst/>
                <a:pathLst>
                  <a:path w="60" h="136">
                    <a:moveTo>
                      <a:pt x="60" y="124"/>
                    </a:moveTo>
                    <a:lnTo>
                      <a:pt x="5" y="136"/>
                    </a:lnTo>
                    <a:lnTo>
                      <a:pt x="5" y="100"/>
                    </a:lnTo>
                    <a:lnTo>
                      <a:pt x="3" y="68"/>
                    </a:lnTo>
                    <a:lnTo>
                      <a:pt x="0" y="35"/>
                    </a:lnTo>
                    <a:lnTo>
                      <a:pt x="0" y="0"/>
                    </a:lnTo>
                    <a:lnTo>
                      <a:pt x="19" y="29"/>
                    </a:lnTo>
                    <a:lnTo>
                      <a:pt x="35" y="59"/>
                    </a:lnTo>
                    <a:lnTo>
                      <a:pt x="49" y="92"/>
                    </a:lnTo>
                    <a:lnTo>
                      <a:pt x="60" y="124"/>
                    </a:lnTo>
                    <a:close/>
                  </a:path>
                </a:pathLst>
              </a:custGeom>
              <a:solidFill>
                <a:srgbClr val="E0F4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1" name="任意多边形 181350"/>
              <p:cNvSpPr/>
              <p:nvPr/>
            </p:nvSpPr>
            <p:spPr>
              <a:xfrm>
                <a:off x="2818" y="2236"/>
                <a:ext cx="12" cy="25"/>
              </a:xfrm>
              <a:custGeom>
                <a:avLst/>
                <a:gdLst/>
                <a:ahLst/>
                <a:cxnLst/>
                <a:pathLst>
                  <a:path w="49" h="101">
                    <a:moveTo>
                      <a:pt x="49" y="90"/>
                    </a:moveTo>
                    <a:lnTo>
                      <a:pt x="3" y="101"/>
                    </a:lnTo>
                    <a:lnTo>
                      <a:pt x="5" y="76"/>
                    </a:lnTo>
                    <a:lnTo>
                      <a:pt x="3" y="53"/>
                    </a:lnTo>
                    <a:lnTo>
                      <a:pt x="0" y="28"/>
                    </a:lnTo>
                    <a:lnTo>
                      <a:pt x="3" y="0"/>
                    </a:lnTo>
                    <a:lnTo>
                      <a:pt x="19" y="23"/>
                    </a:lnTo>
                    <a:lnTo>
                      <a:pt x="30" y="44"/>
                    </a:lnTo>
                    <a:lnTo>
                      <a:pt x="40" y="69"/>
                    </a:lnTo>
                    <a:lnTo>
                      <a:pt x="49" y="90"/>
                    </a:lnTo>
                    <a:close/>
                  </a:path>
                </a:pathLst>
              </a:custGeom>
              <a:solidFill>
                <a:srgbClr val="BFE8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2" name="任意多边形 181351"/>
              <p:cNvSpPr/>
              <p:nvPr/>
            </p:nvSpPr>
            <p:spPr>
              <a:xfrm>
                <a:off x="2720" y="2239"/>
                <a:ext cx="5" cy="32"/>
              </a:xfrm>
              <a:custGeom>
                <a:avLst/>
                <a:gdLst/>
                <a:ahLst/>
                <a:cxnLst/>
                <a:pathLst>
                  <a:path w="18" h="129">
                    <a:moveTo>
                      <a:pt x="16" y="25"/>
                    </a:moveTo>
                    <a:lnTo>
                      <a:pt x="16" y="49"/>
                    </a:lnTo>
                    <a:lnTo>
                      <a:pt x="16" y="74"/>
                    </a:lnTo>
                    <a:lnTo>
                      <a:pt x="16" y="101"/>
                    </a:lnTo>
                    <a:lnTo>
                      <a:pt x="16" y="125"/>
                    </a:lnTo>
                    <a:lnTo>
                      <a:pt x="13" y="125"/>
                    </a:lnTo>
                    <a:lnTo>
                      <a:pt x="7" y="129"/>
                    </a:lnTo>
                    <a:lnTo>
                      <a:pt x="5" y="129"/>
                    </a:lnTo>
                    <a:lnTo>
                      <a:pt x="0" y="125"/>
                    </a:lnTo>
                    <a:lnTo>
                      <a:pt x="2" y="93"/>
                    </a:lnTo>
                    <a:lnTo>
                      <a:pt x="5" y="63"/>
                    </a:lnTo>
                    <a:lnTo>
                      <a:pt x="5" y="30"/>
                    </a:lnTo>
                    <a:lnTo>
                      <a:pt x="5" y="0"/>
                    </a:lnTo>
                    <a:lnTo>
                      <a:pt x="16" y="3"/>
                    </a:lnTo>
                    <a:lnTo>
                      <a:pt x="18" y="8"/>
                    </a:lnTo>
                    <a:lnTo>
                      <a:pt x="16" y="17"/>
                    </a:lnTo>
                    <a:lnTo>
                      <a:pt x="1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3" name="任意多边形 181352"/>
              <p:cNvSpPr/>
              <p:nvPr/>
            </p:nvSpPr>
            <p:spPr>
              <a:xfrm>
                <a:off x="2820" y="2242"/>
                <a:ext cx="226" cy="44"/>
              </a:xfrm>
              <a:custGeom>
                <a:avLst/>
                <a:gdLst/>
                <a:ahLst/>
                <a:cxnLst/>
                <a:pathLst>
                  <a:path w="905" h="177">
                    <a:moveTo>
                      <a:pt x="905" y="33"/>
                    </a:moveTo>
                    <a:lnTo>
                      <a:pt x="892" y="35"/>
                    </a:lnTo>
                    <a:lnTo>
                      <a:pt x="878" y="38"/>
                    </a:lnTo>
                    <a:lnTo>
                      <a:pt x="864" y="41"/>
                    </a:lnTo>
                    <a:lnTo>
                      <a:pt x="850" y="44"/>
                    </a:lnTo>
                    <a:lnTo>
                      <a:pt x="834" y="44"/>
                    </a:lnTo>
                    <a:lnTo>
                      <a:pt x="821" y="46"/>
                    </a:lnTo>
                    <a:lnTo>
                      <a:pt x="807" y="46"/>
                    </a:lnTo>
                    <a:lnTo>
                      <a:pt x="793" y="46"/>
                    </a:lnTo>
                    <a:lnTo>
                      <a:pt x="788" y="46"/>
                    </a:lnTo>
                    <a:lnTo>
                      <a:pt x="779" y="49"/>
                    </a:lnTo>
                    <a:lnTo>
                      <a:pt x="772" y="55"/>
                    </a:lnTo>
                    <a:lnTo>
                      <a:pt x="763" y="57"/>
                    </a:lnTo>
                    <a:lnTo>
                      <a:pt x="0" y="177"/>
                    </a:lnTo>
                    <a:lnTo>
                      <a:pt x="0" y="169"/>
                    </a:lnTo>
                    <a:lnTo>
                      <a:pt x="0" y="161"/>
                    </a:lnTo>
                    <a:lnTo>
                      <a:pt x="0" y="152"/>
                    </a:lnTo>
                    <a:lnTo>
                      <a:pt x="0" y="141"/>
                    </a:lnTo>
                    <a:lnTo>
                      <a:pt x="55" y="134"/>
                    </a:lnTo>
                    <a:lnTo>
                      <a:pt x="112" y="122"/>
                    </a:lnTo>
                    <a:lnTo>
                      <a:pt x="169" y="115"/>
                    </a:lnTo>
                    <a:lnTo>
                      <a:pt x="223" y="106"/>
                    </a:lnTo>
                    <a:lnTo>
                      <a:pt x="281" y="95"/>
                    </a:lnTo>
                    <a:lnTo>
                      <a:pt x="335" y="87"/>
                    </a:lnTo>
                    <a:lnTo>
                      <a:pt x="393" y="79"/>
                    </a:lnTo>
                    <a:lnTo>
                      <a:pt x="450" y="71"/>
                    </a:lnTo>
                    <a:lnTo>
                      <a:pt x="507" y="60"/>
                    </a:lnTo>
                    <a:lnTo>
                      <a:pt x="561" y="51"/>
                    </a:lnTo>
                    <a:lnTo>
                      <a:pt x="619" y="44"/>
                    </a:lnTo>
                    <a:lnTo>
                      <a:pt x="676" y="35"/>
                    </a:lnTo>
                    <a:lnTo>
                      <a:pt x="733" y="28"/>
                    </a:lnTo>
                    <a:lnTo>
                      <a:pt x="791" y="16"/>
                    </a:lnTo>
                    <a:lnTo>
                      <a:pt x="848" y="8"/>
                    </a:lnTo>
                    <a:lnTo>
                      <a:pt x="905" y="0"/>
                    </a:lnTo>
                    <a:lnTo>
                      <a:pt x="905" y="33"/>
                    </a:lnTo>
                    <a:close/>
                  </a:path>
                </a:pathLst>
              </a:custGeom>
              <a:solidFill>
                <a:srgbClr val="FF3FB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4" name="任意多边形 181353"/>
              <p:cNvSpPr/>
              <p:nvPr/>
            </p:nvSpPr>
            <p:spPr>
              <a:xfrm>
                <a:off x="2684" y="2244"/>
                <a:ext cx="6" cy="32"/>
              </a:xfrm>
              <a:custGeom>
                <a:avLst/>
                <a:gdLst/>
                <a:ahLst/>
                <a:cxnLst/>
                <a:pathLst>
                  <a:path w="27" h="128">
                    <a:moveTo>
                      <a:pt x="19" y="8"/>
                    </a:moveTo>
                    <a:lnTo>
                      <a:pt x="16" y="36"/>
                    </a:lnTo>
                    <a:lnTo>
                      <a:pt x="19" y="60"/>
                    </a:lnTo>
                    <a:lnTo>
                      <a:pt x="21" y="87"/>
                    </a:lnTo>
                    <a:lnTo>
                      <a:pt x="19" y="114"/>
                    </a:lnTo>
                    <a:lnTo>
                      <a:pt x="21" y="114"/>
                    </a:lnTo>
                    <a:lnTo>
                      <a:pt x="25" y="117"/>
                    </a:lnTo>
                    <a:lnTo>
                      <a:pt x="27" y="123"/>
                    </a:lnTo>
                    <a:lnTo>
                      <a:pt x="25" y="128"/>
                    </a:lnTo>
                    <a:lnTo>
                      <a:pt x="19" y="128"/>
                    </a:lnTo>
                    <a:lnTo>
                      <a:pt x="14" y="128"/>
                    </a:lnTo>
                    <a:lnTo>
                      <a:pt x="9" y="126"/>
                    </a:lnTo>
                    <a:lnTo>
                      <a:pt x="3" y="123"/>
                    </a:lnTo>
                    <a:lnTo>
                      <a:pt x="3" y="93"/>
                    </a:lnTo>
                    <a:lnTo>
                      <a:pt x="3" y="66"/>
                    </a:lnTo>
                    <a:lnTo>
                      <a:pt x="3" y="38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9" y="0"/>
                    </a:lnTo>
                    <a:lnTo>
                      <a:pt x="14" y="3"/>
                    </a:lnTo>
                    <a:lnTo>
                      <a:pt x="19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5" name="任意多边形 181354"/>
              <p:cNvSpPr/>
              <p:nvPr/>
            </p:nvSpPr>
            <p:spPr>
              <a:xfrm>
                <a:off x="2581" y="2265"/>
                <a:ext cx="430" cy="73"/>
              </a:xfrm>
              <a:custGeom>
                <a:avLst/>
                <a:gdLst/>
                <a:ahLst/>
                <a:cxnLst/>
                <a:pathLst>
                  <a:path w="1720" h="292">
                    <a:moveTo>
                      <a:pt x="1720" y="16"/>
                    </a:moveTo>
                    <a:lnTo>
                      <a:pt x="1665" y="27"/>
                    </a:lnTo>
                    <a:lnTo>
                      <a:pt x="1614" y="35"/>
                    </a:lnTo>
                    <a:lnTo>
                      <a:pt x="1559" y="44"/>
                    </a:lnTo>
                    <a:lnTo>
                      <a:pt x="1508" y="51"/>
                    </a:lnTo>
                    <a:lnTo>
                      <a:pt x="1453" y="62"/>
                    </a:lnTo>
                    <a:lnTo>
                      <a:pt x="1401" y="71"/>
                    </a:lnTo>
                    <a:lnTo>
                      <a:pt x="1347" y="79"/>
                    </a:lnTo>
                    <a:lnTo>
                      <a:pt x="1295" y="87"/>
                    </a:lnTo>
                    <a:lnTo>
                      <a:pt x="1240" y="95"/>
                    </a:lnTo>
                    <a:lnTo>
                      <a:pt x="1186" y="103"/>
                    </a:lnTo>
                    <a:lnTo>
                      <a:pt x="1134" y="115"/>
                    </a:lnTo>
                    <a:lnTo>
                      <a:pt x="1079" y="122"/>
                    </a:lnTo>
                    <a:lnTo>
                      <a:pt x="1028" y="131"/>
                    </a:lnTo>
                    <a:lnTo>
                      <a:pt x="973" y="142"/>
                    </a:lnTo>
                    <a:lnTo>
                      <a:pt x="922" y="150"/>
                    </a:lnTo>
                    <a:lnTo>
                      <a:pt x="867" y="161"/>
                    </a:lnTo>
                    <a:lnTo>
                      <a:pt x="818" y="168"/>
                    </a:lnTo>
                    <a:lnTo>
                      <a:pt x="766" y="177"/>
                    </a:lnTo>
                    <a:lnTo>
                      <a:pt x="717" y="186"/>
                    </a:lnTo>
                    <a:lnTo>
                      <a:pt x="665" y="193"/>
                    </a:lnTo>
                    <a:lnTo>
                      <a:pt x="616" y="202"/>
                    </a:lnTo>
                    <a:lnTo>
                      <a:pt x="564" y="210"/>
                    </a:lnTo>
                    <a:lnTo>
                      <a:pt x="516" y="218"/>
                    </a:lnTo>
                    <a:lnTo>
                      <a:pt x="463" y="226"/>
                    </a:lnTo>
                    <a:lnTo>
                      <a:pt x="415" y="234"/>
                    </a:lnTo>
                    <a:lnTo>
                      <a:pt x="363" y="242"/>
                    </a:lnTo>
                    <a:lnTo>
                      <a:pt x="314" y="251"/>
                    </a:lnTo>
                    <a:lnTo>
                      <a:pt x="262" y="259"/>
                    </a:lnTo>
                    <a:lnTo>
                      <a:pt x="213" y="267"/>
                    </a:lnTo>
                    <a:lnTo>
                      <a:pt x="161" y="275"/>
                    </a:lnTo>
                    <a:lnTo>
                      <a:pt x="113" y="283"/>
                    </a:lnTo>
                    <a:lnTo>
                      <a:pt x="60" y="292"/>
                    </a:lnTo>
                    <a:lnTo>
                      <a:pt x="47" y="246"/>
                    </a:lnTo>
                    <a:lnTo>
                      <a:pt x="30" y="202"/>
                    </a:lnTo>
                    <a:lnTo>
                      <a:pt x="14" y="156"/>
                    </a:lnTo>
                    <a:lnTo>
                      <a:pt x="0" y="112"/>
                    </a:lnTo>
                    <a:lnTo>
                      <a:pt x="60" y="172"/>
                    </a:lnTo>
                    <a:lnTo>
                      <a:pt x="72" y="172"/>
                    </a:lnTo>
                    <a:lnTo>
                      <a:pt x="82" y="177"/>
                    </a:lnTo>
                    <a:lnTo>
                      <a:pt x="90" y="188"/>
                    </a:lnTo>
                    <a:lnTo>
                      <a:pt x="104" y="193"/>
                    </a:lnTo>
                    <a:lnTo>
                      <a:pt x="235" y="166"/>
                    </a:lnTo>
                    <a:lnTo>
                      <a:pt x="279" y="161"/>
                    </a:lnTo>
                    <a:lnTo>
                      <a:pt x="320" y="152"/>
                    </a:lnTo>
                    <a:lnTo>
                      <a:pt x="363" y="147"/>
                    </a:lnTo>
                    <a:lnTo>
                      <a:pt x="403" y="138"/>
                    </a:lnTo>
                    <a:lnTo>
                      <a:pt x="444" y="133"/>
                    </a:lnTo>
                    <a:lnTo>
                      <a:pt x="488" y="125"/>
                    </a:lnTo>
                    <a:lnTo>
                      <a:pt x="529" y="120"/>
                    </a:lnTo>
                    <a:lnTo>
                      <a:pt x="573" y="115"/>
                    </a:lnTo>
                    <a:lnTo>
                      <a:pt x="614" y="106"/>
                    </a:lnTo>
                    <a:lnTo>
                      <a:pt x="655" y="101"/>
                    </a:lnTo>
                    <a:lnTo>
                      <a:pt x="699" y="95"/>
                    </a:lnTo>
                    <a:lnTo>
                      <a:pt x="739" y="87"/>
                    </a:lnTo>
                    <a:lnTo>
                      <a:pt x="780" y="82"/>
                    </a:lnTo>
                    <a:lnTo>
                      <a:pt x="824" y="76"/>
                    </a:lnTo>
                    <a:lnTo>
                      <a:pt x="865" y="68"/>
                    </a:lnTo>
                    <a:lnTo>
                      <a:pt x="908" y="62"/>
                    </a:lnTo>
                    <a:lnTo>
                      <a:pt x="913" y="79"/>
                    </a:lnTo>
                    <a:lnTo>
                      <a:pt x="922" y="92"/>
                    </a:lnTo>
                    <a:lnTo>
                      <a:pt x="930" y="106"/>
                    </a:lnTo>
                    <a:lnTo>
                      <a:pt x="941" y="117"/>
                    </a:lnTo>
                    <a:lnTo>
                      <a:pt x="987" y="109"/>
                    </a:lnTo>
                    <a:lnTo>
                      <a:pt x="1033" y="101"/>
                    </a:lnTo>
                    <a:lnTo>
                      <a:pt x="1079" y="92"/>
                    </a:lnTo>
                    <a:lnTo>
                      <a:pt x="1126" y="85"/>
                    </a:lnTo>
                    <a:lnTo>
                      <a:pt x="1175" y="79"/>
                    </a:lnTo>
                    <a:lnTo>
                      <a:pt x="1221" y="71"/>
                    </a:lnTo>
                    <a:lnTo>
                      <a:pt x="1268" y="62"/>
                    </a:lnTo>
                    <a:lnTo>
                      <a:pt x="1315" y="57"/>
                    </a:lnTo>
                    <a:lnTo>
                      <a:pt x="1361" y="49"/>
                    </a:lnTo>
                    <a:lnTo>
                      <a:pt x="1410" y="44"/>
                    </a:lnTo>
                    <a:lnTo>
                      <a:pt x="1456" y="39"/>
                    </a:lnTo>
                    <a:lnTo>
                      <a:pt x="1502" y="30"/>
                    </a:lnTo>
                    <a:lnTo>
                      <a:pt x="1548" y="25"/>
                    </a:lnTo>
                    <a:lnTo>
                      <a:pt x="1598" y="16"/>
                    </a:lnTo>
                    <a:lnTo>
                      <a:pt x="1644" y="11"/>
                    </a:lnTo>
                    <a:lnTo>
                      <a:pt x="1690" y="3"/>
                    </a:lnTo>
                    <a:lnTo>
                      <a:pt x="1701" y="0"/>
                    </a:lnTo>
                    <a:lnTo>
                      <a:pt x="1709" y="3"/>
                    </a:lnTo>
                    <a:lnTo>
                      <a:pt x="1715" y="9"/>
                    </a:lnTo>
                    <a:lnTo>
                      <a:pt x="1720" y="16"/>
                    </a:lnTo>
                    <a:close/>
                  </a:path>
                </a:pathLst>
              </a:custGeom>
              <a:solidFill>
                <a:srgbClr val="3FFF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6" name="任意多边形 181355"/>
              <p:cNvSpPr/>
              <p:nvPr/>
            </p:nvSpPr>
            <p:spPr>
              <a:xfrm>
                <a:off x="2597" y="2273"/>
                <a:ext cx="427" cy="96"/>
              </a:xfrm>
              <a:custGeom>
                <a:avLst/>
                <a:gdLst/>
                <a:ahLst/>
                <a:cxnLst/>
                <a:pathLst>
                  <a:path w="1710" h="385">
                    <a:moveTo>
                      <a:pt x="1666" y="14"/>
                    </a:moveTo>
                    <a:lnTo>
                      <a:pt x="1680" y="33"/>
                    </a:lnTo>
                    <a:lnTo>
                      <a:pt x="1694" y="55"/>
                    </a:lnTo>
                    <a:lnTo>
                      <a:pt x="1705" y="77"/>
                    </a:lnTo>
                    <a:lnTo>
                      <a:pt x="1710" y="104"/>
                    </a:lnTo>
                    <a:lnTo>
                      <a:pt x="1606" y="124"/>
                    </a:lnTo>
                    <a:lnTo>
                      <a:pt x="1503" y="140"/>
                    </a:lnTo>
                    <a:lnTo>
                      <a:pt x="1399" y="159"/>
                    </a:lnTo>
                    <a:lnTo>
                      <a:pt x="1296" y="175"/>
                    </a:lnTo>
                    <a:lnTo>
                      <a:pt x="1192" y="194"/>
                    </a:lnTo>
                    <a:lnTo>
                      <a:pt x="1089" y="210"/>
                    </a:lnTo>
                    <a:lnTo>
                      <a:pt x="984" y="230"/>
                    </a:lnTo>
                    <a:lnTo>
                      <a:pt x="881" y="246"/>
                    </a:lnTo>
                    <a:lnTo>
                      <a:pt x="777" y="265"/>
                    </a:lnTo>
                    <a:lnTo>
                      <a:pt x="674" y="281"/>
                    </a:lnTo>
                    <a:lnTo>
                      <a:pt x="570" y="301"/>
                    </a:lnTo>
                    <a:lnTo>
                      <a:pt x="467" y="317"/>
                    </a:lnTo>
                    <a:lnTo>
                      <a:pt x="363" y="333"/>
                    </a:lnTo>
                    <a:lnTo>
                      <a:pt x="257" y="352"/>
                    </a:lnTo>
                    <a:lnTo>
                      <a:pt x="154" y="368"/>
                    </a:lnTo>
                    <a:lnTo>
                      <a:pt x="50" y="385"/>
                    </a:lnTo>
                    <a:lnTo>
                      <a:pt x="48" y="385"/>
                    </a:lnTo>
                    <a:lnTo>
                      <a:pt x="44" y="382"/>
                    </a:lnTo>
                    <a:lnTo>
                      <a:pt x="42" y="379"/>
                    </a:lnTo>
                    <a:lnTo>
                      <a:pt x="39" y="374"/>
                    </a:lnTo>
                    <a:lnTo>
                      <a:pt x="0" y="276"/>
                    </a:lnTo>
                    <a:lnTo>
                      <a:pt x="104" y="257"/>
                    </a:lnTo>
                    <a:lnTo>
                      <a:pt x="207" y="240"/>
                    </a:lnTo>
                    <a:lnTo>
                      <a:pt x="315" y="224"/>
                    </a:lnTo>
                    <a:lnTo>
                      <a:pt x="418" y="205"/>
                    </a:lnTo>
                    <a:lnTo>
                      <a:pt x="522" y="189"/>
                    </a:lnTo>
                    <a:lnTo>
                      <a:pt x="625" y="170"/>
                    </a:lnTo>
                    <a:lnTo>
                      <a:pt x="729" y="154"/>
                    </a:lnTo>
                    <a:lnTo>
                      <a:pt x="832" y="136"/>
                    </a:lnTo>
                    <a:lnTo>
                      <a:pt x="936" y="118"/>
                    </a:lnTo>
                    <a:lnTo>
                      <a:pt x="1039" y="101"/>
                    </a:lnTo>
                    <a:lnTo>
                      <a:pt x="1143" y="85"/>
                    </a:lnTo>
                    <a:lnTo>
                      <a:pt x="1246" y="69"/>
                    </a:lnTo>
                    <a:lnTo>
                      <a:pt x="1350" y="53"/>
                    </a:lnTo>
                    <a:lnTo>
                      <a:pt x="1453" y="33"/>
                    </a:lnTo>
                    <a:lnTo>
                      <a:pt x="1558" y="17"/>
                    </a:lnTo>
                    <a:lnTo>
                      <a:pt x="1661" y="0"/>
                    </a:lnTo>
                    <a:lnTo>
                      <a:pt x="1666" y="14"/>
                    </a:lnTo>
                    <a:close/>
                  </a:path>
                </a:pathLst>
              </a:custGeom>
              <a:solidFill>
                <a:srgbClr val="FFBF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7" name="任意多边形 181356"/>
              <p:cNvSpPr/>
              <p:nvPr/>
            </p:nvSpPr>
            <p:spPr>
              <a:xfrm>
                <a:off x="2586" y="2082"/>
                <a:ext cx="65" cy="169"/>
              </a:xfrm>
              <a:custGeom>
                <a:avLst/>
                <a:gdLst/>
                <a:ahLst/>
                <a:cxnLst/>
                <a:pathLst>
                  <a:path w="262" h="676">
                    <a:moveTo>
                      <a:pt x="11" y="0"/>
                    </a:moveTo>
                    <a:lnTo>
                      <a:pt x="262" y="669"/>
                    </a:lnTo>
                    <a:lnTo>
                      <a:pt x="251" y="676"/>
                    </a:lnTo>
                    <a:lnTo>
                      <a:pt x="0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8" name="任意多边形 181357"/>
              <p:cNvSpPr/>
              <p:nvPr/>
            </p:nvSpPr>
            <p:spPr>
              <a:xfrm>
                <a:off x="2621" y="2078"/>
                <a:ext cx="65" cy="168"/>
              </a:xfrm>
              <a:custGeom>
                <a:avLst/>
                <a:gdLst/>
                <a:ahLst/>
                <a:cxnLst/>
                <a:pathLst>
                  <a:path w="260" h="675">
                    <a:moveTo>
                      <a:pt x="8" y="0"/>
                    </a:moveTo>
                    <a:lnTo>
                      <a:pt x="260" y="670"/>
                    </a:lnTo>
                    <a:lnTo>
                      <a:pt x="246" y="675"/>
                    </a:lnTo>
                    <a:lnTo>
                      <a:pt x="0" y="13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59" name="任意多边形 181358"/>
              <p:cNvSpPr/>
              <p:nvPr/>
            </p:nvSpPr>
            <p:spPr>
              <a:xfrm>
                <a:off x="2652" y="2071"/>
                <a:ext cx="69" cy="168"/>
              </a:xfrm>
              <a:custGeom>
                <a:avLst/>
                <a:gdLst/>
                <a:ahLst/>
                <a:cxnLst/>
                <a:pathLst>
                  <a:path w="276" h="670">
                    <a:moveTo>
                      <a:pt x="9" y="0"/>
                    </a:moveTo>
                    <a:lnTo>
                      <a:pt x="276" y="665"/>
                    </a:lnTo>
                    <a:lnTo>
                      <a:pt x="265" y="670"/>
                    </a:lnTo>
                    <a:lnTo>
                      <a:pt x="0" y="13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0" name="任意多边形 181359"/>
              <p:cNvSpPr/>
              <p:nvPr/>
            </p:nvSpPr>
            <p:spPr>
              <a:xfrm>
                <a:off x="2705" y="2066"/>
                <a:ext cx="75" cy="158"/>
              </a:xfrm>
              <a:custGeom>
                <a:avLst/>
                <a:gdLst/>
                <a:ahLst/>
                <a:cxnLst/>
                <a:pathLst>
                  <a:path w="299" h="633">
                    <a:moveTo>
                      <a:pt x="10" y="0"/>
                    </a:moveTo>
                    <a:lnTo>
                      <a:pt x="299" y="626"/>
                    </a:lnTo>
                    <a:lnTo>
                      <a:pt x="285" y="633"/>
                    </a:lnTo>
                    <a:lnTo>
                      <a:pt x="0" y="1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1" name="任意多边形 181360"/>
              <p:cNvSpPr/>
              <p:nvPr/>
            </p:nvSpPr>
            <p:spPr>
              <a:xfrm>
                <a:off x="3055" y="2028"/>
                <a:ext cx="105" cy="143"/>
              </a:xfrm>
              <a:custGeom>
                <a:avLst/>
                <a:gdLst/>
                <a:ahLst/>
                <a:cxnLst/>
                <a:pathLst>
                  <a:path w="420" h="572">
                    <a:moveTo>
                      <a:pt x="0" y="0"/>
                    </a:moveTo>
                    <a:lnTo>
                      <a:pt x="420" y="561"/>
                    </a:lnTo>
                    <a:lnTo>
                      <a:pt x="409" y="572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2" name="任意多边形 181361"/>
              <p:cNvSpPr/>
              <p:nvPr/>
            </p:nvSpPr>
            <p:spPr>
              <a:xfrm>
                <a:off x="3087" y="2026"/>
                <a:ext cx="111" cy="140"/>
              </a:xfrm>
              <a:custGeom>
                <a:avLst/>
                <a:gdLst/>
                <a:ahLst/>
                <a:cxnLst/>
                <a:pathLst>
                  <a:path w="441" h="561">
                    <a:moveTo>
                      <a:pt x="0" y="0"/>
                    </a:moveTo>
                    <a:lnTo>
                      <a:pt x="441" y="547"/>
                    </a:lnTo>
                    <a:lnTo>
                      <a:pt x="430" y="561"/>
                    </a:ln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3" name="任意多边形 181362"/>
              <p:cNvSpPr/>
              <p:nvPr/>
            </p:nvSpPr>
            <p:spPr>
              <a:xfrm>
                <a:off x="3120" y="2020"/>
                <a:ext cx="110" cy="134"/>
              </a:xfrm>
              <a:custGeom>
                <a:avLst/>
                <a:gdLst/>
                <a:ahLst/>
                <a:cxnLst/>
                <a:pathLst>
                  <a:path w="441" h="537">
                    <a:moveTo>
                      <a:pt x="0" y="0"/>
                    </a:moveTo>
                    <a:lnTo>
                      <a:pt x="441" y="517"/>
                    </a:lnTo>
                    <a:lnTo>
                      <a:pt x="430" y="537"/>
                    </a:lnTo>
                    <a:lnTo>
                      <a:pt x="0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FF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</p:grpSp>
        <p:grpSp>
          <p:nvGrpSpPr>
            <p:cNvPr id="181364" name="组合 181363"/>
            <p:cNvGrpSpPr/>
            <p:nvPr/>
          </p:nvGrpSpPr>
          <p:grpSpPr>
            <a:xfrm rot="-3214438">
              <a:off x="3609" y="2054"/>
              <a:ext cx="461" cy="480"/>
              <a:chOff x="3481" y="3030"/>
              <a:chExt cx="1115" cy="1118"/>
            </a:xfrm>
          </p:grpSpPr>
          <p:sp>
            <p:nvSpPr>
              <p:cNvPr id="181365" name="任意多边形 181364"/>
              <p:cNvSpPr/>
              <p:nvPr/>
            </p:nvSpPr>
            <p:spPr>
              <a:xfrm>
                <a:off x="3502" y="3068"/>
                <a:ext cx="1045" cy="1051"/>
              </a:xfrm>
              <a:custGeom>
                <a:avLst/>
                <a:gdLst/>
                <a:ahLst/>
                <a:cxnLst/>
                <a:pathLst>
                  <a:path w="4179" h="4201">
                    <a:moveTo>
                      <a:pt x="3876" y="3410"/>
                    </a:moveTo>
                    <a:lnTo>
                      <a:pt x="3181" y="3544"/>
                    </a:lnTo>
                    <a:lnTo>
                      <a:pt x="2895" y="3172"/>
                    </a:lnTo>
                    <a:lnTo>
                      <a:pt x="3061" y="3147"/>
                    </a:lnTo>
                    <a:lnTo>
                      <a:pt x="3045" y="3126"/>
                    </a:lnTo>
                    <a:lnTo>
                      <a:pt x="3617" y="3068"/>
                    </a:lnTo>
                    <a:lnTo>
                      <a:pt x="3213" y="2534"/>
                    </a:lnTo>
                    <a:lnTo>
                      <a:pt x="3197" y="2534"/>
                    </a:lnTo>
                    <a:lnTo>
                      <a:pt x="3269" y="2634"/>
                    </a:lnTo>
                    <a:lnTo>
                      <a:pt x="2567" y="2767"/>
                    </a:lnTo>
                    <a:lnTo>
                      <a:pt x="2287" y="2395"/>
                    </a:lnTo>
                    <a:lnTo>
                      <a:pt x="2449" y="2371"/>
                    </a:lnTo>
                    <a:lnTo>
                      <a:pt x="2433" y="2349"/>
                    </a:lnTo>
                    <a:lnTo>
                      <a:pt x="3015" y="2289"/>
                    </a:lnTo>
                    <a:lnTo>
                      <a:pt x="3068" y="2343"/>
                    </a:lnTo>
                    <a:lnTo>
                      <a:pt x="2724" y="1890"/>
                    </a:lnTo>
                    <a:lnTo>
                      <a:pt x="2689" y="1893"/>
                    </a:lnTo>
                    <a:lnTo>
                      <a:pt x="2762" y="1991"/>
                    </a:lnTo>
                    <a:lnTo>
                      <a:pt x="2061" y="2126"/>
                    </a:lnTo>
                    <a:lnTo>
                      <a:pt x="1779" y="1751"/>
                    </a:lnTo>
                    <a:lnTo>
                      <a:pt x="1945" y="1730"/>
                    </a:lnTo>
                    <a:lnTo>
                      <a:pt x="1929" y="1708"/>
                    </a:lnTo>
                    <a:lnTo>
                      <a:pt x="2507" y="1651"/>
                    </a:lnTo>
                    <a:lnTo>
                      <a:pt x="2654" y="1793"/>
                    </a:lnTo>
                    <a:lnTo>
                      <a:pt x="2246" y="1252"/>
                    </a:lnTo>
                    <a:lnTo>
                      <a:pt x="2243" y="1252"/>
                    </a:lnTo>
                    <a:lnTo>
                      <a:pt x="2317" y="1352"/>
                    </a:lnTo>
                    <a:lnTo>
                      <a:pt x="1613" y="1486"/>
                    </a:lnTo>
                    <a:lnTo>
                      <a:pt x="1331" y="1114"/>
                    </a:lnTo>
                    <a:lnTo>
                      <a:pt x="1497" y="1090"/>
                    </a:lnTo>
                    <a:lnTo>
                      <a:pt x="1481" y="1067"/>
                    </a:lnTo>
                    <a:lnTo>
                      <a:pt x="2061" y="1010"/>
                    </a:lnTo>
                    <a:lnTo>
                      <a:pt x="1846" y="728"/>
                    </a:lnTo>
                    <a:lnTo>
                      <a:pt x="1168" y="859"/>
                    </a:lnTo>
                    <a:lnTo>
                      <a:pt x="885" y="483"/>
                    </a:lnTo>
                    <a:lnTo>
                      <a:pt x="1049" y="462"/>
                    </a:lnTo>
                    <a:lnTo>
                      <a:pt x="1035" y="441"/>
                    </a:lnTo>
                    <a:lnTo>
                      <a:pt x="1586" y="383"/>
                    </a:lnTo>
                    <a:lnTo>
                      <a:pt x="1405" y="141"/>
                    </a:lnTo>
                    <a:lnTo>
                      <a:pt x="1347" y="147"/>
                    </a:lnTo>
                    <a:lnTo>
                      <a:pt x="1421" y="247"/>
                    </a:lnTo>
                    <a:lnTo>
                      <a:pt x="717" y="381"/>
                    </a:lnTo>
                    <a:lnTo>
                      <a:pt x="435" y="9"/>
                    </a:lnTo>
                    <a:lnTo>
                      <a:pt x="475" y="4"/>
                    </a:lnTo>
                    <a:lnTo>
                      <a:pt x="459" y="0"/>
                    </a:lnTo>
                    <a:lnTo>
                      <a:pt x="437" y="0"/>
                    </a:lnTo>
                    <a:lnTo>
                      <a:pt x="407" y="4"/>
                    </a:lnTo>
                    <a:lnTo>
                      <a:pt x="375" y="9"/>
                    </a:lnTo>
                    <a:lnTo>
                      <a:pt x="336" y="14"/>
                    </a:lnTo>
                    <a:lnTo>
                      <a:pt x="299" y="20"/>
                    </a:lnTo>
                    <a:lnTo>
                      <a:pt x="255" y="27"/>
                    </a:lnTo>
                    <a:lnTo>
                      <a:pt x="215" y="36"/>
                    </a:lnTo>
                    <a:lnTo>
                      <a:pt x="174" y="44"/>
                    </a:lnTo>
                    <a:lnTo>
                      <a:pt x="133" y="52"/>
                    </a:lnTo>
                    <a:lnTo>
                      <a:pt x="98" y="60"/>
                    </a:lnTo>
                    <a:lnTo>
                      <a:pt x="65" y="66"/>
                    </a:lnTo>
                    <a:lnTo>
                      <a:pt x="38" y="74"/>
                    </a:lnTo>
                    <a:lnTo>
                      <a:pt x="19" y="76"/>
                    </a:lnTo>
                    <a:lnTo>
                      <a:pt x="6" y="82"/>
                    </a:lnTo>
                    <a:lnTo>
                      <a:pt x="0" y="82"/>
                    </a:lnTo>
                    <a:lnTo>
                      <a:pt x="913" y="1442"/>
                    </a:lnTo>
                    <a:lnTo>
                      <a:pt x="1151" y="1456"/>
                    </a:lnTo>
                    <a:lnTo>
                      <a:pt x="2211" y="2826"/>
                    </a:lnTo>
                    <a:lnTo>
                      <a:pt x="2017" y="2976"/>
                    </a:lnTo>
                    <a:lnTo>
                      <a:pt x="2925" y="4201"/>
                    </a:lnTo>
                    <a:lnTo>
                      <a:pt x="4179" y="3812"/>
                    </a:lnTo>
                    <a:lnTo>
                      <a:pt x="3876" y="3410"/>
                    </a:lnTo>
                    <a:close/>
                  </a:path>
                </a:pathLst>
              </a:custGeom>
              <a:solidFill>
                <a:srgbClr val="7FDD14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6" name="任意多边形 181365"/>
              <p:cNvSpPr/>
              <p:nvPr/>
            </p:nvSpPr>
            <p:spPr>
              <a:xfrm>
                <a:off x="3621" y="3064"/>
                <a:ext cx="33" cy="5"/>
              </a:xfrm>
              <a:custGeom>
                <a:avLst/>
                <a:gdLst/>
                <a:ahLst/>
                <a:cxnLst/>
                <a:pathLst>
                  <a:path w="133" h="20">
                    <a:moveTo>
                      <a:pt x="133" y="11"/>
                    </a:moveTo>
                    <a:lnTo>
                      <a:pt x="126" y="0"/>
                    </a:lnTo>
                    <a:lnTo>
                      <a:pt x="0" y="20"/>
                    </a:lnTo>
                    <a:lnTo>
                      <a:pt x="3" y="20"/>
                    </a:lnTo>
                    <a:lnTo>
                      <a:pt x="6" y="20"/>
                    </a:lnTo>
                    <a:lnTo>
                      <a:pt x="133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7" name="任意多边形 181366"/>
              <p:cNvSpPr/>
              <p:nvPr/>
            </p:nvSpPr>
            <p:spPr>
              <a:xfrm>
                <a:off x="3611" y="3067"/>
                <a:ext cx="246" cy="96"/>
              </a:xfrm>
              <a:custGeom>
                <a:avLst/>
                <a:gdLst/>
                <a:ahLst/>
                <a:cxnLst/>
                <a:pathLst>
                  <a:path w="986" h="386">
                    <a:moveTo>
                      <a:pt x="282" y="386"/>
                    </a:moveTo>
                    <a:lnTo>
                      <a:pt x="986" y="252"/>
                    </a:lnTo>
                    <a:lnTo>
                      <a:pt x="912" y="152"/>
                    </a:lnTo>
                    <a:lnTo>
                      <a:pt x="328" y="206"/>
                    </a:lnTo>
                    <a:lnTo>
                      <a:pt x="173" y="0"/>
                    </a:lnTo>
                    <a:lnTo>
                      <a:pt x="46" y="9"/>
                    </a:lnTo>
                    <a:lnTo>
                      <a:pt x="43" y="9"/>
                    </a:lnTo>
                    <a:lnTo>
                      <a:pt x="40" y="9"/>
                    </a:lnTo>
                    <a:lnTo>
                      <a:pt x="0" y="14"/>
                    </a:lnTo>
                    <a:lnTo>
                      <a:pt x="282" y="386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8" name="任意多边形 181367"/>
              <p:cNvSpPr/>
              <p:nvPr/>
            </p:nvSpPr>
            <p:spPr>
              <a:xfrm>
                <a:off x="3648" y="3044"/>
                <a:ext cx="146" cy="20"/>
              </a:xfrm>
              <a:custGeom>
                <a:avLst/>
                <a:gdLst/>
                <a:ahLst/>
                <a:cxnLst/>
                <a:pathLst>
                  <a:path w="580" h="81">
                    <a:moveTo>
                      <a:pt x="0" y="60"/>
                    </a:moveTo>
                    <a:lnTo>
                      <a:pt x="16" y="81"/>
                    </a:lnTo>
                    <a:lnTo>
                      <a:pt x="580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69" name="任意多边形 181368"/>
              <p:cNvSpPr/>
              <p:nvPr/>
            </p:nvSpPr>
            <p:spPr>
              <a:xfrm>
                <a:off x="3794" y="3044"/>
                <a:ext cx="59" cy="60"/>
              </a:xfrm>
              <a:custGeom>
                <a:avLst/>
                <a:gdLst/>
                <a:ahLst/>
                <a:cxnLst/>
                <a:pathLst>
                  <a:path w="240" h="238">
                    <a:moveTo>
                      <a:pt x="240" y="238"/>
                    </a:moveTo>
                    <a:lnTo>
                      <a:pt x="0" y="0"/>
                    </a:lnTo>
                    <a:lnTo>
                      <a:pt x="117" y="157"/>
                    </a:lnTo>
                    <a:lnTo>
                      <a:pt x="240" y="238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0" name="任意多边形 181369"/>
              <p:cNvSpPr/>
              <p:nvPr/>
            </p:nvSpPr>
            <p:spPr>
              <a:xfrm>
                <a:off x="3823" y="3083"/>
                <a:ext cx="30" cy="22"/>
              </a:xfrm>
              <a:custGeom>
                <a:avLst/>
                <a:gdLst/>
                <a:ahLst/>
                <a:cxnLst/>
                <a:pathLst>
                  <a:path w="123" h="87">
                    <a:moveTo>
                      <a:pt x="65" y="87"/>
                    </a:moveTo>
                    <a:lnTo>
                      <a:pt x="123" y="81"/>
                    </a:lnTo>
                    <a:lnTo>
                      <a:pt x="0" y="0"/>
                    </a:lnTo>
                    <a:lnTo>
                      <a:pt x="65" y="87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1" name="任意多边形 181370"/>
              <p:cNvSpPr/>
              <p:nvPr/>
            </p:nvSpPr>
            <p:spPr>
              <a:xfrm>
                <a:off x="3652" y="3044"/>
                <a:ext cx="171" cy="39"/>
              </a:xfrm>
              <a:custGeom>
                <a:avLst/>
                <a:gdLst/>
                <a:ahLst/>
                <a:cxnLst/>
                <a:pathLst>
                  <a:path w="681" h="157">
                    <a:moveTo>
                      <a:pt x="534" y="60"/>
                    </a:moveTo>
                    <a:lnTo>
                      <a:pt x="681" y="157"/>
                    </a:lnTo>
                    <a:lnTo>
                      <a:pt x="564" y="0"/>
                    </a:lnTo>
                    <a:lnTo>
                      <a:pt x="0" y="81"/>
                    </a:lnTo>
                    <a:lnTo>
                      <a:pt x="7" y="92"/>
                    </a:lnTo>
                    <a:lnTo>
                      <a:pt x="534" y="60"/>
                    </a:lnTo>
                    <a:close/>
                  </a:path>
                </a:pathLst>
              </a:custGeom>
              <a:solidFill>
                <a:srgbClr val="2642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2" name="任意多边形 181371"/>
              <p:cNvSpPr/>
              <p:nvPr/>
            </p:nvSpPr>
            <p:spPr>
              <a:xfrm>
                <a:off x="3654" y="3059"/>
                <a:ext cx="185" cy="60"/>
              </a:xfrm>
              <a:custGeom>
                <a:avLst/>
                <a:gdLst/>
                <a:ahLst/>
                <a:cxnLst/>
                <a:pathLst>
                  <a:path w="739" h="238">
                    <a:moveTo>
                      <a:pt x="527" y="0"/>
                    </a:moveTo>
                    <a:lnTo>
                      <a:pt x="0" y="32"/>
                    </a:lnTo>
                    <a:lnTo>
                      <a:pt x="155" y="238"/>
                    </a:lnTo>
                    <a:lnTo>
                      <a:pt x="739" y="184"/>
                    </a:lnTo>
                    <a:lnTo>
                      <a:pt x="674" y="97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3" name="任意多边形 181372"/>
              <p:cNvSpPr/>
              <p:nvPr/>
            </p:nvSpPr>
            <p:spPr>
              <a:xfrm>
                <a:off x="3945" y="3224"/>
                <a:ext cx="25" cy="26"/>
              </a:xfrm>
              <a:custGeom>
                <a:avLst/>
                <a:gdLst/>
                <a:ahLst/>
                <a:cxnLst/>
                <a:pathLst>
                  <a:path w="101" h="103">
                    <a:moveTo>
                      <a:pt x="76" y="103"/>
                    </a:moveTo>
                    <a:lnTo>
                      <a:pt x="101" y="98"/>
                    </a:lnTo>
                    <a:lnTo>
                      <a:pt x="28" y="0"/>
                    </a:lnTo>
                    <a:lnTo>
                      <a:pt x="0" y="3"/>
                    </a:lnTo>
                    <a:lnTo>
                      <a:pt x="76" y="1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4" name="任意多边形 181373"/>
              <p:cNvSpPr/>
              <p:nvPr/>
            </p:nvSpPr>
            <p:spPr>
              <a:xfrm>
                <a:off x="3724" y="3184"/>
                <a:ext cx="240" cy="99"/>
              </a:xfrm>
              <a:custGeom>
                <a:avLst/>
                <a:gdLst/>
                <a:ahLst/>
                <a:cxnLst/>
                <a:pathLst>
                  <a:path w="961" h="397">
                    <a:moveTo>
                      <a:pt x="329" y="217"/>
                    </a:moveTo>
                    <a:lnTo>
                      <a:pt x="164" y="0"/>
                    </a:lnTo>
                    <a:lnTo>
                      <a:pt x="0" y="21"/>
                    </a:lnTo>
                    <a:lnTo>
                      <a:pt x="283" y="397"/>
                    </a:lnTo>
                    <a:lnTo>
                      <a:pt x="961" y="266"/>
                    </a:lnTo>
                    <a:lnTo>
                      <a:pt x="885" y="166"/>
                    </a:lnTo>
                    <a:lnTo>
                      <a:pt x="329" y="217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5" name="任意多边形 181374"/>
              <p:cNvSpPr/>
              <p:nvPr/>
            </p:nvSpPr>
            <p:spPr>
              <a:xfrm>
                <a:off x="3899" y="3163"/>
                <a:ext cx="7" cy="1"/>
              </a:xfrm>
              <a:custGeom>
                <a:avLst/>
                <a:gdLst/>
                <a:ahLst/>
                <a:cxnLst/>
                <a:pathLst>
                  <a:path w="30" h="2">
                    <a:moveTo>
                      <a:pt x="30" y="0"/>
                    </a:moveTo>
                    <a:lnTo>
                      <a:pt x="0" y="2"/>
                    </a:lnTo>
                    <a:lnTo>
                      <a:pt x="3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6" name="任意多边形 181375"/>
              <p:cNvSpPr/>
              <p:nvPr/>
            </p:nvSpPr>
            <p:spPr>
              <a:xfrm>
                <a:off x="3906" y="3163"/>
                <a:ext cx="60" cy="61"/>
              </a:xfrm>
              <a:custGeom>
                <a:avLst/>
                <a:gdLst/>
                <a:ahLst/>
                <a:cxnLst/>
                <a:pathLst>
                  <a:path w="239" h="244">
                    <a:moveTo>
                      <a:pt x="239" y="238"/>
                    </a:moveTo>
                    <a:lnTo>
                      <a:pt x="0" y="0"/>
                    </a:lnTo>
                    <a:lnTo>
                      <a:pt x="182" y="244"/>
                    </a:lnTo>
                    <a:lnTo>
                      <a:pt x="239" y="238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7" name="任意多边形 181376"/>
              <p:cNvSpPr/>
              <p:nvPr/>
            </p:nvSpPr>
            <p:spPr>
              <a:xfrm>
                <a:off x="3761" y="3164"/>
                <a:ext cx="138" cy="20"/>
              </a:xfrm>
              <a:custGeom>
                <a:avLst/>
                <a:gdLst/>
                <a:ahLst/>
                <a:cxnLst/>
                <a:pathLst>
                  <a:path w="554" h="79">
                    <a:moveTo>
                      <a:pt x="14" y="79"/>
                    </a:moveTo>
                    <a:lnTo>
                      <a:pt x="554" y="0"/>
                    </a:lnTo>
                    <a:lnTo>
                      <a:pt x="551" y="0"/>
                    </a:lnTo>
                    <a:lnTo>
                      <a:pt x="0" y="58"/>
                    </a:lnTo>
                    <a:lnTo>
                      <a:pt x="14" y="79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8" name="任意多边形 181377"/>
              <p:cNvSpPr/>
              <p:nvPr/>
            </p:nvSpPr>
            <p:spPr>
              <a:xfrm>
                <a:off x="3899" y="3163"/>
                <a:ext cx="53" cy="62"/>
              </a:xfrm>
              <a:custGeom>
                <a:avLst/>
                <a:gdLst/>
                <a:ahLst/>
                <a:cxnLst/>
                <a:pathLst>
                  <a:path w="209" h="247">
                    <a:moveTo>
                      <a:pt x="181" y="247"/>
                    </a:moveTo>
                    <a:lnTo>
                      <a:pt x="209" y="244"/>
                    </a:lnTo>
                    <a:lnTo>
                      <a:pt x="27" y="0"/>
                    </a:lnTo>
                    <a:lnTo>
                      <a:pt x="0" y="2"/>
                    </a:lnTo>
                    <a:lnTo>
                      <a:pt x="181" y="247"/>
                    </a:lnTo>
                    <a:close/>
                  </a:path>
                </a:pathLst>
              </a:custGeom>
              <a:solidFill>
                <a:srgbClr val="2642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79" name="任意多边形 181378"/>
              <p:cNvSpPr/>
              <p:nvPr/>
            </p:nvSpPr>
            <p:spPr>
              <a:xfrm>
                <a:off x="3764" y="3164"/>
                <a:ext cx="181" cy="74"/>
              </a:xfrm>
              <a:custGeom>
                <a:avLst/>
                <a:gdLst/>
                <a:ahLst/>
                <a:cxnLst/>
                <a:pathLst>
                  <a:path w="721" h="296">
                    <a:moveTo>
                      <a:pt x="721" y="245"/>
                    </a:moveTo>
                    <a:lnTo>
                      <a:pt x="540" y="0"/>
                    </a:lnTo>
                    <a:lnTo>
                      <a:pt x="0" y="79"/>
                    </a:lnTo>
                    <a:lnTo>
                      <a:pt x="165" y="296"/>
                    </a:lnTo>
                    <a:lnTo>
                      <a:pt x="721" y="245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0" name="任意多边形 181379"/>
              <p:cNvSpPr/>
              <p:nvPr/>
            </p:nvSpPr>
            <p:spPr>
              <a:xfrm>
                <a:off x="3835" y="3341"/>
                <a:ext cx="246" cy="99"/>
              </a:xfrm>
              <a:custGeom>
                <a:avLst/>
                <a:gdLst/>
                <a:ahLst/>
                <a:cxnLst/>
                <a:pathLst>
                  <a:path w="986" h="396">
                    <a:moveTo>
                      <a:pt x="166" y="0"/>
                    </a:moveTo>
                    <a:lnTo>
                      <a:pt x="0" y="24"/>
                    </a:lnTo>
                    <a:lnTo>
                      <a:pt x="282" y="396"/>
                    </a:lnTo>
                    <a:lnTo>
                      <a:pt x="986" y="262"/>
                    </a:lnTo>
                    <a:lnTo>
                      <a:pt x="912" y="162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1" name="任意多边形 181380"/>
              <p:cNvSpPr/>
              <p:nvPr/>
            </p:nvSpPr>
            <p:spPr>
              <a:xfrm>
                <a:off x="4018" y="3320"/>
                <a:ext cx="1" cy="1"/>
              </a:xfrm>
              <a:custGeom>
                <a:avLst/>
                <a:gdLst/>
                <a:ahLst/>
                <a:cxnLst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2" name="任意多边形 181381"/>
              <p:cNvSpPr/>
              <p:nvPr/>
            </p:nvSpPr>
            <p:spPr>
              <a:xfrm>
                <a:off x="4018" y="3320"/>
                <a:ext cx="59" cy="61"/>
              </a:xfrm>
              <a:custGeom>
                <a:avLst/>
                <a:gdLst/>
                <a:ahLst/>
                <a:cxnLst/>
                <a:pathLst>
                  <a:path w="240" h="245">
                    <a:moveTo>
                      <a:pt x="185" y="245"/>
                    </a:moveTo>
                    <a:lnTo>
                      <a:pt x="240" y="240"/>
                    </a:lnTo>
                    <a:lnTo>
                      <a:pt x="0" y="0"/>
                    </a:lnTo>
                    <a:lnTo>
                      <a:pt x="95" y="131"/>
                    </a:lnTo>
                    <a:lnTo>
                      <a:pt x="185" y="245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3" name="任意多边形 181382"/>
              <p:cNvSpPr/>
              <p:nvPr/>
            </p:nvSpPr>
            <p:spPr>
              <a:xfrm>
                <a:off x="3872" y="3321"/>
                <a:ext cx="146" cy="20"/>
              </a:xfrm>
              <a:custGeom>
                <a:avLst/>
                <a:gdLst/>
                <a:ahLst/>
                <a:cxnLst/>
                <a:pathLst>
                  <a:path w="580" h="80">
                    <a:moveTo>
                      <a:pt x="16" y="80"/>
                    </a:moveTo>
                    <a:lnTo>
                      <a:pt x="580" y="0"/>
                    </a:lnTo>
                    <a:lnTo>
                      <a:pt x="0" y="57"/>
                    </a:lnTo>
                    <a:lnTo>
                      <a:pt x="16" y="80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4" name="任意多边形 181383"/>
              <p:cNvSpPr/>
              <p:nvPr/>
            </p:nvSpPr>
            <p:spPr>
              <a:xfrm>
                <a:off x="4041" y="3353"/>
                <a:ext cx="23" cy="28"/>
              </a:xfrm>
              <a:custGeom>
                <a:avLst/>
                <a:gdLst/>
                <a:ahLst/>
                <a:cxnLst/>
                <a:pathLst>
                  <a:path w="90" h="114">
                    <a:moveTo>
                      <a:pt x="87" y="114"/>
                    </a:moveTo>
                    <a:lnTo>
                      <a:pt x="90" y="114"/>
                    </a:lnTo>
                    <a:lnTo>
                      <a:pt x="0" y="0"/>
                    </a:lnTo>
                    <a:lnTo>
                      <a:pt x="87" y="114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5" name="任意多边形 181384"/>
              <p:cNvSpPr/>
              <p:nvPr/>
            </p:nvSpPr>
            <p:spPr>
              <a:xfrm>
                <a:off x="4018" y="3320"/>
                <a:ext cx="23" cy="33"/>
              </a:xfrm>
              <a:custGeom>
                <a:avLst/>
                <a:gdLst/>
                <a:ahLst/>
                <a:cxnLst/>
                <a:pathLst>
                  <a:path w="95" h="131">
                    <a:moveTo>
                      <a:pt x="95" y="131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95" y="131"/>
                    </a:lnTo>
                    <a:close/>
                  </a:path>
                </a:pathLst>
              </a:custGeom>
              <a:solidFill>
                <a:srgbClr val="2642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6" name="任意多边形 181385"/>
              <p:cNvSpPr/>
              <p:nvPr/>
            </p:nvSpPr>
            <p:spPr>
              <a:xfrm>
                <a:off x="3876" y="3321"/>
                <a:ext cx="187" cy="74"/>
              </a:xfrm>
              <a:custGeom>
                <a:avLst/>
                <a:gdLst/>
                <a:ahLst/>
                <a:cxnLst/>
                <a:pathLst>
                  <a:path w="746" h="297">
                    <a:moveTo>
                      <a:pt x="564" y="0"/>
                    </a:moveTo>
                    <a:lnTo>
                      <a:pt x="0" y="80"/>
                    </a:lnTo>
                    <a:lnTo>
                      <a:pt x="162" y="297"/>
                    </a:lnTo>
                    <a:lnTo>
                      <a:pt x="746" y="242"/>
                    </a:lnTo>
                    <a:lnTo>
                      <a:pt x="659" y="128"/>
                    </a:lnTo>
                    <a:lnTo>
                      <a:pt x="564" y="0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7" name="任意多边形 181386"/>
              <p:cNvSpPr/>
              <p:nvPr/>
            </p:nvSpPr>
            <p:spPr>
              <a:xfrm>
                <a:off x="3947" y="3501"/>
                <a:ext cx="246" cy="99"/>
              </a:xfrm>
              <a:custGeom>
                <a:avLst/>
                <a:gdLst/>
                <a:ahLst/>
                <a:cxnLst/>
                <a:pathLst>
                  <a:path w="983" h="396">
                    <a:moveTo>
                      <a:pt x="166" y="0"/>
                    </a:moveTo>
                    <a:lnTo>
                      <a:pt x="0" y="21"/>
                    </a:lnTo>
                    <a:lnTo>
                      <a:pt x="282" y="396"/>
                    </a:lnTo>
                    <a:lnTo>
                      <a:pt x="983" y="261"/>
                    </a:lnTo>
                    <a:lnTo>
                      <a:pt x="910" y="163"/>
                    </a:lnTo>
                    <a:lnTo>
                      <a:pt x="328" y="217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8" name="任意多边形 181387"/>
              <p:cNvSpPr/>
              <p:nvPr/>
            </p:nvSpPr>
            <p:spPr>
              <a:xfrm>
                <a:off x="4166" y="3516"/>
                <a:ext cx="23" cy="25"/>
              </a:xfrm>
              <a:custGeom>
                <a:avLst/>
                <a:gdLst/>
                <a:ahLst/>
                <a:cxnLst/>
                <a:pathLst>
                  <a:path w="91" h="97">
                    <a:moveTo>
                      <a:pt x="91" y="94"/>
                    </a:moveTo>
                    <a:lnTo>
                      <a:pt x="0" y="0"/>
                    </a:lnTo>
                    <a:lnTo>
                      <a:pt x="70" y="97"/>
                    </a:lnTo>
                    <a:lnTo>
                      <a:pt x="91" y="94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89" name="任意多边形 181388"/>
              <p:cNvSpPr/>
              <p:nvPr/>
            </p:nvSpPr>
            <p:spPr>
              <a:xfrm>
                <a:off x="3984" y="3481"/>
                <a:ext cx="145" cy="20"/>
              </a:xfrm>
              <a:custGeom>
                <a:avLst/>
                <a:gdLst/>
                <a:ahLst/>
                <a:cxnLst/>
                <a:pathLst>
                  <a:path w="578" h="79">
                    <a:moveTo>
                      <a:pt x="0" y="57"/>
                    </a:moveTo>
                    <a:lnTo>
                      <a:pt x="16" y="79"/>
                    </a:lnTo>
                    <a:lnTo>
                      <a:pt x="578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0" name="任意多边形 181389"/>
              <p:cNvSpPr/>
              <p:nvPr/>
            </p:nvSpPr>
            <p:spPr>
              <a:xfrm>
                <a:off x="4129" y="3481"/>
                <a:ext cx="54" cy="61"/>
              </a:xfrm>
              <a:custGeom>
                <a:avLst/>
                <a:gdLst/>
                <a:ahLst/>
                <a:cxnLst/>
                <a:pathLst>
                  <a:path w="217" h="242">
                    <a:moveTo>
                      <a:pt x="182" y="242"/>
                    </a:moveTo>
                    <a:lnTo>
                      <a:pt x="217" y="239"/>
                    </a:lnTo>
                    <a:lnTo>
                      <a:pt x="147" y="142"/>
                    </a:lnTo>
                    <a:lnTo>
                      <a:pt x="0" y="0"/>
                    </a:lnTo>
                    <a:lnTo>
                      <a:pt x="182" y="242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1" name="任意多边形 181390"/>
              <p:cNvSpPr/>
              <p:nvPr/>
            </p:nvSpPr>
            <p:spPr>
              <a:xfrm>
                <a:off x="3988" y="3481"/>
                <a:ext cx="186" cy="74"/>
              </a:xfrm>
              <a:custGeom>
                <a:avLst/>
                <a:gdLst/>
                <a:ahLst/>
                <a:cxnLst/>
                <a:pathLst>
                  <a:path w="744" h="296">
                    <a:moveTo>
                      <a:pt x="0" y="79"/>
                    </a:moveTo>
                    <a:lnTo>
                      <a:pt x="162" y="296"/>
                    </a:lnTo>
                    <a:lnTo>
                      <a:pt x="744" y="242"/>
                    </a:lnTo>
                    <a:lnTo>
                      <a:pt x="562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2" name="任意多边形 181391"/>
              <p:cNvSpPr/>
              <p:nvPr/>
            </p:nvSpPr>
            <p:spPr>
              <a:xfrm>
                <a:off x="4074" y="3661"/>
                <a:ext cx="246" cy="99"/>
              </a:xfrm>
              <a:custGeom>
                <a:avLst/>
                <a:gdLst/>
                <a:ahLst/>
                <a:cxnLst/>
                <a:pathLst>
                  <a:path w="982" h="396">
                    <a:moveTo>
                      <a:pt x="162" y="0"/>
                    </a:moveTo>
                    <a:lnTo>
                      <a:pt x="0" y="24"/>
                    </a:lnTo>
                    <a:lnTo>
                      <a:pt x="280" y="396"/>
                    </a:lnTo>
                    <a:lnTo>
                      <a:pt x="982" y="263"/>
                    </a:lnTo>
                    <a:lnTo>
                      <a:pt x="910" y="163"/>
                    </a:lnTo>
                    <a:lnTo>
                      <a:pt x="326" y="217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3" name="任意多边形 181392"/>
              <p:cNvSpPr/>
              <p:nvPr/>
            </p:nvSpPr>
            <p:spPr>
              <a:xfrm>
                <a:off x="4269" y="3654"/>
                <a:ext cx="47" cy="48"/>
              </a:xfrm>
              <a:custGeom>
                <a:avLst/>
                <a:gdLst/>
                <a:ahLst/>
                <a:cxnLst/>
                <a:pathLst>
                  <a:path w="185" h="191">
                    <a:moveTo>
                      <a:pt x="185" y="185"/>
                    </a:moveTo>
                    <a:lnTo>
                      <a:pt x="0" y="0"/>
                    </a:lnTo>
                    <a:lnTo>
                      <a:pt x="145" y="191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4" name="任意多边形 181393"/>
              <p:cNvSpPr/>
              <p:nvPr/>
            </p:nvSpPr>
            <p:spPr>
              <a:xfrm>
                <a:off x="4111" y="3640"/>
                <a:ext cx="145" cy="21"/>
              </a:xfrm>
              <a:custGeom>
                <a:avLst/>
                <a:gdLst/>
                <a:ahLst/>
                <a:cxnLst/>
                <a:pathLst>
                  <a:path w="582" h="82">
                    <a:moveTo>
                      <a:pt x="0" y="60"/>
                    </a:moveTo>
                    <a:lnTo>
                      <a:pt x="16" y="82"/>
                    </a:lnTo>
                    <a:lnTo>
                      <a:pt x="58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5" name="任意多边形 181394"/>
              <p:cNvSpPr/>
              <p:nvPr/>
            </p:nvSpPr>
            <p:spPr>
              <a:xfrm>
                <a:off x="4256" y="3640"/>
                <a:ext cx="49" cy="62"/>
              </a:xfrm>
              <a:custGeom>
                <a:avLst/>
                <a:gdLst/>
                <a:ahLst/>
                <a:cxnLst/>
                <a:pathLst>
                  <a:path w="198" h="245">
                    <a:moveTo>
                      <a:pt x="182" y="245"/>
                    </a:moveTo>
                    <a:lnTo>
                      <a:pt x="198" y="245"/>
                    </a:lnTo>
                    <a:lnTo>
                      <a:pt x="53" y="54"/>
                    </a:lnTo>
                    <a:lnTo>
                      <a:pt x="0" y="0"/>
                    </a:lnTo>
                    <a:lnTo>
                      <a:pt x="182" y="245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6" name="任意多边形 181395"/>
              <p:cNvSpPr/>
              <p:nvPr/>
            </p:nvSpPr>
            <p:spPr>
              <a:xfrm>
                <a:off x="4115" y="3640"/>
                <a:ext cx="186" cy="75"/>
              </a:xfrm>
              <a:custGeom>
                <a:avLst/>
                <a:gdLst/>
                <a:ahLst/>
                <a:cxnLst/>
                <a:pathLst>
                  <a:path w="748" h="299">
                    <a:moveTo>
                      <a:pt x="0" y="82"/>
                    </a:moveTo>
                    <a:lnTo>
                      <a:pt x="164" y="299"/>
                    </a:lnTo>
                    <a:lnTo>
                      <a:pt x="748" y="245"/>
                    </a:lnTo>
                    <a:lnTo>
                      <a:pt x="566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7" name="任意多边形 181396"/>
              <p:cNvSpPr/>
              <p:nvPr/>
            </p:nvSpPr>
            <p:spPr>
              <a:xfrm>
                <a:off x="4453" y="3896"/>
                <a:ext cx="20" cy="25"/>
              </a:xfrm>
              <a:custGeom>
                <a:avLst/>
                <a:gdLst/>
                <a:ahLst/>
                <a:cxnLst/>
                <a:pathLst>
                  <a:path w="79" h="100">
                    <a:moveTo>
                      <a:pt x="74" y="100"/>
                    </a:moveTo>
                    <a:lnTo>
                      <a:pt x="79" y="10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74" y="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8" name="任意多边形 181397"/>
              <p:cNvSpPr/>
              <p:nvPr/>
            </p:nvSpPr>
            <p:spPr>
              <a:xfrm>
                <a:off x="4226" y="3855"/>
                <a:ext cx="245" cy="99"/>
              </a:xfrm>
              <a:custGeom>
                <a:avLst/>
                <a:gdLst/>
                <a:ahLst/>
                <a:cxnLst/>
                <a:pathLst>
                  <a:path w="981" h="397">
                    <a:moveTo>
                      <a:pt x="328" y="217"/>
                    </a:moveTo>
                    <a:lnTo>
                      <a:pt x="166" y="0"/>
                    </a:lnTo>
                    <a:lnTo>
                      <a:pt x="0" y="25"/>
                    </a:lnTo>
                    <a:lnTo>
                      <a:pt x="286" y="397"/>
                    </a:lnTo>
                    <a:lnTo>
                      <a:pt x="981" y="263"/>
                    </a:lnTo>
                    <a:lnTo>
                      <a:pt x="907" y="166"/>
                    </a:lnTo>
                    <a:lnTo>
                      <a:pt x="328" y="217"/>
                    </a:lnTo>
                    <a:close/>
                  </a:path>
                </a:pathLst>
              </a:custGeom>
              <a:solidFill>
                <a:srgbClr val="0F4200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399" name="任意多边形 181398"/>
              <p:cNvSpPr/>
              <p:nvPr/>
            </p:nvSpPr>
            <p:spPr>
              <a:xfrm>
                <a:off x="4409" y="3835"/>
                <a:ext cx="60" cy="61"/>
              </a:xfrm>
              <a:custGeom>
                <a:avLst/>
                <a:gdLst/>
                <a:ahLst/>
                <a:cxnLst/>
                <a:pathLst>
                  <a:path w="238" h="244">
                    <a:moveTo>
                      <a:pt x="238" y="238"/>
                    </a:moveTo>
                    <a:lnTo>
                      <a:pt x="0" y="0"/>
                    </a:lnTo>
                    <a:lnTo>
                      <a:pt x="178" y="244"/>
                    </a:lnTo>
                    <a:lnTo>
                      <a:pt x="238" y="238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0" name="任意多边形 181399"/>
              <p:cNvSpPr/>
              <p:nvPr/>
            </p:nvSpPr>
            <p:spPr>
              <a:xfrm>
                <a:off x="4406" y="3835"/>
                <a:ext cx="3" cy="1"/>
              </a:xfrm>
              <a:custGeom>
                <a:avLst/>
                <a:gdLst/>
                <a:ahLst/>
                <a:cxnLst/>
                <a:pathLst>
                  <a:path w="12" h="2">
                    <a:moveTo>
                      <a:pt x="12" y="0"/>
                    </a:moveTo>
                    <a:lnTo>
                      <a:pt x="0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F6882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1" name="任意多边形 181400"/>
              <p:cNvSpPr/>
              <p:nvPr/>
            </p:nvSpPr>
            <p:spPr>
              <a:xfrm>
                <a:off x="4263" y="3835"/>
                <a:ext cx="143" cy="20"/>
              </a:xfrm>
              <a:custGeom>
                <a:avLst/>
                <a:gdLst/>
                <a:ahLst/>
                <a:cxnLst/>
                <a:pathLst>
                  <a:path w="572" h="79">
                    <a:moveTo>
                      <a:pt x="16" y="79"/>
                    </a:moveTo>
                    <a:lnTo>
                      <a:pt x="572" y="0"/>
                    </a:lnTo>
                    <a:lnTo>
                      <a:pt x="0" y="58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60915E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2" name="任意多边形 181401"/>
              <p:cNvSpPr/>
              <p:nvPr/>
            </p:nvSpPr>
            <p:spPr>
              <a:xfrm>
                <a:off x="4406" y="3835"/>
                <a:ext cx="48" cy="61"/>
              </a:xfrm>
              <a:custGeom>
                <a:avLst/>
                <a:gdLst/>
                <a:ahLst/>
                <a:cxnLst/>
                <a:pathLst>
                  <a:path w="190" h="247">
                    <a:moveTo>
                      <a:pt x="185" y="247"/>
                    </a:moveTo>
                    <a:lnTo>
                      <a:pt x="190" y="244"/>
                    </a:lnTo>
                    <a:lnTo>
                      <a:pt x="12" y="0"/>
                    </a:lnTo>
                    <a:lnTo>
                      <a:pt x="0" y="2"/>
                    </a:lnTo>
                    <a:lnTo>
                      <a:pt x="185" y="247"/>
                    </a:lnTo>
                    <a:close/>
                  </a:path>
                </a:pathLst>
              </a:custGeom>
              <a:solidFill>
                <a:srgbClr val="26423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3" name="任意多边形 181402"/>
              <p:cNvSpPr/>
              <p:nvPr/>
            </p:nvSpPr>
            <p:spPr>
              <a:xfrm>
                <a:off x="4267" y="3835"/>
                <a:ext cx="186" cy="74"/>
              </a:xfrm>
              <a:custGeom>
                <a:avLst/>
                <a:gdLst/>
                <a:ahLst/>
                <a:cxnLst/>
                <a:pathLst>
                  <a:path w="741" h="296">
                    <a:moveTo>
                      <a:pt x="741" y="245"/>
                    </a:moveTo>
                    <a:lnTo>
                      <a:pt x="556" y="0"/>
                    </a:lnTo>
                    <a:lnTo>
                      <a:pt x="0" y="79"/>
                    </a:lnTo>
                    <a:lnTo>
                      <a:pt x="162" y="296"/>
                    </a:lnTo>
                    <a:lnTo>
                      <a:pt x="741" y="245"/>
                    </a:lnTo>
                    <a:close/>
                  </a:path>
                </a:pathLst>
              </a:custGeom>
              <a:solidFill>
                <a:srgbClr val="33593A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4" name="任意多边形 181403"/>
              <p:cNvSpPr/>
              <p:nvPr/>
            </p:nvSpPr>
            <p:spPr>
              <a:xfrm>
                <a:off x="3566" y="3085"/>
                <a:ext cx="247" cy="383"/>
              </a:xfrm>
              <a:custGeom>
                <a:avLst/>
                <a:gdLst/>
                <a:ahLst/>
                <a:cxnLst/>
                <a:pathLst>
                  <a:path w="986" h="1530">
                    <a:moveTo>
                      <a:pt x="6" y="65"/>
                    </a:moveTo>
                    <a:lnTo>
                      <a:pt x="58" y="157"/>
                    </a:lnTo>
                    <a:lnTo>
                      <a:pt x="111" y="249"/>
                    </a:lnTo>
                    <a:lnTo>
                      <a:pt x="166" y="342"/>
                    </a:lnTo>
                    <a:lnTo>
                      <a:pt x="220" y="430"/>
                    </a:lnTo>
                    <a:lnTo>
                      <a:pt x="277" y="520"/>
                    </a:lnTo>
                    <a:lnTo>
                      <a:pt x="332" y="613"/>
                    </a:lnTo>
                    <a:lnTo>
                      <a:pt x="388" y="702"/>
                    </a:lnTo>
                    <a:lnTo>
                      <a:pt x="446" y="792"/>
                    </a:lnTo>
                    <a:lnTo>
                      <a:pt x="503" y="882"/>
                    </a:lnTo>
                    <a:lnTo>
                      <a:pt x="559" y="971"/>
                    </a:lnTo>
                    <a:lnTo>
                      <a:pt x="619" y="1061"/>
                    </a:lnTo>
                    <a:lnTo>
                      <a:pt x="677" y="1151"/>
                    </a:lnTo>
                    <a:lnTo>
                      <a:pt x="734" y="1240"/>
                    </a:lnTo>
                    <a:lnTo>
                      <a:pt x="790" y="1329"/>
                    </a:lnTo>
                    <a:lnTo>
                      <a:pt x="848" y="1419"/>
                    </a:lnTo>
                    <a:lnTo>
                      <a:pt x="905" y="1509"/>
                    </a:lnTo>
                    <a:lnTo>
                      <a:pt x="916" y="1523"/>
                    </a:lnTo>
                    <a:lnTo>
                      <a:pt x="932" y="1530"/>
                    </a:lnTo>
                    <a:lnTo>
                      <a:pt x="949" y="1530"/>
                    </a:lnTo>
                    <a:lnTo>
                      <a:pt x="965" y="1525"/>
                    </a:lnTo>
                    <a:lnTo>
                      <a:pt x="979" y="1511"/>
                    </a:lnTo>
                    <a:lnTo>
                      <a:pt x="986" y="1498"/>
                    </a:lnTo>
                    <a:lnTo>
                      <a:pt x="986" y="1479"/>
                    </a:lnTo>
                    <a:lnTo>
                      <a:pt x="981" y="1463"/>
                    </a:lnTo>
                    <a:lnTo>
                      <a:pt x="924" y="1373"/>
                    </a:lnTo>
                    <a:lnTo>
                      <a:pt x="866" y="1283"/>
                    </a:lnTo>
                    <a:lnTo>
                      <a:pt x="813" y="1194"/>
                    </a:lnTo>
                    <a:lnTo>
                      <a:pt x="755" y="1104"/>
                    </a:lnTo>
                    <a:lnTo>
                      <a:pt x="695" y="1017"/>
                    </a:lnTo>
                    <a:lnTo>
                      <a:pt x="639" y="928"/>
                    </a:lnTo>
                    <a:lnTo>
                      <a:pt x="582" y="838"/>
                    </a:lnTo>
                    <a:lnTo>
                      <a:pt x="524" y="749"/>
                    </a:lnTo>
                    <a:lnTo>
                      <a:pt x="467" y="659"/>
                    </a:lnTo>
                    <a:lnTo>
                      <a:pt x="413" y="569"/>
                    </a:lnTo>
                    <a:lnTo>
                      <a:pt x="356" y="480"/>
                    </a:lnTo>
                    <a:lnTo>
                      <a:pt x="302" y="388"/>
                    </a:lnTo>
                    <a:lnTo>
                      <a:pt x="245" y="298"/>
                    </a:lnTo>
                    <a:lnTo>
                      <a:pt x="191" y="208"/>
                    </a:lnTo>
                    <a:lnTo>
                      <a:pt x="136" y="116"/>
                    </a:lnTo>
                    <a:lnTo>
                      <a:pt x="85" y="23"/>
                    </a:lnTo>
                    <a:lnTo>
                      <a:pt x="74" y="10"/>
                    </a:lnTo>
                    <a:lnTo>
                      <a:pt x="60" y="2"/>
                    </a:lnTo>
                    <a:lnTo>
                      <a:pt x="41" y="0"/>
                    </a:lnTo>
                    <a:lnTo>
                      <a:pt x="25" y="5"/>
                    </a:lnTo>
                    <a:lnTo>
                      <a:pt x="11" y="16"/>
                    </a:lnTo>
                    <a:lnTo>
                      <a:pt x="3" y="30"/>
                    </a:lnTo>
                    <a:lnTo>
                      <a:pt x="0" y="48"/>
                    </a:lnTo>
                    <a:lnTo>
                      <a:pt x="6" y="65"/>
                    </a:lnTo>
                    <a:close/>
                  </a:path>
                </a:pathLst>
              </a:custGeom>
              <a:solidFill>
                <a:srgbClr val="CEF2A5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5" name="任意多边形 181404"/>
              <p:cNvSpPr/>
              <p:nvPr/>
            </p:nvSpPr>
            <p:spPr>
              <a:xfrm>
                <a:off x="3802" y="3453"/>
                <a:ext cx="281" cy="353"/>
              </a:xfrm>
              <a:custGeom>
                <a:avLst/>
                <a:gdLst/>
                <a:ahLst/>
                <a:cxnLst/>
                <a:pathLst>
                  <a:path w="1122" h="1409">
                    <a:moveTo>
                      <a:pt x="9" y="73"/>
                    </a:moveTo>
                    <a:lnTo>
                      <a:pt x="76" y="152"/>
                    </a:lnTo>
                    <a:lnTo>
                      <a:pt x="145" y="234"/>
                    </a:lnTo>
                    <a:lnTo>
                      <a:pt x="210" y="312"/>
                    </a:lnTo>
                    <a:lnTo>
                      <a:pt x="277" y="394"/>
                    </a:lnTo>
                    <a:lnTo>
                      <a:pt x="343" y="477"/>
                    </a:lnTo>
                    <a:lnTo>
                      <a:pt x="408" y="560"/>
                    </a:lnTo>
                    <a:lnTo>
                      <a:pt x="470" y="641"/>
                    </a:lnTo>
                    <a:lnTo>
                      <a:pt x="535" y="725"/>
                    </a:lnTo>
                    <a:lnTo>
                      <a:pt x="598" y="809"/>
                    </a:lnTo>
                    <a:lnTo>
                      <a:pt x="663" y="890"/>
                    </a:lnTo>
                    <a:lnTo>
                      <a:pt x="725" y="974"/>
                    </a:lnTo>
                    <a:lnTo>
                      <a:pt x="788" y="1059"/>
                    </a:lnTo>
                    <a:lnTo>
                      <a:pt x="854" y="1143"/>
                    </a:lnTo>
                    <a:lnTo>
                      <a:pt x="916" y="1227"/>
                    </a:lnTo>
                    <a:lnTo>
                      <a:pt x="978" y="1309"/>
                    </a:lnTo>
                    <a:lnTo>
                      <a:pt x="1043" y="1392"/>
                    </a:lnTo>
                    <a:lnTo>
                      <a:pt x="1057" y="1404"/>
                    </a:lnTo>
                    <a:lnTo>
                      <a:pt x="1076" y="1409"/>
                    </a:lnTo>
                    <a:lnTo>
                      <a:pt x="1092" y="1406"/>
                    </a:lnTo>
                    <a:lnTo>
                      <a:pt x="1108" y="1398"/>
                    </a:lnTo>
                    <a:lnTo>
                      <a:pt x="1119" y="1385"/>
                    </a:lnTo>
                    <a:lnTo>
                      <a:pt x="1122" y="1366"/>
                    </a:lnTo>
                    <a:lnTo>
                      <a:pt x="1119" y="1350"/>
                    </a:lnTo>
                    <a:lnTo>
                      <a:pt x="1111" y="1332"/>
                    </a:lnTo>
                    <a:lnTo>
                      <a:pt x="1046" y="1251"/>
                    </a:lnTo>
                    <a:lnTo>
                      <a:pt x="983" y="1168"/>
                    </a:lnTo>
                    <a:lnTo>
                      <a:pt x="921" y="1083"/>
                    </a:lnTo>
                    <a:lnTo>
                      <a:pt x="856" y="1002"/>
                    </a:lnTo>
                    <a:lnTo>
                      <a:pt x="794" y="918"/>
                    </a:lnTo>
                    <a:lnTo>
                      <a:pt x="731" y="836"/>
                    </a:lnTo>
                    <a:lnTo>
                      <a:pt x="669" y="752"/>
                    </a:lnTo>
                    <a:lnTo>
                      <a:pt x="603" y="668"/>
                    </a:lnTo>
                    <a:lnTo>
                      <a:pt x="540" y="586"/>
                    </a:lnTo>
                    <a:lnTo>
                      <a:pt x="475" y="505"/>
                    </a:lnTo>
                    <a:lnTo>
                      <a:pt x="413" y="421"/>
                    </a:lnTo>
                    <a:lnTo>
                      <a:pt x="348" y="339"/>
                    </a:lnTo>
                    <a:lnTo>
                      <a:pt x="281" y="258"/>
                    </a:lnTo>
                    <a:lnTo>
                      <a:pt x="215" y="179"/>
                    </a:lnTo>
                    <a:lnTo>
                      <a:pt x="147" y="98"/>
                    </a:lnTo>
                    <a:lnTo>
                      <a:pt x="80" y="19"/>
                    </a:lnTo>
                    <a:lnTo>
                      <a:pt x="66" y="5"/>
                    </a:lnTo>
                    <a:lnTo>
                      <a:pt x="50" y="0"/>
                    </a:lnTo>
                    <a:lnTo>
                      <a:pt x="34" y="3"/>
                    </a:lnTo>
                    <a:lnTo>
                      <a:pt x="16" y="10"/>
                    </a:lnTo>
                    <a:lnTo>
                      <a:pt x="6" y="24"/>
                    </a:lnTo>
                    <a:lnTo>
                      <a:pt x="0" y="40"/>
                    </a:lnTo>
                    <a:lnTo>
                      <a:pt x="0" y="57"/>
                    </a:lnTo>
                    <a:lnTo>
                      <a:pt x="9" y="73"/>
                    </a:lnTo>
                    <a:close/>
                  </a:path>
                </a:pathLst>
              </a:custGeom>
              <a:solidFill>
                <a:srgbClr val="CEF2A5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6" name="任意多边形 181405"/>
              <p:cNvSpPr/>
              <p:nvPr/>
            </p:nvSpPr>
            <p:spPr>
              <a:xfrm>
                <a:off x="4116" y="3847"/>
                <a:ext cx="189" cy="254"/>
              </a:xfrm>
              <a:custGeom>
                <a:avLst/>
                <a:gdLst/>
                <a:ahLst/>
                <a:cxnLst/>
                <a:pathLst>
                  <a:path w="755" h="1016">
                    <a:moveTo>
                      <a:pt x="5" y="65"/>
                    </a:moveTo>
                    <a:lnTo>
                      <a:pt x="47" y="124"/>
                    </a:lnTo>
                    <a:lnTo>
                      <a:pt x="84" y="184"/>
                    </a:lnTo>
                    <a:lnTo>
                      <a:pt x="125" y="244"/>
                    </a:lnTo>
                    <a:lnTo>
                      <a:pt x="165" y="304"/>
                    </a:lnTo>
                    <a:lnTo>
                      <a:pt x="206" y="363"/>
                    </a:lnTo>
                    <a:lnTo>
                      <a:pt x="248" y="423"/>
                    </a:lnTo>
                    <a:lnTo>
                      <a:pt x="288" y="480"/>
                    </a:lnTo>
                    <a:lnTo>
                      <a:pt x="331" y="540"/>
                    </a:lnTo>
                    <a:lnTo>
                      <a:pt x="372" y="600"/>
                    </a:lnTo>
                    <a:lnTo>
                      <a:pt x="416" y="656"/>
                    </a:lnTo>
                    <a:lnTo>
                      <a:pt x="456" y="714"/>
                    </a:lnTo>
                    <a:lnTo>
                      <a:pt x="500" y="771"/>
                    </a:lnTo>
                    <a:lnTo>
                      <a:pt x="543" y="831"/>
                    </a:lnTo>
                    <a:lnTo>
                      <a:pt x="587" y="885"/>
                    </a:lnTo>
                    <a:lnTo>
                      <a:pt x="633" y="942"/>
                    </a:lnTo>
                    <a:lnTo>
                      <a:pt x="676" y="998"/>
                    </a:lnTo>
                    <a:lnTo>
                      <a:pt x="689" y="1009"/>
                    </a:lnTo>
                    <a:lnTo>
                      <a:pt x="709" y="1016"/>
                    </a:lnTo>
                    <a:lnTo>
                      <a:pt x="726" y="1012"/>
                    </a:lnTo>
                    <a:lnTo>
                      <a:pt x="742" y="1004"/>
                    </a:lnTo>
                    <a:lnTo>
                      <a:pt x="752" y="991"/>
                    </a:lnTo>
                    <a:lnTo>
                      <a:pt x="755" y="972"/>
                    </a:lnTo>
                    <a:lnTo>
                      <a:pt x="752" y="956"/>
                    </a:lnTo>
                    <a:lnTo>
                      <a:pt x="744" y="939"/>
                    </a:lnTo>
                    <a:lnTo>
                      <a:pt x="701" y="885"/>
                    </a:lnTo>
                    <a:lnTo>
                      <a:pt x="657" y="827"/>
                    </a:lnTo>
                    <a:lnTo>
                      <a:pt x="613" y="771"/>
                    </a:lnTo>
                    <a:lnTo>
                      <a:pt x="571" y="714"/>
                    </a:lnTo>
                    <a:lnTo>
                      <a:pt x="527" y="656"/>
                    </a:lnTo>
                    <a:lnTo>
                      <a:pt x="486" y="600"/>
                    </a:lnTo>
                    <a:lnTo>
                      <a:pt x="442" y="543"/>
                    </a:lnTo>
                    <a:lnTo>
                      <a:pt x="402" y="485"/>
                    </a:lnTo>
                    <a:lnTo>
                      <a:pt x="361" y="429"/>
                    </a:lnTo>
                    <a:lnTo>
                      <a:pt x="320" y="369"/>
                    </a:lnTo>
                    <a:lnTo>
                      <a:pt x="280" y="312"/>
                    </a:lnTo>
                    <a:lnTo>
                      <a:pt x="239" y="254"/>
                    </a:lnTo>
                    <a:lnTo>
                      <a:pt x="201" y="195"/>
                    </a:lnTo>
                    <a:lnTo>
                      <a:pt x="160" y="136"/>
                    </a:lnTo>
                    <a:lnTo>
                      <a:pt x="119" y="78"/>
                    </a:lnTo>
                    <a:lnTo>
                      <a:pt x="82" y="18"/>
                    </a:lnTo>
                    <a:lnTo>
                      <a:pt x="68" y="5"/>
                    </a:lnTo>
                    <a:lnTo>
                      <a:pt x="54" y="0"/>
                    </a:lnTo>
                    <a:lnTo>
                      <a:pt x="35" y="0"/>
                    </a:lnTo>
                    <a:lnTo>
                      <a:pt x="19" y="5"/>
                    </a:lnTo>
                    <a:lnTo>
                      <a:pt x="5" y="18"/>
                    </a:lnTo>
                    <a:lnTo>
                      <a:pt x="0" y="32"/>
                    </a:lnTo>
                    <a:lnTo>
                      <a:pt x="0" y="48"/>
                    </a:lnTo>
                    <a:lnTo>
                      <a:pt x="5" y="65"/>
                    </a:lnTo>
                    <a:close/>
                  </a:path>
                </a:pathLst>
              </a:custGeom>
              <a:solidFill>
                <a:srgbClr val="CEF2A5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7" name="任意多边形 181406"/>
              <p:cNvSpPr/>
              <p:nvPr/>
            </p:nvSpPr>
            <p:spPr>
              <a:xfrm>
                <a:off x="3907" y="3135"/>
                <a:ext cx="689" cy="862"/>
              </a:xfrm>
              <a:custGeom>
                <a:avLst/>
                <a:gdLst/>
                <a:ahLst/>
                <a:cxnLst/>
                <a:pathLst>
                  <a:path w="2756" h="3451">
                    <a:moveTo>
                      <a:pt x="2742" y="3451"/>
                    </a:moveTo>
                    <a:lnTo>
                      <a:pt x="2696" y="3449"/>
                    </a:lnTo>
                    <a:lnTo>
                      <a:pt x="2612" y="3343"/>
                    </a:lnTo>
                    <a:lnTo>
                      <a:pt x="2528" y="3237"/>
                    </a:lnTo>
                    <a:lnTo>
                      <a:pt x="2446" y="3128"/>
                    </a:lnTo>
                    <a:lnTo>
                      <a:pt x="2363" y="3022"/>
                    </a:lnTo>
                    <a:lnTo>
                      <a:pt x="2281" y="2916"/>
                    </a:lnTo>
                    <a:lnTo>
                      <a:pt x="2197" y="2807"/>
                    </a:lnTo>
                    <a:lnTo>
                      <a:pt x="2116" y="2702"/>
                    </a:lnTo>
                    <a:lnTo>
                      <a:pt x="2033" y="2594"/>
                    </a:lnTo>
                    <a:lnTo>
                      <a:pt x="1950" y="2488"/>
                    </a:lnTo>
                    <a:lnTo>
                      <a:pt x="1869" y="2379"/>
                    </a:lnTo>
                    <a:lnTo>
                      <a:pt x="1786" y="2273"/>
                    </a:lnTo>
                    <a:lnTo>
                      <a:pt x="1705" y="2164"/>
                    </a:lnTo>
                    <a:lnTo>
                      <a:pt x="1620" y="2058"/>
                    </a:lnTo>
                    <a:lnTo>
                      <a:pt x="1539" y="1950"/>
                    </a:lnTo>
                    <a:lnTo>
                      <a:pt x="1458" y="1844"/>
                    </a:lnTo>
                    <a:lnTo>
                      <a:pt x="1373" y="1735"/>
                    </a:lnTo>
                    <a:lnTo>
                      <a:pt x="1292" y="1629"/>
                    </a:lnTo>
                    <a:lnTo>
                      <a:pt x="1208" y="1524"/>
                    </a:lnTo>
                    <a:lnTo>
                      <a:pt x="1124" y="1418"/>
                    </a:lnTo>
                    <a:lnTo>
                      <a:pt x="1042" y="1309"/>
                    </a:lnTo>
                    <a:lnTo>
                      <a:pt x="959" y="1203"/>
                    </a:lnTo>
                    <a:lnTo>
                      <a:pt x="874" y="1097"/>
                    </a:lnTo>
                    <a:lnTo>
                      <a:pt x="788" y="991"/>
                    </a:lnTo>
                    <a:lnTo>
                      <a:pt x="703" y="889"/>
                    </a:lnTo>
                    <a:lnTo>
                      <a:pt x="616" y="783"/>
                    </a:lnTo>
                    <a:lnTo>
                      <a:pt x="532" y="676"/>
                    </a:lnTo>
                    <a:lnTo>
                      <a:pt x="445" y="573"/>
                    </a:lnTo>
                    <a:lnTo>
                      <a:pt x="356" y="470"/>
                    </a:lnTo>
                    <a:lnTo>
                      <a:pt x="269" y="367"/>
                    </a:lnTo>
                    <a:lnTo>
                      <a:pt x="179" y="263"/>
                    </a:lnTo>
                    <a:lnTo>
                      <a:pt x="89" y="161"/>
                    </a:lnTo>
                    <a:lnTo>
                      <a:pt x="0" y="57"/>
                    </a:lnTo>
                    <a:lnTo>
                      <a:pt x="0" y="41"/>
                    </a:lnTo>
                    <a:lnTo>
                      <a:pt x="0" y="25"/>
                    </a:lnTo>
                    <a:lnTo>
                      <a:pt x="3" y="11"/>
                    </a:lnTo>
                    <a:lnTo>
                      <a:pt x="13" y="0"/>
                    </a:lnTo>
                    <a:lnTo>
                      <a:pt x="59" y="11"/>
                    </a:lnTo>
                    <a:lnTo>
                      <a:pt x="853" y="948"/>
                    </a:lnTo>
                    <a:lnTo>
                      <a:pt x="2357" y="2911"/>
                    </a:lnTo>
                    <a:lnTo>
                      <a:pt x="2403" y="2978"/>
                    </a:lnTo>
                    <a:lnTo>
                      <a:pt x="2452" y="3044"/>
                    </a:lnTo>
                    <a:lnTo>
                      <a:pt x="2504" y="3109"/>
                    </a:lnTo>
                    <a:lnTo>
                      <a:pt x="2558" y="3172"/>
                    </a:lnTo>
                    <a:lnTo>
                      <a:pt x="2610" y="3237"/>
                    </a:lnTo>
                    <a:lnTo>
                      <a:pt x="2661" y="3302"/>
                    </a:lnTo>
                    <a:lnTo>
                      <a:pt x="2710" y="3367"/>
                    </a:lnTo>
                    <a:lnTo>
                      <a:pt x="2756" y="3435"/>
                    </a:lnTo>
                    <a:lnTo>
                      <a:pt x="2742" y="3451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8" name="任意多边形 181407"/>
              <p:cNvSpPr/>
              <p:nvPr/>
            </p:nvSpPr>
            <p:spPr>
              <a:xfrm>
                <a:off x="3481" y="3125"/>
                <a:ext cx="1114" cy="1023"/>
              </a:xfrm>
              <a:custGeom>
                <a:avLst/>
                <a:gdLst/>
                <a:ahLst/>
                <a:cxnLst/>
                <a:pathLst>
                  <a:path w="4456" h="4092">
                    <a:moveTo>
                      <a:pt x="3343" y="4035"/>
                    </a:moveTo>
                    <a:lnTo>
                      <a:pt x="3316" y="4060"/>
                    </a:lnTo>
                    <a:lnTo>
                      <a:pt x="3288" y="4074"/>
                    </a:lnTo>
                    <a:lnTo>
                      <a:pt x="3256" y="4079"/>
                    </a:lnTo>
                    <a:lnTo>
                      <a:pt x="3223" y="4079"/>
                    </a:lnTo>
                    <a:lnTo>
                      <a:pt x="3188" y="4079"/>
                    </a:lnTo>
                    <a:lnTo>
                      <a:pt x="3152" y="4079"/>
                    </a:lnTo>
                    <a:lnTo>
                      <a:pt x="3117" y="4081"/>
                    </a:lnTo>
                    <a:lnTo>
                      <a:pt x="3082" y="4092"/>
                    </a:lnTo>
                    <a:lnTo>
                      <a:pt x="3036" y="4092"/>
                    </a:lnTo>
                    <a:lnTo>
                      <a:pt x="3039" y="4062"/>
                    </a:lnTo>
                    <a:lnTo>
                      <a:pt x="3050" y="4044"/>
                    </a:lnTo>
                    <a:lnTo>
                      <a:pt x="3071" y="4032"/>
                    </a:lnTo>
                    <a:lnTo>
                      <a:pt x="3096" y="4024"/>
                    </a:lnTo>
                    <a:lnTo>
                      <a:pt x="3122" y="4021"/>
                    </a:lnTo>
                    <a:lnTo>
                      <a:pt x="3150" y="4016"/>
                    </a:lnTo>
                    <a:lnTo>
                      <a:pt x="3177" y="4008"/>
                    </a:lnTo>
                    <a:lnTo>
                      <a:pt x="3196" y="3991"/>
                    </a:lnTo>
                    <a:lnTo>
                      <a:pt x="3172" y="3954"/>
                    </a:lnTo>
                    <a:lnTo>
                      <a:pt x="3142" y="3913"/>
                    </a:lnTo>
                    <a:lnTo>
                      <a:pt x="3112" y="3875"/>
                    </a:lnTo>
                    <a:lnTo>
                      <a:pt x="3082" y="3837"/>
                    </a:lnTo>
                    <a:lnTo>
                      <a:pt x="3050" y="3799"/>
                    </a:lnTo>
                    <a:lnTo>
                      <a:pt x="3017" y="3760"/>
                    </a:lnTo>
                    <a:lnTo>
                      <a:pt x="2985" y="3723"/>
                    </a:lnTo>
                    <a:lnTo>
                      <a:pt x="2955" y="3684"/>
                    </a:lnTo>
                    <a:lnTo>
                      <a:pt x="2939" y="3718"/>
                    </a:lnTo>
                    <a:lnTo>
                      <a:pt x="2909" y="3734"/>
                    </a:lnTo>
                    <a:lnTo>
                      <a:pt x="2870" y="3742"/>
                    </a:lnTo>
                    <a:lnTo>
                      <a:pt x="2833" y="3748"/>
                    </a:lnTo>
                    <a:lnTo>
                      <a:pt x="2803" y="3753"/>
                    </a:lnTo>
                    <a:lnTo>
                      <a:pt x="2789" y="3764"/>
                    </a:lnTo>
                    <a:lnTo>
                      <a:pt x="2797" y="3788"/>
                    </a:lnTo>
                    <a:lnTo>
                      <a:pt x="2838" y="3832"/>
                    </a:lnTo>
                    <a:lnTo>
                      <a:pt x="2849" y="3853"/>
                    </a:lnTo>
                    <a:lnTo>
                      <a:pt x="2865" y="3864"/>
                    </a:lnTo>
                    <a:lnTo>
                      <a:pt x="2884" y="3873"/>
                    </a:lnTo>
                    <a:lnTo>
                      <a:pt x="2903" y="3873"/>
                    </a:lnTo>
                    <a:lnTo>
                      <a:pt x="2925" y="3873"/>
                    </a:lnTo>
                    <a:lnTo>
                      <a:pt x="2946" y="3875"/>
                    </a:lnTo>
                    <a:lnTo>
                      <a:pt x="2965" y="3878"/>
                    </a:lnTo>
                    <a:lnTo>
                      <a:pt x="2981" y="3889"/>
                    </a:lnTo>
                    <a:lnTo>
                      <a:pt x="2960" y="3908"/>
                    </a:lnTo>
                    <a:lnTo>
                      <a:pt x="2944" y="3931"/>
                    </a:lnTo>
                    <a:lnTo>
                      <a:pt x="2935" y="3959"/>
                    </a:lnTo>
                    <a:lnTo>
                      <a:pt x="2935" y="3989"/>
                    </a:lnTo>
                    <a:lnTo>
                      <a:pt x="2903" y="3997"/>
                    </a:lnTo>
                    <a:lnTo>
                      <a:pt x="2875" y="3991"/>
                    </a:lnTo>
                    <a:lnTo>
                      <a:pt x="2854" y="3981"/>
                    </a:lnTo>
                    <a:lnTo>
                      <a:pt x="2838" y="3961"/>
                    </a:lnTo>
                    <a:lnTo>
                      <a:pt x="2822" y="3943"/>
                    </a:lnTo>
                    <a:lnTo>
                      <a:pt x="2803" y="3926"/>
                    </a:lnTo>
                    <a:lnTo>
                      <a:pt x="2778" y="3915"/>
                    </a:lnTo>
                    <a:lnTo>
                      <a:pt x="2748" y="3915"/>
                    </a:lnTo>
                    <a:lnTo>
                      <a:pt x="2778" y="3885"/>
                    </a:lnTo>
                    <a:lnTo>
                      <a:pt x="2745" y="3845"/>
                    </a:lnTo>
                    <a:lnTo>
                      <a:pt x="2718" y="3802"/>
                    </a:lnTo>
                    <a:lnTo>
                      <a:pt x="2688" y="3758"/>
                    </a:lnTo>
                    <a:lnTo>
                      <a:pt x="2658" y="3712"/>
                    </a:lnTo>
                    <a:lnTo>
                      <a:pt x="2628" y="3672"/>
                    </a:lnTo>
                    <a:lnTo>
                      <a:pt x="2593" y="3636"/>
                    </a:lnTo>
                    <a:lnTo>
                      <a:pt x="2553" y="3603"/>
                    </a:lnTo>
                    <a:lnTo>
                      <a:pt x="2509" y="3582"/>
                    </a:lnTo>
                    <a:lnTo>
                      <a:pt x="2523" y="3552"/>
                    </a:lnTo>
                    <a:lnTo>
                      <a:pt x="2526" y="3522"/>
                    </a:lnTo>
                    <a:lnTo>
                      <a:pt x="2515" y="3497"/>
                    </a:lnTo>
                    <a:lnTo>
                      <a:pt x="2498" y="3471"/>
                    </a:lnTo>
                    <a:lnTo>
                      <a:pt x="2477" y="3448"/>
                    </a:lnTo>
                    <a:lnTo>
                      <a:pt x="2452" y="3424"/>
                    </a:lnTo>
                    <a:lnTo>
                      <a:pt x="2431" y="3402"/>
                    </a:lnTo>
                    <a:lnTo>
                      <a:pt x="2411" y="3378"/>
                    </a:lnTo>
                    <a:lnTo>
                      <a:pt x="2403" y="3383"/>
                    </a:lnTo>
                    <a:lnTo>
                      <a:pt x="2392" y="3386"/>
                    </a:lnTo>
                    <a:lnTo>
                      <a:pt x="2381" y="3388"/>
                    </a:lnTo>
                    <a:lnTo>
                      <a:pt x="2368" y="3388"/>
                    </a:lnTo>
                    <a:lnTo>
                      <a:pt x="2357" y="3388"/>
                    </a:lnTo>
                    <a:lnTo>
                      <a:pt x="2346" y="3392"/>
                    </a:lnTo>
                    <a:lnTo>
                      <a:pt x="2335" y="3397"/>
                    </a:lnTo>
                    <a:lnTo>
                      <a:pt x="2325" y="3405"/>
                    </a:lnTo>
                    <a:lnTo>
                      <a:pt x="2314" y="3397"/>
                    </a:lnTo>
                    <a:lnTo>
                      <a:pt x="2311" y="3386"/>
                    </a:lnTo>
                    <a:lnTo>
                      <a:pt x="2314" y="3372"/>
                    </a:lnTo>
                    <a:lnTo>
                      <a:pt x="2314" y="3362"/>
                    </a:lnTo>
                    <a:lnTo>
                      <a:pt x="2327" y="3351"/>
                    </a:lnTo>
                    <a:lnTo>
                      <a:pt x="2344" y="3342"/>
                    </a:lnTo>
                    <a:lnTo>
                      <a:pt x="2357" y="3332"/>
                    </a:lnTo>
                    <a:lnTo>
                      <a:pt x="2371" y="3318"/>
                    </a:lnTo>
                    <a:lnTo>
                      <a:pt x="2352" y="3283"/>
                    </a:lnTo>
                    <a:lnTo>
                      <a:pt x="2327" y="3261"/>
                    </a:lnTo>
                    <a:lnTo>
                      <a:pt x="2302" y="3253"/>
                    </a:lnTo>
                    <a:lnTo>
                      <a:pt x="2276" y="3250"/>
                    </a:lnTo>
                    <a:lnTo>
                      <a:pt x="2246" y="3256"/>
                    </a:lnTo>
                    <a:lnTo>
                      <a:pt x="2216" y="3261"/>
                    </a:lnTo>
                    <a:lnTo>
                      <a:pt x="2184" y="3270"/>
                    </a:lnTo>
                    <a:lnTo>
                      <a:pt x="2154" y="3272"/>
                    </a:lnTo>
                    <a:lnTo>
                      <a:pt x="2154" y="3253"/>
                    </a:lnTo>
                    <a:lnTo>
                      <a:pt x="2161" y="3240"/>
                    </a:lnTo>
                    <a:lnTo>
                      <a:pt x="2173" y="3229"/>
                    </a:lnTo>
                    <a:lnTo>
                      <a:pt x="2186" y="3217"/>
                    </a:lnTo>
                    <a:lnTo>
                      <a:pt x="2200" y="3212"/>
                    </a:lnTo>
                    <a:lnTo>
                      <a:pt x="2216" y="3205"/>
                    </a:lnTo>
                    <a:lnTo>
                      <a:pt x="2230" y="3196"/>
                    </a:lnTo>
                    <a:lnTo>
                      <a:pt x="2240" y="3188"/>
                    </a:lnTo>
                    <a:lnTo>
                      <a:pt x="2230" y="3164"/>
                    </a:lnTo>
                    <a:lnTo>
                      <a:pt x="2221" y="3139"/>
                    </a:lnTo>
                    <a:lnTo>
                      <a:pt x="2208" y="3117"/>
                    </a:lnTo>
                    <a:lnTo>
                      <a:pt x="2186" y="3099"/>
                    </a:lnTo>
                    <a:lnTo>
                      <a:pt x="2173" y="3095"/>
                    </a:lnTo>
                    <a:lnTo>
                      <a:pt x="2156" y="3095"/>
                    </a:lnTo>
                    <a:lnTo>
                      <a:pt x="2145" y="3101"/>
                    </a:lnTo>
                    <a:lnTo>
                      <a:pt x="2131" y="3106"/>
                    </a:lnTo>
                    <a:lnTo>
                      <a:pt x="2118" y="3109"/>
                    </a:lnTo>
                    <a:lnTo>
                      <a:pt x="2108" y="3112"/>
                    </a:lnTo>
                    <a:lnTo>
                      <a:pt x="2094" y="3106"/>
                    </a:lnTo>
                    <a:lnTo>
                      <a:pt x="2083" y="3099"/>
                    </a:lnTo>
                    <a:lnTo>
                      <a:pt x="2129" y="3028"/>
                    </a:lnTo>
                    <a:lnTo>
                      <a:pt x="2099" y="2988"/>
                    </a:lnTo>
                    <a:lnTo>
                      <a:pt x="2066" y="2946"/>
                    </a:lnTo>
                    <a:lnTo>
                      <a:pt x="2031" y="2908"/>
                    </a:lnTo>
                    <a:lnTo>
                      <a:pt x="1999" y="2868"/>
                    </a:lnTo>
                    <a:lnTo>
                      <a:pt x="1969" y="2827"/>
                    </a:lnTo>
                    <a:lnTo>
                      <a:pt x="1947" y="2783"/>
                    </a:lnTo>
                    <a:lnTo>
                      <a:pt x="1933" y="2740"/>
                    </a:lnTo>
                    <a:lnTo>
                      <a:pt x="1930" y="2694"/>
                    </a:lnTo>
                    <a:lnTo>
                      <a:pt x="1955" y="2691"/>
                    </a:lnTo>
                    <a:lnTo>
                      <a:pt x="1977" y="2686"/>
                    </a:lnTo>
                    <a:lnTo>
                      <a:pt x="1999" y="2674"/>
                    </a:lnTo>
                    <a:lnTo>
                      <a:pt x="2018" y="2662"/>
                    </a:lnTo>
                    <a:lnTo>
                      <a:pt x="2037" y="2644"/>
                    </a:lnTo>
                    <a:lnTo>
                      <a:pt x="2055" y="2628"/>
                    </a:lnTo>
                    <a:lnTo>
                      <a:pt x="2072" y="2612"/>
                    </a:lnTo>
                    <a:lnTo>
                      <a:pt x="2089" y="2593"/>
                    </a:lnTo>
                    <a:lnTo>
                      <a:pt x="2043" y="2526"/>
                    </a:lnTo>
                    <a:lnTo>
                      <a:pt x="1995" y="2455"/>
                    </a:lnTo>
                    <a:lnTo>
                      <a:pt x="1950" y="2387"/>
                    </a:lnTo>
                    <a:lnTo>
                      <a:pt x="1901" y="2319"/>
                    </a:lnTo>
                    <a:lnTo>
                      <a:pt x="1852" y="2251"/>
                    </a:lnTo>
                    <a:lnTo>
                      <a:pt x="1801" y="2186"/>
                    </a:lnTo>
                    <a:lnTo>
                      <a:pt x="1748" y="2119"/>
                    </a:lnTo>
                    <a:lnTo>
                      <a:pt x="1697" y="2050"/>
                    </a:lnTo>
                    <a:lnTo>
                      <a:pt x="1646" y="1985"/>
                    </a:lnTo>
                    <a:lnTo>
                      <a:pt x="1595" y="1918"/>
                    </a:lnTo>
                    <a:lnTo>
                      <a:pt x="1540" y="1852"/>
                    </a:lnTo>
                    <a:lnTo>
                      <a:pt x="1489" y="1784"/>
                    </a:lnTo>
                    <a:lnTo>
                      <a:pt x="1436" y="1717"/>
                    </a:lnTo>
                    <a:lnTo>
                      <a:pt x="1385" y="1651"/>
                    </a:lnTo>
                    <a:lnTo>
                      <a:pt x="1334" y="1583"/>
                    </a:lnTo>
                    <a:lnTo>
                      <a:pt x="1281" y="1516"/>
                    </a:lnTo>
                    <a:lnTo>
                      <a:pt x="1249" y="1480"/>
                    </a:lnTo>
                    <a:lnTo>
                      <a:pt x="1214" y="1445"/>
                    </a:lnTo>
                    <a:lnTo>
                      <a:pt x="1179" y="1412"/>
                    </a:lnTo>
                    <a:lnTo>
                      <a:pt x="1140" y="1382"/>
                    </a:lnTo>
                    <a:lnTo>
                      <a:pt x="1103" y="1361"/>
                    </a:lnTo>
                    <a:lnTo>
                      <a:pt x="1062" y="1350"/>
                    </a:lnTo>
                    <a:lnTo>
                      <a:pt x="1016" y="1350"/>
                    </a:lnTo>
                    <a:lnTo>
                      <a:pt x="967" y="1369"/>
                    </a:lnTo>
                    <a:lnTo>
                      <a:pt x="939" y="1329"/>
                    </a:lnTo>
                    <a:lnTo>
                      <a:pt x="910" y="1290"/>
                    </a:lnTo>
                    <a:lnTo>
                      <a:pt x="880" y="1252"/>
                    </a:lnTo>
                    <a:lnTo>
                      <a:pt x="850" y="1214"/>
                    </a:lnTo>
                    <a:lnTo>
                      <a:pt x="817" y="1176"/>
                    </a:lnTo>
                    <a:lnTo>
                      <a:pt x="787" y="1140"/>
                    </a:lnTo>
                    <a:lnTo>
                      <a:pt x="757" y="1103"/>
                    </a:lnTo>
                    <a:lnTo>
                      <a:pt x="725" y="1068"/>
                    </a:lnTo>
                    <a:lnTo>
                      <a:pt x="695" y="1029"/>
                    </a:lnTo>
                    <a:lnTo>
                      <a:pt x="665" y="994"/>
                    </a:lnTo>
                    <a:lnTo>
                      <a:pt x="635" y="957"/>
                    </a:lnTo>
                    <a:lnTo>
                      <a:pt x="605" y="918"/>
                    </a:lnTo>
                    <a:lnTo>
                      <a:pt x="576" y="880"/>
                    </a:lnTo>
                    <a:lnTo>
                      <a:pt x="549" y="839"/>
                    </a:lnTo>
                    <a:lnTo>
                      <a:pt x="521" y="798"/>
                    </a:lnTo>
                    <a:lnTo>
                      <a:pt x="496" y="758"/>
                    </a:lnTo>
                    <a:lnTo>
                      <a:pt x="380" y="756"/>
                    </a:lnTo>
                    <a:lnTo>
                      <a:pt x="378" y="733"/>
                    </a:lnTo>
                    <a:lnTo>
                      <a:pt x="385" y="720"/>
                    </a:lnTo>
                    <a:lnTo>
                      <a:pt x="404" y="712"/>
                    </a:lnTo>
                    <a:lnTo>
                      <a:pt x="424" y="703"/>
                    </a:lnTo>
                    <a:lnTo>
                      <a:pt x="443" y="696"/>
                    </a:lnTo>
                    <a:lnTo>
                      <a:pt x="456" y="685"/>
                    </a:lnTo>
                    <a:lnTo>
                      <a:pt x="456" y="666"/>
                    </a:lnTo>
                    <a:lnTo>
                      <a:pt x="440" y="641"/>
                    </a:lnTo>
                    <a:lnTo>
                      <a:pt x="426" y="603"/>
                    </a:lnTo>
                    <a:lnTo>
                      <a:pt x="404" y="581"/>
                    </a:lnTo>
                    <a:lnTo>
                      <a:pt x="380" y="571"/>
                    </a:lnTo>
                    <a:lnTo>
                      <a:pt x="353" y="568"/>
                    </a:lnTo>
                    <a:lnTo>
                      <a:pt x="325" y="568"/>
                    </a:lnTo>
                    <a:lnTo>
                      <a:pt x="296" y="568"/>
                    </a:lnTo>
                    <a:lnTo>
                      <a:pt x="267" y="562"/>
                    </a:lnTo>
                    <a:lnTo>
                      <a:pt x="239" y="552"/>
                    </a:lnTo>
                    <a:lnTo>
                      <a:pt x="247" y="538"/>
                    </a:lnTo>
                    <a:lnTo>
                      <a:pt x="261" y="527"/>
                    </a:lnTo>
                    <a:lnTo>
                      <a:pt x="279" y="514"/>
                    </a:lnTo>
                    <a:lnTo>
                      <a:pt x="296" y="502"/>
                    </a:lnTo>
                    <a:lnTo>
                      <a:pt x="307" y="490"/>
                    </a:lnTo>
                    <a:lnTo>
                      <a:pt x="313" y="476"/>
                    </a:lnTo>
                    <a:lnTo>
                      <a:pt x="307" y="460"/>
                    </a:lnTo>
                    <a:lnTo>
                      <a:pt x="285" y="437"/>
                    </a:lnTo>
                    <a:lnTo>
                      <a:pt x="272" y="414"/>
                    </a:lnTo>
                    <a:lnTo>
                      <a:pt x="255" y="400"/>
                    </a:lnTo>
                    <a:lnTo>
                      <a:pt x="237" y="394"/>
                    </a:lnTo>
                    <a:lnTo>
                      <a:pt x="214" y="391"/>
                    </a:lnTo>
                    <a:lnTo>
                      <a:pt x="193" y="391"/>
                    </a:lnTo>
                    <a:lnTo>
                      <a:pt x="168" y="394"/>
                    </a:lnTo>
                    <a:lnTo>
                      <a:pt x="147" y="394"/>
                    </a:lnTo>
                    <a:lnTo>
                      <a:pt x="125" y="391"/>
                    </a:lnTo>
                    <a:lnTo>
                      <a:pt x="133" y="372"/>
                    </a:lnTo>
                    <a:lnTo>
                      <a:pt x="149" y="356"/>
                    </a:lnTo>
                    <a:lnTo>
                      <a:pt x="168" y="340"/>
                    </a:lnTo>
                    <a:lnTo>
                      <a:pt x="184" y="321"/>
                    </a:lnTo>
                    <a:lnTo>
                      <a:pt x="0" y="44"/>
                    </a:lnTo>
                    <a:lnTo>
                      <a:pt x="11" y="30"/>
                    </a:lnTo>
                    <a:lnTo>
                      <a:pt x="22" y="12"/>
                    </a:lnTo>
                    <a:lnTo>
                      <a:pt x="36" y="0"/>
                    </a:lnTo>
                    <a:lnTo>
                      <a:pt x="57" y="3"/>
                    </a:lnTo>
                    <a:lnTo>
                      <a:pt x="285" y="321"/>
                    </a:lnTo>
                    <a:lnTo>
                      <a:pt x="342" y="324"/>
                    </a:lnTo>
                    <a:lnTo>
                      <a:pt x="355" y="410"/>
                    </a:lnTo>
                    <a:lnTo>
                      <a:pt x="391" y="467"/>
                    </a:lnTo>
                    <a:lnTo>
                      <a:pt x="429" y="525"/>
                    </a:lnTo>
                    <a:lnTo>
                      <a:pt x="464" y="581"/>
                    </a:lnTo>
                    <a:lnTo>
                      <a:pt x="503" y="638"/>
                    </a:lnTo>
                    <a:lnTo>
                      <a:pt x="540" y="696"/>
                    </a:lnTo>
                    <a:lnTo>
                      <a:pt x="579" y="752"/>
                    </a:lnTo>
                    <a:lnTo>
                      <a:pt x="619" y="807"/>
                    </a:lnTo>
                    <a:lnTo>
                      <a:pt x="660" y="864"/>
                    </a:lnTo>
                    <a:lnTo>
                      <a:pt x="701" y="918"/>
                    </a:lnTo>
                    <a:lnTo>
                      <a:pt x="741" y="975"/>
                    </a:lnTo>
                    <a:lnTo>
                      <a:pt x="785" y="1029"/>
                    </a:lnTo>
                    <a:lnTo>
                      <a:pt x="828" y="1084"/>
                    </a:lnTo>
                    <a:lnTo>
                      <a:pt x="872" y="1138"/>
                    </a:lnTo>
                    <a:lnTo>
                      <a:pt x="918" y="1193"/>
                    </a:lnTo>
                    <a:lnTo>
                      <a:pt x="964" y="1244"/>
                    </a:lnTo>
                    <a:lnTo>
                      <a:pt x="1011" y="1299"/>
                    </a:lnTo>
                    <a:lnTo>
                      <a:pt x="1064" y="1285"/>
                    </a:lnTo>
                    <a:lnTo>
                      <a:pt x="1117" y="1287"/>
                    </a:lnTo>
                    <a:lnTo>
                      <a:pt x="1163" y="1306"/>
                    </a:lnTo>
                    <a:lnTo>
                      <a:pt x="1209" y="1334"/>
                    </a:lnTo>
                    <a:lnTo>
                      <a:pt x="1249" y="1369"/>
                    </a:lnTo>
                    <a:lnTo>
                      <a:pt x="1290" y="1407"/>
                    </a:lnTo>
                    <a:lnTo>
                      <a:pt x="1330" y="1447"/>
                    </a:lnTo>
                    <a:lnTo>
                      <a:pt x="1369" y="1488"/>
                    </a:lnTo>
                    <a:lnTo>
                      <a:pt x="2161" y="2536"/>
                    </a:lnTo>
                    <a:lnTo>
                      <a:pt x="2159" y="2566"/>
                    </a:lnTo>
                    <a:lnTo>
                      <a:pt x="2148" y="2596"/>
                    </a:lnTo>
                    <a:lnTo>
                      <a:pt x="2134" y="2626"/>
                    </a:lnTo>
                    <a:lnTo>
                      <a:pt x="2118" y="2651"/>
                    </a:lnTo>
                    <a:lnTo>
                      <a:pt x="2096" y="2674"/>
                    </a:lnTo>
                    <a:lnTo>
                      <a:pt x="2072" y="2694"/>
                    </a:lnTo>
                    <a:lnTo>
                      <a:pt x="2045" y="2710"/>
                    </a:lnTo>
                    <a:lnTo>
                      <a:pt x="2015" y="2721"/>
                    </a:lnTo>
                    <a:lnTo>
                      <a:pt x="2034" y="2762"/>
                    </a:lnTo>
                    <a:lnTo>
                      <a:pt x="2055" y="2803"/>
                    </a:lnTo>
                    <a:lnTo>
                      <a:pt x="2080" y="2843"/>
                    </a:lnTo>
                    <a:lnTo>
                      <a:pt x="2110" y="2881"/>
                    </a:lnTo>
                    <a:lnTo>
                      <a:pt x="2138" y="2916"/>
                    </a:lnTo>
                    <a:lnTo>
                      <a:pt x="2170" y="2954"/>
                    </a:lnTo>
                    <a:lnTo>
                      <a:pt x="2200" y="2993"/>
                    </a:lnTo>
                    <a:lnTo>
                      <a:pt x="2230" y="3028"/>
                    </a:lnTo>
                    <a:lnTo>
                      <a:pt x="2344" y="3014"/>
                    </a:lnTo>
                    <a:lnTo>
                      <a:pt x="2272" y="3085"/>
                    </a:lnTo>
                    <a:lnTo>
                      <a:pt x="2290" y="3099"/>
                    </a:lnTo>
                    <a:lnTo>
                      <a:pt x="2302" y="3115"/>
                    </a:lnTo>
                    <a:lnTo>
                      <a:pt x="2316" y="3134"/>
                    </a:lnTo>
                    <a:lnTo>
                      <a:pt x="2330" y="3150"/>
                    </a:lnTo>
                    <a:lnTo>
                      <a:pt x="2346" y="3164"/>
                    </a:lnTo>
                    <a:lnTo>
                      <a:pt x="2362" y="3171"/>
                    </a:lnTo>
                    <a:lnTo>
                      <a:pt x="2381" y="3171"/>
                    </a:lnTo>
                    <a:lnTo>
                      <a:pt x="2403" y="3159"/>
                    </a:lnTo>
                    <a:lnTo>
                      <a:pt x="2411" y="3159"/>
                    </a:lnTo>
                    <a:lnTo>
                      <a:pt x="2417" y="3164"/>
                    </a:lnTo>
                    <a:lnTo>
                      <a:pt x="2422" y="3169"/>
                    </a:lnTo>
                    <a:lnTo>
                      <a:pt x="2427" y="3175"/>
                    </a:lnTo>
                    <a:lnTo>
                      <a:pt x="2408" y="3191"/>
                    </a:lnTo>
                    <a:lnTo>
                      <a:pt x="2401" y="3207"/>
                    </a:lnTo>
                    <a:lnTo>
                      <a:pt x="2403" y="3224"/>
                    </a:lnTo>
                    <a:lnTo>
                      <a:pt x="2411" y="3240"/>
                    </a:lnTo>
                    <a:lnTo>
                      <a:pt x="2425" y="3256"/>
                    </a:lnTo>
                    <a:lnTo>
                      <a:pt x="2438" y="3272"/>
                    </a:lnTo>
                    <a:lnTo>
                      <a:pt x="2450" y="3288"/>
                    </a:lnTo>
                    <a:lnTo>
                      <a:pt x="2457" y="3305"/>
                    </a:lnTo>
                    <a:lnTo>
                      <a:pt x="2556" y="3321"/>
                    </a:lnTo>
                    <a:lnTo>
                      <a:pt x="2553" y="3335"/>
                    </a:lnTo>
                    <a:lnTo>
                      <a:pt x="2544" y="3346"/>
                    </a:lnTo>
                    <a:lnTo>
                      <a:pt x="2533" y="3356"/>
                    </a:lnTo>
                    <a:lnTo>
                      <a:pt x="2523" y="3365"/>
                    </a:lnTo>
                    <a:lnTo>
                      <a:pt x="2515" y="3372"/>
                    </a:lnTo>
                    <a:lnTo>
                      <a:pt x="2509" y="3383"/>
                    </a:lnTo>
                    <a:lnTo>
                      <a:pt x="2512" y="3395"/>
                    </a:lnTo>
                    <a:lnTo>
                      <a:pt x="2526" y="3408"/>
                    </a:lnTo>
                    <a:lnTo>
                      <a:pt x="2537" y="3432"/>
                    </a:lnTo>
                    <a:lnTo>
                      <a:pt x="2556" y="3454"/>
                    </a:lnTo>
                    <a:lnTo>
                      <a:pt x="2577" y="3473"/>
                    </a:lnTo>
                    <a:lnTo>
                      <a:pt x="2596" y="3495"/>
                    </a:lnTo>
                    <a:lnTo>
                      <a:pt x="2612" y="3487"/>
                    </a:lnTo>
                    <a:lnTo>
                      <a:pt x="2634" y="3481"/>
                    </a:lnTo>
                    <a:lnTo>
                      <a:pt x="2653" y="3481"/>
                    </a:lnTo>
                    <a:lnTo>
                      <a:pt x="2674" y="3481"/>
                    </a:lnTo>
                    <a:lnTo>
                      <a:pt x="2697" y="3481"/>
                    </a:lnTo>
                    <a:lnTo>
                      <a:pt x="2718" y="3481"/>
                    </a:lnTo>
                    <a:lnTo>
                      <a:pt x="2738" y="3476"/>
                    </a:lnTo>
                    <a:lnTo>
                      <a:pt x="2754" y="3467"/>
                    </a:lnTo>
                    <a:lnTo>
                      <a:pt x="2732" y="3430"/>
                    </a:lnTo>
                    <a:lnTo>
                      <a:pt x="2710" y="3397"/>
                    </a:lnTo>
                    <a:lnTo>
                      <a:pt x="2686" y="3365"/>
                    </a:lnTo>
                    <a:lnTo>
                      <a:pt x="2662" y="3332"/>
                    </a:lnTo>
                    <a:lnTo>
                      <a:pt x="2637" y="3302"/>
                    </a:lnTo>
                    <a:lnTo>
                      <a:pt x="2607" y="3270"/>
                    </a:lnTo>
                    <a:lnTo>
                      <a:pt x="2577" y="3237"/>
                    </a:lnTo>
                    <a:lnTo>
                      <a:pt x="2542" y="3205"/>
                    </a:lnTo>
                    <a:lnTo>
                      <a:pt x="2509" y="3141"/>
                    </a:lnTo>
                    <a:lnTo>
                      <a:pt x="2468" y="3082"/>
                    </a:lnTo>
                    <a:lnTo>
                      <a:pt x="2427" y="3023"/>
                    </a:lnTo>
                    <a:lnTo>
                      <a:pt x="2385" y="2963"/>
                    </a:lnTo>
                    <a:lnTo>
                      <a:pt x="2341" y="2903"/>
                    </a:lnTo>
                    <a:lnTo>
                      <a:pt x="2302" y="2843"/>
                    </a:lnTo>
                    <a:lnTo>
                      <a:pt x="2270" y="2778"/>
                    </a:lnTo>
                    <a:lnTo>
                      <a:pt x="2246" y="2713"/>
                    </a:lnTo>
                    <a:lnTo>
                      <a:pt x="2256" y="2702"/>
                    </a:lnTo>
                    <a:lnTo>
                      <a:pt x="2267" y="2697"/>
                    </a:lnTo>
                    <a:lnTo>
                      <a:pt x="2279" y="2697"/>
                    </a:lnTo>
                    <a:lnTo>
                      <a:pt x="2292" y="2697"/>
                    </a:lnTo>
                    <a:lnTo>
                      <a:pt x="2341" y="2780"/>
                    </a:lnTo>
                    <a:lnTo>
                      <a:pt x="2392" y="2865"/>
                    </a:lnTo>
                    <a:lnTo>
                      <a:pt x="2447" y="2946"/>
                    </a:lnTo>
                    <a:lnTo>
                      <a:pt x="2503" y="3028"/>
                    </a:lnTo>
                    <a:lnTo>
                      <a:pt x="2566" y="3106"/>
                    </a:lnTo>
                    <a:lnTo>
                      <a:pt x="2628" y="3185"/>
                    </a:lnTo>
                    <a:lnTo>
                      <a:pt x="2692" y="3264"/>
                    </a:lnTo>
                    <a:lnTo>
                      <a:pt x="2757" y="3340"/>
                    </a:lnTo>
                    <a:lnTo>
                      <a:pt x="2822" y="3418"/>
                    </a:lnTo>
                    <a:lnTo>
                      <a:pt x="2886" y="3495"/>
                    </a:lnTo>
                    <a:lnTo>
                      <a:pt x="2955" y="3573"/>
                    </a:lnTo>
                    <a:lnTo>
                      <a:pt x="3020" y="3649"/>
                    </a:lnTo>
                    <a:lnTo>
                      <a:pt x="3082" y="3728"/>
                    </a:lnTo>
                    <a:lnTo>
                      <a:pt x="3147" y="3804"/>
                    </a:lnTo>
                    <a:lnTo>
                      <a:pt x="3207" y="3885"/>
                    </a:lnTo>
                    <a:lnTo>
                      <a:pt x="3267" y="3965"/>
                    </a:lnTo>
                    <a:lnTo>
                      <a:pt x="3302" y="3968"/>
                    </a:lnTo>
                    <a:lnTo>
                      <a:pt x="3337" y="3968"/>
                    </a:lnTo>
                    <a:lnTo>
                      <a:pt x="3371" y="3968"/>
                    </a:lnTo>
                    <a:lnTo>
                      <a:pt x="3406" y="3961"/>
                    </a:lnTo>
                    <a:lnTo>
                      <a:pt x="3438" y="3954"/>
                    </a:lnTo>
                    <a:lnTo>
                      <a:pt x="3471" y="3945"/>
                    </a:lnTo>
                    <a:lnTo>
                      <a:pt x="3503" y="3938"/>
                    </a:lnTo>
                    <a:lnTo>
                      <a:pt x="3535" y="3926"/>
                    </a:lnTo>
                    <a:lnTo>
                      <a:pt x="3568" y="3915"/>
                    </a:lnTo>
                    <a:lnTo>
                      <a:pt x="3600" y="3905"/>
                    </a:lnTo>
                    <a:lnTo>
                      <a:pt x="3634" y="3894"/>
                    </a:lnTo>
                    <a:lnTo>
                      <a:pt x="3666" y="3883"/>
                    </a:lnTo>
                    <a:lnTo>
                      <a:pt x="3701" y="3875"/>
                    </a:lnTo>
                    <a:lnTo>
                      <a:pt x="3734" y="3867"/>
                    </a:lnTo>
                    <a:lnTo>
                      <a:pt x="3769" y="3861"/>
                    </a:lnTo>
                    <a:lnTo>
                      <a:pt x="3805" y="3855"/>
                    </a:lnTo>
                    <a:lnTo>
                      <a:pt x="4456" y="3704"/>
                    </a:lnTo>
                    <a:lnTo>
                      <a:pt x="4397" y="3764"/>
                    </a:lnTo>
                    <a:lnTo>
                      <a:pt x="3343" y="4035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09" name="任意多边形 181408"/>
              <p:cNvSpPr/>
              <p:nvPr/>
            </p:nvSpPr>
            <p:spPr>
              <a:xfrm>
                <a:off x="4204" y="3793"/>
                <a:ext cx="309" cy="179"/>
              </a:xfrm>
              <a:custGeom>
                <a:avLst/>
                <a:gdLst/>
                <a:ahLst/>
                <a:cxnLst/>
                <a:pathLst>
                  <a:path w="1235" h="717">
                    <a:moveTo>
                      <a:pt x="876" y="709"/>
                    </a:moveTo>
                    <a:lnTo>
                      <a:pt x="860" y="709"/>
                    </a:lnTo>
                    <a:lnTo>
                      <a:pt x="843" y="709"/>
                    </a:lnTo>
                    <a:lnTo>
                      <a:pt x="827" y="707"/>
                    </a:lnTo>
                    <a:lnTo>
                      <a:pt x="816" y="693"/>
                    </a:lnTo>
                    <a:lnTo>
                      <a:pt x="816" y="679"/>
                    </a:lnTo>
                    <a:lnTo>
                      <a:pt x="855" y="666"/>
                    </a:lnTo>
                    <a:lnTo>
                      <a:pt x="892" y="655"/>
                    </a:lnTo>
                    <a:lnTo>
                      <a:pt x="933" y="647"/>
                    </a:lnTo>
                    <a:lnTo>
                      <a:pt x="974" y="638"/>
                    </a:lnTo>
                    <a:lnTo>
                      <a:pt x="1012" y="627"/>
                    </a:lnTo>
                    <a:lnTo>
                      <a:pt x="1050" y="617"/>
                    </a:lnTo>
                    <a:lnTo>
                      <a:pt x="1085" y="603"/>
                    </a:lnTo>
                    <a:lnTo>
                      <a:pt x="1120" y="584"/>
                    </a:lnTo>
                    <a:lnTo>
                      <a:pt x="1102" y="548"/>
                    </a:lnTo>
                    <a:lnTo>
                      <a:pt x="1077" y="516"/>
                    </a:lnTo>
                    <a:lnTo>
                      <a:pt x="1056" y="483"/>
                    </a:lnTo>
                    <a:lnTo>
                      <a:pt x="1028" y="451"/>
                    </a:lnTo>
                    <a:lnTo>
                      <a:pt x="1004" y="421"/>
                    </a:lnTo>
                    <a:lnTo>
                      <a:pt x="977" y="389"/>
                    </a:lnTo>
                    <a:lnTo>
                      <a:pt x="947" y="359"/>
                    </a:lnTo>
                    <a:lnTo>
                      <a:pt x="917" y="329"/>
                    </a:lnTo>
                    <a:lnTo>
                      <a:pt x="887" y="299"/>
                    </a:lnTo>
                    <a:lnTo>
                      <a:pt x="857" y="269"/>
                    </a:lnTo>
                    <a:lnTo>
                      <a:pt x="827" y="236"/>
                    </a:lnTo>
                    <a:lnTo>
                      <a:pt x="797" y="206"/>
                    </a:lnTo>
                    <a:lnTo>
                      <a:pt x="767" y="176"/>
                    </a:lnTo>
                    <a:lnTo>
                      <a:pt x="737" y="148"/>
                    </a:lnTo>
                    <a:lnTo>
                      <a:pt x="707" y="118"/>
                    </a:lnTo>
                    <a:lnTo>
                      <a:pt x="681" y="84"/>
                    </a:lnTo>
                    <a:lnTo>
                      <a:pt x="640" y="90"/>
                    </a:lnTo>
                    <a:lnTo>
                      <a:pt x="596" y="95"/>
                    </a:lnTo>
                    <a:lnTo>
                      <a:pt x="556" y="104"/>
                    </a:lnTo>
                    <a:lnTo>
                      <a:pt x="515" y="114"/>
                    </a:lnTo>
                    <a:lnTo>
                      <a:pt x="478" y="123"/>
                    </a:lnTo>
                    <a:lnTo>
                      <a:pt x="436" y="134"/>
                    </a:lnTo>
                    <a:lnTo>
                      <a:pt x="398" y="148"/>
                    </a:lnTo>
                    <a:lnTo>
                      <a:pt x="360" y="158"/>
                    </a:lnTo>
                    <a:lnTo>
                      <a:pt x="319" y="171"/>
                    </a:lnTo>
                    <a:lnTo>
                      <a:pt x="282" y="188"/>
                    </a:lnTo>
                    <a:lnTo>
                      <a:pt x="243" y="201"/>
                    </a:lnTo>
                    <a:lnTo>
                      <a:pt x="206" y="218"/>
                    </a:lnTo>
                    <a:lnTo>
                      <a:pt x="171" y="231"/>
                    </a:lnTo>
                    <a:lnTo>
                      <a:pt x="132" y="247"/>
                    </a:lnTo>
                    <a:lnTo>
                      <a:pt x="94" y="264"/>
                    </a:lnTo>
                    <a:lnTo>
                      <a:pt x="56" y="280"/>
                    </a:lnTo>
                    <a:lnTo>
                      <a:pt x="382" y="687"/>
                    </a:lnTo>
                    <a:lnTo>
                      <a:pt x="342" y="717"/>
                    </a:lnTo>
                    <a:lnTo>
                      <a:pt x="293" y="668"/>
                    </a:lnTo>
                    <a:lnTo>
                      <a:pt x="241" y="617"/>
                    </a:lnTo>
                    <a:lnTo>
                      <a:pt x="187" y="562"/>
                    </a:lnTo>
                    <a:lnTo>
                      <a:pt x="132" y="502"/>
                    </a:lnTo>
                    <a:lnTo>
                      <a:pt x="83" y="443"/>
                    </a:lnTo>
                    <a:lnTo>
                      <a:pt x="42" y="381"/>
                    </a:lnTo>
                    <a:lnTo>
                      <a:pt x="12" y="315"/>
                    </a:lnTo>
                    <a:lnTo>
                      <a:pt x="0" y="250"/>
                    </a:lnTo>
                    <a:lnTo>
                      <a:pt x="42" y="229"/>
                    </a:lnTo>
                    <a:lnTo>
                      <a:pt x="86" y="210"/>
                    </a:lnTo>
                    <a:lnTo>
                      <a:pt x="129" y="190"/>
                    </a:lnTo>
                    <a:lnTo>
                      <a:pt x="173" y="174"/>
                    </a:lnTo>
                    <a:lnTo>
                      <a:pt x="219" y="158"/>
                    </a:lnTo>
                    <a:lnTo>
                      <a:pt x="263" y="139"/>
                    </a:lnTo>
                    <a:lnTo>
                      <a:pt x="309" y="125"/>
                    </a:lnTo>
                    <a:lnTo>
                      <a:pt x="355" y="109"/>
                    </a:lnTo>
                    <a:lnTo>
                      <a:pt x="401" y="95"/>
                    </a:lnTo>
                    <a:lnTo>
                      <a:pt x="448" y="79"/>
                    </a:lnTo>
                    <a:lnTo>
                      <a:pt x="494" y="65"/>
                    </a:lnTo>
                    <a:lnTo>
                      <a:pt x="540" y="52"/>
                    </a:lnTo>
                    <a:lnTo>
                      <a:pt x="586" y="38"/>
                    </a:lnTo>
                    <a:lnTo>
                      <a:pt x="631" y="25"/>
                    </a:lnTo>
                    <a:lnTo>
                      <a:pt x="679" y="14"/>
                    </a:lnTo>
                    <a:lnTo>
                      <a:pt x="725" y="0"/>
                    </a:lnTo>
                    <a:lnTo>
                      <a:pt x="751" y="41"/>
                    </a:lnTo>
                    <a:lnTo>
                      <a:pt x="781" y="79"/>
                    </a:lnTo>
                    <a:lnTo>
                      <a:pt x="813" y="120"/>
                    </a:lnTo>
                    <a:lnTo>
                      <a:pt x="850" y="158"/>
                    </a:lnTo>
                    <a:lnTo>
                      <a:pt x="885" y="193"/>
                    </a:lnTo>
                    <a:lnTo>
                      <a:pt x="920" y="231"/>
                    </a:lnTo>
                    <a:lnTo>
                      <a:pt x="955" y="266"/>
                    </a:lnTo>
                    <a:lnTo>
                      <a:pt x="993" y="301"/>
                    </a:lnTo>
                    <a:lnTo>
                      <a:pt x="1028" y="340"/>
                    </a:lnTo>
                    <a:lnTo>
                      <a:pt x="1063" y="375"/>
                    </a:lnTo>
                    <a:lnTo>
                      <a:pt x="1097" y="413"/>
                    </a:lnTo>
                    <a:lnTo>
                      <a:pt x="1129" y="451"/>
                    </a:lnTo>
                    <a:lnTo>
                      <a:pt x="1159" y="490"/>
                    </a:lnTo>
                    <a:lnTo>
                      <a:pt x="1189" y="530"/>
                    </a:lnTo>
                    <a:lnTo>
                      <a:pt x="1213" y="571"/>
                    </a:lnTo>
                    <a:lnTo>
                      <a:pt x="1235" y="611"/>
                    </a:lnTo>
                    <a:lnTo>
                      <a:pt x="1194" y="636"/>
                    </a:lnTo>
                    <a:lnTo>
                      <a:pt x="1150" y="649"/>
                    </a:lnTo>
                    <a:lnTo>
                      <a:pt x="1104" y="657"/>
                    </a:lnTo>
                    <a:lnTo>
                      <a:pt x="1056" y="663"/>
                    </a:lnTo>
                    <a:lnTo>
                      <a:pt x="1007" y="666"/>
                    </a:lnTo>
                    <a:lnTo>
                      <a:pt x="961" y="673"/>
                    </a:lnTo>
                    <a:lnTo>
                      <a:pt x="917" y="687"/>
                    </a:lnTo>
                    <a:lnTo>
                      <a:pt x="876" y="709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0" name="任意多边形 181409"/>
              <p:cNvSpPr/>
              <p:nvPr/>
            </p:nvSpPr>
            <p:spPr>
              <a:xfrm>
                <a:off x="4392" y="3992"/>
                <a:ext cx="74" cy="75"/>
              </a:xfrm>
              <a:custGeom>
                <a:avLst/>
                <a:gdLst/>
                <a:ahLst/>
                <a:cxnLst/>
                <a:pathLst>
                  <a:path w="298" h="304">
                    <a:moveTo>
                      <a:pt x="298" y="103"/>
                    </a:moveTo>
                    <a:lnTo>
                      <a:pt x="265" y="101"/>
                    </a:lnTo>
                    <a:lnTo>
                      <a:pt x="233" y="94"/>
                    </a:lnTo>
                    <a:lnTo>
                      <a:pt x="198" y="84"/>
                    </a:lnTo>
                    <a:lnTo>
                      <a:pt x="165" y="76"/>
                    </a:lnTo>
                    <a:lnTo>
                      <a:pt x="133" y="71"/>
                    </a:lnTo>
                    <a:lnTo>
                      <a:pt x="106" y="76"/>
                    </a:lnTo>
                    <a:lnTo>
                      <a:pt x="81" y="94"/>
                    </a:lnTo>
                    <a:lnTo>
                      <a:pt x="64" y="131"/>
                    </a:lnTo>
                    <a:lnTo>
                      <a:pt x="64" y="152"/>
                    </a:lnTo>
                    <a:lnTo>
                      <a:pt x="73" y="173"/>
                    </a:lnTo>
                    <a:lnTo>
                      <a:pt x="81" y="193"/>
                    </a:lnTo>
                    <a:lnTo>
                      <a:pt x="94" y="212"/>
                    </a:lnTo>
                    <a:lnTo>
                      <a:pt x="108" y="225"/>
                    </a:lnTo>
                    <a:lnTo>
                      <a:pt x="124" y="239"/>
                    </a:lnTo>
                    <a:lnTo>
                      <a:pt x="143" y="253"/>
                    </a:lnTo>
                    <a:lnTo>
                      <a:pt x="163" y="260"/>
                    </a:lnTo>
                    <a:lnTo>
                      <a:pt x="179" y="260"/>
                    </a:lnTo>
                    <a:lnTo>
                      <a:pt x="179" y="290"/>
                    </a:lnTo>
                    <a:lnTo>
                      <a:pt x="152" y="302"/>
                    </a:lnTo>
                    <a:lnTo>
                      <a:pt x="127" y="304"/>
                    </a:lnTo>
                    <a:lnTo>
                      <a:pt x="101" y="302"/>
                    </a:lnTo>
                    <a:lnTo>
                      <a:pt x="76" y="293"/>
                    </a:lnTo>
                    <a:lnTo>
                      <a:pt x="54" y="279"/>
                    </a:lnTo>
                    <a:lnTo>
                      <a:pt x="35" y="260"/>
                    </a:lnTo>
                    <a:lnTo>
                      <a:pt x="18" y="239"/>
                    </a:lnTo>
                    <a:lnTo>
                      <a:pt x="5" y="217"/>
                    </a:lnTo>
                    <a:lnTo>
                      <a:pt x="0" y="179"/>
                    </a:lnTo>
                    <a:lnTo>
                      <a:pt x="2" y="141"/>
                    </a:lnTo>
                    <a:lnTo>
                      <a:pt x="11" y="106"/>
                    </a:lnTo>
                    <a:lnTo>
                      <a:pt x="27" y="73"/>
                    </a:lnTo>
                    <a:lnTo>
                      <a:pt x="48" y="46"/>
                    </a:lnTo>
                    <a:lnTo>
                      <a:pt x="76" y="24"/>
                    </a:lnTo>
                    <a:lnTo>
                      <a:pt x="106" y="8"/>
                    </a:lnTo>
                    <a:lnTo>
                      <a:pt x="141" y="0"/>
                    </a:lnTo>
                    <a:lnTo>
                      <a:pt x="163" y="11"/>
                    </a:lnTo>
                    <a:lnTo>
                      <a:pt x="187" y="16"/>
                    </a:lnTo>
                    <a:lnTo>
                      <a:pt x="212" y="24"/>
                    </a:lnTo>
                    <a:lnTo>
                      <a:pt x="235" y="30"/>
                    </a:lnTo>
                    <a:lnTo>
                      <a:pt x="258" y="41"/>
                    </a:lnTo>
                    <a:lnTo>
                      <a:pt x="277" y="54"/>
                    </a:lnTo>
                    <a:lnTo>
                      <a:pt x="290" y="76"/>
                    </a:lnTo>
                    <a:lnTo>
                      <a:pt x="298" y="103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1" name="任意多边形 181410"/>
              <p:cNvSpPr/>
              <p:nvPr/>
            </p:nvSpPr>
            <p:spPr>
              <a:xfrm>
                <a:off x="4059" y="3614"/>
                <a:ext cx="284" cy="172"/>
              </a:xfrm>
              <a:custGeom>
                <a:avLst/>
                <a:gdLst/>
                <a:ahLst/>
                <a:cxnLst/>
                <a:pathLst>
                  <a:path w="1138" h="687">
                    <a:moveTo>
                      <a:pt x="934" y="552"/>
                    </a:moveTo>
                    <a:lnTo>
                      <a:pt x="931" y="525"/>
                    </a:lnTo>
                    <a:lnTo>
                      <a:pt x="940" y="502"/>
                    </a:lnTo>
                    <a:lnTo>
                      <a:pt x="956" y="490"/>
                    </a:lnTo>
                    <a:lnTo>
                      <a:pt x="975" y="478"/>
                    </a:lnTo>
                    <a:lnTo>
                      <a:pt x="996" y="470"/>
                    </a:lnTo>
                    <a:lnTo>
                      <a:pt x="1018" y="460"/>
                    </a:lnTo>
                    <a:lnTo>
                      <a:pt x="1037" y="443"/>
                    </a:lnTo>
                    <a:lnTo>
                      <a:pt x="1051" y="424"/>
                    </a:lnTo>
                    <a:lnTo>
                      <a:pt x="709" y="74"/>
                    </a:lnTo>
                    <a:lnTo>
                      <a:pt x="670" y="79"/>
                    </a:lnTo>
                    <a:lnTo>
                      <a:pt x="630" y="88"/>
                    </a:lnTo>
                    <a:lnTo>
                      <a:pt x="592" y="95"/>
                    </a:lnTo>
                    <a:lnTo>
                      <a:pt x="554" y="104"/>
                    </a:lnTo>
                    <a:lnTo>
                      <a:pt x="513" y="111"/>
                    </a:lnTo>
                    <a:lnTo>
                      <a:pt x="476" y="120"/>
                    </a:lnTo>
                    <a:lnTo>
                      <a:pt x="437" y="128"/>
                    </a:lnTo>
                    <a:lnTo>
                      <a:pt x="399" y="139"/>
                    </a:lnTo>
                    <a:lnTo>
                      <a:pt x="361" y="150"/>
                    </a:lnTo>
                    <a:lnTo>
                      <a:pt x="323" y="160"/>
                    </a:lnTo>
                    <a:lnTo>
                      <a:pt x="288" y="171"/>
                    </a:lnTo>
                    <a:lnTo>
                      <a:pt x="250" y="185"/>
                    </a:lnTo>
                    <a:lnTo>
                      <a:pt x="212" y="199"/>
                    </a:lnTo>
                    <a:lnTo>
                      <a:pt x="176" y="212"/>
                    </a:lnTo>
                    <a:lnTo>
                      <a:pt x="139" y="226"/>
                    </a:lnTo>
                    <a:lnTo>
                      <a:pt x="104" y="239"/>
                    </a:lnTo>
                    <a:lnTo>
                      <a:pt x="413" y="647"/>
                    </a:lnTo>
                    <a:lnTo>
                      <a:pt x="367" y="687"/>
                    </a:lnTo>
                    <a:lnTo>
                      <a:pt x="317" y="638"/>
                    </a:lnTo>
                    <a:lnTo>
                      <a:pt x="271" y="584"/>
                    </a:lnTo>
                    <a:lnTo>
                      <a:pt x="231" y="527"/>
                    </a:lnTo>
                    <a:lnTo>
                      <a:pt x="192" y="470"/>
                    </a:lnTo>
                    <a:lnTo>
                      <a:pt x="152" y="413"/>
                    </a:lnTo>
                    <a:lnTo>
                      <a:pt x="109" y="356"/>
                    </a:lnTo>
                    <a:lnTo>
                      <a:pt x="57" y="301"/>
                    </a:lnTo>
                    <a:lnTo>
                      <a:pt x="0" y="250"/>
                    </a:lnTo>
                    <a:lnTo>
                      <a:pt x="3" y="220"/>
                    </a:lnTo>
                    <a:lnTo>
                      <a:pt x="14" y="204"/>
                    </a:lnTo>
                    <a:lnTo>
                      <a:pt x="30" y="199"/>
                    </a:lnTo>
                    <a:lnTo>
                      <a:pt x="49" y="196"/>
                    </a:lnTo>
                    <a:lnTo>
                      <a:pt x="65" y="196"/>
                    </a:lnTo>
                    <a:lnTo>
                      <a:pt x="81" y="193"/>
                    </a:lnTo>
                    <a:lnTo>
                      <a:pt x="95" y="180"/>
                    </a:lnTo>
                    <a:lnTo>
                      <a:pt x="104" y="153"/>
                    </a:lnTo>
                    <a:lnTo>
                      <a:pt x="144" y="141"/>
                    </a:lnTo>
                    <a:lnTo>
                      <a:pt x="185" y="134"/>
                    </a:lnTo>
                    <a:lnTo>
                      <a:pt x="222" y="123"/>
                    </a:lnTo>
                    <a:lnTo>
                      <a:pt x="263" y="111"/>
                    </a:lnTo>
                    <a:lnTo>
                      <a:pt x="305" y="100"/>
                    </a:lnTo>
                    <a:lnTo>
                      <a:pt x="342" y="90"/>
                    </a:lnTo>
                    <a:lnTo>
                      <a:pt x="383" y="79"/>
                    </a:lnTo>
                    <a:lnTo>
                      <a:pt x="423" y="68"/>
                    </a:lnTo>
                    <a:lnTo>
                      <a:pt x="464" y="58"/>
                    </a:lnTo>
                    <a:lnTo>
                      <a:pt x="505" y="49"/>
                    </a:lnTo>
                    <a:lnTo>
                      <a:pt x="546" y="38"/>
                    </a:lnTo>
                    <a:lnTo>
                      <a:pt x="587" y="30"/>
                    </a:lnTo>
                    <a:lnTo>
                      <a:pt x="628" y="22"/>
                    </a:lnTo>
                    <a:lnTo>
                      <a:pt x="668" y="14"/>
                    </a:lnTo>
                    <a:lnTo>
                      <a:pt x="711" y="5"/>
                    </a:lnTo>
                    <a:lnTo>
                      <a:pt x="753" y="0"/>
                    </a:lnTo>
                    <a:lnTo>
                      <a:pt x="1138" y="424"/>
                    </a:lnTo>
                    <a:lnTo>
                      <a:pt x="1118" y="451"/>
                    </a:lnTo>
                    <a:lnTo>
                      <a:pt x="1097" y="476"/>
                    </a:lnTo>
                    <a:lnTo>
                      <a:pt x="1076" y="495"/>
                    </a:lnTo>
                    <a:lnTo>
                      <a:pt x="1048" y="511"/>
                    </a:lnTo>
                    <a:lnTo>
                      <a:pt x="1021" y="527"/>
                    </a:lnTo>
                    <a:lnTo>
                      <a:pt x="991" y="538"/>
                    </a:lnTo>
                    <a:lnTo>
                      <a:pt x="964" y="546"/>
                    </a:lnTo>
                    <a:lnTo>
                      <a:pt x="934" y="552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2" name="任意多边形 181411"/>
              <p:cNvSpPr/>
              <p:nvPr/>
            </p:nvSpPr>
            <p:spPr>
              <a:xfrm>
                <a:off x="4171" y="3877"/>
                <a:ext cx="96" cy="127"/>
              </a:xfrm>
              <a:custGeom>
                <a:avLst/>
                <a:gdLst/>
                <a:ahLst/>
                <a:cxnLst/>
                <a:pathLst>
                  <a:path w="386" h="507">
                    <a:moveTo>
                      <a:pt x="372" y="507"/>
                    </a:moveTo>
                    <a:lnTo>
                      <a:pt x="328" y="507"/>
                    </a:lnTo>
                    <a:lnTo>
                      <a:pt x="291" y="445"/>
                    </a:lnTo>
                    <a:lnTo>
                      <a:pt x="245" y="386"/>
                    </a:lnTo>
                    <a:lnTo>
                      <a:pt x="199" y="329"/>
                    </a:lnTo>
                    <a:lnTo>
                      <a:pt x="150" y="269"/>
                    </a:lnTo>
                    <a:lnTo>
                      <a:pt x="100" y="209"/>
                    </a:lnTo>
                    <a:lnTo>
                      <a:pt x="60" y="146"/>
                    </a:lnTo>
                    <a:lnTo>
                      <a:pt x="25" y="82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70" y="57"/>
                    </a:lnTo>
                    <a:lnTo>
                      <a:pt x="122" y="117"/>
                    </a:lnTo>
                    <a:lnTo>
                      <a:pt x="171" y="176"/>
                    </a:lnTo>
                    <a:lnTo>
                      <a:pt x="220" y="236"/>
                    </a:lnTo>
                    <a:lnTo>
                      <a:pt x="266" y="299"/>
                    </a:lnTo>
                    <a:lnTo>
                      <a:pt x="310" y="364"/>
                    </a:lnTo>
                    <a:lnTo>
                      <a:pt x="351" y="429"/>
                    </a:lnTo>
                    <a:lnTo>
                      <a:pt x="386" y="497"/>
                    </a:lnTo>
                    <a:lnTo>
                      <a:pt x="372" y="507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3" name="任意多边形 181412"/>
              <p:cNvSpPr/>
              <p:nvPr/>
            </p:nvSpPr>
            <p:spPr>
              <a:xfrm>
                <a:off x="4176" y="3769"/>
                <a:ext cx="55" cy="21"/>
              </a:xfrm>
              <a:custGeom>
                <a:avLst/>
                <a:gdLst/>
                <a:ahLst/>
                <a:cxnLst/>
                <a:pathLst>
                  <a:path w="220" h="84">
                    <a:moveTo>
                      <a:pt x="0" y="84"/>
                    </a:moveTo>
                    <a:lnTo>
                      <a:pt x="19" y="60"/>
                    </a:lnTo>
                    <a:lnTo>
                      <a:pt x="44" y="38"/>
                    </a:lnTo>
                    <a:lnTo>
                      <a:pt x="71" y="24"/>
                    </a:lnTo>
                    <a:lnTo>
                      <a:pt x="103" y="14"/>
                    </a:lnTo>
                    <a:lnTo>
                      <a:pt x="133" y="6"/>
                    </a:lnTo>
                    <a:lnTo>
                      <a:pt x="163" y="3"/>
                    </a:lnTo>
                    <a:lnTo>
                      <a:pt x="193" y="0"/>
                    </a:lnTo>
                    <a:lnTo>
                      <a:pt x="220" y="0"/>
                    </a:lnTo>
                    <a:lnTo>
                      <a:pt x="203" y="28"/>
                    </a:lnTo>
                    <a:lnTo>
                      <a:pt x="180" y="47"/>
                    </a:lnTo>
                    <a:lnTo>
                      <a:pt x="152" y="60"/>
                    </a:lnTo>
                    <a:lnTo>
                      <a:pt x="122" y="65"/>
                    </a:lnTo>
                    <a:lnTo>
                      <a:pt x="92" y="70"/>
                    </a:lnTo>
                    <a:lnTo>
                      <a:pt x="60" y="74"/>
                    </a:lnTo>
                    <a:lnTo>
                      <a:pt x="30" y="79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4" name="任意多边形 181413"/>
              <p:cNvSpPr/>
              <p:nvPr/>
            </p:nvSpPr>
            <p:spPr>
              <a:xfrm>
                <a:off x="4145" y="4003"/>
                <a:ext cx="65" cy="40"/>
              </a:xfrm>
              <a:custGeom>
                <a:avLst/>
                <a:gdLst/>
                <a:ahLst/>
                <a:cxnLst/>
                <a:pathLst>
                  <a:path w="258" h="161">
                    <a:moveTo>
                      <a:pt x="11" y="73"/>
                    </a:moveTo>
                    <a:lnTo>
                      <a:pt x="0" y="57"/>
                    </a:lnTo>
                    <a:lnTo>
                      <a:pt x="16" y="48"/>
                    </a:lnTo>
                    <a:lnTo>
                      <a:pt x="32" y="43"/>
                    </a:lnTo>
                    <a:lnTo>
                      <a:pt x="52" y="43"/>
                    </a:lnTo>
                    <a:lnTo>
                      <a:pt x="68" y="41"/>
                    </a:lnTo>
                    <a:lnTo>
                      <a:pt x="87" y="38"/>
                    </a:lnTo>
                    <a:lnTo>
                      <a:pt x="103" y="30"/>
                    </a:lnTo>
                    <a:lnTo>
                      <a:pt x="117" y="20"/>
                    </a:lnTo>
                    <a:lnTo>
                      <a:pt x="128" y="0"/>
                    </a:lnTo>
                    <a:lnTo>
                      <a:pt x="258" y="147"/>
                    </a:lnTo>
                    <a:lnTo>
                      <a:pt x="219" y="152"/>
                    </a:lnTo>
                    <a:lnTo>
                      <a:pt x="184" y="155"/>
                    </a:lnTo>
                    <a:lnTo>
                      <a:pt x="147" y="161"/>
                    </a:lnTo>
                    <a:lnTo>
                      <a:pt x="114" y="157"/>
                    </a:lnTo>
                    <a:lnTo>
                      <a:pt x="84" y="152"/>
                    </a:lnTo>
                    <a:lnTo>
                      <a:pt x="54" y="138"/>
                    </a:lnTo>
                    <a:lnTo>
                      <a:pt x="30" y="111"/>
                    </a:lnTo>
                    <a:lnTo>
                      <a:pt x="11" y="73"/>
                    </a:lnTo>
                    <a:close/>
                  </a:path>
                </a:pathLst>
              </a:custGeom>
              <a:solidFill>
                <a:srgbClr val="7FDD14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5" name="任意多边形 181414"/>
              <p:cNvSpPr/>
              <p:nvPr/>
            </p:nvSpPr>
            <p:spPr>
              <a:xfrm>
                <a:off x="3942" y="3454"/>
                <a:ext cx="262" cy="157"/>
              </a:xfrm>
              <a:custGeom>
                <a:avLst/>
                <a:gdLst/>
                <a:ahLst/>
                <a:cxnLst/>
                <a:pathLst>
                  <a:path w="1049" h="625">
                    <a:moveTo>
                      <a:pt x="858" y="519"/>
                    </a:moveTo>
                    <a:lnTo>
                      <a:pt x="850" y="511"/>
                    </a:lnTo>
                    <a:lnTo>
                      <a:pt x="844" y="500"/>
                    </a:lnTo>
                    <a:lnTo>
                      <a:pt x="844" y="486"/>
                    </a:lnTo>
                    <a:lnTo>
                      <a:pt x="844" y="476"/>
                    </a:lnTo>
                    <a:lnTo>
                      <a:pt x="860" y="465"/>
                    </a:lnTo>
                    <a:lnTo>
                      <a:pt x="880" y="454"/>
                    </a:lnTo>
                    <a:lnTo>
                      <a:pt x="896" y="442"/>
                    </a:lnTo>
                    <a:lnTo>
                      <a:pt x="915" y="432"/>
                    </a:lnTo>
                    <a:lnTo>
                      <a:pt x="931" y="421"/>
                    </a:lnTo>
                    <a:lnTo>
                      <a:pt x="948" y="407"/>
                    </a:lnTo>
                    <a:lnTo>
                      <a:pt x="964" y="394"/>
                    </a:lnTo>
                    <a:lnTo>
                      <a:pt x="978" y="377"/>
                    </a:lnTo>
                    <a:lnTo>
                      <a:pt x="689" y="70"/>
                    </a:lnTo>
                    <a:lnTo>
                      <a:pt x="649" y="77"/>
                    </a:lnTo>
                    <a:lnTo>
                      <a:pt x="606" y="82"/>
                    </a:lnTo>
                    <a:lnTo>
                      <a:pt x="564" y="90"/>
                    </a:lnTo>
                    <a:lnTo>
                      <a:pt x="524" y="98"/>
                    </a:lnTo>
                    <a:lnTo>
                      <a:pt x="483" y="106"/>
                    </a:lnTo>
                    <a:lnTo>
                      <a:pt x="442" y="117"/>
                    </a:lnTo>
                    <a:lnTo>
                      <a:pt x="405" y="130"/>
                    </a:lnTo>
                    <a:lnTo>
                      <a:pt x="364" y="141"/>
                    </a:lnTo>
                    <a:lnTo>
                      <a:pt x="326" y="155"/>
                    </a:lnTo>
                    <a:lnTo>
                      <a:pt x="285" y="169"/>
                    </a:lnTo>
                    <a:lnTo>
                      <a:pt x="247" y="185"/>
                    </a:lnTo>
                    <a:lnTo>
                      <a:pt x="209" y="199"/>
                    </a:lnTo>
                    <a:lnTo>
                      <a:pt x="171" y="215"/>
                    </a:lnTo>
                    <a:lnTo>
                      <a:pt x="133" y="231"/>
                    </a:lnTo>
                    <a:lnTo>
                      <a:pt x="95" y="248"/>
                    </a:lnTo>
                    <a:lnTo>
                      <a:pt x="57" y="264"/>
                    </a:lnTo>
                    <a:lnTo>
                      <a:pt x="86" y="304"/>
                    </a:lnTo>
                    <a:lnTo>
                      <a:pt x="119" y="345"/>
                    </a:lnTo>
                    <a:lnTo>
                      <a:pt x="151" y="384"/>
                    </a:lnTo>
                    <a:lnTo>
                      <a:pt x="185" y="424"/>
                    </a:lnTo>
                    <a:lnTo>
                      <a:pt x="215" y="465"/>
                    </a:lnTo>
                    <a:lnTo>
                      <a:pt x="241" y="508"/>
                    </a:lnTo>
                    <a:lnTo>
                      <a:pt x="266" y="551"/>
                    </a:lnTo>
                    <a:lnTo>
                      <a:pt x="282" y="597"/>
                    </a:lnTo>
                    <a:lnTo>
                      <a:pt x="252" y="625"/>
                    </a:lnTo>
                    <a:lnTo>
                      <a:pt x="217" y="573"/>
                    </a:lnTo>
                    <a:lnTo>
                      <a:pt x="176" y="521"/>
                    </a:lnTo>
                    <a:lnTo>
                      <a:pt x="133" y="470"/>
                    </a:lnTo>
                    <a:lnTo>
                      <a:pt x="89" y="416"/>
                    </a:lnTo>
                    <a:lnTo>
                      <a:pt x="54" y="364"/>
                    </a:lnTo>
                    <a:lnTo>
                      <a:pt x="24" y="310"/>
                    </a:lnTo>
                    <a:lnTo>
                      <a:pt x="5" y="253"/>
                    </a:lnTo>
                    <a:lnTo>
                      <a:pt x="0" y="193"/>
                    </a:lnTo>
                    <a:lnTo>
                      <a:pt x="43" y="183"/>
                    </a:lnTo>
                    <a:lnTo>
                      <a:pt x="89" y="169"/>
                    </a:lnTo>
                    <a:lnTo>
                      <a:pt x="133" y="158"/>
                    </a:lnTo>
                    <a:lnTo>
                      <a:pt x="176" y="144"/>
                    </a:lnTo>
                    <a:lnTo>
                      <a:pt x="220" y="128"/>
                    </a:lnTo>
                    <a:lnTo>
                      <a:pt x="264" y="114"/>
                    </a:lnTo>
                    <a:lnTo>
                      <a:pt x="307" y="100"/>
                    </a:lnTo>
                    <a:lnTo>
                      <a:pt x="350" y="88"/>
                    </a:lnTo>
                    <a:lnTo>
                      <a:pt x="393" y="74"/>
                    </a:lnTo>
                    <a:lnTo>
                      <a:pt x="437" y="60"/>
                    </a:lnTo>
                    <a:lnTo>
                      <a:pt x="483" y="47"/>
                    </a:lnTo>
                    <a:lnTo>
                      <a:pt x="527" y="35"/>
                    </a:lnTo>
                    <a:lnTo>
                      <a:pt x="571" y="24"/>
                    </a:lnTo>
                    <a:lnTo>
                      <a:pt x="617" y="14"/>
                    </a:lnTo>
                    <a:lnTo>
                      <a:pt x="659" y="5"/>
                    </a:lnTo>
                    <a:lnTo>
                      <a:pt x="706" y="0"/>
                    </a:lnTo>
                    <a:lnTo>
                      <a:pt x="749" y="49"/>
                    </a:lnTo>
                    <a:lnTo>
                      <a:pt x="795" y="95"/>
                    </a:lnTo>
                    <a:lnTo>
                      <a:pt x="848" y="144"/>
                    </a:lnTo>
                    <a:lnTo>
                      <a:pt x="899" y="190"/>
                    </a:lnTo>
                    <a:lnTo>
                      <a:pt x="945" y="241"/>
                    </a:lnTo>
                    <a:lnTo>
                      <a:pt x="989" y="294"/>
                    </a:lnTo>
                    <a:lnTo>
                      <a:pt x="1024" y="348"/>
                    </a:lnTo>
                    <a:lnTo>
                      <a:pt x="1049" y="405"/>
                    </a:lnTo>
                    <a:lnTo>
                      <a:pt x="1029" y="430"/>
                    </a:lnTo>
                    <a:lnTo>
                      <a:pt x="1007" y="448"/>
                    </a:lnTo>
                    <a:lnTo>
                      <a:pt x="983" y="465"/>
                    </a:lnTo>
                    <a:lnTo>
                      <a:pt x="961" y="481"/>
                    </a:lnTo>
                    <a:lnTo>
                      <a:pt x="936" y="492"/>
                    </a:lnTo>
                    <a:lnTo>
                      <a:pt x="910" y="502"/>
                    </a:lnTo>
                    <a:lnTo>
                      <a:pt x="885" y="511"/>
                    </a:lnTo>
                    <a:lnTo>
                      <a:pt x="858" y="519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6" name="任意多边形 181415"/>
              <p:cNvSpPr/>
              <p:nvPr/>
            </p:nvSpPr>
            <p:spPr>
              <a:xfrm>
                <a:off x="4037" y="3687"/>
                <a:ext cx="113" cy="139"/>
              </a:xfrm>
              <a:custGeom>
                <a:avLst/>
                <a:gdLst/>
                <a:ahLst/>
                <a:cxnLst/>
                <a:pathLst>
                  <a:path w="450" h="556">
                    <a:moveTo>
                      <a:pt x="380" y="554"/>
                    </a:moveTo>
                    <a:lnTo>
                      <a:pt x="342" y="480"/>
                    </a:lnTo>
                    <a:lnTo>
                      <a:pt x="296" y="413"/>
                    </a:lnTo>
                    <a:lnTo>
                      <a:pt x="242" y="347"/>
                    </a:lnTo>
                    <a:lnTo>
                      <a:pt x="187" y="284"/>
                    </a:lnTo>
                    <a:lnTo>
                      <a:pt x="131" y="219"/>
                    </a:lnTo>
                    <a:lnTo>
                      <a:pt x="78" y="154"/>
                    </a:lnTo>
                    <a:lnTo>
                      <a:pt x="32" y="87"/>
                    </a:lnTo>
                    <a:lnTo>
                      <a:pt x="0" y="16"/>
                    </a:lnTo>
                    <a:lnTo>
                      <a:pt x="11" y="2"/>
                    </a:lnTo>
                    <a:lnTo>
                      <a:pt x="27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450" y="524"/>
                    </a:lnTo>
                    <a:lnTo>
                      <a:pt x="440" y="538"/>
                    </a:lnTo>
                    <a:lnTo>
                      <a:pt x="424" y="548"/>
                    </a:lnTo>
                    <a:lnTo>
                      <a:pt x="404" y="556"/>
                    </a:lnTo>
                    <a:lnTo>
                      <a:pt x="380" y="554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7" name="任意多边形 181416"/>
              <p:cNvSpPr/>
              <p:nvPr/>
            </p:nvSpPr>
            <p:spPr>
              <a:xfrm>
                <a:off x="3821" y="3305"/>
                <a:ext cx="267" cy="165"/>
              </a:xfrm>
              <a:custGeom>
                <a:avLst/>
                <a:gdLst/>
                <a:ahLst/>
                <a:cxnLst/>
                <a:pathLst>
                  <a:path w="1067" h="660">
                    <a:moveTo>
                      <a:pt x="791" y="448"/>
                    </a:moveTo>
                    <a:lnTo>
                      <a:pt x="801" y="420"/>
                    </a:lnTo>
                    <a:lnTo>
                      <a:pt x="820" y="401"/>
                    </a:lnTo>
                    <a:lnTo>
                      <a:pt x="842" y="385"/>
                    </a:lnTo>
                    <a:lnTo>
                      <a:pt x="870" y="375"/>
                    </a:lnTo>
                    <a:lnTo>
                      <a:pt x="900" y="366"/>
                    </a:lnTo>
                    <a:lnTo>
                      <a:pt x="926" y="355"/>
                    </a:lnTo>
                    <a:lnTo>
                      <a:pt x="956" y="348"/>
                    </a:lnTo>
                    <a:lnTo>
                      <a:pt x="981" y="334"/>
                    </a:lnTo>
                    <a:lnTo>
                      <a:pt x="954" y="320"/>
                    </a:lnTo>
                    <a:lnTo>
                      <a:pt x="926" y="302"/>
                    </a:lnTo>
                    <a:lnTo>
                      <a:pt x="900" y="277"/>
                    </a:lnTo>
                    <a:lnTo>
                      <a:pt x="875" y="247"/>
                    </a:lnTo>
                    <a:lnTo>
                      <a:pt x="848" y="217"/>
                    </a:lnTo>
                    <a:lnTo>
                      <a:pt x="824" y="184"/>
                    </a:lnTo>
                    <a:lnTo>
                      <a:pt x="799" y="152"/>
                    </a:lnTo>
                    <a:lnTo>
                      <a:pt x="771" y="122"/>
                    </a:lnTo>
                    <a:lnTo>
                      <a:pt x="748" y="94"/>
                    </a:lnTo>
                    <a:lnTo>
                      <a:pt x="720" y="73"/>
                    </a:lnTo>
                    <a:lnTo>
                      <a:pt x="690" y="57"/>
                    </a:lnTo>
                    <a:lnTo>
                      <a:pt x="660" y="49"/>
                    </a:lnTo>
                    <a:lnTo>
                      <a:pt x="628" y="46"/>
                    </a:lnTo>
                    <a:lnTo>
                      <a:pt x="595" y="57"/>
                    </a:lnTo>
                    <a:lnTo>
                      <a:pt x="560" y="78"/>
                    </a:lnTo>
                    <a:lnTo>
                      <a:pt x="522" y="112"/>
                    </a:lnTo>
                    <a:lnTo>
                      <a:pt x="471" y="122"/>
                    </a:lnTo>
                    <a:lnTo>
                      <a:pt x="416" y="133"/>
                    </a:lnTo>
                    <a:lnTo>
                      <a:pt x="364" y="144"/>
                    </a:lnTo>
                    <a:lnTo>
                      <a:pt x="313" y="152"/>
                    </a:lnTo>
                    <a:lnTo>
                      <a:pt x="261" y="166"/>
                    </a:lnTo>
                    <a:lnTo>
                      <a:pt x="212" y="179"/>
                    </a:lnTo>
                    <a:lnTo>
                      <a:pt x="164" y="198"/>
                    </a:lnTo>
                    <a:lnTo>
                      <a:pt x="117" y="223"/>
                    </a:lnTo>
                    <a:lnTo>
                      <a:pt x="155" y="274"/>
                    </a:lnTo>
                    <a:lnTo>
                      <a:pt x="191" y="325"/>
                    </a:lnTo>
                    <a:lnTo>
                      <a:pt x="228" y="378"/>
                    </a:lnTo>
                    <a:lnTo>
                      <a:pt x="263" y="429"/>
                    </a:lnTo>
                    <a:lnTo>
                      <a:pt x="300" y="480"/>
                    </a:lnTo>
                    <a:lnTo>
                      <a:pt x="335" y="530"/>
                    </a:lnTo>
                    <a:lnTo>
                      <a:pt x="372" y="581"/>
                    </a:lnTo>
                    <a:lnTo>
                      <a:pt x="413" y="630"/>
                    </a:lnTo>
                    <a:lnTo>
                      <a:pt x="408" y="635"/>
                    </a:lnTo>
                    <a:lnTo>
                      <a:pt x="402" y="641"/>
                    </a:lnTo>
                    <a:lnTo>
                      <a:pt x="397" y="649"/>
                    </a:lnTo>
                    <a:lnTo>
                      <a:pt x="397" y="660"/>
                    </a:lnTo>
                    <a:lnTo>
                      <a:pt x="356" y="660"/>
                    </a:lnTo>
                    <a:lnTo>
                      <a:pt x="307" y="605"/>
                    </a:lnTo>
                    <a:lnTo>
                      <a:pt x="267" y="549"/>
                    </a:lnTo>
                    <a:lnTo>
                      <a:pt x="226" y="491"/>
                    </a:lnTo>
                    <a:lnTo>
                      <a:pt x="187" y="431"/>
                    </a:lnTo>
                    <a:lnTo>
                      <a:pt x="147" y="375"/>
                    </a:lnTo>
                    <a:lnTo>
                      <a:pt x="104" y="320"/>
                    </a:lnTo>
                    <a:lnTo>
                      <a:pt x="55" y="269"/>
                    </a:lnTo>
                    <a:lnTo>
                      <a:pt x="0" y="223"/>
                    </a:lnTo>
                    <a:lnTo>
                      <a:pt x="0" y="179"/>
                    </a:lnTo>
                    <a:lnTo>
                      <a:pt x="44" y="166"/>
                    </a:lnTo>
                    <a:lnTo>
                      <a:pt x="87" y="149"/>
                    </a:lnTo>
                    <a:lnTo>
                      <a:pt x="134" y="138"/>
                    </a:lnTo>
                    <a:lnTo>
                      <a:pt x="177" y="124"/>
                    </a:lnTo>
                    <a:lnTo>
                      <a:pt x="223" y="114"/>
                    </a:lnTo>
                    <a:lnTo>
                      <a:pt x="267" y="101"/>
                    </a:lnTo>
                    <a:lnTo>
                      <a:pt x="313" y="89"/>
                    </a:lnTo>
                    <a:lnTo>
                      <a:pt x="359" y="82"/>
                    </a:lnTo>
                    <a:lnTo>
                      <a:pt x="406" y="71"/>
                    </a:lnTo>
                    <a:lnTo>
                      <a:pt x="452" y="59"/>
                    </a:lnTo>
                    <a:lnTo>
                      <a:pt x="498" y="52"/>
                    </a:lnTo>
                    <a:lnTo>
                      <a:pt x="544" y="41"/>
                    </a:lnTo>
                    <a:lnTo>
                      <a:pt x="590" y="30"/>
                    </a:lnTo>
                    <a:lnTo>
                      <a:pt x="633" y="22"/>
                    </a:lnTo>
                    <a:lnTo>
                      <a:pt x="679" y="11"/>
                    </a:lnTo>
                    <a:lnTo>
                      <a:pt x="725" y="0"/>
                    </a:lnTo>
                    <a:lnTo>
                      <a:pt x="764" y="46"/>
                    </a:lnTo>
                    <a:lnTo>
                      <a:pt x="810" y="89"/>
                    </a:lnTo>
                    <a:lnTo>
                      <a:pt x="856" y="130"/>
                    </a:lnTo>
                    <a:lnTo>
                      <a:pt x="902" y="174"/>
                    </a:lnTo>
                    <a:lnTo>
                      <a:pt x="949" y="214"/>
                    </a:lnTo>
                    <a:lnTo>
                      <a:pt x="992" y="258"/>
                    </a:lnTo>
                    <a:lnTo>
                      <a:pt x="1032" y="304"/>
                    </a:lnTo>
                    <a:lnTo>
                      <a:pt x="1067" y="350"/>
                    </a:lnTo>
                    <a:lnTo>
                      <a:pt x="1038" y="375"/>
                    </a:lnTo>
                    <a:lnTo>
                      <a:pt x="1008" y="396"/>
                    </a:lnTo>
                    <a:lnTo>
                      <a:pt x="972" y="410"/>
                    </a:lnTo>
                    <a:lnTo>
                      <a:pt x="940" y="424"/>
                    </a:lnTo>
                    <a:lnTo>
                      <a:pt x="905" y="431"/>
                    </a:lnTo>
                    <a:lnTo>
                      <a:pt x="866" y="440"/>
                    </a:lnTo>
                    <a:lnTo>
                      <a:pt x="829" y="445"/>
                    </a:lnTo>
                    <a:lnTo>
                      <a:pt x="791" y="448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8" name="任意多边形 181417"/>
              <p:cNvSpPr/>
              <p:nvPr/>
            </p:nvSpPr>
            <p:spPr>
              <a:xfrm>
                <a:off x="3910" y="3527"/>
                <a:ext cx="85" cy="105"/>
              </a:xfrm>
              <a:custGeom>
                <a:avLst/>
                <a:gdLst/>
                <a:ahLst/>
                <a:cxnLst/>
                <a:pathLst>
                  <a:path w="342" h="421">
                    <a:moveTo>
                      <a:pt x="296" y="421"/>
                    </a:moveTo>
                    <a:lnTo>
                      <a:pt x="250" y="377"/>
                    </a:lnTo>
                    <a:lnTo>
                      <a:pt x="210" y="334"/>
                    </a:lnTo>
                    <a:lnTo>
                      <a:pt x="166" y="287"/>
                    </a:lnTo>
                    <a:lnTo>
                      <a:pt x="129" y="239"/>
                    </a:lnTo>
                    <a:lnTo>
                      <a:pt x="93" y="187"/>
                    </a:lnTo>
                    <a:lnTo>
                      <a:pt x="58" y="135"/>
                    </a:lnTo>
                    <a:lnTo>
                      <a:pt x="28" y="81"/>
                    </a:lnTo>
                    <a:lnTo>
                      <a:pt x="0" y="27"/>
                    </a:lnTo>
                    <a:lnTo>
                      <a:pt x="30" y="0"/>
                    </a:lnTo>
                    <a:lnTo>
                      <a:pt x="69" y="49"/>
                    </a:lnTo>
                    <a:lnTo>
                      <a:pt x="109" y="95"/>
                    </a:lnTo>
                    <a:lnTo>
                      <a:pt x="153" y="144"/>
                    </a:lnTo>
                    <a:lnTo>
                      <a:pt x="199" y="193"/>
                    </a:lnTo>
                    <a:lnTo>
                      <a:pt x="240" y="244"/>
                    </a:lnTo>
                    <a:lnTo>
                      <a:pt x="280" y="299"/>
                    </a:lnTo>
                    <a:lnTo>
                      <a:pt x="316" y="352"/>
                    </a:lnTo>
                    <a:lnTo>
                      <a:pt x="342" y="410"/>
                    </a:lnTo>
                    <a:lnTo>
                      <a:pt x="296" y="421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19" name="任意多边形 181418"/>
              <p:cNvSpPr/>
              <p:nvPr/>
            </p:nvSpPr>
            <p:spPr>
              <a:xfrm>
                <a:off x="3718" y="3159"/>
                <a:ext cx="256" cy="123"/>
              </a:xfrm>
              <a:custGeom>
                <a:avLst/>
                <a:gdLst/>
                <a:ahLst/>
                <a:cxnLst/>
                <a:pathLst>
                  <a:path w="1024" h="489">
                    <a:moveTo>
                      <a:pt x="820" y="421"/>
                    </a:moveTo>
                    <a:lnTo>
                      <a:pt x="763" y="421"/>
                    </a:lnTo>
                    <a:lnTo>
                      <a:pt x="765" y="386"/>
                    </a:lnTo>
                    <a:lnTo>
                      <a:pt x="779" y="370"/>
                    </a:lnTo>
                    <a:lnTo>
                      <a:pt x="800" y="361"/>
                    </a:lnTo>
                    <a:lnTo>
                      <a:pt x="828" y="361"/>
                    </a:lnTo>
                    <a:lnTo>
                      <a:pt x="855" y="364"/>
                    </a:lnTo>
                    <a:lnTo>
                      <a:pt x="883" y="364"/>
                    </a:lnTo>
                    <a:lnTo>
                      <a:pt x="904" y="356"/>
                    </a:lnTo>
                    <a:lnTo>
                      <a:pt x="923" y="336"/>
                    </a:lnTo>
                    <a:lnTo>
                      <a:pt x="665" y="73"/>
                    </a:lnTo>
                    <a:lnTo>
                      <a:pt x="627" y="79"/>
                    </a:lnTo>
                    <a:lnTo>
                      <a:pt x="589" y="87"/>
                    </a:lnTo>
                    <a:lnTo>
                      <a:pt x="551" y="90"/>
                    </a:lnTo>
                    <a:lnTo>
                      <a:pt x="513" y="95"/>
                    </a:lnTo>
                    <a:lnTo>
                      <a:pt x="475" y="98"/>
                    </a:lnTo>
                    <a:lnTo>
                      <a:pt x="437" y="103"/>
                    </a:lnTo>
                    <a:lnTo>
                      <a:pt x="398" y="107"/>
                    </a:lnTo>
                    <a:lnTo>
                      <a:pt x="361" y="112"/>
                    </a:lnTo>
                    <a:lnTo>
                      <a:pt x="323" y="117"/>
                    </a:lnTo>
                    <a:lnTo>
                      <a:pt x="287" y="123"/>
                    </a:lnTo>
                    <a:lnTo>
                      <a:pt x="250" y="128"/>
                    </a:lnTo>
                    <a:lnTo>
                      <a:pt x="215" y="135"/>
                    </a:lnTo>
                    <a:lnTo>
                      <a:pt x="176" y="144"/>
                    </a:lnTo>
                    <a:lnTo>
                      <a:pt x="141" y="155"/>
                    </a:lnTo>
                    <a:lnTo>
                      <a:pt x="109" y="165"/>
                    </a:lnTo>
                    <a:lnTo>
                      <a:pt x="73" y="179"/>
                    </a:lnTo>
                    <a:lnTo>
                      <a:pt x="100" y="223"/>
                    </a:lnTo>
                    <a:lnTo>
                      <a:pt x="135" y="261"/>
                    </a:lnTo>
                    <a:lnTo>
                      <a:pt x="174" y="296"/>
                    </a:lnTo>
                    <a:lnTo>
                      <a:pt x="215" y="329"/>
                    </a:lnTo>
                    <a:lnTo>
                      <a:pt x="250" y="364"/>
                    </a:lnTo>
                    <a:lnTo>
                      <a:pt x="285" y="400"/>
                    </a:lnTo>
                    <a:lnTo>
                      <a:pt x="312" y="440"/>
                    </a:lnTo>
                    <a:lnTo>
                      <a:pt x="328" y="489"/>
                    </a:lnTo>
                    <a:lnTo>
                      <a:pt x="280" y="470"/>
                    </a:lnTo>
                    <a:lnTo>
                      <a:pt x="236" y="442"/>
                    </a:lnTo>
                    <a:lnTo>
                      <a:pt x="195" y="410"/>
                    </a:lnTo>
                    <a:lnTo>
                      <a:pt x="155" y="370"/>
                    </a:lnTo>
                    <a:lnTo>
                      <a:pt x="116" y="329"/>
                    </a:lnTo>
                    <a:lnTo>
                      <a:pt x="79" y="285"/>
                    </a:lnTo>
                    <a:lnTo>
                      <a:pt x="40" y="245"/>
                    </a:lnTo>
                    <a:lnTo>
                      <a:pt x="0" y="209"/>
                    </a:lnTo>
                    <a:lnTo>
                      <a:pt x="3" y="123"/>
                    </a:lnTo>
                    <a:lnTo>
                      <a:pt x="682" y="0"/>
                    </a:lnTo>
                    <a:lnTo>
                      <a:pt x="1024" y="336"/>
                    </a:lnTo>
                    <a:lnTo>
                      <a:pt x="1019" y="366"/>
                    </a:lnTo>
                    <a:lnTo>
                      <a:pt x="999" y="386"/>
                    </a:lnTo>
                    <a:lnTo>
                      <a:pt x="975" y="400"/>
                    </a:lnTo>
                    <a:lnTo>
                      <a:pt x="947" y="405"/>
                    </a:lnTo>
                    <a:lnTo>
                      <a:pt x="912" y="407"/>
                    </a:lnTo>
                    <a:lnTo>
                      <a:pt x="880" y="410"/>
                    </a:lnTo>
                    <a:lnTo>
                      <a:pt x="848" y="413"/>
                    </a:lnTo>
                    <a:lnTo>
                      <a:pt x="820" y="421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0" name="任意多边形 181419"/>
              <p:cNvSpPr/>
              <p:nvPr/>
            </p:nvSpPr>
            <p:spPr>
              <a:xfrm>
                <a:off x="3803" y="3379"/>
                <a:ext cx="86" cy="102"/>
              </a:xfrm>
              <a:custGeom>
                <a:avLst/>
                <a:gdLst/>
                <a:ahLst/>
                <a:cxnLst/>
                <a:pathLst>
                  <a:path w="342" h="410">
                    <a:moveTo>
                      <a:pt x="295" y="410"/>
                    </a:moveTo>
                    <a:lnTo>
                      <a:pt x="0" y="30"/>
                    </a:lnTo>
                    <a:lnTo>
                      <a:pt x="12" y="16"/>
                    </a:lnTo>
                    <a:lnTo>
                      <a:pt x="26" y="6"/>
                    </a:lnTo>
                    <a:lnTo>
                      <a:pt x="40" y="0"/>
                    </a:lnTo>
                    <a:lnTo>
                      <a:pt x="56" y="0"/>
                    </a:lnTo>
                    <a:lnTo>
                      <a:pt x="97" y="46"/>
                    </a:lnTo>
                    <a:lnTo>
                      <a:pt x="138" y="92"/>
                    </a:lnTo>
                    <a:lnTo>
                      <a:pt x="178" y="141"/>
                    </a:lnTo>
                    <a:lnTo>
                      <a:pt x="217" y="187"/>
                    </a:lnTo>
                    <a:lnTo>
                      <a:pt x="252" y="239"/>
                    </a:lnTo>
                    <a:lnTo>
                      <a:pt x="284" y="288"/>
                    </a:lnTo>
                    <a:lnTo>
                      <a:pt x="314" y="339"/>
                    </a:lnTo>
                    <a:lnTo>
                      <a:pt x="342" y="394"/>
                    </a:lnTo>
                    <a:lnTo>
                      <a:pt x="295" y="410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1" name="任意多边形 181420"/>
              <p:cNvSpPr/>
              <p:nvPr/>
            </p:nvSpPr>
            <p:spPr>
              <a:xfrm>
                <a:off x="3622" y="3036"/>
                <a:ext cx="249" cy="107"/>
              </a:xfrm>
              <a:custGeom>
                <a:avLst/>
                <a:gdLst/>
                <a:ahLst/>
                <a:cxnLst/>
                <a:pathLst>
                  <a:path w="994" h="429">
                    <a:moveTo>
                      <a:pt x="690" y="391"/>
                    </a:moveTo>
                    <a:lnTo>
                      <a:pt x="663" y="396"/>
                    </a:lnTo>
                    <a:lnTo>
                      <a:pt x="635" y="400"/>
                    </a:lnTo>
                    <a:lnTo>
                      <a:pt x="608" y="405"/>
                    </a:lnTo>
                    <a:lnTo>
                      <a:pt x="580" y="410"/>
                    </a:lnTo>
                    <a:lnTo>
                      <a:pt x="554" y="413"/>
                    </a:lnTo>
                    <a:lnTo>
                      <a:pt x="529" y="418"/>
                    </a:lnTo>
                    <a:lnTo>
                      <a:pt x="502" y="423"/>
                    </a:lnTo>
                    <a:lnTo>
                      <a:pt x="475" y="429"/>
                    </a:lnTo>
                    <a:lnTo>
                      <a:pt x="472" y="402"/>
                    </a:lnTo>
                    <a:lnTo>
                      <a:pt x="478" y="383"/>
                    </a:lnTo>
                    <a:lnTo>
                      <a:pt x="492" y="372"/>
                    </a:lnTo>
                    <a:lnTo>
                      <a:pt x="510" y="364"/>
                    </a:lnTo>
                    <a:lnTo>
                      <a:pt x="529" y="361"/>
                    </a:lnTo>
                    <a:lnTo>
                      <a:pt x="552" y="356"/>
                    </a:lnTo>
                    <a:lnTo>
                      <a:pt x="573" y="353"/>
                    </a:lnTo>
                    <a:lnTo>
                      <a:pt x="592" y="345"/>
                    </a:lnTo>
                    <a:lnTo>
                      <a:pt x="627" y="340"/>
                    </a:lnTo>
                    <a:lnTo>
                      <a:pt x="660" y="334"/>
                    </a:lnTo>
                    <a:lnTo>
                      <a:pt x="695" y="331"/>
                    </a:lnTo>
                    <a:lnTo>
                      <a:pt x="730" y="326"/>
                    </a:lnTo>
                    <a:lnTo>
                      <a:pt x="765" y="321"/>
                    </a:lnTo>
                    <a:lnTo>
                      <a:pt x="799" y="312"/>
                    </a:lnTo>
                    <a:lnTo>
                      <a:pt x="831" y="305"/>
                    </a:lnTo>
                    <a:lnTo>
                      <a:pt x="864" y="291"/>
                    </a:lnTo>
                    <a:lnTo>
                      <a:pt x="836" y="215"/>
                    </a:lnTo>
                    <a:lnTo>
                      <a:pt x="804" y="155"/>
                    </a:lnTo>
                    <a:lnTo>
                      <a:pt x="765" y="111"/>
                    </a:lnTo>
                    <a:lnTo>
                      <a:pt x="725" y="81"/>
                    </a:lnTo>
                    <a:lnTo>
                      <a:pt x="681" y="63"/>
                    </a:lnTo>
                    <a:lnTo>
                      <a:pt x="633" y="54"/>
                    </a:lnTo>
                    <a:lnTo>
                      <a:pt x="584" y="54"/>
                    </a:lnTo>
                    <a:lnTo>
                      <a:pt x="532" y="63"/>
                    </a:lnTo>
                    <a:lnTo>
                      <a:pt x="478" y="74"/>
                    </a:lnTo>
                    <a:lnTo>
                      <a:pt x="421" y="90"/>
                    </a:lnTo>
                    <a:lnTo>
                      <a:pt x="367" y="109"/>
                    </a:lnTo>
                    <a:lnTo>
                      <a:pt x="312" y="125"/>
                    </a:lnTo>
                    <a:lnTo>
                      <a:pt x="255" y="141"/>
                    </a:lnTo>
                    <a:lnTo>
                      <a:pt x="203" y="155"/>
                    </a:lnTo>
                    <a:lnTo>
                      <a:pt x="150" y="163"/>
                    </a:lnTo>
                    <a:lnTo>
                      <a:pt x="100" y="166"/>
                    </a:lnTo>
                    <a:lnTo>
                      <a:pt x="90" y="192"/>
                    </a:lnTo>
                    <a:lnTo>
                      <a:pt x="92" y="220"/>
                    </a:lnTo>
                    <a:lnTo>
                      <a:pt x="106" y="247"/>
                    </a:lnTo>
                    <a:lnTo>
                      <a:pt x="125" y="275"/>
                    </a:lnTo>
                    <a:lnTo>
                      <a:pt x="150" y="301"/>
                    </a:lnTo>
                    <a:lnTo>
                      <a:pt x="174" y="328"/>
                    </a:lnTo>
                    <a:lnTo>
                      <a:pt x="196" y="358"/>
                    </a:lnTo>
                    <a:lnTo>
                      <a:pt x="215" y="386"/>
                    </a:lnTo>
                    <a:lnTo>
                      <a:pt x="185" y="410"/>
                    </a:lnTo>
                    <a:lnTo>
                      <a:pt x="152" y="383"/>
                    </a:lnTo>
                    <a:lnTo>
                      <a:pt x="120" y="353"/>
                    </a:lnTo>
                    <a:lnTo>
                      <a:pt x="86" y="321"/>
                    </a:lnTo>
                    <a:lnTo>
                      <a:pt x="60" y="285"/>
                    </a:lnTo>
                    <a:lnTo>
                      <a:pt x="32" y="247"/>
                    </a:lnTo>
                    <a:lnTo>
                      <a:pt x="14" y="209"/>
                    </a:lnTo>
                    <a:lnTo>
                      <a:pt x="3" y="171"/>
                    </a:lnTo>
                    <a:lnTo>
                      <a:pt x="0" y="134"/>
                    </a:lnTo>
                    <a:lnTo>
                      <a:pt x="40" y="122"/>
                    </a:lnTo>
                    <a:lnTo>
                      <a:pt x="81" y="111"/>
                    </a:lnTo>
                    <a:lnTo>
                      <a:pt x="122" y="100"/>
                    </a:lnTo>
                    <a:lnTo>
                      <a:pt x="166" y="90"/>
                    </a:lnTo>
                    <a:lnTo>
                      <a:pt x="206" y="79"/>
                    </a:lnTo>
                    <a:lnTo>
                      <a:pt x="250" y="68"/>
                    </a:lnTo>
                    <a:lnTo>
                      <a:pt x="293" y="57"/>
                    </a:lnTo>
                    <a:lnTo>
                      <a:pt x="337" y="49"/>
                    </a:lnTo>
                    <a:lnTo>
                      <a:pt x="380" y="38"/>
                    </a:lnTo>
                    <a:lnTo>
                      <a:pt x="423" y="30"/>
                    </a:lnTo>
                    <a:lnTo>
                      <a:pt x="467" y="24"/>
                    </a:lnTo>
                    <a:lnTo>
                      <a:pt x="510" y="16"/>
                    </a:lnTo>
                    <a:lnTo>
                      <a:pt x="557" y="11"/>
                    </a:lnTo>
                    <a:lnTo>
                      <a:pt x="603" y="5"/>
                    </a:lnTo>
                    <a:lnTo>
                      <a:pt x="649" y="3"/>
                    </a:lnTo>
                    <a:lnTo>
                      <a:pt x="695" y="0"/>
                    </a:lnTo>
                    <a:lnTo>
                      <a:pt x="994" y="321"/>
                    </a:lnTo>
                    <a:lnTo>
                      <a:pt x="964" y="342"/>
                    </a:lnTo>
                    <a:lnTo>
                      <a:pt x="931" y="356"/>
                    </a:lnTo>
                    <a:lnTo>
                      <a:pt x="894" y="367"/>
                    </a:lnTo>
                    <a:lnTo>
                      <a:pt x="852" y="372"/>
                    </a:lnTo>
                    <a:lnTo>
                      <a:pt x="811" y="375"/>
                    </a:lnTo>
                    <a:lnTo>
                      <a:pt x="769" y="377"/>
                    </a:lnTo>
                    <a:lnTo>
                      <a:pt x="728" y="383"/>
                    </a:lnTo>
                    <a:lnTo>
                      <a:pt x="690" y="391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2" name="任意多边形 181421"/>
              <p:cNvSpPr/>
              <p:nvPr/>
            </p:nvSpPr>
            <p:spPr>
              <a:xfrm>
                <a:off x="3697" y="3221"/>
                <a:ext cx="78" cy="92"/>
              </a:xfrm>
              <a:custGeom>
                <a:avLst/>
                <a:gdLst/>
                <a:ahLst/>
                <a:cxnLst/>
                <a:pathLst>
                  <a:path w="312" h="366">
                    <a:moveTo>
                      <a:pt x="0" y="46"/>
                    </a:moveTo>
                    <a:lnTo>
                      <a:pt x="11" y="30"/>
                    </a:lnTo>
                    <a:lnTo>
                      <a:pt x="21" y="10"/>
                    </a:lnTo>
                    <a:lnTo>
                      <a:pt x="35" y="0"/>
                    </a:lnTo>
                    <a:lnTo>
                      <a:pt x="57" y="2"/>
                    </a:lnTo>
                    <a:lnTo>
                      <a:pt x="312" y="325"/>
                    </a:lnTo>
                    <a:lnTo>
                      <a:pt x="272" y="36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3" name="任意多边形 181422"/>
              <p:cNvSpPr/>
              <p:nvPr/>
            </p:nvSpPr>
            <p:spPr>
              <a:xfrm>
                <a:off x="3538" y="3127"/>
                <a:ext cx="169" cy="218"/>
              </a:xfrm>
              <a:custGeom>
                <a:avLst/>
                <a:gdLst/>
                <a:ahLst/>
                <a:cxnLst/>
                <a:pathLst>
                  <a:path w="674" h="874">
                    <a:moveTo>
                      <a:pt x="658" y="874"/>
                    </a:moveTo>
                    <a:lnTo>
                      <a:pt x="614" y="872"/>
                    </a:lnTo>
                    <a:lnTo>
                      <a:pt x="0" y="57"/>
                    </a:lnTo>
                    <a:lnTo>
                      <a:pt x="3" y="41"/>
                    </a:lnTo>
                    <a:lnTo>
                      <a:pt x="0" y="24"/>
                    </a:lnTo>
                    <a:lnTo>
                      <a:pt x="5" y="11"/>
                    </a:lnTo>
                    <a:lnTo>
                      <a:pt x="16" y="0"/>
                    </a:lnTo>
                    <a:lnTo>
                      <a:pt x="62" y="0"/>
                    </a:lnTo>
                    <a:lnTo>
                      <a:pt x="670" y="815"/>
                    </a:lnTo>
                    <a:lnTo>
                      <a:pt x="670" y="828"/>
                    </a:lnTo>
                    <a:lnTo>
                      <a:pt x="674" y="844"/>
                    </a:lnTo>
                    <a:lnTo>
                      <a:pt x="668" y="861"/>
                    </a:lnTo>
                    <a:lnTo>
                      <a:pt x="658" y="874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4" name="任意多边形 181423"/>
              <p:cNvSpPr/>
              <p:nvPr/>
            </p:nvSpPr>
            <p:spPr>
              <a:xfrm>
                <a:off x="3600" y="3091"/>
                <a:ext cx="64" cy="91"/>
              </a:xfrm>
              <a:custGeom>
                <a:avLst/>
                <a:gdLst/>
                <a:ahLst/>
                <a:cxnLst/>
                <a:pathLst>
                  <a:path w="258" h="364">
                    <a:moveTo>
                      <a:pt x="231" y="364"/>
                    </a:moveTo>
                    <a:lnTo>
                      <a:pt x="196" y="334"/>
                    </a:lnTo>
                    <a:lnTo>
                      <a:pt x="164" y="298"/>
                    </a:lnTo>
                    <a:lnTo>
                      <a:pt x="130" y="261"/>
                    </a:lnTo>
                    <a:lnTo>
                      <a:pt x="104" y="222"/>
                    </a:lnTo>
                    <a:lnTo>
                      <a:pt x="76" y="182"/>
                    </a:lnTo>
                    <a:lnTo>
                      <a:pt x="49" y="141"/>
                    </a:lnTo>
                    <a:lnTo>
                      <a:pt x="25" y="101"/>
                    </a:lnTo>
                    <a:lnTo>
                      <a:pt x="0" y="60"/>
                    </a:lnTo>
                    <a:lnTo>
                      <a:pt x="9" y="44"/>
                    </a:lnTo>
                    <a:lnTo>
                      <a:pt x="14" y="27"/>
                    </a:lnTo>
                    <a:lnTo>
                      <a:pt x="21" y="11"/>
                    </a:lnTo>
                    <a:lnTo>
                      <a:pt x="33" y="0"/>
                    </a:lnTo>
                    <a:lnTo>
                      <a:pt x="60" y="44"/>
                    </a:lnTo>
                    <a:lnTo>
                      <a:pt x="90" y="85"/>
                    </a:lnTo>
                    <a:lnTo>
                      <a:pt x="120" y="125"/>
                    </a:lnTo>
                    <a:lnTo>
                      <a:pt x="150" y="168"/>
                    </a:lnTo>
                    <a:lnTo>
                      <a:pt x="180" y="209"/>
                    </a:lnTo>
                    <a:lnTo>
                      <a:pt x="210" y="250"/>
                    </a:lnTo>
                    <a:lnTo>
                      <a:pt x="234" y="293"/>
                    </a:lnTo>
                    <a:lnTo>
                      <a:pt x="258" y="337"/>
                    </a:lnTo>
                    <a:lnTo>
                      <a:pt x="231" y="364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81425" name="任意多边形 181424"/>
              <p:cNvSpPr/>
              <p:nvPr/>
            </p:nvSpPr>
            <p:spPr>
              <a:xfrm>
                <a:off x="3493" y="3030"/>
                <a:ext cx="144" cy="27"/>
              </a:xfrm>
              <a:custGeom>
                <a:avLst/>
                <a:gdLst/>
                <a:ahLst/>
                <a:cxnLst/>
                <a:pathLst>
                  <a:path w="579" h="111">
                    <a:moveTo>
                      <a:pt x="535" y="60"/>
                    </a:moveTo>
                    <a:lnTo>
                      <a:pt x="503" y="63"/>
                    </a:lnTo>
                    <a:lnTo>
                      <a:pt x="468" y="66"/>
                    </a:lnTo>
                    <a:lnTo>
                      <a:pt x="434" y="69"/>
                    </a:lnTo>
                    <a:lnTo>
                      <a:pt x="402" y="71"/>
                    </a:lnTo>
                    <a:lnTo>
                      <a:pt x="367" y="71"/>
                    </a:lnTo>
                    <a:lnTo>
                      <a:pt x="332" y="74"/>
                    </a:lnTo>
                    <a:lnTo>
                      <a:pt x="299" y="76"/>
                    </a:lnTo>
                    <a:lnTo>
                      <a:pt x="263" y="76"/>
                    </a:lnTo>
                    <a:lnTo>
                      <a:pt x="231" y="79"/>
                    </a:lnTo>
                    <a:lnTo>
                      <a:pt x="196" y="82"/>
                    </a:lnTo>
                    <a:lnTo>
                      <a:pt x="163" y="88"/>
                    </a:lnTo>
                    <a:lnTo>
                      <a:pt x="131" y="90"/>
                    </a:lnTo>
                    <a:lnTo>
                      <a:pt x="98" y="95"/>
                    </a:lnTo>
                    <a:lnTo>
                      <a:pt x="65" y="99"/>
                    </a:lnTo>
                    <a:lnTo>
                      <a:pt x="32" y="106"/>
                    </a:lnTo>
                    <a:lnTo>
                      <a:pt x="0" y="111"/>
                    </a:lnTo>
                    <a:lnTo>
                      <a:pt x="0" y="95"/>
                    </a:lnTo>
                    <a:lnTo>
                      <a:pt x="2" y="82"/>
                    </a:lnTo>
                    <a:lnTo>
                      <a:pt x="11" y="71"/>
                    </a:lnTo>
                    <a:lnTo>
                      <a:pt x="22" y="63"/>
                    </a:lnTo>
                    <a:lnTo>
                      <a:pt x="36" y="58"/>
                    </a:lnTo>
                    <a:lnTo>
                      <a:pt x="49" y="53"/>
                    </a:lnTo>
                    <a:lnTo>
                      <a:pt x="62" y="46"/>
                    </a:lnTo>
                    <a:lnTo>
                      <a:pt x="73" y="41"/>
                    </a:lnTo>
                    <a:lnTo>
                      <a:pt x="103" y="36"/>
                    </a:lnTo>
                    <a:lnTo>
                      <a:pt x="133" y="30"/>
                    </a:lnTo>
                    <a:lnTo>
                      <a:pt x="166" y="25"/>
                    </a:lnTo>
                    <a:lnTo>
                      <a:pt x="196" y="20"/>
                    </a:lnTo>
                    <a:lnTo>
                      <a:pt x="228" y="14"/>
                    </a:lnTo>
                    <a:lnTo>
                      <a:pt x="258" y="9"/>
                    </a:lnTo>
                    <a:lnTo>
                      <a:pt x="291" y="6"/>
                    </a:lnTo>
                    <a:lnTo>
                      <a:pt x="323" y="4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8" y="0"/>
                    </a:lnTo>
                    <a:lnTo>
                      <a:pt x="450" y="0"/>
                    </a:lnTo>
                    <a:lnTo>
                      <a:pt x="484" y="4"/>
                    </a:lnTo>
                    <a:lnTo>
                      <a:pt x="516" y="6"/>
                    </a:lnTo>
                    <a:lnTo>
                      <a:pt x="546" y="11"/>
                    </a:lnTo>
                    <a:lnTo>
                      <a:pt x="579" y="17"/>
                    </a:lnTo>
                    <a:lnTo>
                      <a:pt x="535" y="60"/>
                    </a:lnTo>
                    <a:close/>
                  </a:path>
                </a:pathLst>
              </a:custGeom>
              <a:solidFill>
                <a:srgbClr val="3F19FF"/>
              </a:solidFill>
              <a:ln w="9525">
                <a:noFill/>
              </a:ln>
            </p:spPr>
            <p:txBody>
              <a:bodyPr/>
              <a:p>
                <a:endParaRPr lang="zh-CN" altLang="en-US" sz="1985"/>
              </a:p>
            </p:txBody>
          </p:sp>
        </p:grpSp>
      </p:grpSp>
      <p:grpSp>
        <p:nvGrpSpPr>
          <p:cNvPr id="181438" name="组合 181437"/>
          <p:cNvGrpSpPr/>
          <p:nvPr/>
        </p:nvGrpSpPr>
        <p:grpSpPr>
          <a:xfrm>
            <a:off x="2575983" y="4617861"/>
            <a:ext cx="3526367" cy="671689"/>
            <a:chOff x="1296" y="2256"/>
            <a:chExt cx="2016" cy="384"/>
          </a:xfrm>
        </p:grpSpPr>
        <p:grpSp>
          <p:nvGrpSpPr>
            <p:cNvPr id="181430" name="组合 181429"/>
            <p:cNvGrpSpPr/>
            <p:nvPr/>
          </p:nvGrpSpPr>
          <p:grpSpPr>
            <a:xfrm>
              <a:off x="1296" y="2256"/>
              <a:ext cx="2016" cy="384"/>
              <a:chOff x="3408" y="1632"/>
              <a:chExt cx="720" cy="384"/>
            </a:xfrm>
          </p:grpSpPr>
          <p:sp>
            <p:nvSpPr>
              <p:cNvPr id="181431" name="直接连接符 181430"/>
              <p:cNvSpPr/>
              <p:nvPr/>
            </p:nvSpPr>
            <p:spPr>
              <a:xfrm>
                <a:off x="3408" y="1632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1432" name="直接连接符 181431"/>
              <p:cNvSpPr/>
              <p:nvPr/>
            </p:nvSpPr>
            <p:spPr>
              <a:xfrm>
                <a:off x="3408" y="2016"/>
                <a:ext cx="72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81433" name="矩形 181432"/>
            <p:cNvSpPr/>
            <p:nvPr/>
          </p:nvSpPr>
          <p:spPr>
            <a:xfrm>
              <a:off x="1344" y="2256"/>
              <a:ext cx="1867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latin typeface="Arial" panose="020B0604020202020204" pitchFamily="34" charset="0"/>
                </a:rPr>
                <a:t>发出一个地址：如</a:t>
              </a:r>
              <a:r>
                <a:rPr lang="en-US" altLang="zh-CN" sz="2645" b="1">
                  <a:latin typeface="Arial" panose="020B0604020202020204" pitchFamily="34" charset="0"/>
                </a:rPr>
                <a:t>50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181437" name="组合 181436"/>
          <p:cNvGrpSpPr/>
          <p:nvPr/>
        </p:nvGrpSpPr>
        <p:grpSpPr>
          <a:xfrm>
            <a:off x="7445728" y="3022600"/>
            <a:ext cx="2854678" cy="3503628"/>
            <a:chOff x="4080" y="1728"/>
            <a:chExt cx="1632" cy="2003"/>
          </a:xfrm>
        </p:grpSpPr>
        <p:sp>
          <p:nvSpPr>
            <p:cNvPr id="181435" name="矩形 181434"/>
            <p:cNvSpPr/>
            <p:nvPr/>
          </p:nvSpPr>
          <p:spPr>
            <a:xfrm>
              <a:off x="4128" y="1728"/>
              <a:ext cx="1584" cy="200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1436" name="文本框 181435"/>
            <p:cNvSpPr txBox="1"/>
            <p:nvPr/>
          </p:nvSpPr>
          <p:spPr>
            <a:xfrm>
              <a:off x="4080" y="1728"/>
              <a:ext cx="1632" cy="19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50: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[100]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51: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[101]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52:</a:t>
              </a:r>
              <a:r>
                <a:rPr lang="en-US" altLang="zh-CN" sz="2205" b="1">
                  <a:latin typeface="Tahoma" panose="020B0604030504040204" pitchFamily="34" charset="0"/>
                </a:rPr>
                <a:t> 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100:</a:t>
              </a:r>
              <a:r>
                <a:rPr lang="en-US" altLang="zh-CN" sz="2205" b="1">
                  <a:latin typeface="Tahoma" panose="020B0604030504040204" pitchFamily="34" charset="0"/>
                </a:rPr>
                <a:t> 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 101:</a:t>
              </a:r>
              <a:r>
                <a:rPr lang="en-US" altLang="zh-CN" sz="2205" b="1">
                  <a:latin typeface="Tahoma" panose="020B0604030504040204" pitchFamily="34" charset="0"/>
                </a:rPr>
                <a:t> 1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</p:grpSp>
      <p:grpSp>
        <p:nvGrpSpPr>
          <p:cNvPr id="181449" name="组合 181448"/>
          <p:cNvGrpSpPr/>
          <p:nvPr/>
        </p:nvGrpSpPr>
        <p:grpSpPr>
          <a:xfrm>
            <a:off x="2575983" y="4785783"/>
            <a:ext cx="3526367" cy="671689"/>
            <a:chOff x="1344" y="2880"/>
            <a:chExt cx="2016" cy="384"/>
          </a:xfrm>
        </p:grpSpPr>
        <p:sp>
          <p:nvSpPr>
            <p:cNvPr id="181446" name="直接连接符 181445"/>
            <p:cNvSpPr/>
            <p:nvPr/>
          </p:nvSpPr>
          <p:spPr>
            <a:xfrm>
              <a:off x="3360" y="288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1447" name="直接连接符 181446"/>
            <p:cNvSpPr/>
            <p:nvPr/>
          </p:nvSpPr>
          <p:spPr>
            <a:xfrm>
              <a:off x="1344" y="3264"/>
              <a:ext cx="20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81448" name="矩形 181447"/>
            <p:cNvSpPr/>
            <p:nvPr/>
          </p:nvSpPr>
          <p:spPr>
            <a:xfrm>
              <a:off x="1728" y="2928"/>
              <a:ext cx="1324" cy="28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 err="1">
                  <a:latin typeface="Arial" panose="020B0604020202020204" pitchFamily="34" charset="0"/>
                </a:rPr>
                <a:t>mov</a:t>
              </a:r>
              <a:r>
                <a:rPr lang="en-US" altLang="zh-CN" sz="2645" b="1">
                  <a:latin typeface="Arial" panose="020B0604020202020204" pitchFamily="34" charset="0"/>
                </a:rPr>
                <a:t> ax, [100]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181450" name="组合 181449"/>
          <p:cNvGrpSpPr/>
          <p:nvPr/>
        </p:nvGrpSpPr>
        <p:grpSpPr>
          <a:xfrm>
            <a:off x="728839" y="3106561"/>
            <a:ext cx="3778250" cy="498519"/>
            <a:chOff x="2736" y="1296"/>
            <a:chExt cx="2160" cy="285"/>
          </a:xfrm>
        </p:grpSpPr>
        <p:sp>
          <p:nvSpPr>
            <p:cNvPr id="181451" name="文本框 181450"/>
            <p:cNvSpPr txBox="1"/>
            <p:nvPr/>
          </p:nvSpPr>
          <p:spPr>
            <a:xfrm>
              <a:off x="2736" y="1296"/>
              <a:ext cx="1488" cy="28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 err="1">
                  <a:latin typeface="Arial" panose="020B0604020202020204" pitchFamily="34" charset="0"/>
                </a:rPr>
                <a:t>mov</a:t>
              </a:r>
              <a:r>
                <a:rPr lang="en-US" altLang="zh-CN" sz="2645" b="1">
                  <a:latin typeface="Arial" panose="020B0604020202020204" pitchFamily="34" charset="0"/>
                </a:rPr>
                <a:t> ax, [100]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81452" name="文本框 181451"/>
            <p:cNvSpPr txBox="1"/>
            <p:nvPr/>
          </p:nvSpPr>
          <p:spPr>
            <a:xfrm>
              <a:off x="4320" y="1296"/>
              <a:ext cx="57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IR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181453" name="组合 181452"/>
          <p:cNvGrpSpPr/>
          <p:nvPr/>
        </p:nvGrpSpPr>
        <p:grpSpPr>
          <a:xfrm>
            <a:off x="2156178" y="3746765"/>
            <a:ext cx="1931106" cy="514262"/>
            <a:chOff x="4128" y="1863"/>
            <a:chExt cx="1104" cy="294"/>
          </a:xfrm>
        </p:grpSpPr>
        <p:sp>
          <p:nvSpPr>
            <p:cNvPr id="181454" name="文本框 181453"/>
            <p:cNvSpPr txBox="1"/>
            <p:nvPr/>
          </p:nvSpPr>
          <p:spPr>
            <a:xfrm>
              <a:off x="4128" y="1872"/>
              <a:ext cx="480" cy="28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endParaRPr sz="2645" b="1" dirty="0">
                <a:latin typeface="Arial" panose="020B0604020202020204" pitchFamily="34" charset="0"/>
              </a:endParaRPr>
            </a:p>
          </p:txBody>
        </p:sp>
        <p:sp>
          <p:nvSpPr>
            <p:cNvPr id="181455" name="文本框 181454"/>
            <p:cNvSpPr txBox="1"/>
            <p:nvPr/>
          </p:nvSpPr>
          <p:spPr>
            <a:xfrm>
              <a:off x="4656" y="1863"/>
              <a:ext cx="57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ax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81459" name="文本框 181458"/>
          <p:cNvSpPr txBox="1"/>
          <p:nvPr/>
        </p:nvSpPr>
        <p:spPr>
          <a:xfrm>
            <a:off x="2392319" y="3778250"/>
            <a:ext cx="419806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45" b="1">
                <a:latin typeface="Arial" panose="020B0604020202020204" pitchFamily="34" charset="0"/>
              </a:rPr>
              <a:t>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grpSp>
        <p:nvGrpSpPr>
          <p:cNvPr id="181460" name="组合 181459"/>
          <p:cNvGrpSpPr/>
          <p:nvPr/>
        </p:nvGrpSpPr>
        <p:grpSpPr>
          <a:xfrm>
            <a:off x="1400528" y="5877278"/>
            <a:ext cx="6893558" cy="661194"/>
            <a:chOff x="523" y="1876"/>
            <a:chExt cx="3941" cy="378"/>
          </a:xfrm>
        </p:grpSpPr>
        <p:sp>
          <p:nvSpPr>
            <p:cNvPr id="181461" name="矩形 181460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怎么工作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?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81462" name="图片 181461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1464" name="文本框 181463"/>
          <p:cNvSpPr txBox="1"/>
          <p:nvPr/>
        </p:nvSpPr>
        <p:spPr>
          <a:xfrm>
            <a:off x="4423128" y="6024210"/>
            <a:ext cx="3022600" cy="49911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645" b="1" dirty="0">
                <a:latin typeface="Arial" panose="020B0604020202020204" pitchFamily="34" charset="0"/>
              </a:rPr>
              <a:t>自动的取指</a:t>
            </a:r>
            <a:r>
              <a:rPr lang="en-US" altLang="zh-CN" sz="2645" b="1">
                <a:latin typeface="Arial" panose="020B0604020202020204" pitchFamily="34" charset="0"/>
              </a:rPr>
              <a:t>—</a:t>
            </a:r>
            <a:r>
              <a:rPr lang="zh-CN" altLang="en-US" sz="2645" b="1" dirty="0">
                <a:latin typeface="Arial" panose="020B0604020202020204" pitchFamily="34" charset="0"/>
              </a:rPr>
              <a:t>执行</a:t>
            </a:r>
            <a:endParaRPr lang="zh-CN" altLang="en-US" sz="2645" b="1">
              <a:latin typeface="Arial" panose="020B0604020202020204" pitchFamily="34" charset="0"/>
            </a:endParaRPr>
          </a:p>
        </p:txBody>
      </p:sp>
      <p:grpSp>
        <p:nvGrpSpPr>
          <p:cNvPr id="181466" name="组合 181465"/>
          <p:cNvGrpSpPr/>
          <p:nvPr/>
        </p:nvGrpSpPr>
        <p:grpSpPr>
          <a:xfrm>
            <a:off x="1400528" y="6465006"/>
            <a:ext cx="6893558" cy="661194"/>
            <a:chOff x="523" y="1876"/>
            <a:chExt cx="3941" cy="378"/>
          </a:xfrm>
        </p:grpSpPr>
        <p:sp>
          <p:nvSpPr>
            <p:cNvPr id="181467" name="矩形 181466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怎么管理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?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81468" name="图片 181467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81469" name="圆角矩形标注 181468"/>
          <p:cNvSpPr/>
          <p:nvPr/>
        </p:nvSpPr>
        <p:spPr>
          <a:xfrm>
            <a:off x="4758972" y="3862211"/>
            <a:ext cx="2015067" cy="503767"/>
          </a:xfrm>
          <a:prstGeom prst="wedgeRoundRectCallout">
            <a:avLst>
              <a:gd name="adj1" fmla="val -9546"/>
              <a:gd name="adj2" fmla="val 116667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即</a:t>
            </a:r>
            <a:r>
              <a:rPr lang="en-US" altLang="zh-CN" sz="2645" b="1">
                <a:latin typeface="Arial" panose="020B0604020202020204" pitchFamily="34" charset="0"/>
              </a:rPr>
              <a:t>PC=50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8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8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459" grpId="0"/>
      <p:bldP spid="181464" grpId="0" bldLvl="0" animBg="1"/>
      <p:bldP spid="181469" grpId="0" bldLvl="0" animBg="1"/>
      <p:bldP spid="181469" grpId="1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566" name="组合 64565"/>
          <p:cNvGrpSpPr/>
          <p:nvPr/>
        </p:nvGrpSpPr>
        <p:grpSpPr>
          <a:xfrm>
            <a:off x="1484489" y="2151503"/>
            <a:ext cx="2854678" cy="3503628"/>
            <a:chOff x="4080" y="1728"/>
            <a:chExt cx="1632" cy="2003"/>
          </a:xfrm>
        </p:grpSpPr>
        <p:sp>
          <p:nvSpPr>
            <p:cNvPr id="64567" name="矩形 64566"/>
            <p:cNvSpPr/>
            <p:nvPr/>
          </p:nvSpPr>
          <p:spPr>
            <a:xfrm>
              <a:off x="4128" y="1728"/>
              <a:ext cx="1584" cy="200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64568" name="文本框 64567"/>
            <p:cNvSpPr txBox="1"/>
            <p:nvPr/>
          </p:nvSpPr>
          <p:spPr>
            <a:xfrm>
              <a:off x="4080" y="1728"/>
              <a:ext cx="1632" cy="19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50: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[100]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51: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[101]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52:</a:t>
              </a:r>
              <a:r>
                <a:rPr lang="en-US" altLang="zh-CN" sz="2205" b="1">
                  <a:latin typeface="Tahoma" panose="020B0604030504040204" pitchFamily="34" charset="0"/>
                </a:rPr>
                <a:t> 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100:</a:t>
              </a:r>
              <a:r>
                <a:rPr lang="en-US" altLang="zh-CN" sz="2205" b="1">
                  <a:latin typeface="Tahoma" panose="020B0604030504040204" pitchFamily="34" charset="0"/>
                </a:rPr>
                <a:t> 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 101:</a:t>
              </a:r>
              <a:r>
                <a:rPr lang="en-US" altLang="zh-CN" sz="2205" b="1">
                  <a:latin typeface="Tahoma" panose="020B0604030504040204" pitchFamily="34" charset="0"/>
                </a:rPr>
                <a:t> 1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</p:grpSp>
      <p:sp>
        <p:nvSpPr>
          <p:cNvPr id="64514" name="标题 645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管理</a:t>
            </a:r>
            <a:r>
              <a:rPr lang="en-US" altLang="zh-CN"/>
              <a:t>CPU</a:t>
            </a:r>
            <a:r>
              <a:rPr lang="zh-CN" altLang="en-US" dirty="0"/>
              <a:t>的最直观方法</a:t>
            </a:r>
            <a:endParaRPr lang="zh-CN" altLang="en-US"/>
          </a:p>
        </p:txBody>
      </p:sp>
      <p:grpSp>
        <p:nvGrpSpPr>
          <p:cNvPr id="64545" name="组合 64544"/>
          <p:cNvGrpSpPr/>
          <p:nvPr/>
        </p:nvGrpSpPr>
        <p:grpSpPr>
          <a:xfrm>
            <a:off x="560917" y="2067542"/>
            <a:ext cx="1100241" cy="498519"/>
            <a:chOff x="139" y="1338"/>
            <a:chExt cx="629" cy="285"/>
          </a:xfrm>
        </p:grpSpPr>
        <p:sp>
          <p:nvSpPr>
            <p:cNvPr id="64543" name="矩形 64542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544" name="右箭头 64543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grpSp>
        <p:nvGrpSpPr>
          <p:cNvPr id="64570" name="组合 64569"/>
          <p:cNvGrpSpPr/>
          <p:nvPr/>
        </p:nvGrpSpPr>
        <p:grpSpPr>
          <a:xfrm>
            <a:off x="4255206" y="2135761"/>
            <a:ext cx="4953706" cy="498519"/>
            <a:chOff x="2256" y="1047"/>
            <a:chExt cx="2832" cy="285"/>
          </a:xfrm>
        </p:grpSpPr>
        <p:sp>
          <p:nvSpPr>
            <p:cNvPr id="64542" name="右箭头 64541"/>
            <p:cNvSpPr/>
            <p:nvPr/>
          </p:nvSpPr>
          <p:spPr>
            <a:xfrm>
              <a:off x="2256" y="1143"/>
              <a:ext cx="531" cy="129"/>
            </a:xfrm>
            <a:prstGeom prst="rightArrow">
              <a:avLst>
                <a:gd name="adj1" fmla="val 50000"/>
                <a:gd name="adj2" fmla="val 102906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64563" name="组合 64562"/>
            <p:cNvGrpSpPr/>
            <p:nvPr/>
          </p:nvGrpSpPr>
          <p:grpSpPr>
            <a:xfrm>
              <a:off x="2928" y="1047"/>
              <a:ext cx="2160" cy="285"/>
              <a:chOff x="2736" y="1296"/>
              <a:chExt cx="2160" cy="285"/>
            </a:xfrm>
          </p:grpSpPr>
          <p:sp>
            <p:nvSpPr>
              <p:cNvPr id="64546" name="文本框 64545"/>
              <p:cNvSpPr txBox="1"/>
              <p:nvPr/>
            </p:nvSpPr>
            <p:spPr>
              <a:xfrm>
                <a:off x="2736" y="1296"/>
                <a:ext cx="1488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 err="1">
                    <a:latin typeface="Arial" panose="020B0604020202020204" pitchFamily="34" charset="0"/>
                  </a:rPr>
                  <a:t>mov</a:t>
                </a:r>
                <a:r>
                  <a:rPr lang="en-US" altLang="zh-CN" sz="2645" b="1">
                    <a:latin typeface="Arial" panose="020B0604020202020204" pitchFamily="34" charset="0"/>
                  </a:rPr>
                  <a:t> ax, [100]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sp>
            <p:nvSpPr>
              <p:cNvPr id="64547" name="文本框 64546"/>
              <p:cNvSpPr txBox="1"/>
              <p:nvPr/>
            </p:nvSpPr>
            <p:spPr>
              <a:xfrm>
                <a:off x="4320" y="1296"/>
                <a:ext cx="576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IR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4571" name="组合 64570"/>
          <p:cNvGrpSpPr/>
          <p:nvPr/>
        </p:nvGrpSpPr>
        <p:grpSpPr>
          <a:xfrm>
            <a:off x="7965238" y="5310540"/>
            <a:ext cx="1931106" cy="530005"/>
            <a:chOff x="4377" y="2862"/>
            <a:chExt cx="1104" cy="303"/>
          </a:xfrm>
        </p:grpSpPr>
        <p:grpSp>
          <p:nvGrpSpPr>
            <p:cNvPr id="64564" name="组合 64563"/>
            <p:cNvGrpSpPr/>
            <p:nvPr/>
          </p:nvGrpSpPr>
          <p:grpSpPr>
            <a:xfrm>
              <a:off x="4377" y="2862"/>
              <a:ext cx="1104" cy="294"/>
              <a:chOff x="4128" y="1863"/>
              <a:chExt cx="1104" cy="294"/>
            </a:xfrm>
          </p:grpSpPr>
          <p:sp>
            <p:nvSpPr>
              <p:cNvPr id="64548" name="文本框 64547"/>
              <p:cNvSpPr txBox="1"/>
              <p:nvPr/>
            </p:nvSpPr>
            <p:spPr>
              <a:xfrm>
                <a:off x="4128" y="1872"/>
                <a:ext cx="480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endParaRPr sz="2645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549" name="文本框 64548"/>
              <p:cNvSpPr txBox="1"/>
              <p:nvPr/>
            </p:nvSpPr>
            <p:spPr>
              <a:xfrm>
                <a:off x="4656" y="1863"/>
                <a:ext cx="576" cy="2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ax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4565" name="文本框 64564"/>
            <p:cNvSpPr txBox="1"/>
            <p:nvPr/>
          </p:nvSpPr>
          <p:spPr>
            <a:xfrm>
              <a:off x="4512" y="2880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0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64572" name="组合 64571"/>
          <p:cNvGrpSpPr/>
          <p:nvPr/>
        </p:nvGrpSpPr>
        <p:grpSpPr>
          <a:xfrm>
            <a:off x="4255206" y="2644775"/>
            <a:ext cx="4953706" cy="498519"/>
            <a:chOff x="2256" y="1047"/>
            <a:chExt cx="2832" cy="285"/>
          </a:xfrm>
        </p:grpSpPr>
        <p:sp>
          <p:nvSpPr>
            <p:cNvPr id="64573" name="右箭头 64572"/>
            <p:cNvSpPr/>
            <p:nvPr/>
          </p:nvSpPr>
          <p:spPr>
            <a:xfrm>
              <a:off x="2256" y="1143"/>
              <a:ext cx="531" cy="129"/>
            </a:xfrm>
            <a:prstGeom prst="rightArrow">
              <a:avLst>
                <a:gd name="adj1" fmla="val 50000"/>
                <a:gd name="adj2" fmla="val 102906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64574" name="组合 64573"/>
            <p:cNvGrpSpPr/>
            <p:nvPr/>
          </p:nvGrpSpPr>
          <p:grpSpPr>
            <a:xfrm>
              <a:off x="2928" y="1047"/>
              <a:ext cx="2160" cy="285"/>
              <a:chOff x="2736" y="1296"/>
              <a:chExt cx="2160" cy="285"/>
            </a:xfrm>
          </p:grpSpPr>
          <p:sp>
            <p:nvSpPr>
              <p:cNvPr id="64575" name="文本框 64574"/>
              <p:cNvSpPr txBox="1"/>
              <p:nvPr/>
            </p:nvSpPr>
            <p:spPr>
              <a:xfrm>
                <a:off x="2736" y="1296"/>
                <a:ext cx="1488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 err="1">
                    <a:latin typeface="Arial" panose="020B0604020202020204" pitchFamily="34" charset="0"/>
                  </a:rPr>
                  <a:t>mov</a:t>
                </a:r>
                <a:r>
                  <a:rPr lang="en-US" altLang="zh-CN" sz="2645" b="1">
                    <a:latin typeface="Arial" panose="020B0604020202020204" pitchFamily="34" charset="0"/>
                  </a:rPr>
                  <a:t> </a:t>
                </a:r>
                <a:r>
                  <a:rPr lang="en-US" altLang="zh-CN" sz="2645" b="1" err="1">
                    <a:latin typeface="Arial" panose="020B0604020202020204" pitchFamily="34" charset="0"/>
                  </a:rPr>
                  <a:t>bx</a:t>
                </a:r>
                <a:r>
                  <a:rPr lang="en-US" altLang="zh-CN" sz="2645" b="1">
                    <a:latin typeface="Arial" panose="020B0604020202020204" pitchFamily="34" charset="0"/>
                  </a:rPr>
                  <a:t>, [101]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sp>
            <p:nvSpPr>
              <p:cNvPr id="64576" name="文本框 64575"/>
              <p:cNvSpPr txBox="1"/>
              <p:nvPr/>
            </p:nvSpPr>
            <p:spPr>
              <a:xfrm>
                <a:off x="4320" y="1296"/>
                <a:ext cx="576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IR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4577" name="组合 64576"/>
          <p:cNvGrpSpPr/>
          <p:nvPr/>
        </p:nvGrpSpPr>
        <p:grpSpPr>
          <a:xfrm>
            <a:off x="560917" y="2571309"/>
            <a:ext cx="1100241" cy="498519"/>
            <a:chOff x="139" y="1338"/>
            <a:chExt cx="629" cy="285"/>
          </a:xfrm>
        </p:grpSpPr>
        <p:sp>
          <p:nvSpPr>
            <p:cNvPr id="64578" name="矩形 64577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579" name="右箭头 64578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grpSp>
        <p:nvGrpSpPr>
          <p:cNvPr id="64580" name="组合 64579"/>
          <p:cNvGrpSpPr/>
          <p:nvPr/>
        </p:nvGrpSpPr>
        <p:grpSpPr>
          <a:xfrm>
            <a:off x="7949494" y="6013715"/>
            <a:ext cx="1931106" cy="530005"/>
            <a:chOff x="4137" y="2622"/>
            <a:chExt cx="1104" cy="303"/>
          </a:xfrm>
        </p:grpSpPr>
        <p:grpSp>
          <p:nvGrpSpPr>
            <p:cNvPr id="64581" name="组合 64580"/>
            <p:cNvGrpSpPr/>
            <p:nvPr/>
          </p:nvGrpSpPr>
          <p:grpSpPr>
            <a:xfrm>
              <a:off x="4137" y="2622"/>
              <a:ext cx="1104" cy="294"/>
              <a:chOff x="4128" y="1863"/>
              <a:chExt cx="1104" cy="294"/>
            </a:xfrm>
          </p:grpSpPr>
          <p:sp>
            <p:nvSpPr>
              <p:cNvPr id="64582" name="文本框 64581"/>
              <p:cNvSpPr txBox="1"/>
              <p:nvPr/>
            </p:nvSpPr>
            <p:spPr>
              <a:xfrm>
                <a:off x="4128" y="1872"/>
                <a:ext cx="480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endParaRPr sz="2645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583" name="文本框 64582"/>
              <p:cNvSpPr txBox="1"/>
              <p:nvPr/>
            </p:nvSpPr>
            <p:spPr>
              <a:xfrm>
                <a:off x="4656" y="1863"/>
                <a:ext cx="576" cy="2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 err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bx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4584" name="文本框 64583"/>
            <p:cNvSpPr txBox="1"/>
            <p:nvPr/>
          </p:nvSpPr>
          <p:spPr>
            <a:xfrm>
              <a:off x="4272" y="2640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1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64585" name="组合 64584"/>
          <p:cNvGrpSpPr/>
          <p:nvPr/>
        </p:nvGrpSpPr>
        <p:grpSpPr>
          <a:xfrm>
            <a:off x="560917" y="3075076"/>
            <a:ext cx="1100241" cy="498519"/>
            <a:chOff x="139" y="1338"/>
            <a:chExt cx="629" cy="285"/>
          </a:xfrm>
        </p:grpSpPr>
        <p:sp>
          <p:nvSpPr>
            <p:cNvPr id="64586" name="矩形 64585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587" name="右箭头 64586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grpSp>
        <p:nvGrpSpPr>
          <p:cNvPr id="64588" name="组合 64587"/>
          <p:cNvGrpSpPr/>
          <p:nvPr/>
        </p:nvGrpSpPr>
        <p:grpSpPr>
          <a:xfrm>
            <a:off x="4255206" y="3148542"/>
            <a:ext cx="4953706" cy="498519"/>
            <a:chOff x="2256" y="1047"/>
            <a:chExt cx="2832" cy="285"/>
          </a:xfrm>
        </p:grpSpPr>
        <p:sp>
          <p:nvSpPr>
            <p:cNvPr id="64589" name="右箭头 64588"/>
            <p:cNvSpPr/>
            <p:nvPr/>
          </p:nvSpPr>
          <p:spPr>
            <a:xfrm>
              <a:off x="2256" y="1143"/>
              <a:ext cx="531" cy="129"/>
            </a:xfrm>
            <a:prstGeom prst="rightArrow">
              <a:avLst>
                <a:gd name="adj1" fmla="val 50000"/>
                <a:gd name="adj2" fmla="val 102906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64590" name="组合 64589"/>
            <p:cNvGrpSpPr/>
            <p:nvPr/>
          </p:nvGrpSpPr>
          <p:grpSpPr>
            <a:xfrm>
              <a:off x="2928" y="1047"/>
              <a:ext cx="2160" cy="285"/>
              <a:chOff x="2736" y="1296"/>
              <a:chExt cx="2160" cy="285"/>
            </a:xfrm>
          </p:grpSpPr>
          <p:sp>
            <p:nvSpPr>
              <p:cNvPr id="64591" name="文本框 64590"/>
              <p:cNvSpPr txBox="1"/>
              <p:nvPr/>
            </p:nvSpPr>
            <p:spPr>
              <a:xfrm>
                <a:off x="2736" y="1296"/>
                <a:ext cx="1488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add ax, </a:t>
                </a:r>
                <a:r>
                  <a:rPr lang="en-US" altLang="zh-CN" sz="2645" b="1" err="1">
                    <a:latin typeface="Arial" panose="020B0604020202020204" pitchFamily="34" charset="0"/>
                  </a:rPr>
                  <a:t>bx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sp>
            <p:nvSpPr>
              <p:cNvPr id="64592" name="文本框 64591"/>
              <p:cNvSpPr txBox="1"/>
              <p:nvPr/>
            </p:nvSpPr>
            <p:spPr>
              <a:xfrm>
                <a:off x="4320" y="1296"/>
                <a:ext cx="576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IR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4593" name="组合 64592"/>
          <p:cNvGrpSpPr/>
          <p:nvPr/>
        </p:nvGrpSpPr>
        <p:grpSpPr>
          <a:xfrm>
            <a:off x="7959990" y="5321035"/>
            <a:ext cx="1931106" cy="530005"/>
            <a:chOff x="4377" y="2862"/>
            <a:chExt cx="1104" cy="303"/>
          </a:xfrm>
        </p:grpSpPr>
        <p:grpSp>
          <p:nvGrpSpPr>
            <p:cNvPr id="64594" name="组合 64593"/>
            <p:cNvGrpSpPr/>
            <p:nvPr/>
          </p:nvGrpSpPr>
          <p:grpSpPr>
            <a:xfrm>
              <a:off x="4377" y="2862"/>
              <a:ext cx="1104" cy="294"/>
              <a:chOff x="4128" y="1863"/>
              <a:chExt cx="1104" cy="294"/>
            </a:xfrm>
          </p:grpSpPr>
          <p:sp>
            <p:nvSpPr>
              <p:cNvPr id="64595" name="文本框 64594"/>
              <p:cNvSpPr txBox="1"/>
              <p:nvPr/>
            </p:nvSpPr>
            <p:spPr>
              <a:xfrm>
                <a:off x="4128" y="1872"/>
                <a:ext cx="480" cy="28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endParaRPr sz="2645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596" name="文本框 64595"/>
              <p:cNvSpPr txBox="1"/>
              <p:nvPr/>
            </p:nvSpPr>
            <p:spPr>
              <a:xfrm>
                <a:off x="4656" y="1863"/>
                <a:ext cx="576" cy="2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ax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4597" name="文本框 64596"/>
            <p:cNvSpPr txBox="1"/>
            <p:nvPr/>
          </p:nvSpPr>
          <p:spPr>
            <a:xfrm>
              <a:off x="4512" y="2880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1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</p:grpSp>
      <p:grpSp>
        <p:nvGrpSpPr>
          <p:cNvPr id="64598" name="组合 64597"/>
          <p:cNvGrpSpPr/>
          <p:nvPr/>
        </p:nvGrpSpPr>
        <p:grpSpPr>
          <a:xfrm>
            <a:off x="812800" y="1266413"/>
            <a:ext cx="6893558" cy="661194"/>
            <a:chOff x="523" y="1876"/>
            <a:chExt cx="3941" cy="378"/>
          </a:xfrm>
        </p:grpSpPr>
        <p:sp>
          <p:nvSpPr>
            <p:cNvPr id="64599" name="矩形 64598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设好</a:t>
              </a:r>
              <a:r>
                <a:rPr lang="en-US" altLang="zh-CN" sz="2645" b="1">
                  <a:latin typeface="Arial" panose="020B0604020202020204" pitchFamily="34" charset="0"/>
                </a:rPr>
                <a:t>PC</a:t>
              </a:r>
              <a:r>
                <a:rPr lang="zh-CN" altLang="en-US" sz="2645" b="1" dirty="0">
                  <a:latin typeface="Arial" panose="020B0604020202020204" pitchFamily="34" charset="0"/>
                </a:rPr>
                <a:t>初值就完事</a:t>
              </a:r>
              <a:r>
                <a:rPr lang="en-US" altLang="zh-CN" sz="2645" b="1">
                  <a:latin typeface="Arial" panose="020B0604020202020204" pitchFamily="34" charset="0"/>
                </a:rPr>
                <a:t>!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pic>
          <p:nvPicPr>
            <p:cNvPr id="64600" name="图片 6459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4601" name="圆角矩形标注 64600"/>
          <p:cNvSpPr/>
          <p:nvPr/>
        </p:nvSpPr>
        <p:spPr>
          <a:xfrm>
            <a:off x="2156178" y="5877278"/>
            <a:ext cx="4617861" cy="1091494"/>
          </a:xfrm>
          <a:prstGeom prst="wedgeRoundRectCallout">
            <a:avLst>
              <a:gd name="adj1" fmla="val -9093"/>
              <a:gd name="adj2" fmla="val -89421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把程序读到内存</a:t>
            </a:r>
            <a:r>
              <a:rPr lang="en-US" altLang="zh-CN" sz="2645" b="1">
                <a:latin typeface="Arial" panose="020B0604020202020204" pitchFamily="34" charset="0"/>
              </a:rPr>
              <a:t>50</a:t>
            </a:r>
            <a:r>
              <a:rPr lang="zh-CN" altLang="en-US" sz="2645" b="1" dirty="0">
                <a:latin typeface="Arial" panose="020B0604020202020204" pitchFamily="34" charset="0"/>
              </a:rPr>
              <a:t>处，设</a:t>
            </a:r>
            <a:r>
              <a:rPr lang="en-US" altLang="zh-CN" sz="2645" b="1">
                <a:latin typeface="Arial" panose="020B0604020202020204" pitchFamily="34" charset="0"/>
              </a:rPr>
              <a:t>PC = 50</a:t>
            </a:r>
            <a:r>
              <a:rPr lang="zh-CN" altLang="en-US" sz="2645" b="1" dirty="0">
                <a:latin typeface="Arial" panose="020B0604020202020204" pitchFamily="34" charset="0"/>
              </a:rPr>
              <a:t>，</a:t>
            </a:r>
            <a:r>
              <a:rPr lang="en-US" altLang="zh-CN" sz="2645" b="1">
                <a:latin typeface="Arial" panose="020B0604020202020204" pitchFamily="34" charset="0"/>
              </a:rPr>
              <a:t>CPU</a:t>
            </a:r>
            <a:r>
              <a:rPr lang="zh-CN" altLang="en-US" sz="2645" b="1" dirty="0">
                <a:latin typeface="Arial" panose="020B0604020202020204" pitchFamily="34" charset="0"/>
              </a:rPr>
              <a:t>开始干活</a:t>
            </a:r>
            <a:endParaRPr lang="zh-CN" altLang="en-US" sz="2645" b="1"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0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655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看看这样做有没有问题</a:t>
            </a:r>
            <a:r>
              <a:rPr lang="en-US" altLang="zh-CN"/>
              <a:t>?  </a:t>
            </a:r>
            <a:r>
              <a:rPr lang="zh-CN" altLang="en-US" dirty="0"/>
              <a:t>提出问题</a:t>
            </a:r>
            <a:endParaRPr lang="zh-CN" altLang="en-US"/>
          </a:p>
        </p:txBody>
      </p:sp>
      <p:grpSp>
        <p:nvGrpSpPr>
          <p:cNvPr id="65550" name="组合 65549"/>
          <p:cNvGrpSpPr/>
          <p:nvPr/>
        </p:nvGrpSpPr>
        <p:grpSpPr>
          <a:xfrm>
            <a:off x="1400528" y="1595261"/>
            <a:ext cx="4114094" cy="4785783"/>
            <a:chOff x="720" y="1440"/>
            <a:chExt cx="2352" cy="2736"/>
          </a:xfrm>
        </p:grpSpPr>
        <p:sp>
          <p:nvSpPr>
            <p:cNvPr id="65551" name="矩形 65550"/>
            <p:cNvSpPr/>
            <p:nvPr/>
          </p:nvSpPr>
          <p:spPr>
            <a:xfrm>
              <a:off x="720" y="1440"/>
              <a:ext cx="2208" cy="27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65552" name="文本框 65551"/>
            <p:cNvSpPr txBox="1"/>
            <p:nvPr/>
          </p:nvSpPr>
          <p:spPr>
            <a:xfrm>
              <a:off x="768" y="1488"/>
              <a:ext cx="2304" cy="25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985" err="1">
                  <a:latin typeface="Tahoma" panose="020B0604030504040204" pitchFamily="34" charset="0"/>
                </a:rPr>
                <a:t>int</a:t>
              </a:r>
              <a:r>
                <a:rPr lang="en-US" altLang="zh-CN" sz="1985">
                  <a:latin typeface="Tahoma" panose="020B0604030504040204" pitchFamily="34" charset="0"/>
                </a:rPr>
                <a:t> </a:t>
              </a:r>
              <a:r>
                <a:rPr lang="en-US" altLang="zh-CN" sz="1985" err="1">
                  <a:latin typeface="Tahoma" panose="020B0604030504040204" pitchFamily="34" charset="0"/>
                </a:rPr>
                <a:t>main(int</a:t>
              </a:r>
              <a:r>
                <a:rPr lang="en-US" altLang="zh-CN" sz="1985">
                  <a:latin typeface="Tahoma" panose="020B0604030504040204" pitchFamily="34" charset="0"/>
                </a:rPr>
                <a:t> </a:t>
              </a:r>
              <a:r>
                <a:rPr lang="en-US" altLang="zh-CN" sz="1985" err="1">
                  <a:latin typeface="Tahoma" panose="020B0604030504040204" pitchFamily="34" charset="0"/>
                </a:rPr>
                <a:t>argc</a:t>
              </a:r>
              <a:r>
                <a:rPr lang="en-US" altLang="zh-CN" sz="1985">
                  <a:latin typeface="Tahoma" panose="020B0604030504040204" pitchFamily="34" charset="0"/>
                </a:rPr>
                <a:t>, char* </a:t>
              </a:r>
              <a:r>
                <a:rPr lang="en-US" altLang="zh-CN" sz="1985" err="1">
                  <a:latin typeface="Tahoma" panose="020B0604030504040204" pitchFamily="34" charset="0"/>
                </a:rPr>
                <a:t>argv</a:t>
              </a:r>
              <a:r>
                <a:rPr lang="en-US" altLang="zh-CN" sz="1985">
                  <a:latin typeface="Tahoma" panose="020B0604030504040204" pitchFamily="34" charset="0"/>
                </a:rPr>
                <a:t>[])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{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</a:t>
              </a:r>
              <a:r>
                <a:rPr lang="en-US" altLang="zh-CN" sz="1985" err="1">
                  <a:latin typeface="Tahoma" panose="020B0604030504040204" pitchFamily="34" charset="0"/>
                </a:rPr>
                <a:t>int</a:t>
              </a:r>
              <a:r>
                <a:rPr lang="en-US" altLang="zh-CN" sz="1985">
                  <a:latin typeface="Tahoma" panose="020B0604030504040204" pitchFamily="34" charset="0"/>
                </a:rPr>
                <a:t>  i , to, *</a:t>
              </a:r>
              <a:r>
                <a:rPr lang="en-US" altLang="zh-CN" sz="1985" err="1">
                  <a:latin typeface="Tahoma" panose="020B0604030504040204" pitchFamily="34" charset="0"/>
                </a:rPr>
                <a:t>fp</a:t>
              </a:r>
              <a:r>
                <a:rPr lang="en-US" altLang="zh-CN" sz="1985">
                  <a:latin typeface="Tahoma" panose="020B0604030504040204" pitchFamily="34" charset="0"/>
                </a:rPr>
                <a:t>, sum = 0;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to = atoi(argv[1]);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</a:t>
              </a:r>
              <a:r>
                <a:rPr lang="en-US" altLang="zh-CN" sz="1985" err="1">
                  <a:latin typeface="Tahoma" panose="020B0604030504040204" pitchFamily="34" charset="0"/>
                </a:rPr>
                <a:t>for(i</a:t>
              </a:r>
              <a:r>
                <a:rPr lang="en-US" altLang="zh-CN" sz="1985">
                  <a:latin typeface="Tahoma" panose="020B0604030504040204" pitchFamily="34" charset="0"/>
                </a:rPr>
                <a:t>=1; i&lt;=to; i++)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{  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     sum = </a:t>
              </a:r>
              <a:r>
                <a:rPr lang="en-US" altLang="zh-CN" sz="1985" err="1">
                  <a:latin typeface="Tahoma" panose="020B0604030504040204" pitchFamily="34" charset="0"/>
                </a:rPr>
                <a:t>sum</a:t>
              </a:r>
              <a:r>
                <a:rPr lang="en-US" altLang="zh-CN" sz="1985">
                  <a:latin typeface="Tahoma" panose="020B0604030504040204" pitchFamily="34" charset="0"/>
                </a:rPr>
                <a:t> + i;  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     </a:t>
              </a:r>
              <a:r>
                <a:rPr lang="en-US" altLang="zh-CN" sz="1985" err="1">
                  <a:solidFill>
                    <a:srgbClr val="FF0000"/>
                  </a:solidFill>
                  <a:latin typeface="Tahoma" panose="020B0604030504040204" pitchFamily="34" charset="0"/>
                </a:rPr>
                <a:t>fprintf(fp,“%d</a:t>
              </a:r>
              <a:r>
                <a:rPr lang="en-US" altLang="zh-CN" sz="1985">
                  <a:solidFill>
                    <a:srgbClr val="FF0000"/>
                  </a:solidFill>
                  <a:latin typeface="Tahoma" panose="020B0604030504040204" pitchFamily="34" charset="0"/>
                </a:rPr>
                <a:t>”, sum);</a:t>
              </a:r>
              <a:endParaRPr lang="en-US" altLang="zh-CN" sz="1985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      }</a:t>
              </a:r>
              <a:endParaRPr lang="en-US" altLang="zh-CN" sz="1985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985">
                  <a:latin typeface="Tahoma" panose="020B0604030504040204" pitchFamily="34" charset="0"/>
                </a:rPr>
                <a:t>}</a:t>
              </a:r>
              <a:endParaRPr lang="en-US" altLang="zh-CN" sz="1985">
                <a:latin typeface="Tahoma" panose="020B0604030504040204" pitchFamily="34" charset="0"/>
              </a:endParaRPr>
            </a:p>
          </p:txBody>
        </p:sp>
      </p:grpSp>
      <p:sp>
        <p:nvSpPr>
          <p:cNvPr id="65553" name="右箭头 65552"/>
          <p:cNvSpPr/>
          <p:nvPr/>
        </p:nvSpPr>
        <p:spPr>
          <a:xfrm>
            <a:off x="5514622" y="3778250"/>
            <a:ext cx="419806" cy="83961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5554" name="文本框 65553"/>
          <p:cNvSpPr txBox="1"/>
          <p:nvPr/>
        </p:nvSpPr>
        <p:spPr>
          <a:xfrm>
            <a:off x="6690078" y="1427339"/>
            <a:ext cx="2770717" cy="770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sz="2205" b="1" err="1">
                <a:latin typeface="Arial" panose="020B0604020202020204" pitchFamily="34" charset="0"/>
              </a:rPr>
              <a:t>fprintf</a:t>
            </a:r>
            <a:r>
              <a:rPr lang="zh-CN" altLang="en-US" sz="2205" b="1" dirty="0">
                <a:latin typeface="Arial" panose="020B0604020202020204" pitchFamily="34" charset="0"/>
              </a:rPr>
              <a:t>用一条其他计算语句代替</a:t>
            </a:r>
            <a:endParaRPr lang="zh-CN" altLang="en-US" sz="2205" b="1">
              <a:latin typeface="Arial" panose="020B0604020202020204" pitchFamily="34" charset="0"/>
            </a:endParaRPr>
          </a:p>
        </p:txBody>
      </p:sp>
      <p:sp>
        <p:nvSpPr>
          <p:cNvPr id="65555" name="文本框 65554"/>
          <p:cNvSpPr txBox="1"/>
          <p:nvPr/>
        </p:nvSpPr>
        <p:spPr>
          <a:xfrm>
            <a:off x="6606117" y="4030133"/>
            <a:ext cx="2770717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205" b="1" dirty="0">
                <a:latin typeface="Arial" panose="020B0604020202020204" pitchFamily="34" charset="0"/>
              </a:rPr>
              <a:t>有</a:t>
            </a:r>
            <a:r>
              <a:rPr lang="en-US" altLang="zh-CN" sz="2205" b="1" err="1">
                <a:latin typeface="Arial" panose="020B0604020202020204" pitchFamily="34" charset="0"/>
              </a:rPr>
              <a:t>fprintf</a:t>
            </a:r>
            <a:endParaRPr lang="en-US" altLang="zh-CN" sz="2205" b="1">
              <a:latin typeface="Arial" panose="020B0604020202020204" pitchFamily="34" charset="0"/>
            </a:endParaRPr>
          </a:p>
        </p:txBody>
      </p:sp>
      <p:pic>
        <p:nvPicPr>
          <p:cNvPr id="65556" name="图片 655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6117" y="2350911"/>
            <a:ext cx="3106561" cy="6716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57" name="文本框 65556"/>
          <p:cNvSpPr txBox="1"/>
          <p:nvPr/>
        </p:nvSpPr>
        <p:spPr>
          <a:xfrm>
            <a:off x="6690078" y="3022600"/>
            <a:ext cx="2770717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sz="2645" b="1">
                <a:solidFill>
                  <a:srgbClr val="FF0000"/>
                </a:solidFill>
                <a:latin typeface="Arial" panose="020B0604020202020204" pitchFamily="34" charset="0"/>
              </a:rPr>
              <a:t>0.015/10</a:t>
            </a:r>
            <a:r>
              <a:rPr lang="en-US" altLang="zh-CN" sz="2645" b="1" baseline="3000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  <a:endParaRPr lang="en-US" altLang="zh-CN" sz="2645" b="1" baseline="30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65558" name="图片 655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117" y="4533900"/>
            <a:ext cx="3106561" cy="66294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59" name="文本框 65558"/>
          <p:cNvSpPr txBox="1"/>
          <p:nvPr/>
        </p:nvSpPr>
        <p:spPr>
          <a:xfrm>
            <a:off x="6774039" y="5289550"/>
            <a:ext cx="2770717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sz="2645" b="1">
                <a:solidFill>
                  <a:srgbClr val="FF0000"/>
                </a:solidFill>
                <a:latin typeface="Arial" panose="020B0604020202020204" pitchFamily="34" charset="0"/>
              </a:rPr>
              <a:t>0.859/10</a:t>
            </a:r>
            <a:r>
              <a:rPr lang="en-US" altLang="zh-CN" sz="2645" b="1" baseline="300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endParaRPr lang="en-US" altLang="zh-CN" sz="2645" b="1" baseline="30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60" name="文本框 65559"/>
          <p:cNvSpPr txBox="1"/>
          <p:nvPr/>
        </p:nvSpPr>
        <p:spPr>
          <a:xfrm>
            <a:off x="6270272" y="6144904"/>
            <a:ext cx="2770717" cy="566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sz="3085" b="1">
                <a:solidFill>
                  <a:srgbClr val="FF0000"/>
                </a:solidFill>
                <a:latin typeface="Arial" panose="020B0604020202020204" pitchFamily="34" charset="0"/>
              </a:rPr>
              <a:t>5.7</a:t>
            </a:r>
            <a:r>
              <a:rPr lang="en-US" altLang="zh-CN" sz="3085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zh-CN" sz="3085" b="1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  <a:r>
              <a:rPr lang="en-US" altLang="zh-CN" sz="3085" b="1" baseline="30000">
                <a:solidFill>
                  <a:srgbClr val="FF0000"/>
                </a:solidFill>
                <a:latin typeface="Arial" panose="020B0604020202020204" pitchFamily="34" charset="0"/>
              </a:rPr>
              <a:t>5 </a:t>
            </a:r>
            <a:r>
              <a:rPr lang="en-US" altLang="zh-CN" sz="3085" b="1">
                <a:solidFill>
                  <a:srgbClr val="FF0000"/>
                </a:solidFill>
                <a:latin typeface="Arial" panose="020B0604020202020204" pitchFamily="34" charset="0"/>
              </a:rPr>
              <a:t>: 1</a:t>
            </a:r>
            <a:endParaRPr lang="en-US" altLang="zh-CN" sz="3085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4" grpId="0"/>
      <p:bldP spid="65555" grpId="0"/>
      <p:bldP spid="65557" grpId="0"/>
      <p:bldP spid="65559" grpId="0"/>
      <p:bldP spid="655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665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怎么解决</a:t>
            </a:r>
            <a:r>
              <a:rPr lang="en-US" altLang="zh-CN"/>
              <a:t>?</a:t>
            </a:r>
            <a:endParaRPr lang="en-US" altLang="zh-CN"/>
          </a:p>
        </p:txBody>
      </p:sp>
      <p:pic>
        <p:nvPicPr>
          <p:cNvPr id="66573" name="图片 66572" descr="j02938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9175" y="83961"/>
            <a:ext cx="1037269" cy="1091494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6633" name="组合 66632"/>
          <p:cNvGrpSpPr/>
          <p:nvPr/>
        </p:nvGrpSpPr>
        <p:grpSpPr>
          <a:xfrm>
            <a:off x="980722" y="5961239"/>
            <a:ext cx="8756444" cy="1304896"/>
            <a:chOff x="384" y="2584"/>
            <a:chExt cx="5006" cy="746"/>
          </a:xfrm>
        </p:grpSpPr>
        <p:grpSp>
          <p:nvGrpSpPr>
            <p:cNvPr id="66615" name="组合 66614"/>
            <p:cNvGrpSpPr/>
            <p:nvPr/>
          </p:nvGrpSpPr>
          <p:grpSpPr>
            <a:xfrm>
              <a:off x="384" y="2584"/>
              <a:ext cx="5006" cy="271"/>
              <a:chOff x="384" y="2584"/>
              <a:chExt cx="5006" cy="271"/>
            </a:xfrm>
          </p:grpSpPr>
          <p:sp>
            <p:nvSpPr>
              <p:cNvPr id="66594" name="文本框 66593"/>
              <p:cNvSpPr txBox="1"/>
              <p:nvPr/>
            </p:nvSpPr>
            <p:spPr>
              <a:xfrm>
                <a:off x="384" y="2584"/>
                <a:ext cx="785" cy="246"/>
              </a:xfrm>
              <a:prstGeom prst="rect">
                <a:avLst/>
              </a:prstGeom>
              <a:solidFill>
                <a:srgbClr val="EAEAEA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p>
                <a:pPr algn="ctr"/>
                <a:r>
                  <a:rPr lang="zh-CN" altLang="en-US" sz="2205" b="1" dirty="0">
                    <a:solidFill>
                      <a:srgbClr val="0F0C19"/>
                    </a:solidFill>
                    <a:latin typeface="Arial" panose="020B0604020202020204" pitchFamily="34" charset="0"/>
                  </a:rPr>
                  <a:t>某程序</a:t>
                </a:r>
                <a:endParaRPr lang="zh-CN" altLang="en-US" sz="2205" b="1">
                  <a:solidFill>
                    <a:srgbClr val="0F0C19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6595" name="直接连接符 66594"/>
              <p:cNvSpPr/>
              <p:nvPr/>
            </p:nvSpPr>
            <p:spPr>
              <a:xfrm>
                <a:off x="1169" y="2735"/>
                <a:ext cx="576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66596" name="文本框 66595"/>
              <p:cNvSpPr txBox="1"/>
              <p:nvPr/>
            </p:nvSpPr>
            <p:spPr>
              <a:xfrm>
                <a:off x="1748" y="2602"/>
                <a:ext cx="1178" cy="2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205" b="1">
                    <a:solidFill>
                      <a:srgbClr val="0F0C19"/>
                    </a:solidFill>
                    <a:latin typeface="Arial" panose="020B0604020202020204" pitchFamily="34" charset="0"/>
                  </a:rPr>
                  <a:t>(</a:t>
                </a:r>
                <a:r>
                  <a:rPr lang="zh-CN" altLang="en-US" sz="2205" b="1" dirty="0">
                    <a:solidFill>
                      <a:srgbClr val="0F0C19"/>
                    </a:solidFill>
                    <a:latin typeface="Arial" panose="020B0604020202020204" pitchFamily="34" charset="0"/>
                  </a:rPr>
                  <a:t>等待文件输出</a:t>
                </a:r>
                <a:r>
                  <a:rPr lang="en-US" altLang="zh-CN" sz="2205" b="1">
                    <a:solidFill>
                      <a:srgbClr val="0F0C19"/>
                    </a:solidFill>
                    <a:latin typeface="Arial" panose="020B0604020202020204" pitchFamily="34" charset="0"/>
                  </a:rPr>
                  <a:t>)</a:t>
                </a:r>
                <a:endParaRPr lang="en-US" altLang="zh-CN" sz="4850">
                  <a:solidFill>
                    <a:srgbClr val="0F0C19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6597" name="直接连接符 66596"/>
              <p:cNvSpPr/>
              <p:nvPr/>
            </p:nvSpPr>
            <p:spPr>
              <a:xfrm flipV="1">
                <a:off x="2945" y="2726"/>
                <a:ext cx="624" cy="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66598" name="直接连接符 66597"/>
              <p:cNvSpPr/>
              <p:nvPr/>
            </p:nvSpPr>
            <p:spPr>
              <a:xfrm>
                <a:off x="2945" y="2604"/>
                <a:ext cx="0" cy="240"/>
              </a:xfrm>
              <a:prstGeom prst="line">
                <a:avLst/>
              </a:prstGeom>
              <a:ln w="57150" cap="flat" cmpd="sng">
                <a:solidFill>
                  <a:srgbClr val="0F0C19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599" name="直接连接符 66598"/>
              <p:cNvSpPr/>
              <p:nvPr/>
            </p:nvSpPr>
            <p:spPr>
              <a:xfrm>
                <a:off x="1745" y="2603"/>
                <a:ext cx="0" cy="240"/>
              </a:xfrm>
              <a:prstGeom prst="line">
                <a:avLst/>
              </a:prstGeom>
              <a:ln w="57150" cap="flat" cmpd="sng">
                <a:solidFill>
                  <a:srgbClr val="0F0C19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600" name="文本框 66599"/>
              <p:cNvSpPr txBox="1"/>
              <p:nvPr/>
            </p:nvSpPr>
            <p:spPr>
              <a:xfrm>
                <a:off x="3569" y="2609"/>
                <a:ext cx="1178" cy="2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205" b="1">
                    <a:solidFill>
                      <a:srgbClr val="0F0C19"/>
                    </a:solidFill>
                    <a:latin typeface="Arial" panose="020B0604020202020204" pitchFamily="34" charset="0"/>
                  </a:rPr>
                  <a:t>(</a:t>
                </a:r>
                <a:r>
                  <a:rPr lang="zh-CN" altLang="en-US" sz="2205" b="1" dirty="0">
                    <a:solidFill>
                      <a:srgbClr val="0F0C19"/>
                    </a:solidFill>
                    <a:latin typeface="Arial" panose="020B0604020202020204" pitchFamily="34" charset="0"/>
                  </a:rPr>
                  <a:t>等待文件输出</a:t>
                </a:r>
                <a:r>
                  <a:rPr lang="en-US" altLang="zh-CN" sz="2205" b="1">
                    <a:solidFill>
                      <a:srgbClr val="0F0C19"/>
                    </a:solidFill>
                    <a:latin typeface="Arial" panose="020B0604020202020204" pitchFamily="34" charset="0"/>
                  </a:rPr>
                  <a:t>)</a:t>
                </a:r>
                <a:endParaRPr lang="en-US" altLang="zh-CN" sz="4850">
                  <a:solidFill>
                    <a:srgbClr val="0F0C19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6601" name="直接连接符 66600"/>
              <p:cNvSpPr/>
              <p:nvPr/>
            </p:nvSpPr>
            <p:spPr>
              <a:xfrm flipV="1">
                <a:off x="4766" y="2735"/>
                <a:ext cx="624" cy="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66602" name="直接连接符 66601"/>
              <p:cNvSpPr/>
              <p:nvPr/>
            </p:nvSpPr>
            <p:spPr>
              <a:xfrm>
                <a:off x="4766" y="2611"/>
                <a:ext cx="0" cy="240"/>
              </a:xfrm>
              <a:prstGeom prst="line">
                <a:avLst/>
              </a:prstGeom>
              <a:ln w="57150" cap="flat" cmpd="sng">
                <a:solidFill>
                  <a:srgbClr val="0F0C19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6603" name="直接连接符 66602"/>
              <p:cNvSpPr/>
              <p:nvPr/>
            </p:nvSpPr>
            <p:spPr>
              <a:xfrm>
                <a:off x="3566" y="2610"/>
                <a:ext cx="0" cy="240"/>
              </a:xfrm>
              <a:prstGeom prst="line">
                <a:avLst/>
              </a:prstGeom>
              <a:ln w="57150" cap="flat" cmpd="sng">
                <a:solidFill>
                  <a:srgbClr val="0F0C19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66605" name="文本框 66604"/>
            <p:cNvSpPr txBox="1"/>
            <p:nvPr/>
          </p:nvSpPr>
          <p:spPr>
            <a:xfrm>
              <a:off x="955" y="3084"/>
              <a:ext cx="785" cy="246"/>
            </a:xfrm>
            <a:prstGeom prst="rect">
              <a:avLst/>
            </a:prstGeom>
            <a:solidFill>
              <a:srgbClr val="EAEAEA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p>
              <a:pPr algn="ctr"/>
              <a:r>
                <a:rPr lang="zh-CN" altLang="en-US" sz="2205" b="1" dirty="0">
                  <a:solidFill>
                    <a:srgbClr val="0F0C19"/>
                  </a:solidFill>
                  <a:latin typeface="Arial" panose="020B0604020202020204" pitchFamily="34" charset="0"/>
                </a:rPr>
                <a:t>其他程序</a:t>
              </a:r>
              <a:endParaRPr lang="zh-CN" altLang="en-US" sz="2205" b="1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606" name="直接连接符 66605"/>
            <p:cNvSpPr/>
            <p:nvPr/>
          </p:nvSpPr>
          <p:spPr>
            <a:xfrm>
              <a:off x="1740" y="3215"/>
              <a:ext cx="1197" cy="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66607" name="文本框 66606"/>
            <p:cNvSpPr txBox="1"/>
            <p:nvPr/>
          </p:nvSpPr>
          <p:spPr>
            <a:xfrm>
              <a:off x="2991" y="3082"/>
              <a:ext cx="534" cy="2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5" b="1">
                  <a:solidFill>
                    <a:srgbClr val="0F0C19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2205" b="1" dirty="0">
                  <a:solidFill>
                    <a:srgbClr val="0F0C19"/>
                  </a:solidFill>
                  <a:latin typeface="Arial" panose="020B0604020202020204" pitchFamily="34" charset="0"/>
                </a:rPr>
                <a:t>等待</a:t>
              </a:r>
              <a:r>
                <a:rPr lang="en-US" altLang="zh-CN" sz="2205" b="1">
                  <a:solidFill>
                    <a:srgbClr val="0F0C19"/>
                  </a:solidFill>
                  <a:latin typeface="Arial" panose="020B0604020202020204" pitchFamily="34" charset="0"/>
                </a:rPr>
                <a:t>)</a:t>
              </a:r>
              <a:endParaRPr lang="en-US" altLang="zh-CN" sz="4850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608" name="直接连接符 66607"/>
            <p:cNvSpPr/>
            <p:nvPr/>
          </p:nvSpPr>
          <p:spPr>
            <a:xfrm>
              <a:off x="3561" y="3210"/>
              <a:ext cx="1200" cy="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66609" name="直接连接符 66608"/>
            <p:cNvSpPr/>
            <p:nvPr/>
          </p:nvSpPr>
          <p:spPr>
            <a:xfrm>
              <a:off x="3561" y="3084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610" name="直接连接符 66609"/>
            <p:cNvSpPr/>
            <p:nvPr/>
          </p:nvSpPr>
          <p:spPr>
            <a:xfrm>
              <a:off x="2937" y="3083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627" name="文本框 66626"/>
            <p:cNvSpPr txBox="1"/>
            <p:nvPr/>
          </p:nvSpPr>
          <p:spPr>
            <a:xfrm>
              <a:off x="4809" y="3072"/>
              <a:ext cx="534" cy="2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5" b="1">
                  <a:solidFill>
                    <a:srgbClr val="0F0C19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2205" b="1" dirty="0">
                  <a:solidFill>
                    <a:srgbClr val="0F0C19"/>
                  </a:solidFill>
                  <a:latin typeface="Arial" panose="020B0604020202020204" pitchFamily="34" charset="0"/>
                </a:rPr>
                <a:t>等待</a:t>
              </a:r>
              <a:r>
                <a:rPr lang="en-US" altLang="zh-CN" sz="2205" b="1">
                  <a:solidFill>
                    <a:srgbClr val="0F0C19"/>
                  </a:solidFill>
                  <a:latin typeface="Arial" panose="020B0604020202020204" pitchFamily="34" charset="0"/>
                </a:rPr>
                <a:t>)</a:t>
              </a:r>
              <a:endParaRPr lang="en-US" altLang="zh-CN" sz="4850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629" name="直接连接符 66628"/>
            <p:cNvSpPr/>
            <p:nvPr/>
          </p:nvSpPr>
          <p:spPr>
            <a:xfrm>
              <a:off x="5379" y="3074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630" name="直接连接符 66629"/>
            <p:cNvSpPr/>
            <p:nvPr/>
          </p:nvSpPr>
          <p:spPr>
            <a:xfrm>
              <a:off x="4755" y="3073"/>
              <a:ext cx="0" cy="240"/>
            </a:xfrm>
            <a:prstGeom prst="line">
              <a:avLst/>
            </a:prstGeom>
            <a:ln w="57150" cap="flat" cmpd="sng">
              <a:solidFill>
                <a:srgbClr val="0F0C19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6632" name="矩形 66631"/>
          <p:cNvSpPr/>
          <p:nvPr/>
        </p:nvSpPr>
        <p:spPr>
          <a:xfrm>
            <a:off x="980722" y="5121628"/>
            <a:ext cx="8728457" cy="7556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现在变成了这个样子</a:t>
            </a:r>
            <a:r>
              <a:rPr lang="zh-CN" altLang="en-US" sz="3085">
                <a:solidFill>
                  <a:srgbClr val="FF0000"/>
                </a:solidFill>
              </a:rPr>
              <a:t> </a:t>
            </a:r>
            <a:endParaRPr lang="zh-CN" altLang="en-US" sz="3085">
              <a:solidFill>
                <a:srgbClr val="FF0000"/>
              </a:solidFill>
            </a:endParaRPr>
          </a:p>
        </p:txBody>
      </p:sp>
      <p:sp>
        <p:nvSpPr>
          <p:cNvPr id="66636" name="矩形 66635"/>
          <p:cNvSpPr/>
          <p:nvPr/>
        </p:nvSpPr>
        <p:spPr>
          <a:xfrm>
            <a:off x="1316567" y="1198196"/>
            <a:ext cx="2770717" cy="392343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6637" name="文本框 66636"/>
          <p:cNvSpPr txBox="1"/>
          <p:nvPr/>
        </p:nvSpPr>
        <p:spPr>
          <a:xfrm>
            <a:off x="1232606" y="1282157"/>
            <a:ext cx="2854678" cy="3793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205" b="1" dirty="0"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0000"/>
                </a:solidFill>
                <a:latin typeface="Tahoma" panose="020B0604030504040204" pitchFamily="34" charset="0"/>
              </a:rPr>
              <a:t>50:</a:t>
            </a: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 err="1">
                <a:latin typeface="Tahoma" panose="020B0604030504040204" pitchFamily="34" charset="0"/>
              </a:rPr>
              <a:t>mov</a:t>
            </a:r>
            <a:r>
              <a:rPr lang="en-US" altLang="zh-CN" sz="2205" b="1">
                <a:latin typeface="Tahoma" panose="020B0604030504040204" pitchFamily="34" charset="0"/>
              </a:rPr>
              <a:t> ax, [100]</a:t>
            </a:r>
            <a:endParaRPr lang="en-US" altLang="zh-CN" sz="2205" b="1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0000"/>
                </a:solidFill>
                <a:latin typeface="Tahoma" panose="020B0604030504040204" pitchFamily="34" charset="0"/>
              </a:rPr>
              <a:t>51:</a:t>
            </a: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 err="1">
                <a:latin typeface="Tahoma" panose="020B0604030504040204" pitchFamily="34" charset="0"/>
              </a:rPr>
              <a:t>mov</a:t>
            </a: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 err="1">
                <a:latin typeface="Tahoma" panose="020B0604030504040204" pitchFamily="34" charset="0"/>
              </a:rPr>
              <a:t>bx</a:t>
            </a:r>
            <a:r>
              <a:rPr lang="en-US" altLang="zh-CN" sz="2205" b="1">
                <a:latin typeface="Tahoma" panose="020B0604030504040204" pitchFamily="34" charset="0"/>
              </a:rPr>
              <a:t>, [101]</a:t>
            </a:r>
            <a:endParaRPr lang="en-US" altLang="zh-CN" sz="2205" b="1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0000"/>
                </a:solidFill>
                <a:latin typeface="Tahoma" panose="020B0604030504040204" pitchFamily="34" charset="0"/>
              </a:rPr>
              <a:t>52:</a:t>
            </a:r>
            <a:r>
              <a:rPr lang="en-US" altLang="zh-CN" sz="2205" b="1">
                <a:latin typeface="Tahoma" panose="020B0604030504040204" pitchFamily="34" charset="0"/>
              </a:rPr>
              <a:t> add ax, </a:t>
            </a:r>
            <a:r>
              <a:rPr lang="en-US" altLang="zh-CN" sz="2205" b="1" err="1">
                <a:latin typeface="Tahoma" panose="020B0604030504040204" pitchFamily="34" charset="0"/>
              </a:rPr>
              <a:t>bx</a:t>
            </a:r>
            <a:endParaRPr lang="en-US" altLang="zh-CN" sz="2205" b="1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3300"/>
                </a:solidFill>
                <a:latin typeface="Tahoma" panose="020B0604030504040204" pitchFamily="34" charset="0"/>
              </a:rPr>
              <a:t>53:</a:t>
            </a:r>
            <a:r>
              <a:rPr lang="en-US" altLang="zh-CN" sz="2205" b="1">
                <a:latin typeface="Tahoma" panose="020B0604030504040204" pitchFamily="34" charset="0"/>
              </a:rPr>
              <a:t> </a:t>
            </a:r>
            <a:r>
              <a:rPr lang="zh-CN" altLang="en-US" sz="2205" b="1" dirty="0">
                <a:solidFill>
                  <a:srgbClr val="FF3300"/>
                </a:solidFill>
                <a:latin typeface="Tahoma" panose="020B0604030504040204" pitchFamily="34" charset="0"/>
              </a:rPr>
              <a:t>启动磁盘读写</a:t>
            </a:r>
            <a:endParaRPr lang="zh-CN" altLang="en-US" sz="2205" b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205" b="1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3300"/>
                </a:solidFill>
                <a:latin typeface="Tahoma" panose="020B0604030504040204" pitchFamily="34" charset="0"/>
              </a:rPr>
              <a:t>54: </a:t>
            </a:r>
            <a:r>
              <a:rPr lang="en-US" altLang="zh-CN" sz="2205" b="1" err="1">
                <a:latin typeface="Tahoma" panose="020B0604030504040204" pitchFamily="34" charset="0"/>
              </a:rPr>
              <a:t>xxxx</a:t>
            </a:r>
            <a:endParaRPr lang="en-US" altLang="zh-CN" sz="2205" b="1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en-US" altLang="zh-CN" sz="1320" b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205">
                <a:latin typeface="Tahoma" panose="020B0604030504040204" pitchFamily="34" charset="0"/>
              </a:rPr>
              <a:t> </a:t>
            </a:r>
            <a:r>
              <a:rPr lang="en-US" altLang="zh-CN" sz="2205" b="1">
                <a:solidFill>
                  <a:srgbClr val="FF0000"/>
                </a:solidFill>
                <a:latin typeface="Tahoma" panose="020B0604030504040204" pitchFamily="34" charset="0"/>
              </a:rPr>
              <a:t>100:</a:t>
            </a:r>
            <a:r>
              <a:rPr lang="en-US" altLang="zh-CN" sz="2205" b="1">
                <a:latin typeface="Tahoma" panose="020B0604030504040204" pitchFamily="34" charset="0"/>
              </a:rPr>
              <a:t> 0</a:t>
            </a:r>
            <a:endParaRPr lang="en-US" altLang="zh-CN" sz="2205" b="1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205" b="1">
                <a:solidFill>
                  <a:srgbClr val="FF0000"/>
                </a:solidFill>
                <a:latin typeface="Tahoma" panose="020B0604030504040204" pitchFamily="34" charset="0"/>
              </a:rPr>
              <a:t> 101:</a:t>
            </a:r>
            <a:r>
              <a:rPr lang="en-US" altLang="zh-CN" sz="2205" b="1">
                <a:latin typeface="Tahoma" panose="020B0604030504040204" pitchFamily="34" charset="0"/>
              </a:rPr>
              <a:t> 1</a:t>
            </a:r>
            <a:endParaRPr lang="en-US" altLang="zh-CN" sz="2205" b="1">
              <a:latin typeface="Tahoma" panose="020B0604030504040204" pitchFamily="34" charset="0"/>
            </a:endParaRPr>
          </a:p>
        </p:txBody>
      </p:sp>
      <p:sp>
        <p:nvSpPr>
          <p:cNvPr id="66638" name="圆角矩形标注 66637"/>
          <p:cNvSpPr/>
          <p:nvPr/>
        </p:nvSpPr>
        <p:spPr>
          <a:xfrm>
            <a:off x="3919361" y="2709496"/>
            <a:ext cx="1847144" cy="587728"/>
          </a:xfrm>
          <a:prstGeom prst="wedgeRoundRectCallout">
            <a:avLst>
              <a:gd name="adj1" fmla="val -64773"/>
              <a:gd name="adj2" fmla="val -11310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该怎么办</a:t>
            </a:r>
            <a:r>
              <a:rPr lang="en-US" altLang="zh-CN" sz="2645" b="1">
                <a:latin typeface="Arial" panose="020B0604020202020204" pitchFamily="34" charset="0"/>
              </a:rPr>
              <a:t>?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6639" name="右箭头 66638"/>
          <p:cNvSpPr/>
          <p:nvPr/>
        </p:nvSpPr>
        <p:spPr>
          <a:xfrm rot="5400000">
            <a:off x="267053" y="2079787"/>
            <a:ext cx="1847144" cy="83961"/>
          </a:xfrm>
          <a:prstGeom prst="rightArrow">
            <a:avLst>
              <a:gd name="adj1" fmla="val 50000"/>
              <a:gd name="adj2" fmla="val 550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grpSp>
        <p:nvGrpSpPr>
          <p:cNvPr id="66640" name="组合 66639"/>
          <p:cNvGrpSpPr/>
          <p:nvPr/>
        </p:nvGrpSpPr>
        <p:grpSpPr>
          <a:xfrm>
            <a:off x="5934428" y="1869884"/>
            <a:ext cx="2854678" cy="3503627"/>
            <a:chOff x="4080" y="1728"/>
            <a:chExt cx="1632" cy="2003"/>
          </a:xfrm>
        </p:grpSpPr>
        <p:sp>
          <p:nvSpPr>
            <p:cNvPr id="66641" name="矩形 66640"/>
            <p:cNvSpPr/>
            <p:nvPr/>
          </p:nvSpPr>
          <p:spPr>
            <a:xfrm>
              <a:off x="4128" y="1728"/>
              <a:ext cx="1584" cy="200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66642" name="文本框 66641"/>
            <p:cNvSpPr txBox="1"/>
            <p:nvPr/>
          </p:nvSpPr>
          <p:spPr>
            <a:xfrm>
              <a:off x="4080" y="1728"/>
              <a:ext cx="1632" cy="1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200: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xxxx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201: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xxxx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202: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xxxx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205" b="1">
                <a:solidFill>
                  <a:srgbClr val="FF33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endParaRPr lang="en-US" altLang="zh-CN" sz="2205" b="1" u="sng">
                <a:solidFill>
                  <a:srgbClr val="FF33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</p:grpSp>
      <p:sp>
        <p:nvSpPr>
          <p:cNvPr id="66644" name="直接连接符 66643"/>
          <p:cNvSpPr/>
          <p:nvPr/>
        </p:nvSpPr>
        <p:spPr>
          <a:xfrm flipV="1">
            <a:off x="1316567" y="2037807"/>
            <a:ext cx="4282017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45" name="右箭头 66644"/>
          <p:cNvSpPr/>
          <p:nvPr/>
        </p:nvSpPr>
        <p:spPr>
          <a:xfrm rot="5400000">
            <a:off x="5094817" y="2625534"/>
            <a:ext cx="1427339" cy="83961"/>
          </a:xfrm>
          <a:prstGeom prst="rightArrow">
            <a:avLst>
              <a:gd name="adj1" fmla="val 50000"/>
              <a:gd name="adj2" fmla="val 425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32" grpId="0"/>
      <p:bldP spid="6663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标题 675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单道程序</a:t>
            </a:r>
            <a:r>
              <a:rPr lang="zh-CN" altLang="en-US"/>
              <a:t> </a:t>
            </a:r>
            <a:r>
              <a:rPr lang="zh-CN" altLang="en-US" dirty="0"/>
              <a:t> 与  多道程序</a:t>
            </a:r>
            <a:endParaRPr lang="zh-CN" altLang="en-US" dirty="0"/>
          </a:p>
        </p:txBody>
      </p:sp>
      <p:sp>
        <p:nvSpPr>
          <p:cNvPr id="67587" name="矩形 67586"/>
          <p:cNvSpPr/>
          <p:nvPr/>
        </p:nvSpPr>
        <p:spPr>
          <a:xfrm>
            <a:off x="1983009" y="2546820"/>
            <a:ext cx="701425" cy="447793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590" name="矩形 67589"/>
          <p:cNvSpPr/>
          <p:nvPr/>
        </p:nvSpPr>
        <p:spPr>
          <a:xfrm>
            <a:off x="392994" y="1931106"/>
            <a:ext cx="1595261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rPr>
              <a:t>单道程序：</a:t>
            </a:r>
            <a:endParaRPr lang="zh-CN" altLang="en-US" sz="2645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7594" name="矩形 67593"/>
          <p:cNvSpPr/>
          <p:nvPr/>
        </p:nvSpPr>
        <p:spPr>
          <a:xfrm>
            <a:off x="2324012" y="3452901"/>
            <a:ext cx="273050" cy="4584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2975" b="1">
                <a:solidFill>
                  <a:schemeClr val="tx2"/>
                </a:solidFill>
                <a:latin typeface="Arial" panose="020B0604020202020204" pitchFamily="34" charset="0"/>
              </a:rPr>
              <a:t>A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595" name="矩形 67594"/>
          <p:cNvSpPr/>
          <p:nvPr/>
        </p:nvSpPr>
        <p:spPr>
          <a:xfrm>
            <a:off x="2324012" y="4371226"/>
            <a:ext cx="273050" cy="4584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2975" b="1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596" name="直接连接符 67595"/>
          <p:cNvSpPr/>
          <p:nvPr/>
        </p:nvSpPr>
        <p:spPr>
          <a:xfrm flipV="1">
            <a:off x="2575983" y="4110596"/>
            <a:ext cx="7133196" cy="349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7" name="任意多边形 67596"/>
          <p:cNvSpPr/>
          <p:nvPr/>
        </p:nvSpPr>
        <p:spPr>
          <a:xfrm>
            <a:off x="9709179" y="4058120"/>
            <a:ext cx="278122" cy="101453"/>
          </a:xfrm>
          <a:custGeom>
            <a:avLst/>
            <a:gdLst/>
            <a:ahLst/>
            <a:cxnLst/>
            <a:pathLst>
              <a:path w="159" h="58">
                <a:moveTo>
                  <a:pt x="0" y="0"/>
                </a:moveTo>
                <a:lnTo>
                  <a:pt x="159" y="29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7598" name="直接连接符 67597"/>
          <p:cNvSpPr/>
          <p:nvPr/>
        </p:nvSpPr>
        <p:spPr>
          <a:xfrm>
            <a:off x="2575983" y="4030133"/>
            <a:ext cx="1750" cy="14868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01" name="直接连接符 67600"/>
          <p:cNvSpPr/>
          <p:nvPr/>
        </p:nvSpPr>
        <p:spPr>
          <a:xfrm>
            <a:off x="8656167" y="4042378"/>
            <a:ext cx="1750" cy="148681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05" name="矩形 67604"/>
          <p:cNvSpPr/>
          <p:nvPr/>
        </p:nvSpPr>
        <p:spPr>
          <a:xfrm>
            <a:off x="2914821" y="3643563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CPU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07" name="矩形 67606"/>
          <p:cNvSpPr/>
          <p:nvPr/>
        </p:nvSpPr>
        <p:spPr>
          <a:xfrm>
            <a:off x="4132045" y="3643563"/>
            <a:ext cx="65913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DEV1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09" name="矩形 67608"/>
          <p:cNvSpPr/>
          <p:nvPr/>
        </p:nvSpPr>
        <p:spPr>
          <a:xfrm>
            <a:off x="6918505" y="3643563"/>
            <a:ext cx="65913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DEV2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10" name="矩形 67609"/>
          <p:cNvSpPr/>
          <p:nvPr/>
        </p:nvSpPr>
        <p:spPr>
          <a:xfrm>
            <a:off x="7573419" y="3752013"/>
            <a:ext cx="857103" cy="295613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11" name="矩形 67610"/>
          <p:cNvSpPr/>
          <p:nvPr/>
        </p:nvSpPr>
        <p:spPr>
          <a:xfrm>
            <a:off x="8332062" y="3643563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CPU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12" name="矩形 67611"/>
          <p:cNvSpPr/>
          <p:nvPr/>
        </p:nvSpPr>
        <p:spPr>
          <a:xfrm>
            <a:off x="4890162" y="3752013"/>
            <a:ext cx="857103" cy="295613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13" name="矩形 67612"/>
          <p:cNvSpPr/>
          <p:nvPr/>
        </p:nvSpPr>
        <p:spPr>
          <a:xfrm>
            <a:off x="5911183" y="3643563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CPU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14" name="矩形 67613"/>
          <p:cNvSpPr/>
          <p:nvPr/>
        </p:nvSpPr>
        <p:spPr>
          <a:xfrm>
            <a:off x="3819658" y="4215547"/>
            <a:ext cx="505515" cy="276372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15" name="矩形 67614"/>
          <p:cNvSpPr/>
          <p:nvPr/>
        </p:nvSpPr>
        <p:spPr>
          <a:xfrm>
            <a:off x="4020535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10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16" name="矩形 67615"/>
          <p:cNvSpPr/>
          <p:nvPr/>
        </p:nvSpPr>
        <p:spPr>
          <a:xfrm>
            <a:off x="4650522" y="4215547"/>
            <a:ext cx="510763" cy="276372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17" name="矩形 67616"/>
          <p:cNvSpPr/>
          <p:nvPr/>
        </p:nvSpPr>
        <p:spPr>
          <a:xfrm>
            <a:off x="4944107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15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18" name="矩形 67617"/>
          <p:cNvSpPr/>
          <p:nvPr/>
        </p:nvSpPr>
        <p:spPr>
          <a:xfrm>
            <a:off x="5441156" y="4215547"/>
            <a:ext cx="505516" cy="276372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19" name="矩形 67618"/>
          <p:cNvSpPr/>
          <p:nvPr/>
        </p:nvSpPr>
        <p:spPr>
          <a:xfrm>
            <a:off x="5867679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20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0" name="矩形 67619"/>
          <p:cNvSpPr/>
          <p:nvPr/>
        </p:nvSpPr>
        <p:spPr>
          <a:xfrm>
            <a:off x="7048662" y="4215547"/>
            <a:ext cx="503767" cy="276372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21" name="矩形 67620"/>
          <p:cNvSpPr/>
          <p:nvPr/>
        </p:nvSpPr>
        <p:spPr>
          <a:xfrm>
            <a:off x="7378979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30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2" name="矩形 67621"/>
          <p:cNvSpPr/>
          <p:nvPr/>
        </p:nvSpPr>
        <p:spPr>
          <a:xfrm>
            <a:off x="8563461" y="4215547"/>
            <a:ext cx="503767" cy="276372"/>
          </a:xfrm>
          <a:prstGeom prst="rect">
            <a:avLst/>
          </a:prstGeom>
          <a:noFill/>
          <a:ln w="6350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23" name="矩形 67622"/>
          <p:cNvSpPr/>
          <p:nvPr/>
        </p:nvSpPr>
        <p:spPr>
          <a:xfrm>
            <a:off x="8722357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40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4" name="矩形 67623"/>
          <p:cNvSpPr/>
          <p:nvPr/>
        </p:nvSpPr>
        <p:spPr>
          <a:xfrm>
            <a:off x="10296588" y="3863961"/>
            <a:ext cx="93345" cy="40767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2645" b="1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6" name="矩形 67625"/>
          <p:cNvSpPr/>
          <p:nvPr/>
        </p:nvSpPr>
        <p:spPr>
          <a:xfrm>
            <a:off x="6623329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25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7" name="矩形 67626"/>
          <p:cNvSpPr/>
          <p:nvPr/>
        </p:nvSpPr>
        <p:spPr>
          <a:xfrm>
            <a:off x="2897117" y="4365978"/>
            <a:ext cx="65913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DEV1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28" name="矩形 67627"/>
          <p:cNvSpPr/>
          <p:nvPr/>
        </p:nvSpPr>
        <p:spPr>
          <a:xfrm>
            <a:off x="4609786" y="4365978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CPU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0" name="矩形 67629"/>
          <p:cNvSpPr/>
          <p:nvPr/>
        </p:nvSpPr>
        <p:spPr>
          <a:xfrm>
            <a:off x="8050668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35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1" name="直接连接符 67630"/>
          <p:cNvSpPr/>
          <p:nvPr/>
        </p:nvSpPr>
        <p:spPr>
          <a:xfrm>
            <a:off x="9462544" y="4031883"/>
            <a:ext cx="1749" cy="153929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32" name="矩形 67631"/>
          <p:cNvSpPr/>
          <p:nvPr/>
        </p:nvSpPr>
        <p:spPr>
          <a:xfrm>
            <a:off x="9478007" y="4114094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55" b="1">
                <a:solidFill>
                  <a:schemeClr val="tx2"/>
                </a:solidFill>
                <a:latin typeface="Arial" panose="020B0604020202020204" pitchFamily="34" charset="0"/>
              </a:rPr>
              <a:t>45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3" name="直接连接符 67632"/>
          <p:cNvSpPr/>
          <p:nvPr/>
        </p:nvSpPr>
        <p:spPr>
          <a:xfrm>
            <a:off x="5094817" y="3788745"/>
            <a:ext cx="50376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34" name="矩形 67633"/>
          <p:cNvSpPr/>
          <p:nvPr/>
        </p:nvSpPr>
        <p:spPr>
          <a:xfrm>
            <a:off x="5827010" y="4365978"/>
            <a:ext cx="65913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DEV2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5" name="矩形 67634"/>
          <p:cNvSpPr/>
          <p:nvPr/>
        </p:nvSpPr>
        <p:spPr>
          <a:xfrm>
            <a:off x="6680827" y="4365978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CPU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6" name="矩形 67635"/>
          <p:cNvSpPr/>
          <p:nvPr/>
        </p:nvSpPr>
        <p:spPr>
          <a:xfrm>
            <a:off x="8372081" y="4365978"/>
            <a:ext cx="65913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985" b="1">
                <a:solidFill>
                  <a:schemeClr val="tx2"/>
                </a:solidFill>
                <a:latin typeface="Arial" panose="020B0604020202020204" pitchFamily="34" charset="0"/>
              </a:rPr>
              <a:t>DEV2</a:t>
            </a:r>
            <a:endParaRPr lang="en-US" altLang="zh-CN" sz="2645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637" name="直接连接符 67636"/>
          <p:cNvSpPr/>
          <p:nvPr/>
        </p:nvSpPr>
        <p:spPr>
          <a:xfrm>
            <a:off x="7445728" y="4556640"/>
            <a:ext cx="419806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7902" name="内容占位符 67901"/>
          <p:cNvGraphicFramePr/>
          <p:nvPr>
            <p:ph idx="1"/>
          </p:nvPr>
        </p:nvGraphicFramePr>
        <p:xfrm>
          <a:off x="1988256" y="5037667"/>
          <a:ext cx="7148830" cy="1948180"/>
        </p:xfrm>
        <a:graphic>
          <a:graphicData uri="http://schemas.openxmlformats.org/drawingml/2006/table">
            <a:tbl>
              <a:tblPr/>
              <a:tblGrid>
                <a:gridCol w="2382520"/>
                <a:gridCol w="2383790"/>
                <a:gridCol w="2382520"/>
              </a:tblGrid>
              <a:tr h="47053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205" dirty="0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5" dirty="0">
                          <a:solidFill>
                            <a:srgbClr val="FF0000"/>
                          </a:solidFill>
                        </a:rPr>
                        <a:t>单道程序</a:t>
                      </a:r>
                      <a:endParaRPr lang="zh-CN" altLang="en-US" sz="2205">
                        <a:solidFill>
                          <a:srgbClr val="FF0000"/>
                        </a:solidFill>
                      </a:endParaRPr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5" dirty="0">
                          <a:solidFill>
                            <a:srgbClr val="FF0000"/>
                          </a:solidFill>
                        </a:rPr>
                        <a:t>多道程序</a:t>
                      </a:r>
                      <a:endParaRPr lang="zh-CN" altLang="en-US" sz="2205" dirty="0">
                        <a:solidFill>
                          <a:srgbClr val="FF0000"/>
                        </a:solidFill>
                      </a:endParaRPr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CPU</a:t>
                      </a:r>
                      <a:r>
                        <a:rPr lang="zh-CN" altLang="en-US" sz="2205" dirty="0"/>
                        <a:t>利用率</a:t>
                      </a:r>
                      <a:endParaRPr lang="zh-CN" altLang="en-US" sz="2205" dirty="0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40/80=50%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40/45=89%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39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DEV1</a:t>
                      </a:r>
                      <a:r>
                        <a:rPr lang="zh-CN" altLang="en-US" sz="2205" dirty="0"/>
                        <a:t>利用率</a:t>
                      </a:r>
                      <a:endParaRPr lang="zh-CN" altLang="en-US" sz="2205" dirty="0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15/80=18.75%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15/45=33%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DEV2</a:t>
                      </a:r>
                      <a:r>
                        <a:rPr lang="zh-CN" altLang="en-US" sz="2205" dirty="0"/>
                        <a:t>利用率</a:t>
                      </a:r>
                      <a:endParaRPr lang="zh-CN" altLang="en-US" sz="2205" dirty="0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25/80=31.25%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3300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400" b="1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6600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5000"/>
                        <a:buFont typeface="Webdings" panose="05030102010509060703" pitchFamily="18" charset="2"/>
                        <a:buChar char="4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75000"/>
                        <a:buFont typeface="Times New Roman" panose="02020603050405020304" pitchFamily="18" charset="0"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66"/>
                        </a:buClr>
                        <a:buSzPct val="75000"/>
                        <a:buFont typeface="Times New Roman" panose="02020603050405020304" pitchFamily="18" charset="0"/>
                        <a:buChar char="»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5"/>
                        <a:t>25/45=56%</a:t>
                      </a:r>
                      <a:endParaRPr lang="zh-CN" altLang="en-US" sz="2205"/>
                    </a:p>
                  </a:txBody>
                  <a:tcPr marL="100753" marR="100753" marT="50376" marB="5037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64" name="矩形 67663"/>
          <p:cNvSpPr/>
          <p:nvPr/>
        </p:nvSpPr>
        <p:spPr>
          <a:xfrm>
            <a:off x="1983009" y="2559065"/>
            <a:ext cx="610870" cy="4749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3085" b="1">
                <a:latin typeface="Arial" panose="020B0604020202020204" pitchFamily="34" charset="0"/>
              </a:rPr>
              <a:t>   B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66" name="矩形 67665"/>
          <p:cNvSpPr/>
          <p:nvPr/>
        </p:nvSpPr>
        <p:spPr>
          <a:xfrm>
            <a:off x="7597908" y="2394641"/>
            <a:ext cx="853605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67" name="矩形 67666"/>
          <p:cNvSpPr/>
          <p:nvPr/>
        </p:nvSpPr>
        <p:spPr>
          <a:xfrm>
            <a:off x="7597908" y="2406885"/>
            <a:ext cx="80010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DEV2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68" name="矩形 67667"/>
          <p:cNvSpPr/>
          <p:nvPr/>
        </p:nvSpPr>
        <p:spPr>
          <a:xfrm>
            <a:off x="7765830" y="2712994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69" name="直接连接符 67668"/>
          <p:cNvSpPr/>
          <p:nvPr/>
        </p:nvSpPr>
        <p:spPr>
          <a:xfrm>
            <a:off x="2596974" y="2767218"/>
            <a:ext cx="7371086" cy="1750"/>
          </a:xfrm>
          <a:prstGeom prst="line">
            <a:avLst/>
          </a:prstGeom>
          <a:ln w="14288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70" name="任意多边形 67669"/>
          <p:cNvSpPr/>
          <p:nvPr/>
        </p:nvSpPr>
        <p:spPr>
          <a:xfrm>
            <a:off x="9712678" y="2718241"/>
            <a:ext cx="279870" cy="97955"/>
          </a:xfrm>
          <a:custGeom>
            <a:avLst/>
            <a:gdLst/>
            <a:ahLst/>
            <a:cxnLst/>
            <a:pathLst>
              <a:path w="160" h="56">
                <a:moveTo>
                  <a:pt x="0" y="0"/>
                </a:moveTo>
                <a:lnTo>
                  <a:pt x="160" y="28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4288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7671" name="直接连接符 67670"/>
          <p:cNvSpPr/>
          <p:nvPr/>
        </p:nvSpPr>
        <p:spPr>
          <a:xfrm>
            <a:off x="2588228" y="2693752"/>
            <a:ext cx="1749" cy="153929"/>
          </a:xfrm>
          <a:prstGeom prst="line">
            <a:avLst/>
          </a:prstGeom>
          <a:ln w="14288">
            <a:noFill/>
          </a:ln>
        </p:spPr>
      </p:sp>
      <p:sp>
        <p:nvSpPr>
          <p:cNvPr id="67672" name="直接连接符 67671"/>
          <p:cNvSpPr/>
          <p:nvPr/>
        </p:nvSpPr>
        <p:spPr>
          <a:xfrm>
            <a:off x="6506413" y="2700749"/>
            <a:ext cx="1749" cy="152180"/>
          </a:xfrm>
          <a:prstGeom prst="line">
            <a:avLst/>
          </a:prstGeom>
          <a:ln w="14288">
            <a:noFill/>
          </a:ln>
        </p:spPr>
      </p:sp>
      <p:sp>
        <p:nvSpPr>
          <p:cNvPr id="67673" name="直接连接符 67672"/>
          <p:cNvSpPr/>
          <p:nvPr/>
        </p:nvSpPr>
        <p:spPr>
          <a:xfrm>
            <a:off x="7470216" y="2688505"/>
            <a:ext cx="1750" cy="152179"/>
          </a:xfrm>
          <a:prstGeom prst="line">
            <a:avLst/>
          </a:prstGeom>
          <a:ln w="14288">
            <a:noFill/>
          </a:ln>
        </p:spPr>
      </p:sp>
      <p:sp>
        <p:nvSpPr>
          <p:cNvPr id="67674" name="直接连接符 67673"/>
          <p:cNvSpPr/>
          <p:nvPr/>
        </p:nvSpPr>
        <p:spPr>
          <a:xfrm>
            <a:off x="8705144" y="2700749"/>
            <a:ext cx="1750" cy="152180"/>
          </a:xfrm>
          <a:prstGeom prst="line">
            <a:avLst/>
          </a:prstGeom>
          <a:ln w="14288">
            <a:noFill/>
          </a:ln>
        </p:spPr>
      </p:sp>
      <p:sp>
        <p:nvSpPr>
          <p:cNvPr id="67675" name="直接连接符 67674"/>
          <p:cNvSpPr/>
          <p:nvPr/>
        </p:nvSpPr>
        <p:spPr>
          <a:xfrm>
            <a:off x="5630069" y="2700749"/>
            <a:ext cx="1750" cy="152180"/>
          </a:xfrm>
          <a:prstGeom prst="line">
            <a:avLst/>
          </a:prstGeom>
          <a:ln w="14288">
            <a:noFill/>
          </a:ln>
        </p:spPr>
      </p:sp>
      <p:sp>
        <p:nvSpPr>
          <p:cNvPr id="67676" name="直接连接符 67675"/>
          <p:cNvSpPr/>
          <p:nvPr/>
        </p:nvSpPr>
        <p:spPr>
          <a:xfrm>
            <a:off x="4019065" y="2693752"/>
            <a:ext cx="1749" cy="153929"/>
          </a:xfrm>
          <a:prstGeom prst="line">
            <a:avLst/>
          </a:prstGeom>
          <a:ln w="14288">
            <a:noFill/>
          </a:ln>
        </p:spPr>
      </p:sp>
      <p:sp>
        <p:nvSpPr>
          <p:cNvPr id="67677" name="矩形 67676"/>
          <p:cNvSpPr/>
          <p:nvPr/>
        </p:nvSpPr>
        <p:spPr>
          <a:xfrm>
            <a:off x="4325173" y="2412133"/>
            <a:ext cx="860601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78" name="矩形 67677"/>
          <p:cNvSpPr/>
          <p:nvPr/>
        </p:nvSpPr>
        <p:spPr>
          <a:xfrm>
            <a:off x="4554318" y="2424377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CPU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79" name="矩形 67678"/>
          <p:cNvSpPr/>
          <p:nvPr/>
        </p:nvSpPr>
        <p:spPr>
          <a:xfrm>
            <a:off x="5191023" y="242437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80" name="矩形 67679"/>
          <p:cNvSpPr/>
          <p:nvPr/>
        </p:nvSpPr>
        <p:spPr>
          <a:xfrm>
            <a:off x="3174206" y="2406885"/>
            <a:ext cx="853605" cy="29911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81" name="矩形 67680"/>
          <p:cNvSpPr/>
          <p:nvPr/>
        </p:nvSpPr>
        <p:spPr>
          <a:xfrm>
            <a:off x="2995789" y="2419130"/>
            <a:ext cx="72961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DEV 1</a:t>
            </a:r>
            <a:endParaRPr lang="en-US" altLang="zh-CN" sz="1985" b="1">
              <a:latin typeface="Arial" panose="020B0604020202020204" pitchFamily="34" charset="0"/>
            </a:endParaRPr>
          </a:p>
        </p:txBody>
      </p:sp>
      <p:sp>
        <p:nvSpPr>
          <p:cNvPr id="67682" name="矩形 67681"/>
          <p:cNvSpPr/>
          <p:nvPr/>
        </p:nvSpPr>
        <p:spPr>
          <a:xfrm>
            <a:off x="3473318" y="2725238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83" name="矩形 67682"/>
          <p:cNvSpPr/>
          <p:nvPr/>
        </p:nvSpPr>
        <p:spPr>
          <a:xfrm>
            <a:off x="5631818" y="2406885"/>
            <a:ext cx="853605" cy="29911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84" name="矩形 67683"/>
          <p:cNvSpPr/>
          <p:nvPr/>
        </p:nvSpPr>
        <p:spPr>
          <a:xfrm>
            <a:off x="5724525" y="2419130"/>
            <a:ext cx="80010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DEV2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85" name="矩形 67684"/>
          <p:cNvSpPr/>
          <p:nvPr/>
        </p:nvSpPr>
        <p:spPr>
          <a:xfrm>
            <a:off x="5820731" y="2725238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86" name="矩形 67685"/>
          <p:cNvSpPr/>
          <p:nvPr/>
        </p:nvSpPr>
        <p:spPr>
          <a:xfrm>
            <a:off x="6546644" y="2412133"/>
            <a:ext cx="860601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87" name="矩形 67686"/>
          <p:cNvSpPr/>
          <p:nvPr/>
        </p:nvSpPr>
        <p:spPr>
          <a:xfrm>
            <a:off x="6581628" y="2424377"/>
            <a:ext cx="74422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 CPU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88" name="矩形 67687"/>
          <p:cNvSpPr/>
          <p:nvPr/>
        </p:nvSpPr>
        <p:spPr>
          <a:xfrm>
            <a:off x="7183349" y="242437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89" name="矩形 67688"/>
          <p:cNvSpPr/>
          <p:nvPr/>
        </p:nvSpPr>
        <p:spPr>
          <a:xfrm>
            <a:off x="2317103" y="2559065"/>
            <a:ext cx="109220" cy="4749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30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90" name="矩形 67689"/>
          <p:cNvSpPr/>
          <p:nvPr/>
        </p:nvSpPr>
        <p:spPr>
          <a:xfrm>
            <a:off x="3751439" y="2875668"/>
            <a:ext cx="509015" cy="274623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91" name="矩形 67690"/>
          <p:cNvSpPr/>
          <p:nvPr/>
        </p:nvSpPr>
        <p:spPr>
          <a:xfrm>
            <a:off x="4057548" y="2770717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latin typeface="Arial" panose="020B0604020202020204" pitchFamily="34" charset="0"/>
              </a:rPr>
              <a:t>50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92" name="矩形 67691"/>
          <p:cNvSpPr/>
          <p:nvPr/>
        </p:nvSpPr>
        <p:spPr>
          <a:xfrm>
            <a:off x="5360694" y="2877418"/>
            <a:ext cx="510763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93" name="矩形 67692"/>
          <p:cNvSpPr/>
          <p:nvPr/>
        </p:nvSpPr>
        <p:spPr>
          <a:xfrm>
            <a:off x="5783997" y="2770717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latin typeface="Arial" panose="020B0604020202020204" pitchFamily="34" charset="0"/>
              </a:rPr>
              <a:t>60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94" name="矩形 67693"/>
          <p:cNvSpPr/>
          <p:nvPr/>
        </p:nvSpPr>
        <p:spPr>
          <a:xfrm>
            <a:off x="5969412" y="2753225"/>
            <a:ext cx="5842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95" name="矩形 67694"/>
          <p:cNvSpPr/>
          <p:nvPr/>
        </p:nvSpPr>
        <p:spPr>
          <a:xfrm>
            <a:off x="7193844" y="2877418"/>
            <a:ext cx="510763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96" name="矩形 67695"/>
          <p:cNvSpPr/>
          <p:nvPr/>
        </p:nvSpPr>
        <p:spPr>
          <a:xfrm>
            <a:off x="7232327" y="2770717"/>
            <a:ext cx="46863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   </a:t>
            </a:r>
            <a:r>
              <a:rPr lang="en-US" altLang="zh-CN" sz="1655" b="1">
                <a:latin typeface="Arial" panose="020B0604020202020204" pitchFamily="34" charset="0"/>
              </a:rPr>
              <a:t>70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697" name="矩形 67696"/>
          <p:cNvSpPr/>
          <p:nvPr/>
        </p:nvSpPr>
        <p:spPr>
          <a:xfrm>
            <a:off x="7571669" y="2753225"/>
            <a:ext cx="5842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698" name="矩形 67697"/>
          <p:cNvSpPr/>
          <p:nvPr/>
        </p:nvSpPr>
        <p:spPr>
          <a:xfrm>
            <a:off x="8477750" y="2870421"/>
            <a:ext cx="510763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699" name="矩形 67698"/>
          <p:cNvSpPr/>
          <p:nvPr/>
        </p:nvSpPr>
        <p:spPr>
          <a:xfrm>
            <a:off x="8722636" y="2770717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latin typeface="Arial" panose="020B0604020202020204" pitchFamily="34" charset="0"/>
              </a:rPr>
              <a:t>80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01" name="矩形 67700"/>
          <p:cNvSpPr/>
          <p:nvPr/>
        </p:nvSpPr>
        <p:spPr>
          <a:xfrm>
            <a:off x="6256279" y="2884415"/>
            <a:ext cx="503767" cy="27462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02" name="矩形 67701"/>
          <p:cNvSpPr/>
          <p:nvPr/>
        </p:nvSpPr>
        <p:spPr>
          <a:xfrm>
            <a:off x="6588625" y="2758473"/>
            <a:ext cx="35179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 </a:t>
            </a:r>
            <a:r>
              <a:rPr lang="en-US" altLang="zh-CN" sz="1655" b="1">
                <a:latin typeface="Arial" panose="020B0604020202020204" pitchFamily="34" charset="0"/>
              </a:rPr>
              <a:t>65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04" name="直接连接符 67703"/>
          <p:cNvSpPr/>
          <p:nvPr/>
        </p:nvSpPr>
        <p:spPr>
          <a:xfrm>
            <a:off x="5766506" y="2434872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09" name="矩形 67708"/>
          <p:cNvSpPr/>
          <p:nvPr/>
        </p:nvSpPr>
        <p:spPr>
          <a:xfrm>
            <a:off x="1967265" y="1175456"/>
            <a:ext cx="74295" cy="3225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09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10" name="直接连接符 67709"/>
          <p:cNvSpPr/>
          <p:nvPr/>
        </p:nvSpPr>
        <p:spPr>
          <a:xfrm>
            <a:off x="2565488" y="1855891"/>
            <a:ext cx="7371086" cy="1749"/>
          </a:xfrm>
          <a:prstGeom prst="line">
            <a:avLst/>
          </a:prstGeom>
          <a:ln w="14288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11" name="任意多边形 67710"/>
          <p:cNvSpPr/>
          <p:nvPr/>
        </p:nvSpPr>
        <p:spPr>
          <a:xfrm>
            <a:off x="9768652" y="1806914"/>
            <a:ext cx="279870" cy="104951"/>
          </a:xfrm>
          <a:custGeom>
            <a:avLst/>
            <a:gdLst/>
            <a:ahLst/>
            <a:cxnLst/>
            <a:pathLst>
              <a:path w="160" h="60">
                <a:moveTo>
                  <a:pt x="0" y="0"/>
                </a:moveTo>
                <a:lnTo>
                  <a:pt x="160" y="32"/>
                </a:lnTo>
                <a:lnTo>
                  <a:pt x="0" y="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4288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7712" name="直接连接符 67711"/>
          <p:cNvSpPr/>
          <p:nvPr/>
        </p:nvSpPr>
        <p:spPr>
          <a:xfrm>
            <a:off x="2558491" y="1789422"/>
            <a:ext cx="1750" cy="152179"/>
          </a:xfrm>
          <a:prstGeom prst="line">
            <a:avLst/>
          </a:prstGeom>
          <a:ln w="14288">
            <a:noFill/>
          </a:ln>
        </p:spPr>
      </p:sp>
      <p:sp>
        <p:nvSpPr>
          <p:cNvPr id="67717" name="直接连接符 67716"/>
          <p:cNvSpPr/>
          <p:nvPr/>
        </p:nvSpPr>
        <p:spPr>
          <a:xfrm>
            <a:off x="4146756" y="1782425"/>
            <a:ext cx="1750" cy="153929"/>
          </a:xfrm>
          <a:prstGeom prst="line">
            <a:avLst/>
          </a:prstGeom>
          <a:ln w="14288">
            <a:noFill/>
          </a:ln>
        </p:spPr>
      </p:sp>
      <p:sp>
        <p:nvSpPr>
          <p:cNvPr id="67718" name="矩形 67717"/>
          <p:cNvSpPr/>
          <p:nvPr/>
        </p:nvSpPr>
        <p:spPr>
          <a:xfrm>
            <a:off x="3272161" y="1520047"/>
            <a:ext cx="851856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19" name="矩形 67718"/>
          <p:cNvSpPr/>
          <p:nvPr/>
        </p:nvSpPr>
        <p:spPr>
          <a:xfrm>
            <a:off x="3079750" y="1532290"/>
            <a:ext cx="53276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CPU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20" name="矩形 67719"/>
          <p:cNvSpPr/>
          <p:nvPr/>
        </p:nvSpPr>
        <p:spPr>
          <a:xfrm>
            <a:off x="4103027" y="1532290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21" name="矩形 67720"/>
          <p:cNvSpPr/>
          <p:nvPr/>
        </p:nvSpPr>
        <p:spPr>
          <a:xfrm>
            <a:off x="4174743" y="1500805"/>
            <a:ext cx="860601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22" name="矩形 67721"/>
          <p:cNvSpPr/>
          <p:nvPr/>
        </p:nvSpPr>
        <p:spPr>
          <a:xfrm>
            <a:off x="4171244" y="1513050"/>
            <a:ext cx="72961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DEV1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23" name="矩形 67722"/>
          <p:cNvSpPr/>
          <p:nvPr/>
        </p:nvSpPr>
        <p:spPr>
          <a:xfrm>
            <a:off x="4377649" y="181915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24" name="矩形 67723"/>
          <p:cNvSpPr/>
          <p:nvPr/>
        </p:nvSpPr>
        <p:spPr>
          <a:xfrm>
            <a:off x="6233540" y="1500805"/>
            <a:ext cx="862350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25" name="矩形 67724"/>
          <p:cNvSpPr/>
          <p:nvPr/>
        </p:nvSpPr>
        <p:spPr>
          <a:xfrm>
            <a:off x="6233540" y="1513050"/>
            <a:ext cx="80010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DEV2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26" name="矩形 67725"/>
          <p:cNvSpPr/>
          <p:nvPr/>
        </p:nvSpPr>
        <p:spPr>
          <a:xfrm>
            <a:off x="6284266" y="181915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27" name="矩形 67726"/>
          <p:cNvSpPr/>
          <p:nvPr/>
        </p:nvSpPr>
        <p:spPr>
          <a:xfrm>
            <a:off x="7636390" y="1507802"/>
            <a:ext cx="860601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28" name="矩形 67727"/>
          <p:cNvSpPr/>
          <p:nvPr/>
        </p:nvSpPr>
        <p:spPr>
          <a:xfrm>
            <a:off x="7636390" y="1520047"/>
            <a:ext cx="744220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 CPU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29" name="矩形 67728"/>
          <p:cNvSpPr/>
          <p:nvPr/>
        </p:nvSpPr>
        <p:spPr>
          <a:xfrm>
            <a:off x="8273095" y="152004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30" name="矩形 67729"/>
          <p:cNvSpPr/>
          <p:nvPr/>
        </p:nvSpPr>
        <p:spPr>
          <a:xfrm>
            <a:off x="5079075" y="1507802"/>
            <a:ext cx="851855" cy="29386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31" name="矩形 67730"/>
          <p:cNvSpPr/>
          <p:nvPr/>
        </p:nvSpPr>
        <p:spPr>
          <a:xfrm>
            <a:off x="5010856" y="1520047"/>
            <a:ext cx="67373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>
                <a:latin typeface="Arial" panose="020B0604020202020204" pitchFamily="34" charset="0"/>
              </a:rPr>
              <a:t>  CPU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32" name="矩形 67731"/>
          <p:cNvSpPr/>
          <p:nvPr/>
        </p:nvSpPr>
        <p:spPr>
          <a:xfrm>
            <a:off x="5598583" y="1520047"/>
            <a:ext cx="70485" cy="3054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33" name="矩形 67732"/>
          <p:cNvSpPr/>
          <p:nvPr/>
        </p:nvSpPr>
        <p:spPr>
          <a:xfrm>
            <a:off x="2030236" y="1500805"/>
            <a:ext cx="710171" cy="446044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34" name="矩形 67733"/>
          <p:cNvSpPr/>
          <p:nvPr/>
        </p:nvSpPr>
        <p:spPr>
          <a:xfrm>
            <a:off x="2030236" y="1595261"/>
            <a:ext cx="487045" cy="4749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3085" b="1">
                <a:latin typeface="Arial" panose="020B0604020202020204" pitchFamily="34" charset="0"/>
              </a:rPr>
              <a:t>  A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35" name="矩形 67734"/>
          <p:cNvSpPr/>
          <p:nvPr/>
        </p:nvSpPr>
        <p:spPr>
          <a:xfrm>
            <a:off x="2366081" y="1654734"/>
            <a:ext cx="109220" cy="4749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308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36" name="矩形 67735"/>
          <p:cNvSpPr/>
          <p:nvPr/>
        </p:nvSpPr>
        <p:spPr>
          <a:xfrm>
            <a:off x="4106525" y="1990578"/>
            <a:ext cx="509014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37" name="矩形 67736"/>
          <p:cNvSpPr/>
          <p:nvPr/>
        </p:nvSpPr>
        <p:spPr>
          <a:xfrm>
            <a:off x="4087283" y="1904868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latin typeface="Arial" panose="020B0604020202020204" pitchFamily="34" charset="0"/>
              </a:rPr>
              <a:t>10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39" name="矩形 67738"/>
          <p:cNvSpPr/>
          <p:nvPr/>
        </p:nvSpPr>
        <p:spPr>
          <a:xfrm>
            <a:off x="4760722" y="1990578"/>
            <a:ext cx="502017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40" name="矩形 67739"/>
          <p:cNvSpPr/>
          <p:nvPr/>
        </p:nvSpPr>
        <p:spPr>
          <a:xfrm>
            <a:off x="4912901" y="1904868"/>
            <a:ext cx="35179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 </a:t>
            </a:r>
            <a:r>
              <a:rPr lang="en-US" altLang="zh-CN" sz="1655" b="1">
                <a:latin typeface="Arial" panose="020B0604020202020204" pitchFamily="34" charset="0"/>
              </a:rPr>
              <a:t>15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41" name="矩形 67740"/>
          <p:cNvSpPr/>
          <p:nvPr/>
        </p:nvSpPr>
        <p:spPr>
          <a:xfrm>
            <a:off x="5047589" y="1997575"/>
            <a:ext cx="5842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</a:t>
            </a:r>
            <a:endParaRPr lang="en-US" altLang="zh-CN" sz="2645" b="1" dirty="0">
              <a:latin typeface="Arial" panose="020B0604020202020204" pitchFamily="34" charset="0"/>
            </a:endParaRPr>
          </a:p>
        </p:txBody>
      </p:sp>
      <p:sp>
        <p:nvSpPr>
          <p:cNvPr id="67742" name="矩形 67741"/>
          <p:cNvSpPr/>
          <p:nvPr/>
        </p:nvSpPr>
        <p:spPr>
          <a:xfrm>
            <a:off x="5574095" y="1966089"/>
            <a:ext cx="509015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43" name="矩形 67742"/>
          <p:cNvSpPr/>
          <p:nvPr/>
        </p:nvSpPr>
        <p:spPr>
          <a:xfrm>
            <a:off x="5598583" y="1880380"/>
            <a:ext cx="46863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   </a:t>
            </a:r>
            <a:r>
              <a:rPr lang="en-US" altLang="zh-CN" sz="1655" b="1">
                <a:latin typeface="Arial" panose="020B0604020202020204" pitchFamily="34" charset="0"/>
              </a:rPr>
              <a:t>20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45" name="矩形 67744"/>
          <p:cNvSpPr/>
          <p:nvPr/>
        </p:nvSpPr>
        <p:spPr>
          <a:xfrm>
            <a:off x="7144867" y="1966089"/>
            <a:ext cx="510763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46" name="矩形 67745"/>
          <p:cNvSpPr/>
          <p:nvPr/>
        </p:nvSpPr>
        <p:spPr>
          <a:xfrm>
            <a:off x="7290050" y="1880380"/>
            <a:ext cx="41021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 dirty="0">
                <a:latin typeface="Arial" panose="020B0604020202020204" pitchFamily="34" charset="0"/>
              </a:rPr>
              <a:t>   </a:t>
            </a:r>
            <a:r>
              <a:rPr lang="en-US" altLang="zh-CN" sz="1655" b="1">
                <a:latin typeface="Arial" panose="020B0604020202020204" pitchFamily="34" charset="0"/>
              </a:rPr>
              <a:t>30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47" name="矩形 67746"/>
          <p:cNvSpPr/>
          <p:nvPr/>
        </p:nvSpPr>
        <p:spPr>
          <a:xfrm>
            <a:off x="8498740" y="1966089"/>
            <a:ext cx="509015" cy="276372"/>
          </a:xfrm>
          <a:prstGeom prst="rect">
            <a:avLst/>
          </a:prstGeom>
          <a:noFill/>
          <a:ln w="7938">
            <a:noFill/>
          </a:ln>
        </p:spPr>
        <p:txBody>
          <a:bodyPr/>
          <a:p>
            <a:endParaRPr lang="zh-CN" altLang="en-US" sz="1985"/>
          </a:p>
        </p:txBody>
      </p:sp>
      <p:sp>
        <p:nvSpPr>
          <p:cNvPr id="67748" name="矩形 67747"/>
          <p:cNvSpPr/>
          <p:nvPr/>
        </p:nvSpPr>
        <p:spPr>
          <a:xfrm>
            <a:off x="8722636" y="1880380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latin typeface="Arial" panose="020B0604020202020204" pitchFamily="34" charset="0"/>
              </a:rPr>
              <a:t>40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sp>
        <p:nvSpPr>
          <p:cNvPr id="67757" name="左大括号 67756"/>
          <p:cNvSpPr/>
          <p:nvPr/>
        </p:nvSpPr>
        <p:spPr>
          <a:xfrm>
            <a:off x="1988256" y="1679222"/>
            <a:ext cx="251883" cy="1259417"/>
          </a:xfrm>
          <a:prstGeom prst="leftBrace">
            <a:avLst>
              <a:gd name="adj1" fmla="val 41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7758" name="直接连接符 67757"/>
          <p:cNvSpPr/>
          <p:nvPr/>
        </p:nvSpPr>
        <p:spPr>
          <a:xfrm>
            <a:off x="2610967" y="2686756"/>
            <a:ext cx="1750" cy="14868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59" name="直接连接符 67758"/>
          <p:cNvSpPr/>
          <p:nvPr/>
        </p:nvSpPr>
        <p:spPr>
          <a:xfrm>
            <a:off x="2575983" y="1756187"/>
            <a:ext cx="1750" cy="14868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0" name="直接连接符 67759"/>
          <p:cNvSpPr/>
          <p:nvPr/>
        </p:nvSpPr>
        <p:spPr>
          <a:xfrm>
            <a:off x="4003322" y="2434872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1" name="直接连接符 67760"/>
          <p:cNvSpPr/>
          <p:nvPr/>
        </p:nvSpPr>
        <p:spPr>
          <a:xfrm>
            <a:off x="7445728" y="2434872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2" name="直接连接符 67761"/>
          <p:cNvSpPr/>
          <p:nvPr/>
        </p:nvSpPr>
        <p:spPr>
          <a:xfrm>
            <a:off x="6606117" y="2434872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3" name="直接连接符 67762"/>
          <p:cNvSpPr/>
          <p:nvPr/>
        </p:nvSpPr>
        <p:spPr>
          <a:xfrm>
            <a:off x="8705144" y="2434872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4" name="矩形 67763"/>
          <p:cNvSpPr/>
          <p:nvPr/>
        </p:nvSpPr>
        <p:spPr>
          <a:xfrm>
            <a:off x="392994" y="3711781"/>
            <a:ext cx="1595261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rPr>
              <a:t>多道程序：</a:t>
            </a:r>
            <a:endParaRPr lang="zh-CN" altLang="en-US" sz="2645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7765" name="左大括号 67764"/>
          <p:cNvSpPr/>
          <p:nvPr/>
        </p:nvSpPr>
        <p:spPr>
          <a:xfrm>
            <a:off x="2072217" y="3526367"/>
            <a:ext cx="251883" cy="1259417"/>
          </a:xfrm>
          <a:prstGeom prst="leftBrace">
            <a:avLst>
              <a:gd name="adj1" fmla="val 41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67767" name="直接连接符 67766"/>
          <p:cNvSpPr/>
          <p:nvPr/>
        </p:nvSpPr>
        <p:spPr>
          <a:xfrm>
            <a:off x="4003322" y="1537538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8" name="直接连接符 67767"/>
          <p:cNvSpPr/>
          <p:nvPr/>
        </p:nvSpPr>
        <p:spPr>
          <a:xfrm>
            <a:off x="4974123" y="1521795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69" name="直接连接符 67768"/>
          <p:cNvSpPr/>
          <p:nvPr/>
        </p:nvSpPr>
        <p:spPr>
          <a:xfrm>
            <a:off x="5766506" y="1532290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0" name="直接连接符 67769"/>
          <p:cNvSpPr/>
          <p:nvPr/>
        </p:nvSpPr>
        <p:spPr>
          <a:xfrm>
            <a:off x="7445728" y="1516548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1" name="直接连接符 67770"/>
          <p:cNvSpPr/>
          <p:nvPr/>
        </p:nvSpPr>
        <p:spPr>
          <a:xfrm>
            <a:off x="8705144" y="1516548"/>
            <a:ext cx="0" cy="419806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2" name="直接连接符 67771"/>
          <p:cNvSpPr/>
          <p:nvPr/>
        </p:nvSpPr>
        <p:spPr>
          <a:xfrm>
            <a:off x="3971837" y="3610328"/>
            <a:ext cx="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3" name="直接连接符 67772"/>
          <p:cNvSpPr/>
          <p:nvPr/>
        </p:nvSpPr>
        <p:spPr>
          <a:xfrm>
            <a:off x="4874419" y="3610328"/>
            <a:ext cx="0" cy="671689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4" name="直接连接符 67773"/>
          <p:cNvSpPr/>
          <p:nvPr/>
        </p:nvSpPr>
        <p:spPr>
          <a:xfrm>
            <a:off x="5766506" y="3610328"/>
            <a:ext cx="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5" name="直接连接符 67774"/>
          <p:cNvSpPr/>
          <p:nvPr/>
        </p:nvSpPr>
        <p:spPr>
          <a:xfrm>
            <a:off x="6569384" y="3610328"/>
            <a:ext cx="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6" name="直接连接符 67775"/>
          <p:cNvSpPr/>
          <p:nvPr/>
        </p:nvSpPr>
        <p:spPr>
          <a:xfrm>
            <a:off x="7330281" y="3946172"/>
            <a:ext cx="0" cy="671689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7" name="直接连接符 67776"/>
          <p:cNvSpPr/>
          <p:nvPr/>
        </p:nvSpPr>
        <p:spPr>
          <a:xfrm>
            <a:off x="8012465" y="3610328"/>
            <a:ext cx="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778" name="直接连接符 67777"/>
          <p:cNvSpPr/>
          <p:nvPr/>
        </p:nvSpPr>
        <p:spPr>
          <a:xfrm>
            <a:off x="9460794" y="3610328"/>
            <a:ext cx="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903" name="矩形 67902"/>
          <p:cNvSpPr/>
          <p:nvPr/>
        </p:nvSpPr>
        <p:spPr>
          <a:xfrm>
            <a:off x="2659944" y="2770717"/>
            <a:ext cx="234950" cy="25463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1655" b="1">
                <a:solidFill>
                  <a:srgbClr val="FF0000"/>
                </a:solidFill>
                <a:latin typeface="Arial" panose="020B0604020202020204" pitchFamily="34" charset="0"/>
              </a:rPr>
              <a:t>40</a:t>
            </a:r>
            <a:endParaRPr lang="en-US" altLang="zh-CN" sz="2645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标题 1669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一个</a:t>
            </a:r>
            <a:r>
              <a:rPr lang="en-US" altLang="zh-CN"/>
              <a:t>CPU</a:t>
            </a:r>
            <a:r>
              <a:rPr lang="zh-CN" altLang="en-US" dirty="0"/>
              <a:t>如何执行多道程序</a:t>
            </a:r>
            <a:endParaRPr lang="zh-CN" altLang="en-US"/>
          </a:p>
        </p:txBody>
      </p:sp>
      <p:sp>
        <p:nvSpPr>
          <p:cNvPr id="166950" name="矩形 166949"/>
          <p:cNvSpPr/>
          <p:nvPr/>
        </p:nvSpPr>
        <p:spPr>
          <a:xfrm>
            <a:off x="1064683" y="5373511"/>
            <a:ext cx="8728457" cy="7556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一个</a:t>
            </a:r>
            <a:r>
              <a:rPr lang="en-US" altLang="zh-CN" sz="3085"/>
              <a:t>CPU</a:t>
            </a:r>
            <a:r>
              <a:rPr lang="zh-CN" altLang="en-US" sz="3085" dirty="0"/>
              <a:t>上交替的执行多个程序：</a:t>
            </a:r>
            <a:r>
              <a:rPr lang="zh-CN" altLang="en-US" sz="3085" dirty="0">
                <a:solidFill>
                  <a:srgbClr val="FF0000"/>
                </a:solidFill>
              </a:rPr>
              <a:t>并发</a:t>
            </a:r>
            <a:endParaRPr lang="zh-CN" altLang="en-US" sz="3085">
              <a:solidFill>
                <a:srgbClr val="FF0000"/>
              </a:solidFill>
            </a:endParaRPr>
          </a:p>
        </p:txBody>
      </p:sp>
      <p:grpSp>
        <p:nvGrpSpPr>
          <p:cNvPr id="166971" name="组合 166970"/>
          <p:cNvGrpSpPr/>
          <p:nvPr/>
        </p:nvGrpSpPr>
        <p:grpSpPr>
          <a:xfrm>
            <a:off x="1820333" y="2434872"/>
            <a:ext cx="7640461" cy="2721739"/>
            <a:chOff x="912" y="2246"/>
            <a:chExt cx="3891" cy="1556"/>
          </a:xfrm>
        </p:grpSpPr>
        <p:sp>
          <p:nvSpPr>
            <p:cNvPr id="166972" name="矩形 166971"/>
            <p:cNvSpPr/>
            <p:nvPr/>
          </p:nvSpPr>
          <p:spPr>
            <a:xfrm>
              <a:off x="912" y="255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66973" name="文本框 166972"/>
            <p:cNvSpPr txBox="1"/>
            <p:nvPr/>
          </p:nvSpPr>
          <p:spPr>
            <a:xfrm>
              <a:off x="912" y="2582"/>
              <a:ext cx="1440" cy="11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50: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51:</a:t>
              </a:r>
              <a:r>
                <a:rPr lang="en-US" altLang="zh-CN" sz="1985">
                  <a:latin typeface="Arial" panose="020B060402020202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1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52:</a:t>
              </a:r>
              <a:r>
                <a:rPr lang="en-US" altLang="zh-CN" sz="1985">
                  <a:latin typeface="Arial" panose="020B060402020202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  <p:sp>
          <p:nvSpPr>
            <p:cNvPr id="166974" name="矩形 166973"/>
            <p:cNvSpPr/>
            <p:nvPr/>
          </p:nvSpPr>
          <p:spPr>
            <a:xfrm>
              <a:off x="1297" y="2246"/>
              <a:ext cx="46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程序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66975" name="矩形 166974"/>
            <p:cNvSpPr/>
            <p:nvPr/>
          </p:nvSpPr>
          <p:spPr>
            <a:xfrm>
              <a:off x="3360" y="256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66976" name="文本框 166975"/>
            <p:cNvSpPr txBox="1"/>
            <p:nvPr/>
          </p:nvSpPr>
          <p:spPr>
            <a:xfrm>
              <a:off x="3360" y="2592"/>
              <a:ext cx="1440" cy="11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200: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201: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10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202:</a:t>
              </a:r>
              <a:r>
                <a:rPr lang="en-US" altLang="zh-CN" sz="2205" b="1">
                  <a:latin typeface="Tahoma" panose="020B0604030504040204" pitchFamily="34" charset="0"/>
                </a:rPr>
                <a:t> 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66977" name="矩形 166976"/>
            <p:cNvSpPr/>
            <p:nvPr/>
          </p:nvSpPr>
          <p:spPr>
            <a:xfrm>
              <a:off x="3745" y="2256"/>
              <a:ext cx="46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程序</a:t>
              </a:r>
              <a:r>
                <a:rPr lang="en-US" altLang="zh-CN" sz="2205" b="1">
                  <a:latin typeface="Arial" panose="020B0604020202020204" pitchFamily="34" charset="0"/>
                </a:rPr>
                <a:t>2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</p:grpSp>
      <p:grpSp>
        <p:nvGrpSpPr>
          <p:cNvPr id="166978" name="组合 166977"/>
          <p:cNvGrpSpPr/>
          <p:nvPr/>
        </p:nvGrpSpPr>
        <p:grpSpPr>
          <a:xfrm>
            <a:off x="644878" y="4019638"/>
            <a:ext cx="1100241" cy="498519"/>
            <a:chOff x="139" y="1338"/>
            <a:chExt cx="629" cy="285"/>
          </a:xfrm>
        </p:grpSpPr>
        <p:sp>
          <p:nvSpPr>
            <p:cNvPr id="166979" name="矩形 166978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980" name="右箭头 166979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grpSp>
        <p:nvGrpSpPr>
          <p:cNvPr id="166981" name="组合 166980"/>
          <p:cNvGrpSpPr/>
          <p:nvPr/>
        </p:nvGrpSpPr>
        <p:grpSpPr>
          <a:xfrm>
            <a:off x="5430661" y="2854678"/>
            <a:ext cx="1100241" cy="498519"/>
            <a:chOff x="139" y="1338"/>
            <a:chExt cx="629" cy="285"/>
          </a:xfrm>
        </p:grpSpPr>
        <p:sp>
          <p:nvSpPr>
            <p:cNvPr id="166982" name="矩形 166981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983" name="右箭头 166982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sp>
        <p:nvSpPr>
          <p:cNvPr id="167002" name="右箭头 167001"/>
          <p:cNvSpPr/>
          <p:nvPr/>
        </p:nvSpPr>
        <p:spPr>
          <a:xfrm rot="5400000">
            <a:off x="1106664" y="3568347"/>
            <a:ext cx="1175456" cy="83961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67003" name="右箭头 167002"/>
          <p:cNvSpPr/>
          <p:nvPr/>
        </p:nvSpPr>
        <p:spPr>
          <a:xfrm rot="5400000">
            <a:off x="5892447" y="3736269"/>
            <a:ext cx="1175456" cy="83961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67004" name="直接连接符 167003"/>
          <p:cNvSpPr/>
          <p:nvPr/>
        </p:nvSpPr>
        <p:spPr>
          <a:xfrm flipH="1">
            <a:off x="1652411" y="4365978"/>
            <a:ext cx="4785783" cy="16792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7005" name="右箭头 167004"/>
          <p:cNvSpPr/>
          <p:nvPr/>
        </p:nvSpPr>
        <p:spPr>
          <a:xfrm rot="5400000">
            <a:off x="1316567" y="4869744"/>
            <a:ext cx="755650" cy="83961"/>
          </a:xfrm>
          <a:prstGeom prst="rightArrow">
            <a:avLst>
              <a:gd name="adj1" fmla="val 50000"/>
              <a:gd name="adj2" fmla="val 225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67006" name="直接连接符 167005"/>
          <p:cNvSpPr/>
          <p:nvPr/>
        </p:nvSpPr>
        <p:spPr>
          <a:xfrm flipV="1">
            <a:off x="1820333" y="3190522"/>
            <a:ext cx="453390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67007" name="组合 167006"/>
          <p:cNvGrpSpPr/>
          <p:nvPr/>
        </p:nvGrpSpPr>
        <p:grpSpPr>
          <a:xfrm>
            <a:off x="1307821" y="6052197"/>
            <a:ext cx="6893557" cy="661194"/>
            <a:chOff x="523" y="1876"/>
            <a:chExt cx="3941" cy="378"/>
          </a:xfrm>
        </p:grpSpPr>
        <p:sp>
          <p:nvSpPr>
            <p:cNvPr id="167008" name="矩形 167007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怎么做到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?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7009" name="图片 167008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67010" name="圆角矩形标注 167009"/>
          <p:cNvSpPr/>
          <p:nvPr/>
        </p:nvSpPr>
        <p:spPr>
          <a:xfrm>
            <a:off x="4339167" y="1427339"/>
            <a:ext cx="3862211" cy="1007533"/>
          </a:xfrm>
          <a:prstGeom prst="wedgeRoundRectCallout">
            <a:avLst>
              <a:gd name="adj1" fmla="val -7338"/>
              <a:gd name="adj2" fmla="val 94273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需要切到另一个程序时，</a:t>
            </a:r>
            <a:r>
              <a:rPr lang="en-US" altLang="zh-CN" sz="2645" b="1">
                <a:latin typeface="Arial" panose="020B0604020202020204" pitchFamily="34" charset="0"/>
              </a:rPr>
              <a:t>OS</a:t>
            </a:r>
            <a:r>
              <a:rPr lang="zh-CN" altLang="en-US" sz="2645" b="1" dirty="0">
                <a:latin typeface="Arial" panose="020B0604020202020204" pitchFamily="34" charset="0"/>
              </a:rPr>
              <a:t>修改</a:t>
            </a:r>
            <a:r>
              <a:rPr lang="en-US" altLang="zh-CN" sz="2645" b="1">
                <a:latin typeface="Arial" panose="020B0604020202020204" pitchFamily="34" charset="0"/>
              </a:rPr>
              <a:t>PC=200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7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7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7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7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7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7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7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7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7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7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7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7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6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6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50" grpId="1"/>
      <p:bldP spid="16701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标题 14848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修改寄存器</a:t>
            </a:r>
            <a:r>
              <a:rPr lang="en-US" altLang="zh-CN"/>
              <a:t>PC</a:t>
            </a:r>
            <a:r>
              <a:rPr lang="zh-CN" altLang="en-US" dirty="0"/>
              <a:t>就行了吗</a:t>
            </a:r>
            <a:r>
              <a:rPr lang="en-US" altLang="zh-CN"/>
              <a:t>?</a:t>
            </a:r>
            <a:endParaRPr lang="en-US" altLang="zh-CN"/>
          </a:p>
        </p:txBody>
      </p:sp>
      <p:grpSp>
        <p:nvGrpSpPr>
          <p:cNvPr id="148570" name="组合 148569"/>
          <p:cNvGrpSpPr/>
          <p:nvPr/>
        </p:nvGrpSpPr>
        <p:grpSpPr>
          <a:xfrm>
            <a:off x="1400528" y="4740304"/>
            <a:ext cx="2191735" cy="2312429"/>
            <a:chOff x="4312" y="768"/>
            <a:chExt cx="1253" cy="1237"/>
          </a:xfrm>
        </p:grpSpPr>
        <p:sp>
          <p:nvSpPr>
            <p:cNvPr id="148571" name="矩形 148570"/>
            <p:cNvSpPr/>
            <p:nvPr/>
          </p:nvSpPr>
          <p:spPr>
            <a:xfrm>
              <a:off x="4320" y="768"/>
              <a:ext cx="1059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48572" name="矩形 148571"/>
            <p:cNvSpPr/>
            <p:nvPr/>
          </p:nvSpPr>
          <p:spPr>
            <a:xfrm>
              <a:off x="4312" y="775"/>
              <a:ext cx="83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程序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r>
                <a:rPr lang="zh-CN" altLang="en-US" sz="2205" b="1" dirty="0">
                  <a:latin typeface="Arial" panose="020B0604020202020204" pitchFamily="34" charset="0"/>
                </a:rPr>
                <a:t>信息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  <p:grpSp>
          <p:nvGrpSpPr>
            <p:cNvPr id="148573" name="组合 148572"/>
            <p:cNvGrpSpPr/>
            <p:nvPr/>
          </p:nvGrpSpPr>
          <p:grpSpPr>
            <a:xfrm>
              <a:off x="4461" y="1035"/>
              <a:ext cx="1104" cy="276"/>
              <a:chOff x="4128" y="1863"/>
              <a:chExt cx="1104" cy="276"/>
            </a:xfrm>
          </p:grpSpPr>
          <p:sp>
            <p:nvSpPr>
              <p:cNvPr id="148574" name="文本框 148573"/>
              <p:cNvSpPr txBox="1"/>
              <p:nvPr/>
            </p:nvSpPr>
            <p:spPr>
              <a:xfrm>
                <a:off x="4128" y="1872"/>
                <a:ext cx="480" cy="26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endParaRPr sz="2645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8575" name="文本框 148574"/>
              <p:cNvSpPr txBox="1"/>
              <p:nvPr/>
            </p:nvSpPr>
            <p:spPr>
              <a:xfrm>
                <a:off x="4656" y="1863"/>
                <a:ext cx="576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ax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8576" name="文本框 148575"/>
            <p:cNvSpPr txBox="1"/>
            <p:nvPr/>
          </p:nvSpPr>
          <p:spPr>
            <a:xfrm>
              <a:off x="4509" y="1035"/>
              <a:ext cx="345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 2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grpSp>
          <p:nvGrpSpPr>
            <p:cNvPr id="148577" name="组合 148576"/>
            <p:cNvGrpSpPr/>
            <p:nvPr/>
          </p:nvGrpSpPr>
          <p:grpSpPr>
            <a:xfrm>
              <a:off x="4461" y="1371"/>
              <a:ext cx="1104" cy="276"/>
              <a:chOff x="4128" y="1863"/>
              <a:chExt cx="1104" cy="276"/>
            </a:xfrm>
          </p:grpSpPr>
          <p:sp>
            <p:nvSpPr>
              <p:cNvPr id="148578" name="文本框 148577"/>
              <p:cNvSpPr txBox="1"/>
              <p:nvPr/>
            </p:nvSpPr>
            <p:spPr>
              <a:xfrm>
                <a:off x="4128" y="1872"/>
                <a:ext cx="480" cy="26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1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sp>
            <p:nvSpPr>
              <p:cNvPr id="148579" name="文本框 148578"/>
              <p:cNvSpPr txBox="1"/>
              <p:nvPr/>
            </p:nvSpPr>
            <p:spPr>
              <a:xfrm>
                <a:off x="4656" y="1863"/>
                <a:ext cx="576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 err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bx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8580" name="组合 148579"/>
            <p:cNvGrpSpPr/>
            <p:nvPr/>
          </p:nvGrpSpPr>
          <p:grpSpPr>
            <a:xfrm>
              <a:off x="4461" y="1699"/>
              <a:ext cx="1104" cy="276"/>
              <a:chOff x="4128" y="1863"/>
              <a:chExt cx="1104" cy="276"/>
            </a:xfrm>
          </p:grpSpPr>
          <p:sp>
            <p:nvSpPr>
              <p:cNvPr id="148581" name="文本框 148580"/>
              <p:cNvSpPr txBox="1"/>
              <p:nvPr/>
            </p:nvSpPr>
            <p:spPr>
              <a:xfrm>
                <a:off x="4128" y="1872"/>
                <a:ext cx="480" cy="26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53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sp>
            <p:nvSpPr>
              <p:cNvPr id="148582" name="文本框 148581"/>
              <p:cNvSpPr txBox="1"/>
              <p:nvPr/>
            </p:nvSpPr>
            <p:spPr>
              <a:xfrm>
                <a:off x="4656" y="1863"/>
                <a:ext cx="576" cy="2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PC</a:t>
                </a:r>
                <a:endPara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48586" name="图片 148585" descr="j0305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778" y="0"/>
            <a:ext cx="888588" cy="1427339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8588" name="组合 148587"/>
          <p:cNvGrpSpPr/>
          <p:nvPr/>
        </p:nvGrpSpPr>
        <p:grpSpPr>
          <a:xfrm>
            <a:off x="1568450" y="1343378"/>
            <a:ext cx="7640461" cy="2721739"/>
            <a:chOff x="912" y="2246"/>
            <a:chExt cx="3891" cy="1556"/>
          </a:xfrm>
        </p:grpSpPr>
        <p:sp>
          <p:nvSpPr>
            <p:cNvPr id="148589" name="矩形 148588"/>
            <p:cNvSpPr/>
            <p:nvPr/>
          </p:nvSpPr>
          <p:spPr>
            <a:xfrm>
              <a:off x="912" y="255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48590" name="文本框 148589"/>
            <p:cNvSpPr txBox="1"/>
            <p:nvPr/>
          </p:nvSpPr>
          <p:spPr>
            <a:xfrm>
              <a:off x="912" y="2582"/>
              <a:ext cx="1440" cy="11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50: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51:</a:t>
              </a:r>
              <a:r>
                <a:rPr lang="en-US" altLang="zh-CN" sz="1985">
                  <a:latin typeface="Arial" panose="020B060402020202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1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52:</a:t>
              </a:r>
              <a:r>
                <a:rPr lang="en-US" altLang="zh-CN" sz="1985">
                  <a:latin typeface="Arial" panose="020B060402020202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  <p:sp>
          <p:nvSpPr>
            <p:cNvPr id="148591" name="矩形 148590"/>
            <p:cNvSpPr/>
            <p:nvPr/>
          </p:nvSpPr>
          <p:spPr>
            <a:xfrm>
              <a:off x="1297" y="2246"/>
              <a:ext cx="46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程序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48592" name="矩形 148591"/>
            <p:cNvSpPr/>
            <p:nvPr/>
          </p:nvSpPr>
          <p:spPr>
            <a:xfrm>
              <a:off x="3360" y="2565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48593" name="文本框 148592"/>
            <p:cNvSpPr txBox="1"/>
            <p:nvPr/>
          </p:nvSpPr>
          <p:spPr>
            <a:xfrm>
              <a:off x="3360" y="2592"/>
              <a:ext cx="1440" cy="11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200: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201:</a:t>
              </a: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r>
                <a:rPr lang="en-US" altLang="zh-CN" sz="2205" b="1">
                  <a:latin typeface="Tahoma" panose="020B0604030504040204" pitchFamily="34" charset="0"/>
                </a:rPr>
                <a:t>, 10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3300"/>
                  </a:solidFill>
                  <a:latin typeface="Tahoma" panose="020B0604030504040204" pitchFamily="34" charset="0"/>
                </a:rPr>
                <a:t>202:</a:t>
              </a:r>
              <a:r>
                <a:rPr lang="en-US" altLang="zh-CN" sz="2205" b="1">
                  <a:latin typeface="Tahoma" panose="020B0604030504040204" pitchFamily="34" charset="0"/>
                </a:rPr>
                <a:t> add ax, </a:t>
              </a:r>
              <a:r>
                <a:rPr lang="en-US" altLang="zh-CN" sz="2205" b="1" err="1">
                  <a:latin typeface="Tahoma" panose="020B0604030504040204" pitchFamily="34" charset="0"/>
                </a:rPr>
                <a:t>bx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48594" name="矩形 148593"/>
            <p:cNvSpPr/>
            <p:nvPr/>
          </p:nvSpPr>
          <p:spPr>
            <a:xfrm>
              <a:off x="3745" y="2256"/>
              <a:ext cx="46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程序</a:t>
              </a:r>
              <a:r>
                <a:rPr lang="en-US" altLang="zh-CN" sz="2205" b="1">
                  <a:latin typeface="Arial" panose="020B0604020202020204" pitchFamily="34" charset="0"/>
                </a:rPr>
                <a:t>2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</p:grpSp>
      <p:grpSp>
        <p:nvGrpSpPr>
          <p:cNvPr id="148595" name="组合 148594"/>
          <p:cNvGrpSpPr/>
          <p:nvPr/>
        </p:nvGrpSpPr>
        <p:grpSpPr>
          <a:xfrm>
            <a:off x="560917" y="2844183"/>
            <a:ext cx="1100241" cy="498519"/>
            <a:chOff x="139" y="1338"/>
            <a:chExt cx="629" cy="285"/>
          </a:xfrm>
        </p:grpSpPr>
        <p:sp>
          <p:nvSpPr>
            <p:cNvPr id="148596" name="矩形 148595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8597" name="右箭头 148596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sp>
        <p:nvSpPr>
          <p:cNvPr id="148598" name="直接连接符 148597"/>
          <p:cNvSpPr/>
          <p:nvPr/>
        </p:nvSpPr>
        <p:spPr>
          <a:xfrm flipV="1">
            <a:off x="1820333" y="2099028"/>
            <a:ext cx="4533900" cy="100753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48599" name="组合 148598"/>
          <p:cNvGrpSpPr/>
          <p:nvPr/>
        </p:nvGrpSpPr>
        <p:grpSpPr>
          <a:xfrm>
            <a:off x="5170032" y="1763183"/>
            <a:ext cx="1100240" cy="498519"/>
            <a:chOff x="139" y="1338"/>
            <a:chExt cx="629" cy="285"/>
          </a:xfrm>
        </p:grpSpPr>
        <p:sp>
          <p:nvSpPr>
            <p:cNvPr id="148600" name="矩形 148599"/>
            <p:cNvSpPr/>
            <p:nvPr/>
          </p:nvSpPr>
          <p:spPr>
            <a:xfrm>
              <a:off x="139" y="1338"/>
              <a:ext cx="372" cy="28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PC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8601" name="右箭头 148600"/>
            <p:cNvSpPr/>
            <p:nvPr/>
          </p:nvSpPr>
          <p:spPr>
            <a:xfrm>
              <a:off x="528" y="1479"/>
              <a:ext cx="240" cy="48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  <p:sp>
        <p:nvSpPr>
          <p:cNvPr id="148602" name="右箭头 148601"/>
          <p:cNvSpPr/>
          <p:nvPr/>
        </p:nvSpPr>
        <p:spPr>
          <a:xfrm rot="5400000">
            <a:off x="5682544" y="2602794"/>
            <a:ext cx="1091494" cy="83961"/>
          </a:xfrm>
          <a:prstGeom prst="rightArrow">
            <a:avLst>
              <a:gd name="adj1" fmla="val 50000"/>
              <a:gd name="adj2" fmla="val 325000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grpSp>
        <p:nvGrpSpPr>
          <p:cNvPr id="148609" name="组合 148608"/>
          <p:cNvGrpSpPr/>
          <p:nvPr/>
        </p:nvGrpSpPr>
        <p:grpSpPr>
          <a:xfrm>
            <a:off x="4675011" y="3442406"/>
            <a:ext cx="1563776" cy="587728"/>
            <a:chOff x="2448" y="2304"/>
            <a:chExt cx="894" cy="336"/>
          </a:xfrm>
        </p:grpSpPr>
        <p:sp>
          <p:nvSpPr>
            <p:cNvPr id="148607" name="右箭头 148606"/>
            <p:cNvSpPr/>
            <p:nvPr/>
          </p:nvSpPr>
          <p:spPr>
            <a:xfrm rot="10800000">
              <a:off x="2448" y="2592"/>
              <a:ext cx="816" cy="48"/>
            </a:xfrm>
            <a:prstGeom prst="rightArrow">
              <a:avLst>
                <a:gd name="adj1" fmla="val 50000"/>
                <a:gd name="adj2" fmla="val 425000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/>
              <a:endParaRPr sz="1985" dirty="0">
                <a:latin typeface="Arial" panose="020B0604020202020204" pitchFamily="34" charset="0"/>
              </a:endParaRPr>
            </a:p>
          </p:txBody>
        </p:sp>
        <p:sp>
          <p:nvSpPr>
            <p:cNvPr id="148608" name="文本框 148607"/>
            <p:cNvSpPr txBox="1"/>
            <p:nvPr/>
          </p:nvSpPr>
          <p:spPr>
            <a:xfrm>
              <a:off x="2544" y="2304"/>
              <a:ext cx="79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45" b="1" dirty="0">
                  <a:latin typeface="Arial" panose="020B0604020202020204" pitchFamily="34" charset="0"/>
                </a:rPr>
                <a:t>切回去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</p:grpSp>
      <p:sp>
        <p:nvSpPr>
          <p:cNvPr id="148610" name="圆角矩形标注 148609"/>
          <p:cNvSpPr/>
          <p:nvPr/>
        </p:nvSpPr>
        <p:spPr>
          <a:xfrm>
            <a:off x="2911828" y="4030133"/>
            <a:ext cx="1847144" cy="587728"/>
          </a:xfrm>
          <a:prstGeom prst="wedgeRoundRectCallout">
            <a:avLst>
              <a:gd name="adj1" fmla="val 53218"/>
              <a:gd name="adj2" fmla="val -80356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怎么办</a:t>
            </a:r>
            <a:r>
              <a:rPr lang="en-US" altLang="zh-CN" sz="2645" b="1">
                <a:latin typeface="Arial" panose="020B0604020202020204" pitchFamily="34" charset="0"/>
              </a:rPr>
              <a:t>?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grpSp>
        <p:nvGrpSpPr>
          <p:cNvPr id="148616" name="组合 148615"/>
          <p:cNvGrpSpPr/>
          <p:nvPr/>
        </p:nvGrpSpPr>
        <p:grpSpPr>
          <a:xfrm>
            <a:off x="3163711" y="4701822"/>
            <a:ext cx="6454510" cy="661194"/>
            <a:chOff x="1632" y="2644"/>
            <a:chExt cx="3690" cy="378"/>
          </a:xfrm>
        </p:grpSpPr>
        <p:sp>
          <p:nvSpPr>
            <p:cNvPr id="148613" name="矩形 148612"/>
            <p:cNvSpPr/>
            <p:nvPr/>
          </p:nvSpPr>
          <p:spPr>
            <a:xfrm>
              <a:off x="1632" y="2644"/>
              <a:ext cx="369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要记录返回地址，要记录</a:t>
              </a:r>
              <a:r>
                <a:rPr lang="en-US" altLang="zh-CN" sz="2645" b="1">
                  <a:latin typeface="Arial" panose="020B0604020202020204" pitchFamily="34" charset="0"/>
                </a:rPr>
                <a:t>ax…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pic>
          <p:nvPicPr>
            <p:cNvPr id="148614" name="图片 148613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" y="2793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8622" name="圆角矩形标注 148621"/>
          <p:cNvSpPr/>
          <p:nvPr/>
        </p:nvSpPr>
        <p:spPr>
          <a:xfrm>
            <a:off x="3667478" y="5373511"/>
            <a:ext cx="3694289" cy="1007533"/>
          </a:xfrm>
          <a:prstGeom prst="wedgeRoundRectCallout">
            <a:avLst>
              <a:gd name="adj1" fmla="val -66856"/>
              <a:gd name="adj2" fmla="val -451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每个程序有了一个存放信息的结构</a:t>
            </a:r>
            <a:r>
              <a:rPr lang="en-US" altLang="zh-CN" sz="2645" b="1">
                <a:latin typeface="Arial" panose="020B0604020202020204" pitchFamily="34" charset="0"/>
              </a:rPr>
              <a:t>: PCB</a:t>
            </a:r>
            <a:endParaRPr lang="en-US" altLang="zh-CN" sz="2645" b="1">
              <a:latin typeface="Arial" panose="020B0604020202020204" pitchFamily="34" charset="0"/>
            </a:endParaRPr>
          </a:p>
        </p:txBody>
      </p:sp>
      <p:grpSp>
        <p:nvGrpSpPr>
          <p:cNvPr id="148623" name="组合 148622"/>
          <p:cNvGrpSpPr/>
          <p:nvPr/>
        </p:nvGrpSpPr>
        <p:grpSpPr>
          <a:xfrm>
            <a:off x="3163711" y="6465006"/>
            <a:ext cx="6454510" cy="661194"/>
            <a:chOff x="1632" y="2644"/>
            <a:chExt cx="3690" cy="378"/>
          </a:xfrm>
        </p:grpSpPr>
        <p:sp>
          <p:nvSpPr>
            <p:cNvPr id="148624" name="矩形 148623"/>
            <p:cNvSpPr/>
            <p:nvPr/>
          </p:nvSpPr>
          <p:spPr>
            <a:xfrm>
              <a:off x="1632" y="2644"/>
              <a:ext cx="369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solidFill>
                    <a:srgbClr val="FF3300"/>
                  </a:solidFill>
                  <a:latin typeface="Arial" panose="020B0604020202020204" pitchFamily="34" charset="0"/>
                </a:rPr>
                <a:t>运行的程序和静态程序不一样了</a:t>
              </a:r>
              <a:r>
                <a:rPr lang="en-US" altLang="zh-CN" sz="2645" b="1">
                  <a:solidFill>
                    <a:srgbClr val="FF3300"/>
                  </a:solidFill>
                  <a:latin typeface="Arial" panose="020B0604020202020204" pitchFamily="34" charset="0"/>
                </a:rPr>
                <a:t>…</a:t>
              </a:r>
              <a:endParaRPr lang="en-US" altLang="zh-CN" sz="2645" b="1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48625" name="图片 148624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" y="2793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11111E-6 L 8.33333E-7 0.1548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48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8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8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4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10" grpId="0" bldLvl="0" animBg="1"/>
      <p:bldP spid="14862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706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引入“进程”概念</a:t>
            </a:r>
            <a:endParaRPr lang="zh-CN" altLang="en-US"/>
          </a:p>
        </p:txBody>
      </p:sp>
      <p:pic>
        <p:nvPicPr>
          <p:cNvPr id="70683" name="图片 70682" descr="j01958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869" y="0"/>
            <a:ext cx="1084498" cy="11159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85" name="文本占位符 70684"/>
          <p:cNvSpPr>
            <a:spLocks noGrp="1"/>
          </p:cNvSpPr>
          <p:nvPr>
            <p:ph type="body" idx="1"/>
          </p:nvPr>
        </p:nvSpPr>
        <p:spPr>
          <a:xfrm>
            <a:off x="984221" y="1397603"/>
            <a:ext cx="8728457" cy="953308"/>
          </a:xfrm>
        </p:spPr>
        <p:txBody>
          <a:bodyPr/>
          <a:p>
            <a:pPr>
              <a:lnSpc>
                <a:spcPct val="130000"/>
              </a:lnSpc>
            </a:pPr>
            <a:r>
              <a:rPr lang="zh-CN" altLang="en-US" dirty="0"/>
              <a:t>运行的程序和静态程序不一样</a:t>
            </a:r>
            <a:r>
              <a:rPr lang="en-US" altLang="zh-CN"/>
              <a:t>!</a:t>
            </a:r>
            <a:endParaRPr lang="en-US" altLang="zh-CN"/>
          </a:p>
        </p:txBody>
      </p:sp>
      <p:sp>
        <p:nvSpPr>
          <p:cNvPr id="70736" name="矩形 70735"/>
          <p:cNvSpPr/>
          <p:nvPr/>
        </p:nvSpPr>
        <p:spPr>
          <a:xfrm>
            <a:off x="980722" y="3526367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进程是进行（执行）中的程序</a:t>
            </a:r>
            <a:endParaRPr lang="zh-CN" altLang="en-US" sz="3085">
              <a:solidFill>
                <a:srgbClr val="FF0000"/>
              </a:solidFill>
            </a:endParaRPr>
          </a:p>
        </p:txBody>
      </p:sp>
      <p:grpSp>
        <p:nvGrpSpPr>
          <p:cNvPr id="70737" name="组合 70736"/>
          <p:cNvGrpSpPr/>
          <p:nvPr/>
        </p:nvGrpSpPr>
        <p:grpSpPr>
          <a:xfrm>
            <a:off x="1400528" y="2777713"/>
            <a:ext cx="6454510" cy="661194"/>
            <a:chOff x="1632" y="2644"/>
            <a:chExt cx="3690" cy="378"/>
          </a:xfrm>
        </p:grpSpPr>
        <p:sp>
          <p:nvSpPr>
            <p:cNvPr id="70738" name="矩形 70737"/>
            <p:cNvSpPr/>
            <p:nvPr/>
          </p:nvSpPr>
          <p:spPr>
            <a:xfrm>
              <a:off x="1632" y="2644"/>
              <a:ext cx="369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程序 </a:t>
              </a:r>
              <a:r>
                <a:rPr lang="en-US" altLang="zh-CN" sz="2645" b="1">
                  <a:latin typeface="Arial" panose="020B0604020202020204" pitchFamily="34" charset="0"/>
                </a:rPr>
                <a:t>+ </a:t>
              </a:r>
              <a:r>
                <a:rPr lang="zh-CN" altLang="en-US" sz="2645" b="1" dirty="0">
                  <a:latin typeface="Arial" panose="020B0604020202020204" pitchFamily="34" charset="0"/>
                </a:rPr>
                <a:t>所有这些不一样 </a:t>
              </a:r>
              <a:r>
                <a:rPr lang="en-US" altLang="zh-CN" sz="2645" b="1">
                  <a:latin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altLang="zh-CN" sz="2645" b="1">
                  <a:latin typeface="Arial" panose="020B0604020202020204" pitchFamily="34" charset="0"/>
                </a:rPr>
                <a:t> </a:t>
              </a:r>
              <a:r>
                <a:rPr lang="zh-CN" altLang="en-US" sz="2645" b="1" dirty="0">
                  <a:latin typeface="Arial" panose="020B0604020202020204" pitchFamily="34" charset="0"/>
                </a:rPr>
                <a:t>一个概念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0739" name="图片 70738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" y="2793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740" name="组合 70739"/>
          <p:cNvGrpSpPr/>
          <p:nvPr/>
        </p:nvGrpSpPr>
        <p:grpSpPr>
          <a:xfrm>
            <a:off x="1400528" y="2099028"/>
            <a:ext cx="6454510" cy="661194"/>
            <a:chOff x="1632" y="2644"/>
            <a:chExt cx="3690" cy="378"/>
          </a:xfrm>
        </p:grpSpPr>
        <p:sp>
          <p:nvSpPr>
            <p:cNvPr id="70741" name="矩形 70740"/>
            <p:cNvSpPr/>
            <p:nvPr/>
          </p:nvSpPr>
          <p:spPr>
            <a:xfrm>
              <a:off x="1632" y="2644"/>
              <a:ext cx="3690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需要描述这些不一样</a:t>
              </a:r>
              <a:r>
                <a:rPr lang="en-US" altLang="zh-CN" sz="2645" b="1">
                  <a:latin typeface="Arial" panose="020B0604020202020204" pitchFamily="34" charset="0"/>
                </a:rPr>
                <a:t>…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pic>
          <p:nvPicPr>
            <p:cNvPr id="70742" name="图片 70741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" y="2793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0743" name="圆角矩形标注 70742"/>
          <p:cNvSpPr/>
          <p:nvPr/>
        </p:nvSpPr>
        <p:spPr>
          <a:xfrm>
            <a:off x="6941961" y="3442406"/>
            <a:ext cx="3190522" cy="1007533"/>
          </a:xfrm>
          <a:prstGeom prst="wedgeRoundRectCallout">
            <a:avLst>
              <a:gd name="adj1" fmla="val -75218"/>
              <a:gd name="adj2" fmla="val -58856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latin typeface="Arial" panose="020B0604020202020204" pitchFamily="34" charset="0"/>
              </a:rPr>
              <a:t>这些不一样就成了进程概念的外延</a:t>
            </a:r>
            <a:endParaRPr lang="zh-CN" altLang="en-US" sz="2645" b="1">
              <a:latin typeface="Arial" panose="020B0604020202020204" pitchFamily="34" charset="0"/>
            </a:endParaRPr>
          </a:p>
        </p:txBody>
      </p:sp>
      <p:grpSp>
        <p:nvGrpSpPr>
          <p:cNvPr id="70752" name="组合 70751"/>
          <p:cNvGrpSpPr/>
          <p:nvPr/>
        </p:nvGrpSpPr>
        <p:grpSpPr>
          <a:xfrm>
            <a:off x="1400528" y="4330994"/>
            <a:ext cx="7808383" cy="661194"/>
            <a:chOff x="624" y="2476"/>
            <a:chExt cx="4464" cy="378"/>
          </a:xfrm>
        </p:grpSpPr>
        <p:sp>
          <p:nvSpPr>
            <p:cNvPr id="70745" name="矩形 70744"/>
            <p:cNvSpPr/>
            <p:nvPr/>
          </p:nvSpPr>
          <p:spPr>
            <a:xfrm>
              <a:off x="624" y="2476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进程有开始、有结束，程序没有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0746" name="图片 70745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" y="264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754" name="组合 70753"/>
          <p:cNvGrpSpPr/>
          <p:nvPr/>
        </p:nvGrpSpPr>
        <p:grpSpPr>
          <a:xfrm>
            <a:off x="1400528" y="5632391"/>
            <a:ext cx="7808383" cy="661194"/>
            <a:chOff x="624" y="3220"/>
            <a:chExt cx="4464" cy="378"/>
          </a:xfrm>
        </p:grpSpPr>
        <p:sp>
          <p:nvSpPr>
            <p:cNvPr id="70747" name="矩形 70746"/>
            <p:cNvSpPr/>
            <p:nvPr/>
          </p:nvSpPr>
          <p:spPr>
            <a:xfrm>
              <a:off x="624" y="3220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进程需要记录</a:t>
              </a:r>
              <a:r>
                <a:rPr lang="en-US" altLang="zh-CN" sz="2645" b="1" err="1">
                  <a:latin typeface="Arial" panose="020B0604020202020204" pitchFamily="34" charset="0"/>
                </a:rPr>
                <a:t>ax,bx</a:t>
              </a:r>
              <a:r>
                <a:rPr lang="en-US" altLang="zh-CN" sz="2645" b="1">
                  <a:latin typeface="Arial" panose="020B0604020202020204" pitchFamily="34" charset="0"/>
                </a:rPr>
                <a:t>,…</a:t>
              </a:r>
              <a:r>
                <a:rPr lang="zh-CN" altLang="en-US" sz="2645" b="1" dirty="0">
                  <a:latin typeface="Arial" panose="020B0604020202020204" pitchFamily="34" charset="0"/>
                </a:rPr>
                <a:t>，程序不用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0748" name="图片 70747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" y="336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753" name="组合 70752"/>
          <p:cNvGrpSpPr/>
          <p:nvPr/>
        </p:nvGrpSpPr>
        <p:grpSpPr>
          <a:xfrm>
            <a:off x="1400528" y="4953706"/>
            <a:ext cx="7808383" cy="661194"/>
            <a:chOff x="624" y="2832"/>
            <a:chExt cx="4464" cy="378"/>
          </a:xfrm>
        </p:grpSpPr>
        <p:sp>
          <p:nvSpPr>
            <p:cNvPr id="70749" name="矩形 70748"/>
            <p:cNvSpPr/>
            <p:nvPr/>
          </p:nvSpPr>
          <p:spPr>
            <a:xfrm>
              <a:off x="624" y="2832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进程会走走停停，走停对程序无意义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0750" name="图片 70749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" y="3001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0755" name="组合 70754"/>
          <p:cNvGrpSpPr/>
          <p:nvPr/>
        </p:nvGrpSpPr>
        <p:grpSpPr>
          <a:xfrm>
            <a:off x="1400528" y="6220119"/>
            <a:ext cx="7808383" cy="661194"/>
            <a:chOff x="624" y="3220"/>
            <a:chExt cx="4464" cy="378"/>
          </a:xfrm>
        </p:grpSpPr>
        <p:sp>
          <p:nvSpPr>
            <p:cNvPr id="70756" name="矩形 70755"/>
            <p:cNvSpPr/>
            <p:nvPr/>
          </p:nvSpPr>
          <p:spPr>
            <a:xfrm>
              <a:off x="624" y="3220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en-US" altLang="zh-CN" sz="2645" b="1">
                  <a:latin typeface="Arial" panose="020B0604020202020204" pitchFamily="34" charset="0"/>
                </a:rPr>
                <a:t>…………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pic>
          <p:nvPicPr>
            <p:cNvPr id="70757" name="图片 70756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" y="336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0758" name="圆角矩形标注 70757"/>
          <p:cNvSpPr/>
          <p:nvPr/>
        </p:nvSpPr>
        <p:spPr>
          <a:xfrm>
            <a:off x="7529689" y="5625394"/>
            <a:ext cx="2686756" cy="1427339"/>
          </a:xfrm>
          <a:prstGeom prst="wedgeRoundRectCallout">
            <a:avLst>
              <a:gd name="adj1" fmla="val -74218"/>
              <a:gd name="adj2" fmla="val -4963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sz="2645" b="1" dirty="0">
                <a:solidFill>
                  <a:srgbClr val="FF3300"/>
                </a:solidFill>
                <a:latin typeface="Arial" panose="020B0604020202020204" pitchFamily="34" charset="0"/>
              </a:rPr>
              <a:t>有趣的是：并发技术使“不一样”增加了</a:t>
            </a:r>
            <a:endParaRPr lang="zh-CN" altLang="en-US" sz="2645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7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36" grpId="0" build="p"/>
      <p:bldP spid="70743" grpId="0" bldLvl="0" animBg="1"/>
      <p:bldP spid="7075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84479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</a:t>
            </a: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9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多进程图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像</a:t>
            </a:r>
            <a:endParaRPr sz="510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Mu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3400" b="1" spc="-65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ce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ss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…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ct val="100000"/>
              </a:lnSpc>
            </a:pPr>
            <a:r>
              <a:rPr sz="2950" spc="100" dirty="0"/>
              <a:t>多个进程使用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U</a:t>
            </a:r>
            <a:r>
              <a:rPr sz="2950" spc="100" dirty="0"/>
              <a:t>的图像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50431" y="1108737"/>
            <a:ext cx="837321" cy="86458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9759" y="2649479"/>
            <a:ext cx="171791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4963" y="2053943"/>
            <a:ext cx="3591560" cy="1852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如何使用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U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呢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723900">
              <a:lnSpc>
                <a:spcPct val="100000"/>
              </a:lnSpc>
              <a:spcBef>
                <a:spcPts val="157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让程序执行起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来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7780">
              <a:lnSpc>
                <a:spcPct val="100000"/>
              </a:lnSpc>
              <a:spcBef>
                <a:spcPts val="1045"/>
              </a:spcBef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如何充分利用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C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U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呢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723900">
              <a:lnSpc>
                <a:spcPts val="2330"/>
              </a:lnSpc>
              <a:spcBef>
                <a:spcPts val="1395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启动多个程序，交替执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9759" y="3623145"/>
            <a:ext cx="171791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69991" y="1566274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2240033" y="0"/>
                </a:moveTo>
                <a:lnTo>
                  <a:pt x="357116" y="0"/>
                </a:lnTo>
                <a:lnTo>
                  <a:pt x="327827" y="1183"/>
                </a:lnTo>
                <a:lnTo>
                  <a:pt x="271297" y="10375"/>
                </a:lnTo>
                <a:lnTo>
                  <a:pt x="218110" y="28056"/>
                </a:lnTo>
                <a:lnTo>
                  <a:pt x="169002" y="53489"/>
                </a:lnTo>
                <a:lnTo>
                  <a:pt x="124708" y="85941"/>
                </a:lnTo>
                <a:lnTo>
                  <a:pt x="85964" y="124675"/>
                </a:lnTo>
                <a:lnTo>
                  <a:pt x="53504" y="168957"/>
                </a:lnTo>
                <a:lnTo>
                  <a:pt x="28064" y="218051"/>
                </a:lnTo>
                <a:lnTo>
                  <a:pt x="10378" y="271223"/>
                </a:lnTo>
                <a:lnTo>
                  <a:pt x="1183" y="327738"/>
                </a:lnTo>
                <a:lnTo>
                  <a:pt x="0" y="357019"/>
                </a:lnTo>
                <a:lnTo>
                  <a:pt x="0" y="1785047"/>
                </a:lnTo>
                <a:lnTo>
                  <a:pt x="4674" y="1842957"/>
                </a:lnTo>
                <a:lnTo>
                  <a:pt x="18206" y="1897893"/>
                </a:lnTo>
                <a:lnTo>
                  <a:pt x="39860" y="1949118"/>
                </a:lnTo>
                <a:lnTo>
                  <a:pt x="68902" y="1995898"/>
                </a:lnTo>
                <a:lnTo>
                  <a:pt x="104597" y="2037498"/>
                </a:lnTo>
                <a:lnTo>
                  <a:pt x="146208" y="2073182"/>
                </a:lnTo>
                <a:lnTo>
                  <a:pt x="193000" y="2102217"/>
                </a:lnTo>
                <a:lnTo>
                  <a:pt x="244240" y="2123865"/>
                </a:lnTo>
                <a:lnTo>
                  <a:pt x="299190" y="2137394"/>
                </a:lnTo>
                <a:lnTo>
                  <a:pt x="357116" y="2142067"/>
                </a:lnTo>
                <a:lnTo>
                  <a:pt x="2240033" y="2142067"/>
                </a:lnTo>
                <a:lnTo>
                  <a:pt x="2297959" y="2137394"/>
                </a:lnTo>
                <a:lnTo>
                  <a:pt x="2352909" y="2123865"/>
                </a:lnTo>
                <a:lnTo>
                  <a:pt x="2404149" y="2102217"/>
                </a:lnTo>
                <a:lnTo>
                  <a:pt x="2450941" y="2073182"/>
                </a:lnTo>
                <a:lnTo>
                  <a:pt x="2492552" y="2037498"/>
                </a:lnTo>
                <a:lnTo>
                  <a:pt x="2528247" y="1995898"/>
                </a:lnTo>
                <a:lnTo>
                  <a:pt x="2557289" y="1949118"/>
                </a:lnTo>
                <a:lnTo>
                  <a:pt x="2578943" y="1897893"/>
                </a:lnTo>
                <a:lnTo>
                  <a:pt x="2592475" y="1842957"/>
                </a:lnTo>
                <a:lnTo>
                  <a:pt x="2597150" y="1785047"/>
                </a:lnTo>
                <a:lnTo>
                  <a:pt x="2597150" y="357019"/>
                </a:lnTo>
                <a:lnTo>
                  <a:pt x="2592475" y="299109"/>
                </a:lnTo>
                <a:lnTo>
                  <a:pt x="2578943" y="244174"/>
                </a:lnTo>
                <a:lnTo>
                  <a:pt x="2557289" y="192948"/>
                </a:lnTo>
                <a:lnTo>
                  <a:pt x="2528247" y="146168"/>
                </a:lnTo>
                <a:lnTo>
                  <a:pt x="2492552" y="104568"/>
                </a:lnTo>
                <a:lnTo>
                  <a:pt x="2450941" y="68884"/>
                </a:lnTo>
                <a:lnTo>
                  <a:pt x="2404149" y="39849"/>
                </a:lnTo>
                <a:lnTo>
                  <a:pt x="2352909" y="18201"/>
                </a:lnTo>
                <a:lnTo>
                  <a:pt x="2297959" y="4672"/>
                </a:lnTo>
                <a:lnTo>
                  <a:pt x="22400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69991" y="1566274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0" y="357019"/>
                </a:moveTo>
                <a:lnTo>
                  <a:pt x="4674" y="299109"/>
                </a:lnTo>
                <a:lnTo>
                  <a:pt x="18206" y="244173"/>
                </a:lnTo>
                <a:lnTo>
                  <a:pt x="39860" y="192948"/>
                </a:lnTo>
                <a:lnTo>
                  <a:pt x="68902" y="146168"/>
                </a:lnTo>
                <a:lnTo>
                  <a:pt x="104597" y="104568"/>
                </a:lnTo>
                <a:lnTo>
                  <a:pt x="146208" y="68884"/>
                </a:lnTo>
                <a:lnTo>
                  <a:pt x="193000" y="39849"/>
                </a:lnTo>
                <a:lnTo>
                  <a:pt x="244240" y="18201"/>
                </a:lnTo>
                <a:lnTo>
                  <a:pt x="299190" y="4672"/>
                </a:lnTo>
                <a:lnTo>
                  <a:pt x="357116" y="0"/>
                </a:lnTo>
                <a:lnTo>
                  <a:pt x="2240033" y="0"/>
                </a:lnTo>
                <a:lnTo>
                  <a:pt x="2297959" y="4672"/>
                </a:lnTo>
                <a:lnTo>
                  <a:pt x="2352909" y="18201"/>
                </a:lnTo>
                <a:lnTo>
                  <a:pt x="2404149" y="39849"/>
                </a:lnTo>
                <a:lnTo>
                  <a:pt x="2450941" y="68884"/>
                </a:lnTo>
                <a:lnTo>
                  <a:pt x="2492552" y="104568"/>
                </a:lnTo>
                <a:lnTo>
                  <a:pt x="2528247" y="146168"/>
                </a:lnTo>
                <a:lnTo>
                  <a:pt x="2557289" y="192948"/>
                </a:lnTo>
                <a:lnTo>
                  <a:pt x="2578943" y="244173"/>
                </a:lnTo>
                <a:lnTo>
                  <a:pt x="2592475" y="299109"/>
                </a:lnTo>
                <a:lnTo>
                  <a:pt x="2597150" y="357019"/>
                </a:lnTo>
                <a:lnTo>
                  <a:pt x="2597150" y="1785047"/>
                </a:lnTo>
                <a:lnTo>
                  <a:pt x="2592475" y="1842957"/>
                </a:lnTo>
                <a:lnTo>
                  <a:pt x="2578943" y="1897892"/>
                </a:lnTo>
                <a:lnTo>
                  <a:pt x="2557289" y="1949118"/>
                </a:lnTo>
                <a:lnTo>
                  <a:pt x="2528247" y="1995898"/>
                </a:lnTo>
                <a:lnTo>
                  <a:pt x="2492552" y="2037498"/>
                </a:lnTo>
                <a:lnTo>
                  <a:pt x="2450941" y="2073182"/>
                </a:lnTo>
                <a:lnTo>
                  <a:pt x="2404149" y="2102216"/>
                </a:lnTo>
                <a:lnTo>
                  <a:pt x="2352909" y="2123865"/>
                </a:lnTo>
                <a:lnTo>
                  <a:pt x="2297959" y="2137393"/>
                </a:lnTo>
                <a:lnTo>
                  <a:pt x="2240033" y="2142066"/>
                </a:lnTo>
                <a:lnTo>
                  <a:pt x="357116" y="2142066"/>
                </a:lnTo>
                <a:lnTo>
                  <a:pt x="299190" y="2137393"/>
                </a:lnTo>
                <a:lnTo>
                  <a:pt x="244240" y="2123865"/>
                </a:lnTo>
                <a:lnTo>
                  <a:pt x="193000" y="2102216"/>
                </a:lnTo>
                <a:lnTo>
                  <a:pt x="146208" y="2073182"/>
                </a:lnTo>
                <a:lnTo>
                  <a:pt x="104597" y="2037498"/>
                </a:lnTo>
                <a:lnTo>
                  <a:pt x="68902" y="1995898"/>
                </a:lnTo>
                <a:lnTo>
                  <a:pt x="39860" y="1949118"/>
                </a:lnTo>
                <a:lnTo>
                  <a:pt x="18206" y="1897892"/>
                </a:lnTo>
                <a:lnTo>
                  <a:pt x="4674" y="1842957"/>
                </a:lnTo>
                <a:lnTo>
                  <a:pt x="0" y="1785047"/>
                </a:lnTo>
                <a:lnTo>
                  <a:pt x="0" y="357019"/>
                </a:lnTo>
                <a:close/>
              </a:path>
            </a:pathLst>
          </a:custGeom>
          <a:ln w="21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21787" y="1786870"/>
            <a:ext cx="1301750" cy="112395"/>
          </a:xfrm>
          <a:custGeom>
            <a:avLst/>
            <a:gdLst/>
            <a:ahLst/>
            <a:cxnLst/>
            <a:rect l="l" t="t" r="r" b="b"/>
            <a:pathLst>
              <a:path w="1301750" h="112394">
                <a:moveTo>
                  <a:pt x="0" y="43105"/>
                </a:moveTo>
                <a:lnTo>
                  <a:pt x="0" y="67447"/>
                </a:lnTo>
                <a:lnTo>
                  <a:pt x="1232145" y="67448"/>
                </a:lnTo>
                <a:lnTo>
                  <a:pt x="1192189" y="90749"/>
                </a:lnTo>
                <a:lnTo>
                  <a:pt x="1190227" y="98201"/>
                </a:lnTo>
                <a:lnTo>
                  <a:pt x="1197002" y="109813"/>
                </a:lnTo>
                <a:lnTo>
                  <a:pt x="1204457" y="111775"/>
                </a:lnTo>
                <a:lnTo>
                  <a:pt x="1301337" y="55276"/>
                </a:lnTo>
                <a:lnTo>
                  <a:pt x="1280467" y="43106"/>
                </a:lnTo>
                <a:lnTo>
                  <a:pt x="0" y="43105"/>
                </a:lnTo>
                <a:close/>
              </a:path>
              <a:path w="1301750" h="112394">
                <a:moveTo>
                  <a:pt x="1200984" y="0"/>
                </a:moveTo>
                <a:lnTo>
                  <a:pt x="1196155" y="2192"/>
                </a:lnTo>
                <a:lnTo>
                  <a:pt x="1190227" y="12353"/>
                </a:lnTo>
                <a:lnTo>
                  <a:pt x="1192189" y="19805"/>
                </a:lnTo>
                <a:lnTo>
                  <a:pt x="1232145" y="43106"/>
                </a:lnTo>
                <a:lnTo>
                  <a:pt x="1280467" y="43106"/>
                </a:lnTo>
                <a:lnTo>
                  <a:pt x="1208812" y="1319"/>
                </a:lnTo>
                <a:lnTo>
                  <a:pt x="1207258" y="806"/>
                </a:lnTo>
                <a:lnTo>
                  <a:pt x="120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16573" y="2111427"/>
            <a:ext cx="1366520" cy="112395"/>
          </a:xfrm>
          <a:custGeom>
            <a:avLst/>
            <a:gdLst/>
            <a:ahLst/>
            <a:cxnLst/>
            <a:rect l="l" t="t" r="r" b="b"/>
            <a:pathLst>
              <a:path w="1366520" h="112394">
                <a:moveTo>
                  <a:pt x="1265913" y="0"/>
                </a:moveTo>
                <a:lnTo>
                  <a:pt x="1261084" y="2192"/>
                </a:lnTo>
                <a:lnTo>
                  <a:pt x="1255156" y="12352"/>
                </a:lnTo>
                <a:lnTo>
                  <a:pt x="1257117" y="19804"/>
                </a:lnTo>
                <a:lnTo>
                  <a:pt x="1297073" y="43105"/>
                </a:lnTo>
                <a:lnTo>
                  <a:pt x="0" y="43105"/>
                </a:lnTo>
                <a:lnTo>
                  <a:pt x="0" y="67445"/>
                </a:lnTo>
                <a:lnTo>
                  <a:pt x="1297073" y="67447"/>
                </a:lnTo>
                <a:lnTo>
                  <a:pt x="1257117" y="90747"/>
                </a:lnTo>
                <a:lnTo>
                  <a:pt x="1255156" y="98200"/>
                </a:lnTo>
                <a:lnTo>
                  <a:pt x="1261931" y="109813"/>
                </a:lnTo>
                <a:lnTo>
                  <a:pt x="1269386" y="111773"/>
                </a:lnTo>
                <a:lnTo>
                  <a:pt x="1366265" y="55276"/>
                </a:lnTo>
                <a:lnTo>
                  <a:pt x="1273741" y="1319"/>
                </a:lnTo>
                <a:lnTo>
                  <a:pt x="1272186" y="806"/>
                </a:lnTo>
                <a:lnTo>
                  <a:pt x="12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43922" y="2435981"/>
            <a:ext cx="454659" cy="112395"/>
          </a:xfrm>
          <a:custGeom>
            <a:avLst/>
            <a:gdLst/>
            <a:ahLst/>
            <a:cxnLst/>
            <a:rect l="l" t="t" r="r" b="b"/>
            <a:pathLst>
              <a:path w="454659" h="112394">
                <a:moveTo>
                  <a:pt x="0" y="43105"/>
                </a:moveTo>
                <a:lnTo>
                  <a:pt x="0" y="67447"/>
                </a:lnTo>
                <a:lnTo>
                  <a:pt x="385364" y="67448"/>
                </a:lnTo>
                <a:lnTo>
                  <a:pt x="345409" y="90749"/>
                </a:lnTo>
                <a:lnTo>
                  <a:pt x="343448" y="98201"/>
                </a:lnTo>
                <a:lnTo>
                  <a:pt x="350224" y="109813"/>
                </a:lnTo>
                <a:lnTo>
                  <a:pt x="357677" y="111775"/>
                </a:lnTo>
                <a:lnTo>
                  <a:pt x="454558" y="55276"/>
                </a:lnTo>
                <a:lnTo>
                  <a:pt x="433688" y="43106"/>
                </a:lnTo>
                <a:lnTo>
                  <a:pt x="0" y="43105"/>
                </a:lnTo>
                <a:close/>
              </a:path>
              <a:path w="454659" h="112394">
                <a:moveTo>
                  <a:pt x="354205" y="0"/>
                </a:moveTo>
                <a:lnTo>
                  <a:pt x="349376" y="2192"/>
                </a:lnTo>
                <a:lnTo>
                  <a:pt x="343448" y="12353"/>
                </a:lnTo>
                <a:lnTo>
                  <a:pt x="345409" y="19805"/>
                </a:lnTo>
                <a:lnTo>
                  <a:pt x="385364" y="43106"/>
                </a:lnTo>
                <a:lnTo>
                  <a:pt x="433688" y="43106"/>
                </a:lnTo>
                <a:lnTo>
                  <a:pt x="362033" y="1319"/>
                </a:lnTo>
                <a:lnTo>
                  <a:pt x="360479" y="806"/>
                </a:lnTo>
                <a:lnTo>
                  <a:pt x="354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64777" y="2929408"/>
            <a:ext cx="2012950" cy="649605"/>
          </a:xfrm>
          <a:custGeom>
            <a:avLst/>
            <a:gdLst/>
            <a:ahLst/>
            <a:cxnLst/>
            <a:rect l="l" t="t" r="r" b="b"/>
            <a:pathLst>
              <a:path w="2012950" h="649604">
                <a:moveTo>
                  <a:pt x="0" y="649111"/>
                </a:moveTo>
                <a:lnTo>
                  <a:pt x="2012791" y="649111"/>
                </a:lnTo>
                <a:lnTo>
                  <a:pt x="2012791" y="0"/>
                </a:lnTo>
                <a:lnTo>
                  <a:pt x="0" y="0"/>
                </a:lnTo>
                <a:lnTo>
                  <a:pt x="0" y="649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2212" y="3987659"/>
            <a:ext cx="6377940" cy="188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6915" marR="5080" indent="-704850">
              <a:lnSpc>
                <a:spcPct val="146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启动了的程序就是进程，所以</a:t>
            </a:r>
            <a:r>
              <a:rPr sz="3450" b="1" spc="112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是多个进程推</a:t>
            </a:r>
            <a:r>
              <a:rPr sz="3450" b="1" spc="135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3450" b="1" spc="6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操作系统只需要把这些进程</a:t>
            </a: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记录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好、要按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照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合理的次序推进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分配资源、进行调度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716915">
              <a:lnSpc>
                <a:spcPct val="100000"/>
              </a:lnSpc>
              <a:spcBef>
                <a:spcPts val="147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这就是多进程图像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44209" y="1568432"/>
            <a:ext cx="5784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65063" y="2667319"/>
            <a:ext cx="6038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1503" y="1840829"/>
            <a:ext cx="581025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>
              <a:lnSpc>
                <a:spcPct val="125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4777" y="2929408"/>
            <a:ext cx="2012950" cy="649605"/>
          </a:xfrm>
          <a:prstGeom prst="rect">
            <a:avLst/>
          </a:prstGeom>
          <a:ln w="2163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675" marR="114935">
              <a:lnSpc>
                <a:spcPct val="102000"/>
              </a:lnSpc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算出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ax=1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，启动磁盘 写，正在等待完成</a:t>
            </a:r>
            <a:r>
              <a:rPr sz="1500" b="1" spc="30" dirty="0">
                <a:latin typeface="Arial" panose="020B0604020202020204"/>
                <a:cs typeface="Arial" panose="020B0604020202020204"/>
              </a:rPr>
              <a:t>…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2784" y="3129622"/>
            <a:ext cx="2838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39759" y="4642791"/>
            <a:ext cx="171791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39759" y="5570479"/>
            <a:ext cx="171791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ts val="3470"/>
              </a:lnSpc>
            </a:pPr>
            <a:r>
              <a:rPr spc="100" dirty="0"/>
              <a:t>多进程图像从启动开始到关机结束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9300579" y="1045179"/>
            <a:ext cx="837321" cy="86458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4821" y="2053943"/>
            <a:ext cx="4698365" cy="87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i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n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o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k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创建了第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1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23900">
              <a:lnSpc>
                <a:spcPct val="100000"/>
              </a:lnSpc>
              <a:spcBef>
                <a:spcPts val="155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执行了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ndo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桌面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69617" y="2649479"/>
            <a:ext cx="171791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2115" y="3157133"/>
            <a:ext cx="313118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" panose="020B0604020202020204"/>
                <a:cs typeface="Arial" panose="020B0604020202020204"/>
              </a:rPr>
              <a:t>s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h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再启动其他进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1047" y="2276595"/>
            <a:ext cx="31356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20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if(!fork()){init();}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23901" y="2663001"/>
            <a:ext cx="4724918" cy="9844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3750" y="3642360"/>
            <a:ext cx="4337050" cy="1217295"/>
          </a:xfrm>
          <a:custGeom>
            <a:avLst/>
            <a:gdLst/>
            <a:ahLst/>
            <a:cxnLst/>
            <a:rect l="l" t="t" r="r" b="b"/>
            <a:pathLst>
              <a:path w="4350385" h="1075689">
                <a:moveTo>
                  <a:pt x="0" y="0"/>
                </a:moveTo>
                <a:lnTo>
                  <a:pt x="4350226" y="0"/>
                </a:lnTo>
                <a:lnTo>
                  <a:pt x="4350226" y="1075090"/>
                </a:lnTo>
                <a:lnTo>
                  <a:pt x="0" y="107509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8785" y="3704263"/>
            <a:ext cx="31565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ma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dirty="0">
                <a:latin typeface="Arial" panose="020B0604020202020204"/>
                <a:cs typeface="Arial" panose="020B0604020202020204"/>
              </a:rPr>
              <a:t>h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*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g</a:t>
            </a:r>
            <a:r>
              <a:rPr sz="1700" b="1" dirty="0">
                <a:latin typeface="Arial" panose="020B0604020202020204"/>
                <a:cs typeface="Arial" panose="020B0604020202020204"/>
              </a:rPr>
              <a:t>v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[]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785" y="4068223"/>
            <a:ext cx="3807460" cy="601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315" marR="5080" indent="-476250">
              <a:lnSpc>
                <a:spcPct val="139000"/>
              </a:lnSpc>
              <a:tabLst>
                <a:tab pos="274955" algn="l"/>
              </a:tabLst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sca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f(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%s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cm</a:t>
            </a:r>
            <a:r>
              <a:rPr sz="17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);</a:t>
            </a:r>
            <a:r>
              <a:rPr sz="17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if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(!f</a:t>
            </a:r>
            <a:r>
              <a:rPr sz="1700" b="1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latin typeface="Arial" panose="020B0604020202020204"/>
                <a:cs typeface="Arial" panose="020B0604020202020204"/>
              </a:rPr>
              <a:t>k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{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exec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cm</a:t>
            </a:r>
            <a:r>
              <a:rPr sz="1700" b="1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 w</a:t>
            </a:r>
            <a:r>
              <a:rPr sz="1700" b="1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it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7791" y="3544711"/>
            <a:ext cx="2816860" cy="1103630"/>
          </a:xfrm>
          <a:custGeom>
            <a:avLst/>
            <a:gdLst/>
            <a:ahLst/>
            <a:cxnLst/>
            <a:rect l="l" t="t" r="r" b="b"/>
            <a:pathLst>
              <a:path w="2816859" h="1103629">
                <a:moveTo>
                  <a:pt x="2632802" y="0"/>
                </a:moveTo>
                <a:lnTo>
                  <a:pt x="580790" y="0"/>
                </a:lnTo>
                <a:lnTo>
                  <a:pt x="565701" y="609"/>
                </a:lnTo>
                <a:lnTo>
                  <a:pt x="522642" y="9376"/>
                </a:lnTo>
                <a:lnTo>
                  <a:pt x="483883" y="27555"/>
                </a:lnTo>
                <a:lnTo>
                  <a:pt x="450705" y="53868"/>
                </a:lnTo>
                <a:lnTo>
                  <a:pt x="424385" y="87038"/>
                </a:lnTo>
                <a:lnTo>
                  <a:pt x="406201" y="125786"/>
                </a:lnTo>
                <a:lnTo>
                  <a:pt x="397432" y="168834"/>
                </a:lnTo>
                <a:lnTo>
                  <a:pt x="396822" y="183918"/>
                </a:lnTo>
                <a:lnTo>
                  <a:pt x="0" y="205778"/>
                </a:lnTo>
                <a:lnTo>
                  <a:pt x="396822" y="459788"/>
                </a:lnTo>
                <a:lnTo>
                  <a:pt x="396822" y="919570"/>
                </a:lnTo>
                <a:lnTo>
                  <a:pt x="397432" y="934654"/>
                </a:lnTo>
                <a:lnTo>
                  <a:pt x="406201" y="977702"/>
                </a:lnTo>
                <a:lnTo>
                  <a:pt x="424385" y="1016450"/>
                </a:lnTo>
                <a:lnTo>
                  <a:pt x="450705" y="1049620"/>
                </a:lnTo>
                <a:lnTo>
                  <a:pt x="483883" y="1075933"/>
                </a:lnTo>
                <a:lnTo>
                  <a:pt x="522642" y="1094112"/>
                </a:lnTo>
                <a:lnTo>
                  <a:pt x="565701" y="1102879"/>
                </a:lnTo>
                <a:lnTo>
                  <a:pt x="580790" y="1103489"/>
                </a:lnTo>
                <a:lnTo>
                  <a:pt x="2632802" y="1103489"/>
                </a:lnTo>
                <a:lnTo>
                  <a:pt x="2677012" y="1098143"/>
                </a:lnTo>
                <a:lnTo>
                  <a:pt x="2717346" y="1082960"/>
                </a:lnTo>
                <a:lnTo>
                  <a:pt x="2752527" y="1059216"/>
                </a:lnTo>
                <a:lnTo>
                  <a:pt x="2781275" y="1028190"/>
                </a:lnTo>
                <a:lnTo>
                  <a:pt x="2802313" y="991159"/>
                </a:lnTo>
                <a:lnTo>
                  <a:pt x="2814363" y="949402"/>
                </a:lnTo>
                <a:lnTo>
                  <a:pt x="2816771" y="919570"/>
                </a:lnTo>
                <a:lnTo>
                  <a:pt x="2816770" y="183916"/>
                </a:lnTo>
                <a:lnTo>
                  <a:pt x="2811424" y="139720"/>
                </a:lnTo>
                <a:lnTo>
                  <a:pt x="2796236" y="99397"/>
                </a:lnTo>
                <a:lnTo>
                  <a:pt x="2772486" y="64226"/>
                </a:lnTo>
                <a:lnTo>
                  <a:pt x="2741451" y="35485"/>
                </a:lnTo>
                <a:lnTo>
                  <a:pt x="2704411" y="14453"/>
                </a:lnTo>
                <a:lnTo>
                  <a:pt x="2662643" y="2407"/>
                </a:lnTo>
                <a:lnTo>
                  <a:pt x="2647890" y="609"/>
                </a:lnTo>
                <a:lnTo>
                  <a:pt x="2632802" y="0"/>
                </a:lnTo>
                <a:close/>
              </a:path>
              <a:path w="2816859" h="1103629">
                <a:moveTo>
                  <a:pt x="396822" y="183916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77792" y="3544711"/>
            <a:ext cx="2816860" cy="1103630"/>
          </a:xfrm>
          <a:custGeom>
            <a:avLst/>
            <a:gdLst/>
            <a:ahLst/>
            <a:cxnLst/>
            <a:rect l="l" t="t" r="r" b="b"/>
            <a:pathLst>
              <a:path w="2816859" h="1103629">
                <a:moveTo>
                  <a:pt x="396822" y="183918"/>
                </a:moveTo>
                <a:lnTo>
                  <a:pt x="402168" y="139720"/>
                </a:lnTo>
                <a:lnTo>
                  <a:pt x="417356" y="99397"/>
                </a:lnTo>
                <a:lnTo>
                  <a:pt x="441106" y="64226"/>
                </a:lnTo>
                <a:lnTo>
                  <a:pt x="472141" y="35485"/>
                </a:lnTo>
                <a:lnTo>
                  <a:pt x="509181" y="14453"/>
                </a:lnTo>
                <a:lnTo>
                  <a:pt x="550949" y="2407"/>
                </a:lnTo>
                <a:lnTo>
                  <a:pt x="580790" y="0"/>
                </a:lnTo>
                <a:lnTo>
                  <a:pt x="800146" y="0"/>
                </a:lnTo>
                <a:lnTo>
                  <a:pt x="1405134" y="0"/>
                </a:lnTo>
                <a:lnTo>
                  <a:pt x="2632802" y="0"/>
                </a:lnTo>
                <a:lnTo>
                  <a:pt x="2647890" y="609"/>
                </a:lnTo>
                <a:lnTo>
                  <a:pt x="2690950" y="9376"/>
                </a:lnTo>
                <a:lnTo>
                  <a:pt x="2729709" y="27555"/>
                </a:lnTo>
                <a:lnTo>
                  <a:pt x="2762887" y="53868"/>
                </a:lnTo>
                <a:lnTo>
                  <a:pt x="2789207" y="87038"/>
                </a:lnTo>
                <a:lnTo>
                  <a:pt x="2807391" y="125785"/>
                </a:lnTo>
                <a:lnTo>
                  <a:pt x="2816160" y="168834"/>
                </a:lnTo>
                <a:lnTo>
                  <a:pt x="2816770" y="183918"/>
                </a:lnTo>
                <a:lnTo>
                  <a:pt x="2816770" y="459787"/>
                </a:lnTo>
                <a:lnTo>
                  <a:pt x="2816770" y="919570"/>
                </a:lnTo>
                <a:lnTo>
                  <a:pt x="2816160" y="934654"/>
                </a:lnTo>
                <a:lnTo>
                  <a:pt x="2807391" y="977702"/>
                </a:lnTo>
                <a:lnTo>
                  <a:pt x="2789207" y="1016450"/>
                </a:lnTo>
                <a:lnTo>
                  <a:pt x="2762887" y="1049620"/>
                </a:lnTo>
                <a:lnTo>
                  <a:pt x="2729709" y="1075933"/>
                </a:lnTo>
                <a:lnTo>
                  <a:pt x="2690950" y="1094112"/>
                </a:lnTo>
                <a:lnTo>
                  <a:pt x="2647890" y="1102879"/>
                </a:lnTo>
                <a:lnTo>
                  <a:pt x="2632802" y="1103488"/>
                </a:lnTo>
                <a:lnTo>
                  <a:pt x="1405134" y="1103488"/>
                </a:lnTo>
                <a:lnTo>
                  <a:pt x="800146" y="1103488"/>
                </a:lnTo>
                <a:lnTo>
                  <a:pt x="580790" y="1103488"/>
                </a:lnTo>
                <a:lnTo>
                  <a:pt x="565701" y="1102879"/>
                </a:lnTo>
                <a:lnTo>
                  <a:pt x="522642" y="1094112"/>
                </a:lnTo>
                <a:lnTo>
                  <a:pt x="483883" y="1075933"/>
                </a:lnTo>
                <a:lnTo>
                  <a:pt x="450705" y="1049620"/>
                </a:lnTo>
                <a:lnTo>
                  <a:pt x="424384" y="1016450"/>
                </a:lnTo>
                <a:lnTo>
                  <a:pt x="406201" y="977702"/>
                </a:lnTo>
                <a:lnTo>
                  <a:pt x="397432" y="934654"/>
                </a:lnTo>
                <a:lnTo>
                  <a:pt x="396822" y="919570"/>
                </a:lnTo>
                <a:lnTo>
                  <a:pt x="396822" y="459787"/>
                </a:lnTo>
                <a:lnTo>
                  <a:pt x="0" y="205777"/>
                </a:lnTo>
                <a:lnTo>
                  <a:pt x="396822" y="18391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997180" y="3671321"/>
            <a:ext cx="217297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5560">
              <a:lnSpc>
                <a:spcPct val="100000"/>
              </a:lnSpc>
            </a:pPr>
            <a:r>
              <a:rPr sz="1950" b="1" spc="8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一命令启动一个</a:t>
            </a:r>
            <a:r>
              <a:rPr sz="1950" b="1" spc="7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1950" b="1" spc="3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程，返回</a:t>
            </a:r>
            <a:r>
              <a:rPr sz="2000" b="1" spc="20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925" b="1" spc="12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</a:t>
            </a:r>
            <a:r>
              <a:rPr sz="2925" b="1" spc="112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启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92689" y="4280798"/>
            <a:ext cx="15824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动其他进程</a:t>
            </a:r>
            <a:r>
              <a:rPr sz="2000" b="1" spc="30" dirty="0">
                <a:solidFill>
                  <a:srgbClr val="FF3300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85849" y="5339401"/>
            <a:ext cx="909319" cy="112395"/>
          </a:xfrm>
          <a:custGeom>
            <a:avLst/>
            <a:gdLst/>
            <a:ahLst/>
            <a:cxnLst/>
            <a:rect l="l" t="t" r="r" b="b"/>
            <a:pathLst>
              <a:path w="909319" h="112395">
                <a:moveTo>
                  <a:pt x="808706" y="0"/>
                </a:moveTo>
                <a:lnTo>
                  <a:pt x="803877" y="2192"/>
                </a:lnTo>
                <a:lnTo>
                  <a:pt x="797949" y="12353"/>
                </a:lnTo>
                <a:lnTo>
                  <a:pt x="799911" y="19805"/>
                </a:lnTo>
                <a:lnTo>
                  <a:pt x="839866" y="43106"/>
                </a:lnTo>
                <a:lnTo>
                  <a:pt x="0" y="43106"/>
                </a:lnTo>
                <a:lnTo>
                  <a:pt x="0" y="67447"/>
                </a:lnTo>
                <a:lnTo>
                  <a:pt x="839866" y="67448"/>
                </a:lnTo>
                <a:lnTo>
                  <a:pt x="799911" y="90749"/>
                </a:lnTo>
                <a:lnTo>
                  <a:pt x="797949" y="98201"/>
                </a:lnTo>
                <a:lnTo>
                  <a:pt x="804724" y="109814"/>
                </a:lnTo>
                <a:lnTo>
                  <a:pt x="812179" y="111775"/>
                </a:lnTo>
                <a:lnTo>
                  <a:pt x="909058" y="55278"/>
                </a:lnTo>
                <a:lnTo>
                  <a:pt x="816535" y="1319"/>
                </a:lnTo>
                <a:lnTo>
                  <a:pt x="814979" y="807"/>
                </a:lnTo>
                <a:lnTo>
                  <a:pt x="80870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94852" y="5394678"/>
            <a:ext cx="388620" cy="259715"/>
          </a:xfrm>
          <a:custGeom>
            <a:avLst/>
            <a:gdLst/>
            <a:ahLst/>
            <a:cxnLst/>
            <a:rect l="l" t="t" r="r" b="b"/>
            <a:pathLst>
              <a:path w="388619" h="259714">
                <a:moveTo>
                  <a:pt x="0" y="0"/>
                </a:moveTo>
                <a:lnTo>
                  <a:pt x="388220" y="259644"/>
                </a:lnTo>
              </a:path>
            </a:pathLst>
          </a:custGeom>
          <a:ln w="2434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85622" y="5123427"/>
            <a:ext cx="7943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号进程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6660" y="5402791"/>
            <a:ext cx="549275" cy="728980"/>
          </a:xfrm>
          <a:custGeom>
            <a:avLst/>
            <a:gdLst/>
            <a:ahLst/>
            <a:cxnLst/>
            <a:rect l="l" t="t" r="r" b="b"/>
            <a:pathLst>
              <a:path w="549275" h="728979">
                <a:moveTo>
                  <a:pt x="0" y="728898"/>
                </a:moveTo>
                <a:lnTo>
                  <a:pt x="45248" y="718130"/>
                </a:lnTo>
                <a:lnTo>
                  <a:pt x="90139" y="706846"/>
                </a:lnTo>
                <a:lnTo>
                  <a:pt x="134317" y="694533"/>
                </a:lnTo>
                <a:lnTo>
                  <a:pt x="177424" y="680673"/>
                </a:lnTo>
                <a:lnTo>
                  <a:pt x="219103" y="664753"/>
                </a:lnTo>
                <a:lnTo>
                  <a:pt x="258997" y="646256"/>
                </a:lnTo>
                <a:lnTo>
                  <a:pt x="296749" y="624667"/>
                </a:lnTo>
                <a:lnTo>
                  <a:pt x="332002" y="599472"/>
                </a:lnTo>
                <a:lnTo>
                  <a:pt x="364400" y="570155"/>
                </a:lnTo>
                <a:lnTo>
                  <a:pt x="393585" y="536200"/>
                </a:lnTo>
                <a:lnTo>
                  <a:pt x="419319" y="497265"/>
                </a:lnTo>
                <a:lnTo>
                  <a:pt x="441840" y="453692"/>
                </a:lnTo>
                <a:lnTo>
                  <a:pt x="461506" y="405998"/>
                </a:lnTo>
                <a:lnTo>
                  <a:pt x="478672" y="354696"/>
                </a:lnTo>
                <a:lnTo>
                  <a:pt x="493697" y="300303"/>
                </a:lnTo>
                <a:lnTo>
                  <a:pt x="506937" y="243334"/>
                </a:lnTo>
                <a:lnTo>
                  <a:pt x="518750" y="184304"/>
                </a:lnTo>
                <a:lnTo>
                  <a:pt x="529491" y="123728"/>
                </a:lnTo>
                <a:lnTo>
                  <a:pt x="539518" y="62121"/>
                </a:lnTo>
                <a:lnTo>
                  <a:pt x="544376" y="31093"/>
                </a:lnTo>
                <a:lnTo>
                  <a:pt x="549189" y="0"/>
                </a:lnTo>
              </a:path>
            </a:pathLst>
          </a:custGeom>
          <a:ln w="24345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25948" y="6031935"/>
            <a:ext cx="457834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启动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94852" y="5135033"/>
            <a:ext cx="388620" cy="259715"/>
          </a:xfrm>
          <a:custGeom>
            <a:avLst/>
            <a:gdLst/>
            <a:ahLst/>
            <a:cxnLst/>
            <a:rect l="l" t="t" r="r" b="b"/>
            <a:pathLst>
              <a:path w="388619" h="259714">
                <a:moveTo>
                  <a:pt x="0" y="259644"/>
                </a:moveTo>
                <a:lnTo>
                  <a:pt x="388220" y="0"/>
                </a:lnTo>
              </a:path>
            </a:pathLst>
          </a:custGeom>
          <a:ln w="2434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83072" y="5079757"/>
            <a:ext cx="909319" cy="112395"/>
          </a:xfrm>
          <a:custGeom>
            <a:avLst/>
            <a:gdLst/>
            <a:ahLst/>
            <a:cxnLst/>
            <a:rect l="l" t="t" r="r" b="b"/>
            <a:pathLst>
              <a:path w="909320" h="112395">
                <a:moveTo>
                  <a:pt x="0" y="43105"/>
                </a:moveTo>
                <a:lnTo>
                  <a:pt x="0" y="67447"/>
                </a:lnTo>
                <a:lnTo>
                  <a:pt x="839866" y="67447"/>
                </a:lnTo>
                <a:lnTo>
                  <a:pt x="799910" y="90749"/>
                </a:lnTo>
                <a:lnTo>
                  <a:pt x="797948" y="98201"/>
                </a:lnTo>
                <a:lnTo>
                  <a:pt x="804724" y="109813"/>
                </a:lnTo>
                <a:lnTo>
                  <a:pt x="812178" y="111773"/>
                </a:lnTo>
                <a:lnTo>
                  <a:pt x="909058" y="55276"/>
                </a:lnTo>
                <a:lnTo>
                  <a:pt x="888189" y="43106"/>
                </a:lnTo>
                <a:lnTo>
                  <a:pt x="0" y="43105"/>
                </a:lnTo>
                <a:close/>
              </a:path>
              <a:path w="909320" h="112395">
                <a:moveTo>
                  <a:pt x="808705" y="0"/>
                </a:moveTo>
                <a:lnTo>
                  <a:pt x="803878" y="2192"/>
                </a:lnTo>
                <a:lnTo>
                  <a:pt x="797948" y="12352"/>
                </a:lnTo>
                <a:lnTo>
                  <a:pt x="799910" y="19804"/>
                </a:lnTo>
                <a:lnTo>
                  <a:pt x="839866" y="43106"/>
                </a:lnTo>
                <a:lnTo>
                  <a:pt x="888189" y="43106"/>
                </a:lnTo>
                <a:lnTo>
                  <a:pt x="816535" y="1319"/>
                </a:lnTo>
                <a:lnTo>
                  <a:pt x="814980" y="806"/>
                </a:lnTo>
                <a:lnTo>
                  <a:pt x="80870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83072" y="5599046"/>
            <a:ext cx="909319" cy="112395"/>
          </a:xfrm>
          <a:custGeom>
            <a:avLst/>
            <a:gdLst/>
            <a:ahLst/>
            <a:cxnLst/>
            <a:rect l="l" t="t" r="r" b="b"/>
            <a:pathLst>
              <a:path w="909320" h="112395">
                <a:moveTo>
                  <a:pt x="808705" y="0"/>
                </a:moveTo>
                <a:lnTo>
                  <a:pt x="803878" y="2190"/>
                </a:lnTo>
                <a:lnTo>
                  <a:pt x="797948" y="12352"/>
                </a:lnTo>
                <a:lnTo>
                  <a:pt x="799910" y="19804"/>
                </a:lnTo>
                <a:lnTo>
                  <a:pt x="839866" y="43105"/>
                </a:lnTo>
                <a:lnTo>
                  <a:pt x="0" y="43105"/>
                </a:lnTo>
                <a:lnTo>
                  <a:pt x="0" y="67445"/>
                </a:lnTo>
                <a:lnTo>
                  <a:pt x="839866" y="67447"/>
                </a:lnTo>
                <a:lnTo>
                  <a:pt x="799910" y="90747"/>
                </a:lnTo>
                <a:lnTo>
                  <a:pt x="797948" y="98200"/>
                </a:lnTo>
                <a:lnTo>
                  <a:pt x="804724" y="109813"/>
                </a:lnTo>
                <a:lnTo>
                  <a:pt x="812178" y="111773"/>
                </a:lnTo>
                <a:lnTo>
                  <a:pt x="909058" y="55276"/>
                </a:lnTo>
                <a:lnTo>
                  <a:pt x="816535" y="1318"/>
                </a:lnTo>
                <a:lnTo>
                  <a:pt x="814980" y="806"/>
                </a:lnTo>
                <a:lnTo>
                  <a:pt x="808705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548906" y="4863853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某个命令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82113" y="5383001"/>
            <a:ext cx="7943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号进程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90720" y="5654321"/>
            <a:ext cx="389890" cy="325120"/>
          </a:xfrm>
          <a:custGeom>
            <a:avLst/>
            <a:gdLst/>
            <a:ahLst/>
            <a:cxnLst/>
            <a:rect l="l" t="t" r="r" b="b"/>
            <a:pathLst>
              <a:path w="389889" h="325120">
                <a:moveTo>
                  <a:pt x="0" y="0"/>
                </a:moveTo>
                <a:lnTo>
                  <a:pt x="389572" y="324555"/>
                </a:lnTo>
              </a:path>
            </a:pathLst>
          </a:custGeom>
          <a:ln w="2434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90720" y="5329766"/>
            <a:ext cx="389890" cy="325120"/>
          </a:xfrm>
          <a:custGeom>
            <a:avLst/>
            <a:gdLst/>
            <a:ahLst/>
            <a:cxnLst/>
            <a:rect l="l" t="t" r="r" b="b"/>
            <a:pathLst>
              <a:path w="389889" h="325120">
                <a:moveTo>
                  <a:pt x="0" y="324555"/>
                </a:moveTo>
                <a:lnTo>
                  <a:pt x="389572" y="0"/>
                </a:lnTo>
              </a:path>
            </a:pathLst>
          </a:custGeom>
          <a:ln w="24344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80293" y="5923601"/>
            <a:ext cx="909319" cy="112395"/>
          </a:xfrm>
          <a:custGeom>
            <a:avLst/>
            <a:gdLst/>
            <a:ahLst/>
            <a:cxnLst/>
            <a:rect l="l" t="t" r="r" b="b"/>
            <a:pathLst>
              <a:path w="909320" h="112395">
                <a:moveTo>
                  <a:pt x="808706" y="0"/>
                </a:moveTo>
                <a:lnTo>
                  <a:pt x="803878" y="2192"/>
                </a:lnTo>
                <a:lnTo>
                  <a:pt x="797949" y="12353"/>
                </a:lnTo>
                <a:lnTo>
                  <a:pt x="799910" y="19805"/>
                </a:lnTo>
                <a:lnTo>
                  <a:pt x="839867" y="43106"/>
                </a:lnTo>
                <a:lnTo>
                  <a:pt x="0" y="43106"/>
                </a:lnTo>
                <a:lnTo>
                  <a:pt x="0" y="67447"/>
                </a:lnTo>
                <a:lnTo>
                  <a:pt x="839866" y="67448"/>
                </a:lnTo>
                <a:lnTo>
                  <a:pt x="799910" y="90749"/>
                </a:lnTo>
                <a:lnTo>
                  <a:pt x="797949" y="98201"/>
                </a:lnTo>
                <a:lnTo>
                  <a:pt x="804725" y="109814"/>
                </a:lnTo>
                <a:lnTo>
                  <a:pt x="812180" y="111775"/>
                </a:lnTo>
                <a:lnTo>
                  <a:pt x="909059" y="55278"/>
                </a:lnTo>
                <a:lnTo>
                  <a:pt x="816535" y="1319"/>
                </a:lnTo>
                <a:lnTo>
                  <a:pt x="814980" y="807"/>
                </a:lnTo>
                <a:lnTo>
                  <a:pt x="80870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715561" y="5691193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某个命令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81647" y="5274490"/>
            <a:ext cx="2141855" cy="112395"/>
          </a:xfrm>
          <a:custGeom>
            <a:avLst/>
            <a:gdLst/>
            <a:ahLst/>
            <a:cxnLst/>
            <a:rect l="l" t="t" r="r" b="b"/>
            <a:pathLst>
              <a:path w="2141854" h="112395">
                <a:moveTo>
                  <a:pt x="0" y="43105"/>
                </a:moveTo>
                <a:lnTo>
                  <a:pt x="0" y="67447"/>
                </a:lnTo>
                <a:lnTo>
                  <a:pt x="2072159" y="67448"/>
                </a:lnTo>
                <a:lnTo>
                  <a:pt x="2032203" y="90749"/>
                </a:lnTo>
                <a:lnTo>
                  <a:pt x="2030242" y="98201"/>
                </a:lnTo>
                <a:lnTo>
                  <a:pt x="2037017" y="109813"/>
                </a:lnTo>
                <a:lnTo>
                  <a:pt x="2044472" y="111775"/>
                </a:lnTo>
                <a:lnTo>
                  <a:pt x="2141352" y="55276"/>
                </a:lnTo>
                <a:lnTo>
                  <a:pt x="2120482" y="43106"/>
                </a:lnTo>
                <a:lnTo>
                  <a:pt x="0" y="43105"/>
                </a:lnTo>
                <a:close/>
              </a:path>
              <a:path w="2141854" h="112395">
                <a:moveTo>
                  <a:pt x="2040999" y="0"/>
                </a:moveTo>
                <a:lnTo>
                  <a:pt x="2036170" y="2192"/>
                </a:lnTo>
                <a:lnTo>
                  <a:pt x="2030242" y="12353"/>
                </a:lnTo>
                <a:lnTo>
                  <a:pt x="2032203" y="19805"/>
                </a:lnTo>
                <a:lnTo>
                  <a:pt x="2072159" y="43106"/>
                </a:lnTo>
                <a:lnTo>
                  <a:pt x="2120482" y="43106"/>
                </a:lnTo>
                <a:lnTo>
                  <a:pt x="2048827" y="1319"/>
                </a:lnTo>
                <a:lnTo>
                  <a:pt x="2047273" y="807"/>
                </a:lnTo>
                <a:lnTo>
                  <a:pt x="2040999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299826" y="5058532"/>
            <a:ext cx="7943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号进程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89295" y="5962650"/>
            <a:ext cx="389890" cy="259715"/>
          </a:xfrm>
          <a:custGeom>
            <a:avLst/>
            <a:gdLst/>
            <a:ahLst/>
            <a:cxnLst/>
            <a:rect l="l" t="t" r="r" b="b"/>
            <a:pathLst>
              <a:path w="389889" h="259714">
                <a:moveTo>
                  <a:pt x="0" y="0"/>
                </a:moveTo>
                <a:lnTo>
                  <a:pt x="389572" y="259644"/>
                </a:lnTo>
              </a:path>
            </a:pathLst>
          </a:custGeom>
          <a:ln w="2434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89295" y="5703005"/>
            <a:ext cx="389890" cy="259715"/>
          </a:xfrm>
          <a:custGeom>
            <a:avLst/>
            <a:gdLst/>
            <a:ahLst/>
            <a:cxnLst/>
            <a:rect l="l" t="t" r="r" b="b"/>
            <a:pathLst>
              <a:path w="389889" h="259714">
                <a:moveTo>
                  <a:pt x="0" y="259644"/>
                </a:moveTo>
                <a:lnTo>
                  <a:pt x="389572" y="0"/>
                </a:lnTo>
              </a:path>
            </a:pathLst>
          </a:custGeom>
          <a:ln w="24343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78868" y="5647729"/>
            <a:ext cx="1299210" cy="112395"/>
          </a:xfrm>
          <a:custGeom>
            <a:avLst/>
            <a:gdLst/>
            <a:ahLst/>
            <a:cxnLst/>
            <a:rect l="l" t="t" r="r" b="b"/>
            <a:pathLst>
              <a:path w="1299210" h="112395">
                <a:moveTo>
                  <a:pt x="0" y="43105"/>
                </a:moveTo>
                <a:lnTo>
                  <a:pt x="0" y="67447"/>
                </a:lnTo>
                <a:lnTo>
                  <a:pt x="1229440" y="67447"/>
                </a:lnTo>
                <a:lnTo>
                  <a:pt x="1189484" y="90749"/>
                </a:lnTo>
                <a:lnTo>
                  <a:pt x="1187522" y="98201"/>
                </a:lnTo>
                <a:lnTo>
                  <a:pt x="1194297" y="109813"/>
                </a:lnTo>
                <a:lnTo>
                  <a:pt x="1201752" y="111773"/>
                </a:lnTo>
                <a:lnTo>
                  <a:pt x="1298632" y="55276"/>
                </a:lnTo>
                <a:lnTo>
                  <a:pt x="1277762" y="43106"/>
                </a:lnTo>
                <a:lnTo>
                  <a:pt x="0" y="43105"/>
                </a:lnTo>
                <a:close/>
              </a:path>
              <a:path w="1299210" h="112395">
                <a:moveTo>
                  <a:pt x="1198279" y="0"/>
                </a:moveTo>
                <a:lnTo>
                  <a:pt x="1193450" y="2192"/>
                </a:lnTo>
                <a:lnTo>
                  <a:pt x="1187522" y="12352"/>
                </a:lnTo>
                <a:lnTo>
                  <a:pt x="1189483" y="19804"/>
                </a:lnTo>
                <a:lnTo>
                  <a:pt x="1229438" y="43106"/>
                </a:lnTo>
                <a:lnTo>
                  <a:pt x="1277762" y="43106"/>
                </a:lnTo>
                <a:lnTo>
                  <a:pt x="1206107" y="1319"/>
                </a:lnTo>
                <a:lnTo>
                  <a:pt x="1204553" y="806"/>
                </a:lnTo>
                <a:lnTo>
                  <a:pt x="1198279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078868" y="6167018"/>
            <a:ext cx="1428750" cy="112395"/>
          </a:xfrm>
          <a:custGeom>
            <a:avLst/>
            <a:gdLst/>
            <a:ahLst/>
            <a:cxnLst/>
            <a:rect l="l" t="t" r="r" b="b"/>
            <a:pathLst>
              <a:path w="1428750" h="112395">
                <a:moveTo>
                  <a:pt x="0" y="43105"/>
                </a:moveTo>
                <a:lnTo>
                  <a:pt x="0" y="67447"/>
                </a:lnTo>
                <a:lnTo>
                  <a:pt x="1359297" y="67448"/>
                </a:lnTo>
                <a:lnTo>
                  <a:pt x="1319342" y="90749"/>
                </a:lnTo>
                <a:lnTo>
                  <a:pt x="1317379" y="98201"/>
                </a:lnTo>
                <a:lnTo>
                  <a:pt x="1324155" y="109813"/>
                </a:lnTo>
                <a:lnTo>
                  <a:pt x="1331610" y="111775"/>
                </a:lnTo>
                <a:lnTo>
                  <a:pt x="1428489" y="55276"/>
                </a:lnTo>
                <a:lnTo>
                  <a:pt x="1407620" y="43106"/>
                </a:lnTo>
                <a:lnTo>
                  <a:pt x="0" y="43105"/>
                </a:lnTo>
                <a:close/>
              </a:path>
              <a:path w="1428750" h="112395">
                <a:moveTo>
                  <a:pt x="1328136" y="0"/>
                </a:moveTo>
                <a:lnTo>
                  <a:pt x="1323308" y="2192"/>
                </a:lnTo>
                <a:lnTo>
                  <a:pt x="1317379" y="12353"/>
                </a:lnTo>
                <a:lnTo>
                  <a:pt x="1319340" y="19805"/>
                </a:lnTo>
                <a:lnTo>
                  <a:pt x="1359297" y="43106"/>
                </a:lnTo>
                <a:lnTo>
                  <a:pt x="1407620" y="43106"/>
                </a:lnTo>
                <a:lnTo>
                  <a:pt x="1335965" y="1319"/>
                </a:lnTo>
                <a:lnTo>
                  <a:pt x="1334410" y="806"/>
                </a:lnTo>
                <a:lnTo>
                  <a:pt x="132813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858013" y="5329766"/>
            <a:ext cx="649605" cy="1103630"/>
          </a:xfrm>
          <a:custGeom>
            <a:avLst/>
            <a:gdLst/>
            <a:ahLst/>
            <a:cxnLst/>
            <a:rect l="l" t="t" r="r" b="b"/>
            <a:pathLst>
              <a:path w="649604" h="1103629">
                <a:moveTo>
                  <a:pt x="0" y="0"/>
                </a:moveTo>
                <a:lnTo>
                  <a:pt x="53495" y="16301"/>
                </a:lnTo>
                <a:lnTo>
                  <a:pt x="106569" y="33383"/>
                </a:lnTo>
                <a:lnTo>
                  <a:pt x="158799" y="52025"/>
                </a:lnTo>
                <a:lnTo>
                  <a:pt x="209762" y="73007"/>
                </a:lnTo>
                <a:lnTo>
                  <a:pt x="259038" y="97110"/>
                </a:lnTo>
                <a:lnTo>
                  <a:pt x="306203" y="125112"/>
                </a:lnTo>
                <a:lnTo>
                  <a:pt x="350836" y="157795"/>
                </a:lnTo>
                <a:lnTo>
                  <a:pt x="392515" y="195938"/>
                </a:lnTo>
                <a:lnTo>
                  <a:pt x="430817" y="240322"/>
                </a:lnTo>
                <a:lnTo>
                  <a:pt x="465322" y="291726"/>
                </a:lnTo>
                <a:lnTo>
                  <a:pt x="495746" y="350671"/>
                </a:lnTo>
                <a:lnTo>
                  <a:pt x="522373" y="416636"/>
                </a:lnTo>
                <a:lnTo>
                  <a:pt x="545623" y="488842"/>
                </a:lnTo>
                <a:lnTo>
                  <a:pt x="556113" y="527041"/>
                </a:lnTo>
                <a:lnTo>
                  <a:pt x="565918" y="566508"/>
                </a:lnTo>
                <a:lnTo>
                  <a:pt x="575090" y="607145"/>
                </a:lnTo>
                <a:lnTo>
                  <a:pt x="583682" y="648854"/>
                </a:lnTo>
                <a:lnTo>
                  <a:pt x="591746" y="691539"/>
                </a:lnTo>
                <a:lnTo>
                  <a:pt x="599335" y="735101"/>
                </a:lnTo>
                <a:lnTo>
                  <a:pt x="606502" y="779443"/>
                </a:lnTo>
                <a:lnTo>
                  <a:pt x="613300" y="824468"/>
                </a:lnTo>
                <a:lnTo>
                  <a:pt x="619782" y="870077"/>
                </a:lnTo>
                <a:lnTo>
                  <a:pt x="625999" y="916175"/>
                </a:lnTo>
                <a:lnTo>
                  <a:pt x="632006" y="962662"/>
                </a:lnTo>
                <a:lnTo>
                  <a:pt x="637854" y="1009442"/>
                </a:lnTo>
                <a:lnTo>
                  <a:pt x="643597" y="1056416"/>
                </a:lnTo>
                <a:lnTo>
                  <a:pt x="649287" y="1103488"/>
                </a:lnTo>
              </a:path>
            </a:pathLst>
          </a:custGeom>
          <a:ln w="24346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143764" y="5190901"/>
            <a:ext cx="890905" cy="47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7305" algn="r">
              <a:lnSpc>
                <a:spcPts val="21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5080" algn="r">
              <a:lnSpc>
                <a:spcPts val="177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某个任务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9" name="object 39"/>
          <p:cNvSpPr txBox="1"/>
          <p:nvPr/>
        </p:nvSpPr>
        <p:spPr>
          <a:xfrm>
            <a:off x="5145638" y="5967042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某个任务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07048" y="5837254"/>
            <a:ext cx="457834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关机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26051" y="5000023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15984" y="5580262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45820" y="6099409"/>
            <a:ext cx="2838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标题 7168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第一件事：</a:t>
            </a:r>
            <a:r>
              <a:rPr lang="en-US" altLang="zh-CN"/>
              <a:t>OS</a:t>
            </a:r>
            <a:r>
              <a:rPr lang="zh-CN" altLang="en-US" dirty="0"/>
              <a:t>怎么组织多个进程</a:t>
            </a:r>
            <a:endParaRPr lang="zh-CN" altLang="en-US"/>
          </a:p>
        </p:txBody>
      </p:sp>
      <p:grpSp>
        <p:nvGrpSpPr>
          <p:cNvPr id="71901" name="组合 71900"/>
          <p:cNvGrpSpPr/>
          <p:nvPr/>
        </p:nvGrpSpPr>
        <p:grpSpPr>
          <a:xfrm>
            <a:off x="1904294" y="5625394"/>
            <a:ext cx="7472539" cy="1763183"/>
            <a:chOff x="816" y="1728"/>
            <a:chExt cx="4272" cy="1008"/>
          </a:xfrm>
        </p:grpSpPr>
        <p:sp>
          <p:nvSpPr>
            <p:cNvPr id="71863" name="任意多边形 71862"/>
            <p:cNvSpPr/>
            <p:nvPr/>
          </p:nvSpPr>
          <p:spPr>
            <a:xfrm>
              <a:off x="1680" y="1920"/>
              <a:ext cx="2352" cy="816"/>
            </a:xfrm>
            <a:custGeom>
              <a:avLst/>
              <a:gdLst/>
              <a:ahLst/>
              <a:cxnLst/>
              <a:pathLst>
                <a:path w="2544" h="816">
                  <a:moveTo>
                    <a:pt x="0" y="96"/>
                  </a:moveTo>
                  <a:lnTo>
                    <a:pt x="1488" y="816"/>
                  </a:lnTo>
                  <a:lnTo>
                    <a:pt x="2160" y="816"/>
                  </a:lnTo>
                  <a:lnTo>
                    <a:pt x="254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71776" name="组合 71775"/>
            <p:cNvGrpSpPr/>
            <p:nvPr/>
          </p:nvGrpSpPr>
          <p:grpSpPr>
            <a:xfrm>
              <a:off x="2928" y="1728"/>
              <a:ext cx="624" cy="864"/>
              <a:chOff x="2208" y="528"/>
              <a:chExt cx="672" cy="1008"/>
            </a:xfrm>
          </p:grpSpPr>
          <p:sp>
            <p:nvSpPr>
              <p:cNvPr id="71777" name="矩形 71776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778" name="矩形 71777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PCB1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779" name="矩形 71778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71780" name="直接连接符 71779"/>
            <p:cNvSpPr/>
            <p:nvPr/>
          </p:nvSpPr>
          <p:spPr>
            <a:xfrm>
              <a:off x="3552" y="1824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71782" name="组合 71781"/>
            <p:cNvGrpSpPr/>
            <p:nvPr/>
          </p:nvGrpSpPr>
          <p:grpSpPr>
            <a:xfrm>
              <a:off x="4080" y="1728"/>
              <a:ext cx="624" cy="864"/>
              <a:chOff x="2208" y="528"/>
              <a:chExt cx="672" cy="1008"/>
            </a:xfrm>
          </p:grpSpPr>
          <p:sp>
            <p:nvSpPr>
              <p:cNvPr id="71783" name="矩形 71782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784" name="矩形 71783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PCB6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785" name="矩形 71784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71792" name="直接连接符 71791"/>
            <p:cNvSpPr/>
            <p:nvPr/>
          </p:nvSpPr>
          <p:spPr>
            <a:xfrm>
              <a:off x="1536" y="1824"/>
              <a:ext cx="13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10" name="矩形 71809"/>
            <p:cNvSpPr/>
            <p:nvPr/>
          </p:nvSpPr>
          <p:spPr>
            <a:xfrm>
              <a:off x="1458" y="1776"/>
              <a:ext cx="624" cy="193"/>
            </a:xfrm>
            <a:prstGeom prst="rect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765" b="1">
                  <a:latin typeface="Century Gothic" panose="020B0502020202020204" pitchFamily="34" charset="0"/>
                </a:rPr>
                <a:t>Head</a:t>
              </a:r>
              <a:endParaRPr lang="en-US" altLang="zh-CN" sz="1765" b="1">
                <a:latin typeface="Century Gothic" panose="020B0502020202020204" pitchFamily="34" charset="0"/>
              </a:endParaRPr>
            </a:p>
          </p:txBody>
        </p:sp>
        <p:sp>
          <p:nvSpPr>
            <p:cNvPr id="71811" name="矩形 71810"/>
            <p:cNvSpPr/>
            <p:nvPr/>
          </p:nvSpPr>
          <p:spPr>
            <a:xfrm>
              <a:off x="1458" y="1969"/>
              <a:ext cx="624" cy="192"/>
            </a:xfrm>
            <a:prstGeom prst="rect">
              <a:avLst/>
            </a:prstGeom>
            <a:solidFill>
              <a:srgbClr val="FF66CC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1765" b="1">
                  <a:latin typeface="Century Gothic" panose="020B0502020202020204" pitchFamily="34" charset="0"/>
                </a:rPr>
                <a:t>Tail</a:t>
              </a:r>
              <a:endParaRPr lang="en-US" altLang="zh-CN" sz="1765" b="1">
                <a:latin typeface="Century Gothic" panose="020B0502020202020204" pitchFamily="34" charset="0"/>
              </a:endParaRPr>
            </a:p>
          </p:txBody>
        </p:sp>
        <p:sp>
          <p:nvSpPr>
            <p:cNvPr id="71826" name="文本框 71825"/>
            <p:cNvSpPr txBox="1"/>
            <p:nvPr/>
          </p:nvSpPr>
          <p:spPr>
            <a:xfrm>
              <a:off x="816" y="1776"/>
              <a:ext cx="576" cy="40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0" hangingPunct="0"/>
              <a:r>
                <a:rPr lang="zh-CN" altLang="en-US" sz="1985" b="1" dirty="0">
                  <a:latin typeface="Century Gothic" panose="020B0502020202020204" pitchFamily="34" charset="0"/>
                </a:rPr>
                <a:t>磁盘等待队列</a:t>
              </a:r>
              <a:endParaRPr lang="zh-CN" altLang="en-US" sz="1985" b="1">
                <a:latin typeface="Century Gothic" panose="020B0502020202020204" pitchFamily="34" charset="0"/>
              </a:endParaRPr>
            </a:p>
          </p:txBody>
        </p:sp>
        <p:grpSp>
          <p:nvGrpSpPr>
            <p:cNvPr id="71830" name="组合 71829"/>
            <p:cNvGrpSpPr/>
            <p:nvPr/>
          </p:nvGrpSpPr>
          <p:grpSpPr>
            <a:xfrm>
              <a:off x="4704" y="1824"/>
              <a:ext cx="384" cy="182"/>
              <a:chOff x="4704" y="3019"/>
              <a:chExt cx="384" cy="182"/>
            </a:xfrm>
          </p:grpSpPr>
          <p:grpSp>
            <p:nvGrpSpPr>
              <p:cNvPr id="71831" name="组合 71830"/>
              <p:cNvGrpSpPr/>
              <p:nvPr/>
            </p:nvGrpSpPr>
            <p:grpSpPr>
              <a:xfrm>
                <a:off x="4896" y="3019"/>
                <a:ext cx="192" cy="182"/>
                <a:chOff x="2448" y="2016"/>
                <a:chExt cx="192" cy="192"/>
              </a:xfrm>
            </p:grpSpPr>
            <p:sp>
              <p:nvSpPr>
                <p:cNvPr id="71832" name="直接连接符 71831"/>
                <p:cNvSpPr/>
                <p:nvPr/>
              </p:nvSpPr>
              <p:spPr>
                <a:xfrm>
                  <a:off x="2448" y="2112"/>
                  <a:ext cx="19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1833" name="直接连接符 71832"/>
                <p:cNvSpPr/>
                <p:nvPr/>
              </p:nvSpPr>
              <p:spPr>
                <a:xfrm>
                  <a:off x="2496" y="2160"/>
                  <a:ext cx="9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1834" name="直接连接符 71833"/>
                <p:cNvSpPr/>
                <p:nvPr/>
              </p:nvSpPr>
              <p:spPr>
                <a:xfrm>
                  <a:off x="2520" y="2208"/>
                  <a:ext cx="48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1835" name="直接连接符 71834"/>
                <p:cNvSpPr/>
                <p:nvPr/>
              </p:nvSpPr>
              <p:spPr>
                <a:xfrm>
                  <a:off x="2544" y="2016"/>
                  <a:ext cx="0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1836" name="直接连接符 71835"/>
              <p:cNvSpPr/>
              <p:nvPr/>
            </p:nvSpPr>
            <p:spPr>
              <a:xfrm>
                <a:off x="4704" y="3019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1900" name="组合 71899"/>
          <p:cNvGrpSpPr/>
          <p:nvPr/>
        </p:nvGrpSpPr>
        <p:grpSpPr>
          <a:xfrm>
            <a:off x="1820333" y="3377686"/>
            <a:ext cx="8144228" cy="1743942"/>
            <a:chOff x="912" y="2976"/>
            <a:chExt cx="4656" cy="997"/>
          </a:xfrm>
        </p:grpSpPr>
        <p:sp>
          <p:nvSpPr>
            <p:cNvPr id="71880" name="直接连接符 71879"/>
            <p:cNvSpPr/>
            <p:nvPr/>
          </p:nvSpPr>
          <p:spPr>
            <a:xfrm>
              <a:off x="1632" y="3120"/>
              <a:ext cx="18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71837" name="组合 71836"/>
            <p:cNvGrpSpPr/>
            <p:nvPr/>
          </p:nvGrpSpPr>
          <p:grpSpPr>
            <a:xfrm>
              <a:off x="2544" y="3013"/>
              <a:ext cx="624" cy="864"/>
              <a:chOff x="2208" y="528"/>
              <a:chExt cx="672" cy="1008"/>
            </a:xfrm>
          </p:grpSpPr>
          <p:sp>
            <p:nvSpPr>
              <p:cNvPr id="71838" name="矩形 71837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39" name="矩形 71838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PCB5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40" name="矩形 71839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71841" name="组合 71840"/>
            <p:cNvGrpSpPr/>
            <p:nvPr/>
          </p:nvGrpSpPr>
          <p:grpSpPr>
            <a:xfrm>
              <a:off x="3456" y="3013"/>
              <a:ext cx="624" cy="864"/>
              <a:chOff x="2208" y="528"/>
              <a:chExt cx="672" cy="1008"/>
            </a:xfrm>
          </p:grpSpPr>
          <p:sp>
            <p:nvSpPr>
              <p:cNvPr id="71842" name="矩形 71841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43" name="矩形 71842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PCB8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44" name="矩形 71843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71845" name="组合 71844"/>
            <p:cNvGrpSpPr/>
            <p:nvPr/>
          </p:nvGrpSpPr>
          <p:grpSpPr>
            <a:xfrm>
              <a:off x="4560" y="3013"/>
              <a:ext cx="624" cy="864"/>
              <a:chOff x="2208" y="528"/>
              <a:chExt cx="672" cy="1008"/>
            </a:xfrm>
          </p:grpSpPr>
          <p:sp>
            <p:nvSpPr>
              <p:cNvPr id="71846" name="矩形 71845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47" name="矩形 71846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PCB7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48" name="矩形 71847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71849" name="组合 71848"/>
            <p:cNvGrpSpPr/>
            <p:nvPr/>
          </p:nvGrpSpPr>
          <p:grpSpPr>
            <a:xfrm>
              <a:off x="5376" y="3109"/>
              <a:ext cx="192" cy="192"/>
              <a:chOff x="2448" y="2016"/>
              <a:chExt cx="192" cy="192"/>
            </a:xfrm>
          </p:grpSpPr>
          <p:sp>
            <p:nvSpPr>
              <p:cNvPr id="71850" name="直接连接符 71849"/>
              <p:cNvSpPr/>
              <p:nvPr/>
            </p:nvSpPr>
            <p:spPr>
              <a:xfrm>
                <a:off x="2448" y="211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851" name="直接连接符 71850"/>
              <p:cNvSpPr/>
              <p:nvPr/>
            </p:nvSpPr>
            <p:spPr>
              <a:xfrm>
                <a:off x="2496" y="2160"/>
                <a:ext cx="9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852" name="直接连接符 71851"/>
              <p:cNvSpPr/>
              <p:nvPr/>
            </p:nvSpPr>
            <p:spPr>
              <a:xfrm>
                <a:off x="2520" y="2208"/>
                <a:ext cx="4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853" name="直接连接符 71852"/>
              <p:cNvSpPr/>
              <p:nvPr/>
            </p:nvSpPr>
            <p:spPr>
              <a:xfrm>
                <a:off x="2544" y="2016"/>
                <a:ext cx="0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1854" name="直接连接符 71853"/>
            <p:cNvSpPr/>
            <p:nvPr/>
          </p:nvSpPr>
          <p:spPr>
            <a:xfrm>
              <a:off x="3168" y="310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55" name="直接连接符 71854"/>
            <p:cNvSpPr/>
            <p:nvPr/>
          </p:nvSpPr>
          <p:spPr>
            <a:xfrm>
              <a:off x="4080" y="3109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56" name="直接连接符 71855"/>
            <p:cNvSpPr/>
            <p:nvPr/>
          </p:nvSpPr>
          <p:spPr>
            <a:xfrm>
              <a:off x="5184" y="310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57" name="直接连接符 71856"/>
            <p:cNvSpPr/>
            <p:nvPr/>
          </p:nvSpPr>
          <p:spPr>
            <a:xfrm>
              <a:off x="1488" y="3120"/>
              <a:ext cx="10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58" name="任意多边形 71857"/>
            <p:cNvSpPr/>
            <p:nvPr/>
          </p:nvSpPr>
          <p:spPr>
            <a:xfrm>
              <a:off x="1776" y="3157"/>
              <a:ext cx="2784" cy="816"/>
            </a:xfrm>
            <a:custGeom>
              <a:avLst/>
              <a:gdLst/>
              <a:ahLst/>
              <a:cxnLst/>
              <a:pathLst>
                <a:path w="3024" h="912">
                  <a:moveTo>
                    <a:pt x="0" y="192"/>
                  </a:moveTo>
                  <a:lnTo>
                    <a:pt x="816" y="912"/>
                  </a:lnTo>
                  <a:lnTo>
                    <a:pt x="2640" y="912"/>
                  </a:lnTo>
                  <a:lnTo>
                    <a:pt x="302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71859" name="组合 71858"/>
            <p:cNvGrpSpPr/>
            <p:nvPr/>
          </p:nvGrpSpPr>
          <p:grpSpPr>
            <a:xfrm>
              <a:off x="1458" y="3005"/>
              <a:ext cx="624" cy="385"/>
              <a:chOff x="672" y="768"/>
              <a:chExt cx="720" cy="480"/>
            </a:xfrm>
          </p:grpSpPr>
          <p:sp>
            <p:nvSpPr>
              <p:cNvPr id="71860" name="矩形 71859"/>
              <p:cNvSpPr/>
              <p:nvPr/>
            </p:nvSpPr>
            <p:spPr>
              <a:xfrm>
                <a:off x="672" y="768"/>
                <a:ext cx="720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Head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61" name="矩形 71860"/>
              <p:cNvSpPr/>
              <p:nvPr/>
            </p:nvSpPr>
            <p:spPr>
              <a:xfrm>
                <a:off x="672" y="1008"/>
                <a:ext cx="720" cy="240"/>
              </a:xfrm>
              <a:prstGeom prst="rect">
                <a:avLst/>
              </a:prstGeom>
              <a:solidFill>
                <a:srgbClr val="FF66CC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Tail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71862" name="文本框 71861"/>
            <p:cNvSpPr txBox="1"/>
            <p:nvPr/>
          </p:nvSpPr>
          <p:spPr>
            <a:xfrm>
              <a:off x="912" y="2976"/>
              <a:ext cx="480" cy="40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0" hangingPunct="0"/>
              <a:r>
                <a:rPr lang="zh-CN" altLang="en-US" sz="1985" b="1" dirty="0">
                  <a:latin typeface="Century Gothic" panose="020B0502020202020204" pitchFamily="34" charset="0"/>
                </a:rPr>
                <a:t>就绪</a:t>
              </a:r>
              <a:endParaRPr lang="zh-CN" altLang="en-US" sz="1985" b="1" dirty="0">
                <a:latin typeface="Century Gothic" panose="020B0502020202020204" pitchFamily="34" charset="0"/>
              </a:endParaRPr>
            </a:p>
            <a:p>
              <a:pPr algn="ctr" eaLnBrk="0" hangingPunct="0"/>
              <a:r>
                <a:rPr lang="zh-CN" altLang="en-US" sz="1985" b="1" dirty="0">
                  <a:latin typeface="Century Gothic" panose="020B0502020202020204" pitchFamily="34" charset="0"/>
                </a:rPr>
                <a:t>队列</a:t>
              </a:r>
              <a:endParaRPr lang="zh-CN" altLang="en-US" sz="1985" b="1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1896" name="组合 71895"/>
          <p:cNvGrpSpPr/>
          <p:nvPr/>
        </p:nvGrpSpPr>
        <p:grpSpPr>
          <a:xfrm>
            <a:off x="5010856" y="1007533"/>
            <a:ext cx="1343378" cy="2266950"/>
            <a:chOff x="4656" y="384"/>
            <a:chExt cx="768" cy="1296"/>
          </a:xfrm>
        </p:grpSpPr>
        <p:sp>
          <p:nvSpPr>
            <p:cNvPr id="71865" name="矩形 71864"/>
            <p:cNvSpPr/>
            <p:nvPr/>
          </p:nvSpPr>
          <p:spPr>
            <a:xfrm>
              <a:off x="4656" y="384"/>
              <a:ext cx="768" cy="1296"/>
            </a:xfrm>
            <a:prstGeom prst="rect">
              <a:avLst/>
            </a:prstGeom>
            <a:solidFill>
              <a:srgbClr val="EAEAEA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endParaRPr lang="en-US" altLang="zh-CN" sz="1765" b="1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 dirty="0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>
                <a:latin typeface="Century Gothic" panose="020B0502020202020204" pitchFamily="34" charset="0"/>
              </a:endParaRPr>
            </a:p>
            <a:p>
              <a:pPr algn="ctr" eaLnBrk="0" hangingPunct="0"/>
              <a:endParaRPr lang="en-US" altLang="zh-CN" sz="1765" b="1">
                <a:latin typeface="Century Gothic" panose="020B0502020202020204" pitchFamily="34" charset="0"/>
              </a:endParaRPr>
            </a:p>
            <a:p>
              <a:pPr algn="ctr" eaLnBrk="0" hangingPunct="0"/>
              <a:r>
                <a:rPr lang="zh-CN" altLang="en-US" sz="1765" b="1" dirty="0">
                  <a:latin typeface="Century Gothic" panose="020B0502020202020204" pitchFamily="34" charset="0"/>
                </a:rPr>
                <a:t>物理</a:t>
              </a:r>
              <a:r>
                <a:rPr lang="en-US" altLang="zh-CN" sz="1765" b="1">
                  <a:latin typeface="Century Gothic" panose="020B0502020202020204" pitchFamily="34" charset="0"/>
                </a:rPr>
                <a:t>CPU </a:t>
              </a:r>
              <a:endParaRPr lang="en-US" altLang="zh-CN" sz="1765" b="1">
                <a:latin typeface="Century Gothic" panose="020B0502020202020204" pitchFamily="34" charset="0"/>
              </a:endParaRPr>
            </a:p>
          </p:txBody>
        </p:sp>
        <p:grpSp>
          <p:nvGrpSpPr>
            <p:cNvPr id="71876" name="组合 71875"/>
            <p:cNvGrpSpPr/>
            <p:nvPr/>
          </p:nvGrpSpPr>
          <p:grpSpPr>
            <a:xfrm>
              <a:off x="4722" y="576"/>
              <a:ext cx="624" cy="864"/>
              <a:chOff x="2208" y="528"/>
              <a:chExt cx="672" cy="1008"/>
            </a:xfrm>
          </p:grpSpPr>
          <p:sp>
            <p:nvSpPr>
              <p:cNvPr id="71877" name="矩形 71876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78" name="矩形 71877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PCB6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79" name="矩形 71878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  <p:grpSp>
          <p:nvGrpSpPr>
            <p:cNvPr id="71888" name="组合 71887"/>
            <p:cNvGrpSpPr/>
            <p:nvPr/>
          </p:nvGrpSpPr>
          <p:grpSpPr>
            <a:xfrm>
              <a:off x="4725" y="567"/>
              <a:ext cx="624" cy="864"/>
              <a:chOff x="2208" y="528"/>
              <a:chExt cx="672" cy="1008"/>
            </a:xfrm>
          </p:grpSpPr>
          <p:sp>
            <p:nvSpPr>
              <p:cNvPr id="71889" name="矩形 71888"/>
              <p:cNvSpPr/>
              <p:nvPr/>
            </p:nvSpPr>
            <p:spPr>
              <a:xfrm>
                <a:off x="2208" y="528"/>
                <a:ext cx="672" cy="1008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  <a:p>
                <a:pPr algn="ctr" eaLnBrk="0" hangingPunct="0"/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90" name="矩形 71889"/>
              <p:cNvSpPr/>
              <p:nvPr/>
            </p:nvSpPr>
            <p:spPr>
              <a:xfrm>
                <a:off x="2208" y="528"/>
                <a:ext cx="672" cy="240"/>
              </a:xfrm>
              <a:prstGeom prst="rect">
                <a:avLst/>
              </a:prstGeom>
              <a:solidFill>
                <a:srgbClr val="00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PCB4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1891" name="矩形 71890"/>
              <p:cNvSpPr/>
              <p:nvPr/>
            </p:nvSpPr>
            <p:spPr>
              <a:xfrm>
                <a:off x="2208" y="768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0" hangingPunct="0"/>
                <a:r>
                  <a:rPr lang="en-US" altLang="zh-CN" sz="1765" b="1">
                    <a:latin typeface="Century Gothic" panose="020B0502020202020204" pitchFamily="34" charset="0"/>
                  </a:rPr>
                  <a:t>Registers</a:t>
                </a:r>
                <a:endParaRPr lang="en-US" altLang="zh-CN" sz="1765" b="1"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71893" name="组合 71892"/>
          <p:cNvGrpSpPr/>
          <p:nvPr/>
        </p:nvGrpSpPr>
        <p:grpSpPr>
          <a:xfrm>
            <a:off x="896761" y="1511300"/>
            <a:ext cx="7808383" cy="661194"/>
            <a:chOff x="624" y="2476"/>
            <a:chExt cx="4464" cy="378"/>
          </a:xfrm>
        </p:grpSpPr>
        <p:sp>
          <p:nvSpPr>
            <p:cNvPr id="71894" name="矩形 71893"/>
            <p:cNvSpPr/>
            <p:nvPr/>
          </p:nvSpPr>
          <p:spPr>
            <a:xfrm>
              <a:off x="624" y="2476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有一个进程在执行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1895" name="图片 71894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0" y="264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1897" name="组合 71896"/>
          <p:cNvGrpSpPr/>
          <p:nvPr/>
        </p:nvGrpSpPr>
        <p:grpSpPr>
          <a:xfrm>
            <a:off x="896761" y="2693752"/>
            <a:ext cx="7808383" cy="661194"/>
            <a:chOff x="624" y="2476"/>
            <a:chExt cx="4464" cy="378"/>
          </a:xfrm>
        </p:grpSpPr>
        <p:sp>
          <p:nvSpPr>
            <p:cNvPr id="71898" name="矩形 71897"/>
            <p:cNvSpPr/>
            <p:nvPr/>
          </p:nvSpPr>
          <p:spPr>
            <a:xfrm>
              <a:off x="624" y="2476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有一些进程等待执行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1899" name="图片 71898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0" y="264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1902" name="组合 71901"/>
          <p:cNvGrpSpPr/>
          <p:nvPr/>
        </p:nvGrpSpPr>
        <p:grpSpPr>
          <a:xfrm>
            <a:off x="896761" y="4960702"/>
            <a:ext cx="7808383" cy="661194"/>
            <a:chOff x="624" y="2476"/>
            <a:chExt cx="4464" cy="378"/>
          </a:xfrm>
        </p:grpSpPr>
        <p:sp>
          <p:nvSpPr>
            <p:cNvPr id="71903" name="矩形 71902"/>
            <p:cNvSpPr/>
            <p:nvPr/>
          </p:nvSpPr>
          <p:spPr>
            <a:xfrm>
              <a:off x="624" y="2476"/>
              <a:ext cx="4464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有一些进程再等待某事件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71904" name="图片 71903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0" y="2645"/>
              <a:ext cx="127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1905" name="圆角矩形标注 71904"/>
          <p:cNvSpPr/>
          <p:nvPr/>
        </p:nvSpPr>
        <p:spPr>
          <a:xfrm>
            <a:off x="6606117" y="1343378"/>
            <a:ext cx="3274483" cy="1511300"/>
          </a:xfrm>
          <a:prstGeom prst="wedgeRoundRectCallout">
            <a:avLst>
              <a:gd name="adj1" fmla="val -64583"/>
              <a:gd name="adj2" fmla="val -38079"/>
              <a:gd name="adj3" fmla="val 16667"/>
            </a:avLst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zh-CN" sz="2645" b="1">
                <a:latin typeface="Arial" panose="020B0604020202020204" pitchFamily="34" charset="0"/>
              </a:rPr>
              <a:t>Process Control Block: </a:t>
            </a:r>
            <a:r>
              <a:rPr lang="zh-CN" altLang="en-US" sz="2645" b="1" dirty="0">
                <a:latin typeface="Arial" panose="020B0604020202020204" pitchFamily="34" charset="0"/>
              </a:rPr>
              <a:t>用来记录进程信息的数据结构</a:t>
            </a:r>
            <a:endParaRPr lang="zh-CN" altLang="en-US" sz="2645" b="1" dirty="0">
              <a:latin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标题 185345"/>
          <p:cNvSpPr>
            <a:spLocks noGrp="1"/>
          </p:cNvSpPr>
          <p:nvPr>
            <p:ph type="title"/>
          </p:nvPr>
        </p:nvSpPr>
        <p:spPr>
          <a:xfrm>
            <a:off x="728839" y="335844"/>
            <a:ext cx="8899878" cy="745155"/>
          </a:xfrm>
        </p:spPr>
        <p:txBody>
          <a:bodyPr anchor="ctr" anchorCtr="0"/>
          <a:p>
            <a:r>
              <a:rPr lang="zh-CN" altLang="en-US" dirty="0"/>
              <a:t>进程状态及状态转换</a:t>
            </a:r>
            <a:endParaRPr lang="zh-CN" altLang="en-US" dirty="0"/>
          </a:p>
        </p:txBody>
      </p:sp>
      <p:sp>
        <p:nvSpPr>
          <p:cNvPr id="185347" name="文本占位符 185346"/>
          <p:cNvSpPr>
            <a:spLocks noGrp="1"/>
          </p:cNvSpPr>
          <p:nvPr>
            <p:ph type="body" idx="1"/>
          </p:nvPr>
        </p:nvSpPr>
        <p:spPr>
          <a:xfrm>
            <a:off x="1064683" y="1343378"/>
            <a:ext cx="8728457" cy="953309"/>
          </a:xfrm>
        </p:spPr>
        <p:txBody>
          <a:bodyPr/>
          <a:p>
            <a:pPr>
              <a:lnSpc>
                <a:spcPct val="130000"/>
              </a:lnSpc>
            </a:pPr>
            <a:r>
              <a:rPr lang="zh-CN" altLang="en-US" dirty="0"/>
              <a:t>运行 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zh-CN" altLang="en-US" dirty="0">
                <a:sym typeface="Symbol" panose="05050102010706020507" pitchFamily="18" charset="2"/>
              </a:rPr>
              <a:t>等待</a:t>
            </a:r>
            <a:r>
              <a:rPr lang="en-US" altLang="zh-CN">
                <a:sym typeface="Symbol" panose="05050102010706020507" pitchFamily="18" charset="2"/>
              </a:rPr>
              <a:t>; </a:t>
            </a:r>
            <a:r>
              <a:rPr lang="zh-CN" altLang="en-US" dirty="0">
                <a:sym typeface="Symbol" panose="05050102010706020507" pitchFamily="18" charset="2"/>
              </a:rPr>
              <a:t>运行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zh-CN" altLang="en-US" dirty="0">
                <a:sym typeface="Symbol" panose="05050102010706020507" pitchFamily="18" charset="2"/>
              </a:rPr>
              <a:t>就绪</a:t>
            </a:r>
            <a:r>
              <a:rPr lang="en-US" altLang="zh-CN">
                <a:sym typeface="Symbol" panose="05050102010706020507" pitchFamily="18" charset="2"/>
              </a:rPr>
              <a:t>; </a:t>
            </a:r>
            <a:r>
              <a:rPr lang="zh-CN" altLang="en-US" dirty="0">
                <a:sym typeface="Symbol" panose="05050102010706020507" pitchFamily="18" charset="2"/>
              </a:rPr>
              <a:t>就绪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zh-CN" altLang="en-US" dirty="0">
                <a:sym typeface="Symbol" panose="05050102010706020507" pitchFamily="18" charset="2"/>
              </a:rPr>
              <a:t>运行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……</a:t>
            </a:r>
            <a:endParaRPr lang="en-US" altLang="zh-CN">
              <a:sym typeface="Symbol" panose="05050102010706020507" pitchFamily="18" charset="2"/>
            </a:endParaRPr>
          </a:p>
        </p:txBody>
      </p:sp>
      <p:grpSp>
        <p:nvGrpSpPr>
          <p:cNvPr id="185349" name="组合 185348"/>
          <p:cNvGrpSpPr/>
          <p:nvPr/>
        </p:nvGrpSpPr>
        <p:grpSpPr>
          <a:xfrm>
            <a:off x="980722" y="2350911"/>
            <a:ext cx="8899878" cy="3022600"/>
            <a:chOff x="480" y="2064"/>
            <a:chExt cx="4896" cy="1632"/>
          </a:xfrm>
        </p:grpSpPr>
        <p:sp>
          <p:nvSpPr>
            <p:cNvPr id="185350" name="椭圆 185349"/>
            <p:cNvSpPr/>
            <p:nvPr/>
          </p:nvSpPr>
          <p:spPr>
            <a:xfrm>
              <a:off x="3360" y="2064"/>
              <a:ext cx="816" cy="768"/>
            </a:xfrm>
            <a:prstGeom prst="ellipse">
              <a:avLst/>
            </a:prstGeom>
            <a:noFill/>
            <a:ln w="28575" cap="flat" cmpd="sng">
              <a:solidFill>
                <a:srgbClr val="0F0C1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5351" name="文本框 185350"/>
            <p:cNvSpPr txBox="1"/>
            <p:nvPr/>
          </p:nvSpPr>
          <p:spPr>
            <a:xfrm>
              <a:off x="3407" y="2312"/>
              <a:ext cx="695" cy="26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运行态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352" name="椭圆 185351"/>
            <p:cNvSpPr/>
            <p:nvPr/>
          </p:nvSpPr>
          <p:spPr>
            <a:xfrm>
              <a:off x="2496" y="2928"/>
              <a:ext cx="816" cy="768"/>
            </a:xfrm>
            <a:prstGeom prst="ellipse">
              <a:avLst/>
            </a:prstGeom>
            <a:noFill/>
            <a:ln w="28575" cap="flat" cmpd="sng">
              <a:solidFill>
                <a:srgbClr val="0F0C1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5353" name="文本框 185352"/>
            <p:cNvSpPr txBox="1"/>
            <p:nvPr/>
          </p:nvSpPr>
          <p:spPr>
            <a:xfrm>
              <a:off x="2569" y="3177"/>
              <a:ext cx="659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阻塞态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354" name="椭圆 185353"/>
            <p:cNvSpPr/>
            <p:nvPr/>
          </p:nvSpPr>
          <p:spPr>
            <a:xfrm>
              <a:off x="1776" y="2064"/>
              <a:ext cx="816" cy="768"/>
            </a:xfrm>
            <a:prstGeom prst="ellipse">
              <a:avLst/>
            </a:prstGeom>
            <a:noFill/>
            <a:ln w="28575" cap="flat" cmpd="sng">
              <a:solidFill>
                <a:srgbClr val="0F0C1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5355" name="文本框 185354"/>
            <p:cNvSpPr txBox="1"/>
            <p:nvPr/>
          </p:nvSpPr>
          <p:spPr>
            <a:xfrm>
              <a:off x="1850" y="2312"/>
              <a:ext cx="659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就绪态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356" name="椭圆 185355"/>
            <p:cNvSpPr/>
            <p:nvPr/>
          </p:nvSpPr>
          <p:spPr>
            <a:xfrm>
              <a:off x="480" y="2064"/>
              <a:ext cx="816" cy="768"/>
            </a:xfrm>
            <a:prstGeom prst="ellipse">
              <a:avLst/>
            </a:prstGeom>
            <a:noFill/>
            <a:ln w="28575" cap="flat" cmpd="sng">
              <a:solidFill>
                <a:srgbClr val="0F0C1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5357" name="文本框 185356"/>
            <p:cNvSpPr txBox="1"/>
            <p:nvPr/>
          </p:nvSpPr>
          <p:spPr>
            <a:xfrm>
              <a:off x="557" y="2312"/>
              <a:ext cx="659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新建态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358" name="椭圆 185357"/>
            <p:cNvSpPr/>
            <p:nvPr/>
          </p:nvSpPr>
          <p:spPr>
            <a:xfrm>
              <a:off x="4560" y="2064"/>
              <a:ext cx="816" cy="768"/>
            </a:xfrm>
            <a:prstGeom prst="ellipse">
              <a:avLst/>
            </a:prstGeom>
            <a:noFill/>
            <a:ln w="28575" cap="flat" cmpd="sng">
              <a:solidFill>
                <a:srgbClr val="0F0C1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5359" name="文本框 185358"/>
            <p:cNvSpPr txBox="1"/>
            <p:nvPr/>
          </p:nvSpPr>
          <p:spPr>
            <a:xfrm>
              <a:off x="4642" y="2312"/>
              <a:ext cx="659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终止态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5360" name="直接连接符 185359"/>
            <p:cNvSpPr/>
            <p:nvPr/>
          </p:nvSpPr>
          <p:spPr>
            <a:xfrm>
              <a:off x="2496" y="2304"/>
              <a:ext cx="10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361" name="直接连接符 185360"/>
            <p:cNvSpPr/>
            <p:nvPr/>
          </p:nvSpPr>
          <p:spPr>
            <a:xfrm flipV="1">
              <a:off x="4128" y="2448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362" name="直接连接符 185361"/>
            <p:cNvSpPr/>
            <p:nvPr/>
          </p:nvSpPr>
          <p:spPr>
            <a:xfrm flipH="1" flipV="1">
              <a:off x="2304" y="2688"/>
              <a:ext cx="384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363" name="直接连接符 185362"/>
            <p:cNvSpPr/>
            <p:nvPr/>
          </p:nvSpPr>
          <p:spPr>
            <a:xfrm flipH="1">
              <a:off x="3120" y="2688"/>
              <a:ext cx="480" cy="4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364" name="直接连接符 185363"/>
            <p:cNvSpPr/>
            <p:nvPr/>
          </p:nvSpPr>
          <p:spPr>
            <a:xfrm flipH="1">
              <a:off x="2496" y="2592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5365" name="直接连接符 185364"/>
            <p:cNvSpPr/>
            <p:nvPr/>
          </p:nvSpPr>
          <p:spPr>
            <a:xfrm flipV="1">
              <a:off x="1200" y="244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85366" name="组合 185365"/>
          <p:cNvGrpSpPr/>
          <p:nvPr/>
        </p:nvGrpSpPr>
        <p:grpSpPr>
          <a:xfrm>
            <a:off x="980722" y="5037667"/>
            <a:ext cx="6893558" cy="661194"/>
            <a:chOff x="523" y="1876"/>
            <a:chExt cx="3941" cy="378"/>
          </a:xfrm>
        </p:grpSpPr>
        <p:sp>
          <p:nvSpPr>
            <p:cNvPr id="185367" name="矩形 185366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该图称为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进程状态图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85368" name="图片 185367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5369" name="组合 185368"/>
          <p:cNvGrpSpPr/>
          <p:nvPr/>
        </p:nvGrpSpPr>
        <p:grpSpPr>
          <a:xfrm>
            <a:off x="971977" y="5649883"/>
            <a:ext cx="6902303" cy="1248922"/>
            <a:chOff x="379" y="3330"/>
            <a:chExt cx="3946" cy="714"/>
          </a:xfrm>
        </p:grpSpPr>
        <p:grpSp>
          <p:nvGrpSpPr>
            <p:cNvPr id="185370" name="组合 185369"/>
            <p:cNvGrpSpPr/>
            <p:nvPr/>
          </p:nvGrpSpPr>
          <p:grpSpPr>
            <a:xfrm>
              <a:off x="379" y="3330"/>
              <a:ext cx="3941" cy="378"/>
              <a:chOff x="523" y="1876"/>
              <a:chExt cx="3941" cy="378"/>
            </a:xfrm>
          </p:grpSpPr>
          <p:sp>
            <p:nvSpPr>
              <p:cNvPr id="185371" name="矩形 185370"/>
              <p:cNvSpPr/>
              <p:nvPr/>
            </p:nvSpPr>
            <p:spPr>
              <a:xfrm>
                <a:off x="523" y="1876"/>
                <a:ext cx="3941" cy="3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lvl="1">
                  <a:lnSpc>
                    <a:spcPct val="140000"/>
                  </a:lnSpc>
                </a:pPr>
                <a:r>
                  <a:rPr lang="zh-CN" altLang="en-US" sz="2645" b="1" dirty="0">
                    <a:latin typeface="Arial" panose="020B0604020202020204" pitchFamily="34" charset="0"/>
                  </a:rPr>
                  <a:t>它能给出进程生存期的清晰描述</a:t>
                </a:r>
                <a:endParaRPr lang="zh-CN" altLang="en-US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185372" name="图片 185371" descr="j01158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88" y="2025"/>
                <a:ext cx="119" cy="12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85373" name="组合 185372"/>
            <p:cNvGrpSpPr/>
            <p:nvPr/>
          </p:nvGrpSpPr>
          <p:grpSpPr>
            <a:xfrm>
              <a:off x="384" y="3666"/>
              <a:ext cx="3941" cy="378"/>
              <a:chOff x="523" y="1876"/>
              <a:chExt cx="3941" cy="378"/>
            </a:xfrm>
          </p:grpSpPr>
          <p:sp>
            <p:nvSpPr>
              <p:cNvPr id="185374" name="矩形 185373"/>
              <p:cNvSpPr/>
              <p:nvPr/>
            </p:nvSpPr>
            <p:spPr>
              <a:xfrm>
                <a:off x="523" y="1876"/>
                <a:ext cx="3941" cy="3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lvl="1">
                  <a:lnSpc>
                    <a:spcPct val="140000"/>
                  </a:lnSpc>
                </a:pPr>
                <a:r>
                  <a:rPr lang="zh-CN" altLang="en-US" sz="2645" b="1" dirty="0">
                    <a:latin typeface="Arial" panose="020B0604020202020204" pitchFamily="34" charset="0"/>
                  </a:rPr>
                  <a:t>它是认识操作系统进程管理的一个窗口</a:t>
                </a:r>
                <a:endParaRPr lang="zh-CN" altLang="en-US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185375" name="图片 185374" descr="j01158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88" y="2025"/>
                <a:ext cx="119" cy="12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标题 157697"/>
          <p:cNvSpPr>
            <a:spLocks noGrp="1"/>
          </p:cNvSpPr>
          <p:nvPr>
            <p:ph type="title"/>
          </p:nvPr>
        </p:nvSpPr>
        <p:spPr>
          <a:xfrm>
            <a:off x="728839" y="335844"/>
            <a:ext cx="8899878" cy="745155"/>
          </a:xfrm>
        </p:spPr>
        <p:txBody>
          <a:bodyPr anchor="ctr" anchorCtr="0"/>
          <a:p>
            <a:r>
              <a:rPr lang="zh-CN" altLang="en-US" dirty="0"/>
              <a:t>第二件事：进程如何交替执行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157731" name="文本占位符 157730"/>
          <p:cNvSpPr>
            <a:spLocks noGrp="1"/>
          </p:cNvSpPr>
          <p:nvPr>
            <p:ph type="body" idx="1"/>
          </p:nvPr>
        </p:nvSpPr>
        <p:spPr>
          <a:xfrm>
            <a:off x="980722" y="1511300"/>
            <a:ext cx="7388578" cy="2434872"/>
          </a:xfrm>
          <a:ln w="12700"/>
        </p:spPr>
        <p:txBody>
          <a:bodyPr lIns="99693" tIns="48971" rIns="99693" bIns="48971"/>
          <a:p>
            <a:pPr>
              <a:buNone/>
            </a:pPr>
            <a:r>
              <a:rPr lang="zh-CN" altLang="en-US" dirty="0"/>
              <a:t>启动磁盘读写</a:t>
            </a:r>
            <a:r>
              <a:rPr lang="en-US" altLang="zh-CN"/>
              <a:t>;</a:t>
            </a:r>
            <a:endParaRPr lang="en-US" altLang="zh-CN"/>
          </a:p>
          <a:p>
            <a:pPr>
              <a:buNone/>
            </a:pPr>
            <a:r>
              <a:rPr lang="en-US" altLang="zh-CN" err="1"/>
              <a:t>pCur.state</a:t>
            </a:r>
            <a:r>
              <a:rPr lang="en-US" altLang="zh-CN"/>
              <a:t> = ‘W’;</a:t>
            </a:r>
            <a:endParaRPr lang="en-US" altLang="zh-CN"/>
          </a:p>
          <a:p>
            <a:pPr>
              <a:buNone/>
            </a:pPr>
            <a:r>
              <a:rPr lang="zh-CN" altLang="en-US" dirty="0"/>
              <a:t>将</a:t>
            </a:r>
            <a:r>
              <a:rPr lang="en-US" altLang="zh-CN" err="1"/>
              <a:t>pCur</a:t>
            </a:r>
            <a:r>
              <a:rPr lang="zh-CN" altLang="en-US" dirty="0"/>
              <a:t>放到</a:t>
            </a:r>
            <a:r>
              <a:rPr lang="en-US" altLang="zh-CN" err="1"/>
              <a:t>DiskWaitQueue</a:t>
            </a:r>
            <a:r>
              <a:rPr lang="en-US" altLang="zh-CN"/>
              <a:t>;</a:t>
            </a:r>
            <a:endParaRPr lang="en-US" altLang="zh-CN"/>
          </a:p>
          <a:p>
            <a:pPr>
              <a:buNone/>
            </a:pPr>
            <a:r>
              <a:rPr lang="en-US" altLang="zh-CN"/>
              <a:t>schedule();</a:t>
            </a:r>
            <a:endParaRPr lang="en-US" altLang="zh-CN"/>
          </a:p>
        </p:txBody>
      </p:sp>
      <p:sp>
        <p:nvSpPr>
          <p:cNvPr id="157732" name="矩形 157731"/>
          <p:cNvSpPr/>
          <p:nvPr/>
        </p:nvSpPr>
        <p:spPr>
          <a:xfrm>
            <a:off x="896761" y="1343378"/>
            <a:ext cx="8144228" cy="2518833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57733" name="矩形 157732"/>
          <p:cNvSpPr/>
          <p:nvPr/>
        </p:nvSpPr>
        <p:spPr>
          <a:xfrm>
            <a:off x="1064683" y="4030133"/>
            <a:ext cx="7388578" cy="2770717"/>
          </a:xfrm>
          <a:prstGeom prst="rect">
            <a:avLst/>
          </a:prstGeom>
          <a:noFill/>
          <a:ln w="12700">
            <a:noFill/>
          </a:ln>
        </p:spPr>
        <p:txBody>
          <a:bodyPr lIns="99693" tIns="48971" rIns="99693" bIns="48971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buNone/>
            </a:pPr>
            <a:r>
              <a:rPr lang="en-US" altLang="zh-CN" sz="3085"/>
              <a:t>schedule()</a:t>
            </a:r>
            <a:endParaRPr lang="en-US" altLang="zh-CN" sz="3085"/>
          </a:p>
          <a:p>
            <a:pPr lvl="0">
              <a:buNone/>
            </a:pPr>
            <a:r>
              <a:rPr lang="en-US" altLang="zh-CN" sz="3085"/>
              <a:t>{ </a:t>
            </a:r>
            <a:endParaRPr lang="en-US" altLang="zh-CN" sz="3085"/>
          </a:p>
          <a:p>
            <a:pPr lvl="0">
              <a:buNone/>
            </a:pPr>
            <a:r>
              <a:rPr lang="en-US" altLang="zh-CN" sz="3085"/>
              <a:t>    </a:t>
            </a:r>
            <a:r>
              <a:rPr lang="en-US" altLang="zh-CN" sz="3085" err="1"/>
              <a:t>pNew</a:t>
            </a:r>
            <a:r>
              <a:rPr lang="en-US" altLang="zh-CN" sz="3085"/>
              <a:t> = </a:t>
            </a:r>
            <a:r>
              <a:rPr lang="en-US" altLang="zh-CN" sz="3085" err="1">
                <a:solidFill>
                  <a:srgbClr val="FF3300"/>
                </a:solidFill>
              </a:rPr>
              <a:t>getNext</a:t>
            </a:r>
            <a:r>
              <a:rPr lang="en-US" altLang="zh-CN" sz="3085" err="1"/>
              <a:t>(ReadyQueue</a:t>
            </a:r>
            <a:r>
              <a:rPr lang="en-US" altLang="zh-CN" sz="3085"/>
              <a:t>);</a:t>
            </a:r>
            <a:endParaRPr lang="en-US" altLang="zh-CN" sz="3085"/>
          </a:p>
          <a:p>
            <a:pPr lvl="0">
              <a:buNone/>
            </a:pPr>
            <a:r>
              <a:rPr lang="en-US" altLang="zh-CN" sz="3085">
                <a:solidFill>
                  <a:srgbClr val="FF0000"/>
                </a:solidFill>
              </a:rPr>
              <a:t>    </a:t>
            </a:r>
            <a:r>
              <a:rPr lang="en-US" altLang="zh-CN" sz="3085" err="1">
                <a:solidFill>
                  <a:srgbClr val="FF0000"/>
                </a:solidFill>
              </a:rPr>
              <a:t>switch_to</a:t>
            </a:r>
            <a:r>
              <a:rPr lang="en-US" altLang="zh-CN" sz="3085" err="1"/>
              <a:t>(pCur,pNew</a:t>
            </a:r>
            <a:r>
              <a:rPr lang="en-US" altLang="zh-CN" sz="3085"/>
              <a:t>);</a:t>
            </a:r>
            <a:endParaRPr lang="en-US" altLang="zh-CN" sz="3085"/>
          </a:p>
          <a:p>
            <a:pPr lvl="0">
              <a:buNone/>
            </a:pPr>
            <a:r>
              <a:rPr lang="en-US" altLang="zh-CN" sz="3085"/>
              <a:t>}</a:t>
            </a:r>
            <a:endParaRPr lang="en-US" altLang="zh-CN" sz="3085">
              <a:latin typeface="Courier New" panose="02070309020205020404" pitchFamily="49" charset="0"/>
            </a:endParaRPr>
          </a:p>
        </p:txBody>
      </p:sp>
      <p:sp>
        <p:nvSpPr>
          <p:cNvPr id="157734" name="矩形 157733"/>
          <p:cNvSpPr/>
          <p:nvPr/>
        </p:nvSpPr>
        <p:spPr>
          <a:xfrm>
            <a:off x="896761" y="4030133"/>
            <a:ext cx="8144228" cy="2854678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标题 158721"/>
          <p:cNvSpPr>
            <a:spLocks noGrp="1"/>
          </p:cNvSpPr>
          <p:nvPr>
            <p:ph type="title"/>
          </p:nvPr>
        </p:nvSpPr>
        <p:spPr>
          <a:xfrm>
            <a:off x="728839" y="335844"/>
            <a:ext cx="8899878" cy="745155"/>
          </a:xfrm>
        </p:spPr>
        <p:txBody>
          <a:bodyPr anchor="ctr" anchorCtr="0"/>
          <a:p>
            <a:r>
              <a:rPr lang="en-US" altLang="zh-CN" sz="3965" err="1">
                <a:solidFill>
                  <a:srgbClr val="FF0000"/>
                </a:solidFill>
              </a:rPr>
              <a:t>getNext：调度</a:t>
            </a:r>
            <a:endParaRPr lang="en-US" altLang="zh-CN" sz="3965" err="1">
              <a:solidFill>
                <a:srgbClr val="FF0000"/>
              </a:solidFill>
            </a:endParaRPr>
          </a:p>
        </p:txBody>
      </p:sp>
      <p:sp>
        <p:nvSpPr>
          <p:cNvPr id="158723" name="文本占位符 158722"/>
          <p:cNvSpPr>
            <a:spLocks noGrp="1"/>
          </p:cNvSpPr>
          <p:nvPr>
            <p:ph type="body" idx="1"/>
          </p:nvPr>
        </p:nvSpPr>
        <p:spPr>
          <a:xfrm>
            <a:off x="1064683" y="1343378"/>
            <a:ext cx="8728457" cy="953309"/>
          </a:xfrm>
        </p:spPr>
        <p:txBody>
          <a:bodyPr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就是进程调度，一个很深刻的话题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58759" name="组合 158758"/>
          <p:cNvGrpSpPr/>
          <p:nvPr/>
        </p:nvGrpSpPr>
        <p:grpSpPr>
          <a:xfrm>
            <a:off x="1064683" y="4283766"/>
            <a:ext cx="8728457" cy="1549783"/>
            <a:chOff x="432" y="2576"/>
            <a:chExt cx="4990" cy="886"/>
          </a:xfrm>
        </p:grpSpPr>
        <p:grpSp>
          <p:nvGrpSpPr>
            <p:cNvPr id="158758" name="组合 158757"/>
            <p:cNvGrpSpPr/>
            <p:nvPr/>
          </p:nvGrpSpPr>
          <p:grpSpPr>
            <a:xfrm>
              <a:off x="615" y="3028"/>
              <a:ext cx="4517" cy="434"/>
              <a:chOff x="615" y="3316"/>
              <a:chExt cx="4517" cy="434"/>
            </a:xfrm>
          </p:grpSpPr>
          <p:sp>
            <p:nvSpPr>
              <p:cNvPr id="158750" name="矩形 158749"/>
              <p:cNvSpPr/>
              <p:nvPr/>
            </p:nvSpPr>
            <p:spPr>
              <a:xfrm>
                <a:off x="615" y="3316"/>
                <a:ext cx="4517" cy="3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lvl="1">
                  <a:lnSpc>
                    <a:spcPct val="140000"/>
                  </a:lnSpc>
                </a:pPr>
                <a:r>
                  <a:rPr lang="zh-CN" altLang="en-US" sz="2645" b="1" dirty="0">
                    <a:latin typeface="Arial" panose="020B0604020202020204" pitchFamily="34" charset="0"/>
                  </a:rPr>
                  <a:t>优先级该怎么设定</a:t>
                </a:r>
                <a:r>
                  <a:rPr lang="en-US" altLang="zh-CN" sz="2645" b="1">
                    <a:latin typeface="Arial" panose="020B0604020202020204" pitchFamily="34" charset="0"/>
                  </a:rPr>
                  <a:t>?</a:t>
                </a:r>
                <a:r>
                  <a:rPr lang="zh-CN" altLang="en-US" sz="2645" b="1" dirty="0">
                    <a:latin typeface="Arial" panose="020B0604020202020204" pitchFamily="34" charset="0"/>
                  </a:rPr>
                  <a:t>可能会使某些进程饥饿</a:t>
                </a:r>
                <a:endParaRPr lang="zh-CN" altLang="en-US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158751" name="图片 158750" descr="j01158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84" y="3629"/>
                <a:ext cx="119" cy="12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58753" name="矩形 158752"/>
            <p:cNvSpPr/>
            <p:nvPr/>
          </p:nvSpPr>
          <p:spPr>
            <a:xfrm>
              <a:off x="432" y="2576"/>
              <a:ext cx="4990" cy="5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lnSpc>
                  <a:spcPct val="130000"/>
                </a:lnSpc>
              </a:pPr>
              <a:r>
                <a:rPr lang="en-US" altLang="zh-CN" sz="3085">
                  <a:solidFill>
                    <a:schemeClr val="accent2"/>
                  </a:solidFill>
                </a:rPr>
                <a:t>Priority?</a:t>
              </a:r>
              <a:endParaRPr lang="en-US" altLang="zh-CN" sz="3085">
                <a:solidFill>
                  <a:schemeClr val="accent2"/>
                </a:solidFill>
              </a:endParaRPr>
            </a:p>
          </p:txBody>
        </p:sp>
      </p:grpSp>
      <p:grpSp>
        <p:nvGrpSpPr>
          <p:cNvPr id="158757" name="组合 158756"/>
          <p:cNvGrpSpPr/>
          <p:nvPr/>
        </p:nvGrpSpPr>
        <p:grpSpPr>
          <a:xfrm>
            <a:off x="1064683" y="2350911"/>
            <a:ext cx="8728457" cy="1927607"/>
            <a:chOff x="432" y="1680"/>
            <a:chExt cx="4990" cy="1102"/>
          </a:xfrm>
        </p:grpSpPr>
        <p:grpSp>
          <p:nvGrpSpPr>
            <p:cNvPr id="158742" name="组合 158741"/>
            <p:cNvGrpSpPr/>
            <p:nvPr/>
          </p:nvGrpSpPr>
          <p:grpSpPr>
            <a:xfrm>
              <a:off x="624" y="2064"/>
              <a:ext cx="3941" cy="378"/>
              <a:chOff x="523" y="1876"/>
              <a:chExt cx="3941" cy="378"/>
            </a:xfrm>
          </p:grpSpPr>
          <p:sp>
            <p:nvSpPr>
              <p:cNvPr id="158743" name="矩形 158742"/>
              <p:cNvSpPr/>
              <p:nvPr/>
            </p:nvSpPr>
            <p:spPr>
              <a:xfrm>
                <a:off x="523" y="1876"/>
                <a:ext cx="3941" cy="3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lvl="1">
                  <a:lnSpc>
                    <a:spcPct val="140000"/>
                  </a:lnSpc>
                </a:pPr>
                <a:r>
                  <a:rPr lang="en-US" altLang="zh-CN" sz="2645" b="1">
                    <a:latin typeface="Arial" panose="020B0604020202020204" pitchFamily="34" charset="0"/>
                  </a:rPr>
                  <a:t>FIFO</a:t>
                </a:r>
                <a:r>
                  <a:rPr lang="zh-CN" altLang="en-US" sz="2645" b="1" dirty="0">
                    <a:latin typeface="Arial" panose="020B0604020202020204" pitchFamily="34" charset="0"/>
                  </a:rPr>
                  <a:t>显然是公平的策略</a:t>
                </a:r>
                <a:endPara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158744" name="图片 158743" descr="j01158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88" y="2025"/>
                <a:ext cx="119" cy="12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58752" name="矩形 158751"/>
            <p:cNvSpPr/>
            <p:nvPr/>
          </p:nvSpPr>
          <p:spPr>
            <a:xfrm>
              <a:off x="432" y="1680"/>
              <a:ext cx="4990" cy="5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lnSpc>
                  <a:spcPct val="130000"/>
                </a:lnSpc>
              </a:pPr>
              <a:r>
                <a:rPr lang="en-US" altLang="zh-CN" sz="3085">
                  <a:solidFill>
                    <a:schemeClr val="accent2"/>
                  </a:solidFill>
                </a:rPr>
                <a:t>FIFO?</a:t>
              </a:r>
              <a:endParaRPr lang="en-US" altLang="zh-CN" sz="3085">
                <a:solidFill>
                  <a:schemeClr val="accent2"/>
                </a:solidFill>
              </a:endParaRPr>
            </a:p>
          </p:txBody>
        </p:sp>
        <p:grpSp>
          <p:nvGrpSpPr>
            <p:cNvPr id="158754" name="组合 158753"/>
            <p:cNvGrpSpPr/>
            <p:nvPr/>
          </p:nvGrpSpPr>
          <p:grpSpPr>
            <a:xfrm>
              <a:off x="624" y="2404"/>
              <a:ext cx="3941" cy="378"/>
              <a:chOff x="523" y="1876"/>
              <a:chExt cx="3941" cy="378"/>
            </a:xfrm>
          </p:grpSpPr>
          <p:sp>
            <p:nvSpPr>
              <p:cNvPr id="158755" name="矩形 158754"/>
              <p:cNvSpPr/>
              <p:nvPr/>
            </p:nvSpPr>
            <p:spPr>
              <a:xfrm>
                <a:off x="523" y="1876"/>
                <a:ext cx="3941" cy="3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lvl="1">
                  <a:lnSpc>
                    <a:spcPct val="140000"/>
                  </a:lnSpc>
                </a:pPr>
                <a:r>
                  <a:rPr lang="en-US" altLang="zh-CN" sz="2645" b="1">
                    <a:latin typeface="Arial" panose="020B0604020202020204" pitchFamily="34" charset="0"/>
                  </a:rPr>
                  <a:t>FIFO</a:t>
                </a:r>
                <a:r>
                  <a:rPr lang="zh-CN" altLang="en-US" sz="2645" b="1" dirty="0">
                    <a:latin typeface="Arial" panose="020B0604020202020204" pitchFamily="34" charset="0"/>
                  </a:rPr>
                  <a:t>显然没有考虑进程执行的任务的区别</a:t>
                </a:r>
                <a:endParaRPr lang="zh-CN" altLang="en-US" sz="2645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158756" name="图片 158755" descr="j011583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88" y="2025"/>
                <a:ext cx="119" cy="12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0" y="5988050"/>
            <a:ext cx="3447415" cy="8750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89500" y="5980430"/>
            <a:ext cx="4333875" cy="8826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标题 160769"/>
          <p:cNvSpPr>
            <a:spLocks noGrp="1"/>
          </p:cNvSpPr>
          <p:nvPr>
            <p:ph type="title"/>
          </p:nvPr>
        </p:nvSpPr>
        <p:spPr>
          <a:xfrm>
            <a:off x="728839" y="335844"/>
            <a:ext cx="8899878" cy="745155"/>
          </a:xfrm>
        </p:spPr>
        <p:txBody>
          <a:bodyPr anchor="ctr" anchorCtr="0"/>
          <a:p>
            <a:r>
              <a:rPr lang="en-US" altLang="zh-CN" err="1">
                <a:solidFill>
                  <a:srgbClr val="FF0000"/>
                </a:solidFill>
              </a:rPr>
              <a:t>switch_to</a:t>
            </a:r>
            <a:r>
              <a:rPr lang="en-US" altLang="zh-CN" err="1"/>
              <a:t>(pCur,pNew</a:t>
            </a:r>
            <a:r>
              <a:rPr lang="en-US" altLang="zh-CN"/>
              <a:t>)</a:t>
            </a:r>
            <a:r>
              <a:rPr lang="zh-CN" altLang="en-US"/>
              <a:t>：切换</a:t>
            </a:r>
            <a:endParaRPr lang="zh-CN" altLang="en-US"/>
          </a:p>
        </p:txBody>
      </p:sp>
      <p:sp>
        <p:nvSpPr>
          <p:cNvPr id="160771" name="文本占位符 160770"/>
          <p:cNvSpPr>
            <a:spLocks noGrp="1"/>
          </p:cNvSpPr>
          <p:nvPr>
            <p:ph type="body" idx="1"/>
          </p:nvPr>
        </p:nvSpPr>
        <p:spPr>
          <a:xfrm>
            <a:off x="812800" y="1175456"/>
            <a:ext cx="9403644" cy="6381044"/>
          </a:xfrm>
          <a:ln w="12700"/>
        </p:spPr>
        <p:txBody>
          <a:bodyPr lIns="99693" tIns="48971" rIns="99693" bIns="48971"/>
          <a:p>
            <a:pPr>
              <a:buNone/>
            </a:pPr>
            <a:r>
              <a:rPr lang="en-US" altLang="zh-CN" err="1">
                <a:latin typeface="Courier New" panose="02070309020205020404" pitchFamily="49" charset="0"/>
              </a:rPr>
              <a:t>switch_to(pCur,pNew</a:t>
            </a:r>
            <a:r>
              <a:rPr lang="en-US" altLang="zh-CN">
                <a:latin typeface="Courier New" panose="02070309020205020404" pitchFamily="49" charset="0"/>
              </a:rPr>
              <a:t>)</a:t>
            </a:r>
            <a:r>
              <a:rPr lang="en-US" altLang="zh-CN" sz="2645">
                <a:latin typeface="Courier New" panose="02070309020205020404" pitchFamily="49" charset="0"/>
              </a:rPr>
              <a:t> {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latin typeface="Courier New" panose="02070309020205020404" pitchFamily="49" charset="0"/>
              </a:rPr>
              <a:t>pCur.ax</a:t>
            </a:r>
            <a:r>
              <a:rPr lang="en-US" altLang="zh-CN" sz="2645"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latin typeface="Courier New" panose="02070309020205020404" pitchFamily="49" charset="0"/>
              </a:rPr>
              <a:t>CPU.ax</a:t>
            </a:r>
            <a:r>
              <a:rPr lang="en-US" altLang="zh-CN" sz="2645">
                <a:latin typeface="Courier New" panose="02070309020205020404" pitchFamily="49" charset="0"/>
              </a:rPr>
              <a:t>;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latin typeface="Courier New" panose="02070309020205020404" pitchFamily="49" charset="0"/>
              </a:rPr>
              <a:t>pCur.bx</a:t>
            </a:r>
            <a:r>
              <a:rPr lang="en-US" altLang="zh-CN" sz="2645"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latin typeface="Courier New" panose="02070309020205020404" pitchFamily="49" charset="0"/>
              </a:rPr>
              <a:t>CPU.bx</a:t>
            </a:r>
            <a:r>
              <a:rPr lang="en-US" altLang="zh-CN" sz="2645">
                <a:latin typeface="Courier New" panose="02070309020205020404" pitchFamily="49" charset="0"/>
              </a:rPr>
              <a:t>;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			</a:t>
            </a:r>
            <a:r>
              <a:rPr lang="en-US" altLang="zh-CN" sz="1985">
                <a:latin typeface="Courier New" panose="02070309020205020404" pitchFamily="49" charset="0"/>
              </a:rPr>
              <a:t>...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	  </a:t>
            </a:r>
            <a:r>
              <a:rPr lang="en-US" altLang="zh-CN" sz="2645" err="1">
                <a:latin typeface="Courier New" panose="02070309020205020404" pitchFamily="49" charset="0"/>
              </a:rPr>
              <a:t>pCur.cs</a:t>
            </a:r>
            <a:r>
              <a:rPr lang="en-US" altLang="zh-CN" sz="2645"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latin typeface="Courier New" panose="02070309020205020404" pitchFamily="49" charset="0"/>
              </a:rPr>
              <a:t>CPU.cs</a:t>
            </a:r>
            <a:r>
              <a:rPr lang="en-US" altLang="zh-CN" sz="2645">
                <a:latin typeface="Courier New" panose="02070309020205020404" pitchFamily="49" charset="0"/>
              </a:rPr>
              <a:t>;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latin typeface="Courier New" panose="02070309020205020404" pitchFamily="49" charset="0"/>
              </a:rPr>
              <a:t>pCur.retpc</a:t>
            </a:r>
            <a:r>
              <a:rPr lang="en-US" altLang="zh-CN" sz="2645"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latin typeface="Courier New" panose="02070309020205020404" pitchFamily="49" charset="0"/>
              </a:rPr>
              <a:t>CPU.pc</a:t>
            </a:r>
            <a:r>
              <a:rPr lang="en-US" altLang="zh-CN" sz="2645">
                <a:latin typeface="Courier New" panose="02070309020205020404" pitchFamily="49" charset="0"/>
              </a:rPr>
              <a:t>;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000066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645">
                <a:latin typeface="Courier New" panose="02070309020205020404" pitchFamily="49" charset="0"/>
              </a:rPr>
              <a:t> </a:t>
            </a:r>
            <a:endParaRPr lang="en-US" altLang="zh-CN" sz="2645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CPU.ax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pNew.ax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;</a:t>
            </a:r>
            <a:endParaRPr lang="en-US" altLang="zh-CN" sz="2645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CPU.bx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pNew.bx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;</a:t>
            </a:r>
            <a:endParaRPr lang="en-US" altLang="zh-CN" sz="2645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sz="1985">
                <a:solidFill>
                  <a:srgbClr val="FF3300"/>
                </a:solidFill>
                <a:latin typeface="Courier New" panose="02070309020205020404" pitchFamily="49" charset="0"/>
              </a:rPr>
              <a:t>...</a:t>
            </a:r>
            <a:endParaRPr lang="en-US" altLang="zh-CN" sz="2645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	 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CPU.cs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pNew.cs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;</a:t>
            </a:r>
            <a:endParaRPr lang="en-US" altLang="zh-CN" sz="2645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CPU.retpc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645" err="1">
                <a:solidFill>
                  <a:srgbClr val="FF3300"/>
                </a:solidFill>
                <a:latin typeface="Courier New" panose="02070309020205020404" pitchFamily="49" charset="0"/>
              </a:rPr>
              <a:t>pNew.pc</a:t>
            </a:r>
            <a:r>
              <a:rPr lang="en-US" altLang="zh-CN" sz="2645">
                <a:solidFill>
                  <a:srgbClr val="FF3300"/>
                </a:solidFill>
                <a:latin typeface="Courier New" panose="02070309020205020404" pitchFamily="49" charset="0"/>
              </a:rPr>
              <a:t>;</a:t>
            </a:r>
            <a:endParaRPr lang="en-US" altLang="zh-CN" sz="2645">
              <a:solidFill>
                <a:srgbClr val="FF33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2645">
                <a:latin typeface="Courier New" panose="02070309020205020404" pitchFamily="49" charset="0"/>
              </a:rPr>
              <a:t>	}</a:t>
            </a:r>
            <a:endParaRPr lang="en-US" altLang="zh-CN" sz="2645">
              <a:latin typeface="Courier New" panose="02070309020205020404" pitchFamily="49" charset="0"/>
            </a:endParaRPr>
          </a:p>
        </p:txBody>
      </p:sp>
      <p:sp>
        <p:nvSpPr>
          <p:cNvPr id="160772" name="椭圆 160771"/>
          <p:cNvSpPr/>
          <p:nvPr/>
        </p:nvSpPr>
        <p:spPr>
          <a:xfrm>
            <a:off x="8185636" y="2938639"/>
            <a:ext cx="955058" cy="998788"/>
          </a:xfrm>
          <a:prstGeom prst="ellipse">
            <a:avLst/>
          </a:prstGeom>
          <a:solidFill>
            <a:srgbClr val="00FF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205" b="1">
                <a:latin typeface="Century Gothic" panose="020B0502020202020204" pitchFamily="34" charset="0"/>
              </a:rPr>
              <a:t>PCB2</a:t>
            </a:r>
            <a:endParaRPr lang="en-US" altLang="zh-CN" sz="2205" b="1">
              <a:latin typeface="Century Gothic" panose="020B0502020202020204" pitchFamily="34" charset="0"/>
            </a:endParaRPr>
          </a:p>
        </p:txBody>
      </p:sp>
      <p:sp>
        <p:nvSpPr>
          <p:cNvPr id="160773" name="椭圆 160772"/>
          <p:cNvSpPr/>
          <p:nvPr/>
        </p:nvSpPr>
        <p:spPr>
          <a:xfrm>
            <a:off x="7109883" y="2938639"/>
            <a:ext cx="955058" cy="9987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205" b="1">
                <a:latin typeface="Century Gothic" panose="020B0502020202020204" pitchFamily="34" charset="0"/>
              </a:rPr>
              <a:t>PCB1</a:t>
            </a:r>
            <a:endParaRPr lang="en-US" altLang="zh-CN" sz="2205" b="1">
              <a:latin typeface="Century Gothic" panose="020B0502020202020204" pitchFamily="34" charset="0"/>
            </a:endParaRPr>
          </a:p>
        </p:txBody>
      </p:sp>
      <p:sp>
        <p:nvSpPr>
          <p:cNvPr id="160774" name="矩形 160773"/>
          <p:cNvSpPr/>
          <p:nvPr/>
        </p:nvSpPr>
        <p:spPr>
          <a:xfrm rot="32400000">
            <a:off x="7529689" y="5562424"/>
            <a:ext cx="2182989" cy="650699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 algn="ctr" eaLnBrk="0" hangingPunct="0"/>
            <a:r>
              <a:rPr lang="zh-CN" altLang="en-US" sz="2645" b="1" dirty="0">
                <a:latin typeface="Century Gothic" panose="020B0502020202020204" pitchFamily="34" charset="0"/>
              </a:rPr>
              <a:t>内存</a:t>
            </a:r>
            <a:endParaRPr lang="zh-CN" altLang="en-US" sz="2645" b="1">
              <a:latin typeface="Century Gothic" panose="020B0502020202020204" pitchFamily="34" charset="0"/>
            </a:endParaRPr>
          </a:p>
        </p:txBody>
      </p:sp>
      <p:sp>
        <p:nvSpPr>
          <p:cNvPr id="160775" name="直接连接符 160774"/>
          <p:cNvSpPr/>
          <p:nvPr/>
        </p:nvSpPr>
        <p:spPr>
          <a:xfrm>
            <a:off x="7613650" y="3946172"/>
            <a:ext cx="671689" cy="335844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76" name="直接连接符 160775"/>
          <p:cNvSpPr/>
          <p:nvPr/>
        </p:nvSpPr>
        <p:spPr>
          <a:xfrm>
            <a:off x="8621183" y="3946172"/>
            <a:ext cx="0" cy="25188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77" name="椭圆 160776"/>
          <p:cNvSpPr/>
          <p:nvPr/>
        </p:nvSpPr>
        <p:spPr>
          <a:xfrm>
            <a:off x="8117417" y="4198056"/>
            <a:ext cx="955058" cy="998788"/>
          </a:xfrm>
          <a:prstGeom prst="ellipse">
            <a:avLst/>
          </a:prstGeom>
          <a:solidFill>
            <a:srgbClr val="DDDDDD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205" b="1">
                <a:latin typeface="Century Gothic" panose="020B0502020202020204" pitchFamily="34" charset="0"/>
              </a:rPr>
              <a:t>CPU</a:t>
            </a:r>
            <a:endParaRPr lang="en-US" altLang="zh-CN" sz="2205" b="1">
              <a:latin typeface="Century Gothic" panose="020B0502020202020204" pitchFamily="34" charset="0"/>
            </a:endParaRPr>
          </a:p>
        </p:txBody>
      </p:sp>
      <p:sp>
        <p:nvSpPr>
          <p:cNvPr id="160778" name="矩形 160777"/>
          <p:cNvSpPr/>
          <p:nvPr/>
        </p:nvSpPr>
        <p:spPr>
          <a:xfrm>
            <a:off x="6774039" y="4533900"/>
            <a:ext cx="1763183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205" b="1" dirty="0">
                <a:latin typeface="Arial" panose="020B0604020202020204" pitchFamily="34" charset="0"/>
              </a:rPr>
              <a:t>物理</a:t>
            </a:r>
            <a:r>
              <a:rPr lang="en-US" altLang="zh-CN" sz="2205" b="1">
                <a:latin typeface="Arial" panose="020B0604020202020204" pitchFamily="34" charset="0"/>
              </a:rPr>
              <a:t>CPU</a:t>
            </a:r>
            <a:endParaRPr lang="en-US" altLang="zh-CN" sz="2205" b="1">
              <a:latin typeface="Arial" panose="020B0604020202020204" pitchFamily="34" charset="0"/>
            </a:endParaRPr>
          </a:p>
        </p:txBody>
      </p:sp>
      <p:sp>
        <p:nvSpPr>
          <p:cNvPr id="160779" name="直接连接符 160778"/>
          <p:cNvSpPr/>
          <p:nvPr/>
        </p:nvSpPr>
        <p:spPr>
          <a:xfrm flipH="1">
            <a:off x="8621183" y="5205589"/>
            <a:ext cx="0" cy="335844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80" name="椭圆 160779"/>
          <p:cNvSpPr/>
          <p:nvPr/>
        </p:nvSpPr>
        <p:spPr>
          <a:xfrm>
            <a:off x="8117417" y="4198056"/>
            <a:ext cx="955058" cy="998788"/>
          </a:xfrm>
          <a:prstGeom prst="ellipse">
            <a:avLst/>
          </a:prstGeom>
          <a:solidFill>
            <a:srgbClr val="FF66CC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205" b="1">
                <a:latin typeface="Century Gothic" panose="020B0502020202020204" pitchFamily="34" charset="0"/>
              </a:rPr>
              <a:t>PCB1</a:t>
            </a:r>
            <a:endParaRPr lang="en-US" altLang="zh-CN" sz="2205" b="1">
              <a:latin typeface="Century Gothic" panose="020B0502020202020204" pitchFamily="34" charset="0"/>
            </a:endParaRPr>
          </a:p>
        </p:txBody>
      </p:sp>
      <p:sp>
        <p:nvSpPr>
          <p:cNvPr id="160781" name="椭圆 160780"/>
          <p:cNvSpPr/>
          <p:nvPr/>
        </p:nvSpPr>
        <p:spPr>
          <a:xfrm>
            <a:off x="8190883" y="2938639"/>
            <a:ext cx="955058" cy="998788"/>
          </a:xfrm>
          <a:prstGeom prst="ellipse">
            <a:avLst/>
          </a:prstGeom>
          <a:solidFill>
            <a:srgbClr val="00FF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205" b="1">
                <a:latin typeface="Century Gothic" panose="020B0502020202020204" pitchFamily="34" charset="0"/>
              </a:rPr>
              <a:t>PCB2</a:t>
            </a:r>
            <a:endParaRPr lang="en-US" altLang="zh-CN" sz="2205" b="1">
              <a:latin typeface="Century Gothic" panose="020B0502020202020204" pitchFamily="34" charset="0"/>
            </a:endParaRPr>
          </a:p>
        </p:txBody>
      </p:sp>
      <p:sp>
        <p:nvSpPr>
          <p:cNvPr id="160783" name="矩形 160782"/>
          <p:cNvSpPr/>
          <p:nvPr/>
        </p:nvSpPr>
        <p:spPr>
          <a:xfrm>
            <a:off x="6270272" y="2434872"/>
            <a:ext cx="2602794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205" b="1" dirty="0">
                <a:latin typeface="Arial" panose="020B0604020202020204" pitchFamily="34" charset="0"/>
              </a:rPr>
              <a:t>一段数据</a:t>
            </a:r>
            <a:r>
              <a:rPr lang="en-US" altLang="zh-CN" sz="2205" b="1">
                <a:latin typeface="Arial" panose="020B0604020202020204" pitchFamily="34" charset="0"/>
              </a:rPr>
              <a:t>(PCB)</a:t>
            </a:r>
            <a:endParaRPr lang="en-US" altLang="zh-CN" sz="2205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23317E-7 L -0.1 -0.166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-8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-0.00069 L -0.00833 0.166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8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80" grpId="0" bldLvl="0" animBg="1"/>
      <p:bldP spid="16078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标题 1873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第三件事：多进程并存会相互影响</a:t>
            </a:r>
            <a:endParaRPr lang="zh-CN" altLang="en-US"/>
          </a:p>
        </p:txBody>
      </p:sp>
      <p:grpSp>
        <p:nvGrpSpPr>
          <p:cNvPr id="187395" name="组合 187394"/>
          <p:cNvGrpSpPr/>
          <p:nvPr/>
        </p:nvGrpSpPr>
        <p:grpSpPr>
          <a:xfrm>
            <a:off x="1815086" y="2350911"/>
            <a:ext cx="2770717" cy="2620286"/>
            <a:chOff x="336" y="854"/>
            <a:chExt cx="1443" cy="1546"/>
          </a:xfrm>
        </p:grpSpPr>
        <p:sp>
          <p:nvSpPr>
            <p:cNvPr id="187396" name="矩形 187395"/>
            <p:cNvSpPr/>
            <p:nvPr/>
          </p:nvSpPr>
          <p:spPr>
            <a:xfrm>
              <a:off x="336" y="1163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7397" name="文本框 187396"/>
            <p:cNvSpPr txBox="1"/>
            <p:nvPr/>
          </p:nvSpPr>
          <p:spPr>
            <a:xfrm>
              <a:off x="336" y="1200"/>
              <a:ext cx="1440" cy="8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10100b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87398" name="矩形 187397"/>
            <p:cNvSpPr/>
            <p:nvPr/>
          </p:nvSpPr>
          <p:spPr>
            <a:xfrm>
              <a:off x="624" y="854"/>
              <a:ext cx="764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r>
                <a:rPr lang="zh-CN" altLang="en-US" sz="2205" b="1" dirty="0">
                  <a:latin typeface="Arial" panose="020B0604020202020204" pitchFamily="34" charset="0"/>
                </a:rPr>
                <a:t>代码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</p:grpSp>
      <p:grpSp>
        <p:nvGrpSpPr>
          <p:cNvPr id="187399" name="组合 187398"/>
          <p:cNvGrpSpPr/>
          <p:nvPr/>
        </p:nvGrpSpPr>
        <p:grpSpPr>
          <a:xfrm>
            <a:off x="5173531" y="2350911"/>
            <a:ext cx="2524080" cy="2620286"/>
            <a:chOff x="336" y="854"/>
            <a:chExt cx="1443" cy="1546"/>
          </a:xfrm>
        </p:grpSpPr>
        <p:sp>
          <p:nvSpPr>
            <p:cNvPr id="187400" name="矩形 187399"/>
            <p:cNvSpPr/>
            <p:nvPr/>
          </p:nvSpPr>
          <p:spPr>
            <a:xfrm>
              <a:off x="336" y="1163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7401" name="文本框 187400"/>
            <p:cNvSpPr txBox="1"/>
            <p:nvPr/>
          </p:nvSpPr>
          <p:spPr>
            <a:xfrm>
              <a:off x="336" y="1201"/>
              <a:ext cx="1440" cy="5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100: 00101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87402" name="矩形 187401"/>
            <p:cNvSpPr/>
            <p:nvPr/>
          </p:nvSpPr>
          <p:spPr>
            <a:xfrm>
              <a:off x="624" y="854"/>
              <a:ext cx="839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205" b="1">
                  <a:latin typeface="Arial" panose="020B0604020202020204" pitchFamily="34" charset="0"/>
                </a:rPr>
                <a:t>2</a:t>
              </a:r>
              <a:r>
                <a:rPr lang="zh-CN" altLang="en-US" sz="2205" b="1" dirty="0">
                  <a:latin typeface="Arial" panose="020B0604020202020204" pitchFamily="34" charset="0"/>
                </a:rPr>
                <a:t>代码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</p:grpSp>
      <p:sp>
        <p:nvSpPr>
          <p:cNvPr id="187403" name="文本占位符 187402"/>
          <p:cNvSpPr>
            <a:spLocks noGrp="1"/>
          </p:cNvSpPr>
          <p:nvPr>
            <p:ph type="body" idx="1"/>
          </p:nvPr>
        </p:nvSpPr>
        <p:spPr>
          <a:xfrm>
            <a:off x="1064895" y="1427480"/>
            <a:ext cx="9316720" cy="953135"/>
          </a:xfrm>
        </p:spPr>
        <p:txBody>
          <a:bodyPr/>
          <a:p>
            <a:pPr>
              <a:lnSpc>
                <a:spcPct val="130000"/>
              </a:lnSpc>
            </a:pPr>
            <a:r>
              <a:rPr lang="zh-CN" altLang="en-US" dirty="0"/>
              <a:t>多个进程同时在存在于内存可能会出现下面的问题</a:t>
            </a:r>
            <a:endParaRPr lang="zh-CN" altLang="en-US"/>
          </a:p>
        </p:txBody>
      </p:sp>
      <p:sp>
        <p:nvSpPr>
          <p:cNvPr id="187404" name="矩形 187403"/>
          <p:cNvSpPr/>
          <p:nvPr/>
        </p:nvSpPr>
        <p:spPr>
          <a:xfrm>
            <a:off x="1064683" y="5427737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解决的办法：限制对地址</a:t>
            </a:r>
            <a:r>
              <a:rPr lang="en-US" altLang="zh-CN" sz="3085">
                <a:solidFill>
                  <a:srgbClr val="FF0000"/>
                </a:solidFill>
              </a:rPr>
              <a:t>100</a:t>
            </a:r>
            <a:r>
              <a:rPr lang="zh-CN" altLang="en-US" sz="3085" dirty="0">
                <a:solidFill>
                  <a:srgbClr val="FF0000"/>
                </a:solidFill>
              </a:rPr>
              <a:t>的读写</a:t>
            </a:r>
            <a:endParaRPr lang="zh-CN" altLang="en-US" sz="3085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740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标题 1884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/>
              <a:t>100</a:t>
            </a:r>
            <a:r>
              <a:rPr lang="zh-CN" altLang="en-US" dirty="0"/>
              <a:t>不是实际的内存地址</a:t>
            </a:r>
            <a:endParaRPr lang="zh-CN" altLang="en-US"/>
          </a:p>
        </p:txBody>
      </p:sp>
      <p:grpSp>
        <p:nvGrpSpPr>
          <p:cNvPr id="188419" name="组合 188418"/>
          <p:cNvGrpSpPr/>
          <p:nvPr/>
        </p:nvGrpSpPr>
        <p:grpSpPr>
          <a:xfrm>
            <a:off x="1400528" y="1595261"/>
            <a:ext cx="2770717" cy="2620286"/>
            <a:chOff x="336" y="854"/>
            <a:chExt cx="1443" cy="1546"/>
          </a:xfrm>
        </p:grpSpPr>
        <p:sp>
          <p:nvSpPr>
            <p:cNvPr id="188420" name="矩形 188419"/>
            <p:cNvSpPr/>
            <p:nvPr/>
          </p:nvSpPr>
          <p:spPr>
            <a:xfrm>
              <a:off x="336" y="1163"/>
              <a:ext cx="1443" cy="123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8421" name="文本框 188420"/>
            <p:cNvSpPr txBox="1"/>
            <p:nvPr/>
          </p:nvSpPr>
          <p:spPr>
            <a:xfrm>
              <a:off x="336" y="1200"/>
              <a:ext cx="1440" cy="8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ax, 10100b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88422" name="矩形 188421"/>
            <p:cNvSpPr/>
            <p:nvPr/>
          </p:nvSpPr>
          <p:spPr>
            <a:xfrm>
              <a:off x="624" y="854"/>
              <a:ext cx="764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r>
                <a:rPr lang="zh-CN" altLang="en-US" sz="2205" b="1" dirty="0">
                  <a:latin typeface="Arial" panose="020B0604020202020204" pitchFamily="34" charset="0"/>
                </a:rPr>
                <a:t>代码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</p:grpSp>
      <p:grpSp>
        <p:nvGrpSpPr>
          <p:cNvPr id="188423" name="组合 188422"/>
          <p:cNvGrpSpPr/>
          <p:nvPr/>
        </p:nvGrpSpPr>
        <p:grpSpPr>
          <a:xfrm>
            <a:off x="6858000" y="1847144"/>
            <a:ext cx="2272198" cy="2636030"/>
            <a:chOff x="3744" y="1056"/>
            <a:chExt cx="1299" cy="1507"/>
          </a:xfrm>
        </p:grpSpPr>
        <p:sp>
          <p:nvSpPr>
            <p:cNvPr id="188424" name="矩形 188423"/>
            <p:cNvSpPr/>
            <p:nvPr/>
          </p:nvSpPr>
          <p:spPr>
            <a:xfrm>
              <a:off x="3744" y="1364"/>
              <a:ext cx="1299" cy="11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8425" name="文本框 188424"/>
            <p:cNvSpPr txBox="1"/>
            <p:nvPr/>
          </p:nvSpPr>
          <p:spPr>
            <a:xfrm>
              <a:off x="3744" y="1401"/>
              <a:ext cx="1200" cy="8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780:  1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(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进程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的数据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88426" name="矩形 188425"/>
            <p:cNvSpPr/>
            <p:nvPr/>
          </p:nvSpPr>
          <p:spPr>
            <a:xfrm>
              <a:off x="3992" y="1056"/>
              <a:ext cx="749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物理内存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</p:grpSp>
      <p:sp>
        <p:nvSpPr>
          <p:cNvPr id="188427" name="矩形 188426"/>
          <p:cNvSpPr/>
          <p:nvPr/>
        </p:nvSpPr>
        <p:spPr>
          <a:xfrm>
            <a:off x="1064683" y="6045200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会影响到操作系统对内存的管理</a:t>
            </a:r>
            <a:r>
              <a:rPr lang="en-US" altLang="zh-CN" sz="3085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3085">
              <a:solidFill>
                <a:srgbClr val="FF0000"/>
              </a:solidFill>
            </a:endParaRPr>
          </a:p>
        </p:txBody>
      </p:sp>
      <p:grpSp>
        <p:nvGrpSpPr>
          <p:cNvPr id="188428" name="组合 188427"/>
          <p:cNvGrpSpPr/>
          <p:nvPr/>
        </p:nvGrpSpPr>
        <p:grpSpPr>
          <a:xfrm>
            <a:off x="2995789" y="1511300"/>
            <a:ext cx="3841221" cy="2770717"/>
            <a:chOff x="1536" y="864"/>
            <a:chExt cx="2196" cy="1584"/>
          </a:xfrm>
        </p:grpSpPr>
        <p:sp>
          <p:nvSpPr>
            <p:cNvPr id="188429" name="爆炸形 2 188428"/>
            <p:cNvSpPr/>
            <p:nvPr/>
          </p:nvSpPr>
          <p:spPr>
            <a:xfrm>
              <a:off x="2544" y="1152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88430" name="直接连接符 188429"/>
            <p:cNvSpPr/>
            <p:nvPr/>
          </p:nvSpPr>
          <p:spPr>
            <a:xfrm>
              <a:off x="1536" y="1728"/>
              <a:ext cx="120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8431" name="直接连接符 188430"/>
            <p:cNvSpPr/>
            <p:nvPr/>
          </p:nvSpPr>
          <p:spPr>
            <a:xfrm flipV="1">
              <a:off x="2832" y="1536"/>
              <a:ext cx="528" cy="3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8432" name="矩形 188431"/>
            <p:cNvSpPr/>
            <p:nvPr/>
          </p:nvSpPr>
          <p:spPr>
            <a:xfrm>
              <a:off x="2473" y="864"/>
              <a:ext cx="685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映射表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8433" name="矩形 188432"/>
            <p:cNvSpPr/>
            <p:nvPr/>
          </p:nvSpPr>
          <p:spPr>
            <a:xfrm>
              <a:off x="3360" y="1392"/>
              <a:ext cx="37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5" b="1">
                  <a:solidFill>
                    <a:srgbClr val="FF0000"/>
                  </a:solidFill>
                  <a:latin typeface="Arial" panose="020B0604020202020204" pitchFamily="34" charset="0"/>
                </a:rPr>
                <a:t>780</a:t>
              </a:r>
              <a:endParaRPr lang="en-US" altLang="zh-CN" sz="220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8434" name="组合 188433"/>
          <p:cNvGrpSpPr/>
          <p:nvPr/>
        </p:nvGrpSpPr>
        <p:grpSpPr>
          <a:xfrm>
            <a:off x="1064683" y="4617861"/>
            <a:ext cx="8728457" cy="1679222"/>
            <a:chOff x="432" y="2640"/>
            <a:chExt cx="4990" cy="960"/>
          </a:xfrm>
        </p:grpSpPr>
        <p:sp>
          <p:nvSpPr>
            <p:cNvPr id="188435" name="矩形 188434"/>
            <p:cNvSpPr/>
            <p:nvPr/>
          </p:nvSpPr>
          <p:spPr>
            <a:xfrm>
              <a:off x="432" y="3055"/>
              <a:ext cx="4990" cy="5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lnSpc>
                  <a:spcPct val="130000"/>
                </a:lnSpc>
              </a:pPr>
              <a:r>
                <a:rPr lang="zh-CN" altLang="en-US" sz="3085" dirty="0"/>
                <a:t>进程</a:t>
              </a:r>
              <a:r>
                <a:rPr lang="en-US" altLang="zh-CN" sz="3085"/>
                <a:t>1</a:t>
              </a:r>
              <a:r>
                <a:rPr lang="zh-CN" altLang="en-US" sz="3085" dirty="0"/>
                <a:t>根本访问不到其他进程的内容</a:t>
              </a:r>
              <a:endParaRPr lang="zh-CN" altLang="en-US" sz="3085"/>
            </a:p>
          </p:txBody>
        </p:sp>
        <p:sp>
          <p:nvSpPr>
            <p:cNvPr id="188436" name="矩形 188435"/>
            <p:cNvSpPr/>
            <p:nvPr/>
          </p:nvSpPr>
          <p:spPr>
            <a:xfrm>
              <a:off x="432" y="2640"/>
              <a:ext cx="4990" cy="5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lnSpc>
                  <a:spcPct val="130000"/>
                </a:lnSpc>
              </a:pPr>
              <a:r>
                <a:rPr lang="zh-CN" altLang="en-US" sz="3085" dirty="0"/>
                <a:t>进程</a:t>
              </a:r>
              <a:r>
                <a:rPr lang="en-US" altLang="zh-CN" sz="3085"/>
                <a:t>1</a:t>
              </a:r>
              <a:r>
                <a:rPr lang="zh-CN" altLang="en-US" sz="3085" dirty="0"/>
                <a:t>的映射表将访问限制在进程</a:t>
              </a:r>
              <a:r>
                <a:rPr lang="en-US" altLang="zh-CN" sz="3085"/>
                <a:t>1</a:t>
              </a:r>
              <a:r>
                <a:rPr lang="zh-CN" altLang="en-US" sz="3085" dirty="0"/>
                <a:t>范围内</a:t>
              </a:r>
              <a:endParaRPr lang="zh-CN" altLang="en-US" sz="3085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84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标题 1945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地址空间：保护进程的基本机制</a:t>
            </a:r>
            <a:endParaRPr lang="zh-CN" altLang="en-US"/>
          </a:p>
        </p:txBody>
      </p:sp>
      <p:grpSp>
        <p:nvGrpSpPr>
          <p:cNvPr id="194563" name="组合 194562"/>
          <p:cNvGrpSpPr/>
          <p:nvPr/>
        </p:nvGrpSpPr>
        <p:grpSpPr>
          <a:xfrm>
            <a:off x="6522156" y="1511300"/>
            <a:ext cx="2272198" cy="4719314"/>
            <a:chOff x="3552" y="864"/>
            <a:chExt cx="1299" cy="2698"/>
          </a:xfrm>
        </p:grpSpPr>
        <p:sp>
          <p:nvSpPr>
            <p:cNvPr id="194564" name="矩形 194563"/>
            <p:cNvSpPr/>
            <p:nvPr/>
          </p:nvSpPr>
          <p:spPr>
            <a:xfrm>
              <a:off x="3552" y="1172"/>
              <a:ext cx="1299" cy="11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65" name="文本框 194564"/>
            <p:cNvSpPr txBox="1"/>
            <p:nvPr/>
          </p:nvSpPr>
          <p:spPr>
            <a:xfrm>
              <a:off x="3552" y="1209"/>
              <a:ext cx="1200" cy="8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780:  1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(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进程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的数据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94566" name="矩形 194565"/>
            <p:cNvSpPr/>
            <p:nvPr/>
          </p:nvSpPr>
          <p:spPr>
            <a:xfrm>
              <a:off x="3800" y="864"/>
              <a:ext cx="749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物理内存</a:t>
              </a:r>
              <a:endParaRPr lang="zh-CN" altLang="en-US" sz="2205" b="1">
                <a:latin typeface="Arial" panose="020B0604020202020204" pitchFamily="34" charset="0"/>
              </a:endParaRPr>
            </a:p>
          </p:txBody>
        </p:sp>
        <p:sp>
          <p:nvSpPr>
            <p:cNvPr id="194567" name="矩形 194566"/>
            <p:cNvSpPr/>
            <p:nvPr/>
          </p:nvSpPr>
          <p:spPr>
            <a:xfrm>
              <a:off x="3552" y="2363"/>
              <a:ext cx="1299" cy="11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68" name="文本框 194567"/>
            <p:cNvSpPr txBox="1"/>
            <p:nvPr/>
          </p:nvSpPr>
          <p:spPr>
            <a:xfrm>
              <a:off x="3552" y="2400"/>
              <a:ext cx="1200" cy="8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1260:  0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(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进程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2</a:t>
              </a:r>
              <a:r>
                <a:rPr lang="zh-CN" altLang="en-US" sz="2205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的数据</a:t>
              </a:r>
              <a:r>
                <a:rPr lang="en-US" altLang="zh-CN" sz="2205" b="1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  <a:endParaRPr lang="en-US" altLang="zh-CN" sz="2205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……</a:t>
              </a:r>
              <a:r>
                <a:rPr lang="en-US" altLang="zh-CN" sz="2205">
                  <a:latin typeface="Tahoma" panose="020B0604030504040204" pitchFamily="34" charset="0"/>
                </a:rPr>
                <a:t> 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</p:grpSp>
      <p:grpSp>
        <p:nvGrpSpPr>
          <p:cNvPr id="194569" name="组合 194568"/>
          <p:cNvGrpSpPr/>
          <p:nvPr/>
        </p:nvGrpSpPr>
        <p:grpSpPr>
          <a:xfrm>
            <a:off x="392994" y="1325886"/>
            <a:ext cx="4101850" cy="3117056"/>
            <a:chOff x="48" y="758"/>
            <a:chExt cx="2345" cy="1782"/>
          </a:xfrm>
        </p:grpSpPr>
        <p:sp>
          <p:nvSpPr>
            <p:cNvPr id="194570" name="矩形 194569"/>
            <p:cNvSpPr/>
            <p:nvPr/>
          </p:nvSpPr>
          <p:spPr>
            <a:xfrm>
              <a:off x="528" y="1958"/>
              <a:ext cx="1440" cy="4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71" name="文本框 194570"/>
            <p:cNvSpPr txBox="1"/>
            <p:nvPr/>
          </p:nvSpPr>
          <p:spPr>
            <a:xfrm>
              <a:off x="528" y="2006"/>
              <a:ext cx="1437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3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94572" name="矩形 194571"/>
            <p:cNvSpPr/>
            <p:nvPr/>
          </p:nvSpPr>
          <p:spPr>
            <a:xfrm>
              <a:off x="49" y="2294"/>
              <a:ext cx="51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205" b="1">
                  <a:latin typeface="Arial" panose="020B0604020202020204" pitchFamily="34" charset="0"/>
                </a:rPr>
                <a:t>1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94573" name="矩形 194572"/>
            <p:cNvSpPr/>
            <p:nvPr/>
          </p:nvSpPr>
          <p:spPr>
            <a:xfrm>
              <a:off x="528" y="1622"/>
              <a:ext cx="1440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74" name="文本框 194573"/>
            <p:cNvSpPr txBox="1"/>
            <p:nvPr/>
          </p:nvSpPr>
          <p:spPr>
            <a:xfrm>
              <a:off x="528" y="1670"/>
              <a:ext cx="1437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3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 100:  1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94575" name="矩形 194574"/>
            <p:cNvSpPr/>
            <p:nvPr/>
          </p:nvSpPr>
          <p:spPr>
            <a:xfrm>
              <a:off x="528" y="806"/>
              <a:ext cx="1440" cy="2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76" name="矩形 194575"/>
            <p:cNvSpPr/>
            <p:nvPr/>
          </p:nvSpPr>
          <p:spPr>
            <a:xfrm>
              <a:off x="528" y="1382"/>
              <a:ext cx="1440" cy="2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77" name="矩形 194576"/>
            <p:cNvSpPr/>
            <p:nvPr/>
          </p:nvSpPr>
          <p:spPr>
            <a:xfrm>
              <a:off x="48" y="852"/>
              <a:ext cx="576" cy="14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Stack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Heap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Data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Code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578" name="矩形 194577"/>
            <p:cNvSpPr/>
            <p:nvPr/>
          </p:nvSpPr>
          <p:spPr>
            <a:xfrm>
              <a:off x="528" y="1046"/>
              <a:ext cx="1440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79" name="直接连接符 194578"/>
            <p:cNvSpPr/>
            <p:nvPr/>
          </p:nvSpPr>
          <p:spPr>
            <a:xfrm>
              <a:off x="1008" y="104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580" name="直接连接符 194579"/>
            <p:cNvSpPr/>
            <p:nvPr/>
          </p:nvSpPr>
          <p:spPr>
            <a:xfrm flipV="1">
              <a:off x="1440" y="1190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581" name="矩形 194580"/>
            <p:cNvSpPr/>
            <p:nvPr/>
          </p:nvSpPr>
          <p:spPr>
            <a:xfrm>
              <a:off x="1968" y="2246"/>
              <a:ext cx="425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985" b="1">
                  <a:latin typeface="Arial" panose="020B0604020202020204" pitchFamily="34" charset="0"/>
                </a:rPr>
                <a:t>0000</a:t>
              </a:r>
              <a:endParaRPr lang="en-US" altLang="zh-CN" sz="1985" b="1">
                <a:latin typeface="Arial" panose="020B0604020202020204" pitchFamily="34" charset="0"/>
              </a:endParaRPr>
            </a:p>
          </p:txBody>
        </p:sp>
        <p:sp>
          <p:nvSpPr>
            <p:cNvPr id="194582" name="矩形 194581"/>
            <p:cNvSpPr/>
            <p:nvPr/>
          </p:nvSpPr>
          <p:spPr>
            <a:xfrm>
              <a:off x="1968" y="758"/>
              <a:ext cx="298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985" b="1" err="1">
                  <a:latin typeface="Arial" panose="020B0604020202020204" pitchFamily="34" charset="0"/>
                </a:rPr>
                <a:t>ffff</a:t>
              </a:r>
              <a:endParaRPr lang="en-US" altLang="zh-CN" sz="1985" b="1">
                <a:latin typeface="Arial" panose="020B0604020202020204" pitchFamily="34" charset="0"/>
              </a:endParaRPr>
            </a:p>
          </p:txBody>
        </p:sp>
      </p:grpSp>
      <p:grpSp>
        <p:nvGrpSpPr>
          <p:cNvPr id="194583" name="组合 194582"/>
          <p:cNvGrpSpPr/>
          <p:nvPr/>
        </p:nvGrpSpPr>
        <p:grpSpPr>
          <a:xfrm>
            <a:off x="392994" y="4198056"/>
            <a:ext cx="4101850" cy="3117056"/>
            <a:chOff x="48" y="2400"/>
            <a:chExt cx="2345" cy="1782"/>
          </a:xfrm>
        </p:grpSpPr>
        <p:sp>
          <p:nvSpPr>
            <p:cNvPr id="194584" name="矩形 194583"/>
            <p:cNvSpPr/>
            <p:nvPr/>
          </p:nvSpPr>
          <p:spPr>
            <a:xfrm>
              <a:off x="528" y="3600"/>
              <a:ext cx="1440" cy="4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85" name="文本框 194584"/>
            <p:cNvSpPr txBox="1"/>
            <p:nvPr/>
          </p:nvSpPr>
          <p:spPr>
            <a:xfrm>
              <a:off x="528" y="3648"/>
              <a:ext cx="1437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3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94586" name="矩形 194585"/>
            <p:cNvSpPr/>
            <p:nvPr/>
          </p:nvSpPr>
          <p:spPr>
            <a:xfrm>
              <a:off x="49" y="3936"/>
              <a:ext cx="516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20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205" b="1">
                  <a:latin typeface="Arial" panose="020B0604020202020204" pitchFamily="34" charset="0"/>
                </a:rPr>
                <a:t>2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94587" name="矩形 194586"/>
            <p:cNvSpPr/>
            <p:nvPr/>
          </p:nvSpPr>
          <p:spPr>
            <a:xfrm>
              <a:off x="528" y="3264"/>
              <a:ext cx="1440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88" name="文本框 194587"/>
            <p:cNvSpPr txBox="1"/>
            <p:nvPr/>
          </p:nvSpPr>
          <p:spPr>
            <a:xfrm>
              <a:off x="528" y="3312"/>
              <a:ext cx="1437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30000"/>
                </a:spcBef>
              </a:pPr>
              <a:r>
                <a:rPr lang="en-US" altLang="zh-CN" sz="2205" b="1">
                  <a:latin typeface="Tahoma" panose="020B0604030504040204" pitchFamily="34" charset="0"/>
                </a:rPr>
                <a:t>   100:  0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94589" name="矩形 194588"/>
            <p:cNvSpPr/>
            <p:nvPr/>
          </p:nvSpPr>
          <p:spPr>
            <a:xfrm>
              <a:off x="528" y="2448"/>
              <a:ext cx="1440" cy="2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90" name="矩形 194589"/>
            <p:cNvSpPr/>
            <p:nvPr/>
          </p:nvSpPr>
          <p:spPr>
            <a:xfrm>
              <a:off x="528" y="3024"/>
              <a:ext cx="1440" cy="2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91" name="矩形 194590"/>
            <p:cNvSpPr/>
            <p:nvPr/>
          </p:nvSpPr>
          <p:spPr>
            <a:xfrm>
              <a:off x="48" y="2494"/>
              <a:ext cx="576" cy="14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Stack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Heap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Data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  <a:p>
              <a:r>
                <a: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rPr>
                <a:t>Code</a:t>
              </a:r>
              <a:endParaRPr lang="en-US" altLang="zh-CN" sz="198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592" name="矩形 194591"/>
            <p:cNvSpPr/>
            <p:nvPr/>
          </p:nvSpPr>
          <p:spPr>
            <a:xfrm>
              <a:off x="528" y="2688"/>
              <a:ext cx="1440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93" name="直接连接符 194592"/>
            <p:cNvSpPr/>
            <p:nvPr/>
          </p:nvSpPr>
          <p:spPr>
            <a:xfrm>
              <a:off x="1008" y="2688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594" name="直接连接符 194593"/>
            <p:cNvSpPr/>
            <p:nvPr/>
          </p:nvSpPr>
          <p:spPr>
            <a:xfrm flipV="1">
              <a:off x="1440" y="283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595" name="矩形 194594"/>
            <p:cNvSpPr/>
            <p:nvPr/>
          </p:nvSpPr>
          <p:spPr>
            <a:xfrm>
              <a:off x="1968" y="3888"/>
              <a:ext cx="425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985" b="1">
                  <a:latin typeface="Arial" panose="020B0604020202020204" pitchFamily="34" charset="0"/>
                </a:rPr>
                <a:t>0000</a:t>
              </a:r>
              <a:endParaRPr lang="en-US" altLang="zh-CN" sz="1985" b="1">
                <a:latin typeface="Arial" panose="020B0604020202020204" pitchFamily="34" charset="0"/>
              </a:endParaRPr>
            </a:p>
          </p:txBody>
        </p:sp>
        <p:sp>
          <p:nvSpPr>
            <p:cNvPr id="194596" name="矩形 194595"/>
            <p:cNvSpPr/>
            <p:nvPr/>
          </p:nvSpPr>
          <p:spPr>
            <a:xfrm>
              <a:off x="1968" y="2400"/>
              <a:ext cx="298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985" b="1" err="1">
                  <a:latin typeface="Arial" panose="020B0604020202020204" pitchFamily="34" charset="0"/>
                </a:rPr>
                <a:t>ffff</a:t>
              </a:r>
              <a:endParaRPr lang="en-US" altLang="zh-CN" sz="1985" b="1">
                <a:latin typeface="Arial" panose="020B0604020202020204" pitchFamily="34" charset="0"/>
              </a:endParaRPr>
            </a:p>
          </p:txBody>
        </p:sp>
      </p:grpSp>
      <p:grpSp>
        <p:nvGrpSpPr>
          <p:cNvPr id="194597" name="组合 194596"/>
          <p:cNvGrpSpPr/>
          <p:nvPr/>
        </p:nvGrpSpPr>
        <p:grpSpPr>
          <a:xfrm>
            <a:off x="2659944" y="1548034"/>
            <a:ext cx="3841221" cy="2566061"/>
            <a:chOff x="1344" y="885"/>
            <a:chExt cx="2196" cy="1467"/>
          </a:xfrm>
        </p:grpSpPr>
        <p:sp>
          <p:nvSpPr>
            <p:cNvPr id="194598" name="爆炸形 2 194597"/>
            <p:cNvSpPr/>
            <p:nvPr/>
          </p:nvSpPr>
          <p:spPr>
            <a:xfrm>
              <a:off x="2352" y="1056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599" name="直接连接符 194598"/>
            <p:cNvSpPr/>
            <p:nvPr/>
          </p:nvSpPr>
          <p:spPr>
            <a:xfrm flipV="1">
              <a:off x="2640" y="1440"/>
              <a:ext cx="528" cy="3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600" name="矩形 194599"/>
            <p:cNvSpPr/>
            <p:nvPr/>
          </p:nvSpPr>
          <p:spPr>
            <a:xfrm>
              <a:off x="2130" y="885"/>
              <a:ext cx="1179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进程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映射表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601" name="矩形 194600"/>
            <p:cNvSpPr/>
            <p:nvPr/>
          </p:nvSpPr>
          <p:spPr>
            <a:xfrm>
              <a:off x="3168" y="1296"/>
              <a:ext cx="37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5" b="1">
                  <a:solidFill>
                    <a:srgbClr val="FF0000"/>
                  </a:solidFill>
                  <a:latin typeface="Arial" panose="020B0604020202020204" pitchFamily="34" charset="0"/>
                </a:rPr>
                <a:t>780</a:t>
              </a:r>
              <a:endParaRPr lang="en-US" altLang="zh-CN" sz="220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602" name="直接连接符 194601"/>
            <p:cNvSpPr/>
            <p:nvPr/>
          </p:nvSpPr>
          <p:spPr>
            <a:xfrm flipV="1">
              <a:off x="1344" y="1728"/>
              <a:ext cx="1200" cy="3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94603" name="组合 194602"/>
          <p:cNvGrpSpPr/>
          <p:nvPr/>
        </p:nvGrpSpPr>
        <p:grpSpPr>
          <a:xfrm>
            <a:off x="2743906" y="4198056"/>
            <a:ext cx="3846469" cy="2566062"/>
            <a:chOff x="1392" y="2400"/>
            <a:chExt cx="2199" cy="1467"/>
          </a:xfrm>
        </p:grpSpPr>
        <p:sp>
          <p:nvSpPr>
            <p:cNvPr id="194604" name="爆炸形 2 194603"/>
            <p:cNvSpPr/>
            <p:nvPr/>
          </p:nvSpPr>
          <p:spPr>
            <a:xfrm>
              <a:off x="2448" y="2571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4605" name="直接连接符 194604"/>
            <p:cNvSpPr/>
            <p:nvPr/>
          </p:nvSpPr>
          <p:spPr>
            <a:xfrm flipV="1">
              <a:off x="2736" y="2736"/>
              <a:ext cx="432" cy="4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606" name="矩形 194605"/>
            <p:cNvSpPr/>
            <p:nvPr/>
          </p:nvSpPr>
          <p:spPr>
            <a:xfrm>
              <a:off x="2226" y="2400"/>
              <a:ext cx="1179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进程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映射表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607" name="直接连接符 194606"/>
            <p:cNvSpPr/>
            <p:nvPr/>
          </p:nvSpPr>
          <p:spPr>
            <a:xfrm flipV="1">
              <a:off x="1392" y="3216"/>
              <a:ext cx="1248" cy="45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608" name="矩形 194607"/>
            <p:cNvSpPr/>
            <p:nvPr/>
          </p:nvSpPr>
          <p:spPr>
            <a:xfrm>
              <a:off x="3129" y="2592"/>
              <a:ext cx="46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5" b="1">
                  <a:solidFill>
                    <a:srgbClr val="FF0000"/>
                  </a:solidFill>
                  <a:latin typeface="Arial" panose="020B0604020202020204" pitchFamily="34" charset="0"/>
                </a:rPr>
                <a:t>1260</a:t>
              </a:r>
              <a:endParaRPr lang="en-US" altLang="zh-CN" sz="220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标题 1904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第四件事：多个进程</a:t>
            </a:r>
            <a:r>
              <a:rPr lang="zh-CN" altLang="en-US" dirty="0">
                <a:solidFill>
                  <a:srgbClr val="FF0000"/>
                </a:solidFill>
              </a:rPr>
              <a:t>合作</a:t>
            </a:r>
            <a:r>
              <a:rPr lang="zh-CN" altLang="en-US" dirty="0"/>
              <a:t>一项任务</a:t>
            </a:r>
            <a:endParaRPr lang="zh-CN" altLang="en-US"/>
          </a:p>
        </p:txBody>
      </p:sp>
      <p:sp>
        <p:nvSpPr>
          <p:cNvPr id="190467" name="矩形 190466"/>
          <p:cNvSpPr/>
          <p:nvPr/>
        </p:nvSpPr>
        <p:spPr>
          <a:xfrm>
            <a:off x="1064683" y="1397603"/>
            <a:ext cx="4533900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想一想打印工作过程</a:t>
            </a:r>
            <a:endParaRPr lang="zh-CN" altLang="en-US" sz="3085" dirty="0">
              <a:solidFill>
                <a:srgbClr val="FF0000"/>
              </a:solidFill>
            </a:endParaRPr>
          </a:p>
        </p:txBody>
      </p:sp>
      <p:grpSp>
        <p:nvGrpSpPr>
          <p:cNvPr id="190468" name="组合 190467"/>
          <p:cNvGrpSpPr/>
          <p:nvPr/>
        </p:nvGrpSpPr>
        <p:grpSpPr>
          <a:xfrm>
            <a:off x="1307821" y="2189986"/>
            <a:ext cx="6893557" cy="661194"/>
            <a:chOff x="571" y="1684"/>
            <a:chExt cx="3941" cy="378"/>
          </a:xfrm>
        </p:grpSpPr>
        <p:sp>
          <p:nvSpPr>
            <p:cNvPr id="190469" name="矩形 190468"/>
            <p:cNvSpPr/>
            <p:nvPr/>
          </p:nvSpPr>
          <p:spPr>
            <a:xfrm>
              <a:off x="571" y="1684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应用程序提交打印任务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0470" name="图片 19046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90471" name="组合 190470"/>
          <p:cNvGrpSpPr/>
          <p:nvPr/>
        </p:nvGrpSpPr>
        <p:grpSpPr>
          <a:xfrm>
            <a:off x="1316567" y="2938639"/>
            <a:ext cx="6893558" cy="661194"/>
            <a:chOff x="571" y="1684"/>
            <a:chExt cx="3941" cy="378"/>
          </a:xfrm>
        </p:grpSpPr>
        <p:sp>
          <p:nvSpPr>
            <p:cNvPr id="190472" name="矩形 190471"/>
            <p:cNvSpPr/>
            <p:nvPr/>
          </p:nvSpPr>
          <p:spPr>
            <a:xfrm>
              <a:off x="571" y="1684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打印任务被放进打印队列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0473" name="图片 190472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90474" name="组合 190473"/>
          <p:cNvGrpSpPr/>
          <p:nvPr/>
        </p:nvGrpSpPr>
        <p:grpSpPr>
          <a:xfrm>
            <a:off x="1316567" y="3694289"/>
            <a:ext cx="6893558" cy="661194"/>
            <a:chOff x="571" y="1684"/>
            <a:chExt cx="3941" cy="378"/>
          </a:xfrm>
        </p:grpSpPr>
        <p:sp>
          <p:nvSpPr>
            <p:cNvPr id="190475" name="矩形 190474"/>
            <p:cNvSpPr/>
            <p:nvPr/>
          </p:nvSpPr>
          <p:spPr>
            <a:xfrm>
              <a:off x="571" y="1684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打印进程从队列中取出任务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0476" name="图片 190475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90477" name="组合 190476"/>
          <p:cNvGrpSpPr/>
          <p:nvPr/>
        </p:nvGrpSpPr>
        <p:grpSpPr>
          <a:xfrm>
            <a:off x="1316567" y="4449939"/>
            <a:ext cx="6893558" cy="661194"/>
            <a:chOff x="571" y="1684"/>
            <a:chExt cx="3941" cy="378"/>
          </a:xfrm>
        </p:grpSpPr>
        <p:sp>
          <p:nvSpPr>
            <p:cNvPr id="190478" name="矩形 190477"/>
            <p:cNvSpPr/>
            <p:nvPr/>
          </p:nvSpPr>
          <p:spPr>
            <a:xfrm>
              <a:off x="571" y="1684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打印进程控制打印机打印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0479" name="图片 190478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6" y="1840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90480" name="组合 190479"/>
          <p:cNvGrpSpPr/>
          <p:nvPr/>
        </p:nvGrpSpPr>
        <p:grpSpPr>
          <a:xfrm>
            <a:off x="6018389" y="1427339"/>
            <a:ext cx="4365978" cy="5205589"/>
            <a:chOff x="3264" y="816"/>
            <a:chExt cx="2496" cy="2976"/>
          </a:xfrm>
        </p:grpSpPr>
        <p:sp>
          <p:nvSpPr>
            <p:cNvPr id="190481" name="矩形 190480"/>
            <p:cNvSpPr/>
            <p:nvPr/>
          </p:nvSpPr>
          <p:spPr>
            <a:xfrm>
              <a:off x="4080" y="816"/>
              <a:ext cx="168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645" b="1" dirty="0">
                  <a:solidFill>
                    <a:srgbClr val="000066"/>
                  </a:solidFill>
                  <a:latin typeface="Arial" panose="020B0604020202020204" pitchFamily="34" charset="0"/>
                </a:rPr>
                <a:t>待打印文件队列</a:t>
              </a:r>
              <a:endParaRPr lang="zh-CN" altLang="en-US" sz="2645" b="1" dirty="0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0482" name="矩形 190481"/>
            <p:cNvSpPr/>
            <p:nvPr/>
          </p:nvSpPr>
          <p:spPr>
            <a:xfrm>
              <a:off x="3888" y="1248"/>
              <a:ext cx="720" cy="246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en-US" altLang="zh-CN" sz="2205" b="1">
                  <a:solidFill>
                    <a:srgbClr val="FF0000"/>
                  </a:solidFill>
                  <a:latin typeface="Arial" panose="020B0604020202020204" pitchFamily="34" charset="0"/>
                </a:rPr>
                <a:t>out = 4</a:t>
              </a:r>
              <a:endParaRPr lang="en-US" altLang="zh-CN" sz="220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0483" name="直接连接符 190482"/>
            <p:cNvSpPr/>
            <p:nvPr/>
          </p:nvSpPr>
          <p:spPr>
            <a:xfrm flipV="1">
              <a:off x="4656" y="1152"/>
              <a:ext cx="0" cy="2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0484" name="直接连接符 190483"/>
            <p:cNvSpPr/>
            <p:nvPr/>
          </p:nvSpPr>
          <p:spPr>
            <a:xfrm flipV="1">
              <a:off x="5328" y="1152"/>
              <a:ext cx="0" cy="2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0485" name="文本框 190484"/>
            <p:cNvSpPr txBox="1"/>
            <p:nvPr/>
          </p:nvSpPr>
          <p:spPr>
            <a:xfrm>
              <a:off x="4656" y="1866"/>
              <a:ext cx="672" cy="24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205" b="1" err="1">
                  <a:latin typeface="Arial" panose="020B0604020202020204" pitchFamily="34" charset="0"/>
                </a:rPr>
                <a:t>m.doc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90486" name="文本框 190485"/>
            <p:cNvSpPr txBox="1"/>
            <p:nvPr/>
          </p:nvSpPr>
          <p:spPr>
            <a:xfrm>
              <a:off x="4656" y="2144"/>
              <a:ext cx="672" cy="24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205" b="1" err="1">
                  <a:latin typeface="Arial" panose="020B0604020202020204" pitchFamily="34" charset="0"/>
                </a:rPr>
                <a:t>prog.c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90487" name="文本框 190486"/>
            <p:cNvSpPr txBox="1"/>
            <p:nvPr/>
          </p:nvSpPr>
          <p:spPr>
            <a:xfrm>
              <a:off x="4857" y="1440"/>
              <a:ext cx="3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085" b="1">
                  <a:latin typeface="Arial" panose="020B0604020202020204" pitchFamily="34" charset="0"/>
                </a:rPr>
                <a:t>…</a:t>
              </a:r>
              <a:endParaRPr lang="en-US" altLang="zh-CN" sz="3085" b="1">
                <a:latin typeface="Arial" panose="020B0604020202020204" pitchFamily="34" charset="0"/>
              </a:endParaRPr>
            </a:p>
          </p:txBody>
        </p:sp>
        <p:sp>
          <p:nvSpPr>
            <p:cNvPr id="190488" name="文本框 190487"/>
            <p:cNvSpPr txBox="1"/>
            <p:nvPr/>
          </p:nvSpPr>
          <p:spPr>
            <a:xfrm>
              <a:off x="4656" y="2688"/>
              <a:ext cx="672" cy="24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endParaRPr sz="2205" b="1" dirty="0">
                <a:latin typeface="Arial" panose="020B0604020202020204" pitchFamily="34" charset="0"/>
              </a:endParaRPr>
            </a:p>
          </p:txBody>
        </p:sp>
        <p:sp>
          <p:nvSpPr>
            <p:cNvPr id="190489" name="文本框 190488"/>
            <p:cNvSpPr txBox="1"/>
            <p:nvPr/>
          </p:nvSpPr>
          <p:spPr>
            <a:xfrm>
              <a:off x="4656" y="2948"/>
              <a:ext cx="672" cy="24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endParaRPr sz="2205" b="1" dirty="0">
                <a:latin typeface="Arial" panose="020B0604020202020204" pitchFamily="34" charset="0"/>
              </a:endParaRPr>
            </a:p>
          </p:txBody>
        </p:sp>
        <p:sp>
          <p:nvSpPr>
            <p:cNvPr id="190490" name="文本框 190489"/>
            <p:cNvSpPr txBox="1"/>
            <p:nvPr/>
          </p:nvSpPr>
          <p:spPr>
            <a:xfrm>
              <a:off x="4656" y="2420"/>
              <a:ext cx="672" cy="24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205" b="1" err="1">
                  <a:latin typeface="Arial" panose="020B0604020202020204" pitchFamily="34" charset="0"/>
                </a:rPr>
                <a:t>w.pdf</a:t>
              </a:r>
              <a:endParaRPr lang="en-US" altLang="zh-CN" sz="2205" b="1">
                <a:latin typeface="Arial" panose="020B0604020202020204" pitchFamily="34" charset="0"/>
              </a:endParaRPr>
            </a:p>
          </p:txBody>
        </p:sp>
        <p:sp>
          <p:nvSpPr>
            <p:cNvPr id="190491" name="文本框 190490"/>
            <p:cNvSpPr txBox="1"/>
            <p:nvPr/>
          </p:nvSpPr>
          <p:spPr>
            <a:xfrm>
              <a:off x="4857" y="3360"/>
              <a:ext cx="3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085" b="1">
                  <a:latin typeface="Arial" panose="020B0604020202020204" pitchFamily="34" charset="0"/>
                </a:rPr>
                <a:t>…</a:t>
              </a:r>
              <a:endParaRPr lang="en-US" altLang="zh-CN" sz="3085" b="1">
                <a:latin typeface="Arial" panose="020B0604020202020204" pitchFamily="34" charset="0"/>
              </a:endParaRPr>
            </a:p>
          </p:txBody>
        </p:sp>
        <p:sp>
          <p:nvSpPr>
            <p:cNvPr id="190492" name="文本框 190491"/>
            <p:cNvSpPr txBox="1"/>
            <p:nvPr/>
          </p:nvSpPr>
          <p:spPr>
            <a:xfrm>
              <a:off x="5328" y="1872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4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493" name="文本框 190492"/>
            <p:cNvSpPr txBox="1"/>
            <p:nvPr/>
          </p:nvSpPr>
          <p:spPr>
            <a:xfrm>
              <a:off x="5328" y="2148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5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494" name="文本框 190493"/>
            <p:cNvSpPr txBox="1"/>
            <p:nvPr/>
          </p:nvSpPr>
          <p:spPr>
            <a:xfrm>
              <a:off x="5328" y="2400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6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495" name="文本框 190494"/>
            <p:cNvSpPr txBox="1"/>
            <p:nvPr/>
          </p:nvSpPr>
          <p:spPr>
            <a:xfrm>
              <a:off x="5328" y="2688"/>
              <a:ext cx="24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45" b="1">
                  <a:latin typeface="Arial" panose="020B0604020202020204" pitchFamily="34" charset="0"/>
                </a:rPr>
                <a:t>7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496" name="矩形 190495"/>
            <p:cNvSpPr/>
            <p:nvPr/>
          </p:nvSpPr>
          <p:spPr>
            <a:xfrm>
              <a:off x="3888" y="3408"/>
              <a:ext cx="720" cy="246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en-US" altLang="zh-CN" sz="2205" b="1">
                  <a:solidFill>
                    <a:srgbClr val="FF0000"/>
                  </a:solidFill>
                  <a:latin typeface="Arial" panose="020B0604020202020204" pitchFamily="34" charset="0"/>
                </a:rPr>
                <a:t>in = 7</a:t>
              </a:r>
              <a:endParaRPr lang="en-US" altLang="zh-CN" sz="220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0497" name="椭圆 190496"/>
            <p:cNvSpPr/>
            <p:nvPr/>
          </p:nvSpPr>
          <p:spPr>
            <a:xfrm>
              <a:off x="3264" y="2352"/>
              <a:ext cx="960" cy="43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0498" name="文本框 190497"/>
            <p:cNvSpPr txBox="1"/>
            <p:nvPr/>
          </p:nvSpPr>
          <p:spPr>
            <a:xfrm>
              <a:off x="3456" y="2418"/>
              <a:ext cx="62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645" b="1">
                  <a:latin typeface="Arial" panose="020B0604020202020204" pitchFamily="34" charset="0"/>
                </a:rPr>
                <a:t>1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499" name="椭圆 190498"/>
            <p:cNvSpPr/>
            <p:nvPr/>
          </p:nvSpPr>
          <p:spPr>
            <a:xfrm>
              <a:off x="3264" y="2880"/>
              <a:ext cx="960" cy="43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0500" name="文本框 190499"/>
            <p:cNvSpPr txBox="1"/>
            <p:nvPr/>
          </p:nvSpPr>
          <p:spPr>
            <a:xfrm>
              <a:off x="3456" y="2952"/>
              <a:ext cx="62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</a:t>
              </a:r>
              <a:r>
                <a:rPr lang="en-US" altLang="zh-CN" sz="2645" b="1">
                  <a:latin typeface="Arial" panose="020B0604020202020204" pitchFamily="34" charset="0"/>
                </a:rPr>
                <a:t>2</a:t>
              </a:r>
              <a:endParaRPr lang="en-US" altLang="zh-CN" sz="2645" b="1">
                <a:latin typeface="Arial" panose="020B0604020202020204" pitchFamily="34" charset="0"/>
              </a:endParaRPr>
            </a:p>
          </p:txBody>
        </p:sp>
        <p:sp>
          <p:nvSpPr>
            <p:cNvPr id="190501" name="右箭头 190500"/>
            <p:cNvSpPr/>
            <p:nvPr/>
          </p:nvSpPr>
          <p:spPr>
            <a:xfrm rot="-1181233">
              <a:off x="4119" y="2926"/>
              <a:ext cx="477" cy="48"/>
            </a:xfrm>
            <a:prstGeom prst="rightArrow">
              <a:avLst>
                <a:gd name="adj1" fmla="val 50000"/>
                <a:gd name="adj2" fmla="val 248437"/>
              </a:avLst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0502" name="椭圆 190501"/>
            <p:cNvSpPr/>
            <p:nvPr/>
          </p:nvSpPr>
          <p:spPr>
            <a:xfrm>
              <a:off x="3270" y="1536"/>
              <a:ext cx="960" cy="43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0503" name="文本框 190502"/>
            <p:cNvSpPr txBox="1"/>
            <p:nvPr/>
          </p:nvSpPr>
          <p:spPr>
            <a:xfrm>
              <a:off x="3291" y="1602"/>
              <a:ext cx="1011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45" b="1" dirty="0">
                  <a:latin typeface="Arial" panose="020B0604020202020204" pitchFamily="34" charset="0"/>
                </a:rPr>
                <a:t>打印进程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sp>
          <p:nvSpPr>
            <p:cNvPr id="190504" name="右箭头 190503"/>
            <p:cNvSpPr/>
            <p:nvPr/>
          </p:nvSpPr>
          <p:spPr>
            <a:xfrm rot="11985990">
              <a:off x="4131" y="1840"/>
              <a:ext cx="489" cy="53"/>
            </a:xfrm>
            <a:prstGeom prst="rightArrow">
              <a:avLst>
                <a:gd name="adj1" fmla="val 50000"/>
                <a:gd name="adj2" fmla="val 230660"/>
              </a:avLst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0505" name="右箭头 190504"/>
            <p:cNvSpPr/>
            <p:nvPr/>
          </p:nvSpPr>
          <p:spPr>
            <a:xfrm rot="1259333">
              <a:off x="4128" y="2688"/>
              <a:ext cx="477" cy="48"/>
            </a:xfrm>
            <a:prstGeom prst="rightArrow">
              <a:avLst>
                <a:gd name="adj1" fmla="val 50000"/>
                <a:gd name="adj2" fmla="val 248437"/>
              </a:avLst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标题 1914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生产者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zh-CN" altLang="en-US" dirty="0"/>
              <a:t>消费者</a:t>
            </a:r>
            <a:endParaRPr lang="zh-CN" altLang="en-US"/>
          </a:p>
        </p:txBody>
      </p:sp>
      <p:sp>
        <p:nvSpPr>
          <p:cNvPr id="191491" name="矩形 191490"/>
          <p:cNvSpPr/>
          <p:nvPr/>
        </p:nvSpPr>
        <p:spPr>
          <a:xfrm>
            <a:off x="2575983" y="1427339"/>
            <a:ext cx="3610328" cy="176318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91492" name="文本框 191491"/>
          <p:cNvSpPr txBox="1"/>
          <p:nvPr/>
        </p:nvSpPr>
        <p:spPr>
          <a:xfrm>
            <a:off x="1064683" y="1511300"/>
            <a:ext cx="5877278" cy="165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3">
              <a:spcBef>
                <a:spcPct val="20000"/>
              </a:spcBef>
            </a:pPr>
            <a:r>
              <a:rPr lang="en-US" altLang="zh-CN" sz="2205">
                <a:latin typeface="Tahoma" panose="020B0604030504040204" pitchFamily="34" charset="0"/>
              </a:rPr>
              <a:t>#define BUFFER_SIZE 10</a:t>
            </a:r>
            <a:endParaRPr lang="en-US" altLang="zh-CN" sz="2205">
              <a:latin typeface="Tahoma" panose="020B0604030504040204" pitchFamily="34" charset="0"/>
            </a:endParaRPr>
          </a:p>
          <a:p>
            <a:pPr lvl="3">
              <a:spcBef>
                <a:spcPct val="20000"/>
              </a:spcBef>
            </a:pPr>
            <a:r>
              <a:rPr lang="en-US" altLang="zh-CN" sz="2205" err="1">
                <a:latin typeface="Tahoma" panose="020B0604030504040204" pitchFamily="34" charset="0"/>
              </a:rPr>
              <a:t>typedef</a:t>
            </a:r>
            <a:r>
              <a:rPr lang="en-US" altLang="zh-CN" sz="2205">
                <a:latin typeface="Tahoma" panose="020B0604030504040204" pitchFamily="34" charset="0"/>
              </a:rPr>
              <a:t> </a:t>
            </a:r>
            <a:r>
              <a:rPr lang="en-US" altLang="zh-CN" sz="2205" err="1">
                <a:latin typeface="Tahoma" panose="020B0604030504040204" pitchFamily="34" charset="0"/>
              </a:rPr>
              <a:t>struct</a:t>
            </a:r>
            <a:r>
              <a:rPr lang="en-US" altLang="zh-CN" sz="2205">
                <a:latin typeface="Tahoma" panose="020B0604030504040204" pitchFamily="34" charset="0"/>
              </a:rPr>
              <a:t> {  . . . } item;</a:t>
            </a:r>
            <a:endParaRPr lang="en-US" altLang="zh-CN" sz="2205">
              <a:latin typeface="Tahoma" panose="020B0604030504040204" pitchFamily="34" charset="0"/>
            </a:endParaRPr>
          </a:p>
          <a:p>
            <a:pPr lvl="3">
              <a:spcBef>
                <a:spcPct val="20000"/>
              </a:spcBef>
            </a:pPr>
            <a:r>
              <a:rPr lang="en-US" altLang="zh-CN" sz="2205">
                <a:latin typeface="Tahoma" panose="020B0604030504040204" pitchFamily="34" charset="0"/>
              </a:rPr>
              <a:t>item </a:t>
            </a:r>
            <a:r>
              <a:rPr lang="en-US" altLang="zh-CN" sz="2205" err="1">
                <a:latin typeface="Tahoma" panose="020B0604030504040204" pitchFamily="34" charset="0"/>
              </a:rPr>
              <a:t>buffer[BUFFER_SIZE</a:t>
            </a:r>
            <a:r>
              <a:rPr lang="en-US" altLang="zh-CN" sz="2205">
                <a:latin typeface="Tahoma" panose="020B0604030504040204" pitchFamily="34" charset="0"/>
              </a:rPr>
              <a:t>];</a:t>
            </a:r>
            <a:endParaRPr lang="en-US" altLang="zh-CN" sz="2205">
              <a:latin typeface="Tahoma" panose="020B0604030504040204" pitchFamily="34" charset="0"/>
            </a:endParaRPr>
          </a:p>
          <a:p>
            <a:pPr lvl="3">
              <a:spcBef>
                <a:spcPct val="20000"/>
              </a:spcBef>
            </a:pPr>
            <a:r>
              <a:rPr lang="en-US" altLang="zh-CN" sz="2205" err="1">
                <a:latin typeface="Tahoma" panose="020B0604030504040204" pitchFamily="34" charset="0"/>
              </a:rPr>
              <a:t>int</a:t>
            </a:r>
            <a:r>
              <a:rPr lang="en-US" altLang="zh-CN" sz="2205">
                <a:latin typeface="Tahoma" panose="020B0604030504040204" pitchFamily="34" charset="0"/>
              </a:rPr>
              <a:t> in = out = counter = 0;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sp>
        <p:nvSpPr>
          <p:cNvPr id="191493" name="矩形 191492"/>
          <p:cNvSpPr/>
          <p:nvPr/>
        </p:nvSpPr>
        <p:spPr>
          <a:xfrm>
            <a:off x="1064683" y="1427339"/>
            <a:ext cx="2099028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45" b="1" dirty="0">
                <a:solidFill>
                  <a:srgbClr val="000066"/>
                </a:solidFill>
                <a:latin typeface="Arial" panose="020B0604020202020204" pitchFamily="34" charset="0"/>
              </a:rPr>
              <a:t>共享数据</a:t>
            </a:r>
            <a:endParaRPr lang="zh-CN" altLang="en-US" sz="264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91494" name="矩形 191493"/>
          <p:cNvSpPr/>
          <p:nvPr/>
        </p:nvSpPr>
        <p:spPr>
          <a:xfrm>
            <a:off x="476956" y="3946172"/>
            <a:ext cx="4785783" cy="26867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91495" name="文本框 191494"/>
          <p:cNvSpPr txBox="1"/>
          <p:nvPr/>
        </p:nvSpPr>
        <p:spPr>
          <a:xfrm>
            <a:off x="476956" y="4114094"/>
            <a:ext cx="4617861" cy="247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205">
                <a:latin typeface="Tahoma" panose="020B0604030504040204" pitchFamily="34" charset="0"/>
              </a:rPr>
              <a:t>while (true) {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</a:t>
            </a:r>
            <a:r>
              <a:rPr lang="en-US" altLang="zh-CN" sz="2205" err="1">
                <a:latin typeface="Tahoma" panose="020B0604030504040204" pitchFamily="34" charset="0"/>
              </a:rPr>
              <a:t>while(counter</a:t>
            </a:r>
            <a:r>
              <a:rPr lang="en-US" altLang="zh-CN" sz="2205">
                <a:latin typeface="Tahoma" panose="020B0604030504040204" pitchFamily="34" charset="0"/>
              </a:rPr>
              <a:t>== BUFFER_SIZE)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	     ;  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</a:t>
            </a:r>
            <a:r>
              <a:rPr lang="en-US" altLang="zh-CN" sz="2205" err="1">
                <a:latin typeface="Tahoma" panose="020B0604030504040204" pitchFamily="34" charset="0"/>
              </a:rPr>
              <a:t>buffer[in</a:t>
            </a:r>
            <a:r>
              <a:rPr lang="en-US" altLang="zh-CN" sz="2205">
                <a:latin typeface="Tahoma" panose="020B0604030504040204" pitchFamily="34" charset="0"/>
              </a:rPr>
              <a:t>] = item;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in = (in + 1) % BUFFER SIZE;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counter++;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}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sp>
        <p:nvSpPr>
          <p:cNvPr id="191496" name="矩形 191495"/>
          <p:cNvSpPr/>
          <p:nvPr/>
        </p:nvSpPr>
        <p:spPr>
          <a:xfrm>
            <a:off x="476956" y="3442406"/>
            <a:ext cx="2854678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45" b="1" dirty="0">
                <a:solidFill>
                  <a:srgbClr val="000066"/>
                </a:solidFill>
                <a:latin typeface="Arial" panose="020B0604020202020204" pitchFamily="34" charset="0"/>
              </a:rPr>
              <a:t>生产者进程</a:t>
            </a:r>
            <a:endParaRPr lang="zh-CN" altLang="en-US" sz="264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91497" name="矩形 191496"/>
          <p:cNvSpPr/>
          <p:nvPr/>
        </p:nvSpPr>
        <p:spPr>
          <a:xfrm>
            <a:off x="5346700" y="3946172"/>
            <a:ext cx="4785783" cy="26867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  <p:sp>
        <p:nvSpPr>
          <p:cNvPr id="191498" name="文本框 191497"/>
          <p:cNvSpPr txBox="1"/>
          <p:nvPr/>
        </p:nvSpPr>
        <p:spPr>
          <a:xfrm>
            <a:off x="5346700" y="4114094"/>
            <a:ext cx="5037667" cy="247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205">
                <a:latin typeface="Tahoma" panose="020B0604030504040204" pitchFamily="34" charset="0"/>
              </a:rPr>
              <a:t>while (true) {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</a:t>
            </a:r>
            <a:r>
              <a:rPr lang="en-US" altLang="zh-CN" sz="2205" err="1">
                <a:latin typeface="Tahoma" panose="020B0604030504040204" pitchFamily="34" charset="0"/>
              </a:rPr>
              <a:t>while(counter</a:t>
            </a:r>
            <a:r>
              <a:rPr lang="en-US" altLang="zh-CN" sz="2205">
                <a:latin typeface="Tahoma" panose="020B0604030504040204" pitchFamily="34" charset="0"/>
              </a:rPr>
              <a:t>== 0)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	     ;  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item = </a:t>
            </a:r>
            <a:r>
              <a:rPr lang="en-US" altLang="zh-CN" sz="2205" err="1">
                <a:latin typeface="Tahoma" panose="020B0604030504040204" pitchFamily="34" charset="0"/>
              </a:rPr>
              <a:t>buffer[out</a:t>
            </a:r>
            <a:r>
              <a:rPr lang="en-US" altLang="zh-CN" sz="2205">
                <a:latin typeface="Tahoma" panose="020B0604030504040204" pitchFamily="34" charset="0"/>
              </a:rPr>
              <a:t>];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out = (out + 1) % BUFFER SIZE;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   counter--;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   }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sp>
        <p:nvSpPr>
          <p:cNvPr id="191499" name="矩形 191498"/>
          <p:cNvSpPr/>
          <p:nvPr/>
        </p:nvSpPr>
        <p:spPr>
          <a:xfrm>
            <a:off x="5346700" y="3442406"/>
            <a:ext cx="2266950" cy="499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45" b="1" dirty="0">
                <a:solidFill>
                  <a:srgbClr val="000066"/>
                </a:solidFill>
                <a:latin typeface="Arial" panose="020B0604020202020204" pitchFamily="34" charset="0"/>
              </a:rPr>
              <a:t>消费者进程</a:t>
            </a:r>
            <a:endParaRPr lang="zh-CN" altLang="en-US" sz="264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标题 1925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生产者</a:t>
            </a:r>
            <a:r>
              <a:rPr lang="en-US" altLang="zh-CN"/>
              <a:t>-</a:t>
            </a:r>
            <a:r>
              <a:rPr lang="zh-CN" altLang="en-US" dirty="0"/>
              <a:t>消费者引出的问题</a:t>
            </a:r>
            <a:endParaRPr lang="zh-CN" altLang="en-US"/>
          </a:p>
        </p:txBody>
      </p:sp>
      <p:sp>
        <p:nvSpPr>
          <p:cNvPr id="192515" name="矩形 192514"/>
          <p:cNvSpPr/>
          <p:nvPr/>
        </p:nvSpPr>
        <p:spPr>
          <a:xfrm>
            <a:off x="1064683" y="1343378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共享变量</a:t>
            </a:r>
            <a:r>
              <a:rPr lang="en-US" altLang="zh-CN" sz="3085">
                <a:solidFill>
                  <a:srgbClr val="FF0000"/>
                </a:solidFill>
              </a:rPr>
              <a:t>counter</a:t>
            </a:r>
            <a:r>
              <a:rPr lang="zh-CN" altLang="en-US" sz="3085" dirty="0">
                <a:solidFill>
                  <a:srgbClr val="FF0000"/>
                </a:solidFill>
              </a:rPr>
              <a:t>会出现语义错误</a:t>
            </a:r>
            <a:endParaRPr lang="zh-CN" altLang="en-US" sz="3085">
              <a:solidFill>
                <a:srgbClr val="FF0000"/>
              </a:solidFill>
            </a:endParaRPr>
          </a:p>
        </p:txBody>
      </p:sp>
      <p:sp>
        <p:nvSpPr>
          <p:cNvPr id="192516" name="矩形 192515"/>
          <p:cNvSpPr/>
          <p:nvPr/>
        </p:nvSpPr>
        <p:spPr>
          <a:xfrm>
            <a:off x="1064683" y="2099028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如生产者进程和消费者进程各执行一次</a:t>
            </a:r>
            <a:endParaRPr lang="zh-CN" altLang="en-US" sz="3085" dirty="0"/>
          </a:p>
        </p:txBody>
      </p:sp>
      <p:grpSp>
        <p:nvGrpSpPr>
          <p:cNvPr id="192517" name="组合 192516"/>
          <p:cNvGrpSpPr/>
          <p:nvPr/>
        </p:nvGrpSpPr>
        <p:grpSpPr>
          <a:xfrm>
            <a:off x="2827867" y="3211513"/>
            <a:ext cx="3778250" cy="3505376"/>
            <a:chOff x="1536" y="1644"/>
            <a:chExt cx="2064" cy="2004"/>
          </a:xfrm>
        </p:grpSpPr>
        <p:sp>
          <p:nvSpPr>
            <p:cNvPr id="192518" name="矩形 192517"/>
            <p:cNvSpPr/>
            <p:nvPr/>
          </p:nvSpPr>
          <p:spPr>
            <a:xfrm>
              <a:off x="1584" y="1920"/>
              <a:ext cx="1776" cy="6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2519" name="文本框 192518"/>
            <p:cNvSpPr txBox="1"/>
            <p:nvPr/>
          </p:nvSpPr>
          <p:spPr>
            <a:xfrm>
              <a:off x="1584" y="1910"/>
              <a:ext cx="1968" cy="6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>
                  <a:latin typeface="Tahoma" panose="020B0604030504040204" pitchFamily="34" charset="0"/>
                </a:rPr>
                <a:t>register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r>
                <a:rPr lang="en-US" altLang="zh-CN" sz="2205">
                  <a:latin typeface="Tahoma" panose="020B0604030504040204" pitchFamily="34" charset="0"/>
                </a:rPr>
                <a:t>register = </a:t>
              </a:r>
              <a:r>
                <a:rPr lang="en-US" altLang="zh-CN" sz="2205" err="1">
                  <a:latin typeface="Tahoma" panose="020B0604030504040204" pitchFamily="34" charset="0"/>
                </a:rPr>
                <a:t>register</a:t>
              </a:r>
              <a:r>
                <a:rPr lang="en-US" altLang="zh-CN" sz="2205">
                  <a:latin typeface="Tahoma" panose="020B0604030504040204" pitchFamily="34" charset="0"/>
                </a:rPr>
                <a:t> + 1;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r>
                <a:rPr lang="en-US" altLang="zh-CN" sz="2205">
                  <a:latin typeface="Tahoma" panose="020B0604030504040204" pitchFamily="34" charset="0"/>
                </a:rPr>
                <a:t>counter = register;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  <p:sp>
          <p:nvSpPr>
            <p:cNvPr id="192520" name="矩形 192519"/>
            <p:cNvSpPr/>
            <p:nvPr/>
          </p:nvSpPr>
          <p:spPr>
            <a:xfrm>
              <a:off x="1584" y="1644"/>
              <a:ext cx="820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rgbClr val="000066"/>
                  </a:solidFill>
                  <a:latin typeface="Arial" panose="020B0604020202020204" pitchFamily="34" charset="0"/>
                </a:rPr>
                <a:t>生产者</a:t>
              </a:r>
              <a:r>
                <a:rPr lang="en-US" altLang="zh-CN" sz="2645" b="1">
                  <a:solidFill>
                    <a:srgbClr val="000066"/>
                  </a:solidFill>
                  <a:latin typeface="Arial" panose="020B0604020202020204" pitchFamily="34" charset="0"/>
                </a:rPr>
                <a:t>P</a:t>
              </a:r>
              <a:endParaRPr lang="en-US" altLang="zh-CN" sz="2645" b="1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521" name="矩形 192520"/>
            <p:cNvSpPr/>
            <p:nvPr/>
          </p:nvSpPr>
          <p:spPr>
            <a:xfrm>
              <a:off x="1536" y="2700"/>
              <a:ext cx="787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solidFill>
                    <a:srgbClr val="000066"/>
                  </a:solidFill>
                  <a:latin typeface="Arial" panose="020B0604020202020204" pitchFamily="34" charset="0"/>
                </a:rPr>
                <a:t>消费者</a:t>
              </a:r>
              <a:r>
                <a:rPr lang="en-US" altLang="zh-CN" sz="2645" b="1">
                  <a:solidFill>
                    <a:srgbClr val="000066"/>
                  </a:solidFill>
                  <a:latin typeface="Arial" panose="020B0604020202020204" pitchFamily="34" charset="0"/>
                </a:rPr>
                <a:t>C</a:t>
              </a:r>
              <a:endParaRPr lang="en-US" altLang="zh-CN" sz="2645" b="1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522" name="矩形 192521"/>
            <p:cNvSpPr/>
            <p:nvPr/>
          </p:nvSpPr>
          <p:spPr>
            <a:xfrm>
              <a:off x="1632" y="2976"/>
              <a:ext cx="1776" cy="6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2523" name="文本框 192522"/>
            <p:cNvSpPr txBox="1"/>
            <p:nvPr/>
          </p:nvSpPr>
          <p:spPr>
            <a:xfrm>
              <a:off x="1632" y="2976"/>
              <a:ext cx="1968" cy="6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5">
                  <a:latin typeface="Tahoma" panose="020B0604030504040204" pitchFamily="34" charset="0"/>
                </a:rPr>
                <a:t>register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r>
                <a:rPr lang="en-US" altLang="zh-CN" sz="2205">
                  <a:latin typeface="Tahoma" panose="020B0604030504040204" pitchFamily="34" charset="0"/>
                </a:rPr>
                <a:t>register = </a:t>
              </a:r>
              <a:r>
                <a:rPr lang="en-US" altLang="zh-CN" sz="2205" err="1">
                  <a:latin typeface="Tahoma" panose="020B0604030504040204" pitchFamily="34" charset="0"/>
                </a:rPr>
                <a:t>register</a:t>
              </a:r>
              <a:r>
                <a:rPr lang="en-US" altLang="zh-CN" sz="2205">
                  <a:latin typeface="Tahoma" panose="020B0604030504040204" pitchFamily="34" charset="0"/>
                </a:rPr>
                <a:t> - 1;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r>
                <a:rPr lang="en-US" altLang="zh-CN" sz="2205">
                  <a:latin typeface="Tahoma" panose="020B0604030504040204" pitchFamily="34" charset="0"/>
                </a:rPr>
                <a:t>counter = register;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</p:grpSp>
      <p:grpSp>
        <p:nvGrpSpPr>
          <p:cNvPr id="192524" name="组合 192523"/>
          <p:cNvGrpSpPr/>
          <p:nvPr/>
        </p:nvGrpSpPr>
        <p:grpSpPr>
          <a:xfrm>
            <a:off x="6354233" y="3190522"/>
            <a:ext cx="3946172" cy="3106561"/>
            <a:chOff x="3504" y="1680"/>
            <a:chExt cx="2256" cy="1776"/>
          </a:xfrm>
        </p:grpSpPr>
        <p:sp>
          <p:nvSpPr>
            <p:cNvPr id="192525" name="矩形 192524"/>
            <p:cNvSpPr/>
            <p:nvPr/>
          </p:nvSpPr>
          <p:spPr>
            <a:xfrm>
              <a:off x="3552" y="1968"/>
              <a:ext cx="1968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2526" name="文本框 192525"/>
            <p:cNvSpPr txBox="1"/>
            <p:nvPr/>
          </p:nvSpPr>
          <p:spPr>
            <a:xfrm>
              <a:off x="3552" y="1968"/>
              <a:ext cx="2208" cy="14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= </a:t>
              </a: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+ 1;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= </a:t>
              </a: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- 1;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counter = </a:t>
              </a: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counter = </a:t>
              </a: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;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  <p:sp>
          <p:nvSpPr>
            <p:cNvPr id="192527" name="矩形 192526"/>
            <p:cNvSpPr/>
            <p:nvPr/>
          </p:nvSpPr>
          <p:spPr>
            <a:xfrm>
              <a:off x="3504" y="1680"/>
              <a:ext cx="1872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一个可能的执行序列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2528" name="组合 192527"/>
          <p:cNvGrpSpPr/>
          <p:nvPr/>
        </p:nvGrpSpPr>
        <p:grpSpPr>
          <a:xfrm>
            <a:off x="560917" y="3190522"/>
            <a:ext cx="2350911" cy="1259417"/>
            <a:chOff x="48" y="1872"/>
            <a:chExt cx="1296" cy="720"/>
          </a:xfrm>
        </p:grpSpPr>
        <p:sp>
          <p:nvSpPr>
            <p:cNvPr id="192529" name="矩形 192528"/>
            <p:cNvSpPr/>
            <p:nvPr/>
          </p:nvSpPr>
          <p:spPr>
            <a:xfrm>
              <a:off x="48" y="2208"/>
              <a:ext cx="1200" cy="3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2530" name="矩形 192529"/>
            <p:cNvSpPr/>
            <p:nvPr/>
          </p:nvSpPr>
          <p:spPr>
            <a:xfrm>
              <a:off x="96" y="1872"/>
              <a:ext cx="88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rgbClr val="000066"/>
                  </a:solidFill>
                  <a:latin typeface="Arial" panose="020B0604020202020204" pitchFamily="34" charset="0"/>
                </a:rPr>
                <a:t>初始情况</a:t>
              </a:r>
              <a:endParaRPr lang="zh-CN" altLang="en-US" sz="2645" b="1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531" name="文本框 192530"/>
            <p:cNvSpPr txBox="1"/>
            <p:nvPr/>
          </p:nvSpPr>
          <p:spPr>
            <a:xfrm>
              <a:off x="144" y="2256"/>
              <a:ext cx="120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counter = 5;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标题 1935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解决该问题的一个尝试</a:t>
            </a:r>
            <a:endParaRPr lang="zh-CN" altLang="en-US" dirty="0"/>
          </a:p>
        </p:txBody>
      </p:sp>
      <p:sp>
        <p:nvSpPr>
          <p:cNvPr id="193539" name="矩形 193538"/>
          <p:cNvSpPr/>
          <p:nvPr/>
        </p:nvSpPr>
        <p:spPr>
          <a:xfrm>
            <a:off x="1064683" y="1259417"/>
            <a:ext cx="419805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写</a:t>
            </a:r>
            <a:r>
              <a:rPr lang="en-US" altLang="zh-CN" sz="3085"/>
              <a:t>counter</a:t>
            </a:r>
            <a:r>
              <a:rPr lang="zh-CN" altLang="en-US" sz="3085" dirty="0"/>
              <a:t>时阻断其他进程访问</a:t>
            </a:r>
            <a:r>
              <a:rPr lang="en-US" altLang="zh-CN" sz="3085"/>
              <a:t>counter</a:t>
            </a:r>
            <a:endParaRPr lang="en-US" altLang="zh-CN" sz="3085"/>
          </a:p>
        </p:txBody>
      </p:sp>
      <p:grpSp>
        <p:nvGrpSpPr>
          <p:cNvPr id="193540" name="组合 193539"/>
          <p:cNvGrpSpPr/>
          <p:nvPr/>
        </p:nvGrpSpPr>
        <p:grpSpPr>
          <a:xfrm>
            <a:off x="1400528" y="2686756"/>
            <a:ext cx="4198056" cy="3106561"/>
            <a:chOff x="3504" y="1680"/>
            <a:chExt cx="2256" cy="1776"/>
          </a:xfrm>
        </p:grpSpPr>
        <p:sp>
          <p:nvSpPr>
            <p:cNvPr id="193541" name="矩形 193540"/>
            <p:cNvSpPr/>
            <p:nvPr/>
          </p:nvSpPr>
          <p:spPr>
            <a:xfrm>
              <a:off x="3552" y="1968"/>
              <a:ext cx="1968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42" name="文本框 193541"/>
            <p:cNvSpPr txBox="1"/>
            <p:nvPr/>
          </p:nvSpPr>
          <p:spPr>
            <a:xfrm>
              <a:off x="3552" y="1968"/>
              <a:ext cx="2208" cy="14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= </a:t>
              </a: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 + 1;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= counter; 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= </a:t>
              </a: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 - 1;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counter = </a:t>
              </a:r>
              <a:r>
                <a:rPr lang="en-US" altLang="zh-CN" sz="2205" err="1">
                  <a:latin typeface="Tahoma" panose="020B0604030504040204" pitchFamily="34" charset="0"/>
                </a:rPr>
                <a:t>P.register</a:t>
              </a:r>
              <a:r>
                <a:rPr lang="en-US" altLang="zh-CN" sz="2205">
                  <a:latin typeface="Tahoma" panose="020B0604030504040204" pitchFamily="34" charset="0"/>
                </a:rPr>
                <a:t>;</a:t>
              </a:r>
              <a:endParaRPr lang="en-US" altLang="zh-CN" sz="2205">
                <a:latin typeface="Tahoma" panose="020B0604030504040204" pitchFamily="34" charset="0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205">
                  <a:latin typeface="Tahoma" panose="020B0604030504040204" pitchFamily="34" charset="0"/>
                </a:rPr>
                <a:t>counter = </a:t>
              </a:r>
              <a:r>
                <a:rPr lang="en-US" altLang="zh-CN" sz="2205" err="1">
                  <a:latin typeface="Tahoma" panose="020B0604030504040204" pitchFamily="34" charset="0"/>
                </a:rPr>
                <a:t>C.register</a:t>
              </a:r>
              <a:r>
                <a:rPr lang="en-US" altLang="zh-CN" sz="2205">
                  <a:latin typeface="Tahoma" panose="020B0604030504040204" pitchFamily="34" charset="0"/>
                </a:rPr>
                <a:t>;</a:t>
              </a:r>
              <a:endParaRPr lang="en-US" altLang="zh-CN" sz="2205">
                <a:latin typeface="Tahoma" panose="020B0604030504040204" pitchFamily="34" charset="0"/>
              </a:endParaRPr>
            </a:p>
          </p:txBody>
        </p:sp>
        <p:sp>
          <p:nvSpPr>
            <p:cNvPr id="193543" name="矩形 193542"/>
            <p:cNvSpPr/>
            <p:nvPr/>
          </p:nvSpPr>
          <p:spPr>
            <a:xfrm>
              <a:off x="3504" y="1680"/>
              <a:ext cx="1872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一个可能的执行序列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3544" name="矩形 193543"/>
          <p:cNvSpPr/>
          <p:nvPr/>
        </p:nvSpPr>
        <p:spPr>
          <a:xfrm>
            <a:off x="5178778" y="1143970"/>
            <a:ext cx="1931106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05" b="1" dirty="0">
                <a:solidFill>
                  <a:srgbClr val="000066"/>
                </a:solidFill>
                <a:latin typeface="Arial" panose="020B0604020202020204" pitchFamily="34" charset="0"/>
              </a:rPr>
              <a:t>生产者</a:t>
            </a:r>
            <a:r>
              <a:rPr lang="en-US" altLang="zh-CN" sz="2205" b="1">
                <a:solidFill>
                  <a:srgbClr val="000066"/>
                </a:solidFill>
                <a:latin typeface="Arial" panose="020B0604020202020204" pitchFamily="34" charset="0"/>
              </a:rPr>
              <a:t>P</a:t>
            </a:r>
            <a:endParaRPr lang="en-US" altLang="zh-CN" sz="220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93545" name="矩形 193544"/>
          <p:cNvSpPr/>
          <p:nvPr/>
        </p:nvSpPr>
        <p:spPr>
          <a:xfrm>
            <a:off x="5934428" y="2067542"/>
            <a:ext cx="3862211" cy="770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205" err="1">
                <a:latin typeface="Tahoma" panose="020B0604030504040204" pitchFamily="34" charset="0"/>
              </a:rPr>
              <a:t>P.register</a:t>
            </a:r>
            <a:r>
              <a:rPr lang="en-US" altLang="zh-CN" sz="2205">
                <a:latin typeface="Tahoma" panose="020B0604030504040204" pitchFamily="34" charset="0"/>
              </a:rPr>
              <a:t> = counter;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 err="1">
                <a:latin typeface="Tahoma" panose="020B0604030504040204" pitchFamily="34" charset="0"/>
              </a:rPr>
              <a:t>P.register</a:t>
            </a:r>
            <a:r>
              <a:rPr lang="en-US" altLang="zh-CN" sz="2205">
                <a:latin typeface="Tahoma" panose="020B0604030504040204" pitchFamily="34" charset="0"/>
              </a:rPr>
              <a:t> = </a:t>
            </a:r>
            <a:r>
              <a:rPr lang="en-US" altLang="zh-CN" sz="2205" err="1">
                <a:latin typeface="Tahoma" panose="020B0604030504040204" pitchFamily="34" charset="0"/>
              </a:rPr>
              <a:t>P.register</a:t>
            </a:r>
            <a:r>
              <a:rPr lang="en-US" altLang="zh-CN" sz="2205">
                <a:latin typeface="Tahoma" panose="020B0604030504040204" pitchFamily="34" charset="0"/>
              </a:rPr>
              <a:t> + 1;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grpSp>
        <p:nvGrpSpPr>
          <p:cNvPr id="193546" name="组合 193545"/>
          <p:cNvGrpSpPr/>
          <p:nvPr/>
        </p:nvGrpSpPr>
        <p:grpSpPr>
          <a:xfrm>
            <a:off x="5682544" y="1563776"/>
            <a:ext cx="2686756" cy="587728"/>
            <a:chOff x="3552" y="1968"/>
            <a:chExt cx="1536" cy="336"/>
          </a:xfrm>
        </p:grpSpPr>
        <p:sp>
          <p:nvSpPr>
            <p:cNvPr id="193547" name="矩形 193546"/>
            <p:cNvSpPr/>
            <p:nvPr/>
          </p:nvSpPr>
          <p:spPr>
            <a:xfrm>
              <a:off x="3552" y="1968"/>
              <a:ext cx="1536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48" name="文本框 193547"/>
            <p:cNvSpPr txBox="1"/>
            <p:nvPr/>
          </p:nvSpPr>
          <p:spPr>
            <a:xfrm>
              <a:off x="3648" y="2016"/>
              <a:ext cx="13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给</a:t>
              </a:r>
              <a:r>
                <a:rPr lang="en-US" altLang="zh-CN" sz="2205" b="1">
                  <a:solidFill>
                    <a:srgbClr val="FF0000"/>
                  </a:solidFill>
                  <a:latin typeface="Courier New" panose="02070309020205020404" pitchFamily="49" charset="0"/>
                </a:rPr>
                <a:t>counter</a:t>
              </a: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上锁</a:t>
              </a:r>
              <a:endParaRPr lang="zh-CN" altLang="en-US" sz="2205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93549" name="矩形 193548"/>
          <p:cNvSpPr/>
          <p:nvPr/>
        </p:nvSpPr>
        <p:spPr>
          <a:xfrm>
            <a:off x="5178778" y="2721739"/>
            <a:ext cx="1931106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05" b="1" dirty="0">
                <a:solidFill>
                  <a:srgbClr val="000066"/>
                </a:solidFill>
                <a:latin typeface="Arial" panose="020B0604020202020204" pitchFamily="34" charset="0"/>
              </a:rPr>
              <a:t>消费者</a:t>
            </a:r>
            <a:r>
              <a:rPr lang="en-US" altLang="zh-CN" sz="2205" b="1">
                <a:solidFill>
                  <a:srgbClr val="000066"/>
                </a:solidFill>
                <a:latin typeface="Arial" panose="020B0604020202020204" pitchFamily="34" charset="0"/>
              </a:rPr>
              <a:t>C</a:t>
            </a:r>
            <a:endParaRPr lang="en-US" altLang="zh-CN" sz="220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93550" name="矩形 193549"/>
          <p:cNvSpPr/>
          <p:nvPr/>
        </p:nvSpPr>
        <p:spPr>
          <a:xfrm>
            <a:off x="5934428" y="3928680"/>
            <a:ext cx="3862211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205">
                <a:latin typeface="Tahoma" panose="020B0604030504040204" pitchFamily="34" charset="0"/>
              </a:rPr>
              <a:t>counter = </a:t>
            </a:r>
            <a:r>
              <a:rPr lang="en-US" altLang="zh-CN" sz="2205" err="1">
                <a:latin typeface="Tahoma" panose="020B0604030504040204" pitchFamily="34" charset="0"/>
              </a:rPr>
              <a:t>P.register</a:t>
            </a:r>
            <a:r>
              <a:rPr lang="en-US" altLang="zh-CN" sz="2205">
                <a:latin typeface="Tahoma" panose="020B0604030504040204" pitchFamily="34" charset="0"/>
              </a:rPr>
              <a:t>; 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grpSp>
        <p:nvGrpSpPr>
          <p:cNvPr id="193551" name="组合 193550"/>
          <p:cNvGrpSpPr/>
          <p:nvPr/>
        </p:nvGrpSpPr>
        <p:grpSpPr>
          <a:xfrm>
            <a:off x="5682544" y="3159037"/>
            <a:ext cx="2686756" cy="587728"/>
            <a:chOff x="3552" y="1968"/>
            <a:chExt cx="1536" cy="336"/>
          </a:xfrm>
        </p:grpSpPr>
        <p:sp>
          <p:nvSpPr>
            <p:cNvPr id="193552" name="矩形 193551"/>
            <p:cNvSpPr/>
            <p:nvPr/>
          </p:nvSpPr>
          <p:spPr>
            <a:xfrm>
              <a:off x="3552" y="1968"/>
              <a:ext cx="1536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53" name="文本框 193552"/>
            <p:cNvSpPr txBox="1"/>
            <p:nvPr/>
          </p:nvSpPr>
          <p:spPr>
            <a:xfrm>
              <a:off x="3648" y="2016"/>
              <a:ext cx="13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检查</a:t>
              </a:r>
              <a:r>
                <a:rPr lang="en-US" altLang="zh-CN" sz="2205" b="1">
                  <a:solidFill>
                    <a:srgbClr val="FF0000"/>
                  </a:solidFill>
                  <a:latin typeface="Courier New" panose="02070309020205020404" pitchFamily="49" charset="0"/>
                </a:rPr>
                <a:t>counter</a:t>
              </a: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锁</a:t>
              </a:r>
              <a:endParaRPr lang="zh-CN" altLang="en-US" sz="2205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93554" name="矩形 193553"/>
          <p:cNvSpPr/>
          <p:nvPr/>
        </p:nvSpPr>
        <p:spPr>
          <a:xfrm>
            <a:off x="5178778" y="3746765"/>
            <a:ext cx="1931106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05" b="1" dirty="0">
                <a:solidFill>
                  <a:srgbClr val="000066"/>
                </a:solidFill>
                <a:latin typeface="Arial" panose="020B0604020202020204" pitchFamily="34" charset="0"/>
              </a:rPr>
              <a:t>生产者</a:t>
            </a:r>
            <a:r>
              <a:rPr lang="en-US" altLang="zh-CN" sz="2205" b="1">
                <a:solidFill>
                  <a:srgbClr val="000066"/>
                </a:solidFill>
                <a:latin typeface="Arial" panose="020B0604020202020204" pitchFamily="34" charset="0"/>
              </a:rPr>
              <a:t>P</a:t>
            </a:r>
            <a:endParaRPr lang="en-US" altLang="zh-CN" sz="220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grpSp>
        <p:nvGrpSpPr>
          <p:cNvPr id="193555" name="组合 193554"/>
          <p:cNvGrpSpPr/>
          <p:nvPr/>
        </p:nvGrpSpPr>
        <p:grpSpPr>
          <a:xfrm>
            <a:off x="5682544" y="4334492"/>
            <a:ext cx="2686756" cy="587728"/>
            <a:chOff x="3552" y="1968"/>
            <a:chExt cx="1536" cy="336"/>
          </a:xfrm>
        </p:grpSpPr>
        <p:sp>
          <p:nvSpPr>
            <p:cNvPr id="193556" name="矩形 193555"/>
            <p:cNvSpPr/>
            <p:nvPr/>
          </p:nvSpPr>
          <p:spPr>
            <a:xfrm>
              <a:off x="3552" y="1968"/>
              <a:ext cx="1536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57" name="文本框 193556"/>
            <p:cNvSpPr txBox="1"/>
            <p:nvPr/>
          </p:nvSpPr>
          <p:spPr>
            <a:xfrm>
              <a:off x="3648" y="2016"/>
              <a:ext cx="13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给</a:t>
              </a:r>
              <a:r>
                <a:rPr lang="en-US" altLang="zh-CN" sz="2205" b="1">
                  <a:solidFill>
                    <a:srgbClr val="FF0000"/>
                  </a:solidFill>
                  <a:latin typeface="Courier New" panose="02070309020205020404" pitchFamily="49" charset="0"/>
                </a:rPr>
                <a:t>counter</a:t>
              </a: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开锁</a:t>
              </a:r>
              <a:endParaRPr lang="zh-CN" altLang="en-US" sz="2205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93558" name="矩形 193557"/>
          <p:cNvSpPr/>
          <p:nvPr/>
        </p:nvSpPr>
        <p:spPr>
          <a:xfrm>
            <a:off x="5178778" y="4838259"/>
            <a:ext cx="1931106" cy="431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205" b="1" dirty="0">
                <a:solidFill>
                  <a:srgbClr val="000066"/>
                </a:solidFill>
                <a:latin typeface="Arial" panose="020B0604020202020204" pitchFamily="34" charset="0"/>
              </a:rPr>
              <a:t>消费者</a:t>
            </a:r>
            <a:r>
              <a:rPr lang="en-US" altLang="zh-CN" sz="2205" b="1">
                <a:solidFill>
                  <a:srgbClr val="000066"/>
                </a:solidFill>
                <a:latin typeface="Arial" panose="020B0604020202020204" pitchFamily="34" charset="0"/>
              </a:rPr>
              <a:t>C</a:t>
            </a:r>
            <a:endParaRPr lang="en-US" altLang="zh-CN" sz="2205" b="1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93559" name="矩形 193558"/>
          <p:cNvSpPr/>
          <p:nvPr/>
        </p:nvSpPr>
        <p:spPr>
          <a:xfrm>
            <a:off x="5934428" y="5828300"/>
            <a:ext cx="3862211" cy="11106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205" err="1">
                <a:latin typeface="Tahoma" panose="020B0604030504040204" pitchFamily="34" charset="0"/>
              </a:rPr>
              <a:t>C.register</a:t>
            </a:r>
            <a:r>
              <a:rPr lang="en-US" altLang="zh-CN" sz="2205">
                <a:latin typeface="Tahoma" panose="020B0604030504040204" pitchFamily="34" charset="0"/>
              </a:rPr>
              <a:t> = counter; 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 err="1">
                <a:latin typeface="Tahoma" panose="020B0604030504040204" pitchFamily="34" charset="0"/>
              </a:rPr>
              <a:t>C.register</a:t>
            </a:r>
            <a:r>
              <a:rPr lang="en-US" altLang="zh-CN" sz="2205">
                <a:latin typeface="Tahoma" panose="020B0604030504040204" pitchFamily="34" charset="0"/>
              </a:rPr>
              <a:t> = </a:t>
            </a:r>
            <a:r>
              <a:rPr lang="en-US" altLang="zh-CN" sz="2205" err="1">
                <a:latin typeface="Tahoma" panose="020B0604030504040204" pitchFamily="34" charset="0"/>
              </a:rPr>
              <a:t>C.register</a:t>
            </a:r>
            <a:r>
              <a:rPr lang="en-US" altLang="zh-CN" sz="2205">
                <a:latin typeface="Tahoma" panose="020B0604030504040204" pitchFamily="34" charset="0"/>
              </a:rPr>
              <a:t> - 1;</a:t>
            </a:r>
            <a:endParaRPr lang="en-US" altLang="zh-CN" sz="2205">
              <a:latin typeface="Tahoma" panose="020B0604030504040204" pitchFamily="34" charset="0"/>
            </a:endParaRPr>
          </a:p>
          <a:p>
            <a:r>
              <a:rPr lang="en-US" altLang="zh-CN" sz="2205">
                <a:latin typeface="Tahoma" panose="020B0604030504040204" pitchFamily="34" charset="0"/>
              </a:rPr>
              <a:t>counter = </a:t>
            </a:r>
            <a:r>
              <a:rPr lang="en-US" altLang="zh-CN" sz="2205" err="1">
                <a:latin typeface="Tahoma" panose="020B0604030504040204" pitchFamily="34" charset="0"/>
              </a:rPr>
              <a:t>C.register</a:t>
            </a:r>
            <a:r>
              <a:rPr lang="en-US" altLang="zh-CN" sz="2205">
                <a:latin typeface="Tahoma" panose="020B0604030504040204" pitchFamily="34" charset="0"/>
              </a:rPr>
              <a:t>;</a:t>
            </a:r>
            <a:endParaRPr lang="en-US" altLang="zh-CN" sz="2205">
              <a:latin typeface="Tahoma" panose="020B0604030504040204" pitchFamily="34" charset="0"/>
            </a:endParaRPr>
          </a:p>
        </p:txBody>
      </p:sp>
      <p:grpSp>
        <p:nvGrpSpPr>
          <p:cNvPr id="193560" name="组合 193559"/>
          <p:cNvGrpSpPr/>
          <p:nvPr/>
        </p:nvGrpSpPr>
        <p:grpSpPr>
          <a:xfrm>
            <a:off x="5682544" y="5258065"/>
            <a:ext cx="2686756" cy="587728"/>
            <a:chOff x="3552" y="1968"/>
            <a:chExt cx="1536" cy="336"/>
          </a:xfrm>
        </p:grpSpPr>
        <p:sp>
          <p:nvSpPr>
            <p:cNvPr id="193561" name="矩形 193560"/>
            <p:cNvSpPr/>
            <p:nvPr/>
          </p:nvSpPr>
          <p:spPr>
            <a:xfrm>
              <a:off x="3552" y="1968"/>
              <a:ext cx="1536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62" name="文本框 193561"/>
            <p:cNvSpPr txBox="1"/>
            <p:nvPr/>
          </p:nvSpPr>
          <p:spPr>
            <a:xfrm>
              <a:off x="3648" y="2016"/>
              <a:ext cx="13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给</a:t>
              </a:r>
              <a:r>
                <a:rPr lang="en-US" altLang="zh-CN" sz="2205" b="1">
                  <a:solidFill>
                    <a:srgbClr val="FF0000"/>
                  </a:solidFill>
                  <a:latin typeface="Courier New" panose="02070309020205020404" pitchFamily="49" charset="0"/>
                </a:rPr>
                <a:t>counter</a:t>
              </a: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上锁</a:t>
              </a:r>
              <a:endParaRPr lang="zh-CN" altLang="en-US" sz="2205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193563" name="组合 193562"/>
          <p:cNvGrpSpPr/>
          <p:nvPr/>
        </p:nvGrpSpPr>
        <p:grpSpPr>
          <a:xfrm>
            <a:off x="5682544" y="6968772"/>
            <a:ext cx="2686756" cy="587728"/>
            <a:chOff x="3552" y="1968"/>
            <a:chExt cx="1536" cy="336"/>
          </a:xfrm>
        </p:grpSpPr>
        <p:sp>
          <p:nvSpPr>
            <p:cNvPr id="193564" name="矩形 193563"/>
            <p:cNvSpPr/>
            <p:nvPr/>
          </p:nvSpPr>
          <p:spPr>
            <a:xfrm>
              <a:off x="3552" y="1968"/>
              <a:ext cx="1536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3565" name="文本框 193564"/>
            <p:cNvSpPr txBox="1"/>
            <p:nvPr/>
          </p:nvSpPr>
          <p:spPr>
            <a:xfrm>
              <a:off x="3648" y="2016"/>
              <a:ext cx="139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给</a:t>
              </a:r>
              <a:r>
                <a:rPr lang="en-US" altLang="zh-CN" sz="2205" b="1">
                  <a:solidFill>
                    <a:srgbClr val="FF0000"/>
                  </a:solidFill>
                  <a:latin typeface="Courier New" panose="02070309020205020404" pitchFamily="49" charset="0"/>
                </a:rPr>
                <a:t>counter</a:t>
              </a:r>
              <a:r>
                <a:rPr lang="zh-CN" altLang="en-US" sz="2205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开锁</a:t>
              </a:r>
              <a:endParaRPr lang="zh-CN" altLang="en-US" sz="2205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93566" name="矩形 193565"/>
          <p:cNvSpPr/>
          <p:nvPr/>
        </p:nvSpPr>
        <p:spPr>
          <a:xfrm>
            <a:off x="1064683" y="5877278"/>
            <a:ext cx="428201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进程同步是操作系统一项重要内容</a:t>
            </a:r>
            <a:endParaRPr lang="zh-CN" altLang="en-US" sz="308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9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9356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4" grpId="0"/>
      <p:bldP spid="193545" grpId="0"/>
      <p:bldP spid="193549" grpId="0"/>
      <p:bldP spid="193550" grpId="0"/>
      <p:bldP spid="193554" grpId="0"/>
      <p:bldP spid="193558" grpId="0"/>
      <p:bldP spid="193559" grpId="0"/>
      <p:bldP spid="19356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标题 2007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进程总结</a:t>
            </a:r>
            <a:endParaRPr lang="zh-CN" altLang="en-US" dirty="0"/>
          </a:p>
        </p:txBody>
      </p:sp>
      <p:pic>
        <p:nvPicPr>
          <p:cNvPr id="200707" name="图片 200706" descr="j0297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435" y="0"/>
            <a:ext cx="1227931" cy="151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0708" name="矩形 200707"/>
          <p:cNvSpPr/>
          <p:nvPr/>
        </p:nvSpPr>
        <p:spPr>
          <a:xfrm>
            <a:off x="648376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/>
              <a:t>计算机解决问题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执行程序</a:t>
            </a:r>
            <a:r>
              <a:rPr lang="zh-CN" altLang="en-US" sz="2645">
                <a:solidFill>
                  <a:srgbClr val="FF0000"/>
                </a:solidFill>
              </a:rPr>
              <a:t> </a:t>
            </a:r>
            <a:endParaRPr lang="zh-CN" altLang="en-US" sz="2645">
              <a:solidFill>
                <a:srgbClr val="FF0000"/>
              </a:solidFill>
            </a:endParaRPr>
          </a:p>
        </p:txBody>
      </p:sp>
      <p:sp>
        <p:nvSpPr>
          <p:cNvPr id="200709" name="矩形 200708"/>
          <p:cNvSpPr/>
          <p:nvPr/>
        </p:nvSpPr>
        <p:spPr>
          <a:xfrm>
            <a:off x="644878" y="2069292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执行中的程序和静止程序存在很大区别</a:t>
            </a:r>
            <a:r>
              <a:rPr lang="zh-CN" altLang="en-US" sz="2645">
                <a:solidFill>
                  <a:srgbClr val="FF0000"/>
                </a:solidFill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引出进程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200710" name="矩形 200709"/>
          <p:cNvSpPr/>
          <p:nvPr/>
        </p:nvSpPr>
        <p:spPr>
          <a:xfrm>
            <a:off x="644878" y="277071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 altLang="zh-CN" sz="2645">
                <a:sym typeface="Symbol" panose="05050102010706020507" pitchFamily="18" charset="2"/>
              </a:rPr>
              <a:t>CPU</a:t>
            </a:r>
            <a:r>
              <a:rPr lang="zh-CN" altLang="en-US" sz="2645" dirty="0">
                <a:sym typeface="Symbol" panose="05050102010706020507" pitchFamily="18" charset="2"/>
              </a:rPr>
              <a:t>太快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引出并发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进一步深化了进程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200711" name="矩形 200710"/>
          <p:cNvSpPr/>
          <p:nvPr/>
        </p:nvSpPr>
        <p:spPr>
          <a:xfrm>
            <a:off x="644878" y="3496631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进程走走停停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状态转化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现场切换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进程调度</a:t>
            </a:r>
            <a:endParaRPr lang="zh-CN" altLang="en-US" sz="2645">
              <a:sym typeface="Symbol" panose="05050102010706020507" pitchFamily="18" charset="2"/>
            </a:endParaRPr>
          </a:p>
        </p:txBody>
      </p:sp>
      <p:sp>
        <p:nvSpPr>
          <p:cNvPr id="200712" name="矩形 200711"/>
          <p:cNvSpPr/>
          <p:nvPr/>
        </p:nvSpPr>
        <p:spPr>
          <a:xfrm>
            <a:off x="644878" y="4252281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进程相互干扰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进程保护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地址空间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线程 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200713" name="矩形 200712"/>
          <p:cNvSpPr/>
          <p:nvPr/>
        </p:nvSpPr>
        <p:spPr>
          <a:xfrm>
            <a:off x="644878" y="503766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进程相互协作 </a:t>
            </a:r>
            <a:r>
              <a:rPr lang="en-US" altLang="zh-CN" sz="2645" dirty="0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进程同步锁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进程通信消息 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  <p:sp>
        <p:nvSpPr>
          <p:cNvPr id="200714" name="矩形 200713"/>
          <p:cNvSpPr/>
          <p:nvPr/>
        </p:nvSpPr>
        <p:spPr>
          <a:xfrm>
            <a:off x="644878" y="5793317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2645" dirty="0">
                <a:sym typeface="Symbol" panose="05050102010706020507" pitchFamily="18" charset="2"/>
              </a:rPr>
              <a:t>用户希望操纵进程</a:t>
            </a:r>
            <a:r>
              <a:rPr lang="zh-CN" altLang="en-US" sz="2645">
                <a:sym typeface="Symbol" panose="05050102010706020507" pitchFamily="18" charset="2"/>
              </a:rPr>
              <a:t> </a:t>
            </a:r>
            <a:r>
              <a:rPr lang="en-US" altLang="zh-CN" sz="2645">
                <a:sym typeface="Symbol" panose="05050102010706020507" pitchFamily="18" charset="2"/>
              </a:rPr>
              <a:t> </a:t>
            </a:r>
            <a:r>
              <a:rPr lang="zh-CN" altLang="en-US" sz="2645" dirty="0">
                <a:sym typeface="Symbol" panose="05050102010706020507" pitchFamily="18" charset="2"/>
              </a:rPr>
              <a:t>进程创建等 </a:t>
            </a:r>
            <a:endParaRPr lang="zh-CN" altLang="en-US" sz="2645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/>
      <p:bldP spid="200709" grpId="0"/>
      <p:bldP spid="200710" grpId="0"/>
      <p:bldP spid="200711" grpId="0"/>
      <p:bldP spid="200712" grpId="0"/>
      <p:bldP spid="200713" grpId="0"/>
      <p:bldP spid="2007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标题 20172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一点题外话</a:t>
            </a:r>
            <a:endParaRPr lang="zh-CN" altLang="en-US"/>
          </a:p>
        </p:txBody>
      </p:sp>
      <p:pic>
        <p:nvPicPr>
          <p:cNvPr id="201731" name="图片 201730" descr="j0297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435" y="0"/>
            <a:ext cx="1227931" cy="1511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1732" name="矩形 201731"/>
          <p:cNvSpPr/>
          <p:nvPr/>
        </p:nvSpPr>
        <p:spPr>
          <a:xfrm>
            <a:off x="648376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进程是操作系统的核心</a:t>
            </a:r>
            <a:r>
              <a:rPr lang="zh-CN" altLang="en-US" sz="3085">
                <a:solidFill>
                  <a:srgbClr val="FF0000"/>
                </a:solidFill>
              </a:rPr>
              <a:t> </a:t>
            </a:r>
            <a:endParaRPr lang="zh-CN" altLang="en-US" sz="3085">
              <a:solidFill>
                <a:srgbClr val="FF0000"/>
              </a:solidFill>
            </a:endParaRPr>
          </a:p>
        </p:txBody>
      </p:sp>
      <p:sp>
        <p:nvSpPr>
          <p:cNvPr id="201733" name="矩形 201732"/>
          <p:cNvSpPr/>
          <p:nvPr/>
        </p:nvSpPr>
        <p:spPr>
          <a:xfrm>
            <a:off x="644878" y="2153253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  <a:sym typeface="Symbol" panose="05050102010706020507" pitchFamily="18" charset="2"/>
              </a:rPr>
              <a:t>操作系统的根本目的是</a:t>
            </a:r>
            <a:r>
              <a:rPr lang="en-US" altLang="zh-CN" sz="3085">
                <a:solidFill>
                  <a:srgbClr val="FF0000"/>
                </a:solidFill>
                <a:sym typeface="Symbol" panose="05050102010706020507" pitchFamily="18" charset="2"/>
              </a:rPr>
              <a:t>?</a:t>
            </a:r>
            <a:endParaRPr lang="en-US" altLang="zh-CN" sz="308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01734" name="矩形 201733"/>
          <p:cNvSpPr/>
          <p:nvPr/>
        </p:nvSpPr>
        <p:spPr>
          <a:xfrm>
            <a:off x="644878" y="2938639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  <a:sym typeface="Symbol" panose="05050102010706020507" pitchFamily="18" charset="2"/>
              </a:rPr>
              <a:t>进程的设计和实现需要考虑</a:t>
            </a:r>
            <a:r>
              <a:rPr lang="en-US" altLang="zh-CN" sz="3085">
                <a:solidFill>
                  <a:srgbClr val="FF0000"/>
                </a:solidFill>
                <a:sym typeface="Symbol" panose="05050102010706020507" pitchFamily="18" charset="2"/>
              </a:rPr>
              <a:t>?</a:t>
            </a:r>
            <a:endParaRPr lang="en-US" altLang="zh-CN" sz="3085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201735" name="组合 201734"/>
          <p:cNvGrpSpPr/>
          <p:nvPr/>
        </p:nvGrpSpPr>
        <p:grpSpPr>
          <a:xfrm>
            <a:off x="896761" y="3617325"/>
            <a:ext cx="6893558" cy="661194"/>
            <a:chOff x="523" y="1876"/>
            <a:chExt cx="3941" cy="378"/>
          </a:xfrm>
        </p:grpSpPr>
        <p:sp>
          <p:nvSpPr>
            <p:cNvPr id="201736" name="矩形 201735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进程转态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01737" name="图片 201736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01738" name="组合 201737"/>
          <p:cNvGrpSpPr/>
          <p:nvPr/>
        </p:nvGrpSpPr>
        <p:grpSpPr>
          <a:xfrm>
            <a:off x="896761" y="4268023"/>
            <a:ext cx="6893558" cy="661194"/>
            <a:chOff x="336" y="2400"/>
            <a:chExt cx="3941" cy="378"/>
          </a:xfrm>
        </p:grpSpPr>
        <p:sp>
          <p:nvSpPr>
            <p:cNvPr id="201739" name="矩形 201738"/>
            <p:cNvSpPr/>
            <p:nvPr/>
          </p:nvSpPr>
          <p:spPr>
            <a:xfrm>
              <a:off x="336" y="2400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进程调度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01740" name="图片 201739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" y="2567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01741" name="组合 201740"/>
          <p:cNvGrpSpPr/>
          <p:nvPr/>
        </p:nvGrpSpPr>
        <p:grpSpPr>
          <a:xfrm>
            <a:off x="896761" y="4960702"/>
            <a:ext cx="6893558" cy="661194"/>
            <a:chOff x="336" y="3504"/>
            <a:chExt cx="3941" cy="378"/>
          </a:xfrm>
        </p:grpSpPr>
        <p:sp>
          <p:nvSpPr>
            <p:cNvPr id="201742" name="矩形 201741"/>
            <p:cNvSpPr/>
            <p:nvPr/>
          </p:nvSpPr>
          <p:spPr>
            <a:xfrm>
              <a:off x="336" y="3504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进程其他操作接口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pic>
          <p:nvPicPr>
            <p:cNvPr id="201743" name="图片 201742" descr="j01158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" y="3671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/>
      <p:bldP spid="201733" grpId="0"/>
      <p:bldP spid="2017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6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ms</a:t>
            </a:r>
            <a:endParaRPr sz="1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87458" y="5784144"/>
            <a:ext cx="853541" cy="9087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2400" y="1759656"/>
            <a:ext cx="7546975" cy="0"/>
          </a:xfrm>
          <a:custGeom>
            <a:avLst/>
            <a:gdLst/>
            <a:ahLst/>
            <a:cxnLst/>
            <a:rect l="l" t="t" r="r" b="b"/>
            <a:pathLst>
              <a:path w="7546975">
                <a:moveTo>
                  <a:pt x="0" y="0"/>
                </a:moveTo>
                <a:lnTo>
                  <a:pt x="7546439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8839" y="850900"/>
            <a:ext cx="1803400" cy="2216785"/>
          </a:xfrm>
          <a:custGeom>
            <a:avLst/>
            <a:gdLst/>
            <a:ahLst/>
            <a:cxnLst/>
            <a:rect l="l" t="t" r="r" b="b"/>
            <a:pathLst>
              <a:path w="1803400" h="2216785">
                <a:moveTo>
                  <a:pt x="0" y="0"/>
                </a:moveTo>
                <a:lnTo>
                  <a:pt x="0" y="2216444"/>
                </a:lnTo>
                <a:lnTo>
                  <a:pt x="1803300" y="2216444"/>
                </a:lnTo>
                <a:lnTo>
                  <a:pt x="18033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88777" y="881357"/>
            <a:ext cx="1813361" cy="21235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33908" y="986130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2240033" y="0"/>
                </a:moveTo>
                <a:lnTo>
                  <a:pt x="357116" y="0"/>
                </a:lnTo>
                <a:lnTo>
                  <a:pt x="327827" y="1183"/>
                </a:lnTo>
                <a:lnTo>
                  <a:pt x="271297" y="10375"/>
                </a:lnTo>
                <a:lnTo>
                  <a:pt x="218110" y="28056"/>
                </a:lnTo>
                <a:lnTo>
                  <a:pt x="169002" y="53489"/>
                </a:lnTo>
                <a:lnTo>
                  <a:pt x="124708" y="85941"/>
                </a:lnTo>
                <a:lnTo>
                  <a:pt x="85964" y="124675"/>
                </a:lnTo>
                <a:lnTo>
                  <a:pt x="53504" y="168957"/>
                </a:lnTo>
                <a:lnTo>
                  <a:pt x="28064" y="218051"/>
                </a:lnTo>
                <a:lnTo>
                  <a:pt x="10378" y="271223"/>
                </a:lnTo>
                <a:lnTo>
                  <a:pt x="1183" y="327738"/>
                </a:lnTo>
                <a:lnTo>
                  <a:pt x="0" y="357019"/>
                </a:lnTo>
                <a:lnTo>
                  <a:pt x="0" y="1785047"/>
                </a:lnTo>
                <a:lnTo>
                  <a:pt x="4674" y="1842957"/>
                </a:lnTo>
                <a:lnTo>
                  <a:pt x="18206" y="1897893"/>
                </a:lnTo>
                <a:lnTo>
                  <a:pt x="39860" y="1949118"/>
                </a:lnTo>
                <a:lnTo>
                  <a:pt x="68902" y="1995898"/>
                </a:lnTo>
                <a:lnTo>
                  <a:pt x="104597" y="2037498"/>
                </a:lnTo>
                <a:lnTo>
                  <a:pt x="146208" y="2073182"/>
                </a:lnTo>
                <a:lnTo>
                  <a:pt x="193000" y="2102217"/>
                </a:lnTo>
                <a:lnTo>
                  <a:pt x="244240" y="2123865"/>
                </a:lnTo>
                <a:lnTo>
                  <a:pt x="299190" y="2137394"/>
                </a:lnTo>
                <a:lnTo>
                  <a:pt x="357116" y="2142067"/>
                </a:lnTo>
                <a:lnTo>
                  <a:pt x="2240033" y="2142067"/>
                </a:lnTo>
                <a:lnTo>
                  <a:pt x="2297959" y="2137394"/>
                </a:lnTo>
                <a:lnTo>
                  <a:pt x="2352909" y="2123865"/>
                </a:lnTo>
                <a:lnTo>
                  <a:pt x="2404149" y="2102217"/>
                </a:lnTo>
                <a:lnTo>
                  <a:pt x="2450941" y="2073182"/>
                </a:lnTo>
                <a:lnTo>
                  <a:pt x="2492552" y="2037498"/>
                </a:lnTo>
                <a:lnTo>
                  <a:pt x="2528247" y="1995898"/>
                </a:lnTo>
                <a:lnTo>
                  <a:pt x="2557289" y="1949118"/>
                </a:lnTo>
                <a:lnTo>
                  <a:pt x="2578943" y="1897893"/>
                </a:lnTo>
                <a:lnTo>
                  <a:pt x="2592475" y="1842957"/>
                </a:lnTo>
                <a:lnTo>
                  <a:pt x="2597150" y="1785047"/>
                </a:lnTo>
                <a:lnTo>
                  <a:pt x="2597150" y="357019"/>
                </a:lnTo>
                <a:lnTo>
                  <a:pt x="2592475" y="299109"/>
                </a:lnTo>
                <a:lnTo>
                  <a:pt x="2578943" y="244174"/>
                </a:lnTo>
                <a:lnTo>
                  <a:pt x="2557289" y="192948"/>
                </a:lnTo>
                <a:lnTo>
                  <a:pt x="2528247" y="146168"/>
                </a:lnTo>
                <a:lnTo>
                  <a:pt x="2492552" y="104568"/>
                </a:lnTo>
                <a:lnTo>
                  <a:pt x="2450941" y="68884"/>
                </a:lnTo>
                <a:lnTo>
                  <a:pt x="2404149" y="39849"/>
                </a:lnTo>
                <a:lnTo>
                  <a:pt x="2352909" y="18201"/>
                </a:lnTo>
                <a:lnTo>
                  <a:pt x="2297959" y="4672"/>
                </a:lnTo>
                <a:lnTo>
                  <a:pt x="22400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33908" y="986130"/>
            <a:ext cx="2597150" cy="2142490"/>
          </a:xfrm>
          <a:custGeom>
            <a:avLst/>
            <a:gdLst/>
            <a:ahLst/>
            <a:cxnLst/>
            <a:rect l="l" t="t" r="r" b="b"/>
            <a:pathLst>
              <a:path w="2597150" h="2142490">
                <a:moveTo>
                  <a:pt x="0" y="357019"/>
                </a:moveTo>
                <a:lnTo>
                  <a:pt x="4674" y="299109"/>
                </a:lnTo>
                <a:lnTo>
                  <a:pt x="18206" y="244173"/>
                </a:lnTo>
                <a:lnTo>
                  <a:pt x="39860" y="192948"/>
                </a:lnTo>
                <a:lnTo>
                  <a:pt x="68902" y="146168"/>
                </a:lnTo>
                <a:lnTo>
                  <a:pt x="104597" y="104568"/>
                </a:lnTo>
                <a:lnTo>
                  <a:pt x="146208" y="68884"/>
                </a:lnTo>
                <a:lnTo>
                  <a:pt x="193000" y="39849"/>
                </a:lnTo>
                <a:lnTo>
                  <a:pt x="244240" y="18201"/>
                </a:lnTo>
                <a:lnTo>
                  <a:pt x="299190" y="4672"/>
                </a:lnTo>
                <a:lnTo>
                  <a:pt x="357116" y="0"/>
                </a:lnTo>
                <a:lnTo>
                  <a:pt x="2240033" y="0"/>
                </a:lnTo>
                <a:lnTo>
                  <a:pt x="2297959" y="4672"/>
                </a:lnTo>
                <a:lnTo>
                  <a:pt x="2352909" y="18201"/>
                </a:lnTo>
                <a:lnTo>
                  <a:pt x="2404149" y="39849"/>
                </a:lnTo>
                <a:lnTo>
                  <a:pt x="2450941" y="68884"/>
                </a:lnTo>
                <a:lnTo>
                  <a:pt x="2492552" y="104568"/>
                </a:lnTo>
                <a:lnTo>
                  <a:pt x="2528247" y="146168"/>
                </a:lnTo>
                <a:lnTo>
                  <a:pt x="2557289" y="192948"/>
                </a:lnTo>
                <a:lnTo>
                  <a:pt x="2578943" y="244173"/>
                </a:lnTo>
                <a:lnTo>
                  <a:pt x="2592475" y="299109"/>
                </a:lnTo>
                <a:lnTo>
                  <a:pt x="2597150" y="357019"/>
                </a:lnTo>
                <a:lnTo>
                  <a:pt x="2597150" y="1785047"/>
                </a:lnTo>
                <a:lnTo>
                  <a:pt x="2592475" y="1842957"/>
                </a:lnTo>
                <a:lnTo>
                  <a:pt x="2578943" y="1897892"/>
                </a:lnTo>
                <a:lnTo>
                  <a:pt x="2557289" y="1949118"/>
                </a:lnTo>
                <a:lnTo>
                  <a:pt x="2528247" y="1995898"/>
                </a:lnTo>
                <a:lnTo>
                  <a:pt x="2492552" y="2037498"/>
                </a:lnTo>
                <a:lnTo>
                  <a:pt x="2450941" y="2073182"/>
                </a:lnTo>
                <a:lnTo>
                  <a:pt x="2404149" y="2102216"/>
                </a:lnTo>
                <a:lnTo>
                  <a:pt x="2352909" y="2123865"/>
                </a:lnTo>
                <a:lnTo>
                  <a:pt x="2297959" y="2137393"/>
                </a:lnTo>
                <a:lnTo>
                  <a:pt x="2240033" y="2142066"/>
                </a:lnTo>
                <a:lnTo>
                  <a:pt x="357116" y="2142066"/>
                </a:lnTo>
                <a:lnTo>
                  <a:pt x="299190" y="2137393"/>
                </a:lnTo>
                <a:lnTo>
                  <a:pt x="244240" y="2123865"/>
                </a:lnTo>
                <a:lnTo>
                  <a:pt x="193000" y="2102216"/>
                </a:lnTo>
                <a:lnTo>
                  <a:pt x="146208" y="2073182"/>
                </a:lnTo>
                <a:lnTo>
                  <a:pt x="104597" y="2037498"/>
                </a:lnTo>
                <a:lnTo>
                  <a:pt x="68902" y="1995898"/>
                </a:lnTo>
                <a:lnTo>
                  <a:pt x="39860" y="1949118"/>
                </a:lnTo>
                <a:lnTo>
                  <a:pt x="18206" y="1897892"/>
                </a:lnTo>
                <a:lnTo>
                  <a:pt x="4674" y="1842957"/>
                </a:lnTo>
                <a:lnTo>
                  <a:pt x="0" y="1785047"/>
                </a:lnTo>
                <a:lnTo>
                  <a:pt x="0" y="357019"/>
                </a:lnTo>
                <a:close/>
              </a:path>
            </a:pathLst>
          </a:custGeom>
          <a:ln w="216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85704" y="1206727"/>
            <a:ext cx="1301750" cy="112395"/>
          </a:xfrm>
          <a:custGeom>
            <a:avLst/>
            <a:gdLst/>
            <a:ahLst/>
            <a:cxnLst/>
            <a:rect l="l" t="t" r="r" b="b"/>
            <a:pathLst>
              <a:path w="1301750" h="112394">
                <a:moveTo>
                  <a:pt x="0" y="43105"/>
                </a:moveTo>
                <a:lnTo>
                  <a:pt x="0" y="67447"/>
                </a:lnTo>
                <a:lnTo>
                  <a:pt x="1232143" y="67448"/>
                </a:lnTo>
                <a:lnTo>
                  <a:pt x="1192188" y="90749"/>
                </a:lnTo>
                <a:lnTo>
                  <a:pt x="1190227" y="98201"/>
                </a:lnTo>
                <a:lnTo>
                  <a:pt x="1197002" y="109814"/>
                </a:lnTo>
                <a:lnTo>
                  <a:pt x="1204456" y="111775"/>
                </a:lnTo>
                <a:lnTo>
                  <a:pt x="1301335" y="55276"/>
                </a:lnTo>
                <a:lnTo>
                  <a:pt x="1280466" y="43106"/>
                </a:lnTo>
                <a:lnTo>
                  <a:pt x="0" y="43105"/>
                </a:lnTo>
                <a:close/>
              </a:path>
              <a:path w="1301750" h="112394">
                <a:moveTo>
                  <a:pt x="1200984" y="0"/>
                </a:moveTo>
                <a:lnTo>
                  <a:pt x="1196155" y="2192"/>
                </a:lnTo>
                <a:lnTo>
                  <a:pt x="1190227" y="12353"/>
                </a:lnTo>
                <a:lnTo>
                  <a:pt x="1192188" y="19805"/>
                </a:lnTo>
                <a:lnTo>
                  <a:pt x="1232143" y="43106"/>
                </a:lnTo>
                <a:lnTo>
                  <a:pt x="1280466" y="43106"/>
                </a:lnTo>
                <a:lnTo>
                  <a:pt x="1208812" y="1319"/>
                </a:lnTo>
                <a:lnTo>
                  <a:pt x="1207258" y="807"/>
                </a:lnTo>
                <a:lnTo>
                  <a:pt x="1200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80491" y="1531283"/>
            <a:ext cx="1366520" cy="112395"/>
          </a:xfrm>
          <a:custGeom>
            <a:avLst/>
            <a:gdLst/>
            <a:ahLst/>
            <a:cxnLst/>
            <a:rect l="l" t="t" r="r" b="b"/>
            <a:pathLst>
              <a:path w="1366520" h="112394">
                <a:moveTo>
                  <a:pt x="0" y="43105"/>
                </a:moveTo>
                <a:lnTo>
                  <a:pt x="0" y="67447"/>
                </a:lnTo>
                <a:lnTo>
                  <a:pt x="1297072" y="67447"/>
                </a:lnTo>
                <a:lnTo>
                  <a:pt x="1257117" y="90747"/>
                </a:lnTo>
                <a:lnTo>
                  <a:pt x="1255156" y="98201"/>
                </a:lnTo>
                <a:lnTo>
                  <a:pt x="1261931" y="109813"/>
                </a:lnTo>
                <a:lnTo>
                  <a:pt x="1269385" y="111773"/>
                </a:lnTo>
                <a:lnTo>
                  <a:pt x="1366264" y="55276"/>
                </a:lnTo>
                <a:lnTo>
                  <a:pt x="1345395" y="43106"/>
                </a:lnTo>
                <a:lnTo>
                  <a:pt x="0" y="43105"/>
                </a:lnTo>
                <a:close/>
              </a:path>
              <a:path w="1366520" h="112394">
                <a:moveTo>
                  <a:pt x="1265913" y="0"/>
                </a:moveTo>
                <a:lnTo>
                  <a:pt x="1261084" y="2192"/>
                </a:lnTo>
                <a:lnTo>
                  <a:pt x="1255156" y="12352"/>
                </a:lnTo>
                <a:lnTo>
                  <a:pt x="1257117" y="19804"/>
                </a:lnTo>
                <a:lnTo>
                  <a:pt x="1297072" y="43106"/>
                </a:lnTo>
                <a:lnTo>
                  <a:pt x="1345395" y="43106"/>
                </a:lnTo>
                <a:lnTo>
                  <a:pt x="1273741" y="1319"/>
                </a:lnTo>
                <a:lnTo>
                  <a:pt x="1272186" y="806"/>
                </a:lnTo>
                <a:lnTo>
                  <a:pt x="12659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07840" y="1855838"/>
            <a:ext cx="454659" cy="112395"/>
          </a:xfrm>
          <a:custGeom>
            <a:avLst/>
            <a:gdLst/>
            <a:ahLst/>
            <a:cxnLst/>
            <a:rect l="l" t="t" r="r" b="b"/>
            <a:pathLst>
              <a:path w="454660" h="112394">
                <a:moveTo>
                  <a:pt x="0" y="43105"/>
                </a:moveTo>
                <a:lnTo>
                  <a:pt x="0" y="67447"/>
                </a:lnTo>
                <a:lnTo>
                  <a:pt x="385364" y="67448"/>
                </a:lnTo>
                <a:lnTo>
                  <a:pt x="345409" y="90749"/>
                </a:lnTo>
                <a:lnTo>
                  <a:pt x="343447" y="98201"/>
                </a:lnTo>
                <a:lnTo>
                  <a:pt x="350224" y="109814"/>
                </a:lnTo>
                <a:lnTo>
                  <a:pt x="357677" y="111775"/>
                </a:lnTo>
                <a:lnTo>
                  <a:pt x="454557" y="55276"/>
                </a:lnTo>
                <a:lnTo>
                  <a:pt x="433687" y="43106"/>
                </a:lnTo>
                <a:lnTo>
                  <a:pt x="0" y="43105"/>
                </a:lnTo>
                <a:close/>
              </a:path>
              <a:path w="454660" h="112394">
                <a:moveTo>
                  <a:pt x="354205" y="0"/>
                </a:moveTo>
                <a:lnTo>
                  <a:pt x="349376" y="2192"/>
                </a:lnTo>
                <a:lnTo>
                  <a:pt x="343448" y="12353"/>
                </a:lnTo>
                <a:lnTo>
                  <a:pt x="345409" y="19805"/>
                </a:lnTo>
                <a:lnTo>
                  <a:pt x="385364" y="43106"/>
                </a:lnTo>
                <a:lnTo>
                  <a:pt x="433687" y="43106"/>
                </a:lnTo>
                <a:lnTo>
                  <a:pt x="362033" y="1319"/>
                </a:lnTo>
                <a:lnTo>
                  <a:pt x="360479" y="807"/>
                </a:lnTo>
                <a:lnTo>
                  <a:pt x="354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8695" y="2349264"/>
            <a:ext cx="2012950" cy="649605"/>
          </a:xfrm>
          <a:custGeom>
            <a:avLst/>
            <a:gdLst/>
            <a:ahLst/>
            <a:cxnLst/>
            <a:rect l="l" t="t" r="r" b="b"/>
            <a:pathLst>
              <a:path w="2012950" h="649605">
                <a:moveTo>
                  <a:pt x="0" y="649111"/>
                </a:moveTo>
                <a:lnTo>
                  <a:pt x="2012791" y="649111"/>
                </a:lnTo>
                <a:lnTo>
                  <a:pt x="2012791" y="0"/>
                </a:lnTo>
                <a:lnTo>
                  <a:pt x="0" y="0"/>
                </a:lnTo>
                <a:lnTo>
                  <a:pt x="0" y="6491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05420" y="1034167"/>
            <a:ext cx="581025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540" algn="just">
              <a:lnSpc>
                <a:spcPct val="125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8980" y="2087333"/>
            <a:ext cx="6038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PC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8695" y="2349265"/>
            <a:ext cx="2012950" cy="649605"/>
          </a:xfrm>
          <a:prstGeom prst="rect">
            <a:avLst/>
          </a:prstGeom>
          <a:ln w="2163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675" marR="114935">
              <a:lnSpc>
                <a:spcPct val="102000"/>
              </a:lnSpc>
            </a:pP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算出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ax=1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，启动磁盘 写，正在等待完成</a:t>
            </a:r>
            <a:r>
              <a:rPr sz="1500" b="1" spc="30" dirty="0">
                <a:latin typeface="Arial" panose="020B0604020202020204"/>
                <a:cs typeface="Arial" panose="020B0604020202020204"/>
              </a:rPr>
              <a:t>…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06700" y="2549637"/>
            <a:ext cx="2838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93873" y="3502789"/>
            <a:ext cx="147501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93887" y="3957167"/>
            <a:ext cx="147510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93898" y="4930834"/>
            <a:ext cx="147516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96559" y="5439304"/>
            <a:ext cx="147488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4294" y="1935457"/>
            <a:ext cx="2110740" cy="1090295"/>
          </a:xfrm>
          <a:custGeom>
            <a:avLst/>
            <a:gdLst/>
            <a:ahLst/>
            <a:cxnLst/>
            <a:rect l="l" t="t" r="r" b="b"/>
            <a:pathLst>
              <a:path w="2110740" h="1090295">
                <a:moveTo>
                  <a:pt x="0" y="148983"/>
                </a:moveTo>
                <a:lnTo>
                  <a:pt x="6241" y="106182"/>
                </a:lnTo>
                <a:lnTo>
                  <a:pt x="23755" y="68250"/>
                </a:lnTo>
                <a:lnTo>
                  <a:pt x="50729" y="37000"/>
                </a:lnTo>
                <a:lnTo>
                  <a:pt x="85350" y="14245"/>
                </a:lnTo>
                <a:lnTo>
                  <a:pt x="125803" y="1797"/>
                </a:lnTo>
                <a:lnTo>
                  <a:pt x="1230940" y="0"/>
                </a:lnTo>
                <a:lnTo>
                  <a:pt x="1758487" y="0"/>
                </a:lnTo>
                <a:lnTo>
                  <a:pt x="1961160" y="0"/>
                </a:lnTo>
                <a:lnTo>
                  <a:pt x="1975860" y="715"/>
                </a:lnTo>
                <a:lnTo>
                  <a:pt x="2017251" y="10913"/>
                </a:lnTo>
                <a:lnTo>
                  <a:pt x="2053166" y="31777"/>
                </a:lnTo>
                <a:lnTo>
                  <a:pt x="2081794" y="61493"/>
                </a:lnTo>
                <a:lnTo>
                  <a:pt x="2101320" y="98249"/>
                </a:lnTo>
                <a:lnTo>
                  <a:pt x="2109931" y="140233"/>
                </a:lnTo>
                <a:lnTo>
                  <a:pt x="2110184" y="521430"/>
                </a:lnTo>
                <a:lnTo>
                  <a:pt x="2110184" y="744901"/>
                </a:lnTo>
                <a:lnTo>
                  <a:pt x="2109468" y="759593"/>
                </a:lnTo>
                <a:lnTo>
                  <a:pt x="2099268" y="800972"/>
                </a:lnTo>
                <a:lnTo>
                  <a:pt x="2078398" y="836878"/>
                </a:lnTo>
                <a:lnTo>
                  <a:pt x="2048674" y="865498"/>
                </a:lnTo>
                <a:lnTo>
                  <a:pt x="2011907" y="885019"/>
                </a:lnTo>
                <a:lnTo>
                  <a:pt x="1969913" y="893627"/>
                </a:lnTo>
                <a:lnTo>
                  <a:pt x="1758487" y="893880"/>
                </a:lnTo>
                <a:lnTo>
                  <a:pt x="1769432" y="1089952"/>
                </a:lnTo>
                <a:lnTo>
                  <a:pt x="1230940" y="893880"/>
                </a:lnTo>
                <a:lnTo>
                  <a:pt x="149023" y="893880"/>
                </a:lnTo>
                <a:lnTo>
                  <a:pt x="134323" y="893164"/>
                </a:lnTo>
                <a:lnTo>
                  <a:pt x="92933" y="882967"/>
                </a:lnTo>
                <a:lnTo>
                  <a:pt x="57017" y="862103"/>
                </a:lnTo>
                <a:lnTo>
                  <a:pt x="28389" y="832387"/>
                </a:lnTo>
                <a:lnTo>
                  <a:pt x="8863" y="795630"/>
                </a:lnTo>
                <a:lnTo>
                  <a:pt x="252" y="753647"/>
                </a:lnTo>
                <a:lnTo>
                  <a:pt x="0" y="744901"/>
                </a:lnTo>
                <a:lnTo>
                  <a:pt x="0" y="521430"/>
                </a:lnTo>
                <a:lnTo>
                  <a:pt x="0" y="148983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307797" y="3321339"/>
            <a:ext cx="4987925" cy="244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读写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OS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中最重要的结构，贯穿始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终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要操作寄存器完成切换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925" b="1" spc="8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要写调度程序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925" b="1" spc="8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 </a:t>
            </a:r>
            <a:endParaRPr sz="2925" b="1" spc="82" baseline="10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5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要有进程同步与合作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925" b="1" spc="8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 </a:t>
            </a:r>
            <a:endParaRPr sz="2925" b="1" spc="82" baseline="1000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5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要有地址映射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7677" y="2059280"/>
            <a:ext cx="1845310" cy="669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3530">
              <a:lnSpc>
                <a:spcPts val="2730"/>
              </a:lnSpc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如何形成多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300" b="1" spc="4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程图像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6535" y="4425068"/>
            <a:ext cx="147473" cy="163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5635" y="2031365"/>
            <a:ext cx="7844790" cy="318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sz="5925" b="1" spc="195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5925" b="1" spc="217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r>
              <a:rPr sz="5925" b="1" baseline="400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	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endParaRPr sz="4600" b="1" dirty="0">
              <a:solidFill>
                <a:srgbClr val="0033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L</a:t>
            </a: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10</a:t>
            </a:r>
            <a:r>
              <a:rPr sz="5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.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  <a:sym typeface="+mn-ea"/>
              </a:rPr>
              <a:t> </a:t>
            </a:r>
            <a:r>
              <a:rPr sz="510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用户级线</a:t>
            </a:r>
            <a:r>
              <a:rPr sz="510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程</a:t>
            </a:r>
            <a:endParaRPr sz="5100" b="1" spc="13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  <a:sym typeface="+mn-ea"/>
            </a:endParaRPr>
          </a:p>
          <a:p>
            <a:pPr marL="12700" algn="ctr">
              <a:lnSpc>
                <a:spcPct val="100000"/>
              </a:lnSpc>
              <a:tabLst>
                <a:tab pos="2338705" algn="l"/>
                <a:tab pos="5048885" algn="l"/>
              </a:tabLst>
            </a:pPr>
            <a:r>
              <a:rPr lang="en-US"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U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er</a:t>
            </a:r>
            <a:r>
              <a:rPr sz="3400" b="1" spc="-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Th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ads</a:t>
            </a: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...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2233295" algn="ctr">
              <a:lnSpc>
                <a:spcPct val="100000"/>
              </a:lnSpc>
              <a:spcBef>
                <a:spcPts val="2680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"/>
          <p:cNvSpPr txBox="1"/>
          <p:nvPr>
            <p:custDataLst>
              <p:tags r:id="rId1"/>
            </p:custDataLst>
          </p:nvPr>
        </p:nvSpPr>
        <p:spPr>
          <a:xfrm>
            <a:off x="694287" y="1379513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53" name="标题 5735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进程回顾</a:t>
            </a:r>
            <a:endParaRPr lang="zh-CN" altLang="en-US"/>
          </a:p>
        </p:txBody>
      </p:sp>
      <p:graphicFrame>
        <p:nvGraphicFramePr>
          <p:cNvPr id="57352" name="内容占位符 57351"/>
          <p:cNvGraphicFramePr/>
          <p:nvPr>
            <p:ph idx="1"/>
          </p:nvPr>
        </p:nvGraphicFramePr>
        <p:xfrm>
          <a:off x="9110956" y="0"/>
          <a:ext cx="1273410" cy="1343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0956" y="0"/>
                        <a:ext cx="1273410" cy="134337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矩形 57354"/>
          <p:cNvSpPr/>
          <p:nvPr/>
        </p:nvSpPr>
        <p:spPr>
          <a:xfrm>
            <a:off x="984221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进程 </a:t>
            </a:r>
            <a:r>
              <a:rPr lang="en-US" altLang="zh-CN" sz="3085" dirty="0">
                <a:solidFill>
                  <a:srgbClr val="FF0000"/>
                </a:solidFill>
                <a:sym typeface="Symbol" panose="05050102010706020507" pitchFamily="18" charset="2"/>
              </a:rPr>
              <a:t> </a:t>
            </a:r>
            <a:r>
              <a:rPr lang="zh-CN" altLang="en-US" sz="3085" dirty="0">
                <a:solidFill>
                  <a:srgbClr val="FF0000"/>
                </a:solidFill>
                <a:sym typeface="Symbol" panose="05050102010706020507" pitchFamily="18" charset="2"/>
              </a:rPr>
              <a:t>进行中的程序</a:t>
            </a:r>
            <a:endParaRPr lang="zh-CN" altLang="zh-CN" sz="3085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57387" name="组合 57386"/>
          <p:cNvGrpSpPr/>
          <p:nvPr/>
        </p:nvGrpSpPr>
        <p:grpSpPr>
          <a:xfrm>
            <a:off x="1316567" y="2099028"/>
            <a:ext cx="3442406" cy="1233179"/>
            <a:chOff x="576" y="1200"/>
            <a:chExt cx="1968" cy="705"/>
          </a:xfrm>
        </p:grpSpPr>
        <p:sp>
          <p:nvSpPr>
            <p:cNvPr id="57357" name="矩形 57356"/>
            <p:cNvSpPr/>
            <p:nvPr/>
          </p:nvSpPr>
          <p:spPr>
            <a:xfrm>
              <a:off x="576" y="1200"/>
              <a:ext cx="1968" cy="7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需要准备程序执行所需的资源</a:t>
              </a:r>
              <a:endParaRPr lang="zh-CN" altLang="en-US" sz="2645" b="1" dirty="0">
                <a:latin typeface="Arial" panose="020B0604020202020204" pitchFamily="34" charset="0"/>
              </a:endParaRPr>
            </a:p>
          </p:txBody>
        </p:sp>
        <p:pic>
          <p:nvPicPr>
            <p:cNvPr id="57358" name="图片 57357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" y="1349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7386" name="组合 57385"/>
          <p:cNvGrpSpPr/>
          <p:nvPr/>
        </p:nvGrpSpPr>
        <p:grpSpPr>
          <a:xfrm>
            <a:off x="5178778" y="1899620"/>
            <a:ext cx="4850504" cy="3131050"/>
            <a:chOff x="2929" y="1584"/>
            <a:chExt cx="2773" cy="1790"/>
          </a:xfrm>
        </p:grpSpPr>
        <p:grpSp>
          <p:nvGrpSpPr>
            <p:cNvPr id="57365" name="组合 57364"/>
            <p:cNvGrpSpPr/>
            <p:nvPr/>
          </p:nvGrpSpPr>
          <p:grpSpPr>
            <a:xfrm>
              <a:off x="2929" y="1601"/>
              <a:ext cx="2345" cy="1773"/>
              <a:chOff x="48" y="758"/>
              <a:chExt cx="2345" cy="1773"/>
            </a:xfrm>
          </p:grpSpPr>
          <p:sp>
            <p:nvSpPr>
              <p:cNvPr id="57366" name="矩形 57365"/>
              <p:cNvSpPr/>
              <p:nvPr/>
            </p:nvSpPr>
            <p:spPr>
              <a:xfrm>
                <a:off x="528" y="1958"/>
                <a:ext cx="1440" cy="43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67" name="文本框 57366"/>
              <p:cNvSpPr txBox="1"/>
              <p:nvPr/>
            </p:nvSpPr>
            <p:spPr>
              <a:xfrm>
                <a:off x="528" y="2006"/>
                <a:ext cx="1437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30000"/>
                  </a:spcBef>
                </a:pPr>
                <a:r>
                  <a:rPr lang="en-US" altLang="zh-CN" sz="2205" b="1" dirty="0">
                    <a:latin typeface="Tahoma" panose="020B0604030504040204" pitchFamily="34" charset="0"/>
                  </a:rPr>
                  <a:t>  </a:t>
                </a:r>
                <a:r>
                  <a:rPr lang="en-US" altLang="zh-CN" sz="2205" b="1">
                    <a:latin typeface="Tahoma" panose="020B0604030504040204" pitchFamily="34" charset="0"/>
                  </a:rPr>
                  <a:t> </a:t>
                </a:r>
                <a:r>
                  <a:rPr lang="en-US" altLang="zh-CN" sz="2205" b="1" err="1">
                    <a:latin typeface="Tahoma" panose="020B0604030504040204" pitchFamily="34" charset="0"/>
                  </a:rPr>
                  <a:t>mov</a:t>
                </a:r>
                <a:r>
                  <a:rPr lang="en-US" altLang="zh-CN" sz="2205" b="1">
                    <a:latin typeface="Tahoma" panose="020B0604030504040204" pitchFamily="34" charset="0"/>
                  </a:rPr>
                  <a:t> [100], ax</a:t>
                </a:r>
                <a:endParaRPr lang="en-US" altLang="zh-CN" sz="2205" b="1">
                  <a:latin typeface="Tahoma" panose="020B0604030504040204" pitchFamily="34" charset="0"/>
                </a:endParaRPr>
              </a:p>
            </p:txBody>
          </p:sp>
          <p:sp>
            <p:nvSpPr>
              <p:cNvPr id="57368" name="矩形 57367"/>
              <p:cNvSpPr/>
              <p:nvPr/>
            </p:nvSpPr>
            <p:spPr>
              <a:xfrm>
                <a:off x="49" y="2285"/>
                <a:ext cx="177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endParaRPr sz="2205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369" name="矩形 57368"/>
              <p:cNvSpPr/>
              <p:nvPr/>
            </p:nvSpPr>
            <p:spPr>
              <a:xfrm>
                <a:off x="528" y="1622"/>
                <a:ext cx="1440" cy="3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70" name="文本框 57369"/>
              <p:cNvSpPr txBox="1"/>
              <p:nvPr/>
            </p:nvSpPr>
            <p:spPr>
              <a:xfrm>
                <a:off x="528" y="1670"/>
                <a:ext cx="1437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30000"/>
                  </a:spcBef>
                </a:pPr>
                <a:r>
                  <a:rPr lang="en-US" altLang="zh-CN" sz="2205" b="1">
                    <a:latin typeface="Tahoma" panose="020B0604030504040204" pitchFamily="34" charset="0"/>
                  </a:rPr>
                  <a:t>   100:  1</a:t>
                </a:r>
                <a:endParaRPr lang="en-US" altLang="zh-CN" sz="2205" b="1">
                  <a:latin typeface="Tahoma" panose="020B0604030504040204" pitchFamily="34" charset="0"/>
                </a:endParaRPr>
              </a:p>
            </p:txBody>
          </p:sp>
          <p:sp>
            <p:nvSpPr>
              <p:cNvPr id="57371" name="矩形 57370"/>
              <p:cNvSpPr/>
              <p:nvPr/>
            </p:nvSpPr>
            <p:spPr>
              <a:xfrm>
                <a:off x="528" y="806"/>
                <a:ext cx="1440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72" name="矩形 57371"/>
              <p:cNvSpPr/>
              <p:nvPr/>
            </p:nvSpPr>
            <p:spPr>
              <a:xfrm>
                <a:off x="528" y="1382"/>
                <a:ext cx="1440" cy="2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73" name="矩形 57372"/>
              <p:cNvSpPr/>
              <p:nvPr/>
            </p:nvSpPr>
            <p:spPr>
              <a:xfrm>
                <a:off x="48" y="852"/>
                <a:ext cx="576" cy="1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985" b="1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Stack</a:t>
                </a:r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r>
                  <a:rPr lang="en-US" altLang="zh-CN" sz="1985" b="1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Heap</a:t>
                </a:r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r>
                  <a:rPr lang="en-US" altLang="zh-CN" sz="1985" b="1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Data</a:t>
                </a:r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  <a:p>
                <a:r>
                  <a:rPr lang="en-US" altLang="zh-CN" sz="1985" b="1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Code</a:t>
                </a:r>
                <a:endParaRPr lang="en-US" altLang="zh-CN" sz="1985" b="1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7374" name="矩形 57373"/>
              <p:cNvSpPr/>
              <p:nvPr/>
            </p:nvSpPr>
            <p:spPr>
              <a:xfrm>
                <a:off x="528" y="1046"/>
                <a:ext cx="1440" cy="3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75" name="直接连接符 57374"/>
              <p:cNvSpPr/>
              <p:nvPr/>
            </p:nvSpPr>
            <p:spPr>
              <a:xfrm>
                <a:off x="1008" y="104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76" name="直接连接符 57375"/>
              <p:cNvSpPr/>
              <p:nvPr/>
            </p:nvSpPr>
            <p:spPr>
              <a:xfrm flipV="1">
                <a:off x="1440" y="1190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77" name="矩形 57376"/>
              <p:cNvSpPr/>
              <p:nvPr/>
            </p:nvSpPr>
            <p:spPr>
              <a:xfrm>
                <a:off x="1968" y="2246"/>
                <a:ext cx="42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1985" b="1">
                    <a:latin typeface="Arial" panose="020B0604020202020204" pitchFamily="34" charset="0"/>
                  </a:rPr>
                  <a:t>0000</a:t>
                </a:r>
                <a:endParaRPr lang="en-US" altLang="zh-CN" sz="1985" b="1">
                  <a:latin typeface="Arial" panose="020B0604020202020204" pitchFamily="34" charset="0"/>
                </a:endParaRPr>
              </a:p>
            </p:txBody>
          </p:sp>
          <p:sp>
            <p:nvSpPr>
              <p:cNvPr id="57378" name="矩形 57377"/>
              <p:cNvSpPr/>
              <p:nvPr/>
            </p:nvSpPr>
            <p:spPr>
              <a:xfrm>
                <a:off x="1968" y="758"/>
                <a:ext cx="296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1985" b="1" err="1">
                    <a:latin typeface="Arial" panose="020B0604020202020204" pitchFamily="34" charset="0"/>
                  </a:rPr>
                  <a:t>ffff</a:t>
                </a:r>
                <a:endParaRPr lang="en-US" altLang="zh-CN" sz="1985" b="1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380" name="爆炸形 2 57379"/>
            <p:cNvSpPr/>
            <p:nvPr/>
          </p:nvSpPr>
          <p:spPr>
            <a:xfrm>
              <a:off x="5040" y="1824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57382" name="矩形 57381"/>
            <p:cNvSpPr/>
            <p:nvPr/>
          </p:nvSpPr>
          <p:spPr>
            <a:xfrm>
              <a:off x="5017" y="1584"/>
              <a:ext cx="685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映射表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384" name="直接连接符 57383"/>
            <p:cNvSpPr/>
            <p:nvPr/>
          </p:nvSpPr>
          <p:spPr>
            <a:xfrm flipV="1">
              <a:off x="4368" y="2592"/>
              <a:ext cx="816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7388" name="组合 57387"/>
          <p:cNvGrpSpPr/>
          <p:nvPr/>
        </p:nvGrpSpPr>
        <p:grpSpPr>
          <a:xfrm>
            <a:off x="1316567" y="4565385"/>
            <a:ext cx="3442406" cy="1233179"/>
            <a:chOff x="576" y="1200"/>
            <a:chExt cx="1968" cy="705"/>
          </a:xfrm>
        </p:grpSpPr>
        <p:sp>
          <p:nvSpPr>
            <p:cNvPr id="57389" name="矩形 57388"/>
            <p:cNvSpPr/>
            <p:nvPr/>
          </p:nvSpPr>
          <p:spPr>
            <a:xfrm>
              <a:off x="576" y="1200"/>
              <a:ext cx="1968" cy="7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需要记录进程如何向前推进</a:t>
              </a:r>
              <a:endParaRPr lang="zh-CN" altLang="en-US" sz="2645" b="1" dirty="0">
                <a:latin typeface="Arial" panose="020B0604020202020204" pitchFamily="34" charset="0"/>
              </a:endParaRPr>
            </a:p>
          </p:txBody>
        </p:sp>
        <p:pic>
          <p:nvPicPr>
            <p:cNvPr id="57390" name="图片 57389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" y="1349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7392" name="组合 57391"/>
          <p:cNvGrpSpPr/>
          <p:nvPr/>
        </p:nvGrpSpPr>
        <p:grpSpPr>
          <a:xfrm>
            <a:off x="4860425" y="4953706"/>
            <a:ext cx="5272058" cy="2350911"/>
            <a:chOff x="2160" y="2832"/>
            <a:chExt cx="2832" cy="1344"/>
          </a:xfrm>
        </p:grpSpPr>
        <p:grpSp>
          <p:nvGrpSpPr>
            <p:cNvPr id="57393" name="组合 57392"/>
            <p:cNvGrpSpPr/>
            <p:nvPr/>
          </p:nvGrpSpPr>
          <p:grpSpPr>
            <a:xfrm>
              <a:off x="3739" y="2832"/>
              <a:ext cx="1253" cy="1344"/>
              <a:chOff x="4312" y="747"/>
              <a:chExt cx="1253" cy="1258"/>
            </a:xfrm>
          </p:grpSpPr>
          <p:sp>
            <p:nvSpPr>
              <p:cNvPr id="57394" name="矩形 57393"/>
              <p:cNvSpPr/>
              <p:nvPr/>
            </p:nvSpPr>
            <p:spPr>
              <a:xfrm>
                <a:off x="4320" y="768"/>
                <a:ext cx="1059" cy="1237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57395" name="矩形 57394"/>
              <p:cNvSpPr/>
              <p:nvPr/>
            </p:nvSpPr>
            <p:spPr>
              <a:xfrm>
                <a:off x="4312" y="747"/>
                <a:ext cx="562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645" b="1" dirty="0">
                    <a:latin typeface="Arial" panose="020B0604020202020204" pitchFamily="34" charset="0"/>
                  </a:rPr>
                  <a:t>进程</a:t>
                </a:r>
                <a:r>
                  <a:rPr lang="en-US" altLang="zh-CN" sz="2645" b="1">
                    <a:latin typeface="Arial" panose="020B0604020202020204" pitchFamily="34" charset="0"/>
                  </a:rPr>
                  <a:t>1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grpSp>
            <p:nvGrpSpPr>
              <p:cNvPr id="57396" name="组合 57395"/>
              <p:cNvGrpSpPr/>
              <p:nvPr/>
            </p:nvGrpSpPr>
            <p:grpSpPr>
              <a:xfrm>
                <a:off x="4461" y="1035"/>
                <a:ext cx="1104" cy="276"/>
                <a:chOff x="4128" y="1863"/>
                <a:chExt cx="1104" cy="276"/>
              </a:xfrm>
            </p:grpSpPr>
            <p:sp>
              <p:nvSpPr>
                <p:cNvPr id="57397" name="文本框 57396"/>
                <p:cNvSpPr txBox="1"/>
                <p:nvPr/>
              </p:nvSpPr>
              <p:spPr>
                <a:xfrm>
                  <a:off x="4128" y="1872"/>
                  <a:ext cx="480" cy="26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endParaRPr sz="2645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398" name="文本框 57397"/>
                <p:cNvSpPr txBox="1"/>
                <p:nvPr/>
              </p:nvSpPr>
              <p:spPr>
                <a:xfrm>
                  <a:off x="4656" y="1863"/>
                  <a:ext cx="576" cy="25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645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ax</a:t>
                  </a:r>
                  <a:endPara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7399" name="文本框 57398"/>
              <p:cNvSpPr txBox="1"/>
              <p:nvPr/>
            </p:nvSpPr>
            <p:spPr>
              <a:xfrm>
                <a:off x="4509" y="1035"/>
                <a:ext cx="345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645" b="1">
                    <a:latin typeface="Arial" panose="020B0604020202020204" pitchFamily="34" charset="0"/>
                  </a:rPr>
                  <a:t> 1</a:t>
                </a:r>
                <a:endParaRPr lang="en-US" altLang="zh-CN" sz="2645" b="1">
                  <a:latin typeface="Arial" panose="020B0604020202020204" pitchFamily="34" charset="0"/>
                </a:endParaRPr>
              </a:p>
            </p:txBody>
          </p:sp>
          <p:grpSp>
            <p:nvGrpSpPr>
              <p:cNvPr id="57400" name="组合 57399"/>
              <p:cNvGrpSpPr/>
              <p:nvPr/>
            </p:nvGrpSpPr>
            <p:grpSpPr>
              <a:xfrm>
                <a:off x="4461" y="1371"/>
                <a:ext cx="1104" cy="276"/>
                <a:chOff x="4128" y="1863"/>
                <a:chExt cx="1104" cy="276"/>
              </a:xfrm>
            </p:grpSpPr>
            <p:sp>
              <p:nvSpPr>
                <p:cNvPr id="57401" name="文本框 57400"/>
                <p:cNvSpPr txBox="1"/>
                <p:nvPr/>
              </p:nvSpPr>
              <p:spPr>
                <a:xfrm>
                  <a:off x="4128" y="1872"/>
                  <a:ext cx="480" cy="26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645" b="1">
                      <a:latin typeface="Arial" panose="020B0604020202020204" pitchFamily="34" charset="0"/>
                    </a:rPr>
                    <a:t>1</a:t>
                  </a:r>
                  <a:endParaRPr lang="en-US" altLang="zh-CN" sz="2645" b="1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402" name="文本框 57401"/>
                <p:cNvSpPr txBox="1"/>
                <p:nvPr/>
              </p:nvSpPr>
              <p:spPr>
                <a:xfrm>
                  <a:off x="4656" y="1863"/>
                  <a:ext cx="576" cy="25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645" b="1" err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bx</a:t>
                  </a:r>
                  <a:endPara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7403" name="组合 57402"/>
              <p:cNvGrpSpPr/>
              <p:nvPr/>
            </p:nvGrpSpPr>
            <p:grpSpPr>
              <a:xfrm>
                <a:off x="4461" y="1699"/>
                <a:ext cx="1104" cy="276"/>
                <a:chOff x="4128" y="1863"/>
                <a:chExt cx="1104" cy="276"/>
              </a:xfrm>
            </p:grpSpPr>
            <p:sp>
              <p:nvSpPr>
                <p:cNvPr id="57404" name="文本框 57403"/>
                <p:cNvSpPr txBox="1"/>
                <p:nvPr/>
              </p:nvSpPr>
              <p:spPr>
                <a:xfrm>
                  <a:off x="4128" y="1872"/>
                  <a:ext cx="480" cy="267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endParaRPr sz="2645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405" name="文本框 57404"/>
                <p:cNvSpPr txBox="1"/>
                <p:nvPr/>
              </p:nvSpPr>
              <p:spPr>
                <a:xfrm>
                  <a:off x="4656" y="1863"/>
                  <a:ext cx="576" cy="2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645" b="1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PC</a:t>
                  </a:r>
                  <a:endParaRPr lang="en-US" altLang="zh-CN" sz="2645" b="1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7406" name="矩形 57405"/>
            <p:cNvSpPr/>
            <p:nvPr/>
          </p:nvSpPr>
          <p:spPr>
            <a:xfrm>
              <a:off x="2160" y="3168"/>
              <a:ext cx="1152" cy="384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zh-CN" altLang="en-US" sz="2645" b="1" dirty="0">
                  <a:solidFill>
                    <a:schemeClr val="accent2"/>
                  </a:solidFill>
                  <a:latin typeface="Comic Sans MS" panose="030F0702030302020204" charset="0"/>
                </a:rPr>
                <a:t>寄存器映像</a:t>
              </a:r>
              <a:endParaRPr lang="zh-CN" altLang="en-US" sz="2645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407" name="矩形 57406"/>
            <p:cNvSpPr/>
            <p:nvPr/>
          </p:nvSpPr>
          <p:spPr>
            <a:xfrm>
              <a:off x="2160" y="3552"/>
              <a:ext cx="1152" cy="576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r>
                <a:rPr lang="en-US" altLang="zh-CN" sz="2645" b="1">
                  <a:solidFill>
                    <a:srgbClr val="0F0C19"/>
                  </a:solidFill>
                  <a:latin typeface="Comic Sans MS" panose="030F0702030302020204" charset="0"/>
                </a:rPr>
                <a:t>    ... </a:t>
              </a:r>
              <a:endParaRPr lang="en-US" altLang="zh-CN" sz="2645" b="1">
                <a:solidFill>
                  <a:srgbClr val="0F0C1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408" name="左大括号 57407"/>
            <p:cNvSpPr/>
            <p:nvPr/>
          </p:nvSpPr>
          <p:spPr>
            <a:xfrm>
              <a:off x="3312" y="2928"/>
              <a:ext cx="336" cy="1056"/>
            </a:xfrm>
            <a:prstGeom prst="leftBrace">
              <a:avLst>
                <a:gd name="adj1" fmla="val 78571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标题 17715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进程回顾</a:t>
            </a:r>
            <a:endParaRPr lang="zh-CN" altLang="en-US"/>
          </a:p>
        </p:txBody>
      </p:sp>
      <p:graphicFrame>
        <p:nvGraphicFramePr>
          <p:cNvPr id="177155" name="内容占位符 177154"/>
          <p:cNvGraphicFramePr/>
          <p:nvPr>
            <p:ph idx="1"/>
          </p:nvPr>
        </p:nvGraphicFramePr>
        <p:xfrm>
          <a:off x="9110956" y="0"/>
          <a:ext cx="1273410" cy="1343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0956" y="0"/>
                        <a:ext cx="1273410" cy="134337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6" name="矩形 177155"/>
          <p:cNvSpPr/>
          <p:nvPr/>
        </p:nvSpPr>
        <p:spPr>
          <a:xfrm>
            <a:off x="984221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进程 </a:t>
            </a:r>
            <a:r>
              <a:rPr lang="en-US" altLang="zh-CN" sz="3085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zh-CN" altLang="en-US" sz="3085" dirty="0">
                <a:solidFill>
                  <a:srgbClr val="FF0000"/>
                </a:solidFill>
                <a:sym typeface="Symbol" panose="05050102010706020507" pitchFamily="18" charset="2"/>
              </a:rPr>
              <a:t>资源 </a:t>
            </a:r>
            <a:r>
              <a:rPr lang="en-US" altLang="zh-CN" sz="3085">
                <a:solidFill>
                  <a:srgbClr val="FF0000"/>
                </a:solidFill>
                <a:sym typeface="Symbol" panose="05050102010706020507" pitchFamily="18" charset="2"/>
              </a:rPr>
              <a:t>+ </a:t>
            </a:r>
            <a:r>
              <a:rPr lang="zh-CN" altLang="en-US" sz="3085" dirty="0">
                <a:solidFill>
                  <a:srgbClr val="FF0000"/>
                </a:solidFill>
                <a:sym typeface="Symbol" panose="05050102010706020507" pitchFamily="18" charset="2"/>
              </a:rPr>
              <a:t>指令执行</a:t>
            </a:r>
            <a:endParaRPr lang="zh-CN" altLang="zh-CN" sz="3085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177199" name="组合 177198"/>
          <p:cNvGrpSpPr/>
          <p:nvPr/>
        </p:nvGrpSpPr>
        <p:grpSpPr>
          <a:xfrm>
            <a:off x="1316567" y="2015067"/>
            <a:ext cx="6893558" cy="661194"/>
            <a:chOff x="523" y="1876"/>
            <a:chExt cx="3941" cy="378"/>
          </a:xfrm>
        </p:grpSpPr>
        <p:sp>
          <p:nvSpPr>
            <p:cNvPr id="177200" name="矩形 177199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将资源和指令执行分开（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分治思想</a:t>
              </a:r>
              <a:r>
                <a:rPr lang="zh-CN" altLang="en-US" sz="2645" b="1" dirty="0">
                  <a:latin typeface="Arial" panose="020B0604020202020204" pitchFamily="34" charset="0"/>
                </a:rPr>
                <a:t>）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77201" name="图片 177200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77202" name="组合 177201"/>
          <p:cNvGrpSpPr/>
          <p:nvPr/>
        </p:nvGrpSpPr>
        <p:grpSpPr>
          <a:xfrm>
            <a:off x="1307821" y="2609791"/>
            <a:ext cx="6893557" cy="661194"/>
            <a:chOff x="523" y="1876"/>
            <a:chExt cx="3941" cy="378"/>
          </a:xfrm>
        </p:grpSpPr>
        <p:sp>
          <p:nvSpPr>
            <p:cNvPr id="177203" name="矩形 177202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一个资源 </a:t>
              </a:r>
              <a:r>
                <a:rPr lang="en-US" altLang="zh-CN" sz="2645" b="1">
                  <a:latin typeface="Arial" panose="020B0604020202020204" pitchFamily="34" charset="0"/>
                </a:rPr>
                <a:t>+ </a:t>
              </a:r>
              <a:r>
                <a:rPr lang="zh-CN" altLang="en-US" sz="2645" b="1" dirty="0">
                  <a:latin typeface="Arial" panose="020B0604020202020204" pitchFamily="34" charset="0"/>
                </a:rPr>
                <a:t>多个指令执行序列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77204" name="图片 177203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77205" name="组合 177204"/>
          <p:cNvGrpSpPr/>
          <p:nvPr/>
        </p:nvGrpSpPr>
        <p:grpSpPr>
          <a:xfrm>
            <a:off x="644878" y="3358444"/>
            <a:ext cx="8731956" cy="3022600"/>
            <a:chOff x="192" y="1296"/>
            <a:chExt cx="4967" cy="1728"/>
          </a:xfrm>
        </p:grpSpPr>
        <p:sp>
          <p:nvSpPr>
            <p:cNvPr id="177206" name="矩形 177205"/>
            <p:cNvSpPr/>
            <p:nvPr/>
          </p:nvSpPr>
          <p:spPr>
            <a:xfrm>
              <a:off x="768" y="1296"/>
              <a:ext cx="3216" cy="17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07" name="矩形 177206"/>
            <p:cNvSpPr/>
            <p:nvPr/>
          </p:nvSpPr>
          <p:spPr>
            <a:xfrm>
              <a:off x="892" y="1355"/>
              <a:ext cx="1440" cy="11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08" name="文本框 177207"/>
            <p:cNvSpPr txBox="1"/>
            <p:nvPr/>
          </p:nvSpPr>
          <p:spPr>
            <a:xfrm>
              <a:off x="892" y="1391"/>
              <a:ext cx="158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77209" name="矩形 177208"/>
            <p:cNvSpPr/>
            <p:nvPr/>
          </p:nvSpPr>
          <p:spPr>
            <a:xfrm>
              <a:off x="192" y="1440"/>
              <a:ext cx="489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645" b="1" dirty="0">
                  <a:latin typeface="Arial" panose="020B0604020202020204" pitchFamily="34" charset="0"/>
                </a:rPr>
                <a:t>进程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sp>
          <p:nvSpPr>
            <p:cNvPr id="177210" name="爆炸形 2 177209"/>
            <p:cNvSpPr/>
            <p:nvPr/>
          </p:nvSpPr>
          <p:spPr>
            <a:xfrm>
              <a:off x="4464" y="1584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1" name="矩形 177210"/>
            <p:cNvSpPr/>
            <p:nvPr/>
          </p:nvSpPr>
          <p:spPr>
            <a:xfrm>
              <a:off x="4464" y="1296"/>
              <a:ext cx="695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latin typeface="Arial" panose="020B0604020202020204" pitchFamily="34" charset="0"/>
                </a:rPr>
                <a:t>映射表</a:t>
              </a:r>
              <a:endParaRPr lang="zh-CN" altLang="en-US" sz="2645" b="1">
                <a:latin typeface="Arial" panose="020B0604020202020204" pitchFamily="34" charset="0"/>
              </a:endParaRPr>
            </a:p>
          </p:txBody>
        </p:sp>
        <p:sp>
          <p:nvSpPr>
            <p:cNvPr id="177212" name="任意多边形 177211"/>
            <p:cNvSpPr/>
            <p:nvPr/>
          </p:nvSpPr>
          <p:spPr>
            <a:xfrm>
              <a:off x="1564" y="1632"/>
              <a:ext cx="96" cy="48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3" name="矩形 177212"/>
            <p:cNvSpPr/>
            <p:nvPr/>
          </p:nvSpPr>
          <p:spPr>
            <a:xfrm>
              <a:off x="2431" y="1345"/>
              <a:ext cx="1440" cy="11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4" name="文本框 177213"/>
            <p:cNvSpPr txBox="1"/>
            <p:nvPr/>
          </p:nvSpPr>
          <p:spPr>
            <a:xfrm>
              <a:off x="2431" y="1381"/>
              <a:ext cx="158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en-US" altLang="zh-CN" sz="2205" b="1" err="1">
                  <a:latin typeface="Tahoma" panose="020B0604030504040204" pitchFamily="34" charset="0"/>
                </a:rPr>
                <a:t>mov</a:t>
              </a:r>
              <a:r>
                <a:rPr lang="en-US" altLang="zh-CN" sz="2205" b="1">
                  <a:latin typeface="Tahoma" panose="020B0604030504040204" pitchFamily="34" charset="0"/>
                </a:rPr>
                <a:t> [100], ax</a:t>
              </a:r>
              <a:endParaRPr lang="en-US" altLang="zh-CN" sz="2205" b="1">
                <a:latin typeface="Tahoma" panose="020B0604030504040204" pitchFamily="34" charset="0"/>
              </a:endParaRPr>
            </a:p>
          </p:txBody>
        </p:sp>
        <p:sp>
          <p:nvSpPr>
            <p:cNvPr id="177215" name="任意多边形 177214"/>
            <p:cNvSpPr/>
            <p:nvPr/>
          </p:nvSpPr>
          <p:spPr>
            <a:xfrm>
              <a:off x="3103" y="1632"/>
              <a:ext cx="96" cy="48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6" name="矩形 177215"/>
            <p:cNvSpPr/>
            <p:nvPr/>
          </p:nvSpPr>
          <p:spPr>
            <a:xfrm>
              <a:off x="892" y="2208"/>
              <a:ext cx="1440" cy="34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7" name="文本框 177216"/>
            <p:cNvSpPr txBox="1"/>
            <p:nvPr/>
          </p:nvSpPr>
          <p:spPr>
            <a:xfrm>
              <a:off x="988" y="2256"/>
              <a:ext cx="120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zh-CN" altLang="en-US" sz="2205" b="1" dirty="0">
                  <a:latin typeface="Tahoma" panose="020B0604030504040204" pitchFamily="34" charset="0"/>
                </a:rPr>
                <a:t>寄存器映像</a:t>
              </a:r>
              <a:endParaRPr lang="zh-CN" altLang="en-US" sz="2205" b="1" dirty="0">
                <a:latin typeface="Tahoma" panose="020B0604030504040204" pitchFamily="34" charset="0"/>
              </a:endParaRPr>
            </a:p>
          </p:txBody>
        </p:sp>
        <p:sp>
          <p:nvSpPr>
            <p:cNvPr id="177218" name="矩形 177217"/>
            <p:cNvSpPr/>
            <p:nvPr/>
          </p:nvSpPr>
          <p:spPr>
            <a:xfrm>
              <a:off x="2430" y="2208"/>
              <a:ext cx="1440" cy="34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19" name="文本框 177218"/>
            <p:cNvSpPr txBox="1"/>
            <p:nvPr/>
          </p:nvSpPr>
          <p:spPr>
            <a:xfrm>
              <a:off x="2524" y="2256"/>
              <a:ext cx="120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5" b="1" dirty="0">
                  <a:latin typeface="Tahoma" panose="020B0604030504040204" pitchFamily="34" charset="0"/>
                </a:rPr>
                <a:t>  </a:t>
              </a:r>
              <a:r>
                <a:rPr lang="en-US" altLang="zh-CN" sz="2205" b="1">
                  <a:latin typeface="Tahoma" panose="020B0604030504040204" pitchFamily="34" charset="0"/>
                </a:rPr>
                <a:t> </a:t>
              </a:r>
              <a:r>
                <a:rPr lang="zh-CN" altLang="en-US" sz="2205" b="1" dirty="0">
                  <a:latin typeface="Tahoma" panose="020B0604030504040204" pitchFamily="34" charset="0"/>
                </a:rPr>
                <a:t>寄存器映像</a:t>
              </a:r>
              <a:endParaRPr lang="zh-CN" altLang="en-US" sz="2205" b="1" dirty="0">
                <a:latin typeface="Tahoma" panose="020B0604030504040204" pitchFamily="34" charset="0"/>
              </a:endParaRPr>
            </a:p>
          </p:txBody>
        </p:sp>
        <p:sp>
          <p:nvSpPr>
            <p:cNvPr id="177220" name="矩形 177219"/>
            <p:cNvSpPr/>
            <p:nvPr/>
          </p:nvSpPr>
          <p:spPr>
            <a:xfrm>
              <a:off x="768" y="2678"/>
              <a:ext cx="3216" cy="34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77221" name="文本框 177220"/>
            <p:cNvSpPr txBox="1"/>
            <p:nvPr/>
          </p:nvSpPr>
          <p:spPr>
            <a:xfrm>
              <a:off x="864" y="2726"/>
              <a:ext cx="3072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205" b="1" dirty="0">
                  <a:latin typeface="Tahoma" panose="020B0604030504040204" pitchFamily="34" charset="0"/>
                </a:rPr>
                <a:t>进程代码、进程数据、进程资源</a:t>
              </a:r>
              <a:endParaRPr lang="zh-CN" altLang="en-US" sz="2205" b="1">
                <a:latin typeface="Tahoma" panose="020B0604030504040204" pitchFamily="34" charset="0"/>
              </a:endParaRPr>
            </a:p>
          </p:txBody>
        </p:sp>
        <p:sp>
          <p:nvSpPr>
            <p:cNvPr id="177222" name="直接连接符 177221"/>
            <p:cNvSpPr/>
            <p:nvPr/>
          </p:nvSpPr>
          <p:spPr>
            <a:xfrm flipV="1">
              <a:off x="3840" y="2304"/>
              <a:ext cx="768" cy="5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77232" name="组合 177231"/>
          <p:cNvGrpSpPr/>
          <p:nvPr/>
        </p:nvGrpSpPr>
        <p:grpSpPr>
          <a:xfrm>
            <a:off x="4255206" y="2099028"/>
            <a:ext cx="4869744" cy="1511300"/>
            <a:chOff x="2256" y="1200"/>
            <a:chExt cx="2784" cy="864"/>
          </a:xfrm>
        </p:grpSpPr>
        <p:sp>
          <p:nvSpPr>
            <p:cNvPr id="177223" name="直接连接符 177222"/>
            <p:cNvSpPr/>
            <p:nvPr/>
          </p:nvSpPr>
          <p:spPr>
            <a:xfrm flipH="1">
              <a:off x="2256" y="1440"/>
              <a:ext cx="2112" cy="62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7224" name="直接连接符 177223"/>
            <p:cNvSpPr/>
            <p:nvPr/>
          </p:nvSpPr>
          <p:spPr>
            <a:xfrm flipH="1">
              <a:off x="3792" y="1440"/>
              <a:ext cx="576" cy="62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77225" name="矩形 177224"/>
            <p:cNvSpPr/>
            <p:nvPr/>
          </p:nvSpPr>
          <p:spPr>
            <a:xfrm>
              <a:off x="4416" y="1200"/>
              <a:ext cx="62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线程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7231" name="组合 177230"/>
          <p:cNvGrpSpPr/>
          <p:nvPr/>
        </p:nvGrpSpPr>
        <p:grpSpPr>
          <a:xfrm>
            <a:off x="1307821" y="6548967"/>
            <a:ext cx="7901090" cy="661194"/>
            <a:chOff x="571" y="3744"/>
            <a:chExt cx="4517" cy="378"/>
          </a:xfrm>
        </p:grpSpPr>
        <p:sp>
          <p:nvSpPr>
            <p:cNvPr id="177228" name="矩形 177227"/>
            <p:cNvSpPr/>
            <p:nvPr/>
          </p:nvSpPr>
          <p:spPr>
            <a:xfrm>
              <a:off x="571" y="3744"/>
              <a:ext cx="4517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线程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: 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保留了并发的优点，避免了进程的高代价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77229" name="图片 177228" descr="j01158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" y="389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标题 1495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endParaRPr dirty="0"/>
          </a:p>
        </p:txBody>
      </p:sp>
      <p:pic>
        <p:nvPicPr>
          <p:cNvPr id="149507" name="图片 149506" descr="j02919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205" y="0"/>
            <a:ext cx="1268162" cy="13433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9508" name="矩形 149507"/>
          <p:cNvSpPr/>
          <p:nvPr/>
        </p:nvSpPr>
        <p:spPr>
          <a:xfrm>
            <a:off x="896761" y="2686756"/>
            <a:ext cx="8731956" cy="1619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6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ctr"/>
            <a:r>
              <a:rPr lang="zh-CN" altLang="en-US" sz="5290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charset="-122"/>
              </a:rPr>
              <a:t>线程是否简单、实用</a:t>
            </a:r>
            <a:r>
              <a:rPr lang="en-US" altLang="zh-CN" sz="529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charset="-122"/>
              </a:rPr>
              <a:t>?</a:t>
            </a:r>
            <a:endParaRPr lang="en-US" altLang="zh-CN" sz="5290">
              <a:solidFill>
                <a:srgbClr val="FF0000"/>
              </a:solidFill>
              <a:latin typeface="Arial Black" panose="020B0A04020102020204" pitchFamily="34" charset="0"/>
              <a:ea typeface="黑体" panose="02010609060101010101" charset="-122"/>
            </a:endParaRPr>
          </a:p>
        </p:txBody>
      </p:sp>
      <p:grpSp>
        <p:nvGrpSpPr>
          <p:cNvPr id="149509" name="组合 149508"/>
          <p:cNvGrpSpPr/>
          <p:nvPr/>
        </p:nvGrpSpPr>
        <p:grpSpPr>
          <a:xfrm>
            <a:off x="1316567" y="5289550"/>
            <a:ext cx="7976306" cy="1364368"/>
            <a:chOff x="528" y="2928"/>
            <a:chExt cx="4560" cy="780"/>
          </a:xfrm>
        </p:grpSpPr>
        <p:sp>
          <p:nvSpPr>
            <p:cNvPr id="149510" name="文本框 149509"/>
            <p:cNvSpPr txBox="1"/>
            <p:nvPr/>
          </p:nvSpPr>
          <p:spPr>
            <a:xfrm>
              <a:off x="528" y="3264"/>
              <a:ext cx="4368" cy="285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      </a:t>
              </a:r>
              <a:r>
                <a:rPr lang="zh-CN" altLang="en-US" sz="2645" b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一个真正好的想法一定是简单而实用的</a:t>
              </a:r>
              <a:r>
                <a:rPr lang="en-US" altLang="zh-CN" sz="2645" b="1">
                  <a:solidFill>
                    <a:schemeClr val="accent2"/>
                  </a:solidFill>
                  <a:latin typeface="Arial" panose="020B0604020202020204" pitchFamily="34" charset="0"/>
                </a:rPr>
                <a:t>!</a:t>
              </a:r>
              <a:endParaRPr lang="en-US" altLang="zh-CN" sz="2645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49511" name="图片 149510" descr="j03012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6" y="2928"/>
              <a:ext cx="912" cy="78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标题 162817"/>
          <p:cNvSpPr>
            <a:spLocks noGrp="1"/>
          </p:cNvSpPr>
          <p:nvPr>
            <p:ph type="title"/>
          </p:nvPr>
        </p:nvSpPr>
        <p:spPr>
          <a:xfrm>
            <a:off x="728839" y="335844"/>
            <a:ext cx="9655528" cy="745155"/>
          </a:xfrm>
        </p:spPr>
        <p:txBody>
          <a:bodyPr anchor="ctr" anchorCtr="0"/>
          <a:p>
            <a:r>
              <a:rPr lang="zh-CN" altLang="en-US" dirty="0"/>
              <a:t>多个执行序列</a:t>
            </a:r>
            <a:r>
              <a:rPr lang="en-US" altLang="zh-CN"/>
              <a:t>+</a:t>
            </a:r>
            <a:r>
              <a:rPr lang="zh-CN" altLang="en-US" dirty="0"/>
              <a:t>一个地址空间是否实用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162828" name="矩形 162827"/>
          <p:cNvSpPr/>
          <p:nvPr/>
        </p:nvSpPr>
        <p:spPr>
          <a:xfrm>
            <a:off x="1064683" y="4840009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这些线程共用一个地址空间吗</a:t>
            </a:r>
            <a:r>
              <a:rPr lang="en-US" altLang="zh-CN" sz="3085">
                <a:solidFill>
                  <a:srgbClr val="FF0000"/>
                </a:solidFill>
              </a:rPr>
              <a:t>?</a:t>
            </a:r>
            <a:endParaRPr lang="en-US" altLang="zh-CN" sz="3085">
              <a:solidFill>
                <a:srgbClr val="FF0000"/>
              </a:solidFill>
            </a:endParaRPr>
          </a:p>
        </p:txBody>
      </p:sp>
      <p:sp>
        <p:nvSpPr>
          <p:cNvPr id="162844" name="矩形 162843"/>
          <p:cNvSpPr/>
          <p:nvPr/>
        </p:nvSpPr>
        <p:spPr>
          <a:xfrm>
            <a:off x="984221" y="1397603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>
                <a:solidFill>
                  <a:srgbClr val="FF0000"/>
                </a:solidFill>
              </a:rPr>
              <a:t>一个网页浏览器</a:t>
            </a:r>
            <a:endParaRPr lang="zh-CN" altLang="zh-CN" sz="3085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162845" name="组合 162844"/>
          <p:cNvGrpSpPr/>
          <p:nvPr/>
        </p:nvGrpSpPr>
        <p:grpSpPr>
          <a:xfrm>
            <a:off x="1316567" y="2106025"/>
            <a:ext cx="6893558" cy="661194"/>
            <a:chOff x="523" y="1876"/>
            <a:chExt cx="3941" cy="378"/>
          </a:xfrm>
        </p:grpSpPr>
        <p:sp>
          <p:nvSpPr>
            <p:cNvPr id="162846" name="矩形 162845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一个线程用来从服务器接收数据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47" name="图片 162846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2851" name="组合 162850"/>
          <p:cNvGrpSpPr/>
          <p:nvPr/>
        </p:nvGrpSpPr>
        <p:grpSpPr>
          <a:xfrm>
            <a:off x="1316567" y="3281480"/>
            <a:ext cx="6893558" cy="661194"/>
            <a:chOff x="523" y="1876"/>
            <a:chExt cx="3941" cy="378"/>
          </a:xfrm>
        </p:grpSpPr>
        <p:sp>
          <p:nvSpPr>
            <p:cNvPr id="162852" name="矩形 162851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一个线程用来处理图片</a:t>
              </a:r>
              <a:r>
                <a:rPr lang="en-US" altLang="zh-CN" sz="2645" b="1">
                  <a:latin typeface="Arial" panose="020B0604020202020204" pitchFamily="34" charset="0"/>
                </a:rPr>
                <a:t>(</a:t>
              </a:r>
              <a:r>
                <a:rPr lang="zh-CN" altLang="en-US" sz="2645" b="1" dirty="0">
                  <a:latin typeface="Arial" panose="020B0604020202020204" pitchFamily="34" charset="0"/>
                </a:rPr>
                <a:t>如解压缩</a:t>
              </a:r>
              <a:r>
                <a:rPr lang="en-US" altLang="zh-CN" sz="2645" b="1">
                  <a:latin typeface="Arial" panose="020B0604020202020204" pitchFamily="34" charset="0"/>
                </a:rPr>
                <a:t>)</a:t>
              </a:r>
              <a:endParaRPr lang="en-US" altLang="zh-CN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53" name="图片 162852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2854" name="组合 162853"/>
          <p:cNvGrpSpPr/>
          <p:nvPr/>
        </p:nvGrpSpPr>
        <p:grpSpPr>
          <a:xfrm>
            <a:off x="1316567" y="2686756"/>
            <a:ext cx="6893558" cy="661194"/>
            <a:chOff x="523" y="1876"/>
            <a:chExt cx="3941" cy="378"/>
          </a:xfrm>
        </p:grpSpPr>
        <p:sp>
          <p:nvSpPr>
            <p:cNvPr id="162855" name="矩形 162854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一个线程用来显示文本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56" name="图片 162855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2857" name="组合 162856"/>
          <p:cNvGrpSpPr/>
          <p:nvPr/>
        </p:nvGrpSpPr>
        <p:grpSpPr>
          <a:xfrm>
            <a:off x="1316567" y="3946172"/>
            <a:ext cx="6893558" cy="661194"/>
            <a:chOff x="523" y="1876"/>
            <a:chExt cx="3941" cy="378"/>
          </a:xfrm>
        </p:grpSpPr>
        <p:sp>
          <p:nvSpPr>
            <p:cNvPr id="162858" name="矩形 162857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一个线程用来显示图片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59" name="图片 162858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2860" name="组合 162859"/>
          <p:cNvGrpSpPr/>
          <p:nvPr/>
        </p:nvGrpSpPr>
        <p:grpSpPr>
          <a:xfrm>
            <a:off x="1316567" y="5471466"/>
            <a:ext cx="6893558" cy="661194"/>
            <a:chOff x="523" y="1876"/>
            <a:chExt cx="3941" cy="378"/>
          </a:xfrm>
        </p:grpSpPr>
        <p:sp>
          <p:nvSpPr>
            <p:cNvPr id="162861" name="矩形 162860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同一个服务器建立连接并接收数据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62" name="图片 162861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2863" name="组合 162862"/>
          <p:cNvGrpSpPr/>
          <p:nvPr/>
        </p:nvGrpSpPr>
        <p:grpSpPr>
          <a:xfrm>
            <a:off x="1307821" y="6129161"/>
            <a:ext cx="6893557" cy="661194"/>
            <a:chOff x="523" y="1876"/>
            <a:chExt cx="3941" cy="378"/>
          </a:xfrm>
        </p:grpSpPr>
        <p:sp>
          <p:nvSpPr>
            <p:cNvPr id="162864" name="矩形 162863"/>
            <p:cNvSpPr/>
            <p:nvPr/>
          </p:nvSpPr>
          <p:spPr>
            <a:xfrm>
              <a:off x="523" y="1876"/>
              <a:ext cx="3941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>
                <a:lnSpc>
                  <a:spcPct val="140000"/>
                </a:lnSpc>
              </a:pPr>
              <a:r>
                <a:rPr lang="zh-CN" altLang="en-US" sz="2645" b="1" dirty="0">
                  <a:latin typeface="Arial" panose="020B0604020202020204" pitchFamily="34" charset="0"/>
                </a:rPr>
                <a:t>所有的文本、图片都显示在一个屏幕上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62865" name="图片 162864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" y="2025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62866" name="图片 1628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883" y="1273410"/>
            <a:ext cx="3274483" cy="208503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2867" name="图片 1628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883" y="4030133"/>
            <a:ext cx="3274483" cy="212001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2868" name="右箭头 162867"/>
          <p:cNvSpPr/>
          <p:nvPr/>
        </p:nvSpPr>
        <p:spPr>
          <a:xfrm rot="-5400000" flipH="1">
            <a:off x="8558213" y="3631318"/>
            <a:ext cx="545747" cy="83961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sz="198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2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2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2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2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282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6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8" grpId="0" build="p"/>
      <p:bldP spid="1628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558" y="475694"/>
            <a:ext cx="9178502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3630"/>
              </a:lnSpc>
            </a:pPr>
            <a:r>
              <a:rPr lang="zh-CN" altLang="en-US" sz="3965" dirty="0"/>
              <a:t>开始实现这个浏览器…</a:t>
            </a:r>
            <a:endParaRPr lang="zh-CN" altLang="en-US" sz="3965" dirty="0"/>
          </a:p>
        </p:txBody>
      </p:sp>
      <p:sp>
        <p:nvSpPr>
          <p:cNvPr id="3" name="object 3"/>
          <p:cNvSpPr txBox="1"/>
          <p:nvPr/>
        </p:nvSpPr>
        <p:spPr>
          <a:xfrm>
            <a:off x="541438" y="1900957"/>
            <a:ext cx="2825115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WebExplorer()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438" y="2260709"/>
            <a:ext cx="3291204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78790" algn="l"/>
              </a:tabLst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char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URL[]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78790">
              <a:lnSpc>
                <a:spcPct val="100000"/>
              </a:lnSpc>
              <a:spcBef>
                <a:spcPts val="5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char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buffer[1000];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9568" y="2260709"/>
            <a:ext cx="375792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  <a:hlinkClick r:id="rId1"/>
              </a:rPr>
              <a:t>“http://cms.hit.edu.cn”;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7987" y="3009790"/>
            <a:ext cx="2980055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pthread_create(..., pthread_create(...,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8149" y="3009790"/>
            <a:ext cx="126936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GetData,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7722" y="3009790"/>
            <a:ext cx="6477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URL,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5262" y="3009790"/>
            <a:ext cx="1270000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buffer);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8275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8149" y="3382237"/>
            <a:ext cx="803275" cy="80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7640" marR="5080" indent="-155575">
              <a:lnSpc>
                <a:spcPts val="408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Show,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char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1197" y="3382237"/>
            <a:ext cx="126936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buffer);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438" y="3899955"/>
            <a:ext cx="2668905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GetData(char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Show(char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0584" y="3899955"/>
            <a:ext cx="803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*URL,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1173" y="3899955"/>
            <a:ext cx="14255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*p){...};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4060" y="4272407"/>
            <a:ext cx="14255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*p){...};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5248" y="5026469"/>
            <a:ext cx="2338070" cy="112395"/>
          </a:xfrm>
          <a:custGeom>
            <a:avLst/>
            <a:gdLst/>
            <a:ahLst/>
            <a:cxnLst/>
            <a:rect l="l" t="t" r="r" b="b"/>
            <a:pathLst>
              <a:path w="2338070" h="112395">
                <a:moveTo>
                  <a:pt x="2316225" y="68474"/>
                </a:moveTo>
                <a:lnTo>
                  <a:pt x="2268470" y="68474"/>
                </a:lnTo>
                <a:lnTo>
                  <a:pt x="2228677" y="92052"/>
                </a:lnTo>
                <a:lnTo>
                  <a:pt x="2226768" y="99518"/>
                </a:lnTo>
                <a:lnTo>
                  <a:pt x="2232766" y="109637"/>
                </a:lnTo>
                <a:lnTo>
                  <a:pt x="2237610" y="111795"/>
                </a:lnTo>
                <a:lnTo>
                  <a:pt x="2243877" y="110945"/>
                </a:lnTo>
                <a:lnTo>
                  <a:pt x="2245429" y="110422"/>
                </a:lnTo>
                <a:lnTo>
                  <a:pt x="2316225" y="68474"/>
                </a:lnTo>
                <a:close/>
              </a:path>
              <a:path w="2338070" h="112395">
                <a:moveTo>
                  <a:pt x="2240306" y="0"/>
                </a:moveTo>
                <a:lnTo>
                  <a:pt x="2232865" y="2012"/>
                </a:lnTo>
                <a:lnTo>
                  <a:pt x="2226171" y="13671"/>
                </a:lnTo>
                <a:lnTo>
                  <a:pt x="2228184" y="21109"/>
                </a:lnTo>
                <a:lnTo>
                  <a:pt x="2268301" y="44133"/>
                </a:lnTo>
                <a:lnTo>
                  <a:pt x="0" y="59881"/>
                </a:lnTo>
                <a:lnTo>
                  <a:pt x="170" y="84222"/>
                </a:lnTo>
                <a:lnTo>
                  <a:pt x="2316225" y="68474"/>
                </a:lnTo>
                <a:lnTo>
                  <a:pt x="2337575" y="55824"/>
                </a:lnTo>
                <a:lnTo>
                  <a:pt x="224030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35333" y="4968698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644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35333" y="5793779"/>
            <a:ext cx="194945" cy="112395"/>
          </a:xfrm>
          <a:custGeom>
            <a:avLst/>
            <a:gdLst/>
            <a:ahLst/>
            <a:cxnLst/>
            <a:rect l="l" t="t" r="r" b="b"/>
            <a:pathLst>
              <a:path w="194944" h="112395">
                <a:moveTo>
                  <a:pt x="0" y="43105"/>
                </a:moveTo>
                <a:lnTo>
                  <a:pt x="0" y="67447"/>
                </a:lnTo>
                <a:lnTo>
                  <a:pt x="125649" y="67447"/>
                </a:lnTo>
                <a:lnTo>
                  <a:pt x="85694" y="90747"/>
                </a:lnTo>
                <a:lnTo>
                  <a:pt x="83732" y="98200"/>
                </a:lnTo>
                <a:lnTo>
                  <a:pt x="90507" y="109813"/>
                </a:lnTo>
                <a:lnTo>
                  <a:pt x="97962" y="111773"/>
                </a:lnTo>
                <a:lnTo>
                  <a:pt x="194842" y="55276"/>
                </a:lnTo>
                <a:lnTo>
                  <a:pt x="173972" y="43106"/>
                </a:lnTo>
                <a:lnTo>
                  <a:pt x="0" y="43105"/>
                </a:lnTo>
                <a:close/>
              </a:path>
              <a:path w="194944" h="112395">
                <a:moveTo>
                  <a:pt x="94490" y="0"/>
                </a:moveTo>
                <a:lnTo>
                  <a:pt x="89662" y="2190"/>
                </a:lnTo>
                <a:lnTo>
                  <a:pt x="83733" y="12352"/>
                </a:lnTo>
                <a:lnTo>
                  <a:pt x="85694" y="19804"/>
                </a:lnTo>
                <a:lnTo>
                  <a:pt x="125649" y="43106"/>
                </a:lnTo>
                <a:lnTo>
                  <a:pt x="173972" y="43106"/>
                </a:lnTo>
                <a:lnTo>
                  <a:pt x="102318" y="1319"/>
                </a:lnTo>
                <a:lnTo>
                  <a:pt x="100764" y="806"/>
                </a:lnTo>
                <a:lnTo>
                  <a:pt x="9449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35333" y="5719233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644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30066" y="5058684"/>
            <a:ext cx="2146935" cy="810895"/>
          </a:xfrm>
          <a:custGeom>
            <a:avLst/>
            <a:gdLst/>
            <a:ahLst/>
            <a:cxnLst/>
            <a:rect l="l" t="t" r="r" b="b"/>
            <a:pathLst>
              <a:path w="2146935" h="810895">
                <a:moveTo>
                  <a:pt x="79409" y="703491"/>
                </a:moveTo>
                <a:lnTo>
                  <a:pt x="71733" y="704194"/>
                </a:lnTo>
                <a:lnTo>
                  <a:pt x="0" y="790390"/>
                </a:lnTo>
                <a:lnTo>
                  <a:pt x="110360" y="810387"/>
                </a:lnTo>
                <a:lnTo>
                  <a:pt x="116695" y="805997"/>
                </a:lnTo>
                <a:lnTo>
                  <a:pt x="119092" y="792769"/>
                </a:lnTo>
                <a:lnTo>
                  <a:pt x="114702" y="786436"/>
                </a:lnTo>
                <a:lnTo>
                  <a:pt x="69187" y="778188"/>
                </a:lnTo>
                <a:lnTo>
                  <a:pt x="132111" y="755313"/>
                </a:lnTo>
                <a:lnTo>
                  <a:pt x="60866" y="755313"/>
                </a:lnTo>
                <a:lnTo>
                  <a:pt x="90450" y="719763"/>
                </a:lnTo>
                <a:lnTo>
                  <a:pt x="89747" y="712090"/>
                </a:lnTo>
                <a:lnTo>
                  <a:pt x="79409" y="703491"/>
                </a:lnTo>
                <a:close/>
              </a:path>
              <a:path w="2146935" h="810895">
                <a:moveTo>
                  <a:pt x="2138541" y="0"/>
                </a:moveTo>
                <a:lnTo>
                  <a:pt x="60866" y="755313"/>
                </a:lnTo>
                <a:lnTo>
                  <a:pt x="132111" y="755313"/>
                </a:lnTo>
                <a:lnTo>
                  <a:pt x="2146862" y="22876"/>
                </a:lnTo>
                <a:lnTo>
                  <a:pt x="21385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59977" y="5793779"/>
            <a:ext cx="2402840" cy="112395"/>
          </a:xfrm>
          <a:custGeom>
            <a:avLst/>
            <a:gdLst/>
            <a:ahLst/>
            <a:cxnLst/>
            <a:rect l="l" t="t" r="r" b="b"/>
            <a:pathLst>
              <a:path w="2402840" h="112395">
                <a:moveTo>
                  <a:pt x="0" y="43105"/>
                </a:moveTo>
                <a:lnTo>
                  <a:pt x="0" y="67447"/>
                </a:lnTo>
                <a:lnTo>
                  <a:pt x="2333227" y="67447"/>
                </a:lnTo>
                <a:lnTo>
                  <a:pt x="2293272" y="90749"/>
                </a:lnTo>
                <a:lnTo>
                  <a:pt x="2291309" y="98201"/>
                </a:lnTo>
                <a:lnTo>
                  <a:pt x="2298086" y="109813"/>
                </a:lnTo>
                <a:lnTo>
                  <a:pt x="2305540" y="111773"/>
                </a:lnTo>
                <a:lnTo>
                  <a:pt x="2402419" y="55276"/>
                </a:lnTo>
                <a:lnTo>
                  <a:pt x="2381550" y="43106"/>
                </a:lnTo>
                <a:lnTo>
                  <a:pt x="0" y="43105"/>
                </a:lnTo>
                <a:close/>
              </a:path>
              <a:path w="2402840" h="112395">
                <a:moveTo>
                  <a:pt x="2302068" y="0"/>
                </a:moveTo>
                <a:lnTo>
                  <a:pt x="2297239" y="2192"/>
                </a:lnTo>
                <a:lnTo>
                  <a:pt x="2291309" y="12352"/>
                </a:lnTo>
                <a:lnTo>
                  <a:pt x="2293272" y="19804"/>
                </a:lnTo>
                <a:lnTo>
                  <a:pt x="2333227" y="43106"/>
                </a:lnTo>
                <a:lnTo>
                  <a:pt x="2381550" y="43106"/>
                </a:lnTo>
                <a:lnTo>
                  <a:pt x="2309896" y="1319"/>
                </a:lnTo>
                <a:lnTo>
                  <a:pt x="2308341" y="806"/>
                </a:lnTo>
                <a:lnTo>
                  <a:pt x="230206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592657" y="5070066"/>
            <a:ext cx="182245" cy="781050"/>
          </a:xfrm>
          <a:custGeom>
            <a:avLst/>
            <a:gdLst/>
            <a:ahLst/>
            <a:cxnLst/>
            <a:rect l="l" t="t" r="r" b="b"/>
            <a:pathLst>
              <a:path w="182245" h="781050">
                <a:moveTo>
                  <a:pt x="63867" y="70233"/>
                </a:moveTo>
                <a:lnTo>
                  <a:pt x="39183" y="70233"/>
                </a:lnTo>
                <a:lnTo>
                  <a:pt x="157675" y="780990"/>
                </a:lnTo>
                <a:lnTo>
                  <a:pt x="181692" y="776988"/>
                </a:lnTo>
                <a:lnTo>
                  <a:pt x="63867" y="70233"/>
                </a:lnTo>
                <a:close/>
              </a:path>
              <a:path w="182245" h="781050">
                <a:moveTo>
                  <a:pt x="39817" y="0"/>
                </a:moveTo>
                <a:lnTo>
                  <a:pt x="0" y="104824"/>
                </a:lnTo>
                <a:lnTo>
                  <a:pt x="3159" y="111852"/>
                </a:lnTo>
                <a:lnTo>
                  <a:pt x="15731" y="116625"/>
                </a:lnTo>
                <a:lnTo>
                  <a:pt x="22762" y="113465"/>
                </a:lnTo>
                <a:lnTo>
                  <a:pt x="39183" y="70233"/>
                </a:lnTo>
                <a:lnTo>
                  <a:pt x="63867" y="70233"/>
                </a:lnTo>
                <a:lnTo>
                  <a:pt x="63200" y="66231"/>
                </a:lnTo>
                <a:lnTo>
                  <a:pt x="94854" y="66231"/>
                </a:lnTo>
                <a:lnTo>
                  <a:pt x="39817" y="0"/>
                </a:lnTo>
                <a:close/>
              </a:path>
              <a:path w="182245" h="781050">
                <a:moveTo>
                  <a:pt x="94854" y="66231"/>
                </a:moveTo>
                <a:lnTo>
                  <a:pt x="63200" y="66231"/>
                </a:lnTo>
                <a:lnTo>
                  <a:pt x="92759" y="101801"/>
                </a:lnTo>
                <a:lnTo>
                  <a:pt x="100435" y="102511"/>
                </a:lnTo>
                <a:lnTo>
                  <a:pt x="110778" y="93921"/>
                </a:lnTo>
                <a:lnTo>
                  <a:pt x="111488" y="86248"/>
                </a:lnTo>
                <a:lnTo>
                  <a:pt x="94854" y="662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32483" y="5014846"/>
            <a:ext cx="2402840" cy="112395"/>
          </a:xfrm>
          <a:custGeom>
            <a:avLst/>
            <a:gdLst/>
            <a:ahLst/>
            <a:cxnLst/>
            <a:rect l="l" t="t" r="r" b="b"/>
            <a:pathLst>
              <a:path w="2402840" h="112395">
                <a:moveTo>
                  <a:pt x="0" y="43105"/>
                </a:moveTo>
                <a:lnTo>
                  <a:pt x="0" y="67447"/>
                </a:lnTo>
                <a:lnTo>
                  <a:pt x="2333227" y="67447"/>
                </a:lnTo>
                <a:lnTo>
                  <a:pt x="2293272" y="90749"/>
                </a:lnTo>
                <a:lnTo>
                  <a:pt x="2291309" y="98201"/>
                </a:lnTo>
                <a:lnTo>
                  <a:pt x="2298086" y="109813"/>
                </a:lnTo>
                <a:lnTo>
                  <a:pt x="2305540" y="111773"/>
                </a:lnTo>
                <a:lnTo>
                  <a:pt x="2402419" y="55276"/>
                </a:lnTo>
                <a:lnTo>
                  <a:pt x="2381550" y="43106"/>
                </a:lnTo>
                <a:lnTo>
                  <a:pt x="0" y="43105"/>
                </a:lnTo>
                <a:close/>
              </a:path>
              <a:path w="2402840" h="112395">
                <a:moveTo>
                  <a:pt x="2302068" y="0"/>
                </a:moveTo>
                <a:lnTo>
                  <a:pt x="2297239" y="2192"/>
                </a:lnTo>
                <a:lnTo>
                  <a:pt x="2291309" y="12352"/>
                </a:lnTo>
                <a:lnTo>
                  <a:pt x="2293272" y="19804"/>
                </a:lnTo>
                <a:lnTo>
                  <a:pt x="2333227" y="43106"/>
                </a:lnTo>
                <a:lnTo>
                  <a:pt x="2381550" y="43106"/>
                </a:lnTo>
                <a:lnTo>
                  <a:pt x="2309896" y="1319"/>
                </a:lnTo>
                <a:lnTo>
                  <a:pt x="2308341" y="806"/>
                </a:lnTo>
                <a:lnTo>
                  <a:pt x="2302068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31830" y="5329555"/>
            <a:ext cx="1494790" cy="998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19430">
              <a:lnSpc>
                <a:spcPct val="128000"/>
              </a:lnSpc>
            </a:pPr>
            <a:r>
              <a:rPr sz="2000" b="1" spc="3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C</a:t>
            </a:r>
            <a:r>
              <a:rPr sz="2000" b="1" spc="4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r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2000" b="1" spc="-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20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000" b="1" spc="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S</a:t>
            </a:r>
            <a:r>
              <a:rPr sz="2000" b="1" spc="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h</a:t>
            </a:r>
            <a:r>
              <a:rPr sz="2000" b="1" spc="-1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2000" b="1" spc="3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w</a:t>
            </a:r>
            <a:endParaRPr sz="2000">
              <a:latin typeface="Arial Black" panose="020B0A04020102020204"/>
              <a:cs typeface="Arial Black" panose="020B0A04020102020204"/>
            </a:endParaRPr>
          </a:p>
          <a:p>
            <a:pPr marL="661670">
              <a:lnSpc>
                <a:spcPct val="100000"/>
              </a:lnSpc>
              <a:spcBef>
                <a:spcPts val="155"/>
              </a:spcBef>
            </a:pP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10</a:t>
            </a:r>
            <a:r>
              <a:rPr sz="20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: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00</a:t>
            </a:r>
            <a:endParaRPr sz="2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5" name="object 25"/>
          <p:cNvSpPr txBox="1"/>
          <p:nvPr/>
        </p:nvSpPr>
        <p:spPr>
          <a:xfrm>
            <a:off x="737044" y="4968828"/>
            <a:ext cx="11868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3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G</a:t>
            </a:r>
            <a:r>
              <a:rPr sz="2000" b="1" spc="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2000" b="1" spc="1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2000" b="1" spc="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2000" b="1" spc="-1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2000" b="1" spc="1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2000" b="1" spc="2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endParaRPr sz="2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95335" y="4806442"/>
            <a:ext cx="3141980" cy="308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49500" algn="l"/>
              </a:tabLst>
            </a:pPr>
            <a:r>
              <a:rPr sz="2925" b="1" spc="127" baseline="-4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</a:t>
            </a:r>
            <a:r>
              <a:rPr sz="3000" b="1" spc="37" baseline="-600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c</a:t>
            </a:r>
            <a:r>
              <a:rPr sz="3000" b="1" spc="60" baseline="-600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m</a:t>
            </a:r>
            <a:r>
              <a:rPr sz="3000" b="1" spc="30" baseline="-6000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s</a:t>
            </a:r>
            <a:r>
              <a:rPr sz="2925" b="1" spc="127" baseline="-4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2925" b="1" spc="112" baseline="-4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载</a:t>
            </a:r>
            <a:r>
              <a:rPr sz="2925" b="1" spc="-772" baseline="-4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10</a:t>
            </a:r>
            <a:r>
              <a:rPr sz="20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: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2000" b="1" spc="2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5</a:t>
            </a:r>
            <a:r>
              <a:rPr sz="20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10</a:t>
            </a:r>
            <a:r>
              <a:rPr sz="20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:</a:t>
            </a:r>
            <a:r>
              <a:rPr sz="2000" b="1" spc="2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07</a:t>
            </a:r>
            <a:endParaRPr sz="2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95335" y="5122258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到文本以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09550" y="5459382"/>
            <a:ext cx="10629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 algn="ctr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Yie</a:t>
            </a:r>
            <a:r>
              <a:rPr sz="2000" b="1" spc="1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20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ts val="2330"/>
              </a:lnSpc>
              <a:spcBef>
                <a:spcPts val="1265"/>
              </a:spcBef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显示文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97698" y="5394468"/>
            <a:ext cx="746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Yie</a:t>
            </a:r>
            <a:r>
              <a:rPr sz="2000" b="1" spc="1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2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06701" y="4797015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下载图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片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68493" y="1759656"/>
            <a:ext cx="154305" cy="0"/>
          </a:xfrm>
          <a:custGeom>
            <a:avLst/>
            <a:gdLst/>
            <a:ahLst/>
            <a:cxnLst/>
            <a:rect l="l" t="t" r="r" b="b"/>
            <a:pathLst>
              <a:path w="154304">
                <a:moveTo>
                  <a:pt x="0" y="0"/>
                </a:moveTo>
                <a:lnTo>
                  <a:pt x="154205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759656"/>
            <a:ext cx="6558280" cy="0"/>
          </a:xfrm>
          <a:custGeom>
            <a:avLst/>
            <a:gdLst/>
            <a:ahLst/>
            <a:cxnLst/>
            <a:rect l="l" t="t" r="r" b="b"/>
            <a:pathLst>
              <a:path w="6558280">
                <a:moveTo>
                  <a:pt x="0" y="0"/>
                </a:moveTo>
                <a:lnTo>
                  <a:pt x="6557803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3050" spc="5" dirty="0">
                <a:latin typeface="Arial" panose="020B0604020202020204"/>
                <a:cs typeface="Arial" panose="020B0604020202020204"/>
              </a:rPr>
              <a:t>Cr</a:t>
            </a:r>
            <a:r>
              <a:rPr sz="3050" dirty="0">
                <a:latin typeface="Arial" panose="020B0604020202020204"/>
                <a:cs typeface="Arial" panose="020B0604020202020204"/>
              </a:rPr>
              <a:t>ea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Y</a:t>
            </a:r>
            <a:r>
              <a:rPr sz="3050" dirty="0">
                <a:latin typeface="Arial" panose="020B0604020202020204"/>
                <a:cs typeface="Arial" panose="020B0604020202020204"/>
              </a:rPr>
              <a:t>i</a:t>
            </a:r>
            <a:r>
              <a:rPr sz="3050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ld?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902" y="2053943"/>
            <a:ext cx="224409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核心是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Y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l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666" y="268058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50975" y="2519045"/>
            <a:ext cx="3679825" cy="1726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能切换了就知道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切换时需要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个什么样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1950" b="1" spc="35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43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rea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就是要制造出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第一次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切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换时应该的样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子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9666" y="353254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28695" y="1337732"/>
            <a:ext cx="2532380" cy="1273810"/>
          </a:xfrm>
          <a:custGeom>
            <a:avLst/>
            <a:gdLst/>
            <a:ahLst/>
            <a:cxnLst/>
            <a:rect l="l" t="t" r="r" b="b"/>
            <a:pathLst>
              <a:path w="2532379" h="1273810">
                <a:moveTo>
                  <a:pt x="2110183" y="1145411"/>
                </a:moveTo>
                <a:lnTo>
                  <a:pt x="1477129" y="1145411"/>
                </a:lnTo>
                <a:lnTo>
                  <a:pt x="1381808" y="1273524"/>
                </a:lnTo>
                <a:lnTo>
                  <a:pt x="2110183" y="1145411"/>
                </a:lnTo>
                <a:close/>
              </a:path>
              <a:path w="2532379" h="1273810">
                <a:moveTo>
                  <a:pt x="2341262" y="0"/>
                </a:moveTo>
                <a:lnTo>
                  <a:pt x="190957" y="0"/>
                </a:lnTo>
                <a:lnTo>
                  <a:pt x="175295" y="632"/>
                </a:lnTo>
                <a:lnTo>
                  <a:pt x="130600" y="9732"/>
                </a:lnTo>
                <a:lnTo>
                  <a:pt x="90369" y="28602"/>
                </a:lnTo>
                <a:lnTo>
                  <a:pt x="55930" y="55915"/>
                </a:lnTo>
                <a:lnTo>
                  <a:pt x="28609" y="90345"/>
                </a:lnTo>
                <a:lnTo>
                  <a:pt x="9735" y="130565"/>
                </a:lnTo>
                <a:lnTo>
                  <a:pt x="633" y="175249"/>
                </a:lnTo>
                <a:lnTo>
                  <a:pt x="0" y="190906"/>
                </a:lnTo>
                <a:lnTo>
                  <a:pt x="0" y="954505"/>
                </a:lnTo>
                <a:lnTo>
                  <a:pt x="5549" y="1000382"/>
                </a:lnTo>
                <a:lnTo>
                  <a:pt x="21314" y="1042237"/>
                </a:lnTo>
                <a:lnTo>
                  <a:pt x="45967" y="1078744"/>
                </a:lnTo>
                <a:lnTo>
                  <a:pt x="78180" y="1108577"/>
                </a:lnTo>
                <a:lnTo>
                  <a:pt x="116628" y="1130409"/>
                </a:lnTo>
                <a:lnTo>
                  <a:pt x="159983" y="1142913"/>
                </a:lnTo>
                <a:lnTo>
                  <a:pt x="190957" y="1145411"/>
                </a:lnTo>
                <a:lnTo>
                  <a:pt x="2341262" y="1145411"/>
                </a:lnTo>
                <a:lnTo>
                  <a:pt x="2387152" y="1139863"/>
                </a:lnTo>
                <a:lnTo>
                  <a:pt x="2429019" y="1124102"/>
                </a:lnTo>
                <a:lnTo>
                  <a:pt x="2465536" y="1099456"/>
                </a:lnTo>
                <a:lnTo>
                  <a:pt x="2495377" y="1067251"/>
                </a:lnTo>
                <a:lnTo>
                  <a:pt x="2517214" y="1028814"/>
                </a:lnTo>
                <a:lnTo>
                  <a:pt x="2529721" y="985471"/>
                </a:lnTo>
                <a:lnTo>
                  <a:pt x="2532221" y="954505"/>
                </a:lnTo>
                <a:lnTo>
                  <a:pt x="2532221" y="190906"/>
                </a:lnTo>
                <a:lnTo>
                  <a:pt x="2526671" y="145029"/>
                </a:lnTo>
                <a:lnTo>
                  <a:pt x="2510906" y="103174"/>
                </a:lnTo>
                <a:lnTo>
                  <a:pt x="2486254" y="66666"/>
                </a:lnTo>
                <a:lnTo>
                  <a:pt x="2454040" y="36834"/>
                </a:lnTo>
                <a:lnTo>
                  <a:pt x="2415592" y="15002"/>
                </a:lnTo>
                <a:lnTo>
                  <a:pt x="2372237" y="2498"/>
                </a:lnTo>
                <a:lnTo>
                  <a:pt x="23412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28695" y="1337732"/>
            <a:ext cx="2532380" cy="1273810"/>
          </a:xfrm>
          <a:custGeom>
            <a:avLst/>
            <a:gdLst/>
            <a:ahLst/>
            <a:cxnLst/>
            <a:rect l="l" t="t" r="r" b="b"/>
            <a:pathLst>
              <a:path w="2532379" h="1273810">
                <a:moveTo>
                  <a:pt x="0" y="190905"/>
                </a:moveTo>
                <a:lnTo>
                  <a:pt x="5549" y="145029"/>
                </a:lnTo>
                <a:lnTo>
                  <a:pt x="21314" y="103173"/>
                </a:lnTo>
                <a:lnTo>
                  <a:pt x="45966" y="66666"/>
                </a:lnTo>
                <a:lnTo>
                  <a:pt x="78180" y="36833"/>
                </a:lnTo>
                <a:lnTo>
                  <a:pt x="116628" y="15002"/>
                </a:lnTo>
                <a:lnTo>
                  <a:pt x="159983" y="2498"/>
                </a:lnTo>
                <a:lnTo>
                  <a:pt x="190957" y="0"/>
                </a:lnTo>
                <a:lnTo>
                  <a:pt x="1477129" y="0"/>
                </a:lnTo>
                <a:lnTo>
                  <a:pt x="2110184" y="0"/>
                </a:lnTo>
                <a:lnTo>
                  <a:pt x="2341263" y="0"/>
                </a:lnTo>
                <a:lnTo>
                  <a:pt x="2356924" y="632"/>
                </a:lnTo>
                <a:lnTo>
                  <a:pt x="2401620" y="9732"/>
                </a:lnTo>
                <a:lnTo>
                  <a:pt x="2441851" y="28602"/>
                </a:lnTo>
                <a:lnTo>
                  <a:pt x="2476291" y="55915"/>
                </a:lnTo>
                <a:lnTo>
                  <a:pt x="2503611" y="90344"/>
                </a:lnTo>
                <a:lnTo>
                  <a:pt x="2522486" y="130564"/>
                </a:lnTo>
                <a:lnTo>
                  <a:pt x="2531588" y="175248"/>
                </a:lnTo>
                <a:lnTo>
                  <a:pt x="2532221" y="190905"/>
                </a:lnTo>
                <a:lnTo>
                  <a:pt x="2532221" y="668157"/>
                </a:lnTo>
                <a:lnTo>
                  <a:pt x="2532221" y="954510"/>
                </a:lnTo>
                <a:lnTo>
                  <a:pt x="2531588" y="970162"/>
                </a:lnTo>
                <a:lnTo>
                  <a:pt x="2522486" y="1014846"/>
                </a:lnTo>
                <a:lnTo>
                  <a:pt x="2503611" y="1055066"/>
                </a:lnTo>
                <a:lnTo>
                  <a:pt x="2476291" y="1089496"/>
                </a:lnTo>
                <a:lnTo>
                  <a:pt x="2441851" y="1116809"/>
                </a:lnTo>
                <a:lnTo>
                  <a:pt x="2401620" y="1135678"/>
                </a:lnTo>
                <a:lnTo>
                  <a:pt x="2356924" y="1144778"/>
                </a:lnTo>
                <a:lnTo>
                  <a:pt x="2341263" y="1145411"/>
                </a:lnTo>
                <a:lnTo>
                  <a:pt x="2110184" y="1145411"/>
                </a:lnTo>
                <a:lnTo>
                  <a:pt x="1381808" y="1273524"/>
                </a:lnTo>
                <a:lnTo>
                  <a:pt x="1477129" y="1145411"/>
                </a:lnTo>
                <a:lnTo>
                  <a:pt x="190957" y="1145411"/>
                </a:lnTo>
                <a:lnTo>
                  <a:pt x="175296" y="1144778"/>
                </a:lnTo>
                <a:lnTo>
                  <a:pt x="130600" y="1135678"/>
                </a:lnTo>
                <a:lnTo>
                  <a:pt x="90369" y="1116809"/>
                </a:lnTo>
                <a:lnTo>
                  <a:pt x="55930" y="1089496"/>
                </a:lnTo>
                <a:lnTo>
                  <a:pt x="28609" y="1055066"/>
                </a:lnTo>
                <a:lnTo>
                  <a:pt x="9735" y="1014846"/>
                </a:lnTo>
                <a:lnTo>
                  <a:pt x="633" y="970162"/>
                </a:lnTo>
                <a:lnTo>
                  <a:pt x="0" y="954505"/>
                </a:lnTo>
                <a:lnTo>
                  <a:pt x="0" y="668157"/>
                </a:lnTo>
                <a:lnTo>
                  <a:pt x="0" y="190905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43219" y="1466988"/>
            <a:ext cx="210121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样子弄明白了，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剩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3219" y="1780225"/>
            <a:ext cx="2101215" cy="59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 marR="5080" indent="-130175">
              <a:lnSpc>
                <a:spcPts val="236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下的就是写程序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现这个样子了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12859" y="5226487"/>
            <a:ext cx="1907539" cy="112395"/>
          </a:xfrm>
          <a:custGeom>
            <a:avLst/>
            <a:gdLst/>
            <a:ahLst/>
            <a:cxnLst/>
            <a:rect l="l" t="t" r="r" b="b"/>
            <a:pathLst>
              <a:path w="1907539" h="112395">
                <a:moveTo>
                  <a:pt x="1886141" y="68511"/>
                </a:moveTo>
                <a:lnTo>
                  <a:pt x="1838285" y="68511"/>
                </a:lnTo>
                <a:lnTo>
                  <a:pt x="1798463" y="92038"/>
                </a:lnTo>
                <a:lnTo>
                  <a:pt x="1796543" y="99501"/>
                </a:lnTo>
                <a:lnTo>
                  <a:pt x="1802530" y="109628"/>
                </a:lnTo>
                <a:lnTo>
                  <a:pt x="1807370" y="111793"/>
                </a:lnTo>
                <a:lnTo>
                  <a:pt x="1813640" y="110951"/>
                </a:lnTo>
                <a:lnTo>
                  <a:pt x="1815191" y="110429"/>
                </a:lnTo>
                <a:lnTo>
                  <a:pt x="1886141" y="68511"/>
                </a:lnTo>
                <a:close/>
              </a:path>
              <a:path w="1907539" h="112395">
                <a:moveTo>
                  <a:pt x="1810209" y="0"/>
                </a:moveTo>
                <a:lnTo>
                  <a:pt x="1802766" y="2004"/>
                </a:lnTo>
                <a:lnTo>
                  <a:pt x="1796056" y="13653"/>
                </a:lnTo>
                <a:lnTo>
                  <a:pt x="1798060" y="21095"/>
                </a:lnTo>
                <a:lnTo>
                  <a:pt x="1838147" y="44169"/>
                </a:lnTo>
                <a:lnTo>
                  <a:pt x="0" y="54596"/>
                </a:lnTo>
                <a:lnTo>
                  <a:pt x="138" y="78936"/>
                </a:lnTo>
                <a:lnTo>
                  <a:pt x="1886141" y="68511"/>
                </a:lnTo>
                <a:lnTo>
                  <a:pt x="1907407" y="55947"/>
                </a:lnTo>
                <a:lnTo>
                  <a:pt x="1810209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12929" y="5206706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0"/>
                </a:moveTo>
                <a:lnTo>
                  <a:pt x="0" y="171743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12929" y="5735629"/>
            <a:ext cx="158750" cy="112395"/>
          </a:xfrm>
          <a:custGeom>
            <a:avLst/>
            <a:gdLst/>
            <a:ahLst/>
            <a:cxnLst/>
            <a:rect l="l" t="t" r="r" b="b"/>
            <a:pathLst>
              <a:path w="158750" h="112395">
                <a:moveTo>
                  <a:pt x="57966" y="0"/>
                </a:moveTo>
                <a:lnTo>
                  <a:pt x="53139" y="2192"/>
                </a:lnTo>
                <a:lnTo>
                  <a:pt x="47209" y="12352"/>
                </a:lnTo>
                <a:lnTo>
                  <a:pt x="49171" y="19804"/>
                </a:lnTo>
                <a:lnTo>
                  <a:pt x="89127" y="43106"/>
                </a:lnTo>
                <a:lnTo>
                  <a:pt x="0" y="43106"/>
                </a:lnTo>
                <a:lnTo>
                  <a:pt x="0" y="67447"/>
                </a:lnTo>
                <a:lnTo>
                  <a:pt x="89127" y="67448"/>
                </a:lnTo>
                <a:lnTo>
                  <a:pt x="49171" y="90749"/>
                </a:lnTo>
                <a:lnTo>
                  <a:pt x="47209" y="98201"/>
                </a:lnTo>
                <a:lnTo>
                  <a:pt x="53985" y="109813"/>
                </a:lnTo>
                <a:lnTo>
                  <a:pt x="61440" y="111775"/>
                </a:lnTo>
                <a:lnTo>
                  <a:pt x="158319" y="55278"/>
                </a:lnTo>
                <a:lnTo>
                  <a:pt x="65796" y="1319"/>
                </a:lnTo>
                <a:lnTo>
                  <a:pt x="64241" y="806"/>
                </a:lnTo>
                <a:lnTo>
                  <a:pt x="5796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12929" y="5704358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3096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71138" y="5261300"/>
            <a:ext cx="1752600" cy="556895"/>
          </a:xfrm>
          <a:custGeom>
            <a:avLst/>
            <a:gdLst/>
            <a:ahLst/>
            <a:cxnLst/>
            <a:rect l="l" t="t" r="r" b="b"/>
            <a:pathLst>
              <a:path w="1752600" h="556895">
                <a:moveTo>
                  <a:pt x="84543" y="447706"/>
                </a:moveTo>
                <a:lnTo>
                  <a:pt x="76838" y="447942"/>
                </a:lnTo>
                <a:lnTo>
                  <a:pt x="0" y="529623"/>
                </a:lnTo>
                <a:lnTo>
                  <a:pt x="108940" y="556285"/>
                </a:lnTo>
                <a:lnTo>
                  <a:pt x="115530" y="552288"/>
                </a:lnTo>
                <a:lnTo>
                  <a:pt x="118728" y="539230"/>
                </a:lnTo>
                <a:lnTo>
                  <a:pt x="114730" y="532641"/>
                </a:lnTo>
                <a:lnTo>
                  <a:pt x="69800" y="521646"/>
                </a:lnTo>
                <a:lnTo>
                  <a:pt x="148617" y="498306"/>
                </a:lnTo>
                <a:lnTo>
                  <a:pt x="62885" y="498306"/>
                </a:lnTo>
                <a:lnTo>
                  <a:pt x="94575" y="464620"/>
                </a:lnTo>
                <a:lnTo>
                  <a:pt x="94339" y="456918"/>
                </a:lnTo>
                <a:lnTo>
                  <a:pt x="84543" y="447706"/>
                </a:lnTo>
                <a:close/>
              </a:path>
              <a:path w="1752600" h="556895">
                <a:moveTo>
                  <a:pt x="1745614" y="0"/>
                </a:moveTo>
                <a:lnTo>
                  <a:pt x="62885" y="498306"/>
                </a:lnTo>
                <a:lnTo>
                  <a:pt x="148617" y="498306"/>
                </a:lnTo>
                <a:lnTo>
                  <a:pt x="1752530" y="23338"/>
                </a:lnTo>
                <a:lnTo>
                  <a:pt x="17456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78054" y="5735629"/>
            <a:ext cx="1961514" cy="112395"/>
          </a:xfrm>
          <a:custGeom>
            <a:avLst/>
            <a:gdLst/>
            <a:ahLst/>
            <a:cxnLst/>
            <a:rect l="l" t="t" r="r" b="b"/>
            <a:pathLst>
              <a:path w="1961514" h="112395">
                <a:moveTo>
                  <a:pt x="1861093" y="0"/>
                </a:moveTo>
                <a:lnTo>
                  <a:pt x="1856265" y="2192"/>
                </a:lnTo>
                <a:lnTo>
                  <a:pt x="1850336" y="12353"/>
                </a:lnTo>
                <a:lnTo>
                  <a:pt x="1852297" y="19805"/>
                </a:lnTo>
                <a:lnTo>
                  <a:pt x="1892254" y="43106"/>
                </a:lnTo>
                <a:lnTo>
                  <a:pt x="0" y="43106"/>
                </a:lnTo>
                <a:lnTo>
                  <a:pt x="0" y="67447"/>
                </a:lnTo>
                <a:lnTo>
                  <a:pt x="1892254" y="67448"/>
                </a:lnTo>
                <a:lnTo>
                  <a:pt x="1852297" y="90749"/>
                </a:lnTo>
                <a:lnTo>
                  <a:pt x="1850336" y="98201"/>
                </a:lnTo>
                <a:lnTo>
                  <a:pt x="1857112" y="109814"/>
                </a:lnTo>
                <a:lnTo>
                  <a:pt x="1864567" y="111775"/>
                </a:lnTo>
                <a:lnTo>
                  <a:pt x="1961446" y="55278"/>
                </a:lnTo>
                <a:lnTo>
                  <a:pt x="1868921" y="1319"/>
                </a:lnTo>
                <a:lnTo>
                  <a:pt x="1867367" y="807"/>
                </a:lnTo>
                <a:lnTo>
                  <a:pt x="1861093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96793" y="5272914"/>
            <a:ext cx="154940" cy="520700"/>
          </a:xfrm>
          <a:custGeom>
            <a:avLst/>
            <a:gdLst/>
            <a:ahLst/>
            <a:cxnLst/>
            <a:rect l="l" t="t" r="r" b="b"/>
            <a:pathLst>
              <a:path w="154939" h="520700">
                <a:moveTo>
                  <a:pt x="62692" y="70205"/>
                </a:moveTo>
                <a:lnTo>
                  <a:pt x="37832" y="70205"/>
                </a:lnTo>
                <a:lnTo>
                  <a:pt x="130727" y="520451"/>
                </a:lnTo>
                <a:lnTo>
                  <a:pt x="154574" y="515533"/>
                </a:lnTo>
                <a:lnTo>
                  <a:pt x="62692" y="70205"/>
                </a:lnTo>
                <a:close/>
              </a:path>
              <a:path w="154939" h="520700">
                <a:moveTo>
                  <a:pt x="35777" y="0"/>
                </a:moveTo>
                <a:lnTo>
                  <a:pt x="0" y="106269"/>
                </a:lnTo>
                <a:lnTo>
                  <a:pt x="3427" y="113172"/>
                </a:lnTo>
                <a:lnTo>
                  <a:pt x="16172" y="117461"/>
                </a:lnTo>
                <a:lnTo>
                  <a:pt x="23075" y="114034"/>
                </a:lnTo>
                <a:lnTo>
                  <a:pt x="37832" y="70205"/>
                </a:lnTo>
                <a:lnTo>
                  <a:pt x="62692" y="70205"/>
                </a:lnTo>
                <a:lnTo>
                  <a:pt x="61677" y="65288"/>
                </a:lnTo>
                <a:lnTo>
                  <a:pt x="94395" y="65288"/>
                </a:lnTo>
                <a:lnTo>
                  <a:pt x="35777" y="0"/>
                </a:lnTo>
                <a:close/>
              </a:path>
              <a:path w="154939" h="520700">
                <a:moveTo>
                  <a:pt x="94395" y="65288"/>
                </a:moveTo>
                <a:lnTo>
                  <a:pt x="61677" y="65288"/>
                </a:lnTo>
                <a:lnTo>
                  <a:pt x="92576" y="99702"/>
                </a:lnTo>
                <a:lnTo>
                  <a:pt x="100272" y="100117"/>
                </a:lnTo>
                <a:lnTo>
                  <a:pt x="110280" y="91137"/>
                </a:lnTo>
                <a:lnTo>
                  <a:pt x="110695" y="83442"/>
                </a:lnTo>
                <a:lnTo>
                  <a:pt x="94395" y="652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32494" y="5209052"/>
            <a:ext cx="1134110" cy="112395"/>
          </a:xfrm>
          <a:custGeom>
            <a:avLst/>
            <a:gdLst/>
            <a:ahLst/>
            <a:cxnLst/>
            <a:rect l="l" t="t" r="r" b="b"/>
            <a:pathLst>
              <a:path w="1134110" h="112395">
                <a:moveTo>
                  <a:pt x="1112326" y="68468"/>
                </a:moveTo>
                <a:lnTo>
                  <a:pt x="1064587" y="68468"/>
                </a:lnTo>
                <a:lnTo>
                  <a:pt x="1024801" y="92054"/>
                </a:lnTo>
                <a:lnTo>
                  <a:pt x="1022892" y="99521"/>
                </a:lnTo>
                <a:lnTo>
                  <a:pt x="1028893" y="109639"/>
                </a:lnTo>
                <a:lnTo>
                  <a:pt x="1033738" y="111796"/>
                </a:lnTo>
                <a:lnTo>
                  <a:pt x="1040005" y="110944"/>
                </a:lnTo>
                <a:lnTo>
                  <a:pt x="1041556" y="110421"/>
                </a:lnTo>
                <a:lnTo>
                  <a:pt x="1112326" y="68468"/>
                </a:lnTo>
                <a:close/>
              </a:path>
              <a:path w="1134110" h="112395">
                <a:moveTo>
                  <a:pt x="1036410" y="0"/>
                </a:moveTo>
                <a:lnTo>
                  <a:pt x="1028969" y="2014"/>
                </a:lnTo>
                <a:lnTo>
                  <a:pt x="1022277" y="13675"/>
                </a:lnTo>
                <a:lnTo>
                  <a:pt x="1024293" y="21113"/>
                </a:lnTo>
                <a:lnTo>
                  <a:pt x="1064413" y="44127"/>
                </a:lnTo>
                <a:lnTo>
                  <a:pt x="0" y="51746"/>
                </a:lnTo>
                <a:lnTo>
                  <a:pt x="175" y="76088"/>
                </a:lnTo>
                <a:lnTo>
                  <a:pt x="1112326" y="68468"/>
                </a:lnTo>
                <a:lnTo>
                  <a:pt x="1133692" y="55802"/>
                </a:lnTo>
                <a:lnTo>
                  <a:pt x="103641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69607" y="4477985"/>
            <a:ext cx="4467860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仔细看</a:t>
            </a:r>
            <a:r>
              <a:rPr sz="2400" b="1" spc="-105" dirty="0">
                <a:latin typeface="Arial" panose="020B0604020202020204"/>
                <a:cs typeface="Arial" panose="020B0604020202020204"/>
              </a:rPr>
              <a:t>Y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l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d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，就是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100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跳到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300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R="383540" algn="r">
              <a:lnSpc>
                <a:spcPct val="100000"/>
              </a:lnSpc>
              <a:spcBef>
                <a:spcPts val="1220"/>
              </a:spcBef>
            </a:pP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C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=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10</a:t>
            </a:r>
            <a:r>
              <a:rPr sz="17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0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118" y="5200824"/>
            <a:ext cx="995044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G</a:t>
            </a:r>
            <a:r>
              <a:rPr sz="1700" b="1" spc="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1700" b="1" spc="-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1700" b="1" spc="-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3359" y="5721206"/>
            <a:ext cx="67183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Sh</a:t>
            </a:r>
            <a:r>
              <a:rPr sz="1700" b="1" spc="-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w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78467" y="5548964"/>
            <a:ext cx="6248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7536" y="5505903"/>
            <a:ext cx="6248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03211" y="5908609"/>
            <a:ext cx="92710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P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C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=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30</a:t>
            </a:r>
            <a:r>
              <a:rPr sz="17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0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10203" y="1554104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90" h="2725420">
                <a:moveTo>
                  <a:pt x="0" y="0"/>
                </a:moveTo>
                <a:lnTo>
                  <a:pt x="1558290" y="0"/>
                </a:lnTo>
                <a:lnTo>
                  <a:pt x="1558290" y="2724914"/>
                </a:lnTo>
                <a:lnTo>
                  <a:pt x="0" y="2724914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810496" y="1641359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22699" y="1566274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90" h="2725420">
                <a:moveTo>
                  <a:pt x="0" y="0"/>
                </a:moveTo>
                <a:lnTo>
                  <a:pt x="1558290" y="0"/>
                </a:lnTo>
                <a:lnTo>
                  <a:pt x="1558290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522991" y="1653527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2950" spc="100" dirty="0"/>
              <a:t>两个执行序列与一个栈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1402" y="1955741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89" h="2725420">
                <a:moveTo>
                  <a:pt x="0" y="0"/>
                </a:moveTo>
                <a:lnTo>
                  <a:pt x="1558290" y="0"/>
                </a:lnTo>
                <a:lnTo>
                  <a:pt x="1558290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61694" y="2042888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74193" y="1954389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89" h="2725420">
                <a:moveTo>
                  <a:pt x="0" y="0"/>
                </a:moveTo>
                <a:lnTo>
                  <a:pt x="1558290" y="0"/>
                </a:lnTo>
                <a:lnTo>
                  <a:pt x="1558290" y="2724914"/>
                </a:lnTo>
                <a:lnTo>
                  <a:pt x="0" y="2724914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74485" y="2041536"/>
            <a:ext cx="983615" cy="231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4485" y="4377701"/>
            <a:ext cx="10985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736" y="1953150"/>
            <a:ext cx="1891664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00B0F0"/>
                </a:solidFill>
                <a:latin typeface="Courier New" panose="02070309020205020404"/>
                <a:cs typeface="Courier New" panose="02070309020205020404"/>
              </a:rPr>
              <a:t>Yield()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3285" y="2681118"/>
            <a:ext cx="1270000" cy="67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找到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300; jmp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300;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736" y="3447130"/>
            <a:ext cx="1809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14478" y="604378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486966" y="0"/>
                </a:moveTo>
                <a:lnTo>
                  <a:pt x="486966" y="16228"/>
                </a:lnTo>
                <a:lnTo>
                  <a:pt x="0" y="16228"/>
                </a:lnTo>
                <a:lnTo>
                  <a:pt x="0" y="48682"/>
                </a:lnTo>
                <a:lnTo>
                  <a:pt x="486966" y="48682"/>
                </a:lnTo>
                <a:lnTo>
                  <a:pt x="486966" y="64910"/>
                </a:lnTo>
                <a:lnTo>
                  <a:pt x="649287" y="32454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14478" y="6043788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4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28695" y="5394678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69575" y="5490931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28695" y="5849055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8695" y="5849054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769575" y="5945186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404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9693" y="5724010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31544" y="1954389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64928" y="1914828"/>
                </a:moveTo>
                <a:lnTo>
                  <a:pt x="0" y="1914828"/>
                </a:lnTo>
                <a:lnTo>
                  <a:pt x="32463" y="2077154"/>
                </a:lnTo>
                <a:lnTo>
                  <a:pt x="64928" y="1914828"/>
                </a:lnTo>
                <a:close/>
              </a:path>
              <a:path w="65405" h="2077720">
                <a:moveTo>
                  <a:pt x="48695" y="0"/>
                </a:moveTo>
                <a:lnTo>
                  <a:pt x="16232" y="0"/>
                </a:lnTo>
                <a:lnTo>
                  <a:pt x="16232" y="1914828"/>
                </a:lnTo>
                <a:lnTo>
                  <a:pt x="48695" y="1914828"/>
                </a:lnTo>
                <a:lnTo>
                  <a:pt x="48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31544" y="1954389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5" h="2077720">
                <a:moveTo>
                  <a:pt x="48695" y="0"/>
                </a:moveTo>
                <a:lnTo>
                  <a:pt x="48695" y="1914829"/>
                </a:lnTo>
                <a:lnTo>
                  <a:pt x="64928" y="1914829"/>
                </a:lnTo>
                <a:lnTo>
                  <a:pt x="32463" y="2077155"/>
                </a:lnTo>
                <a:lnTo>
                  <a:pt x="0" y="1914829"/>
                </a:lnTo>
                <a:lnTo>
                  <a:pt x="16232" y="1914829"/>
                </a:lnTo>
                <a:lnTo>
                  <a:pt x="16232" y="0"/>
                </a:lnTo>
                <a:lnTo>
                  <a:pt x="48695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44336" y="1954389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64928" y="1849964"/>
                </a:moveTo>
                <a:lnTo>
                  <a:pt x="0" y="1849964"/>
                </a:lnTo>
                <a:lnTo>
                  <a:pt x="32463" y="2012243"/>
                </a:lnTo>
                <a:lnTo>
                  <a:pt x="64928" y="1849964"/>
                </a:lnTo>
                <a:close/>
              </a:path>
              <a:path w="65405" h="2012314">
                <a:moveTo>
                  <a:pt x="48696" y="0"/>
                </a:moveTo>
                <a:lnTo>
                  <a:pt x="16231" y="0"/>
                </a:lnTo>
                <a:lnTo>
                  <a:pt x="16231" y="1849964"/>
                </a:lnTo>
                <a:lnTo>
                  <a:pt x="48696" y="184996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44336" y="1954389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48696" y="0"/>
                </a:moveTo>
                <a:lnTo>
                  <a:pt x="48696" y="1849964"/>
                </a:lnTo>
                <a:lnTo>
                  <a:pt x="64928" y="1849964"/>
                </a:lnTo>
                <a:lnTo>
                  <a:pt x="32464" y="2012244"/>
                </a:lnTo>
                <a:lnTo>
                  <a:pt x="0" y="1849964"/>
                </a:lnTo>
                <a:lnTo>
                  <a:pt x="16232" y="1849964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52240" y="1954345"/>
            <a:ext cx="1827530" cy="2085339"/>
          </a:xfrm>
          <a:custGeom>
            <a:avLst/>
            <a:gdLst/>
            <a:ahLst/>
            <a:cxnLst/>
            <a:rect l="l" t="t" r="r" b="b"/>
            <a:pathLst>
              <a:path w="1827530" h="2085339">
                <a:moveTo>
                  <a:pt x="1818696" y="44043"/>
                </a:moveTo>
                <a:lnTo>
                  <a:pt x="1772478" y="44043"/>
                </a:lnTo>
                <a:lnTo>
                  <a:pt x="0" y="2069184"/>
                </a:lnTo>
                <a:lnTo>
                  <a:pt x="18323" y="2085213"/>
                </a:lnTo>
                <a:lnTo>
                  <a:pt x="1790801" y="60073"/>
                </a:lnTo>
                <a:lnTo>
                  <a:pt x="1815600" y="60073"/>
                </a:lnTo>
                <a:lnTo>
                  <a:pt x="1818696" y="44043"/>
                </a:lnTo>
                <a:close/>
              </a:path>
              <a:path w="1827530" h="2085339">
                <a:moveTo>
                  <a:pt x="1815600" y="60073"/>
                </a:moveTo>
                <a:lnTo>
                  <a:pt x="1790801" y="60073"/>
                </a:lnTo>
                <a:lnTo>
                  <a:pt x="1782032" y="105478"/>
                </a:lnTo>
                <a:lnTo>
                  <a:pt x="1786350" y="111861"/>
                </a:lnTo>
                <a:lnTo>
                  <a:pt x="1799553" y="114410"/>
                </a:lnTo>
                <a:lnTo>
                  <a:pt x="1805938" y="110093"/>
                </a:lnTo>
                <a:lnTo>
                  <a:pt x="1815600" y="60073"/>
                </a:lnTo>
                <a:close/>
              </a:path>
              <a:path w="1827530" h="2085339">
                <a:moveTo>
                  <a:pt x="1827203" y="0"/>
                </a:moveTo>
                <a:lnTo>
                  <a:pt x="1720878" y="35685"/>
                </a:lnTo>
                <a:lnTo>
                  <a:pt x="1717445" y="42585"/>
                </a:lnTo>
                <a:lnTo>
                  <a:pt x="1721725" y="55330"/>
                </a:lnTo>
                <a:lnTo>
                  <a:pt x="1728626" y="58761"/>
                </a:lnTo>
                <a:lnTo>
                  <a:pt x="1772478" y="44043"/>
                </a:lnTo>
                <a:lnTo>
                  <a:pt x="1818696" y="44043"/>
                </a:lnTo>
                <a:lnTo>
                  <a:pt x="18272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96417" y="3954527"/>
            <a:ext cx="1884680" cy="253365"/>
          </a:xfrm>
          <a:custGeom>
            <a:avLst/>
            <a:gdLst/>
            <a:ahLst/>
            <a:cxnLst/>
            <a:rect l="l" t="t" r="r" b="b"/>
            <a:pathLst>
              <a:path w="1884680" h="253364">
                <a:moveTo>
                  <a:pt x="90550" y="140681"/>
                </a:moveTo>
                <a:lnTo>
                  <a:pt x="0" y="206844"/>
                </a:lnTo>
                <a:lnTo>
                  <a:pt x="102180" y="253076"/>
                </a:lnTo>
                <a:lnTo>
                  <a:pt x="109393" y="250358"/>
                </a:lnTo>
                <a:lnTo>
                  <a:pt x="114938" y="238112"/>
                </a:lnTo>
                <a:lnTo>
                  <a:pt x="112219" y="230901"/>
                </a:lnTo>
                <a:lnTo>
                  <a:pt x="70077" y="211833"/>
                </a:lnTo>
                <a:lnTo>
                  <a:pt x="304196" y="187620"/>
                </a:lnTo>
                <a:lnTo>
                  <a:pt x="67572" y="187620"/>
                </a:lnTo>
                <a:lnTo>
                  <a:pt x="104917" y="160333"/>
                </a:lnTo>
                <a:lnTo>
                  <a:pt x="106101" y="152718"/>
                </a:lnTo>
                <a:lnTo>
                  <a:pt x="98166" y="141865"/>
                </a:lnTo>
                <a:lnTo>
                  <a:pt x="90550" y="140681"/>
                </a:lnTo>
                <a:close/>
              </a:path>
              <a:path w="1884680" h="253364">
                <a:moveTo>
                  <a:pt x="1881737" y="0"/>
                </a:moveTo>
                <a:lnTo>
                  <a:pt x="67572" y="187620"/>
                </a:lnTo>
                <a:lnTo>
                  <a:pt x="304196" y="187620"/>
                </a:lnTo>
                <a:lnTo>
                  <a:pt x="1884242" y="24212"/>
                </a:lnTo>
                <a:lnTo>
                  <a:pt x="18817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31544" y="416136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64928" y="357010"/>
                </a:moveTo>
                <a:lnTo>
                  <a:pt x="0" y="357010"/>
                </a:lnTo>
                <a:lnTo>
                  <a:pt x="32464" y="519289"/>
                </a:lnTo>
                <a:lnTo>
                  <a:pt x="64928" y="357010"/>
                </a:lnTo>
                <a:close/>
              </a:path>
              <a:path w="65405" h="519429">
                <a:moveTo>
                  <a:pt x="48696" y="0"/>
                </a:moveTo>
                <a:lnTo>
                  <a:pt x="16232" y="0"/>
                </a:lnTo>
                <a:lnTo>
                  <a:pt x="16232" y="357010"/>
                </a:lnTo>
                <a:lnTo>
                  <a:pt x="48696" y="357010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31544" y="416136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5" h="519429">
                <a:moveTo>
                  <a:pt x="48696" y="0"/>
                </a:moveTo>
                <a:lnTo>
                  <a:pt x="48696" y="357011"/>
                </a:lnTo>
                <a:lnTo>
                  <a:pt x="64928" y="357011"/>
                </a:lnTo>
                <a:lnTo>
                  <a:pt x="32464" y="519288"/>
                </a:lnTo>
                <a:lnTo>
                  <a:pt x="0" y="357011"/>
                </a:lnTo>
                <a:lnTo>
                  <a:pt x="16232" y="357011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07187" y="2795753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51090" y="3055327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7187" y="4288304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710689" y="4940300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51569" y="5036677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10689" y="5394678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10689" y="5394678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951569" y="5490931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96473" y="5616456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5" h="65404">
                <a:moveTo>
                  <a:pt x="486964" y="0"/>
                </a:moveTo>
                <a:lnTo>
                  <a:pt x="486964" y="16228"/>
                </a:lnTo>
                <a:lnTo>
                  <a:pt x="0" y="16228"/>
                </a:lnTo>
                <a:lnTo>
                  <a:pt x="0" y="48684"/>
                </a:lnTo>
                <a:lnTo>
                  <a:pt x="486964" y="48684"/>
                </a:lnTo>
                <a:lnTo>
                  <a:pt x="486964" y="64910"/>
                </a:lnTo>
                <a:lnTo>
                  <a:pt x="649287" y="32456"/>
                </a:lnTo>
                <a:lnTo>
                  <a:pt x="48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96473" y="5616456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5" h="65404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96759" y="5334648"/>
            <a:ext cx="473709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28695" y="4485922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528695" y="4485921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769575" y="4582423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528695" y="4940300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28695" y="4940300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769575" y="5036677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855677" y="395581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55677" y="442371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086985" y="3460750"/>
            <a:ext cx="4596130" cy="126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9445" algn="r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48000"/>
              </a:lnSpc>
              <a:spcBef>
                <a:spcPts val="165"/>
              </a:spcBef>
            </a:pPr>
            <a:r>
              <a:rPr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3)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再往下执行会怎么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样</a:t>
            </a:r>
            <a:r>
              <a:rPr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lang="en-US"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（需要</a:t>
            </a:r>
            <a:r>
              <a:rPr lang="en-US" altLang="zh-CN"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ret</a:t>
            </a:r>
            <a:r>
              <a:rPr lang="zh-CN" altLang="en-US"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）</a:t>
            </a:r>
            <a:r>
              <a:rPr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000" b="1" i="1" spc="1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8000"/>
              </a:lnSpc>
              <a:spcBef>
                <a:spcPts val="16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问题怎么解决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?  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为什么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8" name="object 48"/>
          <p:cNvSpPr txBox="1"/>
          <p:nvPr/>
        </p:nvSpPr>
        <p:spPr>
          <a:xfrm>
            <a:off x="7110064" y="1966671"/>
            <a:ext cx="1891664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Yield()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76820" y="2694940"/>
            <a:ext cx="1590040" cy="675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找</a:t>
            </a:r>
            <a:r>
              <a:rPr lang="zh-CN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204</a:t>
            </a:r>
            <a:r>
              <a:rPr sz="2925" b="1" spc="37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?;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jmp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?;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ct val="100000"/>
              </a:lnSpc>
            </a:pPr>
            <a:r>
              <a:rPr sz="2950" spc="100" dirty="0"/>
              <a:t>从一个栈到两个栈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1687" y="1955741"/>
            <a:ext cx="1558290" cy="2725420"/>
          </a:xfrm>
          <a:custGeom>
            <a:avLst/>
            <a:gdLst/>
            <a:ahLst/>
            <a:cxnLst/>
            <a:rect l="l" t="t" r="r" b="b"/>
            <a:pathLst>
              <a:path w="1558289" h="2725420">
                <a:moveTo>
                  <a:pt x="0" y="0"/>
                </a:moveTo>
                <a:lnTo>
                  <a:pt x="1558290" y="0"/>
                </a:lnTo>
                <a:lnTo>
                  <a:pt x="1558290" y="2724913"/>
                </a:lnTo>
                <a:lnTo>
                  <a:pt x="0" y="2724913"/>
                </a:lnTo>
                <a:lnTo>
                  <a:pt x="0" y="0"/>
                </a:lnTo>
                <a:close/>
              </a:path>
            </a:pathLst>
          </a:custGeom>
          <a:ln w="243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1979" y="2042888"/>
            <a:ext cx="983615" cy="2577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100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250190" marR="29146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200: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B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09880" marR="5080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204:</a:t>
            </a:r>
            <a:endParaRPr sz="170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4478" y="1954389"/>
            <a:ext cx="1558290" cy="2725420"/>
          </a:xfrm>
          <a:prstGeom prst="rect">
            <a:avLst/>
          </a:prstGeom>
          <a:ln w="2434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300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C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38455" marR="753745" indent="59055">
              <a:lnSpc>
                <a:spcPts val="2070"/>
              </a:lnSpc>
              <a:spcBef>
                <a:spcPts val="40"/>
              </a:spcBef>
            </a:pP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195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400: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latin typeface="Arial" panose="020B0604020202020204"/>
                <a:cs typeface="Arial" panose="020B0604020202020204"/>
              </a:rPr>
              <a:t>{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398145" marR="466725" indent="-63500">
              <a:lnSpc>
                <a:spcPts val="2030"/>
              </a:lnSpc>
              <a:spcBef>
                <a:spcPts val="70"/>
              </a:spcBef>
            </a:pPr>
            <a:r>
              <a:rPr sz="1700" b="1" spc="-6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latin typeface="Arial" panose="020B0604020202020204"/>
                <a:cs typeface="Arial" panose="020B0604020202020204"/>
              </a:rPr>
              <a:t>404: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00330">
              <a:lnSpc>
                <a:spcPts val="2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0773" y="2603500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4" y="0"/>
                </a:moveTo>
                <a:lnTo>
                  <a:pt x="486964" y="16228"/>
                </a:lnTo>
                <a:lnTo>
                  <a:pt x="0" y="16228"/>
                </a:lnTo>
                <a:lnTo>
                  <a:pt x="0" y="48682"/>
                </a:lnTo>
                <a:lnTo>
                  <a:pt x="486964" y="48682"/>
                </a:lnTo>
                <a:lnTo>
                  <a:pt x="486964" y="64910"/>
                </a:lnTo>
                <a:lnTo>
                  <a:pt x="649287" y="32456"/>
                </a:lnTo>
                <a:lnTo>
                  <a:pt x="48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90773" y="2603500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04990" y="1954389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73660" y="4766554"/>
            <a:ext cx="3035935" cy="264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790" marR="5080" indent="-466725">
              <a:lnSpc>
                <a:spcPct val="122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Yield()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TCB1.esp=esp;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78790" marR="5080">
              <a:lnSpc>
                <a:spcPct val="106000"/>
              </a:lnSpc>
              <a:spcBef>
                <a:spcPts val="430"/>
              </a:spcBef>
            </a:pPr>
            <a:r>
              <a:rPr lang="en-US" sz="2000" b="1" spc="20" dirty="0">
                <a:latin typeface="Courier New" panose="02070309020205020404"/>
                <a:cs typeface="Courier New" panose="02070309020205020404"/>
              </a:rPr>
              <a:t> 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esp=TCB2.esp;</a:t>
            </a:r>
            <a:endParaRPr sz="2000" b="1" spc="20" dirty="0">
              <a:latin typeface="Courier New" panose="02070309020205020404"/>
              <a:cs typeface="Courier New" panose="02070309020205020404"/>
            </a:endParaRPr>
          </a:p>
          <a:p>
            <a:pPr marL="478790" marR="5080">
              <a:lnSpc>
                <a:spcPct val="106000"/>
              </a:lnSpc>
              <a:spcBef>
                <a:spcPts val="430"/>
              </a:spcBef>
            </a:pPr>
            <a:r>
              <a:rPr lang="en-US"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jmp 204</a:t>
            </a:r>
            <a:endParaRPr lang="en-US" sz="2000" b="1" spc="2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 marL="478790" marR="5080">
              <a:lnSpc>
                <a:spcPct val="106000"/>
              </a:lnSpc>
              <a:spcBef>
                <a:spcPts val="430"/>
              </a:spcBef>
            </a:pPr>
            <a:r>
              <a:rPr lang="en-US"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 b="1" spc="20" dirty="0">
              <a:latin typeface="Courier New" panose="02070309020205020404"/>
              <a:cs typeface="Courier New" panose="02070309020205020404"/>
            </a:endParaRPr>
          </a:p>
          <a:p>
            <a:pPr marL="478790" marR="5080">
              <a:lnSpc>
                <a:spcPct val="106000"/>
              </a:lnSpc>
              <a:spcBef>
                <a:spcPts val="4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endParaRPr sz="3600" baseline="-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5870" y="2051577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304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04990" y="2408766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04990" y="2408767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145870" y="250583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404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1830" y="1954389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4" h="2077720">
                <a:moveTo>
                  <a:pt x="64928" y="1914828"/>
                </a:moveTo>
                <a:lnTo>
                  <a:pt x="0" y="1914828"/>
                </a:lnTo>
                <a:lnTo>
                  <a:pt x="32463" y="2077154"/>
                </a:lnTo>
                <a:lnTo>
                  <a:pt x="64928" y="1914828"/>
                </a:lnTo>
                <a:close/>
              </a:path>
              <a:path w="65404" h="2077720">
                <a:moveTo>
                  <a:pt x="48695" y="0"/>
                </a:moveTo>
                <a:lnTo>
                  <a:pt x="16232" y="0"/>
                </a:lnTo>
                <a:lnTo>
                  <a:pt x="16232" y="1914828"/>
                </a:lnTo>
                <a:lnTo>
                  <a:pt x="48695" y="1914828"/>
                </a:lnTo>
                <a:lnTo>
                  <a:pt x="48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1830" y="1954389"/>
            <a:ext cx="65405" cy="2077720"/>
          </a:xfrm>
          <a:custGeom>
            <a:avLst/>
            <a:gdLst/>
            <a:ahLst/>
            <a:cxnLst/>
            <a:rect l="l" t="t" r="r" b="b"/>
            <a:pathLst>
              <a:path w="65404" h="2077720">
                <a:moveTo>
                  <a:pt x="48695" y="0"/>
                </a:moveTo>
                <a:lnTo>
                  <a:pt x="48695" y="1914829"/>
                </a:lnTo>
                <a:lnTo>
                  <a:pt x="64928" y="1914829"/>
                </a:lnTo>
                <a:lnTo>
                  <a:pt x="32463" y="2077155"/>
                </a:lnTo>
                <a:lnTo>
                  <a:pt x="0" y="1914829"/>
                </a:lnTo>
                <a:lnTo>
                  <a:pt x="16232" y="1914829"/>
                </a:lnTo>
                <a:lnTo>
                  <a:pt x="16232" y="0"/>
                </a:lnTo>
                <a:lnTo>
                  <a:pt x="48695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84621" y="1954389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64928" y="1849964"/>
                </a:moveTo>
                <a:lnTo>
                  <a:pt x="0" y="1849964"/>
                </a:lnTo>
                <a:lnTo>
                  <a:pt x="32463" y="2012243"/>
                </a:lnTo>
                <a:lnTo>
                  <a:pt x="64928" y="1849964"/>
                </a:lnTo>
                <a:close/>
              </a:path>
              <a:path w="65405" h="2012314">
                <a:moveTo>
                  <a:pt x="48696" y="0"/>
                </a:moveTo>
                <a:lnTo>
                  <a:pt x="16231" y="0"/>
                </a:lnTo>
                <a:lnTo>
                  <a:pt x="16231" y="1849964"/>
                </a:lnTo>
                <a:lnTo>
                  <a:pt x="48696" y="1849964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84621" y="1954389"/>
            <a:ext cx="65405" cy="2012314"/>
          </a:xfrm>
          <a:custGeom>
            <a:avLst/>
            <a:gdLst/>
            <a:ahLst/>
            <a:cxnLst/>
            <a:rect l="l" t="t" r="r" b="b"/>
            <a:pathLst>
              <a:path w="65405" h="2012314">
                <a:moveTo>
                  <a:pt x="48696" y="0"/>
                </a:moveTo>
                <a:lnTo>
                  <a:pt x="48696" y="1849964"/>
                </a:lnTo>
                <a:lnTo>
                  <a:pt x="64928" y="1849964"/>
                </a:lnTo>
                <a:lnTo>
                  <a:pt x="32464" y="2012244"/>
                </a:lnTo>
                <a:lnTo>
                  <a:pt x="0" y="1849964"/>
                </a:lnTo>
                <a:lnTo>
                  <a:pt x="16232" y="1849964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2525" y="1954345"/>
            <a:ext cx="1827530" cy="2085339"/>
          </a:xfrm>
          <a:custGeom>
            <a:avLst/>
            <a:gdLst/>
            <a:ahLst/>
            <a:cxnLst/>
            <a:rect l="l" t="t" r="r" b="b"/>
            <a:pathLst>
              <a:path w="1827530" h="2085339">
                <a:moveTo>
                  <a:pt x="1818696" y="44043"/>
                </a:moveTo>
                <a:lnTo>
                  <a:pt x="1772478" y="44043"/>
                </a:lnTo>
                <a:lnTo>
                  <a:pt x="0" y="2069184"/>
                </a:lnTo>
                <a:lnTo>
                  <a:pt x="18323" y="2085213"/>
                </a:lnTo>
                <a:lnTo>
                  <a:pt x="1790801" y="60073"/>
                </a:lnTo>
                <a:lnTo>
                  <a:pt x="1815600" y="60073"/>
                </a:lnTo>
                <a:lnTo>
                  <a:pt x="1818696" y="44043"/>
                </a:lnTo>
                <a:close/>
              </a:path>
              <a:path w="1827530" h="2085339">
                <a:moveTo>
                  <a:pt x="1815600" y="60073"/>
                </a:moveTo>
                <a:lnTo>
                  <a:pt x="1790801" y="60073"/>
                </a:lnTo>
                <a:lnTo>
                  <a:pt x="1782032" y="105478"/>
                </a:lnTo>
                <a:lnTo>
                  <a:pt x="1786350" y="111861"/>
                </a:lnTo>
                <a:lnTo>
                  <a:pt x="1799553" y="114410"/>
                </a:lnTo>
                <a:lnTo>
                  <a:pt x="1805938" y="110093"/>
                </a:lnTo>
                <a:lnTo>
                  <a:pt x="1815600" y="60073"/>
                </a:lnTo>
                <a:close/>
              </a:path>
              <a:path w="1827530" h="2085339">
                <a:moveTo>
                  <a:pt x="1827203" y="0"/>
                </a:moveTo>
                <a:lnTo>
                  <a:pt x="1720878" y="35685"/>
                </a:lnTo>
                <a:lnTo>
                  <a:pt x="1717445" y="42585"/>
                </a:lnTo>
                <a:lnTo>
                  <a:pt x="1721725" y="55330"/>
                </a:lnTo>
                <a:lnTo>
                  <a:pt x="1728626" y="58761"/>
                </a:lnTo>
                <a:lnTo>
                  <a:pt x="1772478" y="44043"/>
                </a:lnTo>
                <a:lnTo>
                  <a:pt x="1818696" y="44043"/>
                </a:lnTo>
                <a:lnTo>
                  <a:pt x="18272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6702" y="3954527"/>
            <a:ext cx="1884680" cy="253365"/>
          </a:xfrm>
          <a:custGeom>
            <a:avLst/>
            <a:gdLst/>
            <a:ahLst/>
            <a:cxnLst/>
            <a:rect l="l" t="t" r="r" b="b"/>
            <a:pathLst>
              <a:path w="1884680" h="253364">
                <a:moveTo>
                  <a:pt x="90550" y="140681"/>
                </a:moveTo>
                <a:lnTo>
                  <a:pt x="0" y="206844"/>
                </a:lnTo>
                <a:lnTo>
                  <a:pt x="102180" y="253076"/>
                </a:lnTo>
                <a:lnTo>
                  <a:pt x="109393" y="250358"/>
                </a:lnTo>
                <a:lnTo>
                  <a:pt x="114938" y="238112"/>
                </a:lnTo>
                <a:lnTo>
                  <a:pt x="112219" y="230901"/>
                </a:lnTo>
                <a:lnTo>
                  <a:pt x="70077" y="211833"/>
                </a:lnTo>
                <a:lnTo>
                  <a:pt x="304196" y="187620"/>
                </a:lnTo>
                <a:lnTo>
                  <a:pt x="67572" y="187620"/>
                </a:lnTo>
                <a:lnTo>
                  <a:pt x="104917" y="160333"/>
                </a:lnTo>
                <a:lnTo>
                  <a:pt x="106102" y="152718"/>
                </a:lnTo>
                <a:lnTo>
                  <a:pt x="98167" y="141865"/>
                </a:lnTo>
                <a:lnTo>
                  <a:pt x="90550" y="140681"/>
                </a:lnTo>
                <a:close/>
              </a:path>
              <a:path w="1884680" h="253364">
                <a:moveTo>
                  <a:pt x="1881737" y="0"/>
                </a:moveTo>
                <a:lnTo>
                  <a:pt x="67572" y="187620"/>
                </a:lnTo>
                <a:lnTo>
                  <a:pt x="304196" y="187620"/>
                </a:lnTo>
                <a:lnTo>
                  <a:pt x="1884242" y="24212"/>
                </a:lnTo>
                <a:lnTo>
                  <a:pt x="18817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1830" y="416136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4" h="519429">
                <a:moveTo>
                  <a:pt x="64928" y="357010"/>
                </a:moveTo>
                <a:lnTo>
                  <a:pt x="0" y="357010"/>
                </a:lnTo>
                <a:lnTo>
                  <a:pt x="32464" y="519289"/>
                </a:lnTo>
                <a:lnTo>
                  <a:pt x="64928" y="357010"/>
                </a:lnTo>
                <a:close/>
              </a:path>
              <a:path w="65404" h="519429">
                <a:moveTo>
                  <a:pt x="48696" y="0"/>
                </a:moveTo>
                <a:lnTo>
                  <a:pt x="16232" y="0"/>
                </a:lnTo>
                <a:lnTo>
                  <a:pt x="16232" y="357010"/>
                </a:lnTo>
                <a:lnTo>
                  <a:pt x="48696" y="357010"/>
                </a:lnTo>
                <a:lnTo>
                  <a:pt x="486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1830" y="4161366"/>
            <a:ext cx="65405" cy="519430"/>
          </a:xfrm>
          <a:custGeom>
            <a:avLst/>
            <a:gdLst/>
            <a:ahLst/>
            <a:cxnLst/>
            <a:rect l="l" t="t" r="r" b="b"/>
            <a:pathLst>
              <a:path w="65404" h="519429">
                <a:moveTo>
                  <a:pt x="48696" y="0"/>
                </a:moveTo>
                <a:lnTo>
                  <a:pt x="48696" y="357011"/>
                </a:lnTo>
                <a:lnTo>
                  <a:pt x="64928" y="357011"/>
                </a:lnTo>
                <a:lnTo>
                  <a:pt x="32464" y="519288"/>
                </a:lnTo>
                <a:lnTo>
                  <a:pt x="0" y="357011"/>
                </a:lnTo>
                <a:lnTo>
                  <a:pt x="16232" y="357011"/>
                </a:lnTo>
                <a:lnTo>
                  <a:pt x="16232" y="0"/>
                </a:lnTo>
                <a:lnTo>
                  <a:pt x="48696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51913" y="1954389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191059" y="2284656"/>
            <a:ext cx="60452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4770">
              <a:lnSpc>
                <a:spcPct val="128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esp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472" y="2795753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91375" y="3055327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7472" y="4288304"/>
            <a:ext cx="28956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92793" y="2051577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151913" y="2408766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51913" y="2408767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89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92793" y="2505832"/>
            <a:ext cx="49212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204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37697" y="2630545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6" y="0"/>
                </a:moveTo>
                <a:lnTo>
                  <a:pt x="486966" y="16228"/>
                </a:lnTo>
                <a:lnTo>
                  <a:pt x="0" y="16228"/>
                </a:lnTo>
                <a:lnTo>
                  <a:pt x="0" y="48684"/>
                </a:lnTo>
                <a:lnTo>
                  <a:pt x="486966" y="48684"/>
                </a:lnTo>
                <a:lnTo>
                  <a:pt x="486966" y="64910"/>
                </a:lnTo>
                <a:lnTo>
                  <a:pt x="649287" y="32456"/>
                </a:lnTo>
                <a:lnTo>
                  <a:pt x="4869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37697" y="2630545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437983" y="2349549"/>
            <a:ext cx="60452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97412" y="3122789"/>
            <a:ext cx="1428750" cy="454659"/>
          </a:xfrm>
          <a:prstGeom prst="rect">
            <a:avLst/>
          </a:prstGeom>
          <a:ln w="2434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esp=1000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32769" y="3647418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85559" y="3122789"/>
            <a:ext cx="1428750" cy="454659"/>
          </a:xfrm>
          <a:prstGeom prst="rect">
            <a:avLst/>
          </a:prstGeom>
          <a:ln w="2434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esp=2000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20916" y="3647418"/>
            <a:ext cx="70358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03744" y="1932183"/>
            <a:ext cx="1900555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ct val="143000"/>
              </a:lnSpc>
            </a:pPr>
            <a:r>
              <a:rPr sz="2000" b="1" i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3)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再往下执行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会</a:t>
            </a:r>
            <a:r>
              <a:rPr sz="3000" b="1" i="1" spc="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怎么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样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lang="en-US"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000" b="1" i="1" spc="2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972256" y="210584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51850" y="4921246"/>
            <a:ext cx="1798320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000" b="1" spc="-5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切换要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先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切换栈，然后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...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7822" y="501603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300" y="945515"/>
            <a:ext cx="9857740" cy="469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2725">
              <a:lnSpc>
                <a:spcPct val="100000"/>
              </a:lnSpc>
            </a:pPr>
            <a:r>
              <a:rPr sz="2950" spc="100" dirty="0"/>
              <a:t>两个线程的样子：两个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TC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B</a:t>
            </a:r>
            <a:r>
              <a:rPr sz="2950" spc="100" dirty="0"/>
              <a:t>、两个栈、切换的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C</a:t>
            </a:r>
            <a:r>
              <a:rPr sz="2950" spc="100" dirty="0"/>
              <a:t>在栈中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9265" y="5789024"/>
            <a:ext cx="458470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0000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258" y="2726863"/>
            <a:ext cx="65341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ack1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258" y="3192350"/>
            <a:ext cx="65341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ack2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258" y="3662121"/>
            <a:ext cx="501650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15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258" y="4127716"/>
            <a:ext cx="44767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5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ta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258" y="4593270"/>
            <a:ext cx="51244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56188" y="2928055"/>
            <a:ext cx="1948180" cy="259715"/>
          </a:xfrm>
          <a:custGeom>
            <a:avLst/>
            <a:gdLst/>
            <a:ahLst/>
            <a:cxnLst/>
            <a:rect l="l" t="t" r="r" b="b"/>
            <a:pathLst>
              <a:path w="1948180" h="259714">
                <a:moveTo>
                  <a:pt x="0" y="259643"/>
                </a:moveTo>
                <a:lnTo>
                  <a:pt x="1947862" y="259643"/>
                </a:lnTo>
                <a:lnTo>
                  <a:pt x="1947862" y="0"/>
                </a:lnTo>
                <a:lnTo>
                  <a:pt x="0" y="0"/>
                </a:lnTo>
                <a:lnTo>
                  <a:pt x="0" y="2596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56188" y="3447343"/>
            <a:ext cx="1948180" cy="259715"/>
          </a:xfrm>
          <a:custGeom>
            <a:avLst/>
            <a:gdLst/>
            <a:ahLst/>
            <a:cxnLst/>
            <a:rect l="l" t="t" r="r" b="b"/>
            <a:pathLst>
              <a:path w="1948180" h="259714">
                <a:moveTo>
                  <a:pt x="0" y="259645"/>
                </a:moveTo>
                <a:lnTo>
                  <a:pt x="1947862" y="259645"/>
                </a:lnTo>
                <a:lnTo>
                  <a:pt x="1947862" y="0"/>
                </a:lnTo>
                <a:lnTo>
                  <a:pt x="0" y="0"/>
                </a:lnTo>
                <a:lnTo>
                  <a:pt x="0" y="2596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68954" y="2928054"/>
            <a:ext cx="73660" cy="194945"/>
          </a:xfrm>
          <a:custGeom>
            <a:avLst/>
            <a:gdLst/>
            <a:ahLst/>
            <a:cxnLst/>
            <a:rect l="l" t="t" r="r" b="b"/>
            <a:pathLst>
              <a:path w="73660" h="194944">
                <a:moveTo>
                  <a:pt x="73044" y="121709"/>
                </a:moveTo>
                <a:lnTo>
                  <a:pt x="0" y="121709"/>
                </a:lnTo>
                <a:lnTo>
                  <a:pt x="36522" y="194734"/>
                </a:lnTo>
                <a:lnTo>
                  <a:pt x="73044" y="121709"/>
                </a:lnTo>
                <a:close/>
              </a:path>
              <a:path w="73660" h="194944">
                <a:moveTo>
                  <a:pt x="48695" y="0"/>
                </a:moveTo>
                <a:lnTo>
                  <a:pt x="24347" y="1"/>
                </a:lnTo>
                <a:lnTo>
                  <a:pt x="24347" y="121709"/>
                </a:lnTo>
                <a:lnTo>
                  <a:pt x="48695" y="121709"/>
                </a:lnTo>
                <a:lnTo>
                  <a:pt x="48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53313" y="3577166"/>
            <a:ext cx="73660" cy="130175"/>
          </a:xfrm>
          <a:custGeom>
            <a:avLst/>
            <a:gdLst/>
            <a:ahLst/>
            <a:cxnLst/>
            <a:rect l="l" t="t" r="r" b="b"/>
            <a:pathLst>
              <a:path w="73660" h="130175">
                <a:moveTo>
                  <a:pt x="48695" y="73025"/>
                </a:moveTo>
                <a:lnTo>
                  <a:pt x="24347" y="73025"/>
                </a:lnTo>
                <a:lnTo>
                  <a:pt x="24347" y="129821"/>
                </a:lnTo>
                <a:lnTo>
                  <a:pt x="48695" y="129821"/>
                </a:lnTo>
                <a:lnTo>
                  <a:pt x="48695" y="73025"/>
                </a:lnTo>
                <a:close/>
              </a:path>
              <a:path w="73660" h="130175">
                <a:moveTo>
                  <a:pt x="36522" y="0"/>
                </a:moveTo>
                <a:lnTo>
                  <a:pt x="0" y="73025"/>
                </a:lnTo>
                <a:lnTo>
                  <a:pt x="73044" y="73025"/>
                </a:lnTo>
                <a:lnTo>
                  <a:pt x="365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86332" y="5973424"/>
            <a:ext cx="158242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两个执行序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69737" y="3444544"/>
            <a:ext cx="73660" cy="173355"/>
          </a:xfrm>
          <a:custGeom>
            <a:avLst/>
            <a:gdLst/>
            <a:ahLst/>
            <a:cxnLst/>
            <a:rect l="l" t="t" r="r" b="b"/>
            <a:pathLst>
              <a:path w="73660" h="173354">
                <a:moveTo>
                  <a:pt x="47913" y="0"/>
                </a:moveTo>
                <a:lnTo>
                  <a:pt x="23564" y="190"/>
                </a:lnTo>
                <a:lnTo>
                  <a:pt x="24347" y="100263"/>
                </a:lnTo>
                <a:lnTo>
                  <a:pt x="0" y="100454"/>
                </a:lnTo>
                <a:lnTo>
                  <a:pt x="37091" y="173191"/>
                </a:lnTo>
                <a:lnTo>
                  <a:pt x="72949" y="100073"/>
                </a:lnTo>
                <a:lnTo>
                  <a:pt x="48695" y="100073"/>
                </a:lnTo>
                <a:lnTo>
                  <a:pt x="47913" y="0"/>
                </a:lnTo>
                <a:close/>
              </a:path>
              <a:path w="73660" h="173354">
                <a:moveTo>
                  <a:pt x="73042" y="99882"/>
                </a:moveTo>
                <a:lnTo>
                  <a:pt x="48695" y="100073"/>
                </a:lnTo>
                <a:lnTo>
                  <a:pt x="72949" y="100073"/>
                </a:lnTo>
                <a:lnTo>
                  <a:pt x="73042" y="99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69265" y="1883248"/>
            <a:ext cx="28511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10" dirty="0">
                <a:latin typeface="Arial" panose="020B0604020202020204"/>
                <a:cs typeface="Arial" panose="020B0604020202020204"/>
              </a:rPr>
              <a:t>ffff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7187" y="2211712"/>
            <a:ext cx="53403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6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8786" y="1957060"/>
            <a:ext cx="559435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Th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的核心就是用程序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做出这三样东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西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57298" y="2030117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94562" y="2473678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94562" y="2928055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454377"/>
                </a:moveTo>
                <a:lnTo>
                  <a:pt x="973931" y="454377"/>
                </a:lnTo>
                <a:lnTo>
                  <a:pt x="973931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94562" y="2928056"/>
            <a:ext cx="974090" cy="454659"/>
          </a:xfrm>
          <a:custGeom>
            <a:avLst/>
            <a:gdLst/>
            <a:ahLst/>
            <a:cxnLst/>
            <a:rect l="l" t="t" r="r" b="b"/>
            <a:pathLst>
              <a:path w="974090" h="454660">
                <a:moveTo>
                  <a:pt x="0" y="0"/>
                </a:moveTo>
                <a:lnTo>
                  <a:pt x="973931" y="0"/>
                </a:lnTo>
                <a:lnTo>
                  <a:pt x="973931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80346" y="2691400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486964" y="0"/>
                </a:moveTo>
                <a:lnTo>
                  <a:pt x="486964" y="16228"/>
                </a:lnTo>
                <a:lnTo>
                  <a:pt x="0" y="16228"/>
                </a:lnTo>
                <a:lnTo>
                  <a:pt x="0" y="48684"/>
                </a:lnTo>
                <a:lnTo>
                  <a:pt x="486964" y="48684"/>
                </a:lnTo>
                <a:lnTo>
                  <a:pt x="486964" y="64910"/>
                </a:lnTo>
                <a:lnTo>
                  <a:pt x="649287" y="32456"/>
                </a:lnTo>
                <a:lnTo>
                  <a:pt x="48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80346" y="2691400"/>
            <a:ext cx="649605" cy="65405"/>
          </a:xfrm>
          <a:custGeom>
            <a:avLst/>
            <a:gdLst/>
            <a:ahLst/>
            <a:cxnLst/>
            <a:rect l="l" t="t" r="r" b="b"/>
            <a:pathLst>
              <a:path w="649604" h="65405">
                <a:moveTo>
                  <a:pt x="0" y="16227"/>
                </a:moveTo>
                <a:lnTo>
                  <a:pt x="486965" y="16227"/>
                </a:lnTo>
                <a:lnTo>
                  <a:pt x="486965" y="0"/>
                </a:lnTo>
                <a:lnTo>
                  <a:pt x="649287" y="32455"/>
                </a:lnTo>
                <a:lnTo>
                  <a:pt x="486965" y="64911"/>
                </a:lnTo>
                <a:lnTo>
                  <a:pt x="486965" y="48683"/>
                </a:lnTo>
                <a:lnTo>
                  <a:pt x="0" y="48683"/>
                </a:lnTo>
                <a:lnTo>
                  <a:pt x="0" y="16227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35443" y="2473678"/>
            <a:ext cx="2486660" cy="835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49350" algn="l"/>
              </a:tabLst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100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esp=1000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1005205" algn="l"/>
              </a:tabLst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...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3000" b="1" spc="30" baseline="1000" dirty="0">
                <a:latin typeface="Arial" panose="020B0604020202020204"/>
                <a:cs typeface="Arial" panose="020B0604020202020204"/>
              </a:rPr>
              <a:t>T</a:t>
            </a:r>
            <a:r>
              <a:rPr sz="3000" b="1" spc="37" baseline="100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spc="37" baseline="1000" dirty="0">
                <a:latin typeface="Arial" panose="020B0604020202020204"/>
                <a:cs typeface="Arial" panose="020B0604020202020204"/>
              </a:rPr>
              <a:t>B</a:t>
            </a:r>
            <a:r>
              <a:rPr sz="3000" b="1" spc="22" baseline="1000" dirty="0">
                <a:latin typeface="Arial" panose="020B0604020202020204"/>
                <a:cs typeface="Arial" panose="020B0604020202020204"/>
              </a:rPr>
              <a:t>1</a:t>
            </a:r>
            <a:endParaRPr sz="30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6" name="object 26"/>
          <p:cNvSpPr txBox="1"/>
          <p:nvPr/>
        </p:nvSpPr>
        <p:spPr>
          <a:xfrm>
            <a:off x="6458891" y="2815970"/>
            <a:ext cx="60452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1000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97246" y="3348361"/>
            <a:ext cx="3135630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ThreadCreate(A)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19311" y="4097462"/>
            <a:ext cx="2825115" cy="1405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TCB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*tcb=malloc();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*stack=malloc();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 marR="315595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*stack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A;//100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tcb.esp=stack;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97246" y="5591422"/>
            <a:ext cx="1809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52131" y="1885420"/>
          <a:ext cx="1960245" cy="4032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931"/>
                <a:gridCol w="973931"/>
              </a:tblGrid>
              <a:tr h="259643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4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89466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3">
                      <a:solidFill>
                        <a:srgbClr val="000066"/>
                      </a:solidFill>
                      <a:prstDash val="solid"/>
                    </a:lnL>
                    <a:lnR w="8113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 hMerge="1">
                  <a:tcPr marL="0" marR="0" marT="0" marB="0"/>
                </a:tc>
              </a:tr>
              <a:tr h="129822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4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259644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3">
                      <a:solidFill>
                        <a:srgbClr val="000066"/>
                      </a:solidFill>
                      <a:prstDash val="solid"/>
                    </a:lnL>
                    <a:lnR w="8113">
                      <a:solidFill>
                        <a:srgbClr val="000066"/>
                      </a:solidFill>
                      <a:prstDash val="solid"/>
                    </a:lnR>
                    <a:lnT w="8114">
                      <a:solidFill>
                        <a:srgbClr val="000066"/>
                      </a:solidFill>
                      <a:prstDash val="solid"/>
                    </a:lnT>
                    <a:lnB w="8114">
                      <a:solidFill>
                        <a:srgbClr val="000066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 hMerge="1">
                  <a:tcPr marL="0" marR="0" marT="0" marB="0"/>
                </a:tc>
              </a:tr>
              <a:tr h="129821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4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129822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259644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3">
                      <a:solidFill>
                        <a:srgbClr val="000066"/>
                      </a:solidFill>
                      <a:prstDash val="solid"/>
                    </a:lnL>
                    <a:lnR w="8113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  <a:solidFill>
                      <a:srgbClr val="FF66FF"/>
                    </a:solidFill>
                  </a:tcPr>
                </a:tc>
                <a:tc hMerge="1">
                  <a:tcPr marL="0" marR="0" marT="0" marB="0"/>
                </a:tc>
              </a:tr>
              <a:tr h="259644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4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24554">
                <a:tc gridSpan="2">
                  <a:txBody>
                    <a:bodyPr/>
                    <a:lstStyle/>
                    <a:p>
                      <a:endParaRPr sz="195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8113">
                      <a:solidFill>
                        <a:srgbClr val="000066"/>
                      </a:solidFill>
                      <a:prstDash val="solid"/>
                    </a:lnL>
                    <a:lnR w="8113">
                      <a:solidFill>
                        <a:srgbClr val="000066"/>
                      </a:solidFill>
                      <a:prstDash val="solid"/>
                    </a:lnR>
                    <a:lnT w="8114">
                      <a:solidFill>
                        <a:srgbClr val="000066"/>
                      </a:solidFill>
                      <a:prstDash val="solid"/>
                    </a:lnT>
                    <a:lnB w="8113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454377">
                <a:tc gridSpan="2"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100:  </a:t>
                      </a:r>
                      <a:r>
                        <a:rPr sz="1700" b="1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4">
                      <a:solidFill>
                        <a:srgbClr val="000066"/>
                      </a:solidFill>
                      <a:prstDash val="solid"/>
                    </a:lnL>
                    <a:lnR w="8114">
                      <a:solidFill>
                        <a:srgbClr val="000066"/>
                      </a:solidFill>
                      <a:prstDash val="solid"/>
                    </a:lnR>
                    <a:lnT w="8113">
                      <a:solidFill>
                        <a:srgbClr val="000066"/>
                      </a:solidFill>
                      <a:prstDash val="solid"/>
                    </a:lnT>
                    <a:lnB w="8115">
                      <a:solidFill>
                        <a:srgbClr val="000066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  <a:tr h="352076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1700" b="1" spc="5" dirty="0">
                          <a:solidFill>
                            <a:srgbClr val="009999"/>
                          </a:solidFill>
                          <a:latin typeface="Tahoma" panose="020B0604030504040204"/>
                          <a:cs typeface="Tahoma" panose="020B0604030504040204"/>
                        </a:rPr>
                        <a:t>A(</a:t>
                      </a:r>
                      <a:r>
                        <a:rPr sz="1700" b="1" dirty="0">
                          <a:solidFill>
                            <a:srgbClr val="009999"/>
                          </a:solidFill>
                          <a:latin typeface="Tahoma" panose="020B0604030504040204"/>
                          <a:cs typeface="Tahoma" panose="020B0604030504040204"/>
                        </a:rPr>
                        <a:t>)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  <a:lnT w="8114">
                      <a:solidFill>
                        <a:srgbClr val="00006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C()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  <a:lnT w="8115">
                      <a:solidFill>
                        <a:srgbClr val="000066"/>
                      </a:solidFill>
                      <a:prstDash val="solid"/>
                    </a:lnT>
                  </a:tcPr>
                </a:tc>
              </a:tr>
              <a:tr h="336466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009999"/>
                          </a:solidFill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{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</a:pPr>
                      <a:r>
                        <a:rPr sz="1700" b="1" spc="5" dirty="0">
                          <a:solidFill>
                            <a:srgbClr val="009999"/>
                          </a:solidFill>
                          <a:latin typeface="Tahoma" panose="020B0604030504040204"/>
                          <a:cs typeface="Tahoma" panose="020B0604030504040204"/>
                        </a:rPr>
                        <a:t>B();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466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D(</a:t>
                      </a: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)</a:t>
                      </a: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;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</a:tcPr>
                </a:tc>
              </a:tr>
              <a:tr h="403036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009999"/>
                          </a:solidFill>
                          <a:latin typeface="Tahoma" panose="020B0604030504040204"/>
                          <a:cs typeface="Tahoma" panose="020B0604030504040204"/>
                        </a:rPr>
                        <a:t>}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  <a:lnB w="8115">
                      <a:solidFill>
                        <a:srgbClr val="0000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</a:pPr>
                      <a:r>
                        <a:rPr sz="1700" b="1" dirty="0">
                          <a:solidFill>
                            <a:srgbClr val="FF66FF"/>
                          </a:solidFill>
                          <a:latin typeface="Tahoma" panose="020B0604030504040204"/>
                          <a:cs typeface="Tahoma" panose="020B0604030504040204"/>
                        </a:rPr>
                        <a:t>}</a:t>
                      </a:r>
                      <a:endParaRPr sz="17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8115">
                      <a:solidFill>
                        <a:srgbClr val="000066"/>
                      </a:solidFill>
                      <a:prstDash val="solid"/>
                    </a:lnL>
                    <a:lnR w="8115">
                      <a:solidFill>
                        <a:srgbClr val="000066"/>
                      </a:solidFill>
                      <a:prstDash val="solid"/>
                    </a:lnR>
                    <a:lnB w="8115">
                      <a:solidFill>
                        <a:srgbClr val="0000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ct val="100000"/>
              </a:lnSpc>
            </a:pPr>
            <a:r>
              <a:rPr sz="2950" spc="100" dirty="0"/>
              <a:t>将所有的东西组合在一起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043" y="1824567"/>
            <a:ext cx="6345555" cy="1168400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WebExplore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r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()//main()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382270" marR="189865" indent="-311150">
              <a:lnSpc>
                <a:spcPts val="2970"/>
              </a:lnSpc>
              <a:spcBef>
                <a:spcPts val="15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ThreadCreat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(GetData,URL,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buffer);...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while(1)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();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043" y="3057878"/>
            <a:ext cx="6363335" cy="77914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GetData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(char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*URL,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char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*p){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382270">
              <a:lnSpc>
                <a:spcPct val="100000"/>
              </a:lnSpc>
              <a:spcBef>
                <a:spcPts val="63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URL;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下载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();...}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043" y="3901721"/>
            <a:ext cx="6363335" cy="779145"/>
          </a:xfrm>
          <a:prstGeom prst="rect">
            <a:avLst/>
          </a:prstGeom>
          <a:ln w="10818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ThreadCreat</a:t>
            </a:r>
            <a:r>
              <a:rPr sz="2000" b="1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(func,arg1){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226695">
              <a:lnSpc>
                <a:spcPct val="100000"/>
              </a:lnSpc>
              <a:spcBef>
                <a:spcPts val="63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申请栈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申请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TCB;func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等入栈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关联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与栈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;...}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043" y="4745566"/>
            <a:ext cx="6363335" cy="779145"/>
          </a:xfrm>
          <a:custGeom>
            <a:avLst/>
            <a:gdLst/>
            <a:ahLst/>
            <a:cxnLst/>
            <a:rect l="l" t="t" r="r" b="b"/>
            <a:pathLst>
              <a:path w="6363334" h="779145">
                <a:moveTo>
                  <a:pt x="0" y="0"/>
                </a:moveTo>
                <a:lnTo>
                  <a:pt x="6363017" y="0"/>
                </a:lnTo>
                <a:lnTo>
                  <a:pt x="6363017" y="778933"/>
                </a:lnTo>
                <a:lnTo>
                  <a:pt x="0" y="778933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2257" y="5328422"/>
            <a:ext cx="6428105" cy="688340"/>
          </a:xfrm>
          <a:custGeom>
            <a:avLst/>
            <a:gdLst/>
            <a:ahLst/>
            <a:cxnLst/>
            <a:rect l="l" t="t" r="r" b="b"/>
            <a:pathLst>
              <a:path w="6428105" h="688339">
                <a:moveTo>
                  <a:pt x="1260908" y="0"/>
                </a:moveTo>
                <a:lnTo>
                  <a:pt x="1071325" y="233942"/>
                </a:lnTo>
                <a:lnTo>
                  <a:pt x="69356" y="234208"/>
                </a:lnTo>
                <a:lnTo>
                  <a:pt x="55223" y="236756"/>
                </a:lnTo>
                <a:lnTo>
                  <a:pt x="20111" y="258282"/>
                </a:lnTo>
                <a:lnTo>
                  <a:pt x="1386" y="295174"/>
                </a:lnTo>
                <a:lnTo>
                  <a:pt x="0" y="309674"/>
                </a:lnTo>
                <a:lnTo>
                  <a:pt x="0" y="423265"/>
                </a:lnTo>
                <a:lnTo>
                  <a:pt x="266" y="618983"/>
                </a:lnTo>
                <a:lnTo>
                  <a:pt x="15114" y="657987"/>
                </a:lnTo>
                <a:lnTo>
                  <a:pt x="47672" y="682947"/>
                </a:lnTo>
                <a:lnTo>
                  <a:pt x="75751" y="688320"/>
                </a:lnTo>
                <a:lnTo>
                  <a:pt x="2678310" y="688320"/>
                </a:lnTo>
                <a:lnTo>
                  <a:pt x="6358590" y="688054"/>
                </a:lnTo>
                <a:lnTo>
                  <a:pt x="6397604" y="673210"/>
                </a:lnTo>
                <a:lnTo>
                  <a:pt x="6422571" y="640660"/>
                </a:lnTo>
                <a:lnTo>
                  <a:pt x="6427946" y="612588"/>
                </a:lnTo>
                <a:lnTo>
                  <a:pt x="6427946" y="309674"/>
                </a:lnTo>
                <a:lnTo>
                  <a:pt x="6412832" y="264276"/>
                </a:lnTo>
                <a:lnTo>
                  <a:pt x="6380273" y="239316"/>
                </a:lnTo>
                <a:lnTo>
                  <a:pt x="6352194" y="233942"/>
                </a:lnTo>
                <a:lnTo>
                  <a:pt x="2678310" y="233942"/>
                </a:lnTo>
                <a:lnTo>
                  <a:pt x="12609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2257" y="5328422"/>
            <a:ext cx="6428105" cy="688340"/>
          </a:xfrm>
          <a:custGeom>
            <a:avLst/>
            <a:gdLst/>
            <a:ahLst/>
            <a:cxnLst/>
            <a:rect l="l" t="t" r="r" b="b"/>
            <a:pathLst>
              <a:path w="6428105" h="688339">
                <a:moveTo>
                  <a:pt x="0" y="309674"/>
                </a:moveTo>
                <a:lnTo>
                  <a:pt x="11702" y="269218"/>
                </a:lnTo>
                <a:lnTo>
                  <a:pt x="42132" y="241791"/>
                </a:lnTo>
                <a:lnTo>
                  <a:pt x="1071324" y="233942"/>
                </a:lnTo>
                <a:lnTo>
                  <a:pt x="1260907" y="0"/>
                </a:lnTo>
                <a:lnTo>
                  <a:pt x="2678310" y="233942"/>
                </a:lnTo>
                <a:lnTo>
                  <a:pt x="6352194" y="233942"/>
                </a:lnTo>
                <a:lnTo>
                  <a:pt x="6366697" y="235329"/>
                </a:lnTo>
                <a:lnTo>
                  <a:pt x="6403600" y="254049"/>
                </a:lnTo>
                <a:lnTo>
                  <a:pt x="6425131" y="289151"/>
                </a:lnTo>
                <a:lnTo>
                  <a:pt x="6427946" y="309674"/>
                </a:lnTo>
                <a:lnTo>
                  <a:pt x="6427946" y="423265"/>
                </a:lnTo>
                <a:lnTo>
                  <a:pt x="6427946" y="612588"/>
                </a:lnTo>
                <a:lnTo>
                  <a:pt x="6426559" y="627088"/>
                </a:lnTo>
                <a:lnTo>
                  <a:pt x="6407834" y="663980"/>
                </a:lnTo>
                <a:lnTo>
                  <a:pt x="6372722" y="685506"/>
                </a:lnTo>
                <a:lnTo>
                  <a:pt x="2678310" y="688320"/>
                </a:lnTo>
                <a:lnTo>
                  <a:pt x="1071324" y="688320"/>
                </a:lnTo>
                <a:lnTo>
                  <a:pt x="75751" y="688320"/>
                </a:lnTo>
                <a:lnTo>
                  <a:pt x="61248" y="686933"/>
                </a:lnTo>
                <a:lnTo>
                  <a:pt x="24345" y="668213"/>
                </a:lnTo>
                <a:lnTo>
                  <a:pt x="2814" y="633111"/>
                </a:lnTo>
                <a:lnTo>
                  <a:pt x="0" y="423265"/>
                </a:lnTo>
                <a:lnTo>
                  <a:pt x="0" y="309674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1438" y="4787331"/>
            <a:ext cx="6599555" cy="155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void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Yield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(){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压入现场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;esp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放在当前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12395" indent="191770">
              <a:lnSpc>
                <a:spcPct val="100000"/>
              </a:lnSpc>
              <a:spcBef>
                <a:spcPts val="6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2000" b="1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Next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();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从下个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TCB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取出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esp;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弹栈切换线程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12395">
              <a:lnSpc>
                <a:spcPct val="100000"/>
              </a:lnSpc>
              <a:spcBef>
                <a:spcPts val="188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调度函数，对系统影响很大，如可优先调度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ex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et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925" b="1" spc="-61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et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0521" y="6119517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03565" y="2656409"/>
            <a:ext cx="714375" cy="112395"/>
          </a:xfrm>
          <a:custGeom>
            <a:avLst/>
            <a:gdLst/>
            <a:ahLst/>
            <a:cxnLst/>
            <a:rect l="l" t="t" r="r" b="b"/>
            <a:pathLst>
              <a:path w="714375" h="112394">
                <a:moveTo>
                  <a:pt x="613920" y="0"/>
                </a:moveTo>
                <a:lnTo>
                  <a:pt x="609091" y="2190"/>
                </a:lnTo>
                <a:lnTo>
                  <a:pt x="603162" y="12352"/>
                </a:lnTo>
                <a:lnTo>
                  <a:pt x="605124" y="19804"/>
                </a:lnTo>
                <a:lnTo>
                  <a:pt x="645079" y="43105"/>
                </a:lnTo>
                <a:lnTo>
                  <a:pt x="0" y="43105"/>
                </a:lnTo>
                <a:lnTo>
                  <a:pt x="0" y="67445"/>
                </a:lnTo>
                <a:lnTo>
                  <a:pt x="645079" y="67447"/>
                </a:lnTo>
                <a:lnTo>
                  <a:pt x="605124" y="90747"/>
                </a:lnTo>
                <a:lnTo>
                  <a:pt x="603162" y="98200"/>
                </a:lnTo>
                <a:lnTo>
                  <a:pt x="609939" y="109813"/>
                </a:lnTo>
                <a:lnTo>
                  <a:pt x="617392" y="111773"/>
                </a:lnTo>
                <a:lnTo>
                  <a:pt x="714272" y="55276"/>
                </a:lnTo>
                <a:lnTo>
                  <a:pt x="621748" y="1318"/>
                </a:lnTo>
                <a:lnTo>
                  <a:pt x="620194" y="806"/>
                </a:lnTo>
                <a:lnTo>
                  <a:pt x="61392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85980" y="2626489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0"/>
                </a:moveTo>
                <a:lnTo>
                  <a:pt x="0" y="171743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75159" y="3163526"/>
            <a:ext cx="158750" cy="112395"/>
          </a:xfrm>
          <a:custGeom>
            <a:avLst/>
            <a:gdLst/>
            <a:ahLst/>
            <a:cxnLst/>
            <a:rect l="l" t="t" r="r" b="b"/>
            <a:pathLst>
              <a:path w="158750" h="112395">
                <a:moveTo>
                  <a:pt x="57967" y="0"/>
                </a:moveTo>
                <a:lnTo>
                  <a:pt x="53139" y="2192"/>
                </a:lnTo>
                <a:lnTo>
                  <a:pt x="47210" y="12353"/>
                </a:lnTo>
                <a:lnTo>
                  <a:pt x="49171" y="19805"/>
                </a:lnTo>
                <a:lnTo>
                  <a:pt x="89127" y="43106"/>
                </a:lnTo>
                <a:lnTo>
                  <a:pt x="0" y="43106"/>
                </a:lnTo>
                <a:lnTo>
                  <a:pt x="0" y="67448"/>
                </a:lnTo>
                <a:lnTo>
                  <a:pt x="89127" y="67448"/>
                </a:lnTo>
                <a:lnTo>
                  <a:pt x="49171" y="90749"/>
                </a:lnTo>
                <a:lnTo>
                  <a:pt x="47209" y="98201"/>
                </a:lnTo>
                <a:lnTo>
                  <a:pt x="53985" y="109814"/>
                </a:lnTo>
                <a:lnTo>
                  <a:pt x="61440" y="111775"/>
                </a:lnTo>
                <a:lnTo>
                  <a:pt x="158319" y="55278"/>
                </a:lnTo>
                <a:lnTo>
                  <a:pt x="65796" y="1319"/>
                </a:lnTo>
                <a:lnTo>
                  <a:pt x="64241" y="807"/>
                </a:lnTo>
                <a:lnTo>
                  <a:pt x="57967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75159" y="3132255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3096"/>
                </a:lnTo>
              </a:path>
            </a:pathLst>
          </a:custGeom>
          <a:ln w="24348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035133" y="2611247"/>
            <a:ext cx="10680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G</a:t>
            </a:r>
            <a:r>
              <a:rPr sz="1700" b="1" spc="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1700" b="1" spc="-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D</a:t>
            </a:r>
            <a:r>
              <a:rPr sz="1700" b="1" spc="-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t</a:t>
            </a:r>
            <a:r>
              <a:rPr sz="1700" b="1" spc="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: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20550" y="3084428"/>
            <a:ext cx="74422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Sh</a:t>
            </a:r>
            <a:r>
              <a:rPr sz="1700" b="1" spc="-2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o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w</a:t>
            </a:r>
            <a:r>
              <a:rPr sz="1700" b="1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: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33380" y="2702617"/>
            <a:ext cx="588645" cy="528955"/>
          </a:xfrm>
          <a:custGeom>
            <a:avLst/>
            <a:gdLst/>
            <a:ahLst/>
            <a:cxnLst/>
            <a:rect l="l" t="t" r="r" b="b"/>
            <a:pathLst>
              <a:path w="588645" h="528955">
                <a:moveTo>
                  <a:pt x="41356" y="418193"/>
                </a:moveTo>
                <a:lnTo>
                  <a:pt x="34494" y="421702"/>
                </a:lnTo>
                <a:lnTo>
                  <a:pt x="0" y="528394"/>
                </a:lnTo>
                <a:lnTo>
                  <a:pt x="109876" y="505895"/>
                </a:lnTo>
                <a:lnTo>
                  <a:pt x="114122" y="499463"/>
                </a:lnTo>
                <a:lnTo>
                  <a:pt x="112455" y="491327"/>
                </a:lnTo>
                <a:lnTo>
                  <a:pt x="59674" y="491327"/>
                </a:lnTo>
                <a:lnTo>
                  <a:pt x="79942" y="473190"/>
                </a:lnTo>
                <a:lnTo>
                  <a:pt x="43435" y="473190"/>
                </a:lnTo>
                <a:lnTo>
                  <a:pt x="57661" y="429187"/>
                </a:lnTo>
                <a:lnTo>
                  <a:pt x="54151" y="422327"/>
                </a:lnTo>
                <a:lnTo>
                  <a:pt x="41356" y="418193"/>
                </a:lnTo>
                <a:close/>
              </a:path>
              <a:path w="588645" h="528955">
                <a:moveTo>
                  <a:pt x="104990" y="482048"/>
                </a:moveTo>
                <a:lnTo>
                  <a:pt x="59674" y="491327"/>
                </a:lnTo>
                <a:lnTo>
                  <a:pt x="112455" y="491327"/>
                </a:lnTo>
                <a:lnTo>
                  <a:pt x="111424" y="486293"/>
                </a:lnTo>
                <a:lnTo>
                  <a:pt x="104990" y="482048"/>
                </a:lnTo>
                <a:close/>
              </a:path>
              <a:path w="588645" h="528955">
                <a:moveTo>
                  <a:pt x="572223" y="0"/>
                </a:moveTo>
                <a:lnTo>
                  <a:pt x="43435" y="473190"/>
                </a:lnTo>
                <a:lnTo>
                  <a:pt x="79942" y="473190"/>
                </a:lnTo>
                <a:lnTo>
                  <a:pt x="588462" y="18136"/>
                </a:lnTo>
                <a:lnTo>
                  <a:pt x="5722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550137" y="2901915"/>
            <a:ext cx="6248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33362" y="3183314"/>
            <a:ext cx="1635760" cy="112395"/>
          </a:xfrm>
          <a:custGeom>
            <a:avLst/>
            <a:gdLst/>
            <a:ahLst/>
            <a:cxnLst/>
            <a:rect l="l" t="t" r="r" b="b"/>
            <a:pathLst>
              <a:path w="1635759" h="112395">
                <a:moveTo>
                  <a:pt x="120" y="35488"/>
                </a:moveTo>
                <a:lnTo>
                  <a:pt x="0" y="59829"/>
                </a:lnTo>
                <a:lnTo>
                  <a:pt x="1566257" y="67600"/>
                </a:lnTo>
                <a:lnTo>
                  <a:pt x="1526186" y="90703"/>
                </a:lnTo>
                <a:lnTo>
                  <a:pt x="1524187" y="98145"/>
                </a:lnTo>
                <a:lnTo>
                  <a:pt x="1530906" y="109791"/>
                </a:lnTo>
                <a:lnTo>
                  <a:pt x="1538351" y="111790"/>
                </a:lnTo>
                <a:lnTo>
                  <a:pt x="1635509" y="55773"/>
                </a:lnTo>
                <a:lnTo>
                  <a:pt x="1614294" y="43260"/>
                </a:lnTo>
                <a:lnTo>
                  <a:pt x="1566378" y="43260"/>
                </a:lnTo>
                <a:lnTo>
                  <a:pt x="120" y="35488"/>
                </a:lnTo>
                <a:close/>
              </a:path>
              <a:path w="1635759" h="112395">
                <a:moveTo>
                  <a:pt x="1535432" y="0"/>
                </a:moveTo>
                <a:lnTo>
                  <a:pt x="1530593" y="2167"/>
                </a:lnTo>
                <a:lnTo>
                  <a:pt x="1524614" y="12298"/>
                </a:lnTo>
                <a:lnTo>
                  <a:pt x="1526538" y="19761"/>
                </a:lnTo>
                <a:lnTo>
                  <a:pt x="1566378" y="43260"/>
                </a:lnTo>
                <a:lnTo>
                  <a:pt x="1614294" y="43260"/>
                </a:lnTo>
                <a:lnTo>
                  <a:pt x="1543254" y="1357"/>
                </a:lnTo>
                <a:lnTo>
                  <a:pt x="1541702" y="836"/>
                </a:lnTo>
                <a:lnTo>
                  <a:pt x="1535432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77449" y="2711653"/>
            <a:ext cx="798195" cy="536575"/>
          </a:xfrm>
          <a:custGeom>
            <a:avLst/>
            <a:gdLst/>
            <a:ahLst/>
            <a:cxnLst/>
            <a:rect l="l" t="t" r="r" b="b"/>
            <a:pathLst>
              <a:path w="798195" h="536575">
                <a:moveTo>
                  <a:pt x="94848" y="48437"/>
                </a:moveTo>
                <a:lnTo>
                  <a:pt x="50876" y="48437"/>
                </a:lnTo>
                <a:lnTo>
                  <a:pt x="784625" y="536216"/>
                </a:lnTo>
                <a:lnTo>
                  <a:pt x="798107" y="515947"/>
                </a:lnTo>
                <a:lnTo>
                  <a:pt x="94848" y="48437"/>
                </a:lnTo>
                <a:close/>
              </a:path>
              <a:path w="798195" h="536575">
                <a:moveTo>
                  <a:pt x="0" y="0"/>
                </a:moveTo>
                <a:lnTo>
                  <a:pt x="49380" y="100675"/>
                </a:lnTo>
                <a:lnTo>
                  <a:pt x="56673" y="103169"/>
                </a:lnTo>
                <a:lnTo>
                  <a:pt x="68747" y="97250"/>
                </a:lnTo>
                <a:lnTo>
                  <a:pt x="71241" y="89959"/>
                </a:lnTo>
                <a:lnTo>
                  <a:pt x="50876" y="48437"/>
                </a:lnTo>
                <a:lnTo>
                  <a:pt x="94848" y="48437"/>
                </a:lnTo>
                <a:lnTo>
                  <a:pt x="64358" y="28168"/>
                </a:lnTo>
                <a:lnTo>
                  <a:pt x="113589" y="28168"/>
                </a:lnTo>
                <a:lnTo>
                  <a:pt x="116296" y="25763"/>
                </a:lnTo>
                <a:lnTo>
                  <a:pt x="117085" y="12343"/>
                </a:lnTo>
                <a:lnTo>
                  <a:pt x="111964" y="6583"/>
                </a:lnTo>
                <a:lnTo>
                  <a:pt x="0" y="0"/>
                </a:lnTo>
                <a:close/>
              </a:path>
              <a:path w="798195" h="536575">
                <a:moveTo>
                  <a:pt x="113589" y="28168"/>
                </a:moveTo>
                <a:lnTo>
                  <a:pt x="64358" y="28168"/>
                </a:lnTo>
                <a:lnTo>
                  <a:pt x="110534" y="30883"/>
                </a:lnTo>
                <a:lnTo>
                  <a:pt x="113589" y="281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307639" y="2901915"/>
            <a:ext cx="62484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Yi</a:t>
            </a:r>
            <a:r>
              <a:rPr sz="17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ld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242315" y="2656053"/>
            <a:ext cx="909319" cy="112395"/>
          </a:xfrm>
          <a:custGeom>
            <a:avLst/>
            <a:gdLst/>
            <a:ahLst/>
            <a:cxnLst/>
            <a:rect l="l" t="t" r="r" b="b"/>
            <a:pathLst>
              <a:path w="909320" h="112394">
                <a:moveTo>
                  <a:pt x="887683" y="68418"/>
                </a:moveTo>
                <a:lnTo>
                  <a:pt x="840087" y="68418"/>
                </a:lnTo>
                <a:lnTo>
                  <a:pt x="800341" y="92075"/>
                </a:lnTo>
                <a:lnTo>
                  <a:pt x="798446" y="99545"/>
                </a:lnTo>
                <a:lnTo>
                  <a:pt x="804464" y="109653"/>
                </a:lnTo>
                <a:lnTo>
                  <a:pt x="809312" y="111800"/>
                </a:lnTo>
                <a:lnTo>
                  <a:pt x="815580" y="110938"/>
                </a:lnTo>
                <a:lnTo>
                  <a:pt x="817129" y="110412"/>
                </a:lnTo>
                <a:lnTo>
                  <a:pt x="887683" y="68418"/>
                </a:lnTo>
                <a:close/>
              </a:path>
              <a:path w="909320" h="112394">
                <a:moveTo>
                  <a:pt x="811787" y="0"/>
                </a:moveTo>
                <a:lnTo>
                  <a:pt x="804350" y="2028"/>
                </a:lnTo>
                <a:lnTo>
                  <a:pt x="797679" y="13699"/>
                </a:lnTo>
                <a:lnTo>
                  <a:pt x="799707" y="21134"/>
                </a:lnTo>
                <a:lnTo>
                  <a:pt x="839870" y="44077"/>
                </a:lnTo>
                <a:lnTo>
                  <a:pt x="0" y="51574"/>
                </a:lnTo>
                <a:lnTo>
                  <a:pt x="218" y="75915"/>
                </a:lnTo>
                <a:lnTo>
                  <a:pt x="887683" y="68418"/>
                </a:lnTo>
                <a:lnTo>
                  <a:pt x="909167" y="55631"/>
                </a:lnTo>
                <a:lnTo>
                  <a:pt x="811787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251403" y="3557356"/>
            <a:ext cx="2838450" cy="73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Ge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下载到文本时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会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()…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98324" y="366641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976313" y="937447"/>
            <a:ext cx="2532221" cy="16390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为什么说是用户级线程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——</a:t>
            </a:r>
            <a:r>
              <a:rPr sz="3050" dirty="0">
                <a:latin typeface="Arial" panose="020B0604020202020204"/>
                <a:cs typeface="Arial" panose="020B0604020202020204"/>
              </a:rPr>
              <a:t>Yiel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d</a:t>
            </a:r>
            <a:r>
              <a:rPr sz="2950" spc="100" dirty="0"/>
              <a:t>是用户程序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400" y="1947139"/>
            <a:ext cx="60750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如果进程的某个线程进入内核并阻塞，则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9195" y="2872610"/>
            <a:ext cx="1200150" cy="1159510"/>
          </a:xfrm>
          <a:custGeom>
            <a:avLst/>
            <a:gdLst/>
            <a:ahLst/>
            <a:cxnLst/>
            <a:rect l="l" t="t" r="r" b="b"/>
            <a:pathLst>
              <a:path w="1200150" h="1159510">
                <a:moveTo>
                  <a:pt x="0" y="0"/>
                </a:moveTo>
                <a:lnTo>
                  <a:pt x="1199751" y="0"/>
                </a:lnTo>
                <a:lnTo>
                  <a:pt x="1199751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03064" y="2872610"/>
            <a:ext cx="2108200" cy="1159510"/>
          </a:xfrm>
          <a:custGeom>
            <a:avLst/>
            <a:gdLst/>
            <a:ahLst/>
            <a:cxnLst/>
            <a:rect l="l" t="t" r="r" b="b"/>
            <a:pathLst>
              <a:path w="2108200" h="1159510">
                <a:moveTo>
                  <a:pt x="0" y="0"/>
                </a:moveTo>
                <a:lnTo>
                  <a:pt x="2108114" y="0"/>
                </a:lnTo>
                <a:lnTo>
                  <a:pt x="2108114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7693" y="4031544"/>
            <a:ext cx="5708650" cy="0"/>
          </a:xfrm>
          <a:custGeom>
            <a:avLst/>
            <a:gdLst/>
            <a:ahLst/>
            <a:cxnLst/>
            <a:rect l="l" t="t" r="r" b="b"/>
            <a:pathLst>
              <a:path w="5708650">
                <a:moveTo>
                  <a:pt x="0" y="0"/>
                </a:moveTo>
                <a:lnTo>
                  <a:pt x="5708464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80804" y="3999088"/>
            <a:ext cx="62230" cy="779145"/>
          </a:xfrm>
          <a:custGeom>
            <a:avLst/>
            <a:gdLst/>
            <a:ahLst/>
            <a:cxnLst/>
            <a:rect l="l" t="t" r="r" b="b"/>
            <a:pathLst>
              <a:path w="62230" h="779145">
                <a:moveTo>
                  <a:pt x="30488" y="0"/>
                </a:moveTo>
                <a:lnTo>
                  <a:pt x="1074" y="25966"/>
                </a:lnTo>
                <a:lnTo>
                  <a:pt x="0" y="43631"/>
                </a:lnTo>
                <a:lnTo>
                  <a:pt x="6994" y="54854"/>
                </a:lnTo>
                <a:lnTo>
                  <a:pt x="17852" y="62360"/>
                </a:lnTo>
                <a:lnTo>
                  <a:pt x="26254" y="64056"/>
                </a:lnTo>
                <a:lnTo>
                  <a:pt x="26254" y="714876"/>
                </a:lnTo>
                <a:lnTo>
                  <a:pt x="11629" y="720148"/>
                </a:lnTo>
                <a:lnTo>
                  <a:pt x="4650" y="728248"/>
                </a:lnTo>
                <a:lnTo>
                  <a:pt x="581" y="740637"/>
                </a:lnTo>
                <a:lnTo>
                  <a:pt x="239" y="758137"/>
                </a:lnTo>
                <a:lnTo>
                  <a:pt x="7576" y="768900"/>
                </a:lnTo>
                <a:lnTo>
                  <a:pt x="19399" y="776112"/>
                </a:lnTo>
                <a:lnTo>
                  <a:pt x="35036" y="778609"/>
                </a:lnTo>
                <a:lnTo>
                  <a:pt x="45993" y="774618"/>
                </a:lnTo>
                <a:lnTo>
                  <a:pt x="54595" y="766071"/>
                </a:lnTo>
                <a:lnTo>
                  <a:pt x="59903" y="752967"/>
                </a:lnTo>
                <a:lnTo>
                  <a:pt x="60978" y="735302"/>
                </a:lnTo>
                <a:lnTo>
                  <a:pt x="53983" y="724079"/>
                </a:lnTo>
                <a:lnTo>
                  <a:pt x="43126" y="716572"/>
                </a:lnTo>
                <a:lnTo>
                  <a:pt x="34724" y="714876"/>
                </a:lnTo>
                <a:lnTo>
                  <a:pt x="34723" y="64056"/>
                </a:lnTo>
                <a:lnTo>
                  <a:pt x="47639" y="59994"/>
                </a:lnTo>
                <a:lnTo>
                  <a:pt x="55606" y="52240"/>
                </a:lnTo>
                <a:lnTo>
                  <a:pt x="60591" y="40325"/>
                </a:lnTo>
                <a:lnTo>
                  <a:pt x="61747" y="23661"/>
                </a:lnTo>
                <a:lnTo>
                  <a:pt x="55245" y="11459"/>
                </a:lnTo>
                <a:lnTo>
                  <a:pt x="44354" y="3100"/>
                </a:lnTo>
                <a:lnTo>
                  <a:pt x="30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11844" y="3037593"/>
            <a:ext cx="65405" cy="321310"/>
          </a:xfrm>
          <a:custGeom>
            <a:avLst/>
            <a:gdLst/>
            <a:ahLst/>
            <a:cxnLst/>
            <a:rect l="l" t="t" r="r" b="b"/>
            <a:pathLst>
              <a:path w="65405" h="321310">
                <a:moveTo>
                  <a:pt x="31919" y="0"/>
                </a:moveTo>
                <a:lnTo>
                  <a:pt x="53580" y="33675"/>
                </a:lnTo>
                <a:lnTo>
                  <a:pt x="64882" y="67351"/>
                </a:lnTo>
                <a:lnTo>
                  <a:pt x="64557" y="78577"/>
                </a:lnTo>
                <a:lnTo>
                  <a:pt x="31840" y="119709"/>
                </a:lnTo>
                <a:lnTo>
                  <a:pt x="20891" y="129638"/>
                </a:lnTo>
                <a:lnTo>
                  <a:pt x="11160" y="139478"/>
                </a:lnTo>
                <a:lnTo>
                  <a:pt x="3808" y="149257"/>
                </a:lnTo>
                <a:lnTo>
                  <a:pt x="0" y="159000"/>
                </a:lnTo>
                <a:lnTo>
                  <a:pt x="2446" y="169729"/>
                </a:lnTo>
                <a:lnTo>
                  <a:pt x="9108" y="180211"/>
                </a:lnTo>
                <a:lnTo>
                  <a:pt x="18667" y="190480"/>
                </a:lnTo>
                <a:lnTo>
                  <a:pt x="29804" y="200568"/>
                </a:lnTo>
                <a:lnTo>
                  <a:pt x="41199" y="210510"/>
                </a:lnTo>
                <a:lnTo>
                  <a:pt x="51534" y="220340"/>
                </a:lnTo>
                <a:lnTo>
                  <a:pt x="59489" y="230089"/>
                </a:lnTo>
                <a:lnTo>
                  <a:pt x="63746" y="239793"/>
                </a:lnTo>
                <a:lnTo>
                  <a:pt x="62549" y="250598"/>
                </a:lnTo>
                <a:lnTo>
                  <a:pt x="36659" y="291473"/>
                </a:lnTo>
                <a:lnTo>
                  <a:pt x="15667" y="311016"/>
                </a:lnTo>
                <a:lnTo>
                  <a:pt x="4314" y="320691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59063" y="3037593"/>
            <a:ext cx="64135" cy="322580"/>
          </a:xfrm>
          <a:custGeom>
            <a:avLst/>
            <a:gdLst/>
            <a:ahLst/>
            <a:cxnLst/>
            <a:rect l="l" t="t" r="r" b="b"/>
            <a:pathLst>
              <a:path w="64135" h="322579">
                <a:moveTo>
                  <a:pt x="31410" y="0"/>
                </a:moveTo>
                <a:lnTo>
                  <a:pt x="52723" y="33819"/>
                </a:lnTo>
                <a:lnTo>
                  <a:pt x="63749" y="67639"/>
                </a:lnTo>
                <a:lnTo>
                  <a:pt x="63360" y="78913"/>
                </a:lnTo>
                <a:lnTo>
                  <a:pt x="30879" y="120162"/>
                </a:lnTo>
                <a:lnTo>
                  <a:pt x="20070" y="130162"/>
                </a:lnTo>
                <a:lnTo>
                  <a:pt x="10537" y="140086"/>
                </a:lnTo>
                <a:lnTo>
                  <a:pt x="3455" y="149955"/>
                </a:lnTo>
                <a:lnTo>
                  <a:pt x="0" y="159795"/>
                </a:lnTo>
                <a:lnTo>
                  <a:pt x="2502" y="170417"/>
                </a:lnTo>
                <a:lnTo>
                  <a:pt x="9226" y="180848"/>
                </a:lnTo>
                <a:lnTo>
                  <a:pt x="18825" y="191113"/>
                </a:lnTo>
                <a:lnTo>
                  <a:pt x="29952" y="201239"/>
                </a:lnTo>
                <a:lnTo>
                  <a:pt x="41260" y="211252"/>
                </a:lnTo>
                <a:lnTo>
                  <a:pt x="51402" y="221179"/>
                </a:lnTo>
                <a:lnTo>
                  <a:pt x="59030" y="231046"/>
                </a:lnTo>
                <a:lnTo>
                  <a:pt x="62798" y="240881"/>
                </a:lnTo>
                <a:lnTo>
                  <a:pt x="61525" y="251515"/>
                </a:lnTo>
                <a:lnTo>
                  <a:pt x="35282" y="292361"/>
                </a:lnTo>
                <a:lnTo>
                  <a:pt x="14198" y="312149"/>
                </a:lnTo>
                <a:lnTo>
                  <a:pt x="2847" y="321978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3436" y="3037593"/>
            <a:ext cx="64135" cy="322580"/>
          </a:xfrm>
          <a:custGeom>
            <a:avLst/>
            <a:gdLst/>
            <a:ahLst/>
            <a:cxnLst/>
            <a:rect l="l" t="t" r="r" b="b"/>
            <a:pathLst>
              <a:path w="64135" h="322579">
                <a:moveTo>
                  <a:pt x="31410" y="0"/>
                </a:moveTo>
                <a:lnTo>
                  <a:pt x="52723" y="33819"/>
                </a:lnTo>
                <a:lnTo>
                  <a:pt x="63749" y="67639"/>
                </a:lnTo>
                <a:lnTo>
                  <a:pt x="63360" y="78913"/>
                </a:lnTo>
                <a:lnTo>
                  <a:pt x="30879" y="120162"/>
                </a:lnTo>
                <a:lnTo>
                  <a:pt x="20070" y="130162"/>
                </a:lnTo>
                <a:lnTo>
                  <a:pt x="10537" y="140086"/>
                </a:lnTo>
                <a:lnTo>
                  <a:pt x="3455" y="149955"/>
                </a:lnTo>
                <a:lnTo>
                  <a:pt x="0" y="159795"/>
                </a:lnTo>
                <a:lnTo>
                  <a:pt x="2502" y="170417"/>
                </a:lnTo>
                <a:lnTo>
                  <a:pt x="9226" y="180848"/>
                </a:lnTo>
                <a:lnTo>
                  <a:pt x="18825" y="191113"/>
                </a:lnTo>
                <a:lnTo>
                  <a:pt x="29952" y="201239"/>
                </a:lnTo>
                <a:lnTo>
                  <a:pt x="41260" y="211252"/>
                </a:lnTo>
                <a:lnTo>
                  <a:pt x="51402" y="221179"/>
                </a:lnTo>
                <a:lnTo>
                  <a:pt x="59030" y="231046"/>
                </a:lnTo>
                <a:lnTo>
                  <a:pt x="62798" y="240881"/>
                </a:lnTo>
                <a:lnTo>
                  <a:pt x="61525" y="251515"/>
                </a:lnTo>
                <a:lnTo>
                  <a:pt x="35282" y="292361"/>
                </a:lnTo>
                <a:lnTo>
                  <a:pt x="14198" y="312149"/>
                </a:lnTo>
                <a:lnTo>
                  <a:pt x="2847" y="321978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04722" y="4745566"/>
            <a:ext cx="413384" cy="389890"/>
          </a:xfrm>
          <a:custGeom>
            <a:avLst/>
            <a:gdLst/>
            <a:ahLst/>
            <a:cxnLst/>
            <a:rect l="l" t="t" r="r" b="b"/>
            <a:pathLst>
              <a:path w="413385" h="389889">
                <a:moveTo>
                  <a:pt x="206570" y="0"/>
                </a:moveTo>
                <a:lnTo>
                  <a:pt x="156928" y="5659"/>
                </a:lnTo>
                <a:lnTo>
                  <a:pt x="111639" y="21735"/>
                </a:lnTo>
                <a:lnTo>
                  <a:pt x="72136" y="46875"/>
                </a:lnTo>
                <a:lnTo>
                  <a:pt x="39855" y="79725"/>
                </a:lnTo>
                <a:lnTo>
                  <a:pt x="16233" y="118933"/>
                </a:lnTo>
                <a:lnTo>
                  <a:pt x="2703" y="163146"/>
                </a:lnTo>
                <a:lnTo>
                  <a:pt x="0" y="194732"/>
                </a:lnTo>
                <a:lnTo>
                  <a:pt x="684" y="210704"/>
                </a:lnTo>
                <a:lnTo>
                  <a:pt x="10531" y="256283"/>
                </a:lnTo>
                <a:lnTo>
                  <a:pt x="30948" y="297310"/>
                </a:lnTo>
                <a:lnTo>
                  <a:pt x="60502" y="332430"/>
                </a:lnTo>
                <a:lnTo>
                  <a:pt x="97757" y="360290"/>
                </a:lnTo>
                <a:lnTo>
                  <a:pt x="141277" y="379538"/>
                </a:lnTo>
                <a:lnTo>
                  <a:pt x="189628" y="388820"/>
                </a:lnTo>
                <a:lnTo>
                  <a:pt x="206570" y="389465"/>
                </a:lnTo>
                <a:lnTo>
                  <a:pt x="223512" y="388820"/>
                </a:lnTo>
                <a:lnTo>
                  <a:pt x="271862" y="379538"/>
                </a:lnTo>
                <a:lnTo>
                  <a:pt x="315382" y="360290"/>
                </a:lnTo>
                <a:lnTo>
                  <a:pt x="352637" y="332430"/>
                </a:lnTo>
                <a:lnTo>
                  <a:pt x="382192" y="297310"/>
                </a:lnTo>
                <a:lnTo>
                  <a:pt x="402610" y="256283"/>
                </a:lnTo>
                <a:lnTo>
                  <a:pt x="412456" y="210704"/>
                </a:lnTo>
                <a:lnTo>
                  <a:pt x="413141" y="194732"/>
                </a:lnTo>
                <a:lnTo>
                  <a:pt x="412456" y="178761"/>
                </a:lnTo>
                <a:lnTo>
                  <a:pt x="402610" y="133181"/>
                </a:lnTo>
                <a:lnTo>
                  <a:pt x="382192" y="92155"/>
                </a:lnTo>
                <a:lnTo>
                  <a:pt x="352637" y="57035"/>
                </a:lnTo>
                <a:lnTo>
                  <a:pt x="315382" y="29175"/>
                </a:lnTo>
                <a:lnTo>
                  <a:pt x="271862" y="9927"/>
                </a:lnTo>
                <a:lnTo>
                  <a:pt x="223512" y="645"/>
                </a:lnTo>
                <a:lnTo>
                  <a:pt x="206570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04722" y="4745566"/>
            <a:ext cx="413384" cy="389890"/>
          </a:xfrm>
          <a:custGeom>
            <a:avLst/>
            <a:gdLst/>
            <a:ahLst/>
            <a:cxnLst/>
            <a:rect l="l" t="t" r="r" b="b"/>
            <a:pathLst>
              <a:path w="413385" h="389889">
                <a:moveTo>
                  <a:pt x="0" y="194733"/>
                </a:moveTo>
                <a:lnTo>
                  <a:pt x="6003" y="147936"/>
                </a:lnTo>
                <a:lnTo>
                  <a:pt x="23057" y="105242"/>
                </a:lnTo>
                <a:lnTo>
                  <a:pt x="49725" y="68002"/>
                </a:lnTo>
                <a:lnTo>
                  <a:pt x="84572" y="37572"/>
                </a:lnTo>
                <a:lnTo>
                  <a:pt x="126163" y="15303"/>
                </a:lnTo>
                <a:lnTo>
                  <a:pt x="173063" y="2548"/>
                </a:lnTo>
                <a:lnTo>
                  <a:pt x="206570" y="0"/>
                </a:lnTo>
                <a:lnTo>
                  <a:pt x="223512" y="645"/>
                </a:lnTo>
                <a:lnTo>
                  <a:pt x="271862" y="9927"/>
                </a:lnTo>
                <a:lnTo>
                  <a:pt x="315383" y="29175"/>
                </a:lnTo>
                <a:lnTo>
                  <a:pt x="352638" y="57036"/>
                </a:lnTo>
                <a:lnTo>
                  <a:pt x="382192" y="92156"/>
                </a:lnTo>
                <a:lnTo>
                  <a:pt x="402610" y="133182"/>
                </a:lnTo>
                <a:lnTo>
                  <a:pt x="412456" y="178762"/>
                </a:lnTo>
                <a:lnTo>
                  <a:pt x="413141" y="194733"/>
                </a:lnTo>
                <a:lnTo>
                  <a:pt x="412456" y="210704"/>
                </a:lnTo>
                <a:lnTo>
                  <a:pt x="402610" y="256284"/>
                </a:lnTo>
                <a:lnTo>
                  <a:pt x="382192" y="297310"/>
                </a:lnTo>
                <a:lnTo>
                  <a:pt x="352638" y="332430"/>
                </a:lnTo>
                <a:lnTo>
                  <a:pt x="315383" y="360291"/>
                </a:lnTo>
                <a:lnTo>
                  <a:pt x="271862" y="379539"/>
                </a:lnTo>
                <a:lnTo>
                  <a:pt x="223512" y="388821"/>
                </a:lnTo>
                <a:lnTo>
                  <a:pt x="206570" y="389466"/>
                </a:lnTo>
                <a:lnTo>
                  <a:pt x="189628" y="388821"/>
                </a:lnTo>
                <a:lnTo>
                  <a:pt x="141278" y="379539"/>
                </a:lnTo>
                <a:lnTo>
                  <a:pt x="97758" y="360291"/>
                </a:lnTo>
                <a:lnTo>
                  <a:pt x="60503" y="332430"/>
                </a:lnTo>
                <a:lnTo>
                  <a:pt x="30949" y="297310"/>
                </a:lnTo>
                <a:lnTo>
                  <a:pt x="10531" y="256284"/>
                </a:lnTo>
                <a:lnTo>
                  <a:pt x="684" y="210704"/>
                </a:lnTo>
                <a:lnTo>
                  <a:pt x="0" y="194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88536" y="4778021"/>
            <a:ext cx="64135" cy="321945"/>
          </a:xfrm>
          <a:custGeom>
            <a:avLst/>
            <a:gdLst/>
            <a:ahLst/>
            <a:cxnLst/>
            <a:rect l="l" t="t" r="r" b="b"/>
            <a:pathLst>
              <a:path w="64135" h="321945">
                <a:moveTo>
                  <a:pt x="31583" y="0"/>
                </a:moveTo>
                <a:lnTo>
                  <a:pt x="53013" y="33772"/>
                </a:lnTo>
                <a:lnTo>
                  <a:pt x="64131" y="67544"/>
                </a:lnTo>
                <a:lnTo>
                  <a:pt x="63762" y="78801"/>
                </a:lnTo>
                <a:lnTo>
                  <a:pt x="31201" y="120011"/>
                </a:lnTo>
                <a:lnTo>
                  <a:pt x="20345" y="129987"/>
                </a:lnTo>
                <a:lnTo>
                  <a:pt x="10746" y="139882"/>
                </a:lnTo>
                <a:lnTo>
                  <a:pt x="3573" y="149721"/>
                </a:lnTo>
                <a:lnTo>
                  <a:pt x="0" y="159529"/>
                </a:lnTo>
                <a:lnTo>
                  <a:pt x="2484" y="170188"/>
                </a:lnTo>
                <a:lnTo>
                  <a:pt x="9189" y="180636"/>
                </a:lnTo>
                <a:lnTo>
                  <a:pt x="18776" y="190902"/>
                </a:lnTo>
                <a:lnTo>
                  <a:pt x="29908" y="201015"/>
                </a:lnTo>
                <a:lnTo>
                  <a:pt x="41246" y="211004"/>
                </a:lnTo>
                <a:lnTo>
                  <a:pt x="51453" y="220898"/>
                </a:lnTo>
                <a:lnTo>
                  <a:pt x="59193" y="230726"/>
                </a:lnTo>
                <a:lnTo>
                  <a:pt x="63126" y="240516"/>
                </a:lnTo>
                <a:lnTo>
                  <a:pt x="61876" y="251209"/>
                </a:lnTo>
                <a:lnTo>
                  <a:pt x="35744" y="292065"/>
                </a:lnTo>
                <a:lnTo>
                  <a:pt x="14689" y="311769"/>
                </a:lnTo>
                <a:lnTo>
                  <a:pt x="3336" y="321547"/>
                </a:lnTo>
              </a:path>
            </a:pathLst>
          </a:custGeom>
          <a:ln w="1623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95462" y="3037593"/>
            <a:ext cx="64135" cy="322580"/>
          </a:xfrm>
          <a:custGeom>
            <a:avLst/>
            <a:gdLst/>
            <a:ahLst/>
            <a:cxnLst/>
            <a:rect l="l" t="t" r="r" b="b"/>
            <a:pathLst>
              <a:path w="64135" h="322579">
                <a:moveTo>
                  <a:pt x="31410" y="0"/>
                </a:moveTo>
                <a:lnTo>
                  <a:pt x="52723" y="33819"/>
                </a:lnTo>
                <a:lnTo>
                  <a:pt x="63749" y="67639"/>
                </a:lnTo>
                <a:lnTo>
                  <a:pt x="63360" y="78913"/>
                </a:lnTo>
                <a:lnTo>
                  <a:pt x="30879" y="120162"/>
                </a:lnTo>
                <a:lnTo>
                  <a:pt x="20070" y="130162"/>
                </a:lnTo>
                <a:lnTo>
                  <a:pt x="10537" y="140086"/>
                </a:lnTo>
                <a:lnTo>
                  <a:pt x="3455" y="149955"/>
                </a:lnTo>
                <a:lnTo>
                  <a:pt x="0" y="159795"/>
                </a:lnTo>
                <a:lnTo>
                  <a:pt x="2502" y="170417"/>
                </a:lnTo>
                <a:lnTo>
                  <a:pt x="9226" y="180848"/>
                </a:lnTo>
                <a:lnTo>
                  <a:pt x="18825" y="191113"/>
                </a:lnTo>
                <a:lnTo>
                  <a:pt x="29952" y="201239"/>
                </a:lnTo>
                <a:lnTo>
                  <a:pt x="41260" y="211252"/>
                </a:lnTo>
                <a:lnTo>
                  <a:pt x="51402" y="221179"/>
                </a:lnTo>
                <a:lnTo>
                  <a:pt x="59030" y="231046"/>
                </a:lnTo>
                <a:lnTo>
                  <a:pt x="62798" y="240881"/>
                </a:lnTo>
                <a:lnTo>
                  <a:pt x="61525" y="251515"/>
                </a:lnTo>
                <a:lnTo>
                  <a:pt x="35282" y="292361"/>
                </a:lnTo>
                <a:lnTo>
                  <a:pt x="14198" y="312149"/>
                </a:lnTo>
                <a:lnTo>
                  <a:pt x="2847" y="321978"/>
                </a:lnTo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67400" y="3340521"/>
            <a:ext cx="676275" cy="723265"/>
          </a:xfrm>
          <a:custGeom>
            <a:avLst/>
            <a:gdLst/>
            <a:ahLst/>
            <a:cxnLst/>
            <a:rect l="l" t="t" r="r" b="b"/>
            <a:pathLst>
              <a:path w="676275" h="723264">
                <a:moveTo>
                  <a:pt x="62345" y="58486"/>
                </a:moveTo>
                <a:lnTo>
                  <a:pt x="50790" y="58486"/>
                </a:lnTo>
                <a:lnTo>
                  <a:pt x="619283" y="670743"/>
                </a:lnTo>
                <a:lnTo>
                  <a:pt x="612781" y="681755"/>
                </a:lnTo>
                <a:lnTo>
                  <a:pt x="633537" y="721713"/>
                </a:lnTo>
                <a:lnTo>
                  <a:pt x="645051" y="723165"/>
                </a:lnTo>
                <a:lnTo>
                  <a:pt x="656832" y="720286"/>
                </a:lnTo>
                <a:lnTo>
                  <a:pt x="667880" y="712896"/>
                </a:lnTo>
                <a:lnTo>
                  <a:pt x="674226" y="702563"/>
                </a:lnTo>
                <a:lnTo>
                  <a:pt x="676281" y="690889"/>
                </a:lnTo>
                <a:lnTo>
                  <a:pt x="673956" y="679093"/>
                </a:lnTo>
                <a:lnTo>
                  <a:pt x="667164" y="668394"/>
                </a:lnTo>
                <a:lnTo>
                  <a:pt x="662223" y="664983"/>
                </a:lnTo>
                <a:lnTo>
                  <a:pt x="625491" y="664983"/>
                </a:lnTo>
                <a:lnTo>
                  <a:pt x="62345" y="58486"/>
                </a:lnTo>
                <a:close/>
              </a:path>
              <a:path w="676275" h="723264">
                <a:moveTo>
                  <a:pt x="644864" y="658583"/>
                </a:moveTo>
                <a:lnTo>
                  <a:pt x="632803" y="660512"/>
                </a:lnTo>
                <a:lnTo>
                  <a:pt x="625491" y="664983"/>
                </a:lnTo>
                <a:lnTo>
                  <a:pt x="662223" y="664983"/>
                </a:lnTo>
                <a:lnTo>
                  <a:pt x="656783" y="661228"/>
                </a:lnTo>
                <a:lnTo>
                  <a:pt x="644864" y="658583"/>
                </a:lnTo>
                <a:close/>
              </a:path>
              <a:path w="676275" h="723264">
                <a:moveTo>
                  <a:pt x="31638" y="0"/>
                </a:moveTo>
                <a:lnTo>
                  <a:pt x="20071" y="2587"/>
                </a:lnTo>
                <a:lnTo>
                  <a:pt x="8400" y="10574"/>
                </a:lnTo>
                <a:lnTo>
                  <a:pt x="2055" y="20907"/>
                </a:lnTo>
                <a:lnTo>
                  <a:pt x="0" y="32581"/>
                </a:lnTo>
                <a:lnTo>
                  <a:pt x="2324" y="44376"/>
                </a:lnTo>
                <a:lnTo>
                  <a:pt x="9117" y="55075"/>
                </a:lnTo>
                <a:lnTo>
                  <a:pt x="19498" y="62242"/>
                </a:lnTo>
                <a:lnTo>
                  <a:pt x="31417" y="64887"/>
                </a:lnTo>
                <a:lnTo>
                  <a:pt x="43478" y="62958"/>
                </a:lnTo>
                <a:lnTo>
                  <a:pt x="50790" y="58486"/>
                </a:lnTo>
                <a:lnTo>
                  <a:pt x="62345" y="58486"/>
                </a:lnTo>
                <a:lnTo>
                  <a:pt x="56997" y="52727"/>
                </a:lnTo>
                <a:lnTo>
                  <a:pt x="62323" y="45027"/>
                </a:lnTo>
                <a:lnTo>
                  <a:pt x="64846" y="33121"/>
                </a:lnTo>
                <a:lnTo>
                  <a:pt x="41898" y="321"/>
                </a:lnTo>
                <a:lnTo>
                  <a:pt x="33595" y="13"/>
                </a:lnTo>
                <a:lnTo>
                  <a:pt x="31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10273" y="3329418"/>
            <a:ext cx="231140" cy="732790"/>
          </a:xfrm>
          <a:custGeom>
            <a:avLst/>
            <a:gdLst/>
            <a:ahLst/>
            <a:cxnLst/>
            <a:rect l="l" t="t" r="r" b="b"/>
            <a:pathLst>
              <a:path w="231139" h="732789">
                <a:moveTo>
                  <a:pt x="42477" y="64396"/>
                </a:moveTo>
                <a:lnTo>
                  <a:pt x="33736" y="64396"/>
                </a:lnTo>
                <a:lnTo>
                  <a:pt x="189095" y="672556"/>
                </a:lnTo>
                <a:lnTo>
                  <a:pt x="176378" y="681060"/>
                </a:lnTo>
                <a:lnTo>
                  <a:pt x="171330" y="690366"/>
                </a:lnTo>
                <a:lnTo>
                  <a:pt x="169802" y="702506"/>
                </a:lnTo>
                <a:lnTo>
                  <a:pt x="172568" y="717701"/>
                </a:lnTo>
                <a:lnTo>
                  <a:pt x="179534" y="725898"/>
                </a:lnTo>
                <a:lnTo>
                  <a:pt x="189568" y="731101"/>
                </a:lnTo>
                <a:lnTo>
                  <a:pt x="202395" y="732649"/>
                </a:lnTo>
                <a:lnTo>
                  <a:pt x="217741" y="729877"/>
                </a:lnTo>
                <a:lnTo>
                  <a:pt x="225356" y="722708"/>
                </a:lnTo>
                <a:lnTo>
                  <a:pt x="230006" y="712522"/>
                </a:lnTo>
                <a:lnTo>
                  <a:pt x="231037" y="699483"/>
                </a:lnTo>
                <a:lnTo>
                  <a:pt x="227792" y="683756"/>
                </a:lnTo>
                <a:lnTo>
                  <a:pt x="218238" y="674613"/>
                </a:lnTo>
                <a:lnTo>
                  <a:pt x="207036" y="670462"/>
                </a:lnTo>
                <a:lnTo>
                  <a:pt x="197300" y="670462"/>
                </a:lnTo>
                <a:lnTo>
                  <a:pt x="42477" y="64396"/>
                </a:lnTo>
                <a:close/>
              </a:path>
              <a:path w="231139" h="732789">
                <a:moveTo>
                  <a:pt x="205860" y="670026"/>
                </a:moveTo>
                <a:lnTo>
                  <a:pt x="197300" y="670462"/>
                </a:lnTo>
                <a:lnTo>
                  <a:pt x="207036" y="670462"/>
                </a:lnTo>
                <a:lnTo>
                  <a:pt x="205860" y="670026"/>
                </a:lnTo>
                <a:close/>
              </a:path>
              <a:path w="231139" h="732789">
                <a:moveTo>
                  <a:pt x="30689" y="0"/>
                </a:moveTo>
                <a:lnTo>
                  <a:pt x="0" y="35375"/>
                </a:lnTo>
                <a:lnTo>
                  <a:pt x="3243" y="51102"/>
                </a:lnTo>
                <a:lnTo>
                  <a:pt x="12798" y="60245"/>
                </a:lnTo>
                <a:lnTo>
                  <a:pt x="25175" y="64832"/>
                </a:lnTo>
                <a:lnTo>
                  <a:pt x="33736" y="64396"/>
                </a:lnTo>
                <a:lnTo>
                  <a:pt x="42477" y="64396"/>
                </a:lnTo>
                <a:lnTo>
                  <a:pt x="41941" y="62301"/>
                </a:lnTo>
                <a:lnTo>
                  <a:pt x="55864" y="52151"/>
                </a:lnTo>
                <a:lnTo>
                  <a:pt x="59922" y="42742"/>
                </a:lnTo>
                <a:lnTo>
                  <a:pt x="60497" y="30297"/>
                </a:lnTo>
                <a:lnTo>
                  <a:pt x="56790" y="14360"/>
                </a:lnTo>
                <a:lnTo>
                  <a:pt x="47236" y="5216"/>
                </a:lnTo>
                <a:lnTo>
                  <a:pt x="34859" y="629"/>
                </a:lnTo>
                <a:lnTo>
                  <a:pt x="306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81153" y="3340410"/>
            <a:ext cx="320675" cy="723900"/>
          </a:xfrm>
          <a:custGeom>
            <a:avLst/>
            <a:gdLst/>
            <a:ahLst/>
            <a:cxnLst/>
            <a:rect l="l" t="t" r="r" b="b"/>
            <a:pathLst>
              <a:path w="320675" h="723900">
                <a:moveTo>
                  <a:pt x="29363" y="658680"/>
                </a:moveTo>
                <a:lnTo>
                  <a:pt x="16509" y="661678"/>
                </a:lnTo>
                <a:lnTo>
                  <a:pt x="5883" y="669550"/>
                </a:lnTo>
                <a:lnTo>
                  <a:pt x="772" y="684341"/>
                </a:lnTo>
                <a:lnTo>
                  <a:pt x="0" y="697128"/>
                </a:lnTo>
                <a:lnTo>
                  <a:pt x="2988" y="707686"/>
                </a:lnTo>
                <a:lnTo>
                  <a:pt x="9160" y="715789"/>
                </a:lnTo>
                <a:lnTo>
                  <a:pt x="17941" y="721212"/>
                </a:lnTo>
                <a:lnTo>
                  <a:pt x="30301" y="723548"/>
                </a:lnTo>
                <a:lnTo>
                  <a:pt x="42137" y="721261"/>
                </a:lnTo>
                <a:lnTo>
                  <a:pt x="52269" y="714883"/>
                </a:lnTo>
                <a:lnTo>
                  <a:pt x="59518" y="704946"/>
                </a:lnTo>
                <a:lnTo>
                  <a:pt x="62340" y="691943"/>
                </a:lnTo>
                <a:lnTo>
                  <a:pt x="60570" y="680061"/>
                </a:lnTo>
                <a:lnTo>
                  <a:pt x="54817" y="670038"/>
                </a:lnTo>
                <a:lnTo>
                  <a:pt x="45679" y="663293"/>
                </a:lnTo>
                <a:lnTo>
                  <a:pt x="46905" y="660186"/>
                </a:lnTo>
                <a:lnTo>
                  <a:pt x="37801" y="660186"/>
                </a:lnTo>
                <a:lnTo>
                  <a:pt x="29363" y="658680"/>
                </a:lnTo>
                <a:close/>
              </a:path>
              <a:path w="320675" h="723900">
                <a:moveTo>
                  <a:pt x="293502" y="0"/>
                </a:moveTo>
                <a:lnTo>
                  <a:pt x="260163" y="26171"/>
                </a:lnTo>
                <a:lnTo>
                  <a:pt x="259114" y="38500"/>
                </a:lnTo>
                <a:lnTo>
                  <a:pt x="261839" y="48302"/>
                </a:lnTo>
                <a:lnTo>
                  <a:pt x="274521" y="60399"/>
                </a:lnTo>
                <a:lnTo>
                  <a:pt x="37801" y="660186"/>
                </a:lnTo>
                <a:lnTo>
                  <a:pt x="46905" y="660186"/>
                </a:lnTo>
                <a:lnTo>
                  <a:pt x="282399" y="63506"/>
                </a:lnTo>
                <a:lnTo>
                  <a:pt x="297295" y="63506"/>
                </a:lnTo>
                <a:lnTo>
                  <a:pt x="303692" y="62014"/>
                </a:lnTo>
                <a:lnTo>
                  <a:pt x="314318" y="54142"/>
                </a:lnTo>
                <a:lnTo>
                  <a:pt x="319429" y="39351"/>
                </a:lnTo>
                <a:lnTo>
                  <a:pt x="320202" y="26564"/>
                </a:lnTo>
                <a:lnTo>
                  <a:pt x="317214" y="16006"/>
                </a:lnTo>
                <a:lnTo>
                  <a:pt x="311041" y="7903"/>
                </a:lnTo>
                <a:lnTo>
                  <a:pt x="302261" y="2480"/>
                </a:lnTo>
                <a:lnTo>
                  <a:pt x="297808" y="722"/>
                </a:lnTo>
                <a:lnTo>
                  <a:pt x="293502" y="0"/>
                </a:lnTo>
                <a:close/>
              </a:path>
              <a:path w="320675" h="723900">
                <a:moveTo>
                  <a:pt x="297295" y="63506"/>
                </a:moveTo>
                <a:lnTo>
                  <a:pt x="282399" y="63506"/>
                </a:lnTo>
                <a:lnTo>
                  <a:pt x="290837" y="65012"/>
                </a:lnTo>
                <a:lnTo>
                  <a:pt x="297295" y="635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9025" y="3349674"/>
            <a:ext cx="753110" cy="700405"/>
          </a:xfrm>
          <a:custGeom>
            <a:avLst/>
            <a:gdLst/>
            <a:ahLst/>
            <a:cxnLst/>
            <a:rect l="l" t="t" r="r" b="b"/>
            <a:pathLst>
              <a:path w="753110" h="700404">
                <a:moveTo>
                  <a:pt x="33818" y="635927"/>
                </a:moveTo>
                <a:lnTo>
                  <a:pt x="21763" y="637628"/>
                </a:lnTo>
                <a:lnTo>
                  <a:pt x="10880" y="643929"/>
                </a:lnTo>
                <a:lnTo>
                  <a:pt x="3252" y="654094"/>
                </a:lnTo>
                <a:lnTo>
                  <a:pt x="0" y="665673"/>
                </a:lnTo>
                <a:lnTo>
                  <a:pt x="1120" y="677457"/>
                </a:lnTo>
                <a:lnTo>
                  <a:pt x="6612" y="688238"/>
                </a:lnTo>
                <a:lnTo>
                  <a:pt x="17084" y="696489"/>
                </a:lnTo>
                <a:lnTo>
                  <a:pt x="28616" y="700288"/>
                </a:lnTo>
                <a:lnTo>
                  <a:pt x="40205" y="699744"/>
                </a:lnTo>
                <a:lnTo>
                  <a:pt x="50846" y="694965"/>
                </a:lnTo>
                <a:lnTo>
                  <a:pt x="60035" y="683980"/>
                </a:lnTo>
                <a:lnTo>
                  <a:pt x="64245" y="672583"/>
                </a:lnTo>
                <a:lnTo>
                  <a:pt x="63973" y="661374"/>
                </a:lnTo>
                <a:lnTo>
                  <a:pt x="58358" y="650011"/>
                </a:lnTo>
                <a:lnTo>
                  <a:pt x="65091" y="643792"/>
                </a:lnTo>
                <a:lnTo>
                  <a:pt x="52610" y="643792"/>
                </a:lnTo>
                <a:lnTo>
                  <a:pt x="45663" y="638773"/>
                </a:lnTo>
                <a:lnTo>
                  <a:pt x="33818" y="635927"/>
                </a:lnTo>
                <a:close/>
              </a:path>
              <a:path w="753110" h="700404">
                <a:moveTo>
                  <a:pt x="713360" y="0"/>
                </a:moveTo>
                <a:lnTo>
                  <a:pt x="704933" y="2838"/>
                </a:lnTo>
                <a:lnTo>
                  <a:pt x="698349" y="8920"/>
                </a:lnTo>
                <a:lnTo>
                  <a:pt x="690896" y="19153"/>
                </a:lnTo>
                <a:lnTo>
                  <a:pt x="687962" y="31015"/>
                </a:lnTo>
                <a:lnTo>
                  <a:pt x="689603" y="43111"/>
                </a:lnTo>
                <a:lnTo>
                  <a:pt x="694289" y="51094"/>
                </a:lnTo>
                <a:lnTo>
                  <a:pt x="52610" y="643792"/>
                </a:lnTo>
                <a:lnTo>
                  <a:pt x="65091" y="643792"/>
                </a:lnTo>
                <a:lnTo>
                  <a:pt x="700036" y="57312"/>
                </a:lnTo>
                <a:lnTo>
                  <a:pt x="741532" y="57312"/>
                </a:lnTo>
                <a:lnTo>
                  <a:pt x="741767" y="57176"/>
                </a:lnTo>
                <a:lnTo>
                  <a:pt x="749394" y="47011"/>
                </a:lnTo>
                <a:lnTo>
                  <a:pt x="752647" y="35432"/>
                </a:lnTo>
                <a:lnTo>
                  <a:pt x="751526" y="23648"/>
                </a:lnTo>
                <a:lnTo>
                  <a:pt x="746034" y="12867"/>
                </a:lnTo>
                <a:lnTo>
                  <a:pt x="734895" y="3910"/>
                </a:lnTo>
                <a:lnTo>
                  <a:pt x="723485" y="452"/>
                </a:lnTo>
                <a:lnTo>
                  <a:pt x="721662" y="328"/>
                </a:lnTo>
                <a:lnTo>
                  <a:pt x="713360" y="0"/>
                </a:lnTo>
                <a:close/>
              </a:path>
              <a:path w="753110" h="700404">
                <a:moveTo>
                  <a:pt x="741532" y="57312"/>
                </a:moveTo>
                <a:lnTo>
                  <a:pt x="700036" y="57312"/>
                </a:lnTo>
                <a:lnTo>
                  <a:pt x="706984" y="62331"/>
                </a:lnTo>
                <a:lnTo>
                  <a:pt x="718829" y="65176"/>
                </a:lnTo>
                <a:lnTo>
                  <a:pt x="730885" y="63476"/>
                </a:lnTo>
                <a:lnTo>
                  <a:pt x="741532" y="57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05976" y="5850407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389466"/>
                </a:moveTo>
                <a:lnTo>
                  <a:pt x="389885" y="389466"/>
                </a:lnTo>
                <a:lnTo>
                  <a:pt x="389885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05976" y="5850408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0"/>
                </a:moveTo>
                <a:lnTo>
                  <a:pt x="389885" y="0"/>
                </a:lnTo>
                <a:lnTo>
                  <a:pt x="389885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007026" y="5917226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7461" y="5850407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389466"/>
                </a:moveTo>
                <a:lnTo>
                  <a:pt x="389885" y="389466"/>
                </a:lnTo>
                <a:lnTo>
                  <a:pt x="389885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37461" y="5850408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89" h="389889">
                <a:moveTo>
                  <a:pt x="0" y="0"/>
                </a:moveTo>
                <a:lnTo>
                  <a:pt x="389885" y="0"/>
                </a:lnTo>
                <a:lnTo>
                  <a:pt x="389885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038511" y="5917226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06718" y="2534072"/>
            <a:ext cx="73914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7694" y="5849732"/>
            <a:ext cx="5708650" cy="0"/>
          </a:xfrm>
          <a:custGeom>
            <a:avLst/>
            <a:gdLst/>
            <a:ahLst/>
            <a:cxnLst/>
            <a:rect l="l" t="t" r="r" b="b"/>
            <a:pathLst>
              <a:path w="5708650">
                <a:moveTo>
                  <a:pt x="0" y="0"/>
                </a:moveTo>
                <a:lnTo>
                  <a:pt x="5708462" y="0"/>
                </a:lnTo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23517" y="3730545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7197" y="4756672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7197" y="6038319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70612" y="2339799"/>
            <a:ext cx="3323220" cy="390277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766009" y="2598965"/>
            <a:ext cx="73914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75119" y="4840870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20417" y="4438156"/>
            <a:ext cx="1814195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Sc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06500">
              <a:lnSpc>
                <a:spcPct val="100000"/>
              </a:lnSpc>
              <a:spcBef>
                <a:spcPts val="96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2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90857" y="5915875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22170" y="2981941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47779" y="2981941"/>
            <a:ext cx="63246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n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65089" y="2426458"/>
            <a:ext cx="124079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74193" y="4356100"/>
            <a:ext cx="2077720" cy="683260"/>
          </a:xfrm>
          <a:custGeom>
            <a:avLst/>
            <a:gdLst/>
            <a:ahLst/>
            <a:cxnLst/>
            <a:rect l="l" t="t" r="r" b="b"/>
            <a:pathLst>
              <a:path w="2077720" h="683260">
                <a:moveTo>
                  <a:pt x="2001968" y="0"/>
                </a:moveTo>
                <a:lnTo>
                  <a:pt x="346287" y="0"/>
                </a:lnTo>
                <a:lnTo>
                  <a:pt x="69356" y="266"/>
                </a:lnTo>
                <a:lnTo>
                  <a:pt x="30341" y="15110"/>
                </a:lnTo>
                <a:lnTo>
                  <a:pt x="5374" y="47659"/>
                </a:lnTo>
                <a:lnTo>
                  <a:pt x="0" y="75731"/>
                </a:lnTo>
                <a:lnTo>
                  <a:pt x="0" y="378649"/>
                </a:lnTo>
                <a:lnTo>
                  <a:pt x="15114" y="424044"/>
                </a:lnTo>
                <a:lnTo>
                  <a:pt x="47672" y="449004"/>
                </a:lnTo>
                <a:lnTo>
                  <a:pt x="75751" y="454378"/>
                </a:lnTo>
                <a:lnTo>
                  <a:pt x="346287" y="454378"/>
                </a:lnTo>
                <a:lnTo>
                  <a:pt x="242116" y="682912"/>
                </a:lnTo>
                <a:lnTo>
                  <a:pt x="865717" y="454378"/>
                </a:lnTo>
                <a:lnTo>
                  <a:pt x="2008363" y="454111"/>
                </a:lnTo>
                <a:lnTo>
                  <a:pt x="2022495" y="451564"/>
                </a:lnTo>
                <a:lnTo>
                  <a:pt x="2057608" y="430038"/>
                </a:lnTo>
                <a:lnTo>
                  <a:pt x="2076333" y="393146"/>
                </a:lnTo>
                <a:lnTo>
                  <a:pt x="2077720" y="265054"/>
                </a:lnTo>
                <a:lnTo>
                  <a:pt x="2077453" y="69337"/>
                </a:lnTo>
                <a:lnTo>
                  <a:pt x="2062605" y="30333"/>
                </a:lnTo>
                <a:lnTo>
                  <a:pt x="2030047" y="5373"/>
                </a:lnTo>
                <a:lnTo>
                  <a:pt x="2016471" y="1386"/>
                </a:lnTo>
                <a:lnTo>
                  <a:pt x="2001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74193" y="4356100"/>
            <a:ext cx="2077720" cy="683260"/>
          </a:xfrm>
          <a:custGeom>
            <a:avLst/>
            <a:gdLst/>
            <a:ahLst/>
            <a:cxnLst/>
            <a:rect l="l" t="t" r="r" b="b"/>
            <a:pathLst>
              <a:path w="2077720" h="683260">
                <a:moveTo>
                  <a:pt x="0" y="75731"/>
                </a:moveTo>
                <a:lnTo>
                  <a:pt x="11702" y="35275"/>
                </a:lnTo>
                <a:lnTo>
                  <a:pt x="42132" y="7847"/>
                </a:lnTo>
                <a:lnTo>
                  <a:pt x="346286" y="0"/>
                </a:lnTo>
                <a:lnTo>
                  <a:pt x="865716" y="0"/>
                </a:lnTo>
                <a:lnTo>
                  <a:pt x="2001968" y="0"/>
                </a:lnTo>
                <a:lnTo>
                  <a:pt x="2016472" y="1386"/>
                </a:lnTo>
                <a:lnTo>
                  <a:pt x="2053374" y="20106"/>
                </a:lnTo>
                <a:lnTo>
                  <a:pt x="2074905" y="55209"/>
                </a:lnTo>
                <a:lnTo>
                  <a:pt x="2077720" y="265054"/>
                </a:lnTo>
                <a:lnTo>
                  <a:pt x="2077720" y="378648"/>
                </a:lnTo>
                <a:lnTo>
                  <a:pt x="2076333" y="393146"/>
                </a:lnTo>
                <a:lnTo>
                  <a:pt x="2057608" y="430039"/>
                </a:lnTo>
                <a:lnTo>
                  <a:pt x="2022496" y="451564"/>
                </a:lnTo>
                <a:lnTo>
                  <a:pt x="865716" y="454377"/>
                </a:lnTo>
                <a:lnTo>
                  <a:pt x="242116" y="682911"/>
                </a:lnTo>
                <a:lnTo>
                  <a:pt x="346286" y="454377"/>
                </a:lnTo>
                <a:lnTo>
                  <a:pt x="75751" y="454377"/>
                </a:lnTo>
                <a:lnTo>
                  <a:pt x="61247" y="452991"/>
                </a:lnTo>
                <a:lnTo>
                  <a:pt x="24345" y="434271"/>
                </a:lnTo>
                <a:lnTo>
                  <a:pt x="2814" y="399168"/>
                </a:lnTo>
                <a:lnTo>
                  <a:pt x="0" y="378648"/>
                </a:lnTo>
                <a:lnTo>
                  <a:pt x="0" y="265054"/>
                </a:lnTo>
                <a:lnTo>
                  <a:pt x="0" y="75731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6904990" y="1876425"/>
            <a:ext cx="2694305" cy="2479675"/>
            <a:chOff x="10874" y="2955"/>
            <a:chExt cx="4243" cy="3905"/>
          </a:xfrm>
        </p:grpSpPr>
        <p:sp>
          <p:nvSpPr>
            <p:cNvPr id="40" name="object 40"/>
            <p:cNvSpPr txBox="1"/>
            <p:nvPr/>
          </p:nvSpPr>
          <p:spPr>
            <a:xfrm>
              <a:off x="11028" y="5323"/>
              <a:ext cx="951" cy="3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b="1" spc="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Show</a:t>
              </a:r>
              <a:endParaRPr sz="17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10925" y="5682"/>
              <a:ext cx="4193" cy="1179"/>
            </a:xfrm>
            <a:prstGeom prst="rect">
              <a:avLst/>
            </a:prstGeom>
            <a:ln w="8114">
              <a:solidFill>
                <a:srgbClr val="FF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03200">
                <a:lnSpc>
                  <a:spcPct val="100000"/>
                </a:lnSpc>
              </a:pP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显示文本和链接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;</a:t>
              </a:r>
              <a:endParaRPr sz="1700">
                <a:latin typeface="Courier New" panose="02070309020205020404"/>
                <a:cs typeface="Courier New" panose="02070309020205020404"/>
              </a:endParaRPr>
            </a:p>
            <a:p>
              <a:pPr marL="203200">
                <a:lnSpc>
                  <a:spcPct val="100000"/>
                </a:lnSpc>
                <a:spcBef>
                  <a:spcPts val="960"/>
                </a:spcBef>
              </a:pP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...;</a:t>
              </a:r>
              <a:endParaRPr sz="17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10977" y="2955"/>
              <a:ext cx="1345" cy="3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G</a:t>
              </a:r>
              <a:r>
                <a:rPr sz="1700" b="1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e</a:t>
              </a: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t</a:t>
              </a:r>
              <a:r>
                <a:rPr sz="1700" b="1" spc="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D</a:t>
              </a:r>
              <a:r>
                <a:rPr sz="1700" b="1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a</a:t>
              </a: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ta</a:t>
              </a:r>
              <a:endParaRPr sz="17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10874" y="3385"/>
              <a:ext cx="4193" cy="1866"/>
            </a:xfrm>
            <a:prstGeom prst="rect">
              <a:avLst/>
            </a:prstGeom>
            <a:ln w="8114">
              <a:solidFill>
                <a:srgbClr val="FF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03200" marR="624840">
                <a:lnSpc>
                  <a:spcPct val="151000"/>
                </a:lnSpc>
              </a:pP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连接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URL</a:t>
              </a: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发起请求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; </a:t>
              </a: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等待网卡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IO... </a:t>
              </a:r>
              <a:r>
                <a:rPr sz="1650" b="1" spc="40" dirty="0">
                  <a:solidFill>
                    <a:srgbClr val="FF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进程阻塞</a:t>
              </a:r>
              <a:endParaRPr sz="165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标题 196609"/>
          <p:cNvSpPr>
            <a:spLocks noGrp="1"/>
          </p:cNvSpPr>
          <p:nvPr>
            <p:ph type="title"/>
          </p:nvPr>
        </p:nvSpPr>
        <p:spPr>
          <a:xfrm>
            <a:off x="728839" y="335844"/>
            <a:ext cx="9655528" cy="745155"/>
          </a:xfrm>
        </p:spPr>
        <p:txBody>
          <a:bodyPr anchor="ctr" anchorCtr="0"/>
          <a:p>
            <a:r>
              <a:rPr lang="zh-CN" altLang="en-US" dirty="0"/>
              <a:t>用户级线程——Yield是用户程序</a:t>
            </a:r>
            <a:endParaRPr lang="zh-CN" altLang="en-US" dirty="0"/>
          </a:p>
        </p:txBody>
      </p:sp>
      <p:sp>
        <p:nvSpPr>
          <p:cNvPr id="196641" name="矩形 196640"/>
          <p:cNvSpPr/>
          <p:nvPr/>
        </p:nvSpPr>
        <p:spPr>
          <a:xfrm>
            <a:off x="1064683" y="1259417"/>
            <a:ext cx="8728457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30000"/>
              </a:lnSpc>
            </a:pPr>
            <a:r>
              <a:rPr lang="zh-CN" altLang="en-US" sz="3085" dirty="0"/>
              <a:t>某个线程在内核阻塞，整个进程阻塞</a:t>
            </a:r>
            <a:r>
              <a:rPr lang="en-US" altLang="zh-CN" sz="3085"/>
              <a:t>!</a:t>
            </a:r>
            <a:endParaRPr lang="en-US" altLang="zh-CN" sz="3085"/>
          </a:p>
        </p:txBody>
      </p:sp>
      <p:grpSp>
        <p:nvGrpSpPr>
          <p:cNvPr id="196768" name="组合 196767"/>
          <p:cNvGrpSpPr/>
          <p:nvPr/>
        </p:nvGrpSpPr>
        <p:grpSpPr>
          <a:xfrm>
            <a:off x="1466997" y="2099028"/>
            <a:ext cx="7490031" cy="5032419"/>
            <a:chOff x="662" y="1200"/>
            <a:chExt cx="4234" cy="2877"/>
          </a:xfrm>
        </p:grpSpPr>
        <p:sp>
          <p:nvSpPr>
            <p:cNvPr id="196655" name="矩形 196654"/>
            <p:cNvSpPr/>
            <p:nvPr/>
          </p:nvSpPr>
          <p:spPr>
            <a:xfrm>
              <a:off x="3667" y="1495"/>
              <a:ext cx="877" cy="85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656" name="矩形 196655"/>
            <p:cNvSpPr/>
            <p:nvPr/>
          </p:nvSpPr>
          <p:spPr>
            <a:xfrm>
              <a:off x="1645" y="1495"/>
              <a:ext cx="1541" cy="85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657" name="直接连接符 196656"/>
            <p:cNvSpPr/>
            <p:nvPr/>
          </p:nvSpPr>
          <p:spPr>
            <a:xfrm>
              <a:off x="723" y="2352"/>
              <a:ext cx="4173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96665" name="直接连接符 196664"/>
            <p:cNvSpPr/>
            <p:nvPr/>
          </p:nvSpPr>
          <p:spPr>
            <a:xfrm>
              <a:off x="2382" y="2352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668" name="任意多边形 196667"/>
            <p:cNvSpPr/>
            <p:nvPr/>
          </p:nvSpPr>
          <p:spPr>
            <a:xfrm>
              <a:off x="2236" y="1617"/>
              <a:ext cx="51" cy="24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672" name="任意多边形 196671"/>
            <p:cNvSpPr/>
            <p:nvPr/>
          </p:nvSpPr>
          <p:spPr>
            <a:xfrm>
              <a:off x="2563" y="1617"/>
              <a:ext cx="50" cy="24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673" name="任意多边形 196672"/>
            <p:cNvSpPr/>
            <p:nvPr/>
          </p:nvSpPr>
          <p:spPr>
            <a:xfrm>
              <a:off x="1901" y="1617"/>
              <a:ext cx="50" cy="24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grpSp>
          <p:nvGrpSpPr>
            <p:cNvPr id="196674" name="组合 196673"/>
            <p:cNvGrpSpPr/>
            <p:nvPr/>
          </p:nvGrpSpPr>
          <p:grpSpPr>
            <a:xfrm>
              <a:off x="2231" y="2880"/>
              <a:ext cx="302" cy="288"/>
              <a:chOff x="832" y="2920"/>
              <a:chExt cx="288" cy="288"/>
            </a:xfrm>
          </p:grpSpPr>
          <p:sp>
            <p:nvSpPr>
              <p:cNvPr id="196675" name="椭圆 196674"/>
              <p:cNvSpPr/>
              <p:nvPr/>
            </p:nvSpPr>
            <p:spPr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96676" name="任意多边形 196675"/>
              <p:cNvSpPr/>
              <p:nvPr/>
            </p:nvSpPr>
            <p:spPr>
              <a:xfrm>
                <a:off x="960" y="2944"/>
                <a:ext cx="48" cy="240"/>
              </a:xfrm>
              <a:custGeom>
                <a:avLst/>
                <a:gdLst/>
                <a:ahLst/>
                <a:cxnLst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</p:grpSp>
        <p:sp>
          <p:nvSpPr>
            <p:cNvPr id="196690" name="任意多边形 196689"/>
            <p:cNvSpPr/>
            <p:nvPr/>
          </p:nvSpPr>
          <p:spPr>
            <a:xfrm>
              <a:off x="2882" y="1617"/>
              <a:ext cx="50" cy="24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691" name="直接连接符 196690"/>
            <p:cNvSpPr/>
            <p:nvPr/>
          </p:nvSpPr>
          <p:spPr>
            <a:xfrm>
              <a:off x="1935" y="1865"/>
              <a:ext cx="447" cy="4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692" name="直接连接符 196691"/>
            <p:cNvSpPr/>
            <p:nvPr/>
          </p:nvSpPr>
          <p:spPr>
            <a:xfrm>
              <a:off x="2257" y="1857"/>
              <a:ext cx="125" cy="4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693" name="直接连接符 196692"/>
            <p:cNvSpPr/>
            <p:nvPr/>
          </p:nvSpPr>
          <p:spPr>
            <a:xfrm flipH="1">
              <a:off x="2382" y="1865"/>
              <a:ext cx="190" cy="4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694" name="直接连接符 196693"/>
            <p:cNvSpPr/>
            <p:nvPr/>
          </p:nvSpPr>
          <p:spPr>
            <a:xfrm flipH="1">
              <a:off x="2382" y="1872"/>
              <a:ext cx="503" cy="4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grpSp>
          <p:nvGrpSpPr>
            <p:cNvPr id="196696" name="组合 196695"/>
            <p:cNvGrpSpPr/>
            <p:nvPr/>
          </p:nvGrpSpPr>
          <p:grpSpPr>
            <a:xfrm>
              <a:off x="3036" y="3697"/>
              <a:ext cx="285" cy="288"/>
              <a:chOff x="888" y="3472"/>
              <a:chExt cx="272" cy="288"/>
            </a:xfrm>
          </p:grpSpPr>
          <p:sp>
            <p:nvSpPr>
              <p:cNvPr id="196697" name="矩形 196696"/>
              <p:cNvSpPr/>
              <p:nvPr/>
            </p:nvSpPr>
            <p:spPr>
              <a:xfrm>
                <a:off x="888" y="3472"/>
                <a:ext cx="272" cy="288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96698" name="文本框 196697"/>
              <p:cNvSpPr txBox="1"/>
              <p:nvPr/>
            </p:nvSpPr>
            <p:spPr>
              <a:xfrm>
                <a:off x="913" y="3472"/>
                <a:ext cx="210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/>
                <a:r>
                  <a:rPr lang="en-US" altLang="zh-CN" sz="2645" b="1">
                    <a:latin typeface="Times New Roman" panose="02020603050405020304" pitchFamily="18" charset="0"/>
                  </a:rPr>
                  <a:t>P</a:t>
                </a:r>
                <a:endParaRPr lang="en-US" altLang="zh-CN" sz="2645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6699" name="组合 196698"/>
            <p:cNvGrpSpPr/>
            <p:nvPr/>
          </p:nvGrpSpPr>
          <p:grpSpPr>
            <a:xfrm>
              <a:off x="3790" y="3697"/>
              <a:ext cx="285" cy="288"/>
              <a:chOff x="888" y="3472"/>
              <a:chExt cx="272" cy="288"/>
            </a:xfrm>
          </p:grpSpPr>
          <p:sp>
            <p:nvSpPr>
              <p:cNvPr id="196700" name="矩形 196699"/>
              <p:cNvSpPr/>
              <p:nvPr/>
            </p:nvSpPr>
            <p:spPr>
              <a:xfrm>
                <a:off x="888" y="3472"/>
                <a:ext cx="272" cy="288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96701" name="文本框 196700"/>
              <p:cNvSpPr txBox="1"/>
              <p:nvPr/>
            </p:nvSpPr>
            <p:spPr>
              <a:xfrm>
                <a:off x="913" y="3472"/>
                <a:ext cx="210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/>
                <a:r>
                  <a:rPr lang="en-US" altLang="zh-CN" sz="2645" b="1">
                    <a:latin typeface="Times New Roman" panose="02020603050405020304" pitchFamily="18" charset="0"/>
                  </a:rPr>
                  <a:t>P</a:t>
                </a:r>
                <a:endParaRPr lang="en-US" altLang="zh-CN" sz="2645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6702" name="文本框 196701"/>
            <p:cNvSpPr txBox="1"/>
            <p:nvPr/>
          </p:nvSpPr>
          <p:spPr>
            <a:xfrm>
              <a:off x="1600" y="1200"/>
              <a:ext cx="629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645" b="1" dirty="0">
                  <a:latin typeface="Times New Roman" panose="02020603050405020304" pitchFamily="18" charset="0"/>
                </a:rPr>
                <a:t>进程 </a:t>
              </a:r>
              <a:r>
                <a:rPr lang="en-US" altLang="zh-CN" sz="2645" b="1">
                  <a:latin typeface="Times New Roman" panose="02020603050405020304" pitchFamily="18" charset="0"/>
                </a:rPr>
                <a:t>1</a:t>
              </a:r>
              <a:endParaRPr lang="en-US" altLang="zh-CN" sz="2645" b="1">
                <a:latin typeface="Times New Roman" panose="02020603050405020304" pitchFamily="18" charset="0"/>
              </a:endParaRPr>
            </a:p>
          </p:txBody>
        </p:sp>
        <p:sp>
          <p:nvSpPr>
            <p:cNvPr id="196703" name="直接连接符 196702"/>
            <p:cNvSpPr/>
            <p:nvPr/>
          </p:nvSpPr>
          <p:spPr>
            <a:xfrm flipV="1">
              <a:off x="723" y="3696"/>
              <a:ext cx="4173" cy="1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96704" name="文本框 196703"/>
            <p:cNvSpPr txBox="1"/>
            <p:nvPr/>
          </p:nvSpPr>
          <p:spPr>
            <a:xfrm>
              <a:off x="662" y="2085"/>
              <a:ext cx="48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645" b="1" dirty="0">
                  <a:latin typeface="Times New Roman" panose="02020603050405020304" pitchFamily="18" charset="0"/>
                </a:rPr>
                <a:t>用户</a:t>
              </a:r>
              <a:endParaRPr lang="zh-CN" altLang="en-US" sz="2645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705" name="文本框 196704"/>
            <p:cNvSpPr txBox="1"/>
            <p:nvPr/>
          </p:nvSpPr>
          <p:spPr>
            <a:xfrm>
              <a:off x="672" y="2844"/>
              <a:ext cx="48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645" b="1" dirty="0">
                  <a:latin typeface="Times New Roman" panose="02020603050405020304" pitchFamily="18" charset="0"/>
                </a:rPr>
                <a:t>核心</a:t>
              </a:r>
              <a:endParaRPr lang="zh-CN" altLang="en-US" sz="2645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6706" name="文本框 196705"/>
            <p:cNvSpPr txBox="1"/>
            <p:nvPr/>
          </p:nvSpPr>
          <p:spPr>
            <a:xfrm>
              <a:off x="672" y="3792"/>
              <a:ext cx="48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645" b="1" dirty="0">
                  <a:latin typeface="Times New Roman" panose="02020603050405020304" pitchFamily="18" charset="0"/>
                </a:rPr>
                <a:t>硬件</a:t>
              </a:r>
              <a:endParaRPr lang="zh-CN" altLang="en-US" sz="2645" b="1">
                <a:latin typeface="Times New Roman" panose="02020603050405020304" pitchFamily="18" charset="0"/>
              </a:endParaRPr>
            </a:p>
          </p:txBody>
        </p:sp>
        <p:sp>
          <p:nvSpPr>
            <p:cNvPr id="196707" name="直接连接符 196706"/>
            <p:cNvSpPr/>
            <p:nvPr/>
          </p:nvSpPr>
          <p:spPr>
            <a:xfrm>
              <a:off x="4092" y="2352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714" name="任意多边形 196713"/>
            <p:cNvSpPr/>
            <p:nvPr/>
          </p:nvSpPr>
          <p:spPr>
            <a:xfrm>
              <a:off x="4100" y="1633"/>
              <a:ext cx="50" cy="240"/>
            </a:xfrm>
            <a:custGeom>
              <a:avLst/>
              <a:gdLst/>
              <a:ahLst/>
              <a:cxnLst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sz="1985"/>
            </a:p>
          </p:txBody>
        </p:sp>
        <p:sp>
          <p:nvSpPr>
            <p:cNvPr id="196715" name="直接连接符 196714"/>
            <p:cNvSpPr/>
            <p:nvPr/>
          </p:nvSpPr>
          <p:spPr>
            <a:xfrm flipH="1">
              <a:off x="4092" y="187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721" name="文本框 196720"/>
            <p:cNvSpPr txBox="1"/>
            <p:nvPr/>
          </p:nvSpPr>
          <p:spPr>
            <a:xfrm>
              <a:off x="3617" y="1248"/>
              <a:ext cx="629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645" b="1" dirty="0">
                  <a:latin typeface="Times New Roman" panose="02020603050405020304" pitchFamily="18" charset="0"/>
                </a:rPr>
                <a:t>进程 </a:t>
              </a:r>
              <a:r>
                <a:rPr lang="en-US" altLang="zh-CN" sz="2645" b="1">
                  <a:latin typeface="Times New Roman" panose="02020603050405020304" pitchFamily="18" charset="0"/>
                </a:rPr>
                <a:t>2</a:t>
              </a:r>
              <a:endParaRPr lang="en-US" altLang="zh-CN" sz="2645" b="1">
                <a:latin typeface="Times New Roman" panose="02020603050405020304" pitchFamily="18" charset="0"/>
              </a:endParaRPr>
            </a:p>
          </p:txBody>
        </p:sp>
        <p:sp>
          <p:nvSpPr>
            <p:cNvPr id="196725" name="直接连接符 196724"/>
            <p:cNvSpPr/>
            <p:nvPr/>
          </p:nvSpPr>
          <p:spPr>
            <a:xfrm flipH="1">
              <a:off x="3186" y="3216"/>
              <a:ext cx="906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96754" name="文本框 196753"/>
            <p:cNvSpPr txBox="1"/>
            <p:nvPr/>
          </p:nvSpPr>
          <p:spPr>
            <a:xfrm>
              <a:off x="1650" y="2911"/>
              <a:ext cx="54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205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进程 </a:t>
              </a:r>
              <a:r>
                <a:rPr lang="en-US" altLang="zh-CN" sz="2205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205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6755" name="组合 196754"/>
            <p:cNvGrpSpPr/>
            <p:nvPr/>
          </p:nvGrpSpPr>
          <p:grpSpPr>
            <a:xfrm>
              <a:off x="3941" y="2928"/>
              <a:ext cx="301" cy="288"/>
              <a:chOff x="832" y="2920"/>
              <a:chExt cx="288" cy="288"/>
            </a:xfrm>
          </p:grpSpPr>
          <p:sp>
            <p:nvSpPr>
              <p:cNvPr id="196756" name="椭圆 196755"/>
              <p:cNvSpPr/>
              <p:nvPr/>
            </p:nvSpPr>
            <p:spPr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96757" name="任意多边形 196756"/>
              <p:cNvSpPr/>
              <p:nvPr/>
            </p:nvSpPr>
            <p:spPr>
              <a:xfrm>
                <a:off x="960" y="2944"/>
                <a:ext cx="48" cy="240"/>
              </a:xfrm>
              <a:custGeom>
                <a:avLst/>
                <a:gdLst/>
                <a:ahLst/>
                <a:cxnLst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</p:grpSp>
        <p:sp>
          <p:nvSpPr>
            <p:cNvPr id="196758" name="文本框 196757"/>
            <p:cNvSpPr txBox="1"/>
            <p:nvPr/>
          </p:nvSpPr>
          <p:spPr>
            <a:xfrm>
              <a:off x="3360" y="2928"/>
              <a:ext cx="54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205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进程 </a:t>
              </a:r>
              <a:r>
                <a:rPr lang="en-US" altLang="zh-CN" sz="2205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205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6759" name="直接连接符 196758"/>
            <p:cNvSpPr/>
            <p:nvPr/>
          </p:nvSpPr>
          <p:spPr>
            <a:xfrm>
              <a:off x="2382" y="3168"/>
              <a:ext cx="804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</p:sp>
        <p:grpSp>
          <p:nvGrpSpPr>
            <p:cNvPr id="196762" name="组合 196761"/>
            <p:cNvGrpSpPr/>
            <p:nvPr/>
          </p:nvGrpSpPr>
          <p:grpSpPr>
            <a:xfrm>
              <a:off x="2147" y="3696"/>
              <a:ext cx="285" cy="288"/>
              <a:chOff x="888" y="3472"/>
              <a:chExt cx="272" cy="288"/>
            </a:xfrm>
          </p:grpSpPr>
          <p:sp>
            <p:nvSpPr>
              <p:cNvPr id="196763" name="矩形 196762"/>
              <p:cNvSpPr/>
              <p:nvPr/>
            </p:nvSpPr>
            <p:spPr>
              <a:xfrm>
                <a:off x="888" y="3472"/>
                <a:ext cx="272" cy="288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sz="1985"/>
              </a:p>
            </p:txBody>
          </p:sp>
          <p:sp>
            <p:nvSpPr>
              <p:cNvPr id="196764" name="文本框 196763"/>
              <p:cNvSpPr txBox="1"/>
              <p:nvPr/>
            </p:nvSpPr>
            <p:spPr>
              <a:xfrm>
                <a:off x="913" y="3472"/>
                <a:ext cx="210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/>
                <a:r>
                  <a:rPr lang="en-US" altLang="zh-CN" sz="2645" b="1">
                    <a:latin typeface="Times New Roman" panose="02020603050405020304" pitchFamily="18" charset="0"/>
                  </a:rPr>
                  <a:t>P</a:t>
                </a:r>
                <a:endParaRPr lang="en-US" altLang="zh-CN" sz="2645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6766" name="文本框 196765"/>
            <p:cNvSpPr txBox="1"/>
            <p:nvPr/>
          </p:nvSpPr>
          <p:spPr>
            <a:xfrm>
              <a:off x="1392" y="1536"/>
              <a:ext cx="541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205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线程 </a:t>
              </a:r>
              <a:r>
                <a:rPr lang="en-US" altLang="zh-CN" sz="2205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205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6767" name="文本框 196766"/>
            <p:cNvSpPr txBox="1"/>
            <p:nvPr/>
          </p:nvSpPr>
          <p:spPr>
            <a:xfrm>
              <a:off x="2361" y="1536"/>
              <a:ext cx="55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2205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线程 </a:t>
              </a:r>
              <a:r>
                <a:rPr lang="en-US" altLang="zh-CN" sz="2205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205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6771" name="组合 196770"/>
          <p:cNvGrpSpPr/>
          <p:nvPr/>
        </p:nvGrpSpPr>
        <p:grpSpPr>
          <a:xfrm>
            <a:off x="6102350" y="4282017"/>
            <a:ext cx="3946172" cy="2266950"/>
            <a:chOff x="3312" y="2448"/>
            <a:chExt cx="2256" cy="1296"/>
          </a:xfrm>
        </p:grpSpPr>
        <p:sp>
          <p:nvSpPr>
            <p:cNvPr id="196769" name="直接连接符 196768"/>
            <p:cNvSpPr/>
            <p:nvPr/>
          </p:nvSpPr>
          <p:spPr>
            <a:xfrm flipH="1">
              <a:off x="3312" y="3264"/>
              <a:ext cx="1152" cy="4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6770" name="文本框 196769"/>
            <p:cNvSpPr txBox="1"/>
            <p:nvPr/>
          </p:nvSpPr>
          <p:spPr>
            <a:xfrm>
              <a:off x="4416" y="2448"/>
              <a:ext cx="1152" cy="1218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进程不能很好的利用多</a:t>
              </a:r>
              <a:r>
                <a:rPr lang="en-US" altLang="zh-CN" sz="2645" b="1">
                  <a:solidFill>
                    <a:srgbClr val="FF0000"/>
                  </a:solidFill>
                  <a:latin typeface="Arial" panose="020B0604020202020204" pitchFamily="34" charset="0"/>
                </a:rPr>
                <a:t>CPU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，因为进程的地址空间不同</a:t>
              </a:r>
              <a:endParaRPr lang="zh-CN" altLang="en-US" sz="2645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176895" y="1416050"/>
            <a:ext cx="2694305" cy="2479675"/>
            <a:chOff x="10874" y="2955"/>
            <a:chExt cx="4243" cy="3905"/>
          </a:xfrm>
        </p:grpSpPr>
        <p:sp>
          <p:nvSpPr>
            <p:cNvPr id="6" name="object 40"/>
            <p:cNvSpPr txBox="1"/>
            <p:nvPr>
              <p:custDataLst>
                <p:tags r:id="rId1"/>
              </p:custDataLst>
            </p:nvPr>
          </p:nvSpPr>
          <p:spPr>
            <a:xfrm>
              <a:off x="11028" y="5323"/>
              <a:ext cx="951" cy="3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lnSpc>
                  <a:spcPct val="100000"/>
                </a:lnSpc>
              </a:pPr>
              <a:r>
                <a:rPr sz="1700" b="1" spc="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Show</a:t>
              </a:r>
              <a:endParaRPr sz="17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" name="object 41"/>
            <p:cNvSpPr txBox="1"/>
            <p:nvPr>
              <p:custDataLst>
                <p:tags r:id="rId2"/>
              </p:custDataLst>
            </p:nvPr>
          </p:nvSpPr>
          <p:spPr>
            <a:xfrm>
              <a:off x="10925" y="5682"/>
              <a:ext cx="4193" cy="1179"/>
            </a:xfrm>
            <a:prstGeom prst="rect">
              <a:avLst/>
            </a:prstGeom>
            <a:ln w="8114">
              <a:solidFill>
                <a:srgbClr val="FF0000"/>
              </a:solidFill>
            </a:ln>
          </p:spPr>
          <p:txBody>
            <a:bodyPr vert="horz" wrap="square" lIns="0" tIns="0" rIns="0" bIns="0" rtlCol="0">
              <a:spAutoFit/>
            </a:bodyPr>
            <a:p>
              <a:pPr marL="203200">
                <a:lnSpc>
                  <a:spcPct val="100000"/>
                </a:lnSpc>
              </a:pP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显示文本和链接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;</a:t>
              </a:r>
              <a:endParaRPr sz="1700">
                <a:latin typeface="Courier New" panose="02070309020205020404"/>
                <a:cs typeface="Courier New" panose="02070309020205020404"/>
              </a:endParaRPr>
            </a:p>
            <a:p>
              <a:pPr marL="203200">
                <a:lnSpc>
                  <a:spcPct val="100000"/>
                </a:lnSpc>
                <a:spcBef>
                  <a:spcPts val="960"/>
                </a:spcBef>
              </a:pP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...;</a:t>
              </a:r>
              <a:endParaRPr sz="1700">
                <a:latin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8" name="object 42"/>
            <p:cNvSpPr txBox="1"/>
            <p:nvPr>
              <p:custDataLst>
                <p:tags r:id="rId3"/>
              </p:custDataLst>
            </p:nvPr>
          </p:nvSpPr>
          <p:spPr>
            <a:xfrm>
              <a:off x="10977" y="2955"/>
              <a:ext cx="1345" cy="3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lnSpc>
                  <a:spcPct val="100000"/>
                </a:lnSpc>
              </a:pP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G</a:t>
              </a:r>
              <a:r>
                <a:rPr sz="1700" b="1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e</a:t>
              </a: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t</a:t>
              </a:r>
              <a:r>
                <a:rPr sz="1700" b="1" spc="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D</a:t>
              </a:r>
              <a:r>
                <a:rPr sz="1700" b="1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a</a:t>
              </a:r>
              <a:r>
                <a:rPr sz="1700" b="1" spc="-5" dirty="0">
                  <a:solidFill>
                    <a:srgbClr val="000066"/>
                  </a:solidFill>
                  <a:latin typeface="Arial" panose="020B0604020202020204"/>
                  <a:cs typeface="Arial" panose="020B0604020202020204"/>
                </a:rPr>
                <a:t>ta</a:t>
              </a:r>
              <a:endParaRPr sz="17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object 43"/>
            <p:cNvSpPr txBox="1"/>
            <p:nvPr>
              <p:custDataLst>
                <p:tags r:id="rId4"/>
              </p:custDataLst>
            </p:nvPr>
          </p:nvSpPr>
          <p:spPr>
            <a:xfrm>
              <a:off x="10874" y="3385"/>
              <a:ext cx="4193" cy="1866"/>
            </a:xfrm>
            <a:prstGeom prst="rect">
              <a:avLst/>
            </a:prstGeom>
            <a:ln w="8114">
              <a:solidFill>
                <a:srgbClr val="FF0000"/>
              </a:solidFill>
            </a:ln>
          </p:spPr>
          <p:txBody>
            <a:bodyPr vert="horz" wrap="square" lIns="0" tIns="0" rIns="0" bIns="0" rtlCol="0">
              <a:spAutoFit/>
            </a:bodyPr>
            <a:p>
              <a:pPr marL="203200" marR="624840">
                <a:lnSpc>
                  <a:spcPct val="151000"/>
                </a:lnSpc>
              </a:pP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连接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URL</a:t>
              </a: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发起请求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; </a:t>
              </a:r>
              <a:r>
                <a:rPr sz="1650" b="1" spc="40" dirty="0">
                  <a:latin typeface="宋体" panose="02010600030101010101" pitchFamily="2" charset="-122"/>
                  <a:cs typeface="宋体" panose="02010600030101010101" pitchFamily="2" charset="-122"/>
                </a:rPr>
                <a:t>等待网卡</a:t>
              </a:r>
              <a:r>
                <a:rPr sz="1700" b="1" dirty="0">
                  <a:latin typeface="Courier New" panose="02070309020205020404"/>
                  <a:cs typeface="Courier New" panose="02070309020205020404"/>
                </a:rPr>
                <a:t>IO... </a:t>
              </a:r>
              <a:r>
                <a:rPr sz="1650" b="1" spc="40" dirty="0">
                  <a:solidFill>
                    <a:srgbClr val="FF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进程阻塞</a:t>
              </a:r>
              <a:endParaRPr sz="165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3470"/>
              </a:lnSpc>
            </a:pPr>
            <a:r>
              <a:rPr spc="100" dirty="0"/>
              <a:t>核心级线程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5196552" y="2677877"/>
            <a:ext cx="1172845" cy="1159510"/>
          </a:xfrm>
          <a:custGeom>
            <a:avLst/>
            <a:gdLst/>
            <a:ahLst/>
            <a:cxnLst/>
            <a:rect l="l" t="t" r="r" b="b"/>
            <a:pathLst>
              <a:path w="1172845" h="1159510">
                <a:moveTo>
                  <a:pt x="0" y="0"/>
                </a:moveTo>
                <a:lnTo>
                  <a:pt x="1172775" y="0"/>
                </a:lnTo>
                <a:lnTo>
                  <a:pt x="1172775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91187" y="2677877"/>
            <a:ext cx="2063114" cy="1159510"/>
          </a:xfrm>
          <a:custGeom>
            <a:avLst/>
            <a:gdLst/>
            <a:ahLst/>
            <a:cxnLst/>
            <a:rect l="l" t="t" r="r" b="b"/>
            <a:pathLst>
              <a:path w="2063114" h="1159510">
                <a:moveTo>
                  <a:pt x="0" y="0"/>
                </a:moveTo>
                <a:lnTo>
                  <a:pt x="2062840" y="0"/>
                </a:lnTo>
                <a:lnTo>
                  <a:pt x="2062840" y="1158934"/>
                </a:lnTo>
                <a:lnTo>
                  <a:pt x="0" y="115893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4836" y="3836811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09">
                <a:moveTo>
                  <a:pt x="0" y="0"/>
                </a:moveTo>
                <a:lnTo>
                  <a:pt x="5578541" y="0"/>
                </a:lnTo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77293" y="4550833"/>
            <a:ext cx="404495" cy="389890"/>
          </a:xfrm>
          <a:custGeom>
            <a:avLst/>
            <a:gdLst/>
            <a:ahLst/>
            <a:cxnLst/>
            <a:rect l="l" t="t" r="r" b="b"/>
            <a:pathLst>
              <a:path w="404495" h="389889">
                <a:moveTo>
                  <a:pt x="202225" y="0"/>
                </a:moveTo>
                <a:lnTo>
                  <a:pt x="153628" y="5659"/>
                </a:lnTo>
                <a:lnTo>
                  <a:pt x="109291" y="21735"/>
                </a:lnTo>
                <a:lnTo>
                  <a:pt x="70619" y="46876"/>
                </a:lnTo>
                <a:lnTo>
                  <a:pt x="39017" y="79726"/>
                </a:lnTo>
                <a:lnTo>
                  <a:pt x="15891" y="118934"/>
                </a:lnTo>
                <a:lnTo>
                  <a:pt x="2646" y="163147"/>
                </a:lnTo>
                <a:lnTo>
                  <a:pt x="0" y="194734"/>
                </a:lnTo>
                <a:lnTo>
                  <a:pt x="670" y="210705"/>
                </a:lnTo>
                <a:lnTo>
                  <a:pt x="10309" y="256284"/>
                </a:lnTo>
                <a:lnTo>
                  <a:pt x="30298" y="297310"/>
                </a:lnTo>
                <a:lnTo>
                  <a:pt x="59230" y="332430"/>
                </a:lnTo>
                <a:lnTo>
                  <a:pt x="95701" y="360291"/>
                </a:lnTo>
                <a:lnTo>
                  <a:pt x="138306" y="379539"/>
                </a:lnTo>
                <a:lnTo>
                  <a:pt x="185640" y="388821"/>
                </a:lnTo>
                <a:lnTo>
                  <a:pt x="202225" y="389467"/>
                </a:lnTo>
                <a:lnTo>
                  <a:pt x="218811" y="388821"/>
                </a:lnTo>
                <a:lnTo>
                  <a:pt x="266145" y="379539"/>
                </a:lnTo>
                <a:lnTo>
                  <a:pt x="308750" y="360291"/>
                </a:lnTo>
                <a:lnTo>
                  <a:pt x="345221" y="332430"/>
                </a:lnTo>
                <a:lnTo>
                  <a:pt x="374154" y="297310"/>
                </a:lnTo>
                <a:lnTo>
                  <a:pt x="394143" y="256284"/>
                </a:lnTo>
                <a:lnTo>
                  <a:pt x="403782" y="210705"/>
                </a:lnTo>
                <a:lnTo>
                  <a:pt x="404453" y="194734"/>
                </a:lnTo>
                <a:lnTo>
                  <a:pt x="403782" y="178762"/>
                </a:lnTo>
                <a:lnTo>
                  <a:pt x="394143" y="133183"/>
                </a:lnTo>
                <a:lnTo>
                  <a:pt x="374154" y="92156"/>
                </a:lnTo>
                <a:lnTo>
                  <a:pt x="345221" y="57036"/>
                </a:lnTo>
                <a:lnTo>
                  <a:pt x="308750" y="29175"/>
                </a:lnTo>
                <a:lnTo>
                  <a:pt x="266145" y="9927"/>
                </a:lnTo>
                <a:lnTo>
                  <a:pt x="218811" y="645"/>
                </a:lnTo>
                <a:lnTo>
                  <a:pt x="202225" y="0"/>
                </a:lnTo>
                <a:close/>
              </a:path>
            </a:pathLst>
          </a:custGeom>
          <a:solidFill>
            <a:srgbClr val="99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77293" y="4550833"/>
            <a:ext cx="404495" cy="389890"/>
          </a:xfrm>
          <a:custGeom>
            <a:avLst/>
            <a:gdLst/>
            <a:ahLst/>
            <a:cxnLst/>
            <a:rect l="l" t="t" r="r" b="b"/>
            <a:pathLst>
              <a:path w="404495" h="389889">
                <a:moveTo>
                  <a:pt x="0" y="194733"/>
                </a:moveTo>
                <a:lnTo>
                  <a:pt x="5877" y="147936"/>
                </a:lnTo>
                <a:lnTo>
                  <a:pt x="22572" y="105242"/>
                </a:lnTo>
                <a:lnTo>
                  <a:pt x="48679" y="68002"/>
                </a:lnTo>
                <a:lnTo>
                  <a:pt x="82794" y="37572"/>
                </a:lnTo>
                <a:lnTo>
                  <a:pt x="123510" y="15303"/>
                </a:lnTo>
                <a:lnTo>
                  <a:pt x="169424" y="2548"/>
                </a:lnTo>
                <a:lnTo>
                  <a:pt x="202226" y="0"/>
                </a:lnTo>
                <a:lnTo>
                  <a:pt x="218811" y="645"/>
                </a:lnTo>
                <a:lnTo>
                  <a:pt x="266145" y="9927"/>
                </a:lnTo>
                <a:lnTo>
                  <a:pt x="308750" y="29175"/>
                </a:lnTo>
                <a:lnTo>
                  <a:pt x="345221" y="57036"/>
                </a:lnTo>
                <a:lnTo>
                  <a:pt x="374154" y="92156"/>
                </a:lnTo>
                <a:lnTo>
                  <a:pt x="394142" y="133182"/>
                </a:lnTo>
                <a:lnTo>
                  <a:pt x="403782" y="178762"/>
                </a:lnTo>
                <a:lnTo>
                  <a:pt x="404452" y="194733"/>
                </a:lnTo>
                <a:lnTo>
                  <a:pt x="403782" y="210704"/>
                </a:lnTo>
                <a:lnTo>
                  <a:pt x="394142" y="256284"/>
                </a:lnTo>
                <a:lnTo>
                  <a:pt x="374154" y="297310"/>
                </a:lnTo>
                <a:lnTo>
                  <a:pt x="345221" y="332430"/>
                </a:lnTo>
                <a:lnTo>
                  <a:pt x="308750" y="360291"/>
                </a:lnTo>
                <a:lnTo>
                  <a:pt x="266145" y="379539"/>
                </a:lnTo>
                <a:lnTo>
                  <a:pt x="218811" y="388821"/>
                </a:lnTo>
                <a:lnTo>
                  <a:pt x="202226" y="389466"/>
                </a:lnTo>
                <a:lnTo>
                  <a:pt x="185640" y="388821"/>
                </a:lnTo>
                <a:lnTo>
                  <a:pt x="138307" y="379539"/>
                </a:lnTo>
                <a:lnTo>
                  <a:pt x="95702" y="360291"/>
                </a:lnTo>
                <a:lnTo>
                  <a:pt x="59230" y="332430"/>
                </a:lnTo>
                <a:lnTo>
                  <a:pt x="30298" y="297310"/>
                </a:lnTo>
                <a:lnTo>
                  <a:pt x="10309" y="256284"/>
                </a:lnTo>
                <a:lnTo>
                  <a:pt x="670" y="210704"/>
                </a:lnTo>
                <a:lnTo>
                  <a:pt x="0" y="194733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57141" y="4583288"/>
            <a:ext cx="63500" cy="323215"/>
          </a:xfrm>
          <a:custGeom>
            <a:avLst/>
            <a:gdLst/>
            <a:ahLst/>
            <a:cxnLst/>
            <a:rect l="l" t="t" r="r" b="b"/>
            <a:pathLst>
              <a:path w="63500" h="323214">
                <a:moveTo>
                  <a:pt x="31019" y="0"/>
                </a:moveTo>
                <a:lnTo>
                  <a:pt x="52077" y="33923"/>
                </a:lnTo>
                <a:lnTo>
                  <a:pt x="62903" y="67847"/>
                </a:lnTo>
                <a:lnTo>
                  <a:pt x="62470" y="79155"/>
                </a:lnTo>
                <a:lnTo>
                  <a:pt x="58341" y="89701"/>
                </a:lnTo>
                <a:lnTo>
                  <a:pt x="50791" y="100091"/>
                </a:lnTo>
                <a:lnTo>
                  <a:pt x="41005" y="110348"/>
                </a:lnTo>
                <a:lnTo>
                  <a:pt x="30168" y="120492"/>
                </a:lnTo>
                <a:lnTo>
                  <a:pt x="19464" y="130545"/>
                </a:lnTo>
                <a:lnTo>
                  <a:pt x="10078" y="140530"/>
                </a:lnTo>
                <a:lnTo>
                  <a:pt x="3195" y="150466"/>
                </a:lnTo>
                <a:lnTo>
                  <a:pt x="0" y="160377"/>
                </a:lnTo>
                <a:lnTo>
                  <a:pt x="2535" y="170918"/>
                </a:lnTo>
                <a:lnTo>
                  <a:pt x="9298" y="181309"/>
                </a:lnTo>
                <a:lnTo>
                  <a:pt x="18920" y="191572"/>
                </a:lnTo>
                <a:lnTo>
                  <a:pt x="30033" y="201726"/>
                </a:lnTo>
                <a:lnTo>
                  <a:pt x="41270" y="211793"/>
                </a:lnTo>
                <a:lnTo>
                  <a:pt x="51264" y="221794"/>
                </a:lnTo>
                <a:lnTo>
                  <a:pt x="58645" y="231750"/>
                </a:lnTo>
                <a:lnTo>
                  <a:pt x="62047" y="241681"/>
                </a:lnTo>
                <a:lnTo>
                  <a:pt x="60731" y="252182"/>
                </a:lnTo>
                <a:lnTo>
                  <a:pt x="34265" y="293007"/>
                </a:lnTo>
                <a:lnTo>
                  <a:pt x="13125" y="312980"/>
                </a:lnTo>
                <a:lnTo>
                  <a:pt x="1783" y="322924"/>
                </a:lnTo>
              </a:path>
            </a:pathLst>
          </a:custGeom>
          <a:ln w="1623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52479" y="5655674"/>
            <a:ext cx="380365" cy="389890"/>
          </a:xfrm>
          <a:custGeom>
            <a:avLst/>
            <a:gdLst/>
            <a:ahLst/>
            <a:cxnLst/>
            <a:rect l="l" t="t" r="r" b="b"/>
            <a:pathLst>
              <a:path w="380364" h="389889">
                <a:moveTo>
                  <a:pt x="0" y="389466"/>
                </a:moveTo>
                <a:lnTo>
                  <a:pt x="380104" y="389466"/>
                </a:lnTo>
                <a:lnTo>
                  <a:pt x="380104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52479" y="5655674"/>
            <a:ext cx="380365" cy="389890"/>
          </a:xfrm>
          <a:custGeom>
            <a:avLst/>
            <a:gdLst/>
            <a:ahLst/>
            <a:cxnLst/>
            <a:rect l="l" t="t" r="r" b="b"/>
            <a:pathLst>
              <a:path w="380364" h="389889">
                <a:moveTo>
                  <a:pt x="0" y="0"/>
                </a:moveTo>
                <a:lnTo>
                  <a:pt x="380104" y="0"/>
                </a:lnTo>
                <a:lnTo>
                  <a:pt x="380104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52630" y="5722546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0226" y="5655674"/>
            <a:ext cx="381635" cy="389890"/>
          </a:xfrm>
          <a:custGeom>
            <a:avLst/>
            <a:gdLst/>
            <a:ahLst/>
            <a:cxnLst/>
            <a:rect l="l" t="t" r="r" b="b"/>
            <a:pathLst>
              <a:path w="381635" h="389889">
                <a:moveTo>
                  <a:pt x="0" y="389466"/>
                </a:moveTo>
                <a:lnTo>
                  <a:pt x="381456" y="389466"/>
                </a:lnTo>
                <a:lnTo>
                  <a:pt x="381456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60226" y="5655674"/>
            <a:ext cx="381635" cy="389890"/>
          </a:xfrm>
          <a:custGeom>
            <a:avLst/>
            <a:gdLst/>
            <a:ahLst/>
            <a:cxnLst/>
            <a:rect l="l" t="t" r="r" b="b"/>
            <a:pathLst>
              <a:path w="381635" h="389889">
                <a:moveTo>
                  <a:pt x="0" y="0"/>
                </a:moveTo>
                <a:lnTo>
                  <a:pt x="381456" y="0"/>
                </a:lnTo>
                <a:lnTo>
                  <a:pt x="381456" y="389466"/>
                </a:lnTo>
                <a:lnTo>
                  <a:pt x="0" y="389466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60501" y="5722546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54836" y="5654999"/>
            <a:ext cx="5579110" cy="0"/>
          </a:xfrm>
          <a:custGeom>
            <a:avLst/>
            <a:gdLst/>
            <a:ahLst/>
            <a:cxnLst/>
            <a:rect l="l" t="t" r="r" b="b"/>
            <a:pathLst>
              <a:path w="5579109">
                <a:moveTo>
                  <a:pt x="0" y="0"/>
                </a:moveTo>
                <a:lnTo>
                  <a:pt x="55785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56474" y="5843638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硬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33121" y="2830688"/>
            <a:ext cx="3437164" cy="321715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31724" y="2328081"/>
            <a:ext cx="230441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77340" algn="l"/>
              </a:tabLst>
            </a:pPr>
            <a:r>
              <a:rPr sz="2925" b="1" spc="127" baseline="3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知道</a:t>
            </a:r>
            <a:r>
              <a:rPr sz="3000" b="1" spc="30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3000" b="1" spc="37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3000" b="1" spc="30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3000" b="1" baseline="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2947" y="3507473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6474" y="4561992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心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5484" y="2404284"/>
            <a:ext cx="73914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-69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54458" y="5035550"/>
            <a:ext cx="620395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4974" y="5721194"/>
            <a:ext cx="183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P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29894" y="5035550"/>
            <a:ext cx="632460" cy="25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1650" b="1" spc="-40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dirty="0">
                <a:latin typeface="Times New Roman" panose="02020603050405020304"/>
                <a:cs typeface="Times New Roman" panose="02020603050405020304"/>
              </a:rPr>
              <a:t>n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1724" y="1892167"/>
            <a:ext cx="533463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是系统调用，会进入内核，内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0236" y="1965206"/>
            <a:ext cx="160968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89939" y="2862935"/>
            <a:ext cx="1052195" cy="2522855"/>
          </a:xfrm>
          <a:custGeom>
            <a:avLst/>
            <a:gdLst/>
            <a:ahLst/>
            <a:cxnLst/>
            <a:rect l="l" t="t" r="r" b="b"/>
            <a:pathLst>
              <a:path w="1052195" h="2522854">
                <a:moveTo>
                  <a:pt x="12365" y="0"/>
                </a:moveTo>
                <a:lnTo>
                  <a:pt x="8365" y="233216"/>
                </a:lnTo>
                <a:lnTo>
                  <a:pt x="4752" y="463144"/>
                </a:lnTo>
                <a:lnTo>
                  <a:pt x="3207" y="576132"/>
                </a:lnTo>
                <a:lnTo>
                  <a:pt x="1901" y="687337"/>
                </a:lnTo>
                <a:lnTo>
                  <a:pt x="878" y="796399"/>
                </a:lnTo>
                <a:lnTo>
                  <a:pt x="190" y="902799"/>
                </a:lnTo>
                <a:lnTo>
                  <a:pt x="0" y="1107166"/>
                </a:lnTo>
                <a:lnTo>
                  <a:pt x="595" y="1204193"/>
                </a:lnTo>
                <a:lnTo>
                  <a:pt x="1713" y="1297308"/>
                </a:lnTo>
                <a:lnTo>
                  <a:pt x="3402" y="1386160"/>
                </a:lnTo>
                <a:lnTo>
                  <a:pt x="5711" y="1470392"/>
                </a:lnTo>
                <a:lnTo>
                  <a:pt x="8688" y="1549654"/>
                </a:lnTo>
                <a:lnTo>
                  <a:pt x="12379" y="1623593"/>
                </a:lnTo>
                <a:lnTo>
                  <a:pt x="15980" y="1692008"/>
                </a:lnTo>
                <a:lnTo>
                  <a:pt x="18844" y="1755260"/>
                </a:lnTo>
                <a:lnTo>
                  <a:pt x="23534" y="1867926"/>
                </a:lnTo>
                <a:lnTo>
                  <a:pt x="25932" y="1917934"/>
                </a:lnTo>
                <a:lnTo>
                  <a:pt x="28746" y="1964129"/>
                </a:lnTo>
                <a:lnTo>
                  <a:pt x="32268" y="2006814"/>
                </a:lnTo>
                <a:lnTo>
                  <a:pt x="36791" y="2046296"/>
                </a:lnTo>
                <a:lnTo>
                  <a:pt x="50058" y="2116865"/>
                </a:lnTo>
                <a:lnTo>
                  <a:pt x="71037" y="2178173"/>
                </a:lnTo>
                <a:lnTo>
                  <a:pt x="102222" y="2232215"/>
                </a:lnTo>
                <a:lnTo>
                  <a:pt x="145764" y="2280679"/>
                </a:lnTo>
                <a:lnTo>
                  <a:pt x="205883" y="2333379"/>
                </a:lnTo>
                <a:lnTo>
                  <a:pt x="242825" y="2363261"/>
                </a:lnTo>
                <a:lnTo>
                  <a:pt x="283527" y="2393895"/>
                </a:lnTo>
                <a:lnTo>
                  <a:pt x="327296" y="2424000"/>
                </a:lnTo>
                <a:lnTo>
                  <a:pt x="373447" y="2452296"/>
                </a:lnTo>
                <a:lnTo>
                  <a:pt x="421305" y="2477499"/>
                </a:lnTo>
                <a:lnTo>
                  <a:pt x="470222" y="2498317"/>
                </a:lnTo>
                <a:lnTo>
                  <a:pt x="519915" y="2513540"/>
                </a:lnTo>
                <a:lnTo>
                  <a:pt x="569184" y="2521573"/>
                </a:lnTo>
                <a:lnTo>
                  <a:pt x="593563" y="2522480"/>
                </a:lnTo>
                <a:lnTo>
                  <a:pt x="617655" y="2521061"/>
                </a:lnTo>
                <a:lnTo>
                  <a:pt x="641356" y="2517122"/>
                </a:lnTo>
                <a:lnTo>
                  <a:pt x="664544" y="2510466"/>
                </a:lnTo>
                <a:lnTo>
                  <a:pt x="687077" y="2500915"/>
                </a:lnTo>
                <a:lnTo>
                  <a:pt x="691835" y="2498154"/>
                </a:lnTo>
                <a:lnTo>
                  <a:pt x="594424" y="2498154"/>
                </a:lnTo>
                <a:lnTo>
                  <a:pt x="572141" y="2497411"/>
                </a:lnTo>
                <a:lnTo>
                  <a:pt x="526315" y="2490055"/>
                </a:lnTo>
                <a:lnTo>
                  <a:pt x="479742" y="2475913"/>
                </a:lnTo>
                <a:lnTo>
                  <a:pt x="432643" y="2455956"/>
                </a:lnTo>
                <a:lnTo>
                  <a:pt x="386170" y="2431542"/>
                </a:lnTo>
                <a:lnTo>
                  <a:pt x="341092" y="2403943"/>
                </a:lnTo>
                <a:lnTo>
                  <a:pt x="298169" y="2374446"/>
                </a:lnTo>
                <a:lnTo>
                  <a:pt x="258138" y="2344337"/>
                </a:lnTo>
                <a:lnTo>
                  <a:pt x="221733" y="2314901"/>
                </a:lnTo>
                <a:lnTo>
                  <a:pt x="189678" y="2287424"/>
                </a:lnTo>
                <a:lnTo>
                  <a:pt x="141220" y="2241677"/>
                </a:lnTo>
                <a:lnTo>
                  <a:pt x="106884" y="2194907"/>
                </a:lnTo>
                <a:lnTo>
                  <a:pt x="82767" y="2141618"/>
                </a:lnTo>
                <a:lnTo>
                  <a:pt x="66663" y="2079044"/>
                </a:lnTo>
                <a:lnTo>
                  <a:pt x="56534" y="2004811"/>
                </a:lnTo>
                <a:lnTo>
                  <a:pt x="53044" y="1962575"/>
                </a:lnTo>
                <a:lnTo>
                  <a:pt x="50252" y="1916770"/>
                </a:lnTo>
                <a:lnTo>
                  <a:pt x="47862" y="1866907"/>
                </a:lnTo>
                <a:lnTo>
                  <a:pt x="43168" y="1754159"/>
                </a:lnTo>
                <a:lnTo>
                  <a:pt x="40294" y="1690729"/>
                </a:lnTo>
                <a:lnTo>
                  <a:pt x="36697" y="1622379"/>
                </a:lnTo>
                <a:lnTo>
                  <a:pt x="33018" y="1548740"/>
                </a:lnTo>
                <a:lnTo>
                  <a:pt x="30050" y="1469725"/>
                </a:lnTo>
                <a:lnTo>
                  <a:pt x="27746" y="1385697"/>
                </a:lnTo>
                <a:lnTo>
                  <a:pt x="26059" y="1297016"/>
                </a:lnTo>
                <a:lnTo>
                  <a:pt x="24942" y="1204045"/>
                </a:lnTo>
                <a:lnTo>
                  <a:pt x="24348" y="1107166"/>
                </a:lnTo>
                <a:lnTo>
                  <a:pt x="24229" y="1006584"/>
                </a:lnTo>
                <a:lnTo>
                  <a:pt x="24539" y="902799"/>
                </a:lnTo>
                <a:lnTo>
                  <a:pt x="25229" y="796170"/>
                </a:lnTo>
                <a:lnTo>
                  <a:pt x="26252" y="687052"/>
                </a:lnTo>
                <a:lnTo>
                  <a:pt x="27562" y="575800"/>
                </a:lnTo>
                <a:lnTo>
                  <a:pt x="29108" y="462762"/>
                </a:lnTo>
                <a:lnTo>
                  <a:pt x="32723" y="232798"/>
                </a:lnTo>
                <a:lnTo>
                  <a:pt x="36710" y="417"/>
                </a:lnTo>
                <a:lnTo>
                  <a:pt x="12365" y="0"/>
                </a:lnTo>
                <a:close/>
              </a:path>
              <a:path w="1052195" h="2522854">
                <a:moveTo>
                  <a:pt x="1036021" y="133861"/>
                </a:moveTo>
                <a:lnTo>
                  <a:pt x="984324" y="133861"/>
                </a:lnTo>
                <a:lnTo>
                  <a:pt x="981179" y="243843"/>
                </a:lnTo>
                <a:lnTo>
                  <a:pt x="975910" y="421377"/>
                </a:lnTo>
                <a:lnTo>
                  <a:pt x="970307" y="597213"/>
                </a:lnTo>
                <a:lnTo>
                  <a:pt x="964201" y="770498"/>
                </a:lnTo>
                <a:lnTo>
                  <a:pt x="957427" y="940377"/>
                </a:lnTo>
                <a:lnTo>
                  <a:pt x="949753" y="1107166"/>
                </a:lnTo>
                <a:lnTo>
                  <a:pt x="941205" y="1266473"/>
                </a:lnTo>
                <a:lnTo>
                  <a:pt x="936469" y="1344541"/>
                </a:lnTo>
                <a:lnTo>
                  <a:pt x="931418" y="1421011"/>
                </a:lnTo>
                <a:lnTo>
                  <a:pt x="926180" y="1493874"/>
                </a:lnTo>
                <a:lnTo>
                  <a:pt x="920464" y="1566652"/>
                </a:lnTo>
                <a:lnTo>
                  <a:pt x="914375" y="1637496"/>
                </a:lnTo>
                <a:lnTo>
                  <a:pt x="907895" y="1706295"/>
                </a:lnTo>
                <a:lnTo>
                  <a:pt x="900998" y="1772944"/>
                </a:lnTo>
                <a:lnTo>
                  <a:pt x="893669" y="1837329"/>
                </a:lnTo>
                <a:lnTo>
                  <a:pt x="885887" y="1899344"/>
                </a:lnTo>
                <a:lnTo>
                  <a:pt x="877630" y="1958878"/>
                </a:lnTo>
                <a:lnTo>
                  <a:pt x="868881" y="2015822"/>
                </a:lnTo>
                <a:lnTo>
                  <a:pt x="859621" y="2070064"/>
                </a:lnTo>
                <a:lnTo>
                  <a:pt x="849831" y="2121491"/>
                </a:lnTo>
                <a:lnTo>
                  <a:pt x="839495" y="2169991"/>
                </a:lnTo>
                <a:lnTo>
                  <a:pt x="828597" y="2215447"/>
                </a:lnTo>
                <a:lnTo>
                  <a:pt x="817126" y="2257742"/>
                </a:lnTo>
                <a:lnTo>
                  <a:pt x="805072" y="2296755"/>
                </a:lnTo>
                <a:lnTo>
                  <a:pt x="779051" y="2363831"/>
                </a:lnTo>
                <a:lnTo>
                  <a:pt x="748804" y="2415523"/>
                </a:lnTo>
                <a:lnTo>
                  <a:pt x="714753" y="2453192"/>
                </a:lnTo>
                <a:lnTo>
                  <a:pt x="677490" y="2478539"/>
                </a:lnTo>
                <a:lnTo>
                  <a:pt x="637292" y="2493121"/>
                </a:lnTo>
                <a:lnTo>
                  <a:pt x="594424" y="2498154"/>
                </a:lnTo>
                <a:lnTo>
                  <a:pt x="691835" y="2498154"/>
                </a:lnTo>
                <a:lnTo>
                  <a:pt x="729569" y="2472510"/>
                </a:lnTo>
                <a:lnTo>
                  <a:pt x="767679" y="2430900"/>
                </a:lnTo>
                <a:lnTo>
                  <a:pt x="800573" y="2375213"/>
                </a:lnTo>
                <a:lnTo>
                  <a:pt x="828014" y="2304906"/>
                </a:lnTo>
                <a:lnTo>
                  <a:pt x="840388" y="2264933"/>
                </a:lnTo>
                <a:lnTo>
                  <a:pt x="852096" y="2221821"/>
                </a:lnTo>
                <a:lnTo>
                  <a:pt x="863173" y="2175667"/>
                </a:lnTo>
                <a:lnTo>
                  <a:pt x="873645" y="2126566"/>
                </a:lnTo>
                <a:lnTo>
                  <a:pt x="883540" y="2074617"/>
                </a:lnTo>
                <a:lnTo>
                  <a:pt x="892882" y="2019919"/>
                </a:lnTo>
                <a:lnTo>
                  <a:pt x="901696" y="1962575"/>
                </a:lnTo>
                <a:lnTo>
                  <a:pt x="910004" y="1902687"/>
                </a:lnTo>
                <a:lnTo>
                  <a:pt x="917829" y="1840359"/>
                </a:lnTo>
                <a:lnTo>
                  <a:pt x="925191" y="1775696"/>
                </a:lnTo>
                <a:lnTo>
                  <a:pt x="932113" y="1708801"/>
                </a:lnTo>
                <a:lnTo>
                  <a:pt x="938617" y="1639779"/>
                </a:lnTo>
                <a:lnTo>
                  <a:pt x="944723" y="1568737"/>
                </a:lnTo>
                <a:lnTo>
                  <a:pt x="950454" y="1495779"/>
                </a:lnTo>
                <a:lnTo>
                  <a:pt x="955943" y="1419266"/>
                </a:lnTo>
                <a:lnTo>
                  <a:pt x="960967" y="1342939"/>
                </a:lnTo>
                <a:lnTo>
                  <a:pt x="965677" y="1265002"/>
                </a:lnTo>
                <a:lnTo>
                  <a:pt x="974259" y="1104694"/>
                </a:lnTo>
                <a:lnTo>
                  <a:pt x="981845" y="939261"/>
                </a:lnTo>
                <a:lnTo>
                  <a:pt x="988603" y="769529"/>
                </a:lnTo>
                <a:lnTo>
                  <a:pt x="994697" y="596357"/>
                </a:lnTo>
                <a:lnTo>
                  <a:pt x="1000294" y="420602"/>
                </a:lnTo>
                <a:lnTo>
                  <a:pt x="1005854" y="232798"/>
                </a:lnTo>
                <a:lnTo>
                  <a:pt x="1008663" y="134556"/>
                </a:lnTo>
                <a:lnTo>
                  <a:pt x="1036400" y="134556"/>
                </a:lnTo>
                <a:lnTo>
                  <a:pt x="1036021" y="133861"/>
                </a:lnTo>
                <a:close/>
              </a:path>
              <a:path w="1052195" h="2522854">
                <a:moveTo>
                  <a:pt x="1036400" y="134556"/>
                </a:moveTo>
                <a:lnTo>
                  <a:pt x="1008663" y="134556"/>
                </a:lnTo>
                <a:lnTo>
                  <a:pt x="1030819" y="175150"/>
                </a:lnTo>
                <a:lnTo>
                  <a:pt x="1038214" y="177323"/>
                </a:lnTo>
                <a:lnTo>
                  <a:pt x="1050019" y="170884"/>
                </a:lnTo>
                <a:lnTo>
                  <a:pt x="1052193" y="163492"/>
                </a:lnTo>
                <a:lnTo>
                  <a:pt x="1036400" y="134556"/>
                </a:lnTo>
                <a:close/>
              </a:path>
              <a:path w="1052195" h="2522854">
                <a:moveTo>
                  <a:pt x="998471" y="65063"/>
                </a:moveTo>
                <a:lnTo>
                  <a:pt x="939213" y="160262"/>
                </a:lnTo>
                <a:lnTo>
                  <a:pt x="940960" y="167768"/>
                </a:lnTo>
                <a:lnTo>
                  <a:pt x="952378" y="174871"/>
                </a:lnTo>
                <a:lnTo>
                  <a:pt x="959886" y="173123"/>
                </a:lnTo>
                <a:lnTo>
                  <a:pt x="984324" y="133861"/>
                </a:lnTo>
                <a:lnTo>
                  <a:pt x="1036021" y="133861"/>
                </a:lnTo>
                <a:lnTo>
                  <a:pt x="998471" y="650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65374" y="3633960"/>
            <a:ext cx="1906270" cy="787400"/>
          </a:xfrm>
          <a:custGeom>
            <a:avLst/>
            <a:gdLst/>
            <a:ahLst/>
            <a:cxnLst/>
            <a:rect l="l" t="t" r="r" b="b"/>
            <a:pathLst>
              <a:path w="1906270" h="787400">
                <a:moveTo>
                  <a:pt x="0" y="0"/>
                </a:moveTo>
                <a:lnTo>
                  <a:pt x="217821" y="332672"/>
                </a:lnTo>
                <a:lnTo>
                  <a:pt x="217995" y="664006"/>
                </a:lnTo>
                <a:lnTo>
                  <a:pt x="219551" y="678466"/>
                </a:lnTo>
                <a:lnTo>
                  <a:pt x="233101" y="718378"/>
                </a:lnTo>
                <a:lnTo>
                  <a:pt x="258120" y="751234"/>
                </a:lnTo>
                <a:lnTo>
                  <a:pt x="292219" y="774648"/>
                </a:lnTo>
                <a:lnTo>
                  <a:pt x="333010" y="786231"/>
                </a:lnTo>
                <a:lnTo>
                  <a:pt x="347681" y="787050"/>
                </a:lnTo>
                <a:lnTo>
                  <a:pt x="921216" y="787050"/>
                </a:lnTo>
                <a:lnTo>
                  <a:pt x="1782892" y="786876"/>
                </a:lnTo>
                <a:lnTo>
                  <a:pt x="1824636" y="777682"/>
                </a:lnTo>
                <a:lnTo>
                  <a:pt x="1860119" y="756226"/>
                </a:lnTo>
                <a:lnTo>
                  <a:pt x="1886953" y="724897"/>
                </a:lnTo>
                <a:lnTo>
                  <a:pt x="1902749" y="686082"/>
                </a:lnTo>
                <a:lnTo>
                  <a:pt x="1905969" y="657225"/>
                </a:lnTo>
                <a:lnTo>
                  <a:pt x="1905969" y="137942"/>
                </a:lnTo>
                <a:lnTo>
                  <a:pt x="217821" y="137942"/>
                </a:lnTo>
                <a:lnTo>
                  <a:pt x="0" y="0"/>
                </a:lnTo>
                <a:close/>
              </a:path>
              <a:path w="1906270" h="787400">
                <a:moveTo>
                  <a:pt x="1776108" y="8117"/>
                </a:moveTo>
                <a:lnTo>
                  <a:pt x="499179" y="8117"/>
                </a:lnTo>
                <a:lnTo>
                  <a:pt x="340899" y="8291"/>
                </a:lnTo>
                <a:lnTo>
                  <a:pt x="299154" y="17485"/>
                </a:lnTo>
                <a:lnTo>
                  <a:pt x="263671" y="38941"/>
                </a:lnTo>
                <a:lnTo>
                  <a:pt x="236837" y="70270"/>
                </a:lnTo>
                <a:lnTo>
                  <a:pt x="221040" y="109085"/>
                </a:lnTo>
                <a:lnTo>
                  <a:pt x="217821" y="137942"/>
                </a:lnTo>
                <a:lnTo>
                  <a:pt x="1905969" y="137942"/>
                </a:lnTo>
                <a:lnTo>
                  <a:pt x="1896598" y="89428"/>
                </a:lnTo>
                <a:lnTo>
                  <a:pt x="1875137" y="53954"/>
                </a:lnTo>
                <a:lnTo>
                  <a:pt x="1843799" y="27128"/>
                </a:lnTo>
                <a:lnTo>
                  <a:pt x="1804973" y="11336"/>
                </a:lnTo>
                <a:lnTo>
                  <a:pt x="1776108" y="81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65374" y="3633960"/>
            <a:ext cx="1906270" cy="787400"/>
          </a:xfrm>
          <a:custGeom>
            <a:avLst/>
            <a:gdLst/>
            <a:ahLst/>
            <a:cxnLst/>
            <a:rect l="l" t="t" r="r" b="b"/>
            <a:pathLst>
              <a:path w="1906270" h="787400">
                <a:moveTo>
                  <a:pt x="217821" y="137942"/>
                </a:moveTo>
                <a:lnTo>
                  <a:pt x="224932" y="95462"/>
                </a:lnTo>
                <a:lnTo>
                  <a:pt x="244673" y="58877"/>
                </a:lnTo>
                <a:lnTo>
                  <a:pt x="274655" y="30574"/>
                </a:lnTo>
                <a:lnTo>
                  <a:pt x="312491" y="12940"/>
                </a:lnTo>
                <a:lnTo>
                  <a:pt x="499179" y="8117"/>
                </a:lnTo>
                <a:lnTo>
                  <a:pt x="921216" y="8117"/>
                </a:lnTo>
                <a:lnTo>
                  <a:pt x="1776109" y="8117"/>
                </a:lnTo>
                <a:lnTo>
                  <a:pt x="1790780" y="8936"/>
                </a:lnTo>
                <a:lnTo>
                  <a:pt x="1831571" y="20519"/>
                </a:lnTo>
                <a:lnTo>
                  <a:pt x="1865670" y="43933"/>
                </a:lnTo>
                <a:lnTo>
                  <a:pt x="1890689" y="76790"/>
                </a:lnTo>
                <a:lnTo>
                  <a:pt x="1904239" y="116702"/>
                </a:lnTo>
                <a:lnTo>
                  <a:pt x="1905969" y="137938"/>
                </a:lnTo>
                <a:lnTo>
                  <a:pt x="1905969" y="332673"/>
                </a:lnTo>
                <a:lnTo>
                  <a:pt x="1905969" y="657225"/>
                </a:lnTo>
                <a:lnTo>
                  <a:pt x="1905149" y="671892"/>
                </a:lnTo>
                <a:lnTo>
                  <a:pt x="1893563" y="712672"/>
                </a:lnTo>
                <a:lnTo>
                  <a:pt x="1870143" y="746762"/>
                </a:lnTo>
                <a:lnTo>
                  <a:pt x="1837277" y="771775"/>
                </a:lnTo>
                <a:lnTo>
                  <a:pt x="1797355" y="785321"/>
                </a:lnTo>
                <a:lnTo>
                  <a:pt x="921216" y="787050"/>
                </a:lnTo>
                <a:lnTo>
                  <a:pt x="499179" y="787050"/>
                </a:lnTo>
                <a:lnTo>
                  <a:pt x="347681" y="787050"/>
                </a:lnTo>
                <a:lnTo>
                  <a:pt x="333010" y="786231"/>
                </a:lnTo>
                <a:lnTo>
                  <a:pt x="292219" y="774648"/>
                </a:lnTo>
                <a:lnTo>
                  <a:pt x="258120" y="751234"/>
                </a:lnTo>
                <a:lnTo>
                  <a:pt x="233101" y="718377"/>
                </a:lnTo>
                <a:lnTo>
                  <a:pt x="219551" y="678466"/>
                </a:lnTo>
                <a:lnTo>
                  <a:pt x="217821" y="332673"/>
                </a:lnTo>
                <a:lnTo>
                  <a:pt x="0" y="0"/>
                </a:lnTo>
                <a:lnTo>
                  <a:pt x="217821" y="137938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288349" y="3740168"/>
            <a:ext cx="107632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线程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O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07788" y="4059289"/>
            <a:ext cx="143700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Sc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du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30396" y="1900296"/>
            <a:ext cx="160968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833945" y="1720591"/>
            <a:ext cx="3446779" cy="2482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0">
              <a:lnSpc>
                <a:spcPct val="143000"/>
              </a:lnSpc>
            </a:pP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ex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ex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9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43000"/>
              </a:lnSpc>
              <a:spcBef>
                <a:spcPts val="28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内核级线程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-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ex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ex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-100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45" dirty="0">
                <a:latin typeface="Arial" panose="020B0604020202020204"/>
                <a:cs typeface="Arial" panose="020B0604020202020204"/>
              </a:rPr>
              <a:t>…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Th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ea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是系统调用；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Y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用户不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见，调度点由系统决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定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30396" y="2809052"/>
            <a:ext cx="160968" cy="16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140723" y="1200254"/>
            <a:ext cx="7035800" cy="415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80"/>
              </a:lnSpc>
            </a:pPr>
            <a:r>
              <a:rPr sz="3050" b="1" i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核心级线程和用户级线程区别，哪个快？</a:t>
            </a:r>
            <a:endParaRPr sz="30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IMING" val="|0|0|0|0"/>
</p:tagLst>
</file>

<file path=ppt/tags/tag3.xml><?xml version="1.0" encoding="utf-8"?>
<p:tagLst xmlns:p="http://schemas.openxmlformats.org/presentationml/2006/main">
  <p:tag name="TIMING" val="|0.1|0|0|0|0|0|0"/>
</p:tagLst>
</file>

<file path=ppt/tags/tag4.xml><?xml version="1.0" encoding="utf-8"?>
<p:tagLst xmlns:p="http://schemas.openxmlformats.org/presentationml/2006/main">
  <p:tag name="TIMING" val="|0|0.1|0|0|0|0|0|0|0.2|0|0"/>
</p:tagLst>
</file>

<file path=ppt/tags/tag5.xml><?xml version="1.0" encoding="utf-8"?>
<p:tagLst xmlns:p="http://schemas.openxmlformats.org/presentationml/2006/main">
  <p:tag name="TIMING" val="|0.1|0"/>
</p:tagLst>
</file>

<file path=ppt/tags/tag6.xml><?xml version="1.0" encoding="utf-8"?>
<p:tagLst xmlns:p="http://schemas.openxmlformats.org/presentationml/2006/main">
  <p:tag name="TIMING" val="|0|0.2|0|0|0|0|0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IMING" val="|0.7|39.2|6.9|0.5|0.7|0.5|0.5|0.6|0.6|10.1|1.9|5|0.4|0.4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TIMING" val="|0.3|0|0"/>
</p:tagLst>
</file>

<file path=ppt/tags/tag12.xml><?xml version="1.0" encoding="utf-8"?>
<p:tagLst xmlns:p="http://schemas.openxmlformats.org/presentationml/2006/main">
  <p:tag name="TIMING" val="|0|0.2|0|0|0.3"/>
</p:tagLst>
</file>

<file path=ppt/tags/tag13.xml><?xml version="1.0" encoding="utf-8"?>
<p:tagLst xmlns:p="http://schemas.openxmlformats.org/presentationml/2006/main">
  <p:tag name="TIMING" val="|0|0.2|0|0|0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UNIT_TABLE_BEAUTIFY" val="smartTable{546d97f3-757e-4e4d-ae09-201fae3b917f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PP_MARK_KEY" val="1cd03552-524d-443f-9c06-5b9dd86ebe01"/>
  <p:tag name="COMMONDATA" val="eyJoZGlkIjoiYWNhNTcxMTM1NDk1YWM4ODVlM2VmZjA2NGExNzU1Yj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S-Lizhiju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7735</Words>
  <Application>WPS 演示</Application>
  <PresentationFormat>On-screen Show (4:3)</PresentationFormat>
  <Paragraphs>1431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Arial</vt:lpstr>
      <vt:lpstr>华文琥珀</vt:lpstr>
      <vt:lpstr>Arial Black</vt:lpstr>
      <vt:lpstr>黑体</vt:lpstr>
      <vt:lpstr>华文隶书</vt:lpstr>
      <vt:lpstr>Tahoma</vt:lpstr>
      <vt:lpstr>Symbol</vt:lpstr>
      <vt:lpstr>Calibri</vt:lpstr>
      <vt:lpstr>微软雅黑</vt:lpstr>
      <vt:lpstr>Arial Unicode MS</vt:lpstr>
      <vt:lpstr>Courier New</vt:lpstr>
      <vt:lpstr>Century Gothic</vt:lpstr>
      <vt:lpstr>Times New Roman</vt:lpstr>
      <vt:lpstr>MS Mincho</vt:lpstr>
      <vt:lpstr>Yu Gothic</vt:lpstr>
      <vt:lpstr>Webdings</vt:lpstr>
      <vt:lpstr>Tahoma</vt:lpstr>
      <vt:lpstr>Symbol</vt:lpstr>
      <vt:lpstr>Century Gothic</vt:lpstr>
      <vt:lpstr>Courier New</vt:lpstr>
      <vt:lpstr>Comic Sans MS</vt:lpstr>
      <vt:lpstr>Arial Black</vt:lpstr>
      <vt:lpstr>Office Theme</vt:lpstr>
      <vt:lpstr>1_OS-Lizhijun</vt:lpstr>
      <vt:lpstr>MS_ClipArt_Gallery.2</vt:lpstr>
      <vt:lpstr>MS_ClipArt_Gallery.2</vt:lpstr>
      <vt:lpstr>MS_ClipArt_Gallery.2</vt:lpstr>
      <vt:lpstr>PowerPoint 演示文稿</vt:lpstr>
      <vt:lpstr>管理CPU，先要了解CPU</vt:lpstr>
      <vt:lpstr>管理CPU的最直观方法</vt:lpstr>
      <vt:lpstr>看看这样做有没有问题?  提出问题</vt:lpstr>
      <vt:lpstr>怎么解决?</vt:lpstr>
      <vt:lpstr>单道程序  与  多道程序</vt:lpstr>
      <vt:lpstr>一个CPU如何执行多道程序</vt:lpstr>
      <vt:lpstr>修改寄存器PC就行了吗?</vt:lpstr>
      <vt:lpstr>引入“进程”概念</vt:lpstr>
      <vt:lpstr>PowerPoint 演示文稿</vt:lpstr>
      <vt:lpstr>多个进程使用CPU的图像</vt:lpstr>
      <vt:lpstr>多进程图像从启动开始到关机结束</vt:lpstr>
      <vt:lpstr>第一件事：OS怎么组织多个进程</vt:lpstr>
      <vt:lpstr>进程状态及状态转换</vt:lpstr>
      <vt:lpstr>第二件事：进程如何交替执行?</vt:lpstr>
      <vt:lpstr>getNext</vt:lpstr>
      <vt:lpstr>switch_to(pCur,pNew)</vt:lpstr>
      <vt:lpstr>第三件事：多进程并存会相互影响</vt:lpstr>
      <vt:lpstr>100不是实际的内存地址</vt:lpstr>
      <vt:lpstr>地址空间：保护进程的基本机制</vt:lpstr>
      <vt:lpstr>第四件事：多个进程合作一项任务</vt:lpstr>
      <vt:lpstr>生产者消费者</vt:lpstr>
      <vt:lpstr>生产者-消费者引出的问题</vt:lpstr>
      <vt:lpstr>解决该问题的一个尝试</vt:lpstr>
      <vt:lpstr>进程总结</vt:lpstr>
      <vt:lpstr>一点题外话</vt:lpstr>
      <vt:lpstr>PowerPoint 演示文稿</vt:lpstr>
      <vt:lpstr>PowerPoint 演示文稿</vt:lpstr>
      <vt:lpstr>进程回顾</vt:lpstr>
      <vt:lpstr>进程回顾</vt:lpstr>
      <vt:lpstr>PowerPoint 演示文稿</vt:lpstr>
      <vt:lpstr>多个执行序列+一个地址空间是否实用?</vt:lpstr>
      <vt:lpstr>开始实现这个浏览器…</vt:lpstr>
      <vt:lpstr>Create? Yield?</vt:lpstr>
      <vt:lpstr>两个执行序列与一个栈…</vt:lpstr>
      <vt:lpstr>从一个栈到两个栈…</vt:lpstr>
      <vt:lpstr>两个线程的样子：两个TCB、两个栈、切换的PC在栈中</vt:lpstr>
      <vt:lpstr>将所有的东西组合在一起……</vt:lpstr>
      <vt:lpstr>为什么说是用户级线程——Yield是用户程序</vt:lpstr>
      <vt:lpstr>这就是用户级线程</vt:lpstr>
      <vt:lpstr>核心级线程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旁白</cp:lastModifiedBy>
  <cp:revision>46</cp:revision>
  <dcterms:created xsi:type="dcterms:W3CDTF">2023-09-04T13:26:00Z</dcterms:created>
  <dcterms:modified xsi:type="dcterms:W3CDTF">2025-09-14T16:07:09Z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9406EF873D0A4C749D953FF0F17CD895_12</vt:lpwstr>
  </property>
  <property fmtid="{D5CDD505-2E9C-101B-9397-08002B2CF9AE}" pid="3" name="KSOProductBuildVer">
    <vt:lpwstr>2052-12.1.0.16120</vt:lpwstr>
  </property>
</Properties>
</file>