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6" r:id="rId4"/>
    <p:sldMasterId id="2147483682" r:id="rId5"/>
  </p:sldMasterIdLst>
  <p:notesMasterIdLst>
    <p:notesMasterId r:id="rId13"/>
  </p:notesMasterIdLst>
  <p:handoutMasterIdLst>
    <p:handoutMasterId r:id="rId66"/>
  </p:handoutMasterIdLst>
  <p:sldIdLst>
    <p:sldId id="451" r:id="rId6"/>
    <p:sldId id="452" r:id="rId7"/>
    <p:sldId id="453" r:id="rId8"/>
    <p:sldId id="454" r:id="rId9"/>
    <p:sldId id="455" r:id="rId10"/>
    <p:sldId id="456" r:id="rId11"/>
    <p:sldId id="457" r:id="rId12"/>
    <p:sldId id="458" r:id="rId14"/>
    <p:sldId id="459" r:id="rId15"/>
    <p:sldId id="460" r:id="rId16"/>
    <p:sldId id="256" r:id="rId17"/>
    <p:sldId id="405" r:id="rId18"/>
    <p:sldId id="397" r:id="rId19"/>
    <p:sldId id="404" r:id="rId20"/>
    <p:sldId id="402" r:id="rId21"/>
    <p:sldId id="401" r:id="rId22"/>
    <p:sldId id="398" r:id="rId23"/>
    <p:sldId id="399" r:id="rId24"/>
    <p:sldId id="408" r:id="rId25"/>
    <p:sldId id="414" r:id="rId26"/>
    <p:sldId id="415" r:id="rId27"/>
    <p:sldId id="409" r:id="rId28"/>
    <p:sldId id="412" r:id="rId29"/>
    <p:sldId id="413" r:id="rId30"/>
    <p:sldId id="416" r:id="rId31"/>
    <p:sldId id="417" r:id="rId32"/>
    <p:sldId id="418" r:id="rId33"/>
    <p:sldId id="419" r:id="rId34"/>
    <p:sldId id="420" r:id="rId35"/>
    <p:sldId id="421" r:id="rId36"/>
    <p:sldId id="422" r:id="rId37"/>
    <p:sldId id="423" r:id="rId38"/>
    <p:sldId id="424" r:id="rId39"/>
    <p:sldId id="425" r:id="rId40"/>
    <p:sldId id="426" r:id="rId41"/>
    <p:sldId id="427" r:id="rId42"/>
    <p:sldId id="428" r:id="rId43"/>
    <p:sldId id="429" r:id="rId44"/>
    <p:sldId id="430" r:id="rId45"/>
    <p:sldId id="431" r:id="rId46"/>
    <p:sldId id="432" r:id="rId47"/>
    <p:sldId id="433" r:id="rId48"/>
    <p:sldId id="434" r:id="rId49"/>
    <p:sldId id="435" r:id="rId50"/>
    <p:sldId id="436" r:id="rId51"/>
    <p:sldId id="437" r:id="rId52"/>
    <p:sldId id="438" r:id="rId53"/>
    <p:sldId id="439" r:id="rId54"/>
    <p:sldId id="440" r:id="rId55"/>
    <p:sldId id="441" r:id="rId56"/>
    <p:sldId id="442" r:id="rId57"/>
    <p:sldId id="443" r:id="rId58"/>
    <p:sldId id="444" r:id="rId59"/>
    <p:sldId id="445" r:id="rId60"/>
    <p:sldId id="446" r:id="rId61"/>
    <p:sldId id="447" r:id="rId62"/>
    <p:sldId id="448" r:id="rId63"/>
    <p:sldId id="449" r:id="rId64"/>
    <p:sldId id="450" r:id="rId65"/>
  </p:sldIdLst>
  <p:sldSz cx="9144000" cy="6858000" type="screen4x3"/>
  <p:notesSz cx="6858000" cy="9144000"/>
  <p:custDataLst>
    <p:tags r:id="rId71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285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epone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00"/>
    <a:srgbClr val="8F6D58"/>
    <a:srgbClr val="FFFF66"/>
    <a:srgbClr val="E3DBD3"/>
    <a:srgbClr val="E6E3D0"/>
    <a:srgbClr val="E1DEC5"/>
    <a:srgbClr val="906D58"/>
    <a:srgbClr val="EDE7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3"/>
    <p:restoredTop sz="75088"/>
  </p:normalViewPr>
  <p:slideViewPr>
    <p:cSldViewPr showGuides="1">
      <p:cViewPr varScale="1">
        <p:scale>
          <a:sx n="59" d="100"/>
          <a:sy n="59" d="100"/>
        </p:scale>
        <p:origin x="-72" y="-918"/>
      </p:cViewPr>
      <p:guideLst>
        <p:guide orient="horz" pos="2168"/>
        <p:guide pos="285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 showFormatting="0">
    <p:cViewPr>
      <p:scale>
        <a:sx n="66" d="100"/>
        <a:sy n="66" d="100"/>
      </p:scale>
      <p:origin x="0" y="-2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1" Type="http://schemas.openxmlformats.org/officeDocument/2006/relationships/tags" Target="tags/tag3.xml"/><Relationship Id="rId70" Type="http://schemas.openxmlformats.org/officeDocument/2006/relationships/commentAuthors" Target="commentAuthors.xml"/><Relationship Id="rId7" Type="http://schemas.openxmlformats.org/officeDocument/2006/relationships/slide" Target="slides/slide2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handoutMaster" Target="handoutMasters/handoutMaster1.xml"/><Relationship Id="rId65" Type="http://schemas.openxmlformats.org/officeDocument/2006/relationships/slide" Target="slides/slide59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460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]]]</a:t>
            </a:r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/>
        </p:nvSpPr>
        <p:spPr>
          <a:xfrm>
            <a:off x="3962400" y="8818563"/>
            <a:ext cx="3028950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2985" tIns="46493" rIns="92985" bIns="46493" anchor="b" anchorCtr="0"/>
          <a:p>
            <a:pPr lvl="0" algn="r" defTabSz="930275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CPU</a:t>
            </a:r>
            <a:r>
              <a:rPr lang="zh-CN" altLang="en-US" dirty="0"/>
              <a:t>调度程序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/>
        </p:nvSpPr>
        <p:spPr>
          <a:xfrm>
            <a:off x="3962400" y="8818563"/>
            <a:ext cx="3028950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2985" tIns="46493" rIns="92985" bIns="46493" anchor="b" anchorCtr="0"/>
          <a:p>
            <a:pPr lvl="0" algn="r" defTabSz="930275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衡量调度的标准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/>
        </p:nvSpPr>
        <p:spPr>
          <a:xfrm>
            <a:off x="3962400" y="8818563"/>
            <a:ext cx="3028950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2985" tIns="46493" rIns="92985" bIns="46493" anchor="b" anchorCtr="0"/>
          <a:p>
            <a:pPr lvl="0" algn="r" defTabSz="930275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最优化原则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499DF6B-63EA-41FA-8FF2-22BBECF19E3D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sz="2800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fld id="{F9D3A019-808B-4425-8087-AC1B097965F3}" type="slidenum">
              <a:rPr lang="zh-CN" altLang="en-US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先来先服务调度（续）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fld id="{984FEB02-468A-4D05-AD78-6CB9CE4DB389}" type="slidenum">
              <a:rPr lang="zh-CN" altLang="en-US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最短作业优先调度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fld id="{FCCD710D-CAAD-4574-A69B-D27A61F2CC57}" type="slidenum">
              <a:rPr lang="zh-CN" altLang="en-US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下一个</a:t>
            </a:r>
            <a:r>
              <a:rPr lang="en-US" altLang="zh-CN" smtClean="0"/>
              <a:t>CPU</a:t>
            </a:r>
            <a:r>
              <a:rPr lang="zh-CN" altLang="en-US" smtClean="0"/>
              <a:t>脉冲长度的确定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499DF6B-63EA-41FA-8FF2-22BBECF19E3D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sz="2800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fld id="{06C6551C-77D2-4455-A816-DBEB548ED220}" type="slidenum">
              <a:rPr lang="zh-CN" altLang="en-US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优先级调度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fld id="{B3E2B7B0-F2A2-4B49-9CA1-ED59E507F6D4}" type="slidenum">
              <a:rPr lang="zh-CN" altLang="en-US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时间片轮转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1432" tIns="45717" rIns="91432" bIns="45717" anchor="b" anchorCtr="0"/>
          <a:p>
            <a:pPr lvl="0" algn="r" defTabSz="930275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多级队列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1432" tIns="45717" rIns="91432" bIns="45717" anchor="b" anchorCtr="0"/>
          <a:p>
            <a:pPr lvl="0" algn="r" defTabSz="930275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多级反馈队列调度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1432" tIns="45717" rIns="91432" bIns="45717" anchor="b" anchorCtr="0"/>
          <a:p>
            <a:pPr lvl="0" algn="r" defTabSz="930275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多级反馈队列实例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1432" tIns="45717" rIns="91432" bIns="45717" anchor="b" anchorCtr="0"/>
          <a:p>
            <a:pPr lvl="0" algn="r" defTabSz="930275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多处理器调度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373188" y="1066800"/>
            <a:ext cx="7237412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8243" name="Rectangle 3"/>
          <p:cNvSpPr>
            <a:spLocks noGrp="1" noRot="1" noChangeArrowheads="1"/>
          </p:cNvSpPr>
          <p:nvPr>
            <p:ph type="subTitle" idx="1"/>
          </p:nvPr>
        </p:nvSpPr>
        <p:spPr bwMode="auto">
          <a:xfrm>
            <a:off x="2173288" y="3494088"/>
            <a:ext cx="5535612" cy="2284412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8975"/>
            <a:ext cx="2057400" cy="54371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8975"/>
            <a:ext cx="6019800" cy="54371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688975"/>
            <a:ext cx="8229600" cy="5437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7013" y="688975"/>
            <a:ext cx="6642100" cy="5873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373188" y="1066800"/>
            <a:ext cx="7237412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38243" name="Rectangle 3"/>
          <p:cNvSpPr>
            <a:spLocks noGrp="1" noRot="1" noChangeArrowheads="1"/>
          </p:cNvSpPr>
          <p:nvPr>
            <p:ph type="subTitle" idx="1"/>
          </p:nvPr>
        </p:nvSpPr>
        <p:spPr bwMode="auto">
          <a:xfrm>
            <a:off x="2173288" y="3494088"/>
            <a:ext cx="5535612" cy="2284412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1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fld id="{17BA0C6C-650F-4306-ABAA-71FF8DEC51DB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1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fld id="{17BA0C6C-650F-4306-ABAA-71FF8DEC51DB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1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fld id="{17BA0C6C-650F-4306-ABAA-71FF8DEC51DB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1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fld id="{17BA0C6C-650F-4306-ABAA-71FF8DEC51DB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1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fld id="{17BA0C6C-650F-4306-ABAA-71FF8DEC51DB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1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fld id="{17BA0C6C-650F-4306-ABAA-71FF8DEC51DB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8975"/>
            <a:ext cx="2057400" cy="54371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8975"/>
            <a:ext cx="6019800" cy="54371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1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fld id="{17BA0C6C-650F-4306-ABAA-71FF8DEC51DB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688975"/>
            <a:ext cx="8229600" cy="5437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1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fld id="{17BA0C6C-650F-4306-ABAA-71FF8DEC51DB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7013" y="688977"/>
            <a:ext cx="6642100" cy="5873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1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fld id="{17BA0C6C-650F-4306-ABAA-71FF8DEC51DB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5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5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25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65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5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5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283812" y="4954920"/>
            <a:ext cx="729869" cy="1119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40"/>
          </a:p>
        </p:txBody>
      </p:sp>
      <p:sp>
        <p:nvSpPr>
          <p:cNvPr id="17" name="bk object 17"/>
          <p:cNvSpPr/>
          <p:nvPr/>
        </p:nvSpPr>
        <p:spPr>
          <a:xfrm>
            <a:off x="130318" y="1596999"/>
            <a:ext cx="7796292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>
            <a:endParaRPr sz="154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25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5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5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283812" y="4954920"/>
            <a:ext cx="729869" cy="1119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40"/>
          </a:p>
        </p:txBody>
      </p:sp>
      <p:sp>
        <p:nvSpPr>
          <p:cNvPr id="17" name="bk object 17"/>
          <p:cNvSpPr/>
          <p:nvPr/>
        </p:nvSpPr>
        <p:spPr>
          <a:xfrm>
            <a:off x="130318" y="1596999"/>
            <a:ext cx="7796292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>
            <a:endParaRPr sz="154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25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5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5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5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5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381000" y="609600"/>
            <a:ext cx="5354638" cy="438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6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华文隶书" panose="02010800040101010101" charset="-122"/>
                <a:cs typeface="+mn-cs"/>
              </a:rPr>
              <a:t>东北林业大学信息与计算工程学院</a:t>
            </a:r>
            <a:endParaRPr kumimoji="0" lang="zh-CN" altLang="en-US" sz="2260" b="1" i="0" u="none" strike="noStrike" kern="1200" cap="none" spc="0" normalizeH="0" baseline="0" noProof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华文隶书" panose="02010800040101010101" charset="-122"/>
              <a:cs typeface="+mn-cs"/>
            </a:endParaRPr>
          </a:p>
        </p:txBody>
      </p:sp>
      <p:sp>
        <p:nvSpPr>
          <p:cNvPr id="2051" name="Line 13"/>
          <p:cNvSpPr/>
          <p:nvPr userDrawn="1"/>
        </p:nvSpPr>
        <p:spPr>
          <a:xfrm flipV="1">
            <a:off x="228600" y="1066800"/>
            <a:ext cx="228600" cy="304800"/>
          </a:xfrm>
          <a:prstGeom prst="line">
            <a:avLst/>
          </a:prstGeom>
          <a:ln w="76200" cap="flat" cmpd="tri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2" name="Line 14"/>
          <p:cNvSpPr/>
          <p:nvPr userDrawn="1"/>
        </p:nvSpPr>
        <p:spPr>
          <a:xfrm>
            <a:off x="457200" y="1066800"/>
            <a:ext cx="8382000" cy="0"/>
          </a:xfrm>
          <a:prstGeom prst="line">
            <a:avLst/>
          </a:prstGeom>
          <a:ln w="76200" cap="flat" cmpd="tri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7772400" cy="14700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509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029200" y="5257800"/>
            <a:ext cx="3581400" cy="671513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rgbClr val="993300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320" b="0">
                <a:solidFill>
                  <a:srgbClr val="0099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冯诚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320" b="0">
                <a:solidFill>
                  <a:srgbClr val="0099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3765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885"/>
            </a:lvl1pPr>
            <a:lvl2pPr marL="430530" indent="0">
              <a:buNone/>
              <a:defRPr sz="1695"/>
            </a:lvl2pPr>
            <a:lvl3pPr marL="861695" indent="0">
              <a:buNone/>
              <a:defRPr sz="1510"/>
            </a:lvl3pPr>
            <a:lvl4pPr marL="1292225" indent="0">
              <a:buNone/>
              <a:defRPr sz="1320"/>
            </a:lvl4pPr>
            <a:lvl5pPr marL="1722755" indent="0">
              <a:buNone/>
              <a:defRPr sz="1320"/>
            </a:lvl5pPr>
            <a:lvl6pPr marL="2153920" indent="0">
              <a:buNone/>
              <a:defRPr sz="1320"/>
            </a:lvl6pPr>
            <a:lvl7pPr marL="2584450" indent="0">
              <a:buNone/>
              <a:defRPr sz="1320"/>
            </a:lvl7pPr>
            <a:lvl8pPr marL="3014980" indent="0">
              <a:buNone/>
              <a:defRPr sz="1320"/>
            </a:lvl8pPr>
            <a:lvl9pPr marL="3446145" indent="0">
              <a:buNone/>
              <a:defRPr sz="13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2775" y="1268413"/>
            <a:ext cx="3884613" cy="4525962"/>
          </a:xfrm>
        </p:spPr>
        <p:txBody>
          <a:bodyPr/>
          <a:lstStyle>
            <a:lvl1pPr>
              <a:defRPr sz="2640"/>
            </a:lvl1pPr>
            <a:lvl2pPr>
              <a:defRPr sz="2260"/>
            </a:lvl2pPr>
            <a:lvl3pPr>
              <a:defRPr sz="1885"/>
            </a:lvl3pPr>
            <a:lvl4pPr>
              <a:defRPr sz="1695"/>
            </a:lvl4pPr>
            <a:lvl5pPr>
              <a:defRPr sz="1695"/>
            </a:lvl5pPr>
            <a:lvl6pPr>
              <a:defRPr sz="1695"/>
            </a:lvl6pPr>
            <a:lvl7pPr>
              <a:defRPr sz="1695"/>
            </a:lvl7pPr>
            <a:lvl8pPr>
              <a:defRPr sz="1695"/>
            </a:lvl8pPr>
            <a:lvl9pPr>
              <a:defRPr sz="16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88" y="1268413"/>
            <a:ext cx="3884612" cy="4525962"/>
          </a:xfrm>
        </p:spPr>
        <p:txBody>
          <a:bodyPr/>
          <a:lstStyle>
            <a:lvl1pPr>
              <a:defRPr sz="2640"/>
            </a:lvl1pPr>
            <a:lvl2pPr>
              <a:defRPr sz="2260"/>
            </a:lvl2pPr>
            <a:lvl3pPr>
              <a:defRPr sz="1885"/>
            </a:lvl3pPr>
            <a:lvl4pPr>
              <a:defRPr sz="1695"/>
            </a:lvl4pPr>
            <a:lvl5pPr>
              <a:defRPr sz="1695"/>
            </a:lvl5pPr>
            <a:lvl6pPr>
              <a:defRPr sz="1695"/>
            </a:lvl6pPr>
            <a:lvl7pPr>
              <a:defRPr sz="1695"/>
            </a:lvl7pPr>
            <a:lvl8pPr>
              <a:defRPr sz="1695"/>
            </a:lvl8pPr>
            <a:lvl9pPr>
              <a:defRPr sz="16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260" b="1"/>
            </a:lvl1pPr>
            <a:lvl2pPr marL="430530" indent="0">
              <a:buNone/>
              <a:defRPr sz="1885" b="1"/>
            </a:lvl2pPr>
            <a:lvl3pPr marL="861695" indent="0">
              <a:buNone/>
              <a:defRPr sz="1695" b="1"/>
            </a:lvl3pPr>
            <a:lvl4pPr marL="1292225" indent="0">
              <a:buNone/>
              <a:defRPr sz="1510" b="1"/>
            </a:lvl4pPr>
            <a:lvl5pPr marL="1722755" indent="0">
              <a:buNone/>
              <a:defRPr sz="1510" b="1"/>
            </a:lvl5pPr>
            <a:lvl6pPr marL="2153920" indent="0">
              <a:buNone/>
              <a:defRPr sz="1510" b="1"/>
            </a:lvl6pPr>
            <a:lvl7pPr marL="2584450" indent="0">
              <a:buNone/>
              <a:defRPr sz="1510" b="1"/>
            </a:lvl7pPr>
            <a:lvl8pPr marL="3014980" indent="0">
              <a:buNone/>
              <a:defRPr sz="1510" b="1"/>
            </a:lvl8pPr>
            <a:lvl9pPr marL="3446145" indent="0">
              <a:buNone/>
              <a:defRPr sz="15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260"/>
            </a:lvl1pPr>
            <a:lvl2pPr>
              <a:defRPr sz="1885"/>
            </a:lvl2pPr>
            <a:lvl3pPr>
              <a:defRPr sz="1695"/>
            </a:lvl3pPr>
            <a:lvl4pPr>
              <a:defRPr sz="1510"/>
            </a:lvl4pPr>
            <a:lvl5pPr>
              <a:defRPr sz="1510"/>
            </a:lvl5pPr>
            <a:lvl6pPr>
              <a:defRPr sz="1510"/>
            </a:lvl6pPr>
            <a:lvl7pPr>
              <a:defRPr sz="1510"/>
            </a:lvl7pPr>
            <a:lvl8pPr>
              <a:defRPr sz="1510"/>
            </a:lvl8pPr>
            <a:lvl9pPr>
              <a:defRPr sz="1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260" b="1"/>
            </a:lvl1pPr>
            <a:lvl2pPr marL="430530" indent="0">
              <a:buNone/>
              <a:defRPr sz="1885" b="1"/>
            </a:lvl2pPr>
            <a:lvl3pPr marL="861695" indent="0">
              <a:buNone/>
              <a:defRPr sz="1695" b="1"/>
            </a:lvl3pPr>
            <a:lvl4pPr marL="1292225" indent="0">
              <a:buNone/>
              <a:defRPr sz="1510" b="1"/>
            </a:lvl4pPr>
            <a:lvl5pPr marL="1722755" indent="0">
              <a:buNone/>
              <a:defRPr sz="1510" b="1"/>
            </a:lvl5pPr>
            <a:lvl6pPr marL="2153920" indent="0">
              <a:buNone/>
              <a:defRPr sz="1510" b="1"/>
            </a:lvl6pPr>
            <a:lvl7pPr marL="2584450" indent="0">
              <a:buNone/>
              <a:defRPr sz="1510" b="1"/>
            </a:lvl7pPr>
            <a:lvl8pPr marL="3014980" indent="0">
              <a:buNone/>
              <a:defRPr sz="1510" b="1"/>
            </a:lvl8pPr>
            <a:lvl9pPr marL="3446145" indent="0">
              <a:buNone/>
              <a:defRPr sz="15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260"/>
            </a:lvl1pPr>
            <a:lvl2pPr>
              <a:defRPr sz="1885"/>
            </a:lvl2pPr>
            <a:lvl3pPr>
              <a:defRPr sz="1695"/>
            </a:lvl3pPr>
            <a:lvl4pPr>
              <a:defRPr sz="1510"/>
            </a:lvl4pPr>
            <a:lvl5pPr>
              <a:defRPr sz="1510"/>
            </a:lvl5pPr>
            <a:lvl6pPr>
              <a:defRPr sz="1510"/>
            </a:lvl6pPr>
            <a:lvl7pPr>
              <a:defRPr sz="1510"/>
            </a:lvl7pPr>
            <a:lvl8pPr>
              <a:defRPr sz="1510"/>
            </a:lvl8pPr>
            <a:lvl9pPr>
              <a:defRPr sz="1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1885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015"/>
            </a:lvl1pPr>
            <a:lvl2pPr>
              <a:defRPr sz="2640"/>
            </a:lvl2pPr>
            <a:lvl3pPr>
              <a:defRPr sz="2260"/>
            </a:lvl3pPr>
            <a:lvl4pPr>
              <a:defRPr sz="1885"/>
            </a:lvl4pPr>
            <a:lvl5pPr>
              <a:defRPr sz="1885"/>
            </a:lvl5pPr>
            <a:lvl6pPr>
              <a:defRPr sz="1885"/>
            </a:lvl6pPr>
            <a:lvl7pPr>
              <a:defRPr sz="1885"/>
            </a:lvl7pPr>
            <a:lvl8pPr>
              <a:defRPr sz="1885"/>
            </a:lvl8pPr>
            <a:lvl9pPr>
              <a:defRPr sz="18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320"/>
            </a:lvl1pPr>
            <a:lvl2pPr marL="430530" indent="0">
              <a:buNone/>
              <a:defRPr sz="1130"/>
            </a:lvl2pPr>
            <a:lvl3pPr marL="861695" indent="0">
              <a:buNone/>
              <a:defRPr sz="940"/>
            </a:lvl3pPr>
            <a:lvl4pPr marL="1292225" indent="0">
              <a:buNone/>
              <a:defRPr sz="845"/>
            </a:lvl4pPr>
            <a:lvl5pPr marL="1722755" indent="0">
              <a:buNone/>
              <a:defRPr sz="845"/>
            </a:lvl5pPr>
            <a:lvl6pPr marL="2153920" indent="0">
              <a:buNone/>
              <a:defRPr sz="845"/>
            </a:lvl6pPr>
            <a:lvl7pPr marL="2584450" indent="0">
              <a:buNone/>
              <a:defRPr sz="845"/>
            </a:lvl7pPr>
            <a:lvl8pPr marL="3014980" indent="0">
              <a:buNone/>
              <a:defRPr sz="845"/>
            </a:lvl8pPr>
            <a:lvl9pPr marL="3446145" indent="0">
              <a:buNone/>
              <a:defRPr sz="84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85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015"/>
            </a:lvl1pPr>
            <a:lvl2pPr marL="430530" indent="0">
              <a:buNone/>
              <a:defRPr sz="2640"/>
            </a:lvl2pPr>
            <a:lvl3pPr marL="861695" indent="0">
              <a:buNone/>
              <a:defRPr sz="2260"/>
            </a:lvl3pPr>
            <a:lvl4pPr marL="1292225" indent="0">
              <a:buNone/>
              <a:defRPr sz="1885"/>
            </a:lvl4pPr>
            <a:lvl5pPr marL="1722755" indent="0">
              <a:buNone/>
              <a:defRPr sz="1885"/>
            </a:lvl5pPr>
            <a:lvl6pPr marL="2153920" indent="0">
              <a:buNone/>
              <a:defRPr sz="1885"/>
            </a:lvl6pPr>
            <a:lvl7pPr marL="2584450" indent="0">
              <a:buNone/>
              <a:defRPr sz="1885"/>
            </a:lvl7pPr>
            <a:lvl8pPr marL="3014980" indent="0">
              <a:buNone/>
              <a:defRPr sz="1885"/>
            </a:lvl8pPr>
            <a:lvl9pPr marL="3446145" indent="0">
              <a:buNone/>
              <a:defRPr sz="1885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20"/>
            </a:lvl1pPr>
            <a:lvl2pPr marL="430530" indent="0">
              <a:buNone/>
              <a:defRPr sz="1130"/>
            </a:lvl2pPr>
            <a:lvl3pPr marL="861695" indent="0">
              <a:buNone/>
              <a:defRPr sz="940"/>
            </a:lvl3pPr>
            <a:lvl4pPr marL="1292225" indent="0">
              <a:buNone/>
              <a:defRPr sz="845"/>
            </a:lvl4pPr>
            <a:lvl5pPr marL="1722755" indent="0">
              <a:buNone/>
              <a:defRPr sz="845"/>
            </a:lvl5pPr>
            <a:lvl6pPr marL="2153920" indent="0">
              <a:buNone/>
              <a:defRPr sz="845"/>
            </a:lvl6pPr>
            <a:lvl7pPr marL="2584450" indent="0">
              <a:buNone/>
              <a:defRPr sz="845"/>
            </a:lvl7pPr>
            <a:lvl8pPr marL="3014980" indent="0">
              <a:buNone/>
              <a:defRPr sz="845"/>
            </a:lvl8pPr>
            <a:lvl9pPr marL="3446145" indent="0">
              <a:buNone/>
              <a:defRPr sz="84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304800"/>
            <a:ext cx="2038350" cy="5489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5962650" cy="5489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1497013" y="688975"/>
            <a:ext cx="6642100" cy="587375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ctr" anchorCtr="0"/>
          <a:p>
            <a:pPr lvl="0"/>
            <a:r>
              <a:rPr lang="zh-CN" altLang="en-US" dirty="0"/>
              <a:t>单击编辑母版标题样式</a:t>
            </a:r>
            <a:endParaRPr lang="zh-CN" altLang="en-US" dirty="0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8" name="Line 6"/>
          <p:cNvSpPr/>
          <p:nvPr/>
        </p:nvSpPr>
        <p:spPr>
          <a:xfrm>
            <a:off x="450850" y="1406525"/>
            <a:ext cx="8302625" cy="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497013" y="688977"/>
            <a:ext cx="66421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2" tIns="45711" rIns="91422" bIns="45711" numCol="1" anchor="ctr" anchorCtr="0" compatLnSpc="1"/>
          <a:lstStyle/>
          <a:p>
            <a:pPr lvl="0"/>
            <a:r>
              <a:rPr lang="zh-CN" altLang="en-US" smtClean="0"/>
              <a:t>单击编辑母版标题样式</a:t>
            </a:r>
            <a:endParaRPr lang="zh-CN" altLang="en-US" smtClean="0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6" y="6237288"/>
            <a:ext cx="229076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 eaLnBrk="1" hangingPunct="1">
              <a:defRPr sz="1050"/>
            </a:lvl1pPr>
          </a:lstStyle>
          <a:p>
            <a:fld id="{857D5358-B95D-4019-8F6F-8AFD61324542}" type="slidenum">
              <a:rPr lang="zh-CN" altLang="en-US" smtClean="0"/>
            </a:fld>
            <a:endParaRPr lang="zh-CN" altLang="en-US"/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450851" y="1406525"/>
            <a:ext cx="830262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557530" indent="-21463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100">
          <a:solidFill>
            <a:srgbClr val="000000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1800">
          <a:solidFill>
            <a:srgbClr val="000000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1500">
          <a:solidFill>
            <a:srgbClr val="000000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1500">
          <a:solidFill>
            <a:srgbClr val="000000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1500">
          <a:solidFill>
            <a:srgbClr val="000000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1500">
          <a:solidFill>
            <a:srgbClr val="000000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1500">
          <a:solidFill>
            <a:srgbClr val="000000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15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283812" y="4954920"/>
            <a:ext cx="729869" cy="11193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4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3689" y="1091042"/>
            <a:ext cx="8216622" cy="3907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25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8167" y="1864083"/>
            <a:ext cx="8327665" cy="20314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65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86083" y="5859549"/>
            <a:ext cx="1220648" cy="180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5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87582" y="5862489"/>
            <a:ext cx="368691" cy="180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5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91160">
        <a:defRPr>
          <a:latin typeface="+mn-lt"/>
          <a:ea typeface="+mn-ea"/>
          <a:cs typeface="+mn-cs"/>
        </a:defRPr>
      </a:lvl2pPr>
      <a:lvl3pPr marL="781685">
        <a:defRPr>
          <a:latin typeface="+mn-lt"/>
          <a:ea typeface="+mn-ea"/>
          <a:cs typeface="+mn-cs"/>
        </a:defRPr>
      </a:lvl3pPr>
      <a:lvl4pPr marL="1172845">
        <a:defRPr>
          <a:latin typeface="+mn-lt"/>
          <a:ea typeface="+mn-ea"/>
          <a:cs typeface="+mn-cs"/>
        </a:defRPr>
      </a:lvl4pPr>
      <a:lvl5pPr marL="1564005">
        <a:defRPr>
          <a:latin typeface="+mn-lt"/>
          <a:ea typeface="+mn-ea"/>
          <a:cs typeface="+mn-cs"/>
        </a:defRPr>
      </a:lvl5pPr>
      <a:lvl6pPr marL="1954530">
        <a:defRPr>
          <a:latin typeface="+mn-lt"/>
          <a:ea typeface="+mn-ea"/>
          <a:cs typeface="+mn-cs"/>
        </a:defRPr>
      </a:lvl6pPr>
      <a:lvl7pPr marL="2345690">
        <a:defRPr>
          <a:latin typeface="+mn-lt"/>
          <a:ea typeface="+mn-ea"/>
          <a:cs typeface="+mn-cs"/>
        </a:defRPr>
      </a:lvl7pPr>
      <a:lvl8pPr marL="2736850">
        <a:defRPr>
          <a:latin typeface="+mn-lt"/>
          <a:ea typeface="+mn-ea"/>
          <a:cs typeface="+mn-cs"/>
        </a:defRPr>
      </a:lvl8pPr>
      <a:lvl9pPr marL="3127375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91160">
        <a:defRPr>
          <a:latin typeface="+mn-lt"/>
          <a:ea typeface="+mn-ea"/>
          <a:cs typeface="+mn-cs"/>
        </a:defRPr>
      </a:lvl2pPr>
      <a:lvl3pPr marL="781685">
        <a:defRPr>
          <a:latin typeface="+mn-lt"/>
          <a:ea typeface="+mn-ea"/>
          <a:cs typeface="+mn-cs"/>
        </a:defRPr>
      </a:lvl3pPr>
      <a:lvl4pPr marL="1172845">
        <a:defRPr>
          <a:latin typeface="+mn-lt"/>
          <a:ea typeface="+mn-ea"/>
          <a:cs typeface="+mn-cs"/>
        </a:defRPr>
      </a:lvl4pPr>
      <a:lvl5pPr marL="1564005">
        <a:defRPr>
          <a:latin typeface="+mn-lt"/>
          <a:ea typeface="+mn-ea"/>
          <a:cs typeface="+mn-cs"/>
        </a:defRPr>
      </a:lvl5pPr>
      <a:lvl6pPr marL="1954530">
        <a:defRPr>
          <a:latin typeface="+mn-lt"/>
          <a:ea typeface="+mn-ea"/>
          <a:cs typeface="+mn-cs"/>
        </a:defRPr>
      </a:lvl6pPr>
      <a:lvl7pPr marL="2345690">
        <a:defRPr>
          <a:latin typeface="+mn-lt"/>
          <a:ea typeface="+mn-ea"/>
          <a:cs typeface="+mn-cs"/>
        </a:defRPr>
      </a:lvl7pPr>
      <a:lvl8pPr marL="2736850">
        <a:defRPr>
          <a:latin typeface="+mn-lt"/>
          <a:ea typeface="+mn-ea"/>
          <a:cs typeface="+mn-cs"/>
        </a:defRPr>
      </a:lvl8pPr>
      <a:lvl9pPr marL="3127375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381000" y="304800"/>
            <a:ext cx="7848600" cy="676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12775" y="1268413"/>
            <a:ext cx="7921625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Text Box 9"/>
          <p:cNvSpPr txBox="1">
            <a:spLocks noChangeArrowheads="1"/>
          </p:cNvSpPr>
          <p:nvPr/>
        </p:nvSpPr>
        <p:spPr bwMode="auto">
          <a:xfrm>
            <a:off x="4114800" y="6521450"/>
            <a:ext cx="914400" cy="32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lvl="0" algn="ctr" eaLnBrk="0" hangingPunct="0">
              <a:spcBef>
                <a:spcPct val="50000"/>
              </a:spcBef>
            </a:pPr>
            <a:r>
              <a:rPr lang="en-US" altLang="zh-CN" sz="1510" dirty="0">
                <a:latin typeface="Arial" panose="020B0604020202020204" pitchFamily="34" charset="0"/>
                <a:ea typeface="华文琥珀" panose="02010800040101010101" charset="-122"/>
              </a:rPr>
              <a:t>- </a:t>
            </a:r>
            <a:fld id="{9A0DB2DC-4C9A-4742-B13C-FB6460FD3503}" type="slidenum">
              <a:rPr lang="en-US" altLang="zh-CN" sz="1510" dirty="0">
                <a:latin typeface="Arial" panose="020B0604020202020204" pitchFamily="34" charset="0"/>
                <a:ea typeface="华文琥珀" panose="02010800040101010101" charset="-122"/>
              </a:rPr>
            </a:fld>
            <a:r>
              <a:rPr lang="en-US" altLang="zh-CN" sz="1510" dirty="0">
                <a:latin typeface="Arial" panose="020B0604020202020204" pitchFamily="34" charset="0"/>
                <a:ea typeface="华文琥珀" panose="02010800040101010101" charset="-122"/>
              </a:rPr>
              <a:t> -</a:t>
            </a:r>
            <a:endParaRPr lang="en-US" altLang="zh-CN" sz="1510" dirty="0">
              <a:latin typeface="Arial" panose="020B0604020202020204" pitchFamily="34" charset="0"/>
              <a:ea typeface="华文琥珀" panose="02010800040101010101" charset="-122"/>
            </a:endParaRPr>
          </a:p>
        </p:txBody>
      </p:sp>
      <p:sp>
        <p:nvSpPr>
          <p:cNvPr id="1029" name="Text Box 11"/>
          <p:cNvSpPr txBox="1">
            <a:spLocks noChangeArrowheads="1"/>
          </p:cNvSpPr>
          <p:nvPr/>
        </p:nvSpPr>
        <p:spPr bwMode="auto">
          <a:xfrm>
            <a:off x="0" y="6521450"/>
            <a:ext cx="1659890" cy="32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1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Mincho" pitchFamily="49" charset="-128"/>
                <a:cs typeface="+mn-cs"/>
              </a:rPr>
              <a:t>Operating System</a:t>
            </a:r>
            <a:endParaRPr kumimoji="0" lang="en-US" altLang="zh-CN" sz="151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Mincho" pitchFamily="49" charset="-128"/>
              <a:cs typeface="+mn-cs"/>
            </a:endParaRPr>
          </a:p>
        </p:txBody>
      </p:sp>
      <p:sp>
        <p:nvSpPr>
          <p:cNvPr id="1030" name="Line 32"/>
          <p:cNvSpPr/>
          <p:nvPr userDrawn="1"/>
        </p:nvSpPr>
        <p:spPr>
          <a:xfrm>
            <a:off x="0" y="1066800"/>
            <a:ext cx="8024813" cy="0"/>
          </a:xfrm>
          <a:prstGeom prst="line">
            <a:avLst/>
          </a:prstGeom>
          <a:ln w="50800" cap="flat" cmpd="sng">
            <a:solidFill>
              <a:srgbClr val="C1C43C"/>
            </a:solidFill>
            <a:prstDash val="solid"/>
            <a:headEnd type="none" w="sm" len="sm"/>
            <a:tailEnd type="none" w="sm" len="sm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39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23215" indent="-323215" algn="l" rtl="0" eaLnBrk="0" fontAlgn="base" hangingPunct="0">
        <a:spcBef>
          <a:spcPts val="90"/>
        </a:spcBef>
        <a:spcAft>
          <a:spcPct val="0"/>
        </a:spcAft>
        <a:buClr>
          <a:srgbClr val="993300"/>
        </a:buClr>
        <a:buSzPct val="90000"/>
        <a:buFont typeface="Wingdings" panose="05000000000000000000" pitchFamily="2" charset="2"/>
        <a:buChar char="n"/>
        <a:defRPr sz="2640" b="1">
          <a:solidFill>
            <a:schemeClr val="tx1"/>
          </a:solidFill>
          <a:latin typeface="+mn-lt"/>
          <a:ea typeface="+mn-ea"/>
          <a:cs typeface="+mn-cs"/>
        </a:defRPr>
      </a:lvl1pPr>
      <a:lvl2pPr marL="699770" indent="-269240" algn="l" rtl="0" eaLnBrk="0" fontAlgn="base" hangingPunct="0">
        <a:spcBef>
          <a:spcPts val="90"/>
        </a:spcBef>
        <a:spcAft>
          <a:spcPct val="0"/>
        </a:spcAft>
        <a:buClr>
          <a:srgbClr val="CC6600"/>
        </a:buClr>
        <a:buSzPct val="80000"/>
        <a:buFont typeface="Wingdings" panose="05000000000000000000" pitchFamily="2" charset="2"/>
        <a:buChar char="l"/>
        <a:defRPr sz="2640" b="1">
          <a:solidFill>
            <a:schemeClr val="tx1"/>
          </a:solidFill>
          <a:latin typeface="+mn-lt"/>
          <a:ea typeface="+mn-ea"/>
        </a:defRPr>
      </a:lvl2pPr>
      <a:lvl3pPr marL="1076960" indent="-215265" algn="l" rtl="0" eaLnBrk="0" fontAlgn="base" hangingPunct="0">
        <a:spcBef>
          <a:spcPts val="9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sz="1885">
          <a:solidFill>
            <a:schemeClr val="tx1"/>
          </a:solidFill>
          <a:latin typeface="+mn-lt"/>
          <a:ea typeface="+mn-ea"/>
        </a:defRPr>
      </a:lvl3pPr>
      <a:lvl4pPr marL="1508125" indent="-215265" algn="l" rtl="0" eaLnBrk="0" fontAlgn="base" hangingPunct="0">
        <a:spcBef>
          <a:spcPts val="90"/>
        </a:spcBef>
        <a:spcAft>
          <a:spcPct val="0"/>
        </a:spcAft>
        <a:buClr>
          <a:srgbClr val="FF6600"/>
        </a:buClr>
        <a:buSzPct val="75000"/>
        <a:buFont typeface="Times New Roman" panose="02020603050405020304" pitchFamily="18" charset="0"/>
        <a:buChar char="–"/>
        <a:defRPr>
          <a:solidFill>
            <a:schemeClr val="tx1"/>
          </a:solidFill>
          <a:latin typeface="+mn-lt"/>
          <a:ea typeface="+mn-ea"/>
        </a:defRPr>
      </a:lvl4pPr>
      <a:lvl5pPr marL="1938655" indent="-215265" algn="l" rtl="0" eaLnBrk="0" fontAlgn="base" hangingPunct="0">
        <a:spcBef>
          <a:spcPts val="9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>
          <a:solidFill>
            <a:schemeClr val="tx1"/>
          </a:solidFill>
          <a:latin typeface="+mn-lt"/>
          <a:ea typeface="+mn-ea"/>
        </a:defRPr>
      </a:lvl5pPr>
      <a:lvl6pPr marL="2369185" indent="-215265" algn="l" rtl="0" fontAlgn="base">
        <a:spcBef>
          <a:spcPts val="9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>
          <a:solidFill>
            <a:schemeClr val="tx1"/>
          </a:solidFill>
          <a:latin typeface="+mn-lt"/>
          <a:ea typeface="+mn-ea"/>
        </a:defRPr>
      </a:lvl6pPr>
      <a:lvl7pPr marL="2800350" indent="-215265" algn="l" rtl="0" fontAlgn="base">
        <a:spcBef>
          <a:spcPts val="9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>
          <a:solidFill>
            <a:schemeClr val="tx1"/>
          </a:solidFill>
          <a:latin typeface="+mn-lt"/>
          <a:ea typeface="+mn-ea"/>
        </a:defRPr>
      </a:lvl7pPr>
      <a:lvl8pPr marL="3230880" indent="-215265" algn="l" rtl="0" fontAlgn="base">
        <a:spcBef>
          <a:spcPts val="9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>
          <a:solidFill>
            <a:schemeClr val="tx1"/>
          </a:solidFill>
          <a:latin typeface="+mn-lt"/>
          <a:ea typeface="+mn-ea"/>
        </a:defRPr>
      </a:lvl8pPr>
      <a:lvl9pPr marL="3661410" indent="-215265" algn="l" rtl="0" fontAlgn="base">
        <a:spcBef>
          <a:spcPts val="9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861695" rtl="0" eaLnBrk="1" latinLnBrk="0" hangingPunct="1">
        <a:defRPr sz="1695" kern="1200">
          <a:solidFill>
            <a:schemeClr val="tx1"/>
          </a:solidFill>
          <a:latin typeface="+mn-lt"/>
          <a:ea typeface="+mn-ea"/>
          <a:cs typeface="+mn-cs"/>
        </a:defRPr>
      </a:lvl1pPr>
      <a:lvl2pPr marL="430530" algn="l" defTabSz="861695" rtl="0" eaLnBrk="1" latinLnBrk="0" hangingPunct="1">
        <a:defRPr sz="1695" kern="1200">
          <a:solidFill>
            <a:schemeClr val="tx1"/>
          </a:solidFill>
          <a:latin typeface="+mn-lt"/>
          <a:ea typeface="+mn-ea"/>
          <a:cs typeface="+mn-cs"/>
        </a:defRPr>
      </a:lvl2pPr>
      <a:lvl3pPr marL="861695" algn="l" defTabSz="861695" rtl="0" eaLnBrk="1" latinLnBrk="0" hangingPunct="1">
        <a:defRPr sz="1695" kern="1200">
          <a:solidFill>
            <a:schemeClr val="tx1"/>
          </a:solidFill>
          <a:latin typeface="+mn-lt"/>
          <a:ea typeface="+mn-ea"/>
          <a:cs typeface="+mn-cs"/>
        </a:defRPr>
      </a:lvl3pPr>
      <a:lvl4pPr marL="1292225" algn="l" defTabSz="861695" rtl="0" eaLnBrk="1" latinLnBrk="0" hangingPunct="1">
        <a:defRPr sz="1695" kern="1200">
          <a:solidFill>
            <a:schemeClr val="tx1"/>
          </a:solidFill>
          <a:latin typeface="+mn-lt"/>
          <a:ea typeface="+mn-ea"/>
          <a:cs typeface="+mn-cs"/>
        </a:defRPr>
      </a:lvl4pPr>
      <a:lvl5pPr marL="1722755" algn="l" defTabSz="861695" rtl="0" eaLnBrk="1" latinLnBrk="0" hangingPunct="1">
        <a:defRPr sz="1695" kern="1200">
          <a:solidFill>
            <a:schemeClr val="tx1"/>
          </a:solidFill>
          <a:latin typeface="+mn-lt"/>
          <a:ea typeface="+mn-ea"/>
          <a:cs typeface="+mn-cs"/>
        </a:defRPr>
      </a:lvl5pPr>
      <a:lvl6pPr marL="2153920" algn="l" defTabSz="861695" rtl="0" eaLnBrk="1" latinLnBrk="0" hangingPunct="1">
        <a:defRPr sz="1695" kern="1200">
          <a:solidFill>
            <a:schemeClr val="tx1"/>
          </a:solidFill>
          <a:latin typeface="+mn-lt"/>
          <a:ea typeface="+mn-ea"/>
          <a:cs typeface="+mn-cs"/>
        </a:defRPr>
      </a:lvl6pPr>
      <a:lvl7pPr marL="2584450" algn="l" defTabSz="861695" rtl="0" eaLnBrk="1" latinLnBrk="0" hangingPunct="1">
        <a:defRPr sz="1695" kern="1200">
          <a:solidFill>
            <a:schemeClr val="tx1"/>
          </a:solidFill>
          <a:latin typeface="+mn-lt"/>
          <a:ea typeface="+mn-ea"/>
          <a:cs typeface="+mn-cs"/>
        </a:defRPr>
      </a:lvl7pPr>
      <a:lvl8pPr marL="3014980" algn="l" defTabSz="861695" rtl="0" eaLnBrk="1" latinLnBrk="0" hangingPunct="1">
        <a:defRPr sz="1695" kern="1200">
          <a:solidFill>
            <a:schemeClr val="tx1"/>
          </a:solidFill>
          <a:latin typeface="+mn-lt"/>
          <a:ea typeface="+mn-ea"/>
          <a:cs typeface="+mn-cs"/>
        </a:defRPr>
      </a:lvl8pPr>
      <a:lvl9pPr marL="3446145" algn="l" defTabSz="861695" rtl="0" eaLnBrk="1" latinLnBrk="0" hangingPunct="1">
        <a:defRPr sz="16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wmf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wmf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://larch-www.lcs.mit.edu:8001/~corbato/sjcc62/" TargetMode="External"/><Relationship Id="rId2" Type="http://schemas.openxmlformats.org/officeDocument/2006/relationships/image" Target="../media/image15.jpeg"/><Relationship Id="rId1" Type="http://schemas.openxmlformats.org/officeDocument/2006/relationships/hyperlink" Target="https://en.wikipedia.org/wiki/File:Fernando_Corbato.jpg" TargetMode="Externa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GIF"/><Relationship Id="rId1" Type="http://schemas.openxmlformats.org/officeDocument/2006/relationships/image" Target="../media/image16.GI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32773" y="1683262"/>
            <a:ext cx="261723" cy="261723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 sz="1540"/>
          </a:p>
        </p:txBody>
      </p:sp>
      <p:sp>
        <p:nvSpPr>
          <p:cNvPr id="5" name="object 5"/>
          <p:cNvSpPr/>
          <p:nvPr/>
        </p:nvSpPr>
        <p:spPr>
          <a:xfrm>
            <a:off x="574486" y="1726014"/>
            <a:ext cx="8143264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 sz="1540"/>
          </a:p>
        </p:txBody>
      </p:sp>
      <p:sp>
        <p:nvSpPr>
          <p:cNvPr id="6" name="object 6"/>
          <p:cNvSpPr/>
          <p:nvPr/>
        </p:nvSpPr>
        <p:spPr>
          <a:xfrm>
            <a:off x="574486" y="1702886"/>
            <a:ext cx="8143264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 sz="1540"/>
          </a:p>
        </p:txBody>
      </p:sp>
      <p:sp>
        <p:nvSpPr>
          <p:cNvPr id="7" name="object 7"/>
          <p:cNvSpPr/>
          <p:nvPr/>
        </p:nvSpPr>
        <p:spPr>
          <a:xfrm>
            <a:off x="574486" y="1679758"/>
            <a:ext cx="8143264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 sz="1540"/>
          </a:p>
        </p:txBody>
      </p:sp>
      <p:sp>
        <p:nvSpPr>
          <p:cNvPr id="8" name="object 8"/>
          <p:cNvSpPr txBox="1"/>
          <p:nvPr/>
        </p:nvSpPr>
        <p:spPr>
          <a:xfrm>
            <a:off x="1776730" y="1996440"/>
            <a:ext cx="2150110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80" b="1" spc="13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3380" b="1" spc="145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endParaRPr sz="3380">
              <a:latin typeface="华文琥珀" panose="02010800040101010101" charset="-122"/>
              <a:cs typeface="华文琥珀" panose="0201080004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85260" y="1930400"/>
            <a:ext cx="4711065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22245" algn="l"/>
              </a:tabLst>
            </a:pPr>
            <a:r>
              <a:rPr sz="3935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935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per</a:t>
            </a:r>
            <a:r>
              <a:rPr sz="3935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3935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935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935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3935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935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935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935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935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935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ms</a:t>
            </a:r>
            <a:endParaRPr sz="393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2770" y="3038045"/>
            <a:ext cx="7889686" cy="1478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6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L1</a:t>
            </a:r>
            <a:r>
              <a:rPr sz="436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2</a:t>
            </a:r>
            <a:r>
              <a:rPr sz="436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lang="zh-CN" sz="436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进程管理</a:t>
            </a:r>
            <a:r>
              <a:rPr lang="en-US" altLang="zh-CN" sz="436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-</a:t>
            </a:r>
            <a:r>
              <a:rPr sz="4235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</a:t>
            </a:r>
            <a:r>
              <a:rPr sz="4235" spc="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</a:t>
            </a:r>
            <a:r>
              <a:rPr sz="4235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调度策</a:t>
            </a:r>
            <a:r>
              <a:rPr sz="4235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略</a:t>
            </a:r>
            <a:endParaRPr sz="4235">
              <a:latin typeface="黑体" panose="02010609060101010101" charset="-122"/>
              <a:cs typeface="黑体" panose="02010609060101010101" charset="-122"/>
            </a:endParaRPr>
          </a:p>
          <a:p>
            <a:pPr marL="492125">
              <a:lnSpc>
                <a:spcPct val="100000"/>
              </a:lnSpc>
              <a:spcBef>
                <a:spcPts val="2815"/>
              </a:spcBef>
            </a:pPr>
            <a:r>
              <a:rPr lang="en-US" sz="2905" b="1" dirty="0">
                <a:latin typeface="Times New Roman" panose="02020603050405020304"/>
                <a:cs typeface="Times New Roman" panose="02020603050405020304"/>
                <a:sym typeface="+mn-ea"/>
              </a:rPr>
              <a:t>              </a:t>
            </a:r>
            <a:r>
              <a:rPr sz="2905" b="1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z="2905" b="1" spc="-5" dirty="0">
                <a:latin typeface="Times New Roman" panose="02020603050405020304"/>
                <a:cs typeface="Times New Roman" panose="02020603050405020304"/>
                <a:sym typeface="+mn-ea"/>
              </a:rPr>
              <a:t>P</a:t>
            </a:r>
            <a:r>
              <a:rPr sz="2905" b="1" dirty="0">
                <a:latin typeface="Times New Roman" panose="02020603050405020304"/>
                <a:cs typeface="Times New Roman" panose="02020603050405020304"/>
                <a:sym typeface="+mn-ea"/>
              </a:rPr>
              <a:t>U</a:t>
            </a:r>
            <a:r>
              <a:rPr sz="2905" b="1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905" b="1" dirty="0">
                <a:latin typeface="Times New Roman" panose="02020603050405020304"/>
                <a:cs typeface="Times New Roman" panose="02020603050405020304"/>
                <a:sym typeface="+mn-ea"/>
              </a:rPr>
              <a:t>Schedul</a:t>
            </a:r>
            <a:r>
              <a:rPr sz="2905" b="1" spc="-5" dirty="0">
                <a:latin typeface="Times New Roman" panose="02020603050405020304"/>
                <a:cs typeface="Times New Roman" panose="02020603050405020304"/>
                <a:sym typeface="+mn-ea"/>
              </a:rPr>
              <a:t>i</a:t>
            </a:r>
            <a:r>
              <a:rPr sz="2905" b="1" dirty="0">
                <a:latin typeface="Times New Roman" panose="02020603050405020304"/>
                <a:cs typeface="Times New Roman" panose="02020603050405020304"/>
                <a:sym typeface="+mn-ea"/>
              </a:rPr>
              <a:t>ng</a:t>
            </a:r>
            <a:r>
              <a:rPr lang="en-US" sz="2905" b="1" dirty="0">
                <a:latin typeface="Times New Roman" panose="02020603050405020304"/>
                <a:cs typeface="Times New Roman" panose="02020603050405020304"/>
                <a:sym typeface="+mn-ea"/>
              </a:rPr>
              <a:t> Strategy</a:t>
            </a:r>
            <a:endParaRPr lang="en-US" sz="2905" b="1" dirty="0"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27" name="object 2"/>
          <p:cNvSpPr txBox="1"/>
          <p:nvPr>
            <p:custDataLst>
              <p:tags r:id="rId1"/>
            </p:custDataLst>
          </p:nvPr>
        </p:nvSpPr>
        <p:spPr>
          <a:xfrm>
            <a:off x="574685" y="1401172"/>
            <a:ext cx="2906098" cy="255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665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665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6154" tIns="43076" rIns="86154" bIns="43076" anchor="ctr" anchorCtr="0"/>
          <a:p>
            <a:pPr eaLnBrk="1" hangingPunct="1"/>
            <a:r>
              <a:rPr lang="zh-CN" altLang="en-US" dirty="0"/>
              <a:t>并发回顾</a:t>
            </a:r>
            <a:endParaRPr lang="zh-CN" altLang="en-US" dirty="0"/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>
            <p:ph idx="1"/>
          </p:nvPr>
        </p:nvGraphicFramePr>
        <p:xfrm>
          <a:off x="7790841" y="198192"/>
          <a:ext cx="1088902" cy="1148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166620" imgH="2287270" progId="MS_ClipArt_Gallery.2">
                  <p:embed/>
                </p:oleObj>
              </mc:Choice>
              <mc:Fallback>
                <p:oleObj name="" r:id="rId1" imgW="2166620" imgH="228727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7790841" y="198192"/>
                        <a:ext cx="1088902" cy="114873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Rectangle 46"/>
          <p:cNvSpPr/>
          <p:nvPr/>
        </p:nvSpPr>
        <p:spPr>
          <a:xfrm>
            <a:off x="910418" y="1346924"/>
            <a:ext cx="7463764" cy="6461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0" dirty="0">
                <a:solidFill>
                  <a:srgbClr val="FF0000"/>
                </a:solidFill>
                <a:latin typeface="Arial" panose="020B0604020202020204" pitchFamily="34" charset="0"/>
              </a:rPr>
              <a:t>并发：一个</a:t>
            </a:r>
            <a:r>
              <a:rPr lang="en-US" altLang="zh-CN" sz="2640" dirty="0">
                <a:solidFill>
                  <a:srgbClr val="FF0000"/>
                </a:solidFill>
                <a:latin typeface="Arial" panose="020B0604020202020204" pitchFamily="34" charset="0"/>
              </a:rPr>
              <a:t>CPU</a:t>
            </a:r>
            <a:r>
              <a:rPr lang="zh-CN" altLang="en-US" sz="2640" dirty="0">
                <a:solidFill>
                  <a:srgbClr val="FF0000"/>
                </a:solidFill>
                <a:latin typeface="Arial" panose="020B0604020202020204" pitchFamily="34" charset="0"/>
              </a:rPr>
              <a:t>交替执行多个程序；可以极大地提高资源使用效率</a:t>
            </a:r>
            <a:endParaRPr lang="zh-CN" altLang="en-US" sz="264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76178" name="Group 50"/>
          <p:cNvGrpSpPr/>
          <p:nvPr/>
        </p:nvGrpSpPr>
        <p:grpSpPr>
          <a:xfrm>
            <a:off x="1308286" y="2711043"/>
            <a:ext cx="4556037" cy="1084415"/>
            <a:chOff x="670" y="1392"/>
            <a:chExt cx="3046" cy="725"/>
          </a:xfrm>
        </p:grpSpPr>
        <p:sp>
          <p:nvSpPr>
            <p:cNvPr id="4118" name="Rectangle 51"/>
            <p:cNvSpPr/>
            <p:nvPr/>
          </p:nvSpPr>
          <p:spPr>
            <a:xfrm>
              <a:off x="720" y="1392"/>
              <a:ext cx="660" cy="384"/>
            </a:xfrm>
            <a:prstGeom prst="rect">
              <a:avLst/>
            </a:prstGeom>
            <a:solidFill>
              <a:srgbClr val="FF66CC"/>
            </a:solidFill>
            <a:ln w="57150">
              <a:noFill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885" dirty="0">
                  <a:latin typeface="Arial" panose="020B0604020202020204" pitchFamily="34" charset="0"/>
                </a:rPr>
                <a:t>P1</a:t>
              </a:r>
              <a:endParaRPr lang="en-US" altLang="zh-CN" sz="1885" dirty="0">
                <a:latin typeface="Arial" panose="020B0604020202020204" pitchFamily="34" charset="0"/>
              </a:endParaRPr>
            </a:p>
          </p:txBody>
        </p:sp>
        <p:sp>
          <p:nvSpPr>
            <p:cNvPr id="4119" name="Rectangle 52"/>
            <p:cNvSpPr/>
            <p:nvPr/>
          </p:nvSpPr>
          <p:spPr>
            <a:xfrm>
              <a:off x="1380" y="1392"/>
              <a:ext cx="971" cy="384"/>
            </a:xfrm>
            <a:prstGeom prst="rect">
              <a:avLst/>
            </a:prstGeom>
            <a:solidFill>
              <a:srgbClr val="00FFFF"/>
            </a:solidFill>
            <a:ln w="57150">
              <a:noFill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885" dirty="0">
                  <a:latin typeface="Arial" panose="020B0604020202020204" pitchFamily="34" charset="0"/>
                </a:rPr>
                <a:t>P2</a:t>
              </a:r>
              <a:endParaRPr lang="en-US" altLang="zh-CN" sz="1885" dirty="0">
                <a:latin typeface="Arial" panose="020B0604020202020204" pitchFamily="34" charset="0"/>
              </a:endParaRPr>
            </a:p>
          </p:txBody>
        </p:sp>
        <p:sp>
          <p:nvSpPr>
            <p:cNvPr id="4120" name="Rectangle 53"/>
            <p:cNvSpPr/>
            <p:nvPr/>
          </p:nvSpPr>
          <p:spPr>
            <a:xfrm>
              <a:off x="2304" y="1392"/>
              <a:ext cx="893" cy="384"/>
            </a:xfrm>
            <a:prstGeom prst="rect">
              <a:avLst/>
            </a:prstGeom>
            <a:solidFill>
              <a:srgbClr val="FF66CC"/>
            </a:solidFill>
            <a:ln w="57150">
              <a:noFill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885" dirty="0">
                  <a:latin typeface="Arial" panose="020B0604020202020204" pitchFamily="34" charset="0"/>
                </a:rPr>
                <a:t>P1</a:t>
              </a:r>
              <a:endParaRPr lang="en-US" altLang="zh-CN" sz="1885" dirty="0">
                <a:latin typeface="Arial" panose="020B0604020202020204" pitchFamily="34" charset="0"/>
              </a:endParaRPr>
            </a:p>
          </p:txBody>
        </p:sp>
        <p:sp>
          <p:nvSpPr>
            <p:cNvPr id="4121" name="Rectangle 54"/>
            <p:cNvSpPr/>
            <p:nvPr/>
          </p:nvSpPr>
          <p:spPr>
            <a:xfrm>
              <a:off x="3204" y="1392"/>
              <a:ext cx="512" cy="384"/>
            </a:xfrm>
            <a:prstGeom prst="rect">
              <a:avLst/>
            </a:prstGeom>
            <a:solidFill>
              <a:srgbClr val="00FFFF"/>
            </a:solidFill>
            <a:ln w="57150">
              <a:noFill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885" dirty="0">
                  <a:latin typeface="Arial" panose="020B0604020202020204" pitchFamily="34" charset="0"/>
                </a:rPr>
                <a:t>P2</a:t>
              </a:r>
              <a:endParaRPr lang="en-US" altLang="zh-CN" sz="1885" dirty="0">
                <a:latin typeface="Arial" panose="020B0604020202020204" pitchFamily="34" charset="0"/>
              </a:endParaRPr>
            </a:p>
          </p:txBody>
        </p:sp>
        <p:sp>
          <p:nvSpPr>
            <p:cNvPr id="4122" name="Text Box 55"/>
            <p:cNvSpPr txBox="1"/>
            <p:nvPr/>
          </p:nvSpPr>
          <p:spPr>
            <a:xfrm>
              <a:off x="670" y="1824"/>
              <a:ext cx="560" cy="293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260" dirty="0">
                  <a:latin typeface="Arial" panose="020B0604020202020204" pitchFamily="34" charset="0"/>
                </a:rPr>
                <a:t>时间 </a:t>
              </a:r>
              <a:endParaRPr lang="zh-CN" altLang="en-US" sz="2260" dirty="0">
                <a:latin typeface="Arial" panose="020B0604020202020204" pitchFamily="34" charset="0"/>
              </a:endParaRPr>
            </a:p>
          </p:txBody>
        </p:sp>
        <p:sp>
          <p:nvSpPr>
            <p:cNvPr id="4123" name="Line 56"/>
            <p:cNvSpPr/>
            <p:nvPr/>
          </p:nvSpPr>
          <p:spPr>
            <a:xfrm>
              <a:off x="1209" y="1968"/>
              <a:ext cx="133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76185" name="Group 57"/>
          <p:cNvGrpSpPr/>
          <p:nvPr/>
        </p:nvGrpSpPr>
        <p:grpSpPr>
          <a:xfrm>
            <a:off x="1628375" y="3916613"/>
            <a:ext cx="5819941" cy="2327378"/>
            <a:chOff x="912" y="2246"/>
            <a:chExt cx="3891" cy="1556"/>
          </a:xfrm>
        </p:grpSpPr>
        <p:sp>
          <p:nvSpPr>
            <p:cNvPr id="4112" name="Rectangle 58"/>
            <p:cNvSpPr/>
            <p:nvPr/>
          </p:nvSpPr>
          <p:spPr>
            <a:xfrm>
              <a:off x="912" y="2555"/>
              <a:ext cx="1443" cy="123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260" dirty="0">
                <a:latin typeface="Arial" panose="020B0604020202020204" pitchFamily="34" charset="0"/>
              </a:endParaRPr>
            </a:p>
          </p:txBody>
        </p:sp>
        <p:sp>
          <p:nvSpPr>
            <p:cNvPr id="4113" name="Text Box 59"/>
            <p:cNvSpPr txBox="1"/>
            <p:nvPr/>
          </p:nvSpPr>
          <p:spPr>
            <a:xfrm>
              <a:off x="912" y="2582"/>
              <a:ext cx="1440" cy="11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885" dirty="0">
                  <a:latin typeface="Tahoma" panose="020B0604030504040204" pitchFamily="34" charset="0"/>
                </a:rPr>
                <a:t>  mov ax, [100]</a:t>
              </a:r>
              <a:endParaRPr lang="en-US" altLang="zh-CN" sz="1885" dirty="0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885" dirty="0">
                  <a:latin typeface="Tahoma" panose="020B0604030504040204" pitchFamily="34" charset="0"/>
                </a:rPr>
                <a:t>  mov bx, [104]</a:t>
              </a:r>
              <a:endParaRPr lang="en-US" altLang="zh-CN" sz="1885" dirty="0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885" dirty="0">
                  <a:latin typeface="Tahoma" panose="020B0604030504040204" pitchFamily="34" charset="0"/>
                </a:rPr>
                <a:t>  add ax, bx</a:t>
              </a:r>
              <a:endParaRPr lang="en-US" altLang="zh-CN" sz="1885" dirty="0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885" dirty="0">
                  <a:latin typeface="Tahoma" panose="020B0604030504040204" pitchFamily="34" charset="0"/>
                </a:rPr>
                <a:t>  ……</a:t>
              </a:r>
              <a:r>
                <a:rPr lang="en-US" altLang="zh-CN" sz="1885" b="0" dirty="0">
                  <a:latin typeface="Tahoma" panose="020B0604030504040204" pitchFamily="34" charset="0"/>
                </a:rPr>
                <a:t> </a:t>
              </a:r>
              <a:endParaRPr lang="en-US" altLang="zh-CN" sz="1885" dirty="0">
                <a:latin typeface="Tahoma" panose="020B0604030504040204" pitchFamily="34" charset="0"/>
              </a:endParaRPr>
            </a:p>
          </p:txBody>
        </p:sp>
        <p:sp>
          <p:nvSpPr>
            <p:cNvPr id="4114" name="Rectangle 60"/>
            <p:cNvSpPr/>
            <p:nvPr/>
          </p:nvSpPr>
          <p:spPr>
            <a:xfrm>
              <a:off x="1297" y="2246"/>
              <a:ext cx="532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1885" dirty="0">
                  <a:latin typeface="Arial" panose="020B0604020202020204" pitchFamily="34" charset="0"/>
                </a:rPr>
                <a:t>程序</a:t>
              </a:r>
              <a:r>
                <a:rPr lang="en-US" altLang="zh-CN" sz="1885" dirty="0">
                  <a:latin typeface="Arial" panose="020B0604020202020204" pitchFamily="34" charset="0"/>
                </a:rPr>
                <a:t>1</a:t>
              </a:r>
              <a:endParaRPr lang="en-US" altLang="zh-CN" sz="1885" dirty="0">
                <a:latin typeface="Arial" panose="020B0604020202020204" pitchFamily="34" charset="0"/>
              </a:endParaRPr>
            </a:p>
          </p:txBody>
        </p:sp>
        <p:sp>
          <p:nvSpPr>
            <p:cNvPr id="4115" name="Rectangle 61"/>
            <p:cNvSpPr/>
            <p:nvPr/>
          </p:nvSpPr>
          <p:spPr>
            <a:xfrm>
              <a:off x="3360" y="2565"/>
              <a:ext cx="1443" cy="123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260" dirty="0">
                <a:latin typeface="Arial" panose="020B0604020202020204" pitchFamily="34" charset="0"/>
              </a:endParaRPr>
            </a:p>
          </p:txBody>
        </p:sp>
        <p:sp>
          <p:nvSpPr>
            <p:cNvPr id="4116" name="Text Box 62"/>
            <p:cNvSpPr txBox="1"/>
            <p:nvPr/>
          </p:nvSpPr>
          <p:spPr>
            <a:xfrm>
              <a:off x="3360" y="2592"/>
              <a:ext cx="1440" cy="11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885" dirty="0">
                  <a:latin typeface="Tahoma" panose="020B0604030504040204" pitchFamily="34" charset="0"/>
                </a:rPr>
                <a:t>  mov ax, 10</a:t>
              </a:r>
              <a:endParaRPr lang="en-US" altLang="zh-CN" sz="1885" dirty="0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885" dirty="0">
                  <a:latin typeface="Tahoma" panose="020B0604030504040204" pitchFamily="34" charset="0"/>
                </a:rPr>
                <a:t>  mov bx, 10</a:t>
              </a:r>
              <a:endParaRPr lang="en-US" altLang="zh-CN" sz="1885" dirty="0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885" dirty="0">
                  <a:latin typeface="Tahoma" panose="020B0604030504040204" pitchFamily="34" charset="0"/>
                </a:rPr>
                <a:t>  add ax, bx</a:t>
              </a:r>
              <a:endParaRPr lang="en-US" altLang="zh-CN" sz="1885" dirty="0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885" dirty="0">
                  <a:latin typeface="Tahoma" panose="020B0604030504040204" pitchFamily="34" charset="0"/>
                </a:rPr>
                <a:t>  ……</a:t>
              </a:r>
              <a:r>
                <a:rPr lang="en-US" altLang="zh-CN" sz="1885" b="0" dirty="0">
                  <a:latin typeface="Tahoma" panose="020B0604030504040204" pitchFamily="34" charset="0"/>
                </a:rPr>
                <a:t> </a:t>
              </a:r>
              <a:endParaRPr lang="en-US" altLang="zh-CN" sz="1885" dirty="0">
                <a:latin typeface="Tahoma" panose="020B0604030504040204" pitchFamily="34" charset="0"/>
              </a:endParaRPr>
            </a:p>
          </p:txBody>
        </p:sp>
        <p:sp>
          <p:nvSpPr>
            <p:cNvPr id="4117" name="Rectangle 63"/>
            <p:cNvSpPr/>
            <p:nvPr/>
          </p:nvSpPr>
          <p:spPr>
            <a:xfrm>
              <a:off x="3745" y="2256"/>
              <a:ext cx="532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1885" dirty="0">
                  <a:latin typeface="Arial" panose="020B0604020202020204" pitchFamily="34" charset="0"/>
                </a:rPr>
                <a:t>程序</a:t>
              </a:r>
              <a:r>
                <a:rPr lang="en-US" altLang="zh-CN" sz="1885" dirty="0">
                  <a:latin typeface="Arial" panose="020B0604020202020204" pitchFamily="34" charset="0"/>
                </a:rPr>
                <a:t>2</a:t>
              </a:r>
              <a:endParaRPr lang="en-US" altLang="zh-CN" sz="1885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76192" name="Group 64"/>
          <p:cNvGrpSpPr/>
          <p:nvPr/>
        </p:nvGrpSpPr>
        <p:grpSpPr>
          <a:xfrm>
            <a:off x="838622" y="5223893"/>
            <a:ext cx="940824" cy="438253"/>
            <a:chOff x="139" y="1338"/>
            <a:chExt cx="629" cy="293"/>
          </a:xfrm>
        </p:grpSpPr>
        <p:sp>
          <p:nvSpPr>
            <p:cNvPr id="4110" name="Rectangle 65"/>
            <p:cNvSpPr/>
            <p:nvPr/>
          </p:nvSpPr>
          <p:spPr>
            <a:xfrm>
              <a:off x="139" y="1338"/>
              <a:ext cx="388" cy="293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260" dirty="0">
                  <a:solidFill>
                    <a:srgbClr val="FF0000"/>
                  </a:solidFill>
                  <a:latin typeface="Arial" panose="020B0604020202020204" pitchFamily="34" charset="0"/>
                </a:rPr>
                <a:t>PC</a:t>
              </a:r>
              <a:endParaRPr lang="en-US" altLang="zh-CN" sz="226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11" name="AutoShape 66"/>
            <p:cNvSpPr/>
            <p:nvPr/>
          </p:nvSpPr>
          <p:spPr>
            <a:xfrm>
              <a:off x="528" y="1479"/>
              <a:ext cx="240" cy="48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26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76195" name="Group 67"/>
          <p:cNvGrpSpPr/>
          <p:nvPr/>
        </p:nvGrpSpPr>
        <p:grpSpPr>
          <a:xfrm>
            <a:off x="4500204" y="5223893"/>
            <a:ext cx="940824" cy="438253"/>
            <a:chOff x="139" y="1338"/>
            <a:chExt cx="629" cy="293"/>
          </a:xfrm>
        </p:grpSpPr>
        <p:sp>
          <p:nvSpPr>
            <p:cNvPr id="4108" name="Rectangle 68"/>
            <p:cNvSpPr/>
            <p:nvPr/>
          </p:nvSpPr>
          <p:spPr>
            <a:xfrm>
              <a:off x="139" y="1338"/>
              <a:ext cx="388" cy="293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260" dirty="0">
                  <a:solidFill>
                    <a:srgbClr val="FF0000"/>
                  </a:solidFill>
                  <a:latin typeface="Arial" panose="020B0604020202020204" pitchFamily="34" charset="0"/>
                </a:rPr>
                <a:t>PC</a:t>
              </a:r>
              <a:endParaRPr lang="en-US" altLang="zh-CN" sz="226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9" name="AutoShape 69"/>
            <p:cNvSpPr/>
            <p:nvPr/>
          </p:nvSpPr>
          <p:spPr>
            <a:xfrm>
              <a:off x="528" y="1479"/>
              <a:ext cx="240" cy="48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26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76198" name="Group 70"/>
          <p:cNvGrpSpPr/>
          <p:nvPr/>
        </p:nvGrpSpPr>
        <p:grpSpPr>
          <a:xfrm>
            <a:off x="3925838" y="3644387"/>
            <a:ext cx="1220527" cy="502570"/>
            <a:chOff x="2496" y="2064"/>
            <a:chExt cx="816" cy="336"/>
          </a:xfrm>
        </p:grpSpPr>
        <p:sp>
          <p:nvSpPr>
            <p:cNvPr id="4106" name="AutoShape 71"/>
            <p:cNvSpPr/>
            <p:nvPr/>
          </p:nvSpPr>
          <p:spPr>
            <a:xfrm>
              <a:off x="2496" y="2352"/>
              <a:ext cx="816" cy="48"/>
            </a:xfrm>
            <a:prstGeom prst="rightArrow">
              <a:avLst>
                <a:gd name="adj1" fmla="val 50000"/>
                <a:gd name="adj2" fmla="val 425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260" dirty="0">
                <a:latin typeface="Arial" panose="020B0604020202020204" pitchFamily="34" charset="0"/>
              </a:endParaRPr>
            </a:p>
          </p:txBody>
        </p:sp>
        <p:sp>
          <p:nvSpPr>
            <p:cNvPr id="4107" name="Text Box 72"/>
            <p:cNvSpPr txBox="1"/>
            <p:nvPr/>
          </p:nvSpPr>
          <p:spPr>
            <a:xfrm>
              <a:off x="2622" y="2064"/>
              <a:ext cx="624" cy="2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260" dirty="0">
                  <a:solidFill>
                    <a:srgbClr val="FF0000"/>
                  </a:solidFill>
                  <a:latin typeface="Arial" panose="020B0604020202020204" pitchFamily="34" charset="0"/>
                </a:rPr>
                <a:t>切换</a:t>
              </a:r>
              <a:endParaRPr lang="zh-CN" altLang="en-US" sz="226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6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6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6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6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6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6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6154" tIns="43076" rIns="86154" bIns="43076" anchor="ctr" anchorCtr="0"/>
          <a:p>
            <a:pPr eaLnBrk="1" hangingPunct="1"/>
            <a:r>
              <a:rPr lang="zh-CN" altLang="en-US" dirty="0"/>
              <a:t>如何让出</a:t>
            </a:r>
            <a:r>
              <a:rPr lang="en-US" altLang="zh-CN" dirty="0"/>
              <a:t>CPU?</a:t>
            </a:r>
            <a:endParaRPr lang="en-US" altLang="zh-CN" dirty="0"/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>
            <p:ph idx="1"/>
          </p:nvPr>
        </p:nvGraphicFramePr>
        <p:xfrm>
          <a:off x="7790841" y="198192"/>
          <a:ext cx="1088902" cy="1148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166620" imgH="2287270" progId="MS_ClipArt_Gallery.2">
                  <p:embed/>
                </p:oleObj>
              </mc:Choice>
              <mc:Fallback>
                <p:oleObj name="" r:id="rId1" imgW="2166620" imgH="2287270" progId="MS_ClipArt_Gallery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7790841" y="198192"/>
                        <a:ext cx="1088902" cy="114873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204" name="Line 28"/>
          <p:cNvSpPr/>
          <p:nvPr/>
        </p:nvSpPr>
        <p:spPr>
          <a:xfrm>
            <a:off x="2705311" y="4864914"/>
            <a:ext cx="27282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8205" name="Freeform 29"/>
          <p:cNvSpPr/>
          <p:nvPr/>
        </p:nvSpPr>
        <p:spPr>
          <a:xfrm>
            <a:off x="2777107" y="3070021"/>
            <a:ext cx="3517990" cy="122052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2544" h="816">
                <a:moveTo>
                  <a:pt x="0" y="96"/>
                </a:moveTo>
                <a:lnTo>
                  <a:pt x="1488" y="816"/>
                </a:lnTo>
                <a:lnTo>
                  <a:pt x="2160" y="816"/>
                </a:lnTo>
                <a:lnTo>
                  <a:pt x="2544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 sz="2260"/>
          </a:p>
        </p:txBody>
      </p:sp>
      <p:grpSp>
        <p:nvGrpSpPr>
          <p:cNvPr id="5126" name="Group 30"/>
          <p:cNvGrpSpPr/>
          <p:nvPr/>
        </p:nvGrpSpPr>
        <p:grpSpPr>
          <a:xfrm>
            <a:off x="910418" y="1478549"/>
            <a:ext cx="7487696" cy="438253"/>
            <a:chOff x="384" y="2584"/>
            <a:chExt cx="5006" cy="293"/>
          </a:xfrm>
        </p:grpSpPr>
        <p:sp>
          <p:nvSpPr>
            <p:cNvPr id="5191" name="Text Box 31"/>
            <p:cNvSpPr txBox="1"/>
            <p:nvPr/>
          </p:nvSpPr>
          <p:spPr>
            <a:xfrm>
              <a:off x="384" y="2584"/>
              <a:ext cx="785" cy="293"/>
            </a:xfrm>
            <a:prstGeom prst="rect">
              <a:avLst/>
            </a:prstGeom>
            <a:solidFill>
              <a:srgbClr val="EAEAEA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p>
              <a:pPr algn="ctr"/>
              <a:r>
                <a:rPr lang="en-US" altLang="zh-CN" sz="2260" dirty="0">
                  <a:solidFill>
                    <a:srgbClr val="0F0C19"/>
                  </a:solidFill>
                  <a:latin typeface="Arial" panose="020B0604020202020204" pitchFamily="34" charset="0"/>
                </a:rPr>
                <a:t>sum</a:t>
              </a:r>
              <a:endParaRPr lang="en-US" altLang="zh-CN" sz="2260" dirty="0">
                <a:solidFill>
                  <a:srgbClr val="0F0C1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92" name="Line 32"/>
            <p:cNvSpPr/>
            <p:nvPr/>
          </p:nvSpPr>
          <p:spPr>
            <a:xfrm>
              <a:off x="1169" y="2735"/>
              <a:ext cx="576" cy="0"/>
            </a:xfrm>
            <a:prstGeom prst="line">
              <a:avLst/>
            </a:prstGeom>
            <a:ln w="38100" cap="flat" cmpd="sng">
              <a:solidFill>
                <a:srgbClr val="0F0C19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5193" name="Text Box 33"/>
            <p:cNvSpPr txBox="1"/>
            <p:nvPr/>
          </p:nvSpPr>
          <p:spPr>
            <a:xfrm>
              <a:off x="1748" y="2602"/>
              <a:ext cx="1192" cy="25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1885" dirty="0">
                  <a:solidFill>
                    <a:srgbClr val="0F0C19"/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1885" dirty="0">
                  <a:solidFill>
                    <a:srgbClr val="0F0C19"/>
                  </a:solidFill>
                  <a:latin typeface="Arial" panose="020B0604020202020204" pitchFamily="34" charset="0"/>
                </a:rPr>
                <a:t>等待文件输出</a:t>
              </a:r>
              <a:r>
                <a:rPr lang="en-US" altLang="zh-CN" sz="1885" dirty="0">
                  <a:solidFill>
                    <a:srgbClr val="0F0C19"/>
                  </a:solidFill>
                  <a:latin typeface="Arial" panose="020B0604020202020204" pitchFamily="34" charset="0"/>
                </a:rPr>
                <a:t>)</a:t>
              </a:r>
              <a:endParaRPr lang="en-US" altLang="zh-CN" sz="4145" b="0" dirty="0">
                <a:solidFill>
                  <a:srgbClr val="0F0C1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94" name="Line 34"/>
            <p:cNvSpPr/>
            <p:nvPr/>
          </p:nvSpPr>
          <p:spPr>
            <a:xfrm flipV="1">
              <a:off x="2945" y="2726"/>
              <a:ext cx="624" cy="4"/>
            </a:xfrm>
            <a:prstGeom prst="line">
              <a:avLst/>
            </a:prstGeom>
            <a:ln w="38100" cap="flat" cmpd="sng">
              <a:solidFill>
                <a:srgbClr val="0F0C19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5195" name="Line 35"/>
            <p:cNvSpPr/>
            <p:nvPr/>
          </p:nvSpPr>
          <p:spPr>
            <a:xfrm>
              <a:off x="2945" y="2604"/>
              <a:ext cx="0" cy="240"/>
            </a:xfrm>
            <a:prstGeom prst="line">
              <a:avLst/>
            </a:prstGeom>
            <a:ln w="57150" cap="flat" cmpd="sng">
              <a:solidFill>
                <a:srgbClr val="0F0C1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196" name="Line 36"/>
            <p:cNvSpPr/>
            <p:nvPr/>
          </p:nvSpPr>
          <p:spPr>
            <a:xfrm>
              <a:off x="1745" y="2603"/>
              <a:ext cx="0" cy="240"/>
            </a:xfrm>
            <a:prstGeom prst="line">
              <a:avLst/>
            </a:prstGeom>
            <a:ln w="57150" cap="flat" cmpd="sng">
              <a:solidFill>
                <a:srgbClr val="0F0C1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197" name="Text Box 37"/>
            <p:cNvSpPr txBox="1"/>
            <p:nvPr/>
          </p:nvSpPr>
          <p:spPr>
            <a:xfrm>
              <a:off x="3569" y="2609"/>
              <a:ext cx="1192" cy="25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1885" dirty="0">
                  <a:solidFill>
                    <a:srgbClr val="0F0C19"/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1885" dirty="0">
                  <a:solidFill>
                    <a:srgbClr val="0F0C19"/>
                  </a:solidFill>
                  <a:latin typeface="Arial" panose="020B0604020202020204" pitchFamily="34" charset="0"/>
                </a:rPr>
                <a:t>等待文件输出</a:t>
              </a:r>
              <a:r>
                <a:rPr lang="en-US" altLang="zh-CN" sz="1885" dirty="0">
                  <a:solidFill>
                    <a:srgbClr val="0F0C19"/>
                  </a:solidFill>
                  <a:latin typeface="Arial" panose="020B0604020202020204" pitchFamily="34" charset="0"/>
                </a:rPr>
                <a:t>)</a:t>
              </a:r>
              <a:endParaRPr lang="en-US" altLang="zh-CN" sz="4145" b="0" dirty="0">
                <a:solidFill>
                  <a:srgbClr val="0F0C1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98" name="Line 38"/>
            <p:cNvSpPr/>
            <p:nvPr/>
          </p:nvSpPr>
          <p:spPr>
            <a:xfrm flipV="1">
              <a:off x="4766" y="2735"/>
              <a:ext cx="624" cy="4"/>
            </a:xfrm>
            <a:prstGeom prst="line">
              <a:avLst/>
            </a:prstGeom>
            <a:ln w="38100" cap="flat" cmpd="sng">
              <a:solidFill>
                <a:srgbClr val="0F0C19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5199" name="Line 39"/>
            <p:cNvSpPr/>
            <p:nvPr/>
          </p:nvSpPr>
          <p:spPr>
            <a:xfrm>
              <a:off x="4766" y="2611"/>
              <a:ext cx="0" cy="240"/>
            </a:xfrm>
            <a:prstGeom prst="line">
              <a:avLst/>
            </a:prstGeom>
            <a:ln w="57150" cap="flat" cmpd="sng">
              <a:solidFill>
                <a:srgbClr val="0F0C1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200" name="Line 40"/>
            <p:cNvSpPr/>
            <p:nvPr/>
          </p:nvSpPr>
          <p:spPr>
            <a:xfrm>
              <a:off x="3566" y="2610"/>
              <a:ext cx="0" cy="240"/>
            </a:xfrm>
            <a:prstGeom prst="line">
              <a:avLst/>
            </a:prstGeom>
            <a:ln w="57150" cap="flat" cmpd="sng">
              <a:solidFill>
                <a:srgbClr val="0F0C19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5127" name="Rectangle 41"/>
          <p:cNvSpPr/>
          <p:nvPr/>
        </p:nvSpPr>
        <p:spPr>
          <a:xfrm>
            <a:off x="838622" y="1993086"/>
            <a:ext cx="7463764" cy="815181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0" dirty="0">
                <a:solidFill>
                  <a:srgbClr val="FF0000"/>
                </a:solidFill>
                <a:latin typeface="Arial" panose="020B0604020202020204" pitchFamily="34" charset="0"/>
              </a:rPr>
              <a:t>让出</a:t>
            </a:r>
            <a:r>
              <a:rPr lang="en-US" altLang="zh-CN" sz="2640" dirty="0">
                <a:solidFill>
                  <a:srgbClr val="FF0000"/>
                </a:solidFill>
                <a:latin typeface="Arial" panose="020B0604020202020204" pitchFamily="34" charset="0"/>
              </a:rPr>
              <a:t>CPU</a:t>
            </a:r>
            <a:r>
              <a:rPr lang="zh-CN" altLang="en-US" sz="2640" dirty="0">
                <a:solidFill>
                  <a:srgbClr val="FF0000"/>
                </a:solidFill>
                <a:latin typeface="Arial" panose="020B0604020202020204" pitchFamily="34" charset="0"/>
              </a:rPr>
              <a:t>的动作细节</a:t>
            </a:r>
            <a:endParaRPr lang="zh-CN" altLang="en-US" sz="264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78218" name="Group 42"/>
          <p:cNvGrpSpPr/>
          <p:nvPr/>
        </p:nvGrpSpPr>
        <p:grpSpPr>
          <a:xfrm>
            <a:off x="4643796" y="2782838"/>
            <a:ext cx="933344" cy="1292323"/>
            <a:chOff x="2208" y="528"/>
            <a:chExt cx="672" cy="1008"/>
          </a:xfrm>
        </p:grpSpPr>
        <p:sp>
          <p:nvSpPr>
            <p:cNvPr id="5188" name="Rectangle 43"/>
            <p:cNvSpPr/>
            <p:nvPr/>
          </p:nvSpPr>
          <p:spPr>
            <a:xfrm>
              <a:off x="2208" y="528"/>
              <a:ext cx="672" cy="100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89" name="Rectangle 44"/>
            <p:cNvSpPr/>
            <p:nvPr/>
          </p:nvSpPr>
          <p:spPr>
            <a:xfrm>
              <a:off x="2208" y="528"/>
              <a:ext cx="672" cy="240"/>
            </a:xfrm>
            <a:prstGeom prst="rect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PCB1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90" name="Rectangle 45"/>
            <p:cNvSpPr/>
            <p:nvPr/>
          </p:nvSpPr>
          <p:spPr>
            <a:xfrm>
              <a:off x="2208" y="768"/>
              <a:ext cx="672" cy="192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Registers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178222" name="Line 46"/>
          <p:cNvSpPr/>
          <p:nvPr/>
        </p:nvSpPr>
        <p:spPr>
          <a:xfrm>
            <a:off x="5577141" y="2926430"/>
            <a:ext cx="78975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78223" name="Group 47"/>
          <p:cNvGrpSpPr/>
          <p:nvPr/>
        </p:nvGrpSpPr>
        <p:grpSpPr>
          <a:xfrm>
            <a:off x="6366893" y="2782838"/>
            <a:ext cx="933344" cy="1292323"/>
            <a:chOff x="2208" y="528"/>
            <a:chExt cx="672" cy="1008"/>
          </a:xfrm>
        </p:grpSpPr>
        <p:sp>
          <p:nvSpPr>
            <p:cNvPr id="5185" name="Rectangle 48"/>
            <p:cNvSpPr/>
            <p:nvPr/>
          </p:nvSpPr>
          <p:spPr>
            <a:xfrm>
              <a:off x="2208" y="528"/>
              <a:ext cx="672" cy="100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86" name="Rectangle 49"/>
            <p:cNvSpPr/>
            <p:nvPr/>
          </p:nvSpPr>
          <p:spPr>
            <a:xfrm>
              <a:off x="2208" y="528"/>
              <a:ext cx="672" cy="240"/>
            </a:xfrm>
            <a:prstGeom prst="rect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PCB6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87" name="Rectangle 50"/>
            <p:cNvSpPr/>
            <p:nvPr/>
          </p:nvSpPr>
          <p:spPr>
            <a:xfrm>
              <a:off x="2208" y="768"/>
              <a:ext cx="672" cy="192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Registers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78227" name="Group 51"/>
          <p:cNvGrpSpPr/>
          <p:nvPr/>
        </p:nvGrpSpPr>
        <p:grpSpPr>
          <a:xfrm>
            <a:off x="5577141" y="2926430"/>
            <a:ext cx="574366" cy="272226"/>
            <a:chOff x="4704" y="3019"/>
            <a:chExt cx="384" cy="182"/>
          </a:xfrm>
        </p:grpSpPr>
        <p:grpSp>
          <p:nvGrpSpPr>
            <p:cNvPr id="5179" name="Group 52"/>
            <p:cNvGrpSpPr/>
            <p:nvPr/>
          </p:nvGrpSpPr>
          <p:grpSpPr>
            <a:xfrm>
              <a:off x="4896" y="3019"/>
              <a:ext cx="192" cy="182"/>
              <a:chOff x="2448" y="2016"/>
              <a:chExt cx="192" cy="192"/>
            </a:xfrm>
          </p:grpSpPr>
          <p:sp>
            <p:nvSpPr>
              <p:cNvPr id="5181" name="Line 53"/>
              <p:cNvSpPr/>
              <p:nvPr/>
            </p:nvSpPr>
            <p:spPr>
              <a:xfrm>
                <a:off x="2448" y="2112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" name="Line 54"/>
              <p:cNvSpPr/>
              <p:nvPr/>
            </p:nvSpPr>
            <p:spPr>
              <a:xfrm>
                <a:off x="2496" y="2160"/>
                <a:ext cx="9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3" name="Line 55"/>
              <p:cNvSpPr/>
              <p:nvPr/>
            </p:nvSpPr>
            <p:spPr>
              <a:xfrm>
                <a:off x="2520" y="2208"/>
                <a:ext cx="4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4" name="Line 56"/>
              <p:cNvSpPr/>
              <p:nvPr/>
            </p:nvSpPr>
            <p:spPr>
              <a:xfrm>
                <a:off x="2544" y="2016"/>
                <a:ext cx="0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180" name="Line 57"/>
            <p:cNvSpPr/>
            <p:nvPr/>
          </p:nvSpPr>
          <p:spPr>
            <a:xfrm>
              <a:off x="4704" y="3019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78234" name="Line 58"/>
          <p:cNvSpPr/>
          <p:nvPr/>
        </p:nvSpPr>
        <p:spPr>
          <a:xfrm>
            <a:off x="2561720" y="2926430"/>
            <a:ext cx="2082076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8235" name="Freeform 59"/>
          <p:cNvSpPr/>
          <p:nvPr/>
        </p:nvSpPr>
        <p:spPr>
          <a:xfrm>
            <a:off x="2777107" y="3070021"/>
            <a:ext cx="1794893" cy="122052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2544" h="816">
                <a:moveTo>
                  <a:pt x="0" y="96"/>
                </a:moveTo>
                <a:lnTo>
                  <a:pt x="1488" y="816"/>
                </a:lnTo>
                <a:lnTo>
                  <a:pt x="2160" y="816"/>
                </a:lnTo>
                <a:lnTo>
                  <a:pt x="2544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 sz="2260"/>
          </a:p>
        </p:txBody>
      </p:sp>
      <p:sp>
        <p:nvSpPr>
          <p:cNvPr id="178236" name="Rectangle 60"/>
          <p:cNvSpPr/>
          <p:nvPr/>
        </p:nvSpPr>
        <p:spPr>
          <a:xfrm>
            <a:off x="2445052" y="2854634"/>
            <a:ext cx="933344" cy="288679"/>
          </a:xfrm>
          <a:prstGeom prst="rect">
            <a:avLst/>
          </a:prstGeom>
          <a:solidFill>
            <a:srgbClr val="00FFFF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lang="en-US" altLang="zh-CN" sz="1510" dirty="0">
                <a:latin typeface="Century Gothic" panose="020B0502020202020204" pitchFamily="34" charset="0"/>
              </a:rPr>
              <a:t>Head</a:t>
            </a:r>
            <a:endParaRPr lang="en-US" altLang="zh-CN" sz="1510" dirty="0">
              <a:latin typeface="Century Gothic" panose="020B0502020202020204" pitchFamily="34" charset="0"/>
            </a:endParaRPr>
          </a:p>
        </p:txBody>
      </p:sp>
      <p:sp>
        <p:nvSpPr>
          <p:cNvPr id="178237" name="Rectangle 61"/>
          <p:cNvSpPr/>
          <p:nvPr/>
        </p:nvSpPr>
        <p:spPr>
          <a:xfrm>
            <a:off x="2445052" y="3143313"/>
            <a:ext cx="933344" cy="287183"/>
          </a:xfrm>
          <a:prstGeom prst="rect">
            <a:avLst/>
          </a:prstGeom>
          <a:solidFill>
            <a:srgbClr val="FF66CC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lang="en-US" altLang="zh-CN" sz="1510" dirty="0">
                <a:latin typeface="Century Gothic" panose="020B0502020202020204" pitchFamily="34" charset="0"/>
              </a:rPr>
              <a:t>Tail</a:t>
            </a:r>
            <a:endParaRPr lang="en-US" altLang="zh-CN" sz="1510" dirty="0">
              <a:latin typeface="Century Gothic" panose="020B0502020202020204" pitchFamily="34" charset="0"/>
            </a:endParaRPr>
          </a:p>
        </p:txBody>
      </p:sp>
      <p:sp>
        <p:nvSpPr>
          <p:cNvPr id="178238" name="Text Box 62"/>
          <p:cNvSpPr txBox="1"/>
          <p:nvPr/>
        </p:nvSpPr>
        <p:spPr>
          <a:xfrm>
            <a:off x="1484784" y="2854634"/>
            <a:ext cx="861548" cy="61404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algn="ctr" eaLnBrk="0" hangingPunct="0"/>
            <a:r>
              <a:rPr lang="zh-CN" altLang="en-US" sz="1695" dirty="0">
                <a:latin typeface="Century Gothic" panose="020B0502020202020204" pitchFamily="34" charset="0"/>
              </a:rPr>
              <a:t>磁盘等待队列</a:t>
            </a:r>
            <a:endParaRPr lang="zh-CN" altLang="en-US" sz="1695" dirty="0">
              <a:latin typeface="Century Gothic" panose="020B0502020202020204" pitchFamily="34" charset="0"/>
            </a:endParaRPr>
          </a:p>
        </p:txBody>
      </p:sp>
      <p:grpSp>
        <p:nvGrpSpPr>
          <p:cNvPr id="178239" name="Group 63"/>
          <p:cNvGrpSpPr/>
          <p:nvPr/>
        </p:nvGrpSpPr>
        <p:grpSpPr>
          <a:xfrm>
            <a:off x="7300237" y="2926430"/>
            <a:ext cx="574366" cy="272226"/>
            <a:chOff x="4704" y="3019"/>
            <a:chExt cx="384" cy="182"/>
          </a:xfrm>
        </p:grpSpPr>
        <p:grpSp>
          <p:nvGrpSpPr>
            <p:cNvPr id="5173" name="Group 64"/>
            <p:cNvGrpSpPr/>
            <p:nvPr/>
          </p:nvGrpSpPr>
          <p:grpSpPr>
            <a:xfrm>
              <a:off x="4896" y="3019"/>
              <a:ext cx="192" cy="182"/>
              <a:chOff x="2448" y="2016"/>
              <a:chExt cx="192" cy="192"/>
            </a:xfrm>
          </p:grpSpPr>
          <p:sp>
            <p:nvSpPr>
              <p:cNvPr id="5175" name="Line 65"/>
              <p:cNvSpPr/>
              <p:nvPr/>
            </p:nvSpPr>
            <p:spPr>
              <a:xfrm>
                <a:off x="2448" y="2112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76" name="Line 66"/>
              <p:cNvSpPr/>
              <p:nvPr/>
            </p:nvSpPr>
            <p:spPr>
              <a:xfrm>
                <a:off x="2496" y="2160"/>
                <a:ext cx="9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77" name="Line 67"/>
              <p:cNvSpPr/>
              <p:nvPr/>
            </p:nvSpPr>
            <p:spPr>
              <a:xfrm>
                <a:off x="2520" y="2208"/>
                <a:ext cx="4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78" name="Line 68"/>
              <p:cNvSpPr/>
              <p:nvPr/>
            </p:nvSpPr>
            <p:spPr>
              <a:xfrm>
                <a:off x="2544" y="2016"/>
                <a:ext cx="0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174" name="Line 69"/>
            <p:cNvSpPr/>
            <p:nvPr/>
          </p:nvSpPr>
          <p:spPr>
            <a:xfrm>
              <a:off x="4704" y="3019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8246" name="Group 70"/>
          <p:cNvGrpSpPr/>
          <p:nvPr/>
        </p:nvGrpSpPr>
        <p:grpSpPr>
          <a:xfrm>
            <a:off x="4069430" y="4704870"/>
            <a:ext cx="933344" cy="1292323"/>
            <a:chOff x="2208" y="528"/>
            <a:chExt cx="672" cy="1008"/>
          </a:xfrm>
        </p:grpSpPr>
        <p:sp>
          <p:nvSpPr>
            <p:cNvPr id="5170" name="Rectangle 71"/>
            <p:cNvSpPr/>
            <p:nvPr/>
          </p:nvSpPr>
          <p:spPr>
            <a:xfrm>
              <a:off x="2208" y="528"/>
              <a:ext cx="672" cy="100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71" name="Rectangle 72"/>
            <p:cNvSpPr/>
            <p:nvPr/>
          </p:nvSpPr>
          <p:spPr>
            <a:xfrm>
              <a:off x="2208" y="528"/>
              <a:ext cx="672" cy="240"/>
            </a:xfrm>
            <a:prstGeom prst="rect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PCB4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72" name="Rectangle 73"/>
            <p:cNvSpPr/>
            <p:nvPr/>
          </p:nvSpPr>
          <p:spPr>
            <a:xfrm>
              <a:off x="2208" y="768"/>
              <a:ext cx="672" cy="192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Registers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78250" name="Group 74"/>
          <p:cNvGrpSpPr/>
          <p:nvPr/>
        </p:nvGrpSpPr>
        <p:grpSpPr>
          <a:xfrm>
            <a:off x="5433548" y="4704870"/>
            <a:ext cx="933344" cy="1292323"/>
            <a:chOff x="2208" y="528"/>
            <a:chExt cx="672" cy="1008"/>
          </a:xfrm>
        </p:grpSpPr>
        <p:sp>
          <p:nvSpPr>
            <p:cNvPr id="5167" name="Rectangle 75"/>
            <p:cNvSpPr/>
            <p:nvPr/>
          </p:nvSpPr>
          <p:spPr>
            <a:xfrm>
              <a:off x="2208" y="528"/>
              <a:ext cx="672" cy="100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68" name="Rectangle 76"/>
            <p:cNvSpPr/>
            <p:nvPr/>
          </p:nvSpPr>
          <p:spPr>
            <a:xfrm>
              <a:off x="2208" y="528"/>
              <a:ext cx="672" cy="240"/>
            </a:xfrm>
            <a:prstGeom prst="rect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PCB8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69" name="Rectangle 77"/>
            <p:cNvSpPr/>
            <p:nvPr/>
          </p:nvSpPr>
          <p:spPr>
            <a:xfrm>
              <a:off x="2208" y="768"/>
              <a:ext cx="672" cy="192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Registers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78254" name="Group 78"/>
          <p:cNvGrpSpPr/>
          <p:nvPr/>
        </p:nvGrpSpPr>
        <p:grpSpPr>
          <a:xfrm>
            <a:off x="7084850" y="4704870"/>
            <a:ext cx="933344" cy="1292323"/>
            <a:chOff x="2208" y="528"/>
            <a:chExt cx="672" cy="1008"/>
          </a:xfrm>
        </p:grpSpPr>
        <p:sp>
          <p:nvSpPr>
            <p:cNvPr id="5164" name="Rectangle 79"/>
            <p:cNvSpPr/>
            <p:nvPr/>
          </p:nvSpPr>
          <p:spPr>
            <a:xfrm>
              <a:off x="2208" y="528"/>
              <a:ext cx="672" cy="100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65" name="Rectangle 80"/>
            <p:cNvSpPr/>
            <p:nvPr/>
          </p:nvSpPr>
          <p:spPr>
            <a:xfrm>
              <a:off x="2208" y="528"/>
              <a:ext cx="672" cy="240"/>
            </a:xfrm>
            <a:prstGeom prst="rect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PCB7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66" name="Rectangle 81"/>
            <p:cNvSpPr/>
            <p:nvPr/>
          </p:nvSpPr>
          <p:spPr>
            <a:xfrm>
              <a:off x="2208" y="768"/>
              <a:ext cx="672" cy="192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Registers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78258" name="Group 82"/>
          <p:cNvGrpSpPr/>
          <p:nvPr/>
        </p:nvGrpSpPr>
        <p:grpSpPr>
          <a:xfrm>
            <a:off x="8305378" y="4848462"/>
            <a:ext cx="287183" cy="287183"/>
            <a:chOff x="2448" y="2016"/>
            <a:chExt cx="192" cy="192"/>
          </a:xfrm>
        </p:grpSpPr>
        <p:sp>
          <p:nvSpPr>
            <p:cNvPr id="5160" name="Line 83"/>
            <p:cNvSpPr/>
            <p:nvPr/>
          </p:nvSpPr>
          <p:spPr>
            <a:xfrm>
              <a:off x="2448" y="2112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1" name="Line 84"/>
            <p:cNvSpPr/>
            <p:nvPr/>
          </p:nvSpPr>
          <p:spPr>
            <a:xfrm>
              <a:off x="2496" y="216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2" name="Line 85"/>
            <p:cNvSpPr/>
            <p:nvPr/>
          </p:nvSpPr>
          <p:spPr>
            <a:xfrm>
              <a:off x="2520" y="2208"/>
              <a:ext cx="4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3" name="Line 86"/>
            <p:cNvSpPr/>
            <p:nvPr/>
          </p:nvSpPr>
          <p:spPr>
            <a:xfrm>
              <a:off x="2544" y="2016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78263" name="Line 87"/>
          <p:cNvSpPr/>
          <p:nvPr/>
        </p:nvSpPr>
        <p:spPr>
          <a:xfrm>
            <a:off x="5002775" y="4848462"/>
            <a:ext cx="43077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8264" name="Line 88"/>
          <p:cNvSpPr/>
          <p:nvPr/>
        </p:nvSpPr>
        <p:spPr>
          <a:xfrm>
            <a:off x="6366893" y="4848462"/>
            <a:ext cx="71795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8265" name="Line 89"/>
          <p:cNvSpPr/>
          <p:nvPr/>
        </p:nvSpPr>
        <p:spPr>
          <a:xfrm>
            <a:off x="8018194" y="4848462"/>
            <a:ext cx="43077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8266" name="Line 90"/>
          <p:cNvSpPr/>
          <p:nvPr/>
        </p:nvSpPr>
        <p:spPr>
          <a:xfrm>
            <a:off x="2489924" y="4864914"/>
            <a:ext cx="150771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8267" name="Freeform 91"/>
          <p:cNvSpPr/>
          <p:nvPr/>
        </p:nvSpPr>
        <p:spPr>
          <a:xfrm>
            <a:off x="2920698" y="4920258"/>
            <a:ext cx="4164152" cy="122052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3024" h="912">
                <a:moveTo>
                  <a:pt x="0" y="192"/>
                </a:moveTo>
                <a:lnTo>
                  <a:pt x="816" y="912"/>
                </a:lnTo>
                <a:lnTo>
                  <a:pt x="2640" y="912"/>
                </a:lnTo>
                <a:lnTo>
                  <a:pt x="3024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 sz="2260"/>
          </a:p>
        </p:txBody>
      </p:sp>
      <p:grpSp>
        <p:nvGrpSpPr>
          <p:cNvPr id="178268" name="Group 92"/>
          <p:cNvGrpSpPr/>
          <p:nvPr/>
        </p:nvGrpSpPr>
        <p:grpSpPr>
          <a:xfrm>
            <a:off x="2445052" y="4692904"/>
            <a:ext cx="933344" cy="575861"/>
            <a:chOff x="672" y="768"/>
            <a:chExt cx="720" cy="480"/>
          </a:xfrm>
        </p:grpSpPr>
        <p:sp>
          <p:nvSpPr>
            <p:cNvPr id="5158" name="Rectangle 93"/>
            <p:cNvSpPr/>
            <p:nvPr/>
          </p:nvSpPr>
          <p:spPr>
            <a:xfrm>
              <a:off x="672" y="768"/>
              <a:ext cx="720" cy="240"/>
            </a:xfrm>
            <a:prstGeom prst="rect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Head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59" name="Rectangle 94"/>
            <p:cNvSpPr/>
            <p:nvPr/>
          </p:nvSpPr>
          <p:spPr>
            <a:xfrm>
              <a:off x="672" y="1008"/>
              <a:ext cx="720" cy="240"/>
            </a:xfrm>
            <a:prstGeom prst="rect">
              <a:avLst/>
            </a:prstGeom>
            <a:solidFill>
              <a:srgbClr val="FF66CC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Tail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178271" name="Text Box 95"/>
          <p:cNvSpPr txBox="1"/>
          <p:nvPr/>
        </p:nvSpPr>
        <p:spPr>
          <a:xfrm>
            <a:off x="1628375" y="4649527"/>
            <a:ext cx="717957" cy="61404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algn="ctr" eaLnBrk="0" hangingPunct="0"/>
            <a:r>
              <a:rPr lang="zh-CN" altLang="en-US" sz="1695" dirty="0">
                <a:latin typeface="Century Gothic" panose="020B0502020202020204" pitchFamily="34" charset="0"/>
              </a:rPr>
              <a:t>就绪</a:t>
            </a:r>
            <a:endParaRPr lang="zh-CN" altLang="en-US" sz="1695" dirty="0">
              <a:latin typeface="Century Gothic" panose="020B0502020202020204" pitchFamily="34" charset="0"/>
            </a:endParaRPr>
          </a:p>
          <a:p>
            <a:pPr algn="ctr" eaLnBrk="0" hangingPunct="0"/>
            <a:r>
              <a:rPr lang="zh-CN" altLang="en-US" sz="1695" dirty="0">
                <a:latin typeface="Century Gothic" panose="020B0502020202020204" pitchFamily="34" charset="0"/>
              </a:rPr>
              <a:t>队列</a:t>
            </a:r>
            <a:endParaRPr lang="zh-CN" altLang="en-US" sz="1695" dirty="0">
              <a:latin typeface="Century Gothic" panose="020B0502020202020204" pitchFamily="34" charset="0"/>
            </a:endParaRPr>
          </a:p>
        </p:txBody>
      </p:sp>
      <p:sp>
        <p:nvSpPr>
          <p:cNvPr id="5149" name="Rectangle 96"/>
          <p:cNvSpPr/>
          <p:nvPr/>
        </p:nvSpPr>
        <p:spPr>
          <a:xfrm>
            <a:off x="407848" y="3429000"/>
            <a:ext cx="1148732" cy="1938485"/>
          </a:xfrm>
          <a:prstGeom prst="rect">
            <a:avLst/>
          </a:prstGeom>
          <a:solidFill>
            <a:srgbClr val="EAEAEA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lang="en-US" altLang="zh-CN" sz="1510" dirty="0">
              <a:latin typeface="Century Gothic" panose="020B0502020202020204" pitchFamily="34" charset="0"/>
            </a:endParaRPr>
          </a:p>
          <a:p>
            <a:pPr algn="ctr" eaLnBrk="0" hangingPunct="0"/>
            <a:endParaRPr lang="en-US" altLang="zh-CN" sz="1510" dirty="0">
              <a:latin typeface="Century Gothic" panose="020B0502020202020204" pitchFamily="34" charset="0"/>
            </a:endParaRPr>
          </a:p>
          <a:p>
            <a:pPr algn="ctr" eaLnBrk="0" hangingPunct="0"/>
            <a:endParaRPr lang="en-US" altLang="zh-CN" sz="1510" dirty="0">
              <a:latin typeface="Century Gothic" panose="020B0502020202020204" pitchFamily="34" charset="0"/>
            </a:endParaRPr>
          </a:p>
          <a:p>
            <a:pPr algn="ctr" eaLnBrk="0" hangingPunct="0"/>
            <a:endParaRPr lang="en-US" altLang="zh-CN" sz="1510" dirty="0">
              <a:latin typeface="Century Gothic" panose="020B0502020202020204" pitchFamily="34" charset="0"/>
            </a:endParaRPr>
          </a:p>
          <a:p>
            <a:pPr algn="ctr" eaLnBrk="0" hangingPunct="0"/>
            <a:endParaRPr lang="en-US" altLang="zh-CN" sz="1510" dirty="0">
              <a:latin typeface="Century Gothic" panose="020B0502020202020204" pitchFamily="34" charset="0"/>
            </a:endParaRPr>
          </a:p>
          <a:p>
            <a:pPr algn="ctr" eaLnBrk="0" hangingPunct="0"/>
            <a:endParaRPr lang="en-US" altLang="zh-CN" sz="1510" dirty="0">
              <a:latin typeface="Century Gothic" panose="020B0502020202020204" pitchFamily="34" charset="0"/>
            </a:endParaRPr>
          </a:p>
          <a:p>
            <a:pPr algn="ctr" eaLnBrk="0" hangingPunct="0"/>
            <a:endParaRPr lang="en-US" altLang="zh-CN" sz="1510" dirty="0">
              <a:latin typeface="Century Gothic" panose="020B0502020202020204" pitchFamily="34" charset="0"/>
            </a:endParaRPr>
          </a:p>
          <a:p>
            <a:pPr algn="ctr" eaLnBrk="0" hangingPunct="0"/>
            <a:r>
              <a:rPr lang="zh-CN" altLang="en-US" sz="1510" dirty="0">
                <a:latin typeface="Century Gothic" panose="020B0502020202020204" pitchFamily="34" charset="0"/>
              </a:rPr>
              <a:t>物理</a:t>
            </a:r>
            <a:r>
              <a:rPr lang="en-US" altLang="zh-CN" sz="1510" dirty="0">
                <a:latin typeface="Century Gothic" panose="020B0502020202020204" pitchFamily="34" charset="0"/>
              </a:rPr>
              <a:t>CPU </a:t>
            </a:r>
            <a:endParaRPr lang="en-US" altLang="zh-CN" sz="1510" dirty="0">
              <a:latin typeface="Century Gothic" panose="020B0502020202020204" pitchFamily="34" charset="0"/>
            </a:endParaRPr>
          </a:p>
        </p:txBody>
      </p:sp>
      <p:grpSp>
        <p:nvGrpSpPr>
          <p:cNvPr id="178273" name="Group 97"/>
          <p:cNvGrpSpPr/>
          <p:nvPr/>
        </p:nvGrpSpPr>
        <p:grpSpPr>
          <a:xfrm>
            <a:off x="506567" y="3716183"/>
            <a:ext cx="933344" cy="1292323"/>
            <a:chOff x="2208" y="528"/>
            <a:chExt cx="672" cy="1008"/>
          </a:xfrm>
        </p:grpSpPr>
        <p:sp>
          <p:nvSpPr>
            <p:cNvPr id="5155" name="Rectangle 98"/>
            <p:cNvSpPr/>
            <p:nvPr/>
          </p:nvSpPr>
          <p:spPr>
            <a:xfrm>
              <a:off x="2208" y="528"/>
              <a:ext cx="672" cy="100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56" name="Rectangle 99"/>
            <p:cNvSpPr/>
            <p:nvPr/>
          </p:nvSpPr>
          <p:spPr>
            <a:xfrm>
              <a:off x="2208" y="528"/>
              <a:ext cx="672" cy="240"/>
            </a:xfrm>
            <a:prstGeom prst="rect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PCB6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57" name="Rectangle 100"/>
            <p:cNvSpPr/>
            <p:nvPr/>
          </p:nvSpPr>
          <p:spPr>
            <a:xfrm>
              <a:off x="2208" y="768"/>
              <a:ext cx="672" cy="192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Registers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78277" name="Group 101"/>
          <p:cNvGrpSpPr/>
          <p:nvPr/>
        </p:nvGrpSpPr>
        <p:grpSpPr>
          <a:xfrm>
            <a:off x="511055" y="3702721"/>
            <a:ext cx="933344" cy="1292323"/>
            <a:chOff x="2208" y="528"/>
            <a:chExt cx="672" cy="1008"/>
          </a:xfrm>
        </p:grpSpPr>
        <p:sp>
          <p:nvSpPr>
            <p:cNvPr id="5152" name="Rectangle 102"/>
            <p:cNvSpPr/>
            <p:nvPr/>
          </p:nvSpPr>
          <p:spPr>
            <a:xfrm>
              <a:off x="2208" y="528"/>
              <a:ext cx="672" cy="100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53" name="Rectangle 103"/>
            <p:cNvSpPr/>
            <p:nvPr/>
          </p:nvSpPr>
          <p:spPr>
            <a:xfrm>
              <a:off x="2208" y="528"/>
              <a:ext cx="672" cy="240"/>
            </a:xfrm>
            <a:prstGeom prst="rect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PCB4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  <p:sp>
          <p:nvSpPr>
            <p:cNvPr id="5154" name="Rectangle 104"/>
            <p:cNvSpPr/>
            <p:nvPr/>
          </p:nvSpPr>
          <p:spPr>
            <a:xfrm>
              <a:off x="2208" y="768"/>
              <a:ext cx="672" cy="192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510" dirty="0">
                  <a:latin typeface="Century Gothic" panose="020B0502020202020204" pitchFamily="34" charset="0"/>
                </a:rPr>
                <a:t>Registers</a:t>
              </a:r>
              <a:endParaRPr lang="en-US" altLang="zh-CN" sz="1510" dirty="0">
                <a:latin typeface="Century Gothic" panose="020B0502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178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8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8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8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8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8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8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8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8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7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7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7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7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7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7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7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7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7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7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78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8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8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78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7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36" grpId="0" bldLvl="0" animBg="1"/>
      <p:bldP spid="178237" grpId="0" bldLvl="0" animBg="1"/>
      <p:bldP spid="178238" grpId="0"/>
      <p:bldP spid="17827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6154" tIns="43076" rIns="86154" bIns="43076" anchor="ctr" anchorCtr="0"/>
          <a:p>
            <a:pPr eaLnBrk="1" hangingPunct="1"/>
            <a:r>
              <a:rPr lang="zh-CN" altLang="en-US" dirty="0"/>
              <a:t>让出</a:t>
            </a:r>
            <a:r>
              <a:rPr lang="en-US" altLang="zh-CN" dirty="0"/>
              <a:t>CPU</a:t>
            </a:r>
            <a:r>
              <a:rPr lang="zh-CN" altLang="en-US" dirty="0"/>
              <a:t>的具体实现</a:t>
            </a:r>
            <a:endParaRPr lang="zh-CN" altLang="en-US" dirty="0"/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>
            <p:ph idx="1"/>
          </p:nvPr>
        </p:nvGraphicFramePr>
        <p:xfrm>
          <a:off x="7790841" y="198192"/>
          <a:ext cx="1088902" cy="1148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166620" imgH="2287270" progId="MS_ClipArt_Gallery.2">
                  <p:embed/>
                </p:oleObj>
              </mc:Choice>
              <mc:Fallback>
                <p:oleObj name="" r:id="rId1" imgW="2166620" imgH="2287270" progId="MS_ClipArt_Gallery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7790841" y="198192"/>
                        <a:ext cx="1088902" cy="114873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Rectangle 81"/>
          <p:cNvSpPr/>
          <p:nvPr/>
        </p:nvSpPr>
        <p:spPr>
          <a:xfrm>
            <a:off x="838622" y="1346924"/>
            <a:ext cx="8041121" cy="5025701"/>
          </a:xfrm>
          <a:prstGeom prst="rect">
            <a:avLst/>
          </a:prstGeom>
          <a:noFill/>
          <a:ln w="12700">
            <a:noFill/>
          </a:ln>
        </p:spPr>
        <p:txBody>
          <a:bodyPr lIns="85248" tIns="41875" rIns="85248" bIns="41875"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</a:pPr>
            <a:r>
              <a:rPr lang="en-US" altLang="zh-CN" sz="2640" dirty="0">
                <a:latin typeface="Courier New" panose="02070309020205020404" pitchFamily="49" charset="0"/>
              </a:rPr>
              <a:t>extern Queue ReadyQueue;</a:t>
            </a:r>
            <a:endParaRPr lang="en-US" altLang="zh-CN" sz="2640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</a:pPr>
            <a:r>
              <a:rPr lang="en-US" altLang="zh-CN" sz="2640" dirty="0">
                <a:latin typeface="Courier New" panose="02070309020205020404" pitchFamily="49" charset="0"/>
              </a:rPr>
              <a:t>extern Queue DiskWaitQueue;</a:t>
            </a:r>
            <a:endParaRPr lang="en-US" altLang="zh-CN" sz="2640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</a:pPr>
            <a:r>
              <a:rPr lang="en-US" altLang="zh-CN" sz="2640" dirty="0">
                <a:latin typeface="Courier New" panose="02070309020205020404" pitchFamily="49" charset="0"/>
              </a:rPr>
              <a:t>...</a:t>
            </a:r>
            <a:endParaRPr lang="en-US" altLang="zh-CN" sz="2640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</a:pPr>
            <a:r>
              <a:rPr lang="en-US" altLang="zh-CN" sz="2640" dirty="0">
                <a:latin typeface="Courier New" panose="02070309020205020404" pitchFamily="49" charset="0"/>
              </a:rPr>
              <a:t>DiskWaitQueue.EnQueue(pCur);</a:t>
            </a:r>
            <a:endParaRPr lang="en-US" altLang="zh-CN" sz="2640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</a:pPr>
            <a:r>
              <a:rPr lang="en-US" altLang="zh-CN" sz="2640" dirty="0">
                <a:latin typeface="Courier New" panose="02070309020205020404" pitchFamily="49" charset="0"/>
              </a:rPr>
              <a:t>Dispatch();</a:t>
            </a:r>
            <a:endParaRPr lang="en-US" altLang="zh-CN" sz="2640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</a:pPr>
            <a:r>
              <a:rPr lang="en-US" altLang="zh-CN" sz="2640" dirty="0">
                <a:latin typeface="Courier New" panose="02070309020205020404" pitchFamily="49" charset="0"/>
              </a:rPr>
              <a:t>...</a:t>
            </a:r>
            <a:endParaRPr lang="en-US" altLang="zh-CN" sz="2640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</a:pPr>
            <a:r>
              <a:rPr lang="en-US" altLang="zh-CN" sz="2640" dirty="0">
                <a:latin typeface="Courier New" panose="02070309020205020404" pitchFamily="49" charset="0"/>
              </a:rPr>
              <a:t>Dispatch()</a:t>
            </a:r>
            <a:endParaRPr lang="en-US" altLang="zh-CN" sz="2640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</a:pPr>
            <a:r>
              <a:rPr lang="en-US" altLang="zh-CN" sz="2640" dirty="0">
                <a:latin typeface="Courier New" panose="02070309020205020404" pitchFamily="49" charset="0"/>
              </a:rPr>
              <a:t>{</a:t>
            </a:r>
            <a:endParaRPr lang="en-US" altLang="zh-CN" sz="2640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</a:pPr>
            <a:r>
              <a:rPr lang="en-US" altLang="zh-CN" sz="2640" dirty="0">
                <a:latin typeface="Courier New" panose="02070309020205020404" pitchFamily="49" charset="0"/>
              </a:rPr>
              <a:t>   pNew = </a:t>
            </a:r>
            <a:r>
              <a:rPr lang="en-US" altLang="zh-CN" sz="2640" dirty="0">
                <a:solidFill>
                  <a:srgbClr val="FF0000"/>
                </a:solidFill>
                <a:latin typeface="Courier New" panose="02070309020205020404" pitchFamily="49" charset="0"/>
              </a:rPr>
              <a:t>PickNext</a:t>
            </a:r>
            <a:r>
              <a:rPr lang="en-US" altLang="zh-CN" sz="2640" dirty="0">
                <a:latin typeface="Courier New" panose="02070309020205020404" pitchFamily="49" charset="0"/>
              </a:rPr>
              <a:t>(ReadyQueue); </a:t>
            </a:r>
            <a:endParaRPr lang="en-US" altLang="zh-CN" sz="2640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</a:pPr>
            <a:r>
              <a:rPr lang="en-US" altLang="zh-CN" sz="2640" dirty="0">
                <a:latin typeface="Courier New" panose="02070309020205020404" pitchFamily="49" charset="0"/>
              </a:rPr>
              <a:t>   Switch(pCur,pNew);</a:t>
            </a:r>
            <a:endParaRPr lang="en-US" altLang="zh-CN" sz="2640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</a:pPr>
            <a:r>
              <a:rPr lang="en-US" altLang="zh-CN" sz="2640" dirty="0">
                <a:latin typeface="Courier New" panose="02070309020205020404" pitchFamily="49" charset="0"/>
              </a:rPr>
              <a:t>}</a:t>
            </a:r>
            <a:endParaRPr lang="en-US" altLang="zh-CN" sz="2640" dirty="0">
              <a:latin typeface="Courier New" panose="02070309020205020404" pitchFamily="49" charset="0"/>
            </a:endParaRPr>
          </a:p>
        </p:txBody>
      </p:sp>
      <p:sp>
        <p:nvSpPr>
          <p:cNvPr id="179286" name="AutoShape 86"/>
          <p:cNvSpPr/>
          <p:nvPr/>
        </p:nvSpPr>
        <p:spPr>
          <a:xfrm>
            <a:off x="3207881" y="3070021"/>
            <a:ext cx="3805173" cy="1579506"/>
          </a:xfrm>
          <a:prstGeom prst="wedgeRoundRectCallout">
            <a:avLst>
              <a:gd name="adj1" fmla="val -45519"/>
              <a:gd name="adj2" fmla="val 68181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sz="2260" dirty="0">
                <a:solidFill>
                  <a:srgbClr val="FF0000"/>
                </a:solidFill>
                <a:latin typeface="Arial" panose="020B0604020202020204" pitchFamily="34" charset="0"/>
              </a:rPr>
              <a:t>该函数就是</a:t>
            </a:r>
            <a:r>
              <a:rPr lang="en-US" altLang="zh-CN" sz="2260" dirty="0">
                <a:solidFill>
                  <a:srgbClr val="FF0000"/>
                </a:solidFill>
                <a:latin typeface="Arial" panose="020B0604020202020204" pitchFamily="34" charset="0"/>
              </a:rPr>
              <a:t>CPU</a:t>
            </a:r>
            <a:r>
              <a:rPr lang="zh-CN" altLang="en-US" sz="2260" dirty="0">
                <a:solidFill>
                  <a:srgbClr val="FF0000"/>
                </a:solidFill>
                <a:latin typeface="Arial" panose="020B0604020202020204" pitchFamily="34" charset="0"/>
              </a:rPr>
              <a:t>调度，调度就是下一步该选择哪一个进程或线程来执行</a:t>
            </a:r>
            <a:r>
              <a:rPr lang="en-US" altLang="zh-CN" sz="226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260" dirty="0">
                <a:solidFill>
                  <a:srgbClr val="FF0000"/>
                </a:solidFill>
                <a:latin typeface="Arial" panose="020B0604020202020204" pitchFamily="34" charset="0"/>
              </a:rPr>
              <a:t>分配</a:t>
            </a:r>
            <a:r>
              <a:rPr lang="en-US" altLang="zh-CN" sz="2260" dirty="0">
                <a:solidFill>
                  <a:srgbClr val="FF0000"/>
                </a:solidFill>
                <a:latin typeface="Arial" panose="020B0604020202020204" pitchFamily="34" charset="0"/>
              </a:rPr>
              <a:t>CPU</a:t>
            </a:r>
            <a:r>
              <a:rPr lang="zh-CN" altLang="en-US" sz="2260" dirty="0">
                <a:solidFill>
                  <a:srgbClr val="FF0000"/>
                </a:solidFill>
                <a:latin typeface="Arial" panose="020B0604020202020204" pitchFamily="34" charset="0"/>
              </a:rPr>
              <a:t>资源</a:t>
            </a:r>
            <a:r>
              <a:rPr lang="en-US" altLang="zh-CN" sz="2260" dirty="0">
                <a:solidFill>
                  <a:srgbClr val="FF0000"/>
                </a:solidFill>
                <a:latin typeface="Arial" panose="020B0604020202020204" pitchFamily="34" charset="0"/>
              </a:rPr>
              <a:t>)!</a:t>
            </a:r>
            <a:endParaRPr lang="en-US" altLang="zh-CN" sz="226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79287" name="AutoShape 87"/>
          <p:cNvSpPr/>
          <p:nvPr/>
        </p:nvSpPr>
        <p:spPr>
          <a:xfrm>
            <a:off x="5289957" y="5475178"/>
            <a:ext cx="3230808" cy="825651"/>
          </a:xfrm>
          <a:prstGeom prst="borderCallout1">
            <a:avLst>
              <a:gd name="adj1" fmla="val 13042"/>
              <a:gd name="adj2" fmla="val -2222"/>
              <a:gd name="adj3" fmla="val -163042"/>
              <a:gd name="adj4" fmla="val -22917"/>
            </a:avLst>
          </a:prstGeom>
          <a:solidFill>
            <a:schemeClr val="bg1"/>
          </a:solidFill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zh-CN" altLang="en-US" sz="2260" dirty="0">
                <a:solidFill>
                  <a:srgbClr val="000099"/>
                </a:solidFill>
                <a:latin typeface="Arial" panose="020B0604020202020204" pitchFamily="34" charset="0"/>
              </a:rPr>
              <a:t>进程和线程都可能是调度单位</a:t>
            </a:r>
            <a:endParaRPr lang="zh-CN" altLang="en-US" sz="2260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9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86" grpId="0" bldLvl="0" animBg="1"/>
      <p:bldP spid="17928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6154" tIns="43076" rIns="86154" bIns="43076" anchor="ctr" anchorCtr="0"/>
          <a:p>
            <a:pPr eaLnBrk="1" hangingPunct="1"/>
            <a:endParaRPr lang="zh-CN" altLang="zh-CN" dirty="0"/>
          </a:p>
        </p:txBody>
      </p:sp>
      <p:sp>
        <p:nvSpPr>
          <p:cNvPr id="8195" name="Rectangle 4"/>
          <p:cNvSpPr/>
          <p:nvPr/>
        </p:nvSpPr>
        <p:spPr>
          <a:xfrm>
            <a:off x="551440" y="2546511"/>
            <a:ext cx="8112917" cy="138505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4525" dirty="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charset="-122"/>
              </a:rPr>
              <a:t>如何设计调度算法</a:t>
            </a:r>
            <a:r>
              <a:rPr lang="en-US" altLang="zh-CN" sz="4525" dirty="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charset="-122"/>
              </a:rPr>
              <a:t>?</a:t>
            </a:r>
            <a:endParaRPr lang="en-US" altLang="zh-CN" sz="4525" dirty="0">
              <a:solidFill>
                <a:srgbClr val="FF0000"/>
              </a:solidFill>
              <a:latin typeface="Arial Black" panose="020B0A04020102020204" pitchFamily="34" charset="0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86154" tIns="43076" rIns="86154" bIns="43076" anchor="ctr" anchorCtr="0"/>
          <a:p>
            <a:pPr eaLnBrk="1" hangingPunct="1"/>
            <a:r>
              <a:rPr lang="zh-CN" altLang="en-US" dirty="0"/>
              <a:t>如何设计？（目标）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1614" y="844354"/>
            <a:ext cx="7463764" cy="4264368"/>
          </a:xfrm>
        </p:spPr>
        <p:txBody>
          <a:bodyPr vert="horz" wrap="square" lIns="86154" tIns="43076" rIns="86154" bIns="43076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响应时间短</a:t>
            </a: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（交互式）</a:t>
            </a: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响应时间：从用户操作到产生反应</a:t>
            </a:r>
            <a:endParaRPr kumimoji="0" lang="en-US" altLang="zh-CN" sz="226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周转时间短</a:t>
            </a: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（批处理）</a:t>
            </a: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周转时间：从任务开始到任务结束</a:t>
            </a:r>
            <a:endParaRPr kumimoji="0" lang="en-US" altLang="zh-CN" sz="226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周转</a:t>
            </a:r>
            <a:r>
              <a:rPr kumimoji="0" lang="en-US" altLang="zh-CN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</a:t>
            </a: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响应</a:t>
            </a:r>
            <a:r>
              <a:rPr kumimoji="0" lang="en-US" altLang="zh-CN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)</a:t>
            </a: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时间短 </a:t>
            </a: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 等待时间</a:t>
            </a:r>
            <a:r>
              <a:rPr kumimoji="0" lang="en-US" altLang="zh-CN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(</a:t>
            </a: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在就绪队</a:t>
            </a:r>
            <a:endParaRPr kumimoji="0" lang="en-US" altLang="zh-CN" sz="226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sym typeface="Symbol" panose="05050102010706020507" pitchFamily="18" charset="2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6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</a:t>
            </a:r>
            <a:r>
              <a:rPr kumimoji="0" lang="en-US" altLang="zh-CN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  </a:t>
            </a: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列中的时间</a:t>
            </a:r>
            <a:r>
              <a:rPr kumimoji="0" lang="en-US" altLang="zh-CN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)</a:t>
            </a: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短</a:t>
            </a:r>
            <a:endParaRPr kumimoji="0" lang="en-US" altLang="zh-CN" sz="226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资源利用率高，内耗时间短</a:t>
            </a: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（吞吐量大）</a:t>
            </a: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吞吐量：单位时间完成的任务数量</a:t>
            </a:r>
            <a:endParaRPr kumimoji="0" lang="en-US" altLang="zh-CN" sz="226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吞吐量大 </a:t>
            </a: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 </a:t>
            </a:r>
            <a:r>
              <a:rPr kumimoji="0" lang="en-US" altLang="zh-CN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CPU</a:t>
            </a: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使用率高 </a:t>
            </a:r>
            <a:r>
              <a:rPr kumimoji="0" lang="en-US" altLang="zh-CN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+ </a:t>
            </a:r>
            <a:r>
              <a:rPr kumimoji="0" lang="zh-CN" altLang="en-US" sz="226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上下文切换代价</a:t>
            </a:r>
            <a:endParaRPr kumimoji="0" lang="en-US" altLang="zh-CN" sz="226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公平性</a:t>
            </a: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策略强制</a:t>
            </a: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：带有截止时间的</a:t>
            </a: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0" name="右大括号 3"/>
          <p:cNvSpPr/>
          <p:nvPr/>
        </p:nvSpPr>
        <p:spPr>
          <a:xfrm>
            <a:off x="6725871" y="1490515"/>
            <a:ext cx="430775" cy="2082076"/>
          </a:xfrm>
          <a:prstGeom prst="rightBrace">
            <a:avLst>
              <a:gd name="adj1" fmla="val 8324"/>
              <a:gd name="adj2" fmla="val 50000"/>
            </a:avLst>
          </a:prstGeom>
          <a:solidFill>
            <a:schemeClr val="bg1">
              <a:alpha val="67058"/>
            </a:schemeClr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sz="2260" dirty="0">
              <a:latin typeface="Arial" panose="020B0604020202020204" pitchFamily="34" charset="0"/>
            </a:endParaRPr>
          </a:p>
        </p:txBody>
      </p:sp>
      <p:sp>
        <p:nvSpPr>
          <p:cNvPr id="9221" name="TextBox 4"/>
          <p:cNvSpPr txBox="1"/>
          <p:nvPr/>
        </p:nvSpPr>
        <p:spPr>
          <a:xfrm>
            <a:off x="7156646" y="2136677"/>
            <a:ext cx="1394034" cy="7861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260" dirty="0">
                <a:latin typeface="Arial" panose="020B0604020202020204" pitchFamily="34" charset="0"/>
              </a:rPr>
              <a:t>从任务</a:t>
            </a:r>
            <a:endParaRPr lang="en-US" altLang="zh-CN" sz="2260" dirty="0">
              <a:latin typeface="Arial" panose="020B0604020202020204" pitchFamily="34" charset="0"/>
            </a:endParaRPr>
          </a:p>
          <a:p>
            <a:r>
              <a:rPr lang="zh-CN" altLang="en-US" sz="2260" dirty="0">
                <a:latin typeface="Arial" panose="020B0604020202020204" pitchFamily="34" charset="0"/>
              </a:rPr>
              <a:t>的角度</a:t>
            </a:r>
            <a:endParaRPr lang="zh-CN" altLang="en-US" sz="2260" dirty="0">
              <a:latin typeface="Arial" panose="020B0604020202020204" pitchFamily="34" charset="0"/>
            </a:endParaRPr>
          </a:p>
        </p:txBody>
      </p:sp>
      <p:sp>
        <p:nvSpPr>
          <p:cNvPr id="9222" name="右大括号 6"/>
          <p:cNvSpPr/>
          <p:nvPr/>
        </p:nvSpPr>
        <p:spPr>
          <a:xfrm>
            <a:off x="7270322" y="3931570"/>
            <a:ext cx="430775" cy="2082076"/>
          </a:xfrm>
          <a:prstGeom prst="rightBrace">
            <a:avLst>
              <a:gd name="adj1" fmla="val 8324"/>
              <a:gd name="adj2" fmla="val 50000"/>
            </a:avLst>
          </a:prstGeom>
          <a:solidFill>
            <a:schemeClr val="bg1">
              <a:alpha val="67058"/>
            </a:schemeClr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sz="2260" dirty="0">
              <a:latin typeface="Arial" panose="020B0604020202020204" pitchFamily="34" charset="0"/>
            </a:endParaRPr>
          </a:p>
        </p:txBody>
      </p:sp>
      <p:sp>
        <p:nvSpPr>
          <p:cNvPr id="9223" name="TextBox 7"/>
          <p:cNvSpPr txBox="1"/>
          <p:nvPr/>
        </p:nvSpPr>
        <p:spPr>
          <a:xfrm>
            <a:off x="7701097" y="4577732"/>
            <a:ext cx="1178647" cy="7861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260" dirty="0">
                <a:latin typeface="Arial" panose="020B0604020202020204" pitchFamily="34" charset="0"/>
              </a:rPr>
              <a:t>从系统</a:t>
            </a:r>
            <a:endParaRPr lang="en-US" altLang="zh-CN" sz="2260" dirty="0">
              <a:latin typeface="Arial" panose="020B0604020202020204" pitchFamily="34" charset="0"/>
            </a:endParaRPr>
          </a:p>
          <a:p>
            <a:r>
              <a:rPr lang="zh-CN" altLang="en-US" sz="2260" dirty="0">
                <a:latin typeface="Arial" panose="020B0604020202020204" pitchFamily="34" charset="0"/>
              </a:rPr>
              <a:t>的角度</a:t>
            </a:r>
            <a:endParaRPr lang="zh-CN" altLang="en-US" sz="226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8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9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5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7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9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8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4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9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3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ldLvl="0" animBg="1"/>
      <p:bldP spid="9221" grpId="0"/>
      <p:bldP spid="9222" grpId="0" bldLvl="0" animBg="1"/>
      <p:bldP spid="92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623235" y="485375"/>
            <a:ext cx="7610347" cy="637187"/>
          </a:xfrm>
        </p:spPr>
        <p:txBody>
          <a:bodyPr vert="horz" wrap="square" lIns="86154" tIns="43076" rIns="86154" bIns="43076" anchor="ctr" anchorCtr="0"/>
          <a:p>
            <a:pPr eaLnBrk="1" hangingPunct="1"/>
            <a:r>
              <a:rPr lang="zh-CN" altLang="en-US" dirty="0"/>
              <a:t>存在矛盾的目标集合</a:t>
            </a:r>
            <a:endParaRPr lang="zh-CN" altLang="en-US" dirty="0"/>
          </a:p>
        </p:txBody>
      </p:sp>
      <p:sp>
        <p:nvSpPr>
          <p:cNvPr id="160773" name="Rectangle 5"/>
          <p:cNvSpPr/>
          <p:nvPr/>
        </p:nvSpPr>
        <p:spPr>
          <a:xfrm>
            <a:off x="910418" y="1346924"/>
            <a:ext cx="7463764" cy="815181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0" dirty="0">
                <a:solidFill>
                  <a:srgbClr val="FF0000"/>
                </a:solidFill>
                <a:latin typeface="Arial" panose="020B0604020202020204" pitchFamily="34" charset="0"/>
              </a:rPr>
              <a:t>响应时间短与公平性之间的矛盾</a:t>
            </a:r>
            <a:endParaRPr lang="zh-CN" altLang="en-US" sz="264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60774" name="Group 6"/>
          <p:cNvGrpSpPr/>
          <p:nvPr/>
        </p:nvGrpSpPr>
        <p:grpSpPr>
          <a:xfrm>
            <a:off x="1118327" y="1967658"/>
            <a:ext cx="5894728" cy="577358"/>
            <a:chOff x="571" y="1684"/>
            <a:chExt cx="3941" cy="386"/>
          </a:xfrm>
        </p:grpSpPr>
        <p:sp>
          <p:nvSpPr>
            <p:cNvPr id="10259" name="Rectangle 7"/>
            <p:cNvSpPr/>
            <p:nvPr/>
          </p:nvSpPr>
          <p:spPr>
            <a:xfrm>
              <a:off x="571" y="1684"/>
              <a:ext cx="3941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zh-CN" altLang="en-US" sz="2260" dirty="0">
                  <a:latin typeface="Arial" panose="020B0604020202020204" pitchFamily="34" charset="0"/>
                </a:rPr>
                <a:t>响应时间短 </a:t>
              </a:r>
              <a:r>
                <a:rPr lang="zh-CN" altLang="en-US" sz="2260" dirty="0">
                  <a:latin typeface="Arial" panose="020B0604020202020204" pitchFamily="34" charset="0"/>
                  <a:sym typeface="Symbol" panose="05050102010706020507" pitchFamily="18" charset="2"/>
                </a:rPr>
                <a:t> 前台任务的优先级高</a:t>
              </a:r>
              <a:endParaRPr lang="zh-CN" altLang="en-US" sz="226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pic>
          <p:nvPicPr>
            <p:cNvPr id="10260" name="Picture 8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6" y="1840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60780" name="Group 12"/>
          <p:cNvGrpSpPr/>
          <p:nvPr/>
        </p:nvGrpSpPr>
        <p:grpSpPr>
          <a:xfrm>
            <a:off x="1118327" y="2495656"/>
            <a:ext cx="6469093" cy="577358"/>
            <a:chOff x="571" y="1588"/>
            <a:chExt cx="4325" cy="386"/>
          </a:xfrm>
        </p:grpSpPr>
        <p:sp>
          <p:nvSpPr>
            <p:cNvPr id="10257" name="Rectangle 10"/>
            <p:cNvSpPr/>
            <p:nvPr/>
          </p:nvSpPr>
          <p:spPr>
            <a:xfrm>
              <a:off x="571" y="1588"/>
              <a:ext cx="4325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zh-CN" altLang="en-US" sz="2260" dirty="0">
                  <a:latin typeface="Arial" panose="020B0604020202020204" pitchFamily="34" charset="0"/>
                  <a:sym typeface="Symbol" panose="05050102010706020507" pitchFamily="18" charset="2"/>
                </a:rPr>
                <a:t>前台任务总优先调度  后台任务得不到</a:t>
              </a:r>
              <a:r>
                <a:rPr lang="en-US" altLang="zh-CN" sz="2260" dirty="0">
                  <a:latin typeface="Arial" panose="020B0604020202020204" pitchFamily="34" charset="0"/>
                  <a:sym typeface="Symbol" panose="05050102010706020507" pitchFamily="18" charset="2"/>
                </a:rPr>
                <a:t>CPU</a:t>
              </a:r>
              <a:endParaRPr lang="en-US" altLang="zh-CN" sz="2260" dirty="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pic>
          <p:nvPicPr>
            <p:cNvPr id="10258" name="Picture 11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6" y="1751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60781" name="Rectangle 13"/>
          <p:cNvSpPr/>
          <p:nvPr/>
        </p:nvSpPr>
        <p:spPr>
          <a:xfrm>
            <a:off x="910418" y="3141817"/>
            <a:ext cx="7463764" cy="815181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0" dirty="0">
                <a:solidFill>
                  <a:srgbClr val="FF0000"/>
                </a:solidFill>
                <a:latin typeface="Arial" panose="020B0604020202020204" pitchFamily="34" charset="0"/>
              </a:rPr>
              <a:t>吞吐量和响应时间之间的矛盾</a:t>
            </a:r>
            <a:endParaRPr lang="zh-CN" altLang="en-US" sz="264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60789" name="Group 21"/>
          <p:cNvGrpSpPr/>
          <p:nvPr/>
        </p:nvGrpSpPr>
        <p:grpSpPr>
          <a:xfrm>
            <a:off x="1118327" y="3787979"/>
            <a:ext cx="7474234" cy="538468"/>
            <a:chOff x="571" y="2431"/>
            <a:chExt cx="4997" cy="360"/>
          </a:xfrm>
        </p:grpSpPr>
        <p:sp>
          <p:nvSpPr>
            <p:cNvPr id="10255" name="Rectangle 15"/>
            <p:cNvSpPr/>
            <p:nvPr/>
          </p:nvSpPr>
          <p:spPr>
            <a:xfrm>
              <a:off x="571" y="2431"/>
              <a:ext cx="4997" cy="3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zh-CN" altLang="en-US" sz="2075" dirty="0">
                  <a:latin typeface="Arial" panose="020B0604020202020204" pitchFamily="34" charset="0"/>
                </a:rPr>
                <a:t>吞吐量大 </a:t>
              </a:r>
              <a:r>
                <a:rPr lang="zh-CN" altLang="en-US" sz="2075" dirty="0">
                  <a:latin typeface="Arial" panose="020B0604020202020204" pitchFamily="34" charset="0"/>
                  <a:sym typeface="Symbol" panose="05050102010706020507" pitchFamily="18" charset="2"/>
                </a:rPr>
                <a:t> 上下文切换代价小  时间片大 响应时间大</a:t>
              </a:r>
              <a:endParaRPr lang="zh-CN" altLang="en-US" sz="2075" dirty="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pic>
          <p:nvPicPr>
            <p:cNvPr id="10256" name="Picture 16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6" y="2587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60790" name="Group 22"/>
          <p:cNvGrpSpPr/>
          <p:nvPr/>
        </p:nvGrpSpPr>
        <p:grpSpPr>
          <a:xfrm>
            <a:off x="1118327" y="4315977"/>
            <a:ext cx="7761416" cy="577358"/>
            <a:chOff x="571" y="2788"/>
            <a:chExt cx="5189" cy="386"/>
          </a:xfrm>
        </p:grpSpPr>
        <p:sp>
          <p:nvSpPr>
            <p:cNvPr id="10253" name="Rectangle 18"/>
            <p:cNvSpPr/>
            <p:nvPr/>
          </p:nvSpPr>
          <p:spPr>
            <a:xfrm>
              <a:off x="571" y="2788"/>
              <a:ext cx="518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zh-CN" altLang="en-US" sz="2260" dirty="0">
                  <a:latin typeface="Arial" panose="020B0604020202020204" pitchFamily="34" charset="0"/>
                  <a:sym typeface="Symbol" panose="05050102010706020507" pitchFamily="18" charset="2"/>
                </a:rPr>
                <a:t>响应时间小 切换次数多 系统内耗大 吞吐量小</a:t>
              </a:r>
              <a:endParaRPr lang="zh-CN" altLang="en-US" sz="2260" dirty="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pic>
          <p:nvPicPr>
            <p:cNvPr id="10254" name="Picture 19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6" y="2951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60791" name="Rectangle 23"/>
          <p:cNvSpPr/>
          <p:nvPr/>
        </p:nvSpPr>
        <p:spPr>
          <a:xfrm>
            <a:off x="910418" y="4911283"/>
            <a:ext cx="7463764" cy="81518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en-US" altLang="zh-CN" sz="2640" dirty="0">
                <a:solidFill>
                  <a:srgbClr val="FF0000"/>
                </a:solidFill>
                <a:latin typeface="Arial" panose="020B0604020202020204" pitchFamily="34" charset="0"/>
              </a:rPr>
              <a:t>……</a:t>
            </a:r>
            <a:endParaRPr lang="en-US" altLang="zh-CN" sz="264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60795" name="Group 27"/>
          <p:cNvGrpSpPr/>
          <p:nvPr/>
        </p:nvGrpSpPr>
        <p:grpSpPr>
          <a:xfrm>
            <a:off x="1125806" y="5023463"/>
            <a:ext cx="7107777" cy="1289331"/>
            <a:chOff x="576" y="3226"/>
            <a:chExt cx="4752" cy="862"/>
          </a:xfrm>
        </p:grpSpPr>
        <p:sp>
          <p:nvSpPr>
            <p:cNvPr id="10251" name="Text Box 25"/>
            <p:cNvSpPr txBox="1"/>
            <p:nvPr/>
          </p:nvSpPr>
          <p:spPr>
            <a:xfrm>
              <a:off x="576" y="3562"/>
              <a:ext cx="4416" cy="526"/>
            </a:xfrm>
            <a:prstGeom prst="rect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>
              <a:spAutoFit/>
            </a:bodyPr>
            <a:p>
              <a:pPr algn="ctr"/>
              <a:r>
                <a:rPr lang="zh-CN" altLang="en-US" sz="2260" dirty="0">
                  <a:solidFill>
                    <a:srgbClr val="000099"/>
                  </a:solidFill>
                  <a:latin typeface="Arial" panose="020B0604020202020204" pitchFamily="34" charset="0"/>
                </a:rPr>
                <a:t>协调多个目标是操作系统之所以复杂的</a:t>
              </a:r>
              <a:endParaRPr lang="zh-CN" altLang="en-US" sz="2260" dirty="0">
                <a:solidFill>
                  <a:srgbClr val="000099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zh-CN" altLang="en-US" sz="2260" dirty="0">
                  <a:solidFill>
                    <a:srgbClr val="000099"/>
                  </a:solidFill>
                  <a:latin typeface="Arial" panose="020B0604020202020204" pitchFamily="34" charset="0"/>
                </a:rPr>
                <a:t>一个重要原因，也是复杂系统的一个基本特点</a:t>
              </a:r>
              <a:endParaRPr lang="zh-CN" altLang="en-US" sz="2260" dirty="0">
                <a:solidFill>
                  <a:srgbClr val="000099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0252" name="Picture 26" descr="j030125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16" y="3226"/>
              <a:ext cx="912" cy="78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0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3" grpId="0"/>
      <p:bldP spid="160781" grpId="0"/>
      <p:bldP spid="16079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6154" tIns="43076" rIns="86154" bIns="43076" anchor="ctr" anchorCtr="0"/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任务特点</a:t>
            </a:r>
            <a:endParaRPr lang="zh-CN" altLang="zh-CN" dirty="0">
              <a:sym typeface="Symbol" panose="05050102010706020507" pitchFamily="18" charset="2"/>
            </a:endParaRPr>
          </a:p>
        </p:txBody>
      </p:sp>
      <p:sp>
        <p:nvSpPr>
          <p:cNvPr id="72730" name="Rectangle 26"/>
          <p:cNvSpPr/>
          <p:nvPr/>
        </p:nvSpPr>
        <p:spPr>
          <a:xfrm>
            <a:off x="910418" y="1393292"/>
            <a:ext cx="8112917" cy="81518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0" dirty="0">
                <a:solidFill>
                  <a:srgbClr val="FF0000"/>
                </a:solidFill>
                <a:latin typeface="Arial" panose="020B0604020202020204" pitchFamily="34" charset="0"/>
              </a:rPr>
              <a:t>任务可以分为批处理任务、交互式任务、实时任务</a:t>
            </a:r>
            <a:endParaRPr lang="zh-CN" altLang="en-US" sz="264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72731" name="Group 27"/>
          <p:cNvGrpSpPr/>
          <p:nvPr/>
        </p:nvGrpSpPr>
        <p:grpSpPr>
          <a:xfrm>
            <a:off x="1118327" y="2286251"/>
            <a:ext cx="5894728" cy="577358"/>
            <a:chOff x="571" y="1684"/>
            <a:chExt cx="3941" cy="386"/>
          </a:xfrm>
        </p:grpSpPr>
        <p:sp>
          <p:nvSpPr>
            <p:cNvPr id="11306" name="Rectangle 28"/>
            <p:cNvSpPr/>
            <p:nvPr/>
          </p:nvSpPr>
          <p:spPr>
            <a:xfrm>
              <a:off x="571" y="1684"/>
              <a:ext cx="3941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zh-CN" altLang="en-US" sz="2260" dirty="0">
                  <a:latin typeface="Arial" panose="020B0604020202020204" pitchFamily="34" charset="0"/>
                </a:rPr>
                <a:t>交互式任务注重对用户的响应：如</a:t>
              </a:r>
              <a:r>
                <a:rPr lang="en-US" altLang="zh-CN" sz="2260" dirty="0">
                  <a:latin typeface="Arial" panose="020B0604020202020204" pitchFamily="34" charset="0"/>
                </a:rPr>
                <a:t>WORD</a:t>
              </a:r>
              <a:endParaRPr lang="en-US" altLang="zh-CN" sz="226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1307" name="Picture 29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6" y="1840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2734" name="Group 30"/>
          <p:cNvGrpSpPr/>
          <p:nvPr/>
        </p:nvGrpSpPr>
        <p:grpSpPr>
          <a:xfrm>
            <a:off x="1125806" y="1855477"/>
            <a:ext cx="5894729" cy="577358"/>
            <a:chOff x="571" y="1684"/>
            <a:chExt cx="3941" cy="386"/>
          </a:xfrm>
        </p:grpSpPr>
        <p:sp>
          <p:nvSpPr>
            <p:cNvPr id="11304" name="Rectangle 31"/>
            <p:cNvSpPr/>
            <p:nvPr/>
          </p:nvSpPr>
          <p:spPr>
            <a:xfrm>
              <a:off x="571" y="1684"/>
              <a:ext cx="3941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zh-CN" altLang="en-US" sz="2260" dirty="0">
                  <a:latin typeface="Arial" panose="020B0604020202020204" pitchFamily="34" charset="0"/>
                </a:rPr>
                <a:t>批处理任务注重对任务吞吐量：如</a:t>
              </a:r>
              <a:r>
                <a:rPr lang="en-US" altLang="zh-CN" sz="2260" dirty="0">
                  <a:latin typeface="Arial" panose="020B0604020202020204" pitchFamily="34" charset="0"/>
                </a:rPr>
                <a:t>gcc</a:t>
              </a:r>
              <a:endParaRPr lang="en-US" altLang="zh-CN" sz="226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1305" name="Picture 32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6" y="1840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4" name="Group 30"/>
          <p:cNvGrpSpPr/>
          <p:nvPr/>
        </p:nvGrpSpPr>
        <p:grpSpPr>
          <a:xfrm>
            <a:off x="1125806" y="2711043"/>
            <a:ext cx="5894729" cy="577358"/>
            <a:chOff x="571" y="1684"/>
            <a:chExt cx="3941" cy="386"/>
          </a:xfrm>
        </p:grpSpPr>
        <p:sp>
          <p:nvSpPr>
            <p:cNvPr id="11302" name="Rectangle 31"/>
            <p:cNvSpPr/>
            <p:nvPr/>
          </p:nvSpPr>
          <p:spPr>
            <a:xfrm>
              <a:off x="571" y="1684"/>
              <a:ext cx="3941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zh-CN" altLang="en-US" sz="2260" dirty="0">
                  <a:latin typeface="Arial" panose="020B0604020202020204" pitchFamily="34" charset="0"/>
                </a:rPr>
                <a:t>实时任务注重对截止时间的保证</a:t>
              </a:r>
              <a:endParaRPr lang="zh-CN" altLang="en-US" sz="226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1303" name="Picture 32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6" y="1840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7" name="Rectangle 26"/>
          <p:cNvSpPr/>
          <p:nvPr/>
        </p:nvSpPr>
        <p:spPr>
          <a:xfrm>
            <a:off x="910418" y="3188186"/>
            <a:ext cx="8112917" cy="81518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0" dirty="0">
                <a:solidFill>
                  <a:srgbClr val="FF0000"/>
                </a:solidFill>
                <a:latin typeface="Arial" panose="020B0604020202020204" pitchFamily="34" charset="0"/>
              </a:rPr>
              <a:t>批处理系统、分时系统、实时系统</a:t>
            </a:r>
            <a:endParaRPr lang="zh-CN" altLang="en-US" sz="264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41" name="Group 38"/>
          <p:cNvGrpSpPr/>
          <p:nvPr/>
        </p:nvGrpSpPr>
        <p:grpSpPr>
          <a:xfrm>
            <a:off x="910418" y="3787979"/>
            <a:ext cx="2304942" cy="577358"/>
            <a:chOff x="528" y="2688"/>
            <a:chExt cx="1541" cy="386"/>
          </a:xfrm>
        </p:grpSpPr>
        <p:sp>
          <p:nvSpPr>
            <p:cNvPr id="11300" name="Rectangle 34"/>
            <p:cNvSpPr/>
            <p:nvPr/>
          </p:nvSpPr>
          <p:spPr>
            <a:xfrm>
              <a:off x="528" y="2688"/>
              <a:ext cx="1541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en-US" altLang="zh-CN" sz="2260" dirty="0">
                  <a:latin typeface="Arial" panose="020B0604020202020204" pitchFamily="34" charset="0"/>
                </a:rPr>
                <a:t>CPU-bound</a:t>
              </a:r>
              <a:endParaRPr lang="en-US" altLang="zh-CN" sz="2260" dirty="0">
                <a:latin typeface="Arial" panose="020B0604020202020204" pitchFamily="34" charset="0"/>
              </a:endParaRPr>
            </a:p>
          </p:txBody>
        </p:sp>
        <p:pic>
          <p:nvPicPr>
            <p:cNvPr id="11301" name="Picture 35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3" y="2844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44" name="Group 39"/>
          <p:cNvGrpSpPr/>
          <p:nvPr/>
        </p:nvGrpSpPr>
        <p:grpSpPr>
          <a:xfrm>
            <a:off x="4752986" y="3787979"/>
            <a:ext cx="2304941" cy="577358"/>
            <a:chOff x="3787" y="2736"/>
            <a:chExt cx="1541" cy="386"/>
          </a:xfrm>
        </p:grpSpPr>
        <p:sp>
          <p:nvSpPr>
            <p:cNvPr id="11298" name="Rectangle 36"/>
            <p:cNvSpPr/>
            <p:nvPr/>
          </p:nvSpPr>
          <p:spPr>
            <a:xfrm>
              <a:off x="3787" y="2736"/>
              <a:ext cx="1541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en-US" altLang="zh-CN" sz="2260" dirty="0">
                  <a:latin typeface="Arial" panose="020B0604020202020204" pitchFamily="34" charset="0"/>
                </a:rPr>
                <a:t>I/O-bound</a:t>
              </a:r>
              <a:endParaRPr lang="en-US" altLang="zh-CN" sz="2260" dirty="0">
                <a:latin typeface="Arial" panose="020B0604020202020204" pitchFamily="34" charset="0"/>
              </a:endParaRPr>
            </a:p>
          </p:txBody>
        </p:sp>
        <p:pic>
          <p:nvPicPr>
            <p:cNvPr id="11299" name="Picture 37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52" y="2892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47" name="Group 74"/>
          <p:cNvGrpSpPr/>
          <p:nvPr/>
        </p:nvGrpSpPr>
        <p:grpSpPr>
          <a:xfrm>
            <a:off x="4817302" y="4362344"/>
            <a:ext cx="3703463" cy="1802372"/>
            <a:chOff x="2900" y="3072"/>
            <a:chExt cx="2476" cy="1205"/>
          </a:xfrm>
        </p:grpSpPr>
        <p:grpSp>
          <p:nvGrpSpPr>
            <p:cNvPr id="11288" name="Group 69"/>
            <p:cNvGrpSpPr/>
            <p:nvPr/>
          </p:nvGrpSpPr>
          <p:grpSpPr>
            <a:xfrm>
              <a:off x="2900" y="3072"/>
              <a:ext cx="2476" cy="1056"/>
              <a:chOff x="3024" y="3072"/>
              <a:chExt cx="2476" cy="1056"/>
            </a:xfrm>
          </p:grpSpPr>
          <p:sp>
            <p:nvSpPr>
              <p:cNvPr id="11290" name="Line 59"/>
              <p:cNvSpPr/>
              <p:nvPr/>
            </p:nvSpPr>
            <p:spPr>
              <a:xfrm flipV="1">
                <a:off x="3024" y="3978"/>
                <a:ext cx="2476" cy="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1" name="Line 60"/>
              <p:cNvSpPr/>
              <p:nvPr/>
            </p:nvSpPr>
            <p:spPr>
              <a:xfrm flipV="1">
                <a:off x="3216" y="3072"/>
                <a:ext cx="1" cy="105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2" name="Line 61"/>
              <p:cNvSpPr/>
              <p:nvPr/>
            </p:nvSpPr>
            <p:spPr>
              <a:xfrm flipV="1">
                <a:off x="3744" y="3936"/>
                <a:ext cx="1" cy="9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3" name="Line 62"/>
              <p:cNvSpPr/>
              <p:nvPr/>
            </p:nvSpPr>
            <p:spPr>
              <a:xfrm flipV="1">
                <a:off x="4320" y="3936"/>
                <a:ext cx="1" cy="9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4" name="Line 63"/>
              <p:cNvSpPr/>
              <p:nvPr/>
            </p:nvSpPr>
            <p:spPr>
              <a:xfrm flipV="1">
                <a:off x="4848" y="3936"/>
                <a:ext cx="1" cy="9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5" name="Line 64"/>
              <p:cNvSpPr/>
              <p:nvPr/>
            </p:nvSpPr>
            <p:spPr>
              <a:xfrm flipV="1">
                <a:off x="5376" y="3936"/>
                <a:ext cx="1" cy="9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6" name="Rectangle 65"/>
              <p:cNvSpPr/>
              <p:nvPr/>
            </p:nvSpPr>
            <p:spPr>
              <a:xfrm>
                <a:off x="3360" y="3072"/>
                <a:ext cx="288" cy="912"/>
              </a:xfrm>
              <a:prstGeom prst="rect">
                <a:avLst/>
              </a:prstGeom>
              <a:solidFill>
                <a:srgbClr val="3399FF"/>
              </a:solidFill>
              <a:ln w="9525" cap="flat" cmpd="sng">
                <a:solidFill>
                  <a:srgbClr val="33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26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297" name="Rectangle 66"/>
              <p:cNvSpPr/>
              <p:nvPr/>
            </p:nvSpPr>
            <p:spPr>
              <a:xfrm>
                <a:off x="3888" y="3936"/>
                <a:ext cx="288" cy="48"/>
              </a:xfrm>
              <a:prstGeom prst="rect">
                <a:avLst/>
              </a:prstGeom>
              <a:solidFill>
                <a:srgbClr val="3399FF"/>
              </a:solidFill>
              <a:ln w="9525" cap="flat" cmpd="sng">
                <a:solidFill>
                  <a:srgbClr val="33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26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289" name="Rectangle 71"/>
            <p:cNvSpPr/>
            <p:nvPr/>
          </p:nvSpPr>
          <p:spPr>
            <a:xfrm>
              <a:off x="4608" y="4041"/>
              <a:ext cx="716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95" dirty="0">
                  <a:solidFill>
                    <a:srgbClr val="FF0000"/>
                  </a:solidFill>
                  <a:latin typeface="Arial" panose="020B0604020202020204" pitchFamily="34" charset="0"/>
                </a:rPr>
                <a:t>CPU</a:t>
              </a:r>
              <a:r>
                <a:rPr lang="zh-CN" altLang="en-US" sz="1695" dirty="0">
                  <a:solidFill>
                    <a:srgbClr val="FF0000"/>
                  </a:solidFill>
                  <a:latin typeface="Arial" panose="020B0604020202020204" pitchFamily="34" charset="0"/>
                </a:rPr>
                <a:t>区间</a:t>
              </a:r>
              <a:endParaRPr lang="zh-CN" altLang="en-US" sz="1695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8" name="Group 75"/>
          <p:cNvGrpSpPr/>
          <p:nvPr/>
        </p:nvGrpSpPr>
        <p:grpSpPr>
          <a:xfrm>
            <a:off x="982213" y="4362344"/>
            <a:ext cx="3703463" cy="1802372"/>
            <a:chOff x="336" y="3072"/>
            <a:chExt cx="2476" cy="1205"/>
          </a:xfrm>
        </p:grpSpPr>
        <p:grpSp>
          <p:nvGrpSpPr>
            <p:cNvPr id="11276" name="Group 58"/>
            <p:cNvGrpSpPr/>
            <p:nvPr/>
          </p:nvGrpSpPr>
          <p:grpSpPr>
            <a:xfrm>
              <a:off x="336" y="3072"/>
              <a:ext cx="2476" cy="1062"/>
              <a:chOff x="788" y="3120"/>
              <a:chExt cx="2476" cy="1062"/>
            </a:xfrm>
          </p:grpSpPr>
          <p:sp>
            <p:nvSpPr>
              <p:cNvPr id="11278" name="Line 41"/>
              <p:cNvSpPr/>
              <p:nvPr/>
            </p:nvSpPr>
            <p:spPr>
              <a:xfrm flipV="1">
                <a:off x="788" y="4032"/>
                <a:ext cx="2476" cy="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79" name="Line 42"/>
              <p:cNvSpPr/>
              <p:nvPr/>
            </p:nvSpPr>
            <p:spPr>
              <a:xfrm flipV="1">
                <a:off x="980" y="3126"/>
                <a:ext cx="0" cy="105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0" name="Line 44"/>
              <p:cNvSpPr/>
              <p:nvPr/>
            </p:nvSpPr>
            <p:spPr>
              <a:xfrm flipV="1">
                <a:off x="1508" y="3990"/>
                <a:ext cx="0" cy="9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1" name="Line 45"/>
              <p:cNvSpPr/>
              <p:nvPr/>
            </p:nvSpPr>
            <p:spPr>
              <a:xfrm flipV="1">
                <a:off x="2084" y="3990"/>
                <a:ext cx="0" cy="9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2" name="Line 46"/>
              <p:cNvSpPr/>
              <p:nvPr/>
            </p:nvSpPr>
            <p:spPr>
              <a:xfrm flipV="1">
                <a:off x="2612" y="3990"/>
                <a:ext cx="0" cy="9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3" name="Line 47"/>
              <p:cNvSpPr/>
              <p:nvPr/>
            </p:nvSpPr>
            <p:spPr>
              <a:xfrm flipV="1">
                <a:off x="3140" y="3990"/>
                <a:ext cx="0" cy="9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4" name="Rectangle 51"/>
              <p:cNvSpPr/>
              <p:nvPr/>
            </p:nvSpPr>
            <p:spPr>
              <a:xfrm>
                <a:off x="2736" y="3120"/>
                <a:ext cx="288" cy="912"/>
              </a:xfrm>
              <a:prstGeom prst="rect">
                <a:avLst/>
              </a:prstGeom>
              <a:solidFill>
                <a:srgbClr val="3399FF"/>
              </a:solidFill>
              <a:ln w="9525" cap="flat" cmpd="sng">
                <a:solidFill>
                  <a:srgbClr val="33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26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285" name="Rectangle 52"/>
              <p:cNvSpPr/>
              <p:nvPr/>
            </p:nvSpPr>
            <p:spPr>
              <a:xfrm>
                <a:off x="1094" y="3942"/>
                <a:ext cx="288" cy="96"/>
              </a:xfrm>
              <a:prstGeom prst="rect">
                <a:avLst/>
              </a:prstGeom>
              <a:solidFill>
                <a:srgbClr val="3399FF"/>
              </a:solidFill>
              <a:ln w="9525" cap="flat" cmpd="sng">
                <a:solidFill>
                  <a:srgbClr val="33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26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286" name="Rectangle 54"/>
              <p:cNvSpPr/>
              <p:nvPr/>
            </p:nvSpPr>
            <p:spPr>
              <a:xfrm>
                <a:off x="2208" y="3846"/>
                <a:ext cx="288" cy="192"/>
              </a:xfrm>
              <a:prstGeom prst="rect">
                <a:avLst/>
              </a:prstGeom>
              <a:solidFill>
                <a:srgbClr val="3399FF"/>
              </a:solidFill>
              <a:ln w="9525" cap="flat" cmpd="sng">
                <a:solidFill>
                  <a:srgbClr val="33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26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287" name="Rectangle 55"/>
              <p:cNvSpPr/>
              <p:nvPr/>
            </p:nvSpPr>
            <p:spPr>
              <a:xfrm>
                <a:off x="1584" y="3936"/>
                <a:ext cx="288" cy="96"/>
              </a:xfrm>
              <a:prstGeom prst="rect">
                <a:avLst/>
              </a:prstGeom>
              <a:solidFill>
                <a:srgbClr val="3399FF"/>
              </a:solidFill>
              <a:ln w="9525" cap="flat" cmpd="sng">
                <a:solidFill>
                  <a:srgbClr val="33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26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277" name="Rectangle 73"/>
            <p:cNvSpPr/>
            <p:nvPr/>
          </p:nvSpPr>
          <p:spPr>
            <a:xfrm>
              <a:off x="2016" y="4041"/>
              <a:ext cx="716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95" dirty="0">
                  <a:solidFill>
                    <a:srgbClr val="FF0000"/>
                  </a:solidFill>
                  <a:latin typeface="Arial" panose="020B0604020202020204" pitchFamily="34" charset="0"/>
                </a:rPr>
                <a:t>CPU</a:t>
              </a:r>
              <a:r>
                <a:rPr lang="zh-CN" altLang="en-US" sz="1695" dirty="0">
                  <a:solidFill>
                    <a:srgbClr val="FF0000"/>
                  </a:solidFill>
                  <a:latin typeface="Arial" panose="020B0604020202020204" pitchFamily="34" charset="0"/>
                </a:rPr>
                <a:t>区间</a:t>
              </a:r>
              <a:endParaRPr lang="zh-CN" altLang="en-US" sz="1695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3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30" grpId="0" build="p"/>
      <p:bldP spid="1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86154" tIns="43076" rIns="86154" bIns="43076" anchor="ctr" anchorCtr="0"/>
          <a:p>
            <a:r>
              <a:rPr lang="zh-CN" altLang="en-US" dirty="0"/>
              <a:t>不同的系统的目标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86154" tIns="43076" rIns="86154" bIns="43076" anchor="t" anchorCtr="0"/>
          <a:p>
            <a:r>
              <a:rPr lang="zh-CN" altLang="en-US" dirty="0"/>
              <a:t>批处理系统</a:t>
            </a:r>
            <a:endParaRPr lang="en-US" altLang="zh-CN" dirty="0"/>
          </a:p>
          <a:p>
            <a:pPr lvl="1"/>
            <a:r>
              <a:rPr lang="zh-CN" altLang="en-US" sz="2260" dirty="0"/>
              <a:t>平均周转时间短</a:t>
            </a:r>
            <a:endParaRPr lang="en-US" altLang="zh-CN" sz="2260" dirty="0"/>
          </a:p>
          <a:p>
            <a:pPr lvl="1"/>
            <a:r>
              <a:rPr lang="zh-CN" altLang="en-US" sz="2260" dirty="0"/>
              <a:t>吞吐量高：单位时间内系统所完成的作业数</a:t>
            </a:r>
            <a:endParaRPr lang="en-US" altLang="zh-CN" sz="2260" dirty="0"/>
          </a:p>
          <a:p>
            <a:r>
              <a:rPr lang="zh-CN" altLang="en-US" dirty="0"/>
              <a:t>分时系统</a:t>
            </a:r>
            <a:endParaRPr lang="en-US" altLang="zh-CN" dirty="0"/>
          </a:p>
          <a:p>
            <a:pPr lvl="1"/>
            <a:r>
              <a:rPr lang="zh-CN" altLang="en-US" sz="2260" dirty="0"/>
              <a:t>响应时间快：从用户提出请求到显示处理结果</a:t>
            </a:r>
            <a:endParaRPr lang="en-US" altLang="zh-CN" sz="2260" dirty="0"/>
          </a:p>
          <a:p>
            <a:pPr lvl="1"/>
            <a:r>
              <a:rPr lang="zh-CN" altLang="en-US" sz="2260" dirty="0"/>
              <a:t>均衡性：用户对响应时间的要求不同</a:t>
            </a:r>
            <a:endParaRPr lang="en-US" altLang="zh-CN" sz="2260" dirty="0"/>
          </a:p>
          <a:p>
            <a:r>
              <a:rPr lang="zh-CN" altLang="en-US" dirty="0"/>
              <a:t>实时系统</a:t>
            </a:r>
            <a:endParaRPr lang="en-US" altLang="zh-CN" dirty="0"/>
          </a:p>
          <a:p>
            <a:pPr lvl="1"/>
            <a:r>
              <a:rPr lang="zh-CN" altLang="en-US" sz="2260" dirty="0"/>
              <a:t>截止时间保证：</a:t>
            </a:r>
            <a:r>
              <a:rPr lang="en-US" altLang="zh-CN" sz="2260" dirty="0"/>
              <a:t>HRT</a:t>
            </a:r>
            <a:r>
              <a:rPr lang="zh-CN" altLang="en-US" sz="2260" dirty="0"/>
              <a:t>任务  </a:t>
            </a:r>
            <a:r>
              <a:rPr lang="en-US" altLang="zh-CN" sz="2260" dirty="0"/>
              <a:t>SRT</a:t>
            </a:r>
            <a:r>
              <a:rPr lang="zh-CN" altLang="en-US" sz="2260" dirty="0"/>
              <a:t>任务</a:t>
            </a:r>
            <a:endParaRPr lang="en-US" altLang="zh-CN" sz="2260" dirty="0"/>
          </a:p>
          <a:p>
            <a:pPr lvl="1"/>
            <a:r>
              <a:rPr lang="zh-CN" altLang="en-US" sz="2260" dirty="0"/>
              <a:t>可预测性</a:t>
            </a:r>
            <a:endParaRPr lang="zh-CN" altLang="en-US" sz="2260" dirty="0"/>
          </a:p>
        </p:txBody>
      </p:sp>
      <p:sp>
        <p:nvSpPr>
          <p:cNvPr id="4" name="Rectangle 33"/>
          <p:cNvSpPr/>
          <p:nvPr/>
        </p:nvSpPr>
        <p:spPr>
          <a:xfrm>
            <a:off x="838622" y="5270261"/>
            <a:ext cx="7463764" cy="81518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260" dirty="0">
                <a:solidFill>
                  <a:srgbClr val="FF0000"/>
                </a:solidFill>
                <a:latin typeface="Arial" panose="020B0604020202020204" pitchFamily="34" charset="0"/>
              </a:rPr>
              <a:t>有趣的问题是许多系统中既有交互式任务（前台），又有批处理任务（后台），又有实时性任务</a:t>
            </a:r>
            <a:endParaRPr lang="zh-CN" altLang="en-US" sz="226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4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9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7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2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2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623235" y="485375"/>
            <a:ext cx="7897530" cy="637187"/>
          </a:xfrm>
        </p:spPr>
        <p:txBody>
          <a:bodyPr vert="horz" wrap="square" lIns="86154" tIns="43076" rIns="86154" bIns="43076" anchor="ctr" anchorCtr="0"/>
          <a:p>
            <a:pPr eaLnBrk="1" hangingPunct="1"/>
            <a:r>
              <a:rPr lang="en-US" altLang="zh-CN" dirty="0"/>
              <a:t>CPU</a:t>
            </a:r>
            <a:r>
              <a:rPr lang="zh-CN" altLang="en-US" dirty="0"/>
              <a:t>调度应综合考虑 </a:t>
            </a:r>
            <a:r>
              <a:rPr lang="zh-CN" altLang="en-US" dirty="0">
                <a:sym typeface="Symbol" panose="05050102010706020507" pitchFamily="18" charset="2"/>
              </a:rPr>
              <a:t> 调度算法的实现</a:t>
            </a:r>
            <a:endParaRPr lang="zh-CN" altLang="zh-CN" dirty="0">
              <a:sym typeface="Symbol" panose="05050102010706020507" pitchFamily="18" charset="2"/>
            </a:endParaRPr>
          </a:p>
        </p:txBody>
      </p:sp>
      <p:sp>
        <p:nvSpPr>
          <p:cNvPr id="188419" name="Rectangle 3"/>
          <p:cNvSpPr>
            <a:spLocks noGrp="1"/>
          </p:cNvSpPr>
          <p:nvPr>
            <p:ph idx="1"/>
          </p:nvPr>
        </p:nvSpPr>
        <p:spPr>
          <a:xfrm>
            <a:off x="910418" y="1418720"/>
            <a:ext cx="7463764" cy="815181"/>
          </a:xfrm>
        </p:spPr>
        <p:txBody>
          <a:bodyPr vert="horz" wrap="square" lIns="86154" tIns="43076" rIns="86154" bIns="43076" anchor="t" anchorCtr="0"/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复杂调度算法 </a:t>
            </a:r>
            <a:r>
              <a:rPr lang="en-US" altLang="zh-CN" dirty="0">
                <a:solidFill>
                  <a:srgbClr val="FF0000"/>
                </a:solidFill>
              </a:rPr>
              <a:t>vs. </a:t>
            </a:r>
            <a:r>
              <a:rPr lang="zh-CN" altLang="en-US" dirty="0">
                <a:solidFill>
                  <a:srgbClr val="FF0000"/>
                </a:solidFill>
              </a:rPr>
              <a:t>调度程序执行时间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188421" name="Group 5"/>
          <p:cNvGrpSpPr/>
          <p:nvPr/>
        </p:nvGrpSpPr>
        <p:grpSpPr>
          <a:xfrm>
            <a:off x="1118327" y="2064881"/>
            <a:ext cx="5894728" cy="577358"/>
            <a:chOff x="571" y="1684"/>
            <a:chExt cx="3941" cy="386"/>
          </a:xfrm>
        </p:grpSpPr>
        <p:sp>
          <p:nvSpPr>
            <p:cNvPr id="13327" name="Rectangle 6"/>
            <p:cNvSpPr/>
            <p:nvPr/>
          </p:nvSpPr>
          <p:spPr>
            <a:xfrm>
              <a:off x="571" y="1684"/>
              <a:ext cx="3941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zh-CN" altLang="en-US" sz="2260" dirty="0">
                  <a:latin typeface="Arial" panose="020B0604020202020204" pitchFamily="34" charset="0"/>
                </a:rPr>
                <a:t>兼顾许多特点会造成复杂的调度算法</a:t>
              </a:r>
              <a:endParaRPr lang="zh-CN" altLang="en-US" sz="2260" dirty="0">
                <a:latin typeface="Arial" panose="020B0604020202020204" pitchFamily="34" charset="0"/>
              </a:endParaRPr>
            </a:p>
          </p:txBody>
        </p:sp>
        <p:pic>
          <p:nvPicPr>
            <p:cNvPr id="13328" name="Picture 7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6" y="1840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88424" name="Group 8"/>
          <p:cNvGrpSpPr/>
          <p:nvPr/>
        </p:nvGrpSpPr>
        <p:grpSpPr>
          <a:xfrm>
            <a:off x="1125806" y="2573434"/>
            <a:ext cx="5894729" cy="577358"/>
            <a:chOff x="576" y="1588"/>
            <a:chExt cx="3941" cy="386"/>
          </a:xfrm>
        </p:grpSpPr>
        <p:sp>
          <p:nvSpPr>
            <p:cNvPr id="13325" name="Rectangle 9"/>
            <p:cNvSpPr/>
            <p:nvPr/>
          </p:nvSpPr>
          <p:spPr>
            <a:xfrm>
              <a:off x="576" y="1588"/>
              <a:ext cx="3941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zh-CN" altLang="en-US" sz="2260" dirty="0">
                  <a:latin typeface="Arial" panose="020B0604020202020204" pitchFamily="34" charset="0"/>
                </a:rPr>
                <a:t>调度程序执行时间应尽量短</a:t>
              </a:r>
              <a:endParaRPr lang="zh-CN" altLang="en-US" sz="2260" dirty="0">
                <a:latin typeface="Arial" panose="020B0604020202020204" pitchFamily="34" charset="0"/>
              </a:endParaRPr>
            </a:p>
          </p:txBody>
        </p:sp>
        <p:pic>
          <p:nvPicPr>
            <p:cNvPr id="13326" name="Picture 10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1" y="1758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88442" name="Group 26"/>
          <p:cNvGrpSpPr/>
          <p:nvPr/>
        </p:nvGrpSpPr>
        <p:grpSpPr>
          <a:xfrm>
            <a:off x="1125806" y="3141817"/>
            <a:ext cx="7466756" cy="577358"/>
            <a:chOff x="576" y="1968"/>
            <a:chExt cx="4992" cy="386"/>
          </a:xfrm>
        </p:grpSpPr>
        <p:sp>
          <p:nvSpPr>
            <p:cNvPr id="13323" name="Rectangle 12"/>
            <p:cNvSpPr/>
            <p:nvPr/>
          </p:nvSpPr>
          <p:spPr>
            <a:xfrm>
              <a:off x="576" y="1968"/>
              <a:ext cx="4992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zh-CN" altLang="en-US" sz="2260" dirty="0">
                  <a:latin typeface="Arial" panose="020B0604020202020204" pitchFamily="34" charset="0"/>
                </a:rPr>
                <a:t>就绪队列的数据结构</a:t>
              </a:r>
              <a:r>
                <a:rPr lang="en-US" altLang="zh-CN" sz="2260" dirty="0">
                  <a:latin typeface="Arial" panose="020B0604020202020204" pitchFamily="34" charset="0"/>
                </a:rPr>
                <a:t>: </a:t>
              </a:r>
              <a:r>
                <a:rPr lang="zh-CN" altLang="en-US" sz="2260" dirty="0">
                  <a:latin typeface="Arial" panose="020B0604020202020204" pitchFamily="34" charset="0"/>
                </a:rPr>
                <a:t>队列，多级队列，树，小根堆</a:t>
              </a:r>
              <a:endParaRPr lang="zh-CN" altLang="en-US" sz="226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3324" name="Picture 13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1" y="213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88447" name="Group 31"/>
          <p:cNvGrpSpPr/>
          <p:nvPr/>
        </p:nvGrpSpPr>
        <p:grpSpPr>
          <a:xfrm>
            <a:off x="551440" y="4721323"/>
            <a:ext cx="8184713" cy="1289331"/>
            <a:chOff x="144" y="2928"/>
            <a:chExt cx="5472" cy="862"/>
          </a:xfrm>
        </p:grpSpPr>
        <p:sp>
          <p:nvSpPr>
            <p:cNvPr id="13321" name="Text Box 28"/>
            <p:cNvSpPr txBox="1"/>
            <p:nvPr/>
          </p:nvSpPr>
          <p:spPr>
            <a:xfrm>
              <a:off x="144" y="3264"/>
              <a:ext cx="4848" cy="526"/>
            </a:xfrm>
            <a:prstGeom prst="rect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>
              <a:spAutoFit/>
            </a:bodyPr>
            <a:p>
              <a:pPr algn="ctr"/>
              <a:r>
                <a:rPr lang="zh-CN" altLang="en-US" sz="2260" dirty="0">
                  <a:solidFill>
                    <a:srgbClr val="000099"/>
                  </a:solidFill>
                  <a:latin typeface="Arial" panose="020B0604020202020204" pitchFamily="34" charset="0"/>
                </a:rPr>
                <a:t>不可能设计完美的调度算法，只能根据应用的特征</a:t>
              </a:r>
              <a:endParaRPr lang="zh-CN" altLang="en-US" sz="2260" dirty="0">
                <a:solidFill>
                  <a:srgbClr val="000099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zh-CN" altLang="en-US" sz="2260" dirty="0">
                  <a:solidFill>
                    <a:srgbClr val="000099"/>
                  </a:solidFill>
                  <a:latin typeface="Arial" panose="020B0604020202020204" pitchFamily="34" charset="0"/>
                </a:rPr>
                <a:t>进行折衷权衡。这是操作系统等复杂系统的设计精髓</a:t>
              </a:r>
              <a:r>
                <a:rPr lang="en-US" altLang="zh-CN" sz="2260" dirty="0">
                  <a:solidFill>
                    <a:srgbClr val="000099"/>
                  </a:solidFill>
                  <a:latin typeface="Arial" panose="020B0604020202020204" pitchFamily="34" charset="0"/>
                </a:rPr>
                <a:t>!</a:t>
              </a:r>
              <a:endParaRPr lang="en-US" altLang="zh-CN" sz="2260" dirty="0">
                <a:solidFill>
                  <a:srgbClr val="000099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3322" name="Picture 29" descr="j030125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04" y="2928"/>
              <a:ext cx="912" cy="78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88446" name="Rectangle 30"/>
          <p:cNvSpPr/>
          <p:nvPr/>
        </p:nvSpPr>
        <p:spPr>
          <a:xfrm>
            <a:off x="910418" y="4193326"/>
            <a:ext cx="7463764" cy="81518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en-US" altLang="zh-CN" sz="2640" dirty="0">
                <a:solidFill>
                  <a:srgbClr val="FF0000"/>
                </a:solidFill>
                <a:latin typeface="Arial" panose="020B0604020202020204" pitchFamily="34" charset="0"/>
              </a:rPr>
              <a:t>CPU</a:t>
            </a:r>
            <a:r>
              <a:rPr lang="zh-CN" altLang="en-US" sz="2640" dirty="0">
                <a:solidFill>
                  <a:srgbClr val="FF0000"/>
                </a:solidFill>
                <a:latin typeface="Arial" panose="020B0604020202020204" pitchFamily="34" charset="0"/>
              </a:rPr>
              <a:t>调度应综合考虑</a:t>
            </a:r>
            <a:r>
              <a:rPr lang="en-US" altLang="zh-CN" sz="2640" dirty="0">
                <a:solidFill>
                  <a:srgbClr val="FF0000"/>
                </a:solidFill>
                <a:latin typeface="Arial" panose="020B0604020202020204" pitchFamily="34" charset="0"/>
              </a:rPr>
              <a:t>……….</a:t>
            </a:r>
            <a:endParaRPr lang="en-US" altLang="zh-CN" sz="264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8419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844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build="p"/>
      <p:bldP spid="18844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250825" y="1557338"/>
            <a:ext cx="8497888" cy="1981200"/>
          </a:xfrm>
        </p:spPr>
        <p:txBody>
          <a:bodyPr vert="horz" wrap="square" lIns="91422" tIns="45711" rIns="91422" bIns="45711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 </a:t>
            </a:r>
            <a:r>
              <a:rPr kumimoji="0" lang="en-US" altLang="zh-CN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CPU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调度（一）</a:t>
            </a:r>
            <a:br>
              <a:rPr kumimoji="0" lang="zh-CN" alt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zh-CN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CPU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调度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概述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9139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dirty="0"/>
              <a:t>长程和短程调度</a:t>
            </a:r>
            <a:endParaRPr lang="en-US" altLang="zh-CN" dirty="0"/>
          </a:p>
          <a:p>
            <a:r>
              <a:rPr lang="zh-CN" altLang="en-US" dirty="0"/>
              <a:t>调度队列</a:t>
            </a:r>
            <a:endParaRPr lang="en-US" altLang="zh-CN" dirty="0"/>
          </a:p>
          <a:p>
            <a:r>
              <a:rPr lang="zh-CN" altLang="en-US" dirty="0"/>
              <a:t>中程调度</a:t>
            </a:r>
            <a:endParaRPr lang="en-US" altLang="zh-CN" dirty="0"/>
          </a:p>
          <a:p>
            <a:r>
              <a:rPr lang="en-US" altLang="zh-CN" dirty="0"/>
              <a:t>CPU</a:t>
            </a:r>
            <a:r>
              <a:rPr lang="zh-CN" altLang="en-US" dirty="0"/>
              <a:t>脉冲周期</a:t>
            </a:r>
            <a:endParaRPr lang="en-US" altLang="zh-CN" dirty="0"/>
          </a:p>
          <a:p>
            <a:r>
              <a:rPr lang="en-US" altLang="zh-CN" dirty="0"/>
              <a:t>CPU</a:t>
            </a:r>
            <a:r>
              <a:rPr lang="zh-CN" altLang="en-US" dirty="0"/>
              <a:t>调度过程</a:t>
            </a:r>
            <a:endParaRPr lang="en-US" altLang="zh-CN" dirty="0"/>
          </a:p>
          <a:p>
            <a:r>
              <a:rPr lang="en-US" altLang="zh-CN" dirty="0"/>
              <a:t>CPU</a:t>
            </a:r>
            <a:r>
              <a:rPr lang="zh-CN" altLang="en-US" dirty="0"/>
              <a:t>调度方式和时机</a:t>
            </a:r>
            <a:endParaRPr lang="en-US" altLang="zh-CN" dirty="0"/>
          </a:p>
          <a:p>
            <a:r>
              <a:rPr lang="en-US" altLang="zh-CN" dirty="0"/>
              <a:t>CPU</a:t>
            </a:r>
            <a:r>
              <a:rPr lang="zh-CN" altLang="en-US" dirty="0"/>
              <a:t>调度准则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1476375" y="644525"/>
            <a:ext cx="6757988" cy="50482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长程调度</a:t>
            </a:r>
            <a:endParaRPr lang="en-US" altLang="zh-CN" dirty="0"/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971550" y="1484313"/>
            <a:ext cx="7589838" cy="3427412"/>
          </a:xfrm>
          <a:noFill/>
          <a:ln>
            <a:noFill/>
          </a:ln>
        </p:spPr>
        <p:txBody>
          <a:bodyPr/>
          <a:p>
            <a:r>
              <a:rPr lang="zh-CN" altLang="en-US" sz="2800" dirty="0"/>
              <a:t>长程调度</a:t>
            </a:r>
            <a:endParaRPr lang="en-US" altLang="zh-CN" sz="2800" dirty="0"/>
          </a:p>
          <a:p>
            <a:pPr lvl="1"/>
            <a:r>
              <a:rPr lang="zh-CN" altLang="en-US" sz="2400" dirty="0"/>
              <a:t>又称作业调度、高级调度</a:t>
            </a:r>
            <a:endParaRPr lang="en-US" altLang="zh-CN" sz="2400" dirty="0"/>
          </a:p>
          <a:p>
            <a:pPr lvl="1"/>
            <a:r>
              <a:rPr lang="zh-CN" altLang="en-US" sz="2400" dirty="0"/>
              <a:t>“新建”状态转换到“就绪”状态 </a:t>
            </a:r>
            <a:endParaRPr lang="en-US" altLang="zh-CN" sz="2400" dirty="0"/>
          </a:p>
          <a:p>
            <a:pPr lvl="1"/>
            <a:r>
              <a:rPr lang="zh-CN" altLang="en-US" sz="2400" dirty="0"/>
              <a:t>由调度程序选择</a:t>
            </a:r>
            <a:endParaRPr lang="en-US" altLang="zh-CN" sz="2400" dirty="0"/>
          </a:p>
          <a:p>
            <a:pPr lvl="1"/>
            <a:r>
              <a:rPr lang="zh-CN" altLang="en-US" sz="2400" dirty="0">
                <a:sym typeface="Symbol" panose="05050102010706020507" pitchFamily="18" charset="2"/>
              </a:rPr>
              <a:t>控制多道程序的“道</a:t>
            </a:r>
            <a:r>
              <a:rPr lang="en-US" altLang="zh-CN" sz="2400" dirty="0">
                <a:sym typeface="Symbol" panose="05050102010706020507" pitchFamily="18" charset="2"/>
              </a:rPr>
              <a:t>/</a:t>
            </a:r>
            <a:r>
              <a:rPr lang="zh-CN" altLang="en-US" sz="2400" dirty="0">
                <a:sym typeface="Symbol" panose="05050102010706020507" pitchFamily="18" charset="2"/>
              </a:rPr>
              <a:t>度”（</a:t>
            </a:r>
            <a:r>
              <a:rPr lang="en-US" altLang="zh-CN" sz="2400" dirty="0">
                <a:sym typeface="Symbol" panose="05050102010706020507" pitchFamily="18" charset="2"/>
              </a:rPr>
              <a:t>Degree</a:t>
            </a:r>
            <a:r>
              <a:rPr lang="zh-CN" altLang="en-US" sz="2400" dirty="0">
                <a:sym typeface="Symbol" panose="05050102010706020507" pitchFamily="18" charset="2"/>
              </a:rPr>
              <a:t>）</a:t>
            </a:r>
            <a:endParaRPr lang="zh-CN" altLang="en-US" sz="2400" dirty="0"/>
          </a:p>
        </p:txBody>
      </p:sp>
      <p:pic>
        <p:nvPicPr>
          <p:cNvPr id="14340" name="Picture 8"/>
          <p:cNvPicPr>
            <a:picLocks noChangeAspect="1"/>
          </p:cNvPicPr>
          <p:nvPr/>
        </p:nvPicPr>
        <p:blipFill>
          <a:blip r:embed="rId1"/>
          <a:srcRect l="459" t="24142" r="690" b="24419"/>
          <a:stretch>
            <a:fillRect/>
          </a:stretch>
        </p:blipFill>
        <p:spPr>
          <a:xfrm>
            <a:off x="927100" y="3914775"/>
            <a:ext cx="6829425" cy="2665413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" name="圆角矩形 1"/>
          <p:cNvSpPr/>
          <p:nvPr/>
        </p:nvSpPr>
        <p:spPr bwMode="auto">
          <a:xfrm>
            <a:off x="922338" y="3829050"/>
            <a:ext cx="1417638" cy="75247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57150" cap="flat" cmpd="dbl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2468563" y="4716463"/>
            <a:ext cx="1382713" cy="728663"/>
          </a:xfrm>
          <a:prstGeom prst="roundRect">
            <a:avLst/>
          </a:prstGeom>
          <a:solidFill>
            <a:schemeClr val="accent1">
              <a:alpha val="0"/>
            </a:schemeClr>
          </a:solidFill>
          <a:ln w="57150" cap="flat" cmpd="dbl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" name="直接箭头连接符 3"/>
          <p:cNvCxnSpPr>
            <a:endCxn id="6" idx="1"/>
          </p:cNvCxnSpPr>
          <p:nvPr/>
        </p:nvCxnSpPr>
        <p:spPr>
          <a:xfrm>
            <a:off x="1692275" y="4581525"/>
            <a:ext cx="776288" cy="500063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1476375" y="581025"/>
            <a:ext cx="6642100" cy="58737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短程调度</a:t>
            </a:r>
            <a:endParaRPr lang="zh-CN" altLang="en-US" dirty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dirty="0"/>
              <a:t>短程调度</a:t>
            </a:r>
            <a:endParaRPr lang="en-US" altLang="zh-CN" dirty="0"/>
          </a:p>
          <a:p>
            <a:pPr lvl="1"/>
            <a:r>
              <a:rPr lang="zh-CN" altLang="en-US" dirty="0"/>
              <a:t>又称</a:t>
            </a:r>
            <a:r>
              <a:rPr lang="en-US" altLang="zh-CN" dirty="0"/>
              <a:t>CPU</a:t>
            </a:r>
            <a:r>
              <a:rPr lang="zh-CN" altLang="en-US" dirty="0"/>
              <a:t>调度、低级调度</a:t>
            </a:r>
            <a:endParaRPr lang="en-US" altLang="zh-CN" dirty="0"/>
          </a:p>
          <a:p>
            <a:pPr lvl="1"/>
            <a:r>
              <a:rPr lang="zh-CN" altLang="en-US" dirty="0"/>
              <a:t>调度程序选择下一个执行进程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15365" name="Picture 8"/>
          <p:cNvPicPr>
            <a:picLocks noChangeAspect="1"/>
          </p:cNvPicPr>
          <p:nvPr/>
        </p:nvPicPr>
        <p:blipFill>
          <a:blip r:embed="rId1"/>
          <a:srcRect l="459" t="24142" r="690" b="24419"/>
          <a:stretch>
            <a:fillRect/>
          </a:stretch>
        </p:blipFill>
        <p:spPr>
          <a:xfrm>
            <a:off x="989013" y="3595688"/>
            <a:ext cx="6829425" cy="2665412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" name="圆角矩形 5"/>
          <p:cNvSpPr/>
          <p:nvPr/>
        </p:nvSpPr>
        <p:spPr bwMode="auto">
          <a:xfrm>
            <a:off x="2514600" y="4313238"/>
            <a:ext cx="1546225" cy="887413"/>
          </a:xfrm>
          <a:prstGeom prst="roundRect">
            <a:avLst/>
          </a:prstGeom>
          <a:solidFill>
            <a:schemeClr val="accent1">
              <a:alpha val="0"/>
            </a:schemeClr>
          </a:solidFill>
          <a:ln w="57150" cap="flat" cmpd="dbl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4572000" y="4313238"/>
            <a:ext cx="1546225" cy="88900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57150" cap="flat" cmpd="dbl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1155700" y="620713"/>
            <a:ext cx="6886575" cy="481012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两者比较</a:t>
            </a:r>
            <a:endParaRPr lang="en-US" altLang="zh-CN" dirty="0"/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403225" y="1557338"/>
            <a:ext cx="8489950" cy="5191125"/>
          </a:xfrm>
          <a:noFill/>
          <a:ln>
            <a:noFill/>
          </a:ln>
        </p:spPr>
        <p:txBody>
          <a:bodyPr/>
          <a:p>
            <a:r>
              <a:rPr lang="zh-CN" altLang="en-US" dirty="0"/>
              <a:t>切换频率</a:t>
            </a:r>
            <a:endParaRPr lang="en-US" altLang="zh-CN" dirty="0"/>
          </a:p>
          <a:p>
            <a:pPr lvl="1"/>
            <a:r>
              <a:rPr lang="zh-CN" altLang="en-US" dirty="0"/>
              <a:t>短程调度切换频率高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长程调度</a:t>
            </a:r>
            <a:r>
              <a:rPr lang="zh-CN" altLang="en-US" dirty="0"/>
              <a:t>切换频率低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zh-CN" altLang="en-US" dirty="0">
                <a:sym typeface="Symbol" panose="05050102010706020507" pitchFamily="18" charset="2"/>
              </a:rPr>
              <a:t>切换开销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/>
              <a:t>短程调度开销小</a:t>
            </a:r>
            <a:r>
              <a:rPr lang="en-US" altLang="zh-CN" dirty="0"/>
              <a:t>(milliseconds</a:t>
            </a:r>
            <a:r>
              <a:rPr lang="zh-CN" altLang="en-US" dirty="0"/>
              <a:t>，</a:t>
            </a:r>
            <a:r>
              <a:rPr lang="zh-CN" altLang="en-US" dirty="0">
                <a:sym typeface="Symbol" panose="05050102010706020507" pitchFamily="18" charset="2"/>
              </a:rPr>
              <a:t>切换快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/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长程调度开销大</a:t>
            </a:r>
            <a:r>
              <a:rPr lang="en-US" altLang="zh-CN" dirty="0">
                <a:sym typeface="Symbol" panose="05050102010706020507" pitchFamily="18" charset="2"/>
              </a:rPr>
              <a:t>(seconds/minutes</a:t>
            </a:r>
            <a:r>
              <a:rPr lang="zh-CN" altLang="en-US" dirty="0">
                <a:sym typeface="Symbol" panose="05050102010706020507" pitchFamily="18" charset="2"/>
              </a:rPr>
              <a:t>，切换慢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zh-CN" altLang="en-US" dirty="0">
                <a:sym typeface="Symbol" panose="05050102010706020507" pitchFamily="18" charset="2"/>
              </a:rPr>
              <a:t>操作系统中应用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/>
              <a:t>短程调度：必需</a:t>
            </a:r>
            <a:endParaRPr lang="en-US" altLang="zh-CN" dirty="0"/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长程调度：可选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endParaRPr lang="en-US" altLang="zh-CN" dirty="0">
              <a:sym typeface="Symbol" panose="05050102010706020507" pitchFamily="18" charset="2"/>
            </a:endParaRPr>
          </a:p>
          <a:p>
            <a:endParaRPr lang="zh-CN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098550" y="620713"/>
            <a:ext cx="8077200" cy="609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中程调度</a:t>
            </a:r>
            <a:r>
              <a:rPr lang="en-US" altLang="zh-CN" dirty="0"/>
              <a:t>-</a:t>
            </a:r>
            <a:r>
              <a:rPr lang="zh-CN" altLang="en-US" dirty="0"/>
              <a:t>交换</a:t>
            </a:r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468313" y="1484313"/>
            <a:ext cx="3598863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程调度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又称交换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将进程在内存和外存间换进换出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目的：节省内存空间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2" name="Picture 5"/>
          <p:cNvPicPr>
            <a:picLocks noChangeAspect="1"/>
          </p:cNvPicPr>
          <p:nvPr/>
        </p:nvPicPr>
        <p:blipFill>
          <a:blip r:embed="rId1"/>
          <a:srcRect l="650" t="3653" r="650" b="3856"/>
          <a:stretch>
            <a:fillRect/>
          </a:stretch>
        </p:blipFill>
        <p:spPr>
          <a:xfrm>
            <a:off x="4211638" y="2133600"/>
            <a:ext cx="4037012" cy="3025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1116013" y="620713"/>
            <a:ext cx="6757987" cy="65087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进程调度队列</a:t>
            </a:r>
            <a:endParaRPr lang="zh-CN" altLang="en-US" dirty="0"/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900113" y="1628775"/>
            <a:ext cx="7580312" cy="4002088"/>
          </a:xfrm>
          <a:noFill/>
          <a:ln>
            <a:noFill/>
          </a:ln>
        </p:spPr>
        <p:txBody>
          <a:bodyPr/>
          <a:p>
            <a:r>
              <a:rPr lang="zh-CN" altLang="en-US" sz="2800" dirty="0"/>
              <a:t>就绪队列 - 在主内存中处于就绪状态并等待执行的所有进程集合</a:t>
            </a:r>
            <a:endParaRPr lang="zh-CN" altLang="en-US" sz="2800" dirty="0"/>
          </a:p>
          <a:p>
            <a:r>
              <a:rPr lang="zh-CN" altLang="en-US" sz="2800" dirty="0"/>
              <a:t>设备队列 - 等待某一</a:t>
            </a:r>
            <a:r>
              <a:rPr lang="en-US" altLang="zh-CN" sz="2800" dirty="0"/>
              <a:t>I/O</a:t>
            </a:r>
            <a:r>
              <a:rPr lang="zh-CN" altLang="en-US" sz="2800" dirty="0"/>
              <a:t>设备的进程队列</a:t>
            </a:r>
            <a:endParaRPr lang="zh-CN" altLang="en-US" sz="2800" dirty="0"/>
          </a:p>
          <a:p>
            <a:endParaRPr lang="en-US" altLang="zh-CN" sz="2800" dirty="0"/>
          </a:p>
          <a:p>
            <a:r>
              <a:rPr lang="zh-CN" altLang="en-US" sz="2800" dirty="0">
                <a:solidFill>
                  <a:schemeClr val="tx1"/>
                </a:solidFill>
              </a:rPr>
              <a:t>进程的执行过程实际上就是进程在各种队列之间的迁移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1160463" y="765175"/>
            <a:ext cx="7983537" cy="4572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就绪队列和各种</a:t>
            </a:r>
            <a:r>
              <a:rPr lang="en-US" altLang="zh-CN" dirty="0"/>
              <a:t> I/O </a:t>
            </a:r>
            <a:r>
              <a:rPr lang="zh-CN" altLang="en-US" dirty="0"/>
              <a:t>设备队列</a:t>
            </a:r>
            <a:endParaRPr lang="zh-CN" altLang="en-US" dirty="0"/>
          </a:p>
        </p:txBody>
      </p:sp>
      <p:pic>
        <p:nvPicPr>
          <p:cNvPr id="19459" name="Picture 6"/>
          <p:cNvPicPr>
            <a:picLocks noChangeAspect="1"/>
          </p:cNvPicPr>
          <p:nvPr/>
        </p:nvPicPr>
        <p:blipFill>
          <a:blip r:embed="rId1"/>
          <a:srcRect l="7364" t="517" r="7364" b="1550"/>
          <a:stretch>
            <a:fillRect/>
          </a:stretch>
        </p:blipFill>
        <p:spPr>
          <a:xfrm>
            <a:off x="1619250" y="1557338"/>
            <a:ext cx="5673725" cy="4886325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>
          <a:xfrm>
            <a:off x="1331913" y="620713"/>
            <a:ext cx="6886575" cy="457200"/>
          </a:xfrm>
        </p:spPr>
        <p:txBody>
          <a:bodyPr vert="horz" wrap="square" lIns="91422" tIns="45711" rIns="91422" bIns="45711" anchor="ctr" anchorCtr="0"/>
          <a:p>
            <a:r>
              <a:rPr lang="en-US" altLang="zh-CN" dirty="0"/>
              <a:t>CPU</a:t>
            </a:r>
            <a:r>
              <a:rPr lang="zh-CN" altLang="en-US" dirty="0"/>
              <a:t>调度过程</a:t>
            </a:r>
            <a:endParaRPr lang="zh-CN" altLang="en-US" dirty="0"/>
          </a:p>
        </p:txBody>
      </p:sp>
      <p:sp>
        <p:nvSpPr>
          <p:cNvPr id="20483" name="Rectangle 3"/>
          <p:cNvSpPr>
            <a:spLocks noGrp="1"/>
          </p:cNvSpPr>
          <p:nvPr>
            <p:ph type="body" idx="4294967295"/>
          </p:nvPr>
        </p:nvSpPr>
        <p:spPr>
          <a:xfrm>
            <a:off x="755650" y="1484313"/>
            <a:ext cx="8388350" cy="4711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sz="2800" dirty="0"/>
              <a:t>调度程序（</a:t>
            </a:r>
            <a:r>
              <a:rPr lang="en-US" altLang="zh-CN" sz="2800" dirty="0"/>
              <a:t>Scheduler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lvl="1"/>
            <a:r>
              <a:rPr lang="zh-CN" altLang="en-US" sz="2400" dirty="0"/>
              <a:t>根据某种策略选择一个就绪进程</a:t>
            </a:r>
            <a:endParaRPr lang="en-US" altLang="zh-CN" sz="2400" dirty="0"/>
          </a:p>
          <a:p>
            <a:pPr lvl="1"/>
            <a:r>
              <a:rPr lang="zh-CN" altLang="en-US" sz="2400" dirty="0"/>
              <a:t>一个</a:t>
            </a:r>
            <a:r>
              <a:rPr lang="en-US" altLang="zh-CN" sz="2400" dirty="0"/>
              <a:t>CPU</a:t>
            </a:r>
            <a:r>
              <a:rPr lang="zh-CN" altLang="en-US" sz="2400" dirty="0"/>
              <a:t>同时只能运行一个进程</a:t>
            </a:r>
            <a:endParaRPr lang="en-US" altLang="zh-CN" sz="2400" dirty="0"/>
          </a:p>
          <a:p>
            <a:r>
              <a:rPr lang="zh-CN" altLang="en-US" sz="2800" dirty="0"/>
              <a:t>分派程序（</a:t>
            </a:r>
            <a:r>
              <a:rPr lang="en-US" altLang="zh-CN" sz="2800" dirty="0"/>
              <a:t>Dispatcher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lvl="1"/>
            <a:r>
              <a:rPr lang="zh-CN" altLang="en-US" sz="2400" dirty="0"/>
              <a:t>负责把</a:t>
            </a:r>
            <a:r>
              <a:rPr lang="en-US" altLang="zh-CN" sz="2400" dirty="0"/>
              <a:t>CPU</a:t>
            </a:r>
            <a:r>
              <a:rPr lang="zh-CN" altLang="en-US" sz="2400" dirty="0"/>
              <a:t>的控制权转交</a:t>
            </a:r>
            <a:r>
              <a:rPr lang="en-US" altLang="zh-CN" sz="2400" dirty="0"/>
              <a:t>CPU</a:t>
            </a:r>
            <a:r>
              <a:rPr lang="zh-CN" altLang="en-US" sz="2400" dirty="0"/>
              <a:t>调度程序</a:t>
            </a:r>
            <a:endParaRPr lang="en-US" altLang="zh-CN" sz="2400" dirty="0"/>
          </a:p>
          <a:p>
            <a:pPr lvl="1"/>
            <a:r>
              <a:rPr lang="zh-CN" altLang="en-US" sz="2400" dirty="0"/>
              <a:t>切换上下文</a:t>
            </a:r>
            <a:endParaRPr lang="zh-CN" altLang="en-US" sz="2400" dirty="0"/>
          </a:p>
          <a:p>
            <a:pPr lvl="1"/>
            <a:r>
              <a:rPr lang="zh-CN" altLang="en-US" sz="2400" dirty="0"/>
              <a:t>切换到用户态</a:t>
            </a:r>
            <a:endParaRPr lang="zh-CN" altLang="en-US" sz="2400" dirty="0"/>
          </a:p>
          <a:p>
            <a:pPr lvl="1"/>
            <a:r>
              <a:rPr lang="zh-CN" altLang="en-US" sz="2400" dirty="0"/>
              <a:t>跳转到用户程序的适当位置并重新运行之</a:t>
            </a:r>
            <a:endParaRPr lang="zh-CN" altLang="en-US" sz="2400" dirty="0"/>
          </a:p>
          <a:p>
            <a:r>
              <a:rPr lang="zh-CN" altLang="en-US" sz="2800" dirty="0"/>
              <a:t>分派延迟</a:t>
            </a:r>
            <a:r>
              <a:rPr lang="en-US" altLang="zh-CN" sz="2800" dirty="0"/>
              <a:t>(Dispatch latency ) </a:t>
            </a:r>
            <a:r>
              <a:rPr lang="zh-CN" altLang="en-US" sz="2800" dirty="0"/>
              <a:t>–分派程序终止一个进程的运行并启动另一个进程运行所花的时间</a:t>
            </a:r>
            <a:endParaRPr lang="zh-CN" altLang="en-US" sz="2800" dirty="0"/>
          </a:p>
          <a:p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调度方式</a:t>
            </a:r>
            <a:endParaRPr lang="zh-CN" altLang="en-US" dirty="0"/>
          </a:p>
        </p:txBody>
      </p:sp>
      <p:sp>
        <p:nvSpPr>
          <p:cNvPr id="21507" name="内容占位符 3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dirty="0"/>
              <a:t>非抢占调度</a:t>
            </a:r>
            <a:r>
              <a:rPr lang="en-US" altLang="zh-CN" dirty="0"/>
              <a:t>(nonpreemptive)</a:t>
            </a:r>
            <a:endParaRPr lang="en-US" altLang="zh-CN" dirty="0"/>
          </a:p>
          <a:p>
            <a:pPr lvl="1"/>
            <a:r>
              <a:rPr lang="zh-CN" altLang="en-US" dirty="0"/>
              <a:t>一旦把</a:t>
            </a:r>
            <a:r>
              <a:rPr lang="en-US" altLang="zh-CN" dirty="0"/>
              <a:t>CPU</a:t>
            </a:r>
            <a:r>
              <a:rPr lang="zh-CN" altLang="en-US" dirty="0"/>
              <a:t>分配给某进程后，系统不可以抢占已分配的</a:t>
            </a:r>
            <a:r>
              <a:rPr lang="en-US" altLang="zh-CN" dirty="0"/>
              <a:t>CPU</a:t>
            </a:r>
            <a:r>
              <a:rPr lang="zh-CN" altLang="en-US" dirty="0"/>
              <a:t>并分配该其它进程</a:t>
            </a:r>
            <a:endParaRPr lang="en-US" altLang="zh-CN" dirty="0"/>
          </a:p>
          <a:p>
            <a:pPr lvl="1"/>
            <a:r>
              <a:rPr lang="zh-CN" altLang="en-US" dirty="0"/>
              <a:t>只有进程</a:t>
            </a:r>
            <a:r>
              <a:rPr lang="zh-CN" altLang="en-US" b="1" dirty="0">
                <a:solidFill>
                  <a:schemeClr val="tx1"/>
                </a:solidFill>
              </a:rPr>
              <a:t>自愿释放</a:t>
            </a:r>
            <a:r>
              <a:rPr lang="en-US" altLang="zh-CN" b="1" dirty="0">
                <a:solidFill>
                  <a:schemeClr val="tx1"/>
                </a:solidFill>
              </a:rPr>
              <a:t>CPU</a:t>
            </a:r>
            <a:r>
              <a:rPr lang="zh-CN" altLang="en-US" dirty="0"/>
              <a:t>，才可把</a:t>
            </a:r>
            <a:r>
              <a:rPr lang="en-US" altLang="zh-CN" dirty="0"/>
              <a:t>CPU</a:t>
            </a:r>
            <a:r>
              <a:rPr lang="zh-CN" altLang="en-US" dirty="0"/>
              <a:t>分配给其他进程</a:t>
            </a:r>
            <a:endParaRPr lang="en-US" altLang="zh-CN" dirty="0"/>
          </a:p>
          <a:p>
            <a:pPr lvl="1"/>
            <a:r>
              <a:rPr lang="zh-CN" altLang="en-US" dirty="0"/>
              <a:t>优点：易实现，调度开销小，适合批处理系统</a:t>
            </a:r>
            <a:endParaRPr lang="en-US" altLang="zh-CN" dirty="0"/>
          </a:p>
          <a:p>
            <a:pPr lvl="1"/>
            <a:r>
              <a:rPr lang="zh-CN" altLang="en-US" dirty="0"/>
              <a:t>缺点：响应时间长，不适合交互式系统</a:t>
            </a:r>
            <a:endParaRPr lang="en-US" altLang="zh-CN" dirty="0"/>
          </a:p>
          <a:p>
            <a:pPr lvl="1"/>
            <a:endParaRPr lang="zh-CN" altLang="en-US" dirty="0"/>
          </a:p>
          <a:p>
            <a:pPr marL="571500" lvl="2" indent="-342900">
              <a:buFont typeface="Monotype Sorts" pitchFamily="2" charset="2"/>
              <a:buChar char="n"/>
            </a:pPr>
            <a:endParaRPr lang="zh-CN" altLang="en-US" sz="2000" dirty="0"/>
          </a:p>
          <a:p>
            <a:pPr>
              <a:buFont typeface="Wingdings" panose="05000000000000000000" pitchFamily="2" charset="2"/>
              <a:buChar char="v"/>
            </a:pPr>
            <a:endParaRPr lang="zh-CN" altLang="en-US" dirty="0"/>
          </a:p>
        </p:txBody>
      </p:sp>
      <p:sp>
        <p:nvSpPr>
          <p:cNvPr id="2150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调度方式</a:t>
            </a:r>
            <a:endParaRPr lang="zh-CN" altLang="en-US" dirty="0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dirty="0"/>
              <a:t>抢占式调度</a:t>
            </a:r>
            <a:r>
              <a:rPr lang="en-US" altLang="zh-CN" dirty="0"/>
              <a:t>(preemptive )</a:t>
            </a:r>
            <a:endParaRPr lang="zh-CN" altLang="en-US" dirty="0"/>
          </a:p>
          <a:p>
            <a:pPr lvl="1"/>
            <a:r>
              <a:rPr lang="zh-CN" altLang="en-US" dirty="0"/>
              <a:t>调度程序可根据某种原则暂停某个正在执行的进程，将已分配给它的</a:t>
            </a:r>
            <a:r>
              <a:rPr lang="en-US" altLang="zh-CN" dirty="0"/>
              <a:t>CPU</a:t>
            </a:r>
            <a:r>
              <a:rPr lang="zh-CN" altLang="en-US" dirty="0"/>
              <a:t>重新分配给另一进程</a:t>
            </a:r>
            <a:endParaRPr lang="en-US" altLang="zh-CN" dirty="0"/>
          </a:p>
          <a:p>
            <a:pPr lvl="1"/>
            <a:r>
              <a:rPr lang="zh-CN" altLang="en-US" dirty="0"/>
              <a:t>可防止单一进程长时间独占</a:t>
            </a:r>
            <a:r>
              <a:rPr lang="en-US" altLang="zh-CN" dirty="0"/>
              <a:t>CPU</a:t>
            </a:r>
            <a:endParaRPr lang="en-US" altLang="zh-CN" dirty="0"/>
          </a:p>
          <a:p>
            <a:pPr lvl="1"/>
            <a:r>
              <a:rPr lang="zh-CN" altLang="en-US" dirty="0"/>
              <a:t>系统开销大</a:t>
            </a:r>
            <a:endParaRPr lang="zh-CN" altLang="en-US" dirty="0"/>
          </a:p>
          <a:p>
            <a:r>
              <a:rPr lang="zh-CN" altLang="en-US" b="1" dirty="0"/>
              <a:t>抢占式与非抢占式的区分</a:t>
            </a:r>
            <a:endParaRPr lang="en-US" altLang="zh-CN" b="1" dirty="0"/>
          </a:p>
          <a:p>
            <a:pPr lvl="1"/>
            <a:r>
              <a:rPr lang="zh-CN" altLang="en-US" b="1" dirty="0">
                <a:solidFill>
                  <a:schemeClr val="tx1"/>
                </a:solidFill>
              </a:rPr>
              <a:t>运行进程是否是自愿放弃</a:t>
            </a:r>
            <a:r>
              <a:rPr lang="en-US" altLang="zh-CN" b="1" dirty="0">
                <a:solidFill>
                  <a:schemeClr val="tx1"/>
                </a:solidFill>
              </a:rPr>
              <a:t>CPU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en-US" altLang="zh-CN" dirty="0"/>
              <a:t>CPU</a:t>
            </a:r>
            <a:r>
              <a:rPr lang="zh-CN" altLang="en-US" dirty="0"/>
              <a:t>调度时机</a:t>
            </a:r>
            <a:endParaRPr lang="zh-CN" altLang="en-US" dirty="0"/>
          </a:p>
        </p:txBody>
      </p:sp>
      <p:sp>
        <p:nvSpPr>
          <p:cNvPr id="23555" name="文本占位符 1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91513" cy="4525963"/>
          </a:xfrm>
          <a:noFill/>
          <a:ln>
            <a:noFill/>
          </a:ln>
        </p:spPr>
        <p:txBody>
          <a:bodyPr/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lang="en-US" altLang="zh-CN" sz="2800" dirty="0"/>
              <a:t>CPU</a:t>
            </a:r>
            <a:r>
              <a:rPr lang="zh-CN" altLang="en-US" sz="2800" dirty="0"/>
              <a:t>调度可能发生在当一个进程:</a:t>
            </a:r>
            <a:endParaRPr lang="zh-CN" altLang="en-US" sz="2800" dirty="0"/>
          </a:p>
          <a:p>
            <a:pPr lvl="1">
              <a:buClr>
                <a:schemeClr val="accent2"/>
              </a:buClr>
              <a:buSzPct val="85000"/>
              <a:buFont typeface="Monotype Sorts" pitchFamily="2" charset="2"/>
              <a:buNone/>
            </a:pPr>
            <a:r>
              <a:rPr lang="zh-CN" altLang="en-US" sz="2400" dirty="0"/>
              <a:t>1.	从运行转到等待（</a:t>
            </a:r>
            <a:r>
              <a:rPr lang="zh-CN" altLang="en-US" sz="2400" b="1" dirty="0"/>
              <a:t>非抢占式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1">
              <a:buClr>
                <a:schemeClr val="accent2"/>
              </a:buClr>
              <a:buSzPct val="85000"/>
              <a:buFont typeface="Monotype Sorts" pitchFamily="2" charset="2"/>
              <a:buNone/>
            </a:pPr>
            <a:r>
              <a:rPr lang="zh-CN" altLang="en-US" sz="2400" dirty="0"/>
              <a:t>2.	从运行转到就绪（</a:t>
            </a:r>
            <a:r>
              <a:rPr lang="zh-CN" altLang="en-US" sz="2400" b="1" dirty="0"/>
              <a:t>抢占式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1">
              <a:buClr>
                <a:schemeClr val="accent2"/>
              </a:buClr>
              <a:buSzPct val="85000"/>
              <a:buFont typeface="Monotype Sorts" pitchFamily="2" charset="2"/>
              <a:buNone/>
            </a:pPr>
            <a:r>
              <a:rPr lang="zh-CN" altLang="en-US" sz="2400" dirty="0"/>
              <a:t>3.	从等待转到就绪（</a:t>
            </a:r>
            <a:r>
              <a:rPr lang="zh-CN" altLang="en-US" sz="2400" b="1" dirty="0"/>
              <a:t>抢占式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1">
              <a:buClr>
                <a:schemeClr val="accent2"/>
              </a:buClr>
              <a:buSzPct val="85000"/>
              <a:buFont typeface="Monotype Sorts" pitchFamily="2" charset="2"/>
              <a:buNone/>
            </a:pPr>
            <a:r>
              <a:rPr lang="zh-CN" altLang="en-US" sz="2400" dirty="0"/>
              <a:t>4.	终止运行（非</a:t>
            </a:r>
            <a:r>
              <a:rPr lang="zh-CN" altLang="en-US" sz="2400" b="1" dirty="0"/>
              <a:t>抢占式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</a:pPr>
            <a:endParaRPr lang="zh-CN" altLang="en-US" dirty="0"/>
          </a:p>
        </p:txBody>
      </p:sp>
      <p:pic>
        <p:nvPicPr>
          <p:cNvPr id="23556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3906838"/>
            <a:ext cx="6362700" cy="2543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 idx="4294967295"/>
          </p:nvPr>
        </p:nvSpPr>
        <p:spPr>
          <a:xfrm>
            <a:off x="1206500" y="685800"/>
            <a:ext cx="7188200" cy="609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调度准则</a:t>
            </a:r>
            <a:r>
              <a:rPr lang="en-US" altLang="zh-CN" dirty="0"/>
              <a:t>-</a:t>
            </a:r>
            <a:r>
              <a:rPr lang="zh-CN" altLang="en-US" dirty="0"/>
              <a:t>基本指标</a:t>
            </a:r>
            <a:endParaRPr lang="zh-CN" altLang="en-US" dirty="0"/>
          </a:p>
        </p:txBody>
      </p:sp>
      <p:sp>
        <p:nvSpPr>
          <p:cNvPr id="24579" name="Rectangle 3"/>
          <p:cNvSpPr>
            <a:spLocks noGrp="1"/>
          </p:cNvSpPr>
          <p:nvPr>
            <p:ph type="body" idx="4294967295"/>
          </p:nvPr>
        </p:nvSpPr>
        <p:spPr>
          <a:xfrm>
            <a:off x="468313" y="1519238"/>
            <a:ext cx="8424862" cy="5343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sz="2800" dirty="0"/>
              <a:t>CPU</a:t>
            </a:r>
            <a:r>
              <a:rPr lang="zh-CN" altLang="en-US" sz="2800" dirty="0"/>
              <a:t>利用率 – 固定时间内</a:t>
            </a:r>
            <a:r>
              <a:rPr lang="en-US" altLang="zh-CN" sz="2800" dirty="0"/>
              <a:t>CPU</a:t>
            </a:r>
            <a:r>
              <a:rPr lang="zh-CN" altLang="en-US" sz="2800" dirty="0"/>
              <a:t>运行时间的比例</a:t>
            </a:r>
            <a:endParaRPr lang="en-US" altLang="zh-CN" sz="2800" dirty="0"/>
          </a:p>
          <a:p>
            <a:r>
              <a:rPr lang="zh-CN" altLang="en-US" sz="2800" dirty="0"/>
              <a:t>吞吐量 – 单位时间内运行完的进程数</a:t>
            </a:r>
            <a:endParaRPr lang="zh-CN" altLang="en-US" sz="2800" dirty="0"/>
          </a:p>
          <a:p>
            <a:r>
              <a:rPr lang="zh-CN" altLang="en-US" sz="2800" dirty="0">
                <a:solidFill>
                  <a:srgbClr val="FF0000"/>
                </a:solidFill>
              </a:rPr>
              <a:t>周转时间 – 进程从提交到运行结束的全部时间</a:t>
            </a:r>
            <a:endParaRPr lang="zh-CN" altLang="en-US" sz="28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FF0000"/>
                </a:solidFill>
              </a:rPr>
              <a:t>         </a:t>
            </a:r>
            <a:r>
              <a:rPr lang="zh-CN" altLang="en-US" sz="2800" dirty="0">
                <a:solidFill>
                  <a:srgbClr val="FF0000"/>
                </a:solidFill>
              </a:rPr>
              <a:t>周转时间</a:t>
            </a:r>
            <a:r>
              <a:rPr lang="en-US" altLang="zh-CN" sz="2800" dirty="0">
                <a:solidFill>
                  <a:srgbClr val="FF0000"/>
                </a:solidFill>
              </a:rPr>
              <a:t>=</a:t>
            </a:r>
            <a:r>
              <a:rPr lang="zh-CN" altLang="en-US" sz="2800" dirty="0">
                <a:solidFill>
                  <a:srgbClr val="FF0000"/>
                </a:solidFill>
              </a:rPr>
              <a:t>完成时间</a:t>
            </a:r>
            <a:r>
              <a:rPr lang="en-US" altLang="zh-CN" sz="2800" dirty="0">
                <a:solidFill>
                  <a:srgbClr val="FF0000"/>
                </a:solidFill>
              </a:rPr>
              <a:t>-</a:t>
            </a:r>
            <a:r>
              <a:rPr lang="zh-CN" altLang="en-US" sz="2800" dirty="0">
                <a:solidFill>
                  <a:srgbClr val="FF0000"/>
                </a:solidFill>
              </a:rPr>
              <a:t>到达时间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等待时间 – 进程等待调度（不运行）的时间片总和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algn="l"/>
            <a:r>
              <a:rPr lang="zh-CN" altLang="en-US" sz="2800" dirty="0"/>
              <a:t> </a:t>
            </a:r>
            <a:r>
              <a:rPr lang="en-US" altLang="zh-CN" sz="2800" dirty="0"/>
              <a:t>       </a:t>
            </a:r>
            <a:r>
              <a:rPr lang="zh-CN" altLang="en-US" sz="2800" dirty="0">
                <a:solidFill>
                  <a:srgbClr val="FF0000"/>
                </a:solidFill>
              </a:rPr>
              <a:t>等待时间=周转时间-服务（运行）时间</a:t>
            </a:r>
            <a:endParaRPr lang="zh-CN" altLang="en-US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响应时间 – 从进程提交到首次运行[而不是输出结果]的时间段，也就是第一段的等待时间</a:t>
            </a:r>
            <a:endParaRPr lang="en-US" altLang="zh-CN" sz="2800" dirty="0"/>
          </a:p>
          <a:p>
            <a:r>
              <a:rPr lang="zh-CN" altLang="en-US" sz="2800" b="1" dirty="0">
                <a:solidFill>
                  <a:schemeClr val="tx1"/>
                </a:solidFill>
              </a:rPr>
              <a:t>周转时间</a:t>
            </a:r>
            <a:r>
              <a:rPr lang="en-US" altLang="zh-CN" sz="2800" b="1" dirty="0">
                <a:solidFill>
                  <a:schemeClr val="tx1"/>
                </a:solidFill>
              </a:rPr>
              <a:t>=</a:t>
            </a:r>
            <a:r>
              <a:rPr lang="zh-CN" altLang="en-US" sz="2800" b="1" dirty="0">
                <a:solidFill>
                  <a:schemeClr val="tx1"/>
                </a:solidFill>
              </a:rPr>
              <a:t>等待时间</a:t>
            </a:r>
            <a:r>
              <a:rPr lang="en-US" altLang="zh-CN" sz="2800" b="1" dirty="0">
                <a:solidFill>
                  <a:schemeClr val="tx1"/>
                </a:solidFill>
              </a:rPr>
              <a:t>+</a:t>
            </a:r>
            <a:r>
              <a:rPr lang="zh-CN" altLang="en-US" sz="2800" b="1" dirty="0">
                <a:solidFill>
                  <a:schemeClr val="tx1"/>
                </a:solidFill>
              </a:rPr>
              <a:t>运行时间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zh-CN" altLang="en-US" sz="2800" b="1" dirty="0">
                <a:solidFill>
                  <a:schemeClr val="tx1"/>
                </a:solidFill>
              </a:rPr>
              <a:t>响应时间</a:t>
            </a:r>
            <a:r>
              <a:rPr lang="en-US" altLang="zh-CN" sz="2800" b="1" dirty="0">
                <a:solidFill>
                  <a:schemeClr val="tx1"/>
                </a:solidFill>
              </a:rPr>
              <a:t>&lt;=</a:t>
            </a:r>
            <a:r>
              <a:rPr lang="zh-CN" altLang="en-US" sz="2800" b="1" dirty="0">
                <a:solidFill>
                  <a:schemeClr val="tx1"/>
                </a:solidFill>
              </a:rPr>
              <a:t>等待时间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endParaRPr lang="en-US" altLang="zh-CN" sz="28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>
              <a:buFont typeface="Monotype Sorts" pitchFamily="2" charset="2"/>
              <a:buNone/>
            </a:pPr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>
          <a:xfrm>
            <a:off x="1116013" y="549275"/>
            <a:ext cx="6553200" cy="598488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调度准则</a:t>
            </a:r>
            <a:r>
              <a:rPr lang="en-US" altLang="zh-CN" dirty="0"/>
              <a:t>-</a:t>
            </a:r>
            <a:r>
              <a:rPr lang="zh-CN" altLang="en-US" dirty="0"/>
              <a:t>优化方法</a:t>
            </a:r>
            <a:endParaRPr lang="zh-CN" altLang="en-US" dirty="0"/>
          </a:p>
        </p:txBody>
      </p:sp>
      <p:sp>
        <p:nvSpPr>
          <p:cNvPr id="25603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665288"/>
            <a:ext cx="8208962" cy="44831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dirty="0"/>
              <a:t>最大的</a:t>
            </a:r>
            <a:r>
              <a:rPr lang="en-US" altLang="zh-CN" dirty="0"/>
              <a:t>CPU</a:t>
            </a:r>
            <a:r>
              <a:rPr lang="zh-CN" altLang="en-US" dirty="0"/>
              <a:t>利用率</a:t>
            </a:r>
            <a:endParaRPr lang="zh-CN" altLang="en-US" dirty="0"/>
          </a:p>
          <a:p>
            <a:r>
              <a:rPr lang="zh-CN" altLang="en-US" dirty="0"/>
              <a:t>最大的吞吐量</a:t>
            </a:r>
            <a:endParaRPr lang="zh-CN" altLang="en-US" dirty="0"/>
          </a:p>
          <a:p>
            <a:r>
              <a:rPr lang="zh-CN" altLang="en-US" dirty="0"/>
              <a:t>最短的周转时间</a:t>
            </a:r>
            <a:endParaRPr lang="zh-CN" altLang="en-US" dirty="0"/>
          </a:p>
          <a:p>
            <a:r>
              <a:rPr lang="zh-CN" altLang="en-US" dirty="0"/>
              <a:t>最短的等待时间</a:t>
            </a:r>
            <a:endParaRPr lang="zh-CN" altLang="en-US" dirty="0"/>
          </a:p>
          <a:p>
            <a:r>
              <a:rPr lang="zh-CN" altLang="en-US" dirty="0"/>
              <a:t>最短的响应时间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解决方法</a:t>
            </a:r>
            <a:endParaRPr lang="en-US" altLang="zh-CN" dirty="0"/>
          </a:p>
          <a:p>
            <a:pPr lvl="1"/>
            <a:r>
              <a:rPr lang="zh-CN" altLang="en-US" dirty="0"/>
              <a:t>调度算法：就绪队列中哪个进程被选中运行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732603" y="2008628"/>
            <a:ext cx="7380619" cy="1994812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zh-CN" altLang="en-US" sz="60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</a:t>
            </a:r>
            <a:r>
              <a:rPr lang="en-US" altLang="zh-CN" sz="60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CPU</a:t>
            </a:r>
            <a:r>
              <a:rPr lang="zh-CN" altLang="en-US" sz="60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调度（二）</a:t>
            </a:r>
            <a:br>
              <a:rPr lang="zh-CN" altLang="en-US" sz="40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altLang="zh-CN" sz="40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CN" altLang="en-US" sz="5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调度</a:t>
            </a:r>
            <a:r>
              <a:rPr lang="zh-CN" altLang="en-US" sz="5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算法</a:t>
            </a:r>
            <a:r>
              <a:rPr lang="zh-CN" altLang="en-US" sz="5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sz="5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</a:t>
            </a:r>
            <a:r>
              <a:rPr lang="zh-CN" altLang="en-US" sz="5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54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139"/>
    </mc:Choice>
    <mc:Fallback>
      <p:transition spd="slow" advTm="9139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内容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先来先服务调度</a:t>
            </a:r>
            <a:r>
              <a:rPr lang="zh-CN" altLang="en-US" dirty="0" smtClean="0">
                <a:ea typeface="宋体" panose="02010600030101010101" pitchFamily="2" charset="-122"/>
              </a:rPr>
              <a:t>算法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算法介绍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算法举例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优缺点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短</a:t>
            </a:r>
            <a:r>
              <a:rPr lang="zh-CN" altLang="en-US" dirty="0">
                <a:ea typeface="宋体" panose="02010600030101010101" pitchFamily="2" charset="-122"/>
              </a:rPr>
              <a:t>作业优先调度</a:t>
            </a:r>
            <a:r>
              <a:rPr lang="zh-CN" altLang="en-US" dirty="0" smtClean="0">
                <a:ea typeface="宋体" panose="02010600030101010101" pitchFamily="2" charset="-122"/>
              </a:rPr>
              <a:t>算法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算法介绍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/>
              <a:t>算法举例</a:t>
            </a:r>
            <a:endParaRPr lang="en-US" altLang="zh-CN" dirty="0" smtClean="0"/>
          </a:p>
          <a:p>
            <a:pPr lvl="1"/>
            <a:r>
              <a:rPr lang="zh-CN" altLang="en-US" dirty="0"/>
              <a:t>优缺点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下一个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区间长度的预测</a:t>
            </a:r>
            <a:endParaRPr lang="en-US" altLang="zh-CN" dirty="0" smtClean="0"/>
          </a:p>
          <a:p>
            <a:pPr lvl="1"/>
            <a:endParaRPr lang="en-US" altLang="zh-CN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先来先服务</a:t>
            </a:r>
            <a:r>
              <a:rPr lang="en-US" altLang="zh-CN" dirty="0" smtClean="0"/>
              <a:t>(FCFS)</a:t>
            </a:r>
            <a:r>
              <a:rPr lang="zh-CN" altLang="en-US" dirty="0" smtClean="0"/>
              <a:t>调度算法</a:t>
            </a:r>
            <a:r>
              <a:rPr lang="en-US" altLang="zh-CN" dirty="0" smtClean="0"/>
              <a:t>(1)</a:t>
            </a:r>
            <a:endParaRPr lang="zh-CN" alt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先来先服务（</a:t>
            </a:r>
            <a:r>
              <a:rPr lang="en-US" altLang="zh-CN" sz="2000" dirty="0"/>
              <a:t>First-Come</a:t>
            </a:r>
            <a:r>
              <a:rPr lang="zh-CN" altLang="en-US" sz="2000" dirty="0"/>
              <a:t>，</a:t>
            </a:r>
            <a:r>
              <a:rPr lang="en-US" altLang="zh-CN" sz="2000" dirty="0"/>
              <a:t>First-Served - FCFS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en-US" sz="2000" dirty="0"/>
              <a:t>按进程请求</a:t>
            </a:r>
            <a:r>
              <a:rPr lang="en-US" altLang="zh-CN" sz="2000" dirty="0"/>
              <a:t>CPU</a:t>
            </a:r>
            <a:r>
              <a:rPr lang="zh-CN" altLang="en-US" sz="2000" dirty="0"/>
              <a:t>的先后</a:t>
            </a:r>
            <a:r>
              <a:rPr lang="zh-CN" altLang="en-US" sz="2000" dirty="0" smtClean="0"/>
              <a:t>顺序使用</a:t>
            </a:r>
            <a:r>
              <a:rPr lang="en-US" altLang="zh-CN" sz="2000" dirty="0" smtClean="0"/>
              <a:t>CPU</a:t>
            </a:r>
            <a:endParaRPr lang="en-US" altLang="zh-CN" sz="2000" dirty="0" smtClean="0"/>
          </a:p>
          <a:p>
            <a:r>
              <a:rPr lang="zh-CN" altLang="en-US" sz="2000" dirty="0" smtClean="0"/>
              <a:t>举例</a:t>
            </a:r>
            <a:r>
              <a:rPr lang="en-US" altLang="zh-CN" sz="2000" dirty="0" smtClean="0"/>
              <a:t>:	   	</a:t>
            </a:r>
            <a:r>
              <a:rPr lang="zh-CN" altLang="en-US" sz="2000" u="sng" dirty="0" smtClean="0"/>
              <a:t>进程</a:t>
            </a:r>
            <a:r>
              <a:rPr lang="zh-CN" altLang="en-US" sz="2000" dirty="0" smtClean="0"/>
              <a:t>		</a:t>
            </a:r>
            <a:r>
              <a:rPr lang="zh-CN" altLang="en-US" sz="2000" u="sng" dirty="0" smtClean="0"/>
              <a:t>区间时间</a:t>
            </a:r>
            <a:endParaRPr lang="en-US" altLang="zh-CN" sz="2000" u="sng" dirty="0" smtClean="0"/>
          </a:p>
          <a:p>
            <a:pPr marL="0" indent="0">
              <a:buNone/>
            </a:pPr>
            <a:r>
              <a:rPr lang="en-US" altLang="zh-CN" sz="2000" dirty="0" smtClean="0"/>
              <a:t>		 P1		   24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		 P2 		   3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	 	 P3		   3 </a:t>
            </a:r>
            <a:endParaRPr lang="en-US" altLang="zh-CN" sz="2000" dirty="0" smtClean="0"/>
          </a:p>
          <a:p>
            <a:r>
              <a:rPr lang="zh-CN" altLang="en-US" sz="2000" dirty="0" smtClean="0"/>
              <a:t>假定进程到达顺序如下</a:t>
            </a:r>
            <a:r>
              <a:rPr lang="zh-CN" altLang="zh-CN" sz="2000" dirty="0" smtClean="0"/>
              <a:t>: </a:t>
            </a:r>
            <a:r>
              <a:rPr lang="en-US" altLang="zh-CN" sz="2000" dirty="0" smtClean="0">
                <a:solidFill>
                  <a:srgbClr val="FF0000"/>
                </a:solidFill>
              </a:rPr>
              <a:t>P1 , P2 , P3  </a:t>
            </a:r>
            <a:r>
              <a:rPr lang="zh-CN" altLang="en-US" sz="2000" dirty="0" smtClean="0"/>
              <a:t>该调度的甘特图为</a:t>
            </a:r>
            <a:r>
              <a:rPr lang="zh-CN" altLang="zh-CN" sz="2000" dirty="0" smtClean="0"/>
              <a:t>:</a:t>
            </a:r>
            <a:endParaRPr lang="en-US" altLang="zh-CN" sz="2000" dirty="0" smtClean="0"/>
          </a:p>
          <a:p>
            <a:pPr marL="0" indent="0">
              <a:buNone/>
            </a:pPr>
            <a:br>
              <a:rPr lang="zh-CN" altLang="zh-CN" dirty="0" smtClean="0"/>
            </a:br>
            <a:br>
              <a:rPr lang="zh-CN" altLang="zh-CN" dirty="0" smtClean="0"/>
            </a:br>
            <a:endParaRPr lang="en-US" altLang="zh-CN" dirty="0" smtClean="0"/>
          </a:p>
          <a:p>
            <a:r>
              <a:rPr lang="zh-CN" altLang="en-US" sz="1800" dirty="0" smtClean="0"/>
              <a:t>周转时间：</a:t>
            </a:r>
            <a:r>
              <a:rPr lang="en-US" altLang="zh-CN" sz="1800" dirty="0" smtClean="0"/>
              <a:t>P1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24; P2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27; P3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30</a:t>
            </a:r>
            <a:r>
              <a:rPr lang="zh-CN" altLang="en-US" sz="1800" dirty="0" smtClean="0"/>
              <a:t>；平均周转时间：</a:t>
            </a:r>
            <a:r>
              <a:rPr lang="zh-CN" altLang="zh-CN" sz="1800" dirty="0" smtClean="0"/>
              <a:t> (</a:t>
            </a:r>
            <a:r>
              <a:rPr lang="en-US" altLang="zh-CN" sz="1800" dirty="0" smtClean="0"/>
              <a:t>24</a:t>
            </a:r>
            <a:r>
              <a:rPr lang="zh-CN" altLang="zh-CN" sz="1800" dirty="0" smtClean="0"/>
              <a:t> + 2</a:t>
            </a:r>
            <a:r>
              <a:rPr lang="en-US" altLang="zh-CN" sz="1800" dirty="0" smtClean="0"/>
              <a:t>7</a:t>
            </a:r>
            <a:r>
              <a:rPr lang="zh-CN" altLang="zh-CN" sz="1800" dirty="0" smtClean="0"/>
              <a:t> + </a:t>
            </a:r>
            <a:r>
              <a:rPr lang="en-US" altLang="zh-CN" sz="1800" dirty="0" smtClean="0"/>
              <a:t>30</a:t>
            </a:r>
            <a:r>
              <a:rPr lang="zh-CN" altLang="zh-CN" sz="1800" dirty="0" smtClean="0"/>
              <a:t>)/3 =</a:t>
            </a:r>
            <a:r>
              <a:rPr lang="en-US" altLang="zh-CN" sz="1800" dirty="0" smtClean="0"/>
              <a:t>27</a:t>
            </a:r>
            <a:endParaRPr lang="en-US" altLang="zh-CN" sz="1800" dirty="0" smtClean="0"/>
          </a:p>
          <a:p>
            <a:r>
              <a:rPr lang="zh-CN" altLang="en-US" sz="1800" dirty="0" smtClean="0"/>
              <a:t>等待时间：</a:t>
            </a:r>
            <a:r>
              <a:rPr lang="en-US" altLang="zh-CN" sz="1800" dirty="0" smtClean="0"/>
              <a:t>P1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0; P2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24; P3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27</a:t>
            </a:r>
            <a:r>
              <a:rPr lang="zh-CN" altLang="en-US" sz="1800" dirty="0" smtClean="0"/>
              <a:t>；  平均等待时间</a:t>
            </a:r>
            <a:r>
              <a:rPr lang="zh-CN" altLang="zh-CN" sz="1800" dirty="0" smtClean="0"/>
              <a:t>:  (0 + 24 + 27)/3 = 17</a:t>
            </a:r>
            <a:endParaRPr lang="en-US" altLang="zh-CN" sz="1800" dirty="0" smtClean="0"/>
          </a:p>
          <a:p>
            <a:r>
              <a:rPr lang="zh-CN" altLang="en-US" sz="1800" dirty="0" smtClean="0"/>
              <a:t>响应时间：</a:t>
            </a:r>
            <a:r>
              <a:rPr lang="en-US" altLang="zh-CN" sz="1800" dirty="0"/>
              <a:t>P1</a:t>
            </a:r>
            <a:r>
              <a:rPr lang="zh-CN" altLang="en-US" sz="1800" dirty="0"/>
              <a:t>：</a:t>
            </a:r>
            <a:r>
              <a:rPr lang="en-US" altLang="zh-CN" sz="1800" dirty="0"/>
              <a:t>0; P2</a:t>
            </a:r>
            <a:r>
              <a:rPr lang="zh-CN" altLang="en-US" sz="1800" dirty="0"/>
              <a:t>：</a:t>
            </a:r>
            <a:r>
              <a:rPr lang="en-US" altLang="zh-CN" sz="1800" dirty="0"/>
              <a:t>24; P3</a:t>
            </a:r>
            <a:r>
              <a:rPr lang="zh-CN" altLang="en-US" sz="1800" dirty="0"/>
              <a:t>：</a:t>
            </a:r>
            <a:r>
              <a:rPr lang="en-US" altLang="zh-CN" sz="1800" dirty="0"/>
              <a:t>27</a:t>
            </a:r>
            <a:r>
              <a:rPr lang="zh-CN" altLang="en-US" sz="1800" dirty="0"/>
              <a:t>；  平均响应时间</a:t>
            </a:r>
            <a:r>
              <a:rPr lang="zh-CN" altLang="zh-CN" sz="1800" dirty="0"/>
              <a:t>:  (0 + 24 + 27)/3 = 17</a:t>
            </a:r>
            <a:endParaRPr lang="en-US" altLang="zh-CN" sz="1800" dirty="0"/>
          </a:p>
          <a:p>
            <a:endParaRPr lang="en-US" altLang="zh-CN" sz="1800" dirty="0" smtClean="0"/>
          </a:p>
          <a:p>
            <a:endParaRPr lang="en-US" altLang="zh-CN" sz="2000" dirty="0"/>
          </a:p>
          <a:p>
            <a:endParaRPr lang="zh-CN" altLang="en-US" sz="2000" dirty="0" smtClean="0"/>
          </a:p>
        </p:txBody>
      </p:sp>
      <p:grpSp>
        <p:nvGrpSpPr>
          <p:cNvPr id="19460" name="Group 4"/>
          <p:cNvGrpSpPr/>
          <p:nvPr/>
        </p:nvGrpSpPr>
        <p:grpSpPr bwMode="auto">
          <a:xfrm>
            <a:off x="1960433" y="4372210"/>
            <a:ext cx="4213622" cy="858440"/>
            <a:chOff x="837" y="2688"/>
            <a:chExt cx="3539" cy="721"/>
          </a:xfrm>
        </p:grpSpPr>
        <p:sp>
          <p:nvSpPr>
            <p:cNvPr id="19461" name="Rectangle 5"/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9462" name="Text Box 6"/>
            <p:cNvSpPr txBox="1">
              <a:spLocks noChangeArrowheads="1"/>
            </p:cNvSpPr>
            <p:nvPr/>
          </p:nvSpPr>
          <p:spPr bwMode="auto">
            <a:xfrm>
              <a:off x="1756" y="2725"/>
              <a:ext cx="3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1</a:t>
              </a:r>
              <a:endParaRPr lang="en-US" altLang="zh-CN" sz="1350"/>
            </a:p>
          </p:txBody>
        </p:sp>
        <p:sp>
          <p:nvSpPr>
            <p:cNvPr id="19463" name="Text Box 7"/>
            <p:cNvSpPr txBox="1">
              <a:spLocks noChangeArrowheads="1"/>
            </p:cNvSpPr>
            <p:nvPr/>
          </p:nvSpPr>
          <p:spPr bwMode="auto">
            <a:xfrm>
              <a:off x="3246" y="2717"/>
              <a:ext cx="30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2</a:t>
              </a:r>
              <a:endParaRPr lang="en-US" altLang="zh-CN" sz="1350"/>
            </a:p>
          </p:txBody>
        </p:sp>
        <p:sp>
          <p:nvSpPr>
            <p:cNvPr id="19464" name="Text Box 8"/>
            <p:cNvSpPr txBox="1">
              <a:spLocks noChangeArrowheads="1"/>
            </p:cNvSpPr>
            <p:nvPr/>
          </p:nvSpPr>
          <p:spPr bwMode="auto">
            <a:xfrm>
              <a:off x="3820" y="2725"/>
              <a:ext cx="3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3</a:t>
              </a:r>
              <a:endParaRPr lang="en-US" altLang="zh-CN" sz="1350"/>
            </a:p>
          </p:txBody>
        </p:sp>
        <p:sp>
          <p:nvSpPr>
            <p:cNvPr id="19465" name="Line 9"/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466" name="Line 10"/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467" name="Line 11"/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468" name="Line 12"/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469" name="Line 13"/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470" name="Line 14"/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471" name="Text Box 15"/>
            <p:cNvSpPr txBox="1">
              <a:spLocks noChangeArrowheads="1"/>
            </p:cNvSpPr>
            <p:nvPr/>
          </p:nvSpPr>
          <p:spPr bwMode="auto">
            <a:xfrm>
              <a:off x="2907" y="3157"/>
              <a:ext cx="3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24</a:t>
              </a:r>
              <a:endParaRPr lang="en-US" altLang="zh-CN" sz="1350"/>
            </a:p>
          </p:txBody>
        </p:sp>
        <p:sp>
          <p:nvSpPr>
            <p:cNvPr id="19472" name="Text Box 16"/>
            <p:cNvSpPr txBox="1">
              <a:spLocks noChangeArrowheads="1"/>
            </p:cNvSpPr>
            <p:nvPr/>
          </p:nvSpPr>
          <p:spPr bwMode="auto">
            <a:xfrm>
              <a:off x="3483" y="3157"/>
              <a:ext cx="3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27</a:t>
              </a:r>
              <a:endParaRPr lang="en-US" altLang="zh-CN" sz="1350"/>
            </a:p>
          </p:txBody>
        </p:sp>
        <p:sp>
          <p:nvSpPr>
            <p:cNvPr id="19473" name="Text Box 17"/>
            <p:cNvSpPr txBox="1">
              <a:spLocks noChangeArrowheads="1"/>
            </p:cNvSpPr>
            <p:nvPr/>
          </p:nvSpPr>
          <p:spPr bwMode="auto">
            <a:xfrm>
              <a:off x="4059" y="3157"/>
              <a:ext cx="3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30</a:t>
              </a:r>
              <a:endParaRPr lang="en-US" altLang="zh-CN" sz="1350"/>
            </a:p>
          </p:txBody>
        </p:sp>
        <p:sp>
          <p:nvSpPr>
            <p:cNvPr id="19474" name="Text Box 18"/>
            <p:cNvSpPr txBox="1">
              <a:spLocks noChangeArrowheads="1"/>
            </p:cNvSpPr>
            <p:nvPr/>
          </p:nvSpPr>
          <p:spPr bwMode="auto">
            <a:xfrm>
              <a:off x="837" y="3157"/>
              <a:ext cx="23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0</a:t>
              </a:r>
              <a:endParaRPr lang="en-US" altLang="zh-CN" sz="135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先来先服务</a:t>
            </a:r>
            <a:r>
              <a:rPr lang="en-US" altLang="zh-CN" dirty="0"/>
              <a:t>(FCFS)</a:t>
            </a:r>
            <a:r>
              <a:rPr lang="zh-CN" altLang="en-US" dirty="0"/>
              <a:t>调度算法</a:t>
            </a:r>
            <a:r>
              <a:rPr lang="en-US" altLang="zh-CN" dirty="0" smtClean="0"/>
              <a:t>(2)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600" dirty="0" smtClean="0"/>
              <a:t>算法特点</a:t>
            </a:r>
            <a:endParaRPr lang="en-US" altLang="zh-CN" sz="2600" dirty="0" smtClean="0"/>
          </a:p>
          <a:p>
            <a:pPr lvl="1"/>
            <a:r>
              <a:rPr lang="zh-CN" altLang="en-US" sz="2400" dirty="0" smtClean="0"/>
              <a:t>实现简单，可</a:t>
            </a:r>
            <a:r>
              <a:rPr lang="zh-CN" altLang="en-US" sz="2400" dirty="0"/>
              <a:t>使用</a:t>
            </a:r>
            <a:r>
              <a:rPr lang="en-US" altLang="zh-CN" sz="2400" dirty="0"/>
              <a:t>FIFO</a:t>
            </a:r>
            <a:r>
              <a:rPr lang="zh-CN" altLang="en-US" sz="2400" dirty="0"/>
              <a:t>队列实现</a:t>
            </a:r>
            <a:endParaRPr lang="en-US" altLang="zh-CN" sz="2400" dirty="0"/>
          </a:p>
          <a:p>
            <a:pPr lvl="1"/>
            <a:r>
              <a:rPr lang="zh-CN" altLang="en-US" sz="2400" dirty="0"/>
              <a:t>非抢占</a:t>
            </a:r>
            <a:endParaRPr lang="en-US" altLang="zh-CN" sz="2400" dirty="0"/>
          </a:p>
          <a:p>
            <a:pPr lvl="1"/>
            <a:r>
              <a:rPr lang="zh-CN" altLang="en-US" sz="2400" dirty="0" smtClean="0"/>
              <a:t>公平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对长</a:t>
            </a:r>
            <a:r>
              <a:rPr lang="en-US" altLang="zh-CN" sz="2400" dirty="0" smtClean="0"/>
              <a:t>CPU</a:t>
            </a:r>
            <a:r>
              <a:rPr lang="zh-CN" altLang="en-US" sz="2400" dirty="0" smtClean="0"/>
              <a:t>脉冲的进程有利，对短</a:t>
            </a:r>
            <a:r>
              <a:rPr lang="en-US" altLang="zh-CN" sz="2400" dirty="0" smtClean="0"/>
              <a:t>CPU</a:t>
            </a:r>
            <a:r>
              <a:rPr lang="zh-CN" altLang="en-US" sz="2400" dirty="0" smtClean="0"/>
              <a:t>脉冲的进程不利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适用于长程调度、后台批处理系统的短程调度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先来先服务</a:t>
            </a:r>
            <a:r>
              <a:rPr lang="en-US" altLang="zh-CN" dirty="0"/>
              <a:t>(FCFS)</a:t>
            </a:r>
            <a:r>
              <a:rPr lang="zh-CN" altLang="en-US" dirty="0"/>
              <a:t>调度算法</a:t>
            </a:r>
            <a:r>
              <a:rPr lang="en-US" altLang="zh-CN" dirty="0" smtClean="0"/>
              <a:t>(3)</a:t>
            </a:r>
            <a:endParaRPr lang="zh-CN" altLang="en-US" dirty="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 smtClean="0"/>
              <a:t>前例</a:t>
            </a:r>
            <a:r>
              <a:rPr lang="en-US" altLang="zh-CN" sz="2000" dirty="0"/>
              <a:t>:	   	</a:t>
            </a:r>
            <a:r>
              <a:rPr lang="zh-CN" altLang="en-US" sz="2000" u="sng" dirty="0"/>
              <a:t>进程</a:t>
            </a:r>
            <a:r>
              <a:rPr lang="zh-CN" altLang="en-US" sz="2000" dirty="0"/>
              <a:t>		</a:t>
            </a:r>
            <a:r>
              <a:rPr lang="zh-CN" altLang="en-US" sz="2000" u="sng" dirty="0"/>
              <a:t>区间时间</a:t>
            </a:r>
            <a:endParaRPr lang="en-US" altLang="zh-CN" sz="2000" u="sng" dirty="0"/>
          </a:p>
          <a:p>
            <a:pPr marL="0" indent="0">
              <a:buNone/>
            </a:pPr>
            <a:r>
              <a:rPr lang="en-US" altLang="zh-CN" sz="2000" dirty="0"/>
              <a:t>		 P1		   24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	 P2 		   3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 	 P3		   3 </a:t>
            </a:r>
            <a:endParaRPr lang="en-US" altLang="zh-CN" sz="2000" dirty="0"/>
          </a:p>
          <a:p>
            <a:r>
              <a:rPr lang="zh-CN" altLang="en-US" sz="2000" dirty="0"/>
              <a:t>假定进程到达顺序如下</a:t>
            </a:r>
            <a:r>
              <a:rPr lang="zh-CN" altLang="zh-CN" sz="2000" dirty="0" smtClean="0"/>
              <a:t>: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P2 </a:t>
            </a:r>
            <a:r>
              <a:rPr lang="en-US" altLang="zh-CN" sz="2000" dirty="0">
                <a:solidFill>
                  <a:srgbClr val="FF0000"/>
                </a:solidFill>
              </a:rPr>
              <a:t>, P3 , </a:t>
            </a:r>
            <a:r>
              <a:rPr lang="en-US" altLang="zh-CN" sz="2000" dirty="0" smtClean="0">
                <a:solidFill>
                  <a:srgbClr val="FF0000"/>
                </a:solidFill>
              </a:rPr>
              <a:t>P1</a:t>
            </a:r>
            <a:r>
              <a:rPr lang="zh-CN" altLang="en-US" sz="2000" dirty="0" smtClean="0"/>
              <a:t>，该</a:t>
            </a:r>
            <a:r>
              <a:rPr lang="zh-CN" altLang="en-US" sz="2000" dirty="0"/>
              <a:t>调度的</a:t>
            </a:r>
            <a:r>
              <a:rPr lang="en-US" altLang="zh-CN" sz="2000" dirty="0" smtClean="0"/>
              <a:t>Gantt</a:t>
            </a:r>
            <a:r>
              <a:rPr lang="zh-CN" altLang="en-US" sz="2000" dirty="0" smtClean="0"/>
              <a:t>图</a:t>
            </a:r>
            <a:r>
              <a:rPr lang="zh-CN" altLang="en-US" sz="2000" dirty="0"/>
              <a:t>为</a:t>
            </a:r>
            <a:r>
              <a:rPr lang="zh-CN" altLang="zh-CN" sz="2000" dirty="0"/>
              <a:t>:</a:t>
            </a:r>
            <a:endParaRPr lang="en-US" altLang="zh-CN" sz="2000" dirty="0"/>
          </a:p>
          <a:p>
            <a:endParaRPr lang="zh-CN" altLang="zh-CN" dirty="0" smtClean="0"/>
          </a:p>
          <a:p>
            <a:endParaRPr lang="en-US" altLang="zh-CN" dirty="0" smtClean="0"/>
          </a:p>
          <a:p>
            <a:endParaRPr lang="zh-CN" altLang="zh-CN" dirty="0" smtClean="0"/>
          </a:p>
          <a:p>
            <a:r>
              <a:rPr lang="zh-CN" altLang="en-US" sz="2200" dirty="0"/>
              <a:t>周转时间</a:t>
            </a:r>
            <a:r>
              <a:rPr lang="en-US" altLang="zh-CN" sz="2200" dirty="0"/>
              <a:t>:  P1: 30; P2: 3; P3: 6</a:t>
            </a:r>
            <a:r>
              <a:rPr lang="zh-CN" altLang="en-US" sz="2200" dirty="0"/>
              <a:t>，平均周转时间</a:t>
            </a:r>
            <a:r>
              <a:rPr lang="zh-CN" altLang="zh-CN" sz="2200" dirty="0"/>
              <a:t>: </a:t>
            </a:r>
            <a:r>
              <a:rPr lang="en-US" altLang="zh-CN" sz="2200" dirty="0"/>
              <a:t>1</a:t>
            </a:r>
            <a:r>
              <a:rPr lang="zh-CN" altLang="zh-CN" sz="2200" dirty="0"/>
              <a:t>3</a:t>
            </a:r>
            <a:endParaRPr lang="en-US" altLang="zh-CN" sz="2200" dirty="0"/>
          </a:p>
          <a:p>
            <a:r>
              <a:rPr lang="zh-CN" altLang="en-US" sz="2200" dirty="0" smtClean="0"/>
              <a:t>等待时间</a:t>
            </a:r>
            <a:r>
              <a:rPr lang="en-US" altLang="zh-CN" sz="2200" dirty="0" smtClean="0"/>
              <a:t>:  P1:  6;  P2: 0; P3: 3</a:t>
            </a:r>
            <a:r>
              <a:rPr lang="zh-CN" altLang="en-US" sz="2200" dirty="0" smtClean="0"/>
              <a:t>，平均等待时间</a:t>
            </a:r>
            <a:r>
              <a:rPr lang="zh-CN" altLang="zh-CN" sz="2200" dirty="0" smtClean="0"/>
              <a:t>: 3</a:t>
            </a:r>
            <a:endParaRPr lang="en-US" altLang="zh-CN" sz="2200" dirty="0" smtClean="0"/>
          </a:p>
          <a:p>
            <a:r>
              <a:rPr lang="zh-CN" altLang="en-US" sz="2200" dirty="0" smtClean="0"/>
              <a:t>响应时间：</a:t>
            </a:r>
            <a:r>
              <a:rPr lang="en-US" altLang="zh-CN" sz="2200" dirty="0"/>
              <a:t>P1: </a:t>
            </a:r>
            <a:r>
              <a:rPr lang="en-US" altLang="zh-CN" sz="2200" dirty="0" smtClean="0"/>
              <a:t>6; </a:t>
            </a:r>
            <a:r>
              <a:rPr lang="en-US" altLang="zh-CN" sz="2200" dirty="0"/>
              <a:t>P2: </a:t>
            </a:r>
            <a:r>
              <a:rPr lang="en-US" altLang="zh-CN" sz="2200" dirty="0" smtClean="0"/>
              <a:t>0; </a:t>
            </a:r>
            <a:r>
              <a:rPr lang="en-US" altLang="zh-CN" sz="2200" dirty="0"/>
              <a:t>P3: </a:t>
            </a:r>
            <a:r>
              <a:rPr lang="en-US" altLang="zh-CN" sz="2200" dirty="0" smtClean="0"/>
              <a:t>3</a:t>
            </a:r>
            <a:r>
              <a:rPr lang="zh-CN" altLang="en-US" sz="2200" dirty="0" smtClean="0"/>
              <a:t>，平均</a:t>
            </a:r>
            <a:r>
              <a:rPr lang="zh-CN" altLang="en-US" sz="2200" dirty="0"/>
              <a:t>响应</a:t>
            </a:r>
            <a:r>
              <a:rPr lang="zh-CN" altLang="en-US" sz="2200" dirty="0" smtClean="0"/>
              <a:t>时间</a:t>
            </a:r>
            <a:r>
              <a:rPr lang="zh-CN" altLang="zh-CN" sz="2200" dirty="0"/>
              <a:t>: </a:t>
            </a:r>
            <a:r>
              <a:rPr lang="zh-CN" altLang="zh-CN" sz="2200" dirty="0" smtClean="0"/>
              <a:t>3</a:t>
            </a:r>
            <a:endParaRPr lang="en-US" altLang="zh-CN" sz="2200" dirty="0"/>
          </a:p>
          <a:p>
            <a:r>
              <a:rPr lang="zh-CN" altLang="en-US" sz="2200" dirty="0" smtClean="0"/>
              <a:t>比前例好得多</a:t>
            </a:r>
            <a:endParaRPr lang="zh-CN" altLang="zh-CN" sz="2200" dirty="0" smtClean="0"/>
          </a:p>
        </p:txBody>
      </p:sp>
      <p:grpSp>
        <p:nvGrpSpPr>
          <p:cNvPr id="20484" name="Group 23"/>
          <p:cNvGrpSpPr/>
          <p:nvPr/>
        </p:nvGrpSpPr>
        <p:grpSpPr bwMode="auto">
          <a:xfrm>
            <a:off x="2098376" y="3634365"/>
            <a:ext cx="4227909" cy="858440"/>
            <a:chOff x="605" y="1968"/>
            <a:chExt cx="3551" cy="721"/>
          </a:xfrm>
        </p:grpSpPr>
        <p:sp>
          <p:nvSpPr>
            <p:cNvPr id="20485" name="Rectangle 6"/>
            <p:cNvSpPr>
              <a:spLocks noChangeArrowheads="1"/>
            </p:cNvSpPr>
            <p:nvPr/>
          </p:nvSpPr>
          <p:spPr bwMode="auto">
            <a:xfrm flipH="1">
              <a:off x="720" y="196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0486" name="Text Box 7"/>
            <p:cNvSpPr txBox="1">
              <a:spLocks noChangeArrowheads="1"/>
            </p:cNvSpPr>
            <p:nvPr/>
          </p:nvSpPr>
          <p:spPr bwMode="auto">
            <a:xfrm flipH="1">
              <a:off x="2931" y="2005"/>
              <a:ext cx="3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1</a:t>
              </a:r>
              <a:endParaRPr lang="en-US" altLang="zh-CN" sz="1350"/>
            </a:p>
          </p:txBody>
        </p:sp>
        <p:sp>
          <p:nvSpPr>
            <p:cNvPr id="20487" name="Text Box 8"/>
            <p:cNvSpPr txBox="1">
              <a:spLocks noChangeArrowheads="1"/>
            </p:cNvSpPr>
            <p:nvPr/>
          </p:nvSpPr>
          <p:spPr bwMode="auto">
            <a:xfrm flipH="1">
              <a:off x="1443" y="2005"/>
              <a:ext cx="3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3</a:t>
              </a:r>
              <a:endParaRPr lang="en-US" altLang="zh-CN" sz="1350"/>
            </a:p>
          </p:txBody>
        </p:sp>
        <p:sp>
          <p:nvSpPr>
            <p:cNvPr id="20488" name="Text Box 9"/>
            <p:cNvSpPr txBox="1">
              <a:spLocks noChangeArrowheads="1"/>
            </p:cNvSpPr>
            <p:nvPr/>
          </p:nvSpPr>
          <p:spPr bwMode="auto">
            <a:xfrm flipH="1">
              <a:off x="867" y="2005"/>
              <a:ext cx="3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2</a:t>
              </a:r>
              <a:endParaRPr lang="en-US" altLang="zh-CN" sz="1350"/>
            </a:p>
          </p:txBody>
        </p:sp>
        <p:sp>
          <p:nvSpPr>
            <p:cNvPr id="20489" name="Line 10"/>
            <p:cNvSpPr>
              <a:spLocks noChangeShapeType="1"/>
            </p:cNvSpPr>
            <p:nvPr/>
          </p:nvSpPr>
          <p:spPr bwMode="auto">
            <a:xfrm flipH="1">
              <a:off x="4032" y="23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490" name="Line 11"/>
            <p:cNvSpPr>
              <a:spLocks noChangeShapeType="1"/>
            </p:cNvSpPr>
            <p:nvPr/>
          </p:nvSpPr>
          <p:spPr bwMode="auto">
            <a:xfrm flipH="1">
              <a:off x="720" y="23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491" name="Line 12"/>
            <p:cNvSpPr>
              <a:spLocks noChangeShapeType="1"/>
            </p:cNvSpPr>
            <p:nvPr/>
          </p:nvSpPr>
          <p:spPr bwMode="auto">
            <a:xfrm flipH="1">
              <a:off x="1920" y="196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492" name="Line 13"/>
            <p:cNvSpPr>
              <a:spLocks noChangeShapeType="1"/>
            </p:cNvSpPr>
            <p:nvPr/>
          </p:nvSpPr>
          <p:spPr bwMode="auto">
            <a:xfrm flipH="1">
              <a:off x="1344" y="196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493" name="Line 14"/>
            <p:cNvSpPr>
              <a:spLocks noChangeShapeType="1"/>
            </p:cNvSpPr>
            <p:nvPr/>
          </p:nvSpPr>
          <p:spPr bwMode="auto">
            <a:xfrm flipH="1">
              <a:off x="1920" y="23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494" name="Line 15"/>
            <p:cNvSpPr>
              <a:spLocks noChangeShapeType="1"/>
            </p:cNvSpPr>
            <p:nvPr/>
          </p:nvSpPr>
          <p:spPr bwMode="auto">
            <a:xfrm flipH="1">
              <a:off x="1344" y="23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495" name="Text Box 16"/>
            <p:cNvSpPr txBox="1">
              <a:spLocks noChangeArrowheads="1"/>
            </p:cNvSpPr>
            <p:nvPr/>
          </p:nvSpPr>
          <p:spPr bwMode="auto">
            <a:xfrm flipH="1">
              <a:off x="1809" y="2437"/>
              <a:ext cx="23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6</a:t>
              </a:r>
              <a:endParaRPr lang="en-US" altLang="zh-CN" sz="1350"/>
            </a:p>
          </p:txBody>
        </p:sp>
        <p:sp>
          <p:nvSpPr>
            <p:cNvPr id="20496" name="Text Box 17"/>
            <p:cNvSpPr txBox="1">
              <a:spLocks noChangeArrowheads="1"/>
            </p:cNvSpPr>
            <p:nvPr/>
          </p:nvSpPr>
          <p:spPr bwMode="auto">
            <a:xfrm flipH="1">
              <a:off x="1233" y="2437"/>
              <a:ext cx="23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3</a:t>
              </a:r>
              <a:endParaRPr lang="en-US" altLang="zh-CN" sz="1350"/>
            </a:p>
          </p:txBody>
        </p:sp>
        <p:sp>
          <p:nvSpPr>
            <p:cNvPr id="20497" name="Text Box 18"/>
            <p:cNvSpPr txBox="1">
              <a:spLocks noChangeArrowheads="1"/>
            </p:cNvSpPr>
            <p:nvPr/>
          </p:nvSpPr>
          <p:spPr bwMode="auto">
            <a:xfrm flipH="1">
              <a:off x="3839" y="2437"/>
              <a:ext cx="3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30</a:t>
              </a:r>
              <a:endParaRPr lang="en-US" altLang="zh-CN" sz="1350"/>
            </a:p>
          </p:txBody>
        </p:sp>
        <p:sp>
          <p:nvSpPr>
            <p:cNvPr id="20498" name="Text Box 19"/>
            <p:cNvSpPr txBox="1">
              <a:spLocks noChangeArrowheads="1"/>
            </p:cNvSpPr>
            <p:nvPr/>
          </p:nvSpPr>
          <p:spPr bwMode="auto">
            <a:xfrm flipH="1">
              <a:off x="605" y="2437"/>
              <a:ext cx="23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0</a:t>
              </a:r>
              <a:endParaRPr lang="en-US" altLang="zh-CN" sz="135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短作业优先</a:t>
            </a:r>
            <a:r>
              <a:rPr lang="en-US" altLang="zh-CN" dirty="0"/>
              <a:t>(SJF)</a:t>
            </a:r>
            <a:r>
              <a:rPr lang="zh-CN" altLang="en-US" dirty="0" smtClean="0"/>
              <a:t>调度算法</a:t>
            </a:r>
            <a:endParaRPr lang="zh-CN" altLang="en-US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短作业优先</a:t>
            </a:r>
            <a:r>
              <a:rPr lang="en-US" altLang="zh-CN" dirty="0"/>
              <a:t>(</a:t>
            </a:r>
            <a:r>
              <a:rPr lang="en-US" altLang="zh-CN" dirty="0" smtClean="0"/>
              <a:t>SJF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Shortest-Job-First )</a:t>
            </a:r>
            <a:r>
              <a:rPr lang="zh-CN" altLang="en-US" dirty="0" smtClean="0"/>
              <a:t>调度算法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关联到每个进程下次运行的</a:t>
            </a:r>
            <a:r>
              <a:rPr lang="en-US" altLang="zh-CN" dirty="0" smtClean="0"/>
              <a:t>CPU</a:t>
            </a:r>
            <a:r>
              <a:rPr lang="zh-CN" altLang="en-US" dirty="0"/>
              <a:t>区间</a:t>
            </a:r>
            <a:r>
              <a:rPr lang="zh-CN" altLang="en-US" dirty="0" smtClean="0"/>
              <a:t>长度，调度最短的进程</a:t>
            </a:r>
            <a:endParaRPr lang="en-US" altLang="zh-CN" dirty="0" smtClean="0"/>
          </a:p>
          <a:p>
            <a:pPr lvl="1"/>
            <a:endParaRPr lang="zh-CN" altLang="en-US" dirty="0" smtClean="0"/>
          </a:p>
          <a:p>
            <a:r>
              <a:rPr lang="zh-CN" altLang="en-US" dirty="0" smtClean="0"/>
              <a:t>调度模式</a:t>
            </a:r>
            <a:r>
              <a:rPr lang="en-US" altLang="zh-CN" dirty="0" smtClean="0"/>
              <a:t>:</a:t>
            </a:r>
            <a:r>
              <a:rPr lang="zh-CN" altLang="en-US" dirty="0" smtClean="0"/>
              <a:t> 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非抢占式调度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抢占式调度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发生在有比当前进程剩余时间片更短的进程到达时，也称最短剩余时间优先调度</a:t>
            </a:r>
            <a:r>
              <a:rPr lang="en-US" altLang="zh-CN" dirty="0" smtClean="0"/>
              <a:t> (SRTF)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pPr lvl="1"/>
            <a:endParaRPr lang="zh-CN" altLang="en-US" dirty="0" smtClean="0"/>
          </a:p>
          <a:p>
            <a:r>
              <a:rPr lang="zh-CN" altLang="en-US" dirty="0" smtClean="0"/>
              <a:t>优点：</a:t>
            </a:r>
            <a:r>
              <a:rPr lang="en-US" altLang="zh-CN" dirty="0" smtClean="0"/>
              <a:t>SJF</a:t>
            </a:r>
            <a:r>
              <a:rPr lang="zh-CN" altLang="en-US" dirty="0" smtClean="0"/>
              <a:t>最优</a:t>
            </a:r>
            <a:r>
              <a:rPr lang="zh-CN" altLang="en-US" dirty="0"/>
              <a:t>，具有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最短的平均</a:t>
            </a: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等待时间</a:t>
            </a:r>
            <a:endParaRPr lang="en-US" altLang="zh-CN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/>
              <a:t>缺点</a:t>
            </a:r>
            <a:r>
              <a:rPr lang="zh-CN" altLang="en-US" smtClean="0"/>
              <a:t>：</a:t>
            </a:r>
            <a:r>
              <a:rPr lang="zh-CN" altLang="en-US" b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存在</a:t>
            </a: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饥饿问题</a:t>
            </a:r>
            <a:endParaRPr lang="en-US" altLang="zh-CN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非抢占式</a:t>
            </a:r>
            <a:r>
              <a:rPr lang="en-US" altLang="zh-CN" sz="3200" dirty="0" smtClean="0"/>
              <a:t>SJF</a:t>
            </a:r>
            <a:r>
              <a:rPr lang="zh-CN" altLang="en-US" sz="3200" dirty="0" smtClean="0"/>
              <a:t>例子</a:t>
            </a:r>
            <a:endParaRPr lang="zh-CN" altLang="en-US" sz="3200" dirty="0" smtClean="0"/>
          </a:p>
        </p:txBody>
      </p:sp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举例：</a:t>
            </a:r>
            <a:r>
              <a:rPr lang="en-US" altLang="zh-CN" dirty="0" smtClean="0"/>
              <a:t>	</a:t>
            </a:r>
            <a:r>
              <a:rPr lang="zh-CN" altLang="en-US" u="sng" dirty="0" smtClean="0"/>
              <a:t>进程</a:t>
            </a:r>
            <a:r>
              <a:rPr lang="en-US" altLang="zh-CN" dirty="0"/>
              <a:t>	</a:t>
            </a:r>
            <a:r>
              <a:rPr lang="zh-CN" altLang="en-US" u="sng" dirty="0" smtClean="0"/>
              <a:t>到达时间</a:t>
            </a:r>
            <a:r>
              <a:rPr lang="en-US" altLang="zh-CN" dirty="0" smtClean="0"/>
              <a:t>	</a:t>
            </a:r>
            <a:r>
              <a:rPr lang="zh-CN" altLang="en-US" u="sng" dirty="0" smtClean="0"/>
              <a:t>区间时间</a:t>
            </a:r>
            <a:endParaRPr lang="en-US" altLang="zh-CN" u="sng" dirty="0" smtClean="0"/>
          </a:p>
          <a:p>
            <a:pPr marL="0" indent="0">
              <a:buNone/>
            </a:pPr>
            <a:r>
              <a:rPr lang="en-US" altLang="zh-CN" dirty="0" smtClean="0"/>
              <a:t>		 P1	    0		   7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	 P2	    2		   4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	 P3	    4		   1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	 P4	    5		   4</a:t>
            </a:r>
            <a:endParaRPr lang="en-US" altLang="zh-CN" dirty="0" smtClean="0"/>
          </a:p>
          <a:p>
            <a:r>
              <a:rPr lang="en-US" altLang="zh-CN" dirty="0" smtClean="0"/>
              <a:t>SJF (</a:t>
            </a:r>
            <a:r>
              <a:rPr lang="zh-CN" altLang="en-US" dirty="0"/>
              <a:t>非抢占式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/>
              <a:t>平均周转时间 </a:t>
            </a:r>
            <a:r>
              <a:rPr lang="en-US" altLang="zh-CN" dirty="0"/>
              <a:t>= (7+10+ 4+ 11)/4 = 8</a:t>
            </a:r>
            <a:endParaRPr lang="en-US" altLang="zh-CN" dirty="0"/>
          </a:p>
          <a:p>
            <a:r>
              <a:rPr lang="zh-CN" altLang="en-US" dirty="0" smtClean="0"/>
              <a:t>平均等待时间</a:t>
            </a:r>
            <a:r>
              <a:rPr lang="en-US" altLang="zh-CN" dirty="0" smtClean="0"/>
              <a:t> = (0 + 6 + 3 + 7)/4 = 4</a:t>
            </a:r>
            <a:endParaRPr lang="en-US" altLang="zh-CN" dirty="0" smtClean="0"/>
          </a:p>
        </p:txBody>
      </p:sp>
      <p:grpSp>
        <p:nvGrpSpPr>
          <p:cNvPr id="24580" name="Group 37"/>
          <p:cNvGrpSpPr/>
          <p:nvPr/>
        </p:nvGrpSpPr>
        <p:grpSpPr bwMode="auto">
          <a:xfrm>
            <a:off x="2057948" y="4588668"/>
            <a:ext cx="4227909" cy="858440"/>
            <a:chOff x="845" y="2745"/>
            <a:chExt cx="3551" cy="721"/>
          </a:xfrm>
        </p:grpSpPr>
        <p:sp>
          <p:nvSpPr>
            <p:cNvPr id="24581" name="Rectangle 5"/>
            <p:cNvSpPr>
              <a:spLocks noChangeArrowheads="1"/>
            </p:cNvSpPr>
            <p:nvPr/>
          </p:nvSpPr>
          <p:spPr bwMode="auto">
            <a:xfrm flipH="1">
              <a:off x="960" y="2745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4582" name="Text Box 6"/>
            <p:cNvSpPr txBox="1">
              <a:spLocks noChangeArrowheads="1"/>
            </p:cNvSpPr>
            <p:nvPr/>
          </p:nvSpPr>
          <p:spPr bwMode="auto">
            <a:xfrm flipH="1">
              <a:off x="1372" y="2782"/>
              <a:ext cx="3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1</a:t>
              </a:r>
              <a:endParaRPr lang="en-US" altLang="zh-CN" sz="1350"/>
            </a:p>
          </p:txBody>
        </p:sp>
        <p:sp>
          <p:nvSpPr>
            <p:cNvPr id="24583" name="Text Box 7"/>
            <p:cNvSpPr txBox="1">
              <a:spLocks noChangeArrowheads="1"/>
            </p:cNvSpPr>
            <p:nvPr/>
          </p:nvSpPr>
          <p:spPr bwMode="auto">
            <a:xfrm flipH="1">
              <a:off x="2380" y="2782"/>
              <a:ext cx="3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3</a:t>
              </a:r>
              <a:endParaRPr lang="en-US" altLang="zh-CN" sz="1350"/>
            </a:p>
          </p:txBody>
        </p:sp>
        <p:sp>
          <p:nvSpPr>
            <p:cNvPr id="24584" name="Text Box 8"/>
            <p:cNvSpPr txBox="1">
              <a:spLocks noChangeArrowheads="1"/>
            </p:cNvSpPr>
            <p:nvPr/>
          </p:nvSpPr>
          <p:spPr bwMode="auto">
            <a:xfrm flipH="1">
              <a:off x="2956" y="2782"/>
              <a:ext cx="3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2</a:t>
              </a:r>
              <a:endParaRPr lang="en-US" altLang="zh-CN" sz="1350"/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 flipH="1">
              <a:off x="4272" y="312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586" name="Line 10"/>
            <p:cNvSpPr>
              <a:spLocks noChangeShapeType="1"/>
            </p:cNvSpPr>
            <p:nvPr/>
          </p:nvSpPr>
          <p:spPr bwMode="auto">
            <a:xfrm flipH="1">
              <a:off x="960" y="312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587" name="Line 11"/>
            <p:cNvSpPr>
              <a:spLocks noChangeShapeType="1"/>
            </p:cNvSpPr>
            <p:nvPr/>
          </p:nvSpPr>
          <p:spPr bwMode="auto">
            <a:xfrm flipH="1">
              <a:off x="2688" y="2745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588" name="Line 12"/>
            <p:cNvSpPr>
              <a:spLocks noChangeShapeType="1"/>
            </p:cNvSpPr>
            <p:nvPr/>
          </p:nvSpPr>
          <p:spPr bwMode="auto">
            <a:xfrm flipH="1">
              <a:off x="2400" y="2745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589" name="Line 13"/>
            <p:cNvSpPr>
              <a:spLocks noChangeShapeType="1"/>
            </p:cNvSpPr>
            <p:nvPr/>
          </p:nvSpPr>
          <p:spPr bwMode="auto">
            <a:xfrm flipH="1">
              <a:off x="2400" y="312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590" name="Line 14"/>
            <p:cNvSpPr>
              <a:spLocks noChangeShapeType="1"/>
            </p:cNvSpPr>
            <p:nvPr/>
          </p:nvSpPr>
          <p:spPr bwMode="auto">
            <a:xfrm flipH="1">
              <a:off x="1392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591" name="Text Box 15"/>
            <p:cNvSpPr txBox="1">
              <a:spLocks noChangeArrowheads="1"/>
            </p:cNvSpPr>
            <p:nvPr/>
          </p:nvSpPr>
          <p:spPr bwMode="auto">
            <a:xfrm flipH="1">
              <a:off x="2285" y="3214"/>
              <a:ext cx="23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7</a:t>
              </a:r>
              <a:endParaRPr lang="en-US" altLang="zh-CN" sz="1350"/>
            </a:p>
          </p:txBody>
        </p:sp>
        <p:sp>
          <p:nvSpPr>
            <p:cNvPr id="24592" name="Text Box 16"/>
            <p:cNvSpPr txBox="1">
              <a:spLocks noChangeArrowheads="1"/>
            </p:cNvSpPr>
            <p:nvPr/>
          </p:nvSpPr>
          <p:spPr bwMode="auto">
            <a:xfrm flipH="1">
              <a:off x="1473" y="3214"/>
              <a:ext cx="23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3</a:t>
              </a:r>
              <a:endParaRPr lang="en-US" altLang="zh-CN" sz="1350"/>
            </a:p>
          </p:txBody>
        </p:sp>
        <p:sp>
          <p:nvSpPr>
            <p:cNvPr id="24593" name="Text Box 17"/>
            <p:cNvSpPr txBox="1">
              <a:spLocks noChangeArrowheads="1"/>
            </p:cNvSpPr>
            <p:nvPr/>
          </p:nvSpPr>
          <p:spPr bwMode="auto">
            <a:xfrm flipH="1">
              <a:off x="4079" y="3214"/>
              <a:ext cx="3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16</a:t>
              </a:r>
              <a:endParaRPr lang="en-US" altLang="zh-CN" sz="1350"/>
            </a:p>
          </p:txBody>
        </p:sp>
        <p:sp>
          <p:nvSpPr>
            <p:cNvPr id="24594" name="Text Box 18"/>
            <p:cNvSpPr txBox="1">
              <a:spLocks noChangeArrowheads="1"/>
            </p:cNvSpPr>
            <p:nvPr/>
          </p:nvSpPr>
          <p:spPr bwMode="auto">
            <a:xfrm flipH="1">
              <a:off x="845" y="3214"/>
              <a:ext cx="23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0</a:t>
              </a:r>
              <a:endParaRPr lang="en-US" altLang="zh-CN" sz="1350"/>
            </a:p>
          </p:txBody>
        </p:sp>
        <p:sp>
          <p:nvSpPr>
            <p:cNvPr id="24595" name="Text Box 20"/>
            <p:cNvSpPr txBox="1">
              <a:spLocks noChangeArrowheads="1"/>
            </p:cNvSpPr>
            <p:nvPr/>
          </p:nvSpPr>
          <p:spPr bwMode="auto">
            <a:xfrm flipH="1">
              <a:off x="3676" y="2782"/>
              <a:ext cx="3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4</a:t>
              </a:r>
              <a:endParaRPr lang="en-US" altLang="zh-CN" sz="1350"/>
            </a:p>
          </p:txBody>
        </p:sp>
        <p:sp>
          <p:nvSpPr>
            <p:cNvPr id="24596" name="Line 21"/>
            <p:cNvSpPr>
              <a:spLocks noChangeShapeType="1"/>
            </p:cNvSpPr>
            <p:nvPr/>
          </p:nvSpPr>
          <p:spPr bwMode="auto">
            <a:xfrm flipH="1">
              <a:off x="3456" y="2745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597" name="Line 22"/>
            <p:cNvSpPr>
              <a:spLocks noChangeShapeType="1"/>
            </p:cNvSpPr>
            <p:nvPr/>
          </p:nvSpPr>
          <p:spPr bwMode="auto">
            <a:xfrm flipH="1">
              <a:off x="1152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598" name="Line 23"/>
            <p:cNvSpPr>
              <a:spLocks noChangeShapeType="1"/>
            </p:cNvSpPr>
            <p:nvPr/>
          </p:nvSpPr>
          <p:spPr bwMode="auto">
            <a:xfrm flipH="1">
              <a:off x="1632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599" name="Line 24"/>
            <p:cNvSpPr>
              <a:spLocks noChangeShapeType="1"/>
            </p:cNvSpPr>
            <p:nvPr/>
          </p:nvSpPr>
          <p:spPr bwMode="auto">
            <a:xfrm flipH="1">
              <a:off x="1872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600" name="Line 25"/>
            <p:cNvSpPr>
              <a:spLocks noChangeShapeType="1"/>
            </p:cNvSpPr>
            <p:nvPr/>
          </p:nvSpPr>
          <p:spPr bwMode="auto">
            <a:xfrm flipH="1">
              <a:off x="2064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601" name="Line 26"/>
            <p:cNvSpPr>
              <a:spLocks noChangeShapeType="1"/>
            </p:cNvSpPr>
            <p:nvPr/>
          </p:nvSpPr>
          <p:spPr bwMode="auto">
            <a:xfrm flipH="1">
              <a:off x="2256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602" name="Line 27"/>
            <p:cNvSpPr>
              <a:spLocks noChangeShapeType="1"/>
            </p:cNvSpPr>
            <p:nvPr/>
          </p:nvSpPr>
          <p:spPr bwMode="auto">
            <a:xfrm flipH="1">
              <a:off x="2688" y="312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603" name="Text Box 28"/>
            <p:cNvSpPr txBox="1">
              <a:spLocks noChangeArrowheads="1"/>
            </p:cNvSpPr>
            <p:nvPr/>
          </p:nvSpPr>
          <p:spPr bwMode="auto">
            <a:xfrm flipH="1">
              <a:off x="2573" y="3214"/>
              <a:ext cx="23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8</a:t>
              </a:r>
              <a:endParaRPr lang="en-US" altLang="zh-CN" sz="1350"/>
            </a:p>
          </p:txBody>
        </p:sp>
        <p:sp>
          <p:nvSpPr>
            <p:cNvPr id="24604" name="Line 29"/>
            <p:cNvSpPr>
              <a:spLocks noChangeShapeType="1"/>
            </p:cNvSpPr>
            <p:nvPr/>
          </p:nvSpPr>
          <p:spPr bwMode="auto">
            <a:xfrm flipH="1">
              <a:off x="2928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605" name="Line 30"/>
            <p:cNvSpPr>
              <a:spLocks noChangeShapeType="1"/>
            </p:cNvSpPr>
            <p:nvPr/>
          </p:nvSpPr>
          <p:spPr bwMode="auto">
            <a:xfrm flipH="1">
              <a:off x="3120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606" name="Line 31"/>
            <p:cNvSpPr>
              <a:spLocks noChangeShapeType="1"/>
            </p:cNvSpPr>
            <p:nvPr/>
          </p:nvSpPr>
          <p:spPr bwMode="auto">
            <a:xfrm flipH="1">
              <a:off x="3312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607" name="Line 32"/>
            <p:cNvSpPr>
              <a:spLocks noChangeShapeType="1"/>
            </p:cNvSpPr>
            <p:nvPr/>
          </p:nvSpPr>
          <p:spPr bwMode="auto">
            <a:xfrm flipH="1">
              <a:off x="3456" y="312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608" name="Text Box 33"/>
            <p:cNvSpPr txBox="1">
              <a:spLocks noChangeArrowheads="1"/>
            </p:cNvSpPr>
            <p:nvPr/>
          </p:nvSpPr>
          <p:spPr bwMode="auto">
            <a:xfrm flipH="1">
              <a:off x="3291" y="3214"/>
              <a:ext cx="3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12</a:t>
              </a:r>
              <a:endParaRPr lang="en-US" altLang="zh-CN" sz="1350"/>
            </a:p>
          </p:txBody>
        </p:sp>
        <p:sp>
          <p:nvSpPr>
            <p:cNvPr id="24609" name="Line 34"/>
            <p:cNvSpPr>
              <a:spLocks noChangeShapeType="1"/>
            </p:cNvSpPr>
            <p:nvPr/>
          </p:nvSpPr>
          <p:spPr bwMode="auto">
            <a:xfrm flipH="1">
              <a:off x="3696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610" name="Line 35"/>
            <p:cNvSpPr>
              <a:spLocks noChangeShapeType="1"/>
            </p:cNvSpPr>
            <p:nvPr/>
          </p:nvSpPr>
          <p:spPr bwMode="auto">
            <a:xfrm flipH="1">
              <a:off x="3888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611" name="Line 36"/>
            <p:cNvSpPr>
              <a:spLocks noChangeShapeType="1"/>
            </p:cNvSpPr>
            <p:nvPr/>
          </p:nvSpPr>
          <p:spPr bwMode="auto">
            <a:xfrm flipH="1">
              <a:off x="4080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抢占式</a:t>
            </a:r>
            <a:r>
              <a:rPr lang="en-US" altLang="zh-CN" sz="3200" dirty="0" smtClean="0"/>
              <a:t>SJF</a:t>
            </a:r>
            <a:r>
              <a:rPr lang="zh-CN" altLang="en-US" sz="3200" dirty="0" smtClean="0"/>
              <a:t>例子</a:t>
            </a:r>
            <a:endParaRPr lang="en-US" altLang="zh-CN" sz="3200" dirty="0" smtClean="0"/>
          </a:p>
        </p:txBody>
      </p:sp>
      <p:sp>
        <p:nvSpPr>
          <p:cNvPr id="25603" name="Rectangle 3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</a:t>
            </a:r>
            <a:r>
              <a:rPr lang="zh-CN" altLang="en-US" dirty="0" smtClean="0"/>
              <a:t>例：	</a:t>
            </a:r>
            <a:r>
              <a:rPr lang="zh-CN" altLang="en-US" u="sng" dirty="0" smtClean="0"/>
              <a:t>进程</a:t>
            </a:r>
            <a:r>
              <a:rPr lang="zh-CN" altLang="en-US" dirty="0" smtClean="0"/>
              <a:t>	</a:t>
            </a:r>
            <a:r>
              <a:rPr lang="zh-CN" altLang="en-US" u="sng" dirty="0" smtClean="0"/>
              <a:t>到达时间</a:t>
            </a:r>
            <a:r>
              <a:rPr lang="en-US" altLang="zh-CN" dirty="0" smtClean="0"/>
              <a:t>	</a:t>
            </a:r>
            <a:r>
              <a:rPr lang="zh-CN" altLang="en-US" u="sng" dirty="0" smtClean="0"/>
              <a:t>区间时间</a:t>
            </a:r>
            <a:endParaRPr lang="en-US" altLang="zh-CN" u="sng" dirty="0" smtClean="0"/>
          </a:p>
          <a:p>
            <a:pPr marL="0" indent="0">
              <a:buNone/>
            </a:pPr>
            <a:r>
              <a:rPr lang="en-US" altLang="zh-CN" dirty="0" smtClean="0"/>
              <a:t>	</a:t>
            </a:r>
            <a:r>
              <a:rPr lang="en-US" altLang="zh-CN" dirty="0"/>
              <a:t>	</a:t>
            </a:r>
            <a:r>
              <a:rPr lang="en-US" altLang="zh-CN" dirty="0" smtClean="0"/>
              <a:t> P1</a:t>
            </a:r>
            <a:r>
              <a:rPr lang="en-US" altLang="zh-CN" dirty="0"/>
              <a:t>	    0		   7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 P2	    2		   4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 P3	    4		   1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 P4	    5		   4</a:t>
            </a:r>
            <a:endParaRPr lang="en-US" altLang="zh-CN" dirty="0"/>
          </a:p>
          <a:p>
            <a:r>
              <a:rPr lang="en-US" altLang="zh-CN" dirty="0" smtClean="0"/>
              <a:t>SJF (</a:t>
            </a:r>
            <a:r>
              <a:rPr lang="zh-CN" altLang="en-US" dirty="0" smtClean="0"/>
              <a:t>抢占</a:t>
            </a:r>
            <a:r>
              <a:rPr lang="zh-CN" altLang="en-US" dirty="0"/>
              <a:t>式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sz="1600" dirty="0"/>
              <a:t>平均周转时间 </a:t>
            </a:r>
            <a:r>
              <a:rPr lang="en-US" altLang="zh-CN" sz="1600" dirty="0"/>
              <a:t>= (16+ 5 +1+ 6)/4 = 7</a:t>
            </a:r>
            <a:endParaRPr lang="en-US" altLang="zh-CN" sz="1600" dirty="0"/>
          </a:p>
          <a:p>
            <a:r>
              <a:rPr lang="zh-CN" altLang="en-US" sz="1600" dirty="0" smtClean="0"/>
              <a:t>平均等待时间</a:t>
            </a:r>
            <a:r>
              <a:rPr lang="en-US" altLang="zh-CN" sz="1600" dirty="0" smtClean="0"/>
              <a:t> = (9 + 1 + 0 +2)/4 = 3</a:t>
            </a:r>
            <a:endParaRPr lang="en-US" altLang="zh-CN" sz="1600" dirty="0" smtClean="0"/>
          </a:p>
          <a:p>
            <a:r>
              <a:rPr lang="zh-CN" altLang="en-US" sz="1600" dirty="0" smtClean="0"/>
              <a:t>平均响应时间 </a:t>
            </a:r>
            <a:r>
              <a:rPr lang="en-US" altLang="zh-CN" sz="1600" dirty="0"/>
              <a:t>= </a:t>
            </a:r>
            <a:r>
              <a:rPr lang="en-US" altLang="zh-CN" sz="1600" dirty="0" smtClean="0"/>
              <a:t>(0+ 0 +0+ 2)/</a:t>
            </a:r>
            <a:r>
              <a:rPr lang="en-US" altLang="zh-CN" sz="1600" dirty="0"/>
              <a:t>4 = </a:t>
            </a:r>
            <a:r>
              <a:rPr lang="en-US" altLang="zh-CN" sz="1600" dirty="0" smtClean="0"/>
              <a:t>0.5</a:t>
            </a:r>
            <a:endParaRPr lang="en-US" altLang="zh-CN" sz="1600" dirty="0"/>
          </a:p>
          <a:p>
            <a:endParaRPr lang="en-US" altLang="zh-CN" sz="1600" dirty="0"/>
          </a:p>
        </p:txBody>
      </p:sp>
      <p:grpSp>
        <p:nvGrpSpPr>
          <p:cNvPr id="25604" name="组合 1"/>
          <p:cNvGrpSpPr/>
          <p:nvPr/>
        </p:nvGrpSpPr>
        <p:grpSpPr bwMode="auto">
          <a:xfrm>
            <a:off x="3022170" y="3863183"/>
            <a:ext cx="4491364" cy="925942"/>
            <a:chOff x="1339943" y="4343400"/>
            <a:chExt cx="5988485" cy="1234588"/>
          </a:xfrm>
        </p:grpSpPr>
        <p:sp>
          <p:nvSpPr>
            <p:cNvPr id="25605" name="Rectangle 37"/>
            <p:cNvSpPr>
              <a:spLocks noChangeArrowheads="1"/>
            </p:cNvSpPr>
            <p:nvPr/>
          </p:nvSpPr>
          <p:spPr bwMode="auto">
            <a:xfrm flipH="1">
              <a:off x="1524000" y="4357688"/>
              <a:ext cx="5562600" cy="60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5606" name="Text Box 38"/>
            <p:cNvSpPr txBox="1">
              <a:spLocks noChangeArrowheads="1"/>
            </p:cNvSpPr>
            <p:nvPr/>
          </p:nvSpPr>
          <p:spPr bwMode="auto">
            <a:xfrm flipH="1">
              <a:off x="1567743" y="4402901"/>
              <a:ext cx="48560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1</a:t>
              </a:r>
              <a:endParaRPr lang="en-US" altLang="zh-CN" sz="1350"/>
            </a:p>
          </p:txBody>
        </p:sp>
        <p:sp>
          <p:nvSpPr>
            <p:cNvPr id="25607" name="Text Box 39"/>
            <p:cNvSpPr txBox="1">
              <a:spLocks noChangeArrowheads="1"/>
            </p:cNvSpPr>
            <p:nvPr/>
          </p:nvSpPr>
          <p:spPr bwMode="auto">
            <a:xfrm flipH="1">
              <a:off x="2863143" y="4402901"/>
              <a:ext cx="48560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3</a:t>
              </a:r>
              <a:endParaRPr lang="en-US" altLang="zh-CN" sz="1350"/>
            </a:p>
          </p:txBody>
        </p:sp>
        <p:sp>
          <p:nvSpPr>
            <p:cNvPr id="25608" name="Text Box 40"/>
            <p:cNvSpPr txBox="1">
              <a:spLocks noChangeArrowheads="1"/>
            </p:cNvSpPr>
            <p:nvPr/>
          </p:nvSpPr>
          <p:spPr bwMode="auto">
            <a:xfrm flipH="1">
              <a:off x="2329743" y="4402901"/>
              <a:ext cx="48560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2</a:t>
              </a:r>
              <a:endParaRPr lang="en-US" altLang="zh-CN" sz="1350"/>
            </a:p>
          </p:txBody>
        </p:sp>
        <p:sp>
          <p:nvSpPr>
            <p:cNvPr id="25609" name="Line 41"/>
            <p:cNvSpPr>
              <a:spLocks noChangeShapeType="1"/>
            </p:cNvSpPr>
            <p:nvPr/>
          </p:nvSpPr>
          <p:spPr bwMode="auto">
            <a:xfrm flipH="1">
              <a:off x="7089517" y="4952999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10" name="Line 42"/>
            <p:cNvSpPr>
              <a:spLocks noChangeShapeType="1"/>
            </p:cNvSpPr>
            <p:nvPr/>
          </p:nvSpPr>
          <p:spPr bwMode="auto">
            <a:xfrm flipH="1">
              <a:off x="1524000" y="4967288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11" name="Line 43"/>
            <p:cNvSpPr>
              <a:spLocks noChangeShapeType="1"/>
            </p:cNvSpPr>
            <p:nvPr/>
          </p:nvSpPr>
          <p:spPr bwMode="auto">
            <a:xfrm flipH="1">
              <a:off x="4267200" y="4357688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12" name="Line 44"/>
            <p:cNvSpPr>
              <a:spLocks noChangeShapeType="1"/>
            </p:cNvSpPr>
            <p:nvPr/>
          </p:nvSpPr>
          <p:spPr bwMode="auto">
            <a:xfrm flipH="1">
              <a:off x="2133600" y="43434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13" name="Line 45"/>
            <p:cNvSpPr>
              <a:spLocks noChangeShapeType="1"/>
            </p:cNvSpPr>
            <p:nvPr/>
          </p:nvSpPr>
          <p:spPr bwMode="auto">
            <a:xfrm flipH="1">
              <a:off x="3820984" y="4857449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14" name="Text Box 47"/>
            <p:cNvSpPr txBox="1">
              <a:spLocks noChangeArrowheads="1"/>
            </p:cNvSpPr>
            <p:nvPr/>
          </p:nvSpPr>
          <p:spPr bwMode="auto">
            <a:xfrm flipH="1">
              <a:off x="2711544" y="5164901"/>
              <a:ext cx="37446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4</a:t>
              </a:r>
              <a:endParaRPr lang="en-US" altLang="zh-CN" sz="1350"/>
            </a:p>
          </p:txBody>
        </p:sp>
        <p:sp>
          <p:nvSpPr>
            <p:cNvPr id="25615" name="Text Box 48"/>
            <p:cNvSpPr txBox="1">
              <a:spLocks noChangeArrowheads="1"/>
            </p:cNvSpPr>
            <p:nvPr/>
          </p:nvSpPr>
          <p:spPr bwMode="auto">
            <a:xfrm flipH="1">
              <a:off x="1949544" y="5164902"/>
              <a:ext cx="37446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2</a:t>
              </a:r>
              <a:endParaRPr lang="en-US" altLang="zh-CN" sz="1350"/>
            </a:p>
          </p:txBody>
        </p:sp>
        <p:sp>
          <p:nvSpPr>
            <p:cNvPr id="25616" name="Text Box 49"/>
            <p:cNvSpPr txBox="1">
              <a:spLocks noChangeArrowheads="1"/>
            </p:cNvSpPr>
            <p:nvPr/>
          </p:nvSpPr>
          <p:spPr bwMode="auto">
            <a:xfrm flipH="1">
              <a:off x="5234075" y="5154606"/>
              <a:ext cx="48560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11</a:t>
              </a:r>
              <a:endParaRPr lang="en-US" altLang="zh-CN" sz="1350"/>
            </a:p>
          </p:txBody>
        </p:sp>
        <p:sp>
          <p:nvSpPr>
            <p:cNvPr id="25617" name="Text Box 50"/>
            <p:cNvSpPr txBox="1">
              <a:spLocks noChangeArrowheads="1"/>
            </p:cNvSpPr>
            <p:nvPr/>
          </p:nvSpPr>
          <p:spPr bwMode="auto">
            <a:xfrm flipH="1">
              <a:off x="1339943" y="5177879"/>
              <a:ext cx="336457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 dirty="0"/>
                <a:t>0</a:t>
              </a:r>
              <a:endParaRPr lang="en-US" altLang="zh-CN" sz="1350" dirty="0"/>
            </a:p>
          </p:txBody>
        </p:sp>
        <p:sp>
          <p:nvSpPr>
            <p:cNvPr id="25618" name="Text Box 51"/>
            <p:cNvSpPr txBox="1">
              <a:spLocks noChangeArrowheads="1"/>
            </p:cNvSpPr>
            <p:nvPr/>
          </p:nvSpPr>
          <p:spPr bwMode="auto">
            <a:xfrm flipH="1">
              <a:off x="4691943" y="4402901"/>
              <a:ext cx="48560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4</a:t>
              </a:r>
              <a:endParaRPr lang="en-US" altLang="zh-CN" sz="1350"/>
            </a:p>
          </p:txBody>
        </p:sp>
        <p:sp>
          <p:nvSpPr>
            <p:cNvPr id="25619" name="Line 52"/>
            <p:cNvSpPr>
              <a:spLocks noChangeShapeType="1"/>
            </p:cNvSpPr>
            <p:nvPr/>
          </p:nvSpPr>
          <p:spPr bwMode="auto">
            <a:xfrm flipH="1">
              <a:off x="5486400" y="4357688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20" name="Line 53"/>
            <p:cNvSpPr>
              <a:spLocks noChangeShapeType="1"/>
            </p:cNvSpPr>
            <p:nvPr/>
          </p:nvSpPr>
          <p:spPr bwMode="auto">
            <a:xfrm flipH="1">
              <a:off x="1828800" y="485457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21" name="Line 54"/>
            <p:cNvSpPr>
              <a:spLocks noChangeShapeType="1"/>
            </p:cNvSpPr>
            <p:nvPr/>
          </p:nvSpPr>
          <p:spPr bwMode="auto">
            <a:xfrm flipH="1">
              <a:off x="2524896" y="485457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22" name="Line 58"/>
            <p:cNvSpPr>
              <a:spLocks noChangeShapeType="1"/>
            </p:cNvSpPr>
            <p:nvPr/>
          </p:nvSpPr>
          <p:spPr bwMode="auto">
            <a:xfrm flipH="1">
              <a:off x="4267200" y="4967288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23" name="Text Box 59"/>
            <p:cNvSpPr txBox="1">
              <a:spLocks noChangeArrowheads="1"/>
            </p:cNvSpPr>
            <p:nvPr/>
          </p:nvSpPr>
          <p:spPr bwMode="auto">
            <a:xfrm flipH="1">
              <a:off x="3244944" y="5164902"/>
              <a:ext cx="37446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5</a:t>
              </a:r>
              <a:endParaRPr lang="en-US" altLang="zh-CN" sz="1350"/>
            </a:p>
          </p:txBody>
        </p:sp>
        <p:sp>
          <p:nvSpPr>
            <p:cNvPr id="25624" name="Line 60"/>
            <p:cNvSpPr>
              <a:spLocks noChangeShapeType="1"/>
            </p:cNvSpPr>
            <p:nvPr/>
          </p:nvSpPr>
          <p:spPr bwMode="auto">
            <a:xfrm flipH="1">
              <a:off x="4637216" y="485457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25" name="Line 61"/>
            <p:cNvSpPr>
              <a:spLocks noChangeShapeType="1"/>
            </p:cNvSpPr>
            <p:nvPr/>
          </p:nvSpPr>
          <p:spPr bwMode="auto">
            <a:xfrm flipH="1">
              <a:off x="4953000" y="485457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26" name="Line 62"/>
            <p:cNvSpPr>
              <a:spLocks noChangeShapeType="1"/>
            </p:cNvSpPr>
            <p:nvPr/>
          </p:nvSpPr>
          <p:spPr bwMode="auto">
            <a:xfrm flipH="1">
              <a:off x="5257800" y="485457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27" name="Line 63"/>
            <p:cNvSpPr>
              <a:spLocks noChangeShapeType="1"/>
            </p:cNvSpPr>
            <p:nvPr/>
          </p:nvSpPr>
          <p:spPr bwMode="auto">
            <a:xfrm flipH="1">
              <a:off x="5486400" y="4967288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28" name="Text Box 64"/>
            <p:cNvSpPr txBox="1">
              <a:spLocks noChangeArrowheads="1"/>
            </p:cNvSpPr>
            <p:nvPr/>
          </p:nvSpPr>
          <p:spPr bwMode="auto">
            <a:xfrm flipH="1">
              <a:off x="4083144" y="5164902"/>
              <a:ext cx="37446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7</a:t>
              </a:r>
              <a:endParaRPr lang="en-US" altLang="zh-CN" sz="1350"/>
            </a:p>
          </p:txBody>
        </p:sp>
        <p:sp>
          <p:nvSpPr>
            <p:cNvPr id="25629" name="Line 65"/>
            <p:cNvSpPr>
              <a:spLocks noChangeShapeType="1"/>
            </p:cNvSpPr>
            <p:nvPr/>
          </p:nvSpPr>
          <p:spPr bwMode="auto">
            <a:xfrm flipH="1">
              <a:off x="5867400" y="485457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30" name="Line 66"/>
            <p:cNvSpPr>
              <a:spLocks noChangeShapeType="1"/>
            </p:cNvSpPr>
            <p:nvPr/>
          </p:nvSpPr>
          <p:spPr bwMode="auto">
            <a:xfrm flipH="1">
              <a:off x="6172200" y="485457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31" name="Line 67"/>
            <p:cNvSpPr>
              <a:spLocks noChangeShapeType="1"/>
            </p:cNvSpPr>
            <p:nvPr/>
          </p:nvSpPr>
          <p:spPr bwMode="auto">
            <a:xfrm flipH="1">
              <a:off x="6477000" y="485457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32" name="Line 68"/>
            <p:cNvSpPr>
              <a:spLocks noChangeShapeType="1"/>
            </p:cNvSpPr>
            <p:nvPr/>
          </p:nvSpPr>
          <p:spPr bwMode="auto">
            <a:xfrm flipH="1">
              <a:off x="2895600" y="43434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33" name="Line 69"/>
            <p:cNvSpPr>
              <a:spLocks noChangeShapeType="1"/>
            </p:cNvSpPr>
            <p:nvPr/>
          </p:nvSpPr>
          <p:spPr bwMode="auto">
            <a:xfrm flipH="1">
              <a:off x="3429000" y="43434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34" name="Text Box 70"/>
            <p:cNvSpPr txBox="1">
              <a:spLocks noChangeArrowheads="1"/>
            </p:cNvSpPr>
            <p:nvPr/>
          </p:nvSpPr>
          <p:spPr bwMode="auto">
            <a:xfrm flipH="1">
              <a:off x="3548943" y="4402901"/>
              <a:ext cx="48560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2</a:t>
              </a:r>
              <a:endParaRPr lang="en-US" altLang="zh-CN" sz="1350"/>
            </a:p>
          </p:txBody>
        </p:sp>
        <p:sp>
          <p:nvSpPr>
            <p:cNvPr id="25635" name="Text Box 71"/>
            <p:cNvSpPr txBox="1">
              <a:spLocks noChangeArrowheads="1"/>
            </p:cNvSpPr>
            <p:nvPr/>
          </p:nvSpPr>
          <p:spPr bwMode="auto">
            <a:xfrm flipH="1">
              <a:off x="6063543" y="4402901"/>
              <a:ext cx="48560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/>
                <a:t>P</a:t>
              </a:r>
              <a:r>
                <a:rPr lang="en-US" altLang="zh-CN" sz="1350" baseline="-25000"/>
                <a:t>1</a:t>
              </a:r>
              <a:endParaRPr lang="en-US" altLang="zh-CN" sz="1350"/>
            </a:p>
          </p:txBody>
        </p:sp>
        <p:sp>
          <p:nvSpPr>
            <p:cNvPr id="25636" name="Line 72"/>
            <p:cNvSpPr>
              <a:spLocks noChangeShapeType="1"/>
            </p:cNvSpPr>
            <p:nvPr/>
          </p:nvSpPr>
          <p:spPr bwMode="auto">
            <a:xfrm flipH="1">
              <a:off x="6781800" y="485457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637" name="Text Box 73"/>
            <p:cNvSpPr txBox="1">
              <a:spLocks noChangeArrowheads="1"/>
            </p:cNvSpPr>
            <p:nvPr/>
          </p:nvSpPr>
          <p:spPr bwMode="auto">
            <a:xfrm flipH="1">
              <a:off x="6825725" y="5154606"/>
              <a:ext cx="50270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350" dirty="0"/>
                <a:t>16</a:t>
              </a:r>
              <a:endParaRPr lang="en-US" altLang="zh-CN" sz="1350" dirty="0"/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85890" y="2141220"/>
            <a:ext cx="2200910" cy="14655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145" y="5805170"/>
            <a:ext cx="999490" cy="2063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下一个</a:t>
            </a:r>
            <a:r>
              <a:rPr lang="en-US" altLang="zh-CN" sz="3200" dirty="0" smtClean="0"/>
              <a:t>CPU</a:t>
            </a:r>
            <a:r>
              <a:rPr lang="zh-CN" altLang="en-US" sz="3200" dirty="0" smtClean="0"/>
              <a:t>区间长度的预测</a:t>
            </a:r>
            <a:endParaRPr lang="zh-CN" altLang="en-US" sz="3200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SJF</a:t>
            </a:r>
            <a:r>
              <a:rPr lang="zh-CN" altLang="en-US" dirty="0" smtClean="0"/>
              <a:t>算法的困难在于如何知道下一个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区间的长度</a:t>
            </a:r>
            <a:endParaRPr lang="en-US" altLang="zh-CN" dirty="0" smtClean="0"/>
          </a:p>
          <a:p>
            <a:r>
              <a:rPr lang="en-US" altLang="zh-CN" dirty="0" smtClean="0"/>
              <a:t>SJF</a:t>
            </a:r>
            <a:r>
              <a:rPr lang="zh-CN" altLang="en-US" dirty="0" smtClean="0"/>
              <a:t>通常用于长程调度</a:t>
            </a:r>
            <a:endParaRPr lang="en-US" altLang="zh-CN" dirty="0" smtClean="0"/>
          </a:p>
          <a:p>
            <a:r>
              <a:rPr lang="zh-CN" altLang="en-US" dirty="0" smtClean="0"/>
              <a:t>下一个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区间长度只能估计，可以通过先前的</a:t>
            </a:r>
            <a:r>
              <a:rPr lang="en-US" altLang="zh-CN" dirty="0" smtClean="0"/>
              <a:t>CPU</a:t>
            </a:r>
            <a:r>
              <a:rPr lang="zh-CN" altLang="en-US" dirty="0"/>
              <a:t>区间</a:t>
            </a:r>
            <a:r>
              <a:rPr lang="zh-CN" altLang="en-US" dirty="0" smtClean="0"/>
              <a:t>长度及其</a:t>
            </a:r>
            <a:r>
              <a:rPr lang="zh-CN" altLang="en-US" b="1" dirty="0" smtClean="0"/>
              <a:t>指数平均</a:t>
            </a:r>
            <a:r>
              <a:rPr lang="zh-CN" altLang="en-US" dirty="0" smtClean="0"/>
              <a:t>进行预测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例子</a:t>
            </a:r>
            <a:endParaRPr lang="en-US" altLang="zh-CN" dirty="0" smtClean="0"/>
          </a:p>
          <a:p>
            <a:pPr lvl="2"/>
            <a:endParaRPr lang="zh-CN" altLang="zh-CN" dirty="0" smtClean="0"/>
          </a:p>
          <a:p>
            <a:pPr lvl="1"/>
            <a:endParaRPr lang="zh-CN" altLang="zh-CN" dirty="0" smtClean="0"/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1732633" y="3780056"/>
          <a:ext cx="5678734" cy="974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公式" r:id="rId1" imgW="1320800" imgH="228600" progId="Equation.3">
                  <p:embed/>
                </p:oleObj>
              </mc:Choice>
              <mc:Fallback>
                <p:oleObj name="公式" r:id="rId1" imgW="1320800" imgH="228600" progId="Equation.3">
                  <p:embed/>
                  <p:pic>
                    <p:nvPicPr>
                      <p:cNvPr id="0" name="图片 10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633" y="3780056"/>
                        <a:ext cx="5678734" cy="974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331119" y="2025253"/>
            <a:ext cx="6373416" cy="1994812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zh-CN" altLang="en-US" sz="405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</a:t>
            </a:r>
            <a:r>
              <a:rPr lang="en-US" altLang="zh-CN" sz="54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CPU</a:t>
            </a:r>
            <a:r>
              <a:rPr lang="zh-CN" altLang="en-US" sz="54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调度（三）</a:t>
            </a:r>
            <a:br>
              <a:rPr lang="zh-CN" altLang="en-US" sz="54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</a:br>
            <a:br>
              <a:rPr lang="en-US" altLang="zh-CN" sz="40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CN" altLang="en-US" sz="6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调度算法（</a:t>
            </a:r>
            <a:r>
              <a:rPr lang="en-US" altLang="zh-CN" sz="6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</a:t>
            </a:r>
            <a:r>
              <a:rPr lang="zh-CN" altLang="en-US" sz="6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6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139"/>
    </mc:Choice>
    <mc:Fallback>
      <p:transition spd="slow" advTm="9139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内容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优先级调度算法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调度策略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算法举例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优先级讨论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算法优缺点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时间片轮转调度算法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算法介绍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/>
              <a:t>算法举例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时间片讨论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优先级调度（</a:t>
            </a:r>
            <a:r>
              <a:rPr lang="en-US" altLang="zh-CN" sz="3200" dirty="0" smtClean="0"/>
              <a:t>Priority Scheduling</a:t>
            </a:r>
            <a:r>
              <a:rPr lang="zh-CN" altLang="en-US" sz="3200" dirty="0" smtClean="0"/>
              <a:t>）</a:t>
            </a:r>
            <a:endParaRPr lang="zh-CN" altLang="en-US" sz="3200" dirty="0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 smtClean="0"/>
              <a:t>基于</a:t>
            </a:r>
            <a:r>
              <a:rPr lang="zh-CN" altLang="en-US" sz="2800" dirty="0"/>
              <a:t>进程</a:t>
            </a:r>
            <a:r>
              <a:rPr lang="zh-CN" altLang="en-US" sz="2800" dirty="0" smtClean="0"/>
              <a:t>的</a:t>
            </a:r>
            <a:r>
              <a:rPr lang="zh-CN" altLang="en-US" sz="2800" dirty="0"/>
              <a:t>紧迫程度，由外部</a:t>
            </a:r>
            <a:r>
              <a:rPr lang="zh-CN" altLang="en-US" sz="2800" dirty="0" smtClean="0"/>
              <a:t>赋予每个进程相应</a:t>
            </a:r>
            <a:r>
              <a:rPr lang="zh-CN" altLang="en-US" sz="2800" dirty="0"/>
              <a:t>的优先级</a:t>
            </a:r>
            <a:r>
              <a:rPr lang="zh-CN" altLang="en-US" sz="2800" dirty="0" smtClean="0"/>
              <a:t>，</a:t>
            </a:r>
            <a:r>
              <a:rPr lang="en-US" altLang="zh-CN" sz="2800" dirty="0">
                <a:sym typeface="Symbol" panose="05050102010706020507" pitchFamily="18" charset="2"/>
              </a:rPr>
              <a:t>CPU</a:t>
            </a:r>
            <a:r>
              <a:rPr lang="zh-CN" altLang="en-US" sz="2800" dirty="0">
                <a:sym typeface="Symbol" panose="05050102010706020507" pitchFamily="18" charset="2"/>
              </a:rPr>
              <a:t>分配给最高优先级</a:t>
            </a:r>
            <a:r>
              <a:rPr lang="zh-CN" altLang="en-US" sz="2800" dirty="0" smtClean="0">
                <a:sym typeface="Symbol" panose="05050102010706020507" pitchFamily="18" charset="2"/>
              </a:rPr>
              <a:t>的进程</a:t>
            </a:r>
            <a:endParaRPr lang="en-US" altLang="zh-CN" sz="2800" dirty="0" smtClean="0">
              <a:sym typeface="Symbol" panose="05050102010706020507" pitchFamily="18" charset="2"/>
            </a:endParaRPr>
          </a:p>
          <a:p>
            <a:pPr lvl="1"/>
            <a:r>
              <a:rPr lang="zh-CN" altLang="en-US" sz="2400" dirty="0" smtClean="0"/>
              <a:t>每个进程都有一个优先数，优先数为整数</a:t>
            </a:r>
            <a:endParaRPr lang="en-US" altLang="zh-CN" sz="2400" dirty="0" smtClean="0"/>
          </a:p>
          <a:p>
            <a:pPr lvl="1"/>
            <a:r>
              <a:rPr lang="zh-CN" altLang="en-US" sz="2400" dirty="0" smtClean="0">
                <a:sym typeface="Symbol" panose="05050102010706020507" pitchFamily="18" charset="2"/>
              </a:rPr>
              <a:t>默认：小优先</a:t>
            </a:r>
            <a:r>
              <a:rPr lang="zh-CN" altLang="en-US" sz="2400" dirty="0">
                <a:sym typeface="Symbol" panose="05050102010706020507" pitchFamily="18" charset="2"/>
              </a:rPr>
              <a:t>数</a:t>
            </a:r>
            <a:r>
              <a:rPr lang="zh-CN" altLang="en-US" sz="2400" dirty="0" smtClean="0">
                <a:sym typeface="Symbol" panose="05050102010706020507" pitchFamily="18" charset="2"/>
              </a:rPr>
              <a:t>具有高优先级</a:t>
            </a:r>
            <a:endParaRPr lang="en-US" altLang="zh-CN" sz="2400" dirty="0" smtClean="0">
              <a:sym typeface="Symbol" panose="05050102010706020507" pitchFamily="18" charset="2"/>
            </a:endParaRPr>
          </a:p>
          <a:p>
            <a:pPr lvl="1"/>
            <a:r>
              <a:rPr lang="zh-CN" altLang="en-US" sz="2400" dirty="0" smtClean="0">
                <a:sym typeface="Symbol" panose="05050102010706020507" pitchFamily="18" charset="2"/>
              </a:rPr>
              <a:t>目前主流的操作系统调度算法</a:t>
            </a:r>
            <a:endParaRPr lang="en-US" altLang="zh-CN" sz="2400" dirty="0" smtClean="0">
              <a:sym typeface="Symbol" panose="05050102010706020507" pitchFamily="18" charset="2"/>
            </a:endParaRPr>
          </a:p>
          <a:p>
            <a:endParaRPr lang="en-US" altLang="zh-CN" sz="2800" dirty="0" smtClean="0">
              <a:sym typeface="Symbol" panose="05050102010706020507" pitchFamily="18" charset="2"/>
            </a:endParaRPr>
          </a:p>
          <a:p>
            <a:r>
              <a:rPr lang="zh-CN" altLang="en-US" sz="2800" dirty="0" smtClean="0">
                <a:sym typeface="Symbol" panose="05050102010706020507" pitchFamily="18" charset="2"/>
              </a:rPr>
              <a:t>调度模式</a:t>
            </a:r>
            <a:endParaRPr lang="zh-CN" altLang="zh-CN" sz="2800" dirty="0" smtClean="0">
              <a:sym typeface="Symbol" panose="05050102010706020507" pitchFamily="18" charset="2"/>
            </a:endParaRPr>
          </a:p>
          <a:p>
            <a:pPr lvl="1"/>
            <a:r>
              <a:rPr lang="zh-CN" altLang="en-US" sz="2400" dirty="0" smtClean="0"/>
              <a:t>抢占式</a:t>
            </a:r>
            <a:endParaRPr lang="zh-CN" altLang="en-US" sz="2400" dirty="0" smtClean="0"/>
          </a:p>
          <a:p>
            <a:pPr lvl="1"/>
            <a:r>
              <a:rPr lang="zh-CN" altLang="en-US" sz="2400" dirty="0" smtClean="0"/>
              <a:t>非抢占式</a:t>
            </a:r>
            <a:endParaRPr lang="en-US" altLang="zh-CN" sz="2400" dirty="0" smtClean="0"/>
          </a:p>
          <a:p>
            <a:pPr marL="342900" lvl="1" indent="0">
              <a:buNone/>
            </a:pPr>
            <a:endParaRPr lang="en-US" altLang="zh-CN" dirty="0"/>
          </a:p>
          <a:p>
            <a:endParaRPr lang="en-US" altLang="zh-CN" dirty="0" smtClean="0"/>
          </a:p>
          <a:p>
            <a:pPr lvl="1"/>
            <a:endParaRPr lang="zh-CN" alt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 smtClean="0"/>
              <a:t>PR</a:t>
            </a:r>
            <a:r>
              <a:rPr lang="zh-CN" altLang="en-US" sz="3200" dirty="0" smtClean="0"/>
              <a:t>例子（非抢占式）</a:t>
            </a:r>
            <a:endParaRPr lang="en-US" altLang="zh-CN" sz="3200" dirty="0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46414"/>
            <a:ext cx="8229600" cy="4988857"/>
          </a:xfrm>
        </p:spPr>
        <p:txBody>
          <a:bodyPr/>
          <a:lstStyle/>
          <a:p>
            <a:r>
              <a:rPr lang="zh-CN" altLang="en-US" dirty="0" smtClean="0"/>
              <a:t>		</a:t>
            </a:r>
            <a:r>
              <a:rPr lang="zh-CN" altLang="en-US" u="sng" dirty="0" smtClean="0"/>
              <a:t>进程</a:t>
            </a:r>
            <a:r>
              <a:rPr lang="zh-CN" altLang="en-US" dirty="0" smtClean="0"/>
              <a:t>	</a:t>
            </a: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u="sng" dirty="0" smtClean="0"/>
              <a:t>优先数</a:t>
            </a:r>
            <a:r>
              <a:rPr lang="en-US" altLang="zh-CN" dirty="0" smtClean="0"/>
              <a:t>	</a:t>
            </a:r>
            <a:r>
              <a:rPr lang="zh-CN" altLang="en-US" u="sng" dirty="0" smtClean="0"/>
              <a:t>区间</a:t>
            </a:r>
            <a:r>
              <a:rPr lang="zh-CN" altLang="en-US" u="sng" dirty="0"/>
              <a:t>时间</a:t>
            </a:r>
            <a:endParaRPr lang="en-US" altLang="zh-CN" u="sng" dirty="0" smtClean="0"/>
          </a:p>
          <a:p>
            <a:pPr marL="0" indent="0">
              <a:buNone/>
            </a:pPr>
            <a:r>
              <a:rPr lang="en-US" altLang="zh-CN" dirty="0" smtClean="0"/>
              <a:t>		 P1	     3		   10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	 P2	     1		    1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	 P3	     3		    2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	 P4	     4		    1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	 P5	     2		    5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dirty="0" smtClean="0"/>
              <a:t>平均等待时间</a:t>
            </a:r>
            <a:r>
              <a:rPr lang="en-US" altLang="zh-CN" dirty="0" smtClean="0"/>
              <a:t> </a:t>
            </a:r>
            <a:r>
              <a:rPr lang="en-US" altLang="zh-CN" dirty="0"/>
              <a:t>= (6 </a:t>
            </a:r>
            <a:r>
              <a:rPr lang="en-US" altLang="zh-CN" dirty="0" smtClean="0"/>
              <a:t>+ </a:t>
            </a:r>
            <a:r>
              <a:rPr lang="en-US" altLang="zh-CN" dirty="0"/>
              <a:t>0 </a:t>
            </a:r>
            <a:r>
              <a:rPr lang="en-US" altLang="zh-CN" dirty="0" smtClean="0"/>
              <a:t>+ 16+18+1)/5 =8.2</a:t>
            </a:r>
            <a:endParaRPr lang="en-US" altLang="zh-CN" dirty="0" smtClean="0"/>
          </a:p>
        </p:txBody>
      </p:sp>
      <p:grpSp>
        <p:nvGrpSpPr>
          <p:cNvPr id="32772" name="Group 39"/>
          <p:cNvGrpSpPr/>
          <p:nvPr/>
        </p:nvGrpSpPr>
        <p:grpSpPr bwMode="auto">
          <a:xfrm>
            <a:off x="602697" y="4277577"/>
            <a:ext cx="7219950" cy="1217612"/>
            <a:chOff x="872" y="2744"/>
            <a:chExt cx="4548" cy="767"/>
          </a:xfrm>
        </p:grpSpPr>
        <p:sp>
          <p:nvSpPr>
            <p:cNvPr id="32773" name="Rectangle 4"/>
            <p:cNvSpPr>
              <a:spLocks noChangeArrowheads="1"/>
            </p:cNvSpPr>
            <p:nvPr/>
          </p:nvSpPr>
          <p:spPr bwMode="auto">
            <a:xfrm flipH="1">
              <a:off x="960" y="2753"/>
              <a:ext cx="4320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774" name="Text Box 5"/>
            <p:cNvSpPr txBox="1">
              <a:spLocks noChangeArrowheads="1"/>
            </p:cNvSpPr>
            <p:nvPr/>
          </p:nvSpPr>
          <p:spPr bwMode="auto">
            <a:xfrm flipH="1">
              <a:off x="928" y="2816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/>
                <a:t>P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sp>
          <p:nvSpPr>
            <p:cNvPr id="32775" name="Text Box 6"/>
            <p:cNvSpPr txBox="1">
              <a:spLocks noChangeArrowheads="1"/>
            </p:cNvSpPr>
            <p:nvPr/>
          </p:nvSpPr>
          <p:spPr bwMode="auto">
            <a:xfrm flipH="1">
              <a:off x="4768" y="2808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/>
                <a:t>P</a:t>
              </a:r>
              <a:r>
                <a:rPr lang="en-US" altLang="zh-CN" baseline="-25000"/>
                <a:t>3</a:t>
              </a:r>
              <a:endParaRPr lang="en-US" altLang="zh-CN"/>
            </a:p>
          </p:txBody>
        </p:sp>
        <p:sp>
          <p:nvSpPr>
            <p:cNvPr id="32776" name="Text Box 7"/>
            <p:cNvSpPr txBox="1">
              <a:spLocks noChangeArrowheads="1"/>
            </p:cNvSpPr>
            <p:nvPr/>
          </p:nvSpPr>
          <p:spPr bwMode="auto">
            <a:xfrm flipH="1">
              <a:off x="1489" y="282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dirty="0"/>
                <a:t>P</a:t>
              </a:r>
              <a:r>
                <a:rPr lang="en-US" altLang="zh-CN" baseline="-25000" dirty="0"/>
                <a:t>5</a:t>
              </a:r>
              <a:endParaRPr lang="en-US" altLang="zh-CN" dirty="0"/>
            </a:p>
          </p:txBody>
        </p:sp>
        <p:sp>
          <p:nvSpPr>
            <p:cNvPr id="32777" name="Line 9"/>
            <p:cNvSpPr>
              <a:spLocks noChangeShapeType="1"/>
            </p:cNvSpPr>
            <p:nvPr/>
          </p:nvSpPr>
          <p:spPr bwMode="auto">
            <a:xfrm flipH="1">
              <a:off x="960" y="313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2778" name="Line 11"/>
            <p:cNvSpPr>
              <a:spLocks noChangeShapeType="1"/>
            </p:cNvSpPr>
            <p:nvPr/>
          </p:nvSpPr>
          <p:spPr bwMode="auto">
            <a:xfrm flipH="1">
              <a:off x="1144" y="2760"/>
              <a:ext cx="0" cy="5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2779" name="Text Box 14"/>
            <p:cNvSpPr txBox="1">
              <a:spLocks noChangeArrowheads="1"/>
            </p:cNvSpPr>
            <p:nvPr/>
          </p:nvSpPr>
          <p:spPr bwMode="auto">
            <a:xfrm flipH="1">
              <a:off x="1048" y="3248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2780" name="Text Box 15"/>
            <p:cNvSpPr txBox="1">
              <a:spLocks noChangeArrowheads="1"/>
            </p:cNvSpPr>
            <p:nvPr/>
          </p:nvSpPr>
          <p:spPr bwMode="auto">
            <a:xfrm flipH="1">
              <a:off x="4592" y="3272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/>
                <a:t>16</a:t>
              </a:r>
              <a:endParaRPr lang="en-US" altLang="zh-CN"/>
            </a:p>
          </p:txBody>
        </p:sp>
        <p:sp>
          <p:nvSpPr>
            <p:cNvPr id="32781" name="Text Box 16"/>
            <p:cNvSpPr txBox="1">
              <a:spLocks noChangeArrowheads="1"/>
            </p:cNvSpPr>
            <p:nvPr/>
          </p:nvSpPr>
          <p:spPr bwMode="auto">
            <a:xfrm flipH="1">
              <a:off x="872" y="325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2782" name="Text Box 17"/>
            <p:cNvSpPr txBox="1">
              <a:spLocks noChangeArrowheads="1"/>
            </p:cNvSpPr>
            <p:nvPr/>
          </p:nvSpPr>
          <p:spPr bwMode="auto">
            <a:xfrm flipH="1">
              <a:off x="5049" y="280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/>
                <a:t>P</a:t>
              </a:r>
              <a:r>
                <a:rPr lang="en-US" altLang="zh-CN" baseline="-25000"/>
                <a:t>4</a:t>
              </a:r>
              <a:endParaRPr lang="en-US" altLang="zh-CN"/>
            </a:p>
          </p:txBody>
        </p:sp>
        <p:sp>
          <p:nvSpPr>
            <p:cNvPr id="32783" name="Text Box 22"/>
            <p:cNvSpPr txBox="1">
              <a:spLocks noChangeArrowheads="1"/>
            </p:cNvSpPr>
            <p:nvPr/>
          </p:nvSpPr>
          <p:spPr bwMode="auto">
            <a:xfrm flipH="1">
              <a:off x="2064" y="3280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32784" name="Text Box 27"/>
            <p:cNvSpPr txBox="1">
              <a:spLocks noChangeArrowheads="1"/>
            </p:cNvSpPr>
            <p:nvPr/>
          </p:nvSpPr>
          <p:spPr bwMode="auto">
            <a:xfrm flipH="1">
              <a:off x="4920" y="3272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/>
                <a:t>18</a:t>
              </a:r>
              <a:endParaRPr lang="en-US" altLang="zh-CN"/>
            </a:p>
          </p:txBody>
        </p:sp>
        <p:sp>
          <p:nvSpPr>
            <p:cNvPr id="32785" name="Line 31"/>
            <p:cNvSpPr>
              <a:spLocks noChangeShapeType="1"/>
            </p:cNvSpPr>
            <p:nvPr/>
          </p:nvSpPr>
          <p:spPr bwMode="auto">
            <a:xfrm flipH="1">
              <a:off x="4728" y="2752"/>
              <a:ext cx="0" cy="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2786" name="Line 32"/>
            <p:cNvSpPr>
              <a:spLocks noChangeShapeType="1"/>
            </p:cNvSpPr>
            <p:nvPr/>
          </p:nvSpPr>
          <p:spPr bwMode="auto">
            <a:xfrm flipH="1">
              <a:off x="2160" y="27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2787" name="Text Box 33"/>
            <p:cNvSpPr txBox="1">
              <a:spLocks noChangeArrowheads="1"/>
            </p:cNvSpPr>
            <p:nvPr/>
          </p:nvSpPr>
          <p:spPr bwMode="auto">
            <a:xfrm flipH="1">
              <a:off x="3344" y="2840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/>
                <a:t>P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32788" name="Text Box 36"/>
            <p:cNvSpPr txBox="1">
              <a:spLocks noChangeArrowheads="1"/>
            </p:cNvSpPr>
            <p:nvPr/>
          </p:nvSpPr>
          <p:spPr bwMode="auto">
            <a:xfrm flipH="1">
              <a:off x="5144" y="3272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/>
                <a:t>19</a:t>
              </a:r>
              <a:endParaRPr lang="en-US" altLang="zh-CN"/>
            </a:p>
          </p:txBody>
        </p:sp>
        <p:sp>
          <p:nvSpPr>
            <p:cNvPr id="32789" name="Line 37"/>
            <p:cNvSpPr>
              <a:spLocks noChangeShapeType="1"/>
            </p:cNvSpPr>
            <p:nvPr/>
          </p:nvSpPr>
          <p:spPr bwMode="auto">
            <a:xfrm flipH="1">
              <a:off x="5056" y="2760"/>
              <a:ext cx="0" cy="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2790" name="Line 38"/>
            <p:cNvSpPr>
              <a:spLocks noChangeShapeType="1"/>
            </p:cNvSpPr>
            <p:nvPr/>
          </p:nvSpPr>
          <p:spPr bwMode="auto">
            <a:xfrm flipH="1">
              <a:off x="5280" y="2760"/>
              <a:ext cx="0" cy="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优先级讨论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优先级可静态不变，也可动态调整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优先级类型</a:t>
            </a:r>
            <a:endParaRPr lang="en-US" altLang="zh-CN" dirty="0"/>
          </a:p>
          <a:p>
            <a:pPr lvl="1"/>
            <a:r>
              <a:rPr lang="zh-CN" altLang="en-US" dirty="0"/>
              <a:t>静态优先级</a:t>
            </a:r>
            <a:endParaRPr lang="en-US" altLang="zh-CN" dirty="0"/>
          </a:p>
          <a:p>
            <a:pPr lvl="2"/>
            <a:r>
              <a:rPr lang="zh-CN" altLang="en-US" dirty="0" smtClean="0"/>
              <a:t>进程</a:t>
            </a:r>
            <a:r>
              <a:rPr lang="zh-CN" altLang="en-US" dirty="0"/>
              <a:t>创建时</a:t>
            </a:r>
            <a:r>
              <a:rPr lang="zh-CN" altLang="en-US" dirty="0" smtClean="0"/>
              <a:t>确定，在运行期间不变</a:t>
            </a:r>
            <a:endParaRPr lang="en-US" altLang="zh-CN" dirty="0"/>
          </a:p>
          <a:p>
            <a:pPr lvl="2"/>
            <a:r>
              <a:rPr lang="zh-CN" altLang="en-US" dirty="0"/>
              <a:t>简单易行，系统开销小</a:t>
            </a:r>
            <a:endParaRPr lang="en-US" altLang="zh-CN" dirty="0"/>
          </a:p>
          <a:p>
            <a:pPr lvl="2"/>
            <a:r>
              <a:rPr lang="zh-CN" altLang="en-US" dirty="0"/>
              <a:t>不够精确，可能会</a:t>
            </a:r>
            <a:r>
              <a:rPr lang="zh-CN" altLang="en-US" dirty="0" smtClean="0"/>
              <a:t>出现饥饿问题</a:t>
            </a:r>
            <a:endParaRPr lang="en-US" altLang="zh-CN" dirty="0" smtClean="0"/>
          </a:p>
          <a:p>
            <a:pPr lvl="2"/>
            <a:endParaRPr lang="en-US" altLang="zh-CN" dirty="0" smtClean="0"/>
          </a:p>
          <a:p>
            <a:pPr lvl="1"/>
            <a:r>
              <a:rPr lang="zh-CN" altLang="en-US" dirty="0" smtClean="0"/>
              <a:t>动态</a:t>
            </a:r>
            <a:r>
              <a:rPr lang="zh-CN" altLang="en-US" dirty="0"/>
              <a:t>优先级</a:t>
            </a:r>
            <a:endParaRPr lang="en-US" altLang="zh-CN" dirty="0"/>
          </a:p>
          <a:p>
            <a:pPr lvl="2"/>
            <a:r>
              <a:rPr lang="zh-CN" altLang="en-US" dirty="0" smtClean="0"/>
              <a:t>进程</a:t>
            </a:r>
            <a:r>
              <a:rPr lang="zh-CN" altLang="en-US" dirty="0"/>
              <a:t>创建</a:t>
            </a:r>
            <a:r>
              <a:rPr lang="zh-CN" altLang="en-US" dirty="0" smtClean="0"/>
              <a:t>时的优先级随进程推进</a:t>
            </a:r>
            <a:r>
              <a:rPr lang="zh-CN" altLang="en-US" dirty="0"/>
              <a:t>或</a:t>
            </a:r>
            <a:r>
              <a:rPr lang="zh-CN" altLang="en-US" dirty="0" smtClean="0"/>
              <a:t>等待时间增加</a:t>
            </a:r>
            <a:r>
              <a:rPr lang="zh-CN" altLang="en-US" dirty="0"/>
              <a:t>而</a:t>
            </a:r>
            <a:r>
              <a:rPr lang="zh-CN" altLang="en-US" dirty="0" smtClean="0"/>
              <a:t>改变</a:t>
            </a:r>
            <a:endParaRPr lang="en-US" altLang="zh-CN" dirty="0" smtClean="0"/>
          </a:p>
          <a:p>
            <a:pPr lvl="2"/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动态优先级举例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7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200" b="1" dirty="0"/>
                  <a:t>高响应比优先调度算法</a:t>
                </a:r>
                <a:endParaRPr lang="zh-CN" altLang="en-US" sz="2200" b="1" dirty="0"/>
              </a:p>
              <a:p>
                <a:pPr lvl="1"/>
                <a:r>
                  <a:rPr lang="zh-CN" altLang="en-US" sz="1900" dirty="0" smtClean="0"/>
                  <a:t>既考虑进程的等待时间，又考虑进程的运行时间</a:t>
                </a:r>
                <a:endParaRPr lang="en-US" altLang="zh-CN" sz="1900" dirty="0" smtClean="0"/>
              </a:p>
              <a:p>
                <a:endParaRPr lang="en-US" altLang="zh-CN" sz="2200" dirty="0" smtClean="0"/>
              </a:p>
              <a:p>
                <a:pPr marL="0" indent="0" algn="ctr">
                  <a:buNone/>
                </a:pPr>
                <a:r>
                  <a:rPr lang="zh-CN" altLang="en-US" sz="2000" dirty="0" smtClean="0"/>
                  <a:t>优先数</a:t>
                </a:r>
                <a:r>
                  <a:rPr lang="en-US" altLang="zh-CN" sz="2000" dirty="0" smtClean="0"/>
                  <a:t>=</a:t>
                </a:r>
                <a:r>
                  <a:rPr lang="zh-CN" altLang="en-US" sz="2000" dirty="0" smtClean="0"/>
                  <a:t>响应比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等待</m:t>
                        </m:r>
                        <m:r>
                          <a:rPr lang="zh-CN" alt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时间</m:t>
                        </m:r>
                      </m:num>
                      <m:den>
                        <m:r>
                          <a:rPr lang="zh-CN" alt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运行</m:t>
                        </m:r>
                        <m:r>
                          <a:rPr lang="zh-CN" alt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时间</m:t>
                        </m:r>
                      </m:den>
                    </m:f>
                  </m:oMath>
                </a14:m>
                <a:endParaRPr lang="en-US" altLang="zh-CN" sz="2000" b="1" dirty="0" smtClean="0"/>
              </a:p>
              <a:p>
                <a:endParaRPr lang="en-US" altLang="zh-CN" sz="2200" dirty="0" smtClean="0"/>
              </a:p>
              <a:p>
                <a:r>
                  <a:rPr lang="zh-CN" altLang="en-US" sz="2200" dirty="0" smtClean="0"/>
                  <a:t>如等待时间相同，运行时间越短，优先级越高，类似于</a:t>
                </a:r>
                <a:r>
                  <a:rPr lang="en-US" altLang="zh-CN" sz="2200" dirty="0" smtClean="0"/>
                  <a:t>SJF</a:t>
                </a:r>
                <a:endParaRPr lang="en-US" altLang="zh-CN" sz="2200" dirty="0" smtClean="0"/>
              </a:p>
              <a:p>
                <a:r>
                  <a:rPr lang="zh-CN" altLang="en-US" sz="2200" dirty="0" smtClean="0"/>
                  <a:t>如运行时间相同，优先级取决于其等待时间，类似于</a:t>
                </a:r>
                <a:r>
                  <a:rPr lang="en-US" altLang="zh-CN" sz="2200" dirty="0" smtClean="0"/>
                  <a:t>FCFS</a:t>
                </a:r>
                <a:endParaRPr lang="en-US" altLang="zh-CN" sz="2200" dirty="0" smtClean="0"/>
              </a:p>
              <a:p>
                <a:r>
                  <a:rPr lang="zh-CN" altLang="en-US" sz="2200" dirty="0" smtClean="0"/>
                  <a:t>长进程的优先级可随等待时间的增加而提高，最终可得到服务</a:t>
                </a:r>
                <a:endParaRPr lang="en-US" altLang="zh-CN" sz="2200" dirty="0" smtClean="0"/>
              </a:p>
              <a:p>
                <a:endParaRPr lang="en-US" altLang="zh-CN" sz="2200" dirty="0" smtClean="0"/>
              </a:p>
              <a:p>
                <a:r>
                  <a:rPr lang="zh-CN" altLang="en-US" sz="2200" dirty="0" smtClean="0"/>
                  <a:t>缺点：每次调度之前，都需要计算响应比，增加系统开销</a:t>
                </a:r>
                <a:endParaRPr lang="en-US" altLang="zh-CN" sz="2200" dirty="0" smtClean="0"/>
              </a:p>
              <a:p>
                <a:endParaRPr lang="en-US" altLang="zh-CN" sz="2200" dirty="0"/>
              </a:p>
            </p:txBody>
          </p:sp>
        </mc:Choice>
        <mc:Fallback>
          <p:sp>
            <p:nvSpPr>
              <p:cNvPr id="8" name="内容占位符 7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优先级调度算法的优缺点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优点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实现简单，</a:t>
            </a:r>
            <a:r>
              <a:rPr lang="zh-CN" altLang="en-US" dirty="0" smtClean="0">
                <a:sym typeface="Symbol" panose="05050102010706020507" pitchFamily="18" charset="2"/>
              </a:rPr>
              <a:t>考虑了进程</a:t>
            </a:r>
            <a:r>
              <a:rPr lang="zh-CN" altLang="en-US" dirty="0">
                <a:sym typeface="Symbol" panose="05050102010706020507" pitchFamily="18" charset="2"/>
              </a:rPr>
              <a:t>的紧迫</a:t>
            </a:r>
            <a:r>
              <a:rPr lang="zh-CN" altLang="en-US" dirty="0" smtClean="0">
                <a:sym typeface="Symbol" panose="05050102010706020507" pitchFamily="18" charset="2"/>
              </a:rPr>
              <a:t>程度</a:t>
            </a:r>
            <a:endParaRPr lang="en-US" altLang="zh-CN" dirty="0" smtClean="0">
              <a:sym typeface="Symbol" panose="05050102010706020507" pitchFamily="18" charset="2"/>
            </a:endParaRPr>
          </a:p>
          <a:p>
            <a:pPr lvl="1"/>
            <a:r>
              <a:rPr lang="zh-CN" altLang="en-US" dirty="0" smtClean="0"/>
              <a:t>灵活</a:t>
            </a:r>
            <a:r>
              <a:rPr lang="zh-CN" altLang="en-US" dirty="0"/>
              <a:t>，可模拟其它</a:t>
            </a:r>
            <a:r>
              <a:rPr lang="zh-CN" altLang="en-US" dirty="0" smtClean="0"/>
              <a:t>算法</a:t>
            </a:r>
            <a:endParaRPr lang="en-US" altLang="zh-CN" dirty="0" smtClean="0"/>
          </a:p>
          <a:p>
            <a:pPr lvl="1"/>
            <a:endParaRPr lang="en-US" altLang="zh-CN" dirty="0">
              <a:sym typeface="Symbol" panose="05050102010706020507" pitchFamily="18" charset="2"/>
            </a:endParaRPr>
          </a:p>
          <a:p>
            <a:r>
              <a:rPr lang="zh-CN" altLang="en-US" dirty="0">
                <a:sym typeface="Symbol" panose="05050102010706020507" pitchFamily="18" charset="2"/>
              </a:rPr>
              <a:t>存在问题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饥饿 </a:t>
            </a:r>
            <a:r>
              <a:rPr lang="zh-CN" altLang="zh-CN" dirty="0">
                <a:sym typeface="Symbol" panose="05050102010706020507" pitchFamily="18" charset="2"/>
              </a:rPr>
              <a:t>– </a:t>
            </a:r>
            <a:r>
              <a:rPr lang="zh-CN" altLang="en-US" dirty="0">
                <a:sym typeface="Symbol" panose="05050102010706020507" pitchFamily="18" charset="2"/>
              </a:rPr>
              <a:t>低优先级的进程可能永远得不到</a:t>
            </a:r>
            <a:r>
              <a:rPr lang="zh-CN" altLang="en-US" dirty="0" smtClean="0">
                <a:sym typeface="Symbol" panose="05050102010706020507" pitchFamily="18" charset="2"/>
              </a:rPr>
              <a:t>运行</a:t>
            </a:r>
            <a:endParaRPr lang="en-US" altLang="zh-CN" dirty="0" smtClean="0">
              <a:sym typeface="Symbol" panose="05050102010706020507" pitchFamily="18" charset="2"/>
            </a:endParaRPr>
          </a:p>
          <a:p>
            <a:pPr lvl="1"/>
            <a:endParaRPr lang="zh-CN" altLang="en-US" dirty="0">
              <a:sym typeface="Symbol" panose="05050102010706020507" pitchFamily="18" charset="2"/>
            </a:endParaRPr>
          </a:p>
          <a:p>
            <a:r>
              <a:rPr lang="zh-CN" altLang="en-US" dirty="0">
                <a:sym typeface="Symbol" panose="05050102010706020507" pitchFamily="18" charset="2"/>
              </a:rPr>
              <a:t>解决方法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老化 </a:t>
            </a:r>
            <a:r>
              <a:rPr lang="zh-CN" altLang="zh-CN" dirty="0">
                <a:sym typeface="Symbol" panose="05050102010706020507" pitchFamily="18" charset="2"/>
              </a:rPr>
              <a:t>– </a:t>
            </a:r>
            <a:r>
              <a:rPr lang="zh-CN" altLang="en-US" dirty="0">
                <a:sym typeface="Symbol" panose="05050102010706020507" pitchFamily="18" charset="2"/>
              </a:rPr>
              <a:t>视进程等待时间的延长提高其优先数</a:t>
            </a:r>
            <a:endParaRPr lang="zh-CN" altLang="zh-CN" dirty="0"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时间片轮转</a:t>
            </a:r>
            <a:r>
              <a:rPr lang="en-US" altLang="zh-CN" sz="3200" dirty="0" smtClean="0"/>
              <a:t> (RR- Round Robin)</a:t>
            </a:r>
            <a:endParaRPr lang="en-US" altLang="zh-CN" sz="3200" dirty="0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专为分时系统设计，类似于</a:t>
            </a:r>
            <a:r>
              <a:rPr lang="en-US" altLang="zh-CN" dirty="0" smtClean="0"/>
              <a:t>FCFS</a:t>
            </a:r>
            <a:r>
              <a:rPr lang="zh-CN" altLang="en-US" dirty="0" smtClean="0"/>
              <a:t>，但增加了抢占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时间片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小单位的</a:t>
            </a:r>
            <a:r>
              <a:rPr lang="en-US" altLang="zh-CN" dirty="0" smtClean="0"/>
              <a:t>CPU</a:t>
            </a:r>
            <a:r>
              <a:rPr lang="zh-CN" altLang="en-US" dirty="0" smtClean="0"/>
              <a:t>时间，通常为</a:t>
            </a:r>
            <a:r>
              <a:rPr lang="en-US" altLang="zh-CN" dirty="0" smtClean="0"/>
              <a:t>10-100</a:t>
            </a:r>
            <a:r>
              <a:rPr lang="zh-CN" altLang="en-US" dirty="0" smtClean="0"/>
              <a:t>毫秒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为每个进程分配不超过一个时间片的</a:t>
            </a:r>
            <a:r>
              <a:rPr lang="en-US" altLang="zh-CN" dirty="0" smtClean="0"/>
              <a:t>CPU</a:t>
            </a:r>
            <a:r>
              <a:rPr lang="zh-CN" altLang="en-US" dirty="0" smtClean="0"/>
              <a:t>。时间片用完后，该进程将被抢占并插入就绪队列末尾，循环执行</a:t>
            </a:r>
            <a:endParaRPr lang="en-US" altLang="zh-CN" dirty="0" smtClean="0"/>
          </a:p>
          <a:p>
            <a:endParaRPr lang="zh-CN" altLang="zh-CN" dirty="0" smtClean="0"/>
          </a:p>
          <a:p>
            <a:r>
              <a:rPr lang="zh-CN" altLang="en-US" dirty="0" smtClean="0"/>
              <a:t>假定就绪队列中有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个进程、时间片为</a:t>
            </a:r>
            <a:r>
              <a:rPr lang="en-US" altLang="zh-CN" dirty="0" smtClean="0"/>
              <a:t>q, </a:t>
            </a:r>
            <a:r>
              <a:rPr lang="zh-CN" altLang="en-US" dirty="0" smtClean="0"/>
              <a:t>则任何一个进程的等待时间不会超过 </a:t>
            </a:r>
            <a:r>
              <a:rPr lang="zh-CN" altLang="zh-CN" dirty="0" smtClean="0"/>
              <a:t>(</a:t>
            </a:r>
            <a:r>
              <a:rPr lang="en-US" altLang="zh-CN" dirty="0" smtClean="0"/>
              <a:t>n-1) </a:t>
            </a:r>
            <a:r>
              <a:rPr lang="zh-CN" altLang="en-US" dirty="0" smtClean="0"/>
              <a:t>*</a:t>
            </a:r>
            <a:r>
              <a:rPr lang="en-US" altLang="zh-CN" dirty="0" smtClean="0"/>
              <a:t> q</a:t>
            </a:r>
            <a:endParaRPr lang="en-US" altLang="zh-CN" dirty="0" smtClean="0"/>
          </a:p>
          <a:p>
            <a:endParaRPr lang="zh-CN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时间片为</a:t>
            </a:r>
            <a:r>
              <a:rPr lang="en-US" altLang="zh-CN" smtClean="0"/>
              <a:t>20</a:t>
            </a:r>
            <a:r>
              <a:rPr lang="zh-CN" altLang="en-US" smtClean="0"/>
              <a:t>的</a:t>
            </a:r>
            <a:r>
              <a:rPr lang="en-US" altLang="zh-CN" smtClean="0"/>
              <a:t>RR</a:t>
            </a:r>
            <a:r>
              <a:rPr lang="zh-CN" altLang="en-US" smtClean="0"/>
              <a:t>例子</a:t>
            </a:r>
            <a:endParaRPr lang="zh-CN" altLang="en-US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2"/>
            <a:ext cx="8229600" cy="4870172"/>
          </a:xfrm>
        </p:spPr>
        <p:txBody>
          <a:bodyPr/>
          <a:lstStyle/>
          <a:p>
            <a:r>
              <a:rPr lang="zh-CN" altLang="en-US" dirty="0" smtClean="0"/>
              <a:t>	</a:t>
            </a:r>
            <a:r>
              <a:rPr lang="en-US" altLang="zh-CN" dirty="0" smtClean="0"/>
              <a:t>	</a:t>
            </a:r>
            <a:r>
              <a:rPr lang="zh-CN" altLang="en-US" sz="2000" u="sng" dirty="0" smtClean="0"/>
              <a:t>进程</a:t>
            </a:r>
            <a:r>
              <a:rPr lang="zh-CN" altLang="en-US" sz="2000" dirty="0" smtClean="0"/>
              <a:t>	</a:t>
            </a:r>
            <a:r>
              <a:rPr lang="en-US" altLang="zh-CN" sz="2000" dirty="0" smtClean="0"/>
              <a:t>	</a:t>
            </a:r>
            <a:r>
              <a:rPr lang="zh-CN" altLang="en-US" sz="2000" u="sng" dirty="0" smtClean="0"/>
              <a:t>区间时间</a:t>
            </a:r>
            <a:endParaRPr lang="en-US" altLang="zh-CN" sz="2000" u="sng" dirty="0" smtClean="0"/>
          </a:p>
          <a:p>
            <a:pPr marL="0" indent="0">
              <a:buNone/>
            </a:pPr>
            <a:r>
              <a:rPr lang="en-US" altLang="zh-CN" sz="2000" dirty="0" smtClean="0"/>
              <a:t>		  P1		  </a:t>
            </a:r>
            <a:r>
              <a:rPr lang="en-US" altLang="zh-CN" sz="2000" dirty="0" smtClean="0"/>
              <a:t>23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		  P2	 	  17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		  P3		  </a:t>
            </a:r>
            <a:r>
              <a:rPr lang="en-US" altLang="zh-CN" sz="2000" dirty="0" smtClean="0"/>
              <a:t>46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		  P4	 	  24</a:t>
            </a:r>
            <a:endParaRPr lang="en-US" altLang="zh-CN" sz="2000" dirty="0" smtClean="0"/>
          </a:p>
          <a:p>
            <a:r>
              <a:rPr lang="en-US" altLang="zh-CN" dirty="0" smtClean="0"/>
              <a:t>Gantt</a:t>
            </a:r>
            <a:r>
              <a:rPr lang="zh-CN" altLang="en-US" dirty="0" smtClean="0"/>
              <a:t>图如下</a:t>
            </a:r>
            <a:r>
              <a:rPr lang="en-US" altLang="zh-CN" dirty="0" smtClean="0"/>
              <a:t>: </a:t>
            </a:r>
            <a:br>
              <a:rPr lang="en-US" altLang="zh-CN" dirty="0" smtClean="0"/>
            </a:br>
            <a:br>
              <a:rPr lang="en-US" altLang="zh-CN" dirty="0" smtClean="0"/>
            </a:br>
            <a:br>
              <a:rPr lang="en-US" altLang="zh-CN" dirty="0" smtClean="0"/>
            </a:br>
            <a:endParaRPr lang="en-US" altLang="zh-CN" dirty="0" smtClean="0"/>
          </a:p>
          <a:p>
            <a:r>
              <a:rPr lang="zh-CN" altLang="en-US" dirty="0" smtClean="0"/>
              <a:t>平均等待时间：</a:t>
            </a:r>
            <a:r>
              <a:rPr lang="en-US" altLang="zh-CN" dirty="0" smtClean="0"/>
              <a:t>(57+20+64+80)/</a:t>
            </a:r>
            <a:r>
              <a:rPr lang="en-US" altLang="zh-CN" dirty="0" smtClean="0"/>
              <a:t>4 = </a:t>
            </a:r>
            <a:r>
              <a:rPr lang="en-US" altLang="zh-CN" dirty="0" smtClean="0"/>
              <a:t>55.25</a:t>
            </a:r>
            <a:endParaRPr lang="en-US" altLang="zh-CN" dirty="0" smtClean="0"/>
          </a:p>
          <a:p>
            <a:r>
              <a:rPr lang="zh-CN" altLang="en-US" dirty="0" smtClean="0"/>
              <a:t>平均响应时间</a:t>
            </a:r>
            <a:r>
              <a:rPr lang="en-US" altLang="zh-CN" dirty="0" smtClean="0">
                <a:sym typeface="Wingdings" panose="05000000000000000000" pitchFamily="2" charset="2"/>
              </a:rPr>
              <a:t>: (</a:t>
            </a:r>
            <a:r>
              <a:rPr lang="en-US" altLang="zh-CN" dirty="0" smtClean="0"/>
              <a:t>0+20+37+57)/4= 28.5</a:t>
            </a:r>
            <a:endParaRPr lang="en-US" altLang="zh-CN" dirty="0" smtClean="0"/>
          </a:p>
          <a:p>
            <a:r>
              <a:rPr lang="zh-CN" altLang="en-US" dirty="0"/>
              <a:t>通常</a:t>
            </a:r>
            <a:r>
              <a:rPr lang="zh-CN" altLang="en-US" dirty="0" smtClean="0"/>
              <a:t>，</a:t>
            </a:r>
            <a:r>
              <a:rPr lang="en-US" altLang="zh-CN" dirty="0" smtClean="0"/>
              <a:t>RR</a:t>
            </a:r>
            <a:r>
              <a:rPr lang="zh-CN" altLang="en-US" dirty="0" smtClean="0"/>
              <a:t>的平均周转时间比</a:t>
            </a:r>
            <a:r>
              <a:rPr lang="en-US" altLang="zh-CN" dirty="0" smtClean="0"/>
              <a:t>SJF</a:t>
            </a:r>
            <a:r>
              <a:rPr lang="zh-CN" altLang="en-US" dirty="0" smtClean="0"/>
              <a:t>长，但响应时间要短</a:t>
            </a:r>
            <a:endParaRPr lang="zh-CN" altLang="zh-CN" dirty="0" smtClean="0"/>
          </a:p>
        </p:txBody>
      </p:sp>
      <p:sp>
        <p:nvSpPr>
          <p:cNvPr id="35857" name="Rectangle 4"/>
          <p:cNvSpPr>
            <a:spLocks noChangeArrowheads="1"/>
          </p:cNvSpPr>
          <p:nvPr/>
        </p:nvSpPr>
        <p:spPr bwMode="auto">
          <a:xfrm>
            <a:off x="1698625" y="4039154"/>
            <a:ext cx="563880" cy="6096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P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35858" name="Rectangle 5"/>
          <p:cNvSpPr>
            <a:spLocks noChangeArrowheads="1"/>
          </p:cNvSpPr>
          <p:nvPr/>
        </p:nvSpPr>
        <p:spPr bwMode="auto">
          <a:xfrm>
            <a:off x="2262505" y="4039154"/>
            <a:ext cx="563880" cy="6096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P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5859" name="Rectangle 6"/>
          <p:cNvSpPr>
            <a:spLocks noChangeArrowheads="1"/>
          </p:cNvSpPr>
          <p:nvPr/>
        </p:nvSpPr>
        <p:spPr bwMode="auto">
          <a:xfrm>
            <a:off x="2826385" y="4039154"/>
            <a:ext cx="563880" cy="6096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P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5860" name="Rectangle 7"/>
          <p:cNvSpPr>
            <a:spLocks noChangeArrowheads="1"/>
          </p:cNvSpPr>
          <p:nvPr/>
        </p:nvSpPr>
        <p:spPr bwMode="auto">
          <a:xfrm>
            <a:off x="3390265" y="4039154"/>
            <a:ext cx="563880" cy="6096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P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5861" name="Rectangle 8"/>
          <p:cNvSpPr>
            <a:spLocks noChangeArrowheads="1"/>
          </p:cNvSpPr>
          <p:nvPr/>
        </p:nvSpPr>
        <p:spPr bwMode="auto">
          <a:xfrm>
            <a:off x="3954145" y="4039154"/>
            <a:ext cx="563880" cy="6096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P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862" name="Rectangle 9"/>
          <p:cNvSpPr>
            <a:spLocks noChangeArrowheads="1"/>
          </p:cNvSpPr>
          <p:nvPr/>
        </p:nvSpPr>
        <p:spPr bwMode="auto">
          <a:xfrm>
            <a:off x="4518025" y="4039154"/>
            <a:ext cx="563880" cy="6096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P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5863" name="Rectangle 10"/>
          <p:cNvSpPr>
            <a:spLocks noChangeArrowheads="1"/>
          </p:cNvSpPr>
          <p:nvPr/>
        </p:nvSpPr>
        <p:spPr bwMode="auto">
          <a:xfrm>
            <a:off x="5081905" y="4039154"/>
            <a:ext cx="563880" cy="6096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P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5864" name="Rectangle 11"/>
          <p:cNvSpPr>
            <a:spLocks noChangeArrowheads="1"/>
          </p:cNvSpPr>
          <p:nvPr/>
        </p:nvSpPr>
        <p:spPr bwMode="auto">
          <a:xfrm>
            <a:off x="5645785" y="4039154"/>
            <a:ext cx="563880" cy="6096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 smtClean="0"/>
              <a:t>P</a:t>
            </a:r>
            <a:r>
              <a:rPr lang="en-US" altLang="zh-CN" baseline="-25000" dirty="0"/>
              <a:t>3</a:t>
            </a:r>
            <a:endParaRPr lang="en-US" altLang="zh-CN" baseline="-25000" dirty="0"/>
          </a:p>
        </p:txBody>
      </p:sp>
      <p:sp>
        <p:nvSpPr>
          <p:cNvPr id="35846" name="Text Box 15"/>
          <p:cNvSpPr txBox="1">
            <a:spLocks noChangeArrowheads="1"/>
          </p:cNvSpPr>
          <p:nvPr/>
        </p:nvSpPr>
        <p:spPr bwMode="auto">
          <a:xfrm>
            <a:off x="1546225" y="464875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5847" name="Text Box 16"/>
          <p:cNvSpPr txBox="1">
            <a:spLocks noChangeArrowheads="1"/>
          </p:cNvSpPr>
          <p:nvPr/>
        </p:nvSpPr>
        <p:spPr bwMode="auto">
          <a:xfrm>
            <a:off x="2016125" y="4648755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/>
              <a:t>20</a:t>
            </a:r>
            <a:endParaRPr lang="en-US" altLang="zh-CN"/>
          </a:p>
        </p:txBody>
      </p:sp>
      <p:sp>
        <p:nvSpPr>
          <p:cNvPr id="35848" name="Text Box 17"/>
          <p:cNvSpPr txBox="1">
            <a:spLocks noChangeArrowheads="1"/>
          </p:cNvSpPr>
          <p:nvPr/>
        </p:nvSpPr>
        <p:spPr bwMode="auto">
          <a:xfrm>
            <a:off x="2549525" y="4648755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/>
              <a:t>37</a:t>
            </a:r>
            <a:endParaRPr lang="en-US" altLang="zh-CN"/>
          </a:p>
        </p:txBody>
      </p:sp>
      <p:sp>
        <p:nvSpPr>
          <p:cNvPr id="35849" name="Text Box 18"/>
          <p:cNvSpPr txBox="1">
            <a:spLocks noChangeArrowheads="1"/>
          </p:cNvSpPr>
          <p:nvPr/>
        </p:nvSpPr>
        <p:spPr bwMode="auto">
          <a:xfrm>
            <a:off x="3152775" y="4648755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/>
              <a:t>57</a:t>
            </a:r>
            <a:endParaRPr lang="en-US" altLang="zh-CN"/>
          </a:p>
        </p:txBody>
      </p:sp>
      <p:sp>
        <p:nvSpPr>
          <p:cNvPr id="35850" name="Text Box 19"/>
          <p:cNvSpPr txBox="1">
            <a:spLocks noChangeArrowheads="1"/>
          </p:cNvSpPr>
          <p:nvPr/>
        </p:nvSpPr>
        <p:spPr bwMode="auto">
          <a:xfrm>
            <a:off x="3768725" y="4648755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/>
              <a:t>77</a:t>
            </a:r>
            <a:endParaRPr lang="en-US" altLang="zh-CN"/>
          </a:p>
        </p:txBody>
      </p:sp>
      <p:sp>
        <p:nvSpPr>
          <p:cNvPr id="35851" name="Text Box 20"/>
          <p:cNvSpPr txBox="1">
            <a:spLocks noChangeArrowheads="1"/>
          </p:cNvSpPr>
          <p:nvPr/>
        </p:nvSpPr>
        <p:spPr bwMode="auto">
          <a:xfrm>
            <a:off x="4298950" y="4647167"/>
            <a:ext cx="4413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dirty="0" smtClean="0"/>
              <a:t>80</a:t>
            </a:r>
            <a:endParaRPr lang="en-US" altLang="zh-CN" dirty="0"/>
          </a:p>
        </p:txBody>
      </p:sp>
      <p:sp>
        <p:nvSpPr>
          <p:cNvPr id="35852" name="Text Box 21"/>
          <p:cNvSpPr txBox="1">
            <a:spLocks noChangeArrowheads="1"/>
          </p:cNvSpPr>
          <p:nvPr/>
        </p:nvSpPr>
        <p:spPr bwMode="auto">
          <a:xfrm>
            <a:off x="4770438" y="4647167"/>
            <a:ext cx="5699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dirty="0" smtClean="0"/>
              <a:t>100</a:t>
            </a:r>
            <a:endParaRPr lang="en-US" altLang="zh-CN" dirty="0"/>
          </a:p>
        </p:txBody>
      </p:sp>
      <p:sp>
        <p:nvSpPr>
          <p:cNvPr id="35853" name="Text Box 22"/>
          <p:cNvSpPr txBox="1">
            <a:spLocks noChangeArrowheads="1"/>
          </p:cNvSpPr>
          <p:nvPr/>
        </p:nvSpPr>
        <p:spPr bwMode="auto">
          <a:xfrm>
            <a:off x="5376863" y="4647167"/>
            <a:ext cx="5699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dirty="0" smtClean="0"/>
              <a:t>104</a:t>
            </a:r>
            <a:endParaRPr lang="en-US" altLang="zh-CN" dirty="0"/>
          </a:p>
        </p:txBody>
      </p:sp>
      <p:sp>
        <p:nvSpPr>
          <p:cNvPr id="35854" name="Text Box 24"/>
          <p:cNvSpPr txBox="1">
            <a:spLocks noChangeArrowheads="1"/>
          </p:cNvSpPr>
          <p:nvPr/>
        </p:nvSpPr>
        <p:spPr bwMode="auto">
          <a:xfrm>
            <a:off x="5921375" y="4647167"/>
            <a:ext cx="5524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dirty="0" smtClean="0"/>
              <a:t>110</a:t>
            </a:r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时间片大小</a:t>
            </a:r>
            <a:endParaRPr lang="zh-CN" altLang="en-US" sz="3200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时间片的大小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q </a:t>
            </a:r>
            <a:r>
              <a:rPr lang="zh-CN" altLang="en-US" dirty="0"/>
              <a:t>大 </a:t>
            </a:r>
            <a:r>
              <a:rPr lang="zh-CN" altLang="en-US" dirty="0">
                <a:sym typeface="Symbol" panose="05050102010706020507" pitchFamily="18" charset="2"/>
              </a:rPr>
              <a:t> </a:t>
            </a:r>
            <a:r>
              <a:rPr lang="en-US" altLang="zh-CN" dirty="0" smtClean="0">
                <a:sym typeface="Symbol" panose="05050102010706020507" pitchFamily="18" charset="2"/>
              </a:rPr>
              <a:t>FCFS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en-US" altLang="zh-CN" dirty="0">
                <a:sym typeface="Symbol" panose="05050102010706020507" pitchFamily="18" charset="2"/>
              </a:rPr>
              <a:t>q </a:t>
            </a:r>
            <a:r>
              <a:rPr lang="zh-CN" altLang="en-US" dirty="0">
                <a:sym typeface="Symbol" panose="05050102010706020507" pitchFamily="18" charset="2"/>
              </a:rPr>
              <a:t>小 </a:t>
            </a:r>
            <a:r>
              <a:rPr lang="zh-CN" altLang="en-US" dirty="0" smtClean="0">
                <a:sym typeface="Symbol" panose="05050102010706020507" pitchFamily="18" charset="2"/>
              </a:rPr>
              <a:t> </a:t>
            </a:r>
            <a:r>
              <a:rPr lang="zh-CN" altLang="en-US" dirty="0" smtClean="0"/>
              <a:t>增加</a:t>
            </a:r>
            <a:r>
              <a:rPr lang="zh-CN" altLang="en-US" dirty="0"/>
              <a:t>上下文切换时间</a:t>
            </a:r>
            <a:endParaRPr lang="zh-CN" altLang="en-US" dirty="0"/>
          </a:p>
          <a:p>
            <a:pPr lvl="1"/>
            <a:endParaRPr lang="en-US" altLang="zh-CN" dirty="0" smtClean="0">
              <a:sym typeface="Symbol" panose="05050102010706020507" pitchFamily="18" charset="2"/>
            </a:endParaRPr>
          </a:p>
          <a:p>
            <a:r>
              <a:rPr lang="zh-CN" altLang="en-US" dirty="0" smtClean="0">
                <a:sym typeface="Symbol" panose="05050102010706020507" pitchFamily="18" charset="2"/>
              </a:rPr>
              <a:t>一般准则：时间片</a:t>
            </a:r>
            <a:r>
              <a:rPr lang="en-US" altLang="zh-CN" dirty="0" smtClean="0">
                <a:sym typeface="Symbol" panose="05050102010706020507" pitchFamily="18" charset="2"/>
              </a:rPr>
              <a:t>/10&gt;</a:t>
            </a:r>
            <a:r>
              <a:rPr lang="zh-CN" altLang="en-US" dirty="0" smtClean="0">
                <a:sym typeface="Symbol" panose="05050102010706020507" pitchFamily="18" charset="2"/>
              </a:rPr>
              <a:t>进程上下文切换时间</a:t>
            </a:r>
            <a:endParaRPr lang="zh-CN" altLang="zh-CN" dirty="0">
              <a:sym typeface="Symbol" panose="05050102010706020507" pitchFamily="18" charset="2"/>
            </a:endParaRPr>
          </a:p>
          <a:p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250825" y="1557338"/>
            <a:ext cx="8497888" cy="1981200"/>
          </a:xfrm>
        </p:spPr>
        <p:txBody>
          <a:bodyPr vert="horz" wrap="square" lIns="91422" tIns="45711" rIns="91422" bIns="45711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 </a:t>
            </a:r>
            <a:r>
              <a:rPr kumimoji="0" lang="en-US" altLang="zh-CN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CPU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调度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（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四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）</a:t>
            </a:r>
            <a:br>
              <a:rPr kumimoji="0" lang="zh-CN" alt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zh-CN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调度算法（</a:t>
            </a:r>
            <a:r>
              <a:rPr kumimoji="0" lang="en-US" altLang="zh-CN" sz="5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）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9139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dirty="0"/>
              <a:t>多级队列调度</a:t>
            </a:r>
            <a:endParaRPr lang="en-US" altLang="zh-CN" dirty="0"/>
          </a:p>
          <a:p>
            <a:r>
              <a:rPr lang="zh-CN" altLang="en-US" dirty="0"/>
              <a:t>多级反馈队列调度</a:t>
            </a:r>
            <a:endParaRPr lang="en-US" altLang="zh-CN" dirty="0"/>
          </a:p>
          <a:p>
            <a:r>
              <a:rPr lang="zh-CN" altLang="en-US" dirty="0"/>
              <a:t>多处理器调度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多级队列调度（</a:t>
            </a:r>
            <a:r>
              <a:rPr lang="en-US" altLang="zh-CN" dirty="0"/>
              <a:t>MLQ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468313" y="1484313"/>
            <a:ext cx="8229600" cy="5184775"/>
          </a:xfrm>
          <a:noFill/>
          <a:ln>
            <a:noFill/>
          </a:ln>
        </p:spPr>
        <p:txBody>
          <a:bodyPr/>
          <a:p>
            <a:r>
              <a:rPr lang="zh-CN" altLang="en-US" dirty="0"/>
              <a:t>以上算法存在局限性，如：</a:t>
            </a:r>
            <a:endParaRPr lang="en-US" altLang="zh-CN" dirty="0"/>
          </a:p>
          <a:p>
            <a:pPr lvl="1"/>
            <a:r>
              <a:rPr lang="en-US" altLang="zh-CN" dirty="0"/>
              <a:t>SJF</a:t>
            </a:r>
            <a:r>
              <a:rPr lang="zh-CN" altLang="en-US" dirty="0"/>
              <a:t>有利短进程而不利长进程</a:t>
            </a:r>
            <a:endParaRPr lang="en-US" altLang="zh-CN" dirty="0"/>
          </a:p>
          <a:p>
            <a:pPr lvl="1"/>
            <a:r>
              <a:rPr lang="en-US" altLang="zh-CN" dirty="0"/>
              <a:t>RR</a:t>
            </a:r>
            <a:r>
              <a:rPr lang="zh-CN" altLang="en-US" dirty="0"/>
              <a:t>系统开销大</a:t>
            </a:r>
            <a:endParaRPr lang="en-US" altLang="zh-CN" dirty="0"/>
          </a:p>
          <a:p>
            <a:pPr lvl="1"/>
            <a:r>
              <a:rPr lang="zh-CN" altLang="en-US" dirty="0"/>
              <a:t>所有进程采用同一策略，不合理</a:t>
            </a:r>
            <a:endParaRPr lang="en-US" altLang="zh-CN" dirty="0"/>
          </a:p>
          <a:p>
            <a:r>
              <a:rPr lang="zh-CN" altLang="en-US" dirty="0"/>
              <a:t>不同类型的进程需要不同策略</a:t>
            </a:r>
            <a:endParaRPr lang="en-US" altLang="zh-CN" dirty="0"/>
          </a:p>
          <a:p>
            <a:pPr lvl="1"/>
            <a:r>
              <a:rPr lang="zh-CN" altLang="en-US" dirty="0"/>
              <a:t>交互进程需要短的响应时间</a:t>
            </a:r>
            <a:endParaRPr lang="en-US" altLang="zh-CN" dirty="0"/>
          </a:p>
          <a:p>
            <a:pPr lvl="1"/>
            <a:r>
              <a:rPr lang="zh-CN" altLang="en-US" dirty="0"/>
              <a:t>批处理进程需要短的等待时间</a:t>
            </a:r>
            <a:endParaRPr lang="en-US" altLang="zh-CN" dirty="0"/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多级队列调度（</a:t>
            </a:r>
            <a:r>
              <a:rPr lang="en-US" altLang="zh-CN" dirty="0"/>
              <a:t>MLQ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4525963"/>
          </a:xfrm>
          <a:noFill/>
          <a:ln>
            <a:noFill/>
          </a:ln>
        </p:spPr>
        <p:txBody>
          <a:bodyPr/>
          <a:p>
            <a:r>
              <a:rPr lang="zh-CN" altLang="en-US" dirty="0"/>
              <a:t>多级队列调度</a:t>
            </a:r>
            <a:r>
              <a:rPr lang="en-US" altLang="zh-CN" sz="2800" dirty="0"/>
              <a:t>(</a:t>
            </a:r>
            <a:r>
              <a:rPr lang="en-US" altLang="zh-CN" sz="2800" dirty="0">
                <a:solidFill>
                  <a:schemeClr val="tx1"/>
                </a:solidFill>
              </a:rPr>
              <a:t>M</a:t>
            </a:r>
            <a:r>
              <a:rPr lang="en-US" altLang="zh-CN" sz="2800" dirty="0"/>
              <a:t>ulti</a:t>
            </a:r>
            <a:r>
              <a:rPr lang="en-US" altLang="zh-CN" sz="2800" dirty="0">
                <a:solidFill>
                  <a:schemeClr val="tx1"/>
                </a:solidFill>
              </a:rPr>
              <a:t>L</a:t>
            </a:r>
            <a:r>
              <a:rPr lang="en-US" altLang="zh-CN" sz="2800" dirty="0"/>
              <a:t>evel </a:t>
            </a:r>
            <a:r>
              <a:rPr lang="en-US" altLang="zh-CN" sz="2800" dirty="0">
                <a:solidFill>
                  <a:schemeClr val="tx1"/>
                </a:solidFill>
              </a:rPr>
              <a:t>Q</a:t>
            </a:r>
            <a:r>
              <a:rPr lang="en-US" altLang="zh-CN" sz="2800" dirty="0"/>
              <a:t>ueue Scheduling)</a:t>
            </a:r>
            <a:endParaRPr lang="en-US" altLang="zh-CN" dirty="0"/>
          </a:p>
          <a:p>
            <a:pPr lvl="1"/>
            <a:r>
              <a:rPr lang="zh-CN" altLang="en-US" dirty="0"/>
              <a:t>系统中存在多个就绪队列，每个队列有自己的调度算法</a:t>
            </a:r>
            <a:endParaRPr lang="zh-CN" altLang="en-US" dirty="0"/>
          </a:p>
          <a:p>
            <a:r>
              <a:rPr lang="zh-CN" altLang="en-US" dirty="0"/>
              <a:t>要素：</a:t>
            </a:r>
            <a:endParaRPr lang="en-US" altLang="zh-CN" dirty="0"/>
          </a:p>
          <a:p>
            <a:pPr lvl="1"/>
            <a:r>
              <a:rPr lang="zh-CN" altLang="en-US" dirty="0"/>
              <a:t>队列数</a:t>
            </a:r>
            <a:endParaRPr lang="zh-CN" altLang="en-US" dirty="0"/>
          </a:p>
          <a:p>
            <a:pPr lvl="1"/>
            <a:r>
              <a:rPr lang="zh-CN" altLang="en-US" dirty="0"/>
              <a:t>每一队列的调度算法</a:t>
            </a:r>
            <a:endParaRPr lang="zh-CN" altLang="en-US" dirty="0"/>
          </a:p>
          <a:p>
            <a:pPr lvl="1"/>
            <a:r>
              <a:rPr lang="zh-CN" altLang="en-US" dirty="0"/>
              <a:t>决定新进程将进入哪个队列的方法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 idx="4294967295"/>
          </p:nvPr>
        </p:nvSpPr>
        <p:spPr>
          <a:xfrm>
            <a:off x="1258888" y="333375"/>
            <a:ext cx="7150100" cy="11430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多级队列例子</a:t>
            </a:r>
            <a:endParaRPr lang="en-US" altLang="zh-CN" dirty="0"/>
          </a:p>
        </p:txBody>
      </p:sp>
      <p:sp>
        <p:nvSpPr>
          <p:cNvPr id="16387" name="Rectangle 3"/>
          <p:cNvSpPr>
            <a:spLocks noGrp="1"/>
          </p:cNvSpPr>
          <p:nvPr>
            <p:ph type="body" idx="4294967295"/>
          </p:nvPr>
        </p:nvSpPr>
        <p:spPr>
          <a:xfrm>
            <a:off x="565150" y="1381125"/>
            <a:ext cx="8172450" cy="5054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sz="2400" dirty="0"/>
              <a:t>典型例子：</a:t>
            </a:r>
            <a:endParaRPr lang="en-US" altLang="zh-CN" sz="2400" dirty="0"/>
          </a:p>
          <a:p>
            <a:pPr lvl="1"/>
            <a:r>
              <a:rPr lang="zh-CN" altLang="en-US" sz="2000" dirty="0"/>
              <a:t>就绪队列分为:</a:t>
            </a:r>
            <a:endParaRPr lang="zh-CN" altLang="en-US" sz="2000" dirty="0"/>
          </a:p>
          <a:p>
            <a:pPr lvl="2"/>
            <a:r>
              <a:rPr lang="zh-CN" altLang="en-US" sz="2000" dirty="0"/>
              <a:t>前台[交互式]</a:t>
            </a:r>
            <a:endParaRPr lang="zh-CN" altLang="en-US" sz="2000" dirty="0"/>
          </a:p>
          <a:p>
            <a:pPr lvl="2"/>
            <a:r>
              <a:rPr lang="zh-CN" altLang="en-US" sz="2000" dirty="0"/>
              <a:t>后台[批处理]</a:t>
            </a:r>
            <a:endParaRPr lang="zh-CN" altLang="en-US" sz="2000" dirty="0"/>
          </a:p>
          <a:p>
            <a:pPr lvl="1"/>
            <a:r>
              <a:rPr lang="zh-CN" altLang="en-US" sz="2000" dirty="0"/>
              <a:t>每个队列有自己的调度算法 </a:t>
            </a:r>
            <a:br>
              <a:rPr lang="zh-CN" altLang="en-US" sz="2000" dirty="0"/>
            </a:br>
            <a:r>
              <a:rPr lang="zh-CN" altLang="en-US" sz="2000" dirty="0"/>
              <a:t>前台 </a:t>
            </a:r>
            <a:r>
              <a:rPr lang="en-US" altLang="zh-CN" sz="2000" dirty="0"/>
              <a:t>– RR</a:t>
            </a:r>
            <a:br>
              <a:rPr lang="zh-CN" altLang="en-US" sz="2000" dirty="0"/>
            </a:br>
            <a:r>
              <a:rPr lang="zh-CN" altLang="en-US" sz="2000" dirty="0"/>
              <a:t>后台 </a:t>
            </a:r>
            <a:r>
              <a:rPr lang="en-US" altLang="zh-CN" sz="2000" dirty="0"/>
              <a:t>– FCFS</a:t>
            </a:r>
            <a:endParaRPr lang="en-US" altLang="zh-CN" sz="2000" dirty="0"/>
          </a:p>
          <a:p>
            <a:r>
              <a:rPr lang="zh-CN" altLang="en-US" sz="2400" dirty="0"/>
              <a:t>问题：</a:t>
            </a:r>
            <a:r>
              <a:rPr lang="zh-CN" altLang="en-US" sz="2400" b="1" dirty="0"/>
              <a:t>先调度哪个队列中的进程呢？</a:t>
            </a:r>
            <a:endParaRPr lang="en-US" altLang="zh-CN" sz="2400" b="1" dirty="0"/>
          </a:p>
          <a:p>
            <a:r>
              <a:rPr lang="zh-CN" altLang="en-US" sz="2400" dirty="0"/>
              <a:t>解决方法</a:t>
            </a:r>
            <a:endParaRPr lang="en-US" altLang="zh-CN" sz="2400" dirty="0"/>
          </a:p>
          <a:p>
            <a:pPr lvl="1"/>
            <a:r>
              <a:rPr lang="zh-CN" altLang="en-US" sz="2000" dirty="0"/>
              <a:t>固定优先级：前台运行完后再运行后台，有可能产生</a:t>
            </a:r>
            <a:r>
              <a:rPr lang="zh-CN" altLang="en-US" sz="2000" b="1" dirty="0">
                <a:solidFill>
                  <a:srgbClr val="FF0000"/>
                </a:solidFill>
              </a:rPr>
              <a:t>饥饿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/>
              <a:t>给定时间片：每个队列得到一定比例的</a:t>
            </a:r>
            <a:r>
              <a:rPr lang="en-US" altLang="zh-CN" sz="2000" dirty="0"/>
              <a:t>CPU</a:t>
            </a:r>
            <a:r>
              <a:rPr lang="zh-CN" altLang="en-US" sz="2000" dirty="0"/>
              <a:t>时间，进程在给定时间内执行；如：80%时间执行前台</a:t>
            </a:r>
            <a:r>
              <a:rPr lang="en-US" altLang="zh-CN" sz="2000" dirty="0"/>
              <a:t>RR</a:t>
            </a:r>
            <a:r>
              <a:rPr lang="zh-CN" altLang="en-US" sz="2000" dirty="0"/>
              <a:t>，20%时间执行后台</a:t>
            </a:r>
            <a:r>
              <a:rPr lang="en-US" altLang="zh-CN" sz="2000" dirty="0"/>
              <a:t>FCFS</a:t>
            </a:r>
            <a:endParaRPr lang="zh-CN" altLang="en-US" sz="2000" dirty="0"/>
          </a:p>
        </p:txBody>
      </p:sp>
      <p:pic>
        <p:nvPicPr>
          <p:cNvPr id="1638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325" y="1511300"/>
            <a:ext cx="2425700" cy="3240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9" name="矩形 1"/>
          <p:cNvSpPr/>
          <p:nvPr/>
        </p:nvSpPr>
        <p:spPr>
          <a:xfrm>
            <a:off x="6372225" y="2205038"/>
            <a:ext cx="1793875" cy="395287"/>
          </a:xfrm>
          <a:prstGeom prst="rect">
            <a:avLst/>
          </a:prstGeom>
          <a:solidFill>
            <a:schemeClr val="accent1">
              <a:alpha val="0"/>
            </a:schemeClr>
          </a:solidFill>
          <a:ln w="22225" cap="flat" cmpd="sng">
            <a:solidFill>
              <a:srgbClr val="00B0F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>
              <a:buFont typeface="Monotype Sorts" pitchFamily="2" charset="2"/>
            </a:pP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1258888" y="692150"/>
            <a:ext cx="6886575" cy="4572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多级反馈队列调度（</a:t>
            </a:r>
            <a:r>
              <a:rPr lang="en-US" altLang="zh-CN" dirty="0"/>
              <a:t>MLFQ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17411" name="Rectangle 3"/>
          <p:cNvSpPr>
            <a:spLocks noGrp="1"/>
          </p:cNvSpPr>
          <p:nvPr>
            <p:ph type="body" idx="4294967295"/>
          </p:nvPr>
        </p:nvSpPr>
        <p:spPr>
          <a:xfrm>
            <a:off x="1082675" y="1554163"/>
            <a:ext cx="7270750" cy="48990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sz="2800" dirty="0"/>
              <a:t>多级队列的延伸</a:t>
            </a:r>
            <a:endParaRPr lang="en-US" altLang="zh-CN" sz="2800" dirty="0"/>
          </a:p>
          <a:p>
            <a:r>
              <a:rPr lang="zh-CN" altLang="en-US" sz="2800" dirty="0"/>
              <a:t>不同：</a:t>
            </a:r>
            <a:endParaRPr lang="en-US" altLang="zh-CN" sz="2800" dirty="0"/>
          </a:p>
          <a:p>
            <a:pPr lvl="1"/>
            <a:r>
              <a:rPr lang="zh-CN" altLang="en-US" sz="2400" b="1" dirty="0"/>
              <a:t>多级队列：进程</a:t>
            </a:r>
            <a:r>
              <a:rPr lang="zh-CN" altLang="en-US" sz="2400" b="1" dirty="0">
                <a:solidFill>
                  <a:schemeClr val="tx1"/>
                </a:solidFill>
              </a:rPr>
              <a:t>不能</a:t>
            </a:r>
            <a:r>
              <a:rPr lang="zh-CN" altLang="en-US" sz="2400" b="1" dirty="0"/>
              <a:t>在不同队列间移动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多级反馈队列：进程</a:t>
            </a:r>
            <a:r>
              <a:rPr lang="zh-CN" altLang="en-US" sz="2400" b="1" dirty="0">
                <a:solidFill>
                  <a:schemeClr val="tx1"/>
                </a:solidFill>
              </a:rPr>
              <a:t>能</a:t>
            </a:r>
            <a:r>
              <a:rPr lang="zh-CN" altLang="en-US" sz="2400" b="1" dirty="0"/>
              <a:t>在不同队列间移动</a:t>
            </a:r>
            <a:endParaRPr lang="zh-CN" altLang="en-US" sz="2400" b="1" dirty="0"/>
          </a:p>
          <a:p>
            <a:r>
              <a:rPr lang="zh-CN" altLang="en-US" sz="2800" dirty="0"/>
              <a:t>多级反馈队列调度需要考虑以下问题：</a:t>
            </a:r>
            <a:endParaRPr lang="en-US" altLang="zh-CN" sz="2800" dirty="0"/>
          </a:p>
          <a:p>
            <a:pPr lvl="1"/>
            <a:r>
              <a:rPr lang="zh-CN" altLang="en-US" sz="2400" dirty="0"/>
              <a:t>队列数</a:t>
            </a:r>
            <a:endParaRPr lang="zh-CN" altLang="en-US" sz="2400" dirty="0"/>
          </a:p>
          <a:p>
            <a:pPr lvl="1"/>
            <a:r>
              <a:rPr lang="zh-CN" altLang="en-US" sz="2400" dirty="0"/>
              <a:t>每一队列的调度算法</a:t>
            </a:r>
            <a:endParaRPr lang="zh-CN" altLang="en-US" sz="2400" dirty="0"/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决定进程升级（低级队列到高级队列）的方法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决定进程降级（高级队列到低级队列）的方法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/>
              <a:t>决定新进程将进入哪个队列的方法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多级反馈队列调度（</a:t>
            </a:r>
            <a:r>
              <a:rPr lang="en-US" altLang="zh-CN" dirty="0"/>
              <a:t>MLFQ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5843588" cy="4525963"/>
          </a:xfrm>
          <a:noFill/>
          <a:ln>
            <a:noFill/>
          </a:ln>
        </p:spPr>
        <p:txBody>
          <a:bodyPr/>
          <a:p>
            <a:r>
              <a:rPr lang="zh-CN" altLang="en-US" dirty="0"/>
              <a:t>多级反馈队列调度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dirty="0"/>
              <a:t>ulti</a:t>
            </a:r>
            <a:r>
              <a:rPr lang="en-US" altLang="zh-CN" dirty="0">
                <a:solidFill>
                  <a:schemeClr val="tx1"/>
                </a:solidFill>
              </a:rPr>
              <a:t>L</a:t>
            </a:r>
            <a:r>
              <a:rPr lang="en-US" altLang="zh-CN" dirty="0"/>
              <a:t>evel 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en-US" altLang="zh-CN" dirty="0"/>
              <a:t>eedback </a:t>
            </a:r>
            <a:r>
              <a:rPr lang="en-US" altLang="zh-CN" dirty="0">
                <a:solidFill>
                  <a:schemeClr val="tx1"/>
                </a:solidFill>
              </a:rPr>
              <a:t>Q</a:t>
            </a:r>
            <a:r>
              <a:rPr lang="en-US" altLang="zh-CN" dirty="0"/>
              <a:t>ueue Scheduling)</a:t>
            </a:r>
            <a:endParaRPr lang="en-US" altLang="zh-CN" dirty="0"/>
          </a:p>
          <a:p>
            <a:pPr lvl="1"/>
            <a:r>
              <a:rPr lang="en-US" altLang="zh-CN" dirty="0"/>
              <a:t>MLFQ</a:t>
            </a:r>
            <a:r>
              <a:rPr lang="zh-CN" altLang="en-US" dirty="0"/>
              <a:t>很好地解决了</a:t>
            </a:r>
            <a:r>
              <a:rPr lang="en-US" altLang="zh-CN" dirty="0"/>
              <a:t>CPU</a:t>
            </a:r>
            <a:r>
              <a:rPr lang="zh-CN" altLang="en-US" dirty="0"/>
              <a:t>调度问题</a:t>
            </a:r>
            <a:endParaRPr lang="en-US" altLang="zh-CN" dirty="0"/>
          </a:p>
          <a:p>
            <a:pPr lvl="1"/>
            <a:r>
              <a:rPr lang="en-US" altLang="zh-CN" dirty="0"/>
              <a:t>Unix</a:t>
            </a:r>
            <a:r>
              <a:rPr lang="zh-CN" altLang="en-US" dirty="0"/>
              <a:t>，</a:t>
            </a:r>
            <a:r>
              <a:rPr lang="en-US" altLang="zh-CN" dirty="0"/>
              <a:t>Solaris</a:t>
            </a:r>
            <a:r>
              <a:rPr lang="zh-CN" altLang="en-US" dirty="0"/>
              <a:t>，</a:t>
            </a:r>
            <a:r>
              <a:rPr lang="en-US" altLang="zh-CN" dirty="0"/>
              <a:t>Windows</a:t>
            </a:r>
            <a:r>
              <a:rPr lang="zh-CN" altLang="en-US" dirty="0"/>
              <a:t>的调度算法一定程度上都是</a:t>
            </a:r>
            <a:r>
              <a:rPr lang="en-US" altLang="zh-CN" dirty="0"/>
              <a:t>MLFQ</a:t>
            </a:r>
            <a:r>
              <a:rPr lang="zh-CN" altLang="en-US" dirty="0"/>
              <a:t>的变种</a:t>
            </a:r>
            <a:endParaRPr lang="pt-BR" altLang="zh-CN" dirty="0"/>
          </a:p>
          <a:p>
            <a:pPr lvl="1"/>
            <a:endParaRPr lang="zh-CN" altLang="en-US" dirty="0"/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18437" name="Picture 2" descr="Fernando Corbato.jpg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688" y="1628775"/>
            <a:ext cx="2095500" cy="244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8" name="TextBox 4"/>
          <p:cNvSpPr txBox="1"/>
          <p:nvPr/>
        </p:nvSpPr>
        <p:spPr>
          <a:xfrm>
            <a:off x="6084888" y="4221163"/>
            <a:ext cx="2670175" cy="203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1"/>
            <a:r>
              <a:rPr lang="pt-BR" altLang="zh-CN" dirty="0">
                <a:latin typeface="Arial" panose="020B0604020202020204" pitchFamily="34" charset="0"/>
              </a:rPr>
              <a:t>1962</a:t>
            </a:r>
            <a:r>
              <a:rPr lang="zh-CN" altLang="pt-BR" dirty="0">
                <a:latin typeface="Arial" panose="020B0604020202020204" pitchFamily="34" charset="0"/>
              </a:rPr>
              <a:t>年</a:t>
            </a:r>
            <a:r>
              <a:rPr lang="zh-CN" altLang="en-US" dirty="0">
                <a:latin typeface="Arial" panose="020B0604020202020204" pitchFamily="34" charset="0"/>
              </a:rPr>
              <a:t>，图灵奖得主</a:t>
            </a:r>
            <a:r>
              <a:rPr lang="en-US" altLang="zh-CN" dirty="0">
                <a:latin typeface="Arial" panose="020B0604020202020204" pitchFamily="34" charset="0"/>
              </a:rPr>
              <a:t>MIT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pt-BR" altLang="zh-CN" dirty="0">
                <a:latin typeface="Arial" panose="020B0604020202020204" pitchFamily="34" charset="0"/>
              </a:rPr>
              <a:t>Fernando J. Corbató</a:t>
            </a:r>
            <a:endParaRPr lang="pt-BR" altLang="zh-CN" dirty="0">
              <a:latin typeface="Arial" panose="020B0604020202020204" pitchFamily="34" charset="0"/>
            </a:endParaRPr>
          </a:p>
          <a:p>
            <a:pPr lvl="1"/>
            <a:r>
              <a:rPr lang="en-US" altLang="zh-CN" i="1" dirty="0">
                <a:latin typeface="Arial" panose="020B0604020202020204" pitchFamily="34" charset="0"/>
                <a:hlinkClick r:id="rId3"/>
              </a:rPr>
              <a:t>An Experimental Time-Sharing System</a:t>
            </a:r>
            <a:endParaRPr lang="en-US" altLang="zh-CN" i="1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965200" y="692150"/>
            <a:ext cx="7620000" cy="6223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多级反馈队列调度例子</a:t>
            </a:r>
            <a:endParaRPr lang="en-US" altLang="zh-CN" dirty="0"/>
          </a:p>
        </p:txBody>
      </p:sp>
      <p:sp>
        <p:nvSpPr>
          <p:cNvPr id="19459" name="Rectangle 3"/>
          <p:cNvSpPr>
            <a:spLocks noGrp="1"/>
          </p:cNvSpPr>
          <p:nvPr>
            <p:ph type="body" idx="4294967295"/>
          </p:nvPr>
        </p:nvSpPr>
        <p:spPr>
          <a:xfrm>
            <a:off x="1060450" y="1457325"/>
            <a:ext cx="7029450" cy="4749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sz="2000" dirty="0"/>
              <a:t>三个队列</a:t>
            </a:r>
            <a:r>
              <a:rPr lang="en-US" altLang="zh-CN" sz="2000" dirty="0"/>
              <a:t>: </a:t>
            </a:r>
            <a:endParaRPr lang="en-US" altLang="zh-CN" sz="2000" dirty="0"/>
          </a:p>
          <a:p>
            <a:pPr lvl="1"/>
            <a:r>
              <a:rPr lang="en-US" altLang="zh-CN" sz="2000" i="1" dirty="0"/>
              <a:t>Q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 – </a:t>
            </a:r>
            <a:r>
              <a:rPr lang="zh-CN" altLang="en-US" sz="2000" dirty="0"/>
              <a:t>时间片为</a:t>
            </a:r>
            <a:r>
              <a:rPr lang="en-US" altLang="zh-CN" sz="2000" dirty="0"/>
              <a:t>8</a:t>
            </a:r>
            <a:r>
              <a:rPr lang="zh-CN" altLang="en-US" sz="2000" dirty="0"/>
              <a:t>毫秒</a:t>
            </a:r>
            <a:endParaRPr lang="en-US" altLang="zh-CN" sz="2000" dirty="0"/>
          </a:p>
          <a:p>
            <a:pPr lvl="1"/>
            <a:r>
              <a:rPr lang="en-US" altLang="zh-CN" sz="2000" i="1" dirty="0"/>
              <a:t>Q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–</a:t>
            </a:r>
            <a:r>
              <a:rPr lang="zh-CN" altLang="en-US" sz="2000" dirty="0"/>
              <a:t>时间片为</a:t>
            </a:r>
            <a:r>
              <a:rPr lang="en-US" altLang="zh-CN" sz="2000" dirty="0"/>
              <a:t>16</a:t>
            </a:r>
            <a:r>
              <a:rPr lang="zh-CN" altLang="en-US" sz="2000" dirty="0"/>
              <a:t>毫秒</a:t>
            </a:r>
            <a:endParaRPr lang="en-US" altLang="zh-CN" sz="2000" dirty="0"/>
          </a:p>
          <a:p>
            <a:pPr lvl="1"/>
            <a:r>
              <a:rPr lang="en-US" altLang="zh-CN" sz="2000" i="1" dirty="0"/>
              <a:t>Q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 – FCFS</a:t>
            </a:r>
            <a:endParaRPr lang="en-US" altLang="zh-CN" sz="2000" dirty="0"/>
          </a:p>
          <a:p>
            <a:r>
              <a:rPr lang="zh-CN" altLang="en-US" sz="2000" dirty="0"/>
              <a:t>调度策略</a:t>
            </a:r>
            <a:endParaRPr lang="zh-CN" altLang="en-US" sz="2000" dirty="0"/>
          </a:p>
          <a:p>
            <a:pPr lvl="1"/>
            <a:r>
              <a:rPr lang="zh-CN" altLang="en-US" sz="2000" dirty="0"/>
              <a:t>新进程进入</a:t>
            </a:r>
            <a:r>
              <a:rPr lang="en-US" altLang="zh-CN" sz="2000" i="1" dirty="0"/>
              <a:t>Q</a:t>
            </a:r>
            <a:r>
              <a:rPr lang="en-US" altLang="zh-CN" sz="2000" i="1" baseline="-25000" dirty="0"/>
              <a:t>0</a:t>
            </a:r>
            <a:r>
              <a:rPr lang="zh-CN" altLang="en-US" sz="2000" dirty="0"/>
              <a:t>队列，得到</a:t>
            </a:r>
            <a:r>
              <a:rPr lang="en-US" altLang="zh-CN" sz="2000" dirty="0"/>
              <a:t>CPU</a:t>
            </a:r>
            <a:r>
              <a:rPr lang="zh-CN" altLang="en-US" sz="2000" dirty="0"/>
              <a:t>时间片8毫秒，如果不能在该时间片内完成，将被移动到队列</a:t>
            </a:r>
            <a:r>
              <a:rPr lang="en-US" altLang="zh-CN" sz="2000" i="1" dirty="0"/>
              <a:t>Q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；</a:t>
            </a:r>
            <a:r>
              <a:rPr lang="en-US" altLang="zh-CN" sz="2000" i="1" dirty="0"/>
              <a:t>Q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内的进程采用</a:t>
            </a:r>
            <a:r>
              <a:rPr lang="en-US" altLang="zh-CN" sz="2000" dirty="0"/>
              <a:t>FCFS</a:t>
            </a:r>
            <a:r>
              <a:rPr lang="zh-CN" altLang="en-US" sz="2000" dirty="0"/>
              <a:t>算法；</a:t>
            </a:r>
            <a:endParaRPr lang="zh-CN" altLang="en-US" sz="2000" dirty="0"/>
          </a:p>
          <a:p>
            <a:pPr lvl="1"/>
            <a:r>
              <a:rPr lang="zh-CN" altLang="en-US" sz="2000" dirty="0"/>
              <a:t>进程在</a:t>
            </a:r>
            <a:r>
              <a:rPr lang="en-US" altLang="zh-CN" sz="2000" i="1" dirty="0"/>
              <a:t>Q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队列得到</a:t>
            </a:r>
            <a:r>
              <a:rPr lang="en-US" altLang="zh-CN" sz="2000" dirty="0"/>
              <a:t>CPU</a:t>
            </a:r>
            <a:r>
              <a:rPr lang="zh-CN" altLang="en-US" sz="2000" dirty="0"/>
              <a:t>时间片16毫秒，如果还不能完成，将被移至队列</a:t>
            </a:r>
            <a:r>
              <a:rPr lang="en-US" altLang="zh-CN" sz="2000" i="1" dirty="0"/>
              <a:t>Q</a:t>
            </a:r>
            <a:r>
              <a:rPr lang="en-US" altLang="zh-CN" sz="2000" baseline="-25000" dirty="0"/>
              <a:t>2</a:t>
            </a:r>
            <a:r>
              <a:rPr lang="zh-CN" altLang="en-US" sz="2000" dirty="0"/>
              <a:t> ；</a:t>
            </a:r>
            <a:r>
              <a:rPr lang="en-US" altLang="zh-CN" sz="2000" i="1" dirty="0"/>
              <a:t> Q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内的进程采用</a:t>
            </a:r>
            <a:r>
              <a:rPr lang="en-US" altLang="zh-CN" sz="2000" dirty="0"/>
              <a:t>FCFS</a:t>
            </a:r>
            <a:r>
              <a:rPr lang="zh-CN" altLang="en-US" sz="2000" dirty="0"/>
              <a:t>算法；</a:t>
            </a:r>
            <a:endParaRPr lang="en-US" altLang="zh-CN" sz="2000" dirty="0"/>
          </a:p>
          <a:p>
            <a:pPr lvl="1"/>
            <a:r>
              <a:rPr lang="zh-CN" altLang="en-US" sz="2000" dirty="0"/>
              <a:t>进入</a:t>
            </a:r>
            <a:r>
              <a:rPr lang="en-US" altLang="zh-CN" sz="2000" i="1" dirty="0"/>
              <a:t>Q</a:t>
            </a:r>
            <a:r>
              <a:rPr lang="en-US" altLang="zh-CN" sz="2000" baseline="-25000" dirty="0"/>
              <a:t>2</a:t>
            </a:r>
            <a:r>
              <a:rPr lang="zh-CN" altLang="en-US" sz="2000" dirty="0"/>
              <a:t>的进程将采用</a:t>
            </a:r>
            <a:r>
              <a:rPr lang="en-US" altLang="zh-CN" sz="2000" dirty="0"/>
              <a:t>FCFS</a:t>
            </a:r>
            <a:r>
              <a:rPr lang="zh-CN" altLang="en-US" sz="2000" dirty="0"/>
              <a:t>算法一次运行完</a:t>
            </a:r>
            <a:endParaRPr lang="zh-CN" altLang="en-US" sz="2000" dirty="0"/>
          </a:p>
        </p:txBody>
      </p:sp>
      <p:grpSp>
        <p:nvGrpSpPr>
          <p:cNvPr id="19460" name="Group 4"/>
          <p:cNvGrpSpPr>
            <a:grpSpLocks noChangeAspect="1"/>
          </p:cNvGrpSpPr>
          <p:nvPr/>
        </p:nvGrpSpPr>
        <p:grpSpPr>
          <a:xfrm>
            <a:off x="7751763" y="6148388"/>
            <a:ext cx="1093787" cy="428625"/>
            <a:chOff x="0" y="0"/>
            <a:chExt cx="689" cy="270"/>
          </a:xfrm>
        </p:grpSpPr>
        <p:pic>
          <p:nvPicPr>
            <p:cNvPr id="19461" name="Picture 6" descr="001">
              <a:hlinkClick r:id="" action="ppaction://noaction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9" y="0"/>
              <a:ext cx="360" cy="27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62" name="Picture 7" descr="24arrow03242">
              <a:hlinkClick r:id="" action="ppaction://noaction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11"/>
              <a:ext cx="378" cy="96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>
          <a:xfrm>
            <a:off x="1131888" y="620713"/>
            <a:ext cx="7188200" cy="700087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多级反馈队列调度例子</a:t>
            </a:r>
            <a:endParaRPr lang="en-US" altLang="zh-CN" dirty="0"/>
          </a:p>
        </p:txBody>
      </p:sp>
      <p:pic>
        <p:nvPicPr>
          <p:cNvPr id="20483" name="Picture 5"/>
          <p:cNvPicPr>
            <a:picLocks noChangeAspect="1"/>
          </p:cNvPicPr>
          <p:nvPr/>
        </p:nvPicPr>
        <p:blipFill>
          <a:blip r:embed="rId1"/>
          <a:srcRect l="514" t="12209" r="537" b="12032"/>
          <a:stretch>
            <a:fillRect/>
          </a:stretch>
        </p:blipFill>
        <p:spPr>
          <a:xfrm>
            <a:off x="1365250" y="1708150"/>
            <a:ext cx="6723063" cy="4117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 idx="4294967295"/>
          </p:nvPr>
        </p:nvSpPr>
        <p:spPr>
          <a:xfrm>
            <a:off x="1116013" y="908050"/>
            <a:ext cx="6992937" cy="379413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多处理器调度</a:t>
            </a:r>
            <a:endParaRPr lang="en-US" altLang="zh-CN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00113" y="1773238"/>
            <a:ext cx="7351713" cy="44831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适用多核处理器的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CPU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调度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CPU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可用时，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CPU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调度将更为复杂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对称多处理器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(SMP)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– 每个处理器决定自己的调度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方案，主流方案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非对称多处理器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(ASMP)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–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仅一个处理器能处理系统数据结构，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减轻对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数据的共享需求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调度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算法：和单处理器相似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负载平衡：将任务平均分配给各个处理器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多处理器调度</a:t>
            </a:r>
            <a:r>
              <a:rPr lang="en-US" altLang="zh-CN" dirty="0"/>
              <a:t>-</a:t>
            </a:r>
            <a:r>
              <a:rPr lang="zh-CN" altLang="en-US" dirty="0"/>
              <a:t>亲和性</a:t>
            </a:r>
            <a:endParaRPr lang="zh-CN" altLang="en-US" dirty="0"/>
          </a:p>
        </p:txBody>
      </p:sp>
      <p:sp>
        <p:nvSpPr>
          <p:cNvPr id="22531" name="内容占位符 2"/>
          <p:cNvSpPr>
            <a:spLocks noGrp="1"/>
          </p:cNvSpPr>
          <p:nvPr>
            <p:ph idx="4294967295"/>
          </p:nvPr>
        </p:nvSpPr>
        <p:spPr>
          <a:xfrm>
            <a:off x="827088" y="1484313"/>
            <a:ext cx="7351712" cy="44831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dirty="0"/>
              <a:t>亲和性：进程在某个给定的 </a:t>
            </a:r>
            <a:r>
              <a:rPr lang="en-US" altLang="zh-CN" dirty="0"/>
              <a:t>CPU </a:t>
            </a:r>
            <a:r>
              <a:rPr lang="zh-CN" altLang="en-US" dirty="0"/>
              <a:t>上尽量长时间地运行而不被迁移到其他处理器的倾向性</a:t>
            </a:r>
            <a:endParaRPr lang="en-US" altLang="zh-CN" dirty="0"/>
          </a:p>
        </p:txBody>
      </p:sp>
      <p:pic>
        <p:nvPicPr>
          <p:cNvPr id="2253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3068638"/>
            <a:ext cx="1336675" cy="3314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463" y="3048000"/>
            <a:ext cx="3311525" cy="3248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多处理器调度</a:t>
            </a:r>
            <a:r>
              <a:rPr lang="en-US" altLang="zh-CN" dirty="0"/>
              <a:t>-</a:t>
            </a:r>
            <a:r>
              <a:rPr lang="zh-CN" altLang="en-US" dirty="0"/>
              <a:t>亲和性</a:t>
            </a:r>
            <a:endParaRPr lang="zh-CN" altLang="en-US" dirty="0"/>
          </a:p>
        </p:txBody>
      </p:sp>
      <p:sp>
        <p:nvSpPr>
          <p:cNvPr id="23555" name="内容占位符 3"/>
          <p:cNvSpPr>
            <a:spLocks noGrp="1"/>
          </p:cNvSpPr>
          <p:nvPr>
            <p:ph idx="1"/>
          </p:nvPr>
        </p:nvSpPr>
        <p:spPr>
          <a:xfrm>
            <a:off x="457200" y="1600200"/>
            <a:ext cx="8435975" cy="4525963"/>
          </a:xfrm>
          <a:noFill/>
          <a:ln>
            <a:noFill/>
          </a:ln>
        </p:spPr>
        <p:txBody>
          <a:bodyPr/>
          <a:p>
            <a:r>
              <a:rPr lang="zh-CN" altLang="en-US" dirty="0"/>
              <a:t>软亲和性：进程通常不会在处理器之间频繁迁移</a:t>
            </a:r>
            <a:endParaRPr lang="en-US" altLang="zh-CN" dirty="0"/>
          </a:p>
          <a:p>
            <a:r>
              <a:rPr lang="zh-CN" altLang="en-US" dirty="0"/>
              <a:t>硬亲和性：进程不会在处理器之间迁移 </a:t>
            </a:r>
            <a:endParaRPr lang="en-US" altLang="zh-CN" dirty="0"/>
          </a:p>
          <a:p>
            <a:r>
              <a:rPr lang="zh-CN" altLang="en-US" dirty="0"/>
              <a:t>例子： </a:t>
            </a:r>
            <a:r>
              <a:rPr lang="en-US" altLang="zh-CN" dirty="0"/>
              <a:t>Linux</a:t>
            </a:r>
            <a:r>
              <a:rPr lang="zh-CN" altLang="en-US" dirty="0"/>
              <a:t>的</a:t>
            </a:r>
            <a:r>
              <a:rPr lang="en-US" altLang="zh-CN" dirty="0"/>
              <a:t>task_struct</a:t>
            </a:r>
            <a:endParaRPr lang="en-US" altLang="zh-CN" dirty="0"/>
          </a:p>
          <a:p>
            <a:pPr lvl="1"/>
            <a:r>
              <a:rPr lang="zh-CN" altLang="en-US" dirty="0"/>
              <a:t>与亲和性（</a:t>
            </a:r>
            <a:r>
              <a:rPr lang="en-US" altLang="zh-CN" dirty="0"/>
              <a:t>affinity</a:t>
            </a:r>
            <a:r>
              <a:rPr lang="zh-CN" altLang="en-US" dirty="0"/>
              <a:t>）相关的是 </a:t>
            </a:r>
            <a:r>
              <a:rPr lang="en-US" altLang="zh-CN" dirty="0"/>
              <a:t>cpus_allowed </a:t>
            </a:r>
            <a:r>
              <a:rPr lang="zh-CN" altLang="en-US" dirty="0"/>
              <a:t>位掩码</a:t>
            </a:r>
            <a:endParaRPr lang="en-US" altLang="zh-CN" dirty="0"/>
          </a:p>
          <a:p>
            <a:pPr lvl="1"/>
            <a:r>
              <a:rPr lang="zh-CN" altLang="en-US" dirty="0"/>
              <a:t>该位掩码由 </a:t>
            </a:r>
            <a:r>
              <a:rPr lang="en-US" altLang="zh-CN" i="1" dirty="0"/>
              <a:t>n</a:t>
            </a:r>
            <a:r>
              <a:rPr lang="zh-CN" altLang="en-US" dirty="0"/>
              <a:t> 位组成，与系统中 </a:t>
            </a:r>
            <a:r>
              <a:rPr lang="en-US" altLang="zh-CN" i="1" dirty="0"/>
              <a:t>n</a:t>
            </a:r>
            <a:r>
              <a:rPr lang="zh-CN" altLang="en-US" dirty="0"/>
              <a:t> 个逻辑处理器一一对应，</a:t>
            </a:r>
            <a:r>
              <a:rPr lang="en-US" altLang="zh-CN" dirty="0"/>
              <a:t>1</a:t>
            </a:r>
            <a:r>
              <a:rPr lang="zh-CN" altLang="en-US" dirty="0"/>
              <a:t>表示进程可在对应处理器上运行</a:t>
            </a:r>
            <a:endParaRPr lang="en-US" altLang="zh-CN" dirty="0"/>
          </a:p>
          <a:p>
            <a:pPr lvl="1">
              <a:buFont typeface="Monotype Sorts" pitchFamily="2" charset="2"/>
              <a:buNone/>
            </a:pPr>
            <a:endParaRPr lang="en-US" altLang="zh-CN" sz="2000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2355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单队列调度方法（</a:t>
            </a:r>
            <a:r>
              <a:rPr lang="en-US" altLang="zh-CN" dirty="0"/>
              <a:t>SQMP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sz="2800" dirty="0"/>
              <a:t>单队列多核调度方法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chemeClr val="tx1"/>
                </a:solidFill>
              </a:rPr>
              <a:t>S</a:t>
            </a:r>
            <a:r>
              <a:rPr lang="en-US" altLang="zh-CN" sz="1800" dirty="0"/>
              <a:t>ingle-</a:t>
            </a:r>
            <a:r>
              <a:rPr lang="en-US" altLang="zh-CN" sz="1800" dirty="0">
                <a:solidFill>
                  <a:schemeClr val="tx1"/>
                </a:solidFill>
              </a:rPr>
              <a:t>Q</a:t>
            </a:r>
            <a:r>
              <a:rPr lang="en-US" altLang="zh-CN" sz="1800" dirty="0"/>
              <a:t>ueue </a:t>
            </a:r>
            <a:r>
              <a:rPr lang="en-US" altLang="zh-CN" sz="1800" dirty="0">
                <a:solidFill>
                  <a:schemeClr val="tx1"/>
                </a:solidFill>
              </a:rPr>
              <a:t>M</a:t>
            </a:r>
            <a:r>
              <a:rPr lang="en-US" altLang="zh-CN" sz="1800" dirty="0"/>
              <a:t>ulti</a:t>
            </a:r>
            <a:r>
              <a:rPr lang="en-US" altLang="zh-CN" sz="1800" dirty="0">
                <a:solidFill>
                  <a:schemeClr val="tx1"/>
                </a:solidFill>
              </a:rPr>
              <a:t>P</a:t>
            </a:r>
            <a:r>
              <a:rPr lang="en-US" altLang="zh-CN" sz="1800" dirty="0"/>
              <a:t>rocessor Scheduling)</a:t>
            </a:r>
            <a:endParaRPr lang="en-US" altLang="zh-CN" sz="1800" dirty="0"/>
          </a:p>
          <a:p>
            <a:r>
              <a:rPr lang="zh-CN" altLang="en-US" sz="2800" dirty="0"/>
              <a:t>系统有一个就绪队列。当任意一个</a:t>
            </a:r>
            <a:r>
              <a:rPr lang="en-US" altLang="zh-CN" sz="2800" dirty="0"/>
              <a:t>CPU</a:t>
            </a:r>
            <a:r>
              <a:rPr lang="zh-CN" altLang="en-US" sz="2800" dirty="0"/>
              <a:t>空闲时，就从就绪队列中选择一个进程到该</a:t>
            </a:r>
            <a:r>
              <a:rPr lang="en-US" altLang="zh-CN" sz="2800" dirty="0"/>
              <a:t>CPU</a:t>
            </a:r>
            <a:r>
              <a:rPr lang="zh-CN" altLang="en-US" sz="2800" dirty="0"/>
              <a:t>上运行</a:t>
            </a:r>
            <a:endParaRPr lang="en-US" altLang="zh-CN" sz="2800" dirty="0"/>
          </a:p>
          <a:p>
            <a:r>
              <a:rPr lang="zh-CN" altLang="en-US" sz="2800" dirty="0"/>
              <a:t>优点：</a:t>
            </a:r>
            <a:endParaRPr lang="en-US" altLang="zh-CN" sz="2800" dirty="0"/>
          </a:p>
          <a:p>
            <a:pPr lvl="1"/>
            <a:r>
              <a:rPr lang="zh-CN" altLang="en-US" sz="2400" dirty="0"/>
              <a:t>容易从单核调度算法推广到多核</a:t>
            </a:r>
            <a:r>
              <a:rPr lang="en-US" altLang="zh-CN" sz="2400" dirty="0"/>
              <a:t>/</a:t>
            </a:r>
            <a:r>
              <a:rPr lang="zh-CN" altLang="en-US" sz="2400" dirty="0"/>
              <a:t>多处理器、</a:t>
            </a:r>
            <a:endParaRPr lang="en-US" altLang="zh-CN" sz="2400" dirty="0"/>
          </a:p>
          <a:p>
            <a:pPr lvl="1"/>
            <a:r>
              <a:rPr lang="zh-CN" altLang="en-US" sz="2400" dirty="0"/>
              <a:t>实现简单，负载均衡</a:t>
            </a:r>
            <a:endParaRPr lang="en-US" altLang="zh-CN" sz="2400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pPr lvl="1"/>
            <a:r>
              <a:rPr lang="zh-CN" altLang="en-US" sz="2400" dirty="0"/>
              <a:t>不具有亲和性</a:t>
            </a:r>
            <a:endParaRPr lang="en-US" altLang="zh-CN" sz="2400" dirty="0"/>
          </a:p>
          <a:p>
            <a:pPr lvl="1"/>
            <a:r>
              <a:rPr lang="zh-CN" altLang="en-US" sz="2400" dirty="0"/>
              <a:t>加锁问题</a:t>
            </a:r>
            <a:endParaRPr lang="en-US" altLang="zh-CN" dirty="0"/>
          </a:p>
          <a:p>
            <a:endParaRPr lang="en-US" altLang="zh-CN" sz="2800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0"/>
          </p:nvPr>
        </p:nvSpPr>
        <p:spPr bwMode="auto"/>
        <p:txBody>
          <a:bodyPr vert="horz" wrap="square" lIns="91422" tIns="45711" rIns="91422" bIns="45711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zh-CN" altLang="en-US" sz="2400" dirty="0">
                <a:solidFill>
                  <a:srgbClr val="000000"/>
                </a:solidFill>
              </a:rPr>
            </a:fld>
            <a:endParaRPr lang="zh-CN" altLang="en-US" sz="2400" dirty="0">
              <a:solidFill>
                <a:srgbClr val="000000"/>
              </a:solidFill>
            </a:endParaRPr>
          </a:p>
        </p:txBody>
      </p:sp>
      <p:pic>
        <p:nvPicPr>
          <p:cNvPr id="2458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4663" y="4149725"/>
            <a:ext cx="4130675" cy="1962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多队列调度方法（</a:t>
            </a:r>
            <a:r>
              <a:rPr lang="en-US" altLang="zh-CN" dirty="0"/>
              <a:t>MQMP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多队列调度方法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ulti-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ueue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ulti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rocessor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Scheduling)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系统有多个就绪队列，一般每个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CPU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一个。每个就绪队列有自己的调度算法，并且每个就绪队列的调度相对独立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优点：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亲和性好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不需要加锁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缺点：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负载不均衡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策略：“偷”进程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2633663" y="6194425"/>
            <a:ext cx="2290762" cy="476250"/>
          </a:xfrm>
        </p:spPr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2560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4425" y="3284538"/>
            <a:ext cx="3846513" cy="31480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5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125" y="3252788"/>
            <a:ext cx="3709988" cy="3098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425" y="3214688"/>
            <a:ext cx="3738563" cy="3209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考试的基本题型示例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1628775"/>
            <a:ext cx="8229600" cy="4525963"/>
          </a:xfrm>
        </p:spPr>
        <p:txBody>
          <a:bodyPr/>
          <a:lstStyle/>
          <a:p>
            <a:pPr marL="5715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假设有四个进程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P1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P2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P3 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P4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，它们的到达时间和执行时间如下：</a:t>
            </a: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P1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：到达时间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0 ms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，执行时间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6 ms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P2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：到达时间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2 ms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，执行时间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8 ms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P3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：到达时间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4 ms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，执行时间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4 ms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P4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：到达时间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6 ms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，执行时间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5 ms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请问：在利用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FCFS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算法和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SJF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算法下，分别计算：</a:t>
            </a: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）每个进程在不同算法下的完成时间和周转时间（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分，每个算法各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分）。</a:t>
            </a: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）计算各算法下的平均完成时间和平均周转时间（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分，每个算法各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分）。</a:t>
            </a: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2633663" y="6194425"/>
            <a:ext cx="2290762" cy="476250"/>
          </a:xfrm>
        </p:spPr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考试的基本题型示例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1628775"/>
            <a:ext cx="8229600" cy="4525963"/>
          </a:xfrm>
        </p:spPr>
        <p:txBody>
          <a:bodyPr/>
          <a:lstStyle/>
          <a:p>
            <a:pPr marL="5715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FCFS 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调度算法：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2633663" y="6194425"/>
            <a:ext cx="2290762" cy="476250"/>
          </a:xfrm>
        </p:spPr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1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2348865"/>
            <a:ext cx="3959860" cy="17551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713605" y="1916430"/>
            <a:ext cx="1782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SJF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调度算法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：</a:t>
            </a:r>
            <a:endParaRPr lang="zh-CN" altLang="en-US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610" y="2345690"/>
            <a:ext cx="399669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683260" y="4364990"/>
            <a:ext cx="753935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solidFill>
                  <a:srgbClr val="000000"/>
                </a:solidFill>
              </a:rPr>
              <a:t>FCFS </a:t>
            </a:r>
            <a:r>
              <a:rPr lang="zh-CN" altLang="en-US" sz="1400">
                <a:solidFill>
                  <a:srgbClr val="000000"/>
                </a:solidFill>
              </a:rPr>
              <a:t>平均周转时间：</a:t>
            </a:r>
            <a:endParaRPr lang="zh-CN" altLang="en-US" sz="1400">
              <a:solidFill>
                <a:srgbClr val="000000"/>
              </a:solidFill>
            </a:endParaRPr>
          </a:p>
          <a:p>
            <a:r>
              <a:rPr lang="zh-CN" altLang="en-US" sz="1400">
                <a:solidFill>
                  <a:srgbClr val="000000"/>
                </a:solidFill>
              </a:rPr>
              <a:t>平均完成时间：</a:t>
            </a:r>
            <a:r>
              <a:rPr lang="en-US" altLang="zh-CN" sz="1400">
                <a:solidFill>
                  <a:srgbClr val="000000"/>
                </a:solidFill>
              </a:rPr>
              <a:t>(6 ms + 14 ms + 18 ms + 23 ms) / 4 = 15.25 ms</a:t>
            </a:r>
            <a:endParaRPr lang="en-US" altLang="zh-CN" sz="1400">
              <a:solidFill>
                <a:srgbClr val="000000"/>
              </a:solidFill>
            </a:endParaRPr>
          </a:p>
          <a:p>
            <a:r>
              <a:rPr lang="zh-CN" altLang="en-US" sz="1400">
                <a:solidFill>
                  <a:srgbClr val="000000"/>
                </a:solidFill>
              </a:rPr>
              <a:t>平均周转时间：</a:t>
            </a:r>
            <a:r>
              <a:rPr lang="en-US" altLang="zh-CN" sz="1400">
                <a:solidFill>
                  <a:srgbClr val="000000"/>
                </a:solidFill>
              </a:rPr>
              <a:t>(6 ms + 12 ms + 14 ms + 17 ms) / 4 = 12.25 ms</a:t>
            </a:r>
            <a:endParaRPr lang="zh-CN" altLang="en-US" sz="1400">
              <a:solidFill>
                <a:srgbClr val="000000"/>
              </a:solidFill>
            </a:endParaRPr>
          </a:p>
          <a:p>
            <a:r>
              <a:rPr lang="en-US" altLang="zh-CN" sz="1400">
                <a:solidFill>
                  <a:srgbClr val="000000"/>
                </a:solidFill>
              </a:rPr>
              <a:t>SJF </a:t>
            </a:r>
            <a:r>
              <a:rPr lang="zh-CN" altLang="en-US" sz="1400">
                <a:solidFill>
                  <a:srgbClr val="000000"/>
                </a:solidFill>
              </a:rPr>
              <a:t>平均周转时间：</a:t>
            </a:r>
            <a:endParaRPr lang="zh-CN" altLang="en-US" sz="1400">
              <a:solidFill>
                <a:srgbClr val="000000"/>
              </a:solidFill>
            </a:endParaRPr>
          </a:p>
          <a:p>
            <a:r>
              <a:rPr lang="zh-CN" altLang="en-US" sz="1400">
                <a:solidFill>
                  <a:srgbClr val="000000"/>
                </a:solidFill>
              </a:rPr>
              <a:t>平均完成时间：</a:t>
            </a:r>
            <a:r>
              <a:rPr lang="en-US" altLang="zh-CN" sz="1400">
                <a:solidFill>
                  <a:srgbClr val="000000"/>
                </a:solidFill>
              </a:rPr>
              <a:t>(6 ms + 10 ms + 15 ms + 23 ms) / 4 = 13.5 ms</a:t>
            </a:r>
            <a:endParaRPr lang="en-US" altLang="zh-CN" sz="1400">
              <a:solidFill>
                <a:srgbClr val="000000"/>
              </a:solidFill>
            </a:endParaRPr>
          </a:p>
          <a:p>
            <a:r>
              <a:rPr lang="zh-CN" altLang="en-US" sz="1400">
                <a:solidFill>
                  <a:srgbClr val="000000"/>
                </a:solidFill>
              </a:rPr>
              <a:t>平均周转时间：</a:t>
            </a:r>
            <a:r>
              <a:rPr lang="en-US" altLang="zh-CN" sz="1400">
                <a:solidFill>
                  <a:srgbClr val="000000"/>
                </a:solidFill>
              </a:rPr>
              <a:t>(6 ms + 6 ms + 9 ms + 21 ms) / 4 = 10.5 ms</a:t>
            </a:r>
            <a:endParaRPr lang="zh-CN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MmY5YTJiMTFlYzU2N2QxYWZmODJmYjM5ZDA3ZDExYjQifQ=="/>
</p:tagLst>
</file>

<file path=ppt/theme/theme1.xml><?xml version="1.0" encoding="utf-8"?>
<a:theme xmlns:a="http://schemas.openxmlformats.org/drawingml/2006/main" name="suda">
  <a:themeElements>
    <a:clrScheme name="suda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suda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uda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uda">
  <a:themeElements>
    <a:clrScheme name="suda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suda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uda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S-Lizhijun">
  <a:themeElements>
    <a:clrScheme name="1_OS-Lizhiju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OS-Lizhijun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S-Lizhiju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suda</Template>
  <TotalTime>0</TotalTime>
  <Words>7162</Words>
  <Application>WPS 演示</Application>
  <PresentationFormat>全屏显示(4:3)</PresentationFormat>
  <Paragraphs>897</Paragraphs>
  <Slides>59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59</vt:i4>
      </vt:variant>
    </vt:vector>
  </HeadingPairs>
  <TitlesOfParts>
    <vt:vector size="92" baseType="lpstr">
      <vt:lpstr>Arial</vt:lpstr>
      <vt:lpstr>宋体</vt:lpstr>
      <vt:lpstr>Wingdings</vt:lpstr>
      <vt:lpstr>华文新魏</vt:lpstr>
      <vt:lpstr>Times New Roman</vt:lpstr>
      <vt:lpstr>Arial</vt:lpstr>
      <vt:lpstr>华文琥珀</vt:lpstr>
      <vt:lpstr>Times New Roman</vt:lpstr>
      <vt:lpstr>MS Mincho</vt:lpstr>
      <vt:lpstr>Yu Gothic</vt:lpstr>
      <vt:lpstr>Webdings</vt:lpstr>
      <vt:lpstr>华文隶书</vt:lpstr>
      <vt:lpstr>Arial Black</vt:lpstr>
      <vt:lpstr>黑体</vt:lpstr>
      <vt:lpstr>Tahoma</vt:lpstr>
      <vt:lpstr>Century Gothic</vt:lpstr>
      <vt:lpstr>Courier New</vt:lpstr>
      <vt:lpstr>Arial Black</vt:lpstr>
      <vt:lpstr>Symbol</vt:lpstr>
      <vt:lpstr>微软雅黑</vt:lpstr>
      <vt:lpstr>Arial Unicode MS</vt:lpstr>
      <vt:lpstr>Helvetica</vt:lpstr>
      <vt:lpstr>Monotype Sorts</vt:lpstr>
      <vt:lpstr>Wingdings</vt:lpstr>
      <vt:lpstr>Cambria Math</vt:lpstr>
      <vt:lpstr>suda</vt:lpstr>
      <vt:lpstr>1_suda</vt:lpstr>
      <vt:lpstr>Office Theme</vt:lpstr>
      <vt:lpstr>1_OS-Lizhijun</vt:lpstr>
      <vt:lpstr>MS_ClipArt_Gallery.2</vt:lpstr>
      <vt:lpstr>MS_ClipArt_Gallery.2</vt:lpstr>
      <vt:lpstr>MS_ClipArt_Gallery.2</vt:lpstr>
      <vt:lpstr>Equation.3</vt:lpstr>
      <vt:lpstr>PowerPoint 演示文稿</vt:lpstr>
      <vt:lpstr>并发回顾</vt:lpstr>
      <vt:lpstr>如何让出CPU?</vt:lpstr>
      <vt:lpstr>让出CPU的具体实现</vt:lpstr>
      <vt:lpstr>PowerPoint 演示文稿</vt:lpstr>
      <vt:lpstr>如何设计？（目标）</vt:lpstr>
      <vt:lpstr>存在矛盾的目标集合</vt:lpstr>
      <vt:lpstr>任务特点</vt:lpstr>
      <vt:lpstr>不同的系统的目标</vt:lpstr>
      <vt:lpstr>CPU调度应综合考虑  调度算法的实现</vt:lpstr>
      <vt:lpstr>  CPU调度（一）  CPU调度概述</vt:lpstr>
      <vt:lpstr>内容</vt:lpstr>
      <vt:lpstr>长程调度</vt:lpstr>
      <vt:lpstr>短程调度</vt:lpstr>
      <vt:lpstr>两者比较</vt:lpstr>
      <vt:lpstr>中程调度-交换</vt:lpstr>
      <vt:lpstr>进程调度队列</vt:lpstr>
      <vt:lpstr>就绪队列和各种 I/O 设备队列</vt:lpstr>
      <vt:lpstr>CPU调度过程</vt:lpstr>
      <vt:lpstr>调度方式</vt:lpstr>
      <vt:lpstr>调度方式</vt:lpstr>
      <vt:lpstr>CPU调度时机</vt:lpstr>
      <vt:lpstr>调度准则-基本指标</vt:lpstr>
      <vt:lpstr>调度准则-优化方法</vt:lpstr>
      <vt:lpstr>  CPU调度（二）  调度算法（1）</vt:lpstr>
      <vt:lpstr>内容</vt:lpstr>
      <vt:lpstr>先来先服务(FCFS)调度算法(1)</vt:lpstr>
      <vt:lpstr>先来先服务(FCFS)调度算法(2)</vt:lpstr>
      <vt:lpstr>先来先服务(FCFS)调度算法(3)</vt:lpstr>
      <vt:lpstr>短作业优先(SJF)调度算法</vt:lpstr>
      <vt:lpstr>非抢占式SJF例子</vt:lpstr>
      <vt:lpstr>抢占式SJF例子</vt:lpstr>
      <vt:lpstr>下一个CPU区间长度的预测</vt:lpstr>
      <vt:lpstr>  CPU调度（三）  调度算法（2）</vt:lpstr>
      <vt:lpstr>内容</vt:lpstr>
      <vt:lpstr>优先级调度（Priority Scheduling）</vt:lpstr>
      <vt:lpstr>PR例子（非抢占式）</vt:lpstr>
      <vt:lpstr>优先级讨论</vt:lpstr>
      <vt:lpstr>动态优先级举例</vt:lpstr>
      <vt:lpstr>优先级调度算法的优缺点</vt:lpstr>
      <vt:lpstr>时间片轮转 (RR- Round Robin)</vt:lpstr>
      <vt:lpstr>时间片为20的RR例子</vt:lpstr>
      <vt:lpstr>时间片大小</vt:lpstr>
      <vt:lpstr>  CPU调度（四）  调度算法（3）</vt:lpstr>
      <vt:lpstr>内容</vt:lpstr>
      <vt:lpstr>多级队列调度（MLQ）</vt:lpstr>
      <vt:lpstr>多级队列调度（MLQ）</vt:lpstr>
      <vt:lpstr>多级队列例子</vt:lpstr>
      <vt:lpstr>多级反馈队列调度（MLFQ）</vt:lpstr>
      <vt:lpstr>多级反馈队列调度（MLFQ）</vt:lpstr>
      <vt:lpstr>多级反馈队列调度例子</vt:lpstr>
      <vt:lpstr>多级反馈队列调度例子</vt:lpstr>
      <vt:lpstr>多处理器调度</vt:lpstr>
      <vt:lpstr>多处理器调度-亲和性</vt:lpstr>
      <vt:lpstr>多处理器调度-亲和性</vt:lpstr>
      <vt:lpstr>单队列调度方法（SQMP）</vt:lpstr>
      <vt:lpstr>多队列调度方法（MQMP）</vt:lpstr>
      <vt:lpstr>考试的基本题型示例</vt:lpstr>
      <vt:lpstr>考试的基本题型示例</vt:lpstr>
    </vt:vector>
  </TitlesOfParts>
  <Company>zhhz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汉字代码体系</dc:title>
  <dc:creator>yoyo</dc:creator>
  <cp:lastModifiedBy>Administrator</cp:lastModifiedBy>
  <cp:revision>318</cp:revision>
  <dcterms:created xsi:type="dcterms:W3CDTF">2002-09-11T01:24:00Z</dcterms:created>
  <dcterms:modified xsi:type="dcterms:W3CDTF">2025-09-29T08:55:19Z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DC32FB8218564DA1882162D2EDAD2DA6_13</vt:lpwstr>
  </property>
  <property fmtid="{D5CDD505-2E9C-101B-9397-08002B2CF9AE}" pid="3" name="KSOProductBuildVer">
    <vt:lpwstr>2052-12.1.0.22529</vt:lpwstr>
  </property>
</Properties>
</file>