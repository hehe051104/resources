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9.xml" ContentType="application/vnd.openxmlformats-officedocument.presentationml.tags+xml"/>
  <Override PartName="/ppt/notesSlides/notesSlide3.xml" ContentType="application/vnd.openxmlformats-officedocument.presentationml.notesSlide+xml"/>
  <Override PartName="/ppt/tags/tag10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109"/>
  </p:notesMasterIdLst>
  <p:sldIdLst>
    <p:sldId id="582" r:id="rId6"/>
    <p:sldId id="485" r:id="rId7"/>
    <p:sldId id="483" r:id="rId8"/>
    <p:sldId id="498" r:id="rId9"/>
    <p:sldId id="499" r:id="rId10"/>
    <p:sldId id="500" r:id="rId11"/>
    <p:sldId id="501" r:id="rId12"/>
    <p:sldId id="502" r:id="rId13"/>
    <p:sldId id="627" r:id="rId14"/>
    <p:sldId id="503" r:id="rId15"/>
    <p:sldId id="504" r:id="rId16"/>
    <p:sldId id="505" r:id="rId17"/>
    <p:sldId id="583" r:id="rId18"/>
    <p:sldId id="584" r:id="rId19"/>
    <p:sldId id="506" r:id="rId20"/>
    <p:sldId id="507" r:id="rId21"/>
    <p:sldId id="585" r:id="rId22"/>
    <p:sldId id="509" r:id="rId23"/>
    <p:sldId id="586" r:id="rId24"/>
    <p:sldId id="510" r:id="rId25"/>
    <p:sldId id="511" r:id="rId26"/>
    <p:sldId id="512" r:id="rId27"/>
    <p:sldId id="587" r:id="rId28"/>
    <p:sldId id="628" r:id="rId29"/>
    <p:sldId id="513" r:id="rId30"/>
    <p:sldId id="588" r:id="rId31"/>
    <p:sldId id="589" r:id="rId32"/>
    <p:sldId id="514" r:id="rId33"/>
    <p:sldId id="590" r:id="rId34"/>
    <p:sldId id="515" r:id="rId35"/>
    <p:sldId id="591" r:id="rId36"/>
    <p:sldId id="592" r:id="rId37"/>
    <p:sldId id="516" r:id="rId38"/>
    <p:sldId id="593" r:id="rId39"/>
    <p:sldId id="594" r:id="rId40"/>
    <p:sldId id="517" r:id="rId41"/>
    <p:sldId id="595" r:id="rId42"/>
    <p:sldId id="518" r:id="rId43"/>
    <p:sldId id="519" r:id="rId44"/>
    <p:sldId id="596" r:id="rId45"/>
    <p:sldId id="521" r:id="rId46"/>
    <p:sldId id="520" r:id="rId47"/>
    <p:sldId id="488" r:id="rId48"/>
    <p:sldId id="522" r:id="rId49"/>
    <p:sldId id="523" r:id="rId50"/>
    <p:sldId id="525" r:id="rId51"/>
    <p:sldId id="524" r:id="rId52"/>
    <p:sldId id="526" r:id="rId53"/>
    <p:sldId id="527" r:id="rId54"/>
    <p:sldId id="528" r:id="rId55"/>
    <p:sldId id="613" r:id="rId56"/>
    <p:sldId id="529" r:id="rId57"/>
    <p:sldId id="530" r:id="rId58"/>
    <p:sldId id="531" r:id="rId59"/>
    <p:sldId id="532" r:id="rId60"/>
    <p:sldId id="533" r:id="rId61"/>
    <p:sldId id="614" r:id="rId62"/>
    <p:sldId id="534" r:id="rId63"/>
    <p:sldId id="615" r:id="rId64"/>
    <p:sldId id="535" r:id="rId65"/>
    <p:sldId id="536" r:id="rId66"/>
    <p:sldId id="537" r:id="rId67"/>
    <p:sldId id="538" r:id="rId68"/>
    <p:sldId id="539" r:id="rId69"/>
    <p:sldId id="490" r:id="rId70"/>
    <p:sldId id="540" r:id="rId71"/>
    <p:sldId id="542" r:id="rId72"/>
    <p:sldId id="544" r:id="rId73"/>
    <p:sldId id="545" r:id="rId74"/>
    <p:sldId id="546" r:id="rId75"/>
    <p:sldId id="547" r:id="rId76"/>
    <p:sldId id="548" r:id="rId77"/>
    <p:sldId id="549" r:id="rId78"/>
    <p:sldId id="577" r:id="rId79"/>
    <p:sldId id="573" r:id="rId80"/>
    <p:sldId id="578" r:id="rId81"/>
    <p:sldId id="597" r:id="rId82"/>
    <p:sldId id="598" r:id="rId83"/>
    <p:sldId id="600" r:id="rId84"/>
    <p:sldId id="611" r:id="rId85"/>
    <p:sldId id="601" r:id="rId86"/>
    <p:sldId id="602" r:id="rId87"/>
    <p:sldId id="599" r:id="rId88"/>
    <p:sldId id="603" r:id="rId89"/>
    <p:sldId id="604" r:id="rId90"/>
    <p:sldId id="605" r:id="rId91"/>
    <p:sldId id="612" r:id="rId92"/>
    <p:sldId id="606" r:id="rId93"/>
    <p:sldId id="607" r:id="rId94"/>
    <p:sldId id="608" r:id="rId95"/>
    <p:sldId id="609" r:id="rId96"/>
    <p:sldId id="616" r:id="rId97"/>
    <p:sldId id="617" r:id="rId98"/>
    <p:sldId id="618" r:id="rId99"/>
    <p:sldId id="619" r:id="rId100"/>
    <p:sldId id="620" r:id="rId101"/>
    <p:sldId id="621" r:id="rId102"/>
    <p:sldId id="622" r:id="rId103"/>
    <p:sldId id="623" r:id="rId104"/>
    <p:sldId id="624" r:id="rId105"/>
    <p:sldId id="625" r:id="rId106"/>
    <p:sldId id="626" r:id="rId107"/>
    <p:sldId id="497" r:id="rId108"/>
  </p:sldIdLst>
  <p:sldSz cx="12192000" cy="6858000"/>
  <p:notesSz cx="6858000" cy="9144000"/>
  <p:custDataLst>
    <p:tags r:id="rId11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85775" autoAdjust="0"/>
  </p:normalViewPr>
  <p:slideViewPr>
    <p:cSldViewPr showGuides="1">
      <p:cViewPr varScale="1">
        <p:scale>
          <a:sx n="70" d="100"/>
          <a:sy n="70" d="100"/>
        </p:scale>
        <p:origin x="1053" y="4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presProps" Target="presProps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viewProps" Target="view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14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tags" Target="tags/tag1.xml"/><Relationship Id="rId115" Type="http://schemas.openxmlformats.org/officeDocument/2006/relationships/tableStyles" Target="tableStyle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0324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778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65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0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7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9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1.png"/><Relationship Id="rId5" Type="http://schemas.openxmlformats.org/officeDocument/2006/relationships/tags" Target="../tags/tag27.xml"/><Relationship Id="rId10" Type="http://schemas.openxmlformats.org/officeDocument/2006/relationships/image" Target="../media/image10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2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5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8.png"/><Relationship Id="rId5" Type="http://schemas.openxmlformats.org/officeDocument/2006/relationships/tags" Target="../tags/tag93.xml"/><Relationship Id="rId10" Type="http://schemas.openxmlformats.org/officeDocument/2006/relationships/image" Target="../media/image17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9119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73480" y="6448251"/>
            <a:ext cx="2743200" cy="365125"/>
          </a:xfrm>
        </p:spPr>
        <p:txBody>
          <a:bodyPr/>
          <a:lstStyle>
            <a:lvl1pPr>
              <a:defRPr sz="2800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19346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5839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860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2739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3436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973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10928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9629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7202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48882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71904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16379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147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3261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291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4868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336360" y="6327947"/>
            <a:ext cx="2743200" cy="365125"/>
          </a:xfrm>
        </p:spPr>
        <p:txBody>
          <a:bodyPr/>
          <a:lstStyle>
            <a:lvl1pPr>
              <a:defRPr sz="2800" b="1"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800" b="1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3693658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8336395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712" y="-41102"/>
            <a:ext cx="8499648" cy="844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52" y="1337310"/>
            <a:ext cx="11665296" cy="53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72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p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7.xml"/><Relationship Id="rId5" Type="http://schemas.openxmlformats.org/officeDocument/2006/relationships/slide" Target="slide65.xml"/><Relationship Id="rId4" Type="http://schemas.openxmlformats.org/officeDocument/2006/relationships/slide" Target="slide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nblogs.com/wushuaishuai/p/7687074.html" TargetMode="External"/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0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5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mailto:&#8221;%20%20%20p1%20=%20r%22@.+?\" TargetMode="External"/><Relationship Id="rId2" Type="http://schemas.openxmlformats.org/officeDocument/2006/relationships/hyperlink" Target="mailto:&#35201;&#25226;gejuan@suda.edu.cn&#20013;&#30340;suda" TargetMode="External"/><Relationship Id="rId1" Type="http://schemas.openxmlformats.org/officeDocument/2006/relationships/slideLayout" Target="../slideLayouts/slideLayout5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8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字符串与正则表达式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8.1 </a:t>
            </a:r>
            <a:r>
              <a:rPr sz="3200" dirty="0">
                <a:hlinkClick r:id="rId3" action="ppaction://hlinksldjump"/>
              </a:rPr>
              <a:t>字符串</a:t>
            </a:r>
            <a:endParaRPr lang="zh-CN" altLang="en-US" sz="3200" dirty="0"/>
          </a:p>
          <a:p>
            <a:r>
              <a:rPr lang="en-US" altLang="zh-CN" sz="3200" dirty="0"/>
              <a:t>8.2 </a:t>
            </a:r>
            <a:r>
              <a:rPr sz="3200" dirty="0">
                <a:hlinkClick r:id="rId4" action="ppaction://hlinksldjump"/>
              </a:rPr>
              <a:t>正则表达式</a:t>
            </a:r>
            <a:endParaRPr lang="zh-CN" altLang="en-US" sz="3200" dirty="0"/>
          </a:p>
          <a:p>
            <a:r>
              <a:rPr lang="en-US" altLang="zh-CN" sz="3200" dirty="0"/>
              <a:t>8.3 </a:t>
            </a:r>
            <a:r>
              <a:rPr sz="3200" dirty="0">
                <a:hlinkClick r:id="rId5" action="ppaction://hlinksldjump"/>
              </a:rPr>
              <a:t>应用举例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2A632E-E166-4492-BDB5-3400D1C8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8.1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字符串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6BA2F0-ED82-4943-B888-99B21109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字符串（</a:t>
            </a:r>
            <a:r>
              <a:rPr lang="en-US" altLang="zh-CN" dirty="0"/>
              <a:t>str</a:t>
            </a:r>
            <a:r>
              <a:rPr lang="zh-CN" altLang="en-US" dirty="0"/>
              <a:t>）属于不可变的有序序列</a:t>
            </a: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定界符：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’</a:t>
            </a:r>
            <a:r>
              <a:rPr lang="zh-CN" altLang="en-US" dirty="0"/>
              <a:t>、</a:t>
            </a:r>
            <a:r>
              <a:rPr lang="en-US" altLang="zh-CN" dirty="0"/>
              <a:t>”</a:t>
            </a:r>
            <a:r>
              <a:rPr lang="zh-CN" altLang="en-US" dirty="0"/>
              <a:t> 、</a:t>
            </a:r>
            <a:r>
              <a:rPr lang="en-US" altLang="zh-CN" dirty="0"/>
              <a:t>’’’,”””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不同定界符可以相互嵌套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Python</a:t>
            </a:r>
            <a:r>
              <a:rPr lang="zh-CN" altLang="en-US" dirty="0"/>
              <a:t>中没有独立的字符数据类型，字符即长度为</a:t>
            </a:r>
            <a:r>
              <a:rPr lang="en-US" altLang="zh-CN" dirty="0"/>
              <a:t>1</a:t>
            </a:r>
            <a:r>
              <a:rPr lang="zh-CN" altLang="en-US" dirty="0"/>
              <a:t>的字符串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AC72BE-490B-4421-9681-737A604C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8.1.1 </a:t>
            </a:r>
            <a:r>
              <a:rPr lang="zh-CN" altLang="en-US" dirty="0"/>
              <a:t>字符串的创建、索引及删除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6218163" cy="1620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>
                <a:latin typeface="+mn-ea"/>
                <a:ea typeface="+mn-ea"/>
              </a:rPr>
              <a:t>1</a:t>
            </a:r>
            <a:r>
              <a:rPr lang="zh-CN" altLang="en-US" sz="2600" dirty="0">
                <a:latin typeface="+mn-ea"/>
                <a:ea typeface="+mn-ea"/>
              </a:rPr>
              <a:t>．字符串的创建</a:t>
            </a:r>
            <a:endParaRPr lang="en-US" altLang="zh-CN" sz="26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zh-CN" altLang="zh-CN" sz="2600" dirty="0"/>
              <a:t>格式</a:t>
            </a:r>
            <a:r>
              <a:rPr lang="en-US" altLang="zh-CN" sz="2600" dirty="0"/>
              <a:t>1</a:t>
            </a:r>
            <a:r>
              <a:rPr lang="zh-CN" altLang="zh-CN" sz="2600" dirty="0"/>
              <a:t>：</a:t>
            </a:r>
            <a:r>
              <a:rPr lang="zh-CN" altLang="en-US" sz="2600" dirty="0"/>
              <a:t>字符串</a:t>
            </a:r>
            <a:r>
              <a:rPr lang="zh-CN" altLang="zh-CN" sz="2600" dirty="0"/>
              <a:t>名</a:t>
            </a:r>
            <a:r>
              <a:rPr lang="en-US" altLang="zh-CN" sz="2600" dirty="0"/>
              <a:t>=</a:t>
            </a:r>
            <a:r>
              <a:rPr lang="en-US" altLang="zh-CN" sz="2600" dirty="0" err="1"/>
              <a:t>str</a:t>
            </a:r>
            <a:r>
              <a:rPr lang="en-US" altLang="zh-CN" sz="2600" dirty="0"/>
              <a:t>()</a:t>
            </a:r>
            <a:endParaRPr lang="zh-CN" altLang="zh-CN" sz="2600" dirty="0"/>
          </a:p>
          <a:p>
            <a:pPr>
              <a:lnSpc>
                <a:spcPct val="120000"/>
              </a:lnSpc>
            </a:pPr>
            <a:r>
              <a:rPr lang="zh-CN" altLang="zh-CN" sz="2600" dirty="0"/>
              <a:t>格式</a:t>
            </a:r>
            <a:r>
              <a:rPr lang="en-US" altLang="zh-CN" sz="2600" dirty="0"/>
              <a:t>2</a:t>
            </a:r>
            <a:r>
              <a:rPr lang="zh-CN" altLang="zh-CN" sz="2600" dirty="0"/>
              <a:t>：</a:t>
            </a:r>
            <a:r>
              <a:rPr lang="zh-CN" altLang="en-US" sz="2600" dirty="0"/>
              <a:t>字符串</a:t>
            </a:r>
            <a:r>
              <a:rPr lang="zh-CN" altLang="zh-CN" sz="2600" dirty="0"/>
              <a:t>名</a:t>
            </a:r>
            <a:r>
              <a:rPr lang="en-US" altLang="zh-CN" sz="2600" dirty="0"/>
              <a:t>=“</a:t>
            </a:r>
            <a:r>
              <a:rPr lang="zh-CN" altLang="en-US" sz="2600" dirty="0"/>
              <a:t>字符串值</a:t>
            </a:r>
            <a:r>
              <a:rPr lang="en-US" altLang="zh-CN" sz="2600" dirty="0"/>
              <a:t>”</a:t>
            </a:r>
            <a:endParaRPr lang="zh-CN" altLang="en-US" sz="2600" dirty="0"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55046" y="1052736"/>
            <a:ext cx="6480720" cy="246221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&gt;&gt;&gt; s1 = '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200" b="1" dirty="0">
                <a:solidFill>
                  <a:schemeClr val="tx1"/>
                </a:solidFill>
              </a:rPr>
              <a:t>'     		# </a:t>
            </a:r>
            <a:r>
              <a:rPr lang="zh-CN" altLang="zh-CN" sz="2200" b="1" dirty="0">
                <a:solidFill>
                  <a:schemeClr val="tx1"/>
                </a:solidFill>
              </a:rPr>
              <a:t>单引号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 = "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200" b="1" dirty="0">
                <a:solidFill>
                  <a:schemeClr val="tx1"/>
                </a:solidFill>
              </a:rPr>
              <a:t>"        	# </a:t>
            </a:r>
            <a:r>
              <a:rPr lang="zh-CN" altLang="zh-CN" sz="2200" b="1" dirty="0">
                <a:solidFill>
                  <a:schemeClr val="tx1"/>
                </a:solidFill>
              </a:rPr>
              <a:t>双引号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s3 = '''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200" b="1" dirty="0">
                <a:solidFill>
                  <a:schemeClr val="tx1"/>
                </a:solidFill>
              </a:rPr>
              <a:t>'''       	# </a:t>
            </a:r>
            <a:r>
              <a:rPr lang="zh-CN" altLang="zh-CN" sz="2200" b="1" dirty="0">
                <a:solidFill>
                  <a:schemeClr val="tx1"/>
                </a:solidFill>
              </a:rPr>
              <a:t>三单引号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s4 = """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200" b="1" dirty="0">
                <a:solidFill>
                  <a:schemeClr val="tx1"/>
                </a:solidFill>
              </a:rPr>
              <a:t>"""   	# </a:t>
            </a:r>
            <a:r>
              <a:rPr lang="zh-CN" altLang="zh-CN" sz="2200" b="1" dirty="0">
                <a:solidFill>
                  <a:schemeClr val="tx1"/>
                </a:solidFill>
              </a:rPr>
              <a:t>三双引号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s5 = 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en-US" altLang="zh-CN" sz="2200" b="1" dirty="0">
                <a:solidFill>
                  <a:schemeClr val="tx1"/>
                </a:solidFill>
              </a:rPr>
              <a:t>()                 	# 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en-US" altLang="zh-CN" sz="2200" b="1" dirty="0">
                <a:solidFill>
                  <a:schemeClr val="tx1"/>
                </a:solidFill>
              </a:rPr>
              <a:t>()</a:t>
            </a:r>
            <a:r>
              <a:rPr lang="zh-CN" altLang="zh-CN" sz="2200" b="1" dirty="0">
                <a:solidFill>
                  <a:schemeClr val="tx1"/>
                </a:solidFill>
              </a:rPr>
              <a:t>创建空字符串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s6 = 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en-US" altLang="zh-CN" sz="2200" b="1" dirty="0">
                <a:solidFill>
                  <a:schemeClr val="tx1"/>
                </a:solidFill>
              </a:rPr>
              <a:t>(12345)      #</a:t>
            </a:r>
            <a:r>
              <a:rPr lang="zh-CN" altLang="zh-CN" sz="2200" b="1" dirty="0">
                <a:solidFill>
                  <a:schemeClr val="tx1"/>
                </a:solidFill>
              </a:rPr>
              <a:t>通过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zh-CN" altLang="zh-CN" sz="2200" b="1" dirty="0">
                <a:solidFill>
                  <a:schemeClr val="tx1"/>
                </a:solidFill>
              </a:rPr>
              <a:t>函数，可以把任意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                                      #</a:t>
            </a:r>
            <a:r>
              <a:rPr lang="zh-CN" altLang="zh-CN" sz="2200" b="1" dirty="0">
                <a:solidFill>
                  <a:schemeClr val="tx1"/>
                </a:solidFill>
              </a:rPr>
              <a:t>对象转换为</a:t>
            </a:r>
            <a:r>
              <a:rPr lang="en-US" altLang="zh-CN" sz="2200" b="1" dirty="0" err="1">
                <a:solidFill>
                  <a:schemeClr val="tx1"/>
                </a:solidFill>
              </a:rPr>
              <a:t>str</a:t>
            </a:r>
            <a:r>
              <a:rPr lang="zh-CN" altLang="zh-CN" sz="2200" b="1" dirty="0">
                <a:solidFill>
                  <a:schemeClr val="tx1"/>
                </a:solidFill>
              </a:rPr>
              <a:t>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48" y="4725144"/>
            <a:ext cx="6480720" cy="110799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&gt;&gt;&gt; s= '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200" b="1" dirty="0">
                <a:solidFill>
                  <a:schemeClr val="tx1"/>
                </a:solidFill>
              </a:rPr>
              <a:t>'  'China’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‘</a:t>
            </a:r>
            <a:r>
              <a:rPr lang="en-US" altLang="zh-CN" sz="2200" b="1" dirty="0" err="1">
                <a:solidFill>
                  <a:schemeClr val="tx1"/>
                </a:solidFill>
              </a:rPr>
              <a:t>SuZhouChina</a:t>
            </a:r>
            <a:r>
              <a:rPr lang="en-US" altLang="zh-CN" sz="2200" b="1" dirty="0">
                <a:solidFill>
                  <a:schemeClr val="tx1"/>
                </a:solidFill>
              </a:rPr>
              <a:t>’      #</a:t>
            </a:r>
            <a:r>
              <a:rPr lang="zh-CN" altLang="en-US" sz="2200" b="1" dirty="0">
                <a:solidFill>
                  <a:schemeClr val="tx1"/>
                </a:solidFill>
              </a:rPr>
              <a:t>注意：中间无空格</a:t>
            </a:r>
            <a:endParaRPr lang="zh-CN" altLang="zh-CN" sz="22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9551" y="3933056"/>
            <a:ext cx="1191063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注意，如果有两个紧邻的字符串，中间以空格分隔，则自动拼接成一个字符串。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B64287-9714-476B-831F-075F19AC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70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．字符串索引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9170491" cy="1188735"/>
          </a:xfrm>
        </p:spPr>
        <p:txBody>
          <a:bodyPr>
            <a:normAutofit/>
          </a:bodyPr>
          <a:lstStyle/>
          <a:p>
            <a:r>
              <a:rPr lang="zh-CN" altLang="en-US" dirty="0"/>
              <a:t>字符串是有序序列，支持使用下标访</a:t>
            </a:r>
            <a:endParaRPr lang="en-US" altLang="zh-CN" dirty="0"/>
          </a:p>
          <a:p>
            <a:r>
              <a:rPr lang="zh-CN" altLang="en-US" dirty="0"/>
              <a:t>格式：字符串</a:t>
            </a:r>
            <a:r>
              <a:rPr lang="zh-CN" altLang="zh-CN" dirty="0"/>
              <a:t>名</a:t>
            </a:r>
            <a:r>
              <a:rPr lang="en-US" altLang="zh-CN" dirty="0"/>
              <a:t>[</a:t>
            </a:r>
            <a:r>
              <a:rPr lang="zh-CN" altLang="en-US" dirty="0"/>
              <a:t>下标</a:t>
            </a:r>
            <a:r>
              <a:rPr lang="en-US" altLang="zh-CN" dirty="0"/>
              <a:t>]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6491" y="2492896"/>
            <a:ext cx="6480720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s1[0]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'S'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s1[-1]    #</a:t>
            </a:r>
            <a:r>
              <a:rPr lang="zh-CN" altLang="en-US" sz="2400" b="1" dirty="0">
                <a:solidFill>
                  <a:schemeClr val="tx1"/>
                </a:solidFill>
              </a:rPr>
              <a:t>字符串也支持反向索引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'u'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7448" y="4653136"/>
            <a:ext cx="990046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注意，字符串属于不可变序列，所以不可以修改、添加、删除元素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38A99-6E3C-44EB-B044-AC018A6B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87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．字符串的删除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4633987" cy="684679"/>
          </a:xfrm>
        </p:spPr>
        <p:txBody>
          <a:bodyPr>
            <a:normAutofit/>
          </a:bodyPr>
          <a:lstStyle/>
          <a:p>
            <a:r>
              <a:rPr lang="zh-CN" altLang="en-US" dirty="0"/>
              <a:t>格式：</a:t>
            </a:r>
            <a:r>
              <a:rPr lang="en-US" altLang="zh-CN" dirty="0"/>
              <a:t>del </a:t>
            </a:r>
            <a:r>
              <a:rPr lang="zh-CN" altLang="en-US" dirty="0"/>
              <a:t>字符串名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6490" y="2132856"/>
            <a:ext cx="7865854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del s1       	# </a:t>
            </a:r>
            <a:r>
              <a:rPr lang="zh-CN" altLang="en-US" sz="2400" b="1" dirty="0">
                <a:solidFill>
                  <a:schemeClr val="tx1"/>
                </a:solidFill>
              </a:rPr>
              <a:t>删除</a:t>
            </a:r>
            <a:r>
              <a:rPr lang="en-US" altLang="zh-CN" sz="2400" b="1" dirty="0">
                <a:solidFill>
                  <a:schemeClr val="tx1"/>
                </a:solidFill>
              </a:rPr>
              <a:t>s1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                	# s1</a:t>
            </a:r>
            <a:r>
              <a:rPr lang="zh-CN" altLang="en-US" sz="2400" b="1" dirty="0">
                <a:solidFill>
                  <a:schemeClr val="tx1"/>
                </a:solidFill>
              </a:rPr>
              <a:t>已被删除，访问时会抛出异常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"&lt;pyshell#454&gt;", line 1, in &lt;module&gt;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s1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NameError</a:t>
            </a:r>
            <a:r>
              <a:rPr lang="en-US" altLang="zh-CN" sz="2400" b="1" dirty="0">
                <a:solidFill>
                  <a:schemeClr val="tx1"/>
                </a:solidFill>
              </a:rPr>
              <a:t>: name 's1' is not defined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9504CC-9055-4ED6-8452-0E0D56EE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4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？</a:t>
            </a:r>
            <a:r>
              <a:rPr lang="en-US" altLang="zh-CN" dirty="0"/>
              <a:t>8.1.2 </a:t>
            </a:r>
            <a:r>
              <a:rPr lang="zh-CN" altLang="en-US" dirty="0"/>
              <a:t>字符串编码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970691" cy="190881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en-US" altLang="zh-CN" dirty="0">
                <a:latin typeface="+mn-ea"/>
                <a:ea typeface="+mn-ea"/>
              </a:rPr>
              <a:t>Python3.x</a:t>
            </a:r>
            <a:r>
              <a:rPr lang="zh-CN" altLang="en-US" dirty="0">
                <a:latin typeface="+mn-ea"/>
                <a:ea typeface="+mn-ea"/>
              </a:rPr>
              <a:t>默认采用</a:t>
            </a:r>
            <a:r>
              <a:rPr lang="en-US" altLang="zh-CN" dirty="0">
                <a:latin typeface="+mn-ea"/>
                <a:ea typeface="+mn-ea"/>
              </a:rPr>
              <a:t>UTF-8</a:t>
            </a:r>
            <a:r>
              <a:rPr lang="zh-CN" altLang="en-US" dirty="0">
                <a:latin typeface="+mn-ea"/>
                <a:ea typeface="+mn-ea"/>
              </a:rPr>
              <a:t>编码格式，无论是一个数字、英文字符，还是中文汉字都按一个字符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dirty="0">
                <a:latin typeface="+mn-ea"/>
                <a:ea typeface="+mn-ea"/>
              </a:rPr>
              <a:t>   来处理。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>
                <a:latin typeface="+mn-ea"/>
                <a:ea typeface="+mn-ea"/>
              </a:rPr>
              <a:t>2. bytes</a:t>
            </a:r>
            <a:r>
              <a:rPr lang="zh-CN" altLang="zh-CN" dirty="0">
                <a:latin typeface="+mn-ea"/>
                <a:ea typeface="+mn-ea"/>
              </a:rPr>
              <a:t>是一种特殊的字符类型，称为字节串，其每个元素是一个</a:t>
            </a:r>
            <a:r>
              <a:rPr lang="en-US" altLang="zh-CN" dirty="0">
                <a:latin typeface="+mn-ea"/>
                <a:ea typeface="+mn-ea"/>
              </a:rPr>
              <a:t>8</a:t>
            </a:r>
            <a:r>
              <a:rPr lang="zh-CN" altLang="zh-CN" dirty="0">
                <a:latin typeface="+mn-ea"/>
                <a:ea typeface="+mn-ea"/>
              </a:rPr>
              <a:t>位二进制数据。创建字节串时</a:t>
            </a:r>
            <a:r>
              <a:rPr lang="en-US" altLang="zh-CN" dirty="0">
                <a:latin typeface="+mn-ea"/>
                <a:ea typeface="+mn-ea"/>
              </a:rPr>
              <a:t>,   </a:t>
            </a:r>
            <a:r>
              <a:rPr lang="zh-CN" altLang="zh-CN" dirty="0">
                <a:latin typeface="+mn-ea"/>
                <a:ea typeface="+mn-ea"/>
              </a:rPr>
              <a:t>只要在字符串前面加上字母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zh-CN" altLang="zh-CN" dirty="0">
                <a:latin typeface="+mn-ea"/>
                <a:ea typeface="+mn-ea"/>
              </a:rPr>
              <a:t>即可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>
                <a:latin typeface="+mn-ea"/>
                <a:ea typeface="+mn-ea"/>
              </a:rPr>
              <a:t>3. </a:t>
            </a:r>
            <a:r>
              <a:rPr lang="zh-CN" altLang="zh-CN" dirty="0">
                <a:latin typeface="+mn-ea"/>
                <a:ea typeface="+mn-ea"/>
              </a:rPr>
              <a:t>使用字符串的</a:t>
            </a:r>
            <a:r>
              <a:rPr lang="en-US" altLang="zh-CN" dirty="0">
                <a:latin typeface="+mn-ea"/>
                <a:ea typeface="+mn-ea"/>
              </a:rPr>
              <a:t>encode()</a:t>
            </a:r>
            <a:r>
              <a:rPr lang="zh-CN" altLang="zh-CN" dirty="0">
                <a:latin typeface="+mn-ea"/>
                <a:ea typeface="+mn-ea"/>
              </a:rPr>
              <a:t>方法</a:t>
            </a:r>
            <a:r>
              <a:rPr lang="zh-CN" altLang="en-US" dirty="0">
                <a:latin typeface="+mn-ea"/>
                <a:ea typeface="+mn-ea"/>
              </a:rPr>
              <a:t>可以</a:t>
            </a:r>
            <a:r>
              <a:rPr lang="zh-CN" altLang="zh-CN" dirty="0">
                <a:latin typeface="+mn-ea"/>
                <a:ea typeface="+mn-ea"/>
              </a:rPr>
              <a:t>指定</a:t>
            </a:r>
            <a:r>
              <a:rPr lang="zh-CN" altLang="en-US" dirty="0">
                <a:latin typeface="+mn-ea"/>
                <a:ea typeface="+mn-ea"/>
              </a:rPr>
              <a:t>编码方式</a:t>
            </a:r>
            <a:r>
              <a:rPr lang="zh-CN" altLang="zh-CN" dirty="0">
                <a:latin typeface="+mn-ea"/>
                <a:ea typeface="+mn-ea"/>
              </a:rPr>
              <a:t>，</a:t>
            </a:r>
            <a:r>
              <a:rPr lang="zh-CN" altLang="en-US" dirty="0">
                <a:latin typeface="+mn-ea"/>
                <a:ea typeface="+mn-ea"/>
              </a:rPr>
              <a:t>字符串经过</a:t>
            </a:r>
            <a:r>
              <a:rPr lang="en-US" altLang="zh-CN" dirty="0">
                <a:latin typeface="+mn-ea"/>
                <a:ea typeface="+mn-ea"/>
              </a:rPr>
              <a:t>encode()</a:t>
            </a:r>
            <a:r>
              <a:rPr lang="zh-CN" altLang="zh-CN" dirty="0">
                <a:latin typeface="+mn-ea"/>
                <a:ea typeface="+mn-ea"/>
              </a:rPr>
              <a:t>编码后将成为</a:t>
            </a:r>
            <a:r>
              <a:rPr lang="en-US" altLang="zh-CN" dirty="0">
                <a:latin typeface="+mn-ea"/>
                <a:ea typeface="+mn-ea"/>
              </a:rPr>
              <a:t>bytes</a:t>
            </a:r>
            <a:r>
              <a:rPr lang="zh-CN" altLang="zh-CN" dirty="0">
                <a:latin typeface="+mn-ea"/>
                <a:ea typeface="+mn-ea"/>
              </a:rPr>
              <a:t>对象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dirty="0">
                <a:latin typeface="+mn-ea"/>
                <a:ea typeface="+mn-ea"/>
              </a:rPr>
              <a:t>4. bytes</a:t>
            </a:r>
            <a:r>
              <a:rPr lang="zh-CN" altLang="zh-CN" dirty="0">
                <a:latin typeface="+mn-ea"/>
                <a:ea typeface="+mn-ea"/>
              </a:rPr>
              <a:t>对象可以通过</a:t>
            </a:r>
            <a:r>
              <a:rPr lang="en-US" altLang="zh-CN" dirty="0">
                <a:latin typeface="+mn-ea"/>
                <a:ea typeface="+mn-ea"/>
              </a:rPr>
              <a:t>decode()</a:t>
            </a:r>
            <a:r>
              <a:rPr lang="zh-CN" altLang="zh-CN" dirty="0">
                <a:latin typeface="+mn-ea"/>
                <a:ea typeface="+mn-ea"/>
              </a:rPr>
              <a:t>方法使用对应的编码格式解码为</a:t>
            </a:r>
            <a:r>
              <a:rPr lang="en-US" altLang="zh-CN" dirty="0" err="1">
                <a:latin typeface="+mn-ea"/>
                <a:ea typeface="+mn-ea"/>
              </a:rPr>
              <a:t>str</a:t>
            </a:r>
            <a:r>
              <a:rPr lang="zh-CN" altLang="zh-CN" dirty="0">
                <a:latin typeface="+mn-ea"/>
                <a:ea typeface="+mn-ea"/>
              </a:rPr>
              <a:t>字符串。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7527E3-99E0-4D7B-BEDF-5C44A8B9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53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？</a:t>
            </a:r>
            <a:r>
              <a:rPr lang="en-US" altLang="zh-CN" dirty="0"/>
              <a:t>8.1.2 </a:t>
            </a:r>
            <a:r>
              <a:rPr lang="zh-CN" altLang="en-US" dirty="0"/>
              <a:t>字符串编码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384" y="1484784"/>
            <a:ext cx="9649072" cy="440120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s1 = "</a:t>
            </a:r>
            <a:r>
              <a:rPr lang="en-US" altLang="zh-CN" sz="28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800" b="1" dirty="0">
                <a:solidFill>
                  <a:schemeClr val="tx1"/>
                </a:solidFill>
              </a:rPr>
              <a:t>"          	# </a:t>
            </a:r>
            <a:r>
              <a:rPr lang="zh-CN" altLang="zh-CN" sz="2800" b="1" dirty="0">
                <a:solidFill>
                  <a:schemeClr val="tx1"/>
                </a:solidFill>
              </a:rPr>
              <a:t>创建字符串对象</a:t>
            </a:r>
            <a:r>
              <a:rPr lang="en-US" altLang="zh-CN" sz="2800" b="1" dirty="0">
                <a:solidFill>
                  <a:schemeClr val="tx1"/>
                </a:solidFill>
              </a:rPr>
              <a:t>s1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b1 = </a:t>
            </a:r>
            <a:r>
              <a:rPr lang="en-US" altLang="zh-CN" sz="2800" b="1" dirty="0" err="1">
                <a:solidFill>
                  <a:schemeClr val="tx1"/>
                </a:solidFill>
              </a:rPr>
              <a:t>b"SuZhou</a:t>
            </a:r>
            <a:r>
              <a:rPr lang="en-US" altLang="zh-CN" sz="2800" b="1" dirty="0">
                <a:solidFill>
                  <a:schemeClr val="tx1"/>
                </a:solidFill>
              </a:rPr>
              <a:t>"       	# </a:t>
            </a:r>
            <a:r>
              <a:rPr lang="zh-CN" altLang="zh-CN" sz="2800" b="1" dirty="0">
                <a:solidFill>
                  <a:schemeClr val="tx1"/>
                </a:solidFill>
              </a:rPr>
              <a:t>创建字节串对象</a:t>
            </a:r>
            <a:r>
              <a:rPr lang="en-US" altLang="zh-CN" sz="2800" b="1" dirty="0">
                <a:solidFill>
                  <a:schemeClr val="tx1"/>
                </a:solidFill>
              </a:rPr>
              <a:t>b1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type(s1)            		# </a:t>
            </a:r>
            <a:r>
              <a:rPr lang="en-US" altLang="zh-CN" sz="2800" b="1" dirty="0" err="1">
                <a:solidFill>
                  <a:schemeClr val="tx1"/>
                </a:solidFill>
              </a:rPr>
              <a:t>str</a:t>
            </a:r>
            <a:r>
              <a:rPr lang="zh-CN" altLang="zh-CN" sz="2800" b="1" dirty="0">
                <a:solidFill>
                  <a:schemeClr val="tx1"/>
                </a:solidFill>
              </a:rPr>
              <a:t>类型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&lt;class '</a:t>
            </a:r>
            <a:r>
              <a:rPr lang="en-US" altLang="zh-CN" sz="2800" b="1" dirty="0" err="1">
                <a:solidFill>
                  <a:schemeClr val="tx1"/>
                </a:solidFill>
              </a:rPr>
              <a:t>str</a:t>
            </a:r>
            <a:r>
              <a:rPr lang="en-US" altLang="zh-CN" sz="2800" b="1" dirty="0">
                <a:solidFill>
                  <a:schemeClr val="tx1"/>
                </a:solidFill>
              </a:rPr>
              <a:t>'&gt; 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type(b1)            		# bytes</a:t>
            </a:r>
            <a:r>
              <a:rPr lang="zh-CN" altLang="zh-CN" sz="2800" b="1" dirty="0">
                <a:solidFill>
                  <a:schemeClr val="tx1"/>
                </a:solidFill>
              </a:rPr>
              <a:t>类型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&lt;class 'bytes'&gt;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type(s1.encode())		# </a:t>
            </a:r>
            <a:r>
              <a:rPr lang="zh-CN" altLang="zh-CN" sz="2800" b="1" dirty="0">
                <a:solidFill>
                  <a:schemeClr val="tx1"/>
                </a:solidFill>
              </a:rPr>
              <a:t>默认使用</a:t>
            </a:r>
            <a:r>
              <a:rPr lang="en-US" altLang="zh-CN" sz="2800" b="1" dirty="0">
                <a:solidFill>
                  <a:schemeClr val="tx1"/>
                </a:solidFill>
              </a:rPr>
              <a:t>UTF-8</a:t>
            </a:r>
            <a:r>
              <a:rPr lang="zh-CN" altLang="zh-CN" sz="2800" b="1" dirty="0">
                <a:solidFill>
                  <a:schemeClr val="tx1"/>
                </a:solidFill>
              </a:rPr>
              <a:t>编码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&lt;class 'bytes'&gt;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800" b="1" dirty="0">
                <a:solidFill>
                  <a:schemeClr val="tx1"/>
                </a:solidFill>
              </a:rPr>
              <a:t>&gt;&gt;&gt; type(s1.encode('</a:t>
            </a:r>
            <a:r>
              <a:rPr lang="en-US" altLang="zh-CN" sz="2800" b="1" dirty="0" err="1">
                <a:solidFill>
                  <a:schemeClr val="tx1"/>
                </a:solidFill>
              </a:rPr>
              <a:t>gbk</a:t>
            </a:r>
            <a:r>
              <a:rPr lang="en-US" altLang="zh-CN" sz="2800" b="1" dirty="0">
                <a:solidFill>
                  <a:schemeClr val="tx1"/>
                </a:solidFill>
              </a:rPr>
              <a:t>'))   	# </a:t>
            </a:r>
            <a:r>
              <a:rPr lang="zh-CN" altLang="zh-CN" sz="2800" b="1" dirty="0">
                <a:solidFill>
                  <a:schemeClr val="tx1"/>
                </a:solidFill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</a:rPr>
              <a:t>GBK</a:t>
            </a:r>
            <a:r>
              <a:rPr lang="zh-CN" altLang="zh-CN" sz="2800" b="1" dirty="0">
                <a:solidFill>
                  <a:schemeClr val="tx1"/>
                </a:solidFill>
              </a:rPr>
              <a:t>进行编码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&lt;class 'bytes'&gt;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7527E3-99E0-4D7B-BEDF-5C44A8B9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72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1344" y="476672"/>
            <a:ext cx="11809312" cy="609397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1"/>
                </a:solidFill>
              </a:rPr>
              <a:t>&gt;&gt;&gt; "</a:t>
            </a:r>
            <a:r>
              <a:rPr lang="zh-CN" altLang="zh-CN" sz="2600" b="1" dirty="0">
                <a:solidFill>
                  <a:schemeClr val="tx1"/>
                </a:solidFill>
              </a:rPr>
              <a:t>苏州</a:t>
            </a:r>
            <a:r>
              <a:rPr lang="en-US" altLang="zh-CN" sz="2600" b="1" dirty="0">
                <a:solidFill>
                  <a:schemeClr val="tx1"/>
                </a:solidFill>
              </a:rPr>
              <a:t>".encode()              # </a:t>
            </a:r>
            <a:r>
              <a:rPr lang="zh-CN" altLang="zh-CN" sz="2600" b="1" dirty="0">
                <a:solidFill>
                  <a:schemeClr val="tx1"/>
                </a:solidFill>
              </a:rPr>
              <a:t>默认使用</a:t>
            </a:r>
            <a:r>
              <a:rPr lang="en-US" altLang="zh-CN" sz="2600" b="1" dirty="0">
                <a:solidFill>
                  <a:schemeClr val="tx1"/>
                </a:solidFill>
              </a:rPr>
              <a:t>UTF-8</a:t>
            </a:r>
            <a:r>
              <a:rPr lang="zh-CN" altLang="zh-CN" sz="2600" b="1" dirty="0">
                <a:solidFill>
                  <a:schemeClr val="tx1"/>
                </a:solidFill>
              </a:rPr>
              <a:t>对汉字编码，每个汉字占</a:t>
            </a:r>
            <a:r>
              <a:rPr lang="en-US" altLang="zh-CN" sz="2600" b="1" dirty="0">
                <a:solidFill>
                  <a:schemeClr val="tx1"/>
                </a:solidFill>
              </a:rPr>
              <a:t>3</a:t>
            </a:r>
            <a:r>
              <a:rPr lang="zh-CN" altLang="zh-CN" sz="2600" b="1" dirty="0">
                <a:solidFill>
                  <a:schemeClr val="tx1"/>
                </a:solidFill>
              </a:rPr>
              <a:t>个字节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b'\xe8\x8b\x8f\xe5\xb7\x9e'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&gt;&gt;&gt; b'\xe8\x8b\x8f\xe5\xb7\x9e'.decode()     # </a:t>
            </a:r>
            <a:r>
              <a:rPr lang="zh-CN" altLang="zh-CN" sz="2600" b="1" dirty="0">
                <a:solidFill>
                  <a:schemeClr val="tx1"/>
                </a:solidFill>
              </a:rPr>
              <a:t>使用默认的</a:t>
            </a:r>
            <a:r>
              <a:rPr lang="en-US" altLang="zh-CN" sz="2600" b="1" dirty="0">
                <a:solidFill>
                  <a:schemeClr val="tx1"/>
                </a:solidFill>
              </a:rPr>
              <a:t>UTF-8</a:t>
            </a:r>
            <a:r>
              <a:rPr lang="zh-CN" altLang="zh-CN" sz="2600" b="1" dirty="0">
                <a:solidFill>
                  <a:schemeClr val="tx1"/>
                </a:solidFill>
              </a:rPr>
              <a:t>解码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'</a:t>
            </a:r>
            <a:r>
              <a:rPr lang="zh-CN" altLang="zh-CN" sz="2600" b="1" dirty="0">
                <a:solidFill>
                  <a:schemeClr val="tx1"/>
                </a:solidFill>
              </a:rPr>
              <a:t>苏州</a:t>
            </a:r>
            <a:r>
              <a:rPr lang="en-US" altLang="zh-CN" sz="2600" b="1" dirty="0">
                <a:solidFill>
                  <a:schemeClr val="tx1"/>
                </a:solidFill>
              </a:rPr>
              <a:t>'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&gt;&gt;&gt; "</a:t>
            </a:r>
            <a:r>
              <a:rPr lang="zh-CN" altLang="zh-CN" sz="2600" b="1" dirty="0">
                <a:solidFill>
                  <a:schemeClr val="tx1"/>
                </a:solidFill>
              </a:rPr>
              <a:t>苏州</a:t>
            </a:r>
            <a:r>
              <a:rPr lang="en-US" altLang="zh-CN" sz="2600" b="1" dirty="0">
                <a:solidFill>
                  <a:schemeClr val="tx1"/>
                </a:solidFill>
              </a:rPr>
              <a:t>".encode('</a:t>
            </a:r>
            <a:r>
              <a:rPr lang="en-US" altLang="zh-CN" sz="2600" b="1" dirty="0" err="1">
                <a:solidFill>
                  <a:schemeClr val="tx1"/>
                </a:solidFill>
              </a:rPr>
              <a:t>gbk</a:t>
            </a:r>
            <a:r>
              <a:rPr lang="en-US" altLang="zh-CN" sz="2600" b="1" dirty="0">
                <a:solidFill>
                  <a:schemeClr val="tx1"/>
                </a:solidFill>
              </a:rPr>
              <a:t>')          # </a:t>
            </a:r>
            <a:r>
              <a:rPr lang="zh-CN" altLang="zh-CN" sz="2600" b="1" dirty="0">
                <a:solidFill>
                  <a:schemeClr val="tx1"/>
                </a:solidFill>
              </a:rPr>
              <a:t>使用</a:t>
            </a:r>
            <a:r>
              <a:rPr lang="en-US" altLang="zh-CN" sz="2600" b="1" dirty="0">
                <a:solidFill>
                  <a:schemeClr val="tx1"/>
                </a:solidFill>
              </a:rPr>
              <a:t>GBK</a:t>
            </a:r>
            <a:r>
              <a:rPr lang="zh-CN" altLang="zh-CN" sz="2600" b="1" dirty="0">
                <a:solidFill>
                  <a:schemeClr val="tx1"/>
                </a:solidFill>
              </a:rPr>
              <a:t>对汉字编码，每个汉字</a:t>
            </a:r>
            <a:r>
              <a:rPr lang="en-US" altLang="zh-CN" sz="2600" b="1" dirty="0">
                <a:solidFill>
                  <a:schemeClr val="tx1"/>
                </a:solidFill>
              </a:rPr>
              <a:t>2</a:t>
            </a:r>
            <a:r>
              <a:rPr lang="zh-CN" altLang="zh-CN" sz="2600" b="1" dirty="0">
                <a:solidFill>
                  <a:schemeClr val="tx1"/>
                </a:solidFill>
              </a:rPr>
              <a:t>个字节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b'\</a:t>
            </a:r>
            <a:r>
              <a:rPr lang="en-US" altLang="zh-CN" sz="2600" b="1" dirty="0" err="1">
                <a:solidFill>
                  <a:schemeClr val="tx1"/>
                </a:solidFill>
              </a:rPr>
              <a:t>xcb</a:t>
            </a:r>
            <a:r>
              <a:rPr lang="en-US" altLang="zh-CN" sz="2600" b="1" dirty="0">
                <a:solidFill>
                  <a:schemeClr val="tx1"/>
                </a:solidFill>
              </a:rPr>
              <a:t>\xd5\xd6\</a:t>
            </a:r>
            <a:r>
              <a:rPr lang="en-US" altLang="zh-CN" sz="2600" b="1" dirty="0" err="1">
                <a:solidFill>
                  <a:schemeClr val="tx1"/>
                </a:solidFill>
              </a:rPr>
              <a:t>xdd</a:t>
            </a:r>
            <a:r>
              <a:rPr lang="en-US" altLang="zh-CN" sz="2600" b="1" dirty="0">
                <a:solidFill>
                  <a:schemeClr val="tx1"/>
                </a:solidFill>
              </a:rPr>
              <a:t>'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&gt;&gt;&gt; b'\</a:t>
            </a:r>
            <a:r>
              <a:rPr lang="en-US" altLang="zh-CN" sz="2600" b="1" dirty="0" err="1">
                <a:solidFill>
                  <a:schemeClr val="tx1"/>
                </a:solidFill>
              </a:rPr>
              <a:t>xcb</a:t>
            </a:r>
            <a:r>
              <a:rPr lang="en-US" altLang="zh-CN" sz="2600" b="1" dirty="0">
                <a:solidFill>
                  <a:schemeClr val="tx1"/>
                </a:solidFill>
              </a:rPr>
              <a:t>\xd5\xd6\</a:t>
            </a:r>
            <a:r>
              <a:rPr lang="en-US" altLang="zh-CN" sz="2600" b="1" dirty="0" err="1">
                <a:solidFill>
                  <a:schemeClr val="tx1"/>
                </a:solidFill>
              </a:rPr>
              <a:t>xdd</a:t>
            </a:r>
            <a:r>
              <a:rPr lang="en-US" altLang="zh-CN" sz="2600" b="1" dirty="0">
                <a:solidFill>
                  <a:schemeClr val="tx1"/>
                </a:solidFill>
              </a:rPr>
              <a:t>'.decode()     # </a:t>
            </a:r>
            <a:r>
              <a:rPr lang="zh-CN" altLang="zh-CN" sz="2600" b="1" dirty="0">
                <a:solidFill>
                  <a:schemeClr val="tx1"/>
                </a:solidFill>
              </a:rPr>
              <a:t>默认使用</a:t>
            </a:r>
            <a:r>
              <a:rPr lang="en-US" altLang="zh-CN" sz="2600" b="1" dirty="0">
                <a:solidFill>
                  <a:schemeClr val="tx1"/>
                </a:solidFill>
              </a:rPr>
              <a:t>UTF-8</a:t>
            </a:r>
            <a:r>
              <a:rPr lang="zh-CN" altLang="zh-CN" sz="2600" b="1" dirty="0">
                <a:solidFill>
                  <a:schemeClr val="tx1"/>
                </a:solidFill>
              </a:rPr>
              <a:t>解码，会抛出异常</a:t>
            </a:r>
          </a:p>
          <a:p>
            <a:r>
              <a:rPr lang="en-US" altLang="zh-CN" sz="26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600" b="1" dirty="0">
                <a:solidFill>
                  <a:schemeClr val="tx1"/>
                </a:solidFill>
              </a:rPr>
              <a:t> (most recent call last):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File "&lt;pyshell#472&gt;", line 1, in &lt;module&gt;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    b'\</a:t>
            </a:r>
            <a:r>
              <a:rPr lang="en-US" altLang="zh-CN" sz="2600" b="1" dirty="0" err="1">
                <a:solidFill>
                  <a:schemeClr val="tx1"/>
                </a:solidFill>
              </a:rPr>
              <a:t>xcb</a:t>
            </a:r>
            <a:r>
              <a:rPr lang="en-US" altLang="zh-CN" sz="2600" b="1" dirty="0">
                <a:solidFill>
                  <a:schemeClr val="tx1"/>
                </a:solidFill>
              </a:rPr>
              <a:t>\xd5\xd6\</a:t>
            </a:r>
            <a:r>
              <a:rPr lang="en-US" altLang="zh-CN" sz="2600" b="1" dirty="0" err="1">
                <a:solidFill>
                  <a:schemeClr val="tx1"/>
                </a:solidFill>
              </a:rPr>
              <a:t>xdd</a:t>
            </a:r>
            <a:r>
              <a:rPr lang="en-US" altLang="zh-CN" sz="2600" b="1" dirty="0">
                <a:solidFill>
                  <a:schemeClr val="tx1"/>
                </a:solidFill>
              </a:rPr>
              <a:t>'.decode()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 err="1">
                <a:solidFill>
                  <a:schemeClr val="tx1"/>
                </a:solidFill>
              </a:rPr>
              <a:t>UnicodeDecodeError</a:t>
            </a:r>
            <a:r>
              <a:rPr lang="en-US" altLang="zh-CN" sz="2600" b="1" dirty="0">
                <a:solidFill>
                  <a:schemeClr val="tx1"/>
                </a:solidFill>
              </a:rPr>
              <a:t>: 'utf-8' codec can't decode byte 0xcb in position 0: invalid continuation byte</a:t>
            </a:r>
            <a:endParaRPr lang="zh-CN" altLang="zh-CN" sz="2600" b="1" dirty="0">
              <a:solidFill>
                <a:schemeClr val="tx1"/>
              </a:solidFill>
            </a:endParaRPr>
          </a:p>
          <a:p>
            <a:r>
              <a:rPr lang="en-US" altLang="zh-CN" sz="2600" b="1" dirty="0">
                <a:solidFill>
                  <a:schemeClr val="tx1"/>
                </a:solidFill>
              </a:rPr>
              <a:t>&gt;&gt;&gt; b'\</a:t>
            </a:r>
            <a:r>
              <a:rPr lang="en-US" altLang="zh-CN" sz="2600" b="1" dirty="0" err="1">
                <a:solidFill>
                  <a:schemeClr val="tx1"/>
                </a:solidFill>
              </a:rPr>
              <a:t>xcb</a:t>
            </a:r>
            <a:r>
              <a:rPr lang="en-US" altLang="zh-CN" sz="2600" b="1" dirty="0">
                <a:solidFill>
                  <a:schemeClr val="tx1"/>
                </a:solidFill>
              </a:rPr>
              <a:t>\xd5\xd6\</a:t>
            </a:r>
            <a:r>
              <a:rPr lang="en-US" altLang="zh-CN" sz="2600" b="1" dirty="0" err="1">
                <a:solidFill>
                  <a:schemeClr val="tx1"/>
                </a:solidFill>
              </a:rPr>
              <a:t>xdd</a:t>
            </a:r>
            <a:r>
              <a:rPr lang="en-US" altLang="zh-CN" sz="2600" b="1" dirty="0">
                <a:solidFill>
                  <a:schemeClr val="tx1"/>
                </a:solidFill>
              </a:rPr>
              <a:t>'.decode('</a:t>
            </a:r>
            <a:r>
              <a:rPr lang="en-US" altLang="zh-CN" sz="2600" b="1" dirty="0" err="1">
                <a:solidFill>
                  <a:schemeClr val="tx1"/>
                </a:solidFill>
              </a:rPr>
              <a:t>gbk</a:t>
            </a:r>
            <a:r>
              <a:rPr lang="en-US" altLang="zh-CN" sz="2600" b="1" dirty="0">
                <a:solidFill>
                  <a:schemeClr val="tx1"/>
                </a:solidFill>
              </a:rPr>
              <a:t>')          # </a:t>
            </a:r>
            <a:r>
              <a:rPr lang="zh-CN" altLang="zh-CN" sz="2600" b="1" dirty="0">
                <a:solidFill>
                  <a:schemeClr val="tx1"/>
                </a:solidFill>
              </a:rPr>
              <a:t>使用</a:t>
            </a:r>
            <a:r>
              <a:rPr lang="en-US" altLang="zh-CN" sz="2600" b="1" dirty="0" err="1">
                <a:solidFill>
                  <a:schemeClr val="tx1"/>
                </a:solidFill>
              </a:rPr>
              <a:t>gbk</a:t>
            </a:r>
            <a:r>
              <a:rPr lang="zh-CN" altLang="zh-CN" sz="2600" b="1" dirty="0">
                <a:solidFill>
                  <a:schemeClr val="tx1"/>
                </a:solidFill>
              </a:rPr>
              <a:t>解码则正确</a:t>
            </a:r>
          </a:p>
          <a:p>
            <a:r>
              <a:rPr lang="en-US" altLang="zh-CN" sz="2600" b="1" dirty="0">
                <a:solidFill>
                  <a:schemeClr val="tx1"/>
                </a:solidFill>
              </a:rPr>
              <a:t>'</a:t>
            </a:r>
            <a:r>
              <a:rPr lang="zh-CN" altLang="zh-CN" sz="2600" b="1" dirty="0">
                <a:solidFill>
                  <a:schemeClr val="tx1"/>
                </a:solidFill>
              </a:rPr>
              <a:t>苏州</a:t>
            </a:r>
            <a:r>
              <a:rPr lang="en-US" altLang="zh-CN" sz="2600" b="1" dirty="0">
                <a:solidFill>
                  <a:schemeClr val="tx1"/>
                </a:solidFill>
              </a:rPr>
              <a:t>'</a:t>
            </a:r>
            <a:endParaRPr lang="zh-CN" altLang="zh-CN" sz="26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FB389A-F89E-4556-B8B4-DBAC52D0D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885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8.1.3 </a:t>
            </a:r>
            <a:r>
              <a:rPr lang="zh-CN" altLang="en-US" dirty="0"/>
              <a:t>运算符对字符串的操作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9386515" cy="61267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CN" altLang="en-US" dirty="0"/>
              <a:t>运算符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+=</a:t>
            </a:r>
            <a:r>
              <a:rPr lang="zh-CN" altLang="en-US" dirty="0"/>
              <a:t>、*、*</a:t>
            </a:r>
            <a:r>
              <a:rPr lang="en-US" altLang="zh-CN" dirty="0"/>
              <a:t>=</a:t>
            </a:r>
            <a:r>
              <a:rPr lang="zh-CN" altLang="en-US" dirty="0"/>
              <a:t>、</a:t>
            </a:r>
            <a:r>
              <a:rPr lang="en-US" altLang="zh-CN" dirty="0"/>
              <a:t>in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r>
              <a:rPr lang="zh-CN" altLang="en-US" dirty="0"/>
              <a:t>均可应用于字符串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1487488" y="1844824"/>
            <a:ext cx="9217024" cy="409342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s1 = "</a:t>
            </a:r>
            <a:r>
              <a:rPr lang="en-US" altLang="zh-CN" sz="20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000" b="1" dirty="0">
                <a:solidFill>
                  <a:schemeClr val="tx1"/>
                </a:solidFill>
              </a:rPr>
              <a:t>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s2 = "China"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+ s2  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字符串连接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SuZhouChina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+= s2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字符串连接，结果赋予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SuZhouChina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s2 in s1 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s2</a:t>
            </a:r>
            <a:r>
              <a:rPr lang="zh-CN" altLang="zh-CN" sz="2000" b="1" dirty="0">
                <a:solidFill>
                  <a:schemeClr val="tx1"/>
                </a:solidFill>
              </a:rPr>
              <a:t>是否出现在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中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'w' in s1            # </a:t>
            </a:r>
            <a:r>
              <a:rPr lang="zh-CN" altLang="zh-CN" sz="2000" b="1" dirty="0">
                <a:solidFill>
                  <a:schemeClr val="tx1"/>
                </a:solidFill>
              </a:rPr>
              <a:t>判断字符</a:t>
            </a:r>
            <a:r>
              <a:rPr lang="en-US" altLang="zh-CN" sz="2000" b="1" dirty="0">
                <a:solidFill>
                  <a:schemeClr val="tx1"/>
                </a:solidFill>
              </a:rPr>
              <a:t>w</a:t>
            </a:r>
            <a:r>
              <a:rPr lang="zh-CN" altLang="zh-CN" sz="2000" b="1" dirty="0">
                <a:solidFill>
                  <a:schemeClr val="tx1"/>
                </a:solidFill>
              </a:rPr>
              <a:t>是否出现在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中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False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&gt; s2             #  </a:t>
            </a:r>
            <a:r>
              <a:rPr lang="zh-CN" altLang="zh-CN" sz="2000" b="1" dirty="0">
                <a:solidFill>
                  <a:schemeClr val="tx1"/>
                </a:solidFill>
              </a:rPr>
              <a:t>比较两个字符串的大小（不是包含关系）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D4703A-36A3-4300-A4E7-23B2E6AE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8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1"/>
            <a:ext cx="10852150" cy="576064"/>
          </a:xfrm>
        </p:spPr>
        <p:txBody>
          <a:bodyPr/>
          <a:lstStyle/>
          <a:p>
            <a:r>
              <a:rPr lang="en-US" altLang="zh-CN" sz="2800" dirty="0"/>
              <a:t>8.1.4 </a:t>
            </a:r>
            <a:r>
              <a:rPr lang="zh-CN" altLang="en-US" sz="2800" dirty="0"/>
              <a:t>内置函数对字符串的操作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12776"/>
            <a:ext cx="9433048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如下内置函数均可用：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err="1"/>
              <a:t>len</a:t>
            </a:r>
            <a:r>
              <a:rPr lang="en-US" altLang="zh-CN" sz="2800" dirty="0"/>
              <a:t>()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max()</a:t>
            </a:r>
            <a:r>
              <a:rPr lang="zh-CN" altLang="en-US" sz="2800" dirty="0"/>
              <a:t>、</a:t>
            </a:r>
            <a:r>
              <a:rPr lang="en-US" altLang="zh-CN" sz="2800" dirty="0"/>
              <a:t>min()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sorted()</a:t>
            </a:r>
            <a:r>
              <a:rPr lang="zh-CN" altLang="en-US" sz="2800" dirty="0"/>
              <a:t>、</a:t>
            </a:r>
            <a:r>
              <a:rPr lang="en-US" altLang="zh-CN" sz="2800" dirty="0"/>
              <a:t>reversed()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zip()</a:t>
            </a:r>
            <a:r>
              <a:rPr lang="zh-CN" altLang="en-US" sz="2800" dirty="0"/>
              <a:t>、</a:t>
            </a:r>
            <a:r>
              <a:rPr lang="en-US" altLang="zh-CN" sz="2800" dirty="0"/>
              <a:t>enumerate()</a:t>
            </a:r>
            <a:r>
              <a:rPr lang="zh-CN" altLang="en-US" sz="2800" dirty="0"/>
              <a:t>、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all()</a:t>
            </a:r>
            <a:r>
              <a:rPr lang="zh-CN" altLang="en-US" sz="2800" dirty="0"/>
              <a:t>、</a:t>
            </a:r>
            <a:r>
              <a:rPr lang="en-US" altLang="zh-CN" sz="2800" dirty="0"/>
              <a:t>any()</a:t>
            </a:r>
            <a:r>
              <a:rPr lang="zh-CN" altLang="en-US" sz="2800" dirty="0"/>
              <a:t>、</a:t>
            </a:r>
            <a:r>
              <a:rPr lang="en-US" altLang="zh-CN" sz="2800" dirty="0"/>
              <a:t>eval()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3B8D9-BAEC-404B-9F46-B4D4A282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52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1"/>
            <a:ext cx="10852150" cy="576064"/>
          </a:xfrm>
        </p:spPr>
        <p:txBody>
          <a:bodyPr/>
          <a:lstStyle/>
          <a:p>
            <a:r>
              <a:rPr lang="en-US" altLang="zh-CN" sz="2800" dirty="0"/>
              <a:t>8.1.4 </a:t>
            </a:r>
            <a:r>
              <a:rPr lang="zh-CN" altLang="en-US" sz="2800" dirty="0"/>
              <a:t>内置函数对字符串的操作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408" y="980729"/>
            <a:ext cx="9840389" cy="480131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&gt;&gt;&gt; s1 = "</a:t>
            </a:r>
            <a:r>
              <a:rPr lang="en-US" altLang="zh-CN" b="1" dirty="0" err="1">
                <a:solidFill>
                  <a:schemeClr val="tx1"/>
                </a:solidFill>
              </a:rPr>
              <a:t>SuZhou</a:t>
            </a:r>
            <a:r>
              <a:rPr lang="en-US" altLang="zh-CN" b="1" dirty="0">
                <a:solidFill>
                  <a:schemeClr val="tx1"/>
                </a:solidFill>
              </a:rPr>
              <a:t>"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len</a:t>
            </a:r>
            <a:r>
              <a:rPr lang="en-US" altLang="zh-CN" b="1" dirty="0">
                <a:solidFill>
                  <a:schemeClr val="tx1"/>
                </a:solidFill>
              </a:rPr>
              <a:t>(s1)          		# </a:t>
            </a:r>
            <a:r>
              <a:rPr lang="zh-CN" altLang="zh-CN" b="1" dirty="0">
                <a:solidFill>
                  <a:schemeClr val="tx1"/>
                </a:solidFill>
              </a:rPr>
              <a:t>求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中的长度（字符个数）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max(s1)        		# </a:t>
            </a:r>
            <a:r>
              <a:rPr lang="zh-CN" altLang="zh-CN" b="1" dirty="0">
                <a:solidFill>
                  <a:schemeClr val="tx1"/>
                </a:solidFill>
              </a:rPr>
              <a:t>求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中的最大元素（字符）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'u'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min(s1)		# </a:t>
            </a:r>
            <a:r>
              <a:rPr lang="zh-CN" altLang="zh-CN" b="1" dirty="0">
                <a:solidFill>
                  <a:schemeClr val="tx1"/>
                </a:solidFill>
              </a:rPr>
              <a:t>求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中的最小元素（字符）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'S’</a:t>
            </a:r>
          </a:p>
          <a:p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sorted(s1)      			# </a:t>
            </a:r>
            <a:r>
              <a:rPr lang="zh-CN" altLang="zh-CN" b="1" dirty="0">
                <a:solidFill>
                  <a:schemeClr val="tx1"/>
                </a:solidFill>
              </a:rPr>
              <a:t>对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中的元素（字符）排序，默认升序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['S', 'Z', 'h', 'o', 'u', 'u']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list(reversed(s1)) 		     	# </a:t>
            </a:r>
            <a:r>
              <a:rPr lang="zh-CN" altLang="zh-CN" b="1" dirty="0">
                <a:solidFill>
                  <a:schemeClr val="tx1"/>
                </a:solidFill>
              </a:rPr>
              <a:t>对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中的元素（字符）逆序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['u', 'o', 'h', 'Z', 'u', 'S’]</a:t>
            </a:r>
            <a:endParaRPr lang="zh-CN" altLang="zh-CN" b="1" dirty="0">
              <a:solidFill>
                <a:schemeClr val="tx1"/>
              </a:solidFill>
            </a:endParaRPr>
          </a:p>
          <a:p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list(zip(s1, "China"))			# </a:t>
            </a:r>
            <a:r>
              <a:rPr lang="zh-CN" altLang="zh-CN" b="1" dirty="0">
                <a:solidFill>
                  <a:schemeClr val="tx1"/>
                </a:solidFill>
              </a:rPr>
              <a:t>使用</a:t>
            </a:r>
            <a:r>
              <a:rPr lang="en-US" altLang="zh-CN" b="1" dirty="0">
                <a:solidFill>
                  <a:schemeClr val="tx1"/>
                </a:solidFill>
              </a:rPr>
              <a:t>list()</a:t>
            </a:r>
            <a:r>
              <a:rPr lang="zh-CN" altLang="zh-CN" b="1" dirty="0">
                <a:solidFill>
                  <a:schemeClr val="tx1"/>
                </a:solidFill>
              </a:rPr>
              <a:t>方法将</a:t>
            </a:r>
            <a:r>
              <a:rPr lang="en-US" altLang="zh-CN" b="1" dirty="0">
                <a:solidFill>
                  <a:schemeClr val="tx1"/>
                </a:solidFill>
              </a:rPr>
              <a:t>zip</a:t>
            </a:r>
            <a:r>
              <a:rPr lang="zh-CN" altLang="zh-CN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[(‘S’, ‘C’), (‘u’, ‘h’), (‘Z’, ‘</a:t>
            </a:r>
            <a:r>
              <a:rPr lang="en-US" altLang="zh-CN" b="1" dirty="0" err="1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’), (‘h’, ‘n’), (‘o’, ‘a’)]  # </a:t>
            </a:r>
            <a:r>
              <a:rPr lang="zh-CN" altLang="en-US" b="1" dirty="0">
                <a:solidFill>
                  <a:schemeClr val="tx1"/>
                </a:solidFill>
              </a:rPr>
              <a:t>多余的</a:t>
            </a:r>
            <a:r>
              <a:rPr lang="en-US" altLang="zh-CN" b="1" dirty="0">
                <a:solidFill>
                  <a:schemeClr val="tx1"/>
                </a:solidFill>
              </a:rPr>
              <a:t>’u’</a:t>
            </a:r>
            <a:r>
              <a:rPr lang="zh-CN" altLang="en-US" b="1" dirty="0">
                <a:solidFill>
                  <a:schemeClr val="tx1"/>
                </a:solidFill>
              </a:rPr>
              <a:t>丢弃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list(enumerate(s1))			# </a:t>
            </a:r>
            <a:r>
              <a:rPr lang="zh-CN" altLang="zh-CN" b="1" dirty="0">
                <a:solidFill>
                  <a:schemeClr val="tx1"/>
                </a:solidFill>
              </a:rPr>
              <a:t>使用</a:t>
            </a:r>
            <a:r>
              <a:rPr lang="en-US" altLang="zh-CN" b="1" dirty="0">
                <a:solidFill>
                  <a:schemeClr val="tx1"/>
                </a:solidFill>
              </a:rPr>
              <a:t>list()</a:t>
            </a:r>
            <a:r>
              <a:rPr lang="zh-CN" altLang="zh-CN" b="1" dirty="0">
                <a:solidFill>
                  <a:schemeClr val="tx1"/>
                </a:solidFill>
              </a:rPr>
              <a:t>方法将</a:t>
            </a:r>
            <a:r>
              <a:rPr lang="en-US" altLang="zh-CN" b="1" dirty="0">
                <a:solidFill>
                  <a:schemeClr val="tx1"/>
                </a:solidFill>
              </a:rPr>
              <a:t>enumerate</a:t>
            </a:r>
            <a:r>
              <a:rPr lang="zh-CN" altLang="zh-CN" b="1" dirty="0">
                <a:solidFill>
                  <a:schemeClr val="tx1"/>
                </a:solidFill>
              </a:rPr>
              <a:t>对象转换为列表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[(0, 'S'), (1, 'u'), (2, 'Z'), (3, 'h'), (4, 'o'), (5, 'u’)]   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3B8D9-BAEC-404B-9F46-B4D4A282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58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1"/>
            <a:ext cx="10852150" cy="576064"/>
          </a:xfrm>
        </p:spPr>
        <p:txBody>
          <a:bodyPr/>
          <a:lstStyle/>
          <a:p>
            <a:r>
              <a:rPr lang="en-US" altLang="zh-CN" sz="2800" dirty="0"/>
              <a:t>8.1.4 </a:t>
            </a:r>
            <a:r>
              <a:rPr lang="zh-CN" altLang="en-US" sz="2800" dirty="0"/>
              <a:t>内置函数对字符串的操作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408" y="980729"/>
            <a:ext cx="9840389" cy="147732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&gt;&gt;&gt; s1=‘</a:t>
            </a:r>
            <a:r>
              <a:rPr lang="en-US" altLang="zh-CN" b="1" dirty="0" err="1">
                <a:solidFill>
                  <a:schemeClr val="tx1"/>
                </a:solidFill>
              </a:rPr>
              <a:t>SuZhou</a:t>
            </a:r>
            <a:r>
              <a:rPr lang="en-US" altLang="zh-CN" b="1" dirty="0">
                <a:solidFill>
                  <a:schemeClr val="tx1"/>
                </a:solidFill>
              </a:rPr>
              <a:t>’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all(s1)				# </a:t>
            </a:r>
            <a:r>
              <a:rPr lang="zh-CN" altLang="zh-CN" b="1" dirty="0">
                <a:solidFill>
                  <a:schemeClr val="tx1"/>
                </a:solidFill>
              </a:rPr>
              <a:t>判断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中所有元素（字符）是否都为</a:t>
            </a:r>
            <a:r>
              <a:rPr lang="en-US" altLang="zh-CN" b="1" dirty="0">
                <a:solidFill>
                  <a:schemeClr val="tx1"/>
                </a:solidFill>
              </a:rPr>
              <a:t>True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True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any(s1)				# </a:t>
            </a:r>
            <a:r>
              <a:rPr lang="zh-CN" altLang="zh-CN" b="1" dirty="0">
                <a:solidFill>
                  <a:schemeClr val="tx1"/>
                </a:solidFill>
              </a:rPr>
              <a:t>判断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中是否有元素（字符）为</a:t>
            </a:r>
            <a:r>
              <a:rPr lang="en-US" altLang="zh-CN" b="1" dirty="0">
                <a:solidFill>
                  <a:schemeClr val="tx1"/>
                </a:solidFill>
              </a:rPr>
              <a:t>True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True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3B8D9-BAEC-404B-9F46-B4D4A282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37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16" y="260648"/>
            <a:ext cx="9386515" cy="612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00" dirty="0"/>
              <a:t>eval(): </a:t>
            </a:r>
            <a:r>
              <a:rPr lang="zh-CN" altLang="zh-CN" sz="2200" dirty="0"/>
              <a:t>把字符串转换为表达式</a:t>
            </a:r>
            <a:r>
              <a:rPr lang="en-US" altLang="zh-CN" sz="2200" dirty="0"/>
              <a:t>,</a:t>
            </a:r>
            <a:r>
              <a:rPr lang="zh-CN" altLang="zh-CN" sz="2200" dirty="0"/>
              <a:t>并求值。</a:t>
            </a:r>
            <a:endParaRPr lang="en-US" altLang="zh-CN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38200" y="836712"/>
            <a:ext cx="6120680" cy="203132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&gt;&gt;&gt; s1 = "3+4"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eval</a:t>
            </a:r>
            <a:r>
              <a:rPr lang="en-US" altLang="zh-CN" b="1" dirty="0">
                <a:solidFill>
                  <a:schemeClr val="tx1"/>
                </a:solidFill>
              </a:rPr>
              <a:t>(s1)      	# </a:t>
            </a:r>
            <a:r>
              <a:rPr lang="zh-CN" altLang="zh-CN" b="1" dirty="0">
                <a:solidFill>
                  <a:schemeClr val="tx1"/>
                </a:solidFill>
              </a:rPr>
              <a:t>将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转换为表达式</a:t>
            </a:r>
            <a:r>
              <a:rPr lang="en-US" altLang="zh-CN" b="1" dirty="0">
                <a:solidFill>
                  <a:schemeClr val="tx1"/>
                </a:solidFill>
              </a:rPr>
              <a:t>3+4</a:t>
            </a:r>
            <a:r>
              <a:rPr lang="zh-CN" altLang="zh-CN" b="1" dirty="0">
                <a:solidFill>
                  <a:schemeClr val="tx1"/>
                </a:solidFill>
              </a:rPr>
              <a:t>，并求出值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x = 10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y = 20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eval</a:t>
            </a:r>
            <a:r>
              <a:rPr lang="en-US" altLang="zh-CN" b="1" dirty="0">
                <a:solidFill>
                  <a:schemeClr val="tx1"/>
                </a:solidFill>
              </a:rPr>
              <a:t>("x*y")	# </a:t>
            </a:r>
            <a:r>
              <a:rPr lang="zh-CN" altLang="zh-CN" b="1" dirty="0">
                <a:solidFill>
                  <a:schemeClr val="tx1"/>
                </a:solidFill>
              </a:rPr>
              <a:t>将</a:t>
            </a:r>
            <a:r>
              <a:rPr lang="en-US" altLang="zh-CN" b="1" dirty="0">
                <a:solidFill>
                  <a:schemeClr val="tx1"/>
                </a:solidFill>
              </a:rPr>
              <a:t>s1</a:t>
            </a:r>
            <a:r>
              <a:rPr lang="zh-CN" altLang="zh-CN" b="1" dirty="0">
                <a:solidFill>
                  <a:schemeClr val="tx1"/>
                </a:solidFill>
              </a:rPr>
              <a:t>转换为表达式</a:t>
            </a:r>
            <a:r>
              <a:rPr lang="en-US" altLang="zh-CN" b="1" dirty="0">
                <a:solidFill>
                  <a:schemeClr val="tx1"/>
                </a:solidFill>
              </a:rPr>
              <a:t>x*y</a:t>
            </a:r>
            <a:r>
              <a:rPr lang="zh-CN" altLang="zh-CN" b="1" dirty="0">
                <a:solidFill>
                  <a:schemeClr val="tx1"/>
                </a:solidFill>
              </a:rPr>
              <a:t>，并求出值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200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28818" y="2996952"/>
            <a:ext cx="9386515" cy="61267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200" dirty="0"/>
              <a:t>eval()</a:t>
            </a:r>
            <a:r>
              <a:rPr lang="zh-CN" altLang="zh-CN" sz="2200" dirty="0"/>
              <a:t>可</a:t>
            </a:r>
            <a:r>
              <a:rPr lang="zh-CN" altLang="en-US" sz="2200" dirty="0"/>
              <a:t>实现</a:t>
            </a:r>
            <a:r>
              <a:rPr lang="zh-CN" altLang="zh-CN" sz="2200" dirty="0"/>
              <a:t>整数、实数</a:t>
            </a:r>
            <a:r>
              <a:rPr lang="zh-CN" altLang="en-US" sz="2200" dirty="0"/>
              <a:t>、</a:t>
            </a:r>
            <a:r>
              <a:rPr lang="zh-CN" altLang="zh-CN" sz="2200" dirty="0"/>
              <a:t>复数的自动转换</a:t>
            </a:r>
            <a:r>
              <a:rPr lang="zh-CN" altLang="en-US" sz="2200" dirty="0"/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053" y="3625812"/>
            <a:ext cx="6120680" cy="286232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&gt;&gt;&gt; n = input()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100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n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'100'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eval</a:t>
            </a:r>
            <a:r>
              <a:rPr lang="en-US" altLang="zh-CN" b="1" dirty="0">
                <a:solidFill>
                  <a:schemeClr val="tx1"/>
                </a:solidFill>
              </a:rPr>
              <a:t>(n)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100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n = </a:t>
            </a:r>
            <a:r>
              <a:rPr lang="en-US" altLang="zh-CN" b="1" dirty="0" err="1">
                <a:solidFill>
                  <a:schemeClr val="tx1"/>
                </a:solidFill>
              </a:rPr>
              <a:t>eval</a:t>
            </a:r>
            <a:r>
              <a:rPr lang="en-US" altLang="zh-CN" b="1" dirty="0">
                <a:solidFill>
                  <a:schemeClr val="tx1"/>
                </a:solidFill>
              </a:rPr>
              <a:t>(input())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23.5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n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23.5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CDD1A9-B2A2-44B9-B152-E7891158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00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296049"/>
            <a:ext cx="10729192" cy="612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eval()</a:t>
            </a:r>
            <a:r>
              <a:rPr lang="zh-CN" altLang="en-US" sz="2800" dirty="0"/>
              <a:t>还可自动转换复杂数据结构：列表、元组、字典、集合等</a:t>
            </a:r>
            <a:endParaRPr lang="en-US" altLang="zh-C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847528" y="1196752"/>
            <a:ext cx="11665296" cy="2677656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list1 = input()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[1,2,3]</a:t>
            </a:r>
            <a:r>
              <a:rPr lang="zh-CN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↙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list1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'[1,2,3]'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&gt;&gt;&gt;list1=eval(list1)      # 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将输入的字符串转换为列表（不能使用</a:t>
            </a:r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list()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）</a:t>
            </a: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&gt;&gt;&gt;list1</a:t>
            </a: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[1, 2, 3]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031450-0FD8-4F23-9E6F-A66CB04B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406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43472" y="612844"/>
            <a:ext cx="10081120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tuple1 = input()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(4,5,6)</a:t>
            </a:r>
            <a:r>
              <a:rPr lang="zh-CN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↙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tuple1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'(4,5,6)'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&gt;&gt;&gt;T1= eval(tuple1)	# 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用</a:t>
            </a:r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eval()</a:t>
            </a:r>
            <a:r>
              <a:rPr lang="zh-CN" altLang="en-US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把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字符串转换为元组</a:t>
            </a: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&gt;&gt;&gt;T1</a:t>
            </a: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(4, 5, 6)</a:t>
            </a:r>
          </a:p>
          <a:p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d1 = input()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{1:2,2:3,3:4}</a:t>
            </a:r>
            <a:r>
              <a:rPr lang="zh-CN" altLang="zh-CN" sz="2400" b="1" u="sng" dirty="0">
                <a:solidFill>
                  <a:schemeClr val="tx1"/>
                </a:solidFill>
                <a:highlight>
                  <a:srgbClr val="000080"/>
                </a:highlight>
              </a:rPr>
              <a:t>↙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d1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'{1:2,2:3,3:4}'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&gt;&gt;&gt; eval(d1)	# 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使用</a:t>
            </a:r>
            <a:r>
              <a:rPr lang="en-US" altLang="zh-CN" sz="2400" b="1" dirty="0" err="1">
                <a:solidFill>
                  <a:schemeClr val="tx1"/>
                </a:solidFill>
                <a:highlight>
                  <a:srgbClr val="000080"/>
                </a:highlight>
              </a:rPr>
              <a:t>eval</a:t>
            </a:r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()</a:t>
            </a:r>
            <a:r>
              <a:rPr lang="zh-CN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函数将输入的字符串转换为字典</a:t>
            </a:r>
          </a:p>
          <a:p>
            <a:r>
              <a:rPr lang="en-US" altLang="zh-CN" sz="2400" b="1" dirty="0">
                <a:solidFill>
                  <a:schemeClr val="tx1"/>
                </a:solidFill>
                <a:highlight>
                  <a:srgbClr val="000080"/>
                </a:highlight>
              </a:rPr>
              <a:t>{1: 2, 2: 3, 3: 4}</a:t>
            </a:r>
            <a:endParaRPr lang="zh-CN" altLang="zh-CN" sz="2400" b="1" dirty="0">
              <a:solidFill>
                <a:schemeClr val="tx1"/>
              </a:solidFill>
              <a:highlight>
                <a:srgbClr val="000080"/>
              </a:highligh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031450-0FD8-4F23-9E6F-A66CB04B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73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8.1.5 </a:t>
            </a:r>
            <a:r>
              <a:rPr lang="zh-CN" altLang="en-US" dirty="0"/>
              <a:t>字符串的遍历与切片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196752"/>
            <a:ext cx="7344816" cy="844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遍历字符串</a:t>
            </a:r>
            <a:r>
              <a:rPr lang="en-US" altLang="zh-CN" sz="2800" dirty="0"/>
              <a:t>: for</a:t>
            </a:r>
            <a:r>
              <a:rPr lang="zh-CN" altLang="en-US" sz="2800" dirty="0"/>
              <a:t>循环</a:t>
            </a:r>
            <a:endParaRPr lang="en-US" altLang="zh-C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134546" y="2136338"/>
            <a:ext cx="10578077" cy="304698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(s1)): # </a:t>
            </a:r>
            <a:r>
              <a:rPr lang="zh-CN" altLang="zh-CN" sz="2400" b="1" dirty="0">
                <a:solidFill>
                  <a:schemeClr val="tx1"/>
                </a:solidFill>
              </a:rPr>
              <a:t>根据字符串长度遍历，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</a:rPr>
              <a:t>为下标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print(s1[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], end='  ')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S  u  Z  h  o  u  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 in s1:                 # </a:t>
            </a:r>
            <a:r>
              <a:rPr lang="zh-CN" altLang="en-US" sz="2400" b="1" dirty="0">
                <a:solidFill>
                  <a:schemeClr val="tx1"/>
                </a:solidFill>
              </a:rPr>
              <a:t>直接遍历，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zh-CN" altLang="en-US" sz="2400" b="1" dirty="0">
                <a:solidFill>
                  <a:schemeClr val="tx1"/>
                </a:solidFill>
              </a:rPr>
              <a:t>为每个字符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	    print(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, end='  ')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S  u  Z  h  o  u 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447F3-A462-4529-B970-E5165622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60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1424" y="2519541"/>
            <a:ext cx="6035848" cy="415498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"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SuZhou,China</a:t>
            </a:r>
            <a:r>
              <a:rPr lang="en-US" altLang="zh-CN" sz="2400" b="1" dirty="0">
                <a:solidFill>
                  <a:schemeClr val="tx1"/>
                </a:solidFill>
              </a:rPr>
              <a:t>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s1[:7]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,'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s1[:6]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s1[8:]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hina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s1[7:]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'China'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s1[::2]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SZo,hn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51384" y="977245"/>
            <a:ext cx="8352928" cy="136815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切片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可以取元素，但不能改（添加、修改和删除）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447F3-A462-4529-B970-E5165622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67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404664"/>
            <a:ext cx="10852150" cy="537498"/>
          </a:xfrm>
        </p:spPr>
        <p:txBody>
          <a:bodyPr/>
          <a:lstStyle/>
          <a:p>
            <a:r>
              <a:rPr lang="en-US" altLang="zh-CN" sz="2800" dirty="0"/>
              <a:t>8.1.6 </a:t>
            </a:r>
            <a:r>
              <a:rPr lang="zh-CN" altLang="en-US" sz="2800" dirty="0"/>
              <a:t>字符串对象的常用方法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268760"/>
            <a:ext cx="7802339" cy="5040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lower()</a:t>
            </a:r>
            <a:r>
              <a:rPr lang="zh-CN" altLang="en-US" dirty="0"/>
              <a:t>、</a:t>
            </a:r>
            <a:r>
              <a:rPr lang="en-US" altLang="zh-CN" dirty="0"/>
              <a:t>upper()</a:t>
            </a:r>
            <a:r>
              <a:rPr lang="zh-CN" altLang="en-US" dirty="0"/>
              <a:t>、</a:t>
            </a:r>
            <a:r>
              <a:rPr lang="en-US" altLang="zh-CN" dirty="0"/>
              <a:t>title()</a:t>
            </a:r>
            <a:r>
              <a:rPr lang="zh-CN" altLang="en-US" dirty="0"/>
              <a:t>、</a:t>
            </a:r>
            <a:r>
              <a:rPr lang="en-US" altLang="zh-CN" dirty="0"/>
              <a:t>capitalize()</a:t>
            </a:r>
            <a:r>
              <a:rPr lang="zh-CN" altLang="en-US" dirty="0"/>
              <a:t>、</a:t>
            </a:r>
            <a:r>
              <a:rPr lang="en-US" altLang="zh-CN" dirty="0" err="1"/>
              <a:t>swapcase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15480" y="2204864"/>
            <a:ext cx="7776864" cy="347787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s1 = "Soochow University is Beautiful"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s1.lower()               	# </a:t>
            </a:r>
            <a:r>
              <a:rPr lang="zh-CN" altLang="zh-CN" sz="2000" b="1" dirty="0">
                <a:solidFill>
                  <a:schemeClr val="tx1"/>
                </a:solidFill>
              </a:rPr>
              <a:t>返回小写字符串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</a:t>
            </a:r>
            <a:r>
              <a:rPr lang="en-US" altLang="zh-CN" sz="2000" b="1" dirty="0">
                <a:solidFill>
                  <a:schemeClr val="tx1"/>
                </a:solidFill>
              </a:rPr>
              <a:t>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s1.upper() 		# </a:t>
            </a:r>
            <a:r>
              <a:rPr lang="zh-CN" altLang="zh-CN" sz="2000" b="1" dirty="0">
                <a:solidFill>
                  <a:schemeClr val="tx1"/>
                </a:solidFill>
              </a:rPr>
              <a:t>返回大写字符串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s1.title()		# </a:t>
            </a:r>
            <a:r>
              <a:rPr lang="zh-CN" altLang="zh-CN" sz="2000" b="1" dirty="0">
                <a:solidFill>
                  <a:schemeClr val="tx1"/>
                </a:solidFill>
              </a:rPr>
              <a:t>返回每个单词首字母变为大写的字符串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s1.capitalize()	# </a:t>
            </a:r>
            <a:r>
              <a:rPr lang="zh-CN" altLang="zh-CN" sz="2000" b="1" dirty="0">
                <a:solidFill>
                  <a:schemeClr val="tx1"/>
                </a:solidFill>
              </a:rPr>
              <a:t>返回首字母变为大写的字符串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s1.swapcase()	# </a:t>
            </a:r>
            <a:r>
              <a:rPr lang="zh-CN" altLang="zh-CN" sz="2000" b="1" dirty="0">
                <a:solidFill>
                  <a:schemeClr val="tx1"/>
                </a:solidFill>
              </a:rPr>
              <a:t>返回大小写字母互换后的字符串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uNIVERSITY</a:t>
            </a:r>
            <a:r>
              <a:rPr lang="en-US" altLang="zh-CN" sz="2000" b="1" dirty="0">
                <a:solidFill>
                  <a:schemeClr val="tx1"/>
                </a:solidFill>
              </a:rPr>
              <a:t> IS </a:t>
            </a:r>
            <a:r>
              <a:rPr lang="en-US" altLang="zh-CN" sz="2000" b="1" dirty="0" err="1">
                <a:solidFill>
                  <a:schemeClr val="tx1"/>
                </a:solidFill>
              </a:rPr>
              <a:t>bEAUTIFUL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31EDA1-2514-4DA5-B22F-2B8193C5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86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404664"/>
            <a:ext cx="10852150" cy="537498"/>
          </a:xfrm>
        </p:spPr>
        <p:txBody>
          <a:bodyPr/>
          <a:lstStyle/>
          <a:p>
            <a:r>
              <a:rPr lang="en-US" altLang="zh-CN" sz="2800" dirty="0"/>
              <a:t>2</a:t>
            </a:r>
            <a:r>
              <a:rPr lang="zh-CN" altLang="en-US" sz="2800" dirty="0"/>
              <a:t>．</a:t>
            </a:r>
            <a:r>
              <a:rPr lang="en-US" altLang="zh-CN" sz="2800" dirty="0"/>
              <a:t>strip()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lstrip</a:t>
            </a:r>
            <a:r>
              <a:rPr lang="en-US" altLang="zh-CN" sz="2800" dirty="0"/>
              <a:t>()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rstrip</a:t>
            </a:r>
            <a:r>
              <a:rPr lang="en-US" altLang="zh-CN" sz="2800" dirty="0"/>
              <a:t>()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1340768"/>
            <a:ext cx="7776864" cy="424731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&gt;&gt;&gt; s1 = "    Soochow University is Beautiful    "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s1.strip()                 	# </a:t>
            </a:r>
            <a:r>
              <a:rPr lang="zh-CN" altLang="zh-CN" b="1" dirty="0">
                <a:solidFill>
                  <a:schemeClr val="tx1"/>
                </a:solidFill>
              </a:rPr>
              <a:t>删除两端空白字符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'Soochow University is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 = "\t\</a:t>
            </a:r>
            <a:r>
              <a:rPr lang="en-US" altLang="zh-CN" b="1" dirty="0" err="1">
                <a:solidFill>
                  <a:schemeClr val="tx1"/>
                </a:solidFill>
              </a:rPr>
              <a:t>nSoochow</a:t>
            </a:r>
            <a:r>
              <a:rPr lang="en-US" altLang="zh-CN" b="1" dirty="0">
                <a:solidFill>
                  <a:schemeClr val="tx1"/>
                </a:solidFill>
              </a:rPr>
              <a:t> University is Beautiful\t\n"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s1.strip()		# Tab</a:t>
            </a:r>
            <a:r>
              <a:rPr lang="zh-CN" altLang="zh-CN" b="1" dirty="0">
                <a:solidFill>
                  <a:schemeClr val="tx1"/>
                </a:solidFill>
              </a:rPr>
              <a:t>和换行也被认为是空白字符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'Soochow University is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 = "___:Soochow University is Beautiful:___"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s1.strip("_")            	# </a:t>
            </a:r>
            <a:r>
              <a:rPr lang="zh-CN" altLang="zh-CN" b="1" dirty="0">
                <a:solidFill>
                  <a:schemeClr val="tx1"/>
                </a:solidFill>
              </a:rPr>
              <a:t>删除两端指定字符</a:t>
            </a:r>
            <a:r>
              <a:rPr lang="en-US" altLang="zh-CN" b="1" dirty="0">
                <a:solidFill>
                  <a:schemeClr val="tx1"/>
                </a:solidFill>
              </a:rPr>
              <a:t>_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':Soochow University is Beautiful:'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s1.strip(":_")				# </a:t>
            </a:r>
            <a:r>
              <a:rPr lang="zh-CN" altLang="zh-CN" b="1" dirty="0">
                <a:solidFill>
                  <a:schemeClr val="tx1"/>
                </a:solidFill>
              </a:rPr>
              <a:t>删除两端指定字符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zh-CN" altLang="zh-CN" b="1" dirty="0">
                <a:solidFill>
                  <a:schemeClr val="tx1"/>
                </a:solidFill>
              </a:rPr>
              <a:t>和</a:t>
            </a:r>
            <a:r>
              <a:rPr lang="en-US" altLang="zh-CN" b="1" dirty="0">
                <a:solidFill>
                  <a:schemeClr val="tx1"/>
                </a:solidFill>
              </a:rPr>
              <a:t>_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'Soochow University is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s1.lstrip(":_")				# </a:t>
            </a:r>
            <a:r>
              <a:rPr lang="zh-CN" altLang="zh-CN" b="1" dirty="0">
                <a:solidFill>
                  <a:schemeClr val="tx1"/>
                </a:solidFill>
              </a:rPr>
              <a:t>删除左端指定字符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zh-CN" altLang="zh-CN" b="1" dirty="0">
                <a:solidFill>
                  <a:schemeClr val="tx1"/>
                </a:solidFill>
              </a:rPr>
              <a:t>和</a:t>
            </a:r>
            <a:r>
              <a:rPr lang="en-US" altLang="zh-CN" b="1" dirty="0">
                <a:solidFill>
                  <a:schemeClr val="tx1"/>
                </a:solidFill>
              </a:rPr>
              <a:t>_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'Soochow University is Beautiful:___'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s1.rstrip("_")				# </a:t>
            </a:r>
            <a:r>
              <a:rPr lang="zh-CN" altLang="zh-CN" b="1" dirty="0">
                <a:solidFill>
                  <a:schemeClr val="tx1"/>
                </a:solidFill>
              </a:rPr>
              <a:t>删除右端指定字符</a:t>
            </a:r>
            <a:r>
              <a:rPr lang="en-US" altLang="zh-CN" b="1" dirty="0">
                <a:solidFill>
                  <a:schemeClr val="tx1"/>
                </a:solidFill>
              </a:rPr>
              <a:t>_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'___:Soochow University is Beautiful:'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B05AD06-A4F7-438E-AE23-B30685D4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387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273536"/>
            <a:ext cx="10852150" cy="537498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．</a:t>
            </a:r>
            <a:r>
              <a:rPr lang="en-US" altLang="zh-CN" sz="2800" dirty="0"/>
              <a:t>find()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rfind</a:t>
            </a:r>
            <a:r>
              <a:rPr lang="en-US" altLang="zh-CN" sz="2800" dirty="0"/>
              <a:t>()</a:t>
            </a:r>
            <a:r>
              <a:rPr lang="zh-CN" altLang="en-US" sz="2800" dirty="0"/>
              <a:t>、</a:t>
            </a:r>
            <a:r>
              <a:rPr lang="en-US" altLang="zh-CN" sz="2800" dirty="0"/>
              <a:t>index()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rindex</a:t>
            </a:r>
            <a:r>
              <a:rPr lang="en-US" altLang="zh-CN" sz="2800" dirty="0"/>
              <a:t>()</a:t>
            </a:r>
            <a:r>
              <a:rPr lang="zh-CN" altLang="en-US" sz="2800" dirty="0"/>
              <a:t>、</a:t>
            </a:r>
            <a:r>
              <a:rPr lang="en-US" altLang="zh-CN" sz="2800" dirty="0"/>
              <a:t>count()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7388" y="865108"/>
            <a:ext cx="11017224" cy="600164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s1="Because  had because,  so  had so“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#</a:t>
            </a:r>
            <a:r>
              <a:rPr lang="zh-CN" altLang="en-US" sz="2000" b="1" dirty="0">
                <a:solidFill>
                  <a:schemeClr val="tx1"/>
                </a:solidFill>
              </a:rPr>
              <a:t>下标</a:t>
            </a:r>
            <a:r>
              <a:rPr lang="en-US" altLang="zh-CN" sz="1400" b="1" dirty="0">
                <a:solidFill>
                  <a:schemeClr val="tx1"/>
                </a:solidFill>
              </a:rPr>
              <a:t>           </a:t>
            </a:r>
            <a:r>
              <a:rPr lang="en-US" altLang="zh-CN" sz="1600" b="1" dirty="0">
                <a:solidFill>
                  <a:schemeClr val="tx1"/>
                </a:solidFill>
              </a:rPr>
              <a:t>0               5             10           15          20           25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s1.find("a")   		# s1</a:t>
            </a:r>
            <a:r>
              <a:rPr lang="zh-CN" altLang="zh-CN" sz="2400" b="1" dirty="0">
                <a:solidFill>
                  <a:schemeClr val="tx1"/>
                </a:solidFill>
              </a:rPr>
              <a:t>中第一次出现</a:t>
            </a:r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r>
              <a:rPr lang="zh-CN" altLang="zh-CN" sz="2400" b="1" dirty="0">
                <a:solidFill>
                  <a:schemeClr val="tx1"/>
                </a:solidFill>
              </a:rPr>
              <a:t>的下标位置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s1.find("had")      		# s1</a:t>
            </a:r>
            <a:r>
              <a:rPr lang="zh-CN" altLang="zh-CN" sz="2400" b="1" dirty="0">
                <a:solidFill>
                  <a:schemeClr val="tx1"/>
                </a:solidFill>
              </a:rPr>
              <a:t>中第一次出现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的下标位置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s1.find("had", 11)		# </a:t>
            </a:r>
            <a:r>
              <a:rPr lang="zh-CN" altLang="zh-CN" sz="2400" b="1" dirty="0">
                <a:solidFill>
                  <a:schemeClr val="tx1"/>
                </a:solidFill>
              </a:rPr>
              <a:t>从下标位置</a:t>
            </a:r>
            <a:r>
              <a:rPr lang="en-US" altLang="zh-CN" sz="2400" b="1" dirty="0">
                <a:solidFill>
                  <a:schemeClr val="tx1"/>
                </a:solidFill>
              </a:rPr>
              <a:t>11</a:t>
            </a:r>
            <a:r>
              <a:rPr lang="zh-CN" altLang="zh-CN" sz="2400" b="1" dirty="0">
                <a:solidFill>
                  <a:schemeClr val="tx1"/>
                </a:solidFill>
              </a:rPr>
              <a:t>开始查找</a:t>
            </a:r>
            <a:r>
              <a:rPr lang="en-US" altLang="zh-CN" sz="2400" b="1" dirty="0">
                <a:solidFill>
                  <a:schemeClr val="tx1"/>
                </a:solidFill>
              </a:rPr>
              <a:t>s1</a:t>
            </a:r>
            <a:r>
              <a:rPr lang="zh-CN" altLang="zh-CN" sz="2400" b="1" dirty="0">
                <a:solidFill>
                  <a:schemeClr val="tx1"/>
                </a:solidFill>
              </a:rPr>
              <a:t>中第一次出现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24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s1.find(“had”, 11, 22) 	# </a:t>
            </a:r>
            <a:r>
              <a:rPr lang="zh-CN" altLang="zh-CN" sz="2400" b="1" dirty="0">
                <a:solidFill>
                  <a:schemeClr val="tx1"/>
                </a:solidFill>
              </a:rPr>
              <a:t>在下标</a:t>
            </a:r>
            <a:r>
              <a:rPr lang="en-US" altLang="zh-CN" sz="2400" b="1" dirty="0">
                <a:solidFill>
                  <a:schemeClr val="tx1"/>
                </a:solidFill>
              </a:rPr>
              <a:t>[11,22)</a:t>
            </a:r>
            <a:r>
              <a:rPr lang="zh-CN" altLang="zh-CN" sz="2400" b="1" dirty="0">
                <a:solidFill>
                  <a:schemeClr val="tx1"/>
                </a:solidFill>
              </a:rPr>
              <a:t>范围</a:t>
            </a:r>
            <a:r>
              <a:rPr lang="zh-CN" altLang="en-US" sz="2400" b="1" dirty="0">
                <a:solidFill>
                  <a:schemeClr val="tx1"/>
                </a:solidFill>
              </a:rPr>
              <a:t>内</a:t>
            </a:r>
            <a:r>
              <a:rPr lang="zh-CN" altLang="zh-CN" sz="2400" b="1" dirty="0">
                <a:solidFill>
                  <a:schemeClr val="tx1"/>
                </a:solidFill>
              </a:rPr>
              <a:t>查找第一次出现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-1	# </a:t>
            </a:r>
            <a:r>
              <a:rPr lang="zh-CN" altLang="en-US" sz="2400" b="1" dirty="0">
                <a:solidFill>
                  <a:schemeClr val="tx1"/>
                </a:solidFill>
              </a:rPr>
              <a:t>没有找到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s1.rfind("had")		# </a:t>
            </a:r>
            <a:r>
              <a:rPr lang="zh-CN" altLang="zh-CN" sz="2400" b="1" dirty="0">
                <a:solidFill>
                  <a:schemeClr val="tx1"/>
                </a:solidFill>
              </a:rPr>
              <a:t>最后一次出现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的下标位置，即从后向前查找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24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s1.rfind("had", 5, 15)	# </a:t>
            </a:r>
            <a:r>
              <a:rPr lang="zh-CN" altLang="zh-CN" sz="2400" b="1" dirty="0">
                <a:solidFill>
                  <a:schemeClr val="tx1"/>
                </a:solidFill>
              </a:rPr>
              <a:t>在下标</a:t>
            </a:r>
            <a:r>
              <a:rPr lang="en-US" altLang="zh-CN" sz="2400" b="1" dirty="0">
                <a:solidFill>
                  <a:schemeClr val="tx1"/>
                </a:solidFill>
              </a:rPr>
              <a:t>[5,15)</a:t>
            </a:r>
            <a:r>
              <a:rPr lang="zh-CN" altLang="zh-CN" sz="2400" b="1" dirty="0">
                <a:solidFill>
                  <a:schemeClr val="tx1"/>
                </a:solidFill>
              </a:rPr>
              <a:t>范围查找最后一次出现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FE56C4-4613-4FD4-B386-766F729D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51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16632"/>
            <a:ext cx="10852150" cy="537498"/>
          </a:xfrm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51384" y="608328"/>
            <a:ext cx="10996166" cy="427809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&gt;&gt;&gt; s1="Because  had because,  so  had so“</a:t>
            </a:r>
          </a:p>
          <a:p>
            <a:r>
              <a:rPr lang="en-US" altLang="zh-CN" sz="2800" b="1" dirty="0">
                <a:solidFill>
                  <a:schemeClr val="tx1"/>
                </a:solidFill>
              </a:rPr>
              <a:t>#</a:t>
            </a:r>
            <a:r>
              <a:rPr lang="zh-CN" altLang="en-US" sz="2400" b="1" dirty="0">
                <a:solidFill>
                  <a:schemeClr val="tx1"/>
                </a:solidFill>
              </a:rPr>
              <a:t>下标</a:t>
            </a:r>
            <a:r>
              <a:rPr lang="en-US" altLang="zh-CN" sz="1600" b="1" dirty="0">
                <a:solidFill>
                  <a:schemeClr val="tx1"/>
                </a:solidFill>
              </a:rPr>
              <a:t>           </a:t>
            </a:r>
            <a:r>
              <a:rPr lang="en-US" altLang="zh-CN" b="1" dirty="0">
                <a:solidFill>
                  <a:schemeClr val="tx1"/>
                </a:solidFill>
              </a:rPr>
              <a:t>0                5             10             15          20            25</a:t>
            </a:r>
            <a:endParaRPr lang="zh-CN" altLang="zh-CN" sz="28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s1.index("had")		# s1</a:t>
            </a:r>
            <a:r>
              <a:rPr lang="zh-CN" altLang="zh-CN" sz="2400" b="1" dirty="0">
                <a:solidFill>
                  <a:schemeClr val="tx1"/>
                </a:solidFill>
              </a:rPr>
              <a:t>中第一次出现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的下标位置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s1.rindex("had")		# s1</a:t>
            </a:r>
            <a:r>
              <a:rPr lang="zh-CN" altLang="zh-CN" sz="2400" b="1" dirty="0">
                <a:solidFill>
                  <a:schemeClr val="tx1"/>
                </a:solidFill>
              </a:rPr>
              <a:t>中最后一次出现</a:t>
            </a:r>
            <a:r>
              <a:rPr lang="en-US" altLang="zh-CN" sz="2400" b="1" dirty="0">
                <a:solidFill>
                  <a:schemeClr val="tx1"/>
                </a:solidFill>
              </a:rPr>
              <a:t>had</a:t>
            </a:r>
            <a:r>
              <a:rPr lang="zh-CN" altLang="zh-CN" sz="2400" b="1" dirty="0">
                <a:solidFill>
                  <a:schemeClr val="tx1"/>
                </a:solidFill>
              </a:rPr>
              <a:t>的下标位置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24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s1.index("have") 		# s1</a:t>
            </a:r>
            <a:r>
              <a:rPr lang="zh-CN" altLang="zh-CN" sz="2400" b="1" dirty="0">
                <a:solidFill>
                  <a:schemeClr val="tx1"/>
                </a:solidFill>
              </a:rPr>
              <a:t>中找不到</a:t>
            </a:r>
            <a:r>
              <a:rPr lang="en-US" altLang="zh-CN" sz="2400" b="1" dirty="0">
                <a:solidFill>
                  <a:schemeClr val="tx1"/>
                </a:solidFill>
              </a:rPr>
              <a:t>have</a:t>
            </a:r>
            <a:r>
              <a:rPr lang="zh-CN" altLang="zh-CN" sz="2400" b="1" dirty="0">
                <a:solidFill>
                  <a:schemeClr val="tx1"/>
                </a:solidFill>
              </a:rPr>
              <a:t>，抛出异常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"&lt;pyshell#655&gt;", line 1, in &lt;module&gt;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s1.index("have")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ValueError</a:t>
            </a:r>
            <a:r>
              <a:rPr lang="en-US" altLang="zh-CN" sz="2400" b="1" dirty="0">
                <a:solidFill>
                  <a:schemeClr val="tx1"/>
                </a:solidFill>
              </a:rPr>
              <a:t>: substring not found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FE56C4-4613-4FD4-B386-766F729D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03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73FA5-5B01-B283-FE32-095725B1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4F9DD-D482-9343-30D9-5030C46C0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&gt;&gt;&gt; s1.count("a")		# </a:t>
            </a:r>
            <a:r>
              <a:rPr lang="zh-CN" altLang="zh-CN" sz="3200" b="1" dirty="0">
                <a:solidFill>
                  <a:schemeClr val="tx1"/>
                </a:solidFill>
              </a:rPr>
              <a:t>统计</a:t>
            </a:r>
            <a:r>
              <a:rPr lang="en-US" altLang="zh-CN" sz="3200" b="1" dirty="0">
                <a:solidFill>
                  <a:schemeClr val="tx1"/>
                </a:solidFill>
              </a:rPr>
              <a:t>a</a:t>
            </a:r>
            <a:r>
              <a:rPr lang="zh-CN" altLang="zh-CN" sz="3200" b="1" dirty="0">
                <a:solidFill>
                  <a:schemeClr val="tx1"/>
                </a:solidFill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</a:rPr>
              <a:t>s1</a:t>
            </a:r>
            <a:r>
              <a:rPr lang="zh-CN" altLang="zh-CN" sz="3200" b="1" dirty="0">
                <a:solidFill>
                  <a:schemeClr val="tx1"/>
                </a:solidFill>
              </a:rPr>
              <a:t>中出现的次数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4</a:t>
            </a:r>
            <a:endParaRPr lang="zh-CN" altLang="zh-CN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&gt;&gt;&gt; s1.count("so")		# </a:t>
            </a:r>
            <a:r>
              <a:rPr lang="zh-CN" altLang="zh-CN" sz="3200" b="1" dirty="0">
                <a:solidFill>
                  <a:schemeClr val="tx1"/>
                </a:solidFill>
              </a:rPr>
              <a:t>统计</a:t>
            </a:r>
            <a:r>
              <a:rPr lang="en-US" altLang="zh-CN" sz="3200" b="1" dirty="0">
                <a:solidFill>
                  <a:schemeClr val="tx1"/>
                </a:solidFill>
              </a:rPr>
              <a:t>so</a:t>
            </a:r>
            <a:r>
              <a:rPr lang="zh-CN" altLang="zh-CN" sz="3200" b="1" dirty="0">
                <a:solidFill>
                  <a:schemeClr val="tx1"/>
                </a:solidFill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</a:rPr>
              <a:t>s1</a:t>
            </a:r>
            <a:r>
              <a:rPr lang="zh-CN" altLang="zh-CN" sz="3200" b="1" dirty="0">
                <a:solidFill>
                  <a:schemeClr val="tx1"/>
                </a:solidFill>
              </a:rPr>
              <a:t>中出现的次数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2</a:t>
            </a:r>
            <a:endParaRPr lang="zh-CN" altLang="zh-CN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&gt;&gt;&gt; s1.count("have")		#</a:t>
            </a:r>
            <a:r>
              <a:rPr lang="zh-CN" altLang="zh-CN" sz="3200" b="1" dirty="0">
                <a:solidFill>
                  <a:schemeClr val="tx1"/>
                </a:solidFill>
              </a:rPr>
              <a:t>统计</a:t>
            </a:r>
            <a:r>
              <a:rPr lang="en-US" altLang="zh-CN" sz="3200" b="1" dirty="0">
                <a:solidFill>
                  <a:schemeClr val="tx1"/>
                </a:solidFill>
              </a:rPr>
              <a:t>have</a:t>
            </a:r>
            <a:r>
              <a:rPr lang="zh-CN" altLang="zh-CN" sz="3200" b="1" dirty="0">
                <a:solidFill>
                  <a:schemeClr val="tx1"/>
                </a:solidFill>
              </a:rPr>
              <a:t>在</a:t>
            </a:r>
            <a:r>
              <a:rPr lang="en-US" altLang="zh-CN" sz="3200" b="1" dirty="0">
                <a:solidFill>
                  <a:schemeClr val="tx1"/>
                </a:solidFill>
              </a:rPr>
              <a:t>s1</a:t>
            </a:r>
            <a:r>
              <a:rPr lang="zh-CN" altLang="zh-CN" sz="3200" b="1" dirty="0">
                <a:solidFill>
                  <a:schemeClr val="tx1"/>
                </a:solidFill>
              </a:rPr>
              <a:t>中出现的次数，不存在返回</a:t>
            </a:r>
            <a:r>
              <a:rPr lang="en-US" altLang="zh-CN" sz="3200" b="1" dirty="0">
                <a:solidFill>
                  <a:schemeClr val="tx1"/>
                </a:solidFill>
              </a:rPr>
              <a:t>0</a:t>
            </a:r>
            <a:endParaRPr lang="zh-CN" altLang="zh-CN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0</a:t>
            </a:r>
            <a:endParaRPr lang="zh-CN" altLang="zh-CN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CE86CB-FB37-A215-C433-E5716015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2245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r>
              <a:rPr lang="en-US" altLang="zh-CN" sz="2400" cap="none" dirty="0"/>
              <a:t>4</a:t>
            </a:r>
            <a:r>
              <a:rPr lang="zh-CN" altLang="en-US" sz="2400" cap="none" dirty="0"/>
              <a:t>．</a:t>
            </a:r>
            <a:r>
              <a:rPr lang="en-US" altLang="zh-CN" sz="2400" cap="none" dirty="0"/>
              <a:t>split()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rsplit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splitlines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expandtabs</a:t>
            </a:r>
            <a:r>
              <a:rPr lang="en-US" altLang="zh-CN" sz="2400" cap="none" dirty="0"/>
              <a:t>()</a:t>
            </a:r>
            <a:endParaRPr lang="zh-CN" altLang="en-US" sz="24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908720"/>
            <a:ext cx="9433048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"Because had because, so had so"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s1.split(",")          # </a:t>
            </a:r>
            <a:r>
              <a:rPr lang="zh-CN" altLang="zh-CN" sz="2400" b="1" dirty="0">
                <a:solidFill>
                  <a:schemeClr val="tx1"/>
                </a:solidFill>
              </a:rPr>
              <a:t>用逗号分隔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['Because had because', ' so had so’]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# split()</a:t>
            </a:r>
            <a:r>
              <a:rPr lang="zh-CN" altLang="en-US" sz="2400" b="1" dirty="0">
                <a:solidFill>
                  <a:schemeClr val="tx1"/>
                </a:solidFill>
              </a:rPr>
              <a:t>方法有返回值，</a:t>
            </a:r>
            <a:r>
              <a:rPr lang="en-US" altLang="zh-CN" sz="2400" b="1" dirty="0">
                <a:solidFill>
                  <a:schemeClr val="tx1"/>
                </a:solidFill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</a:rPr>
              <a:t>内容不变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s1.split()              # </a:t>
            </a:r>
            <a:r>
              <a:rPr lang="zh-CN" altLang="zh-CN" sz="2400" b="1" dirty="0">
                <a:solidFill>
                  <a:schemeClr val="tx1"/>
                </a:solidFill>
              </a:rPr>
              <a:t>默认用空白符号分隔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['Because', 'had', 'because,', 'so', 'had', 'so’]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 = "\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s1.split()               # \n</a:t>
            </a:r>
            <a:r>
              <a:rPr lang="zh-CN" altLang="en-US" sz="2400" b="1" dirty="0">
                <a:solidFill>
                  <a:schemeClr val="tx1"/>
                </a:solidFill>
              </a:rPr>
              <a:t>换行，</a:t>
            </a:r>
            <a:r>
              <a:rPr lang="en-US" altLang="zh-CN" sz="2400" b="1" dirty="0">
                <a:solidFill>
                  <a:schemeClr val="tx1"/>
                </a:solidFill>
              </a:rPr>
              <a:t>\t</a:t>
            </a:r>
            <a:r>
              <a:rPr lang="zh-CN" altLang="en-US" sz="2400" b="1" dirty="0">
                <a:solidFill>
                  <a:schemeClr val="tx1"/>
                </a:solidFill>
              </a:rPr>
              <a:t>制表符也被认为是空白符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['Because', 'had', 'because,', 'so', 'had', 'so’]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A190C7-D71B-4628-9A5E-598A8E45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51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51384" y="790854"/>
            <a:ext cx="10996166" cy="600164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"\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</a:t>
            </a:r>
            <a:r>
              <a:rPr lang="en-US" altLang="zh-CN" sz="2400" b="1" dirty="0" err="1">
                <a:solidFill>
                  <a:schemeClr val="tx1"/>
                </a:solidFill>
              </a:rPr>
              <a:t>maxsplit</a:t>
            </a:r>
            <a:r>
              <a:rPr lang="en-US" altLang="zh-CN" sz="2400" b="1" dirty="0">
                <a:solidFill>
                  <a:schemeClr val="tx1"/>
                </a:solidFill>
              </a:rPr>
              <a:t>=3)    # </a:t>
            </a:r>
            <a:r>
              <a:rPr lang="zh-CN" altLang="zh-CN" sz="2400" b="1" dirty="0">
                <a:solidFill>
                  <a:schemeClr val="tx1"/>
                </a:solidFill>
              </a:rPr>
              <a:t>以空白符分隔，最大分</a:t>
            </a:r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zh-CN" sz="2400" b="1" dirty="0">
                <a:solidFill>
                  <a:schemeClr val="tx1"/>
                </a:solidFill>
              </a:rPr>
              <a:t>次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['Because', 'had', 'because,', 'so\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\n’]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s1.split('a', 3)		# </a:t>
            </a:r>
            <a:r>
              <a:rPr lang="zh-CN" altLang="zh-CN" sz="2400" b="1" dirty="0">
                <a:solidFill>
                  <a:schemeClr val="tx1"/>
                </a:solidFill>
              </a:rPr>
              <a:t>以</a:t>
            </a:r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r>
              <a:rPr lang="zh-CN" altLang="zh-CN" sz="2400" b="1" dirty="0">
                <a:solidFill>
                  <a:schemeClr val="tx1"/>
                </a:solidFill>
              </a:rPr>
              <a:t>作为分隔符，最大分隔次数为</a:t>
            </a:r>
            <a:r>
              <a:rPr lang="en-US" altLang="zh-CN" sz="2400" b="1" dirty="0">
                <a:solidFill>
                  <a:schemeClr val="tx1"/>
                </a:solidFill>
              </a:rPr>
              <a:t>3	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['\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</a:t>
            </a:r>
            <a:r>
              <a:rPr lang="en-US" altLang="zh-CN" sz="2400" b="1" dirty="0">
                <a:solidFill>
                  <a:schemeClr val="tx1"/>
                </a:solidFill>
              </a:rPr>
              <a:t>', 'use\</a:t>
            </a:r>
            <a:r>
              <a:rPr lang="en-US" altLang="zh-CN" sz="2400" b="1" dirty="0" err="1">
                <a:solidFill>
                  <a:schemeClr val="tx1"/>
                </a:solidFill>
              </a:rPr>
              <a:t>nh</a:t>
            </a:r>
            <a:r>
              <a:rPr lang="en-US" altLang="zh-CN" sz="2400" b="1" dirty="0">
                <a:solidFill>
                  <a:schemeClr val="tx1"/>
                </a:solidFill>
              </a:rPr>
              <a:t>', 'd\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</a:t>
            </a:r>
            <a:r>
              <a:rPr lang="en-US" altLang="zh-CN" sz="2400" b="1" dirty="0">
                <a:solidFill>
                  <a:schemeClr val="tx1"/>
                </a:solidFill>
              </a:rPr>
              <a:t>', 'use,\t\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\n’]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s1.split('a', 10)		# </a:t>
            </a:r>
            <a:r>
              <a:rPr lang="zh-CN" altLang="zh-CN" sz="2400" b="1" dirty="0">
                <a:solidFill>
                  <a:schemeClr val="tx1"/>
                </a:solidFill>
              </a:rPr>
              <a:t>最大分隔次数为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zh-CN" sz="2400" b="1" dirty="0">
                <a:solidFill>
                  <a:schemeClr val="tx1"/>
                </a:solidFill>
              </a:rPr>
              <a:t>（按实际分割）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['\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</a:t>
            </a:r>
            <a:r>
              <a:rPr lang="en-US" altLang="zh-CN" sz="2400" b="1" dirty="0">
                <a:solidFill>
                  <a:schemeClr val="tx1"/>
                </a:solidFill>
              </a:rPr>
              <a:t>', 'use\</a:t>
            </a:r>
            <a:r>
              <a:rPr lang="en-US" altLang="zh-CN" sz="2400" b="1" dirty="0" err="1">
                <a:solidFill>
                  <a:schemeClr val="tx1"/>
                </a:solidFill>
              </a:rPr>
              <a:t>nh</a:t>
            </a:r>
            <a:r>
              <a:rPr lang="en-US" altLang="zh-CN" sz="2400" b="1" dirty="0">
                <a:solidFill>
                  <a:schemeClr val="tx1"/>
                </a:solidFill>
              </a:rPr>
              <a:t>', 'd\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</a:t>
            </a:r>
            <a:r>
              <a:rPr lang="en-US" altLang="zh-CN" sz="2400" b="1" dirty="0">
                <a:solidFill>
                  <a:schemeClr val="tx1"/>
                </a:solidFill>
              </a:rPr>
              <a:t>', 'use,\t\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</a:t>
            </a:r>
            <a:r>
              <a:rPr lang="en-US" altLang="zh-CN" sz="2400" b="1" dirty="0">
                <a:solidFill>
                  <a:schemeClr val="tx1"/>
                </a:solidFill>
              </a:rPr>
              <a:t>', 'd\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\n’]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s1.rsplit(</a:t>
            </a:r>
            <a:r>
              <a:rPr lang="en-US" altLang="zh-CN" sz="2400" b="1" dirty="0" err="1">
                <a:solidFill>
                  <a:schemeClr val="tx1"/>
                </a:solidFill>
              </a:rPr>
              <a:t>maxsplit</a:t>
            </a:r>
            <a:r>
              <a:rPr lang="en-US" altLang="zh-CN" sz="2400" b="1" dirty="0">
                <a:solidFill>
                  <a:schemeClr val="tx1"/>
                </a:solidFill>
              </a:rPr>
              <a:t>=1)	  # </a:t>
            </a:r>
            <a:r>
              <a:rPr lang="zh-CN" altLang="zh-CN" sz="2400" b="1" dirty="0">
                <a:solidFill>
                  <a:schemeClr val="tx1"/>
                </a:solidFill>
              </a:rPr>
              <a:t>以空白符分隔</a:t>
            </a:r>
            <a:r>
              <a:rPr lang="zh-CN" altLang="en-US" sz="2400" b="1" dirty="0">
                <a:solidFill>
                  <a:schemeClr val="tx1"/>
                </a:solidFill>
              </a:rPr>
              <a:t>，</a:t>
            </a:r>
            <a:r>
              <a:rPr lang="zh-CN" altLang="zh-CN" sz="2400" b="1" dirty="0">
                <a:solidFill>
                  <a:schemeClr val="tx1"/>
                </a:solidFill>
              </a:rPr>
              <a:t>从右分隔，最大次数为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['\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', 'so’]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s1.rsplit('a', 2)		# </a:t>
            </a:r>
            <a:r>
              <a:rPr lang="zh-CN" altLang="zh-CN" sz="2400" b="1" dirty="0">
                <a:solidFill>
                  <a:schemeClr val="tx1"/>
                </a:solidFill>
              </a:rPr>
              <a:t>以</a:t>
            </a:r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r>
              <a:rPr lang="zh-CN" altLang="zh-CN" sz="2400" b="1" dirty="0">
                <a:solidFill>
                  <a:schemeClr val="tx1"/>
                </a:solidFill>
              </a:rPr>
              <a:t>作为分隔符从右分隔，最大分隔次数为</a:t>
            </a:r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['\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</a:t>
            </a:r>
            <a:r>
              <a:rPr lang="en-US" altLang="zh-CN" sz="2400" b="1" dirty="0">
                <a:solidFill>
                  <a:schemeClr val="tx1"/>
                </a:solidFill>
              </a:rPr>
              <a:t>', 'use,\t\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</a:t>
            </a:r>
            <a:r>
              <a:rPr lang="en-US" altLang="zh-CN" sz="2400" b="1" dirty="0">
                <a:solidFill>
                  <a:schemeClr val="tx1"/>
                </a:solidFill>
              </a:rPr>
              <a:t>', 'd\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\n’]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A190C7-D71B-4628-9A5E-598A8E45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523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r>
              <a:rPr lang="en-US" altLang="zh-CN" sz="2400" dirty="0"/>
              <a:t>4</a:t>
            </a:r>
            <a:r>
              <a:rPr lang="zh-CN" altLang="en-US" sz="2400" dirty="0"/>
              <a:t>．</a:t>
            </a:r>
            <a:r>
              <a:rPr lang="en-US" altLang="zh-CN" sz="2400" dirty="0"/>
              <a:t>split()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rsplit</a:t>
            </a:r>
            <a:r>
              <a:rPr lang="en-US" altLang="zh-CN" sz="2400" dirty="0"/>
              <a:t>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splitlines</a:t>
            </a:r>
            <a:r>
              <a:rPr lang="en-US" altLang="zh-CN" sz="2400" dirty="0"/>
              <a:t>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expandtabs</a:t>
            </a:r>
            <a:r>
              <a:rPr lang="en-US" altLang="zh-CN" sz="2400" dirty="0"/>
              <a:t>()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51384" y="980728"/>
            <a:ext cx="10996166" cy="4893647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en-US" altLang="zh-CN" sz="2400" b="1" dirty="0" err="1">
                <a:solidFill>
                  <a:schemeClr val="tx1"/>
                </a:solidFill>
              </a:rPr>
              <a:t>splitlines</a:t>
            </a:r>
            <a:r>
              <a:rPr lang="en-US" altLang="zh-CN" sz="2400" b="1" dirty="0">
                <a:solidFill>
                  <a:schemeClr val="tx1"/>
                </a:solidFill>
              </a:rPr>
              <a:t>() 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Helvetica Neue"/>
              </a:rPr>
              <a:t>按行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Helvetica Neue"/>
              </a:rPr>
              <a:t>('\r\n', \n')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Helvetica Neue"/>
              </a:rPr>
              <a:t>分隔，返回包含各行作为元素的列表</a:t>
            </a:r>
            <a:endParaRPr lang="en-US" altLang="zh-CN" sz="2400" b="0" i="0" dirty="0">
              <a:solidFill>
                <a:srgbClr val="FFFFFF"/>
              </a:solidFill>
              <a:effectLst/>
              <a:latin typeface="Helvetica Neue"/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 = "\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nbecause</a:t>
            </a:r>
            <a:r>
              <a:rPr lang="en-US" altLang="zh-CN" sz="2400" b="1" dirty="0">
                <a:solidFill>
                  <a:schemeClr val="tx1"/>
                </a:solidFill>
              </a:rPr>
              <a:t>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nhad</a:t>
            </a:r>
            <a:r>
              <a:rPr lang="en-US" altLang="zh-CN" sz="2400" b="1" dirty="0">
                <a:solidFill>
                  <a:schemeClr val="tx1"/>
                </a:solidFill>
              </a:rPr>
              <a:t>\</a:t>
            </a:r>
            <a:r>
              <a:rPr lang="en-US" altLang="zh-CN" sz="2400" b="1" dirty="0" err="1">
                <a:solidFill>
                  <a:schemeClr val="tx1"/>
                </a:solidFill>
              </a:rPr>
              <a:t>nso</a:t>
            </a:r>
            <a:r>
              <a:rPr lang="en-US" altLang="zh-CN" sz="2400" b="1" dirty="0">
                <a:solidFill>
                  <a:schemeClr val="tx1"/>
                </a:solidFill>
              </a:rPr>
              <a:t>\n"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s1.splitlines()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['', 'Because', 'had', 'because,\t\</a:t>
            </a:r>
            <a:r>
              <a:rPr lang="en-US" altLang="zh-CN" sz="2400" b="1" dirty="0" err="1">
                <a:solidFill>
                  <a:schemeClr val="tx1"/>
                </a:solidFill>
              </a:rPr>
              <a:t>tso</a:t>
            </a:r>
            <a:r>
              <a:rPr lang="en-US" altLang="zh-CN" sz="2400" b="1" dirty="0">
                <a:solidFill>
                  <a:schemeClr val="tx1"/>
                </a:solidFill>
              </a:rPr>
              <a:t>', 'had', 'so’]</a:t>
            </a: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en-US" altLang="zh-CN" sz="2400" b="1" dirty="0" err="1">
                <a:solidFill>
                  <a:schemeClr val="tx1"/>
                </a:solidFill>
              </a:rPr>
              <a:t>expandtabs</a:t>
            </a:r>
            <a:r>
              <a:rPr lang="en-US" altLang="zh-CN" sz="2400" b="1" dirty="0">
                <a:solidFill>
                  <a:schemeClr val="tx1"/>
                </a:solidFill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</a:rPr>
              <a:t>将</a:t>
            </a:r>
            <a:r>
              <a:rPr lang="en-US" altLang="zh-CN" sz="2400" b="1" dirty="0">
                <a:solidFill>
                  <a:schemeClr val="tx1"/>
                </a:solidFill>
              </a:rPr>
              <a:t>\t(tab</a:t>
            </a:r>
            <a:r>
              <a:rPr lang="zh-CN" altLang="en-US" sz="2400" b="1" dirty="0">
                <a:solidFill>
                  <a:schemeClr val="tx1"/>
                </a:solidFill>
              </a:rPr>
              <a:t>键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转为空格，默认为</a:t>
            </a:r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</a:rPr>
              <a:t>个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fr-FR" altLang="zh-CN" sz="2400" b="1" dirty="0">
                <a:solidFill>
                  <a:schemeClr val="tx1"/>
                </a:solidFill>
              </a:rPr>
              <a:t>&gt;&gt;&gt; s = 'a\tb'</a:t>
            </a:r>
          </a:p>
          <a:p>
            <a:r>
              <a:rPr lang="fr-FR" altLang="zh-CN" sz="2400" b="1" dirty="0">
                <a:solidFill>
                  <a:schemeClr val="tx1"/>
                </a:solidFill>
              </a:rPr>
              <a:t>&gt;&gt;&gt; s.expandtabs()</a:t>
            </a:r>
          </a:p>
          <a:p>
            <a:r>
              <a:rPr lang="fr-FR" altLang="zh-CN" sz="2400" b="1" dirty="0">
                <a:solidFill>
                  <a:schemeClr val="tx1"/>
                </a:solidFill>
              </a:rPr>
              <a:t>'a       b'</a:t>
            </a:r>
          </a:p>
          <a:p>
            <a:r>
              <a:rPr lang="fr-FR" altLang="zh-CN" sz="2400" b="1" dirty="0">
                <a:solidFill>
                  <a:schemeClr val="tx1"/>
                </a:solidFill>
              </a:rPr>
              <a:t>&gt;&gt;&gt; t = '111\t\t222'</a:t>
            </a:r>
          </a:p>
          <a:p>
            <a:r>
              <a:rPr lang="fr-FR" altLang="zh-CN" sz="2400" b="1" dirty="0">
                <a:solidFill>
                  <a:schemeClr val="tx1"/>
                </a:solidFill>
              </a:rPr>
              <a:t>&gt;&gt;&gt; t.expandtabs()</a:t>
            </a:r>
          </a:p>
          <a:p>
            <a:r>
              <a:rPr lang="fr-FR" altLang="zh-CN" sz="2400" b="1" dirty="0">
                <a:solidFill>
                  <a:schemeClr val="tx1"/>
                </a:solidFill>
              </a:rPr>
              <a:t>'111             222’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endParaRPr lang="fr-FR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A190C7-D71B-4628-9A5E-598A8E45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72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852150" cy="720080"/>
          </a:xfrm>
        </p:spPr>
        <p:txBody>
          <a:bodyPr/>
          <a:lstStyle/>
          <a:p>
            <a:r>
              <a:rPr lang="en-US" altLang="zh-CN" sz="2200" cap="none" dirty="0"/>
              <a:t>5</a:t>
            </a:r>
            <a:r>
              <a:rPr lang="zh-CN" altLang="en-US" sz="2200" cap="none" dirty="0"/>
              <a:t>．</a:t>
            </a:r>
            <a:r>
              <a:rPr lang="en-US" altLang="zh-CN" sz="2200" cap="none" dirty="0" err="1"/>
              <a:t>isalnum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isalpha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isdigit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isspace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isupper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islower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isdecimal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isnumeric</a:t>
            </a:r>
            <a:r>
              <a:rPr lang="en-US" altLang="zh-CN" sz="2200" cap="none" dirty="0"/>
              <a:t>()</a:t>
            </a:r>
            <a:r>
              <a:rPr lang="zh-CN" altLang="en-US" sz="2200" cap="none" dirty="0"/>
              <a:t>、</a:t>
            </a:r>
            <a:r>
              <a:rPr lang="en-US" altLang="zh-CN" sz="2200" cap="none" dirty="0" err="1"/>
              <a:t>istitle</a:t>
            </a:r>
            <a:r>
              <a:rPr lang="en-US" altLang="zh-CN" sz="2200" cap="none" dirty="0"/>
              <a:t>()</a:t>
            </a:r>
            <a:endParaRPr lang="zh-CN" altLang="en-US" sz="22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911424" y="1241966"/>
            <a:ext cx="7272808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s1 = "123abc"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s2 = "</a:t>
            </a:r>
            <a:r>
              <a:rPr lang="en-US" altLang="zh-CN" sz="2400" b="1" dirty="0" err="1">
                <a:solidFill>
                  <a:schemeClr val="tx1"/>
                </a:solidFill>
              </a:rPr>
              <a:t>abc</a:t>
            </a:r>
            <a:r>
              <a:rPr lang="en-US" altLang="zh-CN" sz="2400" b="1" dirty="0">
                <a:solidFill>
                  <a:schemeClr val="tx1"/>
                </a:solidFill>
              </a:rPr>
              <a:t>“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 = “123”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s1.isalnum()           	# </a:t>
            </a:r>
            <a:r>
              <a:rPr lang="zh-CN" altLang="en-US" sz="2400" b="1" dirty="0">
                <a:solidFill>
                  <a:schemeClr val="tx1"/>
                </a:solidFill>
              </a:rPr>
              <a:t>是否只</a:t>
            </a:r>
            <a:r>
              <a:rPr lang="zh-CN" altLang="zh-CN" sz="2400" b="1" dirty="0">
                <a:solidFill>
                  <a:schemeClr val="tx1"/>
                </a:solidFill>
              </a:rPr>
              <a:t>有数字和字母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s1.isalpha()        	# </a:t>
            </a:r>
            <a:r>
              <a:rPr lang="zh-CN" altLang="en-US" sz="2400" b="1" dirty="0">
                <a:solidFill>
                  <a:schemeClr val="tx1"/>
                </a:solidFill>
              </a:rPr>
              <a:t>是否只有</a:t>
            </a:r>
            <a:r>
              <a:rPr lang="zh-CN" altLang="zh-CN" sz="2400" b="1" dirty="0">
                <a:solidFill>
                  <a:schemeClr val="tx1"/>
                </a:solidFill>
              </a:rPr>
              <a:t>英文字母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s2.isalpha()		# s2</a:t>
            </a:r>
            <a:r>
              <a:rPr lang="zh-CN" altLang="zh-CN" sz="2400" b="1" dirty="0">
                <a:solidFill>
                  <a:schemeClr val="tx1"/>
                </a:solidFill>
              </a:rPr>
              <a:t>全为英文字母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s1.isdigit()		# </a:t>
            </a:r>
            <a:r>
              <a:rPr lang="zh-CN" altLang="zh-CN" sz="2400" b="1" dirty="0">
                <a:solidFill>
                  <a:schemeClr val="tx1"/>
                </a:solidFill>
              </a:rPr>
              <a:t>全部</a:t>
            </a:r>
            <a:r>
              <a:rPr lang="zh-CN" altLang="en-US" sz="2400" b="1" dirty="0">
                <a:solidFill>
                  <a:schemeClr val="tx1"/>
                </a:solidFill>
              </a:rPr>
              <a:t>是</a:t>
            </a:r>
            <a:r>
              <a:rPr lang="zh-CN" altLang="zh-CN" sz="2400" b="1" dirty="0">
                <a:solidFill>
                  <a:schemeClr val="tx1"/>
                </a:solidFill>
              </a:rPr>
              <a:t>数字</a:t>
            </a:r>
            <a:r>
              <a:rPr lang="zh-CN" altLang="en-US" sz="2400" b="1" dirty="0">
                <a:solidFill>
                  <a:schemeClr val="tx1"/>
                </a:solidFill>
              </a:rPr>
              <a:t>吗？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s3.isdigit()		# </a:t>
            </a:r>
            <a:r>
              <a:rPr lang="zh-CN" altLang="zh-CN" sz="2400" b="1" dirty="0">
                <a:solidFill>
                  <a:schemeClr val="tx1"/>
                </a:solidFill>
              </a:rPr>
              <a:t>全部为数字</a:t>
            </a:r>
            <a:r>
              <a:rPr lang="zh-CN" altLang="en-US" sz="2400" b="1" dirty="0">
                <a:solidFill>
                  <a:schemeClr val="tx1"/>
                </a:solidFill>
              </a:rPr>
              <a:t>吗？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400A07-FFAE-4A01-A78B-DD47CA80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5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DCA2A-DEDE-417B-8258-A8898D63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953547-2CA1-4632-8986-668ECA37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40010"/>
            <a:ext cx="11712624" cy="5629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s1 = "123abc"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s3 = "123"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s3.isdecimal()		# </a:t>
            </a:r>
            <a:r>
              <a:rPr lang="zh-CN" altLang="zh-CN" sz="2000" b="1" dirty="0">
                <a:solidFill>
                  <a:schemeClr val="tx1"/>
                </a:solidFill>
              </a:rPr>
              <a:t>全部为十进制</a:t>
            </a:r>
            <a:r>
              <a:rPr lang="zh-CN" altLang="en-US" sz="2000" dirty="0"/>
              <a:t>数字</a:t>
            </a:r>
            <a:r>
              <a:rPr lang="zh-CN" altLang="zh-CN" sz="2000" b="1" dirty="0">
                <a:solidFill>
                  <a:schemeClr val="tx1"/>
                </a:solidFill>
              </a:rPr>
              <a:t>，返回</a:t>
            </a: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s3.isnumeric()		# </a:t>
            </a:r>
            <a:r>
              <a:rPr lang="zh-CN" altLang="zh-CN" sz="2000" b="1" dirty="0">
                <a:solidFill>
                  <a:schemeClr val="tx1"/>
                </a:solidFill>
              </a:rPr>
              <a:t>全部为数字字符</a:t>
            </a:r>
            <a:r>
              <a:rPr lang="zh-CN" altLang="en-US" sz="2000" b="1" dirty="0">
                <a:solidFill>
                  <a:schemeClr val="tx1"/>
                </a:solidFill>
              </a:rPr>
              <a:t>（中文</a:t>
            </a:r>
            <a:r>
              <a:rPr lang="en-US" altLang="zh-CN" sz="2000" b="1" dirty="0">
                <a:solidFill>
                  <a:schemeClr val="tx1"/>
                </a:solidFill>
              </a:rPr>
              <a:t>’</a:t>
            </a:r>
            <a:r>
              <a:rPr lang="zh-CN" altLang="en-US" sz="2000" b="1" dirty="0">
                <a:solidFill>
                  <a:schemeClr val="tx1"/>
                </a:solidFill>
              </a:rPr>
              <a:t>一二三</a:t>
            </a:r>
            <a:r>
              <a:rPr lang="en-US" altLang="zh-CN" sz="2000" b="1" dirty="0">
                <a:solidFill>
                  <a:schemeClr val="tx1"/>
                </a:solidFill>
              </a:rPr>
              <a:t>’</a:t>
            </a:r>
            <a:r>
              <a:rPr lang="zh-CN" altLang="en-US" sz="2000" b="1" dirty="0">
                <a:solidFill>
                  <a:schemeClr val="tx1"/>
                </a:solidFill>
              </a:rPr>
              <a:t>也算）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000" dirty="0"/>
              <a:t># </a:t>
            </a:r>
            <a:r>
              <a:rPr lang="zh-CN" altLang="en-US" sz="2000" dirty="0"/>
              <a:t>三个函数都支持半角和全角数字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s1 = "</a:t>
            </a:r>
            <a:r>
              <a:rPr lang="zh-CN" altLang="zh-CN" sz="2000" b="1" dirty="0">
                <a:solidFill>
                  <a:schemeClr val="tx1"/>
                </a:solidFill>
              </a:rPr>
              <a:t>１２３</a:t>
            </a:r>
            <a:r>
              <a:rPr lang="en-US" altLang="zh-CN" sz="2000" b="1" dirty="0">
                <a:solidFill>
                  <a:schemeClr val="tx1"/>
                </a:solidFill>
              </a:rPr>
              <a:t>"		# </a:t>
            </a:r>
            <a:r>
              <a:rPr lang="zh-CN" altLang="zh-CN" sz="2000" b="1" dirty="0">
                <a:solidFill>
                  <a:schemeClr val="tx1"/>
                </a:solidFill>
              </a:rPr>
              <a:t>全角字符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s1.isdigit()		# </a:t>
            </a:r>
            <a:r>
              <a:rPr lang="zh-CN" altLang="zh-CN" sz="2000" b="1" dirty="0">
                <a:solidFill>
                  <a:schemeClr val="tx1"/>
                </a:solidFill>
              </a:rPr>
              <a:t>支持全角数字（双字节）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s1.isdecimal()		# </a:t>
            </a:r>
            <a:r>
              <a:rPr lang="zh-CN" altLang="zh-CN" sz="2000" b="1" dirty="0">
                <a:solidFill>
                  <a:schemeClr val="tx1"/>
                </a:solidFill>
              </a:rPr>
              <a:t>支持全角数字（双字节）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&gt;&gt;&gt; s1.isnumeric()		# </a:t>
            </a:r>
            <a:r>
              <a:rPr lang="zh-CN" altLang="zh-CN" sz="2000" b="1" dirty="0">
                <a:solidFill>
                  <a:schemeClr val="tx1"/>
                </a:solidFill>
              </a:rPr>
              <a:t>支持全角数字（双字节）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BC1EF-DE9C-4E97-8257-DD3FC817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64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852150" cy="432048"/>
          </a:xfrm>
        </p:spPr>
        <p:txBody>
          <a:bodyPr/>
          <a:lstStyle/>
          <a:p>
            <a:r>
              <a:rPr lang="zh-CN" altLang="en-US" sz="2200" dirty="0"/>
              <a:t>续上例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9536" y="678215"/>
            <a:ext cx="9937104" cy="563231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二进制数值只有 </a:t>
            </a:r>
            <a:r>
              <a:rPr lang="en-US" altLang="zh-CN" sz="2400" b="1" dirty="0" err="1">
                <a:solidFill>
                  <a:schemeClr val="tx1"/>
                </a:solidFill>
              </a:rPr>
              <a:t>isdigit</a:t>
            </a:r>
            <a:r>
              <a:rPr lang="zh-CN" altLang="en-US" sz="2400" b="1" dirty="0">
                <a:solidFill>
                  <a:schemeClr val="tx1"/>
                </a:solidFill>
              </a:rPr>
              <a:t>支持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 = b"123"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s3.isdigit()			# </a:t>
            </a:r>
            <a:r>
              <a:rPr lang="zh-CN" altLang="zh-CN" sz="2400" b="1" dirty="0">
                <a:solidFill>
                  <a:schemeClr val="tx1"/>
                </a:solidFill>
              </a:rPr>
              <a:t>支持</a:t>
            </a:r>
            <a:r>
              <a:rPr lang="en-US" altLang="zh-CN" sz="2400" b="1" dirty="0">
                <a:solidFill>
                  <a:schemeClr val="tx1"/>
                </a:solidFill>
              </a:rPr>
              <a:t>bytes</a:t>
            </a:r>
            <a:r>
              <a:rPr lang="zh-CN" altLang="zh-CN" sz="2400" b="1" dirty="0">
                <a:solidFill>
                  <a:schemeClr val="tx1"/>
                </a:solidFill>
              </a:rPr>
              <a:t>数字（单字节）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s3.isdecimal()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</a:t>
            </a:r>
            <a:r>
              <a:rPr lang="en-US" altLang="zh-CN" sz="2400" b="1" dirty="0">
                <a:solidFill>
                  <a:schemeClr val="tx1"/>
                </a:solidFill>
              </a:rPr>
              <a:t>bytes</a:t>
            </a:r>
            <a:r>
              <a:rPr lang="zh-CN" altLang="zh-CN" sz="2400" b="1" dirty="0">
                <a:solidFill>
                  <a:schemeClr val="tx1"/>
                </a:solidFill>
              </a:rPr>
              <a:t>数字，抛出异常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"&lt;pyshell#708&gt;", line 1, in &lt;module&gt;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s3.isdecimal()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AttributeError</a:t>
            </a:r>
            <a:r>
              <a:rPr lang="en-US" altLang="zh-CN" sz="2400" b="1" dirty="0">
                <a:solidFill>
                  <a:schemeClr val="tx1"/>
                </a:solidFill>
              </a:rPr>
              <a:t>: 'bytes' object has no attribute '</a:t>
            </a:r>
            <a:r>
              <a:rPr lang="en-US" altLang="zh-CN" sz="2400" b="1" dirty="0" err="1">
                <a:solidFill>
                  <a:schemeClr val="tx1"/>
                </a:solidFill>
              </a:rPr>
              <a:t>isdecimal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s3.isnumeric()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</a:t>
            </a:r>
            <a:r>
              <a:rPr lang="en-US" altLang="zh-CN" sz="2400" b="1" dirty="0">
                <a:solidFill>
                  <a:schemeClr val="tx1"/>
                </a:solidFill>
              </a:rPr>
              <a:t>bytes</a:t>
            </a:r>
            <a:r>
              <a:rPr lang="zh-CN" altLang="zh-CN" sz="2400" b="1" dirty="0">
                <a:solidFill>
                  <a:schemeClr val="tx1"/>
                </a:solidFill>
              </a:rPr>
              <a:t>数字，抛出异常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Traceback</a:t>
            </a:r>
            <a:r>
              <a:rPr lang="en-US" altLang="zh-CN" sz="2400" b="1" dirty="0">
                <a:solidFill>
                  <a:schemeClr val="tx1"/>
                </a:solidFill>
              </a:rPr>
              <a:t> (most recent call last):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File "&lt;pyshell#709&gt;", line 1, in &lt;module&gt;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s3.isnumeric()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AttributeError</a:t>
            </a:r>
            <a:r>
              <a:rPr lang="en-US" altLang="zh-CN" sz="2400" b="1" dirty="0">
                <a:solidFill>
                  <a:schemeClr val="tx1"/>
                </a:solidFill>
              </a:rPr>
              <a:t>: 'bytes' object has no attribute '</a:t>
            </a:r>
            <a:r>
              <a:rPr lang="en-US" altLang="zh-CN" sz="2400" b="1" dirty="0" err="1">
                <a:solidFill>
                  <a:schemeClr val="tx1"/>
                </a:solidFill>
              </a:rPr>
              <a:t>isnumeric</a:t>
            </a:r>
            <a:r>
              <a:rPr lang="en-US" altLang="zh-CN" sz="2400" b="1" dirty="0">
                <a:solidFill>
                  <a:schemeClr val="tx1"/>
                </a:solidFill>
              </a:rPr>
              <a:t>’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30F22E-E7E1-478D-B4FD-4D722BCB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36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A2979-ED4A-41FC-A0DC-7F471EBF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3AA52-09C7-4A31-9CD8-A586ACC8B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064592"/>
            <a:ext cx="11665296" cy="5383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三个全部不支持小数（实数） 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 = "123.0"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s3.isdigit()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不支持实数（小数点）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s3.isdecimal()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不支持实数（小数点）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s3.isnumeric()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不支持实数（小数点）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</a:p>
          <a:p>
            <a:pPr marL="0" indent="0">
              <a:buNone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117BF-E0BA-40CA-9F2D-F3C89773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452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A83D9-A4DB-4EA3-B9B6-2247B887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C56E8-7634-4B50-B5B9-E14A0B7EB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支持罗马数字：</a:t>
            </a:r>
            <a:r>
              <a:rPr lang="en-US" altLang="zh-CN" sz="2400" b="1" dirty="0" err="1">
                <a:solidFill>
                  <a:schemeClr val="tx1"/>
                </a:solidFill>
              </a:rPr>
              <a:t>isnumeric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 = "</a:t>
            </a:r>
            <a:r>
              <a:rPr lang="zh-CN" altLang="zh-CN" sz="2400" b="1" dirty="0">
                <a:solidFill>
                  <a:schemeClr val="tx1"/>
                </a:solidFill>
              </a:rPr>
              <a:t>ⅠⅡⅢ</a:t>
            </a:r>
            <a:r>
              <a:rPr lang="en-US" altLang="zh-CN" sz="2400" b="1" dirty="0">
                <a:solidFill>
                  <a:schemeClr val="tx1"/>
                </a:solidFill>
              </a:rPr>
              <a:t>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s3.isdigit()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不支持罗马数字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s3.isdecimal()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不支持罗马数字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&gt;&gt;&gt; s3.isnumeric()			# </a:t>
            </a:r>
            <a:r>
              <a:rPr lang="zh-CN" altLang="zh-CN" sz="2400" b="1" dirty="0">
                <a:solidFill>
                  <a:schemeClr val="tx1"/>
                </a:solidFill>
              </a:rPr>
              <a:t>支持罗马数字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B552D-2ECC-49F5-BB8B-3BA10FE8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2366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852150" cy="504056"/>
          </a:xfrm>
        </p:spPr>
        <p:txBody>
          <a:bodyPr/>
          <a:lstStyle/>
          <a:p>
            <a:r>
              <a:rPr lang="zh-CN" altLang="en-US" sz="2200" dirty="0"/>
              <a:t>续上例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0" y="708384"/>
            <a:ext cx="7190638" cy="341632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zh-CN" altLang="en-US" sz="2400" b="1" dirty="0">
                <a:solidFill>
                  <a:schemeClr val="tx1"/>
                </a:solidFill>
              </a:rPr>
              <a:t>支持汉字：</a:t>
            </a:r>
            <a:r>
              <a:rPr lang="en-US" altLang="zh-CN" sz="2400" b="1" dirty="0" err="1">
                <a:solidFill>
                  <a:schemeClr val="tx1"/>
                </a:solidFill>
              </a:rPr>
              <a:t>isnumeric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 = "</a:t>
            </a:r>
            <a:r>
              <a:rPr lang="zh-CN" altLang="zh-CN" sz="2400" b="1" dirty="0">
                <a:solidFill>
                  <a:schemeClr val="tx1"/>
                </a:solidFill>
              </a:rPr>
              <a:t>一二三</a:t>
            </a:r>
            <a:r>
              <a:rPr lang="en-US" altLang="zh-CN" sz="2400" b="1" dirty="0">
                <a:solidFill>
                  <a:schemeClr val="tx1"/>
                </a:solidFill>
              </a:rPr>
              <a:t>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s3.isdigit()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不支持汉字数字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s3.isdecimal()			# </a:t>
            </a:r>
            <a:r>
              <a:rPr lang="zh-CN" altLang="zh-CN" sz="2400" b="1" dirty="0">
                <a:solidFill>
                  <a:schemeClr val="tx1"/>
                </a:solidFill>
              </a:rPr>
              <a:t>不支持汉字数字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False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s3.isnumeric()			# </a:t>
            </a:r>
            <a:r>
              <a:rPr lang="zh-CN" altLang="zh-CN" sz="2400" b="1" dirty="0">
                <a:solidFill>
                  <a:schemeClr val="tx1"/>
                </a:solidFill>
              </a:rPr>
              <a:t>支持汉字数字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True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81DB2F-8E4F-4D36-9CB4-E4367CE1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36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7368" y="476672"/>
            <a:ext cx="11161240" cy="641802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</a:rPr>
              <a:t># </a:t>
            </a:r>
            <a:r>
              <a:rPr lang="en-US" altLang="zh-CN" sz="2200" b="1" dirty="0" err="1">
                <a:solidFill>
                  <a:schemeClr val="tx1"/>
                </a:solidFill>
              </a:rPr>
              <a:t>isupper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</a:rPr>
              <a:t>全大写，</a:t>
            </a:r>
            <a:r>
              <a:rPr lang="en-US" altLang="zh-CN" sz="2200" b="1" dirty="0" err="1">
                <a:solidFill>
                  <a:schemeClr val="tx1"/>
                </a:solidFill>
              </a:rPr>
              <a:t>islower</a:t>
            </a:r>
            <a:r>
              <a:rPr lang="zh-CN" altLang="en-US" sz="2200" b="1" dirty="0">
                <a:solidFill>
                  <a:schemeClr val="tx1"/>
                </a:solidFill>
              </a:rPr>
              <a:t>全小写，</a:t>
            </a:r>
            <a:r>
              <a:rPr lang="en-US" altLang="zh-CN" sz="2200" b="1" dirty="0" err="1">
                <a:solidFill>
                  <a:schemeClr val="tx1"/>
                </a:solidFill>
              </a:rPr>
              <a:t>istitle</a:t>
            </a:r>
            <a:r>
              <a:rPr lang="zh-CN" altLang="en-US" sz="2200" b="1" dirty="0">
                <a:solidFill>
                  <a:schemeClr val="tx1"/>
                </a:solidFill>
              </a:rPr>
              <a:t>首字母大写，</a:t>
            </a:r>
            <a:r>
              <a:rPr lang="en-US" altLang="zh-CN" sz="2200" b="1" dirty="0" err="1">
                <a:solidFill>
                  <a:schemeClr val="tx1"/>
                </a:solidFill>
              </a:rPr>
              <a:t>isspace</a:t>
            </a:r>
            <a:r>
              <a:rPr lang="zh-CN" altLang="en-US" sz="2200" b="1" dirty="0">
                <a:solidFill>
                  <a:schemeClr val="tx1"/>
                </a:solidFill>
              </a:rPr>
              <a:t>全空白符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 = "</a:t>
            </a:r>
            <a:r>
              <a:rPr lang="en-US" altLang="zh-CN" sz="2200" b="1" dirty="0" err="1">
                <a:solidFill>
                  <a:schemeClr val="tx1"/>
                </a:solidFill>
              </a:rPr>
              <a:t>aBC</a:t>
            </a:r>
            <a:r>
              <a:rPr lang="en-US" altLang="zh-CN" sz="2200" b="1" dirty="0">
                <a:solidFill>
                  <a:schemeClr val="tx1"/>
                </a:solidFill>
              </a:rPr>
              <a:t>" 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s2.isupper()			# s2</a:t>
            </a:r>
            <a:r>
              <a:rPr lang="zh-CN" altLang="zh-CN" sz="2200" b="1" dirty="0">
                <a:solidFill>
                  <a:schemeClr val="tx1"/>
                </a:solidFill>
              </a:rPr>
              <a:t>不全为大写字符，返回</a:t>
            </a:r>
            <a:r>
              <a:rPr lang="en-US" altLang="zh-CN" sz="2200" b="1" dirty="0">
                <a:solidFill>
                  <a:schemeClr val="tx1"/>
                </a:solidFill>
              </a:rPr>
              <a:t>False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False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‘ABC’.isupper()			# s2</a:t>
            </a:r>
            <a:r>
              <a:rPr lang="zh-CN" altLang="zh-CN" sz="2200" b="1" dirty="0">
                <a:solidFill>
                  <a:schemeClr val="tx1"/>
                </a:solidFill>
              </a:rPr>
              <a:t>全为大写字符，返回</a:t>
            </a:r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</a:p>
          <a:p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 = "</a:t>
            </a:r>
            <a:r>
              <a:rPr lang="en-US" altLang="zh-CN" sz="2200" b="1" dirty="0" err="1">
                <a:solidFill>
                  <a:schemeClr val="tx1"/>
                </a:solidFill>
              </a:rPr>
              <a:t>abc</a:t>
            </a:r>
            <a:r>
              <a:rPr lang="en-US" altLang="zh-CN" sz="2200" b="1" dirty="0">
                <a:solidFill>
                  <a:schemeClr val="tx1"/>
                </a:solidFill>
              </a:rPr>
              <a:t>"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s2.islower()			# s2</a:t>
            </a:r>
            <a:r>
              <a:rPr lang="zh-CN" altLang="zh-CN" sz="2200" b="1" dirty="0">
                <a:solidFill>
                  <a:schemeClr val="tx1"/>
                </a:solidFill>
              </a:rPr>
              <a:t>全为小写字符，返回</a:t>
            </a:r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 = "Soochow University is Beautiful"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s2.istitle()	 		# </a:t>
            </a:r>
            <a:r>
              <a:rPr lang="zh-CN" altLang="en-US" sz="2200" b="1" dirty="0">
                <a:solidFill>
                  <a:schemeClr val="tx1"/>
                </a:solidFill>
              </a:rPr>
              <a:t>是否全部</a:t>
            </a:r>
            <a:r>
              <a:rPr lang="zh-CN" altLang="zh-CN" sz="2200" b="1" dirty="0">
                <a:solidFill>
                  <a:schemeClr val="tx1"/>
                </a:solidFill>
              </a:rPr>
              <a:t>单词首字母大写（</a:t>
            </a:r>
            <a:r>
              <a:rPr lang="en-US" altLang="zh-CN" sz="2200" b="1" dirty="0">
                <a:solidFill>
                  <a:schemeClr val="tx1"/>
                </a:solidFill>
              </a:rPr>
              <a:t>is</a:t>
            </a:r>
            <a:r>
              <a:rPr lang="zh-CN" altLang="zh-CN" sz="2200" b="1" dirty="0">
                <a:solidFill>
                  <a:schemeClr val="tx1"/>
                </a:solidFill>
              </a:rPr>
              <a:t>首字符不是大写字符）</a:t>
            </a:r>
          </a:p>
          <a:p>
            <a:r>
              <a:rPr lang="en-US" altLang="zh-CN" sz="2200" b="1" dirty="0">
                <a:solidFill>
                  <a:schemeClr val="tx1"/>
                </a:solidFill>
              </a:rPr>
              <a:t>False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 = "   "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&gt;&gt;&gt; s2.isspace()			# </a:t>
            </a:r>
            <a:r>
              <a:rPr lang="zh-CN" altLang="zh-CN" sz="2200" b="1" dirty="0">
                <a:solidFill>
                  <a:schemeClr val="tx1"/>
                </a:solidFill>
              </a:rPr>
              <a:t>全为空白字符，返回</a:t>
            </a:r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  <a:endParaRPr lang="zh-CN" altLang="zh-CN" sz="2200" b="1" dirty="0">
              <a:solidFill>
                <a:schemeClr val="tx1"/>
              </a:solidFill>
            </a:endParaRPr>
          </a:p>
          <a:p>
            <a:r>
              <a:rPr lang="en-US" altLang="zh-CN" sz="2200" b="1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81DB2F-8E4F-4D36-9CB4-E4367CE1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496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B57EA-56C3-4759-8DAB-CFD99140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总结</a:t>
            </a:r>
            <a:r>
              <a:rPr lang="en-US" altLang="zh-CN" dirty="0"/>
              <a:t>】3</a:t>
            </a:r>
            <a:r>
              <a:rPr lang="zh-CN" altLang="en-US" dirty="0"/>
              <a:t>个数字判定函数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56261C-049A-4A8F-85AF-6041ACF1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33D6F17-BB6D-4085-9257-789D04322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46771"/>
              </p:ext>
            </p:extLst>
          </p:nvPr>
        </p:nvGraphicFramePr>
        <p:xfrm>
          <a:off x="281536" y="838027"/>
          <a:ext cx="8127999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724288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215402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6859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数字类型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600" dirty="0"/>
                        <a:t>     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600" dirty="0"/>
                        <a:t>能否判别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74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600" dirty="0"/>
                        <a:t>全角，半角数字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isdigit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isnumeric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isdecimal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dirty="0"/>
                        <a:t>True</a:t>
                      </a:r>
                    </a:p>
                    <a:p>
                      <a:r>
                        <a:rPr lang="en-US" altLang="zh-CN" sz="2600" dirty="0"/>
                        <a:t>True</a:t>
                      </a:r>
                    </a:p>
                    <a:p>
                      <a:r>
                        <a:rPr lang="en-US" altLang="zh-CN" sz="2600" dirty="0"/>
                        <a:t>True</a:t>
                      </a:r>
                      <a:endParaRPr lang="zh-CN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6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bytes</a:t>
                      </a:r>
                      <a:r>
                        <a:rPr lang="zh-CN" altLang="en-US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数字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isdigit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isnumeric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isdecimal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dirty="0"/>
                        <a:t>True</a:t>
                      </a:r>
                    </a:p>
                    <a:p>
                      <a:r>
                        <a:rPr lang="en-US" altLang="zh-CN" sz="2600" dirty="0"/>
                        <a:t>False</a:t>
                      </a:r>
                    </a:p>
                    <a:p>
                      <a:r>
                        <a:rPr lang="en-US" altLang="zh-CN" sz="2600" dirty="0"/>
                        <a:t>False</a:t>
                      </a:r>
                      <a:endParaRPr lang="zh-CN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34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600" dirty="0"/>
                        <a:t>罗马数字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isdigit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isnumeric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isdecimal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dirty="0"/>
                        <a:t>False</a:t>
                      </a:r>
                    </a:p>
                    <a:p>
                      <a:r>
                        <a:rPr lang="en-US" altLang="zh-CN" sz="2600" dirty="0"/>
                        <a:t>True</a:t>
                      </a:r>
                    </a:p>
                    <a:p>
                      <a:r>
                        <a:rPr lang="en-US" altLang="zh-CN" sz="2600" dirty="0"/>
                        <a:t>False</a:t>
                      </a:r>
                      <a:endParaRPr lang="zh-CN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2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600" dirty="0"/>
                        <a:t>汉字“一二三</a:t>
                      </a:r>
                      <a:r>
                        <a:rPr lang="en-US" altLang="zh-CN" sz="2600" dirty="0"/>
                        <a:t>…</a:t>
                      </a:r>
                      <a:r>
                        <a:rPr lang="zh-CN" altLang="en-US" sz="2600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isdigit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isnumeric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br>
                        <a:rPr lang="en-US" altLang="zh-CN" sz="2600" dirty="0"/>
                      </a:br>
                      <a:r>
                        <a:rPr lang="en-US" altLang="zh-CN" sz="2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isdecimal</a:t>
                      </a:r>
                      <a:r>
                        <a:rPr lang="en-US" altLang="zh-CN" sz="2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dirty="0"/>
                        <a:t>False</a:t>
                      </a:r>
                    </a:p>
                    <a:p>
                      <a:r>
                        <a:rPr lang="en-US" altLang="zh-CN" sz="2600" dirty="0"/>
                        <a:t>True</a:t>
                      </a:r>
                    </a:p>
                    <a:p>
                      <a:r>
                        <a:rPr lang="en-US" altLang="zh-CN" sz="26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7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143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r>
              <a:rPr lang="en-US" altLang="zh-CN" sz="2400" cap="none" dirty="0"/>
              <a:t>6</a:t>
            </a:r>
            <a:r>
              <a:rPr lang="zh-CN" altLang="en-US" sz="2400" cap="none" dirty="0"/>
              <a:t>．</a:t>
            </a:r>
            <a:r>
              <a:rPr lang="en-US" altLang="zh-CN" sz="2400" cap="none" dirty="0"/>
              <a:t>center()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ljust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rjust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zfill</a:t>
            </a:r>
            <a:r>
              <a:rPr lang="en-US" altLang="zh-CN" sz="2400" cap="none" dirty="0"/>
              <a:t>()</a:t>
            </a:r>
            <a:endParaRPr lang="zh-CN" altLang="en-US" sz="24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924927"/>
            <a:ext cx="10081120" cy="526297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center(n)   </a:t>
            </a:r>
            <a:r>
              <a:rPr lang="zh-CN" altLang="en-US" sz="2400" b="1" dirty="0">
                <a:solidFill>
                  <a:schemeClr val="tx1"/>
                </a:solidFill>
              </a:rPr>
              <a:t>居中，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</a:rPr>
              <a:t>ljust</a:t>
            </a:r>
            <a:r>
              <a:rPr lang="en-US" altLang="zh-CN" sz="2400" b="1" dirty="0">
                <a:solidFill>
                  <a:schemeClr val="tx1"/>
                </a:solidFill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</a:rPr>
              <a:t>左对齐，</a:t>
            </a:r>
            <a:r>
              <a:rPr lang="en-US" altLang="zh-CN" sz="2400" b="1" dirty="0" err="1">
                <a:solidFill>
                  <a:schemeClr val="tx1"/>
                </a:solidFill>
              </a:rPr>
              <a:t>rjust</a:t>
            </a:r>
            <a:r>
              <a:rPr lang="zh-CN" altLang="en-US" sz="2400" b="1" dirty="0">
                <a:solidFill>
                  <a:schemeClr val="tx1"/>
                </a:solidFill>
              </a:rPr>
              <a:t>右对齐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 = "Soochow University"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s1.center(30)		# </a:t>
            </a:r>
            <a:r>
              <a:rPr lang="zh-CN" altLang="zh-CN" sz="2400" b="1" dirty="0">
                <a:solidFill>
                  <a:schemeClr val="tx1"/>
                </a:solidFill>
              </a:rPr>
              <a:t>居中对齐，两边以空格填充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      Soochow University      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s1.center(10)		# </a:t>
            </a:r>
            <a:r>
              <a:rPr lang="zh-CN" altLang="zh-CN" sz="2400" b="1" dirty="0">
                <a:solidFill>
                  <a:schemeClr val="tx1"/>
                </a:solidFill>
              </a:rPr>
              <a:t>指定宽度小于字符串长度，返回原字符串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'Soochow University'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s1.center(30, '_')		# </a:t>
            </a:r>
            <a:r>
              <a:rPr lang="zh-CN" altLang="zh-CN" sz="2400" b="1" dirty="0">
                <a:solidFill>
                  <a:schemeClr val="tx1"/>
                </a:solidFill>
              </a:rPr>
              <a:t>居中对齐，两边以</a:t>
            </a:r>
            <a:r>
              <a:rPr lang="en-US" altLang="zh-CN" sz="2400" b="1" dirty="0">
                <a:solidFill>
                  <a:schemeClr val="tx1"/>
                </a:solidFill>
              </a:rPr>
              <a:t>'_'</a:t>
            </a:r>
            <a:r>
              <a:rPr lang="zh-CN" altLang="zh-CN" sz="2400" b="1" dirty="0">
                <a:solidFill>
                  <a:schemeClr val="tx1"/>
                </a:solidFill>
              </a:rPr>
              <a:t>填充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'______Soochow University______’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s1.ljust(30, '_')		# </a:t>
            </a:r>
            <a:r>
              <a:rPr lang="zh-CN" altLang="zh-CN" sz="2400" b="1" dirty="0">
                <a:solidFill>
                  <a:schemeClr val="tx1"/>
                </a:solidFill>
              </a:rPr>
              <a:t>左对齐，右边以</a:t>
            </a:r>
            <a:r>
              <a:rPr lang="en-US" altLang="zh-CN" sz="2400" b="1" dirty="0">
                <a:solidFill>
                  <a:schemeClr val="tx1"/>
                </a:solidFill>
              </a:rPr>
              <a:t>'_'</a:t>
            </a:r>
            <a:r>
              <a:rPr lang="zh-CN" altLang="zh-CN" sz="2400" b="1" dirty="0">
                <a:solidFill>
                  <a:schemeClr val="tx1"/>
                </a:solidFill>
              </a:rPr>
              <a:t>填充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'Soochow University____________'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s1.rjust(30, '_')		# </a:t>
            </a:r>
            <a:r>
              <a:rPr lang="zh-CN" altLang="zh-CN" sz="2400" b="1" dirty="0">
                <a:solidFill>
                  <a:schemeClr val="tx1"/>
                </a:solidFill>
              </a:rPr>
              <a:t>右对齐，左边以</a:t>
            </a:r>
            <a:r>
              <a:rPr lang="en-US" altLang="zh-CN" sz="2400" b="1" dirty="0">
                <a:solidFill>
                  <a:schemeClr val="tx1"/>
                </a:solidFill>
              </a:rPr>
              <a:t>'_'</a:t>
            </a:r>
            <a:r>
              <a:rPr lang="zh-CN" altLang="zh-CN" sz="2400" b="1" dirty="0">
                <a:solidFill>
                  <a:schemeClr val="tx1"/>
                </a:solidFill>
              </a:rPr>
              <a:t>填充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'____________Soochow University’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684D08-09E7-4F23-B7C0-0F4F16A6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208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924927"/>
            <a:ext cx="10852150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# </a:t>
            </a:r>
            <a:r>
              <a:rPr lang="en-US" altLang="zh-CN" sz="2400" b="1" dirty="0" err="1">
                <a:solidFill>
                  <a:schemeClr val="tx1"/>
                </a:solidFill>
              </a:rPr>
              <a:t>zfill</a:t>
            </a:r>
            <a:r>
              <a:rPr lang="en-US" altLang="zh-CN" sz="2400" b="1" dirty="0">
                <a:solidFill>
                  <a:schemeClr val="tx1"/>
                </a:solidFill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</a:rPr>
              <a:t>左边填充</a:t>
            </a:r>
            <a:r>
              <a:rPr lang="en-US" altLang="zh-CN" sz="2400" b="1" dirty="0">
                <a:solidFill>
                  <a:schemeClr val="tx1"/>
                </a:solidFill>
              </a:rPr>
              <a:t>0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s1.zfill(30)			# </a:t>
            </a:r>
            <a:r>
              <a:rPr lang="zh-CN" altLang="zh-CN" sz="2400" b="1" dirty="0">
                <a:solidFill>
                  <a:schemeClr val="tx1"/>
                </a:solidFill>
              </a:rPr>
              <a:t>左边以</a:t>
            </a:r>
            <a:r>
              <a:rPr lang="en-US" altLang="zh-CN" sz="2400" b="1" dirty="0">
                <a:solidFill>
                  <a:schemeClr val="tx1"/>
                </a:solidFill>
              </a:rPr>
              <a:t>'0'</a:t>
            </a:r>
            <a:r>
              <a:rPr lang="zh-CN" altLang="zh-CN" sz="2400" b="1" dirty="0">
                <a:solidFill>
                  <a:schemeClr val="tx1"/>
                </a:solidFill>
              </a:rPr>
              <a:t>填充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'000000000000Soochow University'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s1.zfill(10)			# </a:t>
            </a:r>
            <a:r>
              <a:rPr lang="zh-CN" altLang="zh-CN" sz="2400" b="1" dirty="0">
                <a:solidFill>
                  <a:schemeClr val="tx1"/>
                </a:solidFill>
              </a:rPr>
              <a:t>指定宽度小于字符串长度，返回原字符串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'Soochow University’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x = '123.4567890'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x.zfill</a:t>
            </a:r>
            <a:r>
              <a:rPr lang="en-US" altLang="zh-CN" sz="2400" b="1" dirty="0">
                <a:solidFill>
                  <a:schemeClr val="tx1"/>
                </a:solidFill>
              </a:rPr>
              <a:t>(15)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'0000123.4567890'</a:t>
            </a: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684D08-09E7-4F23-B7C0-0F4F16A6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92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416" y="188640"/>
            <a:ext cx="10708134" cy="936104"/>
          </a:xfrm>
        </p:spPr>
        <p:txBody>
          <a:bodyPr>
            <a:normAutofit/>
          </a:bodyPr>
          <a:lstStyle/>
          <a:p>
            <a:r>
              <a:rPr lang="en-US" altLang="zh-CN" sz="2400" cap="none" dirty="0"/>
              <a:t>7</a:t>
            </a:r>
            <a:r>
              <a:rPr lang="zh-CN" altLang="en-US" sz="2400" cap="none" dirty="0"/>
              <a:t>．</a:t>
            </a:r>
            <a:r>
              <a:rPr lang="en-US" altLang="zh-CN" sz="2400" cap="none" dirty="0" err="1"/>
              <a:t>startswith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endswith</a:t>
            </a:r>
            <a:r>
              <a:rPr lang="en-US" altLang="zh-CN" sz="2400" cap="none" dirty="0"/>
              <a:t>()</a:t>
            </a:r>
            <a:br>
              <a:rPr lang="en-US" altLang="zh-CN" sz="2400" cap="none" dirty="0"/>
            </a:br>
            <a:r>
              <a:rPr lang="en-US" altLang="zh-CN" sz="2400" cap="none" dirty="0"/>
              <a:t>   </a:t>
            </a:r>
            <a:r>
              <a:rPr lang="zh-CN" altLang="en-US" sz="2400" cap="none" dirty="0"/>
              <a:t>是否以指定字符开头、结束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1575" y="1196752"/>
            <a:ext cx="8640960" cy="409342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s1 = "Soochow University"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s1.startswith("</a:t>
            </a:r>
            <a:r>
              <a:rPr lang="en-US" altLang="zh-CN" sz="2000" b="1" dirty="0" err="1">
                <a:solidFill>
                  <a:schemeClr val="tx1"/>
                </a:solidFill>
              </a:rPr>
              <a:t>Scoo</a:t>
            </a:r>
            <a:r>
              <a:rPr lang="en-US" altLang="zh-CN" sz="2000" b="1" dirty="0">
                <a:solidFill>
                  <a:schemeClr val="tx1"/>
                </a:solidFill>
              </a:rPr>
              <a:t>")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 err="1">
                <a:solidFill>
                  <a:schemeClr val="tx1"/>
                </a:solidFill>
              </a:rPr>
              <a:t>Scoo</a:t>
            </a:r>
            <a:r>
              <a:rPr lang="zh-CN" altLang="zh-CN" sz="2000" b="1" dirty="0">
                <a:solidFill>
                  <a:schemeClr val="tx1"/>
                </a:solidFill>
              </a:rPr>
              <a:t>开头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False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s1.startswith("</a:t>
            </a:r>
            <a:r>
              <a:rPr lang="en-US" altLang="zh-CN" sz="2000" b="1" dirty="0" err="1">
                <a:solidFill>
                  <a:schemeClr val="tx1"/>
                </a:solidFill>
              </a:rPr>
              <a:t>Soo</a:t>
            </a:r>
            <a:r>
              <a:rPr lang="en-US" altLang="zh-CN" sz="2000" b="1" dirty="0">
                <a:solidFill>
                  <a:schemeClr val="tx1"/>
                </a:solidFill>
              </a:rPr>
              <a:t>")	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 err="1">
                <a:solidFill>
                  <a:schemeClr val="tx1"/>
                </a:solidFill>
              </a:rPr>
              <a:t>Soo</a:t>
            </a:r>
            <a:r>
              <a:rPr lang="zh-CN" altLang="zh-CN" sz="2000" b="1" dirty="0">
                <a:solidFill>
                  <a:schemeClr val="tx1"/>
                </a:solidFill>
              </a:rPr>
              <a:t>开头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s1.startswith("how", 4, 6)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的下标范围</a:t>
            </a:r>
            <a:r>
              <a:rPr lang="en-US" altLang="zh-CN" sz="2000" b="1" dirty="0">
                <a:solidFill>
                  <a:schemeClr val="tx1"/>
                </a:solidFill>
              </a:rPr>
              <a:t>[4,6)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>
                <a:solidFill>
                  <a:schemeClr val="tx1"/>
                </a:solidFill>
              </a:rPr>
              <a:t>how</a:t>
            </a:r>
            <a:r>
              <a:rPr lang="zh-CN" altLang="zh-CN" sz="2000" b="1" dirty="0">
                <a:solidFill>
                  <a:schemeClr val="tx1"/>
                </a:solidFill>
              </a:rPr>
              <a:t>开头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False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s1.startswith("how", 4, 7)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的下标范围</a:t>
            </a:r>
            <a:r>
              <a:rPr lang="en-US" altLang="zh-CN" sz="2000" b="1" dirty="0">
                <a:solidFill>
                  <a:schemeClr val="tx1"/>
                </a:solidFill>
              </a:rPr>
              <a:t>[4,7)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>
                <a:solidFill>
                  <a:schemeClr val="tx1"/>
                </a:solidFill>
              </a:rPr>
              <a:t>how</a:t>
            </a:r>
            <a:r>
              <a:rPr lang="zh-CN" altLang="zh-CN" sz="2000" b="1" dirty="0">
                <a:solidFill>
                  <a:schemeClr val="tx1"/>
                </a:solidFill>
              </a:rPr>
              <a:t>开头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s1.endswith("</a:t>
            </a:r>
            <a:r>
              <a:rPr lang="en-US" altLang="zh-CN" sz="2000" b="1" dirty="0" err="1">
                <a:solidFill>
                  <a:schemeClr val="tx1"/>
                </a:solidFill>
              </a:rPr>
              <a:t>sity</a:t>
            </a:r>
            <a:r>
              <a:rPr lang="en-US" altLang="zh-CN" sz="2000" b="1" dirty="0">
                <a:solidFill>
                  <a:schemeClr val="tx1"/>
                </a:solidFill>
              </a:rPr>
              <a:t>")	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 err="1">
                <a:solidFill>
                  <a:schemeClr val="tx1"/>
                </a:solidFill>
              </a:rPr>
              <a:t>sity</a:t>
            </a:r>
            <a:r>
              <a:rPr lang="zh-CN" altLang="zh-CN" sz="2000" b="1" dirty="0">
                <a:solidFill>
                  <a:schemeClr val="tx1"/>
                </a:solidFill>
              </a:rPr>
              <a:t>结尾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True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s1.endswith("</a:t>
            </a:r>
            <a:r>
              <a:rPr lang="en-US" altLang="zh-CN" sz="2000" b="1" dirty="0" err="1">
                <a:solidFill>
                  <a:schemeClr val="tx1"/>
                </a:solidFill>
              </a:rPr>
              <a:t>sity</a:t>
            </a:r>
            <a:r>
              <a:rPr lang="en-US" altLang="zh-CN" sz="2000" b="1" dirty="0">
                <a:solidFill>
                  <a:schemeClr val="tx1"/>
                </a:solidFill>
              </a:rPr>
              <a:t>", 0, 10)	# </a:t>
            </a:r>
            <a:r>
              <a:rPr lang="zh-CN" altLang="zh-CN" sz="2000" b="1" dirty="0">
                <a:solidFill>
                  <a:schemeClr val="tx1"/>
                </a:solidFill>
              </a:rPr>
              <a:t>判断</a:t>
            </a:r>
            <a:r>
              <a:rPr lang="en-US" altLang="zh-CN" sz="2000" b="1" dirty="0">
                <a:solidFill>
                  <a:schemeClr val="tx1"/>
                </a:solidFill>
              </a:rPr>
              <a:t>s1</a:t>
            </a:r>
            <a:r>
              <a:rPr lang="zh-CN" altLang="zh-CN" sz="2000" b="1" dirty="0">
                <a:solidFill>
                  <a:schemeClr val="tx1"/>
                </a:solidFill>
              </a:rPr>
              <a:t>的下标范围</a:t>
            </a:r>
            <a:r>
              <a:rPr lang="en-US" altLang="zh-CN" sz="2000" b="1" dirty="0">
                <a:solidFill>
                  <a:schemeClr val="tx1"/>
                </a:solidFill>
              </a:rPr>
              <a:t>[0,10)</a:t>
            </a:r>
            <a:r>
              <a:rPr lang="zh-CN" altLang="zh-CN" sz="2000" b="1" dirty="0">
                <a:solidFill>
                  <a:schemeClr val="tx1"/>
                </a:solidFill>
              </a:rPr>
              <a:t>是否以</a:t>
            </a:r>
            <a:r>
              <a:rPr lang="en-US" altLang="zh-CN" sz="2000" b="1" dirty="0" err="1">
                <a:solidFill>
                  <a:schemeClr val="tx1"/>
                </a:solidFill>
              </a:rPr>
              <a:t>sity</a:t>
            </a:r>
            <a:r>
              <a:rPr lang="zh-CN" altLang="zh-CN" sz="2000" b="1" dirty="0">
                <a:solidFill>
                  <a:schemeClr val="tx1"/>
                </a:solidFill>
              </a:rPr>
              <a:t>结尾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False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558AD6-4FC2-4A18-B7E8-A92BA4FD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1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r>
              <a:rPr lang="en-US" altLang="zh-CN" sz="2400" cap="none" dirty="0"/>
              <a:t>8</a:t>
            </a:r>
            <a:r>
              <a:rPr lang="zh-CN" altLang="en-US" sz="2400" cap="none" dirty="0"/>
              <a:t>．</a:t>
            </a:r>
            <a:r>
              <a:rPr lang="en-US" altLang="zh-CN" sz="2400" cap="none" dirty="0"/>
              <a:t>join()</a:t>
            </a:r>
            <a:r>
              <a:rPr lang="zh-CN" altLang="en-US" sz="2400" cap="none" dirty="0"/>
              <a:t>、</a:t>
            </a:r>
            <a:r>
              <a:rPr lang="en-US" altLang="zh-CN" sz="2400" cap="none" dirty="0"/>
              <a:t>replace()</a:t>
            </a:r>
            <a:r>
              <a:rPr lang="zh-CN" altLang="en-US" sz="2400" cap="none" dirty="0"/>
              <a:t>、</a:t>
            </a:r>
            <a:r>
              <a:rPr lang="en-US" altLang="zh-CN" sz="2400" cap="none" dirty="0" err="1"/>
              <a:t>maketrans</a:t>
            </a:r>
            <a:r>
              <a:rPr lang="en-US" altLang="zh-CN" sz="2400" cap="none" dirty="0"/>
              <a:t>()</a:t>
            </a:r>
            <a:r>
              <a:rPr lang="zh-CN" altLang="en-US" sz="2400" cap="none" dirty="0"/>
              <a:t>、</a:t>
            </a:r>
            <a:r>
              <a:rPr lang="en-US" altLang="zh-CN" sz="2400" cap="none" dirty="0"/>
              <a:t>translate()</a:t>
            </a:r>
            <a:endParaRPr lang="zh-CN" altLang="en-US" sz="2400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422004" y="836712"/>
            <a:ext cx="10125546" cy="286232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# join </a:t>
            </a:r>
            <a:r>
              <a:rPr lang="zh-CN" altLang="en-US" sz="2000" b="1" dirty="0">
                <a:solidFill>
                  <a:schemeClr val="tx1"/>
                </a:solidFill>
              </a:rPr>
              <a:t>连接字符串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list1 = ["Soochow", "University", "is", "Beautiful"]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= ''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s1.join(list1)		# </a:t>
            </a:r>
            <a:r>
              <a:rPr lang="zh-CN" altLang="zh-CN" sz="2000" b="1" dirty="0">
                <a:solidFill>
                  <a:schemeClr val="tx1"/>
                </a:solidFill>
              </a:rPr>
              <a:t>以空字符作为连接符（单词之间没有任何分隔符）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SoochowUniversityisBeautiful</a:t>
            </a:r>
            <a:r>
              <a:rPr lang="en-US" altLang="zh-CN" sz="2000" b="1" dirty="0">
                <a:solidFill>
                  <a:schemeClr val="tx1"/>
                </a:solidFill>
              </a:rPr>
              <a:t>’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= ‘ ‘   #</a:t>
            </a:r>
            <a:r>
              <a:rPr lang="zh-CN" altLang="en-US" sz="2000" b="1" dirty="0">
                <a:solidFill>
                  <a:schemeClr val="tx1"/>
                </a:solidFill>
              </a:rPr>
              <a:t>空格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s1.join(list1)		# </a:t>
            </a:r>
            <a:r>
              <a:rPr lang="zh-CN" altLang="zh-CN" sz="2000" b="1" dirty="0">
                <a:solidFill>
                  <a:schemeClr val="tx1"/>
                </a:solidFill>
              </a:rPr>
              <a:t>以空格作为连接符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 University is Beautiful’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82B17D-FEA4-4B00-B0A5-58E11CFB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1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852150" cy="537498"/>
          </a:xfrm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422004" y="836712"/>
            <a:ext cx="10125546" cy="347787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# join </a:t>
            </a:r>
            <a:r>
              <a:rPr lang="zh-CN" altLang="en-US" sz="2000" b="1" dirty="0">
                <a:solidFill>
                  <a:schemeClr val="tx1"/>
                </a:solidFill>
              </a:rPr>
              <a:t>可以连接</a:t>
            </a:r>
            <a:r>
              <a:rPr lang="en-US" altLang="zh-CN" sz="2000" b="1" dirty="0">
                <a:solidFill>
                  <a:schemeClr val="tx1"/>
                </a:solidFill>
              </a:rPr>
              <a:t>list, tuple, set, </a:t>
            </a:r>
            <a:r>
              <a:rPr lang="en-US" altLang="zh-CN" sz="2000" b="1" dirty="0" err="1">
                <a:solidFill>
                  <a:schemeClr val="tx1"/>
                </a:solidFill>
              </a:rPr>
              <a:t>dict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tuple1 = ("Soochow", "University", "is", "Beautiful")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'_'.join(tuple1)		# </a:t>
            </a:r>
            <a:r>
              <a:rPr lang="zh-CN" altLang="zh-CN" sz="2000" b="1" dirty="0">
                <a:solidFill>
                  <a:schemeClr val="tx1"/>
                </a:solidFill>
              </a:rPr>
              <a:t>元组中的字符串也可以连接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Soochow_University_is_Beautiful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set1 = {"Soochow", "University", "is", "Beautiful"}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'_'.join(set1)		# </a:t>
            </a:r>
            <a:r>
              <a:rPr lang="zh-CN" altLang="zh-CN" sz="2000" b="1" dirty="0">
                <a:solidFill>
                  <a:schemeClr val="tx1"/>
                </a:solidFill>
              </a:rPr>
              <a:t>集合中的字符串也可以连接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University_is_Soochow_Beautiful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dict1 = {"Soochow": 1, "University": 2, "is": 3, "Beautiful": 4}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‘_’.join(dict1)	#</a:t>
            </a:r>
            <a:r>
              <a:rPr lang="zh-CN" altLang="en-US" sz="2000" b="1" dirty="0">
                <a:solidFill>
                  <a:schemeClr val="tx1"/>
                </a:solidFill>
              </a:rPr>
              <a:t>字典</a:t>
            </a:r>
            <a:r>
              <a:rPr lang="zh-CN" altLang="zh-CN" sz="2000" b="1" dirty="0">
                <a:solidFill>
                  <a:schemeClr val="tx1"/>
                </a:solidFill>
              </a:rPr>
              <a:t>的</a:t>
            </a:r>
            <a:r>
              <a:rPr lang="en-US" altLang="zh-CN" sz="2000" b="1" dirty="0">
                <a:solidFill>
                  <a:schemeClr val="tx1"/>
                </a:solidFill>
              </a:rPr>
              <a:t>key</a:t>
            </a:r>
            <a:r>
              <a:rPr lang="zh-CN" altLang="zh-CN" sz="2000" b="1" dirty="0">
                <a:solidFill>
                  <a:schemeClr val="tx1"/>
                </a:solidFill>
              </a:rPr>
              <a:t>也可以连接（默认是对字典的键操作）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Soochow_is_Beautiful_University</a:t>
            </a:r>
            <a:r>
              <a:rPr lang="en-US" altLang="zh-CN" sz="2000" b="1" dirty="0">
                <a:solidFill>
                  <a:schemeClr val="tx1"/>
                </a:solidFill>
              </a:rPr>
              <a:t>’</a:t>
            </a:r>
          </a:p>
          <a:p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82B17D-FEA4-4B00-B0A5-58E11CFB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694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852150" cy="504056"/>
          </a:xfrm>
        </p:spPr>
        <p:txBody>
          <a:bodyPr/>
          <a:lstStyle/>
          <a:p>
            <a:r>
              <a:rPr lang="zh-CN" altLang="en-US" sz="2200" dirty="0"/>
              <a:t>续上例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6" y="736310"/>
            <a:ext cx="10588480" cy="563231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# replace</a:t>
            </a:r>
            <a:r>
              <a:rPr lang="zh-CN" altLang="en-US" sz="2000" b="1" dirty="0">
                <a:solidFill>
                  <a:schemeClr val="tx1"/>
                </a:solidFill>
              </a:rPr>
              <a:t>替换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= "Because had because, so had so"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s1.replace("had", "have")			# </a:t>
            </a:r>
            <a:r>
              <a:rPr lang="zh-CN" altLang="zh-CN" sz="2000" b="1" dirty="0">
                <a:solidFill>
                  <a:schemeClr val="tx1"/>
                </a:solidFill>
              </a:rPr>
              <a:t>以</a:t>
            </a:r>
            <a:r>
              <a:rPr lang="en-US" altLang="zh-CN" sz="2000" b="1" dirty="0">
                <a:solidFill>
                  <a:schemeClr val="tx1"/>
                </a:solidFill>
              </a:rPr>
              <a:t>have</a:t>
            </a:r>
            <a:r>
              <a:rPr lang="zh-CN" altLang="zh-CN" sz="2000" b="1" dirty="0">
                <a:solidFill>
                  <a:schemeClr val="tx1"/>
                </a:solidFill>
              </a:rPr>
              <a:t>替代</a:t>
            </a:r>
            <a:r>
              <a:rPr lang="en-US" altLang="zh-CN" sz="2000" b="1" dirty="0">
                <a:solidFill>
                  <a:schemeClr val="tx1"/>
                </a:solidFill>
              </a:rPr>
              <a:t>had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'Because have because, so have so’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s1.replace("had", "have", 1)</a:t>
            </a:r>
            <a:r>
              <a:rPr lang="en-US" altLang="zh-CN" sz="2000" b="1">
                <a:solidFill>
                  <a:schemeClr val="tx1"/>
                </a:solidFill>
              </a:rPr>
              <a:t>		# </a:t>
            </a:r>
            <a:r>
              <a:rPr lang="zh-CN" altLang="zh-CN" sz="2000" b="1" dirty="0">
                <a:solidFill>
                  <a:schemeClr val="tx1"/>
                </a:solidFill>
              </a:rPr>
              <a:t>只替换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zh-CN" sz="2000" b="1" dirty="0">
                <a:solidFill>
                  <a:schemeClr val="tx1"/>
                </a:solidFill>
              </a:rPr>
              <a:t>次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'Because have because, so had so‘</a:t>
            </a: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0" i="0" dirty="0">
                <a:solidFill>
                  <a:srgbClr val="FFFFFF"/>
                </a:solidFill>
                <a:effectLst/>
                <a:latin typeface="PingFang SC"/>
              </a:rPr>
              <a:t># </a:t>
            </a:r>
            <a:r>
              <a:rPr lang="zh-CN" altLang="en-US" sz="2000" b="0" i="0" dirty="0">
                <a:solidFill>
                  <a:srgbClr val="FFFFFF"/>
                </a:solidFill>
                <a:effectLst/>
                <a:latin typeface="PingFang SC"/>
              </a:rPr>
              <a:t>根据 </a:t>
            </a:r>
            <a:r>
              <a:rPr lang="en-US" altLang="zh-CN" sz="2000" b="0" i="0" u="sng" dirty="0" err="1">
                <a:solidFill>
                  <a:srgbClr val="000000"/>
                </a:solidFill>
                <a:effectLst/>
                <a:latin typeface="PingFang SC"/>
                <a:hlinkClick r:id="rId2"/>
              </a:rPr>
              <a:t>maketrans</a:t>
            </a:r>
            <a:r>
              <a:rPr lang="en-US" altLang="zh-CN" sz="2000" b="0" i="0" u="sng" dirty="0">
                <a:solidFill>
                  <a:srgbClr val="000000"/>
                </a:solidFill>
                <a:effectLst/>
                <a:latin typeface="PingFang SC"/>
                <a:hlinkClick r:id="rId2"/>
              </a:rPr>
              <a:t>()</a:t>
            </a:r>
            <a:r>
              <a:rPr lang="zh-CN" altLang="en-US" sz="2000" b="0" i="0" dirty="0">
                <a:solidFill>
                  <a:srgbClr val="FFFFFF"/>
                </a:solidFill>
                <a:effectLst/>
                <a:latin typeface="PingFang SC"/>
              </a:rPr>
              <a:t> 方法给出的字符映射表转换字符串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= "Because had because, so had so"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table = ‘’.</a:t>
            </a:r>
            <a:r>
              <a:rPr lang="en-US" altLang="zh-CN" sz="2000" b="1" dirty="0" err="1">
                <a:solidFill>
                  <a:schemeClr val="tx1"/>
                </a:solidFill>
              </a:rPr>
              <a:t>maketrans</a:t>
            </a:r>
            <a:r>
              <a:rPr lang="en-US" altLang="zh-CN" sz="2000" b="1" dirty="0">
                <a:solidFill>
                  <a:schemeClr val="tx1"/>
                </a:solidFill>
              </a:rPr>
              <a:t>(“</a:t>
            </a:r>
            <a:r>
              <a:rPr lang="en-US" altLang="zh-CN" sz="2000" b="1" dirty="0" err="1">
                <a:solidFill>
                  <a:schemeClr val="tx1"/>
                </a:solidFill>
              </a:rPr>
              <a:t>abc</a:t>
            </a:r>
            <a:r>
              <a:rPr lang="en-US" altLang="zh-CN" sz="2000" b="1" dirty="0">
                <a:solidFill>
                  <a:schemeClr val="tx1"/>
                </a:solidFill>
              </a:rPr>
              <a:t>”, “ABC”)   # </a:t>
            </a:r>
            <a:r>
              <a:rPr lang="zh-CN" altLang="zh-CN" sz="2000" b="1" dirty="0">
                <a:solidFill>
                  <a:schemeClr val="tx1"/>
                </a:solidFill>
              </a:rPr>
              <a:t>创建映射关系</a:t>
            </a:r>
            <a:r>
              <a:rPr lang="en-US" altLang="zh-CN" sz="2000" b="1" dirty="0">
                <a:solidFill>
                  <a:schemeClr val="tx1"/>
                </a:solidFill>
              </a:rPr>
              <a:t>a-</a:t>
            </a:r>
            <a:r>
              <a:rPr lang="en-US" altLang="zh-CN" sz="2000" b="1" dirty="0" err="1">
                <a:solidFill>
                  <a:schemeClr val="tx1"/>
                </a:solidFill>
              </a:rPr>
              <a:t>A,b</a:t>
            </a:r>
            <a:r>
              <a:rPr lang="en-US" altLang="zh-CN" sz="2000" b="1" dirty="0">
                <a:solidFill>
                  <a:schemeClr val="tx1"/>
                </a:solidFill>
              </a:rPr>
              <a:t>-</a:t>
            </a:r>
            <a:r>
              <a:rPr lang="en-US" altLang="zh-CN" sz="2000" b="1" dirty="0" err="1">
                <a:solidFill>
                  <a:schemeClr val="tx1"/>
                </a:solidFill>
              </a:rPr>
              <a:t>B,c</a:t>
            </a:r>
            <a:r>
              <a:rPr lang="en-US" altLang="zh-CN" sz="2000" b="1" dirty="0">
                <a:solidFill>
                  <a:schemeClr val="tx1"/>
                </a:solidFill>
              </a:rPr>
              <a:t>-C</a:t>
            </a:r>
            <a:r>
              <a:rPr lang="zh-CN" altLang="en-US" sz="2000" b="1" dirty="0">
                <a:solidFill>
                  <a:schemeClr val="tx1"/>
                </a:solidFill>
              </a:rPr>
              <a:t>，点前是空字符串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s1.translate(table)              		# </a:t>
            </a:r>
            <a:r>
              <a:rPr lang="zh-CN" altLang="zh-CN" sz="2000" b="1" dirty="0">
                <a:solidFill>
                  <a:schemeClr val="tx1"/>
                </a:solidFill>
              </a:rPr>
              <a:t>按映射关系替换字符串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BeCAuse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hAd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BeCAuse</a:t>
            </a:r>
            <a:r>
              <a:rPr lang="en-US" altLang="zh-CN" sz="2000" b="1" dirty="0">
                <a:solidFill>
                  <a:schemeClr val="tx1"/>
                </a:solidFill>
              </a:rPr>
              <a:t>, so </a:t>
            </a:r>
            <a:r>
              <a:rPr lang="en-US" altLang="zh-CN" sz="2000" b="1" dirty="0" err="1">
                <a:solidFill>
                  <a:schemeClr val="tx1"/>
                </a:solidFill>
              </a:rPr>
              <a:t>hAd</a:t>
            </a:r>
            <a:r>
              <a:rPr lang="en-US" altLang="zh-CN" sz="2000" b="1" dirty="0">
                <a:solidFill>
                  <a:schemeClr val="tx1"/>
                </a:solidFill>
              </a:rPr>
              <a:t> so'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s1 = "Because had because, so had so"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s2 = s1.replace('a', 'A')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s3 = s2.replace('b', 'B')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s4 = s3.replace('c', 'C')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s4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BeCAuse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hAd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BeCAuse</a:t>
            </a:r>
            <a:r>
              <a:rPr lang="en-US" altLang="zh-CN" sz="2000" b="1" dirty="0">
                <a:solidFill>
                  <a:schemeClr val="tx1"/>
                </a:solidFill>
              </a:rPr>
              <a:t>, so </a:t>
            </a:r>
            <a:r>
              <a:rPr lang="en-US" altLang="zh-CN" sz="2000" b="1" dirty="0" err="1">
                <a:solidFill>
                  <a:schemeClr val="tx1"/>
                </a:solidFill>
              </a:rPr>
              <a:t>hAd</a:t>
            </a:r>
            <a:r>
              <a:rPr lang="en-US" altLang="zh-CN" sz="2000" b="1" dirty="0">
                <a:solidFill>
                  <a:schemeClr val="tx1"/>
                </a:solidFill>
              </a:rPr>
              <a:t> so'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31EEE7-DDAA-46B9-B426-9EA9DE53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2371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79000"/>
            <a:ext cx="10852150" cy="537498"/>
          </a:xfrm>
        </p:spPr>
        <p:txBody>
          <a:bodyPr/>
          <a:lstStyle/>
          <a:p>
            <a:r>
              <a:rPr lang="en-US" altLang="zh-CN" sz="2400" dirty="0"/>
              <a:t>8.1.7	</a:t>
            </a:r>
            <a:r>
              <a:rPr lang="zh-CN" altLang="en-US" sz="2400" dirty="0"/>
              <a:t>字符串常量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472" y="1124744"/>
            <a:ext cx="8136904" cy="501675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import string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r>
              <a:rPr lang="en-US" altLang="zh-CN" sz="2000" b="1" dirty="0">
                <a:solidFill>
                  <a:schemeClr val="tx1"/>
                </a:solidFill>
              </a:rPr>
              <a:t> = </a:t>
            </a:r>
            <a:r>
              <a:rPr lang="en-US" altLang="zh-CN" sz="2000" b="1" dirty="0" err="1">
                <a:solidFill>
                  <a:schemeClr val="tx1"/>
                </a:solidFill>
              </a:rPr>
              <a:t>string.ascii_lowercase</a:t>
            </a:r>
            <a:r>
              <a:rPr lang="en-US" altLang="zh-CN" sz="2000" b="1" dirty="0">
                <a:solidFill>
                  <a:schemeClr val="tx1"/>
                </a:solidFill>
              </a:rPr>
              <a:t>		# </a:t>
            </a:r>
            <a:r>
              <a:rPr lang="zh-CN" altLang="en-US" sz="2000" b="1" dirty="0">
                <a:solidFill>
                  <a:schemeClr val="tx1"/>
                </a:solidFill>
              </a:rPr>
              <a:t>所有</a:t>
            </a:r>
            <a:r>
              <a:rPr lang="zh-CN" altLang="zh-CN" sz="2000" b="1" dirty="0">
                <a:solidFill>
                  <a:schemeClr val="tx1"/>
                </a:solidFill>
              </a:rPr>
              <a:t>小写字符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abcdefghijklmnopqrstuvwxyz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r>
              <a:rPr lang="en-US" altLang="zh-CN" sz="2000" b="1" dirty="0">
                <a:solidFill>
                  <a:schemeClr val="tx1"/>
                </a:solidFill>
              </a:rPr>
              <a:t> = </a:t>
            </a:r>
            <a:r>
              <a:rPr lang="en-US" altLang="zh-CN" sz="2000" b="1" dirty="0" err="1">
                <a:solidFill>
                  <a:schemeClr val="tx1"/>
                </a:solidFill>
              </a:rPr>
              <a:t>string.ascii_uppercase</a:t>
            </a:r>
            <a:r>
              <a:rPr lang="en-US" altLang="zh-CN" sz="2000" b="1" dirty="0">
                <a:solidFill>
                  <a:schemeClr val="tx1"/>
                </a:solidFill>
              </a:rPr>
              <a:t>  		# </a:t>
            </a:r>
            <a:r>
              <a:rPr lang="zh-CN" altLang="zh-CN" sz="2000" b="1" dirty="0">
                <a:solidFill>
                  <a:schemeClr val="tx1"/>
                </a:solidFill>
              </a:rPr>
              <a:t>大写字符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'ABCDEFGHIJKLMNOPQRSTUVWXYZ'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r>
              <a:rPr lang="en-US" altLang="zh-CN" sz="2000" b="1" dirty="0">
                <a:solidFill>
                  <a:schemeClr val="tx1"/>
                </a:solidFill>
              </a:rPr>
              <a:t> = </a:t>
            </a:r>
            <a:r>
              <a:rPr lang="en-US" altLang="zh-CN" sz="2000" b="1" dirty="0" err="1">
                <a:solidFill>
                  <a:schemeClr val="tx1"/>
                </a:solidFill>
              </a:rPr>
              <a:t>string.ascii_letters</a:t>
            </a:r>
            <a:r>
              <a:rPr lang="en-US" altLang="zh-CN" sz="2000" b="1" dirty="0">
                <a:solidFill>
                  <a:schemeClr val="tx1"/>
                </a:solidFill>
              </a:rPr>
              <a:t>			# </a:t>
            </a:r>
            <a:r>
              <a:rPr lang="zh-CN" altLang="zh-CN" sz="2000" b="1" dirty="0">
                <a:solidFill>
                  <a:schemeClr val="tx1"/>
                </a:solidFill>
              </a:rPr>
              <a:t>大小写字符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abcdefghijklmnopqrstuvwxyzABCDEFGHIJKLMNOPQRSTUVWXYZ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r>
              <a:rPr lang="en-US" altLang="zh-CN" sz="2000" b="1" dirty="0">
                <a:solidFill>
                  <a:schemeClr val="tx1"/>
                </a:solidFill>
              </a:rPr>
              <a:t> = </a:t>
            </a:r>
            <a:r>
              <a:rPr lang="en-US" altLang="zh-CN" sz="2000" b="1" dirty="0" err="1">
                <a:solidFill>
                  <a:schemeClr val="tx1"/>
                </a:solidFill>
              </a:rPr>
              <a:t>string.digits</a:t>
            </a:r>
            <a:r>
              <a:rPr lang="en-US" altLang="zh-CN" sz="2000" b="1" dirty="0">
                <a:solidFill>
                  <a:schemeClr val="tx1"/>
                </a:solidFill>
              </a:rPr>
              <a:t>				# </a:t>
            </a:r>
            <a:r>
              <a:rPr lang="zh-CN" altLang="zh-CN" sz="2000" b="1" dirty="0">
                <a:solidFill>
                  <a:schemeClr val="tx1"/>
                </a:solidFill>
              </a:rPr>
              <a:t>数字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'0123456789'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r>
              <a:rPr lang="en-US" altLang="zh-CN" sz="2000" b="1" dirty="0">
                <a:solidFill>
                  <a:schemeClr val="tx1"/>
                </a:solidFill>
              </a:rPr>
              <a:t> = </a:t>
            </a:r>
            <a:r>
              <a:rPr lang="en-US" altLang="zh-CN" sz="2000" b="1" dirty="0" err="1">
                <a:solidFill>
                  <a:schemeClr val="tx1"/>
                </a:solidFill>
              </a:rPr>
              <a:t>string.punctuation</a:t>
            </a:r>
            <a:r>
              <a:rPr lang="en-US" altLang="zh-CN" sz="2000" b="1" dirty="0">
                <a:solidFill>
                  <a:schemeClr val="tx1"/>
                </a:solidFill>
              </a:rPr>
              <a:t>     		# </a:t>
            </a:r>
            <a:r>
              <a:rPr lang="zh-CN" altLang="zh-CN" sz="2000" b="1" dirty="0">
                <a:solidFill>
                  <a:schemeClr val="tx1"/>
                </a:solidFill>
              </a:rPr>
              <a:t>标点符号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chs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'!"#$%&amp;\'()*+,-./:;&lt;=&gt;?@[\\]^_`{|}~'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F96128-2D52-4EEA-B27D-10166EEC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1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8.2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正则表达式</a:t>
            </a:r>
            <a:r>
              <a:rPr lang="en-US" altLang="zh-CN" kern="1200">
                <a:latin typeface="+mj-lt"/>
                <a:ea typeface="+mj-ea"/>
                <a:cs typeface="+mj-cs"/>
              </a:rPr>
              <a:t>*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84C219-5068-4835-9682-8A064133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8.2.1 </a:t>
            </a:r>
            <a:r>
              <a:rPr lang="zh-CN" altLang="en-US" dirty="0"/>
              <a:t>正则表达式语言概述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677035"/>
            <a:ext cx="10852150" cy="4344253"/>
          </a:xfrm>
        </p:spPr>
        <p:txBody>
          <a:bodyPr/>
          <a:lstStyle/>
          <a:p>
            <a:r>
              <a:rPr lang="zh-CN" altLang="en-US" dirty="0"/>
              <a:t>正则表达式（</a:t>
            </a:r>
            <a:r>
              <a:rPr lang="en-US" altLang="zh-CN" dirty="0"/>
              <a:t>Regular Expression</a:t>
            </a:r>
            <a:r>
              <a:rPr lang="zh-CN" altLang="en-US" dirty="0"/>
              <a:t>）是一种文本模式，包括普通字符和特殊字符（称为“元字符”）</a:t>
            </a:r>
            <a:endParaRPr lang="en-US" altLang="zh-CN" dirty="0"/>
          </a:p>
          <a:p>
            <a:r>
              <a:rPr lang="zh-CN" altLang="en-US" dirty="0"/>
              <a:t>正则表达式使用单个字符串来描述、匹配一系列符合某个句法规则（也称为模式）的字符串。</a:t>
            </a:r>
            <a:endParaRPr lang="en-US" altLang="zh-CN" dirty="0"/>
          </a:p>
          <a:p>
            <a:r>
              <a:rPr lang="en-US" altLang="zh-CN" dirty="0"/>
              <a:t>re</a:t>
            </a:r>
            <a:r>
              <a:rPr lang="zh-CN" altLang="en-US" dirty="0"/>
              <a:t>模块使</a:t>
            </a:r>
            <a:r>
              <a:rPr lang="en-US" altLang="zh-CN" dirty="0"/>
              <a:t>Python</a:t>
            </a:r>
            <a:r>
              <a:rPr lang="zh-CN" altLang="en-US" dirty="0"/>
              <a:t>语言拥有了全部的正则表达式功能。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B7226C-531A-4594-AA01-52B526B4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8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60648"/>
            <a:ext cx="10852150" cy="7169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8.2.2 </a:t>
            </a:r>
            <a:r>
              <a:rPr lang="zh-CN" altLang="en-US" dirty="0"/>
              <a:t>元字符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80728"/>
            <a:ext cx="10970691" cy="756687"/>
          </a:xfrm>
        </p:spPr>
        <p:txBody>
          <a:bodyPr>
            <a:normAutofit/>
          </a:bodyPr>
          <a:lstStyle/>
          <a:p>
            <a:r>
              <a:rPr lang="zh-CN" altLang="en-US" sz="3800" dirty="0"/>
              <a:t>有一些特殊字符，在匹配中表示特殊含义。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77138"/>
              </p:ext>
            </p:extLst>
          </p:nvPr>
        </p:nvGraphicFramePr>
        <p:xfrm>
          <a:off x="2207568" y="1774522"/>
          <a:ext cx="8640960" cy="48948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7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元字符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匹配除换行符以外的任何单个字符。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匹配以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后面的字符开头的字符串。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$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匹配以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$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前面的字符结束的字符串。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之前重复出现任意多次（包括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次）的字符，等价于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{0,}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之前重复出现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次或多次的字符，等价于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{1,}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6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之前的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个或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个字符。该元字符可以和其它元字符（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{n,}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{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m,n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）配合使用，表示“非贪心”匹配模式。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\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表示位于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\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之后的字符为转义字符。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之前或之后的字符。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匹配指定范围内的任意字符。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[]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中的任意一个字符。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{m,n}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{ }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之前的字符最少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次，最多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次。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2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将位于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内的内容作为一个整体来对待，相当于子模式。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318B07-32C7-48D5-909A-E09E08BF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84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8.2.3 </a:t>
            </a:r>
            <a:r>
              <a:rPr lang="zh-CN" altLang="en-US" sz="2800" dirty="0"/>
              <a:t>常用的正则表达式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764704"/>
            <a:ext cx="10441160" cy="844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．字符类</a:t>
            </a:r>
            <a:r>
              <a:rPr lang="en-US" altLang="zh-CN" sz="2800" dirty="0"/>
              <a:t>: </a:t>
            </a:r>
            <a:r>
              <a:rPr lang="zh-CN" altLang="zh-CN" sz="2800" dirty="0"/>
              <a:t>字符类是由一对方括号括起来的字符集合，表示匹配方括号内的任意一个字符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79376" y="1628800"/>
            <a:ext cx="10585176" cy="147732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chemeClr val="tx1"/>
                </a:solidFill>
              </a:rPr>
              <a:t>[</a:t>
            </a:r>
            <a:r>
              <a:rPr lang="en-US" altLang="zh-CN" b="1" dirty="0" err="1">
                <a:solidFill>
                  <a:schemeClr val="tx1"/>
                </a:solidFill>
              </a:rPr>
              <a:t>abc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r>
              <a:rPr lang="zh-CN" altLang="zh-CN" b="1" dirty="0">
                <a:solidFill>
                  <a:schemeClr val="tx1"/>
                </a:solidFill>
              </a:rPr>
              <a:t>：匹配包含在</a:t>
            </a:r>
            <a:r>
              <a:rPr lang="en-US" altLang="zh-CN" b="1" dirty="0">
                <a:solidFill>
                  <a:schemeClr val="tx1"/>
                </a:solidFill>
              </a:rPr>
              <a:t>[]</a:t>
            </a:r>
            <a:r>
              <a:rPr lang="zh-CN" altLang="zh-CN" b="1" dirty="0">
                <a:solidFill>
                  <a:schemeClr val="tx1"/>
                </a:solidFill>
              </a:rPr>
              <a:t>内的任意一个字符。比如，</a:t>
            </a:r>
            <a:r>
              <a:rPr lang="en-US" altLang="zh-CN" b="1" dirty="0">
                <a:solidFill>
                  <a:schemeClr val="tx1"/>
                </a:solidFill>
              </a:rPr>
              <a:t>'[</a:t>
            </a:r>
            <a:r>
              <a:rPr lang="en-US" altLang="zh-CN" b="1" dirty="0" err="1">
                <a:solidFill>
                  <a:schemeClr val="tx1"/>
                </a:solidFill>
              </a:rPr>
              <a:t>abc</a:t>
            </a:r>
            <a:r>
              <a:rPr lang="en-US" altLang="zh-CN" b="1" dirty="0">
                <a:solidFill>
                  <a:schemeClr val="tx1"/>
                </a:solidFill>
              </a:rPr>
              <a:t>]rank'</a:t>
            </a:r>
            <a:r>
              <a:rPr lang="zh-CN" altLang="zh-CN" b="1" dirty="0">
                <a:solidFill>
                  <a:schemeClr val="tx1"/>
                </a:solidFill>
              </a:rPr>
              <a:t>可以匹配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r>
              <a:rPr lang="en-US" altLang="zh-CN" b="1" dirty="0" err="1">
                <a:solidFill>
                  <a:schemeClr val="tx1"/>
                </a:solidFill>
              </a:rPr>
              <a:t>arank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'brank'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'crank'</a:t>
            </a:r>
            <a:r>
              <a:rPr lang="zh-CN" altLang="zh-CN" b="1" dirty="0">
                <a:solidFill>
                  <a:schemeClr val="tx1"/>
                </a:solidFill>
              </a:rPr>
              <a:t>等。</a:t>
            </a:r>
          </a:p>
          <a:p>
            <a:pPr lvl="0"/>
            <a:r>
              <a:rPr lang="en-US" altLang="zh-CN" b="1" dirty="0">
                <a:solidFill>
                  <a:schemeClr val="tx1"/>
                </a:solidFill>
              </a:rPr>
              <a:t>[^</a:t>
            </a:r>
            <a:r>
              <a:rPr lang="en-US" altLang="zh-CN" b="1" dirty="0" err="1">
                <a:solidFill>
                  <a:schemeClr val="tx1"/>
                </a:solidFill>
              </a:rPr>
              <a:t>abc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r>
              <a:rPr lang="zh-CN" altLang="zh-CN" b="1" dirty="0">
                <a:solidFill>
                  <a:schemeClr val="tx1"/>
                </a:solidFill>
              </a:rPr>
              <a:t>：匹配不在</a:t>
            </a:r>
            <a:r>
              <a:rPr lang="en-US" altLang="zh-CN" b="1" dirty="0">
                <a:solidFill>
                  <a:schemeClr val="tx1"/>
                </a:solidFill>
              </a:rPr>
              <a:t>[]</a:t>
            </a:r>
            <a:r>
              <a:rPr lang="zh-CN" altLang="zh-CN" b="1" dirty="0">
                <a:solidFill>
                  <a:schemeClr val="tx1"/>
                </a:solidFill>
              </a:rPr>
              <a:t>内的任意字符。比如</a:t>
            </a:r>
            <a:r>
              <a:rPr lang="en-US" altLang="zh-CN" b="1" dirty="0">
                <a:solidFill>
                  <a:schemeClr val="tx1"/>
                </a:solidFill>
              </a:rPr>
              <a:t>'[^</a:t>
            </a:r>
            <a:r>
              <a:rPr lang="en-US" altLang="zh-CN" b="1" dirty="0" err="1">
                <a:solidFill>
                  <a:schemeClr val="tx1"/>
                </a:solidFill>
              </a:rPr>
              <a:t>abc</a:t>
            </a:r>
            <a:r>
              <a:rPr lang="en-US" altLang="zh-CN" b="1" dirty="0">
                <a:solidFill>
                  <a:schemeClr val="tx1"/>
                </a:solidFill>
              </a:rPr>
              <a:t>]rank'</a:t>
            </a:r>
            <a:r>
              <a:rPr lang="zh-CN" altLang="zh-CN" b="1" dirty="0">
                <a:solidFill>
                  <a:schemeClr val="tx1"/>
                </a:solidFill>
              </a:rPr>
              <a:t>可以匹配</a:t>
            </a:r>
            <a:r>
              <a:rPr lang="en-US" altLang="zh-CN" b="1" dirty="0">
                <a:solidFill>
                  <a:schemeClr val="tx1"/>
                </a:solidFill>
              </a:rPr>
              <a:t>'drank'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r>
              <a:rPr lang="en-US" altLang="zh-CN" b="1" dirty="0" err="1">
                <a:solidFill>
                  <a:schemeClr val="tx1"/>
                </a:solidFill>
              </a:rPr>
              <a:t>erank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r>
              <a:rPr lang="zh-CN" altLang="zh-CN" b="1" dirty="0">
                <a:solidFill>
                  <a:schemeClr val="tx1"/>
                </a:solidFill>
              </a:rPr>
              <a:t>等（第一个字符不能是</a:t>
            </a:r>
            <a:br>
              <a:rPr lang="en-US" altLang="zh-CN" b="1" dirty="0">
                <a:solidFill>
                  <a:schemeClr val="tx1"/>
                </a:solidFill>
              </a:rPr>
            </a:br>
            <a:r>
              <a:rPr lang="en-US" altLang="zh-CN" b="1" dirty="0">
                <a:solidFill>
                  <a:schemeClr val="tx1"/>
                </a:solidFill>
              </a:rPr>
              <a:t>               'a'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'b'</a:t>
            </a:r>
            <a:r>
              <a:rPr lang="zh-CN" altLang="zh-CN" b="1" dirty="0">
                <a:solidFill>
                  <a:schemeClr val="tx1"/>
                </a:solidFill>
              </a:rPr>
              <a:t>或</a:t>
            </a:r>
            <a:r>
              <a:rPr lang="en-US" altLang="zh-CN" b="1" dirty="0">
                <a:solidFill>
                  <a:schemeClr val="tx1"/>
                </a:solidFill>
              </a:rPr>
              <a:t>'c'</a:t>
            </a:r>
            <a:r>
              <a:rPr lang="zh-CN" altLang="zh-CN" b="1" dirty="0">
                <a:solidFill>
                  <a:schemeClr val="tx1"/>
                </a:solidFill>
              </a:rPr>
              <a:t>）。</a:t>
            </a:r>
          </a:p>
          <a:p>
            <a:pPr lvl="0"/>
            <a:r>
              <a:rPr lang="en-US" altLang="zh-CN" b="1" dirty="0">
                <a:solidFill>
                  <a:schemeClr val="tx1"/>
                </a:solidFill>
              </a:rPr>
              <a:t>[a-z]</a:t>
            </a:r>
            <a:r>
              <a:rPr lang="zh-CN" altLang="zh-CN" b="1" dirty="0">
                <a:solidFill>
                  <a:schemeClr val="tx1"/>
                </a:solidFill>
              </a:rPr>
              <a:t>：匹配指定范围</a:t>
            </a:r>
            <a:r>
              <a:rPr lang="en-US" altLang="zh-CN" b="1" dirty="0">
                <a:solidFill>
                  <a:schemeClr val="tx1"/>
                </a:solidFill>
              </a:rPr>
              <a:t>a-z</a:t>
            </a:r>
            <a:r>
              <a:rPr lang="zh-CN" altLang="zh-CN" b="1" dirty="0">
                <a:solidFill>
                  <a:schemeClr val="tx1"/>
                </a:solidFill>
              </a:rPr>
              <a:t>的任意字符，类似的写法还有</a:t>
            </a:r>
            <a:r>
              <a:rPr lang="en-US" altLang="zh-CN" b="1" dirty="0">
                <a:solidFill>
                  <a:schemeClr val="tx1"/>
                </a:solidFill>
              </a:rPr>
              <a:t>[0-9]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[a-</a:t>
            </a:r>
            <a:r>
              <a:rPr lang="en-US" altLang="zh-CN" b="1" dirty="0" err="1">
                <a:solidFill>
                  <a:schemeClr val="tx1"/>
                </a:solidFill>
              </a:rPr>
              <a:t>zA</a:t>
            </a:r>
            <a:r>
              <a:rPr lang="en-US" altLang="zh-CN" b="1" dirty="0">
                <a:solidFill>
                  <a:schemeClr val="tx1"/>
                </a:solidFill>
              </a:rPr>
              <a:t>-Z]</a:t>
            </a:r>
            <a:r>
              <a:rPr lang="zh-CN" altLang="zh-CN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[a-zA-Z0-9]</a:t>
            </a:r>
            <a:r>
              <a:rPr lang="zh-CN" altLang="zh-CN" b="1" dirty="0">
                <a:solidFill>
                  <a:schemeClr val="tx1"/>
                </a:solidFill>
              </a:rPr>
              <a:t>。</a:t>
            </a:r>
          </a:p>
          <a:p>
            <a:pPr lvl="0"/>
            <a:r>
              <a:rPr lang="en-US" altLang="zh-CN" b="1" dirty="0">
                <a:solidFill>
                  <a:schemeClr val="tx1"/>
                </a:solidFill>
              </a:rPr>
              <a:t>[^a-z]</a:t>
            </a:r>
            <a:r>
              <a:rPr lang="zh-CN" altLang="zh-CN" b="1" dirty="0">
                <a:solidFill>
                  <a:schemeClr val="tx1"/>
                </a:solidFill>
              </a:rPr>
              <a:t>：匹配指定范围之外的任意字符。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871900"/>
              </p:ext>
            </p:extLst>
          </p:nvPr>
        </p:nvGraphicFramePr>
        <p:xfrm>
          <a:off x="498177" y="3382596"/>
          <a:ext cx="7344816" cy="2885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8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预定义字符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\d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匹配十进制数字，相当于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[0-9]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\D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匹配任何非数字字符，相当于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[^0-9]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\s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匹配任何空白字符，相当于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[\t\n\r\f\v]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\S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匹配任何非空白字符，相当于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[^\t\n\r\f\v]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\w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匹配任何单词字符，相当于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[a-zA-Z0-9_]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1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\W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匹配任何非单词字符，相当于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[^a-zA-Z0-9_]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55EC98-F139-4ABC-B37A-4549D2B4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2598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2</a:t>
            </a:r>
            <a:r>
              <a:rPr lang="zh-CN" altLang="en-US" sz="4000" dirty="0"/>
              <a:t>．选择</a:t>
            </a:r>
            <a:r>
              <a:rPr lang="en-US" altLang="zh-CN" sz="4000" dirty="0"/>
              <a:t>'|'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160146"/>
            <a:ext cx="10657184" cy="1476628"/>
          </a:xfrm>
        </p:spPr>
        <p:txBody>
          <a:bodyPr>
            <a:normAutofit/>
          </a:bodyPr>
          <a:lstStyle/>
          <a:p>
            <a:r>
              <a:rPr lang="zh-CN" altLang="en-US" dirty="0"/>
              <a:t>匹配多个表达式中的一个。</a:t>
            </a:r>
            <a:endParaRPr lang="en-US" altLang="zh-CN" dirty="0"/>
          </a:p>
          <a:p>
            <a:r>
              <a:rPr lang="en-US" altLang="zh-CN" dirty="0"/>
              <a:t>'|'</a:t>
            </a:r>
            <a:r>
              <a:rPr lang="zh-CN" altLang="zh-CN" dirty="0"/>
              <a:t>的优先级最低，通常使用圆括号来限定其作用范围。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5400" y="2492896"/>
            <a:ext cx="10729192" cy="353943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tx1"/>
                </a:solidFill>
              </a:rPr>
              <a:t>例如：</a:t>
            </a:r>
            <a:r>
              <a:rPr lang="en-US" altLang="zh-CN" sz="2800" b="1" dirty="0">
                <a:solidFill>
                  <a:schemeClr val="tx1"/>
                </a:solidFill>
              </a:rPr>
              <a:t>'(</a:t>
            </a:r>
            <a:r>
              <a:rPr lang="en-US" altLang="zh-CN" sz="2800" b="1" dirty="0" err="1">
                <a:solidFill>
                  <a:schemeClr val="tx1"/>
                </a:solidFill>
              </a:rPr>
              <a:t>a|b</a:t>
            </a:r>
            <a:r>
              <a:rPr lang="en-US" altLang="zh-CN" sz="2800" b="1" dirty="0">
                <a:solidFill>
                  <a:schemeClr val="tx1"/>
                </a:solidFill>
              </a:rPr>
              <a:t>)+c'</a:t>
            </a:r>
            <a:r>
              <a:rPr lang="zh-CN" altLang="zh-CN" sz="2800" b="1" dirty="0">
                <a:solidFill>
                  <a:schemeClr val="tx1"/>
                </a:solidFill>
              </a:rPr>
              <a:t>表示匹配至少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zh-CN" sz="2800" b="1" dirty="0">
                <a:solidFill>
                  <a:schemeClr val="tx1"/>
                </a:solidFill>
              </a:rPr>
              <a:t>个</a:t>
            </a:r>
            <a:r>
              <a:rPr lang="en-US" altLang="zh-CN" sz="2800" b="1" dirty="0">
                <a:solidFill>
                  <a:schemeClr val="tx1"/>
                </a:solidFill>
              </a:rPr>
              <a:t>a</a:t>
            </a:r>
            <a:r>
              <a:rPr lang="zh-CN" altLang="zh-CN" sz="2800" b="1" dirty="0">
                <a:solidFill>
                  <a:schemeClr val="tx1"/>
                </a:solidFill>
              </a:rPr>
              <a:t>或</a:t>
            </a:r>
            <a:r>
              <a:rPr lang="en-US" altLang="zh-CN" sz="2800" b="1" dirty="0">
                <a:solidFill>
                  <a:schemeClr val="tx1"/>
                </a:solidFill>
              </a:rPr>
              <a:t>b</a:t>
            </a:r>
            <a:r>
              <a:rPr lang="zh-CN" altLang="zh-CN" sz="2800" b="1" dirty="0">
                <a:solidFill>
                  <a:schemeClr val="tx1"/>
                </a:solidFill>
              </a:rPr>
              <a:t>，后面紧跟一个字符</a:t>
            </a:r>
            <a:r>
              <a:rPr lang="en-US" altLang="zh-CN" sz="2800" b="1" dirty="0">
                <a:solidFill>
                  <a:schemeClr val="tx1"/>
                </a:solidFill>
              </a:rPr>
              <a:t>c</a:t>
            </a:r>
            <a:r>
              <a:rPr lang="zh-CN" altLang="zh-CN" sz="2800" b="1" dirty="0">
                <a:solidFill>
                  <a:schemeClr val="tx1"/>
                </a:solidFill>
              </a:rPr>
              <a:t>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0"/>
            <a:endParaRPr lang="en-US" altLang="zh-CN" sz="28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800" b="1" dirty="0">
                <a:solidFill>
                  <a:schemeClr val="tx1"/>
                </a:solidFill>
              </a:rPr>
              <a:t>【</a:t>
            </a:r>
            <a:r>
              <a:rPr lang="zh-CN" altLang="en-US" sz="2800" b="1" dirty="0">
                <a:solidFill>
                  <a:schemeClr val="tx1"/>
                </a:solidFill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</a:rPr>
              <a:t>】</a:t>
            </a:r>
            <a:r>
              <a:rPr lang="zh-CN" altLang="en-US" sz="2800" b="1" dirty="0">
                <a:solidFill>
                  <a:schemeClr val="tx1"/>
                </a:solidFill>
              </a:rPr>
              <a:t>固定电话号的匹配。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0"/>
            <a:r>
              <a:rPr lang="zh-CN" altLang="zh-CN" sz="2800" b="1" dirty="0">
                <a:solidFill>
                  <a:schemeClr val="tx1"/>
                </a:solidFill>
              </a:rPr>
              <a:t>固定电话号码的构成</a:t>
            </a:r>
            <a:r>
              <a:rPr lang="zh-CN" altLang="en-US" sz="2800" b="1" dirty="0">
                <a:solidFill>
                  <a:schemeClr val="tx1"/>
                </a:solidFill>
              </a:rPr>
              <a:t>：</a:t>
            </a:r>
            <a:r>
              <a:rPr lang="zh-CN" altLang="zh-CN" sz="2800" b="1" dirty="0">
                <a:solidFill>
                  <a:schemeClr val="tx1"/>
                </a:solidFill>
              </a:rPr>
              <a:t>“区号</a:t>
            </a:r>
            <a:r>
              <a:rPr lang="en-US" altLang="zh-CN" sz="2800" b="1" dirty="0">
                <a:solidFill>
                  <a:schemeClr val="tx1"/>
                </a:solidFill>
              </a:rPr>
              <a:t>-</a:t>
            </a:r>
            <a:r>
              <a:rPr lang="zh-CN" altLang="zh-CN" sz="2800" b="1" dirty="0">
                <a:solidFill>
                  <a:schemeClr val="tx1"/>
                </a:solidFill>
              </a:rPr>
              <a:t>电话号码”，区号为</a:t>
            </a:r>
            <a:r>
              <a:rPr lang="en-US" altLang="zh-CN" sz="2800" b="1" dirty="0">
                <a:solidFill>
                  <a:schemeClr val="tx1"/>
                </a:solidFill>
              </a:rPr>
              <a:t>3</a:t>
            </a:r>
            <a:r>
              <a:rPr lang="zh-CN" altLang="zh-CN" sz="2800" b="1" dirty="0">
                <a:solidFill>
                  <a:schemeClr val="tx1"/>
                </a:solidFill>
              </a:rPr>
              <a:t>位或</a:t>
            </a:r>
            <a:r>
              <a:rPr lang="en-US" altLang="zh-CN" sz="2800" b="1" dirty="0">
                <a:solidFill>
                  <a:schemeClr val="tx1"/>
                </a:solidFill>
              </a:rPr>
              <a:t>4</a:t>
            </a:r>
            <a:r>
              <a:rPr lang="zh-CN" altLang="zh-CN" sz="2800" b="1" dirty="0">
                <a:solidFill>
                  <a:schemeClr val="tx1"/>
                </a:solidFill>
              </a:rPr>
              <a:t>位，电话号码为</a:t>
            </a:r>
            <a:r>
              <a:rPr lang="en-US" altLang="zh-CN" sz="2800" b="1" dirty="0">
                <a:solidFill>
                  <a:schemeClr val="tx1"/>
                </a:solidFill>
              </a:rPr>
              <a:t>8</a:t>
            </a:r>
            <a:r>
              <a:rPr lang="zh-CN" altLang="zh-CN" sz="2800" b="1" dirty="0">
                <a:solidFill>
                  <a:schemeClr val="tx1"/>
                </a:solidFill>
              </a:rPr>
              <a:t>位，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0"/>
            <a:r>
              <a:rPr lang="zh-CN" altLang="zh-CN" sz="2800" b="1" dirty="0">
                <a:solidFill>
                  <a:schemeClr val="tx1"/>
                </a:solidFill>
              </a:rPr>
              <a:t>其正则表达式可以写成：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800" b="1" dirty="0">
                <a:solidFill>
                  <a:schemeClr val="tx1"/>
                </a:solidFill>
              </a:rPr>
              <a:t>	r'((0\d{2}|0\d{3})-\d{8})’</a:t>
            </a:r>
          </a:p>
          <a:p>
            <a:pPr lvl="0"/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D6F9F1-17C6-4344-8615-147F18F2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294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</a:t>
            </a:r>
            <a:r>
              <a:rPr lang="zh-CN" altLang="en-US" sz="4000" dirty="0"/>
              <a:t>．重复 </a:t>
            </a:r>
            <a:r>
              <a:rPr lang="en-US" altLang="zh-CN" sz="4000" dirty="0"/>
              <a:t>* + ? {</a:t>
            </a:r>
            <a:r>
              <a:rPr lang="en-US" altLang="zh-CN" sz="4000" dirty="0" err="1"/>
              <a:t>m,n</a:t>
            </a:r>
            <a:r>
              <a:rPr lang="en-US" altLang="zh-CN" sz="4000" dirty="0"/>
              <a:t>}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803101"/>
            <a:ext cx="11305256" cy="844203"/>
          </a:xfrm>
        </p:spPr>
        <p:txBody>
          <a:bodyPr/>
          <a:lstStyle/>
          <a:p>
            <a:r>
              <a:rPr lang="zh-CN" altLang="en-US" dirty="0"/>
              <a:t>常用的具有重复功能的元字符有</a:t>
            </a:r>
            <a:r>
              <a:rPr lang="en-US" altLang="zh-CN" dirty="0"/>
              <a:t>'*'</a:t>
            </a:r>
            <a:r>
              <a:rPr lang="zh-CN" altLang="en-US" dirty="0"/>
              <a:t>、</a:t>
            </a:r>
            <a:r>
              <a:rPr lang="en-US" altLang="zh-CN" dirty="0"/>
              <a:t>'+'</a:t>
            </a:r>
            <a:r>
              <a:rPr lang="zh-CN" altLang="en-US" dirty="0"/>
              <a:t>、</a:t>
            </a:r>
            <a:r>
              <a:rPr lang="en-US" altLang="zh-CN" dirty="0"/>
              <a:t>'?'</a:t>
            </a:r>
            <a:r>
              <a:rPr lang="zh-CN" altLang="en-US" dirty="0"/>
              <a:t>、</a:t>
            </a:r>
            <a:r>
              <a:rPr lang="en-US" altLang="zh-CN" dirty="0"/>
              <a:t>'{</a:t>
            </a:r>
            <a:r>
              <a:rPr lang="en-US" altLang="zh-CN" dirty="0" err="1"/>
              <a:t>m,n</a:t>
            </a:r>
            <a:r>
              <a:rPr lang="en-US" altLang="zh-CN" dirty="0"/>
              <a:t>}'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05746"/>
              </p:ext>
            </p:extLst>
          </p:nvPr>
        </p:nvGraphicFramePr>
        <p:xfrm>
          <a:off x="263352" y="1629792"/>
          <a:ext cx="11593288" cy="37318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2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x*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等价于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x{0,}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'Su*'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Suuu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x+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等价于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x{1,}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'Su+'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等，但不匹配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4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x?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等价于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x{0,1}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'Su?'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，其他一律不匹配。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80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x{m,n}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至少重复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次，最多重复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次，例如，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'Su{1,3}'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Suuu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4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x{n}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重复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次，例如，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'Su{2}'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，但不能匹配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72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x{m,}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至少重复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次，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{1,}'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等，但不匹配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'S'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559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x\num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引用分组（子模式）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num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匹配到的字符串，例如，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'(x)(y)\2'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，该表达式中的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'\2'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表示引用第二个分组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'(y)'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A7EBE2-2470-499B-AB87-314244A4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6163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4</a:t>
            </a:r>
            <a:r>
              <a:rPr lang="zh-CN" altLang="en-US" sz="2800" dirty="0"/>
              <a:t>．子模式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重复元字符表示可以重复前导字符，但仅作用于它前面的单个字符。</a:t>
            </a:r>
            <a:endParaRPr lang="en-US" altLang="zh-CN" dirty="0"/>
          </a:p>
          <a:p>
            <a:r>
              <a:rPr lang="zh-CN" altLang="zh-CN" dirty="0"/>
              <a:t>如果需要重复多个字符，则需要把正则表达式的一部分放在圆括号（</a:t>
            </a:r>
            <a:r>
              <a:rPr lang="en-US" altLang="zh-CN" dirty="0"/>
              <a:t>()</a:t>
            </a:r>
            <a:r>
              <a:rPr lang="zh-CN" altLang="zh-CN" dirty="0"/>
              <a:t>也是元字符）里，形成子模式，然后对整个子模式使用重复元字符实现多个字符的重复功能。</a:t>
            </a:r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zh-CN" altLang="zh-CN" dirty="0"/>
              <a:t>正则表达式</a:t>
            </a:r>
            <a:r>
              <a:rPr lang="en-US" altLang="zh-CN" dirty="0"/>
              <a:t>'(ab)*c'</a:t>
            </a:r>
            <a:r>
              <a:rPr lang="zh-CN" altLang="zh-CN" dirty="0"/>
              <a:t>可以匹配</a:t>
            </a:r>
            <a:r>
              <a:rPr lang="en-US" altLang="zh-CN" dirty="0"/>
              <a:t>'c'</a:t>
            </a:r>
            <a:r>
              <a:rPr lang="zh-CN" altLang="zh-CN" dirty="0"/>
              <a:t>、</a:t>
            </a:r>
            <a:r>
              <a:rPr lang="en-US" altLang="zh-CN" dirty="0"/>
              <a:t>'</a:t>
            </a:r>
            <a:r>
              <a:rPr lang="en-US" altLang="zh-CN" dirty="0" err="1"/>
              <a:t>abc</a:t>
            </a:r>
            <a:r>
              <a:rPr lang="en-US" altLang="zh-CN" dirty="0"/>
              <a:t>'</a:t>
            </a:r>
            <a:r>
              <a:rPr lang="zh-CN" altLang="zh-CN" dirty="0"/>
              <a:t>、</a:t>
            </a:r>
            <a:r>
              <a:rPr lang="en-US" altLang="zh-CN" dirty="0"/>
              <a:t>'</a:t>
            </a:r>
            <a:r>
              <a:rPr lang="en-US" altLang="zh-CN" dirty="0" err="1"/>
              <a:t>ababc</a:t>
            </a:r>
            <a:r>
              <a:rPr lang="en-US" altLang="zh-CN" dirty="0"/>
              <a:t>'</a:t>
            </a:r>
            <a:r>
              <a:rPr lang="zh-CN" altLang="zh-CN" dirty="0"/>
              <a:t>、</a:t>
            </a:r>
            <a:r>
              <a:rPr lang="en-US" altLang="zh-CN" dirty="0"/>
              <a:t>'</a:t>
            </a:r>
            <a:r>
              <a:rPr lang="en-US" altLang="zh-CN" dirty="0" err="1"/>
              <a:t>abababc</a:t>
            </a:r>
            <a:r>
              <a:rPr lang="en-US" altLang="zh-CN" dirty="0"/>
              <a:t>'</a:t>
            </a:r>
            <a:r>
              <a:rPr lang="zh-CN" altLang="zh-CN" dirty="0"/>
              <a:t>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743CF-4DA7-4715-ADEB-84C1128A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3048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5</a:t>
            </a:r>
            <a:r>
              <a:rPr lang="zh-CN" altLang="en-US" sz="2800" dirty="0"/>
              <a:t>．边界匹配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738962"/>
            <a:ext cx="4273947" cy="612671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常用的边界匹配元字符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69252"/>
              </p:ext>
            </p:extLst>
          </p:nvPr>
        </p:nvGraphicFramePr>
        <p:xfrm>
          <a:off x="479376" y="1227861"/>
          <a:ext cx="11231252" cy="54029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8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边界匹配元字符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功能及举例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表示匹配字符串的开头。例如，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'^a'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匹配以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开头的字符串。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$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表示匹配字符串的末尾。例如，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'a$'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匹配以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结尾的字符串；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'^[a-z]{1}Z$'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匹配以小写字母开头、以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'Z'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结束的字符串。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0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\b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表示单词边界，例如，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r'\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bSu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\b'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.'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'(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)’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endParaRPr lang="en-US" altLang="zh-CN" sz="24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 Zhou'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，但不匹配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SuZhou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。又如，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r'\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ba.b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\b'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afb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，但不匹配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'ab'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abcd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afbcd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\B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表示非单词边界，例如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r'Su\B'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匹配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'SuZhou'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'Susan'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，但不匹配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'JiangSu'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\A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表示匹配字符串开始。例如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r'\A\d+'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在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'1234suzhou5678'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中匹配的是</a:t>
                      </a: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'1234'</a:t>
                      </a:r>
                      <a:r>
                        <a:rPr lang="zh-CN" sz="2400" b="1" kern="10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</a:rPr>
                        <a:t>\Z</a:t>
                      </a:r>
                      <a:endParaRPr lang="zh-CN" sz="24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表示匹配字符串结束，如果是存在换行，只匹配到换行前的结束字符串。例如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r'\d+\Z'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在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'1234suzhou5678'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中匹配的是</a:t>
                      </a:r>
                      <a:r>
                        <a:rPr lang="en-US" sz="2400" b="1" kern="100" dirty="0">
                          <a:solidFill>
                            <a:schemeClr val="tx1"/>
                          </a:solidFill>
                          <a:effectLst/>
                        </a:rPr>
                        <a:t>'5678'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2D5FBA-4909-4D4D-81AB-ADAF3EDB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0495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722B24-044A-42B0-AF6C-27806004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C8F5A8-AFFA-490E-AD32-8288A51E28CD}"/>
              </a:ext>
            </a:extLst>
          </p:cNvPr>
          <p:cNvSpPr txBox="1"/>
          <p:nvPr/>
        </p:nvSpPr>
        <p:spPr>
          <a:xfrm>
            <a:off x="263352" y="1124744"/>
            <a:ext cx="11377264" cy="2677656"/>
          </a:xfrm>
          <a:prstGeom prst="rect">
            <a:avLst/>
          </a:prstGeom>
          <a:noFill/>
          <a:ln w="9525" cap="flat" cmpd="sng" algn="ctr">
            <a:solidFill>
              <a:srgbClr val="FFFF00"/>
            </a:solidFill>
            <a:prstDash val="solid"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FFFFFF"/>
                </a:solidFill>
                <a:latin typeface="Arial Unicode MS"/>
                <a:ea typeface="Menlo"/>
              </a:rPr>
              <a:t>^</a:t>
            </a:r>
            <a:r>
              <a:rPr lang="zh-CN" altLang="en-US" sz="2400" dirty="0">
                <a:solidFill>
                  <a:srgbClr val="FFFFFF"/>
                </a:solidFill>
                <a:latin typeface="Arial Unicode MS"/>
                <a:ea typeface="Menlo"/>
              </a:rPr>
              <a:t>和</a:t>
            </a:r>
            <a:r>
              <a:rPr lang="en-US" altLang="zh-CN" sz="2400" dirty="0">
                <a:solidFill>
                  <a:srgbClr val="FFFFFF"/>
                </a:solidFill>
                <a:latin typeface="Arial Unicode MS"/>
                <a:ea typeface="Menlo"/>
              </a:rPr>
              <a:t>\A</a:t>
            </a:r>
            <a:r>
              <a:rPr lang="zh-CN" altLang="en-US" sz="2400" dirty="0">
                <a:solidFill>
                  <a:srgbClr val="FFFFFF"/>
                </a:solidFill>
                <a:latin typeface="Arial Unicode MS"/>
                <a:ea typeface="Menlo"/>
              </a:rPr>
              <a:t>的区别：</a:t>
            </a:r>
            <a:endParaRPr lang="en-US" altLang="zh-CN" sz="2400" dirty="0">
              <a:solidFill>
                <a:srgbClr val="FFFFFF"/>
              </a:solidFill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Menlo"/>
              </a:rPr>
              <a:t>&gt;&gt;&gt; re.search(r'^word', 'Line one\nword on line two\n', flags=re.M)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Unicode MS"/>
              <a:ea typeface="Menlo"/>
            </a:endParaRPr>
          </a:p>
          <a:p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Menlo"/>
              </a:rPr>
              <a:t>&lt;_sre.SRE_Match object at 0x10124f578&gt;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Menlo"/>
              </a:rPr>
              <a:t>&gt;&gt;&gt; re.search(r'\Aword', 'Line one\nword on line two\n', flags=re.M) is None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9FD384-9667-4347-9E2C-ED93A16F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A591B58-0EAC-441A-B893-08379769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7220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6</a:t>
            </a:r>
            <a:r>
              <a:rPr lang="zh-CN" altLang="en-US" sz="2800" dirty="0"/>
              <a:t>．“贪心”和“非贪心”匹配算法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9746555" cy="1404759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在默认情况下，</a:t>
            </a:r>
            <a:r>
              <a:rPr lang="en-US" altLang="zh-CN" sz="2400" dirty="0"/>
              <a:t>Python</a:t>
            </a:r>
            <a:r>
              <a:rPr lang="zh-CN" altLang="en-US" sz="2400" dirty="0"/>
              <a:t>正则表达式的匹配算法采用贪心算法。</a:t>
            </a:r>
            <a:endParaRPr lang="en-US" altLang="zh-CN" sz="2400" dirty="0"/>
          </a:p>
          <a:p>
            <a:r>
              <a:rPr lang="zh-CN" altLang="zh-CN" sz="2400" dirty="0"/>
              <a:t>假设有待匹配的字符串</a:t>
            </a:r>
            <a:r>
              <a:rPr lang="en-US" altLang="zh-CN" sz="2400" dirty="0"/>
              <a:t>‘&lt;0510&gt;&lt;0512&gt;’</a:t>
            </a:r>
            <a:r>
              <a:rPr lang="zh-CN" altLang="zh-CN" sz="2400" dirty="0"/>
              <a:t>，现在设计一个正则表达式</a:t>
            </a:r>
            <a:r>
              <a:rPr lang="en-US" altLang="zh-CN" sz="2400" dirty="0"/>
              <a:t>‘&lt;.+&gt;’</a:t>
            </a:r>
            <a:r>
              <a:rPr lang="zh-CN" altLang="zh-CN" sz="2400" dirty="0"/>
              <a:t>，该正则表达式对字符串</a:t>
            </a:r>
            <a:r>
              <a:rPr lang="en-US" altLang="zh-CN" sz="2400" dirty="0"/>
              <a:t>‘&lt;0510&gt;&lt;0512&gt;’</a:t>
            </a:r>
            <a:r>
              <a:rPr lang="zh-CN" altLang="zh-CN" sz="2400" dirty="0"/>
              <a:t>的匹配过程</a:t>
            </a:r>
            <a:r>
              <a:rPr lang="zh-CN" altLang="en-US" sz="2400" dirty="0"/>
              <a:t>下</a:t>
            </a:r>
            <a:r>
              <a:rPr lang="zh-CN" altLang="zh-CN" sz="2400" dirty="0"/>
              <a:t>表所示。</a:t>
            </a:r>
            <a:endParaRPr lang="zh-CN" altLang="en-US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560066"/>
              </p:ext>
            </p:extLst>
          </p:nvPr>
        </p:nvGraphicFramePr>
        <p:xfrm>
          <a:off x="1415480" y="2708920"/>
          <a:ext cx="9433048" cy="37444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0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40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步骤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匹配字符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8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Step1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&lt; 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匹配正则表达式中的</a:t>
                      </a: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8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Step2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&lt;0510&gt;&lt;0512&gt;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由于“贪心”匹配算法尽可能多的匹配字符，所以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.+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匹配的是所有字符（除换行符）。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8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Step3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失败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匹配算法试图匹配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，但是由于“贪心”，此时已经到字符串的结尾了，所以匹配不到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，匹配失败。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8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Step4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&lt;0510&gt;&lt;0512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于是匹配回溯（退回），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.+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尝试少匹配一个字符，即匹配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&lt;0510&gt;&lt;0512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80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Step5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&lt;0510&gt;&lt;0512&gt;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再次尝试匹配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，当前位置上的字符正好是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，匹配成功。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DD5989-0261-42FD-B974-5D1AE0AA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026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620688"/>
            <a:ext cx="10945216" cy="230425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“贪心”匹配算法实际上是得到了一个最长的匹配。如果我们希望匹配的算法不要那么“贪心”，而是匹配出尽可能短的结果，则可以使用“非贪心”匹配算法。</a:t>
            </a:r>
            <a:endParaRPr lang="en-US" altLang="zh-CN" sz="2400" dirty="0">
              <a:latin typeface="+mn-ea"/>
              <a:ea typeface="+mn-ea"/>
            </a:endParaRPr>
          </a:p>
          <a:p>
            <a:r>
              <a:rPr lang="zh-CN" altLang="zh-CN" sz="2400" dirty="0">
                <a:latin typeface="+mn-ea"/>
                <a:ea typeface="+mn-ea"/>
              </a:rPr>
              <a:t>“非贪心”匹配算法只需要在重复元字符后面加上符号</a:t>
            </a:r>
            <a:r>
              <a:rPr lang="en-US" altLang="zh-CN" sz="2400" dirty="0">
                <a:latin typeface="+mn-ea"/>
                <a:ea typeface="+mn-ea"/>
              </a:rPr>
              <a:t>‘?’</a:t>
            </a:r>
            <a:r>
              <a:rPr lang="zh-CN" altLang="zh-CN" sz="2400" dirty="0">
                <a:latin typeface="+mn-ea"/>
                <a:ea typeface="+mn-ea"/>
              </a:rPr>
              <a:t>即可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487488" y="3429000"/>
            <a:ext cx="8856984" cy="193899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*?</a:t>
            </a:r>
            <a:r>
              <a:rPr lang="zh-CN" altLang="zh-CN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     </a:t>
            </a:r>
            <a:r>
              <a:rPr lang="zh-CN" altLang="zh-CN" sz="2400" b="1" dirty="0">
                <a:solidFill>
                  <a:schemeClr val="tx1"/>
                </a:solidFill>
              </a:rPr>
              <a:t>重复任意次（包括</a:t>
            </a:r>
            <a:r>
              <a:rPr lang="en-US" altLang="zh-CN" sz="2400" b="1" dirty="0">
                <a:solidFill>
                  <a:schemeClr val="tx1"/>
                </a:solidFill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</a:rPr>
              <a:t>次），但尽可能地少重复。</a:t>
            </a: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+?</a:t>
            </a:r>
            <a:r>
              <a:rPr lang="zh-CN" altLang="zh-CN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	 </a:t>
            </a:r>
            <a:r>
              <a:rPr lang="zh-CN" altLang="zh-CN" sz="2400" b="1" dirty="0">
                <a:solidFill>
                  <a:schemeClr val="tx1"/>
                </a:solidFill>
              </a:rPr>
              <a:t>重复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</a:rPr>
              <a:t>次或多次，但尽可能地少重复。</a:t>
            </a: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??</a:t>
            </a:r>
            <a:r>
              <a:rPr lang="zh-CN" altLang="zh-CN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	 </a:t>
            </a:r>
            <a:r>
              <a:rPr lang="zh-CN" altLang="zh-CN" sz="2400" b="1" dirty="0">
                <a:solidFill>
                  <a:schemeClr val="tx1"/>
                </a:solidFill>
              </a:rPr>
              <a:t>重复</a:t>
            </a:r>
            <a:r>
              <a:rPr lang="en-US" altLang="zh-CN" sz="2400" b="1" dirty="0">
                <a:solidFill>
                  <a:schemeClr val="tx1"/>
                </a:solidFill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</a:rPr>
              <a:t>次或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</a:rPr>
              <a:t>次，但尽可能地少重复。</a:t>
            </a: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{</a:t>
            </a:r>
            <a:r>
              <a:rPr lang="en-US" altLang="zh-CN" sz="2400" b="1" dirty="0" err="1">
                <a:solidFill>
                  <a:schemeClr val="tx1"/>
                </a:solidFill>
              </a:rPr>
              <a:t>m,n</a:t>
            </a:r>
            <a:r>
              <a:rPr lang="en-US" altLang="zh-CN" sz="2400" b="1" dirty="0">
                <a:solidFill>
                  <a:schemeClr val="tx1"/>
                </a:solidFill>
              </a:rPr>
              <a:t>}?: </a:t>
            </a:r>
            <a:r>
              <a:rPr lang="zh-CN" altLang="zh-CN" sz="2400" b="1" dirty="0">
                <a:solidFill>
                  <a:schemeClr val="tx1"/>
                </a:solidFill>
              </a:rPr>
              <a:t>重复至少</a:t>
            </a:r>
            <a:r>
              <a:rPr lang="en-US" altLang="zh-CN" sz="2400" b="1" dirty="0">
                <a:solidFill>
                  <a:schemeClr val="tx1"/>
                </a:solidFill>
              </a:rPr>
              <a:t>m</a:t>
            </a:r>
            <a:r>
              <a:rPr lang="zh-CN" altLang="zh-CN" sz="2400" b="1" dirty="0">
                <a:solidFill>
                  <a:schemeClr val="tx1"/>
                </a:solidFill>
              </a:rPr>
              <a:t>次，最多</a:t>
            </a:r>
            <a:r>
              <a:rPr lang="en-US" altLang="zh-CN" sz="2400" b="1" dirty="0">
                <a:solidFill>
                  <a:schemeClr val="tx1"/>
                </a:solidFill>
              </a:rPr>
              <a:t>n</a:t>
            </a:r>
            <a:r>
              <a:rPr lang="zh-CN" altLang="zh-CN" sz="2400" b="1" dirty="0">
                <a:solidFill>
                  <a:schemeClr val="tx1"/>
                </a:solidFill>
              </a:rPr>
              <a:t>次，但尽可能地少重复。</a:t>
            </a: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{m,}?</a:t>
            </a:r>
            <a:r>
              <a:rPr lang="zh-CN" altLang="zh-CN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zh-CN" altLang="zh-CN" sz="2400" b="1" dirty="0">
                <a:solidFill>
                  <a:schemeClr val="tx1"/>
                </a:solidFill>
              </a:rPr>
              <a:t>重复至少</a:t>
            </a:r>
            <a:r>
              <a:rPr lang="en-US" altLang="zh-CN" sz="2400" b="1" dirty="0">
                <a:solidFill>
                  <a:schemeClr val="tx1"/>
                </a:solidFill>
              </a:rPr>
              <a:t>m</a:t>
            </a:r>
            <a:r>
              <a:rPr lang="zh-CN" altLang="zh-CN" sz="2400" b="1" dirty="0">
                <a:solidFill>
                  <a:schemeClr val="tx1"/>
                </a:solidFill>
              </a:rPr>
              <a:t>次，但尽可能地少重复。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BEFA0E-D35A-4C78-BBBC-E81ADAC6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2842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260648"/>
            <a:ext cx="10852150" cy="716915"/>
          </a:xfrm>
        </p:spPr>
        <p:txBody>
          <a:bodyPr/>
          <a:lstStyle/>
          <a:p>
            <a:r>
              <a:rPr lang="en-US" altLang="zh-CN" sz="2800" dirty="0"/>
              <a:t>8.2.4 </a:t>
            </a:r>
            <a:r>
              <a:rPr lang="zh-CN" altLang="en-US" sz="2800" dirty="0"/>
              <a:t>正则表达式模块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764704"/>
            <a:ext cx="7298283" cy="612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．</a:t>
            </a:r>
            <a:r>
              <a:rPr lang="en-US" altLang="zh-CN" sz="2400" dirty="0"/>
              <a:t>re</a:t>
            </a:r>
            <a:r>
              <a:rPr lang="zh-CN" altLang="en-US" sz="2400" dirty="0"/>
              <a:t>模块主要方法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294012"/>
              </p:ext>
            </p:extLst>
          </p:nvPr>
        </p:nvGraphicFramePr>
        <p:xfrm>
          <a:off x="1055440" y="1377376"/>
          <a:ext cx="10369152" cy="5354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3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85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chemeClr val="tx1"/>
                          </a:solidFill>
                          <a:effectLst/>
                        </a:rPr>
                        <a:t>功能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match(pattern, string[, flags])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尝试从字符串的起始位置匹配一个模式，匹配成功返回一个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match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对象，否则返回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search(pattern, string[, flags])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扫描整个字符串并返回第一个成功的匹配，匹配成功返回一个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match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对象，否则返回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None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58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sub(pattern, 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repl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, string[, count=0])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用于替换字符串中的匹配项，返回新字符串。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pattern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是正则表达式的模式字符串。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repl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表示替换的字符串，也可为一个函数。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是要被查找替换的原始字符串。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count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为模式匹配后替换的最大次数，默认值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表示替换所有的匹配。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subn(pattern, repl, string[, count=0])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sub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类似，但是返回的是新字符串和替换次数的二元组。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findall (pattern, string[, flags])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在字符串中找到正则表达式所匹配的所有子串，并返回一个列表，如果没有找到匹配的子串，则返回空列表。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finditer(pattern, string[, flags])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和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</a:rPr>
                        <a:t>findall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类似，在字符串中找到正则表达式所匹配的所有子串，并把它们作为一个迭代器返回。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split(pattern, string[, maxsplit=0])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按照能够匹配的子串将字符串分隔后返回列表。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229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chemeClr val="tx1"/>
                          </a:solidFill>
                          <a:effectLst/>
                        </a:rPr>
                        <a:t>compile(pattern[, flags])</a:t>
                      </a:r>
                      <a:endParaRPr lang="zh-CN" sz="18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用于编译正则表达式，生成一个正则表达式（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Pattern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）对象，供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match()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和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</a:rPr>
                        <a:t>search()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</a:rPr>
                        <a:t>这两个函数使用。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2416F3-8030-4E7A-8EF7-A2B30878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892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476673"/>
            <a:ext cx="9433048" cy="1728191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正则表达式可以包含一些可选的标记修饰符，来控制匹配的模式，如要多个标记组合使用，可用</a:t>
            </a:r>
            <a:r>
              <a:rPr lang="en-US" altLang="zh-CN" sz="2400" dirty="0"/>
              <a:t>'|'</a:t>
            </a:r>
            <a:r>
              <a:rPr lang="zh-CN" altLang="en-US" sz="2400" dirty="0"/>
              <a:t>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207692"/>
              </p:ext>
            </p:extLst>
          </p:nvPr>
        </p:nvGraphicFramePr>
        <p:xfrm>
          <a:off x="2135560" y="1772816"/>
          <a:ext cx="7992888" cy="42484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标记修饰符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re.I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使匹配对大小写不敏感。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re.L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做本地化识别（</a:t>
                      </a: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locale-aware</a:t>
                      </a: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）匹配。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re.M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多行匹配。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re.S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使</a:t>
                      </a: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'.'</a:t>
                      </a: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匹配包括换行在内的任意字符。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96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re.U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根据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Unicode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字符集解析字符。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674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re.X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忽略模式（正则表达式）中的空格，并可以使用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#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注释。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CD4CEA-8653-4C84-8574-3FF479B0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538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1"/>
            <a:ext cx="10852150" cy="576064"/>
          </a:xfrm>
        </p:spPr>
        <p:txBody>
          <a:bodyPr/>
          <a:lstStyle/>
          <a:p>
            <a:r>
              <a:rPr lang="en-US" altLang="zh-CN" sz="2800" dirty="0"/>
              <a:t>2</a:t>
            </a:r>
            <a:r>
              <a:rPr lang="zh-CN" altLang="en-US" sz="2800" dirty="0"/>
              <a:t>．	使用</a:t>
            </a:r>
            <a:r>
              <a:rPr lang="en-US" altLang="zh-CN" sz="2800" dirty="0"/>
              <a:t>re</a:t>
            </a:r>
            <a:r>
              <a:rPr lang="zh-CN" altLang="en-US" sz="2800" dirty="0"/>
              <a:t>模块方法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376" y="692696"/>
            <a:ext cx="11161240" cy="594008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import re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re.findall</a:t>
            </a:r>
            <a:r>
              <a:rPr lang="en-US" altLang="zh-CN" sz="2000" b="1" dirty="0">
                <a:solidFill>
                  <a:schemeClr val="tx1"/>
                </a:solidFill>
              </a:rPr>
              <a:t>('[a-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-Z]+', str1)   		# </a:t>
            </a:r>
            <a:r>
              <a:rPr lang="zh-CN" altLang="zh-CN" sz="2000" b="1" dirty="0">
                <a:solidFill>
                  <a:schemeClr val="tx1"/>
                </a:solidFill>
              </a:rPr>
              <a:t>找出所有单词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['Soochow', 'University', 'is', 'Beautiful’]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re.finditer</a:t>
            </a:r>
            <a:r>
              <a:rPr lang="en-US" altLang="zh-CN" sz="2000" b="1" dirty="0">
                <a:solidFill>
                  <a:schemeClr val="tx1"/>
                </a:solidFill>
              </a:rPr>
              <a:t>('[a-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-Z]+', str1)		# </a:t>
            </a:r>
            <a:r>
              <a:rPr lang="zh-CN" altLang="zh-CN" sz="2000" b="1" dirty="0">
                <a:solidFill>
                  <a:schemeClr val="tx1"/>
                </a:solidFill>
              </a:rPr>
              <a:t>返回可迭代对象，每项都是</a:t>
            </a:r>
            <a:r>
              <a:rPr lang="en-US" altLang="zh-CN" sz="2000" b="1" dirty="0">
                <a:solidFill>
                  <a:schemeClr val="tx1"/>
                </a:solidFill>
              </a:rPr>
              <a:t>match</a:t>
            </a:r>
            <a:r>
              <a:rPr lang="zh-CN" altLang="zh-CN" sz="2000" b="1" dirty="0">
                <a:solidFill>
                  <a:schemeClr val="tx1"/>
                </a:solidFill>
              </a:rPr>
              <a:t>对象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 err="1">
                <a:solidFill>
                  <a:schemeClr val="tx1"/>
                </a:solidFill>
              </a:rPr>
              <a:t>callable_iterator</a:t>
            </a:r>
            <a:r>
              <a:rPr lang="en-US" altLang="zh-CN" sz="2000" b="1" dirty="0">
                <a:solidFill>
                  <a:schemeClr val="tx1"/>
                </a:solidFill>
              </a:rPr>
              <a:t> object at 0x00000000033686A0&gt;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list(</a:t>
            </a:r>
            <a:r>
              <a:rPr lang="en-US" altLang="zh-CN" sz="2000" b="1" dirty="0" err="1">
                <a:solidFill>
                  <a:schemeClr val="tx1"/>
                </a:solidFill>
              </a:rPr>
              <a:t>re.finditer</a:t>
            </a:r>
            <a:r>
              <a:rPr lang="en-US" altLang="zh-CN" sz="2000" b="1" dirty="0">
                <a:solidFill>
                  <a:schemeClr val="tx1"/>
                </a:solidFill>
              </a:rPr>
              <a:t>('[a-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-Z]+', str1))		# </a:t>
            </a:r>
            <a:r>
              <a:rPr lang="zh-CN" altLang="zh-CN" sz="2000" b="1" dirty="0">
                <a:solidFill>
                  <a:schemeClr val="tx1"/>
                </a:solidFill>
              </a:rPr>
              <a:t>将可迭代对象转换为列表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[&lt;_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span=(0, 7), match='Soochow'&gt;, 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span=(8, 18), match='University'&gt;, 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span=(19, 21), match='is'&gt;, 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span=(22, 31), match='Beautiful’&gt;]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M = </a:t>
            </a:r>
            <a:r>
              <a:rPr lang="en-US" altLang="zh-CN" sz="2000" b="1" dirty="0" err="1">
                <a:solidFill>
                  <a:schemeClr val="tx1"/>
                </a:solidFill>
              </a:rPr>
              <a:t>re.finditer</a:t>
            </a:r>
            <a:r>
              <a:rPr lang="en-US" altLang="zh-CN" sz="2000" b="1" dirty="0">
                <a:solidFill>
                  <a:schemeClr val="tx1"/>
                </a:solidFill>
              </a:rPr>
              <a:t>('[a-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-Z]+', 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for </a:t>
            </a:r>
            <a:r>
              <a:rPr lang="en-US" altLang="zh-CN" sz="2000" b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in M:			# </a:t>
            </a:r>
            <a:r>
              <a:rPr lang="zh-CN" altLang="zh-CN" sz="2000" b="1" dirty="0">
                <a:solidFill>
                  <a:schemeClr val="tx1"/>
                </a:solidFill>
              </a:rPr>
              <a:t>遍历可迭代对象</a:t>
            </a:r>
            <a:r>
              <a:rPr lang="en-US" altLang="zh-CN" sz="2000" b="1" dirty="0">
                <a:solidFill>
                  <a:schemeClr val="tx1"/>
                </a:solidFill>
              </a:rPr>
              <a:t>M</a:t>
            </a:r>
            <a:r>
              <a:rPr lang="zh-CN" altLang="zh-CN" sz="2000" b="1" dirty="0">
                <a:solidFill>
                  <a:schemeClr val="tx1"/>
                </a:solidFill>
              </a:rPr>
              <a:t>，使用</a:t>
            </a:r>
            <a:r>
              <a:rPr lang="en-US" altLang="zh-CN" sz="2000" b="1" dirty="0">
                <a:solidFill>
                  <a:schemeClr val="tx1"/>
                </a:solidFill>
              </a:rPr>
              <a:t>match</a:t>
            </a:r>
            <a:r>
              <a:rPr lang="zh-CN" altLang="zh-CN" sz="2000" b="1" dirty="0">
                <a:solidFill>
                  <a:schemeClr val="tx1"/>
                </a:solidFill>
              </a:rPr>
              <a:t>对象的</a:t>
            </a:r>
            <a:r>
              <a:rPr lang="en-US" altLang="zh-CN" sz="2000" b="1" dirty="0">
                <a:solidFill>
                  <a:schemeClr val="tx1"/>
                </a:solidFill>
              </a:rPr>
              <a:t>group()</a:t>
            </a:r>
            <a:r>
              <a:rPr lang="zh-CN" altLang="zh-CN" sz="2000" b="1" dirty="0">
                <a:solidFill>
                  <a:schemeClr val="tx1"/>
                </a:solidFill>
              </a:rPr>
              <a:t>方法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	    </a:t>
            </a:r>
            <a:r>
              <a:rPr lang="en-US" altLang="zh-CN" sz="2000" b="1" dirty="0" err="1">
                <a:solidFill>
                  <a:schemeClr val="tx1"/>
                </a:solidFill>
              </a:rPr>
              <a:t>i.group</a:t>
            </a:r>
            <a:r>
              <a:rPr lang="en-US" altLang="zh-CN" sz="2000" b="1" dirty="0">
                <a:solidFill>
                  <a:schemeClr val="tx1"/>
                </a:solidFill>
              </a:rPr>
              <a:t>()			# group()</a:t>
            </a:r>
            <a:r>
              <a:rPr lang="zh-CN" altLang="zh-CN" sz="2000" b="1" dirty="0">
                <a:solidFill>
                  <a:schemeClr val="tx1"/>
                </a:solidFill>
              </a:rPr>
              <a:t>方法后面将详细介绍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'University'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'is'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'Beautiful’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480CF3-ACC7-4548-8670-44CA681E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7406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1"/>
            <a:ext cx="10852150" cy="576064"/>
          </a:xfrm>
        </p:spPr>
        <p:txBody>
          <a:bodyPr/>
          <a:lstStyle/>
          <a:p>
            <a:r>
              <a:rPr lang="en-US" altLang="zh-CN" sz="2800" dirty="0"/>
              <a:t>2</a:t>
            </a:r>
            <a:r>
              <a:rPr lang="zh-CN" altLang="en-US" sz="2800" dirty="0"/>
              <a:t>．	使用</a:t>
            </a:r>
            <a:r>
              <a:rPr lang="en-US" altLang="zh-CN" sz="2800" dirty="0"/>
              <a:t>re</a:t>
            </a:r>
            <a:r>
              <a:rPr lang="zh-CN" altLang="en-US" sz="2800" dirty="0"/>
              <a:t>模块方法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1464" y="692696"/>
            <a:ext cx="9505056" cy="286232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re.split</a:t>
            </a:r>
            <a:r>
              <a:rPr lang="en-US" altLang="zh-CN" sz="2000" b="1" dirty="0">
                <a:solidFill>
                  <a:schemeClr val="tx1"/>
                </a:solidFill>
              </a:rPr>
              <a:t>('\W+', str1)			# '\W'</a:t>
            </a:r>
            <a:r>
              <a:rPr lang="zh-CN" altLang="zh-CN" sz="2000" b="1" dirty="0">
                <a:solidFill>
                  <a:schemeClr val="tx1"/>
                </a:solidFill>
              </a:rPr>
              <a:t>表示非单词字符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['Soochow', 'University', 'is', 'Beautiful’]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re.split</a:t>
            </a:r>
            <a:r>
              <a:rPr lang="en-US" altLang="zh-CN" sz="2000" b="1" dirty="0">
                <a:solidFill>
                  <a:schemeClr val="tx1"/>
                </a:solidFill>
              </a:rPr>
              <a:t>('\W+', str1, 1)			# </a:t>
            </a:r>
            <a:r>
              <a:rPr lang="zh-CN" altLang="zh-CN" sz="2000" b="1" dirty="0">
                <a:solidFill>
                  <a:schemeClr val="tx1"/>
                </a:solidFill>
              </a:rPr>
              <a:t>分隔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zh-CN" sz="2000" b="1" dirty="0">
                <a:solidFill>
                  <a:schemeClr val="tx1"/>
                </a:solidFill>
              </a:rPr>
              <a:t>次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['Soochow', 'University is Beautiful’]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re.sub</a:t>
            </a:r>
            <a:r>
              <a:rPr lang="en-US" altLang="zh-CN" sz="2000" b="1" dirty="0">
                <a:solidFill>
                  <a:schemeClr val="tx1"/>
                </a:solidFill>
              </a:rPr>
              <a:t>('Soochow', '</a:t>
            </a:r>
            <a:r>
              <a:rPr lang="en-US" altLang="zh-CN" sz="20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000" b="1" dirty="0">
                <a:solidFill>
                  <a:schemeClr val="tx1"/>
                </a:solidFill>
              </a:rPr>
              <a:t>', str1)		# </a:t>
            </a:r>
            <a:r>
              <a:rPr lang="zh-CN" altLang="zh-CN" sz="2000" b="1" dirty="0">
                <a:solidFill>
                  <a:schemeClr val="tx1"/>
                </a:solidFill>
              </a:rPr>
              <a:t>字符串替换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r>
              <a:rPr lang="en-US" altLang="zh-CN" sz="2000" b="1" dirty="0" err="1">
                <a:solidFill>
                  <a:schemeClr val="tx1"/>
                </a:solidFill>
              </a:rPr>
              <a:t>SuZhou</a:t>
            </a:r>
            <a:r>
              <a:rPr lang="en-US" altLang="zh-CN" sz="2000" b="1" dirty="0">
                <a:solidFill>
                  <a:schemeClr val="tx1"/>
                </a:solidFill>
              </a:rPr>
              <a:t> University is Beautiful’</a:t>
            </a:r>
          </a:p>
          <a:p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480CF3-ACC7-4548-8670-44CA681E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7790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1464" y="476672"/>
            <a:ext cx="10369152" cy="440120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续上例：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'Soochow university is </a:t>
            </a:r>
            <a:r>
              <a:rPr lang="en-US" altLang="zh-CN" sz="2000" b="1" dirty="0" err="1">
                <a:solidFill>
                  <a:schemeClr val="tx1"/>
                </a:solidFill>
              </a:rPr>
              <a:t>is</a:t>
            </a:r>
            <a:r>
              <a:rPr lang="en-US" altLang="zh-CN" sz="2000" b="1" dirty="0">
                <a:solidFill>
                  <a:schemeClr val="tx1"/>
                </a:solidFill>
              </a:rPr>
              <a:t>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re.sub</a:t>
            </a:r>
            <a:r>
              <a:rPr lang="en-US" altLang="zh-CN" sz="2000" b="1" dirty="0">
                <a:solidFill>
                  <a:schemeClr val="tx1"/>
                </a:solidFill>
              </a:rPr>
              <a:t>(r'(\b\w+) \1', r'\1', str1)   		# </a:t>
            </a:r>
            <a:r>
              <a:rPr lang="zh-CN" altLang="zh-CN" sz="2000" b="1" dirty="0">
                <a:solidFill>
                  <a:schemeClr val="tx1"/>
                </a:solidFill>
              </a:rPr>
              <a:t>去除连续重复单词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'Soochow 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Soochow</a:t>
            </a:r>
            <a:r>
              <a:rPr lang="en-US" altLang="zh-CN" sz="2000" b="1" dirty="0">
                <a:solidFill>
                  <a:schemeClr val="tx1"/>
                </a:solidFill>
              </a:rPr>
              <a:t>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re.subn</a:t>
            </a:r>
            <a:r>
              <a:rPr lang="en-US" altLang="zh-CN" sz="2000" b="1" dirty="0">
                <a:solidFill>
                  <a:schemeClr val="tx1"/>
                </a:solidFill>
              </a:rPr>
              <a:t>('</a:t>
            </a:r>
            <a:r>
              <a:rPr lang="en-US" altLang="zh-CN" sz="2000" b="1" dirty="0" err="1">
                <a:solidFill>
                  <a:schemeClr val="tx1"/>
                </a:solidFill>
              </a:rPr>
              <a:t>Soo</a:t>
            </a:r>
            <a:r>
              <a:rPr lang="en-US" altLang="zh-CN" sz="2000" b="1" dirty="0">
                <a:solidFill>
                  <a:schemeClr val="tx1"/>
                </a:solidFill>
              </a:rPr>
              <a:t>', 'Su', str1)   			# </a:t>
            </a:r>
            <a:r>
              <a:rPr lang="zh-CN" altLang="zh-CN" sz="2000" b="1" dirty="0">
                <a:solidFill>
                  <a:schemeClr val="tx1"/>
                </a:solidFill>
              </a:rPr>
              <a:t>返回替换后的新字符串和替换次数的二元组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('Suchow </a:t>
            </a:r>
            <a:r>
              <a:rPr lang="en-US" altLang="zh-CN" sz="2000" b="1" dirty="0" err="1">
                <a:solidFill>
                  <a:schemeClr val="tx1"/>
                </a:solidFill>
              </a:rPr>
              <a:t>Suchow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</a:rPr>
              <a:t>Suchow</a:t>
            </a:r>
            <a:r>
              <a:rPr lang="en-US" altLang="zh-CN" sz="2000" b="1" dirty="0">
                <a:solidFill>
                  <a:schemeClr val="tx1"/>
                </a:solidFill>
              </a:rPr>
              <a:t>', 3)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re.match</a:t>
            </a:r>
            <a:r>
              <a:rPr lang="en-US" altLang="zh-CN" sz="2000" b="1" dirty="0">
                <a:solidFill>
                  <a:schemeClr val="tx1"/>
                </a:solidFill>
              </a:rPr>
              <a:t>('</a:t>
            </a:r>
            <a:r>
              <a:rPr lang="en-US" altLang="zh-CN" sz="2000" b="1" dirty="0" err="1">
                <a:solidFill>
                  <a:schemeClr val="tx1"/>
                </a:solidFill>
              </a:rPr>
              <a:t>soo</a:t>
            </a:r>
            <a:r>
              <a:rPr lang="en-US" altLang="zh-CN" sz="2000" b="1" dirty="0">
                <a:solidFill>
                  <a:schemeClr val="tx1"/>
                </a:solidFill>
              </a:rPr>
              <a:t>', str1)			# </a:t>
            </a:r>
            <a:r>
              <a:rPr lang="zh-CN" altLang="zh-CN" sz="2000" b="1" dirty="0">
                <a:solidFill>
                  <a:schemeClr val="tx1"/>
                </a:solidFill>
              </a:rPr>
              <a:t>从字符串起始位置匹配，不成功返回值为</a:t>
            </a:r>
            <a:r>
              <a:rPr lang="en-US" altLang="zh-CN" sz="2000" b="1" dirty="0">
                <a:solidFill>
                  <a:schemeClr val="tx1"/>
                </a:solidFill>
              </a:rPr>
              <a:t>None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print(</a:t>
            </a:r>
            <a:r>
              <a:rPr lang="en-US" altLang="zh-CN" sz="2000" b="1" dirty="0" err="1">
                <a:solidFill>
                  <a:schemeClr val="tx1"/>
                </a:solidFill>
              </a:rPr>
              <a:t>re.match</a:t>
            </a:r>
            <a:r>
              <a:rPr lang="en-US" altLang="zh-CN" sz="2000" b="1" dirty="0">
                <a:solidFill>
                  <a:schemeClr val="tx1"/>
                </a:solidFill>
              </a:rPr>
              <a:t>('</a:t>
            </a:r>
            <a:r>
              <a:rPr lang="en-US" altLang="zh-CN" sz="2000" b="1" dirty="0" err="1">
                <a:solidFill>
                  <a:schemeClr val="tx1"/>
                </a:solidFill>
              </a:rPr>
              <a:t>soo</a:t>
            </a:r>
            <a:r>
              <a:rPr lang="en-US" altLang="zh-CN" sz="2000" b="1" dirty="0">
                <a:solidFill>
                  <a:schemeClr val="tx1"/>
                </a:solidFill>
              </a:rPr>
              <a:t>', str1)) 		# </a:t>
            </a:r>
            <a:r>
              <a:rPr lang="zh-CN" altLang="zh-CN" sz="2000" b="1" dirty="0">
                <a:solidFill>
                  <a:schemeClr val="tx1"/>
                </a:solidFill>
              </a:rPr>
              <a:t>输出</a:t>
            </a:r>
            <a:r>
              <a:rPr lang="en-US" altLang="zh-CN" sz="2000" b="1" dirty="0">
                <a:solidFill>
                  <a:schemeClr val="tx1"/>
                </a:solidFill>
              </a:rPr>
              <a:t>None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None</a:t>
            </a:r>
          </a:p>
          <a:p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CE556C-F0CC-435B-A80B-D6B3A1B0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94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1464" y="476672"/>
            <a:ext cx="10369152" cy="5078313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续上例：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str1 = 'Soochow university is </a:t>
            </a:r>
            <a:r>
              <a:rPr lang="en-US" altLang="zh-CN" b="1" dirty="0" err="1">
                <a:solidFill>
                  <a:schemeClr val="tx1"/>
                </a:solidFill>
              </a:rPr>
              <a:t>is</a:t>
            </a:r>
            <a:r>
              <a:rPr lang="en-US" altLang="zh-CN" b="1" dirty="0">
                <a:solidFill>
                  <a:schemeClr val="tx1"/>
                </a:solidFill>
              </a:rPr>
              <a:t>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re.sub</a:t>
            </a:r>
            <a:r>
              <a:rPr lang="en-US" altLang="zh-CN" b="1" dirty="0">
                <a:solidFill>
                  <a:schemeClr val="tx1"/>
                </a:solidFill>
              </a:rPr>
              <a:t>(r'(\b\w+) \1', r'\1', str1)   		# </a:t>
            </a:r>
            <a:r>
              <a:rPr lang="zh-CN" altLang="zh-CN" b="1" dirty="0">
                <a:solidFill>
                  <a:schemeClr val="tx1"/>
                </a:solidFill>
              </a:rPr>
              <a:t>去除连续重复单词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'Soochow University is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str1 = 'Soochow </a:t>
            </a:r>
            <a:r>
              <a:rPr lang="en-US" altLang="zh-CN" b="1" dirty="0" err="1">
                <a:solidFill>
                  <a:schemeClr val="tx1"/>
                </a:solidFill>
              </a:rPr>
              <a:t>Soochow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</a:rPr>
              <a:t>Soochow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re.subn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'Su', str1)   			# </a:t>
            </a:r>
            <a:r>
              <a:rPr lang="zh-CN" altLang="zh-CN" b="1" dirty="0">
                <a:solidFill>
                  <a:schemeClr val="tx1"/>
                </a:solidFill>
              </a:rPr>
              <a:t>返回替换后的新字符串和替换次数的二元组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('Suchow </a:t>
            </a:r>
            <a:r>
              <a:rPr lang="en-US" altLang="zh-CN" b="1" dirty="0" err="1">
                <a:solidFill>
                  <a:schemeClr val="tx1"/>
                </a:solidFill>
              </a:rPr>
              <a:t>Suchow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</a:rPr>
              <a:t>Suchow</a:t>
            </a:r>
            <a:r>
              <a:rPr lang="en-US" altLang="zh-CN" b="1" dirty="0">
                <a:solidFill>
                  <a:schemeClr val="tx1"/>
                </a:solidFill>
              </a:rPr>
              <a:t>', 3)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str1 = 'Soochow University is Beautiful'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re.match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str1)			# </a:t>
            </a:r>
            <a:r>
              <a:rPr lang="zh-CN" altLang="zh-CN" b="1" dirty="0">
                <a:solidFill>
                  <a:schemeClr val="tx1"/>
                </a:solidFill>
              </a:rPr>
              <a:t>从字符串起始位置匹配，不成功返回值为</a:t>
            </a:r>
            <a:r>
              <a:rPr lang="en-US" altLang="zh-CN" b="1" dirty="0">
                <a:solidFill>
                  <a:schemeClr val="tx1"/>
                </a:solidFill>
              </a:rPr>
              <a:t>None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print(</a:t>
            </a:r>
            <a:r>
              <a:rPr lang="en-US" altLang="zh-CN" b="1" dirty="0" err="1">
                <a:solidFill>
                  <a:schemeClr val="tx1"/>
                </a:solidFill>
              </a:rPr>
              <a:t>re.match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str1)) 		# </a:t>
            </a:r>
            <a:r>
              <a:rPr lang="zh-CN" altLang="zh-CN" b="1" dirty="0">
                <a:solidFill>
                  <a:schemeClr val="tx1"/>
                </a:solidFill>
              </a:rPr>
              <a:t>输出</a:t>
            </a:r>
            <a:r>
              <a:rPr lang="en-US" altLang="zh-CN" b="1" dirty="0">
                <a:solidFill>
                  <a:schemeClr val="tx1"/>
                </a:solidFill>
              </a:rPr>
              <a:t>None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None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</a:t>
            </a:r>
            <a:r>
              <a:rPr lang="en-US" altLang="zh-CN" b="1" dirty="0" err="1">
                <a:solidFill>
                  <a:schemeClr val="tx1"/>
                </a:solidFill>
              </a:rPr>
              <a:t>re.match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str1, </a:t>
            </a:r>
            <a:r>
              <a:rPr lang="en-US" altLang="zh-CN" b="1" dirty="0" err="1">
                <a:solidFill>
                  <a:schemeClr val="tx1"/>
                </a:solidFill>
              </a:rPr>
              <a:t>re.I</a:t>
            </a:r>
            <a:r>
              <a:rPr lang="en-US" altLang="zh-CN" b="1" dirty="0">
                <a:solidFill>
                  <a:schemeClr val="tx1"/>
                </a:solidFill>
              </a:rPr>
              <a:t>)			# </a:t>
            </a:r>
            <a:r>
              <a:rPr lang="en-US" altLang="zh-CN" b="1" dirty="0" err="1">
                <a:solidFill>
                  <a:schemeClr val="tx1"/>
                </a:solidFill>
              </a:rPr>
              <a:t>re.I</a:t>
            </a:r>
            <a:r>
              <a:rPr lang="zh-CN" altLang="zh-CN" b="1" dirty="0">
                <a:solidFill>
                  <a:schemeClr val="tx1"/>
                </a:solidFill>
              </a:rPr>
              <a:t>表示忽略大小写，此时可匹配到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&lt;_</a:t>
            </a:r>
            <a:r>
              <a:rPr lang="en-US" altLang="zh-CN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b="1" dirty="0">
                <a:solidFill>
                  <a:schemeClr val="tx1"/>
                </a:solidFill>
              </a:rPr>
              <a:t> object; span=(0, 3), match='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'&gt;	#</a:t>
            </a:r>
            <a:r>
              <a:rPr lang="zh-CN" altLang="zh-CN" b="1" dirty="0">
                <a:solidFill>
                  <a:schemeClr val="tx1"/>
                </a:solidFill>
              </a:rPr>
              <a:t>返回结果是</a:t>
            </a:r>
            <a:r>
              <a:rPr lang="en-US" altLang="zh-CN" b="1" dirty="0">
                <a:solidFill>
                  <a:schemeClr val="tx1"/>
                </a:solidFill>
              </a:rPr>
              <a:t>match</a:t>
            </a:r>
            <a:r>
              <a:rPr lang="zh-CN" altLang="zh-CN" b="1" dirty="0">
                <a:solidFill>
                  <a:schemeClr val="tx1"/>
                </a:solidFill>
              </a:rPr>
              <a:t>对象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str1 = 'Soochow </a:t>
            </a:r>
            <a:r>
              <a:rPr lang="en-US" altLang="zh-CN" b="1" dirty="0" err="1">
                <a:solidFill>
                  <a:schemeClr val="tx1"/>
                </a:solidFill>
              </a:rPr>
              <a:t>Soochow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</a:rPr>
              <a:t>Soochow</a:t>
            </a:r>
            <a:r>
              <a:rPr lang="en-US" altLang="zh-CN" b="1" dirty="0">
                <a:solidFill>
                  <a:schemeClr val="tx1"/>
                </a:solidFill>
              </a:rPr>
              <a:t>'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print(</a:t>
            </a:r>
            <a:r>
              <a:rPr lang="en-US" altLang="zh-CN" b="1" dirty="0" err="1">
                <a:solidFill>
                  <a:schemeClr val="tx1"/>
                </a:solidFill>
              </a:rPr>
              <a:t>re.match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str1, </a:t>
            </a:r>
            <a:r>
              <a:rPr lang="en-US" altLang="zh-CN" b="1" dirty="0" err="1">
                <a:solidFill>
                  <a:schemeClr val="tx1"/>
                </a:solidFill>
              </a:rPr>
              <a:t>re.I</a:t>
            </a:r>
            <a:r>
              <a:rPr lang="en-US" altLang="zh-CN" b="1" dirty="0">
                <a:solidFill>
                  <a:schemeClr val="tx1"/>
                </a:solidFill>
              </a:rPr>
              <a:t>))			# match</a:t>
            </a:r>
            <a:r>
              <a:rPr lang="zh-CN" altLang="zh-CN" b="1" dirty="0">
                <a:solidFill>
                  <a:schemeClr val="tx1"/>
                </a:solidFill>
              </a:rPr>
              <a:t>从字符串开头匹配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None</a:t>
            </a:r>
            <a:endParaRPr lang="zh-CN" altLang="zh-CN" b="1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&gt;&gt;&gt; print(</a:t>
            </a:r>
            <a:r>
              <a:rPr lang="en-US" altLang="zh-CN" b="1" dirty="0" err="1">
                <a:solidFill>
                  <a:schemeClr val="tx1"/>
                </a:solidFill>
              </a:rPr>
              <a:t>re.search</a:t>
            </a:r>
            <a:r>
              <a:rPr lang="en-US" altLang="zh-CN" b="1" dirty="0">
                <a:solidFill>
                  <a:schemeClr val="tx1"/>
                </a:solidFill>
              </a:rPr>
              <a:t>('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', str1, </a:t>
            </a:r>
            <a:r>
              <a:rPr lang="en-US" altLang="zh-CN" b="1" dirty="0" err="1">
                <a:solidFill>
                  <a:schemeClr val="tx1"/>
                </a:solidFill>
              </a:rPr>
              <a:t>re.I</a:t>
            </a:r>
            <a:r>
              <a:rPr lang="en-US" altLang="zh-CN" b="1" dirty="0">
                <a:solidFill>
                  <a:schemeClr val="tx1"/>
                </a:solidFill>
              </a:rPr>
              <a:t>))			# search</a:t>
            </a:r>
            <a:r>
              <a:rPr lang="zh-CN" altLang="zh-CN" b="1" dirty="0">
                <a:solidFill>
                  <a:schemeClr val="tx1"/>
                </a:solidFill>
              </a:rPr>
              <a:t>在整个字符串中匹配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&lt;_</a:t>
            </a:r>
            <a:r>
              <a:rPr lang="en-US" altLang="zh-CN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b="1" dirty="0">
                <a:solidFill>
                  <a:schemeClr val="tx1"/>
                </a:solidFill>
              </a:rPr>
              <a:t> object; span=(7, 10), match='</a:t>
            </a:r>
            <a:r>
              <a:rPr lang="en-US" altLang="zh-CN" b="1" dirty="0" err="1">
                <a:solidFill>
                  <a:schemeClr val="tx1"/>
                </a:solidFill>
              </a:rPr>
              <a:t>Soo</a:t>
            </a:r>
            <a:r>
              <a:rPr lang="en-US" altLang="zh-CN" b="1" dirty="0">
                <a:solidFill>
                  <a:schemeClr val="tx1"/>
                </a:solidFill>
              </a:rPr>
              <a:t>'&gt;</a:t>
            </a:r>
            <a:endParaRPr lang="zh-CN" altLang="zh-CN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CE556C-F0CC-435B-A80B-D6B3A1B0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0403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404664"/>
            <a:ext cx="10852150" cy="716915"/>
          </a:xfrm>
        </p:spPr>
        <p:txBody>
          <a:bodyPr/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．使用正则表达式对象的方法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268760"/>
            <a:ext cx="10852150" cy="5180965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Re</a:t>
            </a:r>
            <a:r>
              <a:rPr lang="zh-CN" altLang="en-US" sz="2400" dirty="0"/>
              <a:t>模块的</a:t>
            </a:r>
            <a:r>
              <a:rPr lang="en-US" altLang="zh-CN" sz="2400" dirty="0"/>
              <a:t>compile()</a:t>
            </a:r>
            <a:r>
              <a:rPr lang="zh-CN" altLang="zh-CN" sz="2400" dirty="0"/>
              <a:t>方法，可以将正则表达式编译生成正则表达式对象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正则表达式对象的方法和</a:t>
            </a:r>
            <a:r>
              <a:rPr lang="en-US" altLang="zh-CN" sz="2400" dirty="0"/>
              <a:t>re</a:t>
            </a:r>
            <a:r>
              <a:rPr lang="zh-CN" altLang="en-US" sz="2400" dirty="0"/>
              <a:t>模块的方法类似，主要有</a:t>
            </a:r>
            <a:r>
              <a:rPr lang="en-US" altLang="zh-CN" sz="2400" dirty="0"/>
              <a:t>match()</a:t>
            </a:r>
            <a:r>
              <a:rPr lang="zh-CN" altLang="en-US" sz="2400" dirty="0"/>
              <a:t>、</a:t>
            </a:r>
            <a:r>
              <a:rPr lang="en-US" altLang="zh-CN" sz="2400" dirty="0"/>
              <a:t>search()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findall</a:t>
            </a:r>
            <a:r>
              <a:rPr lang="en-US" altLang="zh-CN" sz="2400" dirty="0"/>
              <a:t>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finditer</a:t>
            </a:r>
            <a:r>
              <a:rPr lang="en-US" altLang="zh-CN" sz="2400" dirty="0"/>
              <a:t>()</a:t>
            </a:r>
            <a:r>
              <a:rPr lang="zh-CN" altLang="en-US" sz="2400" dirty="0"/>
              <a:t>、</a:t>
            </a:r>
            <a:r>
              <a:rPr lang="en-US" altLang="zh-CN" sz="2400" dirty="0"/>
              <a:t>sub()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subn</a:t>
            </a:r>
            <a:r>
              <a:rPr lang="en-US" altLang="zh-CN" sz="2400" dirty="0"/>
              <a:t>()</a:t>
            </a:r>
            <a:r>
              <a:rPr lang="zh-CN" altLang="zh-CN" sz="2400" dirty="0"/>
              <a:t>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使用正则表达式对象可以提高字符串处理的速度。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59BE8-C091-4B8E-B054-E5F6C934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0446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3512" y="548680"/>
            <a:ext cx="8568952" cy="532453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'Soochow University is Beautiful'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pat = </a:t>
            </a:r>
            <a:r>
              <a:rPr lang="en-US" altLang="zh-CN" sz="2000" b="1" dirty="0" err="1">
                <a:solidFill>
                  <a:schemeClr val="tx1"/>
                </a:solidFill>
              </a:rPr>
              <a:t>re.compile</a:t>
            </a:r>
            <a:r>
              <a:rPr lang="en-US" altLang="zh-CN" sz="2000" b="1" dirty="0">
                <a:solidFill>
                  <a:schemeClr val="tx1"/>
                </a:solidFill>
              </a:rPr>
              <a:t>(r'\b[BS]\w+\b') 	# </a:t>
            </a:r>
            <a:r>
              <a:rPr lang="zh-CN" altLang="zh-CN" sz="2000" b="1" dirty="0">
                <a:solidFill>
                  <a:schemeClr val="tx1"/>
                </a:solidFill>
              </a:rPr>
              <a:t>以</a:t>
            </a:r>
            <a:r>
              <a:rPr lang="en-US" altLang="zh-CN" sz="2000" b="1" dirty="0">
                <a:solidFill>
                  <a:schemeClr val="tx1"/>
                </a:solidFill>
              </a:rPr>
              <a:t>B</a:t>
            </a:r>
            <a:r>
              <a:rPr lang="zh-CN" altLang="zh-CN" sz="2000" b="1" dirty="0">
                <a:solidFill>
                  <a:schemeClr val="tx1"/>
                </a:solidFill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</a:rPr>
              <a:t>S</a:t>
            </a:r>
            <a:r>
              <a:rPr lang="zh-CN" altLang="zh-CN" sz="2000" b="1" dirty="0">
                <a:solidFill>
                  <a:schemeClr val="tx1"/>
                </a:solidFill>
              </a:rPr>
              <a:t>开头的单词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pat.findall</a:t>
            </a:r>
            <a:r>
              <a:rPr lang="en-US" altLang="zh-CN" sz="2000" b="1" dirty="0">
                <a:solidFill>
                  <a:schemeClr val="tx1"/>
                </a:solidFill>
              </a:rPr>
              <a:t>(str1)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['Soochow', 'Beautiful']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pat.finditer</a:t>
            </a:r>
            <a:r>
              <a:rPr lang="en-US" altLang="zh-CN" sz="2000" b="1" dirty="0">
                <a:solidFill>
                  <a:schemeClr val="tx1"/>
                </a:solidFill>
              </a:rPr>
              <a:t>(str1)		# </a:t>
            </a:r>
            <a:r>
              <a:rPr lang="zh-CN" altLang="zh-CN" sz="2000" b="1" dirty="0">
                <a:solidFill>
                  <a:schemeClr val="tx1"/>
                </a:solidFill>
              </a:rPr>
              <a:t>返回可迭代对象，由</a:t>
            </a:r>
            <a:r>
              <a:rPr lang="en-US" altLang="zh-CN" sz="2000" b="1" dirty="0">
                <a:solidFill>
                  <a:schemeClr val="tx1"/>
                </a:solidFill>
              </a:rPr>
              <a:t>match</a:t>
            </a:r>
            <a:r>
              <a:rPr lang="zh-CN" altLang="zh-CN" sz="2000" b="1" dirty="0">
                <a:solidFill>
                  <a:schemeClr val="tx1"/>
                </a:solidFill>
              </a:rPr>
              <a:t>对象构成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 err="1">
                <a:solidFill>
                  <a:schemeClr val="tx1"/>
                </a:solidFill>
              </a:rPr>
              <a:t>callable_iterator</a:t>
            </a:r>
            <a:r>
              <a:rPr lang="en-US" altLang="zh-CN" sz="2000" b="1" dirty="0">
                <a:solidFill>
                  <a:schemeClr val="tx1"/>
                </a:solidFill>
              </a:rPr>
              <a:t> object at 0x00000000033686A0&gt;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pat.match</a:t>
            </a:r>
            <a:r>
              <a:rPr lang="en-US" altLang="zh-CN" sz="2000" b="1" dirty="0">
                <a:solidFill>
                  <a:schemeClr val="tx1"/>
                </a:solidFill>
              </a:rPr>
              <a:t>(str1)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span=(0, 7), match='Soochow'&gt;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pat.search</a:t>
            </a:r>
            <a:r>
              <a:rPr lang="en-US" altLang="zh-CN" sz="2000" b="1" dirty="0">
                <a:solidFill>
                  <a:schemeClr val="tx1"/>
                </a:solidFill>
              </a:rPr>
              <a:t>(str1)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span=(0, 7), match='Soochow'&gt;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pat.sub</a:t>
            </a:r>
            <a:r>
              <a:rPr lang="en-US" altLang="zh-CN" sz="2000" b="1" dirty="0">
                <a:solidFill>
                  <a:schemeClr val="tx1"/>
                </a:solidFill>
              </a:rPr>
              <a:t>('***', str1)		# </a:t>
            </a:r>
            <a:r>
              <a:rPr lang="zh-CN" altLang="zh-CN" sz="2000" b="1" dirty="0">
                <a:solidFill>
                  <a:schemeClr val="tx1"/>
                </a:solidFill>
              </a:rPr>
              <a:t>以</a:t>
            </a:r>
            <a:r>
              <a:rPr lang="en-US" altLang="zh-CN" sz="2000" b="1" dirty="0">
                <a:solidFill>
                  <a:schemeClr val="tx1"/>
                </a:solidFill>
              </a:rPr>
              <a:t>B</a:t>
            </a:r>
            <a:r>
              <a:rPr lang="zh-CN" altLang="zh-CN" sz="2000" b="1" dirty="0">
                <a:solidFill>
                  <a:schemeClr val="tx1"/>
                </a:solidFill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</a:rPr>
              <a:t>S</a:t>
            </a:r>
            <a:r>
              <a:rPr lang="zh-CN" altLang="zh-CN" sz="2000" b="1" dirty="0">
                <a:solidFill>
                  <a:schemeClr val="tx1"/>
                </a:solidFill>
              </a:rPr>
              <a:t>开头的单词用</a:t>
            </a:r>
            <a:r>
              <a:rPr lang="en-US" altLang="zh-CN" sz="2000" b="1" dirty="0">
                <a:solidFill>
                  <a:schemeClr val="tx1"/>
                </a:solidFill>
              </a:rPr>
              <a:t>***</a:t>
            </a:r>
            <a:r>
              <a:rPr lang="zh-CN" altLang="zh-CN" sz="2000" b="1" dirty="0">
                <a:solidFill>
                  <a:schemeClr val="tx1"/>
                </a:solidFill>
              </a:rPr>
              <a:t>替换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'*** University is ***'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pat.subn</a:t>
            </a:r>
            <a:r>
              <a:rPr lang="en-US" altLang="zh-CN" sz="2000" b="1" dirty="0">
                <a:solidFill>
                  <a:schemeClr val="tx1"/>
                </a:solidFill>
              </a:rPr>
              <a:t>('***', 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('*** University is ***', 2)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pat = </a:t>
            </a:r>
            <a:r>
              <a:rPr lang="en-US" altLang="zh-CN" sz="2000" b="1" dirty="0" err="1">
                <a:solidFill>
                  <a:schemeClr val="tx1"/>
                </a:solidFill>
              </a:rPr>
              <a:t>re.compile</a:t>
            </a:r>
            <a:r>
              <a:rPr lang="en-US" altLang="zh-CN" sz="2000" b="1" dirty="0">
                <a:solidFill>
                  <a:schemeClr val="tx1"/>
                </a:solidFill>
              </a:rPr>
              <a:t>('\W+')		# </a:t>
            </a:r>
            <a:r>
              <a:rPr lang="zh-CN" altLang="zh-CN" sz="2000" b="1" dirty="0">
                <a:solidFill>
                  <a:schemeClr val="tx1"/>
                </a:solidFill>
              </a:rPr>
              <a:t>非单词字符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pat.split</a:t>
            </a:r>
            <a:r>
              <a:rPr lang="en-US" altLang="zh-CN" sz="2000" b="1" dirty="0">
                <a:solidFill>
                  <a:schemeClr val="tx1"/>
                </a:solidFill>
              </a:rPr>
              <a:t>(str1)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['Soochow', 'University', 'is', 'Beautiful']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4A5DF2-CBE6-4DED-A394-A0A8F5E8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5321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620689"/>
            <a:ext cx="10873208" cy="1296144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r>
              <a:rPr lang="en-US" altLang="zh-CN" sz="2400" dirty="0"/>
              <a:t>match()</a:t>
            </a:r>
            <a:r>
              <a:rPr lang="zh-CN" altLang="en-US" sz="2400" dirty="0"/>
              <a:t>、</a:t>
            </a:r>
            <a:r>
              <a:rPr lang="en-US" altLang="zh-CN" sz="2400" dirty="0"/>
              <a:t>search()</a:t>
            </a:r>
            <a:r>
              <a:rPr lang="zh-CN" altLang="en-US" sz="2400" dirty="0"/>
              <a:t>方法返回的都是</a:t>
            </a:r>
            <a:r>
              <a:rPr lang="en-US" altLang="zh-CN" sz="2400" dirty="0"/>
              <a:t>match</a:t>
            </a:r>
            <a:r>
              <a:rPr lang="zh-CN" altLang="en-US" sz="2400" dirty="0"/>
              <a:t>对象，</a:t>
            </a:r>
            <a:r>
              <a:rPr lang="en-US" altLang="zh-CN" sz="2400" dirty="0" err="1"/>
              <a:t>finditer</a:t>
            </a:r>
            <a:r>
              <a:rPr lang="en-US" altLang="zh-CN" sz="2400" dirty="0"/>
              <a:t>()</a:t>
            </a:r>
            <a:r>
              <a:rPr lang="zh-CN" altLang="en-US" sz="2400" dirty="0"/>
              <a:t>方法返回的则是由</a:t>
            </a:r>
            <a:r>
              <a:rPr lang="en-US" altLang="zh-CN" sz="2400" dirty="0"/>
              <a:t>match</a:t>
            </a:r>
            <a:r>
              <a:rPr lang="zh-CN" altLang="en-US" sz="2400" dirty="0"/>
              <a:t>对象组成的可迭代对象。要查看</a:t>
            </a:r>
            <a:r>
              <a:rPr lang="en-US" altLang="zh-CN" sz="2400" dirty="0"/>
              <a:t>match</a:t>
            </a:r>
            <a:r>
              <a:rPr lang="zh-CN" altLang="en-US" sz="2400" dirty="0"/>
              <a:t>对象里的详细信息，可以通过调用</a:t>
            </a:r>
            <a:r>
              <a:rPr lang="en-US" altLang="zh-CN" sz="2400" dirty="0"/>
              <a:t>match</a:t>
            </a:r>
            <a:r>
              <a:rPr lang="zh-CN" altLang="en-US" sz="2400" dirty="0"/>
              <a:t>对象的方法来实现。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75876"/>
              </p:ext>
            </p:extLst>
          </p:nvPr>
        </p:nvGraphicFramePr>
        <p:xfrm>
          <a:off x="2855640" y="2132860"/>
          <a:ext cx="6984776" cy="33253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2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方法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功能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group()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返回匹配的整个表达式的字符串。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groups()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返回一个包含匹配的所有子模式内容的元组。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groupdict()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返回包含匹配的所有命名子模式内容的字典。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start()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返回指定子模式内容的起始位置。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end()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返回指定子模式内容的结束位置。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span()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返回一个包含起始位置和结束位置的元组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3DB2AC-7CB4-41D7-A1A4-EC2C572A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120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548680"/>
            <a:ext cx="10852150" cy="716915"/>
          </a:xfrm>
        </p:spPr>
        <p:txBody>
          <a:bodyPr/>
          <a:lstStyle/>
          <a:p>
            <a:r>
              <a:rPr lang="en-US" altLang="zh-CN" sz="2400" b="0" dirty="0"/>
              <a:t>match</a:t>
            </a:r>
            <a:r>
              <a:rPr lang="zh-CN" altLang="en-US" sz="2400" b="0" dirty="0"/>
              <a:t>对象的使用方法</a:t>
            </a:r>
            <a:r>
              <a:rPr lang="en-US" altLang="zh-CN" sz="2400" b="0" dirty="0"/>
              <a:t>1</a:t>
            </a:r>
            <a:endParaRPr lang="zh-CN" altLang="en-US" sz="2400" b="0" dirty="0"/>
          </a:p>
        </p:txBody>
      </p:sp>
      <p:sp>
        <p:nvSpPr>
          <p:cNvPr id="4" name="TextBox 3"/>
          <p:cNvSpPr txBox="1"/>
          <p:nvPr/>
        </p:nvSpPr>
        <p:spPr>
          <a:xfrm>
            <a:off x="1622856" y="1196752"/>
            <a:ext cx="8361575" cy="5940088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&gt;&gt;&gt; str1 = 'Because had because, so had so'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pat = </a:t>
            </a:r>
            <a:r>
              <a:rPr lang="en-US" altLang="zh-CN" sz="2000" b="1" dirty="0" err="1">
                <a:solidFill>
                  <a:schemeClr val="tx1"/>
                </a:solidFill>
              </a:rPr>
              <a:t>re.compile</a:t>
            </a:r>
            <a:r>
              <a:rPr lang="en-US" altLang="zh-CN" sz="2000" b="1" dirty="0">
                <a:solidFill>
                  <a:schemeClr val="tx1"/>
                </a:solidFill>
              </a:rPr>
              <a:t>(r'\b[a-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-Z]{3}\b')	# 3</a:t>
            </a:r>
            <a:r>
              <a:rPr lang="zh-CN" altLang="zh-CN" sz="2000" b="1" dirty="0">
                <a:solidFill>
                  <a:schemeClr val="tx1"/>
                </a:solidFill>
              </a:rPr>
              <a:t>个字母的单词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m = </a:t>
            </a:r>
            <a:r>
              <a:rPr lang="en-US" altLang="zh-CN" sz="2000" b="1" dirty="0" err="1">
                <a:solidFill>
                  <a:schemeClr val="tx1"/>
                </a:solidFill>
              </a:rPr>
              <a:t>pat.search</a:t>
            </a:r>
            <a:r>
              <a:rPr lang="en-US" altLang="zh-CN" sz="2000" b="1" dirty="0">
                <a:solidFill>
                  <a:schemeClr val="tx1"/>
                </a:solidFill>
              </a:rPr>
              <a:t>(str1)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m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&lt;_</a:t>
            </a:r>
            <a:r>
              <a:rPr lang="en-US" altLang="zh-CN" sz="2000" b="1" dirty="0" err="1">
                <a:solidFill>
                  <a:schemeClr val="tx1"/>
                </a:solidFill>
              </a:rPr>
              <a:t>sre.SRE_Match</a:t>
            </a:r>
            <a:r>
              <a:rPr lang="en-US" altLang="zh-CN" sz="2000" b="1" dirty="0">
                <a:solidFill>
                  <a:schemeClr val="tx1"/>
                </a:solidFill>
              </a:rPr>
              <a:t> object; span=(8, 11), match='had'&gt;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000" b="1" dirty="0">
                <a:solidFill>
                  <a:schemeClr val="tx1"/>
                </a:solidFill>
              </a:rPr>
              <a:t>()			# </a:t>
            </a:r>
            <a:r>
              <a:rPr lang="zh-CN" altLang="zh-CN" sz="2000" b="1" dirty="0">
                <a:solidFill>
                  <a:schemeClr val="tx1"/>
                </a:solidFill>
              </a:rPr>
              <a:t>返回整个模式匹配的字符串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'had'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000" b="1" dirty="0">
                <a:solidFill>
                  <a:schemeClr val="tx1"/>
                </a:solidFill>
              </a:rPr>
              <a:t>(0)			# </a:t>
            </a:r>
            <a:r>
              <a:rPr lang="zh-CN" altLang="zh-CN" sz="2000" b="1" dirty="0">
                <a:solidFill>
                  <a:schemeClr val="tx1"/>
                </a:solidFill>
              </a:rPr>
              <a:t>返回整个模式匹配的字符串内容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'had'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m.groups</a:t>
            </a:r>
            <a:r>
              <a:rPr lang="en-US" altLang="zh-CN" sz="2000" b="1" dirty="0">
                <a:solidFill>
                  <a:schemeClr val="tx1"/>
                </a:solidFill>
              </a:rPr>
              <a:t>()	     # </a:t>
            </a:r>
            <a:r>
              <a:rPr lang="zh-CN" altLang="zh-CN" sz="2000" b="1" dirty="0">
                <a:solidFill>
                  <a:schemeClr val="tx1"/>
                </a:solidFill>
              </a:rPr>
              <a:t>表达式</a:t>
            </a:r>
            <a:r>
              <a:rPr lang="en-US" altLang="zh-CN" sz="2000" b="1" dirty="0">
                <a:solidFill>
                  <a:schemeClr val="tx1"/>
                </a:solidFill>
              </a:rPr>
              <a:t>r'\b[a-</a:t>
            </a:r>
            <a:r>
              <a:rPr lang="en-US" altLang="zh-CN" sz="2000" b="1" dirty="0" err="1">
                <a:solidFill>
                  <a:schemeClr val="tx1"/>
                </a:solidFill>
              </a:rPr>
              <a:t>zA</a:t>
            </a:r>
            <a:r>
              <a:rPr lang="en-US" altLang="zh-CN" sz="2000" b="1" dirty="0">
                <a:solidFill>
                  <a:schemeClr val="tx1"/>
                </a:solidFill>
              </a:rPr>
              <a:t>-Z]{3}\b'</a:t>
            </a:r>
            <a:r>
              <a:rPr lang="zh-CN" altLang="zh-CN" sz="2000" b="1" dirty="0">
                <a:solidFill>
                  <a:schemeClr val="tx1"/>
                </a:solidFill>
              </a:rPr>
              <a:t>没有子模式，所以为空元组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m.start</a:t>
            </a:r>
            <a:r>
              <a:rPr lang="en-US" altLang="zh-CN" sz="2000" b="1" dirty="0">
                <a:solidFill>
                  <a:schemeClr val="tx1"/>
                </a:solidFill>
              </a:rPr>
              <a:t>()			# </a:t>
            </a:r>
            <a:r>
              <a:rPr lang="zh-CN" altLang="zh-CN" sz="2000" b="1" dirty="0">
                <a:solidFill>
                  <a:schemeClr val="tx1"/>
                </a:solidFill>
              </a:rPr>
              <a:t>匹配到字符串的起始位置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8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m.end</a:t>
            </a:r>
            <a:r>
              <a:rPr lang="en-US" altLang="zh-CN" sz="2000" b="1" dirty="0">
                <a:solidFill>
                  <a:schemeClr val="tx1"/>
                </a:solidFill>
              </a:rPr>
              <a:t>()			# </a:t>
            </a:r>
            <a:r>
              <a:rPr lang="zh-CN" altLang="zh-CN" sz="2000" b="1" dirty="0">
                <a:solidFill>
                  <a:schemeClr val="tx1"/>
                </a:solidFill>
              </a:rPr>
              <a:t>匹配到字符串的结束位置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11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&gt;&gt;&gt; </a:t>
            </a:r>
            <a:r>
              <a:rPr lang="en-US" altLang="zh-CN" sz="2000" b="1" dirty="0" err="1">
                <a:solidFill>
                  <a:schemeClr val="tx1"/>
                </a:solidFill>
              </a:rPr>
              <a:t>m.span</a:t>
            </a:r>
            <a:r>
              <a:rPr lang="en-US" altLang="zh-CN" sz="2000" b="1" dirty="0">
                <a:solidFill>
                  <a:schemeClr val="tx1"/>
                </a:solidFill>
              </a:rPr>
              <a:t>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(8, 11)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ACA358-9C30-454E-A657-07FEA7F6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318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5440" y="1476048"/>
            <a:ext cx="10297144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&gt;&gt;&gt; m = </a:t>
            </a:r>
            <a:r>
              <a:rPr lang="en-US" altLang="zh-CN" sz="2400" b="1" dirty="0" err="1">
                <a:solidFill>
                  <a:schemeClr val="tx1"/>
                </a:solidFill>
              </a:rPr>
              <a:t>re.search</a:t>
            </a:r>
            <a:r>
              <a:rPr lang="en-US" altLang="zh-CN" sz="2400" b="1" dirty="0">
                <a:solidFill>
                  <a:schemeClr val="tx1"/>
                </a:solidFill>
              </a:rPr>
              <a:t>('(\w+)is(\w+)', '</a:t>
            </a:r>
            <a:r>
              <a:rPr lang="en-US" altLang="zh-CN" sz="2400" b="1" dirty="0" err="1">
                <a:solidFill>
                  <a:schemeClr val="tx1"/>
                </a:solidFill>
              </a:rPr>
              <a:t>SoochowUniversityisBeautiful</a:t>
            </a:r>
            <a:r>
              <a:rPr lang="en-US" altLang="zh-CN" sz="2400" b="1" dirty="0">
                <a:solidFill>
                  <a:schemeClr val="tx1"/>
                </a:solidFill>
              </a:rPr>
              <a:t>')   # (\w+)</a:t>
            </a:r>
            <a:r>
              <a:rPr lang="zh-CN" altLang="zh-CN" sz="2400" b="1" dirty="0">
                <a:solidFill>
                  <a:schemeClr val="tx1"/>
                </a:solidFill>
              </a:rPr>
              <a:t>为子模式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400" b="1" dirty="0">
                <a:solidFill>
                  <a:schemeClr val="tx1"/>
                </a:solidFill>
              </a:rPr>
              <a:t>()			# </a:t>
            </a:r>
            <a:r>
              <a:rPr lang="zh-CN" altLang="zh-CN" sz="2400" b="1" dirty="0">
                <a:solidFill>
                  <a:schemeClr val="tx1"/>
                </a:solidFill>
              </a:rPr>
              <a:t>返回整个模式匹配的字符串内容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SoochowUniversityisBeautiful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m.groups</a:t>
            </a:r>
            <a:r>
              <a:rPr lang="en-US" altLang="zh-CN" sz="2400" b="1" dirty="0">
                <a:solidFill>
                  <a:schemeClr val="tx1"/>
                </a:solidFill>
              </a:rPr>
              <a:t>()			# </a:t>
            </a:r>
            <a:r>
              <a:rPr lang="zh-CN" altLang="zh-CN" sz="2400" b="1" dirty="0">
                <a:solidFill>
                  <a:schemeClr val="tx1"/>
                </a:solidFill>
              </a:rPr>
              <a:t>子模式</a:t>
            </a:r>
            <a:r>
              <a:rPr lang="en-US" altLang="zh-CN" sz="2400" b="1" dirty="0">
                <a:solidFill>
                  <a:schemeClr val="tx1"/>
                </a:solidFill>
              </a:rPr>
              <a:t>(\w+)</a:t>
            </a:r>
            <a:r>
              <a:rPr lang="zh-CN" altLang="zh-CN" sz="2400" b="1" dirty="0">
                <a:solidFill>
                  <a:schemeClr val="tx1"/>
                </a:solidFill>
              </a:rPr>
              <a:t>匹配到两次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('</a:t>
            </a:r>
            <a:r>
              <a:rPr lang="en-US" altLang="zh-CN" sz="2400" b="1" dirty="0" err="1">
                <a:solidFill>
                  <a:schemeClr val="tx1"/>
                </a:solidFill>
              </a:rPr>
              <a:t>SoochowUniversity</a:t>
            </a:r>
            <a:r>
              <a:rPr lang="en-US" altLang="zh-CN" sz="2400" b="1" dirty="0">
                <a:solidFill>
                  <a:schemeClr val="tx1"/>
                </a:solidFill>
              </a:rPr>
              <a:t>', 'Beautiful')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400" b="1" dirty="0">
                <a:solidFill>
                  <a:schemeClr val="tx1"/>
                </a:solidFill>
              </a:rPr>
              <a:t>(0)					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SoochowUniversityisBeautiful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400" b="1" dirty="0">
                <a:solidFill>
                  <a:schemeClr val="tx1"/>
                </a:solidFill>
              </a:rPr>
              <a:t>(1)			# </a:t>
            </a:r>
            <a:r>
              <a:rPr lang="zh-CN" altLang="zh-CN" sz="2400" b="1" dirty="0">
                <a:solidFill>
                  <a:schemeClr val="tx1"/>
                </a:solidFill>
              </a:rPr>
              <a:t>子模式</a:t>
            </a:r>
            <a:r>
              <a:rPr lang="en-US" altLang="zh-CN" sz="2400" b="1" dirty="0">
                <a:solidFill>
                  <a:schemeClr val="tx1"/>
                </a:solidFill>
              </a:rPr>
              <a:t>(\w+)</a:t>
            </a:r>
            <a:r>
              <a:rPr lang="zh-CN" altLang="zh-CN" sz="2400" b="1" dirty="0">
                <a:solidFill>
                  <a:schemeClr val="tx1"/>
                </a:solidFill>
              </a:rPr>
              <a:t>匹配结果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r>
              <a:rPr lang="en-US" altLang="zh-CN" sz="2400" b="1" dirty="0" err="1">
                <a:solidFill>
                  <a:schemeClr val="tx1"/>
                </a:solidFill>
              </a:rPr>
              <a:t>SoochowUniversity</a:t>
            </a:r>
            <a:r>
              <a:rPr lang="en-US" altLang="zh-CN" sz="2400" b="1" dirty="0">
                <a:solidFill>
                  <a:schemeClr val="tx1"/>
                </a:solidFill>
              </a:rPr>
              <a:t>'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&gt;&gt;&gt; </a:t>
            </a:r>
            <a:r>
              <a:rPr lang="en-US" altLang="zh-CN" sz="2400" b="1" dirty="0" err="1">
                <a:solidFill>
                  <a:schemeClr val="tx1"/>
                </a:solidFill>
              </a:rPr>
              <a:t>m.group</a:t>
            </a:r>
            <a:r>
              <a:rPr lang="en-US" altLang="zh-CN" sz="2400" b="1" dirty="0">
                <a:solidFill>
                  <a:schemeClr val="tx1"/>
                </a:solidFill>
              </a:rPr>
              <a:t>(2)                  		# </a:t>
            </a:r>
            <a:r>
              <a:rPr lang="zh-CN" altLang="zh-CN" sz="2400" b="1" dirty="0">
                <a:solidFill>
                  <a:schemeClr val="tx1"/>
                </a:solidFill>
              </a:rPr>
              <a:t>子模式</a:t>
            </a:r>
            <a:r>
              <a:rPr lang="en-US" altLang="zh-CN" sz="2400" b="1" dirty="0">
                <a:solidFill>
                  <a:schemeClr val="tx1"/>
                </a:solidFill>
              </a:rPr>
              <a:t>(\w+)</a:t>
            </a:r>
            <a:r>
              <a:rPr lang="zh-CN" altLang="zh-CN" sz="2400" b="1" dirty="0">
                <a:solidFill>
                  <a:schemeClr val="tx1"/>
                </a:solidFill>
              </a:rPr>
              <a:t>匹配结果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'Beautiful'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95400" y="620688"/>
            <a:ext cx="10852150" cy="716915"/>
          </a:xfrm>
        </p:spPr>
        <p:txBody>
          <a:bodyPr/>
          <a:lstStyle/>
          <a:p>
            <a:r>
              <a:rPr lang="en-US" altLang="zh-CN" sz="2400" b="0" dirty="0"/>
              <a:t>match</a:t>
            </a:r>
            <a:r>
              <a:rPr lang="zh-CN" altLang="en-US" sz="2400" b="0" dirty="0"/>
              <a:t>对象的使用方法</a:t>
            </a:r>
            <a:r>
              <a:rPr lang="en-US" altLang="zh-CN" sz="2400" b="0" dirty="0"/>
              <a:t>2</a:t>
            </a:r>
            <a:endParaRPr lang="zh-CN" altLang="en-US" sz="2400" b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7EB20F-D493-4E82-AD01-90110704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6139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8.3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应用举例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1E7481-4129-4AA1-8F81-A628F7E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8-1】</a:t>
            </a:r>
            <a:r>
              <a:rPr lang="zh-CN" altLang="en-US" sz="2800" dirty="0"/>
              <a:t>编写程序，计算字符串匹配的准确率。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1464" y="1484784"/>
            <a:ext cx="9865096" cy="4154984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origin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请输入原文：</a:t>
            </a:r>
            <a:r>
              <a:rPr lang="en-US" altLang="zh-CN" sz="2400" b="1" dirty="0">
                <a:solidFill>
                  <a:schemeClr val="tx1"/>
                </a:solidFill>
              </a:rPr>
              <a:t>")     	 # origin</a:t>
            </a:r>
            <a:r>
              <a:rPr lang="zh-CN" altLang="zh-CN" sz="2400" b="1" dirty="0">
                <a:solidFill>
                  <a:schemeClr val="tx1"/>
                </a:solidFill>
              </a:rPr>
              <a:t>为原始字符串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userinput</a:t>
            </a:r>
            <a:r>
              <a:rPr lang="en-US" altLang="zh-CN" sz="2400" b="1" dirty="0">
                <a:solidFill>
                  <a:schemeClr val="tx1"/>
                </a:solidFill>
              </a:rPr>
              <a:t>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请用户输入：</a:t>
            </a:r>
            <a:r>
              <a:rPr lang="en-US" altLang="zh-CN" sz="2400" b="1" dirty="0">
                <a:solidFill>
                  <a:schemeClr val="tx1"/>
                </a:solidFill>
              </a:rPr>
              <a:t>")  # </a:t>
            </a:r>
            <a:r>
              <a:rPr lang="en-US" altLang="zh-CN" sz="2400" b="1" dirty="0" err="1">
                <a:solidFill>
                  <a:schemeClr val="tx1"/>
                </a:solidFill>
              </a:rPr>
              <a:t>userinput</a:t>
            </a:r>
            <a:r>
              <a:rPr lang="zh-CN" altLang="zh-CN" sz="2400" b="1" dirty="0">
                <a:solidFill>
                  <a:schemeClr val="tx1"/>
                </a:solidFill>
              </a:rPr>
              <a:t>为用户输入的字符串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= 0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if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(origin) !=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userinput</a:t>
            </a:r>
            <a:r>
              <a:rPr lang="en-US" altLang="zh-CN" sz="2400" b="1" dirty="0">
                <a:solidFill>
                  <a:schemeClr val="tx1"/>
                </a:solidFill>
              </a:rPr>
              <a:t>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print("</a:t>
            </a:r>
            <a:r>
              <a:rPr lang="zh-CN" altLang="zh-CN" sz="2400" b="1" dirty="0">
                <a:solidFill>
                  <a:schemeClr val="tx1"/>
                </a:solidFill>
              </a:rPr>
              <a:t>对不起，输入的内容长度和原文必须相等！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else: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origin_ch</a:t>
            </a:r>
            <a:r>
              <a:rPr lang="en-US" altLang="zh-CN" sz="2400" b="1" dirty="0">
                <a:solidFill>
                  <a:schemeClr val="tx1"/>
                </a:solidFill>
              </a:rPr>
              <a:t>, </a:t>
            </a:r>
            <a:r>
              <a:rPr lang="en-US" altLang="zh-CN" sz="2400" b="1" dirty="0" err="1">
                <a:solidFill>
                  <a:schemeClr val="tx1"/>
                </a:solidFill>
              </a:rPr>
              <a:t>user_ch</a:t>
            </a:r>
            <a:r>
              <a:rPr lang="en-US" altLang="zh-CN" sz="2400" b="1" dirty="0">
                <a:solidFill>
                  <a:schemeClr val="tx1"/>
                </a:solidFill>
              </a:rPr>
              <a:t> in zip(origin, </a:t>
            </a:r>
            <a:r>
              <a:rPr lang="en-US" altLang="zh-CN" sz="2400" b="1" dirty="0" err="1">
                <a:solidFill>
                  <a:schemeClr val="tx1"/>
                </a:solidFill>
              </a:rPr>
              <a:t>userinput</a:t>
            </a:r>
            <a:r>
              <a:rPr lang="en-US" altLang="zh-CN" sz="2400" b="1" dirty="0">
                <a:solidFill>
                  <a:schemeClr val="tx1"/>
                </a:solidFill>
              </a:rPr>
              <a:t>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if </a:t>
            </a:r>
            <a:r>
              <a:rPr lang="en-US" altLang="zh-CN" sz="2400" b="1" dirty="0" err="1">
                <a:solidFill>
                  <a:schemeClr val="tx1"/>
                </a:solidFill>
              </a:rPr>
              <a:t>origin_ch</a:t>
            </a:r>
            <a:r>
              <a:rPr lang="en-US" altLang="zh-CN" sz="2400" b="1" dirty="0">
                <a:solidFill>
                  <a:schemeClr val="tx1"/>
                </a:solidFill>
              </a:rPr>
              <a:t> == </a:t>
            </a:r>
            <a:r>
              <a:rPr lang="en-US" altLang="zh-CN" sz="2400" b="1" dirty="0" err="1">
                <a:solidFill>
                  <a:schemeClr val="tx1"/>
                </a:solidFill>
              </a:rPr>
              <a:t>user_ch</a:t>
            </a:r>
            <a:r>
              <a:rPr lang="en-US" altLang="zh-CN" sz="2400" b="1" dirty="0">
                <a:solidFill>
                  <a:schemeClr val="tx1"/>
                </a:solidFill>
              </a:rPr>
              <a:t>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+= 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rate = </a:t>
            </a:r>
            <a:r>
              <a:rPr lang="en-US" altLang="zh-CN" sz="2400" b="1" dirty="0" err="1">
                <a:solidFill>
                  <a:schemeClr val="tx1"/>
                </a:solidFill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</a:rPr>
              <a:t> /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(origin)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准确率为：</a:t>
            </a:r>
            <a:r>
              <a:rPr lang="en-US" altLang="zh-CN" sz="2400" b="1" dirty="0">
                <a:solidFill>
                  <a:schemeClr val="tx1"/>
                </a:solidFill>
              </a:rPr>
              <a:t>", rate)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FB5295-4FEF-4CEE-8818-BCAF20A9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2414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8-2】</a:t>
            </a:r>
            <a:r>
              <a:rPr lang="zh-CN" altLang="en-US" sz="2800" dirty="0"/>
              <a:t>编写程序，生成包含</a:t>
            </a:r>
            <a:r>
              <a:rPr lang="en-US" altLang="zh-CN" sz="2800" dirty="0"/>
              <a:t>1000</a:t>
            </a:r>
            <a:r>
              <a:rPr lang="zh-CN" altLang="en-US" sz="2800" dirty="0"/>
              <a:t>个随机字符的字符串，统计每个字符的出现次数。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3244" y="1556792"/>
            <a:ext cx="9595284" cy="4524315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import string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import random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chs</a:t>
            </a:r>
            <a:r>
              <a:rPr lang="en-US" altLang="zh-CN" sz="2400" b="1" dirty="0">
                <a:solidFill>
                  <a:schemeClr val="tx1"/>
                </a:solidFill>
              </a:rPr>
              <a:t> = </a:t>
            </a:r>
            <a:r>
              <a:rPr lang="en-US" altLang="zh-CN" sz="2400" b="1" dirty="0" err="1">
                <a:solidFill>
                  <a:schemeClr val="tx1"/>
                </a:solidFill>
              </a:rPr>
              <a:t>string.ascii_letters</a:t>
            </a:r>
            <a:r>
              <a:rPr lang="en-US" altLang="zh-CN" sz="2400" b="1" dirty="0">
                <a:solidFill>
                  <a:schemeClr val="tx1"/>
                </a:solidFill>
              </a:rPr>
              <a:t>		# </a:t>
            </a:r>
            <a:r>
              <a:rPr lang="zh-CN" altLang="zh-CN" sz="2400" b="1" dirty="0">
                <a:solidFill>
                  <a:schemeClr val="tx1"/>
                </a:solidFill>
              </a:rPr>
              <a:t>字符集，包含大小写共</a:t>
            </a:r>
            <a:r>
              <a:rPr lang="en-US" altLang="zh-CN" sz="2400" b="1" dirty="0">
                <a:solidFill>
                  <a:schemeClr val="tx1"/>
                </a:solidFill>
              </a:rPr>
              <a:t>52</a:t>
            </a:r>
            <a:r>
              <a:rPr lang="zh-CN" altLang="zh-CN" sz="2400" b="1" dirty="0">
                <a:solidFill>
                  <a:schemeClr val="tx1"/>
                </a:solidFill>
              </a:rPr>
              <a:t>个字符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x = [</a:t>
            </a:r>
            <a:r>
              <a:rPr lang="en-US" altLang="zh-CN" sz="2400" b="1" dirty="0" err="1">
                <a:solidFill>
                  <a:schemeClr val="tx1"/>
                </a:solidFill>
              </a:rPr>
              <a:t>random.choice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chs</a:t>
            </a:r>
            <a:r>
              <a:rPr lang="en-US" altLang="zh-CN" sz="2400" b="1" dirty="0">
                <a:solidFill>
                  <a:schemeClr val="tx1"/>
                </a:solidFill>
              </a:rPr>
              <a:t>) for </a:t>
            </a:r>
            <a:r>
              <a:rPr lang="en-US" altLang="zh-CN" sz="2400" b="1" dirty="0" err="1">
                <a:solidFill>
                  <a:schemeClr val="tx1"/>
                </a:solidFill>
              </a:rPr>
              <a:t>i</a:t>
            </a:r>
            <a:r>
              <a:rPr lang="en-US" altLang="zh-CN" sz="2400" b="1" dirty="0">
                <a:solidFill>
                  <a:schemeClr val="tx1"/>
                </a:solidFill>
              </a:rPr>
              <a:t> in range(1000)]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y = ''.join(x)			# </a:t>
            </a:r>
            <a:r>
              <a:rPr lang="zh-CN" altLang="zh-CN" sz="2400" b="1" dirty="0">
                <a:solidFill>
                  <a:schemeClr val="tx1"/>
                </a:solidFill>
              </a:rPr>
              <a:t>将列表中所有字符连接成字符串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result = </a:t>
            </a:r>
            <a:r>
              <a:rPr lang="en-US" altLang="zh-CN" sz="2400" b="1" dirty="0" err="1">
                <a:solidFill>
                  <a:schemeClr val="tx1"/>
                </a:solidFill>
              </a:rPr>
              <a:t>dict</a:t>
            </a:r>
            <a:r>
              <a:rPr lang="en-US" altLang="zh-CN" sz="2400" b="1" dirty="0">
                <a:solidFill>
                  <a:schemeClr val="tx1"/>
                </a:solidFill>
              </a:rPr>
              <a:t>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 in y: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result[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] = </a:t>
            </a:r>
            <a:r>
              <a:rPr lang="en-US" altLang="zh-CN" sz="2400" b="1" dirty="0" err="1">
                <a:solidFill>
                  <a:schemeClr val="tx1"/>
                </a:solidFill>
              </a:rPr>
              <a:t>result.get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, 0) + 1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随机生成的字符串为：</a:t>
            </a:r>
            <a:r>
              <a:rPr lang="en-US" altLang="zh-CN" sz="2400" b="1" dirty="0">
                <a:solidFill>
                  <a:schemeClr val="tx1"/>
                </a:solidFill>
              </a:rPr>
              <a:t>", y)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字符出现的次数统计如下：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item in </a:t>
            </a:r>
            <a:r>
              <a:rPr lang="en-US" altLang="zh-CN" sz="2400" b="1" dirty="0" err="1">
                <a:solidFill>
                  <a:schemeClr val="tx1"/>
                </a:solidFill>
              </a:rPr>
              <a:t>result.items</a:t>
            </a:r>
            <a:r>
              <a:rPr lang="en-US" altLang="zh-CN" sz="2400" b="1" dirty="0">
                <a:solidFill>
                  <a:schemeClr val="tx1"/>
                </a:solidFill>
              </a:rPr>
              <a:t>():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print(item)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0219EF-81B1-40E1-82B9-E5ADED9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4497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sz="2800" dirty="0"/>
              <a:t>【例</a:t>
            </a:r>
            <a:r>
              <a:rPr lang="en-US" altLang="zh-CN" sz="2800" dirty="0"/>
              <a:t>8-3</a:t>
            </a:r>
            <a:r>
              <a:rPr lang="zh-CN" altLang="zh-CN" sz="2800" dirty="0"/>
              <a:t>】编写程序，统计输入的英文文章中单词的个数，单词之间使用空格分隔。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59496" y="1196752"/>
            <a:ext cx="8640960" cy="120032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text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请输入英文文章：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words = </a:t>
            </a:r>
            <a:r>
              <a:rPr lang="en-US" altLang="zh-CN" sz="2400" b="1" dirty="0" err="1">
                <a:solidFill>
                  <a:schemeClr val="tx1"/>
                </a:solidFill>
              </a:rPr>
              <a:t>text.split</a:t>
            </a:r>
            <a:r>
              <a:rPr lang="en-US" altLang="zh-CN" sz="2400" b="1" dirty="0">
                <a:solidFill>
                  <a:schemeClr val="tx1"/>
                </a:solidFill>
              </a:rPr>
              <a:t>()		# </a:t>
            </a:r>
            <a:r>
              <a:rPr lang="zh-CN" altLang="zh-CN" sz="2400" b="1" dirty="0">
                <a:solidFill>
                  <a:schemeClr val="tx1"/>
                </a:solidFill>
              </a:rPr>
              <a:t>以空白字符将文章分割</a:t>
            </a:r>
          </a:p>
          <a:p>
            <a:pPr lvl="0"/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该文章单词总数为：</a:t>
            </a:r>
            <a:r>
              <a:rPr lang="en-US" altLang="zh-CN" sz="2400" b="1" dirty="0">
                <a:solidFill>
                  <a:schemeClr val="tx1"/>
                </a:solidFill>
              </a:rPr>
              <a:t>",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(words))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8B3913-830D-4A5B-B313-78892A0B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126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852150" cy="716915"/>
          </a:xfrm>
        </p:spPr>
        <p:txBody>
          <a:bodyPr>
            <a:normAutofit fontScale="90000"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8-4</a:t>
            </a:r>
            <a:r>
              <a:rPr lang="zh-CN" altLang="zh-CN" sz="2400" dirty="0"/>
              <a:t>】编写程序，统计输入的英文文章中不同单词出现的次数，并输出出现频率最高的单词。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310216" y="1052736"/>
            <a:ext cx="10042368" cy="5632311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</a:rPr>
              <a:t>text = input("</a:t>
            </a:r>
            <a:r>
              <a:rPr lang="zh-CN" altLang="zh-CN" sz="2000" b="1" dirty="0">
                <a:solidFill>
                  <a:schemeClr val="tx1"/>
                </a:solidFill>
              </a:rPr>
              <a:t>请输入英文文章：</a:t>
            </a:r>
            <a:r>
              <a:rPr lang="en-US" altLang="zh-CN" sz="2000" b="1" dirty="0">
                <a:solidFill>
                  <a:schemeClr val="tx1"/>
                </a:solidFill>
              </a:rPr>
              <a:t>")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words = </a:t>
            </a:r>
            <a:r>
              <a:rPr lang="en-US" altLang="zh-CN" sz="2000" b="1" dirty="0" err="1">
                <a:solidFill>
                  <a:schemeClr val="tx1"/>
                </a:solidFill>
              </a:rPr>
              <a:t>text.split</a:t>
            </a:r>
            <a:r>
              <a:rPr lang="en-US" altLang="zh-CN" sz="2000" b="1" dirty="0">
                <a:solidFill>
                  <a:schemeClr val="tx1"/>
                </a:solidFill>
              </a:rPr>
              <a:t>()		#</a:t>
            </a:r>
            <a:r>
              <a:rPr lang="zh-CN" altLang="zh-CN" sz="2000" b="1" dirty="0">
                <a:solidFill>
                  <a:schemeClr val="tx1"/>
                </a:solidFill>
              </a:rPr>
              <a:t>以空白字符将文章分隔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result = </a:t>
            </a:r>
            <a:r>
              <a:rPr lang="en-US" altLang="zh-CN" sz="2000" b="1" dirty="0" err="1">
                <a:solidFill>
                  <a:schemeClr val="tx1"/>
                </a:solidFill>
              </a:rPr>
              <a:t>dict</a:t>
            </a:r>
            <a:r>
              <a:rPr lang="en-US" altLang="zh-CN" sz="2000" b="1" dirty="0">
                <a:solidFill>
                  <a:schemeClr val="tx1"/>
                </a:solidFill>
              </a:rPr>
              <a:t>()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for word in words:			# </a:t>
            </a:r>
            <a:r>
              <a:rPr lang="zh-CN" altLang="zh-CN" sz="2000" b="1" dirty="0">
                <a:solidFill>
                  <a:schemeClr val="tx1"/>
                </a:solidFill>
              </a:rPr>
              <a:t>统计每个单词出现次数，并将结果存入字典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result[word] = </a:t>
            </a:r>
            <a:r>
              <a:rPr lang="en-US" altLang="zh-CN" sz="2000" b="1" dirty="0" err="1">
                <a:solidFill>
                  <a:schemeClr val="tx1"/>
                </a:solidFill>
              </a:rPr>
              <a:t>result.get</a:t>
            </a:r>
            <a:r>
              <a:rPr lang="en-US" altLang="zh-CN" sz="2000" b="1" dirty="0">
                <a:solidFill>
                  <a:schemeClr val="tx1"/>
                </a:solidFill>
              </a:rPr>
              <a:t>(word, 0) + 1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m = 0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for key, value in </a:t>
            </a:r>
            <a:r>
              <a:rPr lang="en-US" altLang="zh-CN" sz="2000" b="1" dirty="0" err="1">
                <a:solidFill>
                  <a:schemeClr val="tx1"/>
                </a:solidFill>
              </a:rPr>
              <a:t>result.items</a:t>
            </a:r>
            <a:r>
              <a:rPr lang="en-US" altLang="zh-CN" sz="2000" b="1" dirty="0">
                <a:solidFill>
                  <a:schemeClr val="tx1"/>
                </a:solidFill>
              </a:rPr>
              <a:t>():	# </a:t>
            </a:r>
            <a:r>
              <a:rPr lang="zh-CN" altLang="zh-CN" sz="2000" b="1" dirty="0">
                <a:solidFill>
                  <a:schemeClr val="tx1"/>
                </a:solidFill>
              </a:rPr>
              <a:t>计算出现的最大次数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if value &gt; m: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    m = value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# print(m)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单词统计结果如下：</a:t>
            </a:r>
            <a:r>
              <a:rPr lang="en-US" altLang="zh-CN" sz="2000" b="1" dirty="0">
                <a:solidFill>
                  <a:schemeClr val="tx1"/>
                </a:solidFill>
              </a:rPr>
              <a:t>")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for key, value in </a:t>
            </a:r>
            <a:r>
              <a:rPr lang="en-US" altLang="zh-CN" sz="2000" b="1" dirty="0" err="1">
                <a:solidFill>
                  <a:schemeClr val="tx1"/>
                </a:solidFill>
              </a:rPr>
              <a:t>result.items</a:t>
            </a:r>
            <a:r>
              <a:rPr lang="en-US" altLang="zh-CN" sz="2000" b="1" dirty="0">
                <a:solidFill>
                  <a:schemeClr val="tx1"/>
                </a:solidFill>
              </a:rPr>
              <a:t>():	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print(key, ":", value)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出现频率最高的单词有：</a:t>
            </a:r>
            <a:r>
              <a:rPr lang="en-US" altLang="zh-CN" sz="2000" b="1" dirty="0">
                <a:solidFill>
                  <a:schemeClr val="tx1"/>
                </a:solidFill>
              </a:rPr>
              <a:t>")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for key, value in </a:t>
            </a:r>
            <a:r>
              <a:rPr lang="en-US" altLang="zh-CN" sz="2000" b="1" dirty="0" err="1">
                <a:solidFill>
                  <a:schemeClr val="tx1"/>
                </a:solidFill>
              </a:rPr>
              <a:t>result.items</a:t>
            </a:r>
            <a:r>
              <a:rPr lang="en-US" altLang="zh-CN" sz="2000" b="1" dirty="0">
                <a:solidFill>
                  <a:schemeClr val="tx1"/>
                </a:solidFill>
              </a:rPr>
              <a:t>():  	# </a:t>
            </a:r>
            <a:r>
              <a:rPr lang="zh-CN" altLang="zh-CN" sz="2000" b="1" dirty="0">
                <a:solidFill>
                  <a:schemeClr val="tx1"/>
                </a:solidFill>
              </a:rPr>
              <a:t>找出所有出现次数最多的单词并输出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if value == m: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        print(key)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dirty="0">
                <a:solidFill>
                  <a:schemeClr val="tx1"/>
                </a:solidFill>
              </a:rPr>
              <a:t>print("</a:t>
            </a:r>
            <a:r>
              <a:rPr lang="zh-CN" altLang="zh-CN" sz="2000" b="1" dirty="0">
                <a:solidFill>
                  <a:schemeClr val="tx1"/>
                </a:solidFill>
              </a:rPr>
              <a:t>共出现了</a:t>
            </a:r>
            <a:r>
              <a:rPr lang="en-US" altLang="zh-CN" sz="2000" b="1" dirty="0">
                <a:solidFill>
                  <a:schemeClr val="tx1"/>
                </a:solidFill>
              </a:rPr>
              <a:t>", m, "</a:t>
            </a:r>
            <a:r>
              <a:rPr lang="zh-CN" altLang="zh-CN" sz="2000" b="1" dirty="0">
                <a:solidFill>
                  <a:schemeClr val="tx1"/>
                </a:solidFill>
              </a:rPr>
              <a:t>次！</a:t>
            </a:r>
            <a:r>
              <a:rPr lang="en-US" altLang="zh-CN" sz="2000" b="1" dirty="0">
                <a:solidFill>
                  <a:schemeClr val="tx1"/>
                </a:solidFill>
              </a:rPr>
              <a:t>")</a:t>
            </a:r>
            <a:endParaRPr lang="zh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99FE14-7026-464A-82CD-34623A1A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2885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3351" y="246930"/>
            <a:ext cx="8350227" cy="3038054"/>
          </a:xfrm>
        </p:spPr>
        <p:txBody>
          <a:bodyPr>
            <a:normAutofit fontScale="90000"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8-5</a:t>
            </a:r>
            <a:r>
              <a:rPr lang="zh-CN" altLang="zh-CN" sz="2400" dirty="0"/>
              <a:t>】编写程序，输出由</a:t>
            </a:r>
            <a:r>
              <a:rPr lang="en-US" altLang="zh-CN" sz="2400" dirty="0"/>
              <a:t>*</a:t>
            </a:r>
            <a:r>
              <a:rPr lang="zh-CN" altLang="zh-CN" sz="2400" dirty="0"/>
              <a:t>号组成的金字塔。要求：用户可以指定输出的行数。例如，用户指定输出</a:t>
            </a:r>
            <a:r>
              <a:rPr lang="en-US" altLang="zh-CN" sz="2400" dirty="0"/>
              <a:t>7</a:t>
            </a:r>
            <a:r>
              <a:rPr lang="zh-CN" altLang="zh-CN" sz="2400" dirty="0"/>
              <a:t>行时，输出的</a:t>
            </a:r>
            <a:r>
              <a:rPr lang="en-US" altLang="zh-CN" sz="2400" dirty="0"/>
              <a:t>*</a:t>
            </a:r>
            <a:r>
              <a:rPr lang="zh-CN" altLang="zh-CN" sz="2400" dirty="0"/>
              <a:t>号组成的金字塔如下：</a:t>
            </a:r>
            <a:br>
              <a:rPr lang="en-US" altLang="zh-CN" sz="2400" dirty="0"/>
            </a:br>
            <a:br>
              <a:rPr lang="en-US" altLang="zh-CN" sz="2400" dirty="0"/>
            </a:br>
            <a:r>
              <a:rPr lang="en-US" altLang="zh-CN" sz="2400" dirty="0"/>
              <a:t>	*</a:t>
            </a:r>
            <a:br>
              <a:rPr lang="en-US" altLang="zh-CN" sz="2400" dirty="0"/>
            </a:br>
            <a:r>
              <a:rPr lang="en-US" altLang="zh-CN" sz="2400" dirty="0"/>
              <a:t>     ***</a:t>
            </a:r>
            <a:br>
              <a:rPr lang="en-US" altLang="zh-CN" sz="2400" dirty="0"/>
            </a:br>
            <a:r>
              <a:rPr lang="en-US" altLang="zh-CN" sz="2400" dirty="0"/>
              <a:t>    *****</a:t>
            </a:r>
            <a:br>
              <a:rPr lang="en-US" altLang="zh-CN" sz="2400" dirty="0"/>
            </a:br>
            <a:r>
              <a:rPr lang="en-US" altLang="zh-CN" sz="2400" dirty="0"/>
              <a:t>   *******</a:t>
            </a:r>
            <a:br>
              <a:rPr lang="en-US" altLang="zh-CN" sz="2400" dirty="0"/>
            </a:br>
            <a:r>
              <a:rPr lang="en-US" altLang="zh-CN" sz="2400" dirty="0"/>
              <a:t>  *********</a:t>
            </a:r>
            <a:br>
              <a:rPr lang="en-US" altLang="zh-CN" sz="2400" dirty="0"/>
            </a:br>
            <a:r>
              <a:rPr lang="en-US" altLang="zh-CN" sz="2400" dirty="0"/>
              <a:t> ***********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711624" y="1340768"/>
            <a:ext cx="5832648" cy="1200329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66700"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n =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eval</a:t>
            </a: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(input("</a:t>
            </a:r>
            <a:r>
              <a:rPr lang="zh-CN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请输入一个正整数：</a:t>
            </a: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"))</a:t>
            </a:r>
            <a:endParaRPr lang="zh-CN" altLang="zh-CN" sz="24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for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in range(n):</a:t>
            </a:r>
            <a:endParaRPr lang="zh-CN" altLang="zh-CN" sz="2400" b="1" kern="100" dirty="0">
              <a:solidFill>
                <a:schemeClr val="tx1"/>
              </a:solidFill>
              <a:latin typeface="Calibri"/>
              <a:ea typeface="宋体"/>
              <a:cs typeface="Times New Roman"/>
            </a:endParaRPr>
          </a:p>
          <a:p>
            <a:pPr marL="266700" algn="just"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   print(('*' * (2 * </a:t>
            </a:r>
            <a:r>
              <a:rPr lang="en-US" altLang="zh-CN" sz="2400" b="1" kern="100" dirty="0" err="1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i</a:t>
            </a:r>
            <a:r>
              <a:rPr lang="en-US" altLang="zh-CN" sz="2400" b="1" kern="100" dirty="0">
                <a:solidFill>
                  <a:schemeClr val="tx1"/>
                </a:solidFill>
                <a:latin typeface="Calibri"/>
                <a:ea typeface="宋体"/>
                <a:cs typeface="Times New Roman"/>
              </a:rPr>
              <a:t> + 1)).center(n * 2 - 1))</a:t>
            </a:r>
            <a:endParaRPr lang="zh-CN" altLang="zh-CN" sz="2400" b="1" kern="100" dirty="0">
              <a:solidFill>
                <a:schemeClr val="tx1"/>
              </a:solidFill>
              <a:effectLst/>
              <a:latin typeface="Calibri"/>
              <a:ea typeface="宋体"/>
              <a:cs typeface="Times New Roman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49076"/>
              </p:ext>
            </p:extLst>
          </p:nvPr>
        </p:nvGraphicFramePr>
        <p:xfrm>
          <a:off x="2927648" y="1340768"/>
          <a:ext cx="5364162" cy="294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29247" imgH="2976540" progId="Word.Document.12">
                  <p:embed/>
                </p:oleObj>
              </mc:Choice>
              <mc:Fallback>
                <p:oleObj name="文档" r:id="rId2" imgW="5429247" imgH="29765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7648" y="1340768"/>
                        <a:ext cx="5364162" cy="294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62A45F-44EF-4F74-8E01-1ED17CD2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  <a:t>70</a:t>
            </a:fld>
            <a:endParaRPr lang="zh-CN" alt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5500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260648"/>
            <a:ext cx="10852150" cy="716915"/>
          </a:xfrm>
        </p:spPr>
        <p:txBody>
          <a:bodyPr>
            <a:normAutofit fontScale="90000"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8-6</a:t>
            </a:r>
            <a:r>
              <a:rPr lang="zh-CN" altLang="zh-CN" sz="2400" dirty="0"/>
              <a:t>】编写程序，输入一个字符串，统计该字符串中大写字母、小写字母、数字字符及其它字符的个数，将结果存放到字典中并输出。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39416" y="1124744"/>
            <a:ext cx="7128792" cy="55092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text = input("</a:t>
            </a:r>
            <a:r>
              <a:rPr lang="zh-CN" altLang="zh-CN" sz="1600" b="1" dirty="0">
                <a:solidFill>
                  <a:schemeClr val="tx1"/>
                </a:solidFill>
              </a:rPr>
              <a:t>请输入字符串：</a:t>
            </a:r>
            <a:r>
              <a:rPr lang="en-US" altLang="zh-CN" sz="1600" b="1" dirty="0">
                <a:solidFill>
                  <a:schemeClr val="tx1"/>
                </a:solidFill>
              </a:rPr>
              <a:t>")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big = 0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small = 0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number = 0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other = 0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d = </a:t>
            </a:r>
            <a:r>
              <a:rPr lang="en-US" altLang="zh-CN" sz="1600" b="1" dirty="0" err="1">
                <a:solidFill>
                  <a:schemeClr val="tx1"/>
                </a:solidFill>
              </a:rPr>
              <a:t>dict</a:t>
            </a:r>
            <a:r>
              <a:rPr lang="en-US" altLang="zh-CN" sz="1600" b="1" dirty="0">
                <a:solidFill>
                  <a:schemeClr val="tx1"/>
                </a:solidFill>
              </a:rPr>
              <a:t>()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for </a:t>
            </a:r>
            <a:r>
              <a:rPr lang="en-US" altLang="zh-CN" sz="1600" b="1" dirty="0" err="1">
                <a:solidFill>
                  <a:schemeClr val="tx1"/>
                </a:solidFill>
              </a:rPr>
              <a:t>ch</a:t>
            </a:r>
            <a:r>
              <a:rPr lang="en-US" altLang="zh-CN" sz="1600" b="1" dirty="0">
                <a:solidFill>
                  <a:schemeClr val="tx1"/>
                </a:solidFill>
              </a:rPr>
              <a:t> in text: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if 'a' &lt;= </a:t>
            </a:r>
            <a:r>
              <a:rPr lang="en-US" altLang="zh-CN" sz="1600" b="1" dirty="0" err="1">
                <a:solidFill>
                  <a:schemeClr val="tx1"/>
                </a:solidFill>
              </a:rPr>
              <a:t>ch</a:t>
            </a:r>
            <a:r>
              <a:rPr lang="en-US" altLang="zh-CN" sz="1600" b="1" dirty="0">
                <a:solidFill>
                  <a:schemeClr val="tx1"/>
                </a:solidFill>
              </a:rPr>
              <a:t> &lt;= 'z':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small += 1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</a:t>
            </a:r>
            <a:r>
              <a:rPr lang="en-US" altLang="zh-CN" sz="1600" b="1" dirty="0" err="1">
                <a:solidFill>
                  <a:schemeClr val="tx1"/>
                </a:solidFill>
              </a:rPr>
              <a:t>elif</a:t>
            </a:r>
            <a:r>
              <a:rPr lang="en-US" altLang="zh-CN" sz="1600" b="1" dirty="0">
                <a:solidFill>
                  <a:schemeClr val="tx1"/>
                </a:solidFill>
              </a:rPr>
              <a:t> 'A' &lt;= </a:t>
            </a:r>
            <a:r>
              <a:rPr lang="en-US" altLang="zh-CN" sz="1600" b="1" dirty="0" err="1">
                <a:solidFill>
                  <a:schemeClr val="tx1"/>
                </a:solidFill>
              </a:rPr>
              <a:t>ch</a:t>
            </a:r>
            <a:r>
              <a:rPr lang="en-US" altLang="zh-CN" sz="1600" b="1" dirty="0">
                <a:solidFill>
                  <a:schemeClr val="tx1"/>
                </a:solidFill>
              </a:rPr>
              <a:t> &lt;= 'Z':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big += 1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</a:t>
            </a:r>
            <a:r>
              <a:rPr lang="en-US" altLang="zh-CN" sz="1600" b="1" dirty="0" err="1">
                <a:solidFill>
                  <a:schemeClr val="tx1"/>
                </a:solidFill>
              </a:rPr>
              <a:t>elif</a:t>
            </a:r>
            <a:r>
              <a:rPr lang="en-US" altLang="zh-CN" sz="1600" b="1" dirty="0">
                <a:solidFill>
                  <a:schemeClr val="tx1"/>
                </a:solidFill>
              </a:rPr>
              <a:t> '0' &lt;= </a:t>
            </a:r>
            <a:r>
              <a:rPr lang="en-US" altLang="zh-CN" sz="1600" b="1" dirty="0" err="1">
                <a:solidFill>
                  <a:schemeClr val="tx1"/>
                </a:solidFill>
              </a:rPr>
              <a:t>ch</a:t>
            </a:r>
            <a:r>
              <a:rPr lang="en-US" altLang="zh-CN" sz="1600" b="1" dirty="0">
                <a:solidFill>
                  <a:schemeClr val="tx1"/>
                </a:solidFill>
              </a:rPr>
              <a:t> &lt;= '9':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number += 1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else: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    other += 1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d['big'] = big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d['small'] = small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d['number'] = number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d['other'] = other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print("</a:t>
            </a:r>
            <a:r>
              <a:rPr lang="zh-CN" altLang="zh-CN" sz="1600" b="1" dirty="0">
                <a:solidFill>
                  <a:schemeClr val="tx1"/>
                </a:solidFill>
              </a:rPr>
              <a:t>统计结果如下：</a:t>
            </a:r>
            <a:r>
              <a:rPr lang="en-US" altLang="zh-CN" sz="1600" b="1" dirty="0">
                <a:solidFill>
                  <a:schemeClr val="tx1"/>
                </a:solidFill>
              </a:rPr>
              <a:t>")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for item in </a:t>
            </a:r>
            <a:r>
              <a:rPr lang="en-US" altLang="zh-CN" sz="1600" b="1" dirty="0" err="1">
                <a:solidFill>
                  <a:schemeClr val="tx1"/>
                </a:solidFill>
              </a:rPr>
              <a:t>d.items</a:t>
            </a:r>
            <a:r>
              <a:rPr lang="en-US" altLang="zh-CN" sz="1600" b="1" dirty="0">
                <a:solidFill>
                  <a:schemeClr val="tx1"/>
                </a:solidFill>
              </a:rPr>
              <a:t>():</a:t>
            </a:r>
            <a:endParaRPr lang="zh-CN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    print(item)</a:t>
            </a:r>
            <a:endParaRPr lang="zh-CN" altLang="zh-CN" sz="16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E66ED5-9AE3-429F-9CC7-9334D449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8366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0852150" cy="716915"/>
          </a:xfrm>
        </p:spPr>
        <p:txBody>
          <a:bodyPr>
            <a:normAutofit fontScale="90000"/>
          </a:bodyPr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8-7</a:t>
            </a:r>
            <a:r>
              <a:rPr lang="zh-CN" altLang="zh-CN" sz="2400" dirty="0"/>
              <a:t>】编写程序，输入一篇英文文章，输出该篇文章中所有长度为</a:t>
            </a:r>
            <a:r>
              <a:rPr lang="en-US" altLang="zh-CN" sz="2400" dirty="0"/>
              <a:t>3</a:t>
            </a:r>
            <a:r>
              <a:rPr lang="zh-CN" altLang="zh-CN" sz="2400" dirty="0"/>
              <a:t>个字母的单词。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639616" y="1628800"/>
            <a:ext cx="5328592" cy="341632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text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请输入英文文章：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words = </a:t>
            </a:r>
            <a:r>
              <a:rPr lang="en-US" altLang="zh-CN" sz="2400" b="1" dirty="0" err="1">
                <a:solidFill>
                  <a:schemeClr val="tx1"/>
                </a:solidFill>
              </a:rPr>
              <a:t>text.split</a:t>
            </a:r>
            <a:r>
              <a:rPr lang="en-US" altLang="zh-CN" sz="2400" b="1" dirty="0">
                <a:solidFill>
                  <a:schemeClr val="tx1"/>
                </a:solidFill>
              </a:rPr>
              <a:t>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s = set()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word in words: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if </a:t>
            </a:r>
            <a:r>
              <a:rPr lang="en-US" altLang="zh-CN" sz="2400" b="1" dirty="0" err="1">
                <a:solidFill>
                  <a:schemeClr val="tx1"/>
                </a:solidFill>
              </a:rPr>
              <a:t>len</a:t>
            </a:r>
            <a:r>
              <a:rPr lang="en-US" altLang="zh-CN" sz="2400" b="1" dirty="0">
                <a:solidFill>
                  <a:schemeClr val="tx1"/>
                </a:solidFill>
              </a:rPr>
              <a:t>(word) == 3: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s.add</a:t>
            </a:r>
            <a:r>
              <a:rPr lang="en-US" altLang="zh-CN" sz="2400" b="1" dirty="0">
                <a:solidFill>
                  <a:schemeClr val="tx1"/>
                </a:solidFill>
              </a:rPr>
              <a:t>(word)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长度为</a:t>
            </a:r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zh-CN" sz="2400" b="1" dirty="0">
                <a:solidFill>
                  <a:schemeClr val="tx1"/>
                </a:solidFill>
              </a:rPr>
              <a:t>的单词有：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item in s: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print(item)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F8E3BD-E2EC-4D7C-A6F6-E588FC75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5710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0852150" cy="1152128"/>
          </a:xfrm>
        </p:spPr>
        <p:txBody>
          <a:bodyPr/>
          <a:lstStyle/>
          <a:p>
            <a:r>
              <a:rPr lang="zh-CN" altLang="zh-CN" sz="2400" dirty="0"/>
              <a:t>【例</a:t>
            </a:r>
            <a:r>
              <a:rPr lang="en-US" altLang="zh-CN" sz="2400" dirty="0"/>
              <a:t>8-8</a:t>
            </a:r>
            <a:r>
              <a:rPr lang="zh-CN" altLang="zh-CN" sz="2400" dirty="0"/>
              <a:t>】编写程序，输入一篇英文文章（只包含大小写字母），采用简单的替换加密法对该文章加密。加密的规则是将明文中的每个字母的</a:t>
            </a:r>
            <a:r>
              <a:rPr lang="en-US" altLang="zh-CN" sz="2400" dirty="0"/>
              <a:t>ASCII</a:t>
            </a:r>
            <a:r>
              <a:rPr lang="zh-CN" altLang="zh-CN" sz="2400" dirty="0"/>
              <a:t>值加</a:t>
            </a:r>
            <a:r>
              <a:rPr lang="en-US" altLang="zh-CN" sz="2400" dirty="0"/>
              <a:t>5</a:t>
            </a:r>
            <a:r>
              <a:rPr lang="zh-CN" altLang="zh-CN" sz="2400" dirty="0"/>
              <a:t>，然后做模</a:t>
            </a:r>
            <a:r>
              <a:rPr lang="en-US" altLang="zh-CN" sz="2400" dirty="0"/>
              <a:t>26</a:t>
            </a:r>
            <a:r>
              <a:rPr lang="zh-CN" altLang="zh-CN" sz="2400" dirty="0"/>
              <a:t>的取余运算。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75520" y="1844824"/>
            <a:ext cx="10009112" cy="37856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text = input("</a:t>
            </a:r>
            <a:r>
              <a:rPr lang="zh-CN" altLang="zh-CN" sz="2400" b="1" dirty="0">
                <a:solidFill>
                  <a:schemeClr val="tx1"/>
                </a:solidFill>
              </a:rPr>
              <a:t>请输入明文：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en_text</a:t>
            </a:r>
            <a:r>
              <a:rPr lang="en-US" altLang="zh-CN" sz="2400" b="1" dirty="0">
                <a:solidFill>
                  <a:schemeClr val="tx1"/>
                </a:solidFill>
              </a:rPr>
              <a:t> = []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for 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 in text: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if 'a' &lt;= 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 &lt;= 'z':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en_text.append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chr</a:t>
            </a:r>
            <a:r>
              <a:rPr lang="en-US" altLang="zh-CN" sz="2400" b="1" dirty="0">
                <a:solidFill>
                  <a:schemeClr val="tx1"/>
                </a:solidFill>
              </a:rPr>
              <a:t>((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) + 5 - 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('a')) % 26 + 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('a')))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</a:t>
            </a:r>
            <a:r>
              <a:rPr lang="en-US" altLang="zh-CN" sz="2400" b="1" dirty="0" err="1">
                <a:solidFill>
                  <a:schemeClr val="tx1"/>
                </a:solidFill>
              </a:rPr>
              <a:t>elif</a:t>
            </a:r>
            <a:r>
              <a:rPr lang="en-US" altLang="zh-CN" sz="2400" b="1" dirty="0">
                <a:solidFill>
                  <a:schemeClr val="tx1"/>
                </a:solidFill>
              </a:rPr>
              <a:t> 'A' &lt;= 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 &lt;= 'Z':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en_text.append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chr</a:t>
            </a:r>
            <a:r>
              <a:rPr lang="en-US" altLang="zh-CN" sz="2400" b="1" dirty="0">
                <a:solidFill>
                  <a:schemeClr val="tx1"/>
                </a:solidFill>
              </a:rPr>
              <a:t>((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ch</a:t>
            </a:r>
            <a:r>
              <a:rPr lang="en-US" altLang="zh-CN" sz="2400" b="1" dirty="0">
                <a:solidFill>
                  <a:schemeClr val="tx1"/>
                </a:solidFill>
              </a:rPr>
              <a:t>) + 5 - 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('A')) % 26 + </a:t>
            </a:r>
            <a:r>
              <a:rPr lang="en-US" altLang="zh-CN" sz="2400" b="1" dirty="0" err="1">
                <a:solidFill>
                  <a:schemeClr val="tx1"/>
                </a:solidFill>
              </a:rPr>
              <a:t>ord</a:t>
            </a:r>
            <a:r>
              <a:rPr lang="en-US" altLang="zh-CN" sz="2400" b="1" dirty="0">
                <a:solidFill>
                  <a:schemeClr val="tx1"/>
                </a:solidFill>
              </a:rPr>
              <a:t>('A')))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en_text</a:t>
            </a:r>
            <a:r>
              <a:rPr lang="en-US" altLang="zh-CN" sz="2400" b="1" dirty="0">
                <a:solidFill>
                  <a:schemeClr val="tx1"/>
                </a:solidFill>
              </a:rPr>
              <a:t> = ''.join(</a:t>
            </a:r>
            <a:r>
              <a:rPr lang="en-US" altLang="zh-CN" sz="2400" b="1" dirty="0" err="1">
                <a:solidFill>
                  <a:schemeClr val="tx1"/>
                </a:solidFill>
              </a:rPr>
              <a:t>en_text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print("</a:t>
            </a:r>
            <a:r>
              <a:rPr lang="zh-CN" altLang="zh-CN" sz="2400" b="1" dirty="0">
                <a:solidFill>
                  <a:schemeClr val="tx1"/>
                </a:solidFill>
              </a:rPr>
              <a:t>密文为：</a:t>
            </a:r>
            <a:r>
              <a:rPr lang="en-US" altLang="zh-CN" sz="2400" b="1" dirty="0">
                <a:solidFill>
                  <a:schemeClr val="tx1"/>
                </a:solidFill>
              </a:rPr>
              <a:t>")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print(</a:t>
            </a:r>
            <a:r>
              <a:rPr lang="en-US" altLang="zh-CN" sz="2400" b="1" dirty="0" err="1">
                <a:solidFill>
                  <a:schemeClr val="tx1"/>
                </a:solidFill>
              </a:rPr>
              <a:t>en_text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endParaRPr lang="zh-CN" altLang="zh-CN" sz="2400" b="1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9A1586-EAF8-4C45-8C80-693CFBF6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4448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4000" dirty="0"/>
              <a:t>【</a:t>
            </a:r>
            <a:r>
              <a:rPr lang="zh-CN" altLang="en-US" sz="4000" dirty="0"/>
              <a:t>补充</a:t>
            </a:r>
            <a:r>
              <a:rPr lang="en-US" altLang="zh-CN" sz="4000" dirty="0"/>
              <a:t>】</a:t>
            </a:r>
            <a:r>
              <a:rPr lang="zh-CN" altLang="en-US" sz="4000" dirty="0"/>
              <a:t>正则表达式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正则表达式是什么？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 lnSpcReduction="10000"/>
          </a:bodyPr>
          <a:lstStyle/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又称正规表示式，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Regular Expression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，</a:t>
            </a:r>
            <a:endParaRPr lang="en-US" altLang="zh-CN" b="0" i="0" dirty="0">
              <a:solidFill>
                <a:srgbClr val="FFFFFF"/>
              </a:solidFill>
              <a:effectLst/>
              <a:latin typeface="Lato"/>
            </a:endParaRPr>
          </a:p>
          <a:p>
            <a:r>
              <a:rPr lang="en-US" altLang="zh-CN" b="0" dirty="0">
                <a:solidFill>
                  <a:srgbClr val="FFFFFF"/>
                </a:solidFill>
                <a:latin typeface="Lato"/>
              </a:rPr>
              <a:t>~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是计算机科学的一个概念，它使用单个字符串来描述、匹配一系列符合某个句法规则的字符串。</a:t>
            </a:r>
            <a:endParaRPr lang="en-US" altLang="zh-CN" b="0" i="0" dirty="0">
              <a:solidFill>
                <a:srgbClr val="FFFFFF"/>
              </a:solidFill>
              <a:effectLst/>
              <a:latin typeface="Lato"/>
            </a:endParaRPr>
          </a:p>
          <a:p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在很多文本编辑器中，正则表达式通常被用来检索、替换那些匹配某个模式的文本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.</a:t>
            </a:r>
          </a:p>
          <a:p>
            <a:r>
              <a:rPr lang="en-US" altLang="zh-CN" b="0" dirty="0" err="1">
                <a:solidFill>
                  <a:srgbClr val="FFFFFF"/>
                </a:solidFill>
                <a:latin typeface="Lato"/>
              </a:rPr>
              <a:t>Eg</a:t>
            </a:r>
            <a:r>
              <a:rPr lang="en-US" altLang="zh-CN" b="0" dirty="0">
                <a:solidFill>
                  <a:srgbClr val="FFFFFF"/>
                </a:solidFill>
                <a:latin typeface="Lato"/>
              </a:rPr>
              <a:t> (1)</a:t>
            </a:r>
            <a:r>
              <a:rPr lang="zh-CN" altLang="en-US" b="0" dirty="0">
                <a:solidFill>
                  <a:srgbClr val="FFFFFF"/>
                </a:solidFill>
                <a:latin typeface="Lato"/>
              </a:rPr>
              <a:t> </a:t>
            </a:r>
            <a:r>
              <a:rPr lang="en-US" altLang="zh-CN" b="0" dirty="0">
                <a:solidFill>
                  <a:srgbClr val="FFFFFF"/>
                </a:solidFill>
                <a:latin typeface="Lato"/>
              </a:rPr>
              <a:t>Microsoft Word</a:t>
            </a:r>
            <a:r>
              <a:rPr lang="zh-CN" altLang="en-US" b="0" dirty="0">
                <a:solidFill>
                  <a:srgbClr val="FFFFFF"/>
                </a:solidFill>
                <a:latin typeface="Lato"/>
              </a:rPr>
              <a:t>的查找与替换</a:t>
            </a:r>
            <a:endParaRPr lang="en-US" altLang="zh-CN" b="0" dirty="0">
              <a:solidFill>
                <a:srgbClr val="FFFFFF"/>
              </a:solidFill>
              <a:latin typeface="Lato"/>
            </a:endParaRPr>
          </a:p>
          <a:p>
            <a:r>
              <a:rPr lang="en-US" altLang="zh-CN" b="0" dirty="0" err="1">
                <a:solidFill>
                  <a:srgbClr val="FFFFFF"/>
                </a:solidFill>
                <a:latin typeface="Lato"/>
              </a:rPr>
              <a:t>Eg</a:t>
            </a:r>
            <a:r>
              <a:rPr lang="en-US" altLang="zh-CN" b="0" dirty="0">
                <a:solidFill>
                  <a:srgbClr val="FFFFFF"/>
                </a:solidFill>
                <a:latin typeface="Lato"/>
              </a:rPr>
              <a:t> (2)</a:t>
            </a:r>
            <a:r>
              <a:rPr lang="zh-CN" altLang="en-US" b="0" dirty="0">
                <a:solidFill>
                  <a:srgbClr val="FFFFFF"/>
                </a:solidFill>
                <a:latin typeface="Lato"/>
              </a:rPr>
              <a:t>抖音的推流，</a:t>
            </a:r>
            <a:r>
              <a:rPr lang="en-US" altLang="zh-CN" b="0" dirty="0">
                <a:solidFill>
                  <a:srgbClr val="FFFFFF"/>
                </a:solidFill>
                <a:latin typeface="Lato"/>
              </a:rPr>
              <a:t>how</a:t>
            </a:r>
            <a:r>
              <a:rPr lang="zh-CN" altLang="en-US" b="0" dirty="0">
                <a:solidFill>
                  <a:srgbClr val="FFFFFF"/>
                </a:solidFill>
                <a:latin typeface="Lato"/>
              </a:rPr>
              <a:t>准确将视频推给喜欢它的人？</a:t>
            </a:r>
            <a:endParaRPr lang="en-US" altLang="zh-CN" b="0" dirty="0">
              <a:solidFill>
                <a:srgbClr val="FFFFFF"/>
              </a:solidFill>
              <a:latin typeface="Lato"/>
            </a:endParaRPr>
          </a:p>
          <a:p>
            <a:endParaRPr lang="en-US" altLang="zh-CN" b="0" dirty="0">
              <a:solidFill>
                <a:srgbClr val="FFFFFF"/>
              </a:solidFill>
              <a:latin typeface="Lato"/>
            </a:endParaRPr>
          </a:p>
          <a:p>
            <a:endParaRPr lang="en-US" altLang="zh-CN" b="0" dirty="0">
              <a:solidFill>
                <a:srgbClr val="FFFFFF"/>
              </a:solidFill>
              <a:latin typeface="Lato"/>
            </a:endParaRPr>
          </a:p>
          <a:p>
            <a:endParaRPr lang="en-US" altLang="zh-CN" b="0" dirty="0">
              <a:solidFill>
                <a:srgbClr val="FFFFFF"/>
              </a:solidFill>
              <a:latin typeface="Lato"/>
            </a:endParaRPr>
          </a:p>
          <a:p>
            <a:pPr marL="0" indent="0">
              <a:buNone/>
            </a:pPr>
            <a:r>
              <a:rPr lang="zh-CN" altLang="en-US" dirty="0"/>
              <a:t>许多语言都支持</a:t>
            </a:r>
            <a:r>
              <a:rPr lang="en-US" altLang="zh-CN" dirty="0"/>
              <a:t>~</a:t>
            </a:r>
            <a:r>
              <a:rPr lang="zh-CN" altLang="en-US" dirty="0"/>
              <a:t>，</a:t>
            </a:r>
            <a:r>
              <a:rPr lang="en-US" altLang="zh-CN" dirty="0"/>
              <a:t>Python</a:t>
            </a:r>
            <a:r>
              <a:rPr lang="zh-CN" altLang="en-US" dirty="0"/>
              <a:t>则拥有全面的</a:t>
            </a:r>
            <a:r>
              <a:rPr lang="en-US" altLang="zh-CN" dirty="0"/>
              <a:t>~</a:t>
            </a:r>
            <a:r>
              <a:rPr lang="zh-CN" altLang="en-US" dirty="0"/>
              <a:t>功能。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5D4FD8-029D-4B8A-826A-7DEFA9D62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840" y="4254216"/>
            <a:ext cx="1806097" cy="16841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BC9A298-C6BB-46CB-8CA3-2091B1573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378" y="4437112"/>
            <a:ext cx="1615580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162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引例</a:t>
            </a:r>
            <a:r>
              <a:rPr lang="en-US" altLang="zh-CN" dirty="0"/>
              <a:t>】</a:t>
            </a:r>
            <a:r>
              <a:rPr lang="zh-CN" altLang="en-US" dirty="0"/>
              <a:t>一个网页：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&gt;hello world&lt;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zh-CN" b="0" i="0" dirty="0">
                <a:solidFill>
                  <a:srgbClr val="63A35C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  要把这个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hello world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提取出来</a:t>
            </a:r>
            <a:r>
              <a:rPr lang="zh-CN" altLang="en-US" b="0" dirty="0">
                <a:solidFill>
                  <a:srgbClr val="FFFFFF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solidFill>
                  <a:srgbClr val="FFFFFF"/>
                </a:solidFill>
                <a:latin typeface="Consolas" panose="020B0609020204030204" pitchFamily="49" charset="0"/>
              </a:rPr>
              <a:t>how?</a:t>
            </a:r>
          </a:p>
          <a:p>
            <a:pPr marL="0" indent="0">
              <a:buNone/>
            </a:pP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s = "&lt;html&gt;&lt;body&gt;&lt;h1&gt;hello	world&lt;h1&gt;&lt;/body&gt;&lt;/html&gt;" </a:t>
            </a:r>
          </a:p>
          <a:p>
            <a:pPr marL="0" indent="0">
              <a:buNone/>
            </a:pP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8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start_index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8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s.find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('&lt;h1&gt;’)</a:t>
            </a:r>
          </a:p>
          <a:p>
            <a:r>
              <a:rPr lang="zh-CN" altLang="en-US" i="0" dirty="0">
                <a:solidFill>
                  <a:srgbClr val="FFFFFF"/>
                </a:solidFill>
                <a:effectLst/>
                <a:latin typeface="Lato"/>
              </a:rPr>
              <a:t>然后从这个位置向下查找到下一个</a:t>
            </a:r>
            <a:r>
              <a:rPr lang="en-US" altLang="zh-CN" i="0" dirty="0">
                <a:solidFill>
                  <a:srgbClr val="FFFFFF"/>
                </a:solidFill>
                <a:effectLst/>
                <a:latin typeface="Lato"/>
              </a:rPr>
              <a:t>&lt;h1&gt;</a:t>
            </a:r>
          </a:p>
          <a:p>
            <a:r>
              <a:rPr lang="en-US" altLang="zh-CN" dirty="0">
                <a:solidFill>
                  <a:srgbClr val="FFFFFF"/>
                </a:solidFill>
                <a:latin typeface="Lato"/>
              </a:rPr>
              <a:t>【</a:t>
            </a:r>
            <a:r>
              <a:rPr lang="zh-CN" altLang="en-US" dirty="0">
                <a:solidFill>
                  <a:srgbClr val="FFFFFF"/>
                </a:solidFill>
                <a:latin typeface="Lato"/>
              </a:rPr>
              <a:t>问题</a:t>
            </a:r>
            <a:r>
              <a:rPr lang="en-US" altLang="zh-CN" dirty="0">
                <a:solidFill>
                  <a:srgbClr val="FFFFFF"/>
                </a:solidFill>
                <a:latin typeface="Lato"/>
              </a:rPr>
              <a:t>】</a:t>
            </a:r>
            <a:r>
              <a:rPr lang="zh-CN" altLang="en-US" dirty="0">
                <a:solidFill>
                  <a:srgbClr val="FFFFFF"/>
                </a:solidFill>
                <a:latin typeface="Lato"/>
              </a:rPr>
              <a:t>网页中标签很多，标签套标签，麻烦，经常匹配出来的东西多出来，不精确，如果要精确，得加循环进行判断，效率低</a:t>
            </a:r>
            <a:endParaRPr lang="en-US" altLang="zh-CN" dirty="0">
              <a:solidFill>
                <a:srgbClr val="FFFFFF"/>
              </a:solidFill>
              <a:latin typeface="Lato"/>
            </a:endParaRPr>
          </a:p>
          <a:p>
            <a:r>
              <a:rPr lang="zh-CN" altLang="en-US" sz="3200" b="0" i="0" dirty="0">
                <a:solidFill>
                  <a:srgbClr val="FFFFFF"/>
                </a:solidFill>
                <a:effectLst/>
                <a:latin typeface="Lato"/>
              </a:rPr>
              <a:t>这时候，正则表达式就是首选。</a:t>
            </a:r>
            <a:endParaRPr lang="zh-CN" altLang="en-US" sz="4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7498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04664"/>
            <a:ext cx="11737304" cy="6316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点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.  </a:t>
            </a: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加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+  </a:t>
            </a: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星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*</a:t>
            </a: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【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任务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】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把网页中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&lt;h1&gt;…&lt;h1&gt;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中的部分匹配出来？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import re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key = r"&lt;html&gt;&lt;body&gt;&lt;h1&gt;hello world&lt;h1&gt;&lt;/body&gt;&lt;/html&gt;“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这段是你要匹配的文本 </a:t>
            </a: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p1 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= r“&lt;h1&gt;.+&lt;h1&gt;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#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这是我们写的正则表达式规则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pattern1 = 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re.compile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(p1)   #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编译正则表达式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print pattern1.findall(key)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# 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findall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返回的是所有符合要求的元素列表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说明：点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在正则表达式中代表任何一个字符（包括它本身）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    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加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+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作用：将前面一个字符或子表达式重复一遍或者多遍，因为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helloword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 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            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不是一个字符。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1864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04664"/>
            <a:ext cx="11737304" cy="6316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点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.  </a:t>
            </a: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加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+  </a:t>
            </a:r>
            <a:r>
              <a:rPr lang="zh-CN" altLang="en-US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星</a:t>
            </a:r>
            <a:r>
              <a:rPr lang="en-US" altLang="zh-CN" sz="4000" b="0" dirty="0">
                <a:solidFill>
                  <a:srgbClr val="FFFFFF"/>
                </a:solidFill>
                <a:latin typeface="Consolas" panose="020B0609020204030204" pitchFamily="49" charset="0"/>
              </a:rPr>
              <a:t>*</a:t>
            </a: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“ab+”</a:t>
            </a:r>
          </a:p>
          <a:p>
            <a:pPr lvl="1"/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能匹配“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ab”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abbbb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，但是不能匹配到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"a"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，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它要求必须得有个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，多了不限，少了不行。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怎么匹配到有没有都行呢？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“ab*”</a:t>
            </a:r>
          </a:p>
          <a:p>
            <a:pPr lvl="1"/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可以匹配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”a”,”ab”,”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abbbbb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</a:p>
          <a:p>
            <a:pPr lvl="1"/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*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跟在其他符号后面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表示可以匹配它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次或多次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【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问题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】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要匹配出网页中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http://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https://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key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r"http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://www.nsfbuhwe.com and https://www.auhfisna.com“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r"https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*://“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pattern1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re.compile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(p1)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print pattern1.findall(key)</a:t>
            </a:r>
          </a:p>
          <a:p>
            <a:pPr marL="0" indent="0">
              <a:buNone/>
            </a:pP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输出：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['http://', 'https://']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77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6" y="102215"/>
            <a:ext cx="8595360" cy="90249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转义字符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【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问题</a:t>
            </a: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】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如果要找点</a:t>
            </a: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怎么办？</a:t>
            </a: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——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转义字符</a:t>
            </a:r>
          </a:p>
          <a:p>
            <a:pPr marL="0" indent="0"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任务</a:t>
            </a:r>
            <a:r>
              <a:rPr lang="en-US" altLang="zh-CN" sz="2800" dirty="0"/>
              <a:t>】</a:t>
            </a:r>
            <a:r>
              <a:rPr lang="zh-CN" altLang="en-US" sz="2800" b="0" i="0" dirty="0">
                <a:solidFill>
                  <a:srgbClr val="FFFFFF"/>
                </a:solidFill>
                <a:effectLst/>
                <a:latin typeface="Lato"/>
              </a:rPr>
              <a:t>想匹配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Lato"/>
              </a:rPr>
              <a:t>"chuxiuhong@xxx.edu.cn"</a:t>
            </a:r>
            <a:r>
              <a:rPr lang="zh-CN" altLang="en-US" sz="2800" b="0" i="0" dirty="0">
                <a:solidFill>
                  <a:srgbClr val="FFFFFF"/>
                </a:solidFill>
                <a:effectLst/>
                <a:latin typeface="Lato"/>
              </a:rPr>
              <a:t>邮箱</a:t>
            </a:r>
            <a:endParaRPr lang="en-US" altLang="zh-CN" sz="2800" b="0" i="0" dirty="0">
              <a:solidFill>
                <a:srgbClr val="FFFFFF"/>
              </a:solidFill>
              <a:effectLst/>
              <a:latin typeface="Lato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import re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key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r"afiouwehrfuichuxiuhong@xxx.edu.cnaskdjhfiosueh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r"chuxiuhong@xxx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\.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\.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cn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pattern1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re.compile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(p1)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print pattern1.findall(key)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819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[]</a:t>
            </a:r>
            <a:r>
              <a:rPr lang="zh-CN" altLang="en-US" sz="4000" dirty="0"/>
              <a:t>和</a:t>
            </a:r>
            <a:r>
              <a:rPr lang="en-US" altLang="zh-CN" sz="4000" dirty="0"/>
              <a:t>[^]</a:t>
            </a:r>
            <a:r>
              <a:rPr lang="zh-CN" altLang="en-US" sz="4000" dirty="0"/>
              <a:t>范围</a:t>
            </a:r>
            <a:r>
              <a:rPr lang="en-US" altLang="zh-CN" sz="4000" dirty="0"/>
              <a:t>/</a:t>
            </a:r>
            <a:r>
              <a:rPr lang="zh-CN" altLang="en-US" sz="4000" dirty="0"/>
              <a:t>范围排除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r>
              <a:rPr lang="zh-CN" altLang="en-US" sz="2800" b="0" dirty="0">
                <a:solidFill>
                  <a:srgbClr val="FFFFFF"/>
                </a:solidFill>
                <a:effectLst/>
                <a:latin typeface="Lato"/>
              </a:rPr>
              <a:t>代表匹配</a:t>
            </a:r>
            <a:r>
              <a:rPr lang="en-US" altLang="zh-CN" sz="2800" b="0" dirty="0">
                <a:solidFill>
                  <a:srgbClr val="FFFFFF"/>
                </a:solidFill>
                <a:effectLst/>
                <a:latin typeface="Lato"/>
              </a:rPr>
              <a:t>[ ]</a:t>
            </a:r>
            <a:r>
              <a:rPr lang="zh-CN" altLang="en-US" sz="2800" b="0" dirty="0">
                <a:solidFill>
                  <a:srgbClr val="FFFFFF"/>
                </a:solidFill>
                <a:effectLst/>
                <a:latin typeface="Lato"/>
              </a:rPr>
              <a:t>里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任意一个</a:t>
            </a:r>
            <a:r>
              <a:rPr lang="zh-CN" altLang="en-US" sz="2800" b="0" dirty="0">
                <a:solidFill>
                  <a:srgbClr val="FFFFFF"/>
                </a:solidFill>
                <a:effectLst/>
                <a:latin typeface="Lato"/>
              </a:rPr>
              <a:t>字符</a:t>
            </a:r>
            <a:endParaRPr lang="en-US" altLang="zh-CN" sz="2800" b="0" dirty="0">
              <a:solidFill>
                <a:srgbClr val="FFFFFF"/>
              </a:solidFill>
              <a:effectLst/>
              <a:latin typeface="Lato"/>
            </a:endParaRPr>
          </a:p>
          <a:p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【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任务</a:t>
            </a:r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】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搜索文本中的</a:t>
            </a:r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”tesla”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，也可是</a:t>
            </a:r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Tesla, </a:t>
            </a:r>
            <a:r>
              <a:rPr lang="en-US" altLang="zh-CN" sz="2800" b="0" dirty="0" err="1">
                <a:solidFill>
                  <a:srgbClr val="FFFFFF"/>
                </a:solidFill>
                <a:latin typeface="Lato"/>
              </a:rPr>
              <a:t>TESLA,TeSLA</a:t>
            </a:r>
            <a:endParaRPr lang="en-US" altLang="zh-CN" sz="2800" b="0" dirty="0">
              <a:solidFill>
                <a:srgbClr val="FFFFFF"/>
              </a:solidFill>
              <a:latin typeface="Lato"/>
            </a:endParaRPr>
          </a:p>
          <a:p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【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分析</a:t>
            </a:r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】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如果排列组合，会有</a:t>
            </a:r>
            <a:r>
              <a:rPr lang="en-US" altLang="zh-CN" sz="2800" b="0" dirty="0">
                <a:solidFill>
                  <a:srgbClr val="FFFFFF"/>
                </a:solidFill>
                <a:latin typeface="Lato"/>
              </a:rPr>
              <a:t>2**5=32</a:t>
            </a:r>
            <a:r>
              <a:rPr lang="zh-CN" altLang="en-US" sz="2800" b="0" dirty="0">
                <a:solidFill>
                  <a:srgbClr val="FFFFFF"/>
                </a:solidFill>
                <a:latin typeface="Lato"/>
              </a:rPr>
              <a:t>种可能</a:t>
            </a:r>
            <a:endParaRPr lang="en-US" altLang="zh-CN" sz="2800" b="0" dirty="0">
              <a:solidFill>
                <a:srgbClr val="FFFFFF"/>
              </a:solidFill>
              <a:latin typeface="Lato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key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r“lalala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teslaheheTeSLaheheh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”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p1 = r“[Tt][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Ee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][Ss][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][Aa]” 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pattern1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re.compile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(p1) 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print pattern1.findall(key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）</a:t>
            </a: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输出：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[‘tesla’,’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TeSLa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’]</a:t>
            </a:r>
          </a:p>
          <a:p>
            <a:pPr marL="0" indent="0">
              <a:buNone/>
            </a:pP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是范围内匹配，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{^]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则是范围排除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key = </a:t>
            </a:r>
            <a:r>
              <a:rPr lang="en-US" altLang="zh-CN" sz="2400" b="0" dirty="0" err="1">
                <a:solidFill>
                  <a:srgbClr val="FFFFFF"/>
                </a:solidFill>
                <a:latin typeface="Consolas" panose="020B0609020204030204" pitchFamily="49" charset="0"/>
              </a:rPr>
              <a:t>r"mat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cat hat pat" 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p1 = r"[^p]at“  #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这代表除了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以外都匹配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5112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r>
              <a:rPr lang="zh-CN" altLang="en-US" dirty="0"/>
              <a:t>正则表达式的一些写法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CF51A071-DBAA-4AA2-9A14-530899151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98251"/>
              </p:ext>
            </p:extLst>
          </p:nvPr>
        </p:nvGraphicFramePr>
        <p:xfrm>
          <a:off x="623392" y="1086585"/>
          <a:ext cx="10225136" cy="4671325"/>
        </p:xfrm>
        <a:graphic>
          <a:graphicData uri="http://schemas.openxmlformats.org/drawingml/2006/table">
            <a:tbl>
              <a:tblPr/>
              <a:tblGrid>
                <a:gridCol w="3154564">
                  <a:extLst>
                    <a:ext uri="{9D8B030D-6E8A-4147-A177-3AD203B41FA5}">
                      <a16:colId xmlns:a16="http://schemas.microsoft.com/office/drawing/2014/main" val="933224228"/>
                    </a:ext>
                  </a:extLst>
                </a:gridCol>
                <a:gridCol w="7070572">
                  <a:extLst>
                    <a:ext uri="{9D8B030D-6E8A-4147-A177-3AD203B41FA5}">
                      <a16:colId xmlns:a16="http://schemas.microsoft.com/office/drawing/2014/main" val="2465288314"/>
                    </a:ext>
                  </a:extLst>
                </a:gridCol>
              </a:tblGrid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  <a:latin typeface="inherit"/>
                        </a:rPr>
                        <a:t>正则表达式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inherit"/>
                        </a:rPr>
                        <a:t>代表的匹配字符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41315"/>
                  </a:ext>
                </a:extLst>
              </a:tr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>
                          <a:effectLst/>
                        </a:rPr>
                        <a:t>[0-9]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dirty="0">
                          <a:effectLst/>
                        </a:rPr>
                        <a:t>0123456789</a:t>
                      </a:r>
                      <a:r>
                        <a:rPr lang="zh-CN" altLang="en-US" sz="2400" b="1" dirty="0">
                          <a:effectLst/>
                        </a:rPr>
                        <a:t>任意之一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428774"/>
                  </a:ext>
                </a:extLst>
              </a:tr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[a-z]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小写字母任意之一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73349"/>
                  </a:ext>
                </a:extLst>
              </a:tr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[A-Z]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大写字母任意之一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178033"/>
                  </a:ext>
                </a:extLst>
              </a:tr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\d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等同于</a:t>
                      </a:r>
                      <a:r>
                        <a:rPr lang="en-US" altLang="zh-CN" sz="2400" b="1">
                          <a:effectLst/>
                        </a:rPr>
                        <a:t>[0-9]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993048"/>
                  </a:ext>
                </a:extLst>
              </a:tr>
              <a:tr h="49632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\D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等同于</a:t>
                      </a:r>
                      <a:r>
                        <a:rPr lang="en-US" altLang="zh-CN" sz="2400" b="1" dirty="0">
                          <a:effectLst/>
                        </a:rPr>
                        <a:t>[^0-9]</a:t>
                      </a:r>
                      <a:r>
                        <a:rPr lang="zh-CN" altLang="en-US" sz="2400" b="1" dirty="0">
                          <a:effectLst/>
                        </a:rPr>
                        <a:t>，匹配非数字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708407"/>
                  </a:ext>
                </a:extLst>
              </a:tr>
              <a:tr h="83993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\w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等同于</a:t>
                      </a:r>
                      <a:r>
                        <a:rPr lang="en-US" altLang="zh-CN" sz="2400" b="1" dirty="0">
                          <a:effectLst/>
                        </a:rPr>
                        <a:t>[</a:t>
                      </a:r>
                      <a:r>
                        <a:rPr lang="en-US" sz="2400" b="1" dirty="0">
                          <a:effectLst/>
                        </a:rPr>
                        <a:t>a-z0-9A-Z_]</a:t>
                      </a:r>
                      <a:r>
                        <a:rPr lang="zh-CN" altLang="en-US" sz="2400" b="1" dirty="0">
                          <a:effectLst/>
                        </a:rPr>
                        <a:t>，匹配大小写字母、数字和下划线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769630"/>
                  </a:ext>
                </a:extLst>
              </a:tr>
              <a:tr h="839935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</a:rPr>
                        <a:t>\W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等同于</a:t>
                      </a:r>
                      <a:r>
                        <a:rPr lang="en-US" altLang="zh-CN" sz="2400" b="1" dirty="0">
                          <a:effectLst/>
                        </a:rPr>
                        <a:t>[^</a:t>
                      </a:r>
                      <a:r>
                        <a:rPr lang="en-US" sz="2400" b="1" dirty="0">
                          <a:effectLst/>
                        </a:rPr>
                        <a:t>a-z0-9A-Z_]</a:t>
                      </a:r>
                      <a:r>
                        <a:rPr lang="zh-CN" altLang="en-US" sz="2400" b="1" dirty="0">
                          <a:effectLst/>
                        </a:rPr>
                        <a:t>，等同于上一条取非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04640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6453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贪心算法与懒惰算法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【</a:t>
            </a:r>
            <a:r>
              <a:rPr lang="zh-CN" altLang="en-US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任务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】</a:t>
            </a:r>
            <a:r>
              <a:rPr lang="zh-CN" altLang="en-US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  <a:hlinkClick r:id="rId2"/>
              </a:rPr>
              <a:t>要把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  <a:hlinkClick r:id="rId2"/>
              </a:rPr>
              <a:t>gejuan@suda.edu.cn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  <a:hlinkClick r:id="rId2"/>
              </a:rPr>
              <a:t>中的</a:t>
            </a:r>
            <a:r>
              <a:rPr lang="en-US" altLang="zh-CN" sz="2800" b="0" dirty="0" err="1">
                <a:solidFill>
                  <a:srgbClr val="FFFFFF"/>
                </a:solidFill>
                <a:latin typeface="Consolas" panose="020B0609020204030204" pitchFamily="49" charset="0"/>
                <a:hlinkClick r:id="rId2"/>
              </a:rPr>
              <a:t>suda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匹配出来</a:t>
            </a:r>
            <a:endParaRPr lang="en-US" altLang="zh-CN" sz="28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key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r“gejuan@suda.edu.cn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p1 = r”@.+\.”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pattern1 = </a:t>
            </a:r>
            <a:r>
              <a:rPr lang="en-US" altLang="zh-CN" sz="2400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re.compile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(p1) </a:t>
            </a: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print pattern1.findall(key)</a:t>
            </a:r>
          </a:p>
          <a:p>
            <a:pPr marL="0" indent="0">
              <a:buNone/>
            </a:pP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输出：</a:t>
            </a:r>
            <a:r>
              <a:rPr lang="en-US" altLang="zh-CN" sz="28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['@hit.edu.’]</a:t>
            </a:r>
          </a:p>
          <a:p>
            <a:endParaRPr lang="en-US" altLang="zh-CN" sz="28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“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贪心</a:t>
            </a: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”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vs “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</a:rPr>
              <a:t>懒惰</a:t>
            </a:r>
            <a:r>
              <a:rPr lang="zh-CN" altLang="en-US" sz="2800" b="0" dirty="0">
                <a:solidFill>
                  <a:srgbClr val="FFFFFF"/>
                </a:solidFill>
                <a:latin typeface="Consolas" panose="020B0609020204030204" pitchFamily="49" charset="0"/>
                <a:hlinkClick r:id="rId3"/>
              </a:rPr>
              <a:t>”</a:t>
            </a:r>
            <a:endParaRPr lang="en-US" altLang="zh-CN" sz="2800" b="0" dirty="0">
              <a:solidFill>
                <a:srgbClr val="FFFFFF"/>
              </a:solidFill>
              <a:latin typeface="Consolas" panose="020B0609020204030204" pitchFamily="49" charset="0"/>
              <a:hlinkClick r:id="rId3"/>
            </a:endParaRPr>
          </a:p>
          <a:p>
            <a:pPr marL="0" indent="0">
              <a:buNone/>
            </a:pPr>
            <a:r>
              <a:rPr lang="en-US" altLang="zh-CN" sz="16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  <a:hlinkClick r:id="rId3"/>
              </a:rPr>
              <a:t>   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  <a:hlinkClick r:id="rId3"/>
              </a:rPr>
              <a:t>p1 = r“@.+?\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.“    # 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在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后面放个？，表示匹配大第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个点即可</a:t>
            </a:r>
            <a:endParaRPr lang="en-US" altLang="zh-CN" sz="2400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输出： </a:t>
            </a:r>
            <a:r>
              <a:rPr lang="en-US" altLang="zh-CN" sz="2400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['@hit.’]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【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总结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】+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是贪心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+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+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？是懒惰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+</a:t>
            </a:r>
          </a:p>
          <a:p>
            <a:pPr marL="0" indent="0">
              <a:buNone/>
            </a:pP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       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在长文本匹配中，使用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+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*</a:t>
            </a:r>
            <a:r>
              <a:rPr lang="zh-CN" altLang="en-US" sz="2400" b="0" dirty="0">
                <a:solidFill>
                  <a:srgbClr val="FFFFFF"/>
                </a:solidFill>
                <a:latin typeface="Consolas" panose="020B0609020204030204" pitchFamily="49" charset="0"/>
              </a:rPr>
              <a:t>要想好用贪心的还是懒惰的</a:t>
            </a:r>
            <a:endParaRPr lang="en-US" altLang="zh-CN" sz="2400" b="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84</a:t>
            </a:fld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6C960E-8A65-4454-8437-C1056C3F6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-74999"/>
            <a:ext cx="65" cy="276999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049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r>
              <a:rPr lang="en-US" altLang="zh-CN" dirty="0"/>
              <a:t>{1,3}</a:t>
            </a:r>
            <a:r>
              <a:rPr lang="zh-CN" altLang="en-US" dirty="0"/>
              <a:t>匹配次数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/>
          <a:lstStyle/>
          <a:p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{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Lato"/>
              </a:rPr>
              <a:t>a,b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}(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代表 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a&lt;=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Lato"/>
              </a:rPr>
              <a:t>匹配次数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Lato"/>
              </a:rPr>
              <a:t>&lt;=b</a:t>
            </a:r>
          </a:p>
          <a:p>
            <a:pPr marL="0" indent="0">
              <a:buNone/>
            </a:pP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 key = 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r"saas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sas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saaas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p1 = 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r“sa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{1,2}s”    # 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匹配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a 1</a:t>
            </a:r>
            <a:r>
              <a:rPr lang="zh-CN" altLang="en-US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到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FFFFFF"/>
                </a:solidFill>
                <a:latin typeface="Consolas" panose="020B0609020204030204" pitchFamily="49" charset="0"/>
              </a:rPr>
              <a:t>次</a:t>
            </a:r>
            <a:endParaRPr lang="en-US" altLang="zh-CN" b="0" i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pattern1 = 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re.compile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(p1) 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print pattern1.findall(key)</a:t>
            </a:r>
          </a:p>
          <a:p>
            <a:pPr marL="0" indent="0">
              <a:buNone/>
            </a:pPr>
            <a:r>
              <a:rPr lang="zh-CN" altLang="en-US" b="0" dirty="0">
                <a:solidFill>
                  <a:srgbClr val="FFFFFF"/>
                </a:solidFill>
                <a:latin typeface="Consolas" panose="020B0609020204030204" pitchFamily="49" charset="0"/>
              </a:rPr>
              <a:t>输出：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['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saas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n-US" altLang="zh-CN" b="0" i="0" dirty="0" err="1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sas</a:t>
            </a:r>
            <a:r>
              <a:rPr lang="en-US" altLang="zh-CN" b="0" i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’]</a:t>
            </a:r>
          </a:p>
          <a:p>
            <a:pPr marL="0" indent="0">
              <a:buNone/>
            </a:pPr>
            <a:r>
              <a:rPr lang="zh-CN" altLang="en-US" dirty="0"/>
              <a:t>类似的，</a:t>
            </a:r>
            <a:r>
              <a:rPr lang="en-US" altLang="zh-CN" dirty="0"/>
              <a:t>{1:}</a:t>
            </a:r>
            <a:r>
              <a:rPr lang="zh-CN" altLang="en-US" dirty="0"/>
              <a:t>匹配一次以上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{:3}</a:t>
            </a:r>
            <a:r>
              <a:rPr lang="zh-CN" altLang="en-US" dirty="0"/>
              <a:t>最多匹配</a:t>
            </a:r>
            <a:r>
              <a:rPr lang="en-US" altLang="zh-CN" dirty="0"/>
              <a:t>3</a:t>
            </a:r>
            <a:r>
              <a:rPr lang="zh-CN" altLang="en-US" dirty="0"/>
              <a:t>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9193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5FAAD76-497C-4C51-88E9-34EB4CF9A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004384"/>
              </p:ext>
            </p:extLst>
          </p:nvPr>
        </p:nvGraphicFramePr>
        <p:xfrm>
          <a:off x="1271464" y="901280"/>
          <a:ext cx="9001000" cy="5500393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451176980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637149820"/>
                    </a:ext>
                  </a:extLst>
                </a:gridCol>
              </a:tblGrid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元字符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说明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41878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代表任意字符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405112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|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逻辑或操作符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693142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[ ]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匹配内部的任一字符或子表达式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96357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[^]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对字符集和取非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598329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定义一个区间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877755"/>
                  </a:ext>
                </a:extLst>
              </a:tr>
              <a:tr h="43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\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对下一字符取非（通常是普通变特殊，特殊变普通）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561293"/>
                  </a:ext>
                </a:extLst>
              </a:tr>
              <a:tr h="4393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effectLst/>
                          <a:latin typeface="+mj-ea"/>
                          <a:ea typeface="+mj-ea"/>
                        </a:rPr>
                        <a:t>*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匹配前面的字符或者子表达式</a:t>
                      </a:r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次或多次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838926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*</a:t>
                      </a:r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?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惰性匹配上一个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459768"/>
                  </a:ext>
                </a:extLst>
              </a:tr>
              <a:tr h="4393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+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匹配前一个字符或子表达式一次或多次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69516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effectLst/>
                          <a:latin typeface="+mj-ea"/>
                          <a:ea typeface="+mj-ea"/>
                        </a:rPr>
                        <a:t>+?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惰性匹配上一个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275438"/>
                  </a:ext>
                </a:extLst>
              </a:tr>
              <a:tr h="219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?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匹配前一个字符或子表达式</a:t>
                      </a:r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次或</a:t>
                      </a:r>
                      <a:r>
                        <a:rPr lang="en-US" altLang="zh-CN" sz="2400" b="1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zh-CN" altLang="en-US" sz="2400" b="1" dirty="0">
                          <a:effectLst/>
                          <a:latin typeface="+mj-ea"/>
                          <a:ea typeface="+mj-ea"/>
                        </a:rPr>
                        <a:t>次重复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34602"/>
                  </a:ext>
                </a:extLst>
              </a:tr>
              <a:tr h="2196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+mj-ea"/>
                          <a:ea typeface="+mj-ea"/>
                        </a:rPr>
                        <a:t>{n}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匹配前一个字符或子表达式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1957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3389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r>
              <a:rPr lang="zh-CN" altLang="en-US" dirty="0"/>
              <a:t>元字符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5FAAD76-497C-4C51-88E9-34EB4CF9A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158859"/>
              </p:ext>
            </p:extLst>
          </p:nvPr>
        </p:nvGraphicFramePr>
        <p:xfrm>
          <a:off x="1271464" y="901280"/>
          <a:ext cx="9001000" cy="5385189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451176980"/>
                    </a:ext>
                  </a:extLst>
                </a:gridCol>
                <a:gridCol w="7632848">
                  <a:extLst>
                    <a:ext uri="{9D8B030D-6E8A-4147-A177-3AD203B41FA5}">
                      <a16:colId xmlns:a16="http://schemas.microsoft.com/office/drawing/2014/main" val="637149820"/>
                    </a:ext>
                  </a:extLst>
                </a:gridCol>
              </a:tblGrid>
              <a:tr h="50072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{m,n}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匹配前一个字符或子表达式至少</a:t>
                      </a:r>
                      <a:r>
                        <a:rPr lang="en-US" altLang="zh-CN" sz="2000" b="1" dirty="0">
                          <a:effectLst/>
                          <a:latin typeface="+mj-ea"/>
                          <a:ea typeface="+mj-ea"/>
                        </a:rPr>
                        <a:t>m</a:t>
                      </a:r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次至多</a:t>
                      </a:r>
                      <a:r>
                        <a:rPr lang="en-US" altLang="zh-CN" sz="2000" b="1" dirty="0">
                          <a:effectLst/>
                          <a:latin typeface="+mj-ea"/>
                          <a:ea typeface="+mj-ea"/>
                        </a:rPr>
                        <a:t>n</a:t>
                      </a:r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次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494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{n,}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匹配前一个字符或者子表达式至少</a:t>
                      </a:r>
                      <a:r>
                        <a:rPr lang="en-US" altLang="zh-CN" sz="2000" b="1" dirty="0">
                          <a:effectLst/>
                          <a:latin typeface="+mj-ea"/>
                          <a:ea typeface="+mj-ea"/>
                        </a:rPr>
                        <a:t>n</a:t>
                      </a:r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次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79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{n,}?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前一个的惰性匹配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669283"/>
                  </a:ext>
                </a:extLst>
              </a:tr>
              <a:tr h="1373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effectLst/>
                          <a:latin typeface="+mj-ea"/>
                          <a:ea typeface="+mj-ea"/>
                        </a:rPr>
                        <a:t>^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匹配字符串的开头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255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\A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匹配字符串开头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425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effectLst/>
                          <a:latin typeface="+mj-ea"/>
                          <a:ea typeface="+mj-ea"/>
                        </a:rPr>
                        <a:t>$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匹配字符串结束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026841"/>
                  </a:ext>
                </a:extLst>
              </a:tr>
              <a:tr h="41794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[\b]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effectLst/>
                          <a:latin typeface="+mj-ea"/>
                          <a:ea typeface="+mj-ea"/>
                        </a:rPr>
                        <a:t>退格字符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\c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匹配一个控制字符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56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\d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匹配任意数字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4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\D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匹配数字以外的字符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90100"/>
                  </a:ext>
                </a:extLst>
              </a:tr>
              <a:tr h="41794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\t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匹配制表符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393349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\w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匹配任意数字字母下划线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652192"/>
                  </a:ext>
                </a:extLst>
              </a:tr>
              <a:tr h="778195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ea"/>
                          <a:ea typeface="+mj-ea"/>
                        </a:rPr>
                        <a:t>\W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effectLst/>
                          <a:latin typeface="+mj-ea"/>
                          <a:ea typeface="+mj-ea"/>
                        </a:rPr>
                        <a:t>不匹配数字字母下划线</a:t>
                      </a:r>
                    </a:p>
                  </a:txBody>
                  <a:tcPr marL="58576" marR="58576" marT="29288" marB="29288" anchor="ctr">
                    <a:lnL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F2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776121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8606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r>
              <a:rPr lang="zh-CN" altLang="en-US" sz="4000" dirty="0"/>
              <a:t>本章习题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0765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输入一个字符串，判断它是否是回文串。（回文串：正序和逆序相同）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=====</a:t>
            </a:r>
          </a:p>
          <a:p>
            <a:pPr marL="0" indent="0">
              <a:buNone/>
            </a:pPr>
            <a:r>
              <a:rPr lang="zh-CN" altLang="en-US" dirty="0"/>
              <a:t>请输入一个字符串：</a:t>
            </a:r>
            <a:r>
              <a:rPr lang="en-US" altLang="zh-CN" dirty="0"/>
              <a:t>aba</a:t>
            </a:r>
          </a:p>
          <a:p>
            <a:pPr marL="0" indent="0">
              <a:buNone/>
            </a:pPr>
            <a:r>
              <a:rPr lang="zh-CN" altLang="en-US" dirty="0"/>
              <a:t>是回文串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zh-CN" altLang="en-US" dirty="0"/>
              <a:t>请输入一个字符串：</a:t>
            </a:r>
            <a:r>
              <a:rPr lang="en-US" altLang="zh-CN" dirty="0" err="1"/>
              <a:t>abc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不是回文串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11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# 1.0 </a:t>
            </a:r>
            <a:r>
              <a:rPr lang="zh-CN" altLang="en-US" sz="2400" dirty="0"/>
              <a:t>版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str1 = input('</a:t>
            </a:r>
            <a:r>
              <a:rPr lang="zh-CN" altLang="en-US" sz="2400" dirty="0"/>
              <a:t>请输入一个字符串：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if str1 == reversed(str1):</a:t>
            </a:r>
          </a:p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是回文串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else:</a:t>
            </a:r>
          </a:p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不是回文串</a:t>
            </a:r>
            <a:r>
              <a:rPr lang="en-US" altLang="zh-CN" sz="2400" dirty="0"/>
              <a:t>’)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问题</a:t>
            </a:r>
            <a:r>
              <a:rPr lang="en-US" altLang="zh-CN" sz="2800" dirty="0"/>
              <a:t>】reversed(str1)</a:t>
            </a:r>
            <a:r>
              <a:rPr lang="zh-CN" altLang="en-US" sz="2800" dirty="0"/>
              <a:t>返回一个</a:t>
            </a:r>
            <a:r>
              <a:rPr lang="en-US" altLang="zh-CN" sz="2800" dirty="0"/>
              <a:t>reverse</a:t>
            </a:r>
            <a:r>
              <a:rPr lang="zh-CN" altLang="en-US" sz="2800" dirty="0"/>
              <a:t>对象，不是字符串对象。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400" dirty="0"/>
              <a:t>&gt;&gt;&gt; s = 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'</a:t>
            </a:r>
          </a:p>
          <a:p>
            <a:pPr marL="0" indent="0">
              <a:buNone/>
            </a:pPr>
            <a:r>
              <a:rPr lang="en-US" altLang="zh-CN" sz="2400" dirty="0"/>
              <a:t>&gt;&gt;&gt; reversed(s)</a:t>
            </a:r>
          </a:p>
          <a:p>
            <a:pPr marL="0" indent="0">
              <a:buNone/>
            </a:pPr>
            <a:r>
              <a:rPr lang="en-US" altLang="zh-CN" sz="2400" dirty="0"/>
              <a:t>&lt;reversed object at 0x00000272E64AD040&gt;</a:t>
            </a:r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185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9392"/>
            <a:ext cx="8595360" cy="90249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980728"/>
            <a:ext cx="11737304" cy="574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# 2.0</a:t>
            </a:r>
            <a:r>
              <a:rPr lang="zh-CN" altLang="en-US" sz="2400" dirty="0"/>
              <a:t>版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str1 = input('</a:t>
            </a:r>
            <a:r>
              <a:rPr lang="zh-CN" altLang="en-US" sz="2400" dirty="0"/>
              <a:t>请输入一个字符串：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str2 = ''.join(reversed(str1)) </a:t>
            </a:r>
          </a:p>
          <a:p>
            <a:pPr marL="0" indent="0">
              <a:buNone/>
            </a:pPr>
            <a:r>
              <a:rPr lang="en-US" altLang="zh-CN" sz="2400" dirty="0"/>
              <a:t>if str1 == str2:</a:t>
            </a:r>
          </a:p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是回文串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else:</a:t>
            </a:r>
          </a:p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不是回文串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4045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A74C9-61A5-43BD-BB1D-87895165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A1665-0906-48DB-B85D-23744AED9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其他方法：切片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/>
              <a:t>str2 = str1[::-1]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s = '</a:t>
            </a:r>
            <a:r>
              <a:rPr lang="en-US" altLang="zh-CN" dirty="0" err="1"/>
              <a:t>abc</a:t>
            </a:r>
            <a:r>
              <a:rPr lang="en-US" altLang="zh-CN" dirty="0"/>
              <a:t>'</a:t>
            </a:r>
          </a:p>
          <a:p>
            <a:pPr marL="0" indent="0">
              <a:buNone/>
            </a:pPr>
            <a:r>
              <a:rPr lang="en-US" altLang="zh-CN" dirty="0"/>
              <a:t>&gt;&gt;&gt; s1=s[::-1]</a:t>
            </a:r>
          </a:p>
          <a:p>
            <a:pPr marL="0" indent="0">
              <a:buNone/>
            </a:pPr>
            <a:r>
              <a:rPr lang="en-US" altLang="zh-CN" dirty="0"/>
              <a:t>&gt;&gt;&gt; s1</a:t>
            </a:r>
          </a:p>
          <a:p>
            <a:pPr marL="0" indent="0">
              <a:buNone/>
            </a:pPr>
            <a:r>
              <a:rPr lang="en-US" altLang="zh-CN" dirty="0"/>
              <a:t>'cba'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61FDA9-55AF-4728-A887-2C81AD12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91117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0CB63-C085-4DBC-829A-3FE107EB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2309E-2E9A-46FF-BDAD-AF57E839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输入一篇文章，将指定的字符串换成另外一个字符串。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请输入文章：</a:t>
            </a:r>
            <a:r>
              <a:rPr lang="en-US" altLang="zh-CN" dirty="0"/>
              <a:t>123abc213ab1234abc3123</a:t>
            </a:r>
          </a:p>
          <a:p>
            <a:pPr marL="0" indent="0">
              <a:buNone/>
            </a:pPr>
            <a:r>
              <a:rPr lang="zh-CN" altLang="en-US" dirty="0"/>
              <a:t>要替换掉的字符串：</a:t>
            </a:r>
            <a:r>
              <a:rPr lang="en-US" altLang="zh-CN" dirty="0"/>
              <a:t>12</a:t>
            </a:r>
          </a:p>
          <a:p>
            <a:pPr marL="0" indent="0">
              <a:buNone/>
            </a:pPr>
            <a:r>
              <a:rPr lang="zh-CN" altLang="en-US" dirty="0"/>
              <a:t>替换为：</a:t>
            </a:r>
            <a:r>
              <a:rPr lang="en-US" altLang="zh-CN" dirty="0"/>
              <a:t>00</a:t>
            </a:r>
          </a:p>
          <a:p>
            <a:pPr marL="0" indent="0">
              <a:buNone/>
            </a:pPr>
            <a:r>
              <a:rPr lang="en-US" altLang="zh-CN" dirty="0"/>
              <a:t>003abc213ab0034abc3003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57F47D-523B-4719-A56F-0276B15B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0075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55117-BAEC-45E3-A7A8-07FEE5CC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C14F6-E138-493B-9D91-F8D03B7D1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text = input('</a:t>
            </a:r>
            <a:r>
              <a:rPr lang="zh-CN" altLang="en-US" sz="2400" dirty="0"/>
              <a:t>请输入文章：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s1 = input('</a:t>
            </a:r>
            <a:r>
              <a:rPr lang="zh-CN" altLang="en-US" sz="2400" dirty="0"/>
              <a:t>要替换掉的字符串：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s2 = input('</a:t>
            </a:r>
            <a:r>
              <a:rPr lang="zh-CN" altLang="en-US" sz="2400" dirty="0"/>
              <a:t>替换为：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s3 = </a:t>
            </a:r>
            <a:r>
              <a:rPr lang="en-US" altLang="zh-CN" sz="2400" dirty="0" err="1"/>
              <a:t>text.replace</a:t>
            </a:r>
            <a:r>
              <a:rPr lang="en-US" altLang="zh-CN" sz="2400" dirty="0"/>
              <a:t>(s1,s2)</a:t>
            </a:r>
          </a:p>
          <a:p>
            <a:pPr marL="0" indent="0">
              <a:buNone/>
            </a:pPr>
            <a:r>
              <a:rPr lang="en-US" altLang="zh-CN" sz="2400" dirty="0"/>
              <a:t>print(s3)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C6646-6B5A-4D15-A76D-6B430553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68419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B67A0-D6EE-4392-AEFD-F6C3A478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41EA7-D30D-476B-B32E-6F2B995A9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输入一个字符串，只包含字母和</a:t>
            </a:r>
            <a:r>
              <a:rPr lang="en-US" altLang="zh-CN" dirty="0"/>
              <a:t>*</a:t>
            </a:r>
            <a:r>
              <a:rPr lang="zh-CN" altLang="en-US" dirty="0"/>
              <a:t>，要求输出时除了保留末尾的</a:t>
            </a:r>
            <a:r>
              <a:rPr lang="en-US" altLang="zh-CN" dirty="0"/>
              <a:t>*</a:t>
            </a:r>
            <a:r>
              <a:rPr lang="zh-CN" altLang="en-US" dirty="0"/>
              <a:t>保留外，删除其他</a:t>
            </a:r>
            <a:r>
              <a:rPr lang="en-US" altLang="zh-CN" dirty="0"/>
              <a:t>*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例如输入“</a:t>
            </a:r>
            <a:r>
              <a:rPr lang="en-US" altLang="zh-CN" dirty="0"/>
              <a:t>***ab**cd***”,</a:t>
            </a:r>
            <a:r>
              <a:rPr lang="zh-CN" altLang="en-US" dirty="0"/>
              <a:t>输出“</a:t>
            </a:r>
            <a:r>
              <a:rPr lang="en-US" altLang="zh-CN" dirty="0" err="1"/>
              <a:t>abcd</a:t>
            </a:r>
            <a:r>
              <a:rPr lang="en-US" altLang="zh-CN" dirty="0"/>
              <a:t>***”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1B7C81-6F1F-45BF-B3B4-8780BD05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7394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096ED-C57C-473F-AD87-9BCF9792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5A30C-E34E-4DDE-BE83-C4C95B57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text = input('</a:t>
            </a:r>
            <a:r>
              <a:rPr lang="zh-CN" altLang="en-US" dirty="0"/>
              <a:t>请输入：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t1 = </a:t>
            </a:r>
            <a:r>
              <a:rPr lang="en-US" altLang="zh-CN" dirty="0" err="1"/>
              <a:t>text.replace</a:t>
            </a:r>
            <a:r>
              <a:rPr lang="en-US" altLang="zh-CN" dirty="0"/>
              <a:t>('*','')</a:t>
            </a:r>
          </a:p>
          <a:p>
            <a:pPr marL="0" indent="0">
              <a:buNone/>
            </a:pPr>
            <a:r>
              <a:rPr lang="en-US" altLang="zh-CN" dirty="0"/>
              <a:t>num = 0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range(-1,-len(text),-1):</a:t>
            </a:r>
          </a:p>
          <a:p>
            <a:pPr marL="0" indent="0">
              <a:buNone/>
            </a:pPr>
            <a:r>
              <a:rPr lang="en-US" altLang="zh-CN" dirty="0"/>
              <a:t>    if text[</a:t>
            </a:r>
            <a:r>
              <a:rPr lang="en-US" altLang="zh-CN" dirty="0" err="1"/>
              <a:t>i</a:t>
            </a:r>
            <a:r>
              <a:rPr lang="en-US" altLang="zh-CN" dirty="0"/>
              <a:t>]=='*':</a:t>
            </a:r>
          </a:p>
          <a:p>
            <a:pPr marL="0" indent="0">
              <a:buNone/>
            </a:pPr>
            <a:r>
              <a:rPr lang="en-US" altLang="zh-CN" dirty="0"/>
              <a:t>        num+=1	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break</a:t>
            </a:r>
          </a:p>
          <a:p>
            <a:pPr marL="0" indent="0">
              <a:buNone/>
            </a:pPr>
            <a:r>
              <a:rPr lang="en-US" altLang="zh-CN" dirty="0"/>
              <a:t>t1 = t1 + '*'*num</a:t>
            </a:r>
          </a:p>
          <a:p>
            <a:pPr marL="0" indent="0">
              <a:buNone/>
            </a:pPr>
            <a:r>
              <a:rPr lang="en-US" altLang="zh-CN" dirty="0"/>
              <a:t>print(t1)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C57E70-C973-44A5-A451-505634C1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9574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56AD-C78C-484C-B75F-6FBBBAFA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8E31C7-675D-4EF2-A9D2-8B000E32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输入一篇英文文章，进行简单加密后输出，加密方法：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en-US" altLang="zh-CN" dirty="0">
                <a:sym typeface="Wingdings" panose="05000000000000000000" pitchFamily="2" charset="2"/>
              </a:rPr>
              <a:t>Z,BY,CX…,</a:t>
            </a:r>
            <a:r>
              <a:rPr lang="en-US" altLang="zh-CN" dirty="0" err="1">
                <a:sym typeface="Wingdings" panose="05000000000000000000" pitchFamily="2" charset="2"/>
              </a:rPr>
              <a:t>ZA,az,by,cx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/>
              <a:t>========</a:t>
            </a:r>
          </a:p>
          <a:p>
            <a:pPr marL="0" indent="0">
              <a:buNone/>
            </a:pPr>
            <a:r>
              <a:rPr lang="zh-CN" altLang="en-US" dirty="0"/>
              <a:t>请输入：</a:t>
            </a:r>
            <a:r>
              <a:rPr lang="en-US" altLang="zh-CN" dirty="0" err="1"/>
              <a:t>abc</a:t>
            </a:r>
            <a:r>
              <a:rPr lang="en-US" altLang="zh-CN" dirty="0"/>
              <a:t> de 1234*?/ ABCXYZ</a:t>
            </a:r>
          </a:p>
          <a:p>
            <a:pPr marL="0" indent="0">
              <a:buNone/>
            </a:pPr>
            <a:r>
              <a:rPr lang="en-US" altLang="zh-CN" dirty="0" err="1"/>
              <a:t>zyx</a:t>
            </a:r>
            <a:r>
              <a:rPr lang="en-US" altLang="zh-CN" dirty="0"/>
              <a:t> </a:t>
            </a:r>
            <a:r>
              <a:rPr lang="en-US" altLang="zh-CN" dirty="0" err="1"/>
              <a:t>wv</a:t>
            </a:r>
            <a:r>
              <a:rPr lang="en-US" altLang="zh-CN" dirty="0"/>
              <a:t> 1234*?/ ZYXCBA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6924F-694C-427A-B94E-7AC29F10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13193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3C328-F42F-4257-B57A-9491EBAF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73148-5828-44B4-9A67-DD98B9BB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text = input('</a:t>
            </a:r>
            <a:r>
              <a:rPr lang="zh-CN" altLang="en-US" dirty="0"/>
              <a:t>请输入：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res = ''</a:t>
            </a:r>
          </a:p>
          <a:p>
            <a:pPr marL="0" indent="0">
              <a:buNone/>
            </a:pPr>
            <a:r>
              <a:rPr lang="en-US" altLang="zh-CN" dirty="0"/>
              <a:t>for s in text:</a:t>
            </a:r>
          </a:p>
          <a:p>
            <a:pPr marL="0" indent="0">
              <a:buNone/>
            </a:pPr>
            <a:r>
              <a:rPr lang="en-US" altLang="zh-CN" dirty="0"/>
              <a:t>    if 'a'&lt;=s&lt;='z':</a:t>
            </a:r>
          </a:p>
          <a:p>
            <a:pPr marL="0" indent="0">
              <a:buNone/>
            </a:pPr>
            <a:r>
              <a:rPr lang="en-US" altLang="zh-CN" dirty="0"/>
              <a:t>        s1 = </a:t>
            </a:r>
            <a:r>
              <a:rPr lang="en-US" altLang="zh-CN" dirty="0" err="1"/>
              <a:t>chr</a:t>
            </a:r>
            <a:r>
              <a:rPr lang="en-US" altLang="zh-CN" dirty="0"/>
              <a:t>(</a:t>
            </a:r>
            <a:r>
              <a:rPr lang="en-US" altLang="zh-CN" dirty="0" err="1"/>
              <a:t>ord</a:t>
            </a:r>
            <a:r>
              <a:rPr lang="en-US" altLang="zh-CN" dirty="0"/>
              <a:t>('z')-(</a:t>
            </a:r>
            <a:r>
              <a:rPr lang="en-US" altLang="zh-CN" dirty="0" err="1"/>
              <a:t>ord</a:t>
            </a:r>
            <a:r>
              <a:rPr lang="en-US" altLang="zh-CN" dirty="0"/>
              <a:t>(s)-</a:t>
            </a:r>
            <a:r>
              <a:rPr lang="en-US" altLang="zh-CN" dirty="0" err="1"/>
              <a:t>ord</a:t>
            </a:r>
            <a:r>
              <a:rPr lang="en-US" altLang="zh-CN" dirty="0"/>
              <a:t>('a')))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'A'&lt;=s&lt;='Z':</a:t>
            </a:r>
          </a:p>
          <a:p>
            <a:pPr marL="0" indent="0">
              <a:buNone/>
            </a:pPr>
            <a:r>
              <a:rPr lang="en-US" altLang="zh-CN" dirty="0"/>
              <a:t>        s1 = </a:t>
            </a:r>
            <a:r>
              <a:rPr lang="en-US" altLang="zh-CN" dirty="0" err="1"/>
              <a:t>chr</a:t>
            </a:r>
            <a:r>
              <a:rPr lang="en-US" altLang="zh-CN" dirty="0"/>
              <a:t>(</a:t>
            </a:r>
            <a:r>
              <a:rPr lang="en-US" altLang="zh-CN" dirty="0" err="1"/>
              <a:t>ord</a:t>
            </a:r>
            <a:r>
              <a:rPr lang="en-US" altLang="zh-CN" dirty="0"/>
              <a:t>('Z')-(</a:t>
            </a:r>
            <a:r>
              <a:rPr lang="en-US" altLang="zh-CN" dirty="0" err="1"/>
              <a:t>ord</a:t>
            </a:r>
            <a:r>
              <a:rPr lang="en-US" altLang="zh-CN" dirty="0"/>
              <a:t>(s)-</a:t>
            </a:r>
            <a:r>
              <a:rPr lang="en-US" altLang="zh-CN" dirty="0" err="1"/>
              <a:t>ord</a:t>
            </a:r>
            <a:r>
              <a:rPr lang="en-US" altLang="zh-CN" dirty="0"/>
              <a:t>('A')))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s1 = s</a:t>
            </a:r>
          </a:p>
          <a:p>
            <a:pPr marL="0" indent="0">
              <a:buNone/>
            </a:pPr>
            <a:r>
              <a:rPr lang="en-US" altLang="zh-CN" dirty="0"/>
              <a:t>    res = res + s1</a:t>
            </a:r>
          </a:p>
          <a:p>
            <a:pPr marL="0" indent="0">
              <a:buNone/>
            </a:pPr>
            <a:r>
              <a:rPr lang="en-US" altLang="zh-CN" dirty="0"/>
              <a:t>print(res)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7A76C-C1E9-4CF2-BB23-A8D8F74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16025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48347-3F6E-483B-B55C-95BDE609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96345-1956-4512-9F96-D9A529298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输入一个字符串，将中间的</a:t>
            </a:r>
            <a:r>
              <a:rPr lang="en-US" altLang="zh-CN" dirty="0"/>
              <a:t>u</a:t>
            </a:r>
            <a:r>
              <a:rPr lang="zh-CN" altLang="en-US" dirty="0"/>
              <a:t>转换成</a:t>
            </a:r>
            <a:r>
              <a:rPr lang="en-US" altLang="zh-CN" dirty="0"/>
              <a:t>U.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</a:t>
            </a:r>
          </a:p>
          <a:p>
            <a:pPr marL="0" indent="0">
              <a:buNone/>
            </a:pPr>
            <a:r>
              <a:rPr lang="en-US" altLang="zh-CN" dirty="0"/>
              <a:t>please </a:t>
            </a:r>
            <a:r>
              <a:rPr lang="en-US" altLang="zh-CN" dirty="0" err="1"/>
              <a:t>input:uvwuvwUVWuuu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uvwUvwUVWUUu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84D31F-4B04-415F-8710-2791D304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99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8975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9125A-DD4F-4024-AD0E-6DD2A69A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64B569-196A-4BE2-B356-4A3E4B0A6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text = input('please input:')</a:t>
            </a:r>
          </a:p>
          <a:p>
            <a:pPr marL="0" indent="0">
              <a:buNone/>
            </a:pPr>
            <a:r>
              <a:rPr lang="en-US" altLang="zh-CN" dirty="0"/>
              <a:t>res = text[0]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range(1,len(text)-1,1):</a:t>
            </a:r>
          </a:p>
          <a:p>
            <a:pPr marL="0" indent="0">
              <a:buNone/>
            </a:pPr>
            <a:r>
              <a:rPr lang="en-US" altLang="zh-CN" dirty="0"/>
              <a:t>    if text[</a:t>
            </a:r>
            <a:r>
              <a:rPr lang="en-US" altLang="zh-CN" dirty="0" err="1"/>
              <a:t>i</a:t>
            </a:r>
            <a:r>
              <a:rPr lang="en-US" altLang="zh-CN" dirty="0"/>
              <a:t>] == 'u':</a:t>
            </a:r>
          </a:p>
          <a:p>
            <a:pPr marL="0" indent="0">
              <a:buNone/>
            </a:pPr>
            <a:r>
              <a:rPr lang="en-US" altLang="zh-CN" dirty="0"/>
              <a:t>        s = 'U'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s = text[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en-US" altLang="zh-CN" dirty="0"/>
              <a:t>    res = res + s</a:t>
            </a:r>
          </a:p>
          <a:p>
            <a:pPr marL="0" indent="0">
              <a:buNone/>
            </a:pPr>
            <a:r>
              <a:rPr lang="en-US" altLang="zh-CN" dirty="0"/>
              <a:t>res = res + text[-1]</a:t>
            </a:r>
          </a:p>
          <a:p>
            <a:pPr marL="0" indent="0">
              <a:buNone/>
            </a:pPr>
            <a:r>
              <a:rPr lang="en-US" altLang="zh-CN" dirty="0"/>
              <a:t>print(res)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349FD2-0084-4DA8-8DD0-25F54584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4144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6D5F8-5AB4-41E4-8FA3-51A36CE3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0C2616-D216-4C0E-88FE-71C8FC6DB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6. </a:t>
            </a:r>
            <a:r>
              <a:rPr lang="zh-CN" altLang="en-US" dirty="0"/>
              <a:t>英文文章中经常有这样的错误：单词连续重复出现</a:t>
            </a:r>
            <a:r>
              <a:rPr lang="en-US" altLang="zh-CN" dirty="0"/>
              <a:t>2</a:t>
            </a:r>
            <a:r>
              <a:rPr lang="zh-CN" altLang="en-US" dirty="0"/>
              <a:t>次，请找出并修正。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====</a:t>
            </a:r>
          </a:p>
          <a:p>
            <a:pPr marL="0" indent="0">
              <a:buNone/>
            </a:pPr>
            <a:r>
              <a:rPr lang="en-US" altLang="zh-CN" dirty="0"/>
              <a:t>please </a:t>
            </a:r>
            <a:r>
              <a:rPr lang="en-US" altLang="zh-CN" dirty="0" err="1"/>
              <a:t>input:I</a:t>
            </a:r>
            <a:r>
              <a:rPr lang="en-US" altLang="zh-CN" dirty="0"/>
              <a:t> am </a:t>
            </a:r>
            <a:r>
              <a:rPr lang="en-US" altLang="zh-CN" dirty="0" err="1"/>
              <a:t>am</a:t>
            </a:r>
            <a:r>
              <a:rPr lang="en-US" altLang="zh-CN" dirty="0"/>
              <a:t> a </a:t>
            </a:r>
            <a:r>
              <a:rPr lang="en-US" altLang="zh-CN" dirty="0" err="1"/>
              <a:t>a</a:t>
            </a:r>
            <a:r>
              <a:rPr lang="en-US" altLang="zh-CN" dirty="0"/>
              <a:t> student.</a:t>
            </a:r>
          </a:p>
          <a:p>
            <a:pPr marL="0" indent="0">
              <a:buNone/>
            </a:pPr>
            <a:r>
              <a:rPr lang="en-US" altLang="zh-CN" dirty="0"/>
              <a:t>I am a student.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462755-B19B-4D50-9F6A-E6DB9F6E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8653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A0A1C4-87AB-405C-8EA4-51C1F5BF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9E04E-7131-4EFA-AF23-938F573E3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text = input('please input:')</a:t>
            </a:r>
          </a:p>
          <a:p>
            <a:pPr marL="0" indent="0">
              <a:buNone/>
            </a:pPr>
            <a:r>
              <a:rPr lang="en-US" altLang="zh-CN" dirty="0"/>
              <a:t>list1 = </a:t>
            </a:r>
            <a:r>
              <a:rPr lang="en-US" altLang="zh-CN" dirty="0" err="1"/>
              <a:t>text.split</a:t>
            </a:r>
            <a:r>
              <a:rPr lang="en-US" altLang="zh-CN" dirty="0"/>
              <a:t>()</a:t>
            </a:r>
          </a:p>
          <a:p>
            <a:pPr marL="0" indent="0">
              <a:buNone/>
            </a:pPr>
            <a:r>
              <a:rPr lang="en-US" altLang="zh-CN" dirty="0"/>
              <a:t>res = []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</a:t>
            </a:r>
            <a:r>
              <a:rPr lang="en-US" altLang="zh-CN" dirty="0" err="1"/>
              <a:t>len</a:t>
            </a:r>
            <a:r>
              <a:rPr lang="en-US" altLang="zh-CN" dirty="0"/>
              <a:t>(list1)-1):</a:t>
            </a:r>
          </a:p>
          <a:p>
            <a:pPr marL="0" indent="0">
              <a:buNone/>
            </a:pPr>
            <a:r>
              <a:rPr lang="en-US" altLang="zh-CN" dirty="0"/>
              <a:t>   if list1[</a:t>
            </a:r>
            <a:r>
              <a:rPr lang="en-US" altLang="zh-CN" dirty="0" err="1"/>
              <a:t>i</a:t>
            </a:r>
            <a:r>
              <a:rPr lang="en-US" altLang="zh-CN" dirty="0"/>
              <a:t>] != list1[i+1]: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res.append</a:t>
            </a:r>
            <a:r>
              <a:rPr lang="en-US" altLang="zh-CN" dirty="0"/>
              <a:t>(list1[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</a:p>
          <a:p>
            <a:pPr marL="0" indent="0">
              <a:buNone/>
            </a:pPr>
            <a:r>
              <a:rPr lang="en-US" altLang="zh-CN" dirty="0"/>
              <a:t>if list1[-1] != list1[-2]: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res.append</a:t>
            </a:r>
            <a:r>
              <a:rPr lang="en-US" altLang="zh-CN" dirty="0"/>
              <a:t>(list1[-1])</a:t>
            </a:r>
          </a:p>
          <a:p>
            <a:pPr marL="0" indent="0">
              <a:buNone/>
            </a:pPr>
            <a:r>
              <a:rPr lang="en-US" altLang="zh-CN" dirty="0"/>
              <a:t>output = ' '.join(res)</a:t>
            </a:r>
          </a:p>
          <a:p>
            <a:pPr marL="0" indent="0">
              <a:buNone/>
            </a:pPr>
            <a:r>
              <a:rPr lang="en-US" altLang="zh-CN" dirty="0"/>
              <a:t>print(output)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055C73-53D4-475A-8182-2830EB4D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50918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F8F60F-627E-49DA-B27E-FF65D4F2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solidFill>
            <a:srgbClr val="FFFF00"/>
          </a:solidFill>
        </a:ln>
      </a:spPr>
      <a:bodyPr wrap="square" rtlCol="0">
        <a:spAutoFit/>
      </a:bodyPr>
      <a:lstStyle>
        <a:defPPr algn="l">
          <a:defRPr sz="2200" dirty="0">
            <a:solidFill>
              <a:schemeClr val="tx1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10699</Words>
  <Application>Microsoft Office PowerPoint</Application>
  <PresentationFormat>宽屏</PresentationFormat>
  <Paragraphs>1261</Paragraphs>
  <Slides>103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25" baseType="lpstr">
      <vt:lpstr>Arial Unicode MS</vt:lpstr>
      <vt:lpstr>Helvetica Neue</vt:lpstr>
      <vt:lpstr>inherit</vt:lpstr>
      <vt:lpstr>PingFang SC</vt:lpstr>
      <vt:lpstr>黑体</vt:lpstr>
      <vt:lpstr>华文新魏</vt:lpstr>
      <vt:lpstr>宋体</vt:lpstr>
      <vt:lpstr>微软雅黑</vt:lpstr>
      <vt:lpstr>Arial</vt:lpstr>
      <vt:lpstr>Calibri</vt:lpstr>
      <vt:lpstr>Calibri Light</vt:lpstr>
      <vt:lpstr>Century Gothic</vt:lpstr>
      <vt:lpstr>Consolas</vt:lpstr>
      <vt:lpstr>Lato</vt:lpstr>
      <vt:lpstr>Viner Hand ITC</vt:lpstr>
      <vt:lpstr>Wingdings</vt:lpstr>
      <vt:lpstr>当图网</vt:lpstr>
      <vt:lpstr>当图网1</vt:lpstr>
      <vt:lpstr>1_当图网</vt:lpstr>
      <vt:lpstr>1_当图网1</vt:lpstr>
      <vt:lpstr>水汽尾迹</vt:lpstr>
      <vt:lpstr>文档</vt:lpstr>
      <vt:lpstr>PowerPoint 演示文稿</vt:lpstr>
      <vt:lpstr>目录</vt:lpstr>
      <vt:lpstr>8.1 字符串</vt:lpstr>
      <vt:lpstr>PowerPoint 演示文稿</vt:lpstr>
      <vt:lpstr>8.1.1 字符串的创建、索引及删除</vt:lpstr>
      <vt:lpstr>2．字符串索引</vt:lpstr>
      <vt:lpstr>3．字符串的删除</vt:lpstr>
      <vt:lpstr>？8.1.2 字符串编码</vt:lpstr>
      <vt:lpstr>？8.1.2 字符串编码</vt:lpstr>
      <vt:lpstr>PowerPoint 演示文稿</vt:lpstr>
      <vt:lpstr>8.1.3 运算符对字符串的操作</vt:lpstr>
      <vt:lpstr>8.1.4 内置函数对字符串的操作</vt:lpstr>
      <vt:lpstr>8.1.4 内置函数对字符串的操作</vt:lpstr>
      <vt:lpstr>8.1.4 内置函数对字符串的操作</vt:lpstr>
      <vt:lpstr>PowerPoint 演示文稿</vt:lpstr>
      <vt:lpstr>PowerPoint 演示文稿</vt:lpstr>
      <vt:lpstr>PowerPoint 演示文稿</vt:lpstr>
      <vt:lpstr>8.1.5 字符串的遍历与切片</vt:lpstr>
      <vt:lpstr> </vt:lpstr>
      <vt:lpstr>8.1.6 字符串对象的常用方法</vt:lpstr>
      <vt:lpstr>2．strip()、lstrip()、rstrip()</vt:lpstr>
      <vt:lpstr>3．find()、rfind()、index()、rindex()、count()</vt:lpstr>
      <vt:lpstr>PowerPoint 演示文稿</vt:lpstr>
      <vt:lpstr>PowerPoint 演示文稿</vt:lpstr>
      <vt:lpstr>4．split()、rsplit()、splitlines()、expandtabs()</vt:lpstr>
      <vt:lpstr>PowerPoint 演示文稿</vt:lpstr>
      <vt:lpstr>4．split()、rsplit()、splitlines()、expandtabs()</vt:lpstr>
      <vt:lpstr>5．isalnum()、isalpha()、isdigit()、isspace()、isupper()、islower()、isdecimal()、isnumeric()、istitle()</vt:lpstr>
      <vt:lpstr>PowerPoint 演示文稿</vt:lpstr>
      <vt:lpstr>续上例</vt:lpstr>
      <vt:lpstr>PowerPoint 演示文稿</vt:lpstr>
      <vt:lpstr>PowerPoint 演示文稿</vt:lpstr>
      <vt:lpstr>续上例</vt:lpstr>
      <vt:lpstr>PowerPoint 演示文稿</vt:lpstr>
      <vt:lpstr>【总结】3个数字判定函数</vt:lpstr>
      <vt:lpstr>6．center()、ljust()、rjust()、zfill()</vt:lpstr>
      <vt:lpstr>PowerPoint 演示文稿</vt:lpstr>
      <vt:lpstr>7．startswith()、endswith()    是否以指定字符开头、结束</vt:lpstr>
      <vt:lpstr>8．join()、replace()、maketrans()、translate()</vt:lpstr>
      <vt:lpstr>PowerPoint 演示文稿</vt:lpstr>
      <vt:lpstr>续上例</vt:lpstr>
      <vt:lpstr>8.1.7 字符串常量</vt:lpstr>
      <vt:lpstr>8.2 正则表达式*</vt:lpstr>
      <vt:lpstr>8.2.1 正则表达式语言概述</vt:lpstr>
      <vt:lpstr>8.2.2 元字符</vt:lpstr>
      <vt:lpstr>8.2.3 常用的正则表达式</vt:lpstr>
      <vt:lpstr>2．选择'|'</vt:lpstr>
      <vt:lpstr>3．重复 * + ? {m,n}</vt:lpstr>
      <vt:lpstr>4．子模式</vt:lpstr>
      <vt:lpstr>5．边界匹配</vt:lpstr>
      <vt:lpstr>PowerPoint 演示文稿</vt:lpstr>
      <vt:lpstr>6．“贪心”和“非贪心”匹配算法</vt:lpstr>
      <vt:lpstr>PowerPoint 演示文稿</vt:lpstr>
      <vt:lpstr>8.2.4 正则表达式模块</vt:lpstr>
      <vt:lpstr>PowerPoint 演示文稿</vt:lpstr>
      <vt:lpstr>2． 使用re模块方法</vt:lpstr>
      <vt:lpstr>2． 使用re模块方法</vt:lpstr>
      <vt:lpstr>PowerPoint 演示文稿</vt:lpstr>
      <vt:lpstr>PowerPoint 演示文稿</vt:lpstr>
      <vt:lpstr>3．使用正则表达式对象的方法</vt:lpstr>
      <vt:lpstr>PowerPoint 演示文稿</vt:lpstr>
      <vt:lpstr>PowerPoint 演示文稿</vt:lpstr>
      <vt:lpstr>match对象的使用方法1</vt:lpstr>
      <vt:lpstr>match对象的使用方法2</vt:lpstr>
      <vt:lpstr>8.3 应用举例</vt:lpstr>
      <vt:lpstr>【例8-1】编写程序，计算字符串匹配的准确率。</vt:lpstr>
      <vt:lpstr>【例8-2】编写程序，生成包含1000个随机字符的字符串，统计每个字符的出现次数。</vt:lpstr>
      <vt:lpstr>【例8-3】编写程序，统计输入的英文文章中单词的个数，单词之间使用空格分隔。</vt:lpstr>
      <vt:lpstr>【例8-4】编写程序，统计输入的英文文章中不同单词出现的次数，并输出出现频率最高的单词。</vt:lpstr>
      <vt:lpstr>【例8-5】编写程序，输出由*号组成的金字塔。要求：用户可以指定输出的行数。例如，用户指定输出7行时，输出的*号组成的金字塔如下：   *      ***     *****    *******   *********  ***********</vt:lpstr>
      <vt:lpstr>【例8-6】编写程序，输入一个字符串，统计该字符串中大写字母、小写字母、数字字符及其它字符的个数，将结果存放到字典中并输出。</vt:lpstr>
      <vt:lpstr>【例8-7】编写程序，输入一篇英文文章，输出该篇文章中所有长度为3个字母的单词。</vt:lpstr>
      <vt:lpstr>【例8-8】编写程序，输入一篇英文文章（只包含大小写字母），采用简单的替换加密法对该文章加密。加密的规则是将明文中的每个字母的ASCII值加5，然后做模26的取余运算。</vt:lpstr>
      <vt:lpstr>本章习题  P</vt:lpstr>
      <vt:lpstr>课后作业</vt:lpstr>
      <vt:lpstr>PowerPoint 演示文稿</vt:lpstr>
      <vt:lpstr>正则表达式是什么？</vt:lpstr>
      <vt:lpstr>PowerPoint 演示文稿</vt:lpstr>
      <vt:lpstr>PowerPoint 演示文稿</vt:lpstr>
      <vt:lpstr>PowerPoint 演示文稿</vt:lpstr>
      <vt:lpstr>转义字符</vt:lpstr>
      <vt:lpstr>[]和[^]范围/范围排除</vt:lpstr>
      <vt:lpstr>正则表达式的一些写法</vt:lpstr>
      <vt:lpstr>贪心算法与懒惰算法</vt:lpstr>
      <vt:lpstr>{1,3}匹配次数</vt:lpstr>
      <vt:lpstr>PowerPoint 演示文稿</vt:lpstr>
      <vt:lpstr>元字符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熊福松</dc:creator>
  <cp:lastModifiedBy>Julia</cp:lastModifiedBy>
  <cp:revision>188</cp:revision>
  <dcterms:created xsi:type="dcterms:W3CDTF">2018-10-09T06:59:00Z</dcterms:created>
  <dcterms:modified xsi:type="dcterms:W3CDTF">2023-04-28T15:00:40Z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