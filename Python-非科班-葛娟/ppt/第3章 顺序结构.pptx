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heme/theme2.xml" ContentType="application/vnd.openxmlformats-officedocument.them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1.xml" ContentType="application/vnd.openxmlformats-officedocument.presentationml.notesSlide+xml"/>
  <Override PartName="/ppt/tags/tag100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01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02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47" r:id="rId1"/>
  </p:sldMasterIdLst>
  <p:notesMasterIdLst>
    <p:notesMasterId r:id="rId111"/>
  </p:notesMasterIdLst>
  <p:sldIdLst>
    <p:sldId id="484" r:id="rId2"/>
    <p:sldId id="502" r:id="rId3"/>
    <p:sldId id="485" r:id="rId4"/>
    <p:sldId id="483" r:id="rId5"/>
    <p:sldId id="498" r:id="rId6"/>
    <p:sldId id="562" r:id="rId7"/>
    <p:sldId id="504" r:id="rId8"/>
    <p:sldId id="563" r:id="rId9"/>
    <p:sldId id="488" r:id="rId10"/>
    <p:sldId id="499" r:id="rId11"/>
    <p:sldId id="507" r:id="rId12"/>
    <p:sldId id="509" r:id="rId13"/>
    <p:sldId id="508" r:id="rId14"/>
    <p:sldId id="510" r:id="rId15"/>
    <p:sldId id="511" r:id="rId16"/>
    <p:sldId id="512" r:id="rId17"/>
    <p:sldId id="566" r:id="rId18"/>
    <p:sldId id="513" r:id="rId19"/>
    <p:sldId id="514" r:id="rId20"/>
    <p:sldId id="515" r:id="rId21"/>
    <p:sldId id="516" r:id="rId22"/>
    <p:sldId id="518" r:id="rId23"/>
    <p:sldId id="519" r:id="rId24"/>
    <p:sldId id="520" r:id="rId25"/>
    <p:sldId id="521" r:id="rId26"/>
    <p:sldId id="522" r:id="rId27"/>
    <p:sldId id="523" r:id="rId28"/>
    <p:sldId id="517" r:id="rId29"/>
    <p:sldId id="524" r:id="rId30"/>
    <p:sldId id="525" r:id="rId31"/>
    <p:sldId id="526" r:id="rId32"/>
    <p:sldId id="567" r:id="rId33"/>
    <p:sldId id="568" r:id="rId34"/>
    <p:sldId id="527" r:id="rId35"/>
    <p:sldId id="528" r:id="rId36"/>
    <p:sldId id="529" r:id="rId37"/>
    <p:sldId id="530" r:id="rId38"/>
    <p:sldId id="531" r:id="rId39"/>
    <p:sldId id="489" r:id="rId40"/>
    <p:sldId id="500" r:id="rId41"/>
    <p:sldId id="532" r:id="rId42"/>
    <p:sldId id="533" r:id="rId43"/>
    <p:sldId id="534" r:id="rId44"/>
    <p:sldId id="535" r:id="rId45"/>
    <p:sldId id="606" r:id="rId46"/>
    <p:sldId id="536" r:id="rId47"/>
    <p:sldId id="537" r:id="rId48"/>
    <p:sldId id="538" r:id="rId49"/>
    <p:sldId id="569" r:id="rId50"/>
    <p:sldId id="539" r:id="rId51"/>
    <p:sldId id="540" r:id="rId52"/>
    <p:sldId id="541" r:id="rId53"/>
    <p:sldId id="542" r:id="rId54"/>
    <p:sldId id="545" r:id="rId55"/>
    <p:sldId id="544" r:id="rId56"/>
    <p:sldId id="546" r:id="rId57"/>
    <p:sldId id="570" r:id="rId58"/>
    <p:sldId id="547" r:id="rId59"/>
    <p:sldId id="548" r:id="rId60"/>
    <p:sldId id="549" r:id="rId61"/>
    <p:sldId id="550" r:id="rId62"/>
    <p:sldId id="552" r:id="rId63"/>
    <p:sldId id="551" r:id="rId64"/>
    <p:sldId id="592" r:id="rId65"/>
    <p:sldId id="591" r:id="rId66"/>
    <p:sldId id="553" r:id="rId67"/>
    <p:sldId id="594" r:id="rId68"/>
    <p:sldId id="593" r:id="rId69"/>
    <p:sldId id="490" r:id="rId70"/>
    <p:sldId id="501" r:id="rId71"/>
    <p:sldId id="554" r:id="rId72"/>
    <p:sldId id="564" r:id="rId73"/>
    <p:sldId id="555" r:id="rId74"/>
    <p:sldId id="556" r:id="rId75"/>
    <p:sldId id="595" r:id="rId76"/>
    <p:sldId id="557" r:id="rId77"/>
    <p:sldId id="596" r:id="rId78"/>
    <p:sldId id="571" r:id="rId79"/>
    <p:sldId id="558" r:id="rId80"/>
    <p:sldId id="559" r:id="rId81"/>
    <p:sldId id="565" r:id="rId82"/>
    <p:sldId id="560" r:id="rId83"/>
    <p:sldId id="561" r:id="rId84"/>
    <p:sldId id="577" r:id="rId85"/>
    <p:sldId id="573" r:id="rId86"/>
    <p:sldId id="574" r:id="rId87"/>
    <p:sldId id="578" r:id="rId88"/>
    <p:sldId id="579" r:id="rId89"/>
    <p:sldId id="580" r:id="rId90"/>
    <p:sldId id="581" r:id="rId91"/>
    <p:sldId id="582" r:id="rId92"/>
    <p:sldId id="583" r:id="rId93"/>
    <p:sldId id="584" r:id="rId94"/>
    <p:sldId id="585" r:id="rId95"/>
    <p:sldId id="588" r:id="rId96"/>
    <p:sldId id="586" r:id="rId97"/>
    <p:sldId id="587" r:id="rId98"/>
    <p:sldId id="589" r:id="rId99"/>
    <p:sldId id="590" r:id="rId100"/>
    <p:sldId id="497" r:id="rId101"/>
    <p:sldId id="597" r:id="rId102"/>
    <p:sldId id="598" r:id="rId103"/>
    <p:sldId id="599" r:id="rId104"/>
    <p:sldId id="600" r:id="rId105"/>
    <p:sldId id="601" r:id="rId106"/>
    <p:sldId id="602" r:id="rId107"/>
    <p:sldId id="603" r:id="rId108"/>
    <p:sldId id="604" r:id="rId109"/>
    <p:sldId id="605" r:id="rId110"/>
  </p:sldIdLst>
  <p:sldSz cx="12192000" cy="6858000"/>
  <p:notesSz cx="6858000" cy="9144000"/>
  <p:custDataLst>
    <p:tags r:id="rId11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505F2C04-C923-438B-8C0F-E0CD2BADF298}">
      <wppc:fontMiss xmlns:wppc="http://www.wps.cn/officeDocument/PresentationCustomData" xmlns="" type="true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66"/>
    <a:srgbClr val="FFFF66"/>
    <a:srgbClr val="DDDDDD"/>
    <a:srgbClr val="003300"/>
    <a:srgbClr val="800080"/>
    <a:srgbClr val="660066"/>
    <a:srgbClr val="0033CC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90" autoAdjust="0"/>
    <p:restoredTop sz="83088" autoAdjust="0"/>
  </p:normalViewPr>
  <p:slideViewPr>
    <p:cSldViewPr showGuides="1">
      <p:cViewPr varScale="1">
        <p:scale>
          <a:sx n="68" d="100"/>
          <a:sy n="68" d="100"/>
        </p:scale>
        <p:origin x="1139" y="34"/>
      </p:cViewPr>
      <p:guideLst>
        <p:guide orient="horz" pos="2169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ableStyles" Target="tableStyle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ags" Target="tags/tag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commentAuthors" Target="commentAuthor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notesMaster" Target="notesMasters/notesMaster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0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4101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0249CFA-C427-4C77-960D-70A82ADC9BF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132066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4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9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8766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91515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837285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39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80324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69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96340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96340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38474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78160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3464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2" Type="http://schemas.openxmlformats.org/officeDocument/2006/relationships/tags" Target="../tags/tag3.xml"/><Relationship Id="rId16" Type="http://schemas.openxmlformats.org/officeDocument/2006/relationships/image" Target="../media/image4.pn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image" Target="../media/image3.png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image" Target="../media/image3.png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image" Target="../media/image2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image" Target="../media/image5.png"/><Relationship Id="rId5" Type="http://schemas.openxmlformats.org/officeDocument/2006/relationships/tags" Target="../tags/tag18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7.xml"/><Relationship Id="rId9" Type="http://schemas.openxmlformats.org/officeDocument/2006/relationships/tags" Target="../tags/tag22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image" Target="../media/image7.png"/><Relationship Id="rId5" Type="http://schemas.openxmlformats.org/officeDocument/2006/relationships/tags" Target="../tags/tag27.xml"/><Relationship Id="rId10" Type="http://schemas.openxmlformats.org/officeDocument/2006/relationships/image" Target="../media/image6.png"/><Relationship Id="rId4" Type="http://schemas.openxmlformats.org/officeDocument/2006/relationships/tags" Target="../tags/tag26.xml"/><Relationship Id="rId9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9" Type="http://schemas.openxmlformats.org/officeDocument/2006/relationships/image" Target="../media/image8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7" Type="http://schemas.openxmlformats.org/officeDocument/2006/relationships/image" Target="../media/image2.png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2.xml"/><Relationship Id="rId4" Type="http://schemas.openxmlformats.org/officeDocument/2006/relationships/tags" Target="../tags/tag4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image" Target="../media/image9.png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9" Type="http://schemas.openxmlformats.org/officeDocument/2006/relationships/image" Target="../media/image10.png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10" Type="http://schemas.openxmlformats.org/officeDocument/2006/relationships/image" Target="../media/image8.png"/><Relationship Id="rId4" Type="http://schemas.openxmlformats.org/officeDocument/2006/relationships/tags" Target="../tags/tag58.xml"/><Relationship Id="rId9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10" Type="http://schemas.openxmlformats.org/officeDocument/2006/relationships/image" Target="../media/image8.png"/><Relationship Id="rId4" Type="http://schemas.openxmlformats.org/officeDocument/2006/relationships/tags" Target="../tags/tag66.xml"/><Relationship Id="rId9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78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10" Type="http://schemas.openxmlformats.org/officeDocument/2006/relationships/image" Target="../media/image11.png"/><Relationship Id="rId4" Type="http://schemas.openxmlformats.org/officeDocument/2006/relationships/tags" Target="../tags/tag74.xml"/><Relationship Id="rId9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86.xml"/><Relationship Id="rId3" Type="http://schemas.openxmlformats.org/officeDocument/2006/relationships/tags" Target="../tags/tag81.xml"/><Relationship Id="rId7" Type="http://schemas.openxmlformats.org/officeDocument/2006/relationships/tags" Target="../tags/tag85.xml"/><Relationship Id="rId12" Type="http://schemas.openxmlformats.org/officeDocument/2006/relationships/image" Target="../media/image12.png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tags" Target="../tags/tag84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83.xml"/><Relationship Id="rId10" Type="http://schemas.openxmlformats.org/officeDocument/2006/relationships/tags" Target="../tags/tag88.xml"/><Relationship Id="rId4" Type="http://schemas.openxmlformats.org/officeDocument/2006/relationships/tags" Target="../tags/tag82.xml"/><Relationship Id="rId9" Type="http://schemas.openxmlformats.org/officeDocument/2006/relationships/tags" Target="../tags/tag87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96.xml"/><Relationship Id="rId3" Type="http://schemas.openxmlformats.org/officeDocument/2006/relationships/tags" Target="../tags/tag91.xml"/><Relationship Id="rId7" Type="http://schemas.openxmlformats.org/officeDocument/2006/relationships/tags" Target="../tags/tag95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1" Type="http://schemas.openxmlformats.org/officeDocument/2006/relationships/image" Target="../media/image14.png"/><Relationship Id="rId5" Type="http://schemas.openxmlformats.org/officeDocument/2006/relationships/tags" Target="../tags/tag93.xml"/><Relationship Id="rId10" Type="http://schemas.openxmlformats.org/officeDocument/2006/relationships/image" Target="../media/image13.png"/><Relationship Id="rId4" Type="http://schemas.openxmlformats.org/officeDocument/2006/relationships/tags" Target="../tags/tag92.xml"/><Relationship Id="rId9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E94DAC73-1427-4E0E-9312-C727DF3CB657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5104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260648"/>
            <a:ext cx="8682608" cy="864096"/>
          </a:xfrm>
        </p:spPr>
        <p:txBody>
          <a:bodyPr>
            <a:normAutofit/>
          </a:bodyPr>
          <a:lstStyle>
            <a:lvl1pPr algn="l">
              <a:defRPr sz="44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60" y="1340768"/>
            <a:ext cx="11170840" cy="4877917"/>
          </a:xfrm>
        </p:spPr>
        <p:txBody>
          <a:bodyPr>
            <a:normAutofit/>
          </a:bodyPr>
          <a:lstStyle>
            <a:lvl1pPr>
              <a:defRPr sz="32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 sz="3200" b="1"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 sz="3200" b="1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defRPr sz="3200" b="1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>
              <a:defRPr sz="3200" b="1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5360" y="6374063"/>
            <a:ext cx="2910840" cy="365125"/>
          </a:xfrm>
        </p:spPr>
        <p:txBody>
          <a:bodyPr/>
          <a:lstStyle/>
          <a:p>
            <a:fld id="{B6282016-DD02-4E79-AE6D-DBAFEFB778F9}" type="datetime1">
              <a:rPr lang="zh-CN" altLang="en-US" smtClean="0"/>
              <a:t>2023/3/6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1767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6735C93-E316-44AF-B310-7B95379597D0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117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12DD6-0E97-474A-A088-2E55FAB40C5D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426453" y="6376494"/>
            <a:ext cx="2743200" cy="365125"/>
          </a:xfrm>
        </p:spPr>
        <p:txBody>
          <a:bodyPr/>
          <a:lstStyle>
            <a:lvl1pPr>
              <a:defRPr sz="2800"/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49609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8F2C1-1E9C-40B5-9B58-7A564984AE3E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17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9DBB8-2315-4E26-BD54-B7CCF9C21CB9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2471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BEE16-63E2-4A46-8B5F-81D3A71AF8E8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378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68E66-F2F4-44C3-801D-6C20E5525695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1155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2ECD6-6297-4DAB-AD9D-4DF3AE7C9D36}" type="datetime1">
              <a:rPr lang="zh-CN" altLang="en-US" smtClean="0"/>
              <a:t>2023/3/6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4247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2A31B-1425-4F63-9FC0-D1835C692B09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5591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00DF335-BE91-41BF-B761-010F55E2C730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62561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F82E776-87FA-4563-B721-D4819FC3A20A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51454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ACEE201-D9AE-4C5A-806F-D1EBAB0DACC0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774754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306EA-E574-4547-9539-E525CAD32A1D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3864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572EC-C83B-436C-9CF8-874802273FDB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26700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26EAC-C419-40F4-BC81-70B1F292E6B1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69365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D871771-BEC3-403F-87B9-A8D918B68927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4946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7454900"/>
            <a:chOff x="0" y="0"/>
            <a:chExt cx="19200" cy="11740"/>
          </a:xfrm>
        </p:grpSpPr>
        <p:grpSp>
          <p:nvGrpSpPr>
            <p:cNvPr id="6" name="组合 5"/>
            <p:cNvGrpSpPr/>
            <p:nvPr userDrawn="1">
              <p:custDataLst>
                <p:tags r:id="rId9"/>
              </p:custDataLst>
            </p:nvPr>
          </p:nvGrpSpPr>
          <p:grpSpPr>
            <a:xfrm>
              <a:off x="0" y="0"/>
              <a:ext cx="19200" cy="3223"/>
              <a:chOff x="0" y="0"/>
              <a:chExt cx="12192000" cy="2046605"/>
            </a:xfrm>
          </p:grpSpPr>
          <p:pic>
            <p:nvPicPr>
              <p:cNvPr id="7" name="图片 6"/>
              <p:cNvPicPr>
                <a:picLocks noChangeAspect="1"/>
              </p:cNvPicPr>
              <p:nvPr userDrawn="1">
                <p:custDataLst>
                  <p:tags r:id="rId11"/>
                </p:custDataLst>
              </p:nvPr>
            </p:nvPicPr>
            <p:blipFill>
              <a:blip r:embed="rId14"/>
              <a:stretch>
                <a:fillRect/>
              </a:stretch>
            </p:blipFill>
            <p:spPr>
              <a:xfrm>
                <a:off x="0" y="0"/>
                <a:ext cx="12192000" cy="2046605"/>
              </a:xfrm>
              <a:prstGeom prst="rect">
                <a:avLst/>
              </a:prstGeom>
            </p:spPr>
          </p:pic>
          <p:pic>
            <p:nvPicPr>
              <p:cNvPr id="9" name="图片 8"/>
              <p:cNvPicPr>
                <a:picLocks noChangeAspect="1"/>
              </p:cNvPicPr>
              <p:nvPr userDrawn="1">
                <p:custDataLst>
                  <p:tags r:id="rId12"/>
                </p:custDataLst>
              </p:nvPr>
            </p:nvPicPr>
            <p:blipFill rotWithShape="1">
              <a:blip r:embed="rId15"/>
              <a:srcRect/>
              <a:stretch>
                <a:fillRect/>
              </a:stretch>
            </p:blipFill>
            <p:spPr>
              <a:xfrm>
                <a:off x="0" y="10686"/>
                <a:ext cx="12192000" cy="1704978"/>
              </a:xfrm>
              <a:prstGeom prst="rect">
                <a:avLst/>
              </a:prstGeom>
            </p:spPr>
          </p:pic>
        </p:grpSp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0" y="9728"/>
              <a:ext cx="19200" cy="2012"/>
            </a:xfrm>
            <a:prstGeom prst="rect">
              <a:avLst/>
            </a:prstGeom>
          </p:spPr>
        </p:pic>
      </p:grp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B56C4FFD-6EEA-454C-AE07-A3DE12FD8B39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2216785" y="3503930"/>
            <a:ext cx="7759065" cy="49149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000" u="none" strike="noStrike" kern="1200" cap="none" spc="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2216468" y="2292046"/>
            <a:ext cx="7759065" cy="1150960"/>
          </a:xfrm>
        </p:spPr>
        <p:txBody>
          <a:bodyPr lIns="90000" tIns="46800" rIns="90000" bIns="46800" anchor="b" anchorCtr="0">
            <a:noAutofit/>
          </a:bodyPr>
          <a:lstStyle>
            <a:lvl1pPr algn="ctr">
              <a:defRPr sz="5400" b="1" spc="600" baseline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4511039" y="4490846"/>
            <a:ext cx="1383093" cy="474726"/>
          </a:xfrm>
          <a:solidFill>
            <a:schemeClr val="accent1"/>
          </a:solidFill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4" hasCustomPrompt="1"/>
            <p:custDataLst>
              <p:tags r:id="rId8"/>
            </p:custDataLst>
          </p:nvPr>
        </p:nvSpPr>
        <p:spPr>
          <a:xfrm>
            <a:off x="6096000" y="4490846"/>
            <a:ext cx="1383092" cy="474726"/>
          </a:xfrm>
          <a:ln>
            <a:solidFill>
              <a:schemeClr val="accent1"/>
            </a:solidFill>
          </a:ln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ln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  <p:extLst>
      <p:ext uri="{BB962C8B-B14F-4D97-AF65-F5344CB8AC3E}">
        <p14:creationId xmlns:p14="http://schemas.microsoft.com/office/powerpoint/2010/main" val="21964798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6177281"/>
            <a:ext cx="12192000" cy="116591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35560"/>
            <a:ext cx="12192000" cy="20466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3125639" y="2421777"/>
            <a:ext cx="5940722" cy="1336635"/>
          </a:xfr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72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CBEC9B44-9C59-4048-B3E5-7A2A012EE0EB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3"/>
          <a:srcRect/>
          <a:stretch>
            <a:fillRect/>
          </a:stretch>
        </p:blipFill>
        <p:spPr>
          <a:xfrm>
            <a:off x="0" y="-3"/>
            <a:ext cx="12192000" cy="1704978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sz="quarter" idx="13" hasCustomPrompt="1"/>
            <p:custDataLst>
              <p:tags r:id="rId8"/>
            </p:custDataLst>
          </p:nvPr>
        </p:nvSpPr>
        <p:spPr>
          <a:xfrm>
            <a:off x="4632702" y="4417887"/>
            <a:ext cx="1302101" cy="485285"/>
          </a:xfrm>
          <a:solidFill>
            <a:schemeClr val="accent1"/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 hasCustomPrompt="1"/>
            <p:custDataLst>
              <p:tags r:id="rId9"/>
            </p:custDataLst>
          </p:nvPr>
        </p:nvSpPr>
        <p:spPr>
          <a:xfrm>
            <a:off x="6257198" y="4417887"/>
            <a:ext cx="1302102" cy="485285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  <p:extLst>
      <p:ext uri="{BB962C8B-B14F-4D97-AF65-F5344CB8AC3E}">
        <p14:creationId xmlns:p14="http://schemas.microsoft.com/office/powerpoint/2010/main" val="17653688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43234"/>
            <a:ext cx="10852237" cy="609502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dirty="0"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1196752"/>
            <a:ext cx="5283242" cy="5144663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1196752"/>
            <a:ext cx="5283242" cy="5144663"/>
          </a:xfrm>
        </p:spPr>
        <p:txBody>
          <a:bodyPr lIns="90000" tIns="46800" rIns="90000" bIns="4680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869AA56-FA77-44CD-8AF9-9F188FB8053C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>
            <a:off x="-16510" y="5971592"/>
            <a:ext cx="3478627" cy="907998"/>
          </a:xfrm>
          <a:prstGeom prst="rect">
            <a:avLst/>
          </a:prstGeom>
        </p:spPr>
      </p:pic>
      <p:pic>
        <p:nvPicPr>
          <p:cNvPr id="11" name="图片 10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flipH="1">
            <a:off x="8716609" y="5905492"/>
            <a:ext cx="3481106" cy="9740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D8B68AA-FDCE-44AB-8029-A6D9A64BB0B5}" type="datetime1">
              <a:rPr lang="zh-CN" altLang="en-US" smtClean="0"/>
              <a:t>2023/3/6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-15240"/>
            <a:ext cx="12192000" cy="2046605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90FF5ED9-6427-433C-B51F-9A0C745CEA73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lstStyle>
            <a:lvl1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06163F0E-D980-4C0D-8C6A-38D6EC0313AE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6177281"/>
            <a:ext cx="12192000" cy="13152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86385" y="273050"/>
            <a:ext cx="11616055" cy="63119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8EEB30F9-D2B4-45BD-AC54-5F33427ACB2D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7072603" y="4933186"/>
            <a:ext cx="4829835" cy="16517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79B5996-112F-4BD0-813A-B71F46E10975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0D1D7FDA-4DB4-4A8A-8BCF-78BBAD599D7E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pic>
        <p:nvPicPr>
          <p:cNvPr id="16" name="图片 15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810" y="0"/>
            <a:ext cx="12192000" cy="1975485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A2CBB0F2-8440-470F-A471-C1F00EE8BB4D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6242387"/>
            <a:ext cx="12192000" cy="1231226"/>
          </a:xfrm>
          <a:prstGeom prst="rect">
            <a:avLst/>
          </a:prstGeom>
        </p:spPr>
      </p:pic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latin typeface="Viner Hand ITC" panose="03070502030502020203" charset="0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579600" y="1663200"/>
            <a:ext cx="53424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A6CA01D4-049F-40A5-B037-D7DD076E405B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rgbClr val="EB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CE2C3A86-2051-4CDD-9301-666FE6EFE081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429082" y="4917233"/>
            <a:ext cx="3762917" cy="981917"/>
          </a:xfrm>
          <a:prstGeom prst="rect">
            <a:avLst/>
          </a:prstGeom>
        </p:spPr>
      </p:pic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rot="10800000" flipH="1">
            <a:off x="0" y="398"/>
            <a:ext cx="4713605" cy="12299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F03B7-625F-41BC-957E-9D5105EFD132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6423E-42EA-408E-8C6E-9964850B64FD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1B8FD-7532-4778-BBEF-C7EED1173F83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2D604-DED6-43F7-B530-94379D9F1028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48655-73E9-4B42-B4C8-2F7AB72FE848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75572-73AA-4E3A-9598-DBAF48AAF712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C074E-BDFE-4F91-8DD8-29339994DE61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FA92E-64F4-4C25-876C-84320EC09E24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E5D82D-7083-4CAA-9E01-FBEBA03B1BA8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36360" y="629027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726702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  <p:sldLayoutId id="2147483853" r:id="rId6"/>
    <p:sldLayoutId id="2147483854" r:id="rId7"/>
    <p:sldLayoutId id="2147483855" r:id="rId8"/>
    <p:sldLayoutId id="2147483856" r:id="rId9"/>
    <p:sldLayoutId id="2147483857" r:id="rId10"/>
    <p:sldLayoutId id="2147483858" r:id="rId11"/>
    <p:sldLayoutId id="2147483859" r:id="rId12"/>
    <p:sldLayoutId id="2147483860" r:id="rId13"/>
    <p:sldLayoutId id="2147483861" r:id="rId14"/>
    <p:sldLayoutId id="2147483862" r:id="rId15"/>
    <p:sldLayoutId id="2147483863" r:id="rId16"/>
    <p:sldLayoutId id="2147483864" r:id="rId17"/>
    <p:sldLayoutId id="2147483865" r:id="rId18"/>
    <p:sldLayoutId id="2147483866" r:id="rId19"/>
    <p:sldLayoutId id="2147483708" r:id="rId20"/>
    <p:sldLayoutId id="2147483712" r:id="rId21"/>
    <p:sldLayoutId id="2147483714" r:id="rId22"/>
    <p:sldLayoutId id="2147483716" r:id="rId23"/>
    <p:sldLayoutId id="2147483717" r:id="rId24"/>
    <p:sldLayoutId id="2147483718" r:id="rId25"/>
    <p:sldLayoutId id="2147483719" r:id="rId26"/>
    <p:sldLayoutId id="2147483720" r:id="rId27"/>
    <p:sldLayoutId id="2147483721" r:id="rId28"/>
    <p:sldLayoutId id="2147483722" r:id="rId29"/>
    <p:sldLayoutId id="2147483723" r:id="rId30"/>
    <p:sldLayoutId id="2147483724" r:id="rId31"/>
    <p:sldLayoutId id="2147483725" r:id="rId32"/>
    <p:sldLayoutId id="2147483726" r:id="rId33"/>
    <p:sldLayoutId id="2147483727" r:id="rId34"/>
    <p:sldLayoutId id="2147483728" r:id="rId35"/>
    <p:sldLayoutId id="2147483729" r:id="rId36"/>
    <p:sldLayoutId id="2147483730" r:id="rId37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9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mp"/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tm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8.xml"/><Relationship Id="rId6" Type="http://schemas.openxmlformats.org/officeDocument/2006/relationships/slide" Target="slide69.xml"/><Relationship Id="rId5" Type="http://schemas.openxmlformats.org/officeDocument/2006/relationships/slide" Target="slide39.xml"/><Relationship Id="rId4" Type="http://schemas.openxmlformats.org/officeDocument/2006/relationships/slide" Target="slide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9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0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0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0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m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m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mp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tmp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mp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tmp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tmp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tmp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tmp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tmp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tmp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4" Type="http://schemas.openxmlformats.org/officeDocument/2006/relationships/slideLayout" Target="../slideLayouts/slideLayout19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tmp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tmp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tmp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tmp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tmp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tmp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72540" y="2292350"/>
            <a:ext cx="9437370" cy="1151255"/>
          </a:xfrm>
        </p:spPr>
        <p:txBody>
          <a:bodyPr/>
          <a:lstStyle/>
          <a:p>
            <a:r>
              <a:rPr lang="zh-CN" altLang="en-US" sz="6600" b="1" dirty="0">
                <a:latin typeface="+mj-lt"/>
                <a:ea typeface="+mj-ea"/>
                <a:sym typeface="+mn-ea"/>
              </a:rPr>
              <a:t>第</a:t>
            </a:r>
            <a:r>
              <a:rPr lang="en-US" altLang="zh-CN" sz="6600" b="1" dirty="0">
                <a:latin typeface="+mj-lt"/>
                <a:ea typeface="+mj-ea"/>
                <a:sym typeface="+mn-ea"/>
              </a:rPr>
              <a:t>3</a:t>
            </a:r>
            <a:r>
              <a:rPr lang="zh-CN" altLang="en-US" sz="6600" b="1" dirty="0">
                <a:latin typeface="+mj-lt"/>
                <a:ea typeface="+mj-ea"/>
                <a:sym typeface="+mn-ea"/>
              </a:rPr>
              <a:t>章 顺序结构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7584C35-3946-4E5E-9C39-028A9B510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83ADDDA8-0E5C-44B0-B4EF-9F6B12E1AD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2983" y="908720"/>
            <a:ext cx="3969916" cy="34595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4" y="401662"/>
            <a:ext cx="8738443" cy="720080"/>
          </a:xfrm>
        </p:spPr>
        <p:txBody>
          <a:bodyPr>
            <a:normAutofit/>
          </a:bodyPr>
          <a:lstStyle/>
          <a:p>
            <a:r>
              <a:rPr lang="zh-CN" altLang="en-US" dirty="0"/>
              <a:t>程程序的三种控制结构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479376" y="4869160"/>
            <a:ext cx="11042699" cy="7200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dirty="0"/>
              <a:t>顺序结构</a:t>
            </a:r>
            <a:r>
              <a:rPr lang="en-US" altLang="zh-CN" sz="2400" dirty="0"/>
              <a:t>	       </a:t>
            </a:r>
            <a:r>
              <a:rPr lang="zh-CN" altLang="en-US" sz="2400" dirty="0"/>
              <a:t>分支结构</a:t>
            </a:r>
            <a:r>
              <a:rPr lang="en-US" altLang="zh-CN" sz="2400" dirty="0"/>
              <a:t>		           		  </a:t>
            </a:r>
            <a:r>
              <a:rPr lang="zh-CN" altLang="en-US" sz="2400" dirty="0"/>
              <a:t>循环结构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8B4A371-51D7-4FD4-B7EE-A8E610443D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312" y="1496399"/>
            <a:ext cx="2370908" cy="308472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15F44A95-90D4-4CE0-AC91-D83993D5A2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6240" y="2093864"/>
            <a:ext cx="3845229" cy="2592289"/>
          </a:xfrm>
          <a:prstGeom prst="rect">
            <a:avLst/>
          </a:prstGeom>
        </p:spPr>
      </p:pic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DC888CB7-5F6B-41B2-8CA3-1FD00FAFC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088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>
            <a:normAutofit/>
          </a:bodyPr>
          <a:lstStyle/>
          <a:p>
            <a:pPr>
              <a:buNone/>
            </a:pPr>
            <a:r>
              <a:rPr lang="zh-CN" altLang="en-US" sz="4000" dirty="0"/>
              <a:t> 目录</a:t>
            </a:r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en-US" altLang="zh-CN" sz="3200" dirty="0"/>
              <a:t>3.1 </a:t>
            </a:r>
            <a:r>
              <a:rPr lang="en-US" altLang="zh-CN" sz="3200" dirty="0">
                <a:solidFill>
                  <a:srgbClr val="C573D2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</a:t>
            </a:r>
            <a:r>
              <a:rPr sz="3200" dirty="0"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程序的编码规范</a:t>
            </a:r>
            <a:endParaRPr lang="zh-CN" altLang="en-US" sz="3200" dirty="0"/>
          </a:p>
          <a:p>
            <a:r>
              <a:rPr lang="en-US" altLang="zh-CN" sz="3200" dirty="0"/>
              <a:t>3.2 </a:t>
            </a:r>
            <a:r>
              <a:rPr sz="3200" dirty="0"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赋值语句</a:t>
            </a:r>
            <a:endParaRPr lang="zh-CN" altLang="en-US" sz="3200" dirty="0"/>
          </a:p>
          <a:p>
            <a:r>
              <a:rPr lang="en-US" altLang="zh-CN" sz="3200" dirty="0"/>
              <a:t>3.3 </a:t>
            </a:r>
            <a:r>
              <a:rPr sz="3200" dirty="0"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数据的输入</a:t>
            </a:r>
            <a:r>
              <a:rPr lang="en-US" altLang="zh-CN" sz="3200" dirty="0"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sz="3200" dirty="0"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输出</a:t>
            </a:r>
            <a:endParaRPr lang="zh-CN" altLang="en-US" sz="3200" dirty="0"/>
          </a:p>
          <a:p>
            <a:r>
              <a:rPr lang="en-US" altLang="zh-CN" sz="3200" dirty="0"/>
              <a:t>3.4 </a:t>
            </a:r>
            <a:r>
              <a:rPr sz="3200" dirty="0"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顺序结构程序举例</a:t>
            </a:r>
            <a:endParaRPr lang="zh-CN" altLang="en-US" sz="3200" dirty="0"/>
          </a:p>
          <a:p>
            <a:endParaRPr lang="en-US" altLang="zh-CN" sz="32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454DEF5-32E2-405A-A40B-0D314D693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2216785" y="2292350"/>
            <a:ext cx="7759065" cy="2181225"/>
          </a:xfrm>
        </p:spPr>
        <p:txBody>
          <a:bodyPr/>
          <a:lstStyle/>
          <a:p>
            <a:r>
              <a:rPr lang="en-US" dirty="0">
                <a:sym typeface="+mn-ea"/>
              </a:rPr>
              <a:t>3.1 Python</a:t>
            </a:r>
            <a:r>
              <a:rPr lang="zh-CN" altLang="en-US" dirty="0">
                <a:sym typeface="+mn-ea"/>
              </a:rPr>
              <a:t>程序的编码规范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0C3F127-954A-472B-96DF-E3CDCE4A8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3.1.1 </a:t>
            </a:r>
            <a:r>
              <a:rPr lang="zh-CN" altLang="en-US" b="1" dirty="0"/>
              <a:t>一个</a:t>
            </a:r>
            <a:r>
              <a:rPr lang="en-US" altLang="zh-CN" b="1" dirty="0"/>
              <a:t>Python</a:t>
            </a:r>
            <a:r>
              <a:rPr lang="zh-CN" altLang="en-US" b="1" dirty="0"/>
              <a:t>程序</a:t>
            </a:r>
          </a:p>
        </p:txBody>
      </p:sp>
      <p:sp>
        <p:nvSpPr>
          <p:cNvPr id="4" name="AutoShape 5"/>
          <p:cNvSpPr>
            <a:spLocks noChangeArrowheads="1"/>
          </p:cNvSpPr>
          <p:nvPr/>
        </p:nvSpPr>
        <p:spPr bwMode="auto">
          <a:xfrm>
            <a:off x="2498042" y="1641530"/>
            <a:ext cx="1502387" cy="1299729"/>
          </a:xfrm>
          <a:prstGeom prst="hexagon">
            <a:avLst>
              <a:gd name="adj" fmla="val 28898"/>
              <a:gd name="vf" fmla="val 115470"/>
            </a:avLst>
          </a:prstGeom>
          <a:noFill/>
          <a:ln w="19050">
            <a:solidFill>
              <a:srgbClr val="00B0F0"/>
            </a:solidFill>
          </a:ln>
          <a:effectLst/>
        </p:spPr>
        <p:txBody>
          <a:bodyPr wrap="none" anchor="ctr"/>
          <a:lstStyle/>
          <a:p>
            <a:pPr algn="ctr"/>
            <a:r>
              <a:rPr lang="zh-CN" altLang="en-US" sz="2400" b="1" dirty="0">
                <a:cs typeface="+mn-ea"/>
              </a:rPr>
              <a:t>语句</a:t>
            </a:r>
          </a:p>
          <a:p>
            <a:pPr algn="ctr"/>
            <a:r>
              <a:rPr lang="zh-CN" altLang="en-US" sz="2400" b="1" dirty="0">
                <a:cs typeface="+mn-ea"/>
              </a:rPr>
              <a:t>分隔</a:t>
            </a:r>
            <a:endParaRPr lang="en-US" altLang="zh-CN" sz="2400" b="1" dirty="0">
              <a:cs typeface="+mn-ea"/>
            </a:endParaRPr>
          </a:p>
        </p:txBody>
      </p:sp>
      <p:sp>
        <p:nvSpPr>
          <p:cNvPr id="5" name="AutoShape 6"/>
          <p:cNvSpPr>
            <a:spLocks noChangeArrowheads="1"/>
          </p:cNvSpPr>
          <p:nvPr/>
        </p:nvSpPr>
        <p:spPr bwMode="auto">
          <a:xfrm>
            <a:off x="1350305" y="2348880"/>
            <a:ext cx="1502387" cy="1299731"/>
          </a:xfrm>
          <a:prstGeom prst="hexagon">
            <a:avLst>
              <a:gd name="adj" fmla="val 28898"/>
              <a:gd name="vf" fmla="val 115470"/>
            </a:avLst>
          </a:prstGeom>
          <a:noFill/>
          <a:ln w="19050">
            <a:solidFill>
              <a:srgbClr val="00B0F0"/>
            </a:solidFill>
          </a:ln>
          <a:effectLst/>
        </p:spPr>
        <p:txBody>
          <a:bodyPr wrap="none" anchor="ctr"/>
          <a:lstStyle/>
          <a:p>
            <a:pPr algn="ctr"/>
            <a:r>
              <a:rPr lang="zh-CN" altLang="en-US" sz="2400" b="1" dirty="0">
                <a:cs typeface="+mn-ea"/>
              </a:rPr>
              <a:t>注释</a:t>
            </a:r>
            <a:endParaRPr lang="en-US" altLang="zh-CN" sz="2400" b="1" dirty="0">
              <a:cs typeface="+mn-ea"/>
            </a:endParaRPr>
          </a:p>
        </p:txBody>
      </p:sp>
      <p:sp>
        <p:nvSpPr>
          <p:cNvPr id="6" name="AutoShape 7"/>
          <p:cNvSpPr>
            <a:spLocks noChangeArrowheads="1"/>
          </p:cNvSpPr>
          <p:nvPr/>
        </p:nvSpPr>
        <p:spPr bwMode="auto">
          <a:xfrm>
            <a:off x="2498042" y="3056229"/>
            <a:ext cx="1502387" cy="1299729"/>
          </a:xfrm>
          <a:prstGeom prst="hexagon">
            <a:avLst>
              <a:gd name="adj" fmla="val 28898"/>
              <a:gd name="vf" fmla="val 115470"/>
            </a:avLst>
          </a:prstGeom>
          <a:noFill/>
          <a:ln w="19050">
            <a:solidFill>
              <a:schemeClr val="tx1"/>
            </a:solidFill>
            <a:prstDash val="dash"/>
          </a:ln>
          <a:effectLst/>
        </p:spPr>
        <p:txBody>
          <a:bodyPr wrap="none" anchor="ctr"/>
          <a:lstStyle/>
          <a:p>
            <a:pPr algn="ctr"/>
            <a:r>
              <a:rPr lang="en-US" altLang="zh-CN" sz="2400" b="1" dirty="0">
                <a:cs typeface="+mn-ea"/>
              </a:rPr>
              <a:t>……</a:t>
            </a:r>
          </a:p>
        </p:txBody>
      </p:sp>
      <p:sp>
        <p:nvSpPr>
          <p:cNvPr id="7" name="AutoShape 8"/>
          <p:cNvSpPr>
            <a:spLocks noChangeArrowheads="1"/>
          </p:cNvSpPr>
          <p:nvPr/>
        </p:nvSpPr>
        <p:spPr bwMode="auto">
          <a:xfrm>
            <a:off x="3647728" y="2348880"/>
            <a:ext cx="1502387" cy="1299731"/>
          </a:xfrm>
          <a:prstGeom prst="hexagon">
            <a:avLst>
              <a:gd name="adj" fmla="val 28898"/>
              <a:gd name="vf" fmla="val 115470"/>
            </a:avLst>
          </a:prstGeom>
          <a:noFill/>
          <a:ln w="19050">
            <a:solidFill>
              <a:srgbClr val="00B0F0"/>
            </a:solidFill>
          </a:ln>
          <a:effectLst/>
        </p:spPr>
        <p:txBody>
          <a:bodyPr wrap="none" anchor="ctr"/>
          <a:lstStyle/>
          <a:p>
            <a:pPr algn="ctr"/>
            <a:r>
              <a:rPr lang="zh-CN" altLang="en-US" sz="2400" b="1" dirty="0">
                <a:cs typeface="+mn-ea"/>
              </a:rPr>
              <a:t>语句</a:t>
            </a:r>
            <a:endParaRPr lang="en-US" altLang="zh-CN" sz="2400" b="1" dirty="0">
              <a:cs typeface="+mn-ea"/>
            </a:endParaRPr>
          </a:p>
          <a:p>
            <a:pPr algn="ctr"/>
            <a:r>
              <a:rPr lang="zh-CN" altLang="en-US" sz="2400" b="1" dirty="0">
                <a:cs typeface="+mn-ea"/>
              </a:rPr>
              <a:t>续行</a:t>
            </a:r>
            <a:endParaRPr lang="en-US" altLang="zh-CN" sz="2400" b="1" dirty="0">
              <a:cs typeface="+mn-ea"/>
            </a:endParaRPr>
          </a:p>
        </p:txBody>
      </p:sp>
      <p:sp>
        <p:nvSpPr>
          <p:cNvPr id="8" name="AutoShape 9"/>
          <p:cNvSpPr>
            <a:spLocks noChangeArrowheads="1"/>
          </p:cNvSpPr>
          <p:nvPr/>
        </p:nvSpPr>
        <p:spPr bwMode="auto">
          <a:xfrm>
            <a:off x="1350305" y="3763578"/>
            <a:ext cx="1502387" cy="1299731"/>
          </a:xfrm>
          <a:prstGeom prst="hexagon">
            <a:avLst>
              <a:gd name="adj" fmla="val 28898"/>
              <a:gd name="vf" fmla="val 115470"/>
            </a:avLst>
          </a:prstGeom>
          <a:noFill/>
          <a:ln w="19050">
            <a:solidFill>
              <a:srgbClr val="00B0F0"/>
            </a:solidFill>
          </a:ln>
          <a:effectLst/>
        </p:spPr>
        <p:txBody>
          <a:bodyPr wrap="none" anchor="ctr"/>
          <a:lstStyle/>
          <a:p>
            <a:pPr algn="ctr"/>
            <a:r>
              <a:rPr lang="zh-CN" altLang="en-US" sz="2400" b="1" dirty="0">
                <a:cs typeface="+mn-ea"/>
              </a:rPr>
              <a:t>缩进</a:t>
            </a:r>
            <a:endParaRPr lang="en-US" altLang="zh-CN" sz="2400" b="1" dirty="0">
              <a:cs typeface="+mn-ea"/>
            </a:endParaRPr>
          </a:p>
        </p:txBody>
      </p:sp>
      <p:sp>
        <p:nvSpPr>
          <p:cNvPr id="9" name="AutoShape 10"/>
          <p:cNvSpPr>
            <a:spLocks noChangeArrowheads="1"/>
          </p:cNvSpPr>
          <p:nvPr/>
        </p:nvSpPr>
        <p:spPr bwMode="auto">
          <a:xfrm>
            <a:off x="2533117" y="4408571"/>
            <a:ext cx="1502387" cy="1299729"/>
          </a:xfrm>
          <a:prstGeom prst="hexagon">
            <a:avLst>
              <a:gd name="adj" fmla="val 28898"/>
              <a:gd name="vf" fmla="val 115470"/>
            </a:avLst>
          </a:prstGeom>
          <a:noFill/>
          <a:ln w="19050">
            <a:solidFill>
              <a:schemeClr val="tx1"/>
            </a:solidFill>
            <a:prstDash val="dash"/>
          </a:ln>
          <a:effectLst/>
        </p:spPr>
        <p:txBody>
          <a:bodyPr wrap="none" anchor="ctr"/>
          <a:lstStyle/>
          <a:p>
            <a:pPr algn="ctr"/>
            <a:r>
              <a:rPr lang="en-US" altLang="zh-CN" sz="2400" b="1" dirty="0">
                <a:cs typeface="+mn-ea"/>
              </a:rPr>
              <a:t>……</a:t>
            </a:r>
          </a:p>
        </p:txBody>
      </p:sp>
      <p:sp>
        <p:nvSpPr>
          <p:cNvPr id="10" name="AutoShape 11"/>
          <p:cNvSpPr>
            <a:spLocks noChangeArrowheads="1"/>
          </p:cNvSpPr>
          <p:nvPr/>
        </p:nvSpPr>
        <p:spPr bwMode="auto">
          <a:xfrm>
            <a:off x="3735416" y="3701222"/>
            <a:ext cx="1502387" cy="1299731"/>
          </a:xfrm>
          <a:prstGeom prst="hexagon">
            <a:avLst>
              <a:gd name="adj" fmla="val 28898"/>
              <a:gd name="vf" fmla="val 115470"/>
            </a:avLst>
          </a:prstGeom>
          <a:noFill/>
          <a:ln w="19050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400" b="1" dirty="0">
                <a:cs typeface="+mn-ea"/>
              </a:rPr>
              <a:t>……</a:t>
            </a:r>
            <a:endParaRPr lang="zh-CN" altLang="en-US" sz="2400" b="1" dirty="0">
              <a:cs typeface="+mn-ea"/>
            </a:endParaRPr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auto">
          <a:xfrm>
            <a:off x="5237803" y="4340990"/>
            <a:ext cx="3636000" cy="1496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cs typeface="+mn-ea"/>
            </a:endParaRPr>
          </a:p>
        </p:txBody>
      </p:sp>
      <p:sp>
        <p:nvSpPr>
          <p:cNvPr id="12" name="Rectangle 16"/>
          <p:cNvSpPr>
            <a:spLocks noChangeArrowheads="1"/>
          </p:cNvSpPr>
          <p:nvPr/>
        </p:nvSpPr>
        <p:spPr bwMode="auto">
          <a:xfrm>
            <a:off x="5591944" y="3482047"/>
            <a:ext cx="3599269" cy="80607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none" anchor="ctr"/>
          <a:lstStyle/>
          <a:p>
            <a:pPr algn="ctr"/>
            <a:r>
              <a:rPr lang="en-US" altLang="zh-CN" sz="40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Python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程序元素</a:t>
            </a:r>
            <a:endParaRPr lang="en-US" altLang="zh-CN" sz="4000" b="1" dirty="0">
              <a:latin typeface="黑体" panose="02010609060101010101" pitchFamily="49" charset="-122"/>
              <a:ea typeface="黑体" panose="02010609060101010101" pitchFamily="49" charset="-122"/>
              <a:cs typeface="+mn-ea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F5C3FBF-B9D0-432E-8806-900F85804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4339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820B63-2837-46E1-996B-742A750FE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3.1.2 </a:t>
            </a:r>
            <a:r>
              <a:rPr lang="zh-CN" altLang="en-US" dirty="0"/>
              <a:t>注释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C92254-0F21-457F-8A4C-6B65DBD24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1256630"/>
            <a:ext cx="10409858" cy="876226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种注释：注释块</a:t>
            </a:r>
            <a:r>
              <a:rPr lang="en-US" altLang="zh-CN" dirty="0"/>
              <a:t>’’’</a:t>
            </a:r>
            <a:r>
              <a:rPr lang="zh-CN" altLang="en-US" dirty="0"/>
              <a:t>和 </a:t>
            </a:r>
            <a:r>
              <a:rPr lang="en-US" altLang="zh-CN" dirty="0"/>
              <a:t>#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91333BD-78D8-4E91-AA8F-7EC832478A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432" y="1844824"/>
            <a:ext cx="10005880" cy="5178245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C3F8BF-D56D-43C1-BE9A-0E42353CE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368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3.1.3 </a:t>
            </a:r>
            <a:r>
              <a:rPr lang="zh-CN" altLang="en-US" dirty="0"/>
              <a:t>缩进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5570091" cy="5180965"/>
          </a:xfrm>
        </p:spPr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用缩进表明代码块的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层次关系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zh-CN" altLang="en-US" dirty="0"/>
              <a:t>缩进默认</a:t>
            </a:r>
            <a:r>
              <a:rPr lang="en-US" altLang="zh-CN" dirty="0"/>
              <a:t>4</a:t>
            </a:r>
            <a:r>
              <a:rPr lang="zh-CN" altLang="en-US" dirty="0"/>
              <a:t>个空格，也可自行指定</a:t>
            </a:r>
            <a:endParaRPr lang="en-US" altLang="zh-CN" dirty="0"/>
          </a:p>
          <a:p>
            <a:pPr lvl="1"/>
            <a:r>
              <a:rPr lang="zh-CN" altLang="en-US" dirty="0"/>
              <a:t>但必须保持同层代码块前的空格数相同</a:t>
            </a:r>
            <a:endParaRPr lang="en-US" altLang="zh-CN" dirty="0"/>
          </a:p>
          <a:p>
            <a:r>
              <a:rPr lang="zh-CN" altLang="en-US" dirty="0"/>
              <a:t>缩进也可使用</a:t>
            </a:r>
            <a:r>
              <a:rPr lang="en-US" altLang="zh-CN" dirty="0"/>
              <a:t>Tab</a:t>
            </a:r>
            <a:r>
              <a:rPr lang="zh-CN" altLang="en-US" dirty="0"/>
              <a:t>键</a:t>
            </a:r>
            <a:endParaRPr lang="en-US" altLang="zh-CN" dirty="0"/>
          </a:p>
          <a:p>
            <a:pPr lvl="1"/>
            <a:r>
              <a:rPr lang="zh-CN" altLang="en-US" dirty="0"/>
              <a:t>不能空格和</a:t>
            </a:r>
            <a:r>
              <a:rPr lang="en-US" altLang="zh-CN" dirty="0"/>
              <a:t>Tab</a:t>
            </a:r>
            <a:r>
              <a:rPr lang="zh-CN" altLang="en-US" dirty="0"/>
              <a:t>键混用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4B26095-1972-4C21-A478-B7AB1E73D0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0351" y="800708"/>
            <a:ext cx="5754132" cy="5754132"/>
          </a:xfrm>
          <a:prstGeom prst="rect">
            <a:avLst/>
          </a:prstGeom>
        </p:spPr>
      </p:pic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4D82D7-9776-464F-B3A2-D02B81233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1318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C5595C-E4F5-4879-9584-DE2CB07FF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3.1.4 </a:t>
            </a:r>
            <a:r>
              <a:rPr lang="zh-CN" altLang="en-US" dirty="0"/>
              <a:t>语句续行与分隔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9A525A-0DA1-4DB0-A8C2-8144BB67F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1340768"/>
            <a:ext cx="11856640" cy="4877917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sz="3200" dirty="0">
                <a:solidFill>
                  <a:schemeClr val="tx1"/>
                </a:solidFill>
              </a:rPr>
              <a:t>通常一行写一条语句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sz="3200" dirty="0">
                <a:solidFill>
                  <a:schemeClr val="tx1"/>
                </a:solidFill>
              </a:rPr>
              <a:t>可以多个语句写在一行上，语句之间加上分号</a:t>
            </a:r>
            <a:r>
              <a:rPr lang="en-US" altLang="zh-CN" sz="3200" dirty="0">
                <a:solidFill>
                  <a:schemeClr val="tx1"/>
                </a:solidFill>
              </a:rPr>
              <a:t>;</a:t>
            </a:r>
            <a:endParaRPr lang="zh-CN" altLang="en-US" sz="3200" dirty="0">
              <a:solidFill>
                <a:schemeClr val="tx1"/>
              </a:solidFill>
            </a:endParaRPr>
          </a:p>
          <a:p>
            <a:r>
              <a:rPr lang="zh-CN" altLang="en-US" dirty="0"/>
              <a:t>一行写不下？续行符</a:t>
            </a:r>
            <a:r>
              <a:rPr lang="en-US" altLang="zh-CN" dirty="0"/>
              <a:t>\</a:t>
            </a:r>
          </a:p>
          <a:p>
            <a:pPr lvl="1"/>
            <a:r>
              <a:rPr lang="zh-CN" altLang="en-US" dirty="0"/>
              <a:t>输入：</a:t>
            </a:r>
            <a:r>
              <a:rPr lang="en-US" altLang="zh-CN" dirty="0"/>
              <a:t>\</a:t>
            </a:r>
            <a:r>
              <a:rPr lang="zh-CN" altLang="en-US" dirty="0"/>
              <a:t>键在</a:t>
            </a:r>
            <a:r>
              <a:rPr lang="en-US" altLang="zh-CN" dirty="0"/>
              <a:t>backspace</a:t>
            </a:r>
            <a:r>
              <a:rPr lang="zh-CN" altLang="en-US" dirty="0"/>
              <a:t>下方</a:t>
            </a:r>
            <a:r>
              <a:rPr lang="en-US" altLang="zh-CN" dirty="0"/>
              <a:t> </a:t>
            </a:r>
          </a:p>
          <a:p>
            <a:pPr lvl="1"/>
            <a:r>
              <a:rPr lang="zh-CN" altLang="zh-CN" dirty="0"/>
              <a:t>最后一行末无需添加</a:t>
            </a:r>
            <a:r>
              <a:rPr lang="en-US" altLang="zh-CN" dirty="0"/>
              <a:t>\</a:t>
            </a:r>
          </a:p>
          <a:p>
            <a:pPr marL="800100" lvl="1" indent="-342900" algn="just">
              <a:tabLst>
                <a:tab pos="457200" algn="l"/>
              </a:tabLst>
            </a:pPr>
            <a:r>
              <a:rPr lang="zh-CN" altLang="zh-CN" dirty="0"/>
              <a:t>小括号</a:t>
            </a:r>
            <a:r>
              <a:rPr lang="en-US" altLang="zh-CN" dirty="0"/>
              <a:t>()</a:t>
            </a:r>
            <a:r>
              <a:rPr lang="zh-CN" altLang="zh-CN" dirty="0"/>
              <a:t>、中括号</a:t>
            </a:r>
            <a:r>
              <a:rPr lang="en-US" altLang="zh-CN" dirty="0"/>
              <a:t>[]</a:t>
            </a:r>
            <a:r>
              <a:rPr lang="zh-CN" altLang="zh-CN" dirty="0"/>
              <a:t>、花括号</a:t>
            </a:r>
            <a:r>
              <a:rPr lang="en-US" altLang="zh-CN" dirty="0"/>
              <a:t>{}</a:t>
            </a:r>
            <a:r>
              <a:rPr lang="zh-CN" altLang="zh-CN" dirty="0"/>
              <a:t>的内部分行，不需要</a:t>
            </a:r>
            <a:r>
              <a:rPr lang="en-US" altLang="zh-CN" dirty="0"/>
              <a:t>\</a:t>
            </a:r>
            <a:endParaRPr lang="zh-CN" altLang="zh-CN" dirty="0"/>
          </a:p>
          <a:p>
            <a:pPr marL="800100" lvl="1" indent="-342900" algn="just">
              <a:tabLst>
                <a:tab pos="457200" algn="l"/>
              </a:tabLst>
            </a:pPr>
            <a:r>
              <a:rPr lang="zh-CN" altLang="zh-CN" dirty="0"/>
              <a:t>三引号</a:t>
            </a:r>
            <a:r>
              <a:rPr lang="en-US" altLang="zh-CN" dirty="0"/>
              <a:t>(</a:t>
            </a:r>
            <a:r>
              <a:rPr lang="zh-CN" altLang="en-US" dirty="0"/>
              <a:t>注释块</a:t>
            </a:r>
            <a:r>
              <a:rPr lang="en-US" altLang="zh-CN" dirty="0"/>
              <a:t>)</a:t>
            </a:r>
            <a:r>
              <a:rPr lang="zh-CN" altLang="zh-CN" dirty="0"/>
              <a:t>之间的内容不</a:t>
            </a:r>
            <a:r>
              <a:rPr lang="zh-CN" altLang="en-US" dirty="0"/>
              <a:t>用</a:t>
            </a:r>
            <a:r>
              <a:rPr lang="zh-CN" altLang="zh-CN" dirty="0"/>
              <a:t>加</a:t>
            </a:r>
            <a:r>
              <a:rPr lang="en-US" altLang="zh-CN" dirty="0"/>
              <a:t>\</a:t>
            </a:r>
            <a:r>
              <a:rPr lang="zh-CN" altLang="zh-CN" dirty="0"/>
              <a:t>，直接分多行书写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a=1</a:t>
            </a:r>
          </a:p>
          <a:p>
            <a:pPr marL="0" indent="0">
              <a:buNone/>
            </a:pPr>
            <a:r>
              <a:rPr lang="en-US" altLang="zh-CN" dirty="0"/>
              <a:t>b=2;c=3</a:t>
            </a:r>
          </a:p>
          <a:p>
            <a:pPr marL="0" indent="0">
              <a:buNone/>
            </a:pPr>
            <a:r>
              <a:rPr lang="en-US" altLang="zh-CN" dirty="0"/>
              <a:t>print(‘This is a test. Here is a long sentence. You \</a:t>
            </a:r>
          </a:p>
          <a:p>
            <a:pPr marL="0" indent="0">
              <a:buNone/>
            </a:pPr>
            <a:r>
              <a:rPr lang="en-US" altLang="zh-CN" dirty="0"/>
              <a:t>can write in 2 lines.’)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4A495E-1D6A-4E82-8947-D25BDE4A7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906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470025" y="2292350"/>
            <a:ext cx="9266555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/>
              <a:t>3.2 </a:t>
            </a:r>
            <a:r>
              <a:rPr lang="zh-CN" altLang="en-US" kern="1200" dirty="0"/>
              <a:t>赋值语句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D064FE1-4192-4AD2-BC1F-322D9AD56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1396688" y="3081173"/>
            <a:ext cx="3096344" cy="29716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3.2.1 </a:t>
            </a:r>
            <a:r>
              <a:rPr lang="zh-CN" altLang="en-US" dirty="0"/>
              <a:t>赋值语句</a:t>
            </a:r>
          </a:p>
        </p:txBody>
      </p:sp>
      <p:sp>
        <p:nvSpPr>
          <p:cNvPr id="16" name="内容占位符 15"/>
          <p:cNvSpPr>
            <a:spLocks noGrp="1"/>
          </p:cNvSpPr>
          <p:nvPr>
            <p:ph idx="1"/>
          </p:nvPr>
        </p:nvSpPr>
        <p:spPr>
          <a:xfrm>
            <a:off x="1487488" y="3081173"/>
            <a:ext cx="5498083" cy="30601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altLang="zh-CN" sz="2400" dirty="0"/>
              <a:t>&gt;&gt;&gt; a = 1</a:t>
            </a:r>
          </a:p>
          <a:p>
            <a:pPr marL="0" indent="0">
              <a:buNone/>
            </a:pPr>
            <a:r>
              <a:rPr lang="pt-BR" altLang="zh-CN" sz="2400" dirty="0"/>
              <a:t>&gt;&gt;&gt; b = 2</a:t>
            </a:r>
          </a:p>
          <a:p>
            <a:pPr marL="0" indent="0">
              <a:buNone/>
            </a:pPr>
            <a:r>
              <a:rPr lang="pt-BR" altLang="zh-CN" sz="2400" dirty="0"/>
              <a:t>&gt;&gt;&gt; c = 3</a:t>
            </a:r>
          </a:p>
          <a:p>
            <a:pPr marL="0" indent="0">
              <a:buNone/>
            </a:pPr>
            <a:r>
              <a:rPr lang="pt-BR" altLang="zh-CN" sz="2400" dirty="0"/>
              <a:t>&gt;&gt;&gt; a,b,c</a:t>
            </a:r>
          </a:p>
          <a:p>
            <a:pPr marL="0" indent="0">
              <a:buNone/>
            </a:pPr>
            <a:r>
              <a:rPr lang="pt-BR" altLang="zh-CN" sz="2400" dirty="0"/>
              <a:t>(1, 2, 3)</a:t>
            </a:r>
            <a:endParaRPr lang="zh-CN" altLang="en-US" sz="2400" dirty="0"/>
          </a:p>
        </p:txBody>
      </p:sp>
      <p:sp>
        <p:nvSpPr>
          <p:cNvPr id="4" name="椭圆 21"/>
          <p:cNvSpPr>
            <a:spLocks noChangeAspect="1" noChangeArrowheads="1"/>
          </p:cNvSpPr>
          <p:nvPr/>
        </p:nvSpPr>
        <p:spPr bwMode="auto">
          <a:xfrm>
            <a:off x="5757838" y="1501630"/>
            <a:ext cx="576000" cy="576000"/>
          </a:xfrm>
          <a:prstGeom prst="ellipse">
            <a:avLst/>
          </a:prstGeom>
          <a:solidFill>
            <a:schemeClr val="accent1"/>
          </a:solidFill>
          <a:ln w="31750">
            <a:solidFill>
              <a:srgbClr val="FFFFFF"/>
            </a:solidFill>
          </a:ln>
          <a:effectLst>
            <a:outerShdw blurRad="38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zh-CN" sz="2400" dirty="0">
                <a:solidFill>
                  <a:schemeClr val="lt1"/>
                </a:solidFill>
              </a:rPr>
              <a:t>1</a:t>
            </a:r>
            <a:endParaRPr lang="zh-CN" altLang="en-US" sz="2400">
              <a:solidFill>
                <a:schemeClr val="lt1"/>
              </a:solidFill>
            </a:endParaRPr>
          </a:p>
        </p:txBody>
      </p:sp>
      <p:sp>
        <p:nvSpPr>
          <p:cNvPr id="5" name="椭圆 24"/>
          <p:cNvSpPr>
            <a:spLocks noChangeAspect="1" noChangeArrowheads="1"/>
          </p:cNvSpPr>
          <p:nvPr/>
        </p:nvSpPr>
        <p:spPr bwMode="auto">
          <a:xfrm>
            <a:off x="5757838" y="2406681"/>
            <a:ext cx="576000" cy="576000"/>
          </a:xfrm>
          <a:prstGeom prst="ellipse">
            <a:avLst/>
          </a:prstGeom>
          <a:solidFill>
            <a:schemeClr val="accent1"/>
          </a:solidFill>
          <a:ln w="31750">
            <a:solidFill>
              <a:srgbClr val="FFFFFF"/>
            </a:solidFill>
          </a:ln>
          <a:effectLst>
            <a:outerShdw blurRad="38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zh-CN" sz="2400" dirty="0">
                <a:solidFill>
                  <a:schemeClr val="lt1"/>
                </a:solidFill>
              </a:rPr>
              <a:t>2</a:t>
            </a:r>
            <a:endParaRPr lang="zh-CN" altLang="en-US" sz="2400">
              <a:solidFill>
                <a:schemeClr val="lt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27448" y="1340768"/>
            <a:ext cx="3528392" cy="792000"/>
          </a:xfrm>
          <a:prstGeom prst="rect">
            <a:avLst/>
          </a:prstGeom>
          <a:noFill/>
          <a:ln w="28575">
            <a:solidFill>
              <a:schemeClr val="bg2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dirty="0"/>
              <a:t>基本格式：</a:t>
            </a:r>
            <a:r>
              <a:rPr lang="en-US" altLang="zh-CN" sz="2800" dirty="0"/>
              <a:t>var = obj</a:t>
            </a:r>
            <a:endParaRPr lang="zh-CN" altLang="en-US" sz="2800" dirty="0"/>
          </a:p>
        </p:txBody>
      </p:sp>
      <p:sp>
        <p:nvSpPr>
          <p:cNvPr id="8" name="圆角矩形 7"/>
          <p:cNvSpPr/>
          <p:nvPr/>
        </p:nvSpPr>
        <p:spPr>
          <a:xfrm>
            <a:off x="6693941" y="1468001"/>
            <a:ext cx="4612109" cy="609629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b="1" dirty="0">
                <a:solidFill>
                  <a:schemeClr val="tx1"/>
                </a:solidFill>
              </a:rPr>
              <a:t>var</a:t>
            </a:r>
            <a:r>
              <a:rPr lang="zh-CN" altLang="en-US" sz="2800" b="1" dirty="0">
                <a:solidFill>
                  <a:schemeClr val="tx1"/>
                </a:solidFill>
              </a:rPr>
              <a:t>是一个变量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6711913" y="2333011"/>
            <a:ext cx="4612109" cy="145436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 dirty="0">
                <a:solidFill>
                  <a:schemeClr val="tx1"/>
                </a:solidFill>
              </a:rPr>
              <a:t>等号的右侧可以是常量、变量、表达式、对象和函数等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4655840" y="1772816"/>
            <a:ext cx="1111623" cy="934814"/>
            <a:chOff x="4871864" y="1836048"/>
            <a:chExt cx="1111623" cy="934814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5391802" y="1852862"/>
              <a:ext cx="0" cy="918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4871864" y="1836048"/>
              <a:ext cx="1111623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5391802" y="2752862"/>
              <a:ext cx="57600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F101747-A76D-47A9-A521-FBDFBD70B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6663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复合赋值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9376" y="1821124"/>
            <a:ext cx="10852150" cy="3637076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&gt;&gt;&gt; x = 5</a:t>
            </a:r>
          </a:p>
          <a:p>
            <a:pPr marL="0" indent="0">
              <a:buNone/>
            </a:pPr>
            <a:r>
              <a:rPr lang="en-US" altLang="zh-CN" sz="2400" dirty="0"/>
              <a:t>&gt;&gt;&gt; x += 1		# </a:t>
            </a:r>
            <a:r>
              <a:rPr lang="zh-CN" altLang="en-US" sz="2400" dirty="0"/>
              <a:t>等价于</a:t>
            </a:r>
            <a:r>
              <a:rPr lang="en-US" altLang="zh-CN" sz="2400" dirty="0"/>
              <a:t>x = x + 1</a:t>
            </a:r>
          </a:p>
          <a:p>
            <a:pPr marL="0" indent="0">
              <a:buNone/>
            </a:pPr>
            <a:r>
              <a:rPr lang="en-US" altLang="zh-CN" sz="2400" dirty="0"/>
              <a:t>&gt;&gt;&gt; y = -1</a:t>
            </a:r>
          </a:p>
          <a:p>
            <a:pPr marL="0" indent="0">
              <a:buNone/>
            </a:pPr>
            <a:r>
              <a:rPr lang="en-US" altLang="zh-CN" sz="2400" dirty="0"/>
              <a:t>&gt;&gt;&gt; y *= x + 0.5	# </a:t>
            </a:r>
            <a:r>
              <a:rPr lang="zh-CN" altLang="en-US" sz="2400" dirty="0"/>
              <a:t>等价于</a:t>
            </a:r>
            <a:r>
              <a:rPr lang="en-US" altLang="zh-CN" sz="2400" dirty="0"/>
              <a:t>y = y * (x + 0.5)</a:t>
            </a:r>
          </a:p>
          <a:p>
            <a:pPr marL="0" indent="0">
              <a:buNone/>
            </a:pPr>
            <a:r>
              <a:rPr lang="en-US" altLang="zh-CN" sz="2400" dirty="0"/>
              <a:t>&gt;&gt;&gt; x, y</a:t>
            </a:r>
          </a:p>
          <a:p>
            <a:pPr marL="0" indent="0">
              <a:buNone/>
            </a:pPr>
            <a:r>
              <a:rPr lang="en-US" altLang="zh-CN" sz="2400" dirty="0"/>
              <a:t>(6, -6.5)</a:t>
            </a:r>
          </a:p>
        </p:txBody>
      </p:sp>
      <p:sp>
        <p:nvSpPr>
          <p:cNvPr id="4" name="六边形 3"/>
          <p:cNvSpPr>
            <a:spLocks noChangeAspect="1"/>
          </p:cNvSpPr>
          <p:nvPr/>
        </p:nvSpPr>
        <p:spPr>
          <a:xfrm>
            <a:off x="3719736" y="941234"/>
            <a:ext cx="1008000" cy="911258"/>
          </a:xfrm>
          <a:prstGeom prst="hexagon">
            <a:avLst/>
          </a:prstGeom>
          <a:noFill/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3600" dirty="0"/>
              <a:t>+=</a:t>
            </a:r>
            <a:endParaRPr lang="zh-CN" altLang="en-US" sz="3600" dirty="0"/>
          </a:p>
        </p:txBody>
      </p:sp>
      <p:sp>
        <p:nvSpPr>
          <p:cNvPr id="5" name="六边形 4"/>
          <p:cNvSpPr>
            <a:spLocks noChangeAspect="1"/>
          </p:cNvSpPr>
          <p:nvPr/>
        </p:nvSpPr>
        <p:spPr>
          <a:xfrm>
            <a:off x="4583832" y="443230"/>
            <a:ext cx="1008000" cy="911258"/>
          </a:xfrm>
          <a:prstGeom prst="hexagon">
            <a:avLst/>
          </a:prstGeom>
          <a:noFill/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3600" dirty="0"/>
              <a:t>-=</a:t>
            </a:r>
            <a:endParaRPr lang="zh-CN" altLang="en-US" sz="3600" dirty="0"/>
          </a:p>
        </p:txBody>
      </p:sp>
      <p:sp>
        <p:nvSpPr>
          <p:cNvPr id="6" name="六边形 5"/>
          <p:cNvSpPr>
            <a:spLocks noChangeAspect="1"/>
          </p:cNvSpPr>
          <p:nvPr/>
        </p:nvSpPr>
        <p:spPr>
          <a:xfrm>
            <a:off x="5490701" y="969541"/>
            <a:ext cx="1008000" cy="854644"/>
          </a:xfrm>
          <a:prstGeom prst="hexagon">
            <a:avLst/>
          </a:prstGeom>
          <a:noFill/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3600" dirty="0"/>
              <a:t>/=</a:t>
            </a:r>
            <a:endParaRPr lang="zh-CN" altLang="en-US" sz="3600" dirty="0"/>
          </a:p>
        </p:txBody>
      </p:sp>
      <p:sp>
        <p:nvSpPr>
          <p:cNvPr id="7" name="六边形 6"/>
          <p:cNvSpPr>
            <a:spLocks noChangeAspect="1"/>
          </p:cNvSpPr>
          <p:nvPr/>
        </p:nvSpPr>
        <p:spPr>
          <a:xfrm>
            <a:off x="6366475" y="499844"/>
            <a:ext cx="1008000" cy="854644"/>
          </a:xfrm>
          <a:prstGeom prst="hexagon">
            <a:avLst/>
          </a:prstGeom>
          <a:noFill/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3600" dirty="0"/>
              <a:t>//=</a:t>
            </a:r>
            <a:endParaRPr lang="zh-CN" altLang="en-US" sz="3600" dirty="0"/>
          </a:p>
        </p:txBody>
      </p:sp>
      <p:sp>
        <p:nvSpPr>
          <p:cNvPr id="8" name="六边形 7"/>
          <p:cNvSpPr>
            <a:spLocks noChangeAspect="1"/>
          </p:cNvSpPr>
          <p:nvPr/>
        </p:nvSpPr>
        <p:spPr>
          <a:xfrm>
            <a:off x="7261666" y="969541"/>
            <a:ext cx="1008000" cy="854644"/>
          </a:xfrm>
          <a:prstGeom prst="hexagon">
            <a:avLst/>
          </a:prstGeom>
          <a:noFill/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3600" dirty="0"/>
              <a:t>**=</a:t>
            </a:r>
            <a:endParaRPr lang="zh-CN" altLang="en-US" sz="3600" dirty="0"/>
          </a:p>
        </p:txBody>
      </p:sp>
      <p:sp>
        <p:nvSpPr>
          <p:cNvPr id="9" name="六边形 8"/>
          <p:cNvSpPr>
            <a:spLocks noChangeAspect="1"/>
          </p:cNvSpPr>
          <p:nvPr/>
        </p:nvSpPr>
        <p:spPr>
          <a:xfrm>
            <a:off x="8149118" y="499844"/>
            <a:ext cx="1008000" cy="854644"/>
          </a:xfrm>
          <a:prstGeom prst="hexagon">
            <a:avLst/>
          </a:prstGeom>
          <a:noFill/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2800" dirty="0"/>
              <a:t>&lt;&lt;=</a:t>
            </a:r>
            <a:endParaRPr lang="zh-CN" altLang="en-US" sz="2800" dirty="0"/>
          </a:p>
        </p:txBody>
      </p:sp>
      <p:sp>
        <p:nvSpPr>
          <p:cNvPr id="10" name="六边形 9"/>
          <p:cNvSpPr>
            <a:spLocks noChangeAspect="1"/>
          </p:cNvSpPr>
          <p:nvPr/>
        </p:nvSpPr>
        <p:spPr>
          <a:xfrm>
            <a:off x="9032632" y="983780"/>
            <a:ext cx="1008000" cy="854644"/>
          </a:xfrm>
          <a:prstGeom prst="hexagon">
            <a:avLst/>
          </a:prstGeom>
          <a:noFill/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3600" dirty="0"/>
              <a:t>&amp;=</a:t>
            </a:r>
            <a:endParaRPr lang="zh-CN" altLang="en-US" sz="3600" dirty="0"/>
          </a:p>
        </p:txBody>
      </p:sp>
      <p:sp>
        <p:nvSpPr>
          <p:cNvPr id="11" name="六边形 10"/>
          <p:cNvSpPr>
            <a:spLocks noChangeAspect="1"/>
          </p:cNvSpPr>
          <p:nvPr/>
        </p:nvSpPr>
        <p:spPr>
          <a:xfrm>
            <a:off x="9931760" y="499844"/>
            <a:ext cx="1008000" cy="854644"/>
          </a:xfrm>
          <a:prstGeom prst="hexagon">
            <a:avLst/>
          </a:prstGeom>
          <a:noFill/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3600" dirty="0"/>
              <a:t>|=</a:t>
            </a:r>
            <a:endParaRPr lang="zh-CN" altLang="en-US" sz="3600" dirty="0"/>
          </a:p>
        </p:txBody>
      </p:sp>
      <p:sp>
        <p:nvSpPr>
          <p:cNvPr id="12" name="六边形 11"/>
          <p:cNvSpPr>
            <a:spLocks noChangeAspect="1"/>
          </p:cNvSpPr>
          <p:nvPr/>
        </p:nvSpPr>
        <p:spPr>
          <a:xfrm>
            <a:off x="9931092" y="1457969"/>
            <a:ext cx="1008000" cy="854644"/>
          </a:xfrm>
          <a:prstGeom prst="hexagon">
            <a:avLst/>
          </a:prstGeom>
          <a:noFill/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3600" dirty="0"/>
              <a:t>^=</a:t>
            </a:r>
            <a:endParaRPr lang="zh-CN" altLang="en-US" sz="3600" dirty="0"/>
          </a:p>
        </p:txBody>
      </p:sp>
      <p:sp>
        <p:nvSpPr>
          <p:cNvPr id="13" name="六边形 12"/>
          <p:cNvSpPr>
            <a:spLocks noChangeAspect="1"/>
          </p:cNvSpPr>
          <p:nvPr/>
        </p:nvSpPr>
        <p:spPr>
          <a:xfrm>
            <a:off x="4607168" y="1457969"/>
            <a:ext cx="1008000" cy="854644"/>
          </a:xfrm>
          <a:prstGeom prst="hexagon">
            <a:avLst/>
          </a:prstGeom>
          <a:noFill/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zh-CN" altLang="en-US" sz="3600" dirty="0"/>
              <a:t>*</a:t>
            </a:r>
            <a:r>
              <a:rPr lang="en-US" altLang="zh-CN" sz="3600" dirty="0"/>
              <a:t>=</a:t>
            </a:r>
            <a:endParaRPr lang="zh-CN" altLang="en-US" sz="3600" dirty="0"/>
          </a:p>
        </p:txBody>
      </p:sp>
      <p:sp>
        <p:nvSpPr>
          <p:cNvPr id="14" name="六边形 13"/>
          <p:cNvSpPr>
            <a:spLocks noChangeAspect="1"/>
          </p:cNvSpPr>
          <p:nvPr/>
        </p:nvSpPr>
        <p:spPr>
          <a:xfrm>
            <a:off x="6366475" y="1457969"/>
            <a:ext cx="1008000" cy="854644"/>
          </a:xfrm>
          <a:prstGeom prst="hexagon">
            <a:avLst/>
          </a:prstGeom>
          <a:noFill/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3600" dirty="0"/>
              <a:t>%=</a:t>
            </a:r>
            <a:endParaRPr lang="zh-CN" altLang="en-US" sz="3600" dirty="0"/>
          </a:p>
        </p:txBody>
      </p:sp>
      <p:sp>
        <p:nvSpPr>
          <p:cNvPr id="15" name="六边形 14"/>
          <p:cNvSpPr>
            <a:spLocks noChangeAspect="1"/>
          </p:cNvSpPr>
          <p:nvPr/>
        </p:nvSpPr>
        <p:spPr>
          <a:xfrm>
            <a:off x="8141116" y="1457969"/>
            <a:ext cx="1008000" cy="854644"/>
          </a:xfrm>
          <a:prstGeom prst="hexagon">
            <a:avLst/>
          </a:prstGeom>
          <a:noFill/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3000" dirty="0"/>
              <a:t>&gt;&gt;=</a:t>
            </a:r>
            <a:endParaRPr lang="zh-CN" altLang="en-US" sz="3000" dirty="0"/>
          </a:p>
        </p:txBody>
      </p:sp>
      <p:sp>
        <p:nvSpPr>
          <p:cNvPr id="16" name="矩形 15"/>
          <p:cNvSpPr/>
          <p:nvPr/>
        </p:nvSpPr>
        <p:spPr>
          <a:xfrm>
            <a:off x="2855640" y="4221088"/>
            <a:ext cx="6219533" cy="22751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en-US" altLang="zh-CN" sz="2800" b="1" dirty="0">
                <a:solidFill>
                  <a:schemeClr val="tx1"/>
                </a:solidFill>
              </a:rPr>
              <a:t>3</a:t>
            </a:r>
            <a:r>
              <a:rPr lang="zh-CN" altLang="en-US" sz="2800" b="1" dirty="0">
                <a:solidFill>
                  <a:schemeClr val="tx1"/>
                </a:solidFill>
              </a:rPr>
              <a:t>步走：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zh-CN" altLang="en-US" sz="2800" b="1" dirty="0">
                <a:solidFill>
                  <a:schemeClr val="tx1"/>
                </a:solidFill>
              </a:rPr>
              <a:t>计算等号右侧的表达式的值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zh-CN" altLang="en-US" sz="2800" b="1" dirty="0">
                <a:solidFill>
                  <a:schemeClr val="tx1"/>
                </a:solidFill>
              </a:rPr>
              <a:t>再与左侧的变量进行运算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zh-CN" altLang="en-US" sz="2800" b="1" dirty="0">
                <a:solidFill>
                  <a:schemeClr val="tx1"/>
                </a:solidFill>
              </a:rPr>
              <a:t>结果存回左侧的变量中</a:t>
            </a: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A09402BB-9C11-46F2-B692-2950F4F77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31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5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25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75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链式赋值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99455" y="3789040"/>
            <a:ext cx="10322619" cy="216024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pt-BR" altLang="zh-CN" dirty="0"/>
              <a:t>&gt;&gt;&gt; a = b = c = 100</a:t>
            </a:r>
          </a:p>
          <a:p>
            <a:pPr marL="0" indent="0">
              <a:buNone/>
            </a:pPr>
            <a:r>
              <a:rPr lang="pt-BR" altLang="zh-CN" dirty="0"/>
              <a:t>&gt;&gt;&gt; a, b, c</a:t>
            </a:r>
          </a:p>
          <a:p>
            <a:pPr marL="0" indent="0">
              <a:buNone/>
            </a:pPr>
            <a:r>
              <a:rPr lang="pt-BR" altLang="zh-CN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(100, 100, 100)</a:t>
            </a:r>
          </a:p>
        </p:txBody>
      </p:sp>
      <p:sp>
        <p:nvSpPr>
          <p:cNvPr id="4" name="矩形 3"/>
          <p:cNvSpPr/>
          <p:nvPr/>
        </p:nvSpPr>
        <p:spPr>
          <a:xfrm>
            <a:off x="921214" y="1283569"/>
            <a:ext cx="7920000" cy="792088"/>
          </a:xfrm>
          <a:prstGeom prst="rect">
            <a:avLst/>
          </a:prstGeom>
          <a:noFill/>
          <a:ln>
            <a:solidFill>
              <a:schemeClr val="bg2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格式：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var1 = var2 = var3… = 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5723052" y="3153188"/>
            <a:ext cx="54360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032948" y="2361073"/>
            <a:ext cx="95995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用于将同一个值赋给多个变量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E749DB-DE39-4012-8D0C-17F6C5CF7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8509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同步赋值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02628" y="3276613"/>
            <a:ext cx="10664502" cy="334274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altLang="zh-CN" sz="2000" dirty="0"/>
              <a:t>&gt;&gt;&gt; a, b, c = -2, 12, 'ab'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altLang="zh-CN" sz="2000" dirty="0"/>
              <a:t>&gt;&gt;&gt; a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altLang="zh-CN" sz="2000" dirty="0"/>
              <a:t>-2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altLang="zh-CN" sz="2000" dirty="0"/>
              <a:t>&gt;&gt;&gt; b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altLang="zh-CN" sz="2000" dirty="0"/>
              <a:t>12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altLang="zh-CN" sz="2000" dirty="0"/>
              <a:t>&gt;&gt;&gt; c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altLang="zh-CN" sz="2000" dirty="0"/>
              <a:t>'ab'</a:t>
            </a:r>
          </a:p>
        </p:txBody>
      </p:sp>
      <p:sp>
        <p:nvSpPr>
          <p:cNvPr id="4" name="矩形 3"/>
          <p:cNvSpPr/>
          <p:nvPr/>
        </p:nvSpPr>
        <p:spPr>
          <a:xfrm>
            <a:off x="921214" y="1283569"/>
            <a:ext cx="10359362" cy="792088"/>
          </a:xfrm>
          <a:prstGeom prst="rect">
            <a:avLst/>
          </a:prstGeom>
          <a:noFill/>
          <a:ln>
            <a:solidFill>
              <a:schemeClr val="bg2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同时对几个变量赋值。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格式：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var1[, var2[, var3…]] = 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1[, 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2[, 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3…]]</a:t>
            </a: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5832018" y="3717032"/>
            <a:ext cx="54360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902628" y="2199081"/>
            <a:ext cx="103468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等号两侧的变量数和表达式数要一致，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按位置将表达式值分别赋值给变量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847D870B-3102-4242-AF66-5D0DC1074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9841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>
          <a:xfrm>
            <a:off x="191344" y="356589"/>
            <a:ext cx="8722568" cy="720411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两个值的交换</a:t>
            </a:r>
          </a:p>
        </p:txBody>
      </p:sp>
      <p:sp>
        <p:nvSpPr>
          <p:cNvPr id="14" name="内容占位符 13"/>
          <p:cNvSpPr>
            <a:spLocks noGrp="1"/>
          </p:cNvSpPr>
          <p:nvPr>
            <p:ph sz="half" idx="1"/>
          </p:nvPr>
        </p:nvSpPr>
        <p:spPr>
          <a:xfrm>
            <a:off x="685800" y="1772817"/>
            <a:ext cx="3033936" cy="4445868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800" dirty="0"/>
              <a:t>#C</a:t>
            </a:r>
            <a:r>
              <a:rPr lang="zh-CN" altLang="en-US" sz="2800" dirty="0"/>
              <a:t>语言的套路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&gt;&gt;&gt; a = 10</a:t>
            </a:r>
          </a:p>
          <a:p>
            <a:pPr marL="0" indent="0">
              <a:buNone/>
            </a:pPr>
            <a:r>
              <a:rPr lang="en-US" altLang="zh-CN" sz="2800" dirty="0"/>
              <a:t>&gt;&gt;&gt; b = 9.123</a:t>
            </a:r>
          </a:p>
          <a:p>
            <a:pPr marL="0" indent="0">
              <a:buNone/>
            </a:pPr>
            <a:r>
              <a:rPr lang="en-US" altLang="zh-CN" sz="2800" dirty="0"/>
              <a:t>&gt;&gt;&gt; t = a</a:t>
            </a:r>
          </a:p>
          <a:p>
            <a:pPr marL="0" indent="0">
              <a:buNone/>
            </a:pPr>
            <a:r>
              <a:rPr lang="en-US" altLang="zh-CN" sz="2800" dirty="0"/>
              <a:t>&gt;&gt;&gt; a = b</a:t>
            </a:r>
          </a:p>
          <a:p>
            <a:pPr marL="0" indent="0">
              <a:buNone/>
            </a:pPr>
            <a:r>
              <a:rPr lang="en-US" altLang="zh-CN" sz="2800" dirty="0"/>
              <a:t>&gt;&gt;&gt; b = t</a:t>
            </a:r>
          </a:p>
          <a:p>
            <a:pPr marL="0" indent="0">
              <a:buNone/>
            </a:pPr>
            <a:r>
              <a:rPr lang="en-US" altLang="zh-CN" sz="2800" dirty="0"/>
              <a:t>&gt;&gt;&gt; a</a:t>
            </a:r>
          </a:p>
          <a:p>
            <a:pPr marL="0" indent="0">
              <a:buNone/>
            </a:pPr>
            <a:r>
              <a:rPr lang="en-US" altLang="zh-CN" sz="2800" dirty="0"/>
              <a:t>9.123</a:t>
            </a:r>
          </a:p>
          <a:p>
            <a:pPr marL="0" indent="0">
              <a:buNone/>
            </a:pPr>
            <a:r>
              <a:rPr lang="en-US" altLang="zh-CN" sz="2800" dirty="0"/>
              <a:t>&gt;&gt;&gt; b</a:t>
            </a:r>
          </a:p>
          <a:p>
            <a:pPr marL="0" indent="0">
              <a:buNone/>
            </a:pPr>
            <a:r>
              <a:rPr lang="en-US" altLang="zh-CN" sz="2800" dirty="0"/>
              <a:t>10</a:t>
            </a:r>
            <a:endParaRPr lang="zh-CN" altLang="en-US" sz="2800" dirty="0"/>
          </a:p>
        </p:txBody>
      </p:sp>
      <p:sp>
        <p:nvSpPr>
          <p:cNvPr id="15" name="内容占位符 14"/>
          <p:cNvSpPr>
            <a:spLocks noGrp="1"/>
          </p:cNvSpPr>
          <p:nvPr>
            <p:ph sz="half" idx="2"/>
          </p:nvPr>
        </p:nvSpPr>
        <p:spPr>
          <a:xfrm>
            <a:off x="4223792" y="1801894"/>
            <a:ext cx="5406008" cy="4509017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dirty="0"/>
              <a:t># Python</a:t>
            </a:r>
            <a:r>
              <a:rPr lang="zh-CN" altLang="en-US" sz="2800" dirty="0"/>
              <a:t>的套路</a:t>
            </a:r>
            <a:endParaRPr lang="pt-BR" altLang="zh-CN" sz="2800" dirty="0"/>
          </a:p>
          <a:p>
            <a:pPr marL="0" indent="0">
              <a:buNone/>
            </a:pPr>
            <a:r>
              <a:rPr lang="pt-BR" altLang="zh-CN" sz="2800" dirty="0"/>
              <a:t>&gt;&gt;&gt; a = 10</a:t>
            </a:r>
          </a:p>
          <a:p>
            <a:pPr marL="0" indent="0">
              <a:buNone/>
            </a:pPr>
            <a:r>
              <a:rPr lang="pt-BR" altLang="zh-CN" sz="2800" dirty="0"/>
              <a:t>&gt;&gt;&gt; b = 9.123</a:t>
            </a:r>
          </a:p>
          <a:p>
            <a:pPr marL="0" indent="0">
              <a:buNone/>
            </a:pPr>
            <a:r>
              <a:rPr lang="pt-BR" altLang="zh-CN" sz="2800" dirty="0"/>
              <a:t>&gt;&gt;&gt; a, b = b, a</a:t>
            </a:r>
          </a:p>
          <a:p>
            <a:pPr marL="0" indent="0">
              <a:buNone/>
            </a:pPr>
            <a:r>
              <a:rPr lang="pt-BR" altLang="zh-CN" sz="2800" dirty="0"/>
              <a:t>&gt;&gt;&gt; a</a:t>
            </a:r>
          </a:p>
          <a:p>
            <a:pPr marL="0" indent="0">
              <a:buNone/>
            </a:pPr>
            <a:r>
              <a:rPr lang="pt-BR" altLang="zh-CN" sz="2800" dirty="0"/>
              <a:t>9.123</a:t>
            </a:r>
          </a:p>
          <a:p>
            <a:pPr marL="0" indent="0">
              <a:buNone/>
            </a:pPr>
            <a:r>
              <a:rPr lang="pt-BR" altLang="zh-CN" sz="2800" dirty="0"/>
              <a:t>&gt;&gt;&gt; b</a:t>
            </a:r>
          </a:p>
          <a:p>
            <a:pPr marL="0" indent="0">
              <a:buNone/>
            </a:pPr>
            <a:r>
              <a:rPr lang="pt-BR" altLang="zh-CN" sz="2800" dirty="0"/>
              <a:t>10</a:t>
            </a:r>
          </a:p>
          <a:p>
            <a:pPr marL="0" indent="0">
              <a:buNone/>
            </a:pPr>
            <a:endParaRPr lang="zh-CN" altLang="en-US" sz="28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9BB4FE6-1A96-4F07-91C0-CA2F13748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z="1200" smtClean="0"/>
              <a:t>14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794039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*</a:t>
            </a:r>
            <a:r>
              <a:rPr lang="en-US" altLang="zh-CN" dirty="0"/>
              <a:t>3.2.2 </a:t>
            </a:r>
            <a:r>
              <a:rPr lang="zh-CN" altLang="en-US" dirty="0"/>
              <a:t>变量的共享引用*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dirty="0"/>
              <a:t>数值类型和字符串的共享引用</a:t>
            </a:r>
          </a:p>
          <a:p>
            <a:pPr lvl="1"/>
            <a:r>
              <a:rPr lang="zh-CN" altLang="en-US" sz="2600" dirty="0"/>
              <a:t>当变量所赋的值为不可变数据类型，将该变量的值赋给别的变量时，多个变量都会指向同一个数据。</a:t>
            </a:r>
            <a:endParaRPr lang="en-US" altLang="zh-CN" sz="2600" dirty="0"/>
          </a:p>
          <a:p>
            <a:r>
              <a:rPr lang="zh-CN" altLang="en-US" dirty="0"/>
              <a:t>元组</a:t>
            </a:r>
            <a:r>
              <a:rPr lang="en-US" altLang="zh-CN" dirty="0"/>
              <a:t>tuple</a:t>
            </a:r>
            <a:r>
              <a:rPr lang="zh-CN" altLang="en-US" dirty="0"/>
              <a:t>的共享引用</a:t>
            </a:r>
          </a:p>
          <a:p>
            <a:pPr lvl="1"/>
            <a:r>
              <a:rPr lang="zh-CN" altLang="en-US" sz="2600" dirty="0"/>
              <a:t>元组被称为只读列表，数据可以被查询，但不能被修改。当各个元组值是不可变数据类型时，其共享引用的方式与数值数据类型情况相同</a:t>
            </a:r>
            <a:endParaRPr lang="en-US" altLang="zh-CN" sz="2600" dirty="0"/>
          </a:p>
          <a:p>
            <a:pPr lvl="1"/>
            <a:r>
              <a:rPr lang="zh-CN" altLang="en-US" sz="2600" dirty="0"/>
              <a:t>若在元组中的元素是可变数据时，则该元组元素的数据值是可变的，但变量指向的元组空间没有变化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680CE66-0ECD-44BC-9958-D2C7CE4B1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2236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7368" y="625252"/>
            <a:ext cx="8610600" cy="1293028"/>
          </a:xfrm>
        </p:spPr>
        <p:txBody>
          <a:bodyPr/>
          <a:lstStyle/>
          <a:p>
            <a:pPr algn="l"/>
            <a:r>
              <a:rPr lang="zh-CN" altLang="en-US" b="1" dirty="0"/>
              <a:t>整数</a:t>
            </a:r>
            <a:r>
              <a:rPr lang="en-US" altLang="zh-CN" b="1" dirty="0"/>
              <a:t>int</a:t>
            </a:r>
            <a:r>
              <a:rPr lang="zh-CN" altLang="en-US" b="1" dirty="0"/>
              <a:t>的共享引用示例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altLang="zh-CN" b="1" dirty="0"/>
              <a:t>&gt;&gt;&gt; x = 1</a:t>
            </a:r>
          </a:p>
          <a:p>
            <a:pPr marL="0" indent="0">
              <a:buNone/>
            </a:pPr>
            <a:r>
              <a:rPr lang="es-ES" altLang="zh-CN" b="1" dirty="0"/>
              <a:t>&gt;&gt;&gt; y = 1</a:t>
            </a:r>
          </a:p>
          <a:p>
            <a:pPr marL="0" indent="0">
              <a:buNone/>
            </a:pPr>
            <a:r>
              <a:rPr lang="es-ES" altLang="zh-CN" b="1" dirty="0"/>
              <a:t>&gt;&gt;&gt; id(x)	</a:t>
            </a:r>
            <a:r>
              <a:rPr lang="en-US" altLang="zh-CN" b="1" dirty="0"/>
              <a:t>#x</a:t>
            </a:r>
            <a:r>
              <a:rPr lang="zh-CN" altLang="en-US" b="1" dirty="0"/>
              <a:t>的内存地址</a:t>
            </a:r>
            <a:endParaRPr lang="es-ES" altLang="zh-CN" b="1" dirty="0"/>
          </a:p>
          <a:p>
            <a:pPr marL="0" indent="0">
              <a:buNone/>
            </a:pPr>
            <a:r>
              <a:rPr lang="es-ES" altLang="zh-CN" b="1" dirty="0"/>
              <a:t>2810667362608</a:t>
            </a:r>
          </a:p>
          <a:p>
            <a:pPr marL="0" indent="0">
              <a:buNone/>
            </a:pPr>
            <a:r>
              <a:rPr lang="es-ES" altLang="zh-CN" b="1" dirty="0"/>
              <a:t>&gt;&gt;&gt; id(y)</a:t>
            </a:r>
          </a:p>
          <a:p>
            <a:pPr marL="0" indent="0">
              <a:buNone/>
            </a:pPr>
            <a:r>
              <a:rPr lang="es-ES" altLang="zh-CN" b="1" dirty="0"/>
              <a:t>2810667362608</a:t>
            </a:r>
          </a:p>
          <a:p>
            <a:pPr marL="0" indent="0">
              <a:buNone/>
            </a:pPr>
            <a:r>
              <a:rPr lang="en-US" altLang="zh-CN" b="1" dirty="0"/>
              <a:t>&gt;&gt;&gt; id(x) == id(y)</a:t>
            </a:r>
          </a:p>
          <a:p>
            <a:pPr marL="0" indent="0">
              <a:buNone/>
            </a:pPr>
            <a:r>
              <a:rPr lang="en-US" altLang="zh-CN" b="1" dirty="0"/>
              <a:t>True</a:t>
            </a:r>
          </a:p>
          <a:p>
            <a:pPr marL="0" indent="0">
              <a:buNone/>
            </a:pPr>
            <a:r>
              <a:rPr lang="en-US" altLang="zh-CN" b="1" dirty="0"/>
              <a:t>&gt;&gt;&gt; x is y      #</a:t>
            </a:r>
            <a:r>
              <a:rPr lang="zh-CN" altLang="en-US" b="1" dirty="0"/>
              <a:t>判断是否指向同一地址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True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altLang="zh-CN" b="1" dirty="0"/>
              <a:t>&gt;&gt;&gt; x = 90</a:t>
            </a:r>
          </a:p>
          <a:p>
            <a:pPr marL="0" indent="0">
              <a:buNone/>
            </a:pPr>
            <a:r>
              <a:rPr lang="es-ES" altLang="zh-CN" b="1" dirty="0"/>
              <a:t>&gt;&gt;&gt; x, y</a:t>
            </a:r>
          </a:p>
          <a:p>
            <a:pPr marL="0" indent="0">
              <a:buNone/>
            </a:pPr>
            <a:r>
              <a:rPr lang="es-ES" altLang="zh-CN" b="1" dirty="0"/>
              <a:t>(90, 1)</a:t>
            </a:r>
          </a:p>
          <a:p>
            <a:pPr marL="0" indent="0">
              <a:buNone/>
            </a:pPr>
            <a:r>
              <a:rPr lang="es-ES" altLang="zh-CN" b="1" dirty="0"/>
              <a:t>&gt;&gt;&gt; id(x) == id(y)</a:t>
            </a:r>
          </a:p>
          <a:p>
            <a:pPr marL="0" indent="0">
              <a:buNone/>
            </a:pPr>
            <a:r>
              <a:rPr lang="es-ES" altLang="zh-CN" b="1" dirty="0"/>
              <a:t>False</a:t>
            </a:r>
          </a:p>
          <a:p>
            <a:pPr marL="0" indent="0">
              <a:buNone/>
            </a:pPr>
            <a:endParaRPr lang="zh-CN" altLang="en-US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462832E-1D7D-4EDC-A0F5-3FBDCA5D5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1255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1D3C8F-D4B0-4A41-AD0F-3A640F3AE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984" y="764373"/>
            <a:ext cx="10945216" cy="1293028"/>
          </a:xfrm>
        </p:spPr>
        <p:txBody>
          <a:bodyPr/>
          <a:lstStyle/>
          <a:p>
            <a:pPr algn="l"/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D5A307-AE45-4110-BEF8-A449011D8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5440" y="1628801"/>
            <a:ext cx="10945216" cy="4968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altLang="zh-CN" b="1" dirty="0"/>
              <a:t>&gt;&gt;&gt; x = 10000</a:t>
            </a:r>
          </a:p>
          <a:p>
            <a:pPr marL="0" indent="0">
              <a:buNone/>
            </a:pPr>
            <a:r>
              <a:rPr lang="es-ES" altLang="zh-CN" b="1" dirty="0"/>
              <a:t>&gt;&gt;&gt; y = 10000</a:t>
            </a:r>
          </a:p>
          <a:p>
            <a:pPr marL="0" indent="0">
              <a:buNone/>
            </a:pPr>
            <a:r>
              <a:rPr lang="es-ES" altLang="zh-CN" b="1" dirty="0"/>
              <a:t>&gt;&gt;&gt; id(x)</a:t>
            </a:r>
          </a:p>
          <a:p>
            <a:pPr marL="0" indent="0">
              <a:buNone/>
            </a:pPr>
            <a:r>
              <a:rPr lang="es-ES" altLang="zh-CN" b="1" dirty="0"/>
              <a:t>2810706357744</a:t>
            </a:r>
          </a:p>
          <a:p>
            <a:pPr marL="0" indent="0">
              <a:buNone/>
            </a:pPr>
            <a:r>
              <a:rPr lang="es-ES" altLang="zh-CN" b="1" dirty="0"/>
              <a:t>&gt;&gt;&gt; id(y)</a:t>
            </a:r>
          </a:p>
          <a:p>
            <a:pPr marL="0" indent="0">
              <a:buNone/>
            </a:pPr>
            <a:r>
              <a:rPr lang="es-ES" altLang="zh-CN" b="1" dirty="0"/>
              <a:t>2810706357776</a:t>
            </a:r>
          </a:p>
          <a:p>
            <a:pPr marL="0" indent="0">
              <a:buNone/>
            </a:pPr>
            <a:r>
              <a:rPr lang="es-ES" altLang="zh-CN" b="1" dirty="0"/>
              <a:t>&gt;&gt;&gt; x is y</a:t>
            </a:r>
          </a:p>
          <a:p>
            <a:pPr marL="0" indent="0">
              <a:buNone/>
            </a:pPr>
            <a:r>
              <a:rPr lang="es-ES" altLang="zh-CN" b="1" dirty="0"/>
              <a:t>False</a:t>
            </a:r>
          </a:p>
          <a:p>
            <a:pPr marL="0" indent="0">
              <a:buNone/>
            </a:pPr>
            <a:endParaRPr lang="es-ES" altLang="zh-CN" b="1" dirty="0"/>
          </a:p>
          <a:p>
            <a:pPr marL="0" indent="0">
              <a:buNone/>
            </a:pPr>
            <a:r>
              <a:rPr lang="en-US" altLang="zh-CN" sz="3200" b="1" dirty="0"/>
              <a:t>【</a:t>
            </a:r>
            <a:r>
              <a:rPr lang="zh-CN" altLang="en-US" sz="3200" b="1" dirty="0"/>
              <a:t>分析</a:t>
            </a:r>
            <a:r>
              <a:rPr lang="en-US" altLang="zh-CN" sz="3200" b="1" dirty="0"/>
              <a:t>】</a:t>
            </a:r>
            <a:r>
              <a:rPr lang="en-US" altLang="zh-CN" sz="3200" b="1" dirty="0">
                <a:sym typeface="Wingdings" panose="05000000000000000000" pitchFamily="2" charset="2"/>
              </a:rPr>
              <a:t> Python</a:t>
            </a:r>
            <a:r>
              <a:rPr lang="zh-CN" altLang="en-US" sz="3200" b="1" dirty="0">
                <a:sym typeface="Wingdings" panose="05000000000000000000" pitchFamily="2" charset="2"/>
              </a:rPr>
              <a:t>对小整数</a:t>
            </a:r>
            <a:r>
              <a:rPr lang="en-US" altLang="zh-CN" sz="3200" b="1" dirty="0">
                <a:sym typeface="Wingdings" panose="05000000000000000000" pitchFamily="2" charset="2"/>
              </a:rPr>
              <a:t>[-5</a:t>
            </a:r>
            <a:r>
              <a:rPr lang="zh-CN" altLang="en-US" sz="3200" b="1" dirty="0">
                <a:sym typeface="Wingdings" panose="05000000000000000000" pitchFamily="2" charset="2"/>
              </a:rPr>
              <a:t>，</a:t>
            </a:r>
            <a:r>
              <a:rPr lang="en-US" altLang="zh-CN" sz="3200" b="1" dirty="0">
                <a:sym typeface="Wingdings" panose="05000000000000000000" pitchFamily="2" charset="2"/>
              </a:rPr>
              <a:t>256]</a:t>
            </a:r>
            <a:r>
              <a:rPr lang="zh-CN" altLang="en-US" sz="3200" b="1" dirty="0">
                <a:sym typeface="Wingdings" panose="05000000000000000000" pitchFamily="2" charset="2"/>
              </a:rPr>
              <a:t>分配了固定的内存，以便提高效率。其他数据则不固定分配内存</a:t>
            </a:r>
            <a:endParaRPr lang="es-ES" altLang="zh-CN" sz="3200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689E3D7-EC50-4F13-A07A-DAC76FA59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082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7368" y="621060"/>
            <a:ext cx="8610600" cy="1293028"/>
          </a:xfrm>
        </p:spPr>
        <p:txBody>
          <a:bodyPr/>
          <a:lstStyle/>
          <a:p>
            <a:pPr algn="l"/>
            <a:r>
              <a:rPr lang="zh-CN" altLang="en-US" b="1" dirty="0"/>
              <a:t>*实数</a:t>
            </a:r>
            <a:r>
              <a:rPr lang="en-US" altLang="zh-CN" b="1" dirty="0"/>
              <a:t>float</a:t>
            </a:r>
            <a:r>
              <a:rPr lang="zh-CN" altLang="en-US" b="1" dirty="0"/>
              <a:t>的共享引用示例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altLang="zh-CN" b="1" dirty="0"/>
              <a:t>&gt;&gt;&gt; x = 3.1238</a:t>
            </a:r>
          </a:p>
          <a:p>
            <a:pPr marL="0" indent="0">
              <a:buNone/>
            </a:pPr>
            <a:r>
              <a:rPr lang="es-ES" altLang="zh-CN" b="1" dirty="0"/>
              <a:t>&gt;&gt;&gt; y = x</a:t>
            </a:r>
          </a:p>
          <a:p>
            <a:pPr marL="0" indent="0">
              <a:buNone/>
            </a:pPr>
            <a:r>
              <a:rPr lang="es-ES" altLang="zh-CN" b="1" dirty="0"/>
              <a:t>&gt;&gt;&gt; x, y</a:t>
            </a:r>
          </a:p>
          <a:p>
            <a:pPr marL="0" indent="0">
              <a:buNone/>
            </a:pPr>
            <a:r>
              <a:rPr lang="es-ES" altLang="zh-CN" b="1" dirty="0"/>
              <a:t>(3.1238, 3.1238)</a:t>
            </a:r>
          </a:p>
          <a:p>
            <a:pPr marL="0" indent="0">
              <a:buNone/>
            </a:pPr>
            <a:r>
              <a:rPr lang="es-ES" altLang="zh-CN" b="1" dirty="0"/>
              <a:t>&gt;&gt;&gt; id(x) == id(y)</a:t>
            </a:r>
          </a:p>
          <a:p>
            <a:pPr marL="0" indent="0">
              <a:buNone/>
            </a:pPr>
            <a:r>
              <a:rPr lang="es-ES" altLang="zh-CN" b="1" dirty="0"/>
              <a:t>True</a:t>
            </a:r>
          </a:p>
          <a:p>
            <a:pPr marL="0" indent="0">
              <a:buNone/>
            </a:pPr>
            <a:r>
              <a:rPr lang="es-ES" altLang="zh-CN" b="1" dirty="0"/>
              <a:t>&gt;&gt;&gt; x is y</a:t>
            </a:r>
          </a:p>
          <a:p>
            <a:pPr marL="0" indent="0">
              <a:buNone/>
            </a:pPr>
            <a:r>
              <a:rPr lang="es-ES" altLang="zh-CN" b="1" dirty="0"/>
              <a:t>True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altLang="zh-CN" b="1" dirty="0"/>
              <a:t>&gt;&gt;&gt; x = 5.678</a:t>
            </a:r>
          </a:p>
          <a:p>
            <a:pPr marL="0" indent="0">
              <a:buNone/>
            </a:pPr>
            <a:r>
              <a:rPr lang="es-ES" altLang="zh-CN" b="1" dirty="0"/>
              <a:t>&gt;&gt;&gt; x, y</a:t>
            </a:r>
          </a:p>
          <a:p>
            <a:pPr marL="0" indent="0">
              <a:buNone/>
            </a:pPr>
            <a:r>
              <a:rPr lang="es-ES" altLang="zh-CN" b="1" dirty="0"/>
              <a:t>(5.678, 3.1238)</a:t>
            </a:r>
          </a:p>
          <a:p>
            <a:pPr marL="0" indent="0">
              <a:buNone/>
            </a:pPr>
            <a:r>
              <a:rPr lang="es-ES" altLang="zh-CN" b="1" dirty="0"/>
              <a:t>&gt;&gt;&gt; id(x) == id(y)</a:t>
            </a:r>
          </a:p>
          <a:p>
            <a:pPr marL="0" indent="0">
              <a:buNone/>
            </a:pPr>
            <a:r>
              <a:rPr lang="es-ES" altLang="zh-CN" b="1" dirty="0"/>
              <a:t>False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7A9D39-E7C8-495D-AABB-1E5F2B1B2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6102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39316"/>
            <a:ext cx="8610600" cy="1293028"/>
          </a:xfrm>
        </p:spPr>
        <p:txBody>
          <a:bodyPr/>
          <a:lstStyle/>
          <a:p>
            <a:pPr algn="l"/>
            <a:r>
              <a:rPr lang="zh-CN" altLang="en-US" b="1" dirty="0"/>
              <a:t>*复数</a:t>
            </a:r>
            <a:r>
              <a:rPr lang="en-US" altLang="zh-CN" b="1" dirty="0"/>
              <a:t>complex</a:t>
            </a:r>
            <a:r>
              <a:rPr lang="zh-CN" altLang="en-US" b="1" dirty="0"/>
              <a:t>的共享引用示例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altLang="zh-CN" b="1" dirty="0"/>
              <a:t>&gt;&gt;&gt; x = 3+4j</a:t>
            </a:r>
          </a:p>
          <a:p>
            <a:pPr marL="0" indent="0">
              <a:buNone/>
            </a:pPr>
            <a:r>
              <a:rPr lang="es-ES" altLang="zh-CN" b="1" dirty="0"/>
              <a:t>&gt;&gt;&gt; y = x</a:t>
            </a:r>
          </a:p>
          <a:p>
            <a:pPr marL="0" indent="0">
              <a:buNone/>
            </a:pPr>
            <a:r>
              <a:rPr lang="es-ES" altLang="zh-CN" b="1" dirty="0"/>
              <a:t>&gt;&gt;&gt; x, y</a:t>
            </a:r>
          </a:p>
          <a:p>
            <a:pPr marL="0" indent="0">
              <a:buNone/>
            </a:pPr>
            <a:r>
              <a:rPr lang="es-ES" altLang="zh-CN" b="1" dirty="0"/>
              <a:t>((3+4j), (3+4j))</a:t>
            </a:r>
          </a:p>
          <a:p>
            <a:pPr marL="0" indent="0">
              <a:buNone/>
            </a:pPr>
            <a:r>
              <a:rPr lang="es-ES" altLang="zh-CN" b="1" dirty="0"/>
              <a:t>&gt;&gt;&gt; id(x) == id(y)</a:t>
            </a:r>
          </a:p>
          <a:p>
            <a:pPr marL="0" indent="0">
              <a:buNone/>
            </a:pPr>
            <a:r>
              <a:rPr lang="es-ES" altLang="zh-CN" b="1" dirty="0"/>
              <a:t>True</a:t>
            </a:r>
          </a:p>
          <a:p>
            <a:pPr marL="0" indent="0">
              <a:buNone/>
            </a:pPr>
            <a:r>
              <a:rPr lang="es-ES" altLang="zh-CN" b="1" dirty="0"/>
              <a:t>&gt;&gt;&gt; x is y</a:t>
            </a:r>
          </a:p>
          <a:p>
            <a:pPr marL="0" indent="0">
              <a:buNone/>
            </a:pPr>
            <a:r>
              <a:rPr lang="es-ES" altLang="zh-CN" b="1" dirty="0"/>
              <a:t>True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altLang="zh-CN" b="1" dirty="0"/>
              <a:t>&gt;&gt;&gt; x = -2-9j</a:t>
            </a:r>
          </a:p>
          <a:p>
            <a:pPr marL="0" indent="0">
              <a:buNone/>
            </a:pPr>
            <a:r>
              <a:rPr lang="es-ES" altLang="zh-CN" b="1" dirty="0"/>
              <a:t>&gt;&gt;&gt; x, y</a:t>
            </a:r>
          </a:p>
          <a:p>
            <a:pPr marL="0" indent="0">
              <a:buNone/>
            </a:pPr>
            <a:r>
              <a:rPr lang="es-ES" altLang="zh-CN" b="1" dirty="0"/>
              <a:t>((-2-9j), (3+4j))</a:t>
            </a:r>
          </a:p>
          <a:p>
            <a:pPr marL="0" indent="0">
              <a:buNone/>
            </a:pPr>
            <a:r>
              <a:rPr lang="es-ES" altLang="zh-CN" b="1" dirty="0"/>
              <a:t>&gt;&gt;&gt; id(x) == id(y)</a:t>
            </a:r>
          </a:p>
          <a:p>
            <a:pPr marL="0" indent="0">
              <a:buNone/>
            </a:pPr>
            <a:r>
              <a:rPr lang="es-ES" altLang="zh-CN" b="1" dirty="0"/>
              <a:t>False</a:t>
            </a:r>
          </a:p>
          <a:p>
            <a:pPr marL="0" indent="0">
              <a:buNone/>
            </a:pPr>
            <a:endParaRPr lang="zh-CN" altLang="en-US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0E265B2-07E2-4501-9657-A37BA2B60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529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5017" y="476672"/>
            <a:ext cx="8610600" cy="1293028"/>
          </a:xfrm>
        </p:spPr>
        <p:txBody>
          <a:bodyPr/>
          <a:lstStyle/>
          <a:p>
            <a:pPr algn="l"/>
            <a:r>
              <a:rPr lang="zh-CN" altLang="en-US" b="1" dirty="0"/>
              <a:t>*字符串</a:t>
            </a:r>
            <a:r>
              <a:rPr lang="en-US" altLang="zh-CN" b="1" dirty="0"/>
              <a:t>str</a:t>
            </a:r>
            <a:r>
              <a:rPr lang="zh-CN" altLang="en-US" b="1" dirty="0"/>
              <a:t>的共享引用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altLang="zh-CN" b="1" dirty="0"/>
              <a:t>&gt;&gt;&gt; x = 'Hi!'</a:t>
            </a:r>
          </a:p>
          <a:p>
            <a:pPr marL="0" indent="0">
              <a:buNone/>
            </a:pPr>
            <a:r>
              <a:rPr lang="es-ES" altLang="zh-CN" b="1" dirty="0"/>
              <a:t>&gt;&gt;&gt; y = x</a:t>
            </a:r>
          </a:p>
          <a:p>
            <a:pPr marL="0" indent="0">
              <a:buNone/>
            </a:pPr>
            <a:r>
              <a:rPr lang="es-ES" altLang="zh-CN" b="1" dirty="0"/>
              <a:t>&gt;&gt;&gt; x, y</a:t>
            </a:r>
          </a:p>
          <a:p>
            <a:pPr marL="0" indent="0">
              <a:buNone/>
            </a:pPr>
            <a:r>
              <a:rPr lang="es-ES" altLang="zh-CN" b="1" dirty="0"/>
              <a:t>('Hi!', 'Hi!')</a:t>
            </a:r>
          </a:p>
          <a:p>
            <a:pPr marL="0" indent="0">
              <a:buNone/>
            </a:pPr>
            <a:r>
              <a:rPr lang="es-ES" altLang="zh-CN" b="1" dirty="0"/>
              <a:t>&gt;&gt;&gt; id(x) == id(y)</a:t>
            </a:r>
          </a:p>
          <a:p>
            <a:pPr marL="0" indent="0">
              <a:buNone/>
            </a:pPr>
            <a:r>
              <a:rPr lang="es-ES" altLang="zh-CN" b="1" dirty="0"/>
              <a:t>True</a:t>
            </a:r>
          </a:p>
          <a:p>
            <a:pPr marL="0" indent="0">
              <a:buNone/>
            </a:pPr>
            <a:r>
              <a:rPr lang="es-ES" altLang="zh-CN" b="1" dirty="0"/>
              <a:t>&gt;&gt;&gt; x is y</a:t>
            </a:r>
          </a:p>
          <a:p>
            <a:pPr marL="0" indent="0">
              <a:buNone/>
            </a:pPr>
            <a:r>
              <a:rPr lang="es-ES" altLang="zh-CN" b="1" dirty="0"/>
              <a:t>True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altLang="zh-CN" b="1" dirty="0"/>
              <a:t>&gt;&gt;&gt; x = x + 'Bye!'</a:t>
            </a:r>
          </a:p>
          <a:p>
            <a:pPr marL="0" indent="0">
              <a:buNone/>
            </a:pPr>
            <a:r>
              <a:rPr lang="es-ES" altLang="zh-CN" b="1" dirty="0"/>
              <a:t>&gt;&gt;&gt; x, y</a:t>
            </a:r>
          </a:p>
          <a:p>
            <a:pPr marL="0" indent="0">
              <a:buNone/>
            </a:pPr>
            <a:r>
              <a:rPr lang="es-ES" altLang="zh-CN" b="1" dirty="0"/>
              <a:t>('Hi!Bye!', 'Hi!')</a:t>
            </a:r>
          </a:p>
          <a:p>
            <a:pPr marL="0" indent="0">
              <a:buNone/>
            </a:pPr>
            <a:r>
              <a:rPr lang="es-ES" altLang="zh-CN" b="1" dirty="0"/>
              <a:t>&gt;&gt;&gt; id(x) == id(y)</a:t>
            </a:r>
          </a:p>
          <a:p>
            <a:pPr marL="0" indent="0">
              <a:buNone/>
            </a:pPr>
            <a:r>
              <a:rPr lang="es-ES" altLang="zh-CN" b="1" dirty="0"/>
              <a:t>False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8F05849-5ED8-45BA-9A6D-640DEC680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30139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42144"/>
            <a:ext cx="11314856" cy="1293028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b="1" dirty="0"/>
              <a:t>*元组</a:t>
            </a:r>
            <a:r>
              <a:rPr lang="en-US" altLang="zh-CN" sz="3600" b="1" dirty="0"/>
              <a:t>tuple</a:t>
            </a:r>
            <a:r>
              <a:rPr lang="zh-CN" altLang="en-US" sz="3600" b="1" dirty="0"/>
              <a:t>的共享引用</a:t>
            </a:r>
            <a:r>
              <a:rPr lang="en-US" altLang="zh-CN" sz="3600" b="1" dirty="0"/>
              <a:t>——</a:t>
            </a:r>
            <a:r>
              <a:rPr lang="zh-CN" altLang="zh-CN" sz="3600" b="1" dirty="0"/>
              <a:t>元组值是不可变数据类型</a:t>
            </a:r>
            <a:endParaRPr lang="zh-CN" altLang="en-US" sz="3600" b="1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772817"/>
            <a:ext cx="5194176" cy="4445868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1" dirty="0"/>
              <a:t>&gt;&gt;&gt; x = (1, 2, 3)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1" dirty="0"/>
              <a:t>&gt;&gt;&gt; y = x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1" dirty="0"/>
              <a:t>&gt;&gt;&gt; x, 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1" dirty="0"/>
              <a:t>((1, 2, 3), (1, 2, 3))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1" dirty="0"/>
              <a:t>&gt;&gt;&gt; x == 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1" dirty="0"/>
              <a:t>True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1" dirty="0"/>
              <a:t>&gt;&gt;&gt; id(x) == id(y)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1" dirty="0"/>
              <a:t>True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1" dirty="0"/>
              <a:t>&gt;&gt;&gt; x is 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1" dirty="0"/>
              <a:t>True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23992" y="1772817"/>
            <a:ext cx="5976664" cy="4445868"/>
          </a:xfrm>
          <a:solidFill>
            <a:schemeClr val="bg1">
              <a:lumMod val="85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b="1" dirty="0"/>
              <a:t>&gt;&gt;&gt; x = (6,7,8)</a:t>
            </a:r>
          </a:p>
          <a:p>
            <a:pPr marL="0" indent="0">
              <a:buNone/>
            </a:pPr>
            <a:r>
              <a:rPr lang="en-US" altLang="zh-CN" b="1" dirty="0"/>
              <a:t>&gt;&gt;&gt; x, y</a:t>
            </a:r>
          </a:p>
          <a:p>
            <a:pPr marL="0" indent="0">
              <a:buNone/>
            </a:pPr>
            <a:r>
              <a:rPr lang="en-US" altLang="zh-CN" b="1" dirty="0"/>
              <a:t>((6, 7, 8), (1, 2, 3))</a:t>
            </a:r>
          </a:p>
          <a:p>
            <a:pPr marL="0" indent="0">
              <a:buNone/>
            </a:pPr>
            <a:r>
              <a:rPr lang="en-US" altLang="zh-CN" b="1" dirty="0"/>
              <a:t>&gt;&gt;&gt; x == y</a:t>
            </a:r>
          </a:p>
          <a:p>
            <a:pPr marL="0" indent="0">
              <a:buNone/>
            </a:pPr>
            <a:r>
              <a:rPr lang="en-US" altLang="zh-CN" b="1" dirty="0"/>
              <a:t>False</a:t>
            </a:r>
          </a:p>
          <a:p>
            <a:pPr marL="0" indent="0">
              <a:buNone/>
            </a:pPr>
            <a:r>
              <a:rPr lang="en-US" altLang="zh-CN" b="1" dirty="0"/>
              <a:t>&gt;&gt;&gt; id(x) == id(y)</a:t>
            </a:r>
          </a:p>
          <a:p>
            <a:pPr marL="0" indent="0">
              <a:buNone/>
            </a:pPr>
            <a:r>
              <a:rPr lang="en-US" altLang="zh-CN" b="1" dirty="0"/>
              <a:t>False</a:t>
            </a:r>
          </a:p>
          <a:p>
            <a:pPr marL="0" indent="0">
              <a:buNone/>
            </a:pPr>
            <a:r>
              <a:rPr lang="en-US" altLang="zh-CN" b="1" dirty="0"/>
              <a:t>&gt;&gt;&gt; x[1] = 100     #</a:t>
            </a:r>
            <a:r>
              <a:rPr lang="zh-CN" altLang="en-US" b="1" dirty="0"/>
              <a:t>元组不可赋值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Traceback (most recent call last):</a:t>
            </a:r>
          </a:p>
          <a:p>
            <a:pPr marL="0" indent="0">
              <a:buNone/>
            </a:pPr>
            <a:r>
              <a:rPr lang="en-US" altLang="zh-CN" b="1" dirty="0" err="1"/>
              <a:t>TypeError</a:t>
            </a:r>
            <a:r>
              <a:rPr lang="en-US" altLang="zh-CN" b="1" dirty="0"/>
              <a:t>: 'tuple' object does not support item assignment</a:t>
            </a:r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endParaRPr lang="zh-CN" altLang="en-US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12C59AA-0DA5-4D34-98DE-BB3F16EE7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0745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9376" y="363877"/>
            <a:ext cx="11026824" cy="688859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b="1" dirty="0"/>
              <a:t>*元组</a:t>
            </a:r>
            <a:r>
              <a:rPr lang="en-US" altLang="zh-CN" sz="3600" b="1" dirty="0"/>
              <a:t>tuple</a:t>
            </a:r>
            <a:r>
              <a:rPr lang="zh-CN" altLang="en-US" sz="3600" b="1" dirty="0"/>
              <a:t>的共享引用</a:t>
            </a:r>
            <a:r>
              <a:rPr lang="en-US" altLang="zh-CN" sz="3600" b="1" dirty="0"/>
              <a:t>——</a:t>
            </a:r>
            <a:r>
              <a:rPr lang="zh-CN" altLang="en-US" sz="3600" b="1" dirty="0"/>
              <a:t>元组值是可变数据类型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79376" y="1340768"/>
            <a:ext cx="5540424" cy="4877917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b="1" dirty="0"/>
              <a:t>&gt;&gt;&gt; x = (1, 3, [10, 11])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b="1" dirty="0"/>
              <a:t>&gt;&gt;&gt; y = x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b="1" dirty="0"/>
              <a:t>&gt;&gt;&gt; x, y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b="1" dirty="0"/>
              <a:t>((1, 3, [10, 11]), (1, 3, [10, 11]))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b="1" dirty="0"/>
              <a:t>&gt;&gt;&gt; x == y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b="1" dirty="0"/>
              <a:t>True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b="1" dirty="0"/>
              <a:t>&gt;&gt;&gt; id(x)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b="1" dirty="0"/>
              <a:t>1501033441536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b="1" dirty="0"/>
              <a:t>&gt;&gt;&gt; id(y)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b="1" dirty="0"/>
              <a:t>1501033441536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b="1" dirty="0"/>
              <a:t>&gt;&gt;&gt; id(x) == id(y)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b="1" dirty="0"/>
              <a:t>True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b="1" dirty="0"/>
              <a:t>&gt;&gt;&gt; x is y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b="1" dirty="0"/>
              <a:t>True</a:t>
            </a:r>
            <a:endParaRPr lang="zh-CN" altLang="en-US" sz="2000" b="1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2" y="1340769"/>
            <a:ext cx="5333998" cy="4877916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dirty="0"/>
              <a:t>&gt;&gt;&gt; x[2][0] = 99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dirty="0"/>
              <a:t>&gt;&gt;&gt; x, y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dirty="0"/>
              <a:t>((1, 3, [99, 11]), (1, 3, [99, 11]))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dirty="0"/>
              <a:t>&gt;&gt;&gt; x == y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dirty="0"/>
              <a:t>True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dirty="0"/>
              <a:t>&gt;&gt;&gt; id(x) == id(y)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dirty="0"/>
              <a:t>True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dirty="0"/>
              <a:t>&gt;&gt;&gt; id(x)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dirty="0"/>
              <a:t>1501033441536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dirty="0"/>
              <a:t>&gt;&gt;&gt; x is y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dirty="0"/>
              <a:t>True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b="1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b="1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2000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2A2E754-2BCB-4DEF-8371-8F33596B9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09531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7690825F-4C73-4AE5-B43E-1A6AF217D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79" y="3356992"/>
            <a:ext cx="10373497" cy="310867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5360" y="260648"/>
            <a:ext cx="11665296" cy="864096"/>
          </a:xfrm>
        </p:spPr>
        <p:txBody>
          <a:bodyPr>
            <a:normAutofit fontScale="90000"/>
          </a:bodyPr>
          <a:lstStyle/>
          <a:p>
            <a:r>
              <a:rPr lang="zh-CN" altLang="en-US" sz="4400" b="1" dirty="0"/>
              <a:t>*</a:t>
            </a:r>
            <a:r>
              <a:rPr lang="zh-CN" altLang="en-US" dirty="0"/>
              <a:t>元组</a:t>
            </a:r>
            <a:r>
              <a:rPr lang="en-US" altLang="zh-CN" dirty="0"/>
              <a:t>tuple</a:t>
            </a:r>
            <a:r>
              <a:rPr lang="zh-CN" altLang="en-US" dirty="0"/>
              <a:t>的共享引用：元组值是可变数据类型</a:t>
            </a:r>
          </a:p>
        </p:txBody>
      </p:sp>
      <p:sp>
        <p:nvSpPr>
          <p:cNvPr id="10" name="线形标注 3 9"/>
          <p:cNvSpPr/>
          <p:nvPr/>
        </p:nvSpPr>
        <p:spPr>
          <a:xfrm flipH="1">
            <a:off x="6960095" y="1736209"/>
            <a:ext cx="3265835" cy="684679"/>
          </a:xfrm>
          <a:prstGeom prst="borderCallout3">
            <a:avLst>
              <a:gd name="adj1" fmla="val 18750"/>
              <a:gd name="adj2" fmla="val -986"/>
              <a:gd name="adj3" fmla="val 18750"/>
              <a:gd name="adj4" fmla="val -16667"/>
              <a:gd name="adj5" fmla="val 100000"/>
              <a:gd name="adj6" fmla="val -16667"/>
              <a:gd name="adj7" fmla="val 530680"/>
              <a:gd name="adj8" fmla="val 22057"/>
            </a:avLst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dirty="0">
                <a:solidFill>
                  <a:schemeClr val="tx1"/>
                </a:solidFill>
              </a:rPr>
              <a:t>&gt;&gt;&gt; x[2][0] = 99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E818D6-32D7-46CC-B01B-93CAB8A96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63922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b="1" dirty="0"/>
              <a:t>*</a:t>
            </a:r>
            <a:r>
              <a:rPr lang="zh-CN" altLang="en-US" dirty="0"/>
              <a:t>列表、字典、集合的共享引用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列表、字典、集合的元素</a:t>
            </a:r>
            <a:r>
              <a:rPr lang="en-US" altLang="zh-CN" dirty="0"/>
              <a:t>:</a:t>
            </a:r>
          </a:p>
          <a:p>
            <a:pPr lvl="1"/>
            <a:r>
              <a:rPr lang="zh-CN" altLang="en-US" dirty="0"/>
              <a:t>是不可变数据时，改变某个元素值时，数据存储空间的位置不变，数据值发生改变。</a:t>
            </a:r>
            <a:endParaRPr lang="en-US" altLang="zh-CN" dirty="0"/>
          </a:p>
          <a:p>
            <a:pPr lvl="1"/>
            <a:r>
              <a:rPr lang="zh-CN" altLang="en-US" dirty="0"/>
              <a:t>是可变数据时，赋值操作改变某个可变数据元素值时，值的变化就会各不相同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366D83-3F1E-4D39-B50D-77DC3DB98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5210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85800" y="476672"/>
            <a:ext cx="10820400" cy="1293028"/>
          </a:xfrm>
        </p:spPr>
        <p:txBody>
          <a:bodyPr/>
          <a:lstStyle/>
          <a:p>
            <a:pPr algn="l"/>
            <a:r>
              <a:rPr lang="zh-CN" altLang="en-US" sz="4400" b="1" dirty="0"/>
              <a:t>*</a:t>
            </a:r>
            <a:r>
              <a:rPr lang="zh-CN" altLang="es-ES" sz="4400" b="1" dirty="0">
                <a:latin typeface="黑体" panose="02010609060101010101" pitchFamily="49" charset="-122"/>
                <a:ea typeface="黑体" panose="02010609060101010101" pitchFamily="49" charset="-122"/>
              </a:rPr>
              <a:t>列表的共享引用示例</a:t>
            </a:r>
            <a:r>
              <a:rPr lang="en-US" altLang="zh-CN" sz="4400" b="1" dirty="0"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endParaRPr lang="zh-CN" altLang="en-US" sz="4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half"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altLang="zh-CN" sz="2400" b="1" dirty="0"/>
              <a:t>&gt;&gt;&gt; x = [1, 2, 3]</a:t>
            </a:r>
          </a:p>
          <a:p>
            <a:pPr marL="0" indent="0">
              <a:buNone/>
            </a:pPr>
            <a:r>
              <a:rPr lang="es-ES" altLang="zh-CN" sz="2400" b="1" dirty="0"/>
              <a:t>&gt;&gt;&gt; y = x</a:t>
            </a:r>
          </a:p>
          <a:p>
            <a:pPr marL="0" indent="0">
              <a:buNone/>
            </a:pPr>
            <a:r>
              <a:rPr lang="es-ES" altLang="zh-CN" sz="2400" b="1" dirty="0"/>
              <a:t>&gt;&gt;&gt; x, y</a:t>
            </a:r>
          </a:p>
          <a:p>
            <a:pPr marL="0" indent="0">
              <a:buNone/>
            </a:pPr>
            <a:r>
              <a:rPr lang="es-ES" altLang="zh-CN" sz="2400" b="1" dirty="0"/>
              <a:t>([1, 2, 3], [1, 2, 3])</a:t>
            </a:r>
          </a:p>
          <a:p>
            <a:pPr marL="0" indent="0">
              <a:buNone/>
            </a:pPr>
            <a:r>
              <a:rPr lang="es-ES" altLang="zh-CN" sz="2400" b="1" dirty="0"/>
              <a:t>&gt;&gt;&gt; id(x), id(y)</a:t>
            </a:r>
          </a:p>
          <a:p>
            <a:pPr marL="0" indent="0">
              <a:buNone/>
            </a:pPr>
            <a:r>
              <a:rPr lang="es-ES" altLang="zh-CN" sz="2400" b="1" dirty="0"/>
              <a:t>(2349538144328, 2349538144328)</a:t>
            </a:r>
          </a:p>
          <a:p>
            <a:pPr marL="0" indent="0">
              <a:buNone/>
            </a:pPr>
            <a:endParaRPr lang="zh-CN" altLang="en-US" sz="2400" b="1" dirty="0"/>
          </a:p>
        </p:txBody>
      </p:sp>
      <p:sp>
        <p:nvSpPr>
          <p:cNvPr id="9" name="内容占位符 8"/>
          <p:cNvSpPr>
            <a:spLocks noGrp="1"/>
          </p:cNvSpPr>
          <p:nvPr>
            <p:ph sz="half" idx="2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altLang="zh-CN" sz="2400" b="1" dirty="0"/>
              <a:t>&gt;&gt;&gt; x[1] = 100</a:t>
            </a:r>
          </a:p>
          <a:p>
            <a:pPr marL="0" indent="0">
              <a:buNone/>
            </a:pPr>
            <a:r>
              <a:rPr lang="es-ES" altLang="zh-CN" sz="2400" b="1" dirty="0"/>
              <a:t>&gt;&gt;&gt; x, y</a:t>
            </a:r>
          </a:p>
          <a:p>
            <a:pPr marL="0" indent="0">
              <a:buNone/>
            </a:pPr>
            <a:r>
              <a:rPr lang="es-ES" altLang="zh-CN" sz="2400" b="1" dirty="0"/>
              <a:t>([1, 100, 3], [1, 100, 3])</a:t>
            </a:r>
          </a:p>
          <a:p>
            <a:pPr marL="0" indent="0">
              <a:buNone/>
            </a:pPr>
            <a:r>
              <a:rPr lang="es-ES" altLang="zh-CN" sz="2400" b="1" dirty="0"/>
              <a:t>&gt;&gt;&gt; id(x), id(y)</a:t>
            </a:r>
          </a:p>
          <a:p>
            <a:pPr marL="0" indent="0">
              <a:buNone/>
            </a:pPr>
            <a:r>
              <a:rPr lang="es-ES" altLang="zh-CN" sz="2400" b="1" dirty="0"/>
              <a:t>(2349538144328, 2349538144328)</a:t>
            </a:r>
          </a:p>
          <a:p>
            <a:pPr marL="0" indent="0">
              <a:buNone/>
            </a:pPr>
            <a:r>
              <a:rPr lang="es-ES" altLang="zh-CN" sz="2400" b="1" dirty="0"/>
              <a:t>&gt;&gt;&gt; x is y</a:t>
            </a:r>
          </a:p>
          <a:p>
            <a:pPr marL="0" indent="0">
              <a:buNone/>
            </a:pPr>
            <a:r>
              <a:rPr lang="es-ES" altLang="zh-CN" sz="2400" b="1" dirty="0"/>
              <a:t>True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C6FD3E5-D634-4C40-9CD5-D23F5A58B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697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字典的共享引用示例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9930" y="1196752"/>
            <a:ext cx="4489966" cy="5144663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/>
              <a:t>&gt;&gt;&gt; </a:t>
            </a:r>
            <a:r>
              <a:rPr lang="en-US" altLang="zh-CN" b="1" dirty="0" err="1"/>
              <a:t>i</a:t>
            </a:r>
            <a:r>
              <a:rPr lang="en-US" altLang="zh-CN" b="1" dirty="0"/>
              <a:t> = {'F':1, 'H':2, 'Y':3}</a:t>
            </a:r>
          </a:p>
          <a:p>
            <a:pPr marL="0" indent="0">
              <a:buNone/>
            </a:pPr>
            <a:r>
              <a:rPr lang="en-US" altLang="zh-CN" b="1" dirty="0"/>
              <a:t>&gt;&gt;&gt; j = </a:t>
            </a:r>
            <a:r>
              <a:rPr lang="en-US" altLang="zh-CN" b="1" dirty="0" err="1"/>
              <a:t>i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&gt;&gt;&gt; </a:t>
            </a:r>
            <a:r>
              <a:rPr lang="en-US" altLang="zh-CN" b="1" dirty="0" err="1"/>
              <a:t>i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{'Y': 3, 'H': 2, 'F': 1}</a:t>
            </a:r>
          </a:p>
          <a:p>
            <a:pPr marL="0" indent="0">
              <a:buNone/>
            </a:pPr>
            <a:r>
              <a:rPr lang="en-US" altLang="zh-CN" b="1" dirty="0"/>
              <a:t>&gt;&gt;&gt; j</a:t>
            </a:r>
          </a:p>
          <a:p>
            <a:pPr marL="0" indent="0">
              <a:buNone/>
            </a:pPr>
            <a:r>
              <a:rPr lang="en-US" altLang="zh-CN" b="1" dirty="0"/>
              <a:t>{'Y': 3, 'H': 2, 'F': 1}</a:t>
            </a:r>
          </a:p>
          <a:p>
            <a:pPr marL="0" indent="0">
              <a:buNone/>
            </a:pPr>
            <a:r>
              <a:rPr lang="en-US" altLang="zh-CN" b="1" dirty="0"/>
              <a:t>&gt;&gt;&gt; id(</a:t>
            </a:r>
            <a:r>
              <a:rPr lang="en-US" altLang="zh-CN" b="1" dirty="0" err="1"/>
              <a:t>i</a:t>
            </a:r>
            <a:r>
              <a:rPr lang="en-US" altLang="zh-CN" b="1" dirty="0"/>
              <a:t>), id(j)</a:t>
            </a:r>
          </a:p>
          <a:p>
            <a:pPr marL="0" indent="0">
              <a:buNone/>
            </a:pPr>
            <a:r>
              <a:rPr lang="en-US" altLang="zh-CN" b="1" dirty="0"/>
              <a:t>(2349538516360, 2349538516360)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07968" y="1196752"/>
            <a:ext cx="5714151" cy="5144663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/>
              <a:t>&gt;&gt;&gt; </a:t>
            </a:r>
            <a:r>
              <a:rPr lang="en-US" altLang="zh-CN" b="1" dirty="0" err="1"/>
              <a:t>i</a:t>
            </a:r>
            <a:r>
              <a:rPr lang="en-US" altLang="zh-CN" b="1" dirty="0"/>
              <a:t>['F'] = 99</a:t>
            </a:r>
          </a:p>
          <a:p>
            <a:pPr marL="0" indent="0">
              <a:buNone/>
            </a:pPr>
            <a:r>
              <a:rPr lang="en-US" altLang="zh-CN" b="1" dirty="0"/>
              <a:t>&gt;&gt;&gt; </a:t>
            </a:r>
            <a:r>
              <a:rPr lang="en-US" altLang="zh-CN" b="1" dirty="0" err="1"/>
              <a:t>i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{'Y': 3, 'H': 2, 'F': 99}</a:t>
            </a:r>
          </a:p>
          <a:p>
            <a:pPr marL="0" indent="0">
              <a:buNone/>
            </a:pPr>
            <a:r>
              <a:rPr lang="en-US" altLang="zh-CN" b="1" dirty="0"/>
              <a:t>&gt;&gt;&gt; j</a:t>
            </a:r>
          </a:p>
          <a:p>
            <a:pPr marL="0" indent="0">
              <a:buNone/>
            </a:pPr>
            <a:r>
              <a:rPr lang="en-US" altLang="zh-CN" b="1" dirty="0"/>
              <a:t>{'Y': 3, 'H': 2, 'F': 99}</a:t>
            </a:r>
          </a:p>
          <a:p>
            <a:pPr marL="0" indent="0">
              <a:buNone/>
            </a:pPr>
            <a:r>
              <a:rPr lang="en-US" altLang="zh-CN" b="1" dirty="0"/>
              <a:t>&gt;&gt;&gt; id(</a:t>
            </a:r>
            <a:r>
              <a:rPr lang="en-US" altLang="zh-CN" b="1" dirty="0" err="1"/>
              <a:t>i</a:t>
            </a:r>
            <a:r>
              <a:rPr lang="en-US" altLang="zh-CN" b="1" dirty="0"/>
              <a:t>), id(j)</a:t>
            </a:r>
          </a:p>
          <a:p>
            <a:pPr marL="0" indent="0">
              <a:buNone/>
            </a:pPr>
            <a:r>
              <a:rPr lang="en-US" altLang="zh-CN" b="1" dirty="0"/>
              <a:t>(2349538516360, 2349538516360)</a:t>
            </a:r>
          </a:p>
          <a:p>
            <a:pPr marL="0" indent="0">
              <a:buNone/>
            </a:pPr>
            <a:r>
              <a:rPr lang="en-US" altLang="zh-CN" b="1" dirty="0"/>
              <a:t>&gt;&gt;&gt; </a:t>
            </a:r>
            <a:r>
              <a:rPr lang="en-US" altLang="zh-CN" b="1" dirty="0" err="1"/>
              <a:t>i</a:t>
            </a:r>
            <a:r>
              <a:rPr lang="en-US" altLang="zh-CN" b="1" dirty="0"/>
              <a:t> is j</a:t>
            </a:r>
          </a:p>
          <a:p>
            <a:pPr marL="0" indent="0">
              <a:buNone/>
            </a:pPr>
            <a:r>
              <a:rPr lang="en-US" altLang="zh-CN" b="1" dirty="0"/>
              <a:t>True</a:t>
            </a:r>
          </a:p>
          <a:p>
            <a:pPr marL="0" indent="0">
              <a:buNone/>
            </a:pPr>
            <a:endParaRPr lang="zh-CN" altLang="en-US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BD23DD-DA85-45E8-84A3-7CAC8860C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6" name="标题 6">
            <a:extLst>
              <a:ext uri="{FF2B5EF4-FFF2-40B4-BE49-F238E27FC236}">
                <a16:creationId xmlns:a16="http://schemas.microsoft.com/office/drawing/2014/main" id="{15251EB5-C9B9-4B10-80B1-AB65007D0969}"/>
              </a:ext>
            </a:extLst>
          </p:cNvPr>
          <p:cNvSpPr txBox="1">
            <a:spLocks/>
          </p:cNvSpPr>
          <p:nvPr/>
        </p:nvSpPr>
        <p:spPr>
          <a:xfrm>
            <a:off x="654453" y="100320"/>
            <a:ext cx="108204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400" b="1" dirty="0"/>
              <a:t>*</a:t>
            </a:r>
            <a:r>
              <a:rPr lang="zh-CN" altLang="es-ES" sz="4400" b="1" dirty="0">
                <a:latin typeface="黑体" panose="02010609060101010101" pitchFamily="49" charset="-122"/>
                <a:ea typeface="黑体" panose="02010609060101010101" pitchFamily="49" charset="-122"/>
              </a:rPr>
              <a:t>列表的共享引用示例</a:t>
            </a:r>
            <a:r>
              <a:rPr lang="en-US" altLang="zh-CN" sz="4400" b="1" dirty="0">
                <a:latin typeface="黑体" panose="02010609060101010101" pitchFamily="49" charset="-122"/>
                <a:ea typeface="黑体" panose="02010609060101010101" pitchFamily="49" charset="-122"/>
              </a:rPr>
              <a:t>-2</a:t>
            </a:r>
            <a:endParaRPr lang="zh-CN" altLang="en-US" sz="4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60254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1384" y="476672"/>
            <a:ext cx="8610600" cy="1293028"/>
          </a:xfrm>
        </p:spPr>
        <p:txBody>
          <a:bodyPr>
            <a:normAutofit/>
          </a:bodyPr>
          <a:lstStyle/>
          <a:p>
            <a:pPr algn="l"/>
            <a:r>
              <a:rPr lang="zh-CN" altLang="en-US" sz="4400" b="1" dirty="0"/>
              <a:t>*</a:t>
            </a:r>
            <a:r>
              <a:rPr lang="zh-CN" altLang="en-US" sz="4400" b="1" dirty="0">
                <a:latin typeface="黑体" panose="02010609060101010101" pitchFamily="49" charset="-122"/>
                <a:ea typeface="黑体" panose="02010609060101010101" pitchFamily="49" charset="-122"/>
              </a:rPr>
              <a:t>集合的共享引用示例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/>
              <a:t>&gt;&gt;&gt; m = {3, 4, 5}</a:t>
            </a:r>
          </a:p>
          <a:p>
            <a:pPr marL="0" indent="0">
              <a:buNone/>
            </a:pPr>
            <a:r>
              <a:rPr lang="en-US" altLang="zh-CN" b="1" dirty="0"/>
              <a:t>&gt;&gt;&gt; n = m</a:t>
            </a:r>
          </a:p>
          <a:p>
            <a:pPr marL="0" indent="0">
              <a:buNone/>
            </a:pPr>
            <a:r>
              <a:rPr lang="en-US" altLang="zh-CN" b="1" dirty="0"/>
              <a:t>&gt;&gt;&gt; m, n</a:t>
            </a:r>
          </a:p>
          <a:p>
            <a:pPr marL="0" indent="0">
              <a:buNone/>
            </a:pPr>
            <a:r>
              <a:rPr lang="en-US" altLang="zh-CN" b="1" dirty="0"/>
              <a:t>({3, 4, 5}, {3, 4, 5})</a:t>
            </a:r>
          </a:p>
          <a:p>
            <a:pPr marL="0" indent="0">
              <a:buNone/>
            </a:pPr>
            <a:r>
              <a:rPr lang="en-US" altLang="zh-CN" b="1" dirty="0"/>
              <a:t>&gt;&gt;&gt; id(m), id(n)</a:t>
            </a:r>
          </a:p>
          <a:p>
            <a:pPr marL="0" indent="0">
              <a:buNone/>
            </a:pPr>
            <a:r>
              <a:rPr lang="en-US" altLang="zh-CN" b="1" dirty="0"/>
              <a:t>(2349538945064, 2349538945064)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altLang="zh-CN" b="1" dirty="0"/>
              <a:t>&gt;&gt;&gt; m.add(99)</a:t>
            </a:r>
          </a:p>
          <a:p>
            <a:pPr marL="0" indent="0">
              <a:buNone/>
            </a:pPr>
            <a:r>
              <a:rPr lang="pt-BR" altLang="zh-CN" b="1" dirty="0"/>
              <a:t>&gt;&gt;&gt; m, n</a:t>
            </a:r>
          </a:p>
          <a:p>
            <a:pPr marL="0" indent="0">
              <a:buNone/>
            </a:pPr>
            <a:r>
              <a:rPr lang="pt-BR" altLang="zh-CN" b="1" dirty="0"/>
              <a:t>({99, 3, 4, 5}, {99, 3, 4, 5})</a:t>
            </a:r>
          </a:p>
          <a:p>
            <a:pPr marL="0" indent="0">
              <a:buNone/>
            </a:pPr>
            <a:r>
              <a:rPr lang="pt-BR" altLang="zh-CN" b="1" dirty="0"/>
              <a:t>&gt;&gt;&gt; id(m), id(n)</a:t>
            </a:r>
          </a:p>
          <a:p>
            <a:pPr marL="0" indent="0">
              <a:buNone/>
            </a:pPr>
            <a:r>
              <a:rPr lang="pt-BR" altLang="zh-CN" b="1" dirty="0"/>
              <a:t>(2349538945064, 2349538945064)</a:t>
            </a:r>
          </a:p>
          <a:p>
            <a:pPr marL="0" indent="0">
              <a:buNone/>
            </a:pPr>
            <a:r>
              <a:rPr lang="pt-BR" altLang="zh-CN" b="1" dirty="0"/>
              <a:t>&gt;&gt;&gt; m is n</a:t>
            </a:r>
          </a:p>
          <a:p>
            <a:pPr marL="0" indent="0">
              <a:buNone/>
            </a:pPr>
            <a:r>
              <a:rPr lang="pt-BR" altLang="zh-CN" b="1" dirty="0"/>
              <a:t>True</a:t>
            </a:r>
            <a:endParaRPr lang="zh-CN" altLang="en-US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414FE1D-99D2-4233-A1E0-E47D00261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47719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344" y="146921"/>
            <a:ext cx="9793088" cy="1293028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4400" b="1" dirty="0"/>
              <a:t>*</a:t>
            </a:r>
            <a:r>
              <a:rPr lang="zh-CN" altLang="en-US" sz="4400" b="1" dirty="0">
                <a:latin typeface="黑体" panose="02010609060101010101" pitchFamily="49" charset="-122"/>
                <a:ea typeface="黑体" panose="02010609060101010101" pitchFamily="49" charset="-122"/>
              </a:rPr>
              <a:t>列表、</a:t>
            </a:r>
            <a:r>
              <a:rPr lang="zh-CN" altLang="en-US" sz="4900" b="1" dirty="0">
                <a:latin typeface="黑体" panose="02010609060101010101" pitchFamily="49" charset="-122"/>
                <a:ea typeface="黑体" panose="02010609060101010101" pitchFamily="49" charset="-122"/>
              </a:rPr>
              <a:t>字典</a:t>
            </a:r>
            <a:r>
              <a:rPr lang="zh-CN" altLang="en-US" sz="4400" b="1" dirty="0">
                <a:latin typeface="黑体" panose="02010609060101010101" pitchFamily="49" charset="-122"/>
                <a:ea typeface="黑体" panose="02010609060101010101" pitchFamily="49" charset="-122"/>
              </a:rPr>
              <a:t>、集合的元素是可变数据（</a:t>
            </a:r>
            <a:r>
              <a:rPr lang="en-US" altLang="zh-CN" sz="44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44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04877" y="1196752"/>
            <a:ext cx="5334000" cy="4024125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/>
              <a:t>&gt;&gt;&gt; x = [1, 2, [9, 10]]</a:t>
            </a:r>
          </a:p>
          <a:p>
            <a:pPr marL="0" indent="0">
              <a:buNone/>
            </a:pPr>
            <a:r>
              <a:rPr lang="en-US" altLang="zh-CN" b="1" dirty="0"/>
              <a:t>&gt;&gt;&gt; y = x</a:t>
            </a:r>
          </a:p>
          <a:p>
            <a:pPr marL="0" indent="0">
              <a:buNone/>
            </a:pPr>
            <a:r>
              <a:rPr lang="en-US" altLang="zh-CN" b="1" dirty="0"/>
              <a:t>&gt;&gt;&gt; id(x), id(y)</a:t>
            </a:r>
          </a:p>
          <a:p>
            <a:pPr marL="0" indent="0">
              <a:buNone/>
            </a:pPr>
            <a:r>
              <a:rPr lang="en-US" altLang="zh-CN" b="1" dirty="0"/>
              <a:t>(2349539132360, 2349539132360)</a:t>
            </a:r>
          </a:p>
          <a:p>
            <a:pPr marL="0" indent="0">
              <a:buNone/>
            </a:pPr>
            <a:r>
              <a:rPr lang="en-US" altLang="zh-CN" b="1" dirty="0"/>
              <a:t>&gt;&gt;&gt; x=x+[4]         #</a:t>
            </a:r>
            <a:r>
              <a:rPr lang="zh-CN" altLang="en-US" b="1" dirty="0"/>
              <a:t>发生了浅复制</a:t>
            </a:r>
          </a:p>
          <a:p>
            <a:pPr marL="0" indent="0">
              <a:buNone/>
            </a:pPr>
            <a:r>
              <a:rPr lang="en-US" altLang="zh-CN" b="1" dirty="0"/>
              <a:t>&gt;&gt;&gt; x</a:t>
            </a:r>
          </a:p>
          <a:p>
            <a:pPr marL="0" indent="0">
              <a:buNone/>
            </a:pPr>
            <a:r>
              <a:rPr lang="en-US" altLang="zh-CN" b="1" dirty="0"/>
              <a:t>[1, 2, [9, 10], 4]</a:t>
            </a:r>
          </a:p>
          <a:p>
            <a:pPr marL="0" indent="0">
              <a:buNone/>
            </a:pPr>
            <a:r>
              <a:rPr lang="en-US" altLang="zh-CN" b="1" dirty="0"/>
              <a:t>&gt;&gt;&gt; y</a:t>
            </a:r>
          </a:p>
          <a:p>
            <a:pPr marL="0" indent="0">
              <a:buNone/>
            </a:pPr>
            <a:r>
              <a:rPr lang="en-US" altLang="zh-CN" b="1" dirty="0"/>
              <a:t>[1, 2, [9, 10]]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8877" y="1196752"/>
            <a:ext cx="5283242" cy="18000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/>
              <a:t>&gt;&gt;&gt; id(x), id(y)</a:t>
            </a:r>
          </a:p>
          <a:p>
            <a:pPr marL="0" indent="0">
              <a:buNone/>
            </a:pPr>
            <a:r>
              <a:rPr lang="en-US" altLang="zh-CN" b="1" dirty="0"/>
              <a:t>(2349539131656, </a:t>
            </a:r>
          </a:p>
          <a:p>
            <a:pPr marL="0" indent="0">
              <a:buNone/>
            </a:pPr>
            <a:r>
              <a:rPr lang="en-US" altLang="zh-CN" b="1" dirty="0"/>
              <a:t>2349539132360)</a:t>
            </a:r>
          </a:p>
          <a:p>
            <a:pPr marL="0" indent="0">
              <a:lnSpc>
                <a:spcPct val="120000"/>
              </a:lnSpc>
              <a:buNone/>
            </a:pP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6E543C-21DF-47E9-87FA-E1DA8013F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28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CC306E6-5EC5-4741-AF18-08EA4D0B47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868" y="3141295"/>
            <a:ext cx="5988323" cy="3417761"/>
          </a:xfrm>
          <a:prstGeom prst="rect">
            <a:avLst/>
          </a:prstGeom>
          <a:ln>
            <a:solidFill>
              <a:srgbClr val="FFFF00"/>
            </a:solidFill>
          </a:ln>
        </p:spPr>
      </p:pic>
    </p:spTree>
    <p:extLst>
      <p:ext uri="{BB962C8B-B14F-4D97-AF65-F5344CB8AC3E}">
        <p14:creationId xmlns:p14="http://schemas.microsoft.com/office/powerpoint/2010/main" val="11156134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2263" y="19472"/>
            <a:ext cx="8496372" cy="936104"/>
          </a:xfrm>
        </p:spPr>
        <p:txBody>
          <a:bodyPr>
            <a:normAutofit/>
          </a:bodyPr>
          <a:lstStyle/>
          <a:p>
            <a:pPr algn="l"/>
            <a:r>
              <a:rPr lang="zh-CN" altLang="en-US" sz="4400" b="1" dirty="0">
                <a:latin typeface="黑体" panose="02010609060101010101" pitchFamily="49" charset="-122"/>
                <a:ea typeface="黑体" panose="02010609060101010101" pitchFamily="49" charset="-122"/>
              </a:rPr>
              <a:t>*程序续前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9930" y="1196753"/>
            <a:ext cx="5283242" cy="2448271"/>
          </a:xfrm>
          <a:solidFill>
            <a:schemeClr val="bg1">
              <a:lumMod val="85000"/>
            </a:schemeClr>
          </a:solidFill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ES" altLang="zh-CN" sz="2400" b="1" dirty="0"/>
              <a:t>&gt;&gt;&gt; x[0] = 100        # </a:t>
            </a:r>
            <a:r>
              <a:rPr lang="zh-CN" altLang="en-US" sz="2400" b="1" dirty="0"/>
              <a:t>独立引用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b="1" dirty="0"/>
              <a:t>&gt;&gt;&gt; </a:t>
            </a:r>
            <a:r>
              <a:rPr lang="es-ES" altLang="zh-CN" sz="2400" b="1" dirty="0"/>
              <a:t>x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altLang="zh-CN" sz="2400" b="1" dirty="0"/>
              <a:t>[100, 2, [9, 10], 4]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altLang="zh-CN" sz="2400" b="1" dirty="0"/>
              <a:t>&gt;&gt;&gt; 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altLang="zh-CN" sz="2400" b="1" dirty="0"/>
              <a:t>[1, 2, [9, 10]]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altLang="zh-CN" sz="2400" b="1" dirty="0"/>
              <a:t>&gt;&gt;&gt; y[2][0] = -1     # </a:t>
            </a:r>
            <a:r>
              <a:rPr lang="zh-CN" altLang="es-ES" sz="2400" b="1" dirty="0"/>
              <a:t>共享引用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half" idx="2"/>
          </p:nvPr>
        </p:nvSpPr>
        <p:spPr>
          <a:xfrm>
            <a:off x="6238876" y="1196753"/>
            <a:ext cx="5473747" cy="2448271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altLang="zh-CN" b="1" dirty="0"/>
              <a:t>&gt;&gt;&gt; x</a:t>
            </a:r>
          </a:p>
          <a:p>
            <a:pPr marL="0" indent="0">
              <a:buNone/>
            </a:pPr>
            <a:r>
              <a:rPr lang="es-ES" altLang="zh-CN" b="1" dirty="0"/>
              <a:t>[100, 2, [-1, 10], 4]</a:t>
            </a:r>
          </a:p>
          <a:p>
            <a:pPr marL="0" indent="0">
              <a:buNone/>
            </a:pPr>
            <a:r>
              <a:rPr lang="es-ES" altLang="zh-CN" b="1" dirty="0"/>
              <a:t>&gt;&gt;&gt; y</a:t>
            </a:r>
          </a:p>
          <a:p>
            <a:pPr marL="0" indent="0">
              <a:buNone/>
            </a:pPr>
            <a:r>
              <a:rPr lang="es-ES" altLang="zh-CN" b="1" dirty="0"/>
              <a:t>[1, 2, [-1, 10]]</a:t>
            </a:r>
          </a:p>
          <a:p>
            <a:pPr marL="0" indent="0">
              <a:buNone/>
            </a:pPr>
            <a:r>
              <a:rPr lang="en-US" altLang="zh-CN" b="1" dirty="0"/>
              <a:t>&gt;&gt;&gt; id(x), id(y)</a:t>
            </a:r>
          </a:p>
          <a:p>
            <a:pPr marL="0" indent="0">
              <a:buNone/>
            </a:pPr>
            <a:r>
              <a:rPr lang="en-US" altLang="zh-CN" b="1" dirty="0"/>
              <a:t>(2349539131656, 23495391</a:t>
            </a:r>
            <a:r>
              <a:rPr lang="en-US" altLang="zh-CN" sz="2000" dirty="0"/>
              <a:t>32360)</a:t>
            </a:r>
            <a:endParaRPr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919F3F-FD99-46D6-B25A-C05749ADE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29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91A548C-913B-4BA1-8CA9-FE0A91E427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057" y="4149080"/>
            <a:ext cx="7056784" cy="2777671"/>
          </a:xfrm>
          <a:prstGeom prst="rect">
            <a:avLst/>
          </a:prstGeom>
          <a:ln>
            <a:solidFill>
              <a:srgbClr val="FFFF00"/>
            </a:solidFill>
          </a:ln>
        </p:spPr>
      </p:pic>
    </p:spTree>
    <p:extLst>
      <p:ext uri="{BB962C8B-B14F-4D97-AF65-F5344CB8AC3E}">
        <p14:creationId xmlns:p14="http://schemas.microsoft.com/office/powerpoint/2010/main" val="5075032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54049" y="1556792"/>
            <a:ext cx="10852150" cy="35283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54049" y="609601"/>
            <a:ext cx="10163177" cy="659160"/>
          </a:xfrm>
        </p:spPr>
        <p:txBody>
          <a:bodyPr>
            <a:normAutofit fontScale="90000"/>
          </a:bodyPr>
          <a:lstStyle/>
          <a:p>
            <a:r>
              <a:rPr lang="zh-CN" altLang="en-US" sz="4400" b="1" dirty="0"/>
              <a:t>*</a:t>
            </a:r>
            <a:r>
              <a:rPr lang="zh-CN" altLang="en-US" dirty="0"/>
              <a:t>浅复制与深复制 </a:t>
            </a:r>
            <a:r>
              <a:rPr lang="en-US" altLang="zh-CN" dirty="0"/>
              <a:t>?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72271" y="1980083"/>
            <a:ext cx="11170840" cy="4877917"/>
          </a:xfrm>
        </p:spPr>
        <p:txBody>
          <a:bodyPr/>
          <a:lstStyle/>
          <a:p>
            <a:r>
              <a:rPr lang="zh-CN" altLang="en-US" dirty="0"/>
              <a:t>以下发生了浅复制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800" dirty="0"/>
              <a:t>&gt;&gt;&gt; x = [[1, 2, 3]] * 3</a:t>
            </a:r>
          </a:p>
          <a:p>
            <a:pPr marL="0" indent="0">
              <a:buNone/>
            </a:pPr>
            <a:r>
              <a:rPr lang="en-US" altLang="zh-CN" sz="2800" dirty="0"/>
              <a:t>[[1, 2, 3], [1, 2, 3], [1, 2, 3]]</a:t>
            </a:r>
          </a:p>
          <a:p>
            <a:pPr marL="0" indent="0">
              <a:buNone/>
            </a:pPr>
            <a:r>
              <a:rPr lang="en-US" altLang="zh-CN" sz="2800" dirty="0"/>
              <a:t>&gt;&gt;&gt; x[0][0] = 10</a:t>
            </a:r>
          </a:p>
          <a:p>
            <a:pPr marL="0" indent="0">
              <a:buNone/>
            </a:pPr>
            <a:r>
              <a:rPr lang="en-US" altLang="zh-CN" sz="2800" dirty="0"/>
              <a:t>&gt;&gt;&gt; x</a:t>
            </a:r>
          </a:p>
          <a:p>
            <a:pPr marL="0" indent="0">
              <a:buNone/>
            </a:pPr>
            <a:r>
              <a:rPr lang="en-US" altLang="zh-CN" sz="2800" dirty="0"/>
              <a:t>[[10, 2, 3], [</a:t>
            </a:r>
            <a:r>
              <a:rPr lang="en-US" altLang="zh-CN" dirty="0"/>
              <a:t>10, 2, 3], [10, 2, 3]]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E74C1B4-1032-4773-AEC4-A37FBA0C4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85955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69925" y="1844824"/>
            <a:ext cx="10852150" cy="43204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b="1" dirty="0"/>
              <a:t>*</a:t>
            </a:r>
            <a:r>
              <a:rPr lang="zh-CN" altLang="en-US" dirty="0"/>
              <a:t>浅复制与深复制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以下代码发生了深复制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200" dirty="0"/>
              <a:t>&gt;&gt;&gt; import copy</a:t>
            </a:r>
          </a:p>
          <a:p>
            <a:pPr marL="0" indent="0">
              <a:buNone/>
            </a:pPr>
            <a:r>
              <a:rPr lang="en-US" altLang="zh-CN" sz="2200" dirty="0"/>
              <a:t>&gt;&gt;&gt; names = ["</a:t>
            </a:r>
            <a:r>
              <a:rPr lang="zh-CN" altLang="en-US" sz="2200" dirty="0"/>
              <a:t>小明</a:t>
            </a:r>
            <a:r>
              <a:rPr lang="en-US" altLang="zh-CN" sz="2200" dirty="0"/>
              <a:t>", "</a:t>
            </a:r>
            <a:r>
              <a:rPr lang="zh-CN" altLang="en-US" sz="2200" dirty="0"/>
              <a:t>小红</a:t>
            </a:r>
            <a:r>
              <a:rPr lang="en-US" altLang="zh-CN" sz="2200" dirty="0"/>
              <a:t>", "</a:t>
            </a:r>
            <a:r>
              <a:rPr lang="zh-CN" altLang="en-US" sz="2200" dirty="0"/>
              <a:t>小黑</a:t>
            </a:r>
            <a:r>
              <a:rPr lang="en-US" altLang="zh-CN" sz="2200" dirty="0"/>
              <a:t>", ["</a:t>
            </a:r>
            <a:r>
              <a:rPr lang="zh-CN" altLang="en-US" sz="2200" dirty="0"/>
              <a:t>粉色</a:t>
            </a:r>
            <a:r>
              <a:rPr lang="en-US" altLang="zh-CN" sz="2200" dirty="0"/>
              <a:t>"], "</a:t>
            </a:r>
            <a:r>
              <a:rPr lang="zh-CN" altLang="en-US" sz="2200" dirty="0"/>
              <a:t>小黄</a:t>
            </a:r>
            <a:r>
              <a:rPr lang="en-US" altLang="zh-CN" sz="2200" dirty="0"/>
              <a:t>", "</a:t>
            </a:r>
            <a:r>
              <a:rPr lang="zh-CN" altLang="en-US" sz="2200" dirty="0"/>
              <a:t>小白</a:t>
            </a:r>
            <a:r>
              <a:rPr lang="en-US" altLang="zh-CN" sz="2200" dirty="0"/>
              <a:t>"]</a:t>
            </a:r>
          </a:p>
          <a:p>
            <a:pPr marL="0" indent="0">
              <a:buNone/>
            </a:pPr>
            <a:r>
              <a:rPr lang="en-US" altLang="zh-CN" sz="2200" dirty="0"/>
              <a:t>&gt;&gt;&gt; </a:t>
            </a:r>
            <a:r>
              <a:rPr lang="en-US" altLang="zh-CN" sz="2200" dirty="0" err="1"/>
              <a:t>deep_names</a:t>
            </a:r>
            <a:r>
              <a:rPr lang="en-US" altLang="zh-CN" sz="2200" dirty="0"/>
              <a:t> = </a:t>
            </a:r>
            <a:r>
              <a:rPr lang="en-US" altLang="zh-CN" sz="2200" dirty="0" err="1"/>
              <a:t>copy.deepcopy</a:t>
            </a:r>
            <a:r>
              <a:rPr lang="en-US" altLang="zh-CN" sz="2200" dirty="0"/>
              <a:t>(names)</a:t>
            </a:r>
          </a:p>
          <a:p>
            <a:pPr marL="0" indent="0">
              <a:buNone/>
            </a:pPr>
            <a:r>
              <a:rPr lang="en-US" altLang="zh-CN" sz="2200" dirty="0"/>
              <a:t>&gt;&gt;&gt; names[3][0] = "Pink"</a:t>
            </a:r>
          </a:p>
          <a:p>
            <a:pPr marL="0" indent="0">
              <a:buNone/>
            </a:pPr>
            <a:r>
              <a:rPr lang="en-US" altLang="zh-CN" sz="2200" dirty="0"/>
              <a:t>&gt;&gt;&gt; names</a:t>
            </a:r>
          </a:p>
          <a:p>
            <a:pPr marL="0" indent="0">
              <a:buNone/>
            </a:pPr>
            <a:r>
              <a:rPr lang="en-US" altLang="zh-CN" sz="2200" dirty="0"/>
              <a:t>['</a:t>
            </a:r>
            <a:r>
              <a:rPr lang="zh-CN" altLang="en-US" sz="2200" dirty="0"/>
              <a:t>小明</a:t>
            </a:r>
            <a:r>
              <a:rPr lang="en-US" altLang="zh-CN" sz="2200" dirty="0"/>
              <a:t>', '</a:t>
            </a:r>
            <a:r>
              <a:rPr lang="zh-CN" altLang="en-US" sz="2200" dirty="0"/>
              <a:t>小红</a:t>
            </a:r>
            <a:r>
              <a:rPr lang="en-US" altLang="zh-CN" sz="2200" dirty="0"/>
              <a:t>', '</a:t>
            </a:r>
            <a:r>
              <a:rPr lang="zh-CN" altLang="en-US" sz="2200" dirty="0"/>
              <a:t>小黑</a:t>
            </a:r>
            <a:r>
              <a:rPr lang="en-US" altLang="zh-CN" sz="2200" dirty="0"/>
              <a:t>', ['Pink'], '</a:t>
            </a:r>
            <a:r>
              <a:rPr lang="zh-CN" altLang="en-US" sz="2200" dirty="0"/>
              <a:t>小黄</a:t>
            </a:r>
            <a:r>
              <a:rPr lang="en-US" altLang="zh-CN" sz="2200" dirty="0"/>
              <a:t>', '</a:t>
            </a:r>
            <a:r>
              <a:rPr lang="zh-CN" altLang="en-US" sz="2200" dirty="0"/>
              <a:t>小白</a:t>
            </a:r>
            <a:r>
              <a:rPr lang="en-US" altLang="zh-CN" sz="2200" dirty="0"/>
              <a:t>']</a:t>
            </a:r>
          </a:p>
          <a:p>
            <a:pPr marL="0" indent="0">
              <a:buNone/>
            </a:pPr>
            <a:r>
              <a:rPr lang="en-US" altLang="zh-CN" sz="2200" dirty="0"/>
              <a:t>&gt;&gt;&gt; </a:t>
            </a:r>
            <a:r>
              <a:rPr lang="en-US" altLang="zh-CN" sz="2200" dirty="0" err="1"/>
              <a:t>deep_names</a:t>
            </a:r>
            <a:endParaRPr lang="en-US" altLang="zh-CN" sz="2200" dirty="0"/>
          </a:p>
          <a:p>
            <a:pPr marL="0" indent="0">
              <a:buNone/>
            </a:pPr>
            <a:r>
              <a:rPr lang="en-US" altLang="zh-CN" sz="2200" dirty="0"/>
              <a:t>['</a:t>
            </a:r>
            <a:r>
              <a:rPr lang="zh-CN" altLang="en-US" sz="2200" dirty="0"/>
              <a:t>小明</a:t>
            </a:r>
            <a:r>
              <a:rPr lang="en-US" altLang="zh-CN" sz="2200" dirty="0"/>
              <a:t>', '</a:t>
            </a:r>
            <a:r>
              <a:rPr lang="zh-CN" altLang="en-US" sz="2200" dirty="0"/>
              <a:t>小红</a:t>
            </a:r>
            <a:r>
              <a:rPr lang="en-US" altLang="zh-CN" sz="2200" dirty="0"/>
              <a:t>', '</a:t>
            </a:r>
            <a:r>
              <a:rPr lang="zh-CN" altLang="en-US" sz="2200" dirty="0"/>
              <a:t>小黑</a:t>
            </a:r>
            <a:r>
              <a:rPr lang="en-US" altLang="zh-CN" sz="2200" dirty="0"/>
              <a:t>', ['</a:t>
            </a:r>
            <a:r>
              <a:rPr lang="zh-CN" altLang="en-US" sz="2200" dirty="0"/>
              <a:t>粉色</a:t>
            </a:r>
            <a:r>
              <a:rPr lang="en-US" altLang="zh-CN" sz="2200" dirty="0"/>
              <a:t>'], '</a:t>
            </a:r>
            <a:r>
              <a:rPr lang="zh-CN" altLang="en-US" sz="2200" dirty="0"/>
              <a:t>小黄</a:t>
            </a:r>
            <a:r>
              <a:rPr lang="en-US" altLang="zh-CN" sz="2200" dirty="0"/>
              <a:t>', '</a:t>
            </a:r>
            <a:r>
              <a:rPr lang="zh-CN" altLang="en-US" sz="2200" dirty="0"/>
              <a:t>小白</a:t>
            </a:r>
            <a:r>
              <a:rPr lang="en-US" altLang="zh-CN" sz="2200" dirty="0"/>
              <a:t>']</a:t>
            </a:r>
          </a:p>
          <a:p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0922C2F-790B-4030-85F2-A6C6AF89C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83604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37FC1-EB8B-4823-A213-460253078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*总结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296DDA-258C-4C15-BAD0-452473A2F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列表</a:t>
            </a:r>
            <a:r>
              <a:rPr lang="en-US" altLang="zh-CN" dirty="0"/>
              <a:t>/</a:t>
            </a:r>
            <a:r>
              <a:rPr lang="zh-CN" altLang="en-US" dirty="0"/>
              <a:t>字典</a:t>
            </a:r>
            <a:r>
              <a:rPr lang="en-US" altLang="zh-CN" dirty="0"/>
              <a:t>/</a:t>
            </a:r>
            <a:r>
              <a:rPr lang="zh-CN" altLang="en-US" dirty="0"/>
              <a:t>集合，</a:t>
            </a:r>
            <a:r>
              <a:rPr lang="en-US" altLang="zh-CN" dirty="0"/>
              <a:t>y=x</a:t>
            </a:r>
            <a:r>
              <a:rPr lang="zh-CN" altLang="en-US" dirty="0"/>
              <a:t>赋值赋的是引用地址，不是值本身，改变一个对象中的一个元素值</a:t>
            </a:r>
            <a:r>
              <a:rPr lang="en-US" altLang="zh-CN" dirty="0"/>
              <a:t>(x[</a:t>
            </a:r>
            <a:r>
              <a:rPr lang="en-US" altLang="zh-CN" dirty="0" err="1"/>
              <a:t>i</a:t>
            </a:r>
            <a:r>
              <a:rPr lang="en-US" altLang="zh-CN" dirty="0"/>
              <a:t>]=100)</a:t>
            </a:r>
            <a:r>
              <a:rPr lang="zh-CN" altLang="en-US" dirty="0"/>
              <a:t>会影响另一个。元组不可改变元素值，不存在这个问题。</a:t>
            </a:r>
            <a:endParaRPr lang="en-US" altLang="zh-CN" dirty="0"/>
          </a:p>
          <a:p>
            <a:r>
              <a:rPr lang="zh-CN" altLang="en-US" dirty="0"/>
              <a:t>对列表</a:t>
            </a:r>
            <a:r>
              <a:rPr lang="en-US" altLang="zh-CN" dirty="0"/>
              <a:t>/</a:t>
            </a:r>
            <a:r>
              <a:rPr lang="zh-CN" altLang="en-US" dirty="0"/>
              <a:t>字典</a:t>
            </a:r>
            <a:r>
              <a:rPr lang="en-US" altLang="zh-CN" dirty="0"/>
              <a:t>/</a:t>
            </a:r>
            <a:r>
              <a:rPr lang="zh-CN" altLang="en-US" dirty="0"/>
              <a:t>集合</a:t>
            </a:r>
            <a:r>
              <a:rPr lang="en-US" altLang="zh-CN" dirty="0"/>
              <a:t>/</a:t>
            </a:r>
            <a:r>
              <a:rPr lang="zh-CN" altLang="en-US" dirty="0"/>
              <a:t>元组重新完整赋值时（原来</a:t>
            </a:r>
            <a:r>
              <a:rPr lang="en-US" altLang="zh-CN" dirty="0"/>
              <a:t>x=[1,2,3],</a:t>
            </a:r>
            <a:r>
              <a:rPr lang="zh-CN" altLang="en-US" dirty="0"/>
              <a:t>后来赋值</a:t>
            </a:r>
            <a:r>
              <a:rPr lang="en-US" altLang="zh-CN" dirty="0"/>
              <a:t>x=[4,5,6]),x</a:t>
            </a:r>
            <a:r>
              <a:rPr lang="zh-CN" altLang="en-US" dirty="0"/>
              <a:t>重新分配空间，地址改变，</a:t>
            </a:r>
            <a:r>
              <a:rPr lang="en-US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无关</a:t>
            </a:r>
            <a:r>
              <a:rPr lang="en-US" altLang="zh-CN" dirty="0"/>
              <a:t>.</a:t>
            </a:r>
          </a:p>
          <a:p>
            <a:r>
              <a:rPr lang="zh-CN" altLang="en-US" dirty="0"/>
              <a:t>一些特殊的方法，例如列表添加元素（</a:t>
            </a:r>
            <a:r>
              <a:rPr lang="en-US" altLang="zh-CN" dirty="0"/>
              <a:t>x=x+[4]),</a:t>
            </a:r>
            <a:r>
              <a:rPr lang="zh-CN" altLang="en-US" dirty="0"/>
              <a:t>是浅复制，将为</a:t>
            </a:r>
            <a:r>
              <a:rPr lang="en-US" altLang="zh-CN" dirty="0"/>
              <a:t>x</a:t>
            </a:r>
            <a:r>
              <a:rPr lang="zh-CN" altLang="en-US" dirty="0"/>
              <a:t>重新分配内存，将原有元素的地址赋值过来。这时改变一个元素（不可变数据）的值（例如</a:t>
            </a:r>
            <a:r>
              <a:rPr lang="en-US" altLang="zh-CN" dirty="0"/>
              <a:t>x[3]=10)</a:t>
            </a:r>
            <a:r>
              <a:rPr lang="zh-CN" altLang="en-US" dirty="0"/>
              <a:t>，不会影响</a:t>
            </a:r>
            <a:r>
              <a:rPr lang="en-US" altLang="zh-CN" dirty="0"/>
              <a:t>y;</a:t>
            </a:r>
            <a:r>
              <a:rPr lang="zh-CN" altLang="en-US" dirty="0"/>
              <a:t>但如果修改的元素时可变数据（列表</a:t>
            </a:r>
            <a:r>
              <a:rPr lang="en-US" altLang="zh-CN" dirty="0"/>
              <a:t>/</a:t>
            </a:r>
            <a:r>
              <a:rPr lang="zh-CN" altLang="en-US" dirty="0"/>
              <a:t>集合</a:t>
            </a:r>
            <a:r>
              <a:rPr lang="en-US" altLang="zh-CN" dirty="0"/>
              <a:t>/</a:t>
            </a:r>
            <a:r>
              <a:rPr lang="zh-CN" altLang="en-US" dirty="0"/>
              <a:t>字典等，例如</a:t>
            </a:r>
            <a:r>
              <a:rPr lang="en-US" altLang="zh-CN" dirty="0"/>
              <a:t>x[3][0]=-1),</a:t>
            </a:r>
            <a:r>
              <a:rPr lang="zh-CN" altLang="en-US" dirty="0"/>
              <a:t>就会影响</a:t>
            </a:r>
            <a:r>
              <a:rPr lang="en-US" altLang="zh-CN" dirty="0"/>
              <a:t>y,</a:t>
            </a:r>
            <a:r>
              <a:rPr lang="zh-CN" altLang="en-US" dirty="0"/>
              <a:t>反之亦然。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DB321A-83D9-44BA-9A17-556EFED2C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6609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37FC1-EB8B-4823-A213-460253078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*总结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296DDA-258C-4C15-BAD0-452473A2F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浅复制是复制对象的引用（地址），改变值后会有连锁反应。</a:t>
            </a:r>
            <a:endParaRPr lang="en-US" altLang="zh-CN" dirty="0"/>
          </a:p>
          <a:p>
            <a:r>
              <a:rPr lang="zh-CN" altLang="en-US" dirty="0"/>
              <a:t>深复制（</a:t>
            </a:r>
            <a:r>
              <a:rPr lang="en-US" altLang="zh-CN" dirty="0"/>
              <a:t>copy</a:t>
            </a:r>
            <a:r>
              <a:rPr lang="zh-CN" altLang="en-US" dirty="0"/>
              <a:t>模块的</a:t>
            </a:r>
            <a:r>
              <a:rPr lang="en-US" altLang="zh-CN" dirty="0" err="1"/>
              <a:t>deepcopy</a:t>
            </a:r>
            <a:r>
              <a:rPr lang="zh-CN" altLang="en-US" dirty="0"/>
              <a:t>函数</a:t>
            </a:r>
            <a:r>
              <a:rPr lang="en-US" altLang="zh-CN" dirty="0"/>
              <a:t>)</a:t>
            </a:r>
            <a:r>
              <a:rPr lang="zh-CN" altLang="en-US" dirty="0"/>
              <a:t>是拷贝值到新对象，两个对象完全独立，改变一个不会影响另一个。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DB321A-83D9-44BA-9A17-556EFED2C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5896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69925" y="3933056"/>
            <a:ext cx="10852150" cy="223224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* </a:t>
            </a:r>
            <a:r>
              <a:rPr lang="en-US" altLang="zh-CN" dirty="0"/>
              <a:t>3.2.3 </a:t>
            </a:r>
            <a:r>
              <a:rPr lang="zh-CN" altLang="en-US" dirty="0"/>
              <a:t>对象的垃圾回收机制*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dirty="0"/>
              <a:t>Python</a:t>
            </a:r>
            <a:r>
              <a:rPr lang="zh-CN" altLang="en-US" dirty="0"/>
              <a:t>对象的存储问题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/>
              <a:t>对于整数和短小的字符串等，</a:t>
            </a:r>
            <a:r>
              <a:rPr lang="en-US" altLang="zh-CN" dirty="0"/>
              <a:t>Python</a:t>
            </a:r>
            <a:r>
              <a:rPr lang="zh-CN" altLang="en-US" dirty="0"/>
              <a:t>会执行缓存机制，即将这些对象进行缓存，不会为相同的对象分配多个内存空间。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/>
              <a:t>容器对象（如列表、元组、字典等）存储的其他对象，仅仅是其他对象的引用，即记录对象地址，并不是这些对象本身。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A3D8308-0F81-47C0-9E4F-630CE0E41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97469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1344" y="116632"/>
            <a:ext cx="11314856" cy="6538771"/>
          </a:xfrm>
          <a:solidFill>
            <a:schemeClr val="bg1">
              <a:lumMod val="85000"/>
            </a:schemeClr>
          </a:solidFill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dirty="0"/>
              <a:t>&gt;&gt;&gt; import sys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dirty="0"/>
              <a:t>&gt;&gt;&gt; </a:t>
            </a:r>
            <a:r>
              <a:rPr lang="en-US" altLang="zh-CN" dirty="0" err="1"/>
              <a:t>sys.getrefcount</a:t>
            </a:r>
            <a:r>
              <a:rPr lang="en-US" altLang="zh-CN" dirty="0"/>
              <a:t>(3)    </a:t>
            </a:r>
            <a:r>
              <a:rPr lang="en-US" altLang="zh-CN" sz="2200" dirty="0"/>
              <a:t># 3</a:t>
            </a:r>
            <a:r>
              <a:rPr lang="zh-CN" altLang="en-US" sz="2200" dirty="0"/>
              <a:t>在</a:t>
            </a:r>
            <a:r>
              <a:rPr lang="en-US" altLang="zh-CN" sz="2200" dirty="0"/>
              <a:t>Python</a:t>
            </a:r>
            <a:r>
              <a:rPr lang="zh-CN" altLang="en-US" sz="2200" dirty="0"/>
              <a:t>内部已经被多次引用，故引用计数大于</a:t>
            </a:r>
            <a:r>
              <a:rPr lang="en-US" altLang="zh-CN" sz="2200" dirty="0"/>
              <a:t>2</a:t>
            </a:r>
            <a:endParaRPr lang="zh-CN" alt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dirty="0"/>
              <a:t>184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dirty="0"/>
              <a:t>&gt;&gt;&gt; h = 3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dirty="0"/>
              <a:t>&gt;&gt;&gt; x = [3, 3, 3]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dirty="0"/>
              <a:t>&gt;&gt;&gt; </a:t>
            </a:r>
            <a:r>
              <a:rPr lang="en-US" altLang="zh-CN" dirty="0" err="1"/>
              <a:t>sys.getrefcount</a:t>
            </a:r>
            <a:r>
              <a:rPr lang="en-US" altLang="zh-CN" dirty="0"/>
              <a:t>(3)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dirty="0"/>
              <a:t>188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dirty="0"/>
              <a:t>&gt;&gt;&gt; id(h), id(x[0]), id(x[1]), id(x[2])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dirty="0"/>
              <a:t>(1900216848, 1900216848, 1900216848, 1900216848)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dirty="0"/>
              <a:t>&gt;&gt;&gt; </a:t>
            </a:r>
            <a:r>
              <a:rPr lang="en-US" altLang="zh-CN" dirty="0" err="1"/>
              <a:t>sys.getrefcount</a:t>
            </a:r>
            <a:r>
              <a:rPr lang="en-US" altLang="zh-CN" dirty="0"/>
              <a:t>('OK')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dirty="0"/>
              <a:t>21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dirty="0"/>
              <a:t>&gt;&gt;&gt; </a:t>
            </a:r>
            <a:r>
              <a:rPr lang="en-US" altLang="zh-CN" dirty="0" err="1"/>
              <a:t>sys.getrefcount</a:t>
            </a:r>
            <a:r>
              <a:rPr lang="en-US" altLang="zh-CN" dirty="0"/>
              <a:t>(123)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dirty="0"/>
              <a:t>4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dirty="0"/>
              <a:t>&gt;&gt;&gt; </a:t>
            </a:r>
            <a:r>
              <a:rPr lang="en-US" altLang="zh-CN" dirty="0" err="1"/>
              <a:t>sys.getrefcount</a:t>
            </a:r>
            <a:r>
              <a:rPr lang="en-US" altLang="zh-CN" dirty="0"/>
              <a:t>(3.1)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dirty="0"/>
              <a:t>2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FF9175-D951-4258-98B1-353D8758D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860C12F4-72C9-4A15-8E53-A4CF67E5A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42165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*</a:t>
            </a:r>
            <a:r>
              <a:rPr lang="zh-CN" altLang="en-US" dirty="0"/>
              <a:t>引用计数器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每个对象都有指向该对象的引用总数，即引用计数</a:t>
            </a:r>
            <a:endParaRPr lang="en-US" altLang="zh-CN" dirty="0"/>
          </a:p>
          <a:p>
            <a:r>
              <a:rPr lang="zh-CN" altLang="en-US" dirty="0"/>
              <a:t>增加引用计数</a:t>
            </a:r>
          </a:p>
          <a:p>
            <a:pPr lvl="1"/>
            <a:r>
              <a:rPr lang="zh-CN" altLang="en-US" dirty="0"/>
              <a:t>对象被创建，计数增加</a:t>
            </a:r>
            <a:r>
              <a:rPr lang="en-US" altLang="zh-CN" dirty="0"/>
              <a:t>1</a:t>
            </a:r>
            <a:r>
              <a:rPr lang="zh-CN" altLang="en-US" dirty="0"/>
              <a:t>；</a:t>
            </a:r>
          </a:p>
          <a:p>
            <a:pPr lvl="1"/>
            <a:r>
              <a:rPr lang="zh-CN" altLang="en-US" dirty="0"/>
              <a:t>对象被引用，计数增加</a:t>
            </a:r>
            <a:r>
              <a:rPr lang="en-US" altLang="zh-CN" dirty="0"/>
              <a:t>1</a:t>
            </a:r>
            <a:r>
              <a:rPr lang="zh-CN" altLang="en-US" dirty="0"/>
              <a:t>；</a:t>
            </a:r>
          </a:p>
          <a:p>
            <a:pPr lvl="1"/>
            <a:r>
              <a:rPr lang="zh-CN" altLang="en-US" dirty="0"/>
              <a:t>对象被当作参数传入函数，计数增加</a:t>
            </a:r>
            <a:r>
              <a:rPr lang="en-US" altLang="zh-CN" dirty="0"/>
              <a:t>2</a:t>
            </a:r>
            <a:r>
              <a:rPr lang="zh-CN" altLang="en-US" dirty="0"/>
              <a:t>，因为调用函数中有两个属性在引用该对象；</a:t>
            </a:r>
          </a:p>
          <a:p>
            <a:pPr lvl="1"/>
            <a:r>
              <a:rPr lang="zh-CN" altLang="en-US" dirty="0"/>
              <a:t>对象存储到容器对象中，计数增加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B5AFAD-8A9F-47F3-8B24-0F8B1C1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6463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*</a:t>
            </a:r>
            <a:r>
              <a:rPr lang="zh-CN" altLang="en-US" dirty="0"/>
              <a:t>引用计数器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减少引用计数</a:t>
            </a:r>
          </a:p>
          <a:p>
            <a:pPr lvl="1"/>
            <a:r>
              <a:rPr lang="zh-CN" altLang="en-US" dirty="0"/>
              <a:t>对象的别名被销毁，计数减少</a:t>
            </a:r>
            <a:r>
              <a:rPr lang="en-US" altLang="zh-CN" dirty="0"/>
              <a:t>1</a:t>
            </a:r>
            <a:r>
              <a:rPr lang="zh-CN" altLang="en-US" dirty="0"/>
              <a:t>；</a:t>
            </a:r>
          </a:p>
          <a:p>
            <a:pPr lvl="1"/>
            <a:r>
              <a:rPr lang="zh-CN" altLang="en-US" dirty="0"/>
              <a:t>对象的别名被赋予其他对象，计数减少</a:t>
            </a:r>
            <a:r>
              <a:rPr lang="en-US" altLang="zh-CN" dirty="0"/>
              <a:t>1</a:t>
            </a:r>
            <a:r>
              <a:rPr lang="zh-CN" altLang="en-US" dirty="0"/>
              <a:t>；</a:t>
            </a:r>
          </a:p>
          <a:p>
            <a:pPr lvl="1"/>
            <a:r>
              <a:rPr lang="zh-CN" altLang="en-US" dirty="0"/>
              <a:t>对象离开自己的作用域，计数减少</a:t>
            </a:r>
            <a:r>
              <a:rPr lang="en-US" altLang="zh-CN" dirty="0"/>
              <a:t>1</a:t>
            </a:r>
            <a:r>
              <a:rPr lang="zh-CN" altLang="en-US" dirty="0"/>
              <a:t>；</a:t>
            </a:r>
          </a:p>
          <a:p>
            <a:pPr lvl="1"/>
            <a:r>
              <a:rPr lang="zh-CN" altLang="en-US" dirty="0"/>
              <a:t>对象从容器对象中删除，或者容器对象被销毁，计数减少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在检测到对象引用个数为</a:t>
            </a:r>
            <a:r>
              <a:rPr lang="en-US" altLang="zh-CN" dirty="0"/>
              <a:t>0</a:t>
            </a:r>
            <a:r>
              <a:rPr lang="zh-CN" altLang="en-US" dirty="0"/>
              <a:t>时，对普通的对象进行释放内存的机制处理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5CD4CC-50DD-4EE9-BABE-F3DC33390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15957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*</a:t>
            </a:r>
            <a:r>
              <a:rPr lang="zh-CN" altLang="en-US" dirty="0"/>
              <a:t>垃圾回收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当</a:t>
            </a:r>
            <a:r>
              <a:rPr lang="en-US" altLang="zh-CN" dirty="0"/>
              <a:t>Python</a:t>
            </a:r>
            <a:r>
              <a:rPr lang="zh-CN" altLang="en-US" dirty="0"/>
              <a:t>中的对象越来越多时，它们将占据越来越大的内存。</a:t>
            </a:r>
            <a:r>
              <a:rPr lang="en-US" altLang="zh-CN" dirty="0"/>
              <a:t>Python</a:t>
            </a:r>
            <a:r>
              <a:rPr lang="zh-CN" altLang="en-US" dirty="0"/>
              <a:t>会在适当的时候，启动垃圾回收，将没用的对象清除。</a:t>
            </a:r>
            <a:endParaRPr lang="en-US" altLang="zh-CN" dirty="0"/>
          </a:p>
          <a:p>
            <a:r>
              <a:rPr lang="zh-CN" altLang="en-US" dirty="0"/>
              <a:t>垃圾回收时，</a:t>
            </a:r>
            <a:r>
              <a:rPr lang="en-US" altLang="zh-CN" dirty="0"/>
              <a:t>Python</a:t>
            </a:r>
            <a:r>
              <a:rPr lang="zh-CN" altLang="en-US" dirty="0"/>
              <a:t>不能进行其他的任务。</a:t>
            </a:r>
            <a:endParaRPr lang="en-US" altLang="zh-CN" dirty="0"/>
          </a:p>
          <a:p>
            <a:pPr lvl="1"/>
            <a:r>
              <a:rPr lang="zh-CN" altLang="en-US" dirty="0"/>
              <a:t>如果内存中的对象不多，就没有必要总启动垃圾回收</a:t>
            </a:r>
            <a:endParaRPr lang="en-US" altLang="zh-CN" dirty="0"/>
          </a:p>
          <a:p>
            <a:pPr lvl="1"/>
            <a:r>
              <a:rPr lang="en-US" altLang="zh-CN" dirty="0"/>
              <a:t>Python</a:t>
            </a:r>
            <a:r>
              <a:rPr lang="zh-CN" altLang="en-US" dirty="0"/>
              <a:t>只会在特定条件下，自动启动垃圾回收。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4662D7-529F-45BB-8C14-C6BB00819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45678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882775" y="2292350"/>
            <a:ext cx="8684895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3.3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数据的输入</a:t>
            </a:r>
            <a:r>
              <a:rPr lang="en-US" altLang="zh-CN" kern="1200" dirty="0">
                <a:latin typeface="+mj-lt"/>
                <a:ea typeface="+mj-ea"/>
                <a:cs typeface="+mj-cs"/>
              </a:rPr>
              <a:t>/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输出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EF7F3D8-F4AA-4B67-ADD6-BB5A07018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39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3.3.1 </a:t>
            </a:r>
            <a:r>
              <a:rPr lang="zh-CN" altLang="en-US" dirty="0"/>
              <a:t>标准输入</a:t>
            </a:r>
            <a:r>
              <a:rPr lang="en-US" altLang="zh-CN" dirty="0"/>
              <a:t>/</a:t>
            </a:r>
            <a:r>
              <a:rPr lang="zh-CN" altLang="en-US" dirty="0"/>
              <a:t>输出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标准输入是指从键盘输入</a:t>
            </a:r>
            <a:endParaRPr lang="en-US" altLang="zh-CN" dirty="0"/>
          </a:p>
          <a:p>
            <a:r>
              <a:rPr lang="zh-CN" altLang="en-US" dirty="0"/>
              <a:t>标准输出是在屏幕显示，</a:t>
            </a:r>
            <a:endParaRPr lang="en-US" altLang="zh-CN" dirty="0"/>
          </a:p>
          <a:p>
            <a:r>
              <a:rPr lang="zh-CN" altLang="en-US" dirty="0"/>
              <a:t>标准输入</a:t>
            </a:r>
            <a:r>
              <a:rPr lang="en-US" altLang="zh-CN" dirty="0"/>
              <a:t>/</a:t>
            </a:r>
            <a:r>
              <a:rPr lang="zh-CN" altLang="en-US" dirty="0"/>
              <a:t>输出又叫控制台输入</a:t>
            </a:r>
            <a:r>
              <a:rPr lang="en-US" altLang="zh-CN" dirty="0"/>
              <a:t>/</a:t>
            </a:r>
            <a:r>
              <a:rPr lang="zh-CN" altLang="en-US" dirty="0"/>
              <a:t>输出。</a:t>
            </a:r>
            <a:endParaRPr lang="en-US" altLang="zh-CN" dirty="0"/>
          </a:p>
          <a:p>
            <a:r>
              <a:rPr lang="zh-CN" altLang="en-US" dirty="0"/>
              <a:t>本节：</a:t>
            </a:r>
            <a:endParaRPr lang="en-US" altLang="zh-CN" dirty="0"/>
          </a:p>
          <a:p>
            <a:pPr lvl="1"/>
            <a:r>
              <a:rPr lang="zh-CN" altLang="en-US" dirty="0"/>
              <a:t>标准输入</a:t>
            </a:r>
            <a:endParaRPr lang="en-US" altLang="zh-CN" dirty="0"/>
          </a:p>
          <a:p>
            <a:pPr lvl="1"/>
            <a:r>
              <a:rPr lang="zh-CN" altLang="en-US" dirty="0"/>
              <a:t>多数据同时输入并转换</a:t>
            </a:r>
            <a:endParaRPr lang="en-US" altLang="zh-CN" dirty="0"/>
          </a:p>
          <a:p>
            <a:pPr lvl="1"/>
            <a:r>
              <a:rPr lang="zh-CN" altLang="en-US" dirty="0"/>
              <a:t>标准输出</a:t>
            </a:r>
          </a:p>
          <a:p>
            <a:pPr lvl="1"/>
            <a:r>
              <a:rPr lang="zh-CN" altLang="en-US" dirty="0"/>
              <a:t>格式化输出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598E05-7172-46F9-A3E7-CFF5475E3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83997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标准输入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3392" y="3595310"/>
            <a:ext cx="10898683" cy="2569994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&gt;&gt;&gt; s = input('Please input your name:')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Please input your </a:t>
            </a:r>
            <a:r>
              <a:rPr lang="en-US" altLang="zh-CN" sz="2400" dirty="0" err="1"/>
              <a:t>name:</a:t>
            </a:r>
            <a:r>
              <a:rPr lang="en-US" altLang="zh-CN" sz="2400" u="sng" dirty="0" err="1"/>
              <a:t>Sam</a:t>
            </a:r>
            <a:r>
              <a:rPr lang="en-US" altLang="zh-CN" sz="2400" u="sng" dirty="0"/>
              <a:t>↙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&gt;&gt;&gt;s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'Sam'</a:t>
            </a:r>
          </a:p>
        </p:txBody>
      </p:sp>
      <p:sp>
        <p:nvSpPr>
          <p:cNvPr id="4" name="矩形 3"/>
          <p:cNvSpPr/>
          <p:nvPr/>
        </p:nvSpPr>
        <p:spPr>
          <a:xfrm>
            <a:off x="921214" y="1283569"/>
            <a:ext cx="7920000" cy="792088"/>
          </a:xfrm>
          <a:prstGeom prst="rect">
            <a:avLst/>
          </a:prstGeom>
          <a:noFill/>
          <a:ln>
            <a:solidFill>
              <a:schemeClr val="bg2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b="1" dirty="0">
                <a:solidFill>
                  <a:schemeClr val="tx1"/>
                </a:solidFill>
                <a:latin typeface="+mj-ea"/>
                <a:ea typeface="+mj-ea"/>
              </a:rPr>
              <a:t>input()</a:t>
            </a: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或者</a:t>
            </a:r>
            <a:r>
              <a:rPr lang="en-US" altLang="zh-CN" sz="2800" b="1" dirty="0">
                <a:solidFill>
                  <a:schemeClr val="tx1"/>
                </a:solidFill>
                <a:latin typeface="+mj-ea"/>
                <a:ea typeface="+mj-ea"/>
              </a:rPr>
              <a:t>input(‘</a:t>
            </a: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提示信息</a:t>
            </a:r>
            <a:r>
              <a:rPr lang="en-US" altLang="zh-CN" sz="2800" b="1" dirty="0">
                <a:solidFill>
                  <a:schemeClr val="tx1"/>
                </a:solidFill>
                <a:latin typeface="+mj-ea"/>
                <a:ea typeface="+mj-ea"/>
              </a:rPr>
              <a:t>’)</a:t>
            </a:r>
            <a:endParaRPr lang="zh-CN" altLang="en-US" sz="28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4223792" y="3595310"/>
            <a:ext cx="71640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921214" y="2210315"/>
            <a:ext cx="104538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接受键盘输入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返回一个字符串（去除行末回车）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57844B-31F6-41FF-8625-AA95D0FBE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97062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 err="1"/>
              <a:t>int</a:t>
            </a:r>
            <a:r>
              <a:rPr lang="en-US" altLang="zh-CN" dirty="0"/>
              <a:t>()</a:t>
            </a:r>
            <a:r>
              <a:rPr lang="zh-CN" altLang="en-US" dirty="0"/>
              <a:t>或</a:t>
            </a:r>
            <a:r>
              <a:rPr lang="en-US" altLang="zh-CN" dirty="0"/>
              <a:t>float()</a:t>
            </a:r>
            <a:r>
              <a:rPr lang="zh-CN" altLang="en-US" dirty="0"/>
              <a:t>函数转换输入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CN" dirty="0"/>
              <a:t>&gt;&gt;&gt;age = input('Please input your age:')</a:t>
            </a:r>
          </a:p>
          <a:p>
            <a:pPr marL="0" indent="0">
              <a:buNone/>
            </a:pPr>
            <a:r>
              <a:rPr lang="en-US" altLang="zh-CN" dirty="0"/>
              <a:t>Please input your age:</a:t>
            </a:r>
            <a:r>
              <a:rPr lang="en-US" altLang="zh-CN" u="sng" dirty="0"/>
              <a:t>19↙</a:t>
            </a:r>
          </a:p>
          <a:p>
            <a:pPr marL="0" indent="0">
              <a:buNone/>
            </a:pPr>
            <a:r>
              <a:rPr lang="en-US" altLang="zh-CN" dirty="0"/>
              <a:t>&gt;&gt;&gt;age</a:t>
            </a:r>
          </a:p>
          <a:p>
            <a:pPr marL="0" indent="0">
              <a:buNone/>
            </a:pPr>
            <a:r>
              <a:rPr lang="en-US" altLang="zh-CN" dirty="0"/>
              <a:t>'19'</a:t>
            </a:r>
          </a:p>
          <a:p>
            <a:pPr marL="0" indent="0">
              <a:buNone/>
            </a:pPr>
            <a:r>
              <a:rPr lang="en-US" altLang="zh-CN" dirty="0"/>
              <a:t>&gt;&gt;&gt;age = int(input('Please input your age:'))</a:t>
            </a:r>
          </a:p>
          <a:p>
            <a:pPr marL="0" indent="0">
              <a:buNone/>
            </a:pPr>
            <a:r>
              <a:rPr lang="en-US" altLang="zh-CN" dirty="0"/>
              <a:t>Please input your age:</a:t>
            </a:r>
            <a:r>
              <a:rPr lang="en-US" altLang="zh-CN" u="sng" dirty="0"/>
              <a:t>19↙</a:t>
            </a:r>
          </a:p>
          <a:p>
            <a:pPr marL="0" indent="0">
              <a:buNone/>
            </a:pPr>
            <a:r>
              <a:rPr lang="en-US" altLang="zh-CN" dirty="0"/>
              <a:t>&gt;&gt;&gt;age</a:t>
            </a:r>
          </a:p>
          <a:p>
            <a:pPr marL="0" indent="0">
              <a:buNone/>
            </a:pPr>
            <a:r>
              <a:rPr lang="en-US" altLang="zh-CN" dirty="0"/>
              <a:t>19</a:t>
            </a:r>
          </a:p>
          <a:p>
            <a:pPr marL="0" indent="0">
              <a:buNone/>
            </a:pPr>
            <a:r>
              <a:rPr lang="en-US" altLang="zh-CN" dirty="0"/>
              <a:t>&gt;&gt;&gt;score = float(input('Please input your score:'))</a:t>
            </a:r>
          </a:p>
          <a:p>
            <a:pPr marL="0" indent="0">
              <a:buNone/>
            </a:pPr>
            <a:r>
              <a:rPr lang="en-US" altLang="zh-CN" dirty="0"/>
              <a:t>Please input your score:</a:t>
            </a:r>
            <a:r>
              <a:rPr lang="en-US" altLang="zh-CN" u="sng" dirty="0"/>
              <a:t>75.5↙</a:t>
            </a:r>
          </a:p>
          <a:p>
            <a:pPr marL="0" indent="0">
              <a:buNone/>
            </a:pPr>
            <a:r>
              <a:rPr lang="en-US" altLang="zh-CN" dirty="0"/>
              <a:t>&gt;&gt;&gt;score</a:t>
            </a:r>
          </a:p>
          <a:p>
            <a:pPr marL="0" indent="0">
              <a:buNone/>
            </a:pPr>
            <a:r>
              <a:rPr lang="en-US" altLang="zh-CN" dirty="0"/>
              <a:t>75.5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C3D746-6688-4328-A1F5-A04187B8C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86850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5360" y="260648"/>
            <a:ext cx="9433048" cy="864096"/>
          </a:xfrm>
        </p:spPr>
        <p:txBody>
          <a:bodyPr>
            <a:normAutofit/>
          </a:bodyPr>
          <a:lstStyle/>
          <a:p>
            <a:r>
              <a:rPr lang="en-US" altLang="zh-CN" dirty="0" err="1"/>
              <a:t>Eval</a:t>
            </a:r>
            <a:r>
              <a:rPr lang="en-US" altLang="zh-CN" dirty="0"/>
              <a:t> </a:t>
            </a:r>
            <a:r>
              <a:rPr lang="zh-CN" altLang="en-US" dirty="0"/>
              <a:t>多数据同时输入</a:t>
            </a:r>
            <a:r>
              <a:rPr lang="en-US" altLang="zh-CN" dirty="0"/>
              <a:t>: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52394" y="2420888"/>
            <a:ext cx="10852150" cy="3344158"/>
          </a:xfrm>
          <a:solidFill>
            <a:schemeClr val="bg1">
              <a:lumMod val="85000"/>
            </a:schemeClr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sz="2400" dirty="0">
                <a:solidFill>
                  <a:schemeClr val="tx2"/>
                </a:solidFill>
              </a:rPr>
              <a:t>&gt;&gt;&gt; </a:t>
            </a:r>
            <a:r>
              <a:rPr lang="en-US" altLang="zh-CN" sz="2400" dirty="0" err="1">
                <a:solidFill>
                  <a:schemeClr val="tx2"/>
                </a:solidFill>
              </a:rPr>
              <a:t>eval</a:t>
            </a:r>
            <a:r>
              <a:rPr lang="en-US" altLang="zh-CN" sz="2400" dirty="0">
                <a:solidFill>
                  <a:schemeClr val="tx2"/>
                </a:solidFill>
              </a:rPr>
              <a:t>(‘1+2’</a:t>
            </a:r>
            <a:r>
              <a:rPr lang="zh-CN" altLang="en-US" sz="2400" dirty="0">
                <a:solidFill>
                  <a:schemeClr val="tx2"/>
                </a:solidFill>
              </a:rPr>
              <a:t>）   </a:t>
            </a:r>
            <a:r>
              <a:rPr lang="en-US" altLang="zh-CN" sz="2400" dirty="0">
                <a:solidFill>
                  <a:schemeClr val="tx2"/>
                </a:solidFill>
              </a:rPr>
              <a:t># </a:t>
            </a:r>
            <a:r>
              <a:rPr lang="zh-CN" altLang="en-US" sz="2400" dirty="0">
                <a:solidFill>
                  <a:schemeClr val="tx2"/>
                </a:solidFill>
              </a:rPr>
              <a:t>表达式</a:t>
            </a:r>
            <a:endParaRPr lang="en-US" altLang="zh-CN" sz="24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chemeClr val="tx2"/>
                </a:solidFill>
              </a:rPr>
              <a:t>3</a:t>
            </a:r>
          </a:p>
          <a:p>
            <a:pPr marL="0" indent="0">
              <a:buNone/>
            </a:pPr>
            <a:r>
              <a:rPr lang="pt-BR" altLang="zh-CN" sz="2400" dirty="0">
                <a:solidFill>
                  <a:schemeClr val="tx2"/>
                </a:solidFill>
              </a:rPr>
              <a:t>&gt;&gt;&gt; a = 100</a:t>
            </a:r>
          </a:p>
          <a:p>
            <a:pPr marL="0" indent="0">
              <a:buNone/>
            </a:pPr>
            <a:r>
              <a:rPr lang="pt-BR" altLang="zh-CN" sz="2400" dirty="0">
                <a:solidFill>
                  <a:schemeClr val="tx2"/>
                </a:solidFill>
              </a:rPr>
              <a:t>&gt;&gt;&gt; b = eval('a / 2.0')</a:t>
            </a:r>
          </a:p>
          <a:p>
            <a:pPr marL="0" indent="0">
              <a:buNone/>
            </a:pPr>
            <a:r>
              <a:rPr lang="pt-BR" altLang="zh-CN" sz="2400" dirty="0">
                <a:solidFill>
                  <a:schemeClr val="tx2"/>
                </a:solidFill>
              </a:rPr>
              <a:t>&gt;&gt;&gt; b</a:t>
            </a:r>
          </a:p>
          <a:p>
            <a:pPr marL="0" indent="0">
              <a:buNone/>
            </a:pPr>
            <a:r>
              <a:rPr lang="pt-BR" altLang="zh-CN" sz="2400" dirty="0">
                <a:solidFill>
                  <a:schemeClr val="tx2"/>
                </a:solidFill>
              </a:rPr>
              <a:t>50.0</a:t>
            </a:r>
            <a:endParaRPr lang="en-US" altLang="zh-CN" sz="2400" dirty="0">
              <a:solidFill>
                <a:schemeClr val="tx2"/>
              </a:solidFill>
            </a:endParaRPr>
          </a:p>
          <a:p>
            <a:endParaRPr lang="zh-CN" altLang="en-US" sz="24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chemeClr val="tx2"/>
                </a:solidFill>
              </a:rPr>
              <a:t>&gt;&gt;&gt; </a:t>
            </a:r>
            <a:r>
              <a:rPr lang="en-US" altLang="zh-CN" sz="2400" dirty="0" err="1">
                <a:solidFill>
                  <a:schemeClr val="tx2"/>
                </a:solidFill>
              </a:rPr>
              <a:t>eval</a:t>
            </a:r>
            <a:r>
              <a:rPr lang="en-US" altLang="zh-CN" sz="2400" dirty="0">
                <a:solidFill>
                  <a:schemeClr val="tx2"/>
                </a:solidFill>
              </a:rPr>
              <a:t>(‘help(</a:t>
            </a:r>
            <a:r>
              <a:rPr lang="en-US" altLang="zh-CN" sz="2400" dirty="0" err="1">
                <a:solidFill>
                  <a:schemeClr val="tx2"/>
                </a:solidFill>
              </a:rPr>
              <a:t>eval</a:t>
            </a:r>
            <a:r>
              <a:rPr lang="en-US" altLang="zh-CN" sz="2400" dirty="0">
                <a:solidFill>
                  <a:schemeClr val="tx2"/>
                </a:solidFill>
              </a:rPr>
              <a:t>)’)   # </a:t>
            </a:r>
            <a:r>
              <a:rPr lang="zh-CN" altLang="en-US" sz="2400" dirty="0">
                <a:solidFill>
                  <a:schemeClr val="tx2"/>
                </a:solidFill>
              </a:rPr>
              <a:t>执行代码</a:t>
            </a:r>
            <a:endParaRPr lang="en-US" altLang="zh-CN" sz="2400" dirty="0">
              <a:solidFill>
                <a:schemeClr val="tx2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921214" y="1283569"/>
            <a:ext cx="8415146" cy="792088"/>
          </a:xfrm>
          <a:prstGeom prst="rect">
            <a:avLst/>
          </a:prstGeom>
          <a:noFill/>
          <a:ln>
            <a:solidFill>
              <a:schemeClr val="bg2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b="1" dirty="0">
                <a:latin typeface="+mj-ea"/>
                <a:ea typeface="+mj-ea"/>
              </a:rPr>
              <a:t>eval(</a:t>
            </a:r>
            <a:r>
              <a:rPr lang="zh-CN" altLang="en-US" sz="2800" b="1" dirty="0">
                <a:latin typeface="+mj-ea"/>
                <a:ea typeface="+mj-ea"/>
              </a:rPr>
              <a:t>代码</a:t>
            </a:r>
            <a:r>
              <a:rPr lang="en-US" altLang="zh-CN" sz="2800" b="1" dirty="0">
                <a:latin typeface="+mj-ea"/>
                <a:ea typeface="+mj-ea"/>
              </a:rPr>
              <a:t>/</a:t>
            </a:r>
            <a:r>
              <a:rPr lang="zh-CN" altLang="en-US" sz="2800" b="1" dirty="0">
                <a:latin typeface="+mj-ea"/>
                <a:ea typeface="+mj-ea"/>
              </a:rPr>
              <a:t>表达式</a:t>
            </a:r>
            <a:r>
              <a:rPr lang="en-US" altLang="zh-CN" sz="2800" b="1" dirty="0">
                <a:latin typeface="+mj-ea"/>
                <a:ea typeface="+mj-ea"/>
              </a:rPr>
              <a:t>)</a:t>
            </a:r>
            <a:endParaRPr lang="zh-CN" altLang="en-US" sz="2800" b="1" dirty="0">
              <a:latin typeface="+mj-ea"/>
              <a:ea typeface="+mj-ea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4211076" y="2783540"/>
            <a:ext cx="71640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7AC9B0-2863-4AF8-9C57-DFE8094A0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65424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&gt;&gt;&gt; a, b, c = eval(input('</a:t>
            </a:r>
            <a:r>
              <a:rPr lang="en-US" altLang="zh-CN" sz="2400" dirty="0" err="1"/>
              <a:t>a,b,c</a:t>
            </a:r>
            <a:r>
              <a:rPr lang="en-US" altLang="zh-CN" sz="2400" dirty="0"/>
              <a:t>='))</a:t>
            </a:r>
          </a:p>
          <a:p>
            <a:pPr marL="0" indent="0">
              <a:buNone/>
            </a:pPr>
            <a:r>
              <a:rPr lang="en-US" altLang="zh-CN" sz="2400" dirty="0"/>
              <a:t>     # </a:t>
            </a:r>
            <a:r>
              <a:rPr lang="zh-CN" altLang="en-US" sz="2400" dirty="0"/>
              <a:t>等价于 </a:t>
            </a:r>
            <a:r>
              <a:rPr lang="en-US" altLang="zh-CN" sz="2400" dirty="0" err="1"/>
              <a:t>a,b,c</a:t>
            </a:r>
            <a:r>
              <a:rPr lang="en-US" altLang="zh-CN" sz="2400" dirty="0"/>
              <a:t> = 1,2,3</a:t>
            </a:r>
          </a:p>
          <a:p>
            <a:pPr marL="0" indent="0">
              <a:buNone/>
            </a:pPr>
            <a:r>
              <a:rPr lang="en-US" altLang="zh-CN" sz="2400" dirty="0" err="1"/>
              <a:t>a,b,c</a:t>
            </a:r>
            <a:r>
              <a:rPr lang="en-US" altLang="zh-CN" sz="2400" dirty="0"/>
              <a:t>=1,2,3↙</a:t>
            </a:r>
          </a:p>
          <a:p>
            <a:pPr marL="0" indent="0">
              <a:buNone/>
            </a:pPr>
            <a:r>
              <a:rPr lang="en-US" altLang="zh-CN" sz="2400" dirty="0"/>
              <a:t>&gt;&gt;&gt; a</a:t>
            </a:r>
          </a:p>
          <a:p>
            <a:pPr marL="0" indent="0">
              <a:buNone/>
            </a:pPr>
            <a:r>
              <a:rPr lang="en-US" altLang="zh-CN" sz="2400" dirty="0"/>
              <a:t>1</a:t>
            </a:r>
          </a:p>
          <a:p>
            <a:pPr marL="0" indent="0">
              <a:buNone/>
            </a:pPr>
            <a:r>
              <a:rPr lang="en-US" altLang="zh-CN" sz="2400" dirty="0"/>
              <a:t>&gt;&gt;&gt; b</a:t>
            </a:r>
          </a:p>
          <a:p>
            <a:pPr marL="0" indent="0">
              <a:buNone/>
            </a:pPr>
            <a:r>
              <a:rPr lang="en-US" altLang="zh-CN" sz="2400" dirty="0"/>
              <a:t>2</a:t>
            </a:r>
          </a:p>
          <a:p>
            <a:pPr marL="0" indent="0">
              <a:buNone/>
            </a:pPr>
            <a:r>
              <a:rPr lang="en-US" altLang="zh-CN" sz="2400" dirty="0"/>
              <a:t>&gt;&gt;&gt; c</a:t>
            </a:r>
          </a:p>
          <a:p>
            <a:pPr marL="0" indent="0">
              <a:buNone/>
            </a:pPr>
            <a:r>
              <a:rPr lang="en-US" altLang="zh-CN" sz="2400" dirty="0"/>
              <a:t>3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AEC799-1C47-4017-BFE0-6866D9678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3330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注意</a:t>
            </a:r>
            <a:r>
              <a:rPr lang="en-US" altLang="zh-CN" dirty="0"/>
              <a:t>】</a:t>
            </a:r>
          </a:p>
          <a:p>
            <a:pPr lvl="1"/>
            <a:r>
              <a:rPr lang="en-US" altLang="zh-CN" dirty="0" err="1"/>
              <a:t>eval</a:t>
            </a:r>
            <a:r>
              <a:rPr lang="zh-CN" altLang="en-US" dirty="0"/>
              <a:t>处理对象是表达式，要求要有返回值</a:t>
            </a:r>
            <a:endParaRPr lang="en-US" altLang="zh-CN" dirty="0"/>
          </a:p>
          <a:p>
            <a:pPr lvl="1"/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X = </a:t>
            </a:r>
            <a:r>
              <a:rPr lang="en-US" altLang="zh-CN" dirty="0" err="1"/>
              <a:t>eval</a:t>
            </a:r>
            <a:r>
              <a:rPr lang="en-US" altLang="zh-CN" dirty="0"/>
              <a:t>(‘2*3’)    # X=6</a:t>
            </a:r>
          </a:p>
          <a:p>
            <a:pPr marL="457200" lvl="1" indent="0">
              <a:buNone/>
            </a:pPr>
            <a:r>
              <a:rPr lang="en-US" altLang="zh-CN" dirty="0"/>
              <a:t>Y = </a:t>
            </a:r>
            <a:r>
              <a:rPr lang="en-US" altLang="zh-CN" dirty="0" err="1"/>
              <a:t>eval</a:t>
            </a:r>
            <a:r>
              <a:rPr lang="en-US" altLang="zh-CN" dirty="0"/>
              <a:t>(‘b=2*3’)	 # </a:t>
            </a:r>
            <a:r>
              <a:rPr lang="zh-CN" altLang="en-US" dirty="0"/>
              <a:t>出错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3389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260648"/>
            <a:ext cx="12192000" cy="864096"/>
          </a:xfrm>
        </p:spPr>
        <p:txBody>
          <a:bodyPr>
            <a:normAutofit/>
          </a:bodyPr>
          <a:lstStyle/>
          <a:p>
            <a:r>
              <a:rPr lang="zh-CN" altLang="en-US" dirty="0"/>
              <a:t>多数据同时输入</a:t>
            </a:r>
            <a:r>
              <a:rPr lang="en-US" altLang="zh-CN" dirty="0"/>
              <a:t>: </a:t>
            </a:r>
            <a:r>
              <a:rPr lang="zh-CN" altLang="en-US" dirty="0"/>
              <a:t>用字符串切片</a:t>
            </a:r>
          </a:p>
        </p:txBody>
      </p:sp>
      <p:sp>
        <p:nvSpPr>
          <p:cNvPr id="4" name="矩形 3"/>
          <p:cNvSpPr/>
          <p:nvPr/>
        </p:nvSpPr>
        <p:spPr>
          <a:xfrm>
            <a:off x="479376" y="1283569"/>
            <a:ext cx="9217024" cy="792088"/>
          </a:xfrm>
          <a:prstGeom prst="rect">
            <a:avLst/>
          </a:prstGeom>
          <a:noFill/>
          <a:ln>
            <a:solidFill>
              <a:schemeClr val="bg2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字符串切片：</a:t>
            </a:r>
            <a:r>
              <a:rPr lang="en-US" altLang="zh-CN" sz="3200" b="1" dirty="0" err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S.split</a:t>
            </a:r>
            <a:r>
              <a:rPr lang="en-US" altLang="zh-CN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3200" b="1" dirty="0" err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sep</a:t>
            </a:r>
            <a:r>
              <a:rPr lang="en-US" altLang="zh-CN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en-US" altLang="zh-CN" sz="3200" b="1" dirty="0" err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maxsplit</a:t>
            </a:r>
            <a:r>
              <a:rPr lang="en-US" altLang="zh-CN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32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4211076" y="3166300"/>
            <a:ext cx="71640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399952" y="2246323"/>
            <a:ext cx="108957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：被切片的字符串，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sep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：用什么字符切，省略则用空白字符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空格、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Tab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和回车），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maxsplit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：切片的次数，省略则不限制切片次数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返回切片后子串的列表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1FAA6D-692C-4FF0-8A84-5CE43A71A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3125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字符串的切片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360" y="1160145"/>
            <a:ext cx="11744200" cy="5365199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&gt;&gt;&gt; '1 2 3'.split(' ',1)	   # '1 2 3'</a:t>
            </a:r>
            <a:r>
              <a:rPr lang="zh-CN" altLang="en-US" sz="2400" dirty="0"/>
              <a:t>的</a:t>
            </a:r>
            <a:r>
              <a:rPr lang="en-US" altLang="zh-CN" sz="2400" dirty="0"/>
              <a:t>1</a:t>
            </a:r>
            <a:r>
              <a:rPr lang="zh-CN" altLang="en-US" sz="2400" dirty="0"/>
              <a:t>、</a:t>
            </a:r>
            <a:r>
              <a:rPr lang="en-US" altLang="zh-CN" sz="2400" dirty="0"/>
              <a:t>2</a:t>
            </a:r>
            <a:r>
              <a:rPr lang="zh-CN" altLang="en-US" sz="2400" dirty="0"/>
              <a:t>、</a:t>
            </a:r>
            <a:r>
              <a:rPr lang="en-US" altLang="zh-CN" sz="2400" dirty="0"/>
              <a:t>3</a:t>
            </a:r>
            <a:r>
              <a:rPr lang="zh-CN" altLang="en-US" sz="2400" dirty="0"/>
              <a:t>之间有个空格，共切片</a:t>
            </a:r>
            <a:r>
              <a:rPr lang="en-US" altLang="zh-CN" sz="2400" dirty="0"/>
              <a:t>1</a:t>
            </a:r>
            <a:r>
              <a:rPr lang="zh-CN" altLang="en-US" sz="2400" dirty="0"/>
              <a:t>次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['1', '2 3']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&gt;&gt;&gt; '1 2\t3\n4 5'.split()  # </a:t>
            </a:r>
            <a:r>
              <a:rPr lang="zh-CN" altLang="en-US" sz="2400" dirty="0"/>
              <a:t>字符串的</a:t>
            </a:r>
            <a:r>
              <a:rPr lang="en-US" altLang="zh-CN" sz="2400" dirty="0"/>
              <a:t>1</a:t>
            </a:r>
            <a:r>
              <a:rPr lang="zh-CN" altLang="en-US" sz="2400" dirty="0"/>
              <a:t>、</a:t>
            </a:r>
            <a:r>
              <a:rPr lang="en-US" altLang="zh-CN" sz="2400" dirty="0"/>
              <a:t>2</a:t>
            </a:r>
            <a:r>
              <a:rPr lang="zh-CN" altLang="en-US" sz="2400" dirty="0"/>
              <a:t>之间和</a:t>
            </a:r>
            <a:r>
              <a:rPr lang="en-US" altLang="zh-CN" sz="2400" dirty="0"/>
              <a:t>4</a:t>
            </a:r>
            <a:r>
              <a:rPr lang="zh-CN" altLang="en-US" sz="2400" dirty="0"/>
              <a:t>、</a:t>
            </a:r>
            <a:r>
              <a:rPr lang="en-US" altLang="zh-CN" sz="2400" dirty="0"/>
              <a:t>5</a:t>
            </a:r>
            <a:r>
              <a:rPr lang="zh-CN" altLang="en-US" sz="2400" dirty="0"/>
              <a:t>之间有个空格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['1', '2', '3', '4', '5']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&gt;&gt;&gt; '1,2,3,4,5'.split(',')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['1', '2', '3', '4', '5']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&gt;&gt;&gt; input('Please input 5 number:').split()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Please input 5 number:1 2 3 4 5↙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['1', '2', '3', '4', '5</a:t>
            </a:r>
            <a:r>
              <a:rPr lang="en-US" altLang="zh-CN" sz="2800" dirty="0">
                <a:solidFill>
                  <a:srgbClr val="0070C0"/>
                </a:solidFill>
              </a:rPr>
              <a:t>']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800" dirty="0">
              <a:solidFill>
                <a:srgbClr val="0070C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800" dirty="0">
                <a:solidFill>
                  <a:srgbClr val="0070C0"/>
                </a:solidFill>
              </a:rPr>
              <a:t>【</a:t>
            </a:r>
            <a:r>
              <a:rPr lang="zh-CN" altLang="en-US" sz="2800" dirty="0">
                <a:solidFill>
                  <a:srgbClr val="0070C0"/>
                </a:solidFill>
              </a:rPr>
              <a:t>练习</a:t>
            </a:r>
            <a:r>
              <a:rPr lang="en-US" altLang="zh-CN" sz="2800" dirty="0">
                <a:solidFill>
                  <a:srgbClr val="0070C0"/>
                </a:solidFill>
              </a:rPr>
              <a:t>】</a:t>
            </a:r>
            <a:r>
              <a:rPr lang="zh-CN" altLang="en-US" sz="2800" dirty="0">
                <a:solidFill>
                  <a:srgbClr val="0070C0"/>
                </a:solidFill>
              </a:rPr>
              <a:t>用户输入当前的时间，例如</a:t>
            </a:r>
            <a:r>
              <a:rPr lang="en-US" altLang="zh-CN" sz="2800" dirty="0">
                <a:solidFill>
                  <a:srgbClr val="0070C0"/>
                </a:solidFill>
              </a:rPr>
              <a:t>:”10:05:20”</a:t>
            </a:r>
            <a:r>
              <a:rPr lang="zh-CN" altLang="en-US" sz="2800" dirty="0">
                <a:solidFill>
                  <a:srgbClr val="0070C0"/>
                </a:solidFill>
              </a:rPr>
              <a:t>，请把小时，分钟和秒钟输出</a:t>
            </a:r>
            <a:endParaRPr lang="en-US" altLang="zh-CN" sz="2800" dirty="0">
              <a:solidFill>
                <a:srgbClr val="0070C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3A8B25-935A-4785-8400-FDA0F44E3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7098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多数据同时输入</a:t>
            </a:r>
            <a:r>
              <a:rPr lang="en-US" altLang="zh-CN" dirty="0"/>
              <a:t>: </a:t>
            </a:r>
            <a:r>
              <a:rPr lang="zh-CN" altLang="en-US" dirty="0"/>
              <a:t>用</a:t>
            </a:r>
            <a:r>
              <a:rPr lang="en-US" altLang="zh-CN" dirty="0"/>
              <a:t>map()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21214" y="4452787"/>
            <a:ext cx="10734804" cy="21445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&gt;&gt;&gt; w = list(map(int, input('Please input 5 number:').split(';')))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chemeClr val="tx2"/>
                </a:solidFill>
              </a:rPr>
              <a:t>Please input 5 number:1;2;3;4;5↙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chemeClr val="tx2"/>
                </a:solidFill>
              </a:rPr>
              <a:t>&gt;&gt;&gt; w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chemeClr val="tx2"/>
                </a:solidFill>
              </a:rPr>
              <a:t>[1, 2, 3, 4, </a:t>
            </a:r>
            <a:r>
              <a:rPr lang="en-US" altLang="zh-CN" dirty="0">
                <a:solidFill>
                  <a:schemeClr val="tx2"/>
                </a:solidFill>
              </a:rPr>
              <a:t>5]</a:t>
            </a:r>
          </a:p>
        </p:txBody>
      </p:sp>
      <p:sp>
        <p:nvSpPr>
          <p:cNvPr id="4" name="矩形 3"/>
          <p:cNvSpPr/>
          <p:nvPr/>
        </p:nvSpPr>
        <p:spPr>
          <a:xfrm>
            <a:off x="921214" y="1283569"/>
            <a:ext cx="7920000" cy="792088"/>
          </a:xfrm>
          <a:prstGeom prst="rect">
            <a:avLst/>
          </a:prstGeom>
          <a:noFill/>
          <a:ln>
            <a:solidFill>
              <a:schemeClr val="bg2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b="1" dirty="0">
                <a:latin typeface="+mj-ea"/>
                <a:ea typeface="+mj-ea"/>
              </a:rPr>
              <a:t>map(</a:t>
            </a:r>
            <a:r>
              <a:rPr lang="en-US" altLang="zh-CN" sz="3200" b="1" dirty="0" err="1">
                <a:latin typeface="+mj-ea"/>
                <a:ea typeface="+mj-ea"/>
              </a:rPr>
              <a:t>func</a:t>
            </a:r>
            <a:r>
              <a:rPr lang="en-US" altLang="zh-CN" sz="3200" b="1" dirty="0">
                <a:latin typeface="+mj-ea"/>
                <a:ea typeface="+mj-ea"/>
              </a:rPr>
              <a:t>, *</a:t>
            </a:r>
            <a:r>
              <a:rPr lang="en-US" altLang="zh-CN" sz="3200" b="1" dirty="0" err="1">
                <a:latin typeface="+mj-ea"/>
                <a:ea typeface="+mj-ea"/>
              </a:rPr>
              <a:t>iterables</a:t>
            </a:r>
            <a:r>
              <a:rPr lang="en-US" altLang="zh-CN" sz="3200" b="1" dirty="0">
                <a:latin typeface="+mj-ea"/>
                <a:ea typeface="+mj-ea"/>
              </a:rPr>
              <a:t>)</a:t>
            </a:r>
            <a:endParaRPr lang="zh-CN" altLang="en-US" sz="3200" b="1" dirty="0">
              <a:latin typeface="+mj-ea"/>
              <a:ea typeface="+mj-ea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4211076" y="3595310"/>
            <a:ext cx="71640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816924" y="2210315"/>
            <a:ext cx="1055815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功能：将可迭代对象（例如列表）各元素带入一个函数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func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：函数名（单参数）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iterables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：序列或可迭代对象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将每个元素传递给单参数处理，得到各项函数值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E2026D-CCED-4921-9736-EB63C38D8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1299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334A86-6C8D-46E8-9BB7-B4E84CA80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补充：关于</a:t>
            </a:r>
            <a:r>
              <a:rPr lang="en-US" altLang="zh-CN" dirty="0"/>
              <a:t>map()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F3FCAC-E1E7-44F7-8EDA-E714ABE74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如果有一个函数</a:t>
            </a:r>
            <a:r>
              <a:rPr lang="en-US" altLang="zh-CN" dirty="0"/>
              <a:t>f(x)=x*x</a:t>
            </a:r>
            <a:r>
              <a:rPr lang="zh-CN" altLang="en-US" dirty="0"/>
              <a:t>，要把这个函数作用在一个</a:t>
            </a:r>
            <a:r>
              <a:rPr lang="en-US" altLang="zh-CN" dirty="0"/>
              <a:t>list [1, 2, 3, 4, 5, 6, 7, 8, 9]</a:t>
            </a:r>
            <a:r>
              <a:rPr lang="zh-CN" altLang="en-US" dirty="0"/>
              <a:t>上，就可以用</a:t>
            </a:r>
            <a:r>
              <a:rPr lang="en-US" altLang="zh-CN" dirty="0"/>
              <a:t>map()</a:t>
            </a:r>
            <a:r>
              <a:rPr lang="zh-CN" altLang="en-US" dirty="0"/>
              <a:t>实现如下：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>
              <a:effectLst/>
            </a:endParaRPr>
          </a:p>
          <a:p>
            <a:pPr marL="0" indent="0">
              <a:buNone/>
            </a:pPr>
            <a:r>
              <a:rPr lang="en-US" altLang="zh-CN" sz="2800" dirty="0"/>
              <a:t>&gt;&gt;&gt; </a:t>
            </a:r>
            <a:r>
              <a:rPr lang="en-US" altLang="zh-CN" sz="2800" dirty="0">
                <a:effectLst/>
              </a:rPr>
              <a:t>def f(x): </a:t>
            </a:r>
          </a:p>
          <a:p>
            <a:pPr marL="0" indent="0">
              <a:buNone/>
            </a:pPr>
            <a:r>
              <a:rPr lang="en-US" altLang="zh-CN" sz="2800" dirty="0">
                <a:effectLst/>
              </a:rPr>
              <a:t>   return</a:t>
            </a:r>
            <a:r>
              <a:rPr lang="en-US" altLang="zh-CN" sz="2800" dirty="0"/>
              <a:t> x*</a:t>
            </a:r>
            <a:r>
              <a:rPr lang="en-US" altLang="zh-CN" sz="2800" dirty="0">
                <a:effectLst/>
              </a:rPr>
              <a:t>x </a:t>
            </a:r>
          </a:p>
          <a:p>
            <a:pPr marL="0" indent="0">
              <a:buNone/>
            </a:pPr>
            <a:r>
              <a:rPr lang="en-US" altLang="zh-CN" sz="2800" dirty="0"/>
              <a:t>&gt;&gt;&gt; r = map(f, [1, 2, 3, 4, 5, 6, 7, 8, 9</a:t>
            </a:r>
            <a:r>
              <a:rPr lang="en-US" altLang="zh-CN" sz="2800" dirty="0">
                <a:effectLst/>
              </a:rPr>
              <a:t>]) </a:t>
            </a:r>
          </a:p>
          <a:p>
            <a:pPr marL="0" indent="0">
              <a:buNone/>
            </a:pPr>
            <a:r>
              <a:rPr lang="en-US" altLang="zh-CN" sz="2800" dirty="0"/>
              <a:t>&gt;&gt;&gt;</a:t>
            </a:r>
            <a:r>
              <a:rPr lang="en-US" altLang="zh-CN" sz="2800" dirty="0">
                <a:effectLst/>
              </a:rPr>
              <a:t> list(r) </a:t>
            </a:r>
          </a:p>
          <a:p>
            <a:pPr marL="0" indent="0">
              <a:buNone/>
            </a:pPr>
            <a:r>
              <a:rPr lang="en-US" altLang="zh-CN" sz="2800" dirty="0"/>
              <a:t>[1, 4, 9, 16, 25, 36, 49, 64, 81]</a:t>
            </a:r>
            <a:endParaRPr lang="zh-CN" altLang="en-US" sz="2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6F25C6-52F5-44B5-BF2F-72DECECD1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831906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多数据同时输入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628800"/>
            <a:ext cx="10852150" cy="5437207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&gt;&gt;&gt; x = input('Please input 5 number:')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Please input 5 number:1;2;3;4;5↙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&gt;&gt;&gt; y = </a:t>
            </a:r>
            <a:r>
              <a:rPr lang="en-US" altLang="zh-CN" sz="2400" dirty="0" err="1"/>
              <a:t>x.split</a:t>
            </a:r>
            <a:r>
              <a:rPr lang="en-US" altLang="zh-CN" sz="2400" dirty="0"/>
              <a:t>(';')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&gt;&gt;&gt; 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['1', '2', '3', '4', '5']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&gt;&gt;&gt; z=map(int, y)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&gt;&gt;&gt; z		# </a:t>
            </a:r>
            <a:r>
              <a:rPr lang="zh-CN" altLang="en-US" sz="2400" dirty="0"/>
              <a:t>返回的</a:t>
            </a:r>
            <a:r>
              <a:rPr lang="en-US" altLang="zh-CN" sz="2400" dirty="0"/>
              <a:t>map</a:t>
            </a:r>
            <a:r>
              <a:rPr lang="zh-CN" altLang="en-US" sz="2400" dirty="0"/>
              <a:t>对象是可迭代对象，但不能直接显示其内部各元素值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&lt;map object at 0x000001DE8A273438&gt;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&gt;&gt;&gt; w = list(z)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&gt;&gt;&gt; w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[1, 2, 3, 4, 5]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FE7867-665E-4AB3-811A-D026276DC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36188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标准输出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4293096"/>
            <a:ext cx="10852150" cy="2048014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69925" y="1283569"/>
            <a:ext cx="11409635" cy="792088"/>
          </a:xfrm>
          <a:prstGeom prst="rect">
            <a:avLst/>
          </a:prstGeom>
          <a:noFill/>
          <a:ln>
            <a:solidFill>
              <a:schemeClr val="bg2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600" b="1" dirty="0">
                <a:latin typeface="+mj-ea"/>
                <a:ea typeface="+mj-ea"/>
              </a:rPr>
              <a:t>print(value, ..., </a:t>
            </a:r>
            <a:r>
              <a:rPr lang="en-US" altLang="zh-CN" sz="2600" b="1" dirty="0" err="1">
                <a:latin typeface="+mj-ea"/>
                <a:ea typeface="+mj-ea"/>
              </a:rPr>
              <a:t>sep</a:t>
            </a:r>
            <a:r>
              <a:rPr lang="en-US" altLang="zh-CN" sz="2600" b="1" dirty="0">
                <a:latin typeface="+mj-ea"/>
                <a:ea typeface="+mj-ea"/>
              </a:rPr>
              <a:t>=' ', end='\n', file=</a:t>
            </a:r>
            <a:r>
              <a:rPr lang="en-US" altLang="zh-CN" sz="2600" b="1" dirty="0" err="1">
                <a:latin typeface="+mj-ea"/>
                <a:ea typeface="+mj-ea"/>
              </a:rPr>
              <a:t>sys.stdout</a:t>
            </a:r>
            <a:r>
              <a:rPr lang="en-US" altLang="zh-CN" sz="2600" b="1" dirty="0">
                <a:latin typeface="+mj-ea"/>
                <a:ea typeface="+mj-ea"/>
              </a:rPr>
              <a:t>, flush=False)</a:t>
            </a:r>
            <a:endParaRPr lang="zh-CN" altLang="en-US" sz="2600" b="1" dirty="0">
              <a:latin typeface="+mj-ea"/>
              <a:ea typeface="+mj-ea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4358074" y="3621569"/>
            <a:ext cx="71640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921213" y="2210315"/>
            <a:ext cx="1045386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：指定间隔符，缺省为空格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：指定结尾，缺省为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\n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（即换行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：指定输出流，缺省为屏幕输出 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作用：显示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value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到屏幕或其他对象，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8CD1007-5D6B-4CB3-AA16-547AFC2BF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042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标准输出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360" y="1340768"/>
            <a:ext cx="11744200" cy="48779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&gt;&gt;&gt; print(1, 'OK', 98.12, [1, 2, 3], None)</a:t>
            </a:r>
          </a:p>
          <a:p>
            <a:pPr marL="0" indent="0">
              <a:buNone/>
            </a:pPr>
            <a:r>
              <a:rPr lang="en-US" altLang="zh-CN" sz="2400" dirty="0"/>
              <a:t>1 OK 98.12 [1, 2, 3] None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&gt;&gt;&gt; print(1, 'OK', 98.12, [1, 2, 3], None, </a:t>
            </a:r>
            <a:r>
              <a:rPr lang="en-US" altLang="zh-CN" sz="2400" dirty="0" err="1"/>
              <a:t>sep</a:t>
            </a:r>
            <a:r>
              <a:rPr lang="en-US" altLang="zh-CN" sz="2400" dirty="0"/>
              <a:t>='!'); print('----')</a:t>
            </a:r>
          </a:p>
          <a:p>
            <a:pPr marL="0" indent="0">
              <a:buNone/>
            </a:pPr>
            <a:r>
              <a:rPr lang="en-US" altLang="zh-CN" sz="2400" dirty="0"/>
              <a:t>1!OK!98.12![1, 2, 3]!None</a:t>
            </a:r>
          </a:p>
          <a:p>
            <a:pPr marL="0" indent="0">
              <a:buNone/>
            </a:pPr>
            <a:r>
              <a:rPr lang="en-US" altLang="zh-CN" sz="2400" dirty="0"/>
              <a:t>----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&gt;&gt;&gt;print(1,'OK', 98.12, [1, 2, 3], None, </a:t>
            </a:r>
            <a:r>
              <a:rPr lang="en-US" altLang="zh-CN" sz="2400" dirty="0" err="1"/>
              <a:t>sep</a:t>
            </a:r>
            <a:r>
              <a:rPr lang="en-US" altLang="zh-CN" sz="2400" dirty="0"/>
              <a:t>='!', end='    '); print('----')</a:t>
            </a:r>
          </a:p>
          <a:p>
            <a:pPr marL="0" indent="0">
              <a:buNone/>
            </a:pPr>
            <a:r>
              <a:rPr lang="en-US" altLang="zh-CN" sz="2400" dirty="0"/>
              <a:t>1!OK!98.12![1, 2, 3]!None    ----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B95E03-E63F-4D54-996C-70ECDFB8F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7913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3.3.2 </a:t>
            </a:r>
            <a:r>
              <a:rPr lang="zh-CN" altLang="en-US" dirty="0"/>
              <a:t>格式化输出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小数在标准输出时，小数位数是</a:t>
            </a:r>
            <a:r>
              <a:rPr lang="en-US" altLang="zh-CN" dirty="0"/>
              <a:t>Python</a:t>
            </a:r>
            <a:r>
              <a:rPr lang="zh-CN" altLang="en-US" dirty="0"/>
              <a:t>内部自动控制的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Python</a:t>
            </a:r>
            <a:r>
              <a:rPr lang="zh-CN" altLang="en-US" dirty="0"/>
              <a:t>中，可以用以下方法控制输出内容的格式：</a:t>
            </a:r>
          </a:p>
          <a:p>
            <a:pPr lvl="1"/>
            <a:r>
              <a:rPr lang="en-US" altLang="zh-CN" dirty="0"/>
              <a:t>(1)</a:t>
            </a:r>
            <a:r>
              <a:rPr lang="zh-CN" altLang="en-US" dirty="0"/>
              <a:t>利用字符串格式化运算符</a:t>
            </a:r>
            <a:r>
              <a:rPr lang="en-US" altLang="zh-CN" dirty="0"/>
              <a:t>%</a:t>
            </a:r>
            <a:endParaRPr lang="zh-CN" altLang="en-US" dirty="0"/>
          </a:p>
          <a:p>
            <a:pPr lvl="1"/>
            <a:r>
              <a:rPr lang="en-US" altLang="zh-CN" dirty="0"/>
              <a:t>(2)</a:t>
            </a:r>
            <a:r>
              <a:rPr lang="zh-CN" altLang="en-US" dirty="0"/>
              <a:t>利用内置函数</a:t>
            </a:r>
            <a:r>
              <a:rPr lang="en-US" altLang="zh-CN" dirty="0"/>
              <a:t>format()</a:t>
            </a:r>
            <a:endParaRPr lang="zh-CN" altLang="en-US" dirty="0"/>
          </a:p>
          <a:p>
            <a:pPr lvl="1"/>
            <a:r>
              <a:rPr lang="en-US" altLang="zh-CN" dirty="0"/>
              <a:t>(3)</a:t>
            </a:r>
            <a:r>
              <a:rPr lang="zh-CN" altLang="en-US" dirty="0"/>
              <a:t>利用字符串的</a:t>
            </a:r>
            <a:r>
              <a:rPr lang="en-US" altLang="zh-CN" dirty="0"/>
              <a:t>format()</a:t>
            </a:r>
            <a:r>
              <a:rPr lang="zh-CN" altLang="en-US" dirty="0"/>
              <a:t>方法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4971ED-930E-49D4-BC4A-0375358E6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11392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(1)</a:t>
            </a:r>
            <a:r>
              <a:rPr lang="zh-CN" altLang="en-US" dirty="0"/>
              <a:t>用</a:t>
            </a:r>
            <a:r>
              <a:rPr lang="en-US" altLang="zh-CN" dirty="0"/>
              <a:t>%(</a:t>
            </a:r>
            <a:r>
              <a:rPr lang="zh-CN" altLang="en-US" dirty="0"/>
              <a:t>字符串格式化运算符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&gt;&gt;&gt; name = </a:t>
            </a:r>
            <a:r>
              <a:rPr lang="zh-CN" altLang="en-US" sz="2400" dirty="0"/>
              <a:t>“王小乐”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&gt;&gt;&gt; print(“</a:t>
            </a:r>
            <a:r>
              <a:rPr lang="zh-CN" altLang="en-US" sz="2400" dirty="0"/>
              <a:t>你好，</a:t>
            </a:r>
            <a:r>
              <a:rPr lang="en-US" altLang="zh-CN" sz="2400" dirty="0"/>
              <a:t>%s</a:t>
            </a:r>
            <a:r>
              <a:rPr lang="zh-CN" altLang="en-US" sz="2400" dirty="0"/>
              <a:t>！</a:t>
            </a:r>
            <a:r>
              <a:rPr lang="en-US" altLang="zh-CN" sz="2400" dirty="0"/>
              <a:t>”%(name))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dirty="0"/>
              <a:t>你好，王小乐！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&gt;&gt;&gt; print(“Name: %s, Age: %d, Height: %f“ %(“Tom", 25, 1.83))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Name: Tom, Age: 25, Height: 1.830000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692859-F2AC-4676-B993-4C769522B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97743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4588110"/>
              </p:ext>
            </p:extLst>
          </p:nvPr>
        </p:nvGraphicFramePr>
        <p:xfrm>
          <a:off x="551384" y="188640"/>
          <a:ext cx="11305256" cy="640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1873">
                  <a:extLst>
                    <a:ext uri="{9D8B030D-6E8A-4147-A177-3AD203B41FA5}">
                      <a16:colId xmlns:a16="http://schemas.microsoft.com/office/drawing/2014/main" val="966607137"/>
                    </a:ext>
                  </a:extLst>
                </a:gridCol>
                <a:gridCol w="9553383">
                  <a:extLst>
                    <a:ext uri="{9D8B030D-6E8A-4147-A177-3AD203B41FA5}">
                      <a16:colId xmlns:a16="http://schemas.microsoft.com/office/drawing/2014/main" val="4084288185"/>
                    </a:ext>
                  </a:extLst>
                </a:gridCol>
              </a:tblGrid>
              <a:tr h="400545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格式符号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格式化结果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631859"/>
                  </a:ext>
                </a:extLst>
              </a:tr>
              <a:tr h="400545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%%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字符百分号</a:t>
                      </a: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%</a:t>
                      </a:r>
                      <a:r>
                        <a:rPr lang="zh-CN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。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5288133"/>
                  </a:ext>
                </a:extLst>
              </a:tr>
              <a:tr h="400545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%c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单个字符。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3141486"/>
                  </a:ext>
                </a:extLst>
              </a:tr>
              <a:tr h="400545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%s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字符串，等价于</a:t>
                      </a: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str()</a:t>
                      </a:r>
                      <a:r>
                        <a:rPr lang="zh-CN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的返回值。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542693"/>
                  </a:ext>
                </a:extLst>
              </a:tr>
              <a:tr h="400545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%r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字符串，等价于</a:t>
                      </a: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repr()</a:t>
                      </a:r>
                      <a:r>
                        <a:rPr lang="zh-CN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的返回值。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3894962"/>
                  </a:ext>
                </a:extLst>
              </a:tr>
              <a:tr h="400545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%d</a:t>
                      </a:r>
                      <a:r>
                        <a:rPr lang="zh-CN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%i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十进制整数。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7089962"/>
                  </a:ext>
                </a:extLst>
              </a:tr>
              <a:tr h="400545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%o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八进制整数。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753903"/>
                  </a:ext>
                </a:extLst>
              </a:tr>
              <a:tr h="400545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%x</a:t>
                      </a:r>
                      <a:r>
                        <a:rPr lang="zh-CN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%X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十六进制整数，其中的字符用小写或大写。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8237527"/>
                  </a:ext>
                </a:extLst>
              </a:tr>
              <a:tr h="400545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%e</a:t>
                      </a:r>
                      <a:r>
                        <a:rPr lang="zh-CN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%E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科学计数法表示的浮点数，用</a:t>
                      </a: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zh-CN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zh-CN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表示。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8916873"/>
                  </a:ext>
                </a:extLst>
              </a:tr>
              <a:tr h="400545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%f</a:t>
                      </a:r>
                      <a:r>
                        <a:rPr lang="zh-CN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%F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非科学计数法表示的浮点数。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238544"/>
                  </a:ext>
                </a:extLst>
              </a:tr>
              <a:tr h="400545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%g</a:t>
                      </a:r>
                      <a:r>
                        <a:rPr lang="zh-CN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%G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浮点数，系统自动根据值的大小采用</a:t>
                      </a: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%e</a:t>
                      </a:r>
                      <a:r>
                        <a:rPr lang="zh-CN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%E</a:t>
                      </a:r>
                      <a:r>
                        <a:rPr lang="zh-CN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%f</a:t>
                      </a:r>
                      <a:r>
                        <a:rPr lang="zh-CN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%F</a:t>
                      </a:r>
                      <a:r>
                        <a:rPr lang="zh-CN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。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8459104"/>
                  </a:ext>
                </a:extLst>
              </a:tr>
              <a:tr h="400545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左对齐输出。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889406"/>
                  </a:ext>
                </a:extLst>
              </a:tr>
              <a:tr h="400545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对正数加正号。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2782200"/>
                  </a:ext>
                </a:extLst>
              </a:tr>
              <a:tr h="400545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空位用</a:t>
                      </a: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填充。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8637133"/>
                  </a:ext>
                </a:extLst>
              </a:tr>
              <a:tr h="400545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zh-CN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是数字，指定最小宽度。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0236192"/>
                  </a:ext>
                </a:extLst>
              </a:tr>
              <a:tr h="400545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.n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是数字，指定精度，采用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%e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%E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%f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%F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%g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%G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时含义不同。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20693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B0EB943-2927-48C5-88C2-1E407993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683994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360" y="1268760"/>
            <a:ext cx="11744200" cy="5256584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&gt;&gt;&gt; name="</a:t>
            </a:r>
            <a:r>
              <a:rPr lang="zh-CN" altLang="en-US" sz="2400" dirty="0"/>
              <a:t>王小乐</a:t>
            </a:r>
            <a:r>
              <a:rPr lang="en-US" altLang="zh-CN" sz="2400" dirty="0"/>
              <a:t>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&gt;&gt;&gt; print("%s</a:t>
            </a:r>
            <a:r>
              <a:rPr lang="zh-CN" altLang="en-US" sz="2400" dirty="0"/>
              <a:t>，早上好！</a:t>
            </a:r>
            <a:r>
              <a:rPr lang="en-US" altLang="zh-CN" sz="2400" dirty="0"/>
              <a:t>" % (name))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dirty="0"/>
              <a:t>王小乐，早上好！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&gt;&gt;&gt; print(“%10s</a:t>
            </a:r>
            <a:r>
              <a:rPr lang="zh-CN" altLang="en-US" sz="2400" dirty="0"/>
              <a:t>，早上好！</a:t>
            </a:r>
            <a:r>
              <a:rPr lang="en-US" altLang="zh-CN" sz="2400" dirty="0"/>
              <a:t>” % (name))	# </a:t>
            </a:r>
            <a:r>
              <a:rPr lang="zh-CN" altLang="en-US" sz="2400" dirty="0"/>
              <a:t>字符串宽度为</a:t>
            </a:r>
            <a:r>
              <a:rPr lang="en-US" altLang="zh-CN" sz="2400" dirty="0"/>
              <a:t>10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       </a:t>
            </a:r>
            <a:r>
              <a:rPr lang="zh-CN" altLang="en-US" sz="2400" dirty="0"/>
              <a:t>王小乐，早上好！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&gt;&gt;&gt; print(“%-10s</a:t>
            </a:r>
            <a:r>
              <a:rPr lang="zh-CN" altLang="en-US" sz="2400" dirty="0"/>
              <a:t>，早上好！</a:t>
            </a:r>
            <a:r>
              <a:rPr lang="en-US" altLang="zh-CN" sz="2400" dirty="0"/>
              <a:t>” % (name))	# -</a:t>
            </a:r>
            <a:r>
              <a:rPr lang="zh-CN" altLang="en-US" sz="2400" dirty="0"/>
              <a:t>表示左对齐，默认是右对齐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dirty="0"/>
              <a:t>王小乐       ，早上好！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&gt;&gt;&gt; print(“%010d” % (12345))	# </a:t>
            </a:r>
            <a:r>
              <a:rPr lang="zh-CN" altLang="en-US" sz="2400" dirty="0"/>
              <a:t>整数宽度为</a:t>
            </a:r>
            <a:r>
              <a:rPr lang="en-US" altLang="zh-CN" sz="2400" dirty="0"/>
              <a:t>10</a:t>
            </a:r>
            <a:r>
              <a:rPr lang="zh-CN" altLang="en-US" sz="2400" dirty="0"/>
              <a:t>，不满</a:t>
            </a:r>
            <a:r>
              <a:rPr lang="en-US" altLang="zh-CN" sz="2400" dirty="0"/>
              <a:t>10</a:t>
            </a:r>
            <a:r>
              <a:rPr lang="zh-CN" altLang="en-US" sz="2400" dirty="0"/>
              <a:t>位前面补</a:t>
            </a:r>
            <a:r>
              <a:rPr lang="en-US" altLang="zh-CN" sz="2400" dirty="0"/>
              <a:t>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0000012345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&gt;&gt;&gt; print(“%+010d” % (12345))	# </a:t>
            </a:r>
            <a:r>
              <a:rPr lang="zh-CN" altLang="en-US" sz="2400" dirty="0"/>
              <a:t>正数前面加上</a:t>
            </a:r>
            <a:r>
              <a:rPr lang="en-US" altLang="zh-CN" sz="2400" dirty="0"/>
              <a:t>+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+000012345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altLang="zh-CN" sz="2400" dirty="0"/>
              <a:t>&gt;&gt;&gt; print("%+010.2f" %(10.2))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altLang="zh-CN" sz="2400" dirty="0"/>
              <a:t>+000010.20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E3095D-45C2-4230-A8B5-AE96B5141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802324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8E1E7A-FE41-4DB9-A6DC-F8A689005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1FAFC6-52F7-47F1-8555-5ED7D293B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800" dirty="0"/>
              <a:t># </a:t>
            </a:r>
            <a:r>
              <a:rPr lang="zh-CN" altLang="en-US" sz="2800" dirty="0"/>
              <a:t>综合例子：</a:t>
            </a:r>
            <a:endParaRPr lang="en-US" altLang="zh-CN" sz="2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800" dirty="0"/>
              <a:t>&gt;&gt;&gt; print('</a:t>
            </a:r>
            <a:r>
              <a:rPr lang="zh-CN" altLang="en-US" sz="2800" dirty="0"/>
              <a:t>姓名</a:t>
            </a:r>
            <a:r>
              <a:rPr lang="en-US" altLang="zh-CN" sz="2800" dirty="0"/>
              <a:t>:%6s,</a:t>
            </a:r>
            <a:r>
              <a:rPr lang="zh-CN" altLang="en-US" sz="2800" dirty="0"/>
              <a:t>年龄：</a:t>
            </a:r>
            <a:r>
              <a:rPr lang="en-US" altLang="zh-CN" sz="2800" dirty="0"/>
              <a:t>%-3d</a:t>
            </a:r>
            <a:r>
              <a:rPr lang="zh-CN" altLang="en-US" sz="2800" dirty="0"/>
              <a:t>，序号：</a:t>
            </a:r>
            <a:r>
              <a:rPr lang="en-US" altLang="zh-CN" sz="2800" dirty="0"/>
              <a:t>%04d</a:t>
            </a:r>
            <a:r>
              <a:rPr lang="zh-CN" altLang="en-US" sz="2800" dirty="0"/>
              <a:t>，身高：</a:t>
            </a:r>
            <a:r>
              <a:rPr lang="en-US" altLang="zh-CN" sz="2800" dirty="0"/>
              <a:t>%5.2f,\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800" dirty="0"/>
              <a:t>退款：</a:t>
            </a:r>
            <a:r>
              <a:rPr lang="en-US" altLang="zh-CN" sz="2800" dirty="0"/>
              <a:t>%+08.2f' % ('</a:t>
            </a:r>
            <a:r>
              <a:rPr lang="zh-CN" altLang="en-US" sz="2800" dirty="0"/>
              <a:t>王小乐</a:t>
            </a:r>
            <a:r>
              <a:rPr lang="en-US" altLang="zh-CN" sz="2800" dirty="0"/>
              <a:t>',20,3,1.7,130.5))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800" dirty="0"/>
              <a:t>姓名</a:t>
            </a:r>
            <a:r>
              <a:rPr lang="en-US" altLang="zh-CN" sz="2800" dirty="0"/>
              <a:t>:   </a:t>
            </a:r>
            <a:r>
              <a:rPr lang="zh-CN" altLang="en-US" sz="2800" dirty="0"/>
              <a:t>王小乐</a:t>
            </a:r>
            <a:r>
              <a:rPr lang="en-US" altLang="zh-CN" sz="2800" dirty="0"/>
              <a:t>,</a:t>
            </a:r>
            <a:r>
              <a:rPr lang="zh-CN" altLang="en-US" sz="2800" dirty="0"/>
              <a:t>年龄：</a:t>
            </a:r>
            <a:r>
              <a:rPr lang="en-US" altLang="zh-CN" sz="2800" dirty="0"/>
              <a:t>20 </a:t>
            </a:r>
            <a:r>
              <a:rPr lang="zh-CN" altLang="en-US" sz="2800" dirty="0"/>
              <a:t>，序号：</a:t>
            </a:r>
            <a:r>
              <a:rPr lang="en-US" altLang="zh-CN" sz="2800" dirty="0"/>
              <a:t>0003</a:t>
            </a:r>
            <a:r>
              <a:rPr lang="zh-CN" altLang="en-US" sz="2800" dirty="0"/>
              <a:t>，身高： </a:t>
            </a:r>
            <a:r>
              <a:rPr lang="en-US" altLang="zh-CN" sz="2800" dirty="0"/>
              <a:t>1.70,</a:t>
            </a:r>
            <a:r>
              <a:rPr lang="zh-CN" altLang="en-US" sz="2800" dirty="0"/>
              <a:t>退款：</a:t>
            </a:r>
            <a:r>
              <a:rPr lang="en-US" altLang="zh-CN" sz="2800" dirty="0"/>
              <a:t>+0130.50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6E4D26-69E6-45EA-95CA-2F0B86A88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476684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省略</a:t>
            </a:r>
            <a:r>
              <a:rPr lang="en-US" altLang="zh-CN" dirty="0"/>
              <a:t>print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1384" y="1124744"/>
            <a:ext cx="11305255" cy="5733256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&gt;&gt;&gt; ‘%g’ % 12345.456789901234	#</a:t>
            </a:r>
            <a:r>
              <a:rPr lang="zh-CN" altLang="en-US" sz="2400" dirty="0"/>
              <a:t>省略</a:t>
            </a:r>
            <a:r>
              <a:rPr lang="en-US" altLang="zh-CN" sz="2400" dirty="0"/>
              <a:t>print</a:t>
            </a:r>
            <a:r>
              <a:rPr lang="zh-CN" altLang="en-US" sz="2400" dirty="0"/>
              <a:t>的简写形式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# %g</a:t>
            </a:r>
            <a:r>
              <a:rPr lang="zh-CN" altLang="en-US" sz="2400" dirty="0"/>
              <a:t>表示系统自动格式，系统选择采用小数还是科学计数法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'12345.5'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&gt;&gt;&gt; ‘%f' % 12345.456789901234   # %f</a:t>
            </a:r>
            <a:r>
              <a:rPr lang="zh-CN" altLang="en-US" sz="2400" dirty="0"/>
              <a:t>小数形式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'12345.456790'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&gt;&gt;&gt; ‘%e’ % 12345.456789901234  # %e</a:t>
            </a:r>
            <a:r>
              <a:rPr lang="zh-CN" altLang="en-US" sz="2400" dirty="0"/>
              <a:t>指数形式</a:t>
            </a:r>
            <a:r>
              <a:rPr lang="en-US" altLang="zh-CN" sz="2400" dirty="0"/>
              <a:t>,</a:t>
            </a:r>
            <a:r>
              <a:rPr lang="zh-CN" altLang="en-US" sz="2400" dirty="0"/>
              <a:t>还有</a:t>
            </a:r>
            <a:r>
              <a:rPr lang="en-US" altLang="zh-CN" sz="2400" dirty="0"/>
              <a:t>%E</a:t>
            </a:r>
            <a:endParaRPr lang="zh-CN" altLang="en-US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'1.234546e+04'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&gt;&gt;&gt; ‘%14.5f’ % 12345.456789901234	# </a:t>
            </a:r>
            <a:r>
              <a:rPr lang="zh-CN" altLang="en-US" sz="2400" dirty="0"/>
              <a:t>小数形式中的精度，指小数点后的位数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'   12345.45679'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&gt;&gt;&gt; '%14.5e' % 12345.456789901234 # </a:t>
            </a:r>
            <a:r>
              <a:rPr lang="zh-CN" altLang="en-US" sz="2400" dirty="0"/>
              <a:t>指数形式中的精度指前面数字的小数位数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'   1.23455e+04'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8BC840-3BA0-4658-AF5D-2EC1FA879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233259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79376" y="5301208"/>
            <a:ext cx="11161240" cy="115212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(2)format()</a:t>
            </a:r>
            <a:r>
              <a:rPr lang="zh-CN" altLang="en-US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16924" y="2613182"/>
            <a:ext cx="10867572" cy="367709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800" dirty="0"/>
              <a:t>&gt;&gt;&gt; x = 3.1415926</a:t>
            </a:r>
          </a:p>
          <a:p>
            <a:pPr marL="0" indent="0">
              <a:buNone/>
            </a:pPr>
            <a:r>
              <a:rPr lang="en-US" altLang="zh-CN" sz="2800" dirty="0"/>
              <a:t>&gt;&gt;&gt; print(format(x,'10.3f'))</a:t>
            </a:r>
          </a:p>
          <a:p>
            <a:pPr marL="0" indent="0">
              <a:buNone/>
            </a:pPr>
            <a:r>
              <a:rPr lang="en-US" altLang="zh-CN" sz="2800" dirty="0"/>
              <a:t>     3.142</a:t>
            </a:r>
          </a:p>
          <a:p>
            <a:pPr marL="0" indent="0">
              <a:buNone/>
            </a:pPr>
            <a:r>
              <a:rPr lang="zh-CN" altLang="en-US" sz="2800" dirty="0"/>
              <a:t>说明：</a:t>
            </a:r>
            <a:endParaRPr lang="en-US" altLang="zh-CN" sz="2800" dirty="0"/>
          </a:p>
          <a:p>
            <a:r>
              <a:rPr lang="zh-CN" altLang="en-US" sz="2800" dirty="0"/>
              <a:t>省略第二个参数时，</a:t>
            </a:r>
            <a:r>
              <a:rPr lang="en-US" altLang="zh-CN" sz="2800" dirty="0"/>
              <a:t>format</a:t>
            </a:r>
            <a:r>
              <a:rPr lang="zh-CN" altLang="en-US" sz="2800" dirty="0"/>
              <a:t>函数等价于</a:t>
            </a:r>
            <a:r>
              <a:rPr lang="en-US" altLang="zh-CN" sz="2800" dirty="0" err="1"/>
              <a:t>str</a:t>
            </a:r>
            <a:r>
              <a:rPr lang="en-US" altLang="zh-CN" sz="2800" dirty="0"/>
              <a:t>()</a:t>
            </a:r>
          </a:p>
          <a:p>
            <a:r>
              <a:rPr lang="zh-CN" altLang="en-US" sz="2800" dirty="0"/>
              <a:t>第二个参数：</a:t>
            </a:r>
          </a:p>
          <a:p>
            <a:pPr marL="457200" lvl="1" indent="0">
              <a:buNone/>
            </a:pPr>
            <a:r>
              <a:rPr lang="en-US" altLang="zh-CN" sz="2800" dirty="0"/>
              <a:t>d</a:t>
            </a:r>
            <a:r>
              <a:rPr lang="zh-CN" altLang="en-US" sz="2800" dirty="0"/>
              <a:t>整数</a:t>
            </a:r>
            <a:r>
              <a:rPr lang="en-US" altLang="zh-CN" sz="2800" dirty="0"/>
              <a:t>, b</a:t>
            </a:r>
            <a:r>
              <a:rPr lang="zh-CN" altLang="en-US" sz="2800" dirty="0"/>
              <a:t>二进制、</a:t>
            </a:r>
            <a:r>
              <a:rPr lang="en-US" altLang="zh-CN" sz="2800" dirty="0"/>
              <a:t>o</a:t>
            </a:r>
            <a:r>
              <a:rPr lang="zh-CN" altLang="en-US" sz="2800" dirty="0"/>
              <a:t>八进制、</a:t>
            </a:r>
            <a:r>
              <a:rPr lang="en-US" altLang="zh-CN" sz="2800" dirty="0"/>
              <a:t>x</a:t>
            </a:r>
            <a:r>
              <a:rPr lang="zh-CN" altLang="en-US" sz="2800" dirty="0"/>
              <a:t>或</a:t>
            </a:r>
            <a:r>
              <a:rPr lang="en-US" altLang="zh-CN" sz="2800" dirty="0"/>
              <a:t>X</a:t>
            </a:r>
            <a:r>
              <a:rPr lang="zh-CN" altLang="en-US" sz="2800" dirty="0"/>
              <a:t>十六进制</a:t>
            </a:r>
            <a:endParaRPr lang="en-US" altLang="zh-CN" sz="2800" dirty="0"/>
          </a:p>
          <a:p>
            <a:pPr marL="457200" lvl="1" indent="0">
              <a:buNone/>
            </a:pPr>
            <a:r>
              <a:rPr lang="en-US" altLang="zh-CN" sz="2800" dirty="0"/>
              <a:t>f</a:t>
            </a:r>
            <a:r>
              <a:rPr lang="zh-CN" altLang="en-US" sz="2800" dirty="0"/>
              <a:t>小数，</a:t>
            </a:r>
            <a:r>
              <a:rPr lang="en-US" altLang="zh-CN" sz="2800" dirty="0"/>
              <a:t>g</a:t>
            </a:r>
            <a:r>
              <a:rPr lang="zh-CN" altLang="en-US" sz="2800" dirty="0"/>
              <a:t>系统自动格式，</a:t>
            </a:r>
            <a:r>
              <a:rPr lang="en-US" altLang="zh-CN" sz="2800" dirty="0"/>
              <a:t>e</a:t>
            </a:r>
            <a:r>
              <a:rPr lang="zh-CN" altLang="en-US" sz="2800" dirty="0"/>
              <a:t>科学计数法</a:t>
            </a:r>
          </a:p>
        </p:txBody>
      </p:sp>
      <p:sp>
        <p:nvSpPr>
          <p:cNvPr id="4" name="矩形 3"/>
          <p:cNvSpPr/>
          <p:nvPr/>
        </p:nvSpPr>
        <p:spPr>
          <a:xfrm>
            <a:off x="921214" y="1283569"/>
            <a:ext cx="7920000" cy="792088"/>
          </a:xfrm>
          <a:prstGeom prst="rect">
            <a:avLst/>
          </a:prstGeom>
          <a:noFill/>
          <a:ln>
            <a:solidFill>
              <a:schemeClr val="bg2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 dirty="0">
                <a:latin typeface="+mj-ea"/>
                <a:ea typeface="+mj-ea"/>
              </a:rPr>
              <a:t>格式化输出  </a:t>
            </a:r>
            <a:r>
              <a:rPr lang="en-US" altLang="zh-CN" sz="2800" b="1" dirty="0">
                <a:latin typeface="+mj-ea"/>
                <a:ea typeface="+mj-ea"/>
              </a:rPr>
              <a:t>format(</a:t>
            </a:r>
            <a:r>
              <a:rPr lang="zh-CN" altLang="en-US" sz="2800" b="1" dirty="0">
                <a:latin typeface="+mj-ea"/>
                <a:ea typeface="+mj-ea"/>
              </a:rPr>
              <a:t>输出项</a:t>
            </a:r>
            <a:r>
              <a:rPr lang="en-US" altLang="zh-CN" sz="2800" b="1" dirty="0">
                <a:latin typeface="+mj-ea"/>
                <a:ea typeface="+mj-ea"/>
              </a:rPr>
              <a:t>[, </a:t>
            </a:r>
            <a:r>
              <a:rPr lang="zh-CN" altLang="en-US" sz="2800" b="1" dirty="0">
                <a:latin typeface="+mj-ea"/>
                <a:ea typeface="+mj-ea"/>
              </a:rPr>
              <a:t>格式字符串</a:t>
            </a:r>
            <a:r>
              <a:rPr lang="en-US" altLang="zh-CN" sz="2800" b="1" dirty="0">
                <a:latin typeface="+mj-ea"/>
                <a:ea typeface="+mj-ea"/>
              </a:rPr>
              <a:t>])</a:t>
            </a:r>
            <a:endParaRPr lang="zh-CN" altLang="en-US" sz="2800" b="1" dirty="0">
              <a:latin typeface="+mj-ea"/>
              <a:ea typeface="+mj-ea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4211076" y="2733535"/>
            <a:ext cx="71640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4223072B-8480-475E-8A1E-C5C739E7B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2176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13520" y="5301208"/>
            <a:ext cx="11161240" cy="1080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51384" y="2420888"/>
            <a:ext cx="11161240" cy="158417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10852150" cy="55092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>
                <a:solidFill>
                  <a:schemeClr val="tx1">
                    <a:lumMod val="95000"/>
                  </a:schemeClr>
                </a:solidFill>
              </a:rPr>
              <a:t>&gt;&gt;&gt; print(format(162.28193, 'e'), format(162.28193, 'g‘),\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chemeClr val="tx1">
                    <a:lumMod val="95000"/>
                  </a:schemeClr>
                </a:solidFill>
              </a:rPr>
              <a:t> format(162.28193, 'f'))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chemeClr val="tx1">
                    <a:lumMod val="95000"/>
                  </a:schemeClr>
                </a:solidFill>
              </a:rPr>
              <a:t>1.622819e+02  162.282  162.281930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BD60A6-3BED-4421-9F66-BFBC94572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6341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输出数值的格式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70968"/>
            <a:ext cx="10852150" cy="5509215"/>
          </a:xfrm>
        </p:spPr>
        <p:txBody>
          <a:bodyPr>
            <a:normAutofit lnSpcReduction="10000"/>
          </a:bodyPr>
          <a:lstStyle/>
          <a:p>
            <a:pPr lvl="2"/>
            <a:r>
              <a:rPr lang="en-US" altLang="zh-CN" sz="2800" dirty="0">
                <a:solidFill>
                  <a:schemeClr val="tx1">
                    <a:lumMod val="95000"/>
                  </a:schemeClr>
                </a:solidFill>
              </a:rPr>
              <a:t>%</a:t>
            </a:r>
            <a:r>
              <a:rPr lang="en-US" altLang="zh-CN" sz="2800" dirty="0" err="1">
                <a:solidFill>
                  <a:schemeClr val="tx1">
                    <a:lumMod val="95000"/>
                  </a:schemeClr>
                </a:solidFill>
              </a:rPr>
              <a:t>m.n</a:t>
            </a:r>
            <a:r>
              <a:rPr lang="en-US" altLang="zh-CN" sz="2800" dirty="0">
                <a:solidFill>
                  <a:schemeClr val="tx1">
                    <a:lumMod val="95000"/>
                  </a:schemeClr>
                </a:solidFill>
              </a:rPr>
              <a:t>——</a:t>
            </a:r>
            <a:r>
              <a:rPr lang="zh-CN" altLang="en-US" sz="2800" dirty="0">
                <a:solidFill>
                  <a:schemeClr val="tx1">
                    <a:lumMod val="95000"/>
                  </a:schemeClr>
                </a:solidFill>
              </a:rPr>
              <a:t>控制输出宽度和精度。</a:t>
            </a:r>
          </a:p>
          <a:p>
            <a:pPr lvl="2"/>
            <a:r>
              <a:rPr lang="en-US" altLang="zh-CN" sz="2800" dirty="0">
                <a:solidFill>
                  <a:schemeClr val="tx1">
                    <a:lumMod val="95000"/>
                  </a:schemeClr>
                </a:solidFill>
              </a:rPr>
              <a:t>+	</a:t>
            </a:r>
            <a:r>
              <a:rPr lang="zh-CN" altLang="en-US" sz="2800" dirty="0">
                <a:solidFill>
                  <a:schemeClr val="tx1">
                    <a:lumMod val="95000"/>
                  </a:schemeClr>
                </a:solidFill>
              </a:rPr>
              <a:t>正数带正号</a:t>
            </a:r>
            <a:endParaRPr lang="en-US" altLang="zh-CN" sz="2800" dirty="0">
              <a:solidFill>
                <a:schemeClr val="tx1">
                  <a:lumMod val="95000"/>
                </a:schemeClr>
              </a:solidFill>
            </a:endParaRPr>
          </a:p>
          <a:p>
            <a:pPr lvl="2"/>
            <a:r>
              <a:rPr lang="en-US" altLang="zh-CN" sz="2800" dirty="0">
                <a:solidFill>
                  <a:schemeClr val="tx1">
                    <a:lumMod val="95000"/>
                  </a:schemeClr>
                </a:solidFill>
              </a:rPr>
              <a:t>0	</a:t>
            </a:r>
            <a:r>
              <a:rPr lang="zh-CN" altLang="en-US" sz="2800" dirty="0">
                <a:solidFill>
                  <a:schemeClr val="tx1">
                    <a:lumMod val="95000"/>
                  </a:schemeClr>
                </a:solidFill>
              </a:rPr>
              <a:t>用</a:t>
            </a:r>
            <a:r>
              <a:rPr lang="en-US" altLang="zh-CN" sz="2800" dirty="0">
                <a:solidFill>
                  <a:schemeClr val="tx1">
                    <a:lumMod val="95000"/>
                  </a:schemeClr>
                </a:solidFill>
              </a:rPr>
              <a:t>0</a:t>
            </a:r>
            <a:r>
              <a:rPr lang="zh-CN" altLang="en-US" sz="2800" dirty="0">
                <a:solidFill>
                  <a:schemeClr val="tx1">
                    <a:lumMod val="95000"/>
                  </a:schemeClr>
                </a:solidFill>
              </a:rPr>
              <a:t>填充空位（默认用空格）</a:t>
            </a:r>
            <a:endParaRPr lang="en-US" altLang="zh-CN" sz="2800" dirty="0">
              <a:solidFill>
                <a:schemeClr val="tx1">
                  <a:lumMod val="95000"/>
                </a:schemeClr>
              </a:solidFill>
            </a:endParaRPr>
          </a:p>
          <a:p>
            <a:pPr lvl="2"/>
            <a:r>
              <a:rPr lang="en-US" altLang="zh-CN" sz="2800" dirty="0">
                <a:solidFill>
                  <a:schemeClr val="tx1">
                    <a:lumMod val="95000"/>
                  </a:schemeClr>
                </a:solidFill>
              </a:rPr>
              <a:t>&lt;	</a:t>
            </a:r>
            <a:r>
              <a:rPr lang="zh-CN" altLang="en-US" sz="2800" dirty="0">
                <a:solidFill>
                  <a:schemeClr val="tx1">
                    <a:lumMod val="95000"/>
                  </a:schemeClr>
                </a:solidFill>
              </a:rPr>
              <a:t>左对齐</a:t>
            </a:r>
            <a:endParaRPr lang="en-US" altLang="zh-CN" sz="2800" dirty="0">
              <a:solidFill>
                <a:schemeClr val="tx1">
                  <a:lumMod val="95000"/>
                </a:schemeClr>
              </a:solidFill>
            </a:endParaRPr>
          </a:p>
          <a:p>
            <a:pPr lvl="2"/>
            <a:r>
              <a:rPr lang="en-US" altLang="zh-CN" sz="2800" dirty="0">
                <a:solidFill>
                  <a:schemeClr val="tx1">
                    <a:lumMod val="95000"/>
                  </a:schemeClr>
                </a:solidFill>
              </a:rPr>
              <a:t>&gt;	</a:t>
            </a:r>
            <a:r>
              <a:rPr lang="zh-CN" altLang="en-US" sz="2800" dirty="0">
                <a:solidFill>
                  <a:schemeClr val="tx1">
                    <a:lumMod val="95000"/>
                  </a:schemeClr>
                </a:solidFill>
              </a:rPr>
              <a:t>右对齐</a:t>
            </a:r>
            <a:endParaRPr lang="en-US" altLang="zh-CN" sz="2800" dirty="0">
              <a:solidFill>
                <a:schemeClr val="tx1">
                  <a:lumMod val="95000"/>
                </a:schemeClr>
              </a:solidFill>
            </a:endParaRPr>
          </a:p>
          <a:p>
            <a:pPr lvl="2"/>
            <a:r>
              <a:rPr lang="en-US" altLang="zh-CN" sz="2800" dirty="0">
                <a:solidFill>
                  <a:schemeClr val="tx1">
                    <a:lumMod val="95000"/>
                  </a:schemeClr>
                </a:solidFill>
              </a:rPr>
              <a:t>^	</a:t>
            </a:r>
            <a:r>
              <a:rPr lang="zh-CN" altLang="en-US" sz="2800" dirty="0">
                <a:solidFill>
                  <a:schemeClr val="tx1">
                    <a:lumMod val="95000"/>
                  </a:schemeClr>
                </a:solidFill>
              </a:rPr>
              <a:t>居中对齐</a:t>
            </a:r>
          </a:p>
          <a:p>
            <a:pPr marL="0" indent="0">
              <a:buNone/>
            </a:pPr>
            <a:r>
              <a:rPr lang="nn-NO" altLang="zh-CN" sz="2800" dirty="0">
                <a:solidFill>
                  <a:schemeClr val="tx1">
                    <a:lumMod val="95000"/>
                  </a:schemeClr>
                </a:solidFill>
              </a:rPr>
              <a:t>&gt;&gt;&gt; print(format(2.11,‘10’))   #10</a:t>
            </a:r>
            <a:r>
              <a:rPr lang="zh-CN" altLang="en-US" sz="2800" dirty="0">
                <a:solidFill>
                  <a:schemeClr val="tx1">
                    <a:lumMod val="95000"/>
                  </a:schemeClr>
                </a:solidFill>
              </a:rPr>
              <a:t>位，含小数点</a:t>
            </a:r>
            <a:endParaRPr lang="nn-NO" altLang="zh-CN" sz="2800" dirty="0">
              <a:solidFill>
                <a:schemeClr val="tx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nn-NO" altLang="zh-CN" sz="2800" dirty="0">
                <a:solidFill>
                  <a:schemeClr val="tx1">
                    <a:lumMod val="95000"/>
                  </a:schemeClr>
                </a:solidFill>
              </a:rPr>
              <a:t>      2.11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>
                    <a:lumMod val="95000"/>
                  </a:schemeClr>
                </a:solidFill>
              </a:rPr>
              <a:t>&gt;&gt;&gt;</a:t>
            </a:r>
            <a:r>
              <a:rPr lang="nn-NO" altLang="zh-CN" sz="2800" dirty="0">
                <a:solidFill>
                  <a:schemeClr val="tx1">
                    <a:lumMod val="95000"/>
                  </a:schemeClr>
                </a:solidFill>
              </a:rPr>
              <a:t> print(format(2.11, ‘010'))</a:t>
            </a:r>
          </a:p>
          <a:p>
            <a:pPr marL="0" indent="0">
              <a:buNone/>
            </a:pPr>
            <a:r>
              <a:rPr lang="nn-NO" altLang="zh-CN" sz="2800" dirty="0">
                <a:solidFill>
                  <a:schemeClr val="tx1">
                    <a:lumMod val="95000"/>
                  </a:schemeClr>
                </a:solidFill>
              </a:rPr>
              <a:t>0000002.11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>
                    <a:lumMod val="95000"/>
                  </a:schemeClr>
                </a:solidFill>
              </a:rPr>
              <a:t>&gt;&gt;&gt;</a:t>
            </a:r>
            <a:r>
              <a:rPr lang="nn-NO" altLang="zh-CN" sz="2800" dirty="0">
                <a:solidFill>
                  <a:schemeClr val="tx1">
                    <a:lumMod val="95000"/>
                  </a:schemeClr>
                </a:solidFill>
              </a:rPr>
              <a:t> print(format(2.11,‘+010'))</a:t>
            </a:r>
          </a:p>
          <a:p>
            <a:pPr marL="0" indent="0">
              <a:buNone/>
            </a:pPr>
            <a:r>
              <a:rPr lang="nn-NO" altLang="zh-CN" sz="2800" dirty="0">
                <a:solidFill>
                  <a:schemeClr val="tx1">
                    <a:lumMod val="95000"/>
                  </a:schemeClr>
                </a:solidFill>
              </a:rPr>
              <a:t>     +2.11</a:t>
            </a:r>
            <a:endParaRPr lang="en-US" altLang="zh-CN" sz="280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CBE75E-E9AC-42DB-922F-A8B1A0D99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911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(3)</a:t>
            </a:r>
            <a:r>
              <a:rPr lang="zh-CN" altLang="zh-CN" dirty="0"/>
              <a:t>字符串的</a:t>
            </a:r>
            <a:r>
              <a:rPr lang="en-US" altLang="zh-CN" dirty="0"/>
              <a:t>format()</a:t>
            </a:r>
            <a:r>
              <a:rPr lang="zh-CN" altLang="zh-CN" dirty="0"/>
              <a:t>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268760"/>
            <a:ext cx="11928648" cy="4877917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2800" dirty="0"/>
              <a:t>引例：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&gt;&gt;&gt;print('Name:{0} Age:{2} Height:{1}'.format("</a:t>
            </a:r>
            <a:r>
              <a:rPr lang="en-US" altLang="zh-CN" sz="2800" dirty="0" err="1"/>
              <a:t>Aviad</a:t>
            </a:r>
            <a:r>
              <a:rPr lang="en-US" altLang="zh-CN" sz="2800" dirty="0"/>
              <a:t>", 1.83, 25))</a:t>
            </a:r>
          </a:p>
          <a:p>
            <a:pPr marL="0" indent="0">
              <a:buNone/>
            </a:pPr>
            <a:r>
              <a:rPr lang="en-US" altLang="zh-CN" sz="2800" dirty="0" err="1"/>
              <a:t>Name:Aviad</a:t>
            </a:r>
            <a:r>
              <a:rPr lang="en-US" altLang="zh-CN" sz="2800" dirty="0"/>
              <a:t> Age:25 Height:1.83</a:t>
            </a:r>
          </a:p>
          <a:p>
            <a:pPr marL="0" indent="0">
              <a:buNone/>
            </a:pPr>
            <a:r>
              <a:rPr lang="en-US" altLang="zh-CN" sz="2800" dirty="0"/>
              <a:t># </a:t>
            </a:r>
            <a:r>
              <a:rPr lang="zh-CN" altLang="en-US" sz="2800" dirty="0"/>
              <a:t>花括号内是序号，与输出项对应</a:t>
            </a:r>
            <a:endParaRPr lang="en-US" altLang="zh-CN" sz="2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AA8C81-591B-4052-9658-DD6B7738B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1136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367131" y="1221320"/>
            <a:ext cx="11170840" cy="4877917"/>
          </a:xfrm>
        </p:spPr>
        <p:txBody>
          <a:bodyPr/>
          <a:lstStyle/>
          <a:p>
            <a:r>
              <a:rPr lang="zh-CN" altLang="en-US" dirty="0"/>
              <a:t>这种方式叫“格式说明模板”</a:t>
            </a:r>
          </a:p>
        </p:txBody>
      </p:sp>
      <p:sp>
        <p:nvSpPr>
          <p:cNvPr id="12" name="矩形 11"/>
          <p:cNvSpPr/>
          <p:nvPr/>
        </p:nvSpPr>
        <p:spPr>
          <a:xfrm>
            <a:off x="367131" y="2150210"/>
            <a:ext cx="11712429" cy="3456382"/>
          </a:xfrm>
          <a:prstGeom prst="rect">
            <a:avLst/>
          </a:prstGeom>
          <a:noFill/>
          <a:ln>
            <a:solidFill>
              <a:schemeClr val="bg2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格式：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{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序号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},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花括号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{}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是输出模板的定界符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输出项序号为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功能：可用来输表格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有许多列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),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格式有明确要求，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eg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打印实验结果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4393134" y="6245490"/>
            <a:ext cx="71640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AAE60C9-78D6-4F25-99DE-C0298BFF3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1286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模板除了序号，还可以使用</a:t>
            </a:r>
            <a:r>
              <a:rPr lang="en-US" altLang="zh-CN" dirty="0"/>
              <a:t>[</a:t>
            </a:r>
            <a:r>
              <a:rPr lang="zh-CN" altLang="en-US" dirty="0"/>
              <a:t>键名</a:t>
            </a:r>
            <a:r>
              <a:rPr lang="en-US" altLang="zh-CN" dirty="0"/>
              <a:t>]</a:t>
            </a:r>
          </a:p>
          <a:p>
            <a:pPr lvl="1"/>
            <a:r>
              <a:rPr lang="zh-CN" altLang="en-US" dirty="0"/>
              <a:t>键名与输出项前后要匹配</a:t>
            </a:r>
            <a:endParaRPr lang="en-US" altLang="zh-CN" dirty="0"/>
          </a:p>
          <a:p>
            <a:r>
              <a:rPr lang="zh-CN" altLang="en-US" dirty="0"/>
              <a:t>指定模板时可以带格式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450968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360" y="1340768"/>
            <a:ext cx="11521280" cy="48779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dirty="0"/>
              <a:t>#</a:t>
            </a:r>
            <a:r>
              <a:rPr lang="zh-CN" altLang="en-US" sz="2800" dirty="0"/>
              <a:t>指定键名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&gt;&gt;&gt;print(‘Name:{name} Age:{age} Height:{height}’.\ format(name="</a:t>
            </a:r>
            <a:r>
              <a:rPr lang="en-US" altLang="zh-CN" sz="2800" dirty="0" err="1"/>
              <a:t>Aviad</a:t>
            </a:r>
            <a:r>
              <a:rPr lang="en-US" altLang="zh-CN" sz="2800" dirty="0"/>
              <a:t>",height=1.83, age=25))</a:t>
            </a:r>
          </a:p>
          <a:p>
            <a:pPr marL="0" indent="0">
              <a:buNone/>
            </a:pPr>
            <a:r>
              <a:rPr lang="en-US" altLang="zh-CN" sz="2800" dirty="0"/>
              <a:t>Name: </a:t>
            </a:r>
            <a:r>
              <a:rPr lang="en-US" altLang="zh-CN" sz="2800" dirty="0" err="1"/>
              <a:t>Aviad</a:t>
            </a:r>
            <a:r>
              <a:rPr lang="en-US" altLang="zh-CN" sz="2800" dirty="0"/>
              <a:t> Age: 25  Height:1.83</a:t>
            </a:r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endParaRPr lang="zh-CN" altLang="en-US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5468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指定格式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4" y="1160145"/>
            <a:ext cx="11330731" cy="5180965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&gt;&gt;&gt; print('{0:010b}|{0:&gt;10o}|{0:^10x}|{0:&lt;10X}'.format(95))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0001011111|       137|    5f    |5F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&gt;&gt;&gt;print( '{0:018f}|{0:&gt;18f}|{0:^18.2f}|{0:&lt;18.3f}'.format(3.14159))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00000000003.141590|          3.141590|       3.14       |3.142 </a:t>
            </a:r>
          </a:p>
          <a:p>
            <a:pPr marL="0" indent="0">
              <a:buNone/>
            </a:pPr>
            <a:endParaRPr lang="en-US" altLang="zh-CN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9FC84F-A9A9-4450-B436-14A32CC45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757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输出填充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dirty="0"/>
              <a:t>&gt;&gt;&gt; </a:t>
            </a:r>
            <a:r>
              <a:rPr lang="en-US" altLang="zh-CN" sz="2800" dirty="0" err="1"/>
              <a:t>prin</a:t>
            </a:r>
            <a:r>
              <a:rPr lang="en-US" altLang="zh-CN" sz="2800" dirty="0"/>
              <a:t>( '{0:*&gt;18}|{0:?^18}|{0:-&lt;18}'.format('test'))</a:t>
            </a:r>
          </a:p>
          <a:p>
            <a:pPr marL="0" indent="0">
              <a:buNone/>
            </a:pPr>
            <a:r>
              <a:rPr lang="en-US" altLang="zh-CN" sz="2800" dirty="0"/>
              <a:t>**************test|???????test???????|test--------------</a:t>
            </a:r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【</a:t>
            </a:r>
            <a:r>
              <a:rPr lang="zh-CN" altLang="en-US" sz="2800" dirty="0"/>
              <a:t>说明</a:t>
            </a:r>
            <a:r>
              <a:rPr lang="en-US" altLang="zh-CN" sz="2800" dirty="0"/>
              <a:t>】</a:t>
            </a:r>
          </a:p>
          <a:p>
            <a:pPr marL="0" indent="0">
              <a:buNone/>
            </a:pPr>
            <a:r>
              <a:rPr lang="en-US" altLang="zh-CN" sz="2800" dirty="0"/>
              <a:t>1.</a:t>
            </a:r>
            <a:r>
              <a:rPr lang="zh-CN" altLang="en-US" sz="2800" dirty="0"/>
              <a:t>数值的填充：只能是</a:t>
            </a:r>
            <a:r>
              <a:rPr lang="en-US" altLang="zh-CN" sz="2800" dirty="0"/>
              <a:t>0</a:t>
            </a:r>
            <a:r>
              <a:rPr lang="zh-CN" altLang="en-US" sz="2800" dirty="0"/>
              <a:t>或空格，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  </a:t>
            </a:r>
            <a:r>
              <a:rPr lang="zh-CN" altLang="en-US" sz="2800" dirty="0"/>
              <a:t>字符串的填充：可以是任何字符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2.</a:t>
            </a:r>
            <a:r>
              <a:rPr lang="zh-CN" altLang="en-US" sz="2800" dirty="0"/>
              <a:t>这里，冒号前仍是序号，冒号后用*，？，</a:t>
            </a:r>
            <a:r>
              <a:rPr lang="en-US" altLang="zh-CN" sz="2800" dirty="0"/>
              <a:t>-</a:t>
            </a:r>
            <a:r>
              <a:rPr lang="zh-CN" altLang="en-US" sz="2800" dirty="0"/>
              <a:t>填充，</a:t>
            </a:r>
            <a:r>
              <a:rPr lang="en-US" altLang="zh-CN" sz="2800" dirty="0"/>
              <a:t>&gt; ^ &lt;</a:t>
            </a:r>
            <a:r>
              <a:rPr lang="zh-CN" altLang="en-US" sz="2800" dirty="0"/>
              <a:t>分布表示右对齐，居中，左对齐</a:t>
            </a:r>
            <a:endParaRPr lang="en-US" altLang="zh-CN" sz="2800" dirty="0"/>
          </a:p>
          <a:p>
            <a:pPr marL="0" indent="0">
              <a:buNone/>
            </a:pPr>
            <a:endParaRPr lang="zh-CN" altLang="en-US" sz="2800" dirty="0"/>
          </a:p>
          <a:p>
            <a:endParaRPr lang="zh-CN" altLang="en-US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711794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不指定序号时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#</a:t>
            </a:r>
            <a:r>
              <a:rPr lang="zh-CN" altLang="en-US" dirty="0"/>
              <a:t>没有指定序号，要按位置对应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&gt;&gt;&gt;print('{:14}|{:&gt;14}|{:&lt;14}'.format('test', 'test', 'test'))</a:t>
            </a:r>
          </a:p>
          <a:p>
            <a:pPr marL="0" indent="0">
              <a:buNone/>
            </a:pPr>
            <a:r>
              <a:rPr lang="en-US" altLang="zh-CN" dirty="0"/>
              <a:t>test          |          </a:t>
            </a:r>
            <a:r>
              <a:rPr lang="en-US" altLang="zh-CN" dirty="0" err="1"/>
              <a:t>test|test</a:t>
            </a:r>
            <a:r>
              <a:rPr lang="en-US" altLang="zh-CN" dirty="0"/>
              <a:t>          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403349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779905" y="2292350"/>
            <a:ext cx="8731885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3.4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顺序结构程序举例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B22F4B0-9046-4FBD-B40B-4DDE93B7C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69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写程序步骤：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）分析问题；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）确定算法；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）编写代码；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）测试代码；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5</a:t>
            </a:r>
            <a:r>
              <a:rPr lang="zh-CN" altLang="en-US" dirty="0"/>
              <a:t>）提交并发布代码。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r>
              <a:rPr lang="en-US" altLang="zh-CN" dirty="0"/>
              <a:t>IPO——</a:t>
            </a:r>
            <a:r>
              <a:rPr lang="zh-CN" altLang="en-US" dirty="0"/>
              <a:t>大多数程序的基本框架</a:t>
            </a:r>
            <a:r>
              <a:rPr lang="en-US" altLang="zh-CN" dirty="0"/>
              <a:t>:</a:t>
            </a:r>
            <a:endParaRPr lang="zh-CN" altLang="en-US" dirty="0"/>
          </a:p>
          <a:p>
            <a:pPr lvl="1"/>
            <a:r>
              <a:rPr lang="zh-CN" altLang="en-US" dirty="0"/>
              <a:t>获取原始数据</a:t>
            </a:r>
            <a:r>
              <a:rPr lang="en-US" altLang="zh-CN" dirty="0"/>
              <a:t>Input</a:t>
            </a:r>
            <a:r>
              <a:rPr lang="zh-CN" altLang="en-US" dirty="0"/>
              <a:t>，对数据进行处理</a:t>
            </a:r>
            <a:r>
              <a:rPr lang="en-US" altLang="zh-CN" dirty="0"/>
              <a:t>Process,</a:t>
            </a:r>
            <a:r>
              <a:rPr lang="zh-CN" altLang="en-US" dirty="0"/>
              <a:t>输出或存储果</a:t>
            </a:r>
            <a:r>
              <a:rPr lang="en-US" altLang="zh-CN" dirty="0"/>
              <a:t>Output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E9AD6B-50ED-4082-A050-C03210B07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041495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顺序结构程序举例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顺序结构：依次执行，是程序的主旋律。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3-2】A</a:t>
            </a:r>
            <a:r>
              <a:rPr lang="zh-CN" altLang="en-US" dirty="0"/>
              <a:t>汽车从甲地开往乙地，以平均速度</a:t>
            </a:r>
            <a:r>
              <a:rPr lang="en-US" altLang="zh-CN" dirty="0"/>
              <a:t>45</a:t>
            </a:r>
            <a:r>
              <a:rPr lang="zh-CN" altLang="en-US" dirty="0"/>
              <a:t>公里</a:t>
            </a:r>
            <a:r>
              <a:rPr lang="en-US" altLang="zh-CN" dirty="0"/>
              <a:t>/</a:t>
            </a:r>
            <a:r>
              <a:rPr lang="zh-CN" altLang="en-US" dirty="0"/>
              <a:t>小时行驶，</a:t>
            </a:r>
            <a:r>
              <a:rPr lang="en-US" altLang="zh-CN" dirty="0"/>
              <a:t>B</a:t>
            </a:r>
            <a:r>
              <a:rPr lang="zh-CN" altLang="en-US" dirty="0"/>
              <a:t>汽车从乙地开往甲地，以平均速度</a:t>
            </a:r>
            <a:r>
              <a:rPr lang="en-US" altLang="zh-CN" dirty="0"/>
              <a:t>53</a:t>
            </a:r>
            <a:r>
              <a:rPr lang="zh-CN" altLang="en-US" dirty="0"/>
              <a:t>公里</a:t>
            </a:r>
            <a:r>
              <a:rPr lang="en-US" altLang="zh-CN" dirty="0"/>
              <a:t>/</a:t>
            </a:r>
            <a:r>
              <a:rPr lang="zh-CN" altLang="en-US" dirty="0"/>
              <a:t>小时行驶，两辆车行驶了</a:t>
            </a:r>
            <a:r>
              <a:rPr lang="en-US" altLang="zh-CN" dirty="0"/>
              <a:t>2</a:t>
            </a:r>
            <a:r>
              <a:rPr lang="zh-CN" altLang="en-US" dirty="0"/>
              <a:t>小时</a:t>
            </a:r>
            <a:r>
              <a:rPr lang="en-US" altLang="zh-CN" dirty="0"/>
              <a:t>13</a:t>
            </a:r>
            <a:r>
              <a:rPr lang="zh-CN" altLang="en-US" dirty="0"/>
              <a:t>分钟后相遇。编写程序，输入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的速度和行驶的时间，求甲乙两地相距多少公里？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8465F7-86AB-41B4-B6B9-6AA785AA7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26432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335360" y="1556365"/>
            <a:ext cx="10874822" cy="530163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tx1"/>
                </a:solidFill>
              </a:rPr>
              <a:t>运行结果：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chemeClr val="tx1"/>
                </a:solidFill>
              </a:rPr>
              <a:t>======================================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tx1"/>
                </a:solidFill>
              </a:rPr>
              <a:t>输入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zh-CN" altLang="en-US" dirty="0">
                <a:solidFill>
                  <a:schemeClr val="tx1"/>
                </a:solidFill>
              </a:rPr>
              <a:t>车和</a:t>
            </a:r>
            <a:r>
              <a:rPr lang="en-US" altLang="zh-CN" dirty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车的速度：</a:t>
            </a:r>
            <a:r>
              <a:rPr lang="en-US" altLang="zh-CN" dirty="0">
                <a:solidFill>
                  <a:schemeClr val="tx1"/>
                </a:solidFill>
              </a:rPr>
              <a:t>45,53↙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tx1"/>
                </a:solidFill>
              </a:rPr>
              <a:t>输入行驶时间：</a:t>
            </a:r>
            <a:r>
              <a:rPr lang="en-US" altLang="zh-CN" dirty="0">
                <a:solidFill>
                  <a:schemeClr val="tx1"/>
                </a:solidFill>
              </a:rPr>
              <a:t>2,13↙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tx1"/>
                </a:solidFill>
              </a:rPr>
              <a:t>甲乙两地相距</a:t>
            </a:r>
            <a:r>
              <a:rPr lang="en-US" altLang="zh-CN" dirty="0">
                <a:solidFill>
                  <a:schemeClr val="tx1"/>
                </a:solidFill>
              </a:rPr>
              <a:t>217.23</a:t>
            </a:r>
            <a:r>
              <a:rPr lang="zh-CN" altLang="en-US" dirty="0">
                <a:solidFill>
                  <a:schemeClr val="tx1"/>
                </a:solidFill>
              </a:rPr>
              <a:t>公里。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04BE83-AA3C-4865-9F9F-7B572B137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47068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328" y="44624"/>
            <a:ext cx="10153128" cy="936009"/>
          </a:xfrm>
        </p:spPr>
        <p:txBody>
          <a:bodyPr>
            <a:norm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3-2】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7010251" cy="51809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）分析问题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找到基本的数学公式：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“距离</a:t>
            </a:r>
            <a:r>
              <a:rPr lang="en-US" altLang="zh-CN" dirty="0"/>
              <a:t>=</a:t>
            </a:r>
            <a:r>
              <a:rPr lang="zh-CN" altLang="en-US" dirty="0"/>
              <a:t>（</a:t>
            </a:r>
            <a:r>
              <a:rPr lang="en-US" altLang="zh-CN" dirty="0"/>
              <a:t>A</a:t>
            </a:r>
            <a:r>
              <a:rPr lang="zh-CN" altLang="en-US" dirty="0"/>
              <a:t>速度</a:t>
            </a:r>
            <a:r>
              <a:rPr lang="en-US" altLang="zh-CN" dirty="0"/>
              <a:t>+B</a:t>
            </a:r>
            <a:r>
              <a:rPr lang="zh-CN" altLang="en-US" dirty="0"/>
              <a:t>速度）*行驶时间”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）确定算法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按程序三部曲 </a:t>
            </a:r>
            <a:r>
              <a:rPr lang="en-US" altLang="zh-CN" dirty="0"/>
              <a:t>IPO</a:t>
            </a:r>
          </a:p>
          <a:p>
            <a:pPr marL="457200" lvl="1" indent="0">
              <a:buNone/>
            </a:pPr>
            <a:r>
              <a:rPr lang="zh-CN" altLang="en-US" dirty="0"/>
              <a:t>结合本问题的特点，确定算法的每一步。</a:t>
            </a:r>
          </a:p>
          <a:p>
            <a:endParaRPr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0118C1-4900-4C52-A9DE-C0A90F495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73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334E4E9-D4FA-4948-9646-DA1A3E815D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8208" y="78036"/>
            <a:ext cx="3744416" cy="685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76695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669925" y="4316452"/>
            <a:ext cx="10852150" cy="19574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1384" y="1160145"/>
            <a:ext cx="11522076" cy="3492991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）编写代码：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/>
              <a:t>#1.	</a:t>
            </a:r>
            <a:r>
              <a:rPr lang="en-US" altLang="zh-CN" sz="2400" dirty="0" err="1"/>
              <a:t>va,vb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eval</a:t>
            </a:r>
            <a:r>
              <a:rPr lang="en-US" altLang="zh-CN" sz="2400" dirty="0"/>
              <a:t>(input(‘</a:t>
            </a:r>
            <a:r>
              <a:rPr lang="zh-CN" altLang="en-US" sz="2400" dirty="0"/>
              <a:t>输入</a:t>
            </a:r>
            <a:r>
              <a:rPr lang="en-US" altLang="zh-CN" sz="2400" dirty="0"/>
              <a:t>A</a:t>
            </a:r>
            <a:r>
              <a:rPr lang="zh-CN" altLang="en-US" sz="2400" dirty="0"/>
              <a:t>车和</a:t>
            </a:r>
            <a:r>
              <a:rPr lang="en-US" altLang="zh-CN" sz="2400" dirty="0"/>
              <a:t>B</a:t>
            </a:r>
            <a:r>
              <a:rPr lang="zh-CN" altLang="en-US" sz="2400" dirty="0"/>
              <a:t>车的速度，逗号分隔：</a:t>
            </a:r>
            <a:r>
              <a:rPr lang="en-US" altLang="zh-CN" sz="2400" dirty="0"/>
              <a:t>'))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/>
              <a:t>#2.	</a:t>
            </a:r>
            <a:r>
              <a:rPr lang="en-US" altLang="zh-CN" sz="2400" dirty="0" err="1"/>
              <a:t>h,m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eval</a:t>
            </a:r>
            <a:r>
              <a:rPr lang="en-US" altLang="zh-CN" sz="2400" dirty="0"/>
              <a:t>(input(‘</a:t>
            </a:r>
            <a:r>
              <a:rPr lang="zh-CN" altLang="en-US" sz="2400" dirty="0"/>
              <a:t>输入行驶时间</a:t>
            </a:r>
            <a:r>
              <a:rPr lang="en-US" altLang="zh-CN" sz="2400" dirty="0"/>
              <a:t>(</a:t>
            </a:r>
            <a:r>
              <a:rPr lang="zh-CN" altLang="en-US" sz="2400" dirty="0"/>
              <a:t>多少小时，多少分钟，逗号分隔）：</a:t>
            </a:r>
            <a:r>
              <a:rPr lang="en-US" altLang="zh-CN" sz="2400" dirty="0"/>
              <a:t>'))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/>
              <a:t>#3.	time = h + m / 60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/>
              <a:t>#4.	s = time * (</a:t>
            </a:r>
            <a:r>
              <a:rPr lang="en-US" altLang="zh-CN" sz="2400" dirty="0" err="1"/>
              <a:t>va</a:t>
            </a:r>
            <a:r>
              <a:rPr lang="en-US" altLang="zh-CN" sz="2400" dirty="0"/>
              <a:t> + </a:t>
            </a:r>
            <a:r>
              <a:rPr lang="en-US" altLang="zh-CN" sz="2400" dirty="0" err="1"/>
              <a:t>vb</a:t>
            </a:r>
            <a:r>
              <a:rPr lang="en-US" altLang="zh-CN" sz="2400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/>
              <a:t>#5.	print('</a:t>
            </a:r>
            <a:r>
              <a:rPr lang="zh-CN" altLang="en-US" sz="2400" dirty="0"/>
              <a:t>甲乙两地相距</a:t>
            </a:r>
            <a:r>
              <a:rPr lang="en-US" altLang="zh-CN" sz="2400" dirty="0"/>
              <a:t>{}</a:t>
            </a:r>
            <a:r>
              <a:rPr lang="zh-CN" altLang="en-US" sz="2400" dirty="0"/>
              <a:t>公里。</a:t>
            </a:r>
            <a:r>
              <a:rPr lang="en-US" altLang="zh-CN" sz="2400" dirty="0"/>
              <a:t>'.format(s))</a:t>
            </a:r>
          </a:p>
          <a:p>
            <a:pPr marL="0" indent="0">
              <a:lnSpc>
                <a:spcPct val="100000"/>
              </a:lnSpc>
              <a:buNone/>
            </a:pPr>
            <a:endParaRPr lang="zh-CN" altLang="en-US" sz="2400" dirty="0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669925" y="3717032"/>
            <a:ext cx="10852150" cy="2772911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04BE83-AA3C-4865-9F9F-7B572B137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054903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335360" y="1556365"/>
            <a:ext cx="10874822" cy="5301635"/>
          </a:xfrm>
          <a:prstGeom prst="rect">
            <a:avLst/>
          </a:prstGeom>
        </p:spPr>
        <p:txBody>
          <a:bodyPr vert="horz" lIns="90000" tIns="46800" rIns="90000" bIns="46800" rtlCol="0">
            <a:normAutofit lnSpcReduction="1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4</a:t>
            </a:r>
            <a:r>
              <a:rPr lang="zh-CN" altLang="en-US" dirty="0">
                <a:solidFill>
                  <a:schemeClr val="tx1"/>
                </a:solidFill>
              </a:rPr>
              <a:t>）测试：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chemeClr val="tx1"/>
                </a:solidFill>
              </a:rPr>
              <a:t>======================================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tx1"/>
                </a:solidFill>
              </a:rPr>
              <a:t>输入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zh-CN" altLang="en-US" dirty="0">
                <a:solidFill>
                  <a:schemeClr val="tx1"/>
                </a:solidFill>
              </a:rPr>
              <a:t>车和</a:t>
            </a:r>
            <a:r>
              <a:rPr lang="en-US" altLang="zh-CN" dirty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车的速度：</a:t>
            </a:r>
            <a:r>
              <a:rPr lang="en-US" altLang="zh-CN" dirty="0">
                <a:solidFill>
                  <a:schemeClr val="tx1"/>
                </a:solidFill>
              </a:rPr>
              <a:t>45,53↙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tx1"/>
                </a:solidFill>
              </a:rPr>
              <a:t>输入行驶时间：</a:t>
            </a:r>
            <a:r>
              <a:rPr lang="en-US" altLang="zh-CN" dirty="0">
                <a:solidFill>
                  <a:schemeClr val="tx1"/>
                </a:solidFill>
              </a:rPr>
              <a:t>2,13↙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tx1"/>
                </a:solidFill>
              </a:rPr>
              <a:t>甲乙两地相距</a:t>
            </a:r>
            <a:r>
              <a:rPr lang="en-US" altLang="zh-CN" dirty="0">
                <a:solidFill>
                  <a:schemeClr val="tx1"/>
                </a:solidFill>
              </a:rPr>
              <a:t>217.23333333333335</a:t>
            </a:r>
            <a:r>
              <a:rPr lang="zh-CN" altLang="en-US" dirty="0">
                <a:solidFill>
                  <a:schemeClr val="tx1"/>
                </a:solidFill>
              </a:rPr>
              <a:t>公里。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tx1"/>
                </a:solidFill>
              </a:rPr>
              <a:t>改进：结果保留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位小数</a:t>
            </a: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print('</a:t>
            </a:r>
            <a:r>
              <a:rPr lang="zh-CN" altLang="en-US" dirty="0">
                <a:solidFill>
                  <a:schemeClr val="tx1"/>
                </a:solidFill>
              </a:rPr>
              <a:t>甲乙两地相距</a:t>
            </a:r>
            <a:r>
              <a:rPr lang="en-US" altLang="zh-CN" dirty="0">
                <a:solidFill>
                  <a:schemeClr val="tx1"/>
                </a:solidFill>
              </a:rPr>
              <a:t>{:8.2f}</a:t>
            </a:r>
            <a:r>
              <a:rPr lang="zh-CN" altLang="en-US" dirty="0">
                <a:solidFill>
                  <a:schemeClr val="tx1"/>
                </a:solidFill>
              </a:rPr>
              <a:t>公里。</a:t>
            </a:r>
            <a:r>
              <a:rPr lang="en-US" altLang="zh-CN" dirty="0">
                <a:solidFill>
                  <a:schemeClr val="tx1"/>
                </a:solidFill>
              </a:rPr>
              <a:t>'.format(s))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04BE83-AA3C-4865-9F9F-7B572B137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79219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669925" y="4149080"/>
            <a:ext cx="10852150" cy="23762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3-3】</a:t>
            </a:r>
            <a:r>
              <a:rPr lang="zh-CN" altLang="en-US" dirty="0"/>
              <a:t>求点到直线的距离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10852150" cy="55092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dirty="0"/>
              <a:t>求点</a:t>
            </a:r>
            <a:r>
              <a:rPr lang="en-US" altLang="zh-CN" sz="2800" dirty="0"/>
              <a:t>(</a:t>
            </a:r>
            <a:r>
              <a:rPr lang="en-US" altLang="zh-CN" sz="2800" dirty="0" err="1"/>
              <a:t>x,y</a:t>
            </a:r>
            <a:r>
              <a:rPr lang="en-US" altLang="zh-CN" sz="2800" dirty="0"/>
              <a:t>)</a:t>
            </a:r>
            <a:r>
              <a:rPr lang="zh-CN" altLang="en-US" sz="2800" dirty="0"/>
              <a:t>到直线</a:t>
            </a:r>
            <a:r>
              <a:rPr lang="en-US" altLang="zh-CN" sz="2800" dirty="0" err="1"/>
              <a:t>Ax+By+C</a:t>
            </a:r>
            <a:r>
              <a:rPr lang="en-US" altLang="zh-CN" sz="2800" dirty="0"/>
              <a:t>=0</a:t>
            </a:r>
            <a:r>
              <a:rPr lang="zh-CN" altLang="en-US" sz="2800" dirty="0"/>
              <a:t>的距离。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编写程序输入点的坐标</a:t>
            </a:r>
            <a:r>
              <a:rPr lang="en-US" altLang="zh-CN" sz="2800" dirty="0"/>
              <a:t>(</a:t>
            </a:r>
            <a:r>
              <a:rPr lang="en-US" altLang="zh-CN" sz="2800" dirty="0" err="1"/>
              <a:t>x,y</a:t>
            </a:r>
            <a:r>
              <a:rPr lang="en-US" altLang="zh-CN" sz="2800" dirty="0"/>
              <a:t>)</a:t>
            </a:r>
            <a:r>
              <a:rPr lang="zh-CN" altLang="en-US" sz="2800" dirty="0"/>
              <a:t>值和直线方程的参数</a:t>
            </a:r>
            <a:r>
              <a:rPr lang="en-US" altLang="zh-CN" sz="2800" dirty="0"/>
              <a:t>A</a:t>
            </a:r>
            <a:r>
              <a:rPr lang="zh-CN" altLang="en-US" sz="2800" dirty="0"/>
              <a:t>、</a:t>
            </a:r>
            <a:r>
              <a:rPr lang="en-US" altLang="zh-CN" sz="2800" dirty="0"/>
              <a:t>B</a:t>
            </a:r>
            <a:r>
              <a:rPr lang="zh-CN" altLang="en-US" sz="2800" dirty="0"/>
              <a:t>、</a:t>
            </a:r>
            <a:r>
              <a:rPr lang="en-US" altLang="zh-CN" sz="2800" dirty="0"/>
              <a:t>C</a:t>
            </a:r>
            <a:r>
              <a:rPr lang="zh-CN" altLang="en-US" sz="2800" dirty="0"/>
              <a:t>的值，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输出距离。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       </a:t>
            </a:r>
            <a:r>
              <a:rPr lang="zh-CN" altLang="en-US" sz="2800" dirty="0"/>
              <a:t>公式：</a:t>
            </a:r>
            <a:endParaRPr lang="en-US" altLang="zh-CN" sz="2800" dirty="0"/>
          </a:p>
          <a:p>
            <a:pPr marL="0" indent="0">
              <a:buNone/>
            </a:pPr>
            <a:endParaRPr lang="en-US" altLang="zh-CN" sz="24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5ECD55A-1B76-431F-9FB2-933B88D98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76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5FC0243-784E-4A8F-A0B4-F753AA474A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672" y="2348880"/>
            <a:ext cx="1800200" cy="99775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131633" y="3244334"/>
            <a:ext cx="19287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）编写代码：</a:t>
            </a:r>
          </a:p>
        </p:txBody>
      </p:sp>
    </p:spTree>
    <p:extLst>
      <p:ext uri="{BB962C8B-B14F-4D97-AF65-F5344CB8AC3E}">
        <p14:creationId xmlns:p14="http://schemas.microsoft.com/office/powerpoint/2010/main" val="340970694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669925" y="4149080"/>
            <a:ext cx="10852150" cy="23762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10852150" cy="550921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import math</a:t>
            </a:r>
          </a:p>
          <a:p>
            <a:pPr marL="0" indent="0">
              <a:buNone/>
            </a:pPr>
            <a:r>
              <a:rPr lang="en-US" altLang="zh-CN" sz="2400" dirty="0"/>
              <a:t>x, y = eval(input('</a:t>
            </a:r>
            <a:r>
              <a:rPr lang="zh-CN" altLang="en-US" sz="2400" dirty="0"/>
              <a:t>请输入点的坐标</a:t>
            </a:r>
            <a:r>
              <a:rPr lang="en-US" altLang="zh-CN" sz="2400" dirty="0" err="1"/>
              <a:t>x,y</a:t>
            </a:r>
            <a:r>
              <a:rPr lang="en-US" altLang="zh-CN" sz="2400" dirty="0"/>
              <a:t>:'))</a:t>
            </a:r>
          </a:p>
          <a:p>
            <a:pPr marL="0" indent="0">
              <a:buNone/>
            </a:pPr>
            <a:r>
              <a:rPr lang="en-US" altLang="zh-CN" sz="2400" dirty="0"/>
              <a:t>a, b, c = eval(input('</a:t>
            </a:r>
            <a:r>
              <a:rPr lang="zh-CN" altLang="en-US" sz="2400" dirty="0"/>
              <a:t>方程系数</a:t>
            </a:r>
            <a:r>
              <a:rPr lang="en-US" altLang="zh-CN" sz="2400" dirty="0"/>
              <a:t>A,B,C:'))</a:t>
            </a:r>
          </a:p>
          <a:p>
            <a:pPr marL="0" indent="0">
              <a:buNone/>
            </a:pPr>
            <a:r>
              <a:rPr lang="en-US" altLang="zh-CN" sz="2400" dirty="0"/>
              <a:t>s = abs(a * x + b * y + c) / </a:t>
            </a:r>
            <a:r>
              <a:rPr lang="en-US" altLang="zh-CN" sz="2400" dirty="0" err="1"/>
              <a:t>math.sqrt</a:t>
            </a:r>
            <a:r>
              <a:rPr lang="en-US" altLang="zh-CN" sz="2400" dirty="0"/>
              <a:t>((a * a + b * b))</a:t>
            </a:r>
          </a:p>
          <a:p>
            <a:pPr marL="0" indent="0">
              <a:buNone/>
            </a:pPr>
            <a:r>
              <a:rPr lang="en-US" altLang="zh-CN" sz="2400" dirty="0"/>
              <a:t>print('</a:t>
            </a:r>
            <a:r>
              <a:rPr lang="zh-CN" altLang="en-US" sz="2400" dirty="0"/>
              <a:t>点到直线的距离：</a:t>
            </a:r>
            <a:r>
              <a:rPr lang="en-US" altLang="zh-CN" sz="2400" dirty="0"/>
              <a:t>{}'.format(s))</a:t>
            </a:r>
          </a:p>
          <a:p>
            <a:pPr marL="0" indent="0">
              <a:buNone/>
            </a:pPr>
            <a:endParaRPr lang="en-US" altLang="zh-CN" sz="2400" dirty="0"/>
          </a:p>
          <a:p>
            <a:endParaRPr lang="zh-CN" altLang="en-US" sz="24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5ECD55A-1B76-431F-9FB2-933B88D98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77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5FC0243-784E-4A8F-A0B4-F753AA474A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432" y="1237725"/>
            <a:ext cx="1800200" cy="99775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131633" y="3244334"/>
            <a:ext cx="19287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）编写代码：</a:t>
            </a:r>
          </a:p>
        </p:txBody>
      </p:sp>
    </p:spTree>
    <p:extLst>
      <p:ext uri="{BB962C8B-B14F-4D97-AF65-F5344CB8AC3E}">
        <p14:creationId xmlns:p14="http://schemas.microsoft.com/office/powerpoint/2010/main" val="299278648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99BCF3-CADC-445A-8B0C-4843297E0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CBF1E8-C16B-4178-BA07-54AFB224D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运行结果：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请输入点的坐标</a:t>
            </a:r>
            <a:r>
              <a:rPr lang="en-US" altLang="zh-CN" dirty="0"/>
              <a:t>x,y:1,2</a:t>
            </a:r>
          </a:p>
          <a:p>
            <a:pPr marL="0" indent="0">
              <a:buNone/>
            </a:pPr>
            <a:r>
              <a:rPr lang="zh-CN" altLang="en-US" dirty="0"/>
              <a:t>方程系数</a:t>
            </a:r>
            <a:r>
              <a:rPr lang="en-US" altLang="zh-CN" dirty="0"/>
              <a:t>A,B,C:1,1,0</a:t>
            </a:r>
          </a:p>
          <a:p>
            <a:pPr marL="0" indent="0">
              <a:buNone/>
            </a:pPr>
            <a:r>
              <a:rPr lang="zh-CN" altLang="en-US" dirty="0"/>
              <a:t>点到直线的距离：</a:t>
            </a:r>
            <a:r>
              <a:rPr lang="en-US" altLang="zh-CN" dirty="0"/>
              <a:t>2.1213203435596424</a:t>
            </a:r>
          </a:p>
          <a:p>
            <a:pPr marL="0" indent="0">
              <a:buNone/>
            </a:pPr>
            <a:r>
              <a:rPr lang="en-US" altLang="zh-CN" dirty="0"/>
              <a:t>&gt;&gt;&gt;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FA1F59-75BB-49FD-A17D-92E73B0F0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80597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69925" y="2780928"/>
            <a:ext cx="10852150" cy="34563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3-4】</a:t>
            </a:r>
            <a:r>
              <a:rPr lang="zh-CN" altLang="en-US" dirty="0"/>
              <a:t>求整数各位数字之和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输入一个</a:t>
            </a:r>
            <a:r>
              <a:rPr lang="en-US" altLang="zh-CN" dirty="0"/>
              <a:t>3</a:t>
            </a:r>
            <a:r>
              <a:rPr lang="zh-CN" altLang="en-US" dirty="0"/>
              <a:t>位整数，计算该数中各位数字之和。例如，输入</a:t>
            </a:r>
            <a:r>
              <a:rPr lang="en-US" altLang="zh-CN" dirty="0"/>
              <a:t>392</a:t>
            </a:r>
            <a:r>
              <a:rPr lang="zh-CN" altLang="en-US" dirty="0"/>
              <a:t>，各位数字之和是</a:t>
            </a:r>
            <a:r>
              <a:rPr lang="en-US" altLang="zh-CN" dirty="0"/>
              <a:t>3+9+2=14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sz="2600" dirty="0"/>
          </a:p>
          <a:p>
            <a:r>
              <a:rPr lang="zh-CN" altLang="en-US" sz="2600" dirty="0"/>
              <a:t>方法一：</a:t>
            </a:r>
          </a:p>
          <a:p>
            <a:pPr marL="0" indent="0">
              <a:buNone/>
            </a:pPr>
            <a:r>
              <a:rPr lang="en-US" altLang="zh-CN" sz="2600" dirty="0"/>
              <a:t>#1.	x = input('</a:t>
            </a:r>
            <a:r>
              <a:rPr lang="zh-CN" altLang="en-US" sz="2600" dirty="0"/>
              <a:t>请输入一个三位数：</a:t>
            </a:r>
            <a:r>
              <a:rPr lang="en-US" altLang="zh-CN" sz="2600" dirty="0"/>
              <a:t>')</a:t>
            </a:r>
          </a:p>
          <a:p>
            <a:pPr marL="0" indent="0">
              <a:buNone/>
            </a:pPr>
            <a:r>
              <a:rPr lang="en-US" altLang="zh-CN" sz="2600" dirty="0"/>
              <a:t>#2.	x = </a:t>
            </a:r>
            <a:r>
              <a:rPr lang="en-US" altLang="zh-CN" sz="2600" dirty="0" err="1"/>
              <a:t>int</a:t>
            </a:r>
            <a:r>
              <a:rPr lang="en-US" altLang="zh-CN" sz="2600" dirty="0"/>
              <a:t>(x)</a:t>
            </a:r>
          </a:p>
          <a:p>
            <a:pPr marL="0" indent="0">
              <a:buNone/>
            </a:pPr>
            <a:r>
              <a:rPr lang="en-US" altLang="zh-CN" sz="2600" dirty="0"/>
              <a:t>#3.	a = x // 100			# </a:t>
            </a:r>
            <a:r>
              <a:rPr lang="zh-CN" altLang="en-US" sz="2600" dirty="0"/>
              <a:t>获取百位数</a:t>
            </a:r>
          </a:p>
          <a:p>
            <a:pPr marL="0" indent="0">
              <a:buNone/>
            </a:pPr>
            <a:r>
              <a:rPr lang="en-US" altLang="zh-CN" sz="2600" dirty="0"/>
              <a:t>#4.	b = x // 10 % 10		# </a:t>
            </a:r>
            <a:r>
              <a:rPr lang="zh-CN" altLang="en-US" sz="2600" dirty="0"/>
              <a:t>获取十位数</a:t>
            </a:r>
          </a:p>
          <a:p>
            <a:pPr marL="0" indent="0">
              <a:buNone/>
            </a:pPr>
            <a:r>
              <a:rPr lang="en-US" altLang="zh-CN" sz="2600" dirty="0"/>
              <a:t>#5.	c = x % 10				# </a:t>
            </a:r>
            <a:r>
              <a:rPr lang="zh-CN" altLang="en-US" sz="2600" dirty="0"/>
              <a:t>获取个位数</a:t>
            </a:r>
          </a:p>
          <a:p>
            <a:pPr marL="0" indent="0">
              <a:buNone/>
            </a:pPr>
            <a:r>
              <a:rPr lang="en-US" altLang="zh-CN" sz="2600" dirty="0"/>
              <a:t>#6.	print(</a:t>
            </a:r>
            <a:r>
              <a:rPr lang="en-US" altLang="zh-CN" sz="2600" dirty="0" err="1"/>
              <a:t>a+b+c</a:t>
            </a:r>
            <a:r>
              <a:rPr lang="en-US" altLang="zh-CN" sz="2600" dirty="0"/>
              <a:t>)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70E19DB-8426-4371-A111-ACFCB5311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434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69925" y="4905766"/>
            <a:ext cx="10852150" cy="16195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69925" y="1700808"/>
            <a:ext cx="10852150" cy="25922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10852150" cy="536519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800" dirty="0"/>
              <a:t>方法二：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800" dirty="0"/>
              <a:t>#1.	x = input('</a:t>
            </a:r>
            <a:r>
              <a:rPr lang="zh-CN" altLang="en-US" sz="2800" dirty="0"/>
              <a:t>请输入一个三位数：</a:t>
            </a:r>
            <a:r>
              <a:rPr lang="en-US" altLang="zh-CN" sz="2800" dirty="0"/>
              <a:t>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800" dirty="0"/>
              <a:t>#2.	x =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(x)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800" dirty="0"/>
              <a:t>#3.	a, b = </a:t>
            </a:r>
            <a:r>
              <a:rPr lang="en-US" altLang="zh-CN" sz="2800" dirty="0" err="1"/>
              <a:t>divmod</a:t>
            </a:r>
            <a:r>
              <a:rPr lang="en-US" altLang="zh-CN" sz="2800" dirty="0"/>
              <a:t>(x, 100)	# a</a:t>
            </a:r>
            <a:r>
              <a:rPr lang="zh-CN" altLang="en-US" sz="2800" dirty="0"/>
              <a:t>得到百位数，</a:t>
            </a:r>
            <a:r>
              <a:rPr lang="en-US" altLang="zh-CN" sz="2800" dirty="0"/>
              <a:t>b</a:t>
            </a:r>
            <a:r>
              <a:rPr lang="zh-CN" altLang="en-US" sz="2800" dirty="0"/>
              <a:t>得到后两位数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800" dirty="0"/>
              <a:t>#4.	b, c = </a:t>
            </a:r>
            <a:r>
              <a:rPr lang="en-US" altLang="zh-CN" sz="2800" dirty="0" err="1"/>
              <a:t>divmod</a:t>
            </a:r>
            <a:r>
              <a:rPr lang="en-US" altLang="zh-CN" sz="2800" dirty="0"/>
              <a:t>(b, 10)	# b</a:t>
            </a:r>
            <a:r>
              <a:rPr lang="zh-CN" altLang="en-US" sz="2800" dirty="0"/>
              <a:t>得到十位数，</a:t>
            </a:r>
            <a:r>
              <a:rPr lang="en-US" altLang="zh-CN" sz="2800" dirty="0"/>
              <a:t>c</a:t>
            </a:r>
            <a:r>
              <a:rPr lang="zh-CN" altLang="en-US" sz="2800" dirty="0"/>
              <a:t>得到个位数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800" dirty="0"/>
              <a:t>#5.	print(</a:t>
            </a:r>
            <a:r>
              <a:rPr lang="en-US" altLang="zh-CN" sz="2800" dirty="0" err="1"/>
              <a:t>a+b+c</a:t>
            </a:r>
            <a:r>
              <a:rPr lang="en-US" altLang="zh-CN" sz="2800" dirty="0"/>
              <a:t>)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FC2FFD-94F3-4744-BFBA-43FAFE8D5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019277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69925" y="4905766"/>
            <a:ext cx="10852150" cy="16195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69925" y="1700808"/>
            <a:ext cx="10852150" cy="25922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160145"/>
            <a:ext cx="11928648" cy="536519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800" dirty="0"/>
              <a:t>方法三：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2800" dirty="0"/>
              <a:t>#1.	x = input('</a:t>
            </a:r>
            <a:r>
              <a:rPr lang="zh-CN" altLang="en-US" sz="2800" dirty="0"/>
              <a:t>请输入一个三位数：</a:t>
            </a:r>
            <a:r>
              <a:rPr lang="en-US" altLang="zh-CN" sz="2800" dirty="0"/>
              <a:t>')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2800" dirty="0"/>
              <a:t>#2.	a, b, c = map(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, x)	# </a:t>
            </a:r>
            <a:r>
              <a:rPr lang="zh-CN" altLang="en-US" sz="2800" dirty="0"/>
              <a:t>采用</a:t>
            </a:r>
            <a:r>
              <a:rPr lang="en-US" altLang="zh-CN" sz="2800" dirty="0"/>
              <a:t>map</a:t>
            </a:r>
            <a:r>
              <a:rPr lang="zh-CN" altLang="en-US" sz="2800" dirty="0"/>
              <a:t>函数依次得到百、十、个位数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2800" dirty="0"/>
              <a:t>#3.	print(</a:t>
            </a:r>
            <a:r>
              <a:rPr lang="en-US" altLang="zh-CN" sz="2800" dirty="0" err="1"/>
              <a:t>a+b+c</a:t>
            </a:r>
            <a:r>
              <a:rPr lang="en-US" altLang="zh-CN" sz="2800" dirty="0"/>
              <a:t>)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FC2FFD-94F3-4744-BFBA-43FAFE8D5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278400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87782" y="2204864"/>
            <a:ext cx="10852150" cy="302433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3-5】</a:t>
            </a:r>
            <a:r>
              <a:rPr lang="zh-CN" altLang="en-US" dirty="0"/>
              <a:t>整数的英文表达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360" y="1340768"/>
            <a:ext cx="11953328" cy="487791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400" dirty="0"/>
              <a:t>从键盘输入一个</a:t>
            </a:r>
            <a:r>
              <a:rPr lang="en-US" altLang="zh-CN" sz="2400" dirty="0"/>
              <a:t>3</a:t>
            </a:r>
            <a:r>
              <a:rPr lang="zh-CN" altLang="en-US" sz="2400" dirty="0"/>
              <a:t>位整数，将该整数转换为英文表达。例如，输入</a:t>
            </a:r>
            <a:r>
              <a:rPr lang="en-US" altLang="zh-CN" sz="2400" dirty="0"/>
              <a:t>392</a:t>
            </a:r>
            <a:r>
              <a:rPr lang="zh-CN" altLang="en-US" sz="2400" dirty="0"/>
              <a:t>，输出</a:t>
            </a:r>
            <a:r>
              <a:rPr lang="en-US" altLang="zh-CN" sz="2400" dirty="0"/>
              <a:t>three hundred and ninety two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800" dirty="0"/>
              <a:t>#1.	x = input('</a:t>
            </a:r>
            <a:r>
              <a:rPr lang="zh-CN" altLang="en-US" sz="2800" dirty="0"/>
              <a:t>请输入一个三位数：</a:t>
            </a:r>
            <a:r>
              <a:rPr lang="en-US" altLang="zh-CN" sz="2800" dirty="0"/>
              <a:t>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800" dirty="0"/>
              <a:t>#2.	a, b, c = map(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, x)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800" dirty="0"/>
              <a:t>#3.	eng1=['','</a:t>
            </a:r>
            <a:r>
              <a:rPr lang="en-US" altLang="zh-CN" sz="2800" dirty="0" err="1"/>
              <a:t>one','two','three','four','five','six</a:t>
            </a:r>
            <a:r>
              <a:rPr lang="en-US" altLang="zh-CN" sz="2800" dirty="0"/>
              <a:t>’,\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800" dirty="0"/>
              <a:t>'</a:t>
            </a:r>
            <a:r>
              <a:rPr lang="en-US" altLang="zh-CN" sz="2800" dirty="0" err="1"/>
              <a:t>seven','eight','nine</a:t>
            </a:r>
            <a:r>
              <a:rPr lang="en-US" altLang="zh-CN" sz="2800" dirty="0"/>
              <a:t>']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800" dirty="0"/>
              <a:t>#4.	eng2=['','</a:t>
            </a:r>
            <a:r>
              <a:rPr lang="en-US" altLang="zh-CN" sz="2800" dirty="0" err="1"/>
              <a:t>ten','twenty','thirty','forty','fifty','sixty</a:t>
            </a:r>
            <a:r>
              <a:rPr lang="en-US" altLang="zh-CN" sz="2800" dirty="0"/>
              <a:t>’,\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800" dirty="0"/>
              <a:t>'</a:t>
            </a:r>
            <a:r>
              <a:rPr lang="en-US" altLang="zh-CN" sz="2800" dirty="0" err="1"/>
              <a:t>seventy','eighty','ninety</a:t>
            </a:r>
            <a:r>
              <a:rPr lang="en-US" altLang="zh-CN" sz="2800" dirty="0"/>
              <a:t>']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800" dirty="0"/>
              <a:t>#5.	print('{} hundred and {}-{}'.format(eng1[a],eng2[b],eng1[c]))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6F1D73B-9194-4A80-B1A2-803C8977B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081425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69925" y="5472000"/>
            <a:ext cx="10852150" cy="10808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69925" y="1772816"/>
            <a:ext cx="10852150" cy="10808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10852150" cy="5509215"/>
          </a:xfrm>
        </p:spPr>
        <p:txBody>
          <a:bodyPr>
            <a:normAutofit/>
          </a:bodyPr>
          <a:lstStyle/>
          <a:p>
            <a:r>
              <a:rPr lang="zh-CN" altLang="en-US" dirty="0"/>
              <a:t>测试代码（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  <a:p>
            <a:pPr marL="0" indent="0">
              <a:buNone/>
            </a:pPr>
            <a:r>
              <a:rPr lang="zh-CN" altLang="en-US" sz="2400" dirty="0"/>
              <a:t>请输入一个三位数：</a:t>
            </a:r>
            <a:r>
              <a:rPr lang="en-US" altLang="zh-CN" sz="2400" dirty="0"/>
              <a:t>392↙</a:t>
            </a:r>
          </a:p>
          <a:p>
            <a:pPr marL="0" indent="0">
              <a:buNone/>
            </a:pPr>
            <a:r>
              <a:rPr lang="en-US" altLang="zh-CN" sz="2400" dirty="0"/>
              <a:t>three hundred and ninety-two</a:t>
            </a:r>
          </a:p>
          <a:p>
            <a:r>
              <a:rPr lang="zh-CN" altLang="en-US" dirty="0"/>
              <a:t>本题的解法是有缺陷</a:t>
            </a:r>
            <a:endParaRPr lang="en-US" altLang="zh-CN" dirty="0"/>
          </a:p>
          <a:p>
            <a:pPr lvl="1"/>
            <a:r>
              <a:rPr lang="zh-CN" altLang="en-US" dirty="0"/>
              <a:t>当末两位是</a:t>
            </a:r>
            <a:r>
              <a:rPr lang="en-US" altLang="zh-CN" dirty="0"/>
              <a:t>11~19</a:t>
            </a:r>
            <a:r>
              <a:rPr lang="zh-CN" altLang="en-US" dirty="0"/>
              <a:t>或末尾为</a:t>
            </a:r>
            <a:r>
              <a:rPr lang="en-US" altLang="zh-CN" dirty="0"/>
              <a:t>0</a:t>
            </a:r>
            <a:r>
              <a:rPr lang="zh-CN" altLang="en-US" dirty="0"/>
              <a:t>时翻译结果是不正确的</a:t>
            </a:r>
            <a:endParaRPr lang="en-US" altLang="zh-CN" dirty="0"/>
          </a:p>
          <a:p>
            <a:pPr lvl="1"/>
            <a:r>
              <a:rPr lang="zh-CN" altLang="en-US" dirty="0"/>
              <a:t>用选择结构解决该缺陷</a:t>
            </a:r>
            <a:endParaRPr lang="en-US" altLang="zh-CN" dirty="0"/>
          </a:p>
          <a:p>
            <a:r>
              <a:rPr lang="zh-CN" altLang="en-US" dirty="0"/>
              <a:t>测试代码（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  <a:p>
            <a:pPr marL="0" indent="0">
              <a:buNone/>
            </a:pPr>
            <a:r>
              <a:rPr lang="zh-CN" altLang="en-US" sz="2400" dirty="0"/>
              <a:t>请输入一个三位数：</a:t>
            </a:r>
            <a:r>
              <a:rPr lang="en-US" altLang="zh-CN" sz="2400" dirty="0"/>
              <a:t>312↙</a:t>
            </a:r>
          </a:p>
          <a:p>
            <a:pPr marL="0" indent="0">
              <a:buNone/>
            </a:pPr>
            <a:r>
              <a:rPr lang="en-US" altLang="zh-CN" sz="2400" dirty="0"/>
              <a:t>three hundred and ten-two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AFA9C0-9488-409A-AEB1-E7251EBF4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89226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0C2DD7-5A7C-4AFC-BA08-FBD495054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049531"/>
          </a:xfrm>
        </p:spPr>
        <p:txBody>
          <a:bodyPr/>
          <a:lstStyle/>
          <a:p>
            <a:pPr algn="ctr"/>
            <a:r>
              <a:rPr lang="zh-CN" altLang="en-US" dirty="0"/>
              <a:t>本章习题  </a:t>
            </a:r>
            <a:r>
              <a:rPr lang="en-US" altLang="zh-CN" sz="3200" dirty="0"/>
              <a:t>P69</a:t>
            </a:r>
            <a:endParaRPr lang="zh-CN" altLang="en-US" sz="32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9AE7BC-7354-4629-8554-FC05A9081B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291311-7409-4F84-842C-304DE1AB5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384133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3F6981-AB5E-411A-8782-6B755465B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1E19F2-D970-42E6-A24E-080C6AEBF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3.5</a:t>
            </a:r>
            <a:r>
              <a:rPr lang="zh-CN" altLang="en-US" dirty="0"/>
              <a:t>节习题全部</a:t>
            </a:r>
            <a:r>
              <a:rPr lang="en-US" altLang="zh-CN" dirty="0"/>
              <a:t>(P69-71)</a:t>
            </a:r>
          </a:p>
          <a:p>
            <a:r>
              <a:rPr lang="zh-CN" altLang="en-US" dirty="0"/>
              <a:t>要求：</a:t>
            </a:r>
            <a:endParaRPr lang="en-US" altLang="zh-CN" dirty="0"/>
          </a:p>
          <a:p>
            <a:pPr lvl="1"/>
            <a:r>
              <a:rPr lang="zh-CN" altLang="en-US" dirty="0"/>
              <a:t>将作业写在</a:t>
            </a:r>
            <a:r>
              <a:rPr lang="en-US" altLang="zh-CN" dirty="0"/>
              <a:t>word</a:t>
            </a:r>
            <a:r>
              <a:rPr lang="zh-CN" altLang="en-US" dirty="0"/>
              <a:t>文档中，写清题号，保存为</a:t>
            </a:r>
            <a:r>
              <a:rPr lang="en-US" altLang="zh-CN" dirty="0"/>
              <a:t>:</a:t>
            </a:r>
          </a:p>
          <a:p>
            <a:pPr marL="457200" lvl="1" indent="0">
              <a:buNone/>
            </a:pPr>
            <a:r>
              <a:rPr lang="en-US" altLang="zh-CN" dirty="0"/>
              <a:t>           ”</a:t>
            </a:r>
            <a:r>
              <a:rPr lang="zh-CN" altLang="en-US" dirty="0"/>
              <a:t>学号姓名</a:t>
            </a:r>
            <a:r>
              <a:rPr lang="en-US" altLang="zh-CN" dirty="0"/>
              <a:t>-</a:t>
            </a:r>
            <a:r>
              <a:rPr lang="zh-CN" altLang="en-US" dirty="0"/>
              <a:t>第</a:t>
            </a:r>
            <a:r>
              <a:rPr lang="en-US" altLang="zh-CN" dirty="0"/>
              <a:t>x</a:t>
            </a:r>
            <a:r>
              <a:rPr lang="zh-CN" altLang="en-US" dirty="0"/>
              <a:t>章作业</a:t>
            </a:r>
            <a:r>
              <a:rPr lang="en-US" altLang="zh-CN" dirty="0"/>
              <a:t>.docx</a:t>
            </a:r>
            <a:r>
              <a:rPr lang="zh-CN" altLang="en-US" dirty="0"/>
              <a:t>“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本章是第</a:t>
            </a:r>
            <a:r>
              <a:rPr lang="en-US" altLang="zh-CN" dirty="0"/>
              <a:t>3</a:t>
            </a:r>
            <a:r>
              <a:rPr lang="zh-CN" altLang="en-US" dirty="0"/>
              <a:t>章，</a:t>
            </a:r>
            <a:r>
              <a:rPr lang="en-US" altLang="zh-CN" dirty="0"/>
              <a:t>x</a:t>
            </a:r>
            <a:r>
              <a:rPr lang="zh-CN" altLang="en-US" dirty="0"/>
              <a:t>写</a:t>
            </a:r>
            <a:r>
              <a:rPr lang="en-US" altLang="zh-CN" dirty="0"/>
              <a:t>3</a:t>
            </a:r>
            <a:r>
              <a:rPr lang="zh-CN" altLang="en-US" dirty="0"/>
              <a:t>，其他章类推。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上传作业到教学网站</a:t>
            </a:r>
            <a:r>
              <a:rPr lang="en-US" altLang="zh-CN" dirty="0"/>
              <a:t>-</a:t>
            </a:r>
            <a:r>
              <a:rPr lang="zh-CN" altLang="en-US" dirty="0"/>
              <a:t>提交作业，周次选择</a:t>
            </a:r>
            <a:r>
              <a:rPr lang="en-US" altLang="zh-CN" dirty="0"/>
              <a:t>x</a:t>
            </a:r>
            <a:r>
              <a:rPr lang="zh-CN" altLang="en-US" dirty="0"/>
              <a:t>，即第几章作业就传到周次为几。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C3E4F9-A110-4164-A5AB-9FA113E6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2315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4DF237-99F7-4C52-B972-F68D1B854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B8DE374-FC12-429B-B692-86F2BC71D6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7" y="1412776"/>
            <a:ext cx="8944869" cy="2304256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7A221-0567-41B0-853E-E574BF472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86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F220D5C-EF54-4E77-9929-ADEAEB986579}"/>
              </a:ext>
            </a:extLst>
          </p:cNvPr>
          <p:cNvSpPr txBox="1"/>
          <p:nvPr/>
        </p:nvSpPr>
        <p:spPr>
          <a:xfrm>
            <a:off x="551384" y="3933056"/>
            <a:ext cx="111612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arenBoth"/>
            </a:pPr>
            <a:r>
              <a:rPr lang="en-US" altLang="zh-CN" sz="2800" dirty="0"/>
              <a:t>X =x*(y+8) =30</a:t>
            </a:r>
          </a:p>
          <a:p>
            <a:pPr marL="514350" indent="-514350">
              <a:buAutoNum type="arabicParenBoth"/>
            </a:pPr>
            <a:r>
              <a:rPr lang="en-US" altLang="zh-CN" sz="2800" dirty="0"/>
              <a:t>X = </a:t>
            </a:r>
            <a:r>
              <a:rPr lang="en-US" altLang="zh-CN" sz="2800" dirty="0" err="1"/>
              <a:t>x+x</a:t>
            </a:r>
            <a:r>
              <a:rPr lang="en-US" altLang="zh-CN" sz="2800" dirty="0"/>
              <a:t> =20</a:t>
            </a:r>
          </a:p>
          <a:p>
            <a:pPr marL="514350" indent="-514350">
              <a:buAutoNum type="arabicParenBoth"/>
            </a:pPr>
            <a:r>
              <a:rPr lang="en-US" altLang="zh-CN" sz="2800" dirty="0"/>
              <a:t>X = 32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090246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4DF237-99F7-4C52-B972-F68D1B854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7A221-0567-41B0-853E-E574BF472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87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F220D5C-EF54-4E77-9929-ADEAEB986579}"/>
              </a:ext>
            </a:extLst>
          </p:cNvPr>
          <p:cNvSpPr txBox="1"/>
          <p:nvPr/>
        </p:nvSpPr>
        <p:spPr>
          <a:xfrm>
            <a:off x="191344" y="5040179"/>
            <a:ext cx="113772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输出：</a:t>
            </a:r>
            <a:endParaRPr lang="en-US" altLang="zh-CN" sz="2800" dirty="0"/>
          </a:p>
          <a:p>
            <a:r>
              <a:rPr lang="en-US" altLang="zh-CN" sz="2800" dirty="0"/>
              <a:t>   1</a:t>
            </a:r>
            <a:r>
              <a:rPr lang="zh-CN" altLang="en-US" sz="2800" dirty="0"/>
              <a:t>，</a:t>
            </a:r>
            <a:r>
              <a:rPr lang="en-US" altLang="zh-CN" sz="2800" dirty="0"/>
              <a:t>2</a:t>
            </a:r>
            <a:r>
              <a:rPr lang="zh-CN" altLang="en-US" sz="2800" dirty="0"/>
              <a:t>，</a:t>
            </a:r>
            <a:r>
              <a:rPr lang="en-US" altLang="zh-CN" sz="2800" dirty="0"/>
              <a:t>3</a:t>
            </a:r>
            <a:r>
              <a:rPr lang="zh-CN" altLang="en-US" sz="2800" dirty="0"/>
              <a:t>，</a:t>
            </a:r>
            <a:r>
              <a:rPr lang="en-US" altLang="zh-CN" sz="28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2</a:t>
            </a:r>
            <a:r>
              <a:rPr lang="zh-CN" altLang="en-US" sz="2800" dirty="0"/>
              <a:t>，</a:t>
            </a:r>
            <a:r>
              <a:rPr lang="en-US" altLang="zh-CN" sz="2800" dirty="0"/>
              <a:t>3</a:t>
            </a:r>
            <a:r>
              <a:rPr lang="zh-CN" altLang="en-US" sz="2800" dirty="0"/>
              <a:t>，</a:t>
            </a:r>
            <a:r>
              <a:rPr lang="en-US" altLang="zh-CN" sz="28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2</a:t>
            </a:r>
            <a:r>
              <a:rPr lang="zh-CN" altLang="en-US" sz="2800" dirty="0"/>
              <a:t>，</a:t>
            </a:r>
            <a:r>
              <a:rPr lang="en-US" altLang="zh-CN" sz="2800" dirty="0"/>
              <a:t>3</a:t>
            </a:r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8B92323C-02FD-458D-A0C3-5B28F583A4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92" y="1340767"/>
            <a:ext cx="8682608" cy="3401075"/>
          </a:xfrm>
        </p:spPr>
      </p:pic>
    </p:spTree>
    <p:extLst>
      <p:ext uri="{BB962C8B-B14F-4D97-AF65-F5344CB8AC3E}">
        <p14:creationId xmlns:p14="http://schemas.microsoft.com/office/powerpoint/2010/main" val="601778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4DF237-99F7-4C52-B972-F68D1B854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7A221-0567-41B0-853E-E574BF472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88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F220D5C-EF54-4E77-9929-ADEAEB986579}"/>
              </a:ext>
            </a:extLst>
          </p:cNvPr>
          <p:cNvSpPr txBox="1"/>
          <p:nvPr/>
        </p:nvSpPr>
        <p:spPr>
          <a:xfrm>
            <a:off x="515380" y="3190552"/>
            <a:ext cx="111612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&gt;&gt;&gt; x = input()</a:t>
            </a:r>
          </a:p>
          <a:p>
            <a:r>
              <a:rPr lang="en-US" altLang="zh-CN" sz="2400" dirty="0"/>
              <a:t>1 2 3</a:t>
            </a:r>
          </a:p>
          <a:p>
            <a:r>
              <a:rPr lang="en-US" altLang="zh-CN" sz="2400" dirty="0"/>
              <a:t>&gt;&gt;&gt; x</a:t>
            </a:r>
          </a:p>
          <a:p>
            <a:r>
              <a:rPr lang="en-US" altLang="zh-CN" sz="2400" dirty="0"/>
              <a:t>'1 2 3'</a:t>
            </a:r>
          </a:p>
          <a:p>
            <a:r>
              <a:rPr lang="en-US" altLang="zh-CN" sz="2400" dirty="0"/>
              <a:t>&gt;&gt;&gt; </a:t>
            </a:r>
            <a:r>
              <a:rPr lang="en-US" altLang="zh-CN" sz="2400" dirty="0" err="1"/>
              <a:t>i,j,k</a:t>
            </a:r>
            <a:r>
              <a:rPr lang="en-US" altLang="zh-CN" sz="2400" dirty="0"/>
              <a:t> = map(</a:t>
            </a:r>
            <a:r>
              <a:rPr lang="en-US" altLang="zh-CN" sz="2400" dirty="0" err="1"/>
              <a:t>int,x</a:t>
            </a:r>
            <a:r>
              <a:rPr lang="en-US" altLang="zh-CN" sz="2400" dirty="0"/>
              <a:t>)</a:t>
            </a:r>
          </a:p>
          <a:p>
            <a:r>
              <a:rPr lang="en-US" altLang="zh-CN" sz="2400" dirty="0"/>
              <a:t>Traceback (most recent call last):</a:t>
            </a:r>
          </a:p>
          <a:p>
            <a:r>
              <a:rPr lang="en-US" altLang="zh-CN" sz="2400" dirty="0"/>
              <a:t>  File "&lt;pyshell#2&gt;", line 1, in &lt;module&gt;</a:t>
            </a:r>
          </a:p>
          <a:p>
            <a:r>
              <a:rPr lang="en-US" altLang="zh-CN" sz="2400" dirty="0"/>
              <a:t>    </a:t>
            </a:r>
            <a:r>
              <a:rPr lang="en-US" altLang="zh-CN" sz="2400" dirty="0" err="1"/>
              <a:t>i,j,k</a:t>
            </a:r>
            <a:r>
              <a:rPr lang="en-US" altLang="zh-CN" sz="2400" dirty="0"/>
              <a:t> = map(</a:t>
            </a:r>
            <a:r>
              <a:rPr lang="en-US" altLang="zh-CN" sz="2400" dirty="0" err="1"/>
              <a:t>int,x</a:t>
            </a:r>
            <a:r>
              <a:rPr lang="en-US" altLang="zh-CN" sz="2400" dirty="0"/>
              <a:t>)</a:t>
            </a:r>
          </a:p>
          <a:p>
            <a:r>
              <a:rPr lang="en-US" altLang="zh-CN" sz="2400" dirty="0" err="1"/>
              <a:t>ValueError</a:t>
            </a:r>
            <a:r>
              <a:rPr lang="en-US" altLang="zh-CN" sz="2400" dirty="0"/>
              <a:t>: invalid literal for int() with base 10: ' '</a:t>
            </a:r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2CE6FA57-8E47-4B82-9286-A9A943821E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4" y="636363"/>
            <a:ext cx="8582538" cy="2471770"/>
          </a:xfrm>
        </p:spPr>
      </p:pic>
    </p:spTree>
    <p:extLst>
      <p:ext uri="{BB962C8B-B14F-4D97-AF65-F5344CB8AC3E}">
        <p14:creationId xmlns:p14="http://schemas.microsoft.com/office/powerpoint/2010/main" val="665385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4DF237-99F7-4C52-B972-F68D1B854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7A221-0567-41B0-853E-E574BF472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89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F220D5C-EF54-4E77-9929-ADEAEB986579}"/>
              </a:ext>
            </a:extLst>
          </p:cNvPr>
          <p:cNvSpPr txBox="1"/>
          <p:nvPr/>
        </p:nvSpPr>
        <p:spPr>
          <a:xfrm>
            <a:off x="551384" y="3933056"/>
            <a:ext cx="111612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输出：</a:t>
            </a:r>
            <a:endParaRPr lang="en-US" altLang="zh-CN" sz="2800" dirty="0"/>
          </a:p>
          <a:p>
            <a:r>
              <a:rPr lang="en-US" altLang="zh-CN" sz="2800" dirty="0"/>
              <a:t>    </a:t>
            </a:r>
            <a:r>
              <a:rPr lang="en-US" altLang="zh-CN" sz="2800" dirty="0" err="1"/>
              <a:t>Hi,worldI’m</a:t>
            </a:r>
            <a:r>
              <a:rPr lang="en-US" altLang="zh-CN" sz="2800" dirty="0"/>
              <a:t>…</a:t>
            </a:r>
            <a:endParaRPr lang="zh-CN" altLang="en-US" sz="2800" dirty="0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E0966FA8-1F5E-4937-90B8-6FF2C46D85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381964"/>
            <a:ext cx="5400600" cy="2315969"/>
          </a:xfrm>
        </p:spPr>
      </p:pic>
    </p:spTree>
    <p:extLst>
      <p:ext uri="{BB962C8B-B14F-4D97-AF65-F5344CB8AC3E}">
        <p14:creationId xmlns:p14="http://schemas.microsoft.com/office/powerpoint/2010/main" val="4078833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4DF237-99F7-4C52-B972-F68D1B854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7A221-0567-41B0-853E-E574BF472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90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F220D5C-EF54-4E77-9929-ADEAEB986579}"/>
              </a:ext>
            </a:extLst>
          </p:cNvPr>
          <p:cNvSpPr txBox="1"/>
          <p:nvPr/>
        </p:nvSpPr>
        <p:spPr>
          <a:xfrm>
            <a:off x="786603" y="4349422"/>
            <a:ext cx="1114204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输出：</a:t>
            </a:r>
            <a:endParaRPr lang="en-US" altLang="zh-CN" sz="2800" dirty="0"/>
          </a:p>
          <a:p>
            <a:r>
              <a:rPr lang="en-US" altLang="zh-CN" sz="2800" dirty="0" err="1"/>
              <a:t>Hi,world</a:t>
            </a:r>
            <a:r>
              <a:rPr lang="en-US" altLang="zh-CN" sz="2800" dirty="0"/>
              <a:t>! I’m…! </a:t>
            </a:r>
            <a:r>
              <a:rPr lang="en-US" altLang="zh-CN" sz="2800" dirty="0" err="1"/>
              <a:t>Hi,world</a:t>
            </a:r>
            <a:r>
              <a:rPr lang="en-US" altLang="zh-CN" sz="2800" dirty="0"/>
              <a:t>! I’m…! </a:t>
            </a:r>
            <a:r>
              <a:rPr lang="en-US" altLang="zh-CN" sz="2800" dirty="0" err="1"/>
              <a:t>Hi,world</a:t>
            </a:r>
            <a:r>
              <a:rPr lang="en-US" altLang="zh-CN" sz="2800" dirty="0"/>
              <a:t>! I’m…!</a:t>
            </a:r>
            <a:endParaRPr lang="zh-CN" altLang="en-US" sz="2800" dirty="0"/>
          </a:p>
          <a:p>
            <a:r>
              <a:rPr lang="en-US" altLang="zh-CN" sz="2800" dirty="0"/>
              <a:t>I’m…</a:t>
            </a:r>
          </a:p>
          <a:p>
            <a:r>
              <a:rPr lang="en-US" altLang="zh-CN" sz="2800" dirty="0"/>
              <a:t>To tied!</a:t>
            </a:r>
            <a:endParaRPr lang="zh-CN" altLang="en-US" sz="2800" dirty="0"/>
          </a:p>
          <a:p>
            <a:endParaRPr lang="zh-CN" altLang="en-US" sz="2800" dirty="0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6AC5A054-EEDF-4C73-B369-D23FB4F1D0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4" y="692696"/>
            <a:ext cx="7325612" cy="3528392"/>
          </a:xfrm>
        </p:spPr>
      </p:pic>
    </p:spTree>
    <p:extLst>
      <p:ext uri="{BB962C8B-B14F-4D97-AF65-F5344CB8AC3E}">
        <p14:creationId xmlns:p14="http://schemas.microsoft.com/office/powerpoint/2010/main" val="549262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4DF237-99F7-4C52-B972-F68D1B854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7A221-0567-41B0-853E-E574BF472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91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F220D5C-EF54-4E77-9929-ADEAEB986579}"/>
              </a:ext>
            </a:extLst>
          </p:cNvPr>
          <p:cNvSpPr txBox="1"/>
          <p:nvPr/>
        </p:nvSpPr>
        <p:spPr>
          <a:xfrm>
            <a:off x="335360" y="4384835"/>
            <a:ext cx="1123324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输出：</a:t>
            </a:r>
            <a:endParaRPr lang="en-US" altLang="zh-CN" sz="2800" dirty="0"/>
          </a:p>
          <a:p>
            <a:r>
              <a:rPr lang="zh-CN" altLang="en-US" sz="2800" dirty="0"/>
              <a:t>第一名：甲，第二名：乙，第三名：丙</a:t>
            </a:r>
            <a:r>
              <a:rPr lang="en-US" altLang="zh-CN" sz="2800" dirty="0"/>
              <a:t>.</a:t>
            </a:r>
          </a:p>
          <a:p>
            <a:r>
              <a:rPr lang="zh-CN" altLang="en-US" sz="2800" dirty="0"/>
              <a:t>第一名：丙，第二名：甲，第三名：乙</a:t>
            </a:r>
            <a:r>
              <a:rPr lang="en-US" altLang="zh-CN" sz="2800" dirty="0"/>
              <a:t>.</a:t>
            </a:r>
          </a:p>
          <a:p>
            <a:r>
              <a:rPr lang="zh-CN" altLang="en-US" sz="2800" dirty="0"/>
              <a:t>第一名：乙，第二名：甲，第三名：</a:t>
            </a:r>
            <a:r>
              <a:rPr lang="en-US" altLang="zh-CN" sz="2800" dirty="0"/>
              <a:t>. </a:t>
            </a:r>
            <a:endParaRPr lang="zh-CN" altLang="en-US" sz="2800" dirty="0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D7BCD0C1-E02C-4DAC-9A2C-904143917B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753" y="476672"/>
            <a:ext cx="10014296" cy="3692139"/>
          </a:xfrm>
        </p:spPr>
      </p:pic>
    </p:spTree>
    <p:extLst>
      <p:ext uri="{BB962C8B-B14F-4D97-AF65-F5344CB8AC3E}">
        <p14:creationId xmlns:p14="http://schemas.microsoft.com/office/powerpoint/2010/main" val="2293779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4DF237-99F7-4C52-B972-F68D1B854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7A221-0567-41B0-853E-E574BF472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92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F220D5C-EF54-4E77-9929-ADEAEB986579}"/>
              </a:ext>
            </a:extLst>
          </p:cNvPr>
          <p:cNvSpPr txBox="1"/>
          <p:nvPr/>
        </p:nvSpPr>
        <p:spPr>
          <a:xfrm>
            <a:off x="535349" y="4563185"/>
            <a:ext cx="111612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arenBoth"/>
            </a:pPr>
            <a:r>
              <a:rPr lang="en-US" altLang="zh-CN" sz="2800" dirty="0"/>
              <a:t>k=j*I =5*3 =15</a:t>
            </a:r>
          </a:p>
          <a:p>
            <a:pPr marL="514350" indent="-514350">
              <a:buAutoNum type="arabicParenBoth"/>
            </a:pPr>
            <a:r>
              <a:rPr lang="en-US" altLang="zh-CN" sz="2800" dirty="0"/>
              <a:t>K=j/I =5/3 =1.666666666666667</a:t>
            </a:r>
            <a:endParaRPr lang="zh-CN" altLang="en-US" sz="2800" dirty="0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90F536DD-BD96-41E1-A46C-015868794F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78" y="260648"/>
            <a:ext cx="12155982" cy="3960440"/>
          </a:xfrm>
        </p:spPr>
      </p:pic>
    </p:spTree>
    <p:extLst>
      <p:ext uri="{BB962C8B-B14F-4D97-AF65-F5344CB8AC3E}">
        <p14:creationId xmlns:p14="http://schemas.microsoft.com/office/powerpoint/2010/main" val="1111365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7A221-0567-41B0-853E-E574BF472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93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F220D5C-EF54-4E77-9929-ADEAEB986579}"/>
              </a:ext>
            </a:extLst>
          </p:cNvPr>
          <p:cNvSpPr txBox="1"/>
          <p:nvPr/>
        </p:nvSpPr>
        <p:spPr>
          <a:xfrm>
            <a:off x="3771056" y="705530"/>
            <a:ext cx="8143800" cy="6053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800" dirty="0"/>
              <a:t>(3) z=4.3/3 =1.433333333333</a:t>
            </a:r>
          </a:p>
          <a:p>
            <a:pPr>
              <a:lnSpc>
                <a:spcPct val="140000"/>
              </a:lnSpc>
            </a:pPr>
            <a:r>
              <a:rPr lang="en-US" altLang="zh-CN" sz="2800" dirty="0"/>
              <a:t>(4) k=4.3//3 =1.0</a:t>
            </a:r>
          </a:p>
          <a:p>
            <a:pPr>
              <a:lnSpc>
                <a:spcPct val="140000"/>
              </a:lnSpc>
            </a:pPr>
            <a:r>
              <a:rPr lang="en-US" altLang="zh-CN" sz="2800" dirty="0"/>
              <a:t>(5) z =58.209/4.3 =13.536976744186047</a:t>
            </a:r>
          </a:p>
          <a:p>
            <a:pPr>
              <a:lnSpc>
                <a:spcPct val="140000"/>
              </a:lnSpc>
            </a:pPr>
            <a:r>
              <a:rPr lang="en-US" altLang="zh-CN" sz="2800" dirty="0"/>
              <a:t>(6) K =y//x=58.209//4.3 =13.0</a:t>
            </a:r>
          </a:p>
          <a:p>
            <a:pPr>
              <a:lnSpc>
                <a:spcPct val="140000"/>
              </a:lnSpc>
            </a:pPr>
            <a:r>
              <a:rPr lang="en-US" altLang="zh-CN" sz="2800" dirty="0"/>
              <a:t>(7)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 =3+2*j =3+2*5 =13</a:t>
            </a:r>
          </a:p>
          <a:p>
            <a:pPr>
              <a:lnSpc>
                <a:spcPct val="140000"/>
              </a:lnSpc>
            </a:pPr>
            <a:r>
              <a:rPr lang="en-US" altLang="zh-CN" sz="2800" dirty="0"/>
              <a:t>(8) k =</a:t>
            </a:r>
            <a:r>
              <a:rPr lang="en-US" altLang="zh-CN" sz="2800" dirty="0" err="1"/>
              <a:t>j%i</a:t>
            </a:r>
            <a:r>
              <a:rPr lang="en-US" altLang="zh-CN" sz="2800" dirty="0"/>
              <a:t> = 5%3 =2</a:t>
            </a:r>
          </a:p>
          <a:p>
            <a:pPr>
              <a:lnSpc>
                <a:spcPct val="140000"/>
              </a:lnSpc>
            </a:pPr>
            <a:r>
              <a:rPr lang="en-US" altLang="zh-CN" sz="2800" dirty="0"/>
              <a:t>(9) K =</a:t>
            </a:r>
            <a:r>
              <a:rPr lang="en-US" altLang="zh-CN" sz="2800" dirty="0" err="1"/>
              <a:t>j%i</a:t>
            </a:r>
            <a:r>
              <a:rPr lang="en-US" altLang="zh-CN" sz="2800" dirty="0"/>
              <a:t>*4 =8</a:t>
            </a:r>
          </a:p>
          <a:p>
            <a:pPr>
              <a:lnSpc>
                <a:spcPct val="140000"/>
              </a:lnSpc>
            </a:pPr>
            <a:r>
              <a:rPr lang="en-US" altLang="zh-CN" sz="2800" dirty="0"/>
              <a:t>(10)</a:t>
            </a:r>
            <a:r>
              <a:rPr lang="en-US" altLang="zh-CN" sz="2800" dirty="0" err="1"/>
              <a:t>i</a:t>
            </a:r>
            <a:r>
              <a:rPr lang="en-US" altLang="zh-CN" sz="2800" dirty="0"/>
              <a:t>+=j</a:t>
            </a:r>
            <a:r>
              <a:rPr lang="zh-CN" altLang="en-US" sz="2800" dirty="0"/>
              <a:t>等价于</a:t>
            </a:r>
            <a:r>
              <a:rPr lang="en-US" altLang="zh-CN" sz="2800" dirty="0" err="1"/>
              <a:t>i</a:t>
            </a:r>
            <a:r>
              <a:rPr lang="en-US" altLang="zh-CN" sz="2800" dirty="0"/>
              <a:t>=</a:t>
            </a:r>
            <a:r>
              <a:rPr lang="en-US" altLang="zh-CN" sz="2800" dirty="0" err="1"/>
              <a:t>i+j</a:t>
            </a:r>
            <a:r>
              <a:rPr lang="en-US" altLang="zh-CN" sz="2800" dirty="0"/>
              <a:t>=3+5=8</a:t>
            </a:r>
          </a:p>
          <a:p>
            <a:pPr>
              <a:lnSpc>
                <a:spcPct val="140000"/>
              </a:lnSpc>
            </a:pPr>
            <a:r>
              <a:rPr lang="en-US" altLang="zh-CN" sz="2800" dirty="0"/>
              <a:t>(11) j-=x</a:t>
            </a:r>
            <a:r>
              <a:rPr lang="zh-CN" altLang="en-US" sz="2800" dirty="0"/>
              <a:t>等价于 </a:t>
            </a:r>
            <a:r>
              <a:rPr lang="en-US" altLang="zh-CN" sz="2800" dirty="0"/>
              <a:t>j=j-x=5-4.3=0.700000000000002</a:t>
            </a:r>
          </a:p>
          <a:p>
            <a:pPr>
              <a:lnSpc>
                <a:spcPct val="140000"/>
              </a:lnSpc>
            </a:pPr>
            <a:r>
              <a:rPr lang="en-US" altLang="zh-CN" sz="2800" dirty="0"/>
              <a:t>(12)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=</a:t>
            </a:r>
            <a:r>
              <a:rPr lang="en-US" altLang="zh-CN" sz="2800" dirty="0" err="1"/>
              <a:t>i%j</a:t>
            </a:r>
            <a:r>
              <a:rPr lang="en-US" altLang="zh-CN" sz="2800" dirty="0"/>
              <a:t> =3%5=3</a:t>
            </a:r>
            <a:endParaRPr lang="zh-CN" altLang="en-US" sz="2800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27CE6F5D-879A-4255-AF95-40A8BBB02E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202597"/>
            <a:ext cx="3266132" cy="6094536"/>
          </a:xfrm>
        </p:spPr>
      </p:pic>
    </p:spTree>
    <p:extLst>
      <p:ext uri="{BB962C8B-B14F-4D97-AF65-F5344CB8AC3E}">
        <p14:creationId xmlns:p14="http://schemas.microsoft.com/office/powerpoint/2010/main" val="1296166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4DF237-99F7-4C52-B972-F68D1B854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7A221-0567-41B0-853E-E574BF472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94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F220D5C-EF54-4E77-9929-ADEAEB986579}"/>
              </a:ext>
            </a:extLst>
          </p:cNvPr>
          <p:cNvSpPr txBox="1"/>
          <p:nvPr/>
        </p:nvSpPr>
        <p:spPr>
          <a:xfrm>
            <a:off x="561025" y="2492896"/>
            <a:ext cx="1116124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运行结果：</a:t>
            </a:r>
            <a:endParaRPr lang="en-US" altLang="zh-CN" sz="2800" dirty="0"/>
          </a:p>
          <a:p>
            <a:r>
              <a:rPr lang="zh-CN" altLang="en-US" sz="2800" dirty="0"/>
              <a:t>请输入平时成绩：</a:t>
            </a:r>
            <a:r>
              <a:rPr lang="en-US" altLang="zh-CN" sz="2800" dirty="0"/>
              <a:t>80</a:t>
            </a:r>
          </a:p>
          <a:p>
            <a:r>
              <a:rPr lang="zh-CN" altLang="en-US" sz="2800" dirty="0"/>
              <a:t>请输入期中成绩：</a:t>
            </a:r>
            <a:r>
              <a:rPr lang="en-US" altLang="zh-CN" sz="2800" dirty="0"/>
              <a:t>90</a:t>
            </a:r>
          </a:p>
          <a:p>
            <a:r>
              <a:rPr lang="zh-CN" altLang="en-US" sz="2800" dirty="0"/>
              <a:t>请输入期末成绩：</a:t>
            </a:r>
            <a:r>
              <a:rPr lang="en-US" altLang="zh-CN" sz="2800" dirty="0"/>
              <a:t>100</a:t>
            </a:r>
          </a:p>
          <a:p>
            <a:r>
              <a:rPr lang="zh-CN" altLang="en-US" sz="2800" dirty="0"/>
              <a:t>总成绩为 </a:t>
            </a:r>
            <a:r>
              <a:rPr lang="en-US" altLang="zh-CN" sz="2800" dirty="0"/>
              <a:t>94.5</a:t>
            </a:r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FEB7D90E-1D39-43EA-A604-8E5906530A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2" y="631115"/>
            <a:ext cx="11665298" cy="925677"/>
          </a:xfrm>
        </p:spPr>
      </p:pic>
    </p:spTree>
    <p:extLst>
      <p:ext uri="{BB962C8B-B14F-4D97-AF65-F5344CB8AC3E}">
        <p14:creationId xmlns:p14="http://schemas.microsoft.com/office/powerpoint/2010/main" val="1654541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0A64E6-7206-495A-B2FD-4D9C0DCF9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193797-F8AC-4B03-BB00-7CF620B68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x = int(input('</a:t>
            </a:r>
            <a:r>
              <a:rPr lang="zh-CN" altLang="en-US" dirty="0"/>
              <a:t>请输入平时成绩：</a:t>
            </a:r>
            <a:r>
              <a:rPr lang="en-US" altLang="zh-CN" dirty="0"/>
              <a:t>'))</a:t>
            </a:r>
          </a:p>
          <a:p>
            <a:pPr marL="0" indent="0">
              <a:buNone/>
            </a:pPr>
            <a:r>
              <a:rPr lang="en-US" altLang="zh-CN" dirty="0"/>
              <a:t>y = int(input('</a:t>
            </a:r>
            <a:r>
              <a:rPr lang="zh-CN" altLang="en-US" dirty="0"/>
              <a:t>请输入期中成绩：</a:t>
            </a:r>
            <a:r>
              <a:rPr lang="en-US" altLang="zh-CN" dirty="0"/>
              <a:t>'))</a:t>
            </a:r>
          </a:p>
          <a:p>
            <a:pPr marL="0" indent="0">
              <a:buNone/>
            </a:pPr>
            <a:r>
              <a:rPr lang="en-US" altLang="zh-CN" dirty="0"/>
              <a:t>z = int(input('</a:t>
            </a:r>
            <a:r>
              <a:rPr lang="zh-CN" altLang="en-US" dirty="0"/>
              <a:t>请输入期末成绩：</a:t>
            </a:r>
            <a:r>
              <a:rPr lang="en-US" altLang="zh-CN" dirty="0"/>
              <a:t>'))</a:t>
            </a:r>
          </a:p>
          <a:p>
            <a:pPr marL="0" indent="0">
              <a:buNone/>
            </a:pPr>
            <a:r>
              <a:rPr lang="en-US" altLang="zh-CN" dirty="0" err="1"/>
              <a:t>zong</a:t>
            </a:r>
            <a:r>
              <a:rPr lang="en-US" altLang="zh-CN" dirty="0"/>
              <a:t> = x*0.15 + y*0.25 + z*0.6</a:t>
            </a:r>
          </a:p>
          <a:p>
            <a:pPr marL="0" indent="0">
              <a:buNone/>
            </a:pPr>
            <a:r>
              <a:rPr lang="en-US" altLang="zh-CN" dirty="0"/>
              <a:t>print('</a:t>
            </a:r>
            <a:r>
              <a:rPr lang="zh-CN" altLang="en-US" dirty="0"/>
              <a:t>总成绩为</a:t>
            </a:r>
            <a:r>
              <a:rPr lang="en-US" altLang="zh-CN" dirty="0"/>
              <a:t>{0:5.1f}'.format(</a:t>
            </a:r>
            <a:r>
              <a:rPr lang="en-US" altLang="zh-CN" dirty="0" err="1"/>
              <a:t>zong</a:t>
            </a:r>
            <a:r>
              <a:rPr lang="en-US" altLang="zh-CN" dirty="0"/>
              <a:t>))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3EC5B6-E230-4775-90EE-C4D22B210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752885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4DF237-99F7-4C52-B972-F68D1B854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7A221-0567-41B0-853E-E574BF472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96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F220D5C-EF54-4E77-9929-ADEAEB986579}"/>
              </a:ext>
            </a:extLst>
          </p:cNvPr>
          <p:cNvSpPr txBox="1"/>
          <p:nvPr/>
        </p:nvSpPr>
        <p:spPr>
          <a:xfrm>
            <a:off x="362596" y="2172757"/>
            <a:ext cx="1159328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m = input('</a:t>
            </a:r>
            <a:r>
              <a:rPr lang="zh-CN" altLang="en-US" sz="2800" dirty="0"/>
              <a:t>请输入一个三位数：</a:t>
            </a:r>
            <a:r>
              <a:rPr lang="en-US" altLang="zh-CN" sz="2800" dirty="0"/>
              <a:t>')</a:t>
            </a:r>
          </a:p>
          <a:p>
            <a:r>
              <a:rPr lang="en-US" altLang="zh-CN" sz="2800" dirty="0"/>
              <a:t>a, b, c = map(</a:t>
            </a:r>
            <a:r>
              <a:rPr lang="en-US" altLang="zh-CN" sz="2800" dirty="0" err="1"/>
              <a:t>int,m</a:t>
            </a:r>
            <a:r>
              <a:rPr lang="en-US" altLang="zh-CN" sz="2800" dirty="0"/>
              <a:t>)</a:t>
            </a:r>
          </a:p>
          <a:p>
            <a:r>
              <a:rPr lang="en-US" altLang="zh-CN" sz="2800" dirty="0"/>
              <a:t>print('</a:t>
            </a:r>
            <a:r>
              <a:rPr lang="zh-CN" altLang="en-US" sz="2800" dirty="0"/>
              <a:t>它的逆序数为</a:t>
            </a:r>
            <a:r>
              <a:rPr lang="en-US" altLang="zh-CN" sz="2800" dirty="0"/>
              <a:t>: {}{}{}'.format(</a:t>
            </a:r>
            <a:r>
              <a:rPr lang="en-US" altLang="zh-CN" sz="2800" dirty="0" err="1"/>
              <a:t>c,b,a</a:t>
            </a:r>
            <a:r>
              <a:rPr lang="en-US" altLang="zh-CN" sz="2800" dirty="0"/>
              <a:t>))</a:t>
            </a:r>
          </a:p>
          <a:p>
            <a:endParaRPr lang="en-US" altLang="zh-CN" sz="2800" dirty="0"/>
          </a:p>
          <a:p>
            <a:r>
              <a:rPr lang="zh-CN" altLang="en-US" sz="2800" dirty="0"/>
              <a:t>运行结果：</a:t>
            </a:r>
            <a:endParaRPr lang="en-US" altLang="zh-CN" sz="2800" dirty="0"/>
          </a:p>
          <a:p>
            <a:r>
              <a:rPr lang="zh-CN" altLang="en-US" sz="2800" dirty="0"/>
              <a:t>请输入一个三位数：</a:t>
            </a:r>
            <a:r>
              <a:rPr lang="en-US" altLang="zh-CN" sz="2800" dirty="0"/>
              <a:t>123</a:t>
            </a:r>
          </a:p>
          <a:p>
            <a:r>
              <a:rPr lang="zh-CN" altLang="en-US" sz="2800" dirty="0"/>
              <a:t>它的逆序数为</a:t>
            </a:r>
            <a:r>
              <a:rPr lang="en-US" altLang="zh-CN" sz="2800" dirty="0"/>
              <a:t>: 321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1ED6A020-199E-4F69-99BA-363F1E91A0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7" y="660590"/>
            <a:ext cx="11960224" cy="1112225"/>
          </a:xfrm>
        </p:spPr>
      </p:pic>
    </p:spTree>
    <p:extLst>
      <p:ext uri="{BB962C8B-B14F-4D97-AF65-F5344CB8AC3E}">
        <p14:creationId xmlns:p14="http://schemas.microsoft.com/office/powerpoint/2010/main" val="3818123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4DF237-99F7-4C52-B972-F68D1B854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7A221-0567-41B0-853E-E574BF472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97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F220D5C-EF54-4E77-9929-ADEAEB986579}"/>
              </a:ext>
            </a:extLst>
          </p:cNvPr>
          <p:cNvSpPr txBox="1"/>
          <p:nvPr/>
        </p:nvSpPr>
        <p:spPr>
          <a:xfrm>
            <a:off x="335360" y="1959329"/>
            <a:ext cx="1116124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import math</a:t>
            </a:r>
          </a:p>
          <a:p>
            <a:r>
              <a:rPr lang="en-US" altLang="zh-CN" sz="2800" dirty="0"/>
              <a:t>m = input('</a:t>
            </a:r>
            <a:r>
              <a:rPr lang="zh-CN" altLang="en-US" sz="2800" dirty="0"/>
              <a:t>请输入</a:t>
            </a:r>
            <a:r>
              <a:rPr lang="en-US" altLang="zh-CN" sz="2800" dirty="0"/>
              <a:t>3</a:t>
            </a:r>
            <a:r>
              <a:rPr lang="zh-CN" altLang="en-US" sz="2800" dirty="0"/>
              <a:t>个参数</a:t>
            </a:r>
            <a:r>
              <a:rPr lang="en-US" altLang="zh-CN" sz="2800" dirty="0" err="1"/>
              <a:t>a,b,c</a:t>
            </a:r>
            <a:r>
              <a:rPr lang="en-US" altLang="zh-CN" sz="2800" dirty="0"/>
              <a:t>,</a:t>
            </a:r>
            <a:r>
              <a:rPr lang="zh-CN" altLang="en-US" sz="2800" dirty="0"/>
              <a:t>用空格分隔：</a:t>
            </a:r>
            <a:r>
              <a:rPr lang="en-US" altLang="zh-CN" sz="2800" dirty="0"/>
              <a:t>')</a:t>
            </a:r>
          </a:p>
          <a:p>
            <a:r>
              <a:rPr lang="en-US" altLang="zh-CN" sz="2800" dirty="0"/>
              <a:t>a, b, c = map(</a:t>
            </a:r>
            <a:r>
              <a:rPr lang="en-US" altLang="zh-CN" sz="2800" dirty="0" err="1"/>
              <a:t>float,m.split</a:t>
            </a:r>
            <a:r>
              <a:rPr lang="en-US" altLang="zh-CN" sz="2800" dirty="0"/>
              <a:t>())</a:t>
            </a:r>
          </a:p>
          <a:p>
            <a:r>
              <a:rPr lang="en-US" altLang="zh-CN" sz="2800" dirty="0"/>
              <a:t>x1 = (-b + </a:t>
            </a:r>
            <a:r>
              <a:rPr lang="en-US" altLang="zh-CN" sz="2800" dirty="0" err="1"/>
              <a:t>math.sqrt</a:t>
            </a:r>
            <a:r>
              <a:rPr lang="en-US" altLang="zh-CN" sz="2800" dirty="0"/>
              <a:t>(b*b - 4*a*c))/2/a</a:t>
            </a:r>
          </a:p>
          <a:p>
            <a:r>
              <a:rPr lang="en-US" altLang="zh-CN" sz="2800" dirty="0"/>
              <a:t>x2 = (-b - </a:t>
            </a:r>
            <a:r>
              <a:rPr lang="en-US" altLang="zh-CN" sz="2800" dirty="0" err="1"/>
              <a:t>math.sqrt</a:t>
            </a:r>
            <a:r>
              <a:rPr lang="en-US" altLang="zh-CN" sz="2800" dirty="0"/>
              <a:t>(b*b - 4*a*c))/2/a</a:t>
            </a:r>
          </a:p>
          <a:p>
            <a:r>
              <a:rPr lang="en-US" altLang="zh-CN" sz="2800" dirty="0"/>
              <a:t>print('x1 = {0:.2f}, x2 = {1:.2f}'.format(x1,x2))</a:t>
            </a:r>
          </a:p>
          <a:p>
            <a:endParaRPr lang="en-US" altLang="zh-CN" sz="2800" dirty="0"/>
          </a:p>
          <a:p>
            <a:r>
              <a:rPr lang="zh-CN" altLang="en-US" sz="2800" dirty="0"/>
              <a:t>运行结果：</a:t>
            </a:r>
            <a:endParaRPr lang="en-US" altLang="zh-CN" sz="2800" dirty="0"/>
          </a:p>
          <a:p>
            <a:r>
              <a:rPr lang="zh-CN" altLang="en-US" sz="2800" dirty="0"/>
              <a:t>请输入</a:t>
            </a:r>
            <a:r>
              <a:rPr lang="en-US" altLang="zh-CN" sz="2800" dirty="0"/>
              <a:t>3</a:t>
            </a:r>
            <a:r>
              <a:rPr lang="zh-CN" altLang="en-US" sz="2800" dirty="0"/>
              <a:t>个参数</a:t>
            </a:r>
            <a:r>
              <a:rPr lang="en-US" altLang="zh-CN" sz="2800" dirty="0" err="1"/>
              <a:t>a,b,c</a:t>
            </a:r>
            <a:r>
              <a:rPr lang="en-US" altLang="zh-CN" sz="2800" dirty="0"/>
              <a:t>,</a:t>
            </a:r>
            <a:r>
              <a:rPr lang="zh-CN" altLang="en-US" sz="2800" dirty="0"/>
              <a:t>用空格分隔：</a:t>
            </a:r>
            <a:r>
              <a:rPr lang="en-US" altLang="zh-CN" sz="2800" dirty="0"/>
              <a:t>2 7 3</a:t>
            </a:r>
          </a:p>
          <a:p>
            <a:r>
              <a:rPr lang="en-US" altLang="zh-CN" sz="2800" dirty="0"/>
              <a:t>x1 = -0.50, x2 = -3.00</a:t>
            </a:r>
          </a:p>
          <a:p>
            <a:r>
              <a:rPr lang="en-US" altLang="zh-CN" sz="2800" dirty="0"/>
              <a:t>#</a:t>
            </a:r>
            <a:r>
              <a:rPr lang="zh-CN" altLang="en-US" sz="2800"/>
              <a:t>要改进，虚数青客未处理</a:t>
            </a:r>
            <a:endParaRPr lang="zh-CN" altLang="en-US" sz="2800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67E8362-9EB1-46A0-910E-5FCD2D1438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76" y="497466"/>
            <a:ext cx="12000656" cy="1152128"/>
          </a:xfrm>
        </p:spPr>
      </p:pic>
    </p:spTree>
    <p:extLst>
      <p:ext uri="{BB962C8B-B14F-4D97-AF65-F5344CB8AC3E}">
        <p14:creationId xmlns:p14="http://schemas.microsoft.com/office/powerpoint/2010/main" val="3560977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4DF237-99F7-4C52-B972-F68D1B854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7A221-0567-41B0-853E-E574BF472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98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F220D5C-EF54-4E77-9929-ADEAEB986579}"/>
              </a:ext>
            </a:extLst>
          </p:cNvPr>
          <p:cNvSpPr txBox="1"/>
          <p:nvPr/>
        </p:nvSpPr>
        <p:spPr>
          <a:xfrm>
            <a:off x="335360" y="2521059"/>
            <a:ext cx="111612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运行结果：</a:t>
            </a:r>
            <a:endParaRPr lang="en-US" altLang="zh-CN" sz="2800" dirty="0"/>
          </a:p>
          <a:p>
            <a:r>
              <a:rPr lang="zh-CN" altLang="en-US" sz="2800" dirty="0"/>
              <a:t>请输入</a:t>
            </a:r>
            <a:r>
              <a:rPr lang="en-US" altLang="zh-CN" sz="2800" dirty="0" err="1"/>
              <a:t>a,b,c,d</a:t>
            </a:r>
            <a:r>
              <a:rPr lang="zh-CN" altLang="en-US" sz="2800" dirty="0"/>
              <a:t>的值，用空格分隔：</a:t>
            </a:r>
            <a:r>
              <a:rPr lang="en-US" altLang="zh-CN" sz="2800" dirty="0"/>
              <a:t>10 15 20 21</a:t>
            </a:r>
          </a:p>
          <a:p>
            <a:r>
              <a:rPr lang="en-US" altLang="zh-CN" sz="2800" dirty="0"/>
              <a:t>4</a:t>
            </a:r>
            <a:r>
              <a:rPr lang="zh-CN" altLang="en-US" sz="2800" dirty="0"/>
              <a:t>管齐开需要</a:t>
            </a:r>
            <a:r>
              <a:rPr lang="en-US" altLang="zh-CN" sz="2800" dirty="0"/>
              <a:t>3.78</a:t>
            </a:r>
            <a:r>
              <a:rPr lang="zh-CN" altLang="en-US" sz="2800" dirty="0"/>
              <a:t>小时</a:t>
            </a:r>
          </a:p>
          <a:p>
            <a:endParaRPr lang="zh-CN" altLang="en-US" sz="2800" dirty="0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8CBD147C-CF93-4CCA-B6D1-26B2519B5D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82" y="742780"/>
            <a:ext cx="11871473" cy="1390075"/>
          </a:xfrm>
        </p:spPr>
      </p:pic>
    </p:spTree>
    <p:extLst>
      <p:ext uri="{BB962C8B-B14F-4D97-AF65-F5344CB8AC3E}">
        <p14:creationId xmlns:p14="http://schemas.microsoft.com/office/powerpoint/2010/main" val="758009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ADAF7-93B1-45FE-B99B-E9D1609E2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013D1D-88BF-428F-8DEA-241C63325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m = input('</a:t>
            </a:r>
            <a:r>
              <a:rPr lang="zh-CN" altLang="en-US" dirty="0"/>
              <a:t>请输入</a:t>
            </a:r>
            <a:r>
              <a:rPr lang="en-US" altLang="zh-CN" dirty="0" err="1"/>
              <a:t>a,b,c,d</a:t>
            </a:r>
            <a:r>
              <a:rPr lang="zh-CN" altLang="en-US" dirty="0"/>
              <a:t>的值，用空格分隔：</a:t>
            </a:r>
            <a:r>
              <a:rPr lang="en-US" altLang="zh-CN" dirty="0"/>
              <a:t>')</a:t>
            </a:r>
          </a:p>
          <a:p>
            <a:pPr marL="0" indent="0">
              <a:buNone/>
            </a:pPr>
            <a:r>
              <a:rPr lang="en-US" altLang="zh-CN" dirty="0" err="1"/>
              <a:t>a,b,c,d</a:t>
            </a:r>
            <a:r>
              <a:rPr lang="en-US" altLang="zh-CN" dirty="0"/>
              <a:t> = map(</a:t>
            </a:r>
            <a:r>
              <a:rPr lang="en-US" altLang="zh-CN" dirty="0" err="1"/>
              <a:t>float,m.split</a:t>
            </a:r>
            <a:r>
              <a:rPr lang="en-US" altLang="zh-CN" dirty="0"/>
              <a:t>(' '))  # </a:t>
            </a:r>
            <a:r>
              <a:rPr lang="zh-CN" altLang="en-US" dirty="0"/>
              <a:t>引号内方空格</a:t>
            </a:r>
          </a:p>
          <a:p>
            <a:pPr marL="0" indent="0">
              <a:buNone/>
            </a:pPr>
            <a:r>
              <a:rPr lang="en-US" altLang="zh-CN" dirty="0"/>
              <a:t>x = 1/(1/a + 1/b +1/c +1/d)</a:t>
            </a:r>
          </a:p>
          <a:p>
            <a:pPr marL="0" indent="0">
              <a:buNone/>
            </a:pPr>
            <a:r>
              <a:rPr lang="en-US" altLang="zh-CN" dirty="0"/>
              <a:t>print('4</a:t>
            </a:r>
            <a:r>
              <a:rPr lang="zh-CN" altLang="en-US" dirty="0"/>
              <a:t>管齐开需要</a:t>
            </a:r>
            <a:r>
              <a:rPr lang="en-US" altLang="zh-CN" dirty="0"/>
              <a:t>{0:.2f}</a:t>
            </a:r>
            <a:r>
              <a:rPr lang="zh-CN" altLang="en-US" dirty="0"/>
              <a:t>小时</a:t>
            </a:r>
            <a:r>
              <a:rPr lang="en-US" altLang="zh-CN" dirty="0"/>
              <a:t>'.format(x))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266EDA-7ECD-477E-9BBE-3B48B0995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15115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4327525" y="1499870"/>
            <a:ext cx="3436620" cy="922020"/>
          </a:xfrm>
          <a:prstGeom prst="rect">
            <a:avLst/>
          </a:prstGeom>
          <a:noFill/>
        </p:spPr>
        <p:txBody>
          <a:bodyPr wrap="square" rtlCol="0">
            <a:normAutofit fontScale="67500" lnSpcReduction="20000"/>
          </a:bodyPr>
          <a:lstStyle/>
          <a:p>
            <a:pPr algn="dist"/>
            <a:r>
              <a:rPr lang="zh-CN" altLang="en-US" sz="5400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清华大学出版社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谢谢观赏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48F80DF-2260-41E3-8E76-61BC82D6F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100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考察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101</a:t>
            </a:fld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08369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102</a:t>
            </a:fld>
            <a:endParaRPr lang="zh-CN" altLang="en-US"/>
          </a:p>
        </p:txBody>
      </p:sp>
      <p:pic>
        <p:nvPicPr>
          <p:cNvPr id="5" name="图片 4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9" y="1196752"/>
            <a:ext cx="11092297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11735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103</a:t>
            </a:fld>
            <a:endParaRPr lang="zh-CN" altLang="en-US"/>
          </a:p>
        </p:txBody>
      </p:sp>
      <p:pic>
        <p:nvPicPr>
          <p:cNvPr id="5" name="内容占位符 6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60" y="1298983"/>
            <a:ext cx="10743832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67892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104</a:t>
            </a:fld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" name="内容占位符 6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321941"/>
            <a:ext cx="9505058" cy="2899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84055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105</a:t>
            </a:fld>
            <a:endParaRPr lang="zh-CN" altLang="en-US"/>
          </a:p>
        </p:txBody>
      </p:sp>
      <p:pic>
        <p:nvPicPr>
          <p:cNvPr id="6" name="内容占位符 5" descr="屏幕剪辑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1" y="1412776"/>
            <a:ext cx="11343117" cy="2664296"/>
          </a:xfrm>
        </p:spPr>
      </p:pic>
    </p:spTree>
    <p:extLst>
      <p:ext uri="{BB962C8B-B14F-4D97-AF65-F5344CB8AC3E}">
        <p14:creationId xmlns:p14="http://schemas.microsoft.com/office/powerpoint/2010/main" val="289893115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106</a:t>
            </a:fld>
            <a:endParaRPr lang="zh-CN" altLang="en-US"/>
          </a:p>
        </p:txBody>
      </p:sp>
      <p:pic>
        <p:nvPicPr>
          <p:cNvPr id="3" name="内容占位符 2" descr="屏幕剪辑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18" y="1556790"/>
            <a:ext cx="11156198" cy="1605429"/>
          </a:xfrm>
        </p:spPr>
      </p:pic>
    </p:spTree>
    <p:extLst>
      <p:ext uri="{BB962C8B-B14F-4D97-AF65-F5344CB8AC3E}">
        <p14:creationId xmlns:p14="http://schemas.microsoft.com/office/powerpoint/2010/main" val="192493247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107</a:t>
            </a:fld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执行语句 </a:t>
            </a:r>
            <a:r>
              <a:rPr lang="en-US" altLang="zh-CN" dirty="0" err="1"/>
              <a:t>x,y,z</a:t>
            </a:r>
            <a:r>
              <a:rPr lang="en-US" altLang="zh-CN" dirty="0"/>
              <a:t>=‘123’</a:t>
            </a:r>
            <a:r>
              <a:rPr lang="zh-CN" altLang="en-US" dirty="0"/>
              <a:t>后，</a:t>
            </a:r>
            <a:r>
              <a:rPr lang="en-US" altLang="zh-CN" dirty="0"/>
              <a:t>y</a:t>
            </a:r>
            <a:r>
              <a:rPr lang="zh-CN" altLang="en-US" dirty="0"/>
              <a:t>的值为（   ）。</a:t>
            </a:r>
          </a:p>
        </p:txBody>
      </p:sp>
    </p:spTree>
    <p:extLst>
      <p:ext uri="{BB962C8B-B14F-4D97-AF65-F5344CB8AC3E}">
        <p14:creationId xmlns:p14="http://schemas.microsoft.com/office/powerpoint/2010/main" val="48563657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108</a:t>
            </a:fld>
            <a:endParaRPr lang="zh-CN" altLang="en-US"/>
          </a:p>
        </p:txBody>
      </p:sp>
      <p:pic>
        <p:nvPicPr>
          <p:cNvPr id="6" name="内容占位符 5" descr="屏幕剪辑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21" y="1628800"/>
            <a:ext cx="11119895" cy="1800200"/>
          </a:xfrm>
        </p:spPr>
      </p:pic>
    </p:spTree>
    <p:extLst>
      <p:ext uri="{BB962C8B-B14F-4D97-AF65-F5344CB8AC3E}">
        <p14:creationId xmlns:p14="http://schemas.microsoft.com/office/powerpoint/2010/main" val="427748755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答案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109</a:t>
            </a:fld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 C  2B  3A   4D    5C</a:t>
            </a:r>
          </a:p>
          <a:p>
            <a:r>
              <a:rPr lang="en-US" altLang="zh-CN" dirty="0"/>
              <a:t>6.</a:t>
            </a:r>
            <a:r>
              <a:rPr lang="zh-CN" altLang="en-US" dirty="0"/>
              <a:t>‘</a:t>
            </a:r>
            <a:r>
              <a:rPr lang="en-US" altLang="zh-CN" dirty="0"/>
              <a:t>2</a:t>
            </a:r>
            <a:r>
              <a:rPr lang="zh-CN" altLang="en-US" dirty="0"/>
              <a:t>’   </a:t>
            </a:r>
            <a:r>
              <a:rPr lang="en-US" altLang="zh-CN" dirty="0"/>
              <a:t>7B</a:t>
            </a:r>
          </a:p>
        </p:txBody>
      </p:sp>
    </p:spTree>
    <p:extLst>
      <p:ext uri="{BB962C8B-B14F-4D97-AF65-F5344CB8AC3E}">
        <p14:creationId xmlns:p14="http://schemas.microsoft.com/office/powerpoint/2010/main" val="14085386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幻灯片 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TYPE" val="i"/>
  <p:tag name="KSO_WM_UNIT_INDEX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KSO_WM_UNIT_TYPE" val="i"/>
  <p:tag name="KSO_WM_UNIT_INDEX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navigation"/>
  <p:tag name="KSO_WM_SLIDE_BK_DARK_LIGHT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2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2601_15"/>
  <p:tag name="KSO_WM_TEMPLATE_SUBCATEGORY" val="0"/>
  <p:tag name="KSO_WM_TEMPLATE_MASTER_TYPE" val="1"/>
  <p:tag name="KSO_WM_TEMPLATE_COLOR_TYPE" val="1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02601"/>
  <p:tag name="KSO_WM_SLIDE_LAYOUT" val="a_b"/>
  <p:tag name="KSO_WM_SLIDE_LAYOUT_CNT" val="1_2"/>
  <p:tag name="KSO_WM_SLIDE_TYPE" val="endPage"/>
  <p:tag name="KSO_WM_SLIDE_SUBTYPE" val="pureTx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15*i*1"/>
  <p:tag name="KSO_WM_TEMPLATE_CATEGORY" val="custom"/>
  <p:tag name="KSO_WM_TEMPLATE_INDEX" val="20202601"/>
  <p:tag name="KSO_WM_UNIT_LAYERLEVEL" val="1"/>
  <p:tag name="KSO_WM_TAG_VERSION" val="1.0"/>
  <p:tag name="KSO_WM_BEAUTIFY_FLAG" val="#wm#"/>
  <p:tag name="KSO_WM_UNIT_ISCONTENTSTITLE" val="0"/>
  <p:tag name="KSO_WM_UNIT_NOCLEAR" val="0"/>
  <p:tag name="KSO_WM_UNIT_TYPE" val="i"/>
  <p:tag name="KSO_WM_UNIT_INDEX" val="1"/>
  <p:tag name="KSO_WM_UNIT_PRESET_TEXT" val="2019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15*a*1"/>
  <p:tag name="KSO_WM_TEMPLATE_CATEGORY" val="custom"/>
  <p:tag name="KSO_WM_TEMPLATE_INDEX" val="20202601"/>
  <p:tag name="KSO_WM_UNIT_LAYERLEVEL" val="1"/>
  <p:tag name="KSO_WM_TAG_VERSION" val="1.0"/>
  <p:tag name="KSO_WM_BEAUTIFY_FLAG" val="#wm#"/>
  <p:tag name="KSO_WM_UNIT_ISCONTENTSTITLE" val="0"/>
  <p:tag name="KSO_WM_UNIT_PRESET_TEXT" val="谢谢观赏"/>
  <p:tag name="KSO_WM_UNIT_NOCLEAR" val="1"/>
  <p:tag name="KSO_WM_UNIT_VALUE" val="6"/>
  <p:tag name="KSO_WM_UNIT_TYPE" val="a"/>
  <p:tag name="KSO_WM_UNIT_INDEX" val="1"/>
</p:tagLst>
</file>

<file path=ppt/theme/theme1.xml><?xml version="1.0" encoding="utf-8"?>
<a:theme xmlns:a="http://schemas.openxmlformats.org/drawingml/2006/main" name="水汽尾迹">
  <a:themeElements>
    <a:clrScheme name="水汽尾迹">
      <a:dk1>
        <a:sysClr val="windowText" lastClr="FFFFFF"/>
      </a:dk1>
      <a:lt1>
        <a:sysClr val="window" lastClr="000000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水汽尾迹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水汽尾迹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水汽尾迹</Template>
  <TotalTime>3085</TotalTime>
  <Words>6817</Words>
  <Application>Microsoft Office PowerPoint</Application>
  <PresentationFormat>宽屏</PresentationFormat>
  <Paragraphs>939</Paragraphs>
  <Slides>109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109</vt:i4>
      </vt:variant>
    </vt:vector>
  </HeadingPairs>
  <TitlesOfParts>
    <vt:vector size="119" baseType="lpstr">
      <vt:lpstr>等线</vt:lpstr>
      <vt:lpstr>黑体</vt:lpstr>
      <vt:lpstr>华文新魏</vt:lpstr>
      <vt:lpstr>宋体</vt:lpstr>
      <vt:lpstr>微软雅黑</vt:lpstr>
      <vt:lpstr>Arial</vt:lpstr>
      <vt:lpstr>Calibri</vt:lpstr>
      <vt:lpstr>Century Gothic</vt:lpstr>
      <vt:lpstr>Viner Hand ITC</vt:lpstr>
      <vt:lpstr>水汽尾迹</vt:lpstr>
      <vt:lpstr>第3章 顺序结构</vt:lpstr>
      <vt:lpstr>程程序的三种控制结构</vt:lpstr>
      <vt:lpstr> 目录</vt:lpstr>
      <vt:lpstr>3.1 Python程序的编码规范</vt:lpstr>
      <vt:lpstr>3.1.1 一个Python程序</vt:lpstr>
      <vt:lpstr>3.1.2 注释</vt:lpstr>
      <vt:lpstr>3.1.3 缩进</vt:lpstr>
      <vt:lpstr>3.1.4 语句续行与分隔</vt:lpstr>
      <vt:lpstr>3.2 赋值语句</vt:lpstr>
      <vt:lpstr>3.2.1 赋值语句</vt:lpstr>
      <vt:lpstr>复合赋值</vt:lpstr>
      <vt:lpstr>链式赋值 </vt:lpstr>
      <vt:lpstr>同步赋值</vt:lpstr>
      <vt:lpstr>两个值的交换</vt:lpstr>
      <vt:lpstr>*3.2.2 变量的共享引用*</vt:lpstr>
      <vt:lpstr>整数int的共享引用示例</vt:lpstr>
      <vt:lpstr>PowerPoint 演示文稿</vt:lpstr>
      <vt:lpstr>*实数float的共享引用示例</vt:lpstr>
      <vt:lpstr>*复数complex的共享引用示例</vt:lpstr>
      <vt:lpstr>*字符串str的共享引用</vt:lpstr>
      <vt:lpstr>*元组tuple的共享引用——元组值是不可变数据类型</vt:lpstr>
      <vt:lpstr>*元组tuple的共享引用——元组值是可变数据类型</vt:lpstr>
      <vt:lpstr>*元组tuple的共享引用：元组值是可变数据类型</vt:lpstr>
      <vt:lpstr>*列表、字典、集合的共享引用</vt:lpstr>
      <vt:lpstr>*列表的共享引用示例-1</vt:lpstr>
      <vt:lpstr>字典的共享引用示例</vt:lpstr>
      <vt:lpstr>*集合的共享引用示例</vt:lpstr>
      <vt:lpstr>*列表、字典、集合的元素是可变数据（1）</vt:lpstr>
      <vt:lpstr>*程序续前</vt:lpstr>
      <vt:lpstr>*浅复制与深复制 ?</vt:lpstr>
      <vt:lpstr>*浅复制与深复制</vt:lpstr>
      <vt:lpstr>*总结1</vt:lpstr>
      <vt:lpstr>*总结2</vt:lpstr>
      <vt:lpstr>* 3.2.3 对象的垃圾回收机制*</vt:lpstr>
      <vt:lpstr>PowerPoint 演示文稿</vt:lpstr>
      <vt:lpstr>*引用计数器</vt:lpstr>
      <vt:lpstr>*引用计数器</vt:lpstr>
      <vt:lpstr>*垃圾回收</vt:lpstr>
      <vt:lpstr>3.3 数据的输入/输出</vt:lpstr>
      <vt:lpstr>3.3.1 标准输入/输出</vt:lpstr>
      <vt:lpstr>标准输入</vt:lpstr>
      <vt:lpstr>使用int()或float()函数转换输入</vt:lpstr>
      <vt:lpstr>Eval 多数据同时输入:</vt:lpstr>
      <vt:lpstr>PowerPoint 演示文稿</vt:lpstr>
      <vt:lpstr>PowerPoint 演示文稿</vt:lpstr>
      <vt:lpstr>多数据同时输入: 用字符串切片</vt:lpstr>
      <vt:lpstr>字符串的切片</vt:lpstr>
      <vt:lpstr>多数据同时输入: 用map()</vt:lpstr>
      <vt:lpstr>补充：关于map()</vt:lpstr>
      <vt:lpstr>多数据同时输入</vt:lpstr>
      <vt:lpstr>标准输出</vt:lpstr>
      <vt:lpstr>标准输出</vt:lpstr>
      <vt:lpstr>3.3.2 格式化输出</vt:lpstr>
      <vt:lpstr>(1)用%(字符串格式化运算符)</vt:lpstr>
      <vt:lpstr>PowerPoint 演示文稿</vt:lpstr>
      <vt:lpstr>PowerPoint 演示文稿</vt:lpstr>
      <vt:lpstr>PowerPoint 演示文稿</vt:lpstr>
      <vt:lpstr>省略print</vt:lpstr>
      <vt:lpstr>(2)format()函数</vt:lpstr>
      <vt:lpstr> </vt:lpstr>
      <vt:lpstr>输出数值的格式</vt:lpstr>
      <vt:lpstr>(3)字符串的format()方法</vt:lpstr>
      <vt:lpstr>PowerPoint 演示文稿</vt:lpstr>
      <vt:lpstr>PowerPoint 演示文稿</vt:lpstr>
      <vt:lpstr>PowerPoint 演示文稿</vt:lpstr>
      <vt:lpstr>指定格式</vt:lpstr>
      <vt:lpstr>输出填充 </vt:lpstr>
      <vt:lpstr>不指定序号时</vt:lpstr>
      <vt:lpstr>3.4 顺序结构程序举例</vt:lpstr>
      <vt:lpstr>写程序步骤：</vt:lpstr>
      <vt:lpstr>顺序结构程序举例</vt:lpstr>
      <vt:lpstr>PowerPoint 演示文稿</vt:lpstr>
      <vt:lpstr>【例3-2】</vt:lpstr>
      <vt:lpstr>PowerPoint 演示文稿</vt:lpstr>
      <vt:lpstr>PowerPoint 演示文稿</vt:lpstr>
      <vt:lpstr>【例3-3】求点到直线的距离 </vt:lpstr>
      <vt:lpstr>PowerPoint 演示文稿</vt:lpstr>
      <vt:lpstr>PowerPoint 演示文稿</vt:lpstr>
      <vt:lpstr>【例3-4】求整数各位数字之和</vt:lpstr>
      <vt:lpstr>PowerPoint 演示文稿</vt:lpstr>
      <vt:lpstr>PowerPoint 演示文稿</vt:lpstr>
      <vt:lpstr>【例3-5】整数的英文表达</vt:lpstr>
      <vt:lpstr>PowerPoint 演示文稿</vt:lpstr>
      <vt:lpstr>本章习题  P69</vt:lpstr>
      <vt:lpstr>课后作业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谢谢观赏</vt:lpstr>
      <vt:lpstr>考察</vt:lpstr>
      <vt:lpstr>1</vt:lpstr>
      <vt:lpstr>2</vt:lpstr>
      <vt:lpstr>3</vt:lpstr>
      <vt:lpstr>4</vt:lpstr>
      <vt:lpstr>5</vt:lpstr>
      <vt:lpstr>6</vt:lpstr>
      <vt:lpstr>7</vt:lpstr>
      <vt:lpstr>答案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当图网</dc:title>
  <dc:creator>钱毅湘</dc:creator>
  <cp:lastModifiedBy>Julia</cp:lastModifiedBy>
  <cp:revision>300</cp:revision>
  <dcterms:created xsi:type="dcterms:W3CDTF">2018-10-09T06:59:00Z</dcterms:created>
  <dcterms:modified xsi:type="dcterms:W3CDTF">2023-03-06T16:30:29Z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2052-11.1.0.9175</vt:lpwstr>
  </property>
</Properties>
</file>