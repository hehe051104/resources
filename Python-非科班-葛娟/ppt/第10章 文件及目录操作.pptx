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4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5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heme/theme6.xml" ContentType="application/vnd.openxmlformats-officedocument.them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notesSlides/notesSlide1.xml" ContentType="application/vnd.openxmlformats-officedocument.presentationml.notesSlide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2.xml" ContentType="application/vnd.openxmlformats-officedocument.presentationml.notesSlide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notesSlides/notesSlide3.xml" ContentType="application/vnd.openxmlformats-officedocument.presentationml.notesSlide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notesSlides/notesSlide4.xml" ContentType="application/vnd.openxmlformats-officedocument.presentationml.notesSlide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notesSlides/notesSlide5.xml" ContentType="application/vnd.openxmlformats-officedocument.presentationml.notesSlide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notesSlides/notesSlide6.xml" ContentType="application/vnd.openxmlformats-officedocument.presentationml.notesSlide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notesSlides/notesSlide7.xml" ContentType="application/vnd.openxmlformats-officedocument.presentationml.notesSlide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notesSlides/notesSlide8.xml" ContentType="application/vnd.openxmlformats-officedocument.presentationml.notesSlide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notesSlides/notesSlide9.xml" ContentType="application/vnd.openxmlformats-officedocument.presentationml.notesSlide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notesSlides/notesSlide10.xml" ContentType="application/vnd.openxmlformats-officedocument.presentationml.notesSlide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notesSlides/notesSlide11.xml" ContentType="application/vnd.openxmlformats-officedocument.presentationml.notesSlide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6" r:id="rId3"/>
    <p:sldMasterId id="2147483688" r:id="rId4"/>
    <p:sldMasterId id="2147483731" r:id="rId5"/>
  </p:sldMasterIdLst>
  <p:notesMasterIdLst>
    <p:notesMasterId r:id="rId144"/>
  </p:notesMasterIdLst>
  <p:sldIdLst>
    <p:sldId id="582" r:id="rId6"/>
    <p:sldId id="485" r:id="rId7"/>
    <p:sldId id="483" r:id="rId8"/>
    <p:sldId id="486" r:id="rId9"/>
    <p:sldId id="487" r:id="rId10"/>
    <p:sldId id="498" r:id="rId11"/>
    <p:sldId id="623" r:id="rId12"/>
    <p:sldId id="488" r:id="rId13"/>
    <p:sldId id="499" r:id="rId14"/>
    <p:sldId id="633" r:id="rId15"/>
    <p:sldId id="509" r:id="rId16"/>
    <p:sldId id="510" r:id="rId17"/>
    <p:sldId id="511" r:id="rId18"/>
    <p:sldId id="622" r:id="rId19"/>
    <p:sldId id="512" r:id="rId20"/>
    <p:sldId id="513" r:id="rId21"/>
    <p:sldId id="664" r:id="rId22"/>
    <p:sldId id="489" r:id="rId23"/>
    <p:sldId id="514" r:id="rId24"/>
    <p:sldId id="515" r:id="rId25"/>
    <p:sldId id="516" r:id="rId26"/>
    <p:sldId id="517" r:id="rId27"/>
    <p:sldId id="518" r:id="rId28"/>
    <p:sldId id="629" r:id="rId29"/>
    <p:sldId id="630" r:id="rId30"/>
    <p:sldId id="631" r:id="rId31"/>
    <p:sldId id="632" r:id="rId32"/>
    <p:sldId id="634" r:id="rId33"/>
    <p:sldId id="519" r:id="rId34"/>
    <p:sldId id="520" r:id="rId35"/>
    <p:sldId id="635" r:id="rId36"/>
    <p:sldId id="521" r:id="rId37"/>
    <p:sldId id="626" r:id="rId38"/>
    <p:sldId id="627" r:id="rId39"/>
    <p:sldId id="628" r:id="rId40"/>
    <p:sldId id="625" r:id="rId41"/>
    <p:sldId id="490" r:id="rId42"/>
    <p:sldId id="522" r:id="rId43"/>
    <p:sldId id="523" r:id="rId44"/>
    <p:sldId id="524" r:id="rId45"/>
    <p:sldId id="525" r:id="rId46"/>
    <p:sldId id="526" r:id="rId47"/>
    <p:sldId id="527" r:id="rId48"/>
    <p:sldId id="528" r:id="rId49"/>
    <p:sldId id="529" r:id="rId50"/>
    <p:sldId id="530" r:id="rId51"/>
    <p:sldId id="531" r:id="rId52"/>
    <p:sldId id="532" r:id="rId53"/>
    <p:sldId id="533" r:id="rId54"/>
    <p:sldId id="534" r:id="rId55"/>
    <p:sldId id="535" r:id="rId56"/>
    <p:sldId id="536" r:id="rId57"/>
    <p:sldId id="537" r:id="rId58"/>
    <p:sldId id="491" r:id="rId59"/>
    <p:sldId id="538" r:id="rId60"/>
    <p:sldId id="539" r:id="rId61"/>
    <p:sldId id="540" r:id="rId62"/>
    <p:sldId id="541" r:id="rId63"/>
    <p:sldId id="542" r:id="rId64"/>
    <p:sldId id="492" r:id="rId65"/>
    <p:sldId id="543" r:id="rId66"/>
    <p:sldId id="614" r:id="rId67"/>
    <p:sldId id="615" r:id="rId68"/>
    <p:sldId id="616" r:id="rId69"/>
    <p:sldId id="617" r:id="rId70"/>
    <p:sldId id="618" r:id="rId71"/>
    <p:sldId id="619" r:id="rId72"/>
    <p:sldId id="544" r:id="rId73"/>
    <p:sldId id="545" r:id="rId74"/>
    <p:sldId id="546" r:id="rId75"/>
    <p:sldId id="547" r:id="rId76"/>
    <p:sldId id="493" r:id="rId77"/>
    <p:sldId id="550" r:id="rId78"/>
    <p:sldId id="572" r:id="rId79"/>
    <p:sldId id="573" r:id="rId80"/>
    <p:sldId id="574" r:id="rId81"/>
    <p:sldId id="575" r:id="rId82"/>
    <p:sldId id="601" r:id="rId83"/>
    <p:sldId id="602" r:id="rId84"/>
    <p:sldId id="603" r:id="rId85"/>
    <p:sldId id="604" r:id="rId86"/>
    <p:sldId id="605" r:id="rId87"/>
    <p:sldId id="606" r:id="rId88"/>
    <p:sldId id="494" r:id="rId89"/>
    <p:sldId id="549" r:id="rId90"/>
    <p:sldId id="565" r:id="rId91"/>
    <p:sldId id="566" r:id="rId92"/>
    <p:sldId id="567" r:id="rId93"/>
    <p:sldId id="568" r:id="rId94"/>
    <p:sldId id="569" r:id="rId95"/>
    <p:sldId id="570" r:id="rId96"/>
    <p:sldId id="571" r:id="rId97"/>
    <p:sldId id="495" r:id="rId98"/>
    <p:sldId id="551" r:id="rId99"/>
    <p:sldId id="552" r:id="rId100"/>
    <p:sldId id="553" r:id="rId101"/>
    <p:sldId id="554" r:id="rId102"/>
    <p:sldId id="555" r:id="rId103"/>
    <p:sldId id="556" r:id="rId104"/>
    <p:sldId id="557" r:id="rId105"/>
    <p:sldId id="558" r:id="rId106"/>
    <p:sldId id="559" r:id="rId107"/>
    <p:sldId id="560" r:id="rId108"/>
    <p:sldId id="561" r:id="rId109"/>
    <p:sldId id="562" r:id="rId110"/>
    <p:sldId id="563" r:id="rId111"/>
    <p:sldId id="564" r:id="rId112"/>
    <p:sldId id="577" r:id="rId113"/>
    <p:sldId id="620" r:id="rId114"/>
    <p:sldId id="578" r:id="rId115"/>
    <p:sldId id="637" r:id="rId116"/>
    <p:sldId id="638" r:id="rId117"/>
    <p:sldId id="639" r:id="rId118"/>
    <p:sldId id="640" r:id="rId119"/>
    <p:sldId id="641" r:id="rId120"/>
    <p:sldId id="644" r:id="rId121"/>
    <p:sldId id="642" r:id="rId122"/>
    <p:sldId id="643" r:id="rId123"/>
    <p:sldId id="645" r:id="rId124"/>
    <p:sldId id="650" r:id="rId125"/>
    <p:sldId id="646" r:id="rId126"/>
    <p:sldId id="647" r:id="rId127"/>
    <p:sldId id="648" r:id="rId128"/>
    <p:sldId id="649" r:id="rId129"/>
    <p:sldId id="651" r:id="rId130"/>
    <p:sldId id="652" r:id="rId131"/>
    <p:sldId id="653" r:id="rId132"/>
    <p:sldId id="654" r:id="rId133"/>
    <p:sldId id="655" r:id="rId134"/>
    <p:sldId id="656" r:id="rId135"/>
    <p:sldId id="657" r:id="rId136"/>
    <p:sldId id="658" r:id="rId137"/>
    <p:sldId id="659" r:id="rId138"/>
    <p:sldId id="660" r:id="rId139"/>
    <p:sldId id="661" r:id="rId140"/>
    <p:sldId id="662" r:id="rId141"/>
    <p:sldId id="663" r:id="rId142"/>
    <p:sldId id="497" r:id="rId143"/>
  </p:sldIdLst>
  <p:sldSz cx="12192000" cy="6858000"/>
  <p:notesSz cx="6858000" cy="9144000"/>
  <p:custDataLst>
    <p:tags r:id="rId145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9">
          <p15:clr>
            <a:srgbClr val="A4A3A4"/>
          </p15:clr>
        </p15:guide>
        <p15:guide id="2" pos="3829">
          <p15:clr>
            <a:srgbClr val="A4A3A4"/>
          </p15:clr>
        </p15:guide>
      </p15:sldGuideLst>
    </p:ext>
    <p:ext uri="{505F2C04-C923-438B-8C0F-E0CD2BADF298}">
      <wppc:fontMiss xmlns:wppc="http://www.wps.cn/officeDocument/PresentationCustomData" xmlns="" type="true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003300"/>
    <a:srgbClr val="800080"/>
    <a:srgbClr val="660066"/>
    <a:srgbClr val="0033CC"/>
    <a:srgbClr val="990000"/>
    <a:srgbClr val="66FF66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77" autoAdjust="0"/>
    <p:restoredTop sz="94660"/>
  </p:normalViewPr>
  <p:slideViewPr>
    <p:cSldViewPr showGuides="1">
      <p:cViewPr varScale="1">
        <p:scale>
          <a:sx n="78" d="100"/>
          <a:sy n="78" d="100"/>
        </p:scale>
        <p:origin x="666" y="52"/>
      </p:cViewPr>
      <p:guideLst>
        <p:guide orient="horz" pos="2169"/>
        <p:guide pos="382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2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63" Type="http://schemas.openxmlformats.org/officeDocument/2006/relationships/slide" Target="slides/slide58.xml"/><Relationship Id="rId84" Type="http://schemas.openxmlformats.org/officeDocument/2006/relationships/slide" Target="slides/slide79.xml"/><Relationship Id="rId138" Type="http://schemas.openxmlformats.org/officeDocument/2006/relationships/slide" Target="slides/slide133.xml"/><Relationship Id="rId107" Type="http://schemas.openxmlformats.org/officeDocument/2006/relationships/slide" Target="slides/slide102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53" Type="http://schemas.openxmlformats.org/officeDocument/2006/relationships/slide" Target="slides/slide48.xml"/><Relationship Id="rId74" Type="http://schemas.openxmlformats.org/officeDocument/2006/relationships/slide" Target="slides/slide69.xml"/><Relationship Id="rId128" Type="http://schemas.openxmlformats.org/officeDocument/2006/relationships/slide" Target="slides/slide123.xml"/><Relationship Id="rId149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95" Type="http://schemas.openxmlformats.org/officeDocument/2006/relationships/slide" Target="slides/slide90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113" Type="http://schemas.openxmlformats.org/officeDocument/2006/relationships/slide" Target="slides/slide108.xml"/><Relationship Id="rId118" Type="http://schemas.openxmlformats.org/officeDocument/2006/relationships/slide" Target="slides/slide113.xml"/><Relationship Id="rId134" Type="http://schemas.openxmlformats.org/officeDocument/2006/relationships/slide" Target="slides/slide129.xml"/><Relationship Id="rId139" Type="http://schemas.openxmlformats.org/officeDocument/2006/relationships/slide" Target="slides/slide134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150" Type="http://schemas.openxmlformats.org/officeDocument/2006/relationships/tableStyles" Target="tableStyles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59" Type="http://schemas.openxmlformats.org/officeDocument/2006/relationships/slide" Target="slides/slide54.xml"/><Relationship Id="rId103" Type="http://schemas.openxmlformats.org/officeDocument/2006/relationships/slide" Target="slides/slide98.xml"/><Relationship Id="rId108" Type="http://schemas.openxmlformats.org/officeDocument/2006/relationships/slide" Target="slides/slide103.xml"/><Relationship Id="rId124" Type="http://schemas.openxmlformats.org/officeDocument/2006/relationships/slide" Target="slides/slide119.xml"/><Relationship Id="rId129" Type="http://schemas.openxmlformats.org/officeDocument/2006/relationships/slide" Target="slides/slide124.xml"/><Relationship Id="rId54" Type="http://schemas.openxmlformats.org/officeDocument/2006/relationships/slide" Target="slides/slide49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91" Type="http://schemas.openxmlformats.org/officeDocument/2006/relationships/slide" Target="slides/slide86.xml"/><Relationship Id="rId96" Type="http://schemas.openxmlformats.org/officeDocument/2006/relationships/slide" Target="slides/slide91.xml"/><Relationship Id="rId140" Type="http://schemas.openxmlformats.org/officeDocument/2006/relationships/slide" Target="slides/slide135.xml"/><Relationship Id="rId145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49" Type="http://schemas.openxmlformats.org/officeDocument/2006/relationships/slide" Target="slides/slide44.xml"/><Relationship Id="rId114" Type="http://schemas.openxmlformats.org/officeDocument/2006/relationships/slide" Target="slides/slide109.xml"/><Relationship Id="rId119" Type="http://schemas.openxmlformats.org/officeDocument/2006/relationships/slide" Target="slides/slide114.xml"/><Relationship Id="rId44" Type="http://schemas.openxmlformats.org/officeDocument/2006/relationships/slide" Target="slides/slide39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130" Type="http://schemas.openxmlformats.org/officeDocument/2006/relationships/slide" Target="slides/slide125.xml"/><Relationship Id="rId135" Type="http://schemas.openxmlformats.org/officeDocument/2006/relationships/slide" Target="slides/slide130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109" Type="http://schemas.openxmlformats.org/officeDocument/2006/relationships/slide" Target="slides/slide10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slide" Target="slides/slide92.xml"/><Relationship Id="rId104" Type="http://schemas.openxmlformats.org/officeDocument/2006/relationships/slide" Target="slides/slide99.xml"/><Relationship Id="rId120" Type="http://schemas.openxmlformats.org/officeDocument/2006/relationships/slide" Target="slides/slide115.xml"/><Relationship Id="rId125" Type="http://schemas.openxmlformats.org/officeDocument/2006/relationships/slide" Target="slides/slide120.xml"/><Relationship Id="rId141" Type="http://schemas.openxmlformats.org/officeDocument/2006/relationships/slide" Target="slides/slide136.xml"/><Relationship Id="rId146" Type="http://schemas.openxmlformats.org/officeDocument/2006/relationships/commentAuthors" Target="commentAuthors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slide" Target="slides/slide8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110" Type="http://schemas.openxmlformats.org/officeDocument/2006/relationships/slide" Target="slides/slide105.xml"/><Relationship Id="rId115" Type="http://schemas.openxmlformats.org/officeDocument/2006/relationships/slide" Target="slides/slide110.xml"/><Relationship Id="rId131" Type="http://schemas.openxmlformats.org/officeDocument/2006/relationships/slide" Target="slides/slide126.xml"/><Relationship Id="rId136" Type="http://schemas.openxmlformats.org/officeDocument/2006/relationships/slide" Target="slides/slide131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Relationship Id="rId100" Type="http://schemas.openxmlformats.org/officeDocument/2006/relationships/slide" Target="slides/slide95.xml"/><Relationship Id="rId105" Type="http://schemas.openxmlformats.org/officeDocument/2006/relationships/slide" Target="slides/slide100.xml"/><Relationship Id="rId126" Type="http://schemas.openxmlformats.org/officeDocument/2006/relationships/slide" Target="slides/slide121.xml"/><Relationship Id="rId147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slide" Target="slides/slide88.xml"/><Relationship Id="rId98" Type="http://schemas.openxmlformats.org/officeDocument/2006/relationships/slide" Target="slides/slide93.xml"/><Relationship Id="rId121" Type="http://schemas.openxmlformats.org/officeDocument/2006/relationships/slide" Target="slides/slide116.xml"/><Relationship Id="rId142" Type="http://schemas.openxmlformats.org/officeDocument/2006/relationships/slide" Target="slides/slide137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0.xml"/><Relationship Id="rId46" Type="http://schemas.openxmlformats.org/officeDocument/2006/relationships/slide" Target="slides/slide41.xml"/><Relationship Id="rId67" Type="http://schemas.openxmlformats.org/officeDocument/2006/relationships/slide" Target="slides/slide62.xml"/><Relationship Id="rId116" Type="http://schemas.openxmlformats.org/officeDocument/2006/relationships/slide" Target="slides/slide111.xml"/><Relationship Id="rId137" Type="http://schemas.openxmlformats.org/officeDocument/2006/relationships/slide" Target="slides/slide13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62" Type="http://schemas.openxmlformats.org/officeDocument/2006/relationships/slide" Target="slides/slide57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111" Type="http://schemas.openxmlformats.org/officeDocument/2006/relationships/slide" Target="slides/slide106.xml"/><Relationship Id="rId132" Type="http://schemas.openxmlformats.org/officeDocument/2006/relationships/slide" Target="slides/slide127.xml"/><Relationship Id="rId15" Type="http://schemas.openxmlformats.org/officeDocument/2006/relationships/slide" Target="slides/slide10.xml"/><Relationship Id="rId36" Type="http://schemas.openxmlformats.org/officeDocument/2006/relationships/slide" Target="slides/slide31.xml"/><Relationship Id="rId57" Type="http://schemas.openxmlformats.org/officeDocument/2006/relationships/slide" Target="slides/slide52.xml"/><Relationship Id="rId106" Type="http://schemas.openxmlformats.org/officeDocument/2006/relationships/slide" Target="slides/slide101.xml"/><Relationship Id="rId127" Type="http://schemas.openxmlformats.org/officeDocument/2006/relationships/slide" Target="slides/slide12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52" Type="http://schemas.openxmlformats.org/officeDocument/2006/relationships/slide" Target="slides/slide47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94" Type="http://schemas.openxmlformats.org/officeDocument/2006/relationships/slide" Target="slides/slide89.xml"/><Relationship Id="rId99" Type="http://schemas.openxmlformats.org/officeDocument/2006/relationships/slide" Target="slides/slide94.xml"/><Relationship Id="rId101" Type="http://schemas.openxmlformats.org/officeDocument/2006/relationships/slide" Target="slides/slide96.xml"/><Relationship Id="rId122" Type="http://schemas.openxmlformats.org/officeDocument/2006/relationships/slide" Target="slides/slide117.xml"/><Relationship Id="rId143" Type="http://schemas.openxmlformats.org/officeDocument/2006/relationships/slide" Target="slides/slide138.xml"/><Relationship Id="rId148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7" Type="http://schemas.openxmlformats.org/officeDocument/2006/relationships/slide" Target="slides/slide42.xml"/><Relationship Id="rId68" Type="http://schemas.openxmlformats.org/officeDocument/2006/relationships/slide" Target="slides/slide63.xml"/><Relationship Id="rId89" Type="http://schemas.openxmlformats.org/officeDocument/2006/relationships/slide" Target="slides/slide84.xml"/><Relationship Id="rId112" Type="http://schemas.openxmlformats.org/officeDocument/2006/relationships/slide" Target="slides/slide107.xml"/><Relationship Id="rId133" Type="http://schemas.openxmlformats.org/officeDocument/2006/relationships/slide" Target="slides/slide128.xml"/><Relationship Id="rId16" Type="http://schemas.openxmlformats.org/officeDocument/2006/relationships/slide" Target="slides/slide11.xml"/><Relationship Id="rId37" Type="http://schemas.openxmlformats.org/officeDocument/2006/relationships/slide" Target="slides/slide32.xml"/><Relationship Id="rId58" Type="http://schemas.openxmlformats.org/officeDocument/2006/relationships/slide" Target="slides/slide53.xml"/><Relationship Id="rId79" Type="http://schemas.openxmlformats.org/officeDocument/2006/relationships/slide" Target="slides/slide74.xml"/><Relationship Id="rId102" Type="http://schemas.openxmlformats.org/officeDocument/2006/relationships/slide" Target="slides/slide97.xml"/><Relationship Id="rId123" Type="http://schemas.openxmlformats.org/officeDocument/2006/relationships/slide" Target="slides/slide118.xml"/><Relationship Id="rId144" Type="http://schemas.openxmlformats.org/officeDocument/2006/relationships/notesMaster" Target="notesMasters/notesMaster1.xml"/><Relationship Id="rId90" Type="http://schemas.openxmlformats.org/officeDocument/2006/relationships/slide" Target="slides/slide8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0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4101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0249CFA-C427-4C77-960D-70A82ADC9BF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3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8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1687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18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37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54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60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72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84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93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1985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slideMaster" Target="../slideMasters/slideMaster5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2" Type="http://schemas.openxmlformats.org/officeDocument/2006/relationships/tags" Target="../tags/tag3.xml"/><Relationship Id="rId16" Type="http://schemas.openxmlformats.org/officeDocument/2006/relationships/image" Target="../media/image8.pn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image" Target="../media/image7.png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image" Target="../media/image6.png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image" Target="../media/image7.png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image" Target="../media/image6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image" Target="../media/image9.png"/><Relationship Id="rId5" Type="http://schemas.openxmlformats.org/officeDocument/2006/relationships/tags" Target="../tags/tag18.xml"/><Relationship Id="rId10" Type="http://schemas.openxmlformats.org/officeDocument/2006/relationships/slideMaster" Target="../slideMasters/slideMaster5.xml"/><Relationship Id="rId4" Type="http://schemas.openxmlformats.org/officeDocument/2006/relationships/tags" Target="../tags/tag17.xml"/><Relationship Id="rId9" Type="http://schemas.openxmlformats.org/officeDocument/2006/relationships/tags" Target="../tags/tag22.xml"/></Relationships>
</file>

<file path=ppt/slideLayouts/_rels/slideLayout72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image" Target="../media/image11.png"/><Relationship Id="rId5" Type="http://schemas.openxmlformats.org/officeDocument/2006/relationships/tags" Target="../tags/tag27.xml"/><Relationship Id="rId10" Type="http://schemas.openxmlformats.org/officeDocument/2006/relationships/image" Target="../media/image10.png"/><Relationship Id="rId4" Type="http://schemas.openxmlformats.org/officeDocument/2006/relationships/tags" Target="../tags/tag26.xml"/><Relationship Id="rId9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5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9" Type="http://schemas.openxmlformats.org/officeDocument/2006/relationships/image" Target="../media/image12.pn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7" Type="http://schemas.openxmlformats.org/officeDocument/2006/relationships/image" Target="../media/image6.png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42.xml"/><Relationship Id="rId4" Type="http://schemas.openxmlformats.org/officeDocument/2006/relationships/tags" Target="../tags/tag41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image" Target="../media/image13.png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7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5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9" Type="http://schemas.openxmlformats.org/officeDocument/2006/relationships/image" Target="../media/image14.png"/></Relationships>
</file>

<file path=ppt/slideLayouts/_rels/slideLayout77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10" Type="http://schemas.openxmlformats.org/officeDocument/2006/relationships/image" Target="../media/image12.png"/><Relationship Id="rId4" Type="http://schemas.openxmlformats.org/officeDocument/2006/relationships/tags" Target="../tags/tag58.xml"/><Relationship Id="rId9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10" Type="http://schemas.openxmlformats.org/officeDocument/2006/relationships/image" Target="../media/image12.png"/><Relationship Id="rId4" Type="http://schemas.openxmlformats.org/officeDocument/2006/relationships/tags" Target="../tags/tag66.xml"/><Relationship Id="rId9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8" Type="http://schemas.openxmlformats.org/officeDocument/2006/relationships/tags" Target="../tags/tag78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10" Type="http://schemas.openxmlformats.org/officeDocument/2006/relationships/image" Target="../media/image15.png"/><Relationship Id="rId4" Type="http://schemas.openxmlformats.org/officeDocument/2006/relationships/tags" Target="../tags/tag74.xml"/><Relationship Id="rId9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8" Type="http://schemas.openxmlformats.org/officeDocument/2006/relationships/tags" Target="../tags/tag86.xml"/><Relationship Id="rId3" Type="http://schemas.openxmlformats.org/officeDocument/2006/relationships/tags" Target="../tags/tag81.xml"/><Relationship Id="rId7" Type="http://schemas.openxmlformats.org/officeDocument/2006/relationships/tags" Target="../tags/tag85.xml"/><Relationship Id="rId12" Type="http://schemas.openxmlformats.org/officeDocument/2006/relationships/image" Target="../media/image16.png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tags" Target="../tags/tag84.xml"/><Relationship Id="rId11" Type="http://schemas.openxmlformats.org/officeDocument/2006/relationships/slideMaster" Target="../slideMasters/slideMaster5.xml"/><Relationship Id="rId5" Type="http://schemas.openxmlformats.org/officeDocument/2006/relationships/tags" Target="../tags/tag83.xml"/><Relationship Id="rId10" Type="http://schemas.openxmlformats.org/officeDocument/2006/relationships/tags" Target="../tags/tag88.xml"/><Relationship Id="rId4" Type="http://schemas.openxmlformats.org/officeDocument/2006/relationships/tags" Target="../tags/tag82.xml"/><Relationship Id="rId9" Type="http://schemas.openxmlformats.org/officeDocument/2006/relationships/tags" Target="../tags/tag87.xml"/></Relationships>
</file>

<file path=ppt/slideLayouts/_rels/slideLayout81.xml.rels><?xml version="1.0" encoding="UTF-8" standalone="yes"?>
<Relationships xmlns="http://schemas.openxmlformats.org/package/2006/relationships"><Relationship Id="rId8" Type="http://schemas.openxmlformats.org/officeDocument/2006/relationships/tags" Target="../tags/tag96.xml"/><Relationship Id="rId3" Type="http://schemas.openxmlformats.org/officeDocument/2006/relationships/tags" Target="../tags/tag91.xml"/><Relationship Id="rId7" Type="http://schemas.openxmlformats.org/officeDocument/2006/relationships/tags" Target="../tags/tag95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image" Target="../media/image18.png"/><Relationship Id="rId5" Type="http://schemas.openxmlformats.org/officeDocument/2006/relationships/tags" Target="../tags/tag93.xml"/><Relationship Id="rId10" Type="http://schemas.openxmlformats.org/officeDocument/2006/relationships/image" Target="../media/image17.png"/><Relationship Id="rId4" Type="http://schemas.openxmlformats.org/officeDocument/2006/relationships/tags" Target="../tags/tag92.xml"/><Relationship Id="rId9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D31B28-3B75-48EC-817B-583AA14D88C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052737"/>
            <a:ext cx="10515600" cy="1895946"/>
          </a:xfrm>
        </p:spPr>
        <p:txBody>
          <a:bodyPr anchor="b"/>
          <a:lstStyle>
            <a:lvl1pPr algn="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3140968"/>
            <a:ext cx="10515600" cy="2948683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C720DEB-4A2B-402C-A71D-DA48BABAEF09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711200" y="1676400"/>
            <a:ext cx="5334000" cy="4191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248400" y="16764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6248400" y="38481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5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6"/>
          <p:cNvSpPr>
            <a:spLocks noGrp="1"/>
          </p:cNvSpPr>
          <p:nvPr>
            <p:ph type="ftr" sz="quarter" idx="1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D437730-7051-4044-B692-111F9E7792E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711200" y="1676400"/>
            <a:ext cx="5334000" cy="4191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48400" y="1676400"/>
            <a:ext cx="5334000" cy="4191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384E867-3765-4B81-BAC9-9D3B7C69C52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711200" y="16764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248400" y="16764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711200" y="38481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248400" y="38481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E9290E5-4DB4-47DD-91EA-5DE5DAD00D8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711200" y="381000"/>
            <a:ext cx="10871200" cy="54864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2"/>
          <p:cNvSpPr>
            <a:spLocks noGrp="1"/>
          </p:cNvSpPr>
          <p:nvPr>
            <p:ph type="dt" sz="half" idx="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3"/>
          <p:cNvSpPr>
            <a:spLocks noGrp="1"/>
          </p:cNvSpPr>
          <p:nvPr>
            <p:ph type="ftr" sz="quarter" idx="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B999372-49D9-49C5-AB94-F9D14F764E7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单击以编辑母版副标题样式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D31B28-3B75-48EC-817B-583AA14D88C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052737"/>
            <a:ext cx="10515600" cy="1895946"/>
          </a:xfrm>
        </p:spPr>
        <p:txBody>
          <a:bodyPr anchor="b"/>
          <a:lstStyle>
            <a:lvl1pPr algn="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3140968"/>
            <a:ext cx="10515600" cy="2948683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C720DEB-4A2B-402C-A71D-DA48BABAEF09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单击以编辑母版副标题样式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711200" y="1676400"/>
            <a:ext cx="5334000" cy="41910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248400" y="16764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6248400" y="38481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8" name="日期占位符 5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6"/>
          <p:cNvSpPr>
            <a:spLocks noGrp="1"/>
          </p:cNvSpPr>
          <p:nvPr>
            <p:ph type="ftr" sz="quarter" idx="1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D437730-7051-4044-B692-111F9E7792E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711200" y="1676400"/>
            <a:ext cx="5334000" cy="41910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48400" y="1676400"/>
            <a:ext cx="5334000" cy="41910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384E867-3765-4B81-BAC9-9D3B7C69C52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711200" y="16764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248400" y="16764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711200" y="38481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248400" y="38481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E9290E5-4DB4-47DD-91EA-5DE5DAD00D8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711200" y="381000"/>
            <a:ext cx="10871200" cy="54864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8" name="日期占位符 2"/>
          <p:cNvSpPr>
            <a:spLocks noGrp="1"/>
          </p:cNvSpPr>
          <p:nvPr>
            <p:ph type="dt" sz="half" idx="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3"/>
          <p:cNvSpPr>
            <a:spLocks noGrp="1"/>
          </p:cNvSpPr>
          <p:nvPr>
            <p:ph type="ftr" sz="quarter" idx="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B999372-49D9-49C5-AB94-F9D14F764E7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764138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49192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838880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232905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921105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22561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538283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4320363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514552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382488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4712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151734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914126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395994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235068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926234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0569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7454900"/>
            <a:chOff x="0" y="0"/>
            <a:chExt cx="19200" cy="11740"/>
          </a:xfrm>
        </p:grpSpPr>
        <p:grpSp>
          <p:nvGrpSpPr>
            <p:cNvPr id="6" name="组合 5"/>
            <p:cNvGrpSpPr/>
            <p:nvPr userDrawn="1">
              <p:custDataLst>
                <p:tags r:id="rId9"/>
              </p:custDataLst>
            </p:nvPr>
          </p:nvGrpSpPr>
          <p:grpSpPr>
            <a:xfrm>
              <a:off x="0" y="0"/>
              <a:ext cx="19200" cy="3223"/>
              <a:chOff x="0" y="0"/>
              <a:chExt cx="12192000" cy="2046605"/>
            </a:xfrm>
          </p:grpSpPr>
          <p:pic>
            <p:nvPicPr>
              <p:cNvPr id="7" name="图片 6"/>
              <p:cNvPicPr>
                <a:picLocks noChangeAspect="1"/>
              </p:cNvPicPr>
              <p:nvPr userDrawn="1">
                <p:custDataLst>
                  <p:tags r:id="rId11"/>
                </p:custDataLst>
              </p:nvPr>
            </p:nvPicPr>
            <p:blipFill>
              <a:blip r:embed="rId14"/>
              <a:stretch>
                <a:fillRect/>
              </a:stretch>
            </p:blipFill>
            <p:spPr>
              <a:xfrm>
                <a:off x="0" y="0"/>
                <a:ext cx="12192000" cy="2046605"/>
              </a:xfrm>
              <a:prstGeom prst="rect">
                <a:avLst/>
              </a:prstGeom>
            </p:spPr>
          </p:pic>
          <p:pic>
            <p:nvPicPr>
              <p:cNvPr id="9" name="图片 8"/>
              <p:cNvPicPr>
                <a:picLocks noChangeAspect="1"/>
              </p:cNvPicPr>
              <p:nvPr userDrawn="1">
                <p:custDataLst>
                  <p:tags r:id="rId12"/>
                </p:custDataLst>
              </p:nvPr>
            </p:nvPicPr>
            <p:blipFill rotWithShape="1">
              <a:blip r:embed="rId15"/>
              <a:srcRect/>
              <a:stretch>
                <a:fillRect/>
              </a:stretch>
            </p:blipFill>
            <p:spPr>
              <a:xfrm>
                <a:off x="0" y="10686"/>
                <a:ext cx="12192000" cy="1704978"/>
              </a:xfrm>
              <a:prstGeom prst="rect">
                <a:avLst/>
              </a:prstGeom>
            </p:spPr>
          </p:pic>
        </p:grpSp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0" y="9728"/>
              <a:ext cx="19200" cy="2012"/>
            </a:xfrm>
            <a:prstGeom prst="rect">
              <a:avLst/>
            </a:prstGeom>
          </p:spPr>
        </p:pic>
      </p:grp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9264352" y="6355844"/>
            <a:ext cx="2743200" cy="365125"/>
          </a:xfrm>
        </p:spPr>
        <p:txBody>
          <a:bodyPr/>
          <a:lstStyle>
            <a:lvl1pPr>
              <a:defRPr sz="2800" b="1"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2216785" y="3503930"/>
            <a:ext cx="7759065" cy="49149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000" u="none" strike="noStrike" kern="1200" cap="none" spc="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2216468" y="2292046"/>
            <a:ext cx="7759065" cy="1150960"/>
          </a:xfrm>
        </p:spPr>
        <p:txBody>
          <a:bodyPr lIns="90000" tIns="46800" rIns="90000" bIns="46800" anchor="b" anchorCtr="0">
            <a:noAutofit/>
          </a:bodyPr>
          <a:lstStyle>
            <a:lvl1pPr algn="ctr">
              <a:defRPr sz="6000" b="1" spc="600" baseline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4511039" y="4490846"/>
            <a:ext cx="1383093" cy="474726"/>
          </a:xfrm>
          <a:solidFill>
            <a:schemeClr val="accent1"/>
          </a:solidFill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4" hasCustomPrompt="1"/>
            <p:custDataLst>
              <p:tags r:id="rId8"/>
            </p:custDataLst>
          </p:nvPr>
        </p:nvSpPr>
        <p:spPr>
          <a:xfrm>
            <a:off x="6096000" y="4490846"/>
            <a:ext cx="1383092" cy="474726"/>
          </a:xfrm>
          <a:ln>
            <a:solidFill>
              <a:schemeClr val="accent1"/>
            </a:solidFill>
          </a:ln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ln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  <p:extLst>
      <p:ext uri="{BB962C8B-B14F-4D97-AF65-F5344CB8AC3E}">
        <p14:creationId xmlns:p14="http://schemas.microsoft.com/office/powerpoint/2010/main" val="406091158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6177281"/>
            <a:ext cx="12192000" cy="116591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35560"/>
            <a:ext cx="12192000" cy="20466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3125639" y="2421777"/>
            <a:ext cx="5940722" cy="1336635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72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3"/>
          <a:srcRect/>
          <a:stretch>
            <a:fillRect/>
          </a:stretch>
        </p:blipFill>
        <p:spPr>
          <a:xfrm>
            <a:off x="0" y="-3"/>
            <a:ext cx="12192000" cy="1704978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sz="quarter" idx="13" hasCustomPrompt="1"/>
            <p:custDataLst>
              <p:tags r:id="rId8"/>
            </p:custDataLst>
          </p:nvPr>
        </p:nvSpPr>
        <p:spPr>
          <a:xfrm>
            <a:off x="4632702" y="4417887"/>
            <a:ext cx="1302101" cy="485285"/>
          </a:xfrm>
          <a:solidFill>
            <a:schemeClr val="accent1"/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 hasCustomPrompt="1"/>
            <p:custDataLst>
              <p:tags r:id="rId9"/>
            </p:custDataLst>
          </p:nvPr>
        </p:nvSpPr>
        <p:spPr>
          <a:xfrm>
            <a:off x="6257198" y="4417887"/>
            <a:ext cx="1302102" cy="485285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  <p:extLst>
      <p:ext uri="{BB962C8B-B14F-4D97-AF65-F5344CB8AC3E}">
        <p14:creationId xmlns:p14="http://schemas.microsoft.com/office/powerpoint/2010/main" val="170042587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000" tIns="46800" rIns="90000" bIns="46800">
            <a:norm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>
            <a:off x="-16510" y="5971592"/>
            <a:ext cx="3478627" cy="907998"/>
          </a:xfrm>
          <a:prstGeom prst="rect">
            <a:avLst/>
          </a:prstGeom>
        </p:spPr>
      </p:pic>
      <p:pic>
        <p:nvPicPr>
          <p:cNvPr id="11" name="图片 10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flipH="1">
            <a:off x="8716609" y="5905492"/>
            <a:ext cx="3481106" cy="9740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-15240"/>
            <a:ext cx="12192000" cy="2046605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lstStyle>
            <a:lvl1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6177281"/>
            <a:ext cx="12192000" cy="13152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86385" y="273050"/>
            <a:ext cx="11616055" cy="63119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7072603" y="4933186"/>
            <a:ext cx="4829835" cy="16517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pic>
        <p:nvPicPr>
          <p:cNvPr id="16" name="图片 15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810" y="0"/>
            <a:ext cx="12192000" cy="1975485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6242387"/>
            <a:ext cx="12192000" cy="1231226"/>
          </a:xfrm>
          <a:prstGeom prst="rect">
            <a:avLst/>
          </a:prstGeom>
        </p:spPr>
      </p:pic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latin typeface="Viner Hand ITC" panose="03070502030502020203" charset="0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579600" y="1663200"/>
            <a:ext cx="53424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rgbClr val="EB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429082" y="4917233"/>
            <a:ext cx="3762917" cy="981917"/>
          </a:xfrm>
          <a:prstGeom prst="rect">
            <a:avLst/>
          </a:prstGeom>
        </p:spPr>
      </p:pic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rot="10800000" flipH="1">
            <a:off x="0" y="398"/>
            <a:ext cx="4713605" cy="12299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4.jpeg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17" Type="http://schemas.openxmlformats.org/officeDocument/2006/relationships/image" Target="../media/image4.jpeg"/><Relationship Id="rId2" Type="http://schemas.openxmlformats.org/officeDocument/2006/relationships/slideLayout" Target="../slideLayouts/slideLayout39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51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5.xml"/><Relationship Id="rId18" Type="http://schemas.openxmlformats.org/officeDocument/2006/relationships/slideLayout" Target="../slideLayouts/slideLayout70.xml"/><Relationship Id="rId26" Type="http://schemas.openxmlformats.org/officeDocument/2006/relationships/slideLayout" Target="../slideLayouts/slideLayout78.xml"/><Relationship Id="rId21" Type="http://schemas.openxmlformats.org/officeDocument/2006/relationships/slideLayout" Target="../slideLayouts/slideLayout73.xml"/><Relationship Id="rId34" Type="http://schemas.openxmlformats.org/officeDocument/2006/relationships/slideLayout" Target="../slideLayouts/slideLayout86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9.xml"/><Relationship Id="rId25" Type="http://schemas.openxmlformats.org/officeDocument/2006/relationships/slideLayout" Target="../slideLayouts/slideLayout77.xml"/><Relationship Id="rId33" Type="http://schemas.openxmlformats.org/officeDocument/2006/relationships/slideLayout" Target="../slideLayouts/slideLayout85.xml"/><Relationship Id="rId38" Type="http://schemas.openxmlformats.org/officeDocument/2006/relationships/theme" Target="../theme/theme5.xml"/><Relationship Id="rId2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68.xml"/><Relationship Id="rId20" Type="http://schemas.openxmlformats.org/officeDocument/2006/relationships/slideLayout" Target="../slideLayouts/slideLayout72.xml"/><Relationship Id="rId29" Type="http://schemas.openxmlformats.org/officeDocument/2006/relationships/slideLayout" Target="../slideLayouts/slideLayout81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24" Type="http://schemas.openxmlformats.org/officeDocument/2006/relationships/slideLayout" Target="../slideLayouts/slideLayout76.xml"/><Relationship Id="rId32" Type="http://schemas.openxmlformats.org/officeDocument/2006/relationships/slideLayout" Target="../slideLayouts/slideLayout84.xml"/><Relationship Id="rId37" Type="http://schemas.openxmlformats.org/officeDocument/2006/relationships/slideLayout" Target="../slideLayouts/slideLayout89.xml"/><Relationship Id="rId5" Type="http://schemas.openxmlformats.org/officeDocument/2006/relationships/slideLayout" Target="../slideLayouts/slideLayout57.xml"/><Relationship Id="rId15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75.xml"/><Relationship Id="rId28" Type="http://schemas.openxmlformats.org/officeDocument/2006/relationships/slideLayout" Target="../slideLayouts/slideLayout80.xml"/><Relationship Id="rId36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83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6.xml"/><Relationship Id="rId22" Type="http://schemas.openxmlformats.org/officeDocument/2006/relationships/slideLayout" Target="../slideLayouts/slideLayout74.xml"/><Relationship Id="rId27" Type="http://schemas.openxmlformats.org/officeDocument/2006/relationships/slideLayout" Target="../slideLayouts/slideLayout79.xml"/><Relationship Id="rId30" Type="http://schemas.openxmlformats.org/officeDocument/2006/relationships/slideLayout" Target="../slideLayouts/slideLayout82.xml"/><Relationship Id="rId35" Type="http://schemas.openxmlformats.org/officeDocument/2006/relationships/slideLayout" Target="../slideLayouts/slideLayout87.xml"/><Relationship Id="rId8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223750" cy="6875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1" name="Rectangle 3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Click="0" advTm="0">
    <p:random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55" name="图片 2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ransition spd="slow" advClick="0" advTm="0">
    <p:random/>
  </p:transition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223750" cy="6875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1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 indent="-285750"/>
            <a:r>
              <a:rPr lang="zh-CN" altLang="en-US" dirty="0"/>
              <a:t>第二级</a:t>
            </a:r>
          </a:p>
          <a:p>
            <a:pPr lvl="2" indent="-228600"/>
            <a:r>
              <a:rPr lang="zh-CN" altLang="en-US" dirty="0"/>
              <a:t>第三级</a:t>
            </a:r>
          </a:p>
          <a:p>
            <a:pPr lvl="3" indent="-228600"/>
            <a:r>
              <a:rPr lang="zh-CN" altLang="en-US" dirty="0"/>
              <a:t>第四级</a:t>
            </a:r>
          </a:p>
          <a:p>
            <a:pPr lvl="4" indent="-228600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 indent="-228600"/>
            <a:r>
              <a:rPr lang="zh-CN" altLang="en-US" dirty="0"/>
              <a:t>第二级</a:t>
            </a:r>
          </a:p>
          <a:p>
            <a:pPr lvl="2" indent="-228600"/>
            <a:r>
              <a:rPr lang="zh-CN" altLang="en-US" dirty="0"/>
              <a:t>第三级</a:t>
            </a:r>
          </a:p>
          <a:p>
            <a:pPr lvl="3" indent="-228600"/>
            <a:r>
              <a:rPr lang="zh-CN" altLang="en-US" dirty="0"/>
              <a:t>第四级</a:t>
            </a:r>
          </a:p>
          <a:p>
            <a:pPr lvl="4" indent="-228600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55" name="图片 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</p:sldLayoutIdLst>
  <p:transition/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704" y="195011"/>
            <a:ext cx="8571656" cy="7371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3352" y="1268760"/>
            <a:ext cx="11665296" cy="5208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96672" y="63558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fld id="{556F17D1-8D5E-4CFF-B688-992D981BB9B1}" type="slidenum">
              <a:rPr lang="zh-CN" altLang="en-US" smtClean="0">
                <a:solidFill>
                  <a:schemeClr val="tx1"/>
                </a:solidFill>
              </a:rPr>
              <a:pPr eaLnBrk="1" hangingPunct="1">
                <a:buFont typeface="Arial" panose="020B0604020202020204" pitchFamily="34" charset="0"/>
                <a:buNone/>
                <a:defRPr/>
              </a:pPr>
              <a:t>‹#›</a:t>
            </a:fld>
            <a:endParaRPr lang="en-US" altLang="zh-C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0333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  <p:sldLayoutId id="2147483749" r:id="rId18"/>
    <p:sldLayoutId id="2147483750" r:id="rId19"/>
    <p:sldLayoutId id="2147483708" r:id="rId20"/>
    <p:sldLayoutId id="2147483712" r:id="rId21"/>
    <p:sldLayoutId id="2147483714" r:id="rId22"/>
    <p:sldLayoutId id="2147483716" r:id="rId23"/>
    <p:sldLayoutId id="2147483717" r:id="rId24"/>
    <p:sldLayoutId id="2147483718" r:id="rId25"/>
    <p:sldLayoutId id="2147483719" r:id="rId26"/>
    <p:sldLayoutId id="2147483720" r:id="rId27"/>
    <p:sldLayoutId id="2147483721" r:id="rId28"/>
    <p:sldLayoutId id="2147483722" r:id="rId29"/>
    <p:sldLayoutId id="2147483723" r:id="rId30"/>
    <p:sldLayoutId id="2147483724" r:id="rId31"/>
    <p:sldLayoutId id="2147483725" r:id="rId32"/>
    <p:sldLayoutId id="2147483726" r:id="rId33"/>
    <p:sldLayoutId id="2147483727" r:id="rId34"/>
    <p:sldLayoutId id="2147483728" r:id="rId35"/>
    <p:sldLayoutId id="2147483729" r:id="rId36"/>
    <p:sldLayoutId id="2147483730" r:id="rId3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all" baseline="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SzPct val="70000"/>
        <a:buFont typeface="Wingdings" panose="05000000000000000000" pitchFamily="2" charset="2"/>
        <a:buChar char="p"/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60.xml"/><Relationship Id="rId3" Type="http://schemas.openxmlformats.org/officeDocument/2006/relationships/slide" Target="slide3.xml"/><Relationship Id="rId7" Type="http://schemas.openxmlformats.org/officeDocument/2006/relationships/slide" Target="slide54.xml"/><Relationship Id="rId2" Type="http://schemas.openxmlformats.org/officeDocument/2006/relationships/slideLayout" Target="../slideLayouts/slideLayout56.xml"/><Relationship Id="rId1" Type="http://schemas.openxmlformats.org/officeDocument/2006/relationships/tags" Target="../tags/tag97.xml"/><Relationship Id="rId6" Type="http://schemas.openxmlformats.org/officeDocument/2006/relationships/slide" Target="slide37.xml"/><Relationship Id="rId11" Type="http://schemas.openxmlformats.org/officeDocument/2006/relationships/slide" Target="slide93.xml"/><Relationship Id="rId5" Type="http://schemas.openxmlformats.org/officeDocument/2006/relationships/slide" Target="slide18.xml"/><Relationship Id="rId10" Type="http://schemas.openxmlformats.org/officeDocument/2006/relationships/slide" Target="slide84.xml"/><Relationship Id="rId4" Type="http://schemas.openxmlformats.org/officeDocument/2006/relationships/slide" Target="slide8.xml"/><Relationship Id="rId9" Type="http://schemas.openxmlformats.org/officeDocument/2006/relationships/slide" Target="slide7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0.xml"/><Relationship Id="rId1" Type="http://schemas.openxmlformats.org/officeDocument/2006/relationships/tags" Target="../tags/tag9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9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6.xml"/><Relationship Id="rId1" Type="http://schemas.openxmlformats.org/officeDocument/2006/relationships/tags" Target="../tags/tag10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0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mp"/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5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0.xml"/><Relationship Id="rId1" Type="http://schemas.openxmlformats.org/officeDocument/2006/relationships/tags" Target="../tags/tag10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0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4.xml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0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0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m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0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0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0.xml"/><Relationship Id="rId1" Type="http://schemas.openxmlformats.org/officeDocument/2006/relationships/tags" Target="../tags/tag1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5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1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mp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mp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1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2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2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0.xml"/><Relationship Id="rId1" Type="http://schemas.openxmlformats.org/officeDocument/2006/relationships/tags" Target="../tags/tag12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2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2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2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2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2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2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2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3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3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3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3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3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3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3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3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3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0.xml"/><Relationship Id="rId1" Type="http://schemas.openxmlformats.org/officeDocument/2006/relationships/tags" Target="../tags/tag13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mp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40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4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4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4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4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0.xml"/><Relationship Id="rId1" Type="http://schemas.openxmlformats.org/officeDocument/2006/relationships/tags" Target="../tags/tag14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4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4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48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49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50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5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5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4.xml"/><Relationship Id="rId2" Type="http://schemas.openxmlformats.org/officeDocument/2006/relationships/tags" Target="../tags/tag154.xml"/><Relationship Id="rId1" Type="http://schemas.openxmlformats.org/officeDocument/2006/relationships/tags" Target="../tags/tag15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5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5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5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0.xml"/><Relationship Id="rId1" Type="http://schemas.openxmlformats.org/officeDocument/2006/relationships/tags" Target="../tags/tag158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59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60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6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6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4.xml"/><Relationship Id="rId2" Type="http://schemas.openxmlformats.org/officeDocument/2006/relationships/tags" Target="../tags/tag164.xml"/><Relationship Id="rId1" Type="http://schemas.openxmlformats.org/officeDocument/2006/relationships/tags" Target="../tags/tag16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6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6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6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68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69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70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0.xml"/><Relationship Id="rId1" Type="http://schemas.openxmlformats.org/officeDocument/2006/relationships/tags" Target="../tags/tag17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7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7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74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75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76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7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78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79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0.xml"/><Relationship Id="rId1" Type="http://schemas.openxmlformats.org/officeDocument/2006/relationships/tags" Target="../tags/tag180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8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8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8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84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85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86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8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88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89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90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9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9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93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94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mp"/><Relationship Id="rId1" Type="http://schemas.openxmlformats.org/officeDocument/2006/relationships/slideLayout" Target="../slideLayouts/slideLayout54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mp"/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54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tmp"/><Relationship Id="rId1" Type="http://schemas.openxmlformats.org/officeDocument/2006/relationships/slideLayout" Target="../slideLayouts/slideLayout54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tmp"/><Relationship Id="rId1" Type="http://schemas.openxmlformats.org/officeDocument/2006/relationships/slideLayout" Target="../slideLayouts/slideLayout54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4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" Type="http://schemas.openxmlformats.org/officeDocument/2006/relationships/tags" Target="../tags/tag195.xml"/><Relationship Id="rId4" Type="http://schemas.openxmlformats.org/officeDocument/2006/relationships/slideLayout" Target="../slideLayouts/slideLayout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E1A328-B82A-40C2-9D12-E0A11AD4F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18C0B5-3581-4416-8319-33F15C2BC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zh-CN" sz="4000" dirty="0"/>
          </a:p>
          <a:p>
            <a:pPr marL="0" indent="0">
              <a:buNone/>
            </a:pPr>
            <a:r>
              <a:rPr lang="en-US" altLang="zh-CN" sz="4000" dirty="0"/>
              <a:t>			</a:t>
            </a:r>
            <a:r>
              <a:rPr lang="zh-CN" altLang="en-US" sz="4000" b="1" dirty="0">
                <a:latin typeface="+mj-ea"/>
                <a:ea typeface="+mj-ea"/>
                <a:sym typeface="+mn-ea"/>
              </a:rPr>
              <a:t>第</a:t>
            </a:r>
            <a:r>
              <a:rPr lang="en-US" altLang="zh-CN" sz="4000" b="1" dirty="0">
                <a:latin typeface="+mj-ea"/>
                <a:ea typeface="+mj-ea"/>
                <a:sym typeface="+mn-ea"/>
              </a:rPr>
              <a:t>10</a:t>
            </a:r>
            <a:r>
              <a:rPr lang="zh-CN" altLang="en-US" sz="4000" b="1" dirty="0">
                <a:latin typeface="+mj-ea"/>
                <a:ea typeface="+mj-ea"/>
                <a:sym typeface="+mn-ea"/>
              </a:rPr>
              <a:t>章 文件及目录操作</a:t>
            </a:r>
            <a:endParaRPr lang="zh-CN" altLang="en-US" sz="4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6B31E4-9FCF-41A5-8696-E656E82E2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0678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zh-CN" altLang="en-US" sz="4000" dirty="0"/>
              <a:t>目录</a:t>
            </a:r>
          </a:p>
        </p:txBody>
      </p:sp>
      <p:sp>
        <p:nvSpPr>
          <p:cNvPr id="13315" name="内容占位符 2"/>
          <p:cNvSpPr>
            <a:spLocks noGrp="1"/>
          </p:cNvSpPr>
          <p:nvPr>
            <p:ph sz="half"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en-US" altLang="zh-CN" sz="3200" dirty="0"/>
              <a:t>10.1 </a:t>
            </a:r>
            <a:r>
              <a:rPr lang="zh-CN" altLang="en-US" sz="3200" dirty="0"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文件概述</a:t>
            </a:r>
            <a:endParaRPr lang="zh-CN" altLang="en-US" sz="3200" dirty="0"/>
          </a:p>
          <a:p>
            <a:r>
              <a:rPr lang="en-US" altLang="zh-CN" sz="3200" dirty="0"/>
              <a:t>10.2 </a:t>
            </a:r>
            <a:r>
              <a:rPr lang="zh-CN" altLang="en-US" sz="3200" dirty="0"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文件的打开与关闭</a:t>
            </a:r>
            <a:endParaRPr lang="zh-CN" altLang="en-US" sz="3200" dirty="0"/>
          </a:p>
          <a:p>
            <a:r>
              <a:rPr lang="en-US" altLang="zh-CN" sz="3200" dirty="0"/>
              <a:t>10.3 </a:t>
            </a:r>
            <a:r>
              <a:rPr lang="zh-CN" altLang="en-US" sz="3200" dirty="0"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文本文件的读写</a:t>
            </a:r>
            <a:endParaRPr lang="zh-CN" altLang="en-US" sz="3200" dirty="0"/>
          </a:p>
          <a:p>
            <a:r>
              <a:rPr lang="en-US" altLang="zh-CN" sz="3200" dirty="0"/>
              <a:t>10.4 </a:t>
            </a:r>
            <a:r>
              <a:rPr lang="en-US" altLang="zh-CN" sz="3200" dirty="0">
                <a:solidFill>
                  <a:srgbClr val="F0532B"/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CSV</a:t>
            </a:r>
            <a:r>
              <a:rPr lang="zh-CN" altLang="en-US" sz="3200" dirty="0"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文件的读写</a:t>
            </a:r>
            <a:endParaRPr lang="zh-CN" altLang="en-US" sz="3200" dirty="0"/>
          </a:p>
          <a:p>
            <a:r>
              <a:rPr lang="en-US" altLang="zh-CN" sz="3200" dirty="0"/>
              <a:t>10.5 </a:t>
            </a:r>
            <a:r>
              <a:rPr lang="zh-CN" altLang="en-US" sz="3200" dirty="0"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文件内的移动</a:t>
            </a:r>
            <a:endParaRPr lang="zh-CN" altLang="en-US" sz="3200" dirty="0"/>
          </a:p>
          <a:p>
            <a:endParaRPr lang="en-US" altLang="zh-CN" sz="320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CN" sz="3200" dirty="0">
                <a:sym typeface="+mn-ea"/>
              </a:rPr>
              <a:t>10.6 </a:t>
            </a:r>
            <a:r>
              <a:rPr lang="zh-CN" altLang="en-US" sz="3200" dirty="0">
                <a:sym typeface="+mn-ea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二进制文件的读写</a:t>
            </a:r>
            <a:r>
              <a:rPr lang="en-US" altLang="zh-CN" sz="3200" dirty="0">
                <a:sym typeface="+mn-ea"/>
              </a:rPr>
              <a:t>*</a:t>
            </a:r>
            <a:endParaRPr lang="en-US" altLang="zh-CN" sz="3200" dirty="0"/>
          </a:p>
          <a:p>
            <a:r>
              <a:rPr lang="en-US" altLang="zh-CN" sz="3200" dirty="0">
                <a:sym typeface="+mn-ea"/>
              </a:rPr>
              <a:t>10.7 </a:t>
            </a:r>
            <a:r>
              <a:rPr lang="zh-CN" altLang="en-US" sz="3200" dirty="0">
                <a:sym typeface="+mn-ea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文件与目录管理</a:t>
            </a:r>
            <a:r>
              <a:rPr lang="en-US" altLang="zh-CN" sz="3200" dirty="0">
                <a:sym typeface="+mn-ea"/>
              </a:rPr>
              <a:t>*</a:t>
            </a:r>
            <a:endParaRPr lang="en-US" altLang="zh-CN" sz="3200" dirty="0"/>
          </a:p>
          <a:p>
            <a:r>
              <a:rPr lang="en-US" altLang="zh-CN" sz="3200" dirty="0">
                <a:sym typeface="+mn-ea"/>
              </a:rPr>
              <a:t>10.8 </a:t>
            </a:r>
            <a:r>
              <a:rPr lang="zh-CN" altLang="en-US" sz="3200" dirty="0">
                <a:sym typeface="+mn-ea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文件压缩</a:t>
            </a:r>
            <a:r>
              <a:rPr lang="en-US" altLang="zh-CN" sz="3200" dirty="0">
                <a:sym typeface="+mn-ea"/>
              </a:rPr>
              <a:t>*</a:t>
            </a:r>
            <a:endParaRPr lang="en-US" altLang="zh-CN" sz="3200" dirty="0"/>
          </a:p>
          <a:p>
            <a:r>
              <a:rPr lang="en-US" altLang="zh-CN" sz="3200" dirty="0"/>
              <a:t>10.9 </a:t>
            </a:r>
            <a:r>
              <a:rPr lang="zh-CN" altLang="en-US" sz="3200" dirty="0"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文件操作应用举例</a:t>
            </a:r>
            <a:endParaRPr lang="zh-CN" altLang="en-US" sz="32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B97F5E8-9121-44C5-853C-1E79476F2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advClick="0" advTm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j-lt"/>
                <a:ea typeface="+mj-ea"/>
                <a:sym typeface="+mn-ea"/>
              </a:rPr>
              <a:t>10.1 </a:t>
            </a:r>
            <a:r>
              <a:rPr lang="zh-CN" altLang="en-US" dirty="0">
                <a:latin typeface="+mj-lt"/>
                <a:ea typeface="+mj-ea"/>
                <a:sym typeface="+mn-ea"/>
              </a:rPr>
              <a:t>文件概述</a:t>
            </a:r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1F0C86B-105F-400F-886C-FEF65EE96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3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slow"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>
              <a:buNone/>
            </a:pPr>
            <a:r>
              <a:rPr lang="zh-CN" altLang="en-US" dirty="0"/>
              <a:t>什么是文件？</a:t>
            </a:r>
          </a:p>
        </p:txBody>
      </p:sp>
      <p:sp>
        <p:nvSpPr>
          <p:cNvPr id="3" name="云形标注 2"/>
          <p:cNvSpPr/>
          <p:nvPr/>
        </p:nvSpPr>
        <p:spPr>
          <a:xfrm>
            <a:off x="4439285" y="908685"/>
            <a:ext cx="3888740" cy="1800225"/>
          </a:xfrm>
          <a:prstGeom prst="cloudCallout">
            <a:avLst>
              <a:gd name="adj1" fmla="val -81792"/>
              <a:gd name="adj2" fmla="val -51164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479376" y="1484784"/>
            <a:ext cx="11444472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文件是存在于辅助存储器上的信息集合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文件名</a:t>
            </a:r>
            <a:r>
              <a:rPr lang="zh-CN" altLang="en-US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是存取文件的依据</a:t>
            </a:r>
            <a:endParaRPr lang="en-US" altLang="zh-CN" sz="32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文件名中的分隔符：应尽量用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en-US" altLang="zh-CN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\\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en-US" altLang="zh-CN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\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为转移字符，例如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\n  \t  \\</a:t>
            </a:r>
          </a:p>
          <a:p>
            <a:pPr lvl="1">
              <a:spcBef>
                <a:spcPts val="6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以下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种写法均可：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path = 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r“C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:\User\temp\python.txt“  # r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表示字符串不转义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path1 = 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r"c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:\User\temp\python.txt”  # Python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忽略大小写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path2 = “c:\\User\\temp\\python.txt” # \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为转义字符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path3 = “c:/User/temp/python.txt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4CEF715-45B0-47F4-8150-47007B065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advClick="0" advTm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>
            <a:normAutofit/>
          </a:bodyPr>
          <a:lstStyle/>
          <a:p>
            <a:pPr eaLnBrk="1" hangingPunct="1">
              <a:buNone/>
            </a:pPr>
            <a:r>
              <a:rPr lang="zh-CN" altLang="en-US" sz="2800" dirty="0"/>
              <a:t>文件的分类</a:t>
            </a:r>
          </a:p>
        </p:txBody>
      </p:sp>
      <p:sp>
        <p:nvSpPr>
          <p:cNvPr id="15363" name="内容占位符 2"/>
          <p:cNvSpPr>
            <a:spLocks noGrp="1"/>
          </p:cNvSpPr>
          <p:nvPr>
            <p:ph sz="half" idx="1"/>
          </p:nvPr>
        </p:nvSpPr>
        <p:spPr>
          <a:xfrm>
            <a:off x="465584" y="1268760"/>
            <a:ext cx="5334000" cy="4024125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altLang="zh-CN" sz="2800" dirty="0"/>
              <a:t>按存储数据的方式和结构分</a:t>
            </a:r>
            <a:endParaRPr lang="en-US" altLang="zh-CN" sz="2800" dirty="0"/>
          </a:p>
          <a:p>
            <a:pPr lvl="1" eaLnBrk="1" hangingPunct="1"/>
            <a:r>
              <a:rPr altLang="zh-CN" sz="2800" dirty="0"/>
              <a:t>顺序存取文件</a:t>
            </a:r>
          </a:p>
          <a:p>
            <a:pPr lvl="1" eaLnBrk="1" hangingPunct="1"/>
            <a:r>
              <a:rPr altLang="zh-CN" sz="2800" dirty="0"/>
              <a:t>随机存取文件</a:t>
            </a:r>
          </a:p>
          <a:p>
            <a:pPr eaLnBrk="1" hangingPunct="1"/>
            <a:endParaRPr lang="zh-CN" altLang="zh-CN" sz="2800" dirty="0"/>
          </a:p>
        </p:txBody>
      </p:sp>
      <p:sp>
        <p:nvSpPr>
          <p:cNvPr id="2" name="内容占位符 1"/>
          <p:cNvSpPr>
            <a:spLocks noGrp="1"/>
          </p:cNvSpPr>
          <p:nvPr>
            <p:ph sz="half" idx="2"/>
          </p:nvPr>
        </p:nvSpPr>
        <p:spPr>
          <a:xfrm>
            <a:off x="5951984" y="1268760"/>
            <a:ext cx="5684440" cy="4024125"/>
          </a:xfrm>
        </p:spPr>
        <p:txBody>
          <a:bodyPr/>
          <a:lstStyle/>
          <a:p>
            <a:r>
              <a:rPr lang="zh-CN" altLang="en-US" sz="2800" dirty="0"/>
              <a:t>按数据性质分</a:t>
            </a:r>
          </a:p>
          <a:p>
            <a:pPr lvl="1"/>
            <a:r>
              <a:rPr lang="zh-CN" altLang="en-US" sz="2800" dirty="0"/>
              <a:t>文本文件</a:t>
            </a:r>
            <a:endParaRPr lang="en-US" altLang="zh-CN" sz="2800" dirty="0"/>
          </a:p>
          <a:p>
            <a:pPr lvl="2"/>
            <a:r>
              <a:rPr lang="zh-CN" altLang="en-US" sz="2800" dirty="0"/>
              <a:t>用文字处理程序读写的文件</a:t>
            </a:r>
          </a:p>
          <a:p>
            <a:pPr lvl="1"/>
            <a:r>
              <a:rPr lang="zh-CN" altLang="en-US" sz="2800" dirty="0"/>
              <a:t>二进制文件</a:t>
            </a:r>
            <a:endParaRPr lang="en-US" altLang="zh-CN" sz="2800" dirty="0"/>
          </a:p>
          <a:p>
            <a:pPr lvl="2"/>
            <a:r>
              <a:rPr lang="zh-CN" altLang="en-US" sz="2800" dirty="0"/>
              <a:t>含有特殊格式和计算机代码</a:t>
            </a:r>
            <a:endParaRPr lang="en-US" altLang="zh-CN" sz="2800" dirty="0"/>
          </a:p>
          <a:p>
            <a:pPr lvl="2"/>
            <a:r>
              <a:rPr lang="en-US" altLang="zh-CN" sz="2800" dirty="0" err="1"/>
              <a:t>eg</a:t>
            </a:r>
            <a:r>
              <a:rPr lang="zh-CN" altLang="en-US" sz="2800" dirty="0"/>
              <a:t>图像，文字处理程序等，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6AE3F79-BBF9-45B7-8667-2849ED486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advClick="0" advTm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文件操作的一般步骤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zh-CN" altLang="en-US" dirty="0"/>
              <a:t>打开文件</a:t>
            </a:r>
          </a:p>
          <a:p>
            <a:pPr marL="514350" indent="-514350">
              <a:buAutoNum type="arabicPeriod"/>
            </a:pPr>
            <a:r>
              <a:rPr lang="zh-CN" altLang="en-US" dirty="0"/>
              <a:t>读写数据</a:t>
            </a:r>
          </a:p>
          <a:p>
            <a:pPr marL="514350" indent="-514350">
              <a:buAutoNum type="arabicPeriod"/>
            </a:pPr>
            <a:r>
              <a:rPr lang="zh-CN" altLang="en-US" dirty="0"/>
              <a:t>关闭文件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AF8904-CF4C-4EED-9263-A616A2C92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904D8-4651-48DF-A1CC-4D882D925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小例子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1ED989-878C-4E54-A693-AAD221D08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0922FC9A-0102-4022-9B29-DBC7FFD4E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文本文件</a:t>
            </a:r>
            <a:r>
              <a:rPr lang="en-US" altLang="zh-CN" dirty="0"/>
              <a:t>7-1.txt</a:t>
            </a:r>
            <a:r>
              <a:rPr lang="zh-CN" altLang="en-US" dirty="0"/>
              <a:t>中有一句话：“欢迎学习</a:t>
            </a:r>
            <a:r>
              <a:rPr lang="en-US" altLang="zh-CN" dirty="0"/>
              <a:t>Python</a:t>
            </a:r>
            <a:r>
              <a:rPr lang="zh-CN" altLang="en-US" dirty="0"/>
              <a:t>语言”，请把它读出并打印出来。</a:t>
            </a:r>
            <a:r>
              <a:rPr lang="en-US" altLang="zh-CN" dirty="0"/>
              <a:t> 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E58398A-C654-4E11-8F41-B58A0CF4E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16" y="2420888"/>
            <a:ext cx="8896988" cy="201622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C4F609E-93BF-44B3-9B0D-F40037E14A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16" y="5032567"/>
            <a:ext cx="4220924" cy="1113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330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470025" y="2292350"/>
            <a:ext cx="9266555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10.2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文件的打开与关闭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E696DBB-EB47-41AE-BC37-05EE923DB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8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10.2.1 </a:t>
            </a:r>
            <a:r>
              <a:t>打开文件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55440" y="932112"/>
            <a:ext cx="11665296" cy="5208240"/>
          </a:xfrm>
        </p:spPr>
        <p:txBody>
          <a:bodyPr/>
          <a:lstStyle/>
          <a:p>
            <a:r>
              <a:rPr lang="zh-CN" altLang="en-US" dirty="0"/>
              <a:t>用open()函数：</a:t>
            </a:r>
          </a:p>
          <a:p>
            <a:pPr marL="457200" lvl="1" indent="0">
              <a:buNone/>
            </a:pPr>
            <a:endParaRPr lang="zh-CN" altLang="en-US" dirty="0"/>
          </a:p>
          <a:p>
            <a:pPr marL="457200" lvl="1" indent="0">
              <a:buNone/>
            </a:pPr>
            <a:r>
              <a:rPr lang="zh-CN" altLang="en-US" dirty="0"/>
              <a:t>文件对象 = open(file, mode=</a:t>
            </a:r>
            <a:r>
              <a:rPr lang="en-US" altLang="zh-CN" sz="3200" b="1" dirty="0"/>
              <a:t>'</a:t>
            </a:r>
            <a:r>
              <a:rPr lang="en-US" altLang="zh-CN" dirty="0"/>
              <a:t>rt</a:t>
            </a:r>
            <a:r>
              <a:rPr lang="en-US" altLang="zh-CN" sz="3200" b="1" dirty="0"/>
              <a:t>'</a:t>
            </a:r>
            <a:r>
              <a:rPr lang="en-US" altLang="zh-CN" dirty="0"/>
              <a:t>,</a:t>
            </a:r>
            <a:r>
              <a:rPr lang="en-US" altLang="zh-CN" sz="3200" b="1" dirty="0"/>
              <a:t> encoding='UTF-8'</a:t>
            </a:r>
            <a:r>
              <a:rPr lang="zh-CN" altLang="en-US" dirty="0"/>
              <a:t>)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sz="3200" dirty="0"/>
              <a:t>mode</a:t>
            </a:r>
            <a:r>
              <a:rPr lang="zh-CN" altLang="en-US" sz="3200" dirty="0"/>
              <a:t>指明打开方式，默认为只读方式</a:t>
            </a:r>
            <a:endParaRPr lang="en-US" altLang="zh-CN" sz="3200" dirty="0"/>
          </a:p>
          <a:p>
            <a:pPr marL="457200" lvl="1" indent="0">
              <a:buNone/>
            </a:pPr>
            <a:r>
              <a:rPr lang="en-US" altLang="zh-CN" dirty="0"/>
              <a:t>encoding</a:t>
            </a:r>
            <a:r>
              <a:rPr lang="zh-CN" altLang="en-US" dirty="0"/>
              <a:t>编码方式</a:t>
            </a:r>
            <a:endParaRPr lang="zh-CN" altLang="en-US" sz="3200" dirty="0"/>
          </a:p>
        </p:txBody>
      </p:sp>
      <p:sp>
        <p:nvSpPr>
          <p:cNvPr id="7" name="线形标注 1 6"/>
          <p:cNvSpPr/>
          <p:nvPr/>
        </p:nvSpPr>
        <p:spPr>
          <a:xfrm>
            <a:off x="7896225" y="3789045"/>
            <a:ext cx="2736215" cy="1388110"/>
          </a:xfrm>
          <a:prstGeom prst="borderCallout1">
            <a:avLst>
              <a:gd name="adj1" fmla="val 25892"/>
              <a:gd name="adj2" fmla="val -1624"/>
              <a:gd name="adj3" fmla="val -43046"/>
              <a:gd name="adj4" fmla="val -1821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/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C3DFDE44-D2B8-480D-818F-632D089FC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D46021-1133-4E31-AD2C-022CAAFCC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8AD0DA-678E-411B-A22F-CBCB4930D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Encoding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en-US" altLang="zh-CN" b="0" i="0" dirty="0">
                <a:solidFill>
                  <a:srgbClr val="FFFFFF"/>
                </a:solidFill>
                <a:effectLst/>
                <a:latin typeface="-apple-system"/>
              </a:rPr>
              <a:t>ascii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-apple-system"/>
              </a:rPr>
              <a:t>，用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-apple-system"/>
              </a:rPr>
              <a:t>1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-apple-system"/>
              </a:rPr>
              <a:t>个字节表示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-apple-system"/>
              </a:rPr>
              <a:t>1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-apple-system"/>
              </a:rPr>
              <a:t>个字符。</a:t>
            </a:r>
          </a:p>
          <a:p>
            <a:pPr lvl="1"/>
            <a:r>
              <a:rPr lang="en-US" altLang="zh-CN" b="0" i="0" dirty="0">
                <a:solidFill>
                  <a:srgbClr val="FFFFFF"/>
                </a:solidFill>
                <a:effectLst/>
                <a:latin typeface="-apple-system"/>
              </a:rPr>
              <a:t>UTF-8,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-apple-system"/>
              </a:rPr>
              <a:t>用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-apple-system"/>
              </a:rPr>
              <a:t>1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-apple-system"/>
              </a:rPr>
              <a:t>个至三个字节表示字符，表示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-apple-system"/>
              </a:rPr>
              <a:t>ascii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-apple-system"/>
              </a:rPr>
              <a:t>码时只占用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-apple-system"/>
              </a:rPr>
              <a:t>1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-apple-system"/>
              </a:rPr>
              <a:t>个字节，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-apple-system"/>
              </a:rPr>
              <a:t>ascii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-apple-system"/>
              </a:rPr>
              <a:t>编码是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-apple-system"/>
              </a:rPr>
              <a:t>UTF-8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-apple-system"/>
              </a:rPr>
              <a:t>的子集。</a:t>
            </a:r>
          </a:p>
          <a:p>
            <a:pPr lvl="1"/>
            <a:r>
              <a:rPr lang="en-US" altLang="zh-CN" b="0" i="0" dirty="0">
                <a:solidFill>
                  <a:srgbClr val="FFFFFF"/>
                </a:solidFill>
                <a:effectLst/>
                <a:latin typeface="-apple-system"/>
              </a:rPr>
              <a:t>UTF-16,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-apple-system"/>
              </a:rPr>
              <a:t>用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-apple-system"/>
              </a:rPr>
              <a:t>2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-apple-system"/>
              </a:rPr>
              <a:t>个字节表示字符，在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-apple-system"/>
              </a:rPr>
              <a:t>python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-apple-system"/>
              </a:rPr>
              <a:t>中，</a:t>
            </a:r>
            <a:r>
              <a:rPr lang="en-US" altLang="zh-CN" b="0" i="0" dirty="0" err="1">
                <a:solidFill>
                  <a:srgbClr val="FFFFFF"/>
                </a:solidFill>
                <a:effectLst/>
                <a:latin typeface="-apple-system"/>
              </a:rPr>
              <a:t>unicode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-apple-system"/>
              </a:rPr>
              <a:t>的含义就是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-apple-system"/>
              </a:rPr>
              <a:t>UTF-16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-apple-system"/>
              </a:rPr>
              <a:t>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36DDDF-4F24-4F07-8C04-242721B35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488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mode</a:t>
            </a:r>
            <a:r>
              <a:rPr dirty="0" err="1"/>
              <a:t>的参数</a:t>
            </a:r>
            <a:endParaRPr dirty="0"/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83714651"/>
              </p:ext>
            </p:extLst>
          </p:nvPr>
        </p:nvGraphicFramePr>
        <p:xfrm>
          <a:off x="119336" y="1124744"/>
          <a:ext cx="11763190" cy="36606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6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4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408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600" b="1" dirty="0" err="1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参数值</a:t>
                      </a:r>
                      <a:endParaRPr lang="en-US" altLang="en-US" sz="2600" b="1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600" b="1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功能</a:t>
                      </a:r>
                      <a:endParaRPr lang="en-US" altLang="en-US" sz="2600" b="1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01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6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'r'</a:t>
                      </a:r>
                      <a:endParaRPr lang="en-US" altLang="en-US" sz="26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6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以只读方式打开文本文件</a:t>
                      </a:r>
                      <a:endParaRPr lang="en-US" altLang="en-US" sz="26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08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6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'w'</a:t>
                      </a:r>
                      <a:endParaRPr lang="en-US" altLang="en-US" sz="26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600" b="1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只写方式</a:t>
                      </a:r>
                      <a:r>
                        <a:rPr lang="zh-CN" altLang="en-US" sz="26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打开文本文件</a:t>
                      </a:r>
                      <a:r>
                        <a:rPr lang="en-US" sz="26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</a:t>
                      </a:r>
                      <a:r>
                        <a:rPr lang="en-US" sz="2600" b="1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会清空原有文件内容</a:t>
                      </a:r>
                      <a:r>
                        <a:rPr lang="en-US" sz="26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）</a:t>
                      </a:r>
                      <a:endParaRPr lang="en-US" altLang="en-US" sz="26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08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6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'a'</a:t>
                      </a:r>
                      <a:endParaRPr lang="en-US" altLang="en-US" sz="26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600" b="1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追加方式打开文本文件（保留原有内容，在文件尾部添加信息</a:t>
                      </a:r>
                      <a:r>
                        <a:rPr lang="en-US" sz="26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）</a:t>
                      </a:r>
                      <a:endParaRPr lang="en-US" altLang="en-US" sz="26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08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6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'rb'</a:t>
                      </a:r>
                      <a:endParaRPr lang="en-US" altLang="en-US" sz="26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600" b="1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以只读方式打开二进制文件</a:t>
                      </a:r>
                      <a:endParaRPr lang="en-US" altLang="en-US" sz="26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08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6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'wb'</a:t>
                      </a:r>
                      <a:endParaRPr lang="en-US" altLang="en-US" sz="26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6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以只写方式打开二进制文件</a:t>
                      </a:r>
                      <a:endParaRPr lang="en-US" altLang="en-US" sz="26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08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6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'ab'</a:t>
                      </a:r>
                      <a:endParaRPr lang="en-US" altLang="en-US" sz="26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6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以追加方式打开二进制文件</a:t>
                      </a:r>
                      <a:endParaRPr lang="en-US" altLang="en-US" sz="26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408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6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'+'</a:t>
                      </a:r>
                      <a:endParaRPr lang="en-US" altLang="en-US" sz="26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600" b="1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设置为可读写的方式（需与其他参数合在一起使用</a:t>
                      </a:r>
                      <a:r>
                        <a:rPr lang="en-US" sz="26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）</a:t>
                      </a:r>
                      <a:endParaRPr lang="en-US" altLang="en-US" sz="26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68AFFDA-24F3-424E-ADB5-3B3FD8064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11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几种打开方式的特点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'r'</a:t>
            </a:r>
            <a:r>
              <a:t>：读文件，要求文件已存在</a:t>
            </a:r>
          </a:p>
          <a:p>
            <a:r>
              <a:rPr lang="en-US" altLang="zh-CN"/>
              <a:t>'w'</a:t>
            </a:r>
            <a:r>
              <a:t>：写文件，会覆盖原有文件内容</a:t>
            </a:r>
          </a:p>
          <a:p>
            <a:r>
              <a:rPr lang="en-US" altLang="zh-CN"/>
              <a:t>'a'</a:t>
            </a:r>
            <a:r>
              <a:t>：写文件，添加在文件末尾</a:t>
            </a:r>
          </a:p>
          <a:p>
            <a:r>
              <a:rPr lang="en-US" altLang="zh-CN"/>
              <a:t>'b'</a:t>
            </a:r>
            <a:r>
              <a:t>：二进制文件，要与</a:t>
            </a:r>
            <a:r>
              <a:rPr lang="en-US" altLang="zh-CN"/>
              <a:t>'r'</a:t>
            </a:r>
            <a:r>
              <a:t>或</a:t>
            </a:r>
            <a:r>
              <a:rPr lang="en-US" altLang="zh-CN"/>
              <a:t>'w'</a:t>
            </a:r>
            <a:r>
              <a:t>、</a:t>
            </a:r>
            <a:r>
              <a:rPr lang="en-US" altLang="zh-CN"/>
              <a:t>'a'</a:t>
            </a:r>
            <a:r>
              <a:t>组合在一起使用</a:t>
            </a:r>
          </a:p>
          <a:p>
            <a:r>
              <a:rPr lang="en-US" altLang="zh-CN"/>
              <a:t>'+'</a:t>
            </a:r>
            <a:r>
              <a:t>：不单独使用，要与</a:t>
            </a:r>
            <a:r>
              <a:rPr lang="en-US" altLang="zh-CN"/>
              <a:t>'r'</a:t>
            </a:r>
            <a:r>
              <a:t>、</a:t>
            </a:r>
            <a:r>
              <a:rPr lang="en-US" altLang="zh-CN"/>
              <a:t>'w'</a:t>
            </a:r>
            <a:r>
              <a:t>或</a:t>
            </a:r>
            <a:r>
              <a:rPr lang="en-US" altLang="zh-CN"/>
              <a:t>'a'</a:t>
            </a:r>
            <a:r>
              <a:t>组合在一起使用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A2FA88-5D82-46B7-9224-D17E0AC7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'+'</a:t>
            </a:r>
            <a:r>
              <a:t>的几种组合使用说明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 'r+'：可读写，不清空原内容，可在任意位置写入数据，默认位置为起始位置</a:t>
            </a:r>
          </a:p>
          <a:p>
            <a:r>
              <a:rPr lang="zh-CN" altLang="en-US"/>
              <a:t> 'w+'：可读写，先清空文件内容，然后写入</a:t>
            </a:r>
          </a:p>
          <a:p>
            <a:r>
              <a:rPr lang="zh-CN" altLang="en-US"/>
              <a:t>'a+'：可读写，写入位置只能在文件末尾</a:t>
            </a:r>
          </a:p>
          <a:p>
            <a:r>
              <a:rPr lang="zh-CN" altLang="en-US"/>
              <a:t> 'rb+'、'ab+'、'wb+'：与'r+'、'a+'、'w+'的含义类似，只是打开的是二进制文件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3652FB-A318-4E2B-BE56-92FF886C0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13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A43717-AE4C-437A-95FC-5B2D1EAA9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不同的打开方式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64E042-6F26-465A-B7EE-12EDB40A4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14</a:t>
            </a:fld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A11ABA4C-7597-4C8F-B691-FDE5729EAE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76" y="980727"/>
            <a:ext cx="9433048" cy="5969706"/>
          </a:xfrm>
        </p:spPr>
      </p:pic>
    </p:spTree>
    <p:extLst>
      <p:ext uri="{BB962C8B-B14F-4D97-AF65-F5344CB8AC3E}">
        <p14:creationId xmlns:p14="http://schemas.microsoft.com/office/powerpoint/2010/main" val="28610726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10.2.2 </a:t>
            </a:r>
            <a:r>
              <a:t>关闭文件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关闭文件的一般语法格式：</a:t>
            </a:r>
          </a:p>
          <a:p>
            <a:pPr marL="457200" lvl="1" indent="0">
              <a:buNone/>
            </a:pPr>
            <a:r>
              <a:rPr lang="zh-CN" altLang="en-US" dirty="0"/>
              <a:t>文件对象.close()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zh-CN" altLang="en-US" sz="3200" dirty="0"/>
              <a:t>不关闭行不行？</a:t>
            </a:r>
            <a:endParaRPr lang="en-US" altLang="zh-CN" sz="3200" dirty="0"/>
          </a:p>
          <a:p>
            <a:pPr marL="457200" lvl="1" indent="0">
              <a:buNone/>
            </a:pPr>
            <a:r>
              <a:rPr lang="zh-CN" altLang="en-US" sz="3200" dirty="0"/>
              <a:t>    可能不能正确写入文件</a:t>
            </a:r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7B0CFD5-225E-4626-BAE8-78CD889F8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15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704" y="195011"/>
            <a:ext cx="9168556" cy="73710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会自动关闭文件的一种打开文件写法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使用</a:t>
            </a:r>
            <a:r>
              <a:rPr lang="en-US" altLang="zh-CN" dirty="0" err="1"/>
              <a:t>with</a:t>
            </a:r>
            <a:r>
              <a:rPr dirty="0" err="1"/>
              <a:t>结构打开文件</a:t>
            </a:r>
            <a:endParaRPr dirty="0"/>
          </a:p>
          <a:p>
            <a:pPr lvl="1"/>
            <a:r>
              <a:rPr dirty="0" err="1"/>
              <a:t>语法</a:t>
            </a:r>
            <a:r>
              <a:rPr dirty="0"/>
              <a:t>：</a:t>
            </a:r>
          </a:p>
          <a:p>
            <a:pPr marL="457200" lvl="1" indent="0">
              <a:buNone/>
            </a:pPr>
            <a:r>
              <a:rPr dirty="0"/>
              <a:t>with open(</a:t>
            </a:r>
            <a:r>
              <a:rPr dirty="0" err="1"/>
              <a:t>文件名</a:t>
            </a:r>
            <a:r>
              <a:rPr dirty="0"/>
              <a:t>, </a:t>
            </a:r>
            <a:r>
              <a:rPr dirty="0" err="1"/>
              <a:t>访问模式</a:t>
            </a:r>
            <a:r>
              <a:rPr dirty="0"/>
              <a:t>) as </a:t>
            </a:r>
            <a:r>
              <a:rPr dirty="0" err="1"/>
              <a:t>文件对象</a:t>
            </a:r>
            <a:r>
              <a:rPr dirty="0"/>
              <a:t>:</a:t>
            </a:r>
          </a:p>
          <a:p>
            <a:pPr marL="457200" lvl="1" indent="0">
              <a:buNone/>
            </a:pPr>
            <a:r>
              <a:rPr dirty="0"/>
              <a:t>    &lt;</a:t>
            </a:r>
            <a:r>
              <a:rPr dirty="0" err="1"/>
              <a:t>利用文件对象读写文件</a:t>
            </a:r>
            <a:r>
              <a:rPr dirty="0"/>
              <a:t>&gt;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altLang="zh-CN" sz="3200" dirty="0"/>
              <a:t>mode</a:t>
            </a:r>
            <a:r>
              <a:rPr lang="zh-CN" altLang="en-US" sz="3200" dirty="0"/>
              <a:t>同</a:t>
            </a:r>
            <a:r>
              <a:rPr lang="en-US" altLang="zh-CN" sz="3200" dirty="0"/>
              <a:t>open()</a:t>
            </a:r>
            <a:r>
              <a:rPr lang="zh-CN" altLang="en-US" sz="3200" dirty="0"/>
              <a:t>中的用法</a:t>
            </a:r>
          </a:p>
          <a:p>
            <a:pPr marL="457200" lvl="1" indent="0">
              <a:buNone/>
            </a:pPr>
            <a:endParaRPr dirty="0"/>
          </a:p>
        </p:txBody>
      </p:sp>
      <p:sp>
        <p:nvSpPr>
          <p:cNvPr id="4" name="圆角矩形 3"/>
          <p:cNvSpPr/>
          <p:nvPr/>
        </p:nvSpPr>
        <p:spPr>
          <a:xfrm>
            <a:off x="4367530" y="2420620"/>
            <a:ext cx="1584325" cy="86423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云形标注 5"/>
          <p:cNvSpPr/>
          <p:nvPr/>
        </p:nvSpPr>
        <p:spPr>
          <a:xfrm>
            <a:off x="6383655" y="4220845"/>
            <a:ext cx="3528695" cy="1440180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无需调用</a:t>
            </a:r>
            <a:r>
              <a:rPr lang="en-US" altLang="zh-CN" sz="2400"/>
              <a:t>close()</a:t>
            </a:r>
            <a:r>
              <a:rPr lang="zh-CN" altLang="en-US" sz="2400"/>
              <a:t>方法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799B5F-3653-41CC-889F-CABD94049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16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814DEB-7505-FB15-133E-AC2F9A317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22850D-ADFF-27DD-079D-29AC163FC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例：</a:t>
            </a:r>
            <a:endParaRPr lang="zh-CN" altLang="en-US" sz="3200" dirty="0"/>
          </a:p>
          <a:p>
            <a:pPr marL="0" indent="0">
              <a:buNone/>
            </a:pPr>
            <a:r>
              <a:rPr lang="zh-CN" altLang="en-US" sz="3200" dirty="0"/>
              <a:t>with open("csvTest.csv",'r') as f:</a:t>
            </a:r>
          </a:p>
          <a:p>
            <a:pPr marL="0" indent="0">
              <a:buNone/>
            </a:pPr>
            <a:r>
              <a:rPr lang="zh-CN" altLang="en-US" sz="3200" dirty="0"/>
              <a:t>    </a:t>
            </a:r>
            <a:r>
              <a:rPr lang="en-US" altLang="zh-CN" dirty="0"/>
              <a:t>text1 = </a:t>
            </a:r>
            <a:r>
              <a:rPr lang="en-US" altLang="zh-CN" dirty="0" err="1"/>
              <a:t>f.readlines</a:t>
            </a:r>
            <a:r>
              <a:rPr lang="en-US" altLang="zh-CN" dirty="0"/>
              <a:t>()</a:t>
            </a:r>
          </a:p>
          <a:p>
            <a:pPr marL="0" indent="0">
              <a:buNone/>
            </a:pPr>
            <a:r>
              <a:rPr lang="en-US" altLang="zh-CN" sz="3200" dirty="0"/>
              <a:t>	print(text)</a:t>
            </a:r>
          </a:p>
          <a:p>
            <a:pPr marL="0" indent="0">
              <a:buNone/>
            </a:pPr>
            <a:r>
              <a:rPr lang="en-US" altLang="zh-CN" dirty="0"/>
              <a:t>	…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sz="3200" dirty="0"/>
              <a:t>reader = csv.reader(f)</a:t>
            </a:r>
          </a:p>
          <a:p>
            <a:pPr marL="0" indent="0">
              <a:buNone/>
            </a:pPr>
            <a:r>
              <a:rPr lang="zh-CN" altLang="en-US" sz="3200" dirty="0"/>
              <a:t>    for row in reader:</a:t>
            </a:r>
          </a:p>
          <a:p>
            <a:pPr marL="0" indent="0">
              <a:buNone/>
            </a:pPr>
            <a:r>
              <a:rPr lang="zh-CN" altLang="en-US" sz="3200" dirty="0"/>
              <a:t>        print(row)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1FB6D3-CF96-07EF-D229-25CBAF1CB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0048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882775" y="2292350"/>
            <a:ext cx="8684895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10.3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文本文件的读写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CB1DF97-3451-4DDC-BE1B-F3BAB33AD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18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10.3.1 </a:t>
            </a:r>
            <a:r>
              <a:t>读取文本文件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dirty="0"/>
              <a:t>种</a:t>
            </a:r>
            <a:r>
              <a:rPr dirty="0">
                <a:sym typeface="+mn-ea"/>
              </a:rPr>
              <a:t>常用</a:t>
            </a:r>
            <a:r>
              <a:rPr lang="zh-CN" altLang="en-US" dirty="0">
                <a:sym typeface="+mn-ea"/>
              </a:rPr>
              <a:t>方法：</a:t>
            </a:r>
            <a:endParaRPr dirty="0"/>
          </a:p>
          <a:p>
            <a:pPr lvl="1"/>
            <a:r>
              <a:rPr dirty="0" err="1"/>
              <a:t>利用文件对象的</a:t>
            </a:r>
            <a:r>
              <a:rPr lang="en-US" altLang="zh-CN" dirty="0" err="1"/>
              <a:t>read</a:t>
            </a:r>
            <a:r>
              <a:rPr lang="en-US" altLang="zh-CN" dirty="0"/>
              <a:t>()</a:t>
            </a:r>
            <a:r>
              <a:rPr dirty="0" err="1"/>
              <a:t>方法</a:t>
            </a:r>
            <a:endParaRPr dirty="0"/>
          </a:p>
          <a:p>
            <a:pPr lvl="1"/>
            <a:r>
              <a:rPr dirty="0" err="1"/>
              <a:t>利用文件对象的</a:t>
            </a:r>
            <a:r>
              <a:rPr lang="en-US" altLang="zh-CN" dirty="0" err="1"/>
              <a:t>readline</a:t>
            </a:r>
            <a:r>
              <a:rPr lang="en-US" altLang="zh-CN" dirty="0"/>
              <a:t>()</a:t>
            </a:r>
            <a:r>
              <a:rPr dirty="0" err="1"/>
              <a:t>方法</a:t>
            </a:r>
            <a:endParaRPr dirty="0"/>
          </a:p>
          <a:p>
            <a:pPr lvl="1"/>
            <a:r>
              <a:rPr dirty="0" err="1"/>
              <a:t>利用文件对象的</a:t>
            </a:r>
            <a:r>
              <a:rPr lang="en-US" altLang="zh-CN" dirty="0" err="1"/>
              <a:t>readlines</a:t>
            </a:r>
            <a:r>
              <a:rPr lang="en-US" altLang="zh-CN" dirty="0"/>
              <a:t>()</a:t>
            </a:r>
            <a:r>
              <a:rPr dirty="0" err="1"/>
              <a:t>方法</a:t>
            </a:r>
            <a:endParaRPr dirty="0"/>
          </a:p>
          <a:p>
            <a:pPr lvl="1"/>
            <a:r>
              <a:rPr dirty="0" err="1"/>
              <a:t>直接遍历文件对象</a:t>
            </a:r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881B4C-53A6-429C-89F2-2D5424E5B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19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 read()</a:t>
            </a:r>
            <a:r>
              <a:t>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语法：</a:t>
            </a:r>
            <a:endParaRPr lang="en-US" altLang="zh-CN" dirty="0"/>
          </a:p>
          <a:p>
            <a:endParaRPr lang="zh-CN" altLang="en-US" dirty="0"/>
          </a:p>
          <a:p>
            <a:pPr marL="457200" lvl="1" indent="0">
              <a:buNone/>
            </a:pPr>
            <a:r>
              <a:rPr lang="en-US" altLang="zh-CN" dirty="0" err="1"/>
              <a:t>f.read</a:t>
            </a:r>
            <a:r>
              <a:rPr lang="en-US" altLang="zh-CN" dirty="0"/>
              <a:t>()  </a:t>
            </a:r>
            <a:r>
              <a:rPr lang="zh-CN" altLang="en-US" dirty="0"/>
              <a:t>读取整个文件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 err="1"/>
              <a:t>f.read</a:t>
            </a:r>
            <a:r>
              <a:rPr lang="en-US" altLang="zh-CN" dirty="0"/>
              <a:t>([n]) </a:t>
            </a:r>
          </a:p>
          <a:p>
            <a:pPr marL="457200" lvl="1" indent="0">
              <a:buNone/>
            </a:pPr>
            <a:r>
              <a:rPr lang="en-US" altLang="zh-CN" sz="3200" dirty="0"/>
              <a:t>     n</a:t>
            </a:r>
            <a:r>
              <a:rPr lang="zh-CN" altLang="en-US" sz="3200" dirty="0"/>
              <a:t>是整数，表示读</a:t>
            </a:r>
            <a:r>
              <a:rPr lang="en-US" altLang="zh-CN" sz="3200" dirty="0"/>
              <a:t>n</a:t>
            </a:r>
            <a:r>
              <a:rPr lang="zh-CN" altLang="en-US" sz="3200" dirty="0"/>
              <a:t>个字符</a:t>
            </a:r>
          </a:p>
          <a:p>
            <a:pPr marL="457200" lvl="1" indent="0">
              <a:buNone/>
            </a:pP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6924675" y="648970"/>
            <a:ext cx="3390900" cy="1814830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f = open("test.txt")</a:t>
            </a:r>
          </a:p>
          <a:p>
            <a:r>
              <a:rPr lang="zh-CN" altLang="en-US" sz="2800" b="1" dirty="0"/>
              <a:t>str = f.read()</a:t>
            </a:r>
          </a:p>
          <a:p>
            <a:r>
              <a:rPr lang="zh-CN" altLang="en-US" sz="2800" b="1" dirty="0"/>
              <a:t>print(str)</a:t>
            </a:r>
          </a:p>
          <a:p>
            <a:r>
              <a:rPr lang="zh-CN" altLang="en-US" sz="2800" b="1" dirty="0"/>
              <a:t>f.close()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882130" y="2948940"/>
            <a:ext cx="3970655" cy="35394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f = open("test.txt", "r")</a:t>
            </a:r>
          </a:p>
          <a:p>
            <a:r>
              <a:rPr lang="zh-CN" altLang="en-US" sz="2800" b="1" dirty="0"/>
              <a:t>while True:</a:t>
            </a:r>
          </a:p>
          <a:p>
            <a:r>
              <a:rPr lang="zh-CN" altLang="en-US" sz="2800" b="1" dirty="0"/>
              <a:t>    block = f.read(10) </a:t>
            </a:r>
          </a:p>
          <a:p>
            <a:r>
              <a:rPr lang="zh-CN" altLang="en-US" sz="2800" b="1" dirty="0"/>
              <a:t>    if not block: </a:t>
            </a:r>
          </a:p>
          <a:p>
            <a:r>
              <a:rPr lang="zh-CN" altLang="en-US" sz="2800" b="1" dirty="0"/>
              <a:t>        break</a:t>
            </a:r>
          </a:p>
          <a:p>
            <a:r>
              <a:rPr lang="zh-CN" altLang="en-US" sz="2800" b="1" dirty="0"/>
              <a:t>    print(block, end="")</a:t>
            </a:r>
          </a:p>
          <a:p>
            <a:r>
              <a:rPr lang="zh-CN" altLang="en-US" sz="2800" b="1" dirty="0"/>
              <a:t>f.close()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B589644-EC5A-4189-A9C9-4239DABF6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20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8" grpId="0" animBg="1"/>
      <p:bldP spid="8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 readline()</a:t>
            </a:r>
            <a:r>
              <a:t>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altLang="zh-CN" dirty="0" err="1"/>
              <a:t>f.readline</a:t>
            </a:r>
            <a:r>
              <a:rPr lang="en-US" altLang="zh-CN" dirty="0"/>
              <a:t>()</a:t>
            </a:r>
          </a:p>
          <a:p>
            <a:pPr marL="457200" lvl="1" indent="0">
              <a:buNone/>
            </a:pPr>
            <a:r>
              <a:rPr lang="zh-CN" altLang="en-US" sz="3200" dirty="0"/>
              <a:t>读到的是一行的内容，</a:t>
            </a:r>
            <a:endParaRPr lang="en-US" altLang="zh-CN" sz="3200" dirty="0"/>
          </a:p>
          <a:p>
            <a:pPr marL="457200" lvl="1" indent="0">
              <a:buNone/>
            </a:pPr>
            <a:r>
              <a:rPr lang="zh-CN" altLang="en-US" sz="3200" dirty="0"/>
              <a:t>包括行尾换行符</a:t>
            </a:r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5725160" y="1772920"/>
            <a:ext cx="4028440" cy="3107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f = open("test.txt", "r")</a:t>
            </a:r>
          </a:p>
          <a:p>
            <a:r>
              <a:rPr lang="zh-CN" altLang="en-US" sz="2800" b="1" dirty="0"/>
              <a:t>while True:</a:t>
            </a:r>
          </a:p>
          <a:p>
            <a:r>
              <a:rPr lang="zh-CN" altLang="en-US" sz="2800" b="1" dirty="0"/>
              <a:t>    line = f.readline()</a:t>
            </a:r>
          </a:p>
          <a:p>
            <a:r>
              <a:rPr lang="zh-CN" altLang="en-US" sz="2800" b="1" dirty="0"/>
              <a:t>    if not line:</a:t>
            </a:r>
          </a:p>
          <a:p>
            <a:r>
              <a:rPr lang="zh-CN" altLang="en-US" sz="2800" b="1" dirty="0"/>
              <a:t>        break</a:t>
            </a:r>
          </a:p>
          <a:p>
            <a:r>
              <a:rPr lang="zh-CN" altLang="en-US" sz="2800" b="1" dirty="0"/>
              <a:t>    print(line, end="")</a:t>
            </a:r>
          </a:p>
          <a:p>
            <a:r>
              <a:rPr lang="zh-CN" altLang="en-US" sz="2800" b="1" dirty="0"/>
              <a:t>f.close()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60F341DC-50B1-437E-8564-DD8B73B7E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21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 readlines()</a:t>
            </a:r>
            <a:r>
              <a:t>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altLang="zh-CN" dirty="0" err="1"/>
              <a:t>f.readlines</a:t>
            </a:r>
            <a:r>
              <a:rPr lang="en-US" altLang="zh-CN" dirty="0"/>
              <a:t>()</a:t>
            </a:r>
          </a:p>
          <a:p>
            <a:pPr marL="457200" lvl="1" indent="0">
              <a:buNone/>
            </a:pPr>
            <a:r>
              <a:rPr lang="zh-CN" altLang="en-US" sz="3200" dirty="0"/>
              <a:t>返回值是一个列表，</a:t>
            </a:r>
            <a:endParaRPr lang="en-US" altLang="zh-CN" sz="3200" dirty="0"/>
          </a:p>
          <a:p>
            <a:pPr marL="457200" lvl="1" indent="0">
              <a:buNone/>
            </a:pPr>
            <a:r>
              <a:rPr lang="zh-CN" altLang="en-US" sz="3200" dirty="0"/>
              <a:t>每个元素是一行的内容，</a:t>
            </a:r>
            <a:endParaRPr lang="en-US" altLang="zh-CN" sz="3200" dirty="0"/>
          </a:p>
          <a:p>
            <a:pPr marL="457200" lvl="1" indent="0">
              <a:buNone/>
            </a:pPr>
            <a:r>
              <a:rPr lang="zh-CN" altLang="en-US" sz="3200" dirty="0"/>
              <a:t>包括行尾的换行符</a:t>
            </a:r>
          </a:p>
          <a:p>
            <a:pPr marL="457200" lvl="1" indent="0">
              <a:buNone/>
            </a:pPr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6078220" y="1678940"/>
            <a:ext cx="4986332" cy="2246769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f = open("test.txt","r")</a:t>
            </a:r>
          </a:p>
          <a:p>
            <a:r>
              <a:rPr lang="zh-CN" altLang="en-US" sz="2800" b="1" dirty="0"/>
              <a:t>list = f.readlines()</a:t>
            </a:r>
          </a:p>
          <a:p>
            <a:r>
              <a:rPr lang="zh-CN" altLang="en-US" sz="2800" b="1" dirty="0"/>
              <a:t>for line in list:     </a:t>
            </a:r>
            <a:r>
              <a:rPr lang="en-US" altLang="zh-CN" sz="2800" b="1" dirty="0"/>
              <a:t># </a:t>
            </a:r>
            <a:r>
              <a:rPr lang="zh-CN" altLang="en-US" sz="2800" b="1" dirty="0"/>
              <a:t>遍历列表</a:t>
            </a:r>
          </a:p>
          <a:p>
            <a:r>
              <a:rPr lang="zh-CN" altLang="en-US" sz="2800" b="1" dirty="0"/>
              <a:t>    print(line, end="")</a:t>
            </a:r>
          </a:p>
          <a:p>
            <a:r>
              <a:rPr lang="zh-CN" altLang="en-US" sz="2800" b="1" dirty="0"/>
              <a:t>f.close()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BBAD7BD7-1A71-488B-AB6A-F5523EC8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 </a:t>
            </a:r>
            <a:r>
              <a:t>直接遍历文件对象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9376" y="1520507"/>
            <a:ext cx="7488832" cy="2966085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f = open("test.txt",'r’)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# </a:t>
            </a:r>
            <a:r>
              <a:rPr lang="zh-CN" altLang="en-US" sz="3200" dirty="0"/>
              <a:t>文件对象是一个可迭代对象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for line in f:    </a:t>
            </a:r>
            <a:r>
              <a:rPr lang="en-US" altLang="zh-CN" dirty="0"/>
              <a:t>#</a:t>
            </a:r>
            <a:r>
              <a:rPr lang="zh-CN" altLang="en-US" sz="3200" dirty="0"/>
              <a:t>遍历文件对象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print(line, end='')</a:t>
            </a:r>
          </a:p>
          <a:p>
            <a:pPr marL="0" indent="0">
              <a:buNone/>
            </a:pPr>
            <a:r>
              <a:rPr lang="zh-CN" altLang="en-US" dirty="0"/>
              <a:t>f.close()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EAD6AC-A4B9-4AEB-BF3E-E5E9EB47B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23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DA4095-A3A5-48BA-A9F5-A0AAF0471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4" y="349139"/>
            <a:ext cx="11760928" cy="670092"/>
          </a:xfrm>
        </p:spPr>
        <p:txBody>
          <a:bodyPr/>
          <a:lstStyle/>
          <a:p>
            <a:r>
              <a:rPr lang="en-US" altLang="zh-CN" sz="4000" dirty="0"/>
              <a:t>【</a:t>
            </a:r>
            <a:r>
              <a:rPr lang="zh-CN" altLang="en-US" sz="4000" dirty="0"/>
              <a:t>例</a:t>
            </a:r>
            <a:r>
              <a:rPr lang="en-US" altLang="zh-CN" sz="4000" dirty="0"/>
              <a:t>】</a:t>
            </a:r>
            <a:r>
              <a:rPr lang="zh-CN" altLang="en-US" sz="4000" dirty="0"/>
              <a:t>读取文件</a:t>
            </a:r>
            <a:br>
              <a:rPr lang="en-US" altLang="zh-CN" sz="4000" dirty="0"/>
            </a:br>
            <a:r>
              <a:rPr lang="en-US" altLang="zh-CN" sz="4000" dirty="0"/>
              <a:t> </a:t>
            </a:r>
            <a:r>
              <a:rPr lang="en-US" altLang="zh-CN" sz="3200" dirty="0"/>
              <a:t>D:\temp\poem.txt</a:t>
            </a:r>
            <a:r>
              <a:rPr lang="zh-CN" altLang="en-US" sz="3200" dirty="0"/>
              <a:t>内容如下，请读取文件内容。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D32ED8-5AD8-41C9-9D46-84D6BA913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24</a:t>
            </a:fld>
            <a:endParaRPr lang="zh-CN" altLang="en-US"/>
          </a:p>
        </p:txBody>
      </p: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1EF342DF-946D-4A27-9605-ACFC5E5040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664" y="1498678"/>
            <a:ext cx="4392488" cy="5044122"/>
          </a:xfrm>
        </p:spPr>
      </p:pic>
    </p:spTree>
    <p:extLst>
      <p:ext uri="{BB962C8B-B14F-4D97-AF65-F5344CB8AC3E}">
        <p14:creationId xmlns:p14="http://schemas.microsoft.com/office/powerpoint/2010/main" val="32815939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DFBFE0-38B4-4FDC-8A03-AC1992B65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81951D-4EE3-49D3-81A1-ED72C2250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1268760"/>
            <a:ext cx="6336704" cy="520824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# </a:t>
            </a:r>
            <a:r>
              <a:rPr lang="zh-CN" altLang="en-US" dirty="0"/>
              <a:t>方法</a:t>
            </a:r>
            <a:r>
              <a:rPr lang="en-US" altLang="zh-CN" dirty="0"/>
              <a:t>1 read()</a:t>
            </a:r>
          </a:p>
          <a:p>
            <a:pPr marL="0" indent="0">
              <a:buNone/>
            </a:pPr>
            <a:r>
              <a:rPr lang="zh-CN" altLang="en-US" sz="3200" b="1" dirty="0"/>
              <a:t>f = open(“</a:t>
            </a:r>
            <a:r>
              <a:rPr lang="en-US" altLang="zh-CN" sz="3200" b="1" dirty="0"/>
              <a:t>D:/temp/poem</a:t>
            </a:r>
            <a:r>
              <a:rPr lang="zh-CN" altLang="en-US" sz="3200" b="1" dirty="0"/>
              <a:t>.txt“</a:t>
            </a:r>
            <a:r>
              <a:rPr lang="en-US" altLang="zh-CN" sz="3200" b="1" dirty="0"/>
              <a:t>, encoding='UTF-8'</a:t>
            </a:r>
            <a:r>
              <a:rPr lang="zh-CN" altLang="en-US" sz="3200" b="1" dirty="0"/>
              <a:t>)</a:t>
            </a:r>
          </a:p>
          <a:p>
            <a:pPr marL="0" indent="0">
              <a:buNone/>
            </a:pPr>
            <a:r>
              <a:rPr lang="zh-CN" altLang="en-US" sz="3200" b="1" dirty="0"/>
              <a:t>str = f.read()</a:t>
            </a:r>
          </a:p>
          <a:p>
            <a:pPr marL="0" indent="0">
              <a:buNone/>
            </a:pPr>
            <a:r>
              <a:rPr lang="zh-CN" altLang="en-US" sz="3200" b="1" dirty="0"/>
              <a:t>print(str)</a:t>
            </a:r>
          </a:p>
          <a:p>
            <a:pPr marL="0" indent="0">
              <a:buNone/>
            </a:pPr>
            <a:r>
              <a:rPr lang="zh-CN" altLang="en-US" sz="3200" b="1" dirty="0"/>
              <a:t>f.close()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4691AE-FD41-4591-8A64-172DC13B9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0DF370-80AF-444C-9E01-8DCAD9D8C96A}"/>
              </a:ext>
            </a:extLst>
          </p:cNvPr>
          <p:cNvSpPr txBox="1"/>
          <p:nvPr/>
        </p:nvSpPr>
        <p:spPr>
          <a:xfrm>
            <a:off x="8328248" y="1484784"/>
            <a:ext cx="2743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====</a:t>
            </a:r>
          </a:p>
          <a:p>
            <a:r>
              <a:rPr lang="zh-CN" altLang="en-US" sz="2400" b="1" dirty="0"/>
              <a:t>静夜思</a:t>
            </a:r>
          </a:p>
          <a:p>
            <a:r>
              <a:rPr lang="zh-CN" altLang="en-US" sz="2400" b="1" dirty="0"/>
              <a:t>作者：李白</a:t>
            </a:r>
          </a:p>
          <a:p>
            <a:r>
              <a:rPr lang="zh-CN" altLang="en-US" sz="2400" b="1" dirty="0"/>
              <a:t>床前明月光</a:t>
            </a:r>
          </a:p>
          <a:p>
            <a:r>
              <a:rPr lang="zh-CN" altLang="en-US" sz="2400" b="1" dirty="0"/>
              <a:t>疑是地上霜</a:t>
            </a:r>
          </a:p>
          <a:p>
            <a:r>
              <a:rPr lang="zh-CN" altLang="en-US" sz="2400" b="1" dirty="0"/>
              <a:t>举头望明月</a:t>
            </a:r>
          </a:p>
          <a:p>
            <a:r>
              <a:rPr lang="zh-CN" altLang="en-US" sz="2400" b="1" dirty="0"/>
              <a:t>低头思故乡</a:t>
            </a:r>
          </a:p>
          <a:p>
            <a:endParaRPr lang="zh-CN" altLang="en-US" sz="2400" b="1" dirty="0"/>
          </a:p>
          <a:p>
            <a:r>
              <a:rPr lang="zh-CN" altLang="en-US" sz="2400" b="1" dirty="0"/>
              <a:t>&gt;&gt;&gt; </a:t>
            </a:r>
          </a:p>
        </p:txBody>
      </p:sp>
    </p:spTree>
    <p:extLst>
      <p:ext uri="{BB962C8B-B14F-4D97-AF65-F5344CB8AC3E}">
        <p14:creationId xmlns:p14="http://schemas.microsoft.com/office/powerpoint/2010/main" val="15814021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3B5683-7E64-4330-B72F-4952125CD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B48018-B7AD-49AF-8C52-3565D1166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/>
              <a:t>方法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3200" b="1" dirty="0"/>
              <a:t>f = open(“</a:t>
            </a:r>
            <a:r>
              <a:rPr lang="en-US" altLang="zh-CN" sz="3200" b="1" dirty="0"/>
              <a:t>D:/temp/poem</a:t>
            </a:r>
            <a:r>
              <a:rPr lang="zh-CN" altLang="en-US" sz="3200" b="1" dirty="0"/>
              <a:t>.txt“</a:t>
            </a:r>
            <a:r>
              <a:rPr lang="en-US" altLang="zh-CN" sz="3200" b="1" dirty="0"/>
              <a:t>, encoding='UTF-8'</a:t>
            </a:r>
            <a:r>
              <a:rPr lang="zh-CN" altLang="en-US" sz="3200" b="1" dirty="0"/>
              <a:t>)</a:t>
            </a:r>
          </a:p>
          <a:p>
            <a:pPr marL="0" indent="0">
              <a:buNone/>
            </a:pPr>
            <a:r>
              <a:rPr lang="en-US" altLang="zh-CN" dirty="0"/>
              <a:t>while True:</a:t>
            </a:r>
          </a:p>
          <a:p>
            <a:pPr marL="0" indent="0">
              <a:buNone/>
            </a:pPr>
            <a:r>
              <a:rPr lang="en-US" altLang="zh-CN" dirty="0"/>
              <a:t>    line = </a:t>
            </a:r>
            <a:r>
              <a:rPr lang="en-US" altLang="zh-CN" dirty="0" err="1"/>
              <a:t>f.readline</a:t>
            </a:r>
            <a:r>
              <a:rPr lang="en-US" altLang="zh-CN" dirty="0"/>
              <a:t>()</a:t>
            </a:r>
          </a:p>
          <a:p>
            <a:pPr marL="0" indent="0">
              <a:buNone/>
            </a:pPr>
            <a:r>
              <a:rPr lang="en-US" altLang="zh-CN" dirty="0"/>
              <a:t>    if not line:</a:t>
            </a:r>
          </a:p>
          <a:p>
            <a:pPr marL="0" indent="0">
              <a:buNone/>
            </a:pPr>
            <a:r>
              <a:rPr lang="en-US" altLang="zh-CN" dirty="0"/>
              <a:t>        break</a:t>
            </a:r>
          </a:p>
          <a:p>
            <a:pPr marL="0" indent="0">
              <a:buNone/>
            </a:pPr>
            <a:r>
              <a:rPr lang="en-US" altLang="zh-CN" dirty="0"/>
              <a:t>    print(line, end="")</a:t>
            </a:r>
          </a:p>
          <a:p>
            <a:pPr marL="0" indent="0">
              <a:buNone/>
            </a:pPr>
            <a:r>
              <a:rPr lang="en-US" altLang="zh-CN" dirty="0" err="1"/>
              <a:t>f.close</a:t>
            </a:r>
            <a:r>
              <a:rPr lang="en-US" altLang="zh-CN" dirty="0"/>
              <a:t>()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运行介于同前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542ABC-DB42-48C4-9673-4A1FB2E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33672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15BBD2-CC7C-4075-82FB-191214E97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90B0B9-8E0C-4189-8AD6-E1532E7F1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1340768"/>
            <a:ext cx="6408712" cy="51362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dirty="0"/>
              <a:t>方法</a:t>
            </a:r>
            <a:r>
              <a:rPr lang="en-US" altLang="zh-CN" sz="2800" dirty="0"/>
              <a:t>3</a:t>
            </a:r>
            <a:r>
              <a:rPr lang="zh-CN" altLang="en-US" sz="2800" dirty="0"/>
              <a:t>：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b="1" dirty="0"/>
              <a:t>f = open(“</a:t>
            </a:r>
            <a:r>
              <a:rPr lang="en-US" altLang="zh-CN" sz="2800" b="1" dirty="0"/>
              <a:t>D:/temp/poem</a:t>
            </a:r>
            <a:r>
              <a:rPr lang="zh-CN" altLang="en-US" sz="2800" b="1" dirty="0"/>
              <a:t>.txt“</a:t>
            </a:r>
            <a:r>
              <a:rPr lang="en-US" altLang="zh-CN" sz="2800" b="1" dirty="0"/>
              <a:t>, encoding='UTF-8'</a:t>
            </a:r>
            <a:r>
              <a:rPr lang="zh-CN" altLang="en-US" sz="2800" b="1" dirty="0"/>
              <a:t>)</a:t>
            </a:r>
          </a:p>
          <a:p>
            <a:pPr marL="0" indent="0">
              <a:buNone/>
            </a:pPr>
            <a:r>
              <a:rPr lang="zh-CN" altLang="en-US" sz="2800" b="1" dirty="0"/>
              <a:t>list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 = f.readlines()</a:t>
            </a:r>
          </a:p>
          <a:p>
            <a:pPr marL="0" indent="0">
              <a:buNone/>
            </a:pPr>
            <a:r>
              <a:rPr lang="zh-CN" altLang="en-US" sz="2800" b="1" dirty="0"/>
              <a:t>for line in list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:     </a:t>
            </a:r>
            <a:r>
              <a:rPr lang="en-US" altLang="zh-CN" sz="2800" b="1" dirty="0"/>
              <a:t># </a:t>
            </a:r>
            <a:r>
              <a:rPr lang="zh-CN" altLang="en-US" sz="2800" b="1" dirty="0"/>
              <a:t>遍历列表</a:t>
            </a:r>
          </a:p>
          <a:p>
            <a:pPr marL="0" indent="0">
              <a:buNone/>
            </a:pPr>
            <a:r>
              <a:rPr lang="zh-CN" altLang="en-US" sz="2800" b="1" dirty="0"/>
              <a:t>    print(line, end="")</a:t>
            </a:r>
          </a:p>
          <a:p>
            <a:pPr marL="0" indent="0">
              <a:buNone/>
            </a:pPr>
            <a:r>
              <a:rPr lang="zh-CN" altLang="en-US" sz="2800" b="1" dirty="0"/>
              <a:t>f.close()</a:t>
            </a:r>
          </a:p>
          <a:p>
            <a:pPr marL="0" indent="0">
              <a:buNone/>
            </a:pPr>
            <a:endParaRPr lang="en-US" altLang="zh-CN" sz="2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0827ED-A0F4-4E93-BACA-DA2878B0A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80A16FA-B321-4E2B-BACA-FA818B205CE8}"/>
              </a:ext>
            </a:extLst>
          </p:cNvPr>
          <p:cNvSpPr txBox="1"/>
          <p:nvPr/>
        </p:nvSpPr>
        <p:spPr>
          <a:xfrm>
            <a:off x="6672064" y="2204864"/>
            <a:ext cx="5256584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dirty="0"/>
              <a:t>====</a:t>
            </a:r>
          </a:p>
          <a:p>
            <a:r>
              <a:rPr lang="zh-CN" altLang="en-US" sz="2400" b="1" dirty="0"/>
              <a:t>['静夜思\n', '作者：李白\n', '床前明月光\n', '疑是地上霜\n', '举头望明月\n', '低头思故乡\n'] </a:t>
            </a:r>
          </a:p>
          <a:p>
            <a:endParaRPr lang="zh-CN" altLang="en-US" sz="2400" b="1" dirty="0"/>
          </a:p>
          <a:p>
            <a:r>
              <a:rPr lang="zh-CN" altLang="en-US" sz="2400" b="1" dirty="0"/>
              <a:t>静夜思</a:t>
            </a:r>
          </a:p>
          <a:p>
            <a:r>
              <a:rPr lang="zh-CN" altLang="en-US" sz="2400" b="1" dirty="0"/>
              <a:t>作者：李白</a:t>
            </a:r>
          </a:p>
          <a:p>
            <a:r>
              <a:rPr lang="zh-CN" altLang="en-US" sz="2400" b="1" dirty="0"/>
              <a:t>床前明月光</a:t>
            </a:r>
          </a:p>
          <a:p>
            <a:r>
              <a:rPr lang="zh-CN" altLang="en-US" sz="2400" b="1" dirty="0"/>
              <a:t>疑是地上霜</a:t>
            </a:r>
          </a:p>
          <a:p>
            <a:r>
              <a:rPr lang="zh-CN" altLang="en-US" sz="2400" b="1" dirty="0"/>
              <a:t>举头望明月</a:t>
            </a:r>
          </a:p>
          <a:p>
            <a:r>
              <a:rPr lang="zh-CN" altLang="en-US" sz="2400" b="1" dirty="0"/>
              <a:t>低头思故乡</a:t>
            </a:r>
          </a:p>
          <a:p>
            <a:r>
              <a:rPr lang="zh-CN" altLang="en-US" sz="2400" b="1" dirty="0"/>
              <a:t>&gt;&gt;&gt; </a:t>
            </a:r>
          </a:p>
        </p:txBody>
      </p:sp>
    </p:spTree>
    <p:extLst>
      <p:ext uri="{BB962C8B-B14F-4D97-AF65-F5344CB8AC3E}">
        <p14:creationId xmlns:p14="http://schemas.microsoft.com/office/powerpoint/2010/main" val="37316052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043889-FC2B-4E1F-A0F6-A5A029E33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750B1A-6E5B-498F-A6BB-8059F2F78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方法</a:t>
            </a:r>
            <a:r>
              <a:rPr lang="en-US" altLang="zh-CN" dirty="0"/>
              <a:t>4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3200" b="1" dirty="0"/>
              <a:t>f = open(“</a:t>
            </a:r>
            <a:r>
              <a:rPr lang="en-US" altLang="zh-CN" sz="3200" b="1" dirty="0"/>
              <a:t>D:/temp/poem</a:t>
            </a:r>
            <a:r>
              <a:rPr lang="zh-CN" altLang="en-US" sz="3200" b="1" dirty="0"/>
              <a:t>.txt“</a:t>
            </a:r>
            <a:r>
              <a:rPr lang="en-US" altLang="zh-CN" sz="3200" b="1" dirty="0"/>
              <a:t>,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sz="3200" b="1" dirty="0"/>
              <a:t> encoding='UTF-8'</a:t>
            </a:r>
            <a:r>
              <a:rPr lang="zh-CN" altLang="en-US" sz="3200" b="1" dirty="0"/>
              <a:t>)</a:t>
            </a:r>
          </a:p>
          <a:p>
            <a:pPr marL="0" indent="0">
              <a:buNone/>
            </a:pPr>
            <a:r>
              <a:rPr lang="en-US" altLang="zh-CN" dirty="0"/>
              <a:t>    # </a:t>
            </a:r>
            <a:r>
              <a:rPr lang="zh-CN" altLang="en-US" sz="3200" dirty="0"/>
              <a:t>文件对象是一个可迭代对象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for line in f:    </a:t>
            </a:r>
            <a:r>
              <a:rPr lang="en-US" altLang="zh-CN" dirty="0"/>
              <a:t>#</a:t>
            </a:r>
            <a:r>
              <a:rPr lang="zh-CN" altLang="en-US" sz="3200" dirty="0"/>
              <a:t>遍历文件对象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print(line, end='')</a:t>
            </a:r>
          </a:p>
          <a:p>
            <a:pPr marL="0" indent="0">
              <a:buNone/>
            </a:pPr>
            <a:r>
              <a:rPr lang="zh-CN" altLang="en-US" dirty="0"/>
              <a:t>f.close()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运行效果同前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4E64D5-1A09-4E7C-A1DF-D8C223267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58760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10.3.2 </a:t>
            </a:r>
            <a:r>
              <a:t>文本文件的写入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dirty="0"/>
              <a:t>种常用写法</a:t>
            </a:r>
          </a:p>
          <a:p>
            <a:pPr lvl="1"/>
            <a:r>
              <a:rPr dirty="0" err="1"/>
              <a:t>利用文件对象的</a:t>
            </a:r>
            <a:r>
              <a:rPr lang="en-US" altLang="zh-CN" dirty="0" err="1"/>
              <a:t>write</a:t>
            </a:r>
            <a:r>
              <a:rPr lang="en-US" altLang="zh-CN" dirty="0"/>
              <a:t>()</a:t>
            </a:r>
            <a:r>
              <a:rPr dirty="0" err="1"/>
              <a:t>方法</a:t>
            </a:r>
            <a:endParaRPr dirty="0"/>
          </a:p>
          <a:p>
            <a:pPr lvl="1"/>
            <a:r>
              <a:rPr dirty="0" err="1"/>
              <a:t>利用文件对象的</a:t>
            </a:r>
            <a:r>
              <a:rPr lang="en-US" altLang="zh-CN" dirty="0" err="1"/>
              <a:t>writelines</a:t>
            </a:r>
            <a:r>
              <a:rPr lang="en-US" altLang="zh-CN" dirty="0"/>
              <a:t>()</a:t>
            </a:r>
            <a:r>
              <a:rPr dirty="0" err="1"/>
              <a:t>方法</a:t>
            </a:r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9399F7-EBA3-4DFD-AE69-E7FC02931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29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 write()</a:t>
            </a:r>
            <a:r>
              <a:t>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zh-CN" altLang="en-US" dirty="0"/>
              <a:t>f.write(写入的内容)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63352" y="1916832"/>
            <a:ext cx="7296477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f = open(“</a:t>
            </a:r>
            <a:r>
              <a:rPr lang="en-US" altLang="zh-CN" sz="2400" b="1" dirty="0"/>
              <a:t>temp1</a:t>
            </a:r>
            <a:r>
              <a:rPr lang="zh-CN" altLang="en-US" sz="2400" b="1" dirty="0"/>
              <a:t>.txt", 'w')</a:t>
            </a:r>
          </a:p>
          <a:p>
            <a:r>
              <a:rPr lang="zh-CN" altLang="en-US" sz="2400" b="1" dirty="0"/>
              <a:t>content = input("请输入要写入的内容：")</a:t>
            </a:r>
          </a:p>
          <a:p>
            <a:r>
              <a:rPr lang="zh-CN" altLang="en-US" sz="2400" b="1" dirty="0"/>
              <a:t>f.write(content)</a:t>
            </a:r>
          </a:p>
          <a:p>
            <a:r>
              <a:rPr lang="zh-CN" altLang="en-US" sz="2400" b="1" dirty="0"/>
              <a:t>print("文件已写完！")</a:t>
            </a:r>
          </a:p>
          <a:p>
            <a:r>
              <a:rPr lang="zh-CN" altLang="en-US" sz="2400" b="1" dirty="0"/>
              <a:t>f.close()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2DC8B9AA-C6DB-440A-8360-6EC6ECA04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5551D79-968B-4D67-8702-863EB7279F89}"/>
              </a:ext>
            </a:extLst>
          </p:cNvPr>
          <p:cNvSpPr txBox="1"/>
          <p:nvPr/>
        </p:nvSpPr>
        <p:spPr>
          <a:xfrm>
            <a:off x="263352" y="3940752"/>
            <a:ext cx="100811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====</a:t>
            </a:r>
          </a:p>
          <a:p>
            <a:r>
              <a:rPr lang="zh-CN" altLang="en-US" sz="2400" b="1" dirty="0"/>
              <a:t>请输入要写入的内容：</a:t>
            </a:r>
            <a:r>
              <a:rPr lang="en-US" altLang="zh-CN" sz="2400" b="1" dirty="0" err="1"/>
              <a:t>abcdef</a:t>
            </a:r>
            <a:r>
              <a:rPr lang="en-US" altLang="zh-CN" sz="2400" b="1" dirty="0"/>
              <a:t>\n\\n</a:t>
            </a:r>
            <a:r>
              <a:rPr lang="zh-CN" altLang="en-US" sz="2400" b="1" dirty="0"/>
              <a:t>我在学</a:t>
            </a:r>
            <a:r>
              <a:rPr lang="en-US" altLang="zh-CN" sz="2400" b="1" dirty="0"/>
              <a:t>python\n\</a:t>
            </a:r>
            <a:r>
              <a:rPr lang="en-US" altLang="zh-CN" sz="2400" b="1" dirty="0" err="1"/>
              <a:t>thaha</a:t>
            </a:r>
            <a:endParaRPr lang="en-US" altLang="zh-CN" sz="2400" b="1" dirty="0"/>
          </a:p>
          <a:p>
            <a:r>
              <a:rPr lang="zh-CN" altLang="en-US" sz="2400" b="1" dirty="0"/>
              <a:t>文件已写完！</a:t>
            </a:r>
            <a:endParaRPr lang="en-US" altLang="zh-CN" sz="2400" b="1" dirty="0"/>
          </a:p>
          <a:p>
            <a:r>
              <a:rPr lang="en-US" altLang="zh-CN" sz="2400" b="1" dirty="0"/>
              <a:t>(</a:t>
            </a:r>
            <a:r>
              <a:rPr lang="zh-CN" altLang="en-US" sz="2400" b="1" dirty="0"/>
              <a:t>运行结果：原来文件中的</a:t>
            </a:r>
            <a:endParaRPr lang="en-US" altLang="zh-CN" sz="2400" b="1" dirty="0"/>
          </a:p>
          <a:p>
            <a:r>
              <a:rPr lang="zh-CN" altLang="en-US" sz="2400" b="1" dirty="0"/>
              <a:t>内容被删除，写入新内容</a:t>
            </a:r>
            <a:r>
              <a:rPr lang="en-US" altLang="zh-CN" sz="2400" b="1" dirty="0"/>
              <a:t>)</a:t>
            </a:r>
            <a:endParaRPr lang="zh-CN" altLang="en-US" sz="2400" b="1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2BDE0BF-F8C4-4455-9B27-8DC17C9700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800" y="4874433"/>
            <a:ext cx="4744348" cy="225063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63D53C-E2EB-444F-AF42-4FB4C8E5B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F2360D-B2EB-4258-AD20-A8A8F8A82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200" b="1" dirty="0"/>
              <a:t>注意：写入的内容不会自动换行。</a:t>
            </a:r>
            <a:endParaRPr lang="en-US" altLang="zh-CN" sz="3200" b="1" dirty="0"/>
          </a:p>
          <a:p>
            <a:r>
              <a:rPr lang="zh-CN" altLang="en-US" sz="3200" b="1" dirty="0"/>
              <a:t>思考：如果把第</a:t>
            </a:r>
            <a:r>
              <a:rPr lang="en-US" altLang="zh-CN" sz="3200" b="1" dirty="0"/>
              <a:t>1</a:t>
            </a:r>
            <a:r>
              <a:rPr lang="zh-CN" altLang="en-US" sz="3200" b="1" dirty="0"/>
              <a:t>行的</a:t>
            </a:r>
            <a:r>
              <a:rPr lang="en-US" altLang="zh-CN" sz="3200" b="1" dirty="0"/>
              <a:t>’w’</a:t>
            </a:r>
            <a:r>
              <a:rPr lang="zh-CN" altLang="en-US" sz="3200" b="1" dirty="0"/>
              <a:t>改为</a:t>
            </a:r>
            <a:r>
              <a:rPr lang="en-US" altLang="zh-CN" sz="3200" b="1" dirty="0"/>
              <a:t>’a’</a:t>
            </a:r>
            <a:r>
              <a:rPr lang="zh-CN" altLang="en-US" sz="3200" b="1" dirty="0"/>
              <a:t>会怎样？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E55140-6061-42DA-A5CE-4962C7BF6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1551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 writelines()</a:t>
            </a:r>
            <a:r>
              <a:t>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zh-CN" altLang="en-US" dirty="0"/>
              <a:t>f.writelines(字符串序列)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sz="3200" dirty="0"/>
              <a:t>什么是序列？列表、元组等属于常用序列</a:t>
            </a:r>
          </a:p>
          <a:p>
            <a:pPr marL="457200" lvl="1" indent="0">
              <a:buNone/>
            </a:pPr>
            <a:endParaRPr lang="zh-CN" altLang="en-US" sz="3200" dirty="0"/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767408" y="2750200"/>
            <a:ext cx="1084643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menulist = ["香菇青菜\n", "红烧狮子头\n", "清蒸鲈鱼\n", "菌菇汤\n"]</a:t>
            </a:r>
          </a:p>
          <a:p>
            <a:r>
              <a:rPr lang="zh-CN" altLang="en-US" sz="2800" b="1" dirty="0"/>
              <a:t>f = open(“menu.txt”, 'w‘)   </a:t>
            </a:r>
            <a:r>
              <a:rPr lang="en-US" altLang="zh-CN" sz="2800" b="1" dirty="0"/>
              <a:t>#</a:t>
            </a:r>
            <a:r>
              <a:rPr lang="zh-CN" altLang="en-US" sz="2800" b="1" dirty="0"/>
              <a:t>每行加换行符</a:t>
            </a:r>
          </a:p>
          <a:p>
            <a:r>
              <a:rPr lang="zh-CN" altLang="en-US" sz="2800" b="1" dirty="0"/>
              <a:t>f.writelines(menulist)</a:t>
            </a:r>
          </a:p>
          <a:p>
            <a:r>
              <a:rPr lang="zh-CN" altLang="en-US" sz="2800" b="1" dirty="0"/>
              <a:t>print("文件已写完！")</a:t>
            </a:r>
          </a:p>
          <a:p>
            <a:r>
              <a:rPr lang="zh-CN" altLang="en-US" sz="2800" b="1" dirty="0"/>
              <a:t>f.close()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71D7E383-0182-4B8E-ACE2-E076751CE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32</a:t>
            </a:fld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D78E974-4805-4937-B06B-DEEC031483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912" y="3980798"/>
            <a:ext cx="3291448" cy="321688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例</a:t>
            </a:r>
            <a:r>
              <a:rPr lang="en-US" altLang="zh-CN" dirty="0"/>
              <a:t>10-14 将九九乘法表按照如下格式输入到文件99.txt中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1*1=1</a:t>
            </a:r>
          </a:p>
          <a:p>
            <a:pPr marL="0" indent="0">
              <a:buNone/>
            </a:pPr>
            <a:r>
              <a:rPr lang="zh-CN" altLang="en-US"/>
              <a:t>1*2=2	2*2=4</a:t>
            </a:r>
          </a:p>
          <a:p>
            <a:pPr marL="0" indent="0">
              <a:buNone/>
            </a:pPr>
            <a:r>
              <a:rPr lang="zh-CN" altLang="en-US"/>
              <a:t>1*3=3	2*3=6	3*3=9</a:t>
            </a:r>
          </a:p>
          <a:p>
            <a:pPr marL="0" indent="0">
              <a:buNone/>
            </a:pPr>
            <a:r>
              <a:rPr lang="zh-CN" altLang="en-US"/>
              <a:t>1*4=4	2*4=8	3*4=12	4*4=16</a:t>
            </a:r>
          </a:p>
          <a:p>
            <a:pPr marL="0" indent="0">
              <a:buNone/>
            </a:pPr>
            <a:r>
              <a:rPr lang="zh-CN" altLang="en-US"/>
              <a:t>……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703BDD-1A1F-4B26-AA7A-26F0545C0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33</a:t>
            </a:fld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78722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程序代码：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268760"/>
            <a:ext cx="11928648" cy="52082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/>
              <a:t>with open('99.txt','w') as f:</a:t>
            </a:r>
          </a:p>
          <a:p>
            <a:pPr marL="0" indent="0">
              <a:buNone/>
            </a:pPr>
            <a:r>
              <a:rPr lang="en-US" altLang="zh-CN" sz="2800" dirty="0"/>
              <a:t>    for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 in range(1, 10):</a:t>
            </a:r>
          </a:p>
          <a:p>
            <a:pPr marL="0" indent="0">
              <a:buNone/>
            </a:pPr>
            <a:r>
              <a:rPr lang="en-US" altLang="zh-CN" sz="2800" dirty="0"/>
              <a:t>        for j in range(1,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 + 1):</a:t>
            </a:r>
          </a:p>
          <a:p>
            <a:pPr marL="0" indent="0">
              <a:buNone/>
            </a:pPr>
            <a:r>
              <a:rPr lang="en-US" altLang="zh-CN" sz="2800" dirty="0"/>
              <a:t>            result = str(j) + '*' + str(</a:t>
            </a:r>
            <a:r>
              <a:rPr lang="en-US" altLang="zh-CN" sz="2800" dirty="0" err="1"/>
              <a:t>i</a:t>
            </a:r>
            <a:r>
              <a:rPr lang="en-US" altLang="zh-CN" sz="2800" dirty="0"/>
              <a:t>) + '=' + str(</a:t>
            </a:r>
            <a:r>
              <a:rPr lang="en-US" altLang="zh-CN" sz="2800" dirty="0" err="1"/>
              <a:t>i</a:t>
            </a:r>
            <a:r>
              <a:rPr lang="en-US" altLang="zh-CN" sz="2800" dirty="0"/>
              <a:t>*j) +'\t'</a:t>
            </a:r>
          </a:p>
          <a:p>
            <a:pPr marL="0" indent="0">
              <a:buNone/>
            </a:pPr>
            <a:r>
              <a:rPr lang="en-US" altLang="zh-CN" sz="2800" dirty="0"/>
              <a:t>            </a:t>
            </a:r>
            <a:r>
              <a:rPr lang="en-US" altLang="zh-CN" sz="2800" dirty="0" err="1"/>
              <a:t>f.write</a:t>
            </a:r>
            <a:r>
              <a:rPr lang="en-US" altLang="zh-CN" sz="2800" dirty="0"/>
              <a:t>(result)    # print(result, end='')</a:t>
            </a:r>
          </a:p>
          <a:p>
            <a:pPr marL="0" indent="0">
              <a:buNone/>
            </a:pPr>
            <a:r>
              <a:rPr lang="en-US" altLang="zh-CN" sz="2800" dirty="0"/>
              <a:t>        </a:t>
            </a:r>
            <a:r>
              <a:rPr lang="en-US" altLang="zh-CN" sz="2800" dirty="0" err="1"/>
              <a:t>f.write</a:t>
            </a:r>
            <a:r>
              <a:rPr lang="en-US" altLang="zh-CN" sz="2800" dirty="0"/>
              <a:t>('\n')</a:t>
            </a:r>
          </a:p>
          <a:p>
            <a:pPr marL="0" indent="0">
              <a:buNone/>
            </a:pPr>
            <a:r>
              <a:rPr lang="en-US" altLang="zh-CN" sz="2800"/>
              <a:t>    print('over')</a:t>
            </a:r>
          </a:p>
          <a:p>
            <a:pPr marL="0" indent="0">
              <a:buNone/>
            </a:pPr>
            <a:endParaRPr lang="zh-CN" altLang="en-US" sz="2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DF7A02-5CC4-4A84-B16F-B0CE23C12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34</a:t>
            </a:fld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10402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443230"/>
            <a:ext cx="10852150" cy="2017395"/>
          </a:xfrm>
        </p:spPr>
        <p:txBody>
          <a:bodyPr>
            <a:normAutofit/>
          </a:bodyPr>
          <a:lstStyle/>
          <a:p>
            <a:r>
              <a:rPr lang="zh-CN" altLang="en-US" dirty="0"/>
              <a:t>例</a:t>
            </a:r>
            <a:r>
              <a:rPr lang="en-US" altLang="zh-CN" dirty="0"/>
              <a:t>10-15 </a:t>
            </a:r>
            <a:r>
              <a:rPr lang="en-US" altLang="zh-CN" dirty="0" err="1"/>
              <a:t>将诗歌《静夜思》的内容按行写入文件“poet.txt”中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75735" y="2566035"/>
            <a:ext cx="3237865" cy="37750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dirty="0"/>
              <a:t>静夜思</a:t>
            </a:r>
          </a:p>
          <a:p>
            <a:pPr marL="0" indent="0" algn="ctr">
              <a:buNone/>
            </a:pPr>
            <a:r>
              <a:rPr lang="zh-CN" altLang="en-US" dirty="0"/>
              <a:t>作者：李白</a:t>
            </a:r>
          </a:p>
          <a:p>
            <a:pPr marL="0" indent="0" algn="ctr">
              <a:buNone/>
            </a:pPr>
            <a:r>
              <a:rPr lang="zh-CN" altLang="en-US" dirty="0"/>
              <a:t>床前明月光</a:t>
            </a:r>
          </a:p>
          <a:p>
            <a:pPr marL="0" indent="0" algn="ctr">
              <a:buNone/>
            </a:pPr>
            <a:r>
              <a:rPr lang="zh-CN" altLang="en-US" dirty="0"/>
              <a:t>疑是地上霜</a:t>
            </a:r>
          </a:p>
          <a:p>
            <a:pPr marL="0" indent="0" algn="ctr">
              <a:buNone/>
            </a:pPr>
            <a:r>
              <a:rPr lang="zh-CN" altLang="en-US" dirty="0"/>
              <a:t>举头望明月</a:t>
            </a:r>
          </a:p>
          <a:p>
            <a:pPr marL="0" indent="0" algn="ctr">
              <a:buNone/>
            </a:pPr>
            <a:r>
              <a:rPr lang="zh-CN" altLang="en-US" dirty="0"/>
              <a:t>低头思故乡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C5524B-BE45-44C8-AD49-AB01A9933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35</a:t>
            </a:fld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72267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CB6ED7-C087-40BD-A5C0-FA52C5450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159BB5-629D-4A3B-8178-968AE6C4A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zh-CN" altLang="en-US" dirty="0"/>
              <a:t>poet = ["静夜思\n", "作者：李白\n",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dirty="0"/>
              <a:t>        "床前明月光，\n", "疑是地上霜，\n",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dirty="0"/>
              <a:t>        "举头望明月，\n", "低头思故乡。"]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dirty="0"/>
              <a:t>path = "E:/Python教材例子"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dirty="0"/>
              <a:t>f = open("E:/Python教材例子/poet.txt", 'w')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dirty="0"/>
              <a:t>f.writelines(poet)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dirty="0"/>
              <a:t>f.close()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dirty="0"/>
              <a:t>print("写入成功！")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0BD032-4773-4BB6-8228-8138025A8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32523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779905" y="2292350"/>
            <a:ext cx="8731885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10.4 CSV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文件的读写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8965A97-C4D2-4569-B5A7-C5557D205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37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10.4.1 CSV</a:t>
            </a:r>
            <a:r>
              <a:t>文件简介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4" y="1160145"/>
            <a:ext cx="10106661" cy="4305935"/>
          </a:xfrm>
          <a:noFill/>
        </p:spPr>
        <p:txBody>
          <a:bodyPr>
            <a:normAutofit/>
          </a:bodyPr>
          <a:lstStyle/>
          <a:p>
            <a:r>
              <a:rPr lang="zh-CN" altLang="en-US" dirty="0"/>
              <a:t>示例：</a:t>
            </a:r>
          </a:p>
          <a:p>
            <a:pPr marL="914400" lvl="2" indent="0">
              <a:buNone/>
            </a:pPr>
            <a:r>
              <a:rPr lang="zh-CN" altLang="en-US" dirty="0"/>
              <a:t>学号, 姓名, 年龄, 性别, 学院</a:t>
            </a:r>
          </a:p>
          <a:p>
            <a:pPr marL="914400" lvl="2" indent="0">
              <a:buNone/>
            </a:pPr>
            <a:r>
              <a:rPr lang="zh-CN" altLang="en-US" dirty="0"/>
              <a:t>1201, 张三, 21, 男, 计算机学院</a:t>
            </a:r>
          </a:p>
          <a:p>
            <a:pPr marL="914400" lvl="2" indent="0">
              <a:buNone/>
            </a:pPr>
            <a:r>
              <a:rPr lang="zh-CN" altLang="en-US" dirty="0"/>
              <a:t>1502, 李四, 19, 女, 外国语学院</a:t>
            </a:r>
          </a:p>
          <a:p>
            <a:pPr marL="914400" lvl="2" indent="0">
              <a:buNone/>
            </a:pPr>
            <a:r>
              <a:rPr lang="zh-CN" altLang="en-US" dirty="0"/>
              <a:t>1306, 王五, 20, 女, 物理学院</a:t>
            </a:r>
          </a:p>
          <a:p>
            <a:pPr marL="914400" lvl="2" indent="0">
              <a:buNone/>
            </a:pPr>
            <a:r>
              <a:rPr lang="zh-CN" altLang="en-US" dirty="0"/>
              <a:t>1410, 赵六, 21, 男, 体育学院</a:t>
            </a:r>
          </a:p>
        </p:txBody>
      </p:sp>
      <p:sp>
        <p:nvSpPr>
          <p:cNvPr id="11" name="线形标注 1 10"/>
          <p:cNvSpPr/>
          <p:nvPr/>
        </p:nvSpPr>
        <p:spPr>
          <a:xfrm>
            <a:off x="1199456" y="5141388"/>
            <a:ext cx="5932528" cy="1105449"/>
          </a:xfrm>
          <a:prstGeom prst="borderCallout1">
            <a:avLst>
              <a:gd name="adj1" fmla="val -881"/>
              <a:gd name="adj2" fmla="val 26914"/>
              <a:gd name="adj3" fmla="val -5339"/>
              <a:gd name="adj4" fmla="val 2850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 dirty="0"/>
              <a:t>纯文本文件</a:t>
            </a:r>
            <a:r>
              <a:rPr lang="en-US" altLang="zh-CN" sz="2800" b="1" dirty="0"/>
              <a:t>,  </a:t>
            </a:r>
            <a:r>
              <a:rPr lang="zh-CN" altLang="en-US" sz="2800" dirty="0"/>
              <a:t>逗号分隔</a:t>
            </a:r>
          </a:p>
          <a:p>
            <a:r>
              <a:rPr lang="zh-CN" altLang="en-US" sz="2800" b="1" dirty="0"/>
              <a:t>标题行是字段名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一行是一条记录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80D0D4-AD9F-4B8A-9C51-017BCF155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38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读写</a:t>
            </a:r>
            <a:r>
              <a:rPr lang="en-US" altLang="zh-CN"/>
              <a:t>CSV</a:t>
            </a:r>
            <a:r>
              <a:t>文件的方法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常用的写法</a:t>
            </a:r>
          </a:p>
          <a:p>
            <a:pPr marL="971550" lvl="1" indent="-514350">
              <a:buAutoNum type="arabicPeriod"/>
            </a:pPr>
            <a:r>
              <a:rPr lang="zh-CN" altLang="en-US" dirty="0"/>
              <a:t>采用</a:t>
            </a:r>
            <a:r>
              <a:rPr lang="en-US" altLang="zh-CN" dirty="0"/>
              <a:t>10.3</a:t>
            </a:r>
            <a:r>
              <a:rPr dirty="0"/>
              <a:t>节介绍的</a:t>
            </a:r>
            <a:r>
              <a:rPr lang="zh-CN" altLang="en-US" dirty="0"/>
              <a:t>普通文本文件的读写方法</a:t>
            </a:r>
          </a:p>
          <a:p>
            <a:pPr marL="971550" lvl="1" indent="-514350">
              <a:buAutoNum type="arabicPeriod"/>
            </a:pPr>
            <a:r>
              <a:rPr lang="zh-CN" altLang="en-US" dirty="0"/>
              <a:t>采用专门处理</a:t>
            </a:r>
            <a:r>
              <a:rPr lang="en-US" altLang="zh-CN" dirty="0" err="1"/>
              <a:t>CSV</a:t>
            </a:r>
            <a:r>
              <a:rPr dirty="0" err="1"/>
              <a:t>文件的模块</a:t>
            </a:r>
            <a:endParaRPr dirty="0"/>
          </a:p>
          <a:p>
            <a:pPr marL="1428750" lvl="2" indent="-514350"/>
            <a:r>
              <a:rPr dirty="0" err="1"/>
              <a:t>标准模块：</a:t>
            </a:r>
            <a:r>
              <a:rPr lang="en-US" altLang="zh-CN" dirty="0" err="1"/>
              <a:t>csv</a:t>
            </a:r>
            <a:r>
              <a:rPr dirty="0" err="1"/>
              <a:t>模块</a:t>
            </a:r>
            <a:endParaRPr dirty="0"/>
          </a:p>
          <a:p>
            <a:pPr marL="1428750" lvl="2" indent="-514350"/>
            <a:r>
              <a:rPr dirty="0" err="1"/>
              <a:t>第三方库：</a:t>
            </a:r>
            <a:r>
              <a:rPr lang="en-US" altLang="zh-CN" dirty="0" err="1"/>
              <a:t>pandas</a:t>
            </a:r>
            <a:r>
              <a:rPr dirty="0" err="1"/>
              <a:t>模块、Tensorflow等</a:t>
            </a:r>
            <a:endParaRPr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037B759-CA5F-4630-9890-11F8CD4FF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39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10.4.2 </a:t>
            </a:r>
            <a:r>
              <a:t>读取</a:t>
            </a:r>
            <a:r>
              <a:rPr lang="en-US" altLang="zh-CN"/>
              <a:t>CSV</a:t>
            </a:r>
            <a:r>
              <a:t>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常用的</a:t>
            </a:r>
            <a:r>
              <a:rPr lang="en-US" altLang="zh-CN"/>
              <a:t>2</a:t>
            </a:r>
            <a:r>
              <a:t>种用法</a:t>
            </a:r>
            <a:endParaRPr lang="zh-CN" altLang="en-US"/>
          </a:p>
          <a:p>
            <a:pPr lvl="1"/>
            <a:r>
              <a:rPr lang="zh-CN" altLang="en-US"/>
              <a:t>利用</a:t>
            </a:r>
            <a:r>
              <a:rPr lang="en-US" altLang="zh-CN"/>
              <a:t>csv.reader</a:t>
            </a:r>
            <a:r>
              <a:t>对象</a:t>
            </a:r>
            <a:endParaRPr lang="zh-CN" altLang="en-US"/>
          </a:p>
          <a:p>
            <a:pPr lvl="1"/>
            <a:r>
              <a:rPr lang="zh-CN" altLang="en-US"/>
              <a:t>利用</a:t>
            </a:r>
            <a:r>
              <a:rPr lang="en-US" altLang="zh-CN"/>
              <a:t>csv.DictReader</a:t>
            </a:r>
            <a:r>
              <a:t>对象</a:t>
            </a:r>
            <a:r>
              <a:rPr lang="en-US" altLang="zh-CN"/>
              <a:t>*</a:t>
            </a:r>
          </a:p>
        </p:txBody>
      </p:sp>
      <p:sp>
        <p:nvSpPr>
          <p:cNvPr id="4" name="矩形 3"/>
          <p:cNvSpPr/>
          <p:nvPr/>
        </p:nvSpPr>
        <p:spPr>
          <a:xfrm>
            <a:off x="8256270" y="1160145"/>
            <a:ext cx="2830195" cy="7924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sym typeface="+mn-ea"/>
              </a:rPr>
              <a:t>获取文件对象</a:t>
            </a:r>
          </a:p>
        </p:txBody>
      </p:sp>
      <p:sp>
        <p:nvSpPr>
          <p:cNvPr id="5" name="矩形 4"/>
          <p:cNvSpPr/>
          <p:nvPr/>
        </p:nvSpPr>
        <p:spPr>
          <a:xfrm>
            <a:off x="8255635" y="2277110"/>
            <a:ext cx="2808605" cy="7918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sym typeface="+mn-ea"/>
              </a:rPr>
              <a:t>读取表头</a:t>
            </a:r>
          </a:p>
        </p:txBody>
      </p:sp>
      <p:sp>
        <p:nvSpPr>
          <p:cNvPr id="6" name="矩形 5"/>
          <p:cNvSpPr/>
          <p:nvPr/>
        </p:nvSpPr>
        <p:spPr>
          <a:xfrm>
            <a:off x="8256905" y="3429000"/>
            <a:ext cx="2807335" cy="11518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sym typeface="+mn-ea"/>
              </a:rPr>
              <a:t>按逗号分隔符拆分表头字段</a:t>
            </a:r>
          </a:p>
        </p:txBody>
      </p:sp>
      <p:sp>
        <p:nvSpPr>
          <p:cNvPr id="7" name="矩形 6"/>
          <p:cNvSpPr/>
          <p:nvPr/>
        </p:nvSpPr>
        <p:spPr>
          <a:xfrm>
            <a:off x="8257540" y="4940935"/>
            <a:ext cx="2806700" cy="12242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sym typeface="+mn-ea"/>
              </a:rPr>
              <a:t>使用for循环语句获取表体记录数据</a:t>
            </a:r>
          </a:p>
        </p:txBody>
      </p:sp>
      <p:cxnSp>
        <p:nvCxnSpPr>
          <p:cNvPr id="8" name="直接箭头连接符 7"/>
          <p:cNvCxnSpPr>
            <a:stCxn id="4" idx="2"/>
            <a:endCxn id="5" idx="0"/>
          </p:cNvCxnSpPr>
          <p:nvPr/>
        </p:nvCxnSpPr>
        <p:spPr>
          <a:xfrm flipH="1">
            <a:off x="9660255" y="1952625"/>
            <a:ext cx="11430" cy="3244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stCxn id="5" idx="2"/>
            <a:endCxn id="6" idx="0"/>
          </p:cNvCxnSpPr>
          <p:nvPr/>
        </p:nvCxnSpPr>
        <p:spPr>
          <a:xfrm>
            <a:off x="9660255" y="3068955"/>
            <a:ext cx="635" cy="3600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6" idx="2"/>
            <a:endCxn id="7" idx="0"/>
          </p:cNvCxnSpPr>
          <p:nvPr/>
        </p:nvCxnSpPr>
        <p:spPr>
          <a:xfrm>
            <a:off x="9660890" y="4580890"/>
            <a:ext cx="0" cy="3600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27056B45-2E7A-4A40-973F-F199B1E88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40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 csv.reader</a:t>
            </a:r>
            <a:r>
              <a:t>对象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语法格式：</a:t>
            </a:r>
          </a:p>
          <a:p>
            <a:pPr lvl="1"/>
            <a:r>
              <a:rPr lang="zh-CN" altLang="en-US" dirty="0"/>
              <a:t>csv.reader(csvfile, dialect ='excel', **fmtparams)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sz="3200" dirty="0" err="1"/>
              <a:t>csvfile</a:t>
            </a:r>
            <a:r>
              <a:rPr lang="en-US" altLang="zh-CN" sz="3200" dirty="0"/>
              <a:t> </a:t>
            </a:r>
            <a:r>
              <a:rPr lang="zh-CN" altLang="en-US" sz="3200" dirty="0"/>
              <a:t>文件对象</a:t>
            </a:r>
            <a:endParaRPr lang="en-US" altLang="zh-CN" sz="3200" dirty="0"/>
          </a:p>
          <a:p>
            <a:pPr lvl="1"/>
            <a:r>
              <a:rPr lang="en-US" altLang="zh-CN" sz="3200" dirty="0" err="1"/>
              <a:t>dielect</a:t>
            </a:r>
            <a:r>
              <a:rPr lang="zh-CN" altLang="en-US" sz="3200" dirty="0"/>
              <a:t>指明</a:t>
            </a:r>
            <a:r>
              <a:rPr lang="en-US" altLang="zh-CN" sz="3200" dirty="0"/>
              <a:t>CSV</a:t>
            </a:r>
            <a:r>
              <a:rPr lang="zh-CN" altLang="en-US" sz="3200" dirty="0"/>
              <a:t>方言参数</a:t>
            </a:r>
          </a:p>
          <a:p>
            <a:pPr lvl="1"/>
            <a:r>
              <a:rPr lang="en-US" altLang="zh-CN" sz="3200" dirty="0"/>
              <a:t>**</a:t>
            </a:r>
            <a:r>
              <a:rPr lang="en-US" altLang="zh-CN" sz="3200" dirty="0" err="1"/>
              <a:t>fmtparams</a:t>
            </a:r>
            <a:r>
              <a:rPr lang="en-US" altLang="zh-CN" sz="3200" dirty="0"/>
              <a:t> </a:t>
            </a:r>
            <a:r>
              <a:rPr lang="zh-CN" altLang="en-US" sz="3200" dirty="0"/>
              <a:t>当前方言中的各个格式参数</a:t>
            </a:r>
          </a:p>
          <a:p>
            <a:pPr lvl="1"/>
            <a:r>
              <a:rPr lang="zh-CN" altLang="en-US" sz="3200" dirty="0"/>
              <a:t>后两个参数常常省略</a:t>
            </a:r>
          </a:p>
          <a:p>
            <a:pPr algn="l"/>
            <a:r>
              <a:rPr lang="en-US" altLang="zh-CN" b="0" i="0" dirty="0">
                <a:solidFill>
                  <a:srgbClr val="FFFFFF"/>
                </a:solidFill>
                <a:effectLst/>
                <a:latin typeface="PingFang SC"/>
              </a:rPr>
              <a:t> Reader()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PingFang SC"/>
              </a:rPr>
              <a:t>返回一个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PingFang SC"/>
              </a:rPr>
              <a:t>reader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PingFang SC"/>
              </a:rPr>
              <a:t>对象，利用该对象</a:t>
            </a:r>
            <a:r>
              <a:rPr lang="zh-CN" altLang="en-US" b="0" dirty="0">
                <a:solidFill>
                  <a:srgbClr val="FFFFFF"/>
                </a:solidFill>
                <a:latin typeface="PingFang SC"/>
              </a:rPr>
              <a:t>可以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PingFang SC"/>
              </a:rPr>
              <a:t>遍历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PingFang SC"/>
              </a:rPr>
              <a:t>csv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PingFang SC"/>
              </a:rPr>
              <a:t>文件中的行。</a:t>
            </a:r>
            <a:endParaRPr lang="en-US" altLang="zh-CN" b="0" i="0" dirty="0">
              <a:solidFill>
                <a:srgbClr val="FFFFFF"/>
              </a:solidFill>
              <a:effectLst/>
              <a:latin typeface="PingFang SC"/>
            </a:endParaRPr>
          </a:p>
          <a:p>
            <a:pPr algn="l"/>
            <a:r>
              <a:rPr lang="en-US" altLang="zh-CN" b="0" dirty="0">
                <a:solidFill>
                  <a:srgbClr val="FFFFFF"/>
                </a:solidFill>
                <a:latin typeface="PingFang SC"/>
              </a:rPr>
              <a:t> 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PingFang SC"/>
              </a:rPr>
              <a:t>该对象读取每一行作为一个列表，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PingFang SC"/>
              </a:rPr>
              <a:t>n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PingFang SC"/>
              </a:rPr>
              <a:t>行是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PingFang SC"/>
              </a:rPr>
              <a:t>n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PingFang SC"/>
              </a:rPr>
              <a:t>个列表。每行的每个字段是字符串，作为列表的一个元素。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AC9798-3D58-4655-B0C9-6BA57F6DB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41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en-US" altLang="zh-CN" dirty="0"/>
              <a:t>:</a:t>
            </a:r>
            <a:r>
              <a:rPr lang="zh-CN" altLang="en-US" dirty="0"/>
              <a:t>读取csvTest.csv中所有内容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196752"/>
            <a:ext cx="6264696" cy="3685540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dirty="0"/>
              <a:t>import csv</a:t>
            </a:r>
          </a:p>
          <a:p>
            <a:pPr marL="0" indent="0">
              <a:buNone/>
            </a:pPr>
            <a:r>
              <a:rPr lang="zh-CN" altLang="en-US" sz="2800" dirty="0"/>
              <a:t>with open("csvTest.csv",'r') as f:</a:t>
            </a:r>
          </a:p>
          <a:p>
            <a:pPr marL="0" indent="0">
              <a:buNone/>
            </a:pPr>
            <a:r>
              <a:rPr lang="zh-CN" altLang="en-US" sz="2800" dirty="0"/>
              <a:t>    reader = csv.reader(f)</a:t>
            </a:r>
          </a:p>
          <a:p>
            <a:pPr marL="0" indent="0">
              <a:buNone/>
            </a:pPr>
            <a:r>
              <a:rPr lang="zh-CN" altLang="en-US" sz="2800" dirty="0"/>
              <a:t>    for row in reader:</a:t>
            </a:r>
          </a:p>
          <a:p>
            <a:pPr marL="0" indent="0">
              <a:buNone/>
            </a:pPr>
            <a:r>
              <a:rPr lang="zh-CN" altLang="en-US" sz="2800" dirty="0"/>
              <a:t>        print(row)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855460" y="1579880"/>
            <a:ext cx="5180330" cy="30469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====</a:t>
            </a:r>
          </a:p>
          <a:p>
            <a:r>
              <a:rPr lang="zh-CN" altLang="en-US" sz="2400" dirty="0"/>
              <a:t>['学号', '姓名', '年龄', '性别', '学院']</a:t>
            </a:r>
          </a:p>
          <a:p>
            <a:r>
              <a:rPr lang="zh-CN" altLang="en-US" sz="2400" dirty="0"/>
              <a:t>['1201', '张三', '21', '男', '计算机学院']</a:t>
            </a:r>
          </a:p>
          <a:p>
            <a:r>
              <a:rPr lang="zh-CN" altLang="en-US" sz="2400" dirty="0"/>
              <a:t>['1502', '李四', '19', '女', '外国语学院']</a:t>
            </a:r>
          </a:p>
          <a:p>
            <a:r>
              <a:rPr lang="zh-CN" altLang="en-US" sz="2400" dirty="0"/>
              <a:t>['1306', '王五', '20', '女', '物理学院']</a:t>
            </a:r>
          </a:p>
          <a:p>
            <a:r>
              <a:rPr lang="zh-CN" altLang="en-US" sz="2400" dirty="0"/>
              <a:t>['1410', '赵六', '21', '男', '体育学院’]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注意：每一行是</a:t>
            </a:r>
            <a:r>
              <a:rPr lang="en-US" altLang="zh-CN" sz="2400" dirty="0"/>
              <a:t>1</a:t>
            </a:r>
            <a:r>
              <a:rPr lang="zh-CN" altLang="en-US" sz="2400" dirty="0"/>
              <a:t>个列表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AF87EE-8CBA-4229-BDC4-7D0F3C040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 csv.DictReader对象 *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268760"/>
            <a:ext cx="11876520" cy="5208240"/>
          </a:xfrm>
        </p:spPr>
        <p:txBody>
          <a:bodyPr/>
          <a:lstStyle/>
          <a:p>
            <a:pPr marL="457200" lvl="1" indent="0">
              <a:buNone/>
            </a:pPr>
            <a:r>
              <a:rPr lang="zh-CN" altLang="en-US" dirty="0"/>
              <a:t>csv.DictReader(f,fieldnames=None,restkey=None,</a:t>
            </a:r>
            <a:br>
              <a:rPr lang="en-US" altLang="zh-CN" dirty="0"/>
            </a:br>
            <a:r>
              <a:rPr lang="en-US" altLang="zh-CN" dirty="0"/>
              <a:t>             </a:t>
            </a:r>
            <a:r>
              <a:rPr lang="zh-CN" altLang="en-US" dirty="0"/>
              <a:t>restval=None,dialect='excel',*args,**kwds)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zh-CN" altLang="en-US" sz="3200" dirty="0"/>
              <a:t>返回一个有序字典，字典的</a:t>
            </a:r>
            <a:r>
              <a:rPr lang="en-US" altLang="zh-CN" sz="3200" dirty="0"/>
              <a:t>key</a:t>
            </a:r>
            <a:r>
              <a:rPr lang="zh-CN" altLang="en-US" sz="3200" dirty="0"/>
              <a:t>来自第一行表头，</a:t>
            </a:r>
            <a:r>
              <a:rPr lang="en-US" altLang="zh-CN" sz="3200" dirty="0"/>
              <a:t>value</a:t>
            </a:r>
            <a:r>
              <a:rPr lang="zh-CN" altLang="en-US" sz="3200" dirty="0"/>
              <a:t>来自后面每一行</a:t>
            </a:r>
            <a:endParaRPr lang="en-US" altLang="zh-CN" sz="3200" dirty="0"/>
          </a:p>
          <a:p>
            <a:pPr marL="457200" lvl="1" indent="0">
              <a:buNone/>
            </a:pPr>
            <a:r>
              <a:rPr lang="zh-CN" altLang="en-US" dirty="0"/>
              <a:t>fieldnames</a:t>
            </a:r>
            <a:r>
              <a:rPr lang="zh-CN" altLang="en-US" sz="3200" dirty="0"/>
              <a:t>省略时文件第一行作为字段名</a:t>
            </a:r>
            <a:endParaRPr lang="en-US" altLang="zh-CN" sz="3200" dirty="0"/>
          </a:p>
          <a:p>
            <a:pPr marL="457200" lvl="1" indent="0">
              <a:buNone/>
            </a:pPr>
            <a:r>
              <a:rPr lang="zh-CN" altLang="en-US" sz="3200" dirty="0"/>
              <a:t>通常只需给第</a:t>
            </a:r>
            <a:r>
              <a:rPr lang="en-US" altLang="zh-CN" sz="3200" dirty="0"/>
              <a:t>1</a:t>
            </a:r>
            <a:r>
              <a:rPr lang="zh-CN" altLang="en-US" sz="3200" dirty="0"/>
              <a:t>个参数（文件对象）就够了</a:t>
            </a:r>
          </a:p>
          <a:p>
            <a:pPr marL="457200" lvl="1" indent="0">
              <a:buNone/>
            </a:pPr>
            <a:endParaRPr lang="zh-CN" altLang="en-US" sz="3200" dirty="0"/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8D3F0D13-EF85-4D54-A737-8A6C0BEAE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43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704" y="195011"/>
            <a:ext cx="11328880" cy="73710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例：利用csv.DictReader对象读取csv文件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259205"/>
            <a:ext cx="8018363" cy="3529965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import csv</a:t>
            </a:r>
          </a:p>
          <a:p>
            <a:pPr marL="0" indent="0">
              <a:buNone/>
            </a:pPr>
            <a:r>
              <a:rPr lang="zh-CN" altLang="en-US" dirty="0"/>
              <a:t>with open("csvTest.csv", 'r') as f:</a:t>
            </a:r>
          </a:p>
          <a:p>
            <a:pPr marL="0" indent="0">
              <a:buNone/>
            </a:pPr>
            <a:r>
              <a:rPr lang="zh-CN" altLang="en-US" dirty="0"/>
              <a:t>    reader = csv.DictReader(f)</a:t>
            </a:r>
          </a:p>
          <a:p>
            <a:pPr marL="0" indent="0">
              <a:buNone/>
            </a:pPr>
            <a:r>
              <a:rPr lang="zh-CN" altLang="en-US" dirty="0"/>
              <a:t>    for row in reader:</a:t>
            </a:r>
          </a:p>
          <a:p>
            <a:pPr marL="0" indent="0">
              <a:buNone/>
            </a:pPr>
            <a:r>
              <a:rPr lang="zh-CN" altLang="en-US" dirty="0"/>
              <a:t>        print(row)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2128" y="4455228"/>
            <a:ext cx="12236560" cy="1446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200" b="1" dirty="0"/>
              <a:t>OrderedDict([('学号', '1201'), ('姓名', '张三'), ('年龄', '21'), ('性别', '男'), ('学院', '计算机学院')])</a:t>
            </a:r>
          </a:p>
          <a:p>
            <a:r>
              <a:rPr lang="zh-CN" altLang="en-US" sz="2200" b="1" dirty="0"/>
              <a:t>OrderedDict([('学号', '1502'), ('姓名', '李四'), ('年龄', '19'), ('性别', '女'), ('学院', '外国语学院')])</a:t>
            </a:r>
          </a:p>
          <a:p>
            <a:r>
              <a:rPr lang="zh-CN" altLang="en-US" sz="2200" b="1" dirty="0"/>
              <a:t>OrderedDict([('学号', '1306'), ('姓名', '王五'), ('年龄', '20'), ('性别', '女'), ('学院', '物理学院')])</a:t>
            </a:r>
          </a:p>
          <a:p>
            <a:r>
              <a:rPr lang="zh-CN" altLang="en-US" sz="2200" b="1" dirty="0"/>
              <a:t>OrderedDict([('学号', '1410'), ('姓名', '赵六'), ('年龄', '21'), ('性别', '男'), ('学院', '体育学院')])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FC405D7-8DD9-4199-ABC5-8E413BE1E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44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443230"/>
            <a:ext cx="10852150" cy="1181735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例</a:t>
            </a:r>
            <a:r>
              <a:rPr lang="en-US" altLang="zh-CN"/>
              <a:t>10-1 利用csv.DictReader对象，输出csvTest.csv文件中的的男生信息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851025"/>
            <a:ext cx="7423150" cy="4490085"/>
          </a:xfrm>
          <a:noFill/>
        </p:spPr>
        <p:txBody>
          <a:bodyPr>
            <a:normAutofit fontScale="90000" lnSpcReduction="10000"/>
          </a:bodyPr>
          <a:lstStyle/>
          <a:p>
            <a:pPr marL="0" indent="0">
              <a:buNone/>
            </a:pPr>
            <a:r>
              <a:rPr lang="zh-CN" altLang="en-US" dirty="0"/>
              <a:t>import csv</a:t>
            </a:r>
          </a:p>
          <a:p>
            <a:pPr marL="0" indent="0">
              <a:buNone/>
            </a:pPr>
            <a:r>
              <a:rPr lang="zh-CN" altLang="en-US" dirty="0"/>
              <a:t>with open("csvTest.csv", 'r') as f:</a:t>
            </a:r>
          </a:p>
          <a:p>
            <a:pPr marL="0" indent="0">
              <a:buNone/>
            </a:pPr>
            <a:r>
              <a:rPr lang="zh-CN" altLang="en-US" dirty="0"/>
              <a:t>    reader = csv.DictReader(f)</a:t>
            </a:r>
          </a:p>
          <a:p>
            <a:pPr marL="0" indent="0">
              <a:buNone/>
            </a:pPr>
            <a:r>
              <a:rPr lang="zh-CN" altLang="en-US" dirty="0"/>
              <a:t>    for row in reader:</a:t>
            </a:r>
          </a:p>
          <a:p>
            <a:pPr marL="0" indent="0">
              <a:buNone/>
            </a:pPr>
            <a:r>
              <a:rPr lang="zh-CN" altLang="en-US" dirty="0"/>
              <a:t>        if row['性别'] == '男':     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		       </a:t>
            </a:r>
            <a:r>
              <a:rPr lang="zh-CN" altLang="en-US" dirty="0"/>
              <a:t># 判断字段的值</a:t>
            </a:r>
          </a:p>
          <a:p>
            <a:pPr marL="0" indent="0">
              <a:buNone/>
            </a:pPr>
            <a:r>
              <a:rPr lang="zh-CN" altLang="en-US" dirty="0"/>
              <a:t>            for field in row.values():</a:t>
            </a:r>
          </a:p>
          <a:p>
            <a:pPr marL="0" indent="0">
              <a:buNone/>
            </a:pPr>
            <a:r>
              <a:rPr lang="zh-CN" altLang="en-US" dirty="0"/>
              <a:t>                print(field, end=' ')</a:t>
            </a:r>
          </a:p>
          <a:p>
            <a:pPr marL="0" indent="0">
              <a:buNone/>
            </a:pPr>
            <a:r>
              <a:rPr lang="zh-CN" altLang="en-US" dirty="0"/>
              <a:t>            print()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448040" y="3010535"/>
            <a:ext cx="3426460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====</a:t>
            </a:r>
          </a:p>
          <a:p>
            <a:r>
              <a:rPr lang="zh-CN" altLang="en-US" sz="2000" b="1" dirty="0"/>
              <a:t>运行结果：</a:t>
            </a:r>
          </a:p>
          <a:p>
            <a:r>
              <a:rPr lang="zh-CN" altLang="en-US" sz="2000" b="1" dirty="0"/>
              <a:t>1201 张三 21 男 计算机学院 </a:t>
            </a:r>
          </a:p>
          <a:p>
            <a:r>
              <a:rPr lang="zh-CN" altLang="en-US" sz="2000" b="1" dirty="0"/>
              <a:t>1410 赵六 21 男 体育学院 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2F0FFFF-D33A-4376-8299-7DE230D68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45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10.4.3 </a:t>
            </a:r>
            <a:r>
              <a:t>写入</a:t>
            </a:r>
            <a:r>
              <a:rPr lang="en-US" altLang="zh-CN"/>
              <a:t>CSV</a:t>
            </a:r>
            <a:r>
              <a:t>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常用的</a:t>
            </a:r>
            <a:r>
              <a:rPr lang="en-US" altLang="zh-CN"/>
              <a:t>2</a:t>
            </a:r>
            <a:r>
              <a:t>种用法</a:t>
            </a:r>
          </a:p>
          <a:p>
            <a:pPr lvl="1"/>
            <a:r>
              <a:rPr>
                <a:sym typeface="+mn-ea"/>
              </a:rPr>
              <a:t>利用</a:t>
            </a:r>
            <a:r>
              <a:rPr lang="en-US" altLang="zh-CN">
                <a:sym typeface="+mn-ea"/>
              </a:rPr>
              <a:t>csv.writer</a:t>
            </a:r>
            <a:r>
              <a:rPr>
                <a:sym typeface="+mn-ea"/>
              </a:rPr>
              <a:t>对象</a:t>
            </a:r>
            <a:endParaRPr lang="zh-CN" altLang="en-US"/>
          </a:p>
          <a:p>
            <a:pPr lvl="1"/>
            <a:r>
              <a:rPr>
                <a:sym typeface="+mn-ea"/>
              </a:rPr>
              <a:t>利用</a:t>
            </a:r>
            <a:r>
              <a:rPr lang="en-US" altLang="zh-CN">
                <a:sym typeface="+mn-ea"/>
              </a:rPr>
              <a:t>csv.DictWriter</a:t>
            </a:r>
            <a:r>
              <a:rPr>
                <a:sym typeface="+mn-ea"/>
              </a:rPr>
              <a:t>对象</a:t>
            </a:r>
            <a:r>
              <a:rPr lang="en-US" altLang="zh-CN">
                <a:sym typeface="+mn-ea"/>
              </a:rPr>
              <a:t>*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4222C7-0FD0-4529-AB70-A274DB7B8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46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 csv.writer对象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语法</a:t>
            </a:r>
            <a:r>
              <a:rPr dirty="0"/>
              <a:t>：</a:t>
            </a:r>
          </a:p>
          <a:p>
            <a:pPr marL="457200" lvl="1" indent="0">
              <a:buNone/>
            </a:pPr>
            <a:r>
              <a:rPr dirty="0" err="1"/>
              <a:t>csv.writer</a:t>
            </a:r>
            <a:r>
              <a:rPr dirty="0"/>
              <a:t>(</a:t>
            </a:r>
            <a:r>
              <a:rPr dirty="0" err="1"/>
              <a:t>csvfile</a:t>
            </a:r>
            <a:r>
              <a:rPr dirty="0"/>
              <a:t>, dialect='excel', **</a:t>
            </a:r>
            <a:r>
              <a:rPr dirty="0" err="1"/>
              <a:t>fmtparams</a:t>
            </a:r>
            <a:r>
              <a:rPr dirty="0"/>
              <a:t>)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zh-CN" altLang="en-US" dirty="0"/>
              <a:t>后</a:t>
            </a:r>
            <a:r>
              <a:rPr lang="en-US" altLang="zh-CN" dirty="0"/>
              <a:t>2</a:t>
            </a:r>
            <a:r>
              <a:rPr lang="zh-CN" altLang="en-US" dirty="0"/>
              <a:t>个参数经常省略</a:t>
            </a:r>
            <a:endParaRPr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28CE7723-9ED6-45E3-8F8C-402030074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47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用</a:t>
            </a:r>
            <a:r>
              <a:rPr lang="en-US" altLang="zh-CN"/>
              <a:t>writer</a:t>
            </a:r>
            <a:r>
              <a:t>对象写入数据的常用方法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使用</a:t>
            </a:r>
            <a:r>
              <a:rPr lang="en-US" altLang="zh-CN"/>
              <a:t>writerow()</a:t>
            </a:r>
            <a:r>
              <a:t>方法</a:t>
            </a:r>
          </a:p>
          <a:p>
            <a:pPr marL="457200" lvl="1" indent="0">
              <a:buNone/>
            </a:pPr>
            <a:r>
              <a:t>一次写入一行</a:t>
            </a:r>
          </a:p>
          <a:p>
            <a:r>
              <a:t>使用writerows()方法</a:t>
            </a:r>
          </a:p>
          <a:p>
            <a:pPr marL="457200" lvl="1" indent="0">
              <a:buNone/>
            </a:pPr>
            <a:r>
              <a:t>一次写入多行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3E9A75-ECB7-4758-AAD1-438029639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48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443230"/>
            <a:ext cx="10852150" cy="1153795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例</a:t>
            </a:r>
            <a:r>
              <a:rPr lang="en-US" altLang="zh-CN"/>
              <a:t>10-2 利用csv.writer对象，将学生信息按</a:t>
            </a:r>
            <a:r>
              <a:rPr lang="en-US" altLang="zh-CN">
                <a:solidFill>
                  <a:srgbClr val="FF0000"/>
                </a:solidFill>
              </a:rPr>
              <a:t>一次一行</a:t>
            </a:r>
            <a:r>
              <a:rPr lang="en-US" altLang="zh-CN"/>
              <a:t>的方式写入student.csv文件中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737995"/>
            <a:ext cx="9746555" cy="4603115"/>
          </a:xfrm>
          <a:noFill/>
        </p:spPr>
        <p:txBody>
          <a:bodyPr>
            <a:normAutofit fontScale="82500" lnSpcReduction="10000"/>
          </a:bodyPr>
          <a:lstStyle/>
          <a:p>
            <a:pPr marL="0" indent="0">
              <a:buNone/>
            </a:pPr>
            <a:r>
              <a:rPr lang="zh-CN" altLang="en-US" dirty="0"/>
              <a:t>import csv</a:t>
            </a:r>
          </a:p>
          <a:p>
            <a:pPr marL="0" indent="0">
              <a:buNone/>
            </a:pPr>
            <a:r>
              <a:rPr lang="zh-CN" altLang="en-US" dirty="0"/>
              <a:t>with open("student.csv", 'w', newline="") as f: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# </a:t>
            </a:r>
            <a:r>
              <a:rPr lang="zh-CN" altLang="en-US" sz="3200" dirty="0"/>
              <a:t>缺省</a:t>
            </a:r>
            <a:r>
              <a:rPr lang="en-US" altLang="zh-CN" sz="3200" dirty="0"/>
              <a:t>newline</a:t>
            </a:r>
            <a:r>
              <a:rPr lang="zh-CN" altLang="en-US" sz="3200" dirty="0"/>
              <a:t>参数，将每行后面有个空行</a:t>
            </a:r>
          </a:p>
          <a:p>
            <a:pPr marL="0" indent="0">
              <a:buNone/>
            </a:pPr>
            <a:r>
              <a:rPr lang="zh-CN" altLang="en-US" dirty="0"/>
              <a:t>    writer = csv.writer(f)</a:t>
            </a:r>
          </a:p>
          <a:p>
            <a:pPr marL="0" indent="0">
              <a:buNone/>
            </a:pPr>
            <a:r>
              <a:rPr lang="zh-CN" altLang="en-US" dirty="0"/>
              <a:t>    writer.writerow(['学号', '姓名', '年龄', '性别’])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     # </a:t>
            </a:r>
            <a:r>
              <a:rPr lang="zh-CN" altLang="en-US" sz="3200" dirty="0"/>
              <a:t>一行数据作为一个列表，一行行写入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writer.writerow(['1101', '张三', 20, '男'])</a:t>
            </a:r>
          </a:p>
          <a:p>
            <a:pPr marL="0" indent="0">
              <a:buNone/>
            </a:pPr>
            <a:r>
              <a:rPr lang="zh-CN" altLang="en-US" dirty="0"/>
              <a:t>    writer.writerow(['1102', '李四', 19, '女'])</a:t>
            </a:r>
          </a:p>
          <a:p>
            <a:pPr marL="0" indent="0">
              <a:buNone/>
            </a:pPr>
            <a:r>
              <a:rPr lang="zh-CN" altLang="en-US" dirty="0"/>
              <a:t>    writer.writerow(['1103', '王五', 20, '女'])</a:t>
            </a:r>
          </a:p>
          <a:p>
            <a:pPr marL="0" indent="0">
              <a:buNone/>
            </a:pPr>
            <a:r>
              <a:rPr lang="zh-CN" altLang="en-US" dirty="0"/>
              <a:t>print("文件已写完！")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5D88F3E3-A799-48EC-A0C0-512FF2B02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49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443230"/>
            <a:ext cx="10852150" cy="1168400"/>
          </a:xfrm>
        </p:spPr>
        <p:txBody>
          <a:bodyPr>
            <a:noAutofit/>
          </a:bodyPr>
          <a:lstStyle/>
          <a:p>
            <a:r>
              <a:rPr lang="zh-CN" altLang="en-US" sz="4000" dirty="0"/>
              <a:t>例</a:t>
            </a:r>
            <a:r>
              <a:rPr lang="en-US" altLang="zh-CN" sz="4000" dirty="0"/>
              <a:t>10-3 </a:t>
            </a:r>
            <a:r>
              <a:rPr lang="zh-CN" altLang="en-US" sz="4000" dirty="0"/>
              <a:t>要求同</a:t>
            </a:r>
            <a:r>
              <a:rPr lang="en-US" altLang="zh-CN" sz="4000" dirty="0"/>
              <a:t>10-2</a:t>
            </a:r>
            <a:r>
              <a:rPr lang="zh-CN" altLang="en-US" sz="4000" dirty="0"/>
              <a:t>，一次写一行，</a:t>
            </a:r>
            <a:r>
              <a:rPr lang="en-US" altLang="zh-CN" sz="4000" dirty="0" err="1"/>
              <a:t>另一种方法</a:t>
            </a:r>
            <a:endParaRPr lang="en-US" altLang="zh-CN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4" y="1484630"/>
            <a:ext cx="10322619" cy="5292725"/>
          </a:xfrm>
          <a:noFill/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2400" dirty="0"/>
              <a:t>import csv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2400" dirty="0"/>
              <a:t># </a:t>
            </a:r>
            <a:r>
              <a:rPr lang="zh-CN" altLang="en-US" sz="2400" dirty="0"/>
              <a:t>每行内容作为一个列表，放在一个更大的列表中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2400" dirty="0"/>
              <a:t>data = [['学号', '姓名', '年龄', '性别'],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2400" dirty="0"/>
              <a:t>      ['1101', '张三', 20, '男'],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2400" dirty="0"/>
              <a:t>      ['1102', '李四', 19, '女'],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2400" dirty="0"/>
              <a:t>      ['1103', '王五', 20, '女’]]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2400" dirty="0"/>
              <a:t>with open("student.csv", 'w', newline="") as f: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2400" dirty="0"/>
              <a:t>    writer = csv.writer(f)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2400" dirty="0"/>
              <a:t>    for row in data: </a:t>
            </a:r>
            <a:r>
              <a:rPr lang="en-US" altLang="zh-CN" sz="2400" dirty="0"/>
              <a:t>	# </a:t>
            </a:r>
            <a:r>
              <a:rPr lang="zh-CN" altLang="en-US" sz="2400" dirty="0"/>
              <a:t>遍历列表，写入文件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2400" dirty="0"/>
              <a:t>        writer.writerow(row)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2400" dirty="0"/>
              <a:t>print("文件已写完！")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70D62D-12E4-4713-B7EB-DE6137B6F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50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443230"/>
            <a:ext cx="10852150" cy="1111250"/>
          </a:xfrm>
        </p:spPr>
        <p:txBody>
          <a:bodyPr>
            <a:noAutofit/>
          </a:bodyPr>
          <a:lstStyle/>
          <a:p>
            <a:r>
              <a:rPr lang="zh-CN" altLang="en-US" sz="4000" dirty="0"/>
              <a:t>例</a:t>
            </a:r>
            <a:r>
              <a:rPr lang="en-US" altLang="zh-CN" sz="4000" dirty="0"/>
              <a:t>10-4 </a:t>
            </a:r>
            <a:r>
              <a:rPr lang="en-US" altLang="zh-CN" sz="4000" dirty="0" err="1"/>
              <a:t>利用csv.writer对象，将学生信息</a:t>
            </a:r>
            <a:r>
              <a:rPr lang="en-US" altLang="zh-CN" sz="4000" dirty="0" err="1">
                <a:solidFill>
                  <a:srgbClr val="FF0000"/>
                </a:solidFill>
              </a:rPr>
              <a:t>一次性</a:t>
            </a:r>
            <a:r>
              <a:rPr lang="en-US" altLang="zh-CN" sz="4000" dirty="0" err="1"/>
              <a:t>写入student.csv文件中</a:t>
            </a:r>
            <a:endParaRPr lang="en-US" altLang="zh-CN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654175"/>
            <a:ext cx="6831330" cy="4686935"/>
          </a:xfrm>
          <a:noFill/>
        </p:spPr>
        <p:txBody>
          <a:bodyPr>
            <a:normAutofit fontScale="9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/>
              <a:t>import csv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/>
              <a:t>data = [['学号', '姓名', '年龄', '性别'],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/>
              <a:t>        ['1101', '张三', 20, '男'],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/>
              <a:t>        ['1102', '李四', 19, '女'],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/>
              <a:t>        ['1103', '王五', 20, '女']]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/>
              <a:t>with open("student.csv", 'w', newline="") as f: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/>
              <a:t>    writer = csv.writer(f)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/>
              <a:t>    writer.writerows(data)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/>
              <a:t>print("文件已写完！")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6E1E4A9-12ED-4949-9FB4-7AC8B91D9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51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 csv.DictWriter对象 *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语法：</a:t>
            </a:r>
          </a:p>
          <a:p>
            <a:pPr marL="457200" lvl="1" indent="0">
              <a:buNone/>
            </a:pPr>
            <a:r>
              <a:rPr lang="zh-CN" altLang="en-US" dirty="0"/>
              <a:t>csv.DictWriter(f, fieldnames, restval='', extrasaction='raise', dialect='excel', *args, **kwds)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sz="3200" dirty="0"/>
              <a:t>fieldname</a:t>
            </a:r>
            <a:r>
              <a:rPr lang="zh-CN" altLang="en-US" sz="3200" dirty="0"/>
              <a:t>是必选项，存放字段名的序列</a:t>
            </a:r>
            <a:endParaRPr lang="en-US" altLang="zh-CN" sz="3200" dirty="0"/>
          </a:p>
          <a:p>
            <a:pPr marL="457200" lvl="1" indent="0">
              <a:buNone/>
            </a:pPr>
            <a:r>
              <a:rPr lang="zh-CN" altLang="en-US" sz="3200" dirty="0"/>
              <a:t>写入数据前，首先需要构造表示标题行的列表，以及存储数据的字典</a:t>
            </a:r>
          </a:p>
          <a:p>
            <a:pPr marL="457200" lvl="1" indent="0">
              <a:buNone/>
            </a:pPr>
            <a:endParaRPr lang="zh-CN" altLang="en-US" sz="3200" dirty="0"/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20748F-2768-4AB4-8EAA-360399C90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3352" y="146050"/>
            <a:ext cx="10852150" cy="1238885"/>
          </a:xfrm>
        </p:spPr>
        <p:txBody>
          <a:bodyPr>
            <a:noAutofit/>
          </a:bodyPr>
          <a:lstStyle/>
          <a:p>
            <a:r>
              <a:rPr lang="zh-CN" altLang="en-US" sz="4000" dirty="0"/>
              <a:t>例</a:t>
            </a:r>
            <a:r>
              <a:rPr lang="en-US" altLang="zh-CN" sz="4000" dirty="0"/>
              <a:t>10-5 </a:t>
            </a:r>
            <a:r>
              <a:rPr lang="en-US" altLang="zh-CN" sz="4000" dirty="0" err="1"/>
              <a:t>利用csv.DictWriter对象，将学生信息写入student.csv文件中</a:t>
            </a:r>
            <a:endParaRPr lang="en-US" altLang="zh-CN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6" y="1457325"/>
            <a:ext cx="10852150" cy="5264785"/>
          </a:xfrm>
          <a:noFill/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2400" dirty="0"/>
              <a:t>import csv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2400" dirty="0"/>
              <a:t>header = ['学号', '姓名', '年龄', '性别']      # 标题行内容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2400" dirty="0"/>
              <a:t>data = [{'学号': '1101', '姓名': '张三', '年龄': 20, '性别': '男'},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2400" dirty="0"/>
              <a:t>        {'学号': '1102', '姓名': '李四', '年龄': 19, '性别': '女'},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2400" dirty="0"/>
              <a:t>        {'学号': '1103', '姓名': '王五', '年龄': 20, '性别': '女'}]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2400" dirty="0"/>
              <a:t>with open("student.csv", 'w', newline="") as f: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2400" dirty="0"/>
              <a:t>    writer = csv.DictWriter(f, header)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2400" dirty="0"/>
              <a:t>    writer.writeheader()   </a:t>
            </a:r>
            <a:r>
              <a:rPr lang="en-US" altLang="zh-CN" sz="2400" dirty="0"/>
              <a:t># </a:t>
            </a:r>
            <a:r>
              <a:rPr lang="zh-CN" altLang="en-US" sz="2400" dirty="0"/>
              <a:t>写标题行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2400" dirty="0"/>
              <a:t>    writer.writerows(data) </a:t>
            </a:r>
            <a:r>
              <a:rPr lang="en-US" altLang="zh-CN" sz="2400" dirty="0"/>
              <a:t># </a:t>
            </a:r>
            <a:r>
              <a:rPr lang="zh-CN" altLang="en-US" sz="2400" dirty="0"/>
              <a:t>写数据行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2400" dirty="0"/>
              <a:t>print("文件已写完！")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6F0201E0-CEF4-4362-A66F-EB2344985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53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10.5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文件内的移动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BC755F2-E125-4DDD-8CF9-0F656FA8F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54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文件指针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67409" y="1461770"/>
            <a:ext cx="648072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文件指针是一个指针变量，指示文件的当前读写位置，</a:t>
            </a:r>
          </a:p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正常情况下文件指针随着读写记录而自动后移</a:t>
            </a:r>
          </a:p>
          <a:p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但是也可以人为干预文件指针的位置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3C11485-C1AF-4063-84FE-FE9FF6D9D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55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AF76FE1-D38F-401E-868D-D5CCA527B9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5321" y="1196752"/>
            <a:ext cx="4503810" cy="34674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 </a:t>
            </a:r>
            <a:r>
              <a:t>移动文件指针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强行移动指针</a:t>
            </a:r>
          </a:p>
          <a:p>
            <a:pPr marL="457200" lvl="1" indent="0">
              <a:buNone/>
            </a:pPr>
            <a:r>
              <a:rPr lang="zh-CN" altLang="en-US" dirty="0"/>
              <a:t>文件对象.seek(offset, whence=0)</a:t>
            </a:r>
          </a:p>
        </p:txBody>
      </p:sp>
      <p:sp>
        <p:nvSpPr>
          <p:cNvPr id="4" name="线形标注 1 3"/>
          <p:cNvSpPr/>
          <p:nvPr/>
        </p:nvSpPr>
        <p:spPr>
          <a:xfrm>
            <a:off x="1264920" y="2780929"/>
            <a:ext cx="10807744" cy="3240360"/>
          </a:xfrm>
          <a:prstGeom prst="borderCallout1">
            <a:avLst>
              <a:gd name="adj1" fmla="val 663"/>
              <a:gd name="adj2" fmla="val 47058"/>
              <a:gd name="adj3" fmla="val -7175"/>
              <a:gd name="adj4" fmla="val 5311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b="1" dirty="0"/>
              <a:t>offset</a:t>
            </a:r>
            <a:r>
              <a:rPr lang="zh-CN" altLang="en-US" sz="2800" b="1" dirty="0"/>
              <a:t>移动的字节数：</a:t>
            </a:r>
          </a:p>
          <a:p>
            <a:r>
              <a:rPr lang="en-US" altLang="zh-CN" sz="2800" b="1" dirty="0"/>
              <a:t>	</a:t>
            </a:r>
            <a:r>
              <a:rPr lang="zh-CN" altLang="en-US" sz="2800" b="1" dirty="0"/>
              <a:t>正数向右，负数往左</a:t>
            </a:r>
            <a:endParaRPr lang="en-US" altLang="zh-CN" sz="2800" b="1" dirty="0"/>
          </a:p>
          <a:p>
            <a:r>
              <a:rPr lang="en-US" altLang="zh-CN" sz="2800" b="1" dirty="0"/>
              <a:t>	</a:t>
            </a:r>
            <a:r>
              <a:rPr lang="zh-CN" altLang="en-US" sz="2800" b="1" dirty="0"/>
              <a:t>这两种取值只用于二进制文件</a:t>
            </a:r>
          </a:p>
          <a:p>
            <a:r>
              <a:rPr lang="en-US" altLang="zh-CN" sz="2800" b="1" dirty="0"/>
              <a:t>W</a:t>
            </a:r>
            <a:r>
              <a:rPr lang="zh-CN" altLang="en-US" sz="2800" b="1" dirty="0"/>
              <a:t>hence是可选参数，指示从何处开始算起：</a:t>
            </a:r>
          </a:p>
          <a:p>
            <a:r>
              <a:rPr lang="en-US" altLang="zh-CN" sz="2800" b="1" dirty="0"/>
              <a:t>	0</a:t>
            </a:r>
            <a:r>
              <a:rPr lang="zh-CN" altLang="en-US" sz="2800" b="1" dirty="0"/>
              <a:t>：从文件头开始；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：从当前位置算； 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：从文件尾开始</a:t>
            </a:r>
            <a:endParaRPr lang="en-US" altLang="zh-CN" sz="2800" b="1" dirty="0"/>
          </a:p>
          <a:p>
            <a:r>
              <a:rPr lang="en-US" altLang="zh-CN" sz="2800" b="1" dirty="0"/>
              <a:t>	</a:t>
            </a:r>
            <a:r>
              <a:rPr lang="zh-CN" altLang="en-US" sz="2800" b="1" dirty="0"/>
              <a:t>默认是</a:t>
            </a:r>
            <a:r>
              <a:rPr lang="en-US" altLang="zh-CN" sz="2800" b="1" dirty="0"/>
              <a:t>0</a:t>
            </a:r>
            <a:endParaRPr lang="zh-CN" altLang="en-US" sz="2800" b="1" dirty="0"/>
          </a:p>
          <a:p>
            <a:endParaRPr lang="zh-CN" altLang="en-US" sz="2800" b="1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02BA76CA-FAE1-4E51-A913-029326731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56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seek()方法的使用示例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10852150" cy="4208780"/>
          </a:xfrm>
          <a:noFill/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f = open("example.txt", "w+")</a:t>
            </a:r>
          </a:p>
          <a:p>
            <a:pPr marL="0" indent="0">
              <a:buNone/>
            </a:pPr>
            <a:r>
              <a:rPr lang="zh-CN" altLang="en-US" dirty="0"/>
              <a:t>f.write("1234567890ABCDEFGHIJKLMNOPQRSTUVWXYZ")</a:t>
            </a:r>
          </a:p>
          <a:p>
            <a:pPr marL="0" indent="0">
              <a:buNone/>
            </a:pPr>
            <a:r>
              <a:rPr lang="zh-CN" altLang="en-US" dirty="0"/>
              <a:t>f.seek(0)          # 跳到文件头</a:t>
            </a:r>
          </a:p>
          <a:p>
            <a:pPr marL="0" indent="0">
              <a:buNone/>
            </a:pPr>
            <a:r>
              <a:rPr lang="zh-CN" altLang="en-US" dirty="0"/>
              <a:t>s = f.read(10)   # 读取10个字符</a:t>
            </a:r>
          </a:p>
          <a:p>
            <a:pPr marL="0" indent="0">
              <a:buNone/>
            </a:pPr>
            <a:r>
              <a:rPr lang="zh-CN" altLang="en-US" dirty="0"/>
              <a:t>print(s)</a:t>
            </a:r>
          </a:p>
          <a:p>
            <a:pPr marL="0" indent="0">
              <a:buNone/>
            </a:pPr>
            <a:r>
              <a:rPr lang="zh-CN" altLang="en-US" dirty="0"/>
              <a:t>f.close()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67408" y="4908277"/>
            <a:ext cx="3604200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====</a:t>
            </a:r>
          </a:p>
          <a:p>
            <a:r>
              <a:rPr lang="zh-CN" altLang="en-US" sz="2800" dirty="0"/>
              <a:t>1234567890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D3D9051-3117-4B5F-897C-12C4CA38F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57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 </a:t>
            </a:r>
            <a:r>
              <a:t>获取文件指针的位置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tell()</a:t>
            </a:r>
            <a:r>
              <a:rPr dirty="0" err="1"/>
              <a:t>方法</a:t>
            </a:r>
            <a:endParaRPr dirty="0"/>
          </a:p>
          <a:p>
            <a:pPr marL="457200" lvl="1" indent="0">
              <a:buNone/>
            </a:pPr>
            <a:endParaRPr dirty="0"/>
          </a:p>
          <a:p>
            <a:pPr marL="914400" lvl="2" indent="0">
              <a:buNone/>
            </a:pPr>
            <a:r>
              <a:rPr dirty="0"/>
              <a:t>pos = </a:t>
            </a:r>
            <a:r>
              <a:rPr dirty="0" err="1"/>
              <a:t>文件对象.tell</a:t>
            </a:r>
            <a:r>
              <a:rPr dirty="0"/>
              <a:t>()</a:t>
            </a: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r>
              <a:rPr lang="zh-CN" altLang="en-US" sz="3200" dirty="0"/>
              <a:t>返回一个整数，表示当前的读写位置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38300B0-C74F-4583-93E4-39D4B441A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58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10-6 tell()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5915660" cy="5180965"/>
          </a:xfrm>
          <a:noFill/>
        </p:spPr>
        <p:txBody>
          <a:bodyPr>
            <a:normAutofit fontScale="72500" lnSpcReduction="2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zh-CN" altLang="en-US" dirty="0"/>
              <a:t>f = open("test.txt", "r")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dirty="0"/>
              <a:t>pos = f.tell()     # 获取当前文件位置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dirty="0"/>
              <a:t>print("打开文件时的初始位置：", pos)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dirty="0"/>
              <a:t>s1 = f.read(1)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dirty="0"/>
              <a:t>pos = f.tell()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dirty="0"/>
              <a:t>print("读完1个字符后的位置：", pos)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dirty="0"/>
              <a:t>s2 = f.readline()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dirty="0"/>
              <a:t>print("读取的数据为：", s2)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dirty="0"/>
              <a:t>print("已读取的长度为：", len(s1 + s2))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dirty="0"/>
              <a:t>pos = f.tell()     # 再次获取当前位置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dirty="0"/>
              <a:t>print("当前位置：", pos)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dirty="0"/>
              <a:t>f.close()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430135" y="638175"/>
            <a:ext cx="34912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假定文件中的内容：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952524" y="1405182"/>
            <a:ext cx="3573145" cy="953135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Hello Python!</a:t>
            </a:r>
          </a:p>
          <a:p>
            <a:r>
              <a:rPr lang="zh-CN" altLang="en-US" sz="2800" dirty="0"/>
              <a:t>Yes, I like Python.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494270" y="2504440"/>
            <a:ext cx="3427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运行结果：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981414" y="3013284"/>
            <a:ext cx="5151765" cy="3108543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====</a:t>
            </a:r>
          </a:p>
          <a:p>
            <a:r>
              <a:rPr lang="zh-CN" altLang="en-US" sz="2800" dirty="0"/>
              <a:t>打开文件时的初始位置： 0</a:t>
            </a:r>
          </a:p>
          <a:p>
            <a:r>
              <a:rPr lang="zh-CN" altLang="en-US" sz="2800" dirty="0"/>
              <a:t>读完1个字符后的位置： 1</a:t>
            </a:r>
          </a:p>
          <a:p>
            <a:r>
              <a:rPr lang="zh-CN" altLang="en-US" sz="2800" dirty="0"/>
              <a:t>读取的数据为： ello Python!</a:t>
            </a:r>
          </a:p>
          <a:p>
            <a:endParaRPr lang="zh-CN" altLang="en-US" sz="2800" dirty="0"/>
          </a:p>
          <a:p>
            <a:r>
              <a:rPr lang="zh-CN" altLang="en-US" sz="2800" dirty="0"/>
              <a:t>已读取的长度为： 14</a:t>
            </a:r>
          </a:p>
          <a:p>
            <a:r>
              <a:rPr lang="zh-CN" altLang="en-US" sz="2800" dirty="0"/>
              <a:t>当前位置： 15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42F0D024-C057-4433-937A-BD1DBF2DE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59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413510" y="2292350"/>
            <a:ext cx="9563100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10.6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二进制文件的读写</a:t>
            </a:r>
            <a:r>
              <a:rPr lang="en-US" altLang="zh-CN" kern="1200" dirty="0">
                <a:latin typeface="+mj-lt"/>
                <a:ea typeface="+mj-ea"/>
                <a:cs typeface="+mj-cs"/>
              </a:rPr>
              <a:t>*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ECF613A-25A6-45DF-BFD6-A9080E484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60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二进制文件的特点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由一串</a:t>
            </a:r>
            <a:r>
              <a:rPr lang="en-US" altLang="zh-CN"/>
              <a:t>0</a:t>
            </a:r>
            <a:r>
              <a:t>、</a:t>
            </a:r>
            <a:r>
              <a:rPr lang="en-US" altLang="zh-CN"/>
              <a:t>1</a:t>
            </a:r>
            <a:r>
              <a:t>编码组成</a:t>
            </a:r>
          </a:p>
          <a:p>
            <a:pPr marL="457200" lvl="1" indent="0">
              <a:buNone/>
            </a:pPr>
            <a:r>
              <a:rPr lang="en-US" altLang="zh-CN"/>
              <a:t>01001011011100101101.....</a:t>
            </a:r>
          </a:p>
          <a:p>
            <a:r>
              <a:t>需要用专门的软件打开和阅读</a:t>
            </a:r>
          </a:p>
          <a:p>
            <a:pPr marL="457200" lvl="1" indent="0">
              <a:buNone/>
            </a:pPr>
            <a:r>
              <a:rPr>
                <a:solidFill>
                  <a:srgbClr val="FF0000"/>
                </a:solidFill>
              </a:rPr>
              <a:t>如果用记事本打开，看到的都是乱码</a:t>
            </a:r>
          </a:p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3750C9-0E77-4DEC-811E-1E0149C00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61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二进制文件的读写特点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err="1">
                <a:sym typeface="+mn-ea"/>
              </a:rPr>
              <a:t>读写时需要</a:t>
            </a:r>
            <a:r>
              <a:rPr lang="en-US" altLang="zh-CN" dirty="0" err="1">
                <a:sym typeface="+mn-ea"/>
              </a:rPr>
              <a:t>“</a:t>
            </a:r>
            <a:r>
              <a:rPr dirty="0" err="1">
                <a:sym typeface="+mn-ea"/>
              </a:rPr>
              <a:t>序列化</a:t>
            </a:r>
            <a:r>
              <a:rPr lang="en-US" altLang="zh-CN" dirty="0" err="1">
                <a:sym typeface="+mn-ea"/>
              </a:rPr>
              <a:t>”</a:t>
            </a:r>
            <a:r>
              <a:rPr dirty="0" err="1">
                <a:sym typeface="+mn-ea"/>
              </a:rPr>
              <a:t>和</a:t>
            </a:r>
            <a:r>
              <a:rPr lang="en-US" altLang="zh-CN" dirty="0" err="1">
                <a:sym typeface="+mn-ea"/>
              </a:rPr>
              <a:t>“</a:t>
            </a:r>
            <a:r>
              <a:rPr dirty="0" err="1">
                <a:sym typeface="+mn-ea"/>
              </a:rPr>
              <a:t>反序列化</a:t>
            </a:r>
            <a:r>
              <a:rPr lang="en-US" altLang="zh-CN" dirty="0">
                <a:sym typeface="+mn-ea"/>
              </a:rPr>
              <a:t>”</a:t>
            </a:r>
          </a:p>
          <a:p>
            <a:pPr marL="0" indent="0" algn="just">
              <a:buNone/>
            </a:pPr>
            <a:endParaRPr lang="en-US" altLang="zh-CN" sz="3200" dirty="0">
              <a:sym typeface="+mn-ea"/>
            </a:endParaRPr>
          </a:p>
          <a:p>
            <a:pPr marL="0" indent="0" algn="just">
              <a:buNone/>
            </a:pPr>
            <a:r>
              <a:rPr lang="zh-CN" altLang="en-US" dirty="0">
                <a:sym typeface="+mn-ea"/>
              </a:rPr>
              <a:t>例如，</a:t>
            </a:r>
            <a:r>
              <a:rPr lang="en-US" altLang="zh-CN" sz="3200" dirty="0">
                <a:sym typeface="+mn-ea"/>
              </a:rPr>
              <a:t>1</a:t>
            </a:r>
            <a:r>
              <a:rPr lang="zh-CN" altLang="en-US" sz="3200" dirty="0">
                <a:sym typeface="+mn-ea"/>
              </a:rPr>
              <a:t>个单精度浮点数：</a:t>
            </a:r>
            <a:r>
              <a:rPr lang="en-US" altLang="zh-CN" sz="3200" dirty="0">
                <a:sym typeface="+mn-ea"/>
              </a:rPr>
              <a:t>4</a:t>
            </a:r>
            <a:r>
              <a:rPr lang="zh-CN" altLang="en-US" sz="3200" dirty="0">
                <a:sym typeface="+mn-ea"/>
              </a:rPr>
              <a:t>个字节</a:t>
            </a:r>
          </a:p>
          <a:p>
            <a:pPr marL="0" indent="0" algn="just">
              <a:buNone/>
            </a:pPr>
            <a:r>
              <a:rPr lang="zh-CN" altLang="en-US" sz="3200" dirty="0">
                <a:sym typeface="+mn-ea"/>
              </a:rPr>
              <a:t>反序列化</a:t>
            </a:r>
            <a:r>
              <a:rPr lang="en-US" altLang="zh-CN" sz="3200" dirty="0">
                <a:sym typeface="+mn-ea"/>
              </a:rPr>
              <a:t>——</a:t>
            </a:r>
            <a:r>
              <a:rPr lang="zh-CN" altLang="en-US" sz="3200" dirty="0">
                <a:sym typeface="+mn-ea"/>
              </a:rPr>
              <a:t>读：</a:t>
            </a:r>
            <a:r>
              <a:rPr lang="en-US" altLang="zh-CN" sz="3200" dirty="0">
                <a:sym typeface="+mn-ea"/>
              </a:rPr>
              <a:t>4</a:t>
            </a:r>
            <a:r>
              <a:rPr lang="zh-CN" altLang="en-US" sz="3200" dirty="0">
                <a:sym typeface="+mn-ea"/>
              </a:rPr>
              <a:t>个字节串拼起来合成一个数据</a:t>
            </a:r>
            <a:endParaRPr lang="zh-CN" altLang="en-US" sz="3200" dirty="0"/>
          </a:p>
          <a:p>
            <a:pPr marL="0" indent="0">
              <a:buNone/>
            </a:pPr>
            <a:r>
              <a:rPr lang="zh-CN" altLang="en-US" dirty="0">
                <a:sym typeface="+mn-ea"/>
              </a:rPr>
              <a:t>序列化</a:t>
            </a:r>
            <a:r>
              <a:rPr lang="en-US" altLang="zh-CN" dirty="0">
                <a:sym typeface="+mn-ea"/>
              </a:rPr>
              <a:t>——</a:t>
            </a:r>
            <a:r>
              <a:rPr lang="zh-CN" altLang="en-US" sz="3200" dirty="0">
                <a:sym typeface="+mn-ea"/>
              </a:rPr>
              <a:t>写：拆成</a:t>
            </a:r>
            <a:r>
              <a:rPr lang="en-US" altLang="zh-CN" sz="3200" dirty="0">
                <a:sym typeface="+mn-ea"/>
              </a:rPr>
              <a:t>4</a:t>
            </a:r>
            <a:r>
              <a:rPr lang="zh-CN" altLang="en-US" sz="3200" dirty="0">
                <a:sym typeface="+mn-ea"/>
              </a:rPr>
              <a:t>个字节串写入文件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sz="3200" dirty="0"/>
              <a:t>很多标准模块或第三方模块提供了序列化和反序列化功能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240C8D-7DEA-4240-B899-5896907D7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10.6.1 pickle模块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zh-CN" altLang="en-US" dirty="0"/>
              <a:t>序列化</a:t>
            </a:r>
          </a:p>
          <a:p>
            <a:pPr lvl="1"/>
            <a:r>
              <a:rPr lang="zh-CN" altLang="en-US" dirty="0"/>
              <a:t>语法：</a:t>
            </a:r>
          </a:p>
          <a:p>
            <a:pPr marL="457200" lvl="1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pickle.dump(obj, file, protocol=None)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0" indent="0" algn="just">
              <a:buNone/>
            </a:pPr>
            <a:r>
              <a:rPr lang="en-US" altLang="zh-CN" sz="3200" dirty="0"/>
              <a:t>Protocol</a:t>
            </a:r>
            <a:r>
              <a:rPr lang="zh-CN" altLang="en-US" dirty="0"/>
              <a:t>：</a:t>
            </a:r>
            <a:r>
              <a:rPr lang="zh-CN" altLang="en-US" sz="3200" dirty="0"/>
              <a:t>协议</a:t>
            </a:r>
            <a:endParaRPr lang="en-US" altLang="zh-CN" sz="3200" dirty="0"/>
          </a:p>
          <a:p>
            <a:pPr marL="0" indent="0" algn="just">
              <a:buNone/>
            </a:pPr>
            <a:r>
              <a:rPr lang="en-US" altLang="zh-CN" sz="3200" dirty="0"/>
              <a:t>	0</a:t>
            </a:r>
            <a:r>
              <a:rPr lang="zh-CN" altLang="en-US" sz="3200" dirty="0"/>
              <a:t>：使用ASCII协议</a:t>
            </a:r>
          </a:p>
          <a:p>
            <a:pPr marL="0" indent="0" algn="just">
              <a:buNone/>
            </a:pPr>
            <a:r>
              <a:rPr lang="en-US" altLang="zh-CN" sz="3200" dirty="0"/>
              <a:t>	1</a:t>
            </a:r>
            <a:r>
              <a:rPr lang="zh-CN" altLang="en-US" sz="3200" dirty="0"/>
              <a:t>：使用旧版二进制协议</a:t>
            </a:r>
          </a:p>
          <a:p>
            <a:pPr marL="0" indent="0" algn="just">
              <a:buNone/>
            </a:pPr>
            <a:r>
              <a:rPr lang="en-US" altLang="zh-CN" sz="3200" dirty="0"/>
              <a:t>	2</a:t>
            </a:r>
            <a:r>
              <a:rPr lang="zh-CN" altLang="en-US" sz="3200" dirty="0"/>
              <a:t>：Python2.3使用的二进制协议</a:t>
            </a:r>
          </a:p>
          <a:p>
            <a:pPr marL="0" indent="0" algn="just">
              <a:buNone/>
            </a:pPr>
            <a:r>
              <a:rPr lang="en-US" altLang="zh-CN" sz="3200" dirty="0"/>
              <a:t>	3</a:t>
            </a:r>
            <a:r>
              <a:rPr lang="zh-CN" altLang="en-US" sz="3200" dirty="0"/>
              <a:t>：Python3.0使用的二进制协议</a:t>
            </a:r>
          </a:p>
          <a:p>
            <a:pPr marL="0" indent="0" algn="just">
              <a:buNone/>
            </a:pPr>
            <a:r>
              <a:rPr lang="en-US" altLang="zh-CN" sz="3200" dirty="0"/>
              <a:t>	4</a:t>
            </a:r>
            <a:r>
              <a:rPr lang="zh-CN" altLang="en-US" sz="3200" dirty="0"/>
              <a:t>：Python3.4使用的二进制协议</a:t>
            </a:r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4" name="椭圆形标注 3"/>
          <p:cNvSpPr/>
          <p:nvPr/>
        </p:nvSpPr>
        <p:spPr>
          <a:xfrm>
            <a:off x="6530975" y="443230"/>
            <a:ext cx="2960370" cy="1223645"/>
          </a:xfrm>
          <a:prstGeom prst="wedgeEllipseCallout">
            <a:avLst>
              <a:gd name="adj1" fmla="val -120849"/>
              <a:gd name="adj2" fmla="val -2420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一个标准模块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27D8FF-EB1D-4608-8F45-850DBD929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63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443230"/>
            <a:ext cx="10852150" cy="1207770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例</a:t>
            </a:r>
            <a:r>
              <a:rPr lang="en-US" altLang="zh-CN"/>
              <a:t>10-7 使用pickle模块将各种数据保存到二进制文件data.dat中</a:t>
            </a:r>
            <a:r>
              <a:t>（</a:t>
            </a:r>
            <a:r>
              <a:rPr>
                <a:solidFill>
                  <a:srgbClr val="FF0000"/>
                </a:solidFill>
              </a:rPr>
              <a:t>写</a:t>
            </a:r>
            <a:r>
              <a:t>文件）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59074" y="1651000"/>
            <a:ext cx="8161461" cy="4595495"/>
          </a:xfrm>
          <a:noFill/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zh-CN" altLang="en-US" sz="2300" dirty="0"/>
              <a:t>import pickle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300" dirty="0"/>
              <a:t>a = [1, 2, 3]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300" dirty="0"/>
              <a:t>b = {"name": "John", "age": 38}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300" dirty="0"/>
              <a:t>c = {20, 30}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300" dirty="0"/>
              <a:t>f = open(“data.dat”, “wb”)   </a:t>
            </a:r>
            <a:r>
              <a:rPr lang="en-US" altLang="zh-CN" sz="2300" dirty="0"/>
              <a:t># </a:t>
            </a:r>
            <a:r>
              <a:rPr lang="en-US" altLang="zh-CN" sz="2300" dirty="0" err="1"/>
              <a:t>wb</a:t>
            </a:r>
            <a:r>
              <a:rPr lang="zh-CN" altLang="en-US" sz="2300" dirty="0"/>
              <a:t>写二进制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300" dirty="0"/>
              <a:t>pickle.dump(a, f)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300" dirty="0"/>
              <a:t>pickle.dump(b, f)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300" dirty="0"/>
              <a:t>pickle.dump(c, f)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300" dirty="0"/>
              <a:t>print("二进制文件已写完！")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300" dirty="0"/>
              <a:t>f.close()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5FE326A-2211-4043-899E-CB2CC415D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64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 </a:t>
            </a:r>
            <a:r>
              <a:t>反序列化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语法：</a:t>
            </a:r>
          </a:p>
          <a:p>
            <a:pPr marL="228600" lvl="2" indent="0">
              <a:buNone/>
            </a:pPr>
            <a:r>
              <a:rPr lang="en-US" altLang="zh-CN">
                <a:sym typeface="+mn-ea"/>
              </a:rPr>
              <a:t>	</a:t>
            </a:r>
            <a:r>
              <a:rPr>
                <a:sym typeface="+mn-ea"/>
              </a:rPr>
              <a:t>pickle.load(file)</a:t>
            </a:r>
            <a:endParaRPr lang="zh-CN" altLang="en-US"/>
          </a:p>
          <a:p>
            <a:r>
              <a:rPr lang="zh-CN" altLang="en-US"/>
              <a:t>例</a:t>
            </a:r>
            <a:r>
              <a:rPr lang="en-US" altLang="zh-CN"/>
              <a:t>10-8 使用pickle模块将data.dat文件中的数据</a:t>
            </a:r>
            <a:r>
              <a:rPr lang="en-US" altLang="zh-CN">
                <a:solidFill>
                  <a:srgbClr val="FF0000"/>
                </a:solidFill>
              </a:rPr>
              <a:t>读取</a:t>
            </a:r>
            <a:r>
              <a:rPr lang="en-US" altLang="zh-CN"/>
              <a:t>出来</a:t>
            </a:r>
          </a:p>
          <a:p>
            <a:pPr marL="457200" lvl="1" indent="0">
              <a:buNone/>
            </a:pP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839085" y="3213735"/>
            <a:ext cx="589661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import pickle</a:t>
            </a:r>
          </a:p>
          <a:p>
            <a:r>
              <a:rPr lang="zh-CN" altLang="en-US" sz="2400" dirty="0"/>
              <a:t>f = open("data.dat", "rb")</a:t>
            </a:r>
          </a:p>
          <a:p>
            <a:r>
              <a:rPr lang="zh-CN" altLang="en-US" sz="2400" dirty="0"/>
              <a:t>a = pickle.load(f)</a:t>
            </a:r>
          </a:p>
          <a:p>
            <a:r>
              <a:rPr lang="zh-CN" altLang="en-US" sz="2400" dirty="0"/>
              <a:t>print(a)</a:t>
            </a:r>
          </a:p>
          <a:p>
            <a:r>
              <a:rPr lang="zh-CN" altLang="en-US" sz="2400" dirty="0"/>
              <a:t>b = pickle.load(f)</a:t>
            </a:r>
          </a:p>
          <a:p>
            <a:r>
              <a:rPr lang="zh-CN" altLang="en-US" sz="2400" dirty="0"/>
              <a:t>print(b)</a:t>
            </a:r>
          </a:p>
          <a:p>
            <a:r>
              <a:rPr lang="zh-CN" altLang="en-US" sz="2400" dirty="0"/>
              <a:t>c = pickle.load(f)</a:t>
            </a:r>
          </a:p>
          <a:p>
            <a:r>
              <a:rPr lang="zh-CN" altLang="en-US" sz="2400" dirty="0"/>
              <a:t>print(c)</a:t>
            </a:r>
          </a:p>
          <a:p>
            <a:r>
              <a:rPr lang="zh-CN" altLang="en-US" sz="2400" dirty="0"/>
              <a:t>f.close()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5591810" y="3500755"/>
            <a:ext cx="575945" cy="64833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F236D5-0D3F-4E3F-857F-4842BF383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65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10.6.2 struct</a:t>
            </a:r>
            <a:r>
              <a:t>模块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struct</a:t>
            </a:r>
            <a:r>
              <a:t>模块是另一个可用于序列化和反序列化的模块</a:t>
            </a:r>
          </a:p>
          <a:p>
            <a:pPr lvl="1"/>
            <a:r>
              <a:t>struct模块中的序列化，</a:t>
            </a:r>
            <a:r>
              <a:rPr>
                <a:sym typeface="+mn-ea"/>
              </a:rPr>
              <a:t>只是把</a:t>
            </a:r>
            <a:r>
              <a:t>原始数据变成了字节串</a:t>
            </a:r>
          </a:p>
          <a:p>
            <a:pPr lvl="2"/>
            <a:r>
              <a:rPr>
                <a:sym typeface="+mn-ea"/>
              </a:rPr>
              <a:t>没有被真正写入文件，需要调用write()方法才能真正写入</a:t>
            </a:r>
          </a:p>
          <a:p>
            <a:pPr lvl="1"/>
            <a:r>
              <a:t>反序列化后要读出数据，也必须通过read()方法才能读出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FED051-6CB8-434A-9249-E902CFCF8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66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 pack()</a:t>
            </a:r>
            <a:r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作用</a:t>
            </a:r>
          </a:p>
          <a:p>
            <a:pPr marL="457200" lvl="1" indent="0">
              <a:buNone/>
            </a:pPr>
            <a:r>
              <a:rPr lang="zh-CN" altLang="en-US"/>
              <a:t>按指定格式将数据封装成字节流</a:t>
            </a:r>
          </a:p>
          <a:p>
            <a:r>
              <a:rPr lang="zh-CN" altLang="en-US"/>
              <a:t>语法</a:t>
            </a:r>
          </a:p>
          <a:p>
            <a:pPr marL="457200" lvl="1" indent="0">
              <a:buNone/>
            </a:pPr>
            <a:r>
              <a:rPr lang="zh-CN" altLang="en-US"/>
              <a:t>pack(fmt, v1,  v2,…)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2063115" y="3284855"/>
            <a:ext cx="720090" cy="50419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线形标注 1 4"/>
          <p:cNvSpPr/>
          <p:nvPr/>
        </p:nvSpPr>
        <p:spPr>
          <a:xfrm>
            <a:off x="2423160" y="4349115"/>
            <a:ext cx="1758315" cy="738505"/>
          </a:xfrm>
          <a:prstGeom prst="borderCallout1">
            <a:avLst>
              <a:gd name="adj1" fmla="val -601"/>
              <a:gd name="adj2" fmla="val 18671"/>
              <a:gd name="adj3" fmla="val -82631"/>
              <a:gd name="adj4" fmla="val 220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格式符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2927350" y="3212465"/>
            <a:ext cx="1728470" cy="64833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线形标注 1 6"/>
          <p:cNvSpPr/>
          <p:nvPr/>
        </p:nvSpPr>
        <p:spPr>
          <a:xfrm>
            <a:off x="5879465" y="2924810"/>
            <a:ext cx="2101850" cy="1007745"/>
          </a:xfrm>
          <a:prstGeom prst="borderCallout1">
            <a:avLst>
              <a:gd name="adj1" fmla="val 15626"/>
              <a:gd name="adj2" fmla="val 2205"/>
              <a:gd name="adj3" fmla="val 40201"/>
              <a:gd name="adj4" fmla="val -594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要封装的多个数据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15F559D9-FE72-40B2-9AE5-17B63ED17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67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struct模块封装数据的常用格式符</a:t>
            </a: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929958" y="1376045"/>
          <a:ext cx="10509250" cy="43256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3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7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97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格式符</a:t>
                      </a:r>
                      <a:endParaRPr lang="en-US" altLang="en-US" sz="28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对应数据类型</a:t>
                      </a:r>
                      <a:endParaRPr lang="en-US" altLang="en-US" sz="28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数据字节数</a:t>
                      </a:r>
                      <a:endParaRPr lang="en-US" altLang="en-US" sz="28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26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字符型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?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布尔型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h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短整型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整数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实数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实数（双精度）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字符串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取决于s前面的数字，例如6s代表封装为6个字节。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10F76BE-8424-456D-8382-580DE8A1B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68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443230"/>
            <a:ext cx="10852150" cy="1129030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例</a:t>
            </a:r>
            <a:r>
              <a:rPr lang="en-US" altLang="zh-CN"/>
              <a:t>10-9 将数据用struct模块中的pack()函数封装成字节流写入文件data.bin中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571625"/>
            <a:ext cx="8160385" cy="4769485"/>
          </a:xfrm>
          <a:noFill/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/>
              <a:t>import struct</a:t>
            </a:r>
          </a:p>
          <a:p>
            <a:pPr marL="0" indent="0">
              <a:buNone/>
            </a:pPr>
            <a:r>
              <a:rPr lang="zh-CN" altLang="en-US" dirty="0"/>
              <a:t>name = b"Holly"</a:t>
            </a:r>
          </a:p>
          <a:p>
            <a:pPr marL="0" indent="0">
              <a:buNone/>
            </a:pPr>
            <a:r>
              <a:rPr lang="zh-CN" altLang="en-US" dirty="0"/>
              <a:t>age = 40</a:t>
            </a:r>
          </a:p>
          <a:p>
            <a:pPr marL="0" indent="0">
              <a:buNone/>
            </a:pPr>
            <a:r>
              <a:rPr lang="zh-CN" altLang="en-US" dirty="0"/>
              <a:t>height = 105.5</a:t>
            </a:r>
          </a:p>
          <a:p>
            <a:pPr marL="0" indent="0">
              <a:buNone/>
            </a:pPr>
            <a:r>
              <a:rPr lang="zh-CN" altLang="en-US" dirty="0"/>
              <a:t>byte = struct.pack("5sif", name, age, height)</a:t>
            </a:r>
          </a:p>
          <a:p>
            <a:pPr marL="0" indent="0">
              <a:buNone/>
            </a:pPr>
            <a:r>
              <a:rPr lang="zh-CN" altLang="en-US" dirty="0"/>
              <a:t>with open("data.bin", "wb") as f:</a:t>
            </a:r>
          </a:p>
          <a:p>
            <a:pPr marL="0" indent="0">
              <a:buNone/>
            </a:pPr>
            <a:r>
              <a:rPr lang="zh-CN" altLang="en-US" dirty="0"/>
              <a:t>    f.write(byte)</a:t>
            </a:r>
          </a:p>
          <a:p>
            <a:pPr marL="0" indent="0">
              <a:buNone/>
            </a:pPr>
            <a:r>
              <a:rPr lang="zh-CN" altLang="en-US" dirty="0"/>
              <a:t>print("文件已写完！")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3935730" y="3860800"/>
            <a:ext cx="1007745" cy="79184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线形标注 1 4"/>
          <p:cNvSpPr/>
          <p:nvPr/>
        </p:nvSpPr>
        <p:spPr>
          <a:xfrm>
            <a:off x="6167755" y="1556385"/>
            <a:ext cx="3312160" cy="1728470"/>
          </a:xfrm>
          <a:prstGeom prst="borderCallout1">
            <a:avLst>
              <a:gd name="adj1" fmla="val 25165"/>
              <a:gd name="adj2" fmla="val -210"/>
              <a:gd name="adj3" fmla="val 131704"/>
              <a:gd name="adj4" fmla="val -435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2400"/>
              <a:t>5s</a:t>
            </a:r>
            <a:r>
              <a:rPr lang="zh-CN" altLang="en-US" sz="2400"/>
              <a:t>：对应</a:t>
            </a:r>
            <a:r>
              <a:rPr lang="en-US" altLang="zh-CN" sz="2400"/>
              <a:t>name</a:t>
            </a:r>
            <a:r>
              <a:rPr lang="zh-CN" altLang="en-US" sz="2400"/>
              <a:t>，</a:t>
            </a:r>
            <a:r>
              <a:rPr lang="en-US" altLang="zh-CN" sz="2400"/>
              <a:t>Holly</a:t>
            </a:r>
            <a:r>
              <a:rPr lang="zh-CN" altLang="en-US" sz="2400"/>
              <a:t>有</a:t>
            </a:r>
            <a:r>
              <a:rPr lang="en-US" altLang="zh-CN" sz="2400"/>
              <a:t>5</a:t>
            </a:r>
            <a:r>
              <a:rPr lang="zh-CN" altLang="en-US" sz="2400"/>
              <a:t>个字符</a:t>
            </a:r>
          </a:p>
          <a:p>
            <a:pPr algn="just"/>
            <a:r>
              <a:rPr lang="en-US" altLang="zh-CN" sz="2400"/>
              <a:t>i</a:t>
            </a:r>
            <a:r>
              <a:rPr lang="zh-CN" altLang="en-US" sz="2400"/>
              <a:t>：</a:t>
            </a:r>
            <a:r>
              <a:rPr lang="en-US" altLang="zh-CN" sz="2400"/>
              <a:t>age</a:t>
            </a:r>
            <a:r>
              <a:rPr lang="zh-CN" altLang="en-US" sz="2400"/>
              <a:t>是整数</a:t>
            </a:r>
          </a:p>
          <a:p>
            <a:pPr algn="just"/>
            <a:r>
              <a:rPr lang="en-US" altLang="zh-CN" sz="2400"/>
              <a:t>f</a:t>
            </a:r>
            <a:r>
              <a:rPr lang="zh-CN" altLang="en-US" sz="2400"/>
              <a:t>：</a:t>
            </a:r>
            <a:r>
              <a:rPr lang="en-US" altLang="zh-CN" sz="2400"/>
              <a:t>height</a:t>
            </a:r>
            <a:r>
              <a:rPr lang="zh-CN" altLang="en-US" sz="2400"/>
              <a:t>是实数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695325" y="4652645"/>
            <a:ext cx="6048375" cy="108013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线形标注 1 6"/>
          <p:cNvSpPr/>
          <p:nvPr/>
        </p:nvSpPr>
        <p:spPr>
          <a:xfrm>
            <a:off x="7967980" y="4652645"/>
            <a:ext cx="2840355" cy="1008380"/>
          </a:xfrm>
          <a:prstGeom prst="borderCallout1">
            <a:avLst>
              <a:gd name="adj1" fmla="val 26637"/>
              <a:gd name="adj2" fmla="val 1140"/>
              <a:gd name="adj3" fmla="val 59193"/>
              <a:gd name="adj4" fmla="val -4281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此处才真正写入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2063115" y="2132330"/>
            <a:ext cx="1728470" cy="64833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线形标注 1 8"/>
          <p:cNvSpPr/>
          <p:nvPr/>
        </p:nvSpPr>
        <p:spPr>
          <a:xfrm>
            <a:off x="4223385" y="1556385"/>
            <a:ext cx="1513205" cy="1065530"/>
          </a:xfrm>
          <a:prstGeom prst="borderCallout1">
            <a:avLst>
              <a:gd name="adj1" fmla="val 24731"/>
              <a:gd name="adj2" fmla="val -2056"/>
              <a:gd name="adj3" fmla="val 70917"/>
              <a:gd name="adj4" fmla="val -12933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缺少</a:t>
            </a:r>
            <a:r>
              <a:rPr lang="en-US" altLang="zh-CN" sz="2400"/>
              <a:t>b</a:t>
            </a:r>
            <a:r>
              <a:rPr lang="zh-CN" altLang="en-US" sz="2400"/>
              <a:t>会出错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947A552E-BAF3-4835-B418-1448F9C7F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69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 unpack()</a:t>
            </a:r>
            <a:r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ym typeface="+mn-ea"/>
              </a:rPr>
              <a:t>作用</a:t>
            </a:r>
          </a:p>
          <a:p>
            <a:pPr marL="457200" lvl="1" indent="0">
              <a:buNone/>
            </a:pPr>
            <a:r>
              <a:rPr>
                <a:sym typeface="+mn-ea"/>
              </a:rPr>
              <a:t>pack()的逆过程，按指定格式解析字节流，并返回解析结果</a:t>
            </a:r>
            <a:endParaRPr lang="zh-CN" altLang="en-US">
              <a:sym typeface="+mn-ea"/>
            </a:endParaRPr>
          </a:p>
          <a:p>
            <a:r>
              <a:rPr lang="zh-CN" altLang="en-US"/>
              <a:t>格式</a:t>
            </a:r>
          </a:p>
          <a:p>
            <a:pPr marL="457200" lvl="1" indent="0">
              <a:buNone/>
            </a:pPr>
            <a:r>
              <a:rPr lang="zh-CN" altLang="en-US"/>
              <a:t>unpack(fmt, v1, v2,…)</a:t>
            </a:r>
          </a:p>
        </p:txBody>
      </p:sp>
      <p:sp>
        <p:nvSpPr>
          <p:cNvPr id="4" name="左大括号 3"/>
          <p:cNvSpPr/>
          <p:nvPr/>
        </p:nvSpPr>
        <p:spPr>
          <a:xfrm rot="16200000">
            <a:off x="3369310" y="3250565"/>
            <a:ext cx="432435" cy="1656080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711450" y="4436745"/>
            <a:ext cx="1944370" cy="935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参数含义同</a:t>
            </a:r>
            <a:r>
              <a:rPr lang="en-US" altLang="zh-CN" sz="2400"/>
              <a:t>pack()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36B2BD-834A-4556-B069-A3CC24A26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70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443230"/>
            <a:ext cx="10852150" cy="1129030"/>
          </a:xfrm>
        </p:spPr>
        <p:txBody>
          <a:bodyPr>
            <a:normAutofit fontScale="90000"/>
          </a:bodyPr>
          <a:lstStyle/>
          <a:p>
            <a:r>
              <a:t>例</a:t>
            </a:r>
            <a:r>
              <a:rPr lang="en-US" altLang="zh-CN"/>
              <a:t>10-10 用struct模块中的unpack()函数从文件data.bin中读取数据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571625"/>
            <a:ext cx="8556625" cy="3550920"/>
          </a:xfrm>
          <a:noFill/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import struct</a:t>
            </a:r>
          </a:p>
          <a:p>
            <a:pPr marL="0" indent="0">
              <a:buNone/>
            </a:pPr>
            <a:r>
              <a:rPr lang="zh-CN" altLang="en-US" dirty="0"/>
              <a:t>with open("data.bin", "rb") as f:</a:t>
            </a:r>
          </a:p>
          <a:p>
            <a:pPr marL="0" indent="0">
              <a:buNone/>
            </a:pPr>
            <a:r>
              <a:rPr lang="zh-CN" altLang="en-US" dirty="0"/>
              <a:t>    byte = f.read()</a:t>
            </a:r>
          </a:p>
          <a:p>
            <a:pPr marL="0" indent="0">
              <a:buNone/>
            </a:pPr>
            <a:r>
              <a:rPr lang="zh-CN" altLang="en-US" dirty="0"/>
              <a:t>name, age, height = struct.unpack("5sif", byte)</a:t>
            </a:r>
          </a:p>
          <a:p>
            <a:pPr marL="0" indent="0">
              <a:buNone/>
            </a:pPr>
            <a:r>
              <a:rPr lang="zh-CN" altLang="en-US" dirty="0"/>
              <a:t>print(name, age, height)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567930" y="5347970"/>
            <a:ext cx="303593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运行结果：</a:t>
            </a:r>
          </a:p>
          <a:p>
            <a:r>
              <a:rPr lang="zh-CN" altLang="en-US" sz="2800" dirty="0"/>
              <a:t>b'Holly' 40 105.5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46D8C0D-D7C2-4416-9C2E-86E63BD2A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71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596390" y="2292350"/>
            <a:ext cx="8950325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10.7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文件与目录管理</a:t>
            </a:r>
            <a:r>
              <a:rPr lang="en-US" altLang="zh-CN" kern="1200" dirty="0">
                <a:latin typeface="+mj-lt"/>
                <a:ea typeface="+mj-ea"/>
                <a:cs typeface="+mj-cs"/>
              </a:rPr>
              <a:t>*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8F9F972-16BE-4401-85E6-61A90E7DE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72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10.7.1 </a:t>
            </a:r>
            <a:r>
              <a:t>文件管理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zh-CN" altLang="en-US" dirty="0"/>
              <a:t>复制文件</a:t>
            </a:r>
          </a:p>
          <a:p>
            <a:pPr marL="914400" lvl="2" indent="0">
              <a:buNone/>
            </a:pPr>
            <a:r>
              <a:rPr lang="zh-CN" altLang="en-US" dirty="0"/>
              <a:t>shutil.copyfile(src, dst)</a:t>
            </a:r>
            <a:endParaRPr lang="en-US" altLang="zh-CN" dirty="0"/>
          </a:p>
          <a:p>
            <a:pPr marL="914400" lvl="2" indent="0">
              <a:buNone/>
            </a:pPr>
            <a:r>
              <a:rPr lang="zh-CN" altLang="en-US" dirty="0"/>
              <a:t>其中</a:t>
            </a:r>
            <a:r>
              <a:rPr lang="en-US" altLang="zh-CN" dirty="0" err="1"/>
              <a:t>src</a:t>
            </a:r>
            <a:r>
              <a:rPr lang="zh-CN" altLang="en-US" dirty="0"/>
              <a:t>源文件，</a:t>
            </a:r>
            <a:r>
              <a:rPr lang="en-US" altLang="zh-CN" dirty="0" err="1"/>
              <a:t>dst</a:t>
            </a:r>
            <a:r>
              <a:rPr lang="zh-CN" altLang="en-US" dirty="0"/>
              <a:t>目标文件</a:t>
            </a:r>
          </a:p>
          <a:p>
            <a:pPr lvl="1"/>
            <a:endParaRPr lang="en-US" altLang="zh-CN" dirty="0"/>
          </a:p>
          <a:p>
            <a:pPr lvl="1"/>
            <a:r>
              <a:rPr lang="zh-CN" altLang="en-US" sz="2800" dirty="0"/>
              <a:t>示例</a:t>
            </a:r>
          </a:p>
          <a:p>
            <a:pPr marL="914400" lvl="2" indent="0">
              <a:buNone/>
            </a:pPr>
            <a:r>
              <a:rPr lang="zh-CN" altLang="en-US" sz="2800" dirty="0"/>
              <a:t>&gt;&gt;&gt; import shutil</a:t>
            </a:r>
          </a:p>
          <a:p>
            <a:pPr marL="914400" lvl="2" indent="0">
              <a:buNone/>
            </a:pPr>
            <a:r>
              <a:rPr lang="zh-CN" altLang="en-US" sz="2800" dirty="0"/>
              <a:t>&gt;&gt;&gt; shutil.copyfile("c:/unintall.log", "d:/copy.log")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F96A4F29-C0CD-4000-AB22-6F8F0BAAC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73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 </a:t>
            </a:r>
            <a:r>
              <a:t>移动文件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zh-CN" altLang="en-US" dirty="0"/>
              <a:t>shutil.move(src, dst)</a:t>
            </a:r>
          </a:p>
          <a:p>
            <a:endParaRPr lang="en-US" altLang="zh-CN" dirty="0"/>
          </a:p>
          <a:p>
            <a:r>
              <a:rPr lang="zh-CN" altLang="en-US" dirty="0"/>
              <a:t>示例</a:t>
            </a:r>
          </a:p>
          <a:p>
            <a:pPr marL="457200" lvl="1" indent="0">
              <a:buNone/>
            </a:pPr>
            <a:r>
              <a:rPr lang="zh-CN" altLang="en-US" dirty="0"/>
              <a:t>&gt;&gt;&gt; import shutil</a:t>
            </a:r>
          </a:p>
          <a:p>
            <a:pPr marL="457200" lvl="1" indent="0">
              <a:buNone/>
            </a:pPr>
            <a:r>
              <a:rPr lang="zh-CN" altLang="en-US" dirty="0"/>
              <a:t>&gt;&gt;&gt; shutil.move("d:/copy.log", "e:/")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957A23-45AD-4894-9FC3-B40FB1540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74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 </a:t>
            </a:r>
            <a:r>
              <a:t>删除文件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zh-CN" altLang="en-US" dirty="0"/>
              <a:t>os.remove(src)</a:t>
            </a:r>
          </a:p>
          <a:p>
            <a:endParaRPr lang="en-US" altLang="zh-CN" dirty="0"/>
          </a:p>
          <a:p>
            <a:r>
              <a:rPr lang="zh-CN" altLang="en-US" dirty="0"/>
              <a:t>示例</a:t>
            </a:r>
          </a:p>
          <a:p>
            <a:pPr marL="457200" lvl="1" indent="0">
              <a:buNone/>
            </a:pPr>
            <a:r>
              <a:rPr lang="zh-CN" altLang="en-US" dirty="0"/>
              <a:t>&gt;&gt;&gt; import os</a:t>
            </a:r>
          </a:p>
          <a:p>
            <a:pPr marL="457200" lvl="1" indent="0">
              <a:buNone/>
            </a:pPr>
            <a:r>
              <a:rPr lang="zh-CN" altLang="en-US" dirty="0"/>
              <a:t>&gt;&gt;&gt; os.remove("e:/copy.log")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45394A-5C2E-4DCD-8312-AC0EAA33A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75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 重命名文件（目录）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zh-CN" altLang="en-US" dirty="0"/>
              <a:t>os.rename(old, new)</a:t>
            </a:r>
          </a:p>
          <a:p>
            <a:endParaRPr lang="en-US" altLang="zh-CN" dirty="0"/>
          </a:p>
          <a:p>
            <a:r>
              <a:rPr lang="zh-CN" altLang="en-US" dirty="0"/>
              <a:t>示例</a:t>
            </a:r>
          </a:p>
          <a:p>
            <a:pPr marL="457200" lvl="1" indent="0">
              <a:buNone/>
            </a:pPr>
            <a:r>
              <a:rPr lang="zh-CN" altLang="en-US" dirty="0"/>
              <a:t>&gt;&gt;&gt; import os</a:t>
            </a:r>
          </a:p>
          <a:p>
            <a:pPr marL="457200" lvl="1" indent="0">
              <a:buNone/>
            </a:pPr>
            <a:r>
              <a:rPr lang="zh-CN" altLang="en-US" dirty="0"/>
              <a:t>&gt;&gt;&gt; os.rename("e:/out.txt", "e:/out2.txt")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26E71D-6988-4320-86B7-E60EFB384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76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704" y="195011"/>
            <a:ext cx="9600688" cy="73710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5. </a:t>
            </a:r>
            <a:r>
              <a:rPr lang="en-US" altLang="zh-CN" dirty="0" err="1"/>
              <a:t>获取或判断关于文件的各项信息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os及os.path模块中获取或判断文件各项信息的常用函数</a:t>
            </a: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79996862"/>
              </p:ext>
            </p:extLst>
          </p:nvPr>
        </p:nvGraphicFramePr>
        <p:xfrm>
          <a:off x="407369" y="2188210"/>
          <a:ext cx="11282982" cy="35185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3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59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56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函数名</a:t>
                      </a:r>
                      <a:endParaRPr lang="en-US" altLang="en-US" sz="28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功能</a:t>
                      </a:r>
                      <a:endParaRPr lang="en-US" altLang="en-US" sz="2800" b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98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os.stat(path)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获取path指定的路径的信息。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os.path.exists(path)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判断指定路径（目录或文件）是否存</a:t>
                      </a:r>
                      <a:r>
                        <a:rPr lang="en-US" sz="2800" b="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。</a:t>
                      </a:r>
                      <a:endParaRPr lang="en-US" altLang="en-US" sz="2800" b="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98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os.path.getatime(filename)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返回指定文件最近的访问时间。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62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os.path.getctime(filename)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返回指定文件的创建时间。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98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os.path.getmtime</a:t>
                      </a:r>
                      <a:r>
                        <a:rPr lang="en-US" sz="2800" b="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(filename)</a:t>
                      </a:r>
                      <a:endParaRPr lang="en-US" altLang="en-US" sz="2800" b="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返回指定文件最新修改时间。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562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os.path.getsize(filename)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返回指定文件的大小，单位是字节</a:t>
                      </a:r>
                      <a:r>
                        <a:rPr lang="en-US" sz="2800" b="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。</a:t>
                      </a:r>
                      <a:endParaRPr lang="en-US" altLang="en-US" sz="2800" b="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C2DDEE-BDF6-4DB6-B63D-341B5F1CE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77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10.7.2 </a:t>
            </a:r>
            <a:r>
              <a:t>目录管理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zh-CN" altLang="en-US" dirty="0"/>
              <a:t>获取当前目录</a:t>
            </a:r>
          </a:p>
          <a:p>
            <a:pPr lvl="1"/>
            <a:endParaRPr lang="zh-CN" altLang="en-US" dirty="0"/>
          </a:p>
          <a:p>
            <a:pPr marL="914400" lvl="2" indent="0">
              <a:buNone/>
            </a:pPr>
            <a:r>
              <a:rPr lang="zh-CN" altLang="en-US" dirty="0"/>
              <a:t>os.getcwd()</a:t>
            </a:r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示例</a:t>
            </a:r>
          </a:p>
          <a:p>
            <a:pPr marL="914400" lvl="2" indent="0">
              <a:buNone/>
            </a:pPr>
            <a:r>
              <a:rPr lang="zh-CN" altLang="en-US" dirty="0"/>
              <a:t>&gt;&gt;&gt; import os</a:t>
            </a:r>
          </a:p>
          <a:p>
            <a:pPr marL="914400" lvl="2" indent="0">
              <a:buNone/>
            </a:pPr>
            <a:r>
              <a:rPr lang="zh-CN" altLang="en-US" dirty="0"/>
              <a:t>&gt;&gt;&gt; print(os.getcwd())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EFAE48-905D-41AE-B13C-D8F7D0BE9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78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 </a:t>
            </a:r>
            <a:r>
              <a:t>改变当前目录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zh-CN" altLang="en-US" dirty="0"/>
              <a:t>os.chdir(path)</a:t>
            </a:r>
          </a:p>
          <a:p>
            <a:endParaRPr lang="en-US" altLang="zh-CN" dirty="0"/>
          </a:p>
          <a:p>
            <a:r>
              <a:rPr lang="zh-CN" altLang="en-US" dirty="0"/>
              <a:t>示例</a:t>
            </a:r>
          </a:p>
          <a:p>
            <a:pPr marL="457200" lvl="1" indent="0">
              <a:buNone/>
            </a:pPr>
            <a:r>
              <a:rPr lang="zh-CN" altLang="en-US" dirty="0"/>
              <a:t>&gt;&gt;&gt; import os</a:t>
            </a:r>
          </a:p>
          <a:p>
            <a:pPr marL="457200" lvl="1" indent="0">
              <a:buNone/>
            </a:pPr>
            <a:r>
              <a:rPr lang="zh-CN" altLang="en-US" dirty="0"/>
              <a:t>&gt;&gt;&gt; os.chdir("e:/"))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0771FF-898E-463B-82ED-6561B1AAD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79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 列出目录内容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zh-CN" altLang="en-US" dirty="0"/>
              <a:t>os.listdir(path)</a:t>
            </a:r>
          </a:p>
          <a:p>
            <a:endParaRPr lang="en-US" altLang="zh-CN" dirty="0"/>
          </a:p>
          <a:p>
            <a:r>
              <a:rPr lang="zh-CN" altLang="en-US" dirty="0"/>
              <a:t>示例</a:t>
            </a:r>
          </a:p>
          <a:p>
            <a:pPr marL="457200" lvl="1" indent="0">
              <a:buNone/>
            </a:pPr>
            <a:r>
              <a:rPr lang="zh-CN" altLang="en-US" dirty="0"/>
              <a:t>&gt;&gt;&gt; import os</a:t>
            </a:r>
          </a:p>
          <a:p>
            <a:pPr marL="457200" lvl="1" indent="0">
              <a:buNone/>
            </a:pPr>
            <a:r>
              <a:rPr lang="zh-CN" altLang="en-US" dirty="0"/>
              <a:t>&gt;&gt;&gt; print(os.listdir("c:/"))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D30ED4-C476-44C2-9F3F-DFB929E3D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80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 创建目录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zh-CN" altLang="en-US" dirty="0"/>
              <a:t>os.mkdir(path)</a:t>
            </a:r>
          </a:p>
          <a:p>
            <a:endParaRPr lang="en-US" altLang="zh-CN" dirty="0"/>
          </a:p>
          <a:p>
            <a:r>
              <a:rPr lang="zh-CN" altLang="en-US" dirty="0"/>
              <a:t>示例</a:t>
            </a:r>
          </a:p>
          <a:p>
            <a:pPr marL="457200" lvl="1" indent="0">
              <a:buNone/>
            </a:pPr>
            <a:r>
              <a:rPr lang="zh-CN" altLang="en-US" dirty="0"/>
              <a:t>&gt;&gt;&gt; import os</a:t>
            </a:r>
          </a:p>
          <a:p>
            <a:pPr marL="457200" lvl="1" indent="0">
              <a:buNone/>
            </a:pPr>
            <a:r>
              <a:rPr lang="zh-CN" altLang="en-US" dirty="0"/>
              <a:t>&gt;&gt;&gt; os.mkdir("e:/mydir")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E4C1D5-DC2F-451A-ABD8-8B6FFC07D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81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5. 删除空目录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zh-CN" altLang="en-US" dirty="0"/>
              <a:t>os.rmdir(path)</a:t>
            </a:r>
          </a:p>
          <a:p>
            <a:endParaRPr lang="en-US" altLang="zh-CN" dirty="0"/>
          </a:p>
          <a:p>
            <a:r>
              <a:rPr lang="zh-CN" altLang="en-US" dirty="0"/>
              <a:t>示例</a:t>
            </a:r>
          </a:p>
          <a:p>
            <a:pPr marL="457200" lvl="1" indent="0">
              <a:buNone/>
            </a:pPr>
            <a:r>
              <a:rPr lang="zh-CN" altLang="en-US" dirty="0"/>
              <a:t>&gt;&gt;&gt; import os</a:t>
            </a:r>
          </a:p>
          <a:p>
            <a:pPr marL="457200" lvl="1" indent="0">
              <a:buNone/>
            </a:pPr>
            <a:r>
              <a:rPr lang="zh-CN" altLang="en-US" dirty="0"/>
              <a:t>&gt;&gt;&gt; os.rmdir("e:/aaa")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3783D8-D85B-44D2-A619-E2CD49438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 </a:t>
            </a:r>
            <a:r>
              <a:rPr lang="en-US" altLang="zh-CN" dirty="0" err="1"/>
              <a:t>遍历目录</a:t>
            </a:r>
            <a:r>
              <a:rPr lang="en-US" altLang="zh-CN"/>
              <a:t>**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zh-CN" altLang="en-US" dirty="0"/>
              <a:t>os.walk(top)</a:t>
            </a:r>
          </a:p>
          <a:p>
            <a:endParaRPr lang="en-US" altLang="zh-CN" dirty="0"/>
          </a:p>
          <a:p>
            <a:r>
              <a:rPr lang="zh-CN" altLang="en-US" dirty="0"/>
              <a:t>示例</a:t>
            </a:r>
          </a:p>
          <a:p>
            <a:pPr marL="457200" lvl="1" indent="0">
              <a:buNone/>
            </a:pPr>
            <a:r>
              <a:rPr lang="zh-CN" altLang="en-US" dirty="0"/>
              <a:t>遍历输出当前目录中的</a:t>
            </a:r>
          </a:p>
          <a:p>
            <a:pPr marL="457200" lvl="1" indent="0">
              <a:buNone/>
            </a:pPr>
            <a:r>
              <a:rPr lang="zh-CN" altLang="en-US" dirty="0"/>
              <a:t>所有文件和文件夹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211445" y="1160145"/>
            <a:ext cx="6310630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import os</a:t>
            </a:r>
          </a:p>
          <a:p>
            <a:r>
              <a:rPr lang="zh-CN" altLang="en-US" sz="2400" dirty="0"/>
              <a:t>all_file = []</a:t>
            </a:r>
          </a:p>
          <a:p>
            <a:r>
              <a:rPr lang="zh-CN" altLang="en-US" sz="2400" dirty="0"/>
              <a:t>path = os.getcwd()      # 得到当前工作目录</a:t>
            </a:r>
          </a:p>
          <a:p>
            <a:r>
              <a:rPr lang="zh-CN" altLang="en-US" sz="2400" dirty="0"/>
              <a:t>file_list = os.walk(path)</a:t>
            </a:r>
          </a:p>
          <a:p>
            <a:r>
              <a:rPr lang="zh-CN" altLang="en-US" sz="2400" dirty="0"/>
              <a:t>for dirpath, dirnames, filesnames in file_list:</a:t>
            </a:r>
          </a:p>
          <a:p>
            <a:r>
              <a:rPr lang="zh-CN" altLang="en-US" sz="2400" dirty="0"/>
              <a:t>    for dir in dirnames:</a:t>
            </a:r>
          </a:p>
          <a:p>
            <a:r>
              <a:rPr lang="zh-CN" altLang="en-US" sz="2400" dirty="0"/>
              <a:t>        all_file.append(os.path.join(dirpath, dir))</a:t>
            </a:r>
          </a:p>
          <a:p>
            <a:r>
              <a:rPr lang="zh-CN" altLang="en-US" sz="2400" dirty="0"/>
              <a:t>    for file in filesnames:</a:t>
            </a:r>
          </a:p>
          <a:p>
            <a:r>
              <a:rPr lang="zh-CN" altLang="en-US" sz="2400" dirty="0"/>
              <a:t>        all_file.append(os.path.join(dirpath, file))</a:t>
            </a:r>
          </a:p>
          <a:p>
            <a:r>
              <a:rPr lang="zh-CN" altLang="en-US" sz="2400" dirty="0"/>
              <a:t>for file_list1 in all_file:</a:t>
            </a:r>
          </a:p>
          <a:p>
            <a:r>
              <a:rPr lang="zh-CN" altLang="en-US" sz="2400" dirty="0"/>
              <a:t>    print(file_list1)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71C2D9A-8159-486B-A87E-B8ACBC5B0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83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10.8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文件压缩</a:t>
            </a:r>
            <a:r>
              <a:rPr lang="en-US" altLang="zh-CN" kern="1200" dirty="0">
                <a:latin typeface="+mj-lt"/>
                <a:ea typeface="+mj-ea"/>
                <a:cs typeface="+mj-cs"/>
              </a:rPr>
              <a:t>*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AF7F6F1-06D3-48A2-8271-CA4C9A5C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84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10.8.1 </a:t>
            </a:r>
            <a:r>
              <a:t>文件压缩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压缩文件的基本步骤：</a:t>
            </a:r>
          </a:p>
          <a:p>
            <a:pPr marL="971550" lvl="1" indent="-514350">
              <a:buAutoNum type="arabicPeriod"/>
            </a:pPr>
            <a:r>
              <a:rPr lang="zh-CN" altLang="en-US"/>
              <a:t>创建</a:t>
            </a:r>
            <a:r>
              <a:rPr lang="en-US" altLang="zh-CN"/>
              <a:t>ZipFile</a:t>
            </a:r>
            <a:r>
              <a:t>对象</a:t>
            </a:r>
          </a:p>
          <a:p>
            <a:pPr marL="971550" lvl="1" indent="-514350">
              <a:buAutoNum type="arabicPeriod"/>
            </a:pPr>
            <a:r>
              <a:t>将原文件的内容写入压缩文件</a:t>
            </a:r>
          </a:p>
          <a:p>
            <a:pPr marL="971550" lvl="1" indent="-514350">
              <a:buAutoNum type="arabicPeriod"/>
            </a:pPr>
            <a:r>
              <a:t>关闭文件</a:t>
            </a:r>
          </a:p>
        </p:txBody>
      </p:sp>
      <p:sp>
        <p:nvSpPr>
          <p:cNvPr id="4" name="云形标注 3"/>
          <p:cNvSpPr/>
          <p:nvPr/>
        </p:nvSpPr>
        <p:spPr>
          <a:xfrm>
            <a:off x="7547610" y="1733550"/>
            <a:ext cx="3568700" cy="2434590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目前主流的压缩格式有zip、rar和7-Zip等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4B5059C-BCF0-4229-ACE5-CEA9551A4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85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 </a:t>
            </a:r>
            <a:r>
              <a:t>创建</a:t>
            </a:r>
            <a:r>
              <a:rPr lang="en-US" altLang="zh-CN"/>
              <a:t>ZipFile</a:t>
            </a:r>
            <a:r>
              <a:t>对象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语法：</a:t>
            </a:r>
          </a:p>
          <a:p>
            <a:pPr marL="457200" lvl="1" indent="0">
              <a:buNone/>
            </a:pPr>
            <a:r>
              <a:rPr lang="zh-CN" altLang="en-US"/>
              <a:t>f = zipfile.ZipFile(file[, mode[, compression[, allowZip64]]])</a:t>
            </a:r>
          </a:p>
        </p:txBody>
      </p:sp>
      <p:sp>
        <p:nvSpPr>
          <p:cNvPr id="4" name="线形标注 1 3"/>
          <p:cNvSpPr/>
          <p:nvPr/>
        </p:nvSpPr>
        <p:spPr>
          <a:xfrm>
            <a:off x="869950" y="2914015"/>
            <a:ext cx="1728470" cy="791845"/>
          </a:xfrm>
          <a:prstGeom prst="borderCallout1">
            <a:avLst>
              <a:gd name="adj1" fmla="val -2085"/>
              <a:gd name="adj2" fmla="val 69581"/>
              <a:gd name="adj3" fmla="val -72654"/>
              <a:gd name="adj4" fmla="val 20749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压缩文件名</a:t>
            </a:r>
          </a:p>
        </p:txBody>
      </p:sp>
      <p:sp>
        <p:nvSpPr>
          <p:cNvPr id="5" name="线形标注 1 4"/>
          <p:cNvSpPr/>
          <p:nvPr/>
        </p:nvSpPr>
        <p:spPr>
          <a:xfrm>
            <a:off x="2749550" y="4015740"/>
            <a:ext cx="3378835" cy="2138045"/>
          </a:xfrm>
          <a:prstGeom prst="borderCallout1">
            <a:avLst>
              <a:gd name="adj1" fmla="val -489"/>
              <a:gd name="adj2" fmla="val 35500"/>
              <a:gd name="adj3" fmla="val -86773"/>
              <a:gd name="adj4" fmla="val 8385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取值包括：</a:t>
            </a:r>
          </a:p>
          <a:p>
            <a:pPr algn="ctr"/>
            <a:r>
              <a:rPr lang="zh-CN" altLang="en-US" sz="2400"/>
              <a:t>'r'</a:t>
            </a:r>
            <a:r>
              <a:rPr lang="en-US" altLang="zh-CN" sz="2400"/>
              <a:t>---读已</a:t>
            </a:r>
            <a:r>
              <a:rPr lang="zh-CN" altLang="en-US" sz="2400"/>
              <a:t>存在的</a:t>
            </a:r>
            <a:r>
              <a:rPr lang="en-US" altLang="zh-CN" sz="2400"/>
              <a:t>zip文件</a:t>
            </a:r>
          </a:p>
          <a:p>
            <a:pPr algn="ctr"/>
            <a:r>
              <a:rPr lang="zh-CN" altLang="en-US" sz="2400"/>
              <a:t>'w'</a:t>
            </a:r>
            <a:r>
              <a:rPr lang="en-US" altLang="zh-CN" sz="2400"/>
              <a:t>---新建</a:t>
            </a:r>
            <a:r>
              <a:rPr lang="zh-CN" altLang="en-US" sz="2400"/>
              <a:t>或覆盖</a:t>
            </a:r>
            <a:r>
              <a:rPr lang="en-US" altLang="zh-CN" sz="2400"/>
              <a:t>一个zip文</a:t>
            </a:r>
            <a:r>
              <a:rPr lang="zh-CN" altLang="en-US" sz="2400"/>
              <a:t>件</a:t>
            </a:r>
            <a:endParaRPr lang="en-US" altLang="zh-CN" sz="2400"/>
          </a:p>
          <a:p>
            <a:pPr algn="ctr"/>
            <a:r>
              <a:rPr lang="zh-CN" altLang="en-US" sz="2400"/>
              <a:t>'a'</a:t>
            </a:r>
            <a:r>
              <a:rPr lang="en-US" altLang="zh-CN" sz="2400"/>
              <a:t>---</a:t>
            </a:r>
            <a:r>
              <a:rPr lang="zh-CN" altLang="en-US" sz="2400"/>
              <a:t>添加数据到</a:t>
            </a:r>
            <a:r>
              <a:rPr lang="en-US" altLang="zh-CN" sz="2400"/>
              <a:t>zip文</a:t>
            </a:r>
            <a:r>
              <a:rPr lang="zh-CN" altLang="en-US" sz="2400"/>
              <a:t>件</a:t>
            </a:r>
          </a:p>
        </p:txBody>
      </p:sp>
      <p:sp>
        <p:nvSpPr>
          <p:cNvPr id="6" name="线形标注 1 5"/>
          <p:cNvSpPr/>
          <p:nvPr/>
        </p:nvSpPr>
        <p:spPr>
          <a:xfrm>
            <a:off x="6895465" y="3933190"/>
            <a:ext cx="2967990" cy="2303780"/>
          </a:xfrm>
          <a:prstGeom prst="borderCallout1">
            <a:avLst>
              <a:gd name="adj1" fmla="val -744"/>
              <a:gd name="adj2" fmla="val 35575"/>
              <a:gd name="adj3" fmla="val -69294"/>
              <a:gd name="adj4" fmla="val 1688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取值包括：</a:t>
            </a:r>
          </a:p>
          <a:p>
            <a:pPr algn="ctr"/>
            <a:r>
              <a:rPr lang="zh-CN" altLang="en-US" sz="2400"/>
              <a:t>ZIP_STORE（默认值）</a:t>
            </a:r>
            <a:r>
              <a:rPr lang="en-US" altLang="zh-CN" sz="2400"/>
              <a:t>---只打包不开启压缩功能</a:t>
            </a:r>
          </a:p>
          <a:p>
            <a:pPr algn="ctr"/>
            <a:r>
              <a:rPr lang="en-US" altLang="zh-CN" sz="2400"/>
              <a:t>ZIP_DEFLATED---开启压缩</a:t>
            </a:r>
          </a:p>
        </p:txBody>
      </p:sp>
      <p:sp>
        <p:nvSpPr>
          <p:cNvPr id="7" name="线形标注 1 6"/>
          <p:cNvSpPr/>
          <p:nvPr/>
        </p:nvSpPr>
        <p:spPr>
          <a:xfrm>
            <a:off x="10416540" y="3429000"/>
            <a:ext cx="1440180" cy="1584325"/>
          </a:xfrm>
          <a:prstGeom prst="borderCallout1">
            <a:avLst>
              <a:gd name="adj1" fmla="val -2004"/>
              <a:gd name="adj2" fmla="val 23897"/>
              <a:gd name="adj3" fmla="val -70701"/>
              <a:gd name="adj4" fmla="val -194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超过2G时应设置为True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61AB2E10-4E5A-4928-B8FE-5EC480D47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86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 </a:t>
            </a:r>
            <a:r>
              <a:t>添加指定文件到压缩文件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使用</a:t>
            </a:r>
            <a:r>
              <a:rPr lang="en-US" altLang="zh-CN"/>
              <a:t>write()</a:t>
            </a:r>
            <a:r>
              <a:t>方法写入，用法：</a:t>
            </a:r>
          </a:p>
          <a:p>
            <a:pPr marL="457200" lvl="1" indent="0">
              <a:buNone/>
            </a:pPr>
            <a:r>
              <a:t>ZipFile.write(filename[, arcname[, compress_type]])</a:t>
            </a:r>
          </a:p>
        </p:txBody>
      </p:sp>
      <p:sp>
        <p:nvSpPr>
          <p:cNvPr id="4" name="线形标注 1 3"/>
          <p:cNvSpPr/>
          <p:nvPr/>
        </p:nvSpPr>
        <p:spPr>
          <a:xfrm>
            <a:off x="1631950" y="3357245"/>
            <a:ext cx="1943735" cy="1224280"/>
          </a:xfrm>
          <a:prstGeom prst="borderCallout1">
            <a:avLst>
              <a:gd name="adj1" fmla="val -3215"/>
              <a:gd name="adj2" fmla="val 63998"/>
              <a:gd name="adj3" fmla="val -80549"/>
              <a:gd name="adj4" fmla="val 11329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压缩文件名</a:t>
            </a:r>
          </a:p>
        </p:txBody>
      </p:sp>
      <p:sp>
        <p:nvSpPr>
          <p:cNvPr id="5" name="线形标注 1 4"/>
          <p:cNvSpPr/>
          <p:nvPr/>
        </p:nvSpPr>
        <p:spPr>
          <a:xfrm>
            <a:off x="4728210" y="3717290"/>
            <a:ext cx="2372360" cy="1367790"/>
          </a:xfrm>
          <a:prstGeom prst="borderCallout1">
            <a:avLst>
              <a:gd name="adj1" fmla="val -2042"/>
              <a:gd name="adj2" fmla="val 42130"/>
              <a:gd name="adj3" fmla="val -99675"/>
              <a:gd name="adj4" fmla="val 4933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添加到zip文件后保存的名称</a:t>
            </a:r>
          </a:p>
        </p:txBody>
      </p:sp>
      <p:sp>
        <p:nvSpPr>
          <p:cNvPr id="6" name="线形标注 1 5"/>
          <p:cNvSpPr/>
          <p:nvPr/>
        </p:nvSpPr>
        <p:spPr>
          <a:xfrm>
            <a:off x="8256270" y="3429000"/>
            <a:ext cx="2592705" cy="1656080"/>
          </a:xfrm>
          <a:prstGeom prst="borderCallout1">
            <a:avLst>
              <a:gd name="adj1" fmla="val 2492"/>
              <a:gd name="adj2" fmla="val 28606"/>
              <a:gd name="adj3" fmla="val -69976"/>
              <a:gd name="adj4" fmla="val 896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指定压缩方法，取值可以是ZIP_STORED或ZIP_DEFLATED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DCFE5C-2AC9-4411-BA73-E7C4C2EFC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87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 </a:t>
            </a:r>
            <a:r>
              <a:t>关闭</a:t>
            </a:r>
            <a:r>
              <a:rPr lang="en-US" altLang="zh-CN"/>
              <a:t>Zip</a:t>
            </a:r>
            <a:r>
              <a:t>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语法：</a:t>
            </a:r>
          </a:p>
          <a:p>
            <a:pPr marL="457200" lvl="1" indent="0">
              <a:buNone/>
            </a:pPr>
            <a:r>
              <a:rPr lang="zh-CN" altLang="en-US"/>
              <a:t>ZipFile.close()</a:t>
            </a:r>
          </a:p>
        </p:txBody>
      </p:sp>
      <p:sp>
        <p:nvSpPr>
          <p:cNvPr id="4" name="云形标注 3"/>
          <p:cNvSpPr/>
          <p:nvPr/>
        </p:nvSpPr>
        <p:spPr>
          <a:xfrm>
            <a:off x="5232400" y="1845310"/>
            <a:ext cx="4824095" cy="2592070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使用完了必须关闭，否则写入的文件在关闭之前不会真正写入磁盘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4C20C80-95B0-4B09-8B9E-85EA34AF5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88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443230"/>
            <a:ext cx="10852150" cy="1344930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例</a:t>
            </a:r>
            <a:r>
              <a:rPr lang="en-US" altLang="zh-CN"/>
              <a:t>10-12 将“E:\Python教材例子”文件夹下的a.py、b.py和c.py压缩到py.zip文件中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0220" y="1967865"/>
            <a:ext cx="11539855" cy="43732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200"/>
              <a:t>import zipfile</a:t>
            </a:r>
          </a:p>
          <a:p>
            <a:pPr marL="0" indent="0">
              <a:buNone/>
            </a:pPr>
            <a:r>
              <a:rPr lang="zh-CN" altLang="en-US" sz="2200"/>
              <a:t>zipFile = zipfile.ZipFile("e:/Python教材例子/py.zip", "w", zipfile.ZIP_DEFLATED)</a:t>
            </a:r>
          </a:p>
          <a:p>
            <a:pPr marL="0" indent="0">
              <a:buNone/>
            </a:pPr>
            <a:r>
              <a:rPr lang="zh-CN" altLang="en-US" sz="2200"/>
              <a:t>zipFile.write("a.py")</a:t>
            </a:r>
          </a:p>
          <a:p>
            <a:pPr marL="0" indent="0">
              <a:buNone/>
            </a:pPr>
            <a:r>
              <a:rPr lang="zh-CN" altLang="en-US" sz="2200"/>
              <a:t>zipFile.write("b.py")</a:t>
            </a:r>
          </a:p>
          <a:p>
            <a:pPr marL="0" indent="0">
              <a:buNone/>
            </a:pPr>
            <a:r>
              <a:rPr lang="zh-CN" altLang="en-US" sz="2200"/>
              <a:t>zipFile.write("c.py")</a:t>
            </a:r>
          </a:p>
          <a:p>
            <a:pPr marL="0" indent="0">
              <a:buNone/>
            </a:pPr>
            <a:r>
              <a:rPr lang="zh-CN" altLang="en-US" sz="2200"/>
              <a:t>zipFile.close()</a:t>
            </a:r>
          </a:p>
          <a:p>
            <a:pPr marL="0" indent="0">
              <a:buNone/>
            </a:pPr>
            <a:r>
              <a:rPr lang="zh-CN" altLang="en-US" sz="2200"/>
              <a:t>print("文件已压缩完！")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230A8D-DEB2-46F4-AD83-1692E40F3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89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10.8.2 </a:t>
            </a:r>
            <a:r>
              <a:t>解压文件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解压文件的基本步骤：</a:t>
            </a:r>
          </a:p>
          <a:p>
            <a:pPr marL="971550" lvl="1" indent="-514350">
              <a:buAutoNum type="arabicPeriod"/>
            </a:pPr>
            <a:r>
              <a:rPr lang="zh-CN" altLang="en-US"/>
              <a:t>创建ZipFile对象</a:t>
            </a:r>
          </a:p>
          <a:p>
            <a:pPr marL="971550" lvl="1" indent="-514350">
              <a:buAutoNum type="arabicPeriod"/>
            </a:pPr>
            <a:r>
              <a:rPr lang="zh-CN" altLang="en-US"/>
              <a:t>解压</a:t>
            </a:r>
          </a:p>
          <a:p>
            <a:pPr marL="971550" lvl="1" indent="-514350">
              <a:buAutoNum type="arabicPeriod"/>
            </a:pPr>
            <a:r>
              <a:rPr lang="zh-CN" altLang="en-US"/>
              <a:t>关闭文件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4486910" y="2247900"/>
            <a:ext cx="2041525" cy="6051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V="1">
            <a:off x="3409950" y="2924810"/>
            <a:ext cx="3118485" cy="7296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6600190" y="2493010"/>
            <a:ext cx="2232025" cy="10801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这两步与压缩时的用法一致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1559560" y="2637155"/>
            <a:ext cx="1224280" cy="57594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线形标注 1 7"/>
          <p:cNvSpPr/>
          <p:nvPr/>
        </p:nvSpPr>
        <p:spPr>
          <a:xfrm>
            <a:off x="3409950" y="4603750"/>
            <a:ext cx="2160270" cy="936625"/>
          </a:xfrm>
          <a:prstGeom prst="borderCallout1">
            <a:avLst>
              <a:gd name="adj1" fmla="val 49084"/>
              <a:gd name="adj2" fmla="val -2763"/>
              <a:gd name="adj3" fmla="val -146169"/>
              <a:gd name="adj4" fmla="val -556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本节 重点介绍部分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AA83C1E-B47A-4D91-BC4D-F25E8FEB1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90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解压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调用ZipFile对象的extract()方法，用法：</a:t>
            </a:r>
          </a:p>
          <a:p>
            <a:pPr marL="457200" lvl="1" indent="0">
              <a:buNone/>
            </a:pPr>
            <a:r>
              <a:rPr lang="zh-CN" altLang="en-US"/>
              <a:t>ZipFile.extract(member[, path[, pwd]])</a:t>
            </a:r>
          </a:p>
        </p:txBody>
      </p:sp>
      <p:sp>
        <p:nvSpPr>
          <p:cNvPr id="4" name="线形标注 1 3"/>
          <p:cNvSpPr/>
          <p:nvPr/>
        </p:nvSpPr>
        <p:spPr>
          <a:xfrm>
            <a:off x="1919605" y="3213100"/>
            <a:ext cx="3084830" cy="2010410"/>
          </a:xfrm>
          <a:prstGeom prst="borderCallout1">
            <a:avLst>
              <a:gd name="adj1" fmla="val 157"/>
              <a:gd name="adj2" fmla="val 40160"/>
              <a:gd name="adj3" fmla="val -46715"/>
              <a:gd name="adj4" fmla="val 814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zip文件内的所有文件名称列表，也可以自己指定要解压的文件名称或对应的ZipInfo对象</a:t>
            </a:r>
          </a:p>
        </p:txBody>
      </p:sp>
      <p:sp>
        <p:nvSpPr>
          <p:cNvPr id="5" name="线形标注 1 4"/>
          <p:cNvSpPr/>
          <p:nvPr/>
        </p:nvSpPr>
        <p:spPr>
          <a:xfrm>
            <a:off x="5735955" y="3501390"/>
            <a:ext cx="1800225" cy="1727835"/>
          </a:xfrm>
          <a:prstGeom prst="borderCallout1">
            <a:avLst>
              <a:gd name="adj1" fmla="val -2903"/>
              <a:gd name="adj2" fmla="val 26560"/>
              <a:gd name="adj3" fmla="val -67585"/>
              <a:gd name="adj4" fmla="val 189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指定解析文件保存的文件夹</a:t>
            </a:r>
          </a:p>
        </p:txBody>
      </p:sp>
      <p:sp>
        <p:nvSpPr>
          <p:cNvPr id="6" name="线形标注 1 5"/>
          <p:cNvSpPr/>
          <p:nvPr/>
        </p:nvSpPr>
        <p:spPr>
          <a:xfrm>
            <a:off x="8760460" y="3141345"/>
            <a:ext cx="2088515" cy="1080135"/>
          </a:xfrm>
          <a:prstGeom prst="borderCallout1">
            <a:avLst>
              <a:gd name="adj1" fmla="val 33980"/>
              <a:gd name="adj2" fmla="val -1155"/>
              <a:gd name="adj3" fmla="val -77248"/>
              <a:gd name="adj4" fmla="val -7269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解压密码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4A0000-B593-427F-A4AF-D3408AE0C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91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443230"/>
            <a:ext cx="10852150" cy="1300480"/>
          </a:xfrm>
        </p:spPr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10-13 将例10-12建立的py.zip文件中的所有文件解压到E盘根目录下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47800" y="2026920"/>
            <a:ext cx="10074275" cy="3611880"/>
          </a:xfrm>
        </p:spPr>
        <p:txBody>
          <a:bodyPr/>
          <a:lstStyle/>
          <a:p>
            <a:pPr marL="0" indent="0">
              <a:buNone/>
            </a:pPr>
            <a:r>
              <a:rPr lang="zh-CN" altLang="en-US"/>
              <a:t>import zipfile</a:t>
            </a:r>
          </a:p>
          <a:p>
            <a:pPr marL="0" indent="0">
              <a:buNone/>
            </a:pPr>
            <a:r>
              <a:rPr lang="zh-CN" altLang="en-US"/>
              <a:t>zipFile = zipfile.ZipFile("e:/Python教材例子/py.zip")</a:t>
            </a:r>
          </a:p>
          <a:p>
            <a:pPr marL="0" indent="0">
              <a:buNone/>
            </a:pPr>
            <a:r>
              <a:rPr lang="zh-CN" altLang="en-US"/>
              <a:t>zipFile.extractall("e:/")</a:t>
            </a:r>
          </a:p>
          <a:p>
            <a:pPr marL="0" indent="0">
              <a:buNone/>
            </a:pPr>
            <a:r>
              <a:rPr lang="zh-CN" altLang="en-US"/>
              <a:t>zipFile.close()</a:t>
            </a:r>
          </a:p>
          <a:p>
            <a:pPr marL="0" indent="0">
              <a:buNone/>
            </a:pPr>
            <a:r>
              <a:rPr lang="zh-CN" altLang="en-US"/>
              <a:t>print("文件已解压完！")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09AC24-8CC6-4658-90BF-ACEE8463D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440815" y="2292350"/>
            <a:ext cx="9424035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10.9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文件操作应用举例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9538192-AAD0-4BE2-B84A-77359B15F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93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例</a:t>
            </a:r>
            <a:r>
              <a:rPr lang="en-US" altLang="zh-CN"/>
              <a:t>10-14 将九九乘法表按照如下格式输入到文件中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1*1=1</a:t>
            </a:r>
          </a:p>
          <a:p>
            <a:pPr marL="0" indent="0">
              <a:buNone/>
            </a:pPr>
            <a:r>
              <a:rPr lang="zh-CN" altLang="en-US"/>
              <a:t>1*2=2	2*2=4</a:t>
            </a:r>
          </a:p>
          <a:p>
            <a:pPr marL="0" indent="0">
              <a:buNone/>
            </a:pPr>
            <a:r>
              <a:rPr lang="zh-CN" altLang="en-US"/>
              <a:t>1*3=3	2*3=6	3*3=9</a:t>
            </a:r>
          </a:p>
          <a:p>
            <a:pPr marL="0" indent="0">
              <a:buNone/>
            </a:pPr>
            <a:r>
              <a:rPr lang="zh-CN" altLang="en-US"/>
              <a:t>1*4=4	2*4=8	3*4=12	4*4=16</a:t>
            </a:r>
          </a:p>
          <a:p>
            <a:pPr marL="0" indent="0">
              <a:buNone/>
            </a:pPr>
            <a:r>
              <a:rPr lang="zh-CN" altLang="en-US"/>
              <a:t>……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703BDD-1A1F-4B26-AA7A-26F0545C0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94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程序代码：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/>
              <a:t>with open('multiplication.txt', 'w') as f:</a:t>
            </a:r>
          </a:p>
          <a:p>
            <a:pPr marL="0" indent="0">
              <a:buNone/>
            </a:pPr>
            <a:r>
              <a:rPr lang="zh-CN" altLang="en-US"/>
              <a:t>    for i in range(1, 10):</a:t>
            </a:r>
          </a:p>
          <a:p>
            <a:pPr marL="0" indent="0">
              <a:buNone/>
            </a:pPr>
            <a:r>
              <a:rPr lang="zh-CN" altLang="en-US"/>
              <a:t>        for j in range(1, i + 1):</a:t>
            </a:r>
          </a:p>
          <a:p>
            <a:pPr marL="0" indent="0">
              <a:buNone/>
            </a:pPr>
            <a:r>
              <a:rPr lang="zh-CN" altLang="en-US"/>
              <a:t>            result = str(j) + '*' + str(i) + '=' + str(i * j) + '\t'</a:t>
            </a:r>
          </a:p>
          <a:p>
            <a:pPr marL="0" indent="0">
              <a:buNone/>
            </a:pPr>
            <a:r>
              <a:rPr lang="zh-CN" altLang="en-US"/>
              <a:t>            print(result, end='')</a:t>
            </a:r>
          </a:p>
          <a:p>
            <a:pPr marL="0" indent="0">
              <a:buNone/>
            </a:pPr>
            <a:r>
              <a:rPr lang="zh-CN" altLang="en-US"/>
              <a:t>            f.write(result)</a:t>
            </a:r>
          </a:p>
          <a:p>
            <a:pPr marL="0" indent="0">
              <a:buNone/>
            </a:pPr>
            <a:r>
              <a:rPr lang="zh-CN" altLang="en-US"/>
              <a:t>        print()</a:t>
            </a:r>
          </a:p>
          <a:p>
            <a:pPr marL="0" indent="0">
              <a:buNone/>
            </a:pPr>
            <a:r>
              <a:rPr lang="zh-CN" altLang="en-US"/>
              <a:t>        f.write('\n')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DF7A02-5CC4-4A84-B16F-B0CE23C12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95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443230"/>
            <a:ext cx="10852150" cy="201739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例</a:t>
            </a:r>
            <a:r>
              <a:rPr lang="en-US" altLang="zh-CN" dirty="0"/>
              <a:t>10-15 将诗歌《静夜思》的内容按行写入文件“poet.txt”中，并且要求编码格式为utf8，同时需要判断文件夹是否存在，如果不存在则先创建文件夹后再写入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75735" y="2566035"/>
            <a:ext cx="3237865" cy="37750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/>
              <a:t>静夜思</a:t>
            </a:r>
          </a:p>
          <a:p>
            <a:pPr marL="0" indent="0" algn="ctr">
              <a:buNone/>
            </a:pPr>
            <a:r>
              <a:rPr lang="zh-CN" altLang="en-US"/>
              <a:t>作者：李白</a:t>
            </a:r>
          </a:p>
          <a:p>
            <a:pPr marL="0" indent="0" algn="ctr">
              <a:buNone/>
            </a:pPr>
            <a:r>
              <a:rPr lang="zh-CN" altLang="en-US"/>
              <a:t>床前明月光</a:t>
            </a:r>
          </a:p>
          <a:p>
            <a:pPr marL="0" indent="0" algn="ctr">
              <a:buNone/>
            </a:pPr>
            <a:r>
              <a:rPr lang="zh-CN" altLang="en-US"/>
              <a:t>疑是地上霜</a:t>
            </a:r>
          </a:p>
          <a:p>
            <a:pPr marL="0" indent="0" algn="ctr">
              <a:buNone/>
            </a:pPr>
            <a:r>
              <a:rPr lang="zh-CN" altLang="en-US"/>
              <a:t>举头望明月</a:t>
            </a:r>
          </a:p>
          <a:p>
            <a:pPr marL="0" indent="0" algn="ctr">
              <a:buNone/>
            </a:pPr>
            <a:r>
              <a:rPr lang="zh-CN" altLang="en-US"/>
              <a:t>低头思故乡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C5524B-BE45-44C8-AD49-AB01A9933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96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程序代码：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0000" lnSpcReduction="20000"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zh-CN" altLang="en-US" dirty="0"/>
              <a:t>import os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dirty="0"/>
              <a:t>poet = ["静夜思\n", "作者：李白\n",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dirty="0"/>
              <a:t>        "床前明月光，\n", "疑是地上霜，\n",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dirty="0"/>
              <a:t>        "举头望明月，\n", "低头思故乡。"]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dirty="0"/>
              <a:t>path = "E:/Python教材例子"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dirty="0"/>
              <a:t>if not os.path.exists(path):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dirty="0"/>
              <a:t>    print("文件夹不存在，先创建文件夹！")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dirty="0"/>
              <a:t>    os.makedirs(path)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dirty="0"/>
              <a:t>    print("文件夹创建成功！")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dirty="0"/>
              <a:t>f = open("E:/Python教材例子/poet.txt", 'w', encoding="utf8")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dirty="0"/>
              <a:t>f.writelines(poet)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dirty="0"/>
              <a:t>f.close()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dirty="0"/>
              <a:t>print("写入成功！")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884961-C7A0-4CF7-9692-CFF351D0F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97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443230"/>
            <a:ext cx="10852150" cy="1614170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例</a:t>
            </a:r>
            <a:r>
              <a:rPr lang="en-US" altLang="zh-CN"/>
              <a:t>10-16 从文件members.txt中以字典形式读取数据，名字作为键，年龄作为值。文件中的内容如下，以制表符（'\t'）分隔数据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03830" y="2192020"/>
            <a:ext cx="4480560" cy="414909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Name	</a:t>
            </a:r>
            <a:r>
              <a:rPr lang="en-US" altLang="zh-CN" dirty="0"/>
              <a:t>	</a:t>
            </a:r>
            <a:r>
              <a:rPr lang="zh-CN" altLang="en-US" dirty="0"/>
              <a:t>age</a:t>
            </a:r>
          </a:p>
          <a:p>
            <a:pPr marL="0" indent="0">
              <a:buNone/>
            </a:pPr>
            <a:r>
              <a:rPr lang="zh-CN" altLang="en-US" dirty="0"/>
              <a:t>Andy	</a:t>
            </a:r>
            <a:r>
              <a:rPr lang="en-US" altLang="zh-CN" dirty="0"/>
              <a:t>	</a:t>
            </a:r>
            <a:r>
              <a:rPr lang="zh-CN" altLang="en-US" dirty="0"/>
              <a:t>32</a:t>
            </a:r>
          </a:p>
          <a:p>
            <a:pPr marL="0" indent="0">
              <a:buNone/>
            </a:pPr>
            <a:r>
              <a:rPr lang="zh-CN" altLang="en-US" dirty="0"/>
              <a:t>Bob		20</a:t>
            </a:r>
          </a:p>
          <a:p>
            <a:pPr marL="0" indent="0">
              <a:buNone/>
            </a:pPr>
            <a:r>
              <a:rPr lang="zh-CN" altLang="en-US" dirty="0"/>
              <a:t>Jenny	43</a:t>
            </a:r>
          </a:p>
          <a:p>
            <a:pPr marL="0" indent="0">
              <a:buNone/>
            </a:pPr>
            <a:r>
              <a:rPr lang="zh-CN" altLang="en-US" dirty="0"/>
              <a:t>Holly	48</a:t>
            </a:r>
          </a:p>
          <a:p>
            <a:pPr marL="0" indent="0">
              <a:buNone/>
            </a:pPr>
            <a:r>
              <a:rPr lang="zh-CN" altLang="en-US" dirty="0"/>
              <a:t>Danie	27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BFB4C9-3525-48E2-BBF8-C8D7DEA0A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98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程序代码：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2400" dirty="0"/>
              <a:t>content = []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400" dirty="0"/>
              <a:t>with open('members.txt', 'r') as f: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400" dirty="0"/>
              <a:t>    for line in f.readlines():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400" dirty="0"/>
              <a:t>        line_list = line.strip('\n').split('\t') #去除换行符，以制表符分隔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400" dirty="0"/>
              <a:t>        content.append(line_list)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400" dirty="0"/>
              <a:t>    keys = content[0]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400" dirty="0"/>
              <a:t>    for i in range(1, len(content)):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400" dirty="0"/>
              <a:t>        content_dict = {}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400" dirty="0"/>
              <a:t>        for k, v in zip(keys, content[i]):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400" dirty="0"/>
              <a:t>            content_dict[k] = v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400" dirty="0"/>
              <a:t>        print(content_dict)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462CBB-451F-4184-B6E4-E3F0BDF63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99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443230"/>
            <a:ext cx="10852150" cy="3589020"/>
          </a:xfrm>
        </p:spPr>
        <p:txBody>
          <a:bodyPr>
            <a:noAutofit/>
          </a:bodyPr>
          <a:lstStyle/>
          <a:p>
            <a:r>
              <a:rPr lang="zh-CN" altLang="en-US" sz="3600" dirty="0"/>
              <a:t>例</a:t>
            </a:r>
            <a:r>
              <a:rPr lang="en-US" altLang="zh-CN" sz="3600" dirty="0"/>
              <a:t>10-17 一个班级的成绩以文本文件的方式存放在score.txt中，每行为一个学生的成绩，其中第1列为姓名，第2列为平时成绩，第3列为期中成绩，第4列为期末成绩。要求读出该文件中所有学生的成绩，并按照：总评成绩=</a:t>
            </a:r>
            <a:r>
              <a:rPr lang="en-US" altLang="zh-CN" sz="3600" dirty="0" err="1"/>
              <a:t>平时成绩</a:t>
            </a:r>
            <a:r>
              <a:rPr lang="en-US" altLang="zh-CN" sz="3600" dirty="0"/>
              <a:t>*20%+</a:t>
            </a:r>
            <a:r>
              <a:rPr lang="en-US" altLang="zh-CN" sz="3600" dirty="0" err="1"/>
              <a:t>期中成绩</a:t>
            </a:r>
            <a:r>
              <a:rPr lang="en-US" altLang="zh-CN" sz="3600" dirty="0"/>
              <a:t>*20%+</a:t>
            </a:r>
            <a:r>
              <a:rPr lang="en-US" altLang="zh-CN" sz="3600" dirty="0" err="1"/>
              <a:t>期末成绩</a:t>
            </a:r>
            <a:r>
              <a:rPr lang="en-US" altLang="zh-CN" sz="3600" dirty="0"/>
              <a:t>*60%，</a:t>
            </a:r>
            <a:r>
              <a:rPr lang="en-US" altLang="zh-CN" sz="3600" dirty="0" err="1"/>
              <a:t>计算出总评成绩后，按照总评成绩降序写入文件score_sorted.txt中</a:t>
            </a:r>
            <a:endParaRPr lang="en-US" altLang="zh-CN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34310" y="4137660"/>
            <a:ext cx="5901055" cy="2203450"/>
          </a:xfrm>
        </p:spPr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zh-CN" altLang="en-US" dirty="0"/>
              <a:t>张三 85 75 78</a:t>
            </a:r>
          </a:p>
          <a:p>
            <a:pPr marL="0" indent="0">
              <a:buNone/>
            </a:pPr>
            <a:r>
              <a:rPr lang="zh-CN" altLang="en-US" dirty="0"/>
              <a:t>李四 80 84 82</a:t>
            </a:r>
          </a:p>
          <a:p>
            <a:pPr marL="0" indent="0">
              <a:buNone/>
            </a:pPr>
            <a:r>
              <a:rPr lang="zh-CN" altLang="en-US" dirty="0"/>
              <a:t>王五 90 88 85</a:t>
            </a:r>
          </a:p>
          <a:p>
            <a:pPr marL="0" indent="0">
              <a:buNone/>
            </a:pPr>
            <a:r>
              <a:rPr lang="zh-CN" altLang="en-US" dirty="0"/>
              <a:t>赵六 70 63 71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DBED6F-EFBA-42CB-964B-5A4E0246F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100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/>
              <a:t>程序代码：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263352" y="908720"/>
            <a:ext cx="11665296" cy="5208240"/>
          </a:xfrm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zh-CN" altLang="en-US" sz="2400" dirty="0"/>
              <a:t>def total(regular, midterm, final):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400" dirty="0"/>
              <a:t>    return regular * 0.2 + midterm * 0.2 + final * 0.6</a:t>
            </a:r>
          </a:p>
          <a:p>
            <a:pPr marL="0" indent="0">
              <a:lnSpc>
                <a:spcPct val="80000"/>
              </a:lnSpc>
              <a:buNone/>
            </a:pPr>
            <a:endParaRPr lang="zh-CN" altLang="en-US" sz="2400" dirty="0"/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400" dirty="0"/>
              <a:t>def main():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400" dirty="0"/>
              <a:t>    with open('score.txt', 'r') as f: 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400" dirty="0"/>
              <a:t>        content = f.readlines()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400" dirty="0"/>
              <a:t>        i = 0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400" dirty="0"/>
              <a:t>        for line in content: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400" dirty="0"/>
              <a:t>            line_list = line.strip('\n').split()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400" dirty="0"/>
              <a:t>            content[i] = line_list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400" dirty="0"/>
              <a:t>            t = total(int(content[i][1]), int(content[i][2]), int(content[i][3]))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400" dirty="0"/>
              <a:t>            content[i].append(t)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400" dirty="0"/>
              <a:t>            i = i + 1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878195" y="6222365"/>
            <a:ext cx="259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下一页（续）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830845D-CC9F-42AE-8330-833223916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101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接上一页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2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>
                <a:sym typeface="+mn-ea"/>
              </a:rPr>
              <a:t>    content.sort(key=lambda x:x[4], reverse=True)</a:t>
            </a:r>
            <a:endParaRPr lang="zh-CN" altLang="en-US"/>
          </a:p>
          <a:p>
            <a:pPr marL="0" indent="0">
              <a:lnSpc>
                <a:spcPct val="100000"/>
              </a:lnSpc>
              <a:buNone/>
            </a:pPr>
            <a:r>
              <a:rPr>
                <a:sym typeface="+mn-ea"/>
              </a:rPr>
              <a:t>    with open('score_sorted.txt', 'w') as f:</a:t>
            </a:r>
            <a:endParaRPr lang="zh-CN" altLang="en-US"/>
          </a:p>
          <a:p>
            <a:pPr marL="0" indent="0">
              <a:lnSpc>
                <a:spcPct val="100000"/>
              </a:lnSpc>
              <a:buNone/>
            </a:pPr>
            <a:r>
              <a:rPr>
                <a:sym typeface="+mn-ea"/>
              </a:rPr>
              <a:t>        for line_list in content:</a:t>
            </a:r>
            <a:endParaRPr lang="zh-CN" altLang="en-US"/>
          </a:p>
          <a:p>
            <a:pPr marL="0" indent="0">
              <a:lnSpc>
                <a:spcPct val="100000"/>
              </a:lnSpc>
              <a:buNone/>
            </a:pPr>
            <a:r>
              <a:rPr>
                <a:sym typeface="+mn-ea"/>
              </a:rPr>
              <a:t>            print(line_list)</a:t>
            </a:r>
            <a:endParaRPr lang="zh-CN" altLang="en-US"/>
          </a:p>
          <a:p>
            <a:pPr marL="0" indent="0">
              <a:lnSpc>
                <a:spcPct val="100000"/>
              </a:lnSpc>
              <a:buNone/>
            </a:pPr>
            <a:r>
              <a:rPr>
                <a:sym typeface="+mn-ea"/>
              </a:rPr>
              <a:t>            line = ''</a:t>
            </a:r>
            <a:endParaRPr lang="zh-CN" altLang="en-US"/>
          </a:p>
          <a:p>
            <a:pPr marL="0" indent="0">
              <a:lnSpc>
                <a:spcPct val="100000"/>
              </a:lnSpc>
              <a:buNone/>
            </a:pPr>
            <a:r>
              <a:rPr>
                <a:sym typeface="+mn-ea"/>
              </a:rPr>
              <a:t>            for i in range(4):</a:t>
            </a:r>
            <a:endParaRPr lang="zh-CN" altLang="en-US"/>
          </a:p>
          <a:p>
            <a:pPr marL="0" indent="0">
              <a:lnSpc>
                <a:spcPct val="100000"/>
              </a:lnSpc>
              <a:buNone/>
            </a:pPr>
            <a:r>
              <a:rPr>
                <a:sym typeface="+mn-ea"/>
              </a:rPr>
              <a:t>                line = line + line_list[i] + ' '</a:t>
            </a:r>
            <a:endParaRPr lang="zh-CN" altLang="en-US"/>
          </a:p>
          <a:p>
            <a:pPr marL="0" indent="0">
              <a:lnSpc>
                <a:spcPct val="100000"/>
              </a:lnSpc>
              <a:buNone/>
            </a:pPr>
            <a:r>
              <a:rPr>
                <a:sym typeface="+mn-ea"/>
              </a:rPr>
              <a:t>            line = line + '\n'</a:t>
            </a:r>
            <a:endParaRPr lang="zh-CN" altLang="en-US"/>
          </a:p>
          <a:p>
            <a:pPr marL="0" indent="0">
              <a:lnSpc>
                <a:spcPct val="100000"/>
              </a:lnSpc>
              <a:buNone/>
            </a:pPr>
            <a:r>
              <a:rPr>
                <a:sym typeface="+mn-ea"/>
              </a:rPr>
              <a:t>            f.write(line)</a:t>
            </a:r>
            <a:endParaRPr lang="zh-CN" altLang="en-US"/>
          </a:p>
          <a:p>
            <a:pPr marL="0" indent="0">
              <a:lnSpc>
                <a:spcPct val="100000"/>
              </a:lnSpc>
              <a:buNone/>
            </a:pPr>
            <a:endParaRPr lang="zh-CN" altLang="en-US"/>
          </a:p>
          <a:p>
            <a:pPr marL="0" indent="0">
              <a:lnSpc>
                <a:spcPct val="100000"/>
              </a:lnSpc>
              <a:buNone/>
            </a:pPr>
            <a:r>
              <a:rPr>
                <a:sym typeface="+mn-ea"/>
              </a:rPr>
              <a:t>main()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EBAF14-B210-415F-8024-018C33D42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443230"/>
            <a:ext cx="10852150" cy="3125470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例</a:t>
            </a:r>
            <a:r>
              <a:rPr lang="en-US" altLang="zh-CN"/>
              <a:t>10-18 编写程序制作英文学习词典。词典有3个基本功能：添加单词、查询、退出。词典是一个文本文件dict.txt，里面每一行存一对中英文翻译，前面是英文单词，后面是中文翻译，中间用逗号分隔。程序运行后，当输入1、2、3的数字，可以分别对应添加单词、查询和退出功能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5484EAB-645E-433C-B097-C64DF82B1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103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程序代码：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/>
              <a:t>import sys</a:t>
            </a:r>
          </a:p>
          <a:p>
            <a:pPr marL="0" indent="0">
              <a:buNone/>
            </a:pPr>
            <a:r>
              <a:rPr lang="zh-CN" altLang="en-US"/>
              <a:t>while True:</a:t>
            </a:r>
          </a:p>
          <a:p>
            <a:pPr marL="0" indent="0">
              <a:buNone/>
            </a:pPr>
            <a:r>
              <a:rPr lang="zh-CN" altLang="en-US"/>
              <a:t>    choose = int(input("请输入您的选择：(1--添加，2--查询，3--退出)："))</a:t>
            </a:r>
          </a:p>
          <a:p>
            <a:pPr marL="0" indent="0">
              <a:buNone/>
            </a:pPr>
            <a:r>
              <a:rPr lang="zh-CN" altLang="en-US"/>
              <a:t>    if choose == 1:     # 添加</a:t>
            </a:r>
          </a:p>
          <a:p>
            <a:pPr marL="0" indent="0">
              <a:buNone/>
            </a:pPr>
            <a:r>
              <a:rPr lang="zh-CN" altLang="en-US"/>
              <a:t>        f = open("dict.txt", 'a')</a:t>
            </a:r>
          </a:p>
          <a:p>
            <a:pPr marL="0" indent="0">
              <a:buNone/>
            </a:pPr>
            <a:r>
              <a:rPr lang="zh-CN" altLang="en-US"/>
              <a:t>        str1 = input("请输入要添加的英文单词：")</a:t>
            </a:r>
          </a:p>
          <a:p>
            <a:pPr marL="0" indent="0">
              <a:buNone/>
            </a:pPr>
            <a:r>
              <a:rPr lang="zh-CN" altLang="en-US"/>
              <a:t>        str2 = input("请给出中文解释：")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173220" y="6128385"/>
            <a:ext cx="2264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下一页（续）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7D2B96B-5790-464B-83AC-1C030D21F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104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接上一页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        line = str1 + "," + str2 + '\n'</a:t>
            </a:r>
          </a:p>
          <a:p>
            <a:pPr marL="0" indent="0">
              <a:buNone/>
            </a:pPr>
            <a:r>
              <a:rPr lang="zh-CN" altLang="en-US"/>
              <a:t>        f.write(line)</a:t>
            </a:r>
          </a:p>
          <a:p>
            <a:pPr marL="0" indent="0">
              <a:buNone/>
            </a:pPr>
            <a:r>
              <a:rPr lang="zh-CN" altLang="en-US"/>
              <a:t>        f.close()</a:t>
            </a:r>
          </a:p>
          <a:p>
            <a:pPr marL="0" indent="0">
              <a:buNone/>
            </a:pPr>
            <a:r>
              <a:rPr lang="zh-CN" altLang="en-US"/>
              <a:t>    elif choose == 2:    # 查询</a:t>
            </a:r>
          </a:p>
          <a:p>
            <a:pPr marL="0" indent="0">
              <a:buNone/>
            </a:pPr>
            <a:r>
              <a:rPr lang="zh-CN" altLang="en-US"/>
              <a:t>        flag = 0</a:t>
            </a:r>
          </a:p>
          <a:p>
            <a:pPr marL="0" indent="0">
              <a:buNone/>
            </a:pPr>
            <a:r>
              <a:rPr lang="zh-CN" altLang="en-US"/>
              <a:t>        f = open("dict.txt", 'r')</a:t>
            </a:r>
          </a:p>
          <a:p>
            <a:pPr marL="0" indent="0">
              <a:buNone/>
            </a:pPr>
            <a:r>
              <a:rPr lang="zh-CN" altLang="en-US"/>
              <a:t>        word = input("请输入要查询的单词：")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173220" y="5972810"/>
            <a:ext cx="2264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下一页（续）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4805B1B-F3A7-4480-A288-B8EA3F3E1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105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接上一页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7500" lnSpcReduction="10000"/>
          </a:bodyPr>
          <a:lstStyle/>
          <a:p>
            <a:pPr marL="0" indent="0">
              <a:buNone/>
            </a:pPr>
            <a:r>
              <a:rPr lang="zh-CN" altLang="en-US"/>
              <a:t>        while True:</a:t>
            </a:r>
          </a:p>
          <a:p>
            <a:pPr marL="0" indent="0">
              <a:buNone/>
            </a:pPr>
            <a:r>
              <a:rPr lang="zh-CN" altLang="en-US"/>
              <a:t>            s = f.readline()</a:t>
            </a:r>
          </a:p>
          <a:p>
            <a:pPr marL="0" indent="0">
              <a:buNone/>
            </a:pPr>
            <a:r>
              <a:rPr lang="zh-CN" altLang="en-US"/>
              <a:t>            if not s:</a:t>
            </a:r>
          </a:p>
          <a:p>
            <a:pPr marL="0" indent="0">
              <a:buNone/>
            </a:pPr>
            <a:r>
              <a:rPr lang="zh-CN" altLang="en-US"/>
              <a:t>                pos = s.find(',')</a:t>
            </a:r>
          </a:p>
          <a:p>
            <a:pPr marL="0" indent="0">
              <a:buNone/>
            </a:pPr>
            <a:r>
              <a:rPr lang="zh-CN" altLang="en-US"/>
              <a:t>                s1 = s[0: pos]</a:t>
            </a:r>
          </a:p>
          <a:p>
            <a:pPr marL="0" indent="0">
              <a:buNone/>
            </a:pPr>
            <a:r>
              <a:rPr lang="zh-CN" altLang="en-US"/>
              <a:t>                if word == s1:</a:t>
            </a:r>
          </a:p>
          <a:p>
            <a:pPr marL="0" indent="0">
              <a:buNone/>
            </a:pPr>
            <a:r>
              <a:rPr lang="zh-CN" altLang="en-US"/>
              <a:t>                    print("单词释义：{}".format(s[pos: len(s)]))</a:t>
            </a:r>
          </a:p>
          <a:p>
            <a:pPr marL="0" indent="0">
              <a:buNone/>
            </a:pPr>
            <a:r>
              <a:rPr lang="zh-CN" altLang="en-US"/>
              <a:t>                    flag = 1</a:t>
            </a:r>
          </a:p>
          <a:p>
            <a:pPr marL="0" indent="0">
              <a:buNone/>
            </a:pPr>
            <a:r>
              <a:rPr lang="zh-CN" altLang="en-US"/>
              <a:t>                    break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173220" y="5972810"/>
            <a:ext cx="2264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下一页（续）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A2B45D-F5CE-4201-A3BE-A0D57A65D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106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接上一页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zh-CN" altLang="en-US"/>
              <a:t>            else:</a:t>
            </a:r>
          </a:p>
          <a:p>
            <a:pPr marL="0" indent="0">
              <a:buNone/>
            </a:pPr>
            <a:r>
              <a:rPr lang="zh-CN" altLang="en-US"/>
              <a:t>                break</a:t>
            </a:r>
          </a:p>
          <a:p>
            <a:pPr marL="0" indent="0">
              <a:buNone/>
            </a:pPr>
            <a:r>
              <a:rPr lang="zh-CN" altLang="en-US"/>
              <a:t>        if flag == 0:</a:t>
            </a:r>
          </a:p>
          <a:p>
            <a:pPr marL="0" indent="0">
              <a:buNone/>
            </a:pPr>
            <a:r>
              <a:rPr lang="zh-CN" altLang="en-US"/>
              <a:t>            print("字典中没有这个单词！")</a:t>
            </a:r>
          </a:p>
          <a:p>
            <a:pPr marL="0" indent="0">
              <a:buNone/>
            </a:pPr>
            <a:r>
              <a:rPr lang="zh-CN" altLang="en-US"/>
              <a:t>        f.close()</a:t>
            </a:r>
          </a:p>
          <a:p>
            <a:pPr marL="0" indent="0">
              <a:buNone/>
            </a:pPr>
            <a:r>
              <a:rPr lang="zh-CN" altLang="en-US"/>
              <a:t>    elif choose == 3:     # 退出</a:t>
            </a:r>
          </a:p>
          <a:p>
            <a:pPr marL="0" indent="0">
              <a:buNone/>
            </a:pPr>
            <a:r>
              <a:rPr lang="zh-CN" altLang="en-US"/>
              <a:t>        sys.exit()</a:t>
            </a:r>
          </a:p>
          <a:p>
            <a:pPr marL="0" indent="0">
              <a:buNone/>
            </a:pPr>
            <a:r>
              <a:rPr lang="zh-CN" altLang="en-US"/>
              <a:t>    else:</a:t>
            </a:r>
          </a:p>
          <a:p>
            <a:pPr marL="0" indent="0">
              <a:buNone/>
            </a:pPr>
            <a:r>
              <a:rPr lang="zh-CN" altLang="en-US"/>
              <a:t>        print("选择错误，请重输！")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8B1796-174B-4F75-AE32-071B478F8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107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0C2DD7-5A7C-4AFC-BA08-FBD495054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049531"/>
          </a:xfrm>
        </p:spPr>
        <p:txBody>
          <a:bodyPr/>
          <a:lstStyle/>
          <a:p>
            <a:pPr algn="ctr"/>
            <a:r>
              <a:rPr lang="zh-CN" altLang="en-US" dirty="0"/>
              <a:t>本章习题  </a:t>
            </a:r>
            <a:r>
              <a:rPr lang="en-US" altLang="zh-CN" sz="3200" dirty="0"/>
              <a:t>P</a:t>
            </a:r>
            <a:endParaRPr lang="zh-CN" altLang="en-US" sz="32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9AE7BC-7354-4629-8554-FC05A9081B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10.10</a:t>
            </a:r>
            <a:r>
              <a:rPr lang="zh-CN" altLang="en-US" sz="2400" dirty="0"/>
              <a:t>节习题</a:t>
            </a:r>
            <a:r>
              <a:rPr lang="en-US" altLang="zh-CN" sz="2400" dirty="0"/>
              <a:t>(P216-217)</a:t>
            </a:r>
            <a:r>
              <a:rPr lang="zh-CN" altLang="en-US" sz="2400" dirty="0"/>
              <a:t> 第</a:t>
            </a:r>
            <a:r>
              <a:rPr lang="en-US" altLang="zh-CN" sz="2400" dirty="0"/>
              <a:t>8-12</a:t>
            </a:r>
            <a:r>
              <a:rPr lang="zh-CN" altLang="en-US" sz="2400" dirty="0"/>
              <a:t>题。</a:t>
            </a:r>
            <a:endParaRPr lang="en-US" altLang="zh-CN" sz="2400" dirty="0"/>
          </a:p>
          <a:p>
            <a:endParaRPr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291311-7409-4F84-842C-304DE1AB5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384133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1E19F2-D970-42E6-A24E-080C6AEBF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260648"/>
            <a:ext cx="11737304" cy="621635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dirty="0"/>
              <a:t>8. </a:t>
            </a:r>
            <a:r>
              <a:rPr lang="zh-CN" altLang="en-US" dirty="0"/>
              <a:t>有一个英文文本文件，读取期中内容，将期中的大写字母转变为小写，将小写转换为大写，其余字母不变，</a:t>
            </a:r>
            <a:r>
              <a:rPr lang="en-US" altLang="zh-CN" dirty="0"/>
              <a:t>print</a:t>
            </a:r>
            <a:r>
              <a:rPr lang="zh-CN" altLang="en-US" dirty="0"/>
              <a:t>输出。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D:/temp/temp1.txt </a:t>
            </a:r>
            <a:r>
              <a:rPr lang="zh-CN" altLang="en-US" dirty="0"/>
              <a:t>内容如下：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运行结果：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====</a:t>
            </a:r>
          </a:p>
          <a:p>
            <a:pPr marL="0" indent="0">
              <a:buNone/>
            </a:pPr>
            <a:r>
              <a:rPr lang="en-US" altLang="zh-CN" dirty="0" err="1"/>
              <a:t>i</a:t>
            </a:r>
            <a:r>
              <a:rPr lang="en-US" altLang="zh-CN" dirty="0"/>
              <a:t> LIKE python.</a:t>
            </a:r>
          </a:p>
          <a:p>
            <a:pPr marL="0" indent="0">
              <a:buNone/>
            </a:pPr>
            <a:r>
              <a:rPr lang="en-US" altLang="zh-CN" dirty="0" err="1"/>
              <a:t>iT'S</a:t>
            </a:r>
            <a:r>
              <a:rPr lang="en-US" altLang="zh-CN" dirty="0"/>
              <a:t> GOOD!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C3E4F9-A110-4164-A5AB-9FA113E6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109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D78BC4E-848B-4FD9-A73C-5E2FFCBF2D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2060848"/>
            <a:ext cx="4167746" cy="2061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315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35785-3F71-4046-A30D-C980A3398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A8DAD2-E315-41C4-A23B-CF40B2823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dirty="0"/>
              <a:t>f = open('d:/temp/temp1.txt','r')</a:t>
            </a:r>
          </a:p>
          <a:p>
            <a:pPr marL="0" indent="0">
              <a:buNone/>
            </a:pPr>
            <a:r>
              <a:rPr lang="en-US" altLang="zh-CN" dirty="0"/>
              <a:t>s = </a:t>
            </a:r>
            <a:r>
              <a:rPr lang="en-US" altLang="zh-CN" dirty="0" err="1"/>
              <a:t>f.read</a:t>
            </a:r>
            <a:r>
              <a:rPr lang="en-US" altLang="zh-CN" dirty="0"/>
              <a:t>()</a:t>
            </a:r>
          </a:p>
          <a:p>
            <a:pPr marL="0" indent="0">
              <a:buNone/>
            </a:pPr>
            <a:r>
              <a:rPr lang="en-US" altLang="zh-CN" dirty="0"/>
              <a:t>s1 = ''</a:t>
            </a:r>
          </a:p>
          <a:p>
            <a:pPr marL="0" indent="0">
              <a:buNone/>
            </a:pPr>
            <a:r>
              <a:rPr lang="en-US" altLang="zh-CN" dirty="0"/>
              <a:t>for </a:t>
            </a:r>
            <a:r>
              <a:rPr lang="en-US" altLang="zh-CN" dirty="0" err="1"/>
              <a:t>ch</a:t>
            </a:r>
            <a:r>
              <a:rPr lang="en-US" altLang="zh-CN" dirty="0"/>
              <a:t> in s:</a:t>
            </a:r>
          </a:p>
          <a:p>
            <a:pPr marL="0" indent="0">
              <a:buNone/>
            </a:pPr>
            <a:r>
              <a:rPr lang="en-US" altLang="zh-CN" dirty="0"/>
              <a:t>    if 'a'&lt;=</a:t>
            </a:r>
            <a:r>
              <a:rPr lang="en-US" altLang="zh-CN" dirty="0" err="1"/>
              <a:t>ch</a:t>
            </a:r>
            <a:r>
              <a:rPr lang="en-US" altLang="zh-CN" dirty="0"/>
              <a:t>&lt;='z':</a:t>
            </a:r>
          </a:p>
          <a:p>
            <a:pPr marL="0" indent="0">
              <a:buNone/>
            </a:pPr>
            <a:r>
              <a:rPr lang="en-US" altLang="zh-CN" dirty="0"/>
              <a:t>        s1 = s1 + </a:t>
            </a:r>
            <a:r>
              <a:rPr lang="en-US" altLang="zh-CN" dirty="0" err="1"/>
              <a:t>ch.upper</a:t>
            </a:r>
            <a:r>
              <a:rPr lang="en-US" altLang="zh-CN" dirty="0"/>
              <a:t>()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elif</a:t>
            </a:r>
            <a:r>
              <a:rPr lang="en-US" altLang="zh-CN" dirty="0"/>
              <a:t> 'A'&lt;=</a:t>
            </a:r>
            <a:r>
              <a:rPr lang="en-US" altLang="zh-CN" dirty="0" err="1"/>
              <a:t>ch</a:t>
            </a:r>
            <a:r>
              <a:rPr lang="en-US" altLang="zh-CN" dirty="0"/>
              <a:t>&lt;='Z':</a:t>
            </a:r>
          </a:p>
          <a:p>
            <a:pPr marL="0" indent="0">
              <a:buNone/>
            </a:pPr>
            <a:r>
              <a:rPr lang="en-US" altLang="zh-CN" dirty="0"/>
              <a:t>        s1 = s1 + </a:t>
            </a:r>
            <a:r>
              <a:rPr lang="en-US" altLang="zh-CN" dirty="0" err="1"/>
              <a:t>ch.lower</a:t>
            </a:r>
            <a:r>
              <a:rPr lang="en-US" altLang="zh-CN" dirty="0"/>
              <a:t>()</a:t>
            </a:r>
          </a:p>
          <a:p>
            <a:pPr marL="0" indent="0">
              <a:buNone/>
            </a:pPr>
            <a:r>
              <a:rPr lang="en-US" altLang="zh-CN" dirty="0"/>
              <a:t>    else:</a:t>
            </a:r>
          </a:p>
          <a:p>
            <a:pPr marL="0" indent="0">
              <a:buNone/>
            </a:pPr>
            <a:r>
              <a:rPr lang="en-US" altLang="zh-CN" dirty="0"/>
              <a:t>        s1 = s1 + </a:t>
            </a:r>
            <a:r>
              <a:rPr lang="en-US" altLang="zh-CN" dirty="0" err="1"/>
              <a:t>ch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print(s1)</a:t>
            </a:r>
          </a:p>
          <a:p>
            <a:pPr marL="0" indent="0">
              <a:buNone/>
            </a:pPr>
            <a:r>
              <a:rPr lang="en-US" altLang="zh-CN" dirty="0" err="1"/>
              <a:t>f.close</a:t>
            </a:r>
            <a:r>
              <a:rPr lang="en-US" altLang="zh-CN" dirty="0"/>
              <a:t>()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0108-9FC9-4AD1-9114-F843371C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110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19574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2D1C2A-019D-47C6-8BC4-A01F0D659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FA46ED-EBDB-4A2D-B22C-26ECA2E0D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dirty="0"/>
              <a:t>9. </a:t>
            </a:r>
            <a:r>
              <a:rPr lang="zh-CN" altLang="en-US" dirty="0"/>
              <a:t>读取一个文本文件（不超过</a:t>
            </a:r>
            <a:r>
              <a:rPr lang="en-US" altLang="zh-CN" dirty="0"/>
              <a:t>30</a:t>
            </a:r>
            <a:r>
              <a:rPr lang="zh-CN" altLang="en-US" dirty="0"/>
              <a:t>行），在每一行前面加一个行号，在屏幕上输出，行号占</a:t>
            </a:r>
            <a:r>
              <a:rPr lang="en-US" altLang="zh-CN" dirty="0"/>
              <a:t>4</a:t>
            </a:r>
            <a:r>
              <a:rPr lang="zh-CN" altLang="en-US" dirty="0"/>
              <a:t>个字符。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====</a:t>
            </a:r>
          </a:p>
          <a:p>
            <a:pPr marL="0" indent="0">
              <a:buNone/>
            </a:pPr>
            <a:r>
              <a:rPr lang="en-US" altLang="zh-CN" dirty="0"/>
              <a:t>1   n = int(input('</a:t>
            </a:r>
            <a:r>
              <a:rPr lang="zh-CN" altLang="en-US" dirty="0"/>
              <a:t>请输入一个整数：</a:t>
            </a:r>
            <a:r>
              <a:rPr lang="en-US" altLang="zh-CN" dirty="0"/>
              <a:t>'))</a:t>
            </a:r>
          </a:p>
          <a:p>
            <a:pPr marL="0" indent="0">
              <a:buNone/>
            </a:pPr>
            <a:r>
              <a:rPr lang="en-US" altLang="zh-CN" dirty="0"/>
              <a:t>2   for </a:t>
            </a:r>
            <a:r>
              <a:rPr lang="en-US" altLang="zh-CN" dirty="0" err="1"/>
              <a:t>i</a:t>
            </a:r>
            <a:r>
              <a:rPr lang="en-US" altLang="zh-CN" dirty="0"/>
              <a:t> in range(2,n):</a:t>
            </a:r>
          </a:p>
          <a:p>
            <a:pPr marL="0" indent="0">
              <a:buNone/>
            </a:pPr>
            <a:r>
              <a:rPr lang="en-US" altLang="zh-CN" dirty="0"/>
              <a:t>3       if n % </a:t>
            </a:r>
            <a:r>
              <a:rPr lang="en-US" altLang="zh-CN" dirty="0" err="1"/>
              <a:t>i</a:t>
            </a:r>
            <a:r>
              <a:rPr lang="en-US" altLang="zh-CN" dirty="0"/>
              <a:t> == 0:</a:t>
            </a:r>
          </a:p>
          <a:p>
            <a:pPr marL="0" indent="0">
              <a:buNone/>
            </a:pPr>
            <a:r>
              <a:rPr lang="en-US" altLang="zh-CN" dirty="0"/>
              <a:t>4           print(n, '</a:t>
            </a:r>
            <a:r>
              <a:rPr lang="zh-CN" altLang="en-US" dirty="0"/>
              <a:t>不是素数</a:t>
            </a:r>
            <a:r>
              <a:rPr lang="en-US" altLang="zh-CN" dirty="0"/>
              <a:t>')</a:t>
            </a:r>
          </a:p>
          <a:p>
            <a:pPr marL="0" indent="0">
              <a:buNone/>
            </a:pPr>
            <a:r>
              <a:rPr lang="en-US" altLang="zh-CN" dirty="0"/>
              <a:t>5           break</a:t>
            </a:r>
          </a:p>
          <a:p>
            <a:pPr marL="0" indent="0">
              <a:buNone/>
            </a:pPr>
            <a:r>
              <a:rPr lang="en-US" altLang="zh-CN" dirty="0"/>
              <a:t>6   else:</a:t>
            </a:r>
          </a:p>
          <a:p>
            <a:pPr marL="0" indent="0">
              <a:buNone/>
            </a:pPr>
            <a:r>
              <a:rPr lang="en-US" altLang="zh-CN" dirty="0"/>
              <a:t>7       print(n, '</a:t>
            </a:r>
            <a:r>
              <a:rPr lang="zh-CN" altLang="en-US" dirty="0"/>
              <a:t>是素数</a:t>
            </a:r>
            <a:r>
              <a:rPr lang="en-US" altLang="zh-CN" dirty="0"/>
              <a:t>')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77F890-5345-4D9E-8F8A-B9C960B50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145569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90CA2A-BF65-4599-AC70-C02FE012D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05AC26-35F9-4C68-B5D3-FC594C661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dirty="0"/>
              <a:t>f = open('d:/temp/temp2.txt','r',encoding="UTF-8")</a:t>
            </a:r>
          </a:p>
          <a:p>
            <a:pPr marL="0" indent="0">
              <a:buNone/>
            </a:pPr>
            <a:r>
              <a:rPr lang="en-US" altLang="zh-CN" dirty="0" err="1"/>
              <a:t>ListLine</a:t>
            </a:r>
            <a:r>
              <a:rPr lang="en-US" altLang="zh-CN" dirty="0"/>
              <a:t> = </a:t>
            </a:r>
            <a:r>
              <a:rPr lang="en-US" altLang="zh-CN" dirty="0" err="1"/>
              <a:t>f.readlines</a:t>
            </a:r>
            <a:r>
              <a:rPr lang="en-US" altLang="zh-CN" dirty="0"/>
              <a:t>()</a:t>
            </a:r>
          </a:p>
          <a:p>
            <a:pPr marL="0" indent="0">
              <a:buNone/>
            </a:pPr>
            <a:r>
              <a:rPr lang="en-US" altLang="zh-CN" dirty="0" err="1"/>
              <a:t>i</a:t>
            </a:r>
            <a:r>
              <a:rPr lang="en-US" altLang="zh-CN" dirty="0"/>
              <a:t> = 1</a:t>
            </a:r>
          </a:p>
          <a:p>
            <a:pPr marL="0" indent="0">
              <a:buNone/>
            </a:pPr>
            <a:r>
              <a:rPr lang="en-US" altLang="zh-CN" dirty="0"/>
              <a:t>for line in </a:t>
            </a:r>
            <a:r>
              <a:rPr lang="en-US" altLang="zh-CN" dirty="0" err="1"/>
              <a:t>ListLine</a:t>
            </a:r>
            <a:r>
              <a:rPr lang="en-US" altLang="zh-CN" dirty="0"/>
              <a:t>:     # </a:t>
            </a:r>
            <a:r>
              <a:rPr lang="zh-CN" altLang="en-US" dirty="0"/>
              <a:t>遍历列表</a:t>
            </a:r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/>
              <a:t>if </a:t>
            </a:r>
            <a:r>
              <a:rPr lang="en-US" altLang="zh-CN" dirty="0" err="1"/>
              <a:t>i</a:t>
            </a:r>
            <a:r>
              <a:rPr lang="en-US" altLang="zh-CN" dirty="0"/>
              <a:t>&lt;=9:</a:t>
            </a:r>
          </a:p>
          <a:p>
            <a:pPr marL="0" indent="0">
              <a:buNone/>
            </a:pPr>
            <a:r>
              <a:rPr lang="en-US" altLang="zh-CN" dirty="0"/>
              <a:t>        line1 = str(</a:t>
            </a:r>
            <a:r>
              <a:rPr lang="en-US" altLang="zh-CN" dirty="0" err="1"/>
              <a:t>i</a:t>
            </a:r>
            <a:r>
              <a:rPr lang="en-US" altLang="zh-CN" dirty="0"/>
              <a:t>) + ' '*3 + line</a:t>
            </a:r>
          </a:p>
          <a:p>
            <a:pPr marL="0" indent="0">
              <a:buNone/>
            </a:pPr>
            <a:r>
              <a:rPr lang="en-US" altLang="zh-CN" dirty="0"/>
              <a:t>    else:</a:t>
            </a:r>
          </a:p>
          <a:p>
            <a:pPr marL="0" indent="0">
              <a:buNone/>
            </a:pPr>
            <a:r>
              <a:rPr lang="en-US" altLang="zh-CN" dirty="0"/>
              <a:t>        line1 = str(</a:t>
            </a:r>
            <a:r>
              <a:rPr lang="en-US" altLang="zh-CN" dirty="0" err="1"/>
              <a:t>i</a:t>
            </a:r>
            <a:r>
              <a:rPr lang="en-US" altLang="zh-CN" dirty="0"/>
              <a:t>) + ' '*2 + line</a:t>
            </a:r>
          </a:p>
          <a:p>
            <a:pPr marL="0" indent="0">
              <a:buNone/>
            </a:pPr>
            <a:r>
              <a:rPr lang="en-US" altLang="zh-CN" dirty="0"/>
              <a:t>    print(line1, end="")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i</a:t>
            </a:r>
            <a:r>
              <a:rPr lang="en-US" altLang="zh-CN" dirty="0"/>
              <a:t>+=1</a:t>
            </a:r>
          </a:p>
          <a:p>
            <a:pPr marL="0" indent="0">
              <a:buNone/>
            </a:pPr>
            <a:r>
              <a:rPr lang="en-US" altLang="zh-CN" dirty="0" err="1"/>
              <a:t>f.close</a:t>
            </a:r>
            <a:r>
              <a:rPr lang="en-US" altLang="zh-CN" dirty="0"/>
              <a:t>()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381E25-4B33-4579-9B4F-6967C62AE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107707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947E30-BE40-4FD9-A87B-779D7C6AD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332656"/>
            <a:ext cx="11737304" cy="61443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10.</a:t>
            </a:r>
            <a:r>
              <a:rPr lang="zh-CN" altLang="en-US" dirty="0"/>
              <a:t>读取一个</a:t>
            </a:r>
            <a:r>
              <a:rPr lang="en-US" altLang="zh-CN" dirty="0"/>
              <a:t>python</a:t>
            </a:r>
            <a:r>
              <a:rPr lang="zh-CN" altLang="en-US" dirty="0"/>
              <a:t>文件，去掉期中的空行和注释，写入另外一个文件。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B04703-13D7-465B-8A23-3224F8709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113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9AAB0E1-6184-46D0-BEDE-B788CC025A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484784"/>
            <a:ext cx="4680520" cy="423345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68D7C53-5ED4-4AEA-A063-BCB5BAD19E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912" y="1479670"/>
            <a:ext cx="4344841" cy="355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40596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FDB0BF-5B06-41EB-B736-9D664BB2B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336" y="260648"/>
            <a:ext cx="11809312" cy="621635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zh-CN" dirty="0"/>
              <a:t>f = open('d:/temp/temp2.txt','r',encoding="UTF-8")</a:t>
            </a:r>
          </a:p>
          <a:p>
            <a:pPr marL="0" indent="0">
              <a:buNone/>
            </a:pPr>
            <a:r>
              <a:rPr lang="en-US" altLang="zh-CN" dirty="0" err="1"/>
              <a:t>newfile</a:t>
            </a:r>
            <a:r>
              <a:rPr lang="en-US" altLang="zh-CN" dirty="0"/>
              <a:t> = open('d:/temp/</a:t>
            </a:r>
            <a:r>
              <a:rPr lang="en-US" altLang="zh-CN" dirty="0" err="1"/>
              <a:t>new.txt','w',encoding</a:t>
            </a:r>
            <a:r>
              <a:rPr lang="en-US" altLang="zh-CN" dirty="0"/>
              <a:t>="UTF-8")</a:t>
            </a:r>
          </a:p>
          <a:p>
            <a:pPr marL="0" indent="0">
              <a:buNone/>
            </a:pPr>
            <a:r>
              <a:rPr lang="en-US" altLang="zh-CN" dirty="0" err="1"/>
              <a:t>ListLine</a:t>
            </a:r>
            <a:r>
              <a:rPr lang="en-US" altLang="zh-CN" dirty="0"/>
              <a:t> = </a:t>
            </a:r>
            <a:r>
              <a:rPr lang="en-US" altLang="zh-CN" dirty="0" err="1"/>
              <a:t>f.readlines</a:t>
            </a:r>
            <a:r>
              <a:rPr lang="en-US" altLang="zh-CN" dirty="0"/>
              <a:t>()</a:t>
            </a:r>
          </a:p>
          <a:p>
            <a:pPr marL="0" indent="0">
              <a:buNone/>
            </a:pPr>
            <a:r>
              <a:rPr lang="en-US" altLang="zh-CN" dirty="0"/>
              <a:t>for line in </a:t>
            </a:r>
            <a:r>
              <a:rPr lang="en-US" altLang="zh-CN" dirty="0" err="1"/>
              <a:t>ListLine</a:t>
            </a:r>
            <a:r>
              <a:rPr lang="en-US" altLang="zh-CN" dirty="0"/>
              <a:t>:</a:t>
            </a:r>
          </a:p>
          <a:p>
            <a:pPr marL="0" indent="0">
              <a:buNone/>
            </a:pPr>
            <a:r>
              <a:rPr lang="en-US" altLang="zh-CN" dirty="0"/>
              <a:t>    if not </a:t>
            </a:r>
            <a:r>
              <a:rPr lang="en-US" altLang="zh-CN" dirty="0" err="1"/>
              <a:t>line.split</a:t>
            </a:r>
            <a:r>
              <a:rPr lang="en-US" altLang="zh-CN" dirty="0"/>
              <a:t>():  #</a:t>
            </a:r>
            <a:r>
              <a:rPr lang="zh-CN" altLang="en-US" dirty="0"/>
              <a:t>空行</a:t>
            </a:r>
          </a:p>
          <a:p>
            <a:pPr marL="0" indent="0">
              <a:buNone/>
            </a:pPr>
            <a:r>
              <a:rPr lang="zh-CN" altLang="en-US" dirty="0"/>
              <a:t>        </a:t>
            </a:r>
            <a:r>
              <a:rPr lang="en-US" altLang="zh-CN" dirty="0"/>
              <a:t>newline = ''</a:t>
            </a:r>
          </a:p>
          <a:p>
            <a:pPr marL="0" indent="0">
              <a:buNone/>
            </a:pPr>
            <a:r>
              <a:rPr lang="en-US" altLang="zh-CN" dirty="0"/>
              <a:t>    else:</a:t>
            </a:r>
          </a:p>
          <a:p>
            <a:pPr marL="0" indent="0">
              <a:buNone/>
            </a:pPr>
            <a:r>
              <a:rPr lang="en-US" altLang="zh-CN" dirty="0"/>
              <a:t>        index = </a:t>
            </a:r>
            <a:r>
              <a:rPr lang="en-US" altLang="zh-CN" dirty="0" err="1"/>
              <a:t>line.find</a:t>
            </a:r>
            <a:r>
              <a:rPr lang="en-US" altLang="zh-CN" dirty="0"/>
              <a:t>('#')</a:t>
            </a:r>
          </a:p>
          <a:p>
            <a:pPr marL="0" indent="0">
              <a:buNone/>
            </a:pPr>
            <a:r>
              <a:rPr lang="en-US" altLang="zh-CN" dirty="0"/>
              <a:t>        if index == -1:</a:t>
            </a:r>
          </a:p>
          <a:p>
            <a:pPr marL="0" indent="0">
              <a:buNone/>
            </a:pPr>
            <a:r>
              <a:rPr lang="en-US" altLang="zh-CN" dirty="0"/>
              <a:t>            newline = line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elif</a:t>
            </a:r>
            <a:r>
              <a:rPr lang="en-US" altLang="zh-CN" dirty="0"/>
              <a:t> index == 0:</a:t>
            </a:r>
          </a:p>
          <a:p>
            <a:pPr marL="0" indent="0">
              <a:buNone/>
            </a:pPr>
            <a:r>
              <a:rPr lang="en-US" altLang="zh-CN" dirty="0"/>
              <a:t>            newline = ''</a:t>
            </a:r>
          </a:p>
          <a:p>
            <a:pPr marL="0" indent="0">
              <a:buNone/>
            </a:pPr>
            <a:r>
              <a:rPr lang="en-US" altLang="zh-CN" dirty="0"/>
              <a:t>        else:</a:t>
            </a:r>
          </a:p>
          <a:p>
            <a:pPr marL="0" indent="0">
              <a:buNone/>
            </a:pPr>
            <a:r>
              <a:rPr lang="en-US" altLang="zh-CN" dirty="0"/>
              <a:t>            newline = line[0:index]+'\n'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newfile.write</a:t>
            </a:r>
            <a:r>
              <a:rPr lang="en-US" altLang="zh-CN" dirty="0"/>
              <a:t>(newline)</a:t>
            </a:r>
          </a:p>
          <a:p>
            <a:pPr marL="0" indent="0">
              <a:buNone/>
            </a:pPr>
            <a:r>
              <a:rPr lang="en-US" altLang="zh-CN" dirty="0"/>
              <a:t>print('ok')</a:t>
            </a:r>
          </a:p>
          <a:p>
            <a:pPr marL="0" indent="0">
              <a:buNone/>
            </a:pPr>
            <a:r>
              <a:rPr lang="en-US" altLang="zh-CN" dirty="0" err="1"/>
              <a:t>f.close</a:t>
            </a:r>
            <a:r>
              <a:rPr lang="en-US" altLang="zh-CN" dirty="0"/>
              <a:t>()</a:t>
            </a:r>
          </a:p>
          <a:p>
            <a:pPr marL="0" indent="0">
              <a:buNone/>
            </a:pPr>
            <a:r>
              <a:rPr lang="en-US" altLang="zh-CN" dirty="0" err="1"/>
              <a:t>newfile.close</a:t>
            </a:r>
            <a:r>
              <a:rPr lang="en-US" altLang="zh-CN" dirty="0"/>
              <a:t>()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FAD600-FCE5-4CE4-8D52-9268ED1EF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838436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765777-3E4C-415F-B192-3B99D5F5E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E9FBDC-54CC-47D1-8EBB-E83A19399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12.</a:t>
            </a:r>
            <a:r>
              <a:rPr lang="zh-CN" altLang="en-US" dirty="0"/>
              <a:t>用户输入一个目录和一个文件名，编写程序搜索改目录及其子目录下是否存在该文件。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思路：三步走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0" dirty="0">
                <a:solidFill>
                  <a:srgbClr val="FFFFFF"/>
                </a:solidFill>
                <a:latin typeface="-apple-system"/>
              </a:rPr>
              <a:t>(1)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-apple-system"/>
              </a:rPr>
              <a:t>数据输入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-apple-system"/>
              </a:rPr>
              <a:t>: 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-apple-system"/>
              </a:rPr>
              <a:t>获取当前目录以及子目录下的所有文件或目录的名字</a:t>
            </a:r>
            <a:br>
              <a:rPr lang="zh-CN" altLang="en-US" dirty="0"/>
            </a:br>
            <a:r>
              <a:rPr lang="en-US" altLang="zh-CN" dirty="0"/>
              <a:t>(2)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-apple-system"/>
              </a:rPr>
              <a:t>数据处理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-apple-system"/>
              </a:rPr>
              <a:t>: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-apple-system"/>
              </a:rPr>
              <a:t>判断名字是否为文件，再判断名称是否包含指定的字符串</a:t>
            </a:r>
            <a:br>
              <a:rPr lang="zh-CN" altLang="en-US" dirty="0"/>
            </a:br>
            <a:r>
              <a:rPr lang="en-US" altLang="zh-CN" dirty="0"/>
              <a:t>(3)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-apple-system"/>
              </a:rPr>
              <a:t>数据输出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-apple-system"/>
              </a:rPr>
              <a:t>: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-apple-system"/>
              </a:rPr>
              <a:t>确定了包含指定字符串的文件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-apple-system"/>
              </a:rPr>
              <a:t>,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-apple-system"/>
              </a:rPr>
              <a:t>然后输出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E421D8-C679-4C6F-A8B7-ED48F9ABF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82767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FFD0C0-4496-43B7-A16F-204608B5A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B8C2C8AC-147D-415D-85FB-146F1B4883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4" y="195010"/>
            <a:ext cx="6526865" cy="2441901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BA6675-68DD-45F9-9973-BC3969535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116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F8A6DBA-659B-46DD-897E-6A7B37DB6302}"/>
              </a:ext>
            </a:extLst>
          </p:cNvPr>
          <p:cNvSpPr txBox="1"/>
          <p:nvPr/>
        </p:nvSpPr>
        <p:spPr>
          <a:xfrm>
            <a:off x="767408" y="3284984"/>
            <a:ext cx="62609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====</a:t>
            </a:r>
          </a:p>
          <a:p>
            <a:r>
              <a:rPr lang="zh-CN" altLang="en-US" dirty="0"/>
              <a:t>目录：d:/temp</a:t>
            </a:r>
          </a:p>
          <a:p>
            <a:r>
              <a:rPr lang="zh-CN" altLang="en-US" dirty="0"/>
              <a:t>文件：temp1.txt</a:t>
            </a:r>
          </a:p>
          <a:p>
            <a:r>
              <a:rPr lang="zh-CN" altLang="en-US" dirty="0"/>
              <a:t>存在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392350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C20F16-0B69-407D-85DE-7AC510225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332656"/>
            <a:ext cx="11665296" cy="614434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CN" dirty="0"/>
              <a:t>import </a:t>
            </a:r>
            <a:r>
              <a:rPr lang="en-US" altLang="zh-CN" dirty="0" err="1"/>
              <a:t>os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path = input('</a:t>
            </a:r>
            <a:r>
              <a:rPr lang="zh-CN" altLang="en-US" dirty="0"/>
              <a:t>目录：</a:t>
            </a:r>
            <a:r>
              <a:rPr lang="en-US" altLang="zh-CN" dirty="0"/>
              <a:t>')</a:t>
            </a:r>
          </a:p>
          <a:p>
            <a:pPr marL="0" indent="0">
              <a:buNone/>
            </a:pPr>
            <a:r>
              <a:rPr lang="en-US" altLang="zh-CN" dirty="0"/>
              <a:t>file = input('</a:t>
            </a:r>
            <a:r>
              <a:rPr lang="zh-CN" altLang="en-US" dirty="0"/>
              <a:t>文</a:t>
            </a:r>
            <a:r>
              <a:rPr lang="en-US" altLang="zh-CN" dirty="0"/>
              <a:t>3</a:t>
            </a:r>
            <a:r>
              <a:rPr lang="zh-CN" altLang="en-US" dirty="0"/>
              <a:t>件：</a:t>
            </a:r>
            <a:r>
              <a:rPr lang="en-US" altLang="zh-CN" dirty="0"/>
              <a:t>')</a:t>
            </a:r>
          </a:p>
          <a:p>
            <a:pPr marL="0" indent="0">
              <a:buNone/>
            </a:pPr>
            <a:r>
              <a:rPr lang="en-US" altLang="zh-CN" dirty="0" err="1"/>
              <a:t>all_list</a:t>
            </a:r>
            <a:r>
              <a:rPr lang="en-US" altLang="zh-CN" dirty="0"/>
              <a:t> = []    # </a:t>
            </a:r>
            <a:r>
              <a:rPr lang="zh-CN" altLang="en-US"/>
              <a:t>用来存放目录下的所有子目录和文件名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def </a:t>
            </a:r>
            <a:r>
              <a:rPr lang="en-US" altLang="zh-CN" dirty="0" err="1"/>
              <a:t>search_file</a:t>
            </a:r>
            <a:r>
              <a:rPr lang="en-US" altLang="zh-CN" dirty="0"/>
              <a:t>(path):   # </a:t>
            </a:r>
            <a:r>
              <a:rPr lang="zh-CN" altLang="en-US" dirty="0"/>
              <a:t>输出目录下的所有子目录和文件的列表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for file in </a:t>
            </a:r>
            <a:r>
              <a:rPr lang="en-US" altLang="zh-CN" dirty="0" err="1"/>
              <a:t>os.listdir</a:t>
            </a:r>
            <a:r>
              <a:rPr lang="en-US" altLang="zh-CN" dirty="0"/>
              <a:t>(path):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this_path</a:t>
            </a:r>
            <a:r>
              <a:rPr lang="en-US" altLang="zh-CN" dirty="0"/>
              <a:t> = </a:t>
            </a:r>
            <a:r>
              <a:rPr lang="en-US" altLang="zh-CN" dirty="0" err="1"/>
              <a:t>os.path.join</a:t>
            </a:r>
            <a:r>
              <a:rPr lang="en-US" altLang="zh-CN" dirty="0"/>
              <a:t>(</a:t>
            </a:r>
            <a:r>
              <a:rPr lang="en-US" altLang="zh-CN" dirty="0" err="1"/>
              <a:t>path,file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r>
              <a:rPr lang="en-US" altLang="zh-CN" dirty="0"/>
              <a:t>        if </a:t>
            </a:r>
            <a:r>
              <a:rPr lang="en-US" altLang="zh-CN" dirty="0" err="1"/>
              <a:t>os.path.isfile</a:t>
            </a:r>
            <a:r>
              <a:rPr lang="en-US" altLang="zh-CN" dirty="0"/>
              <a:t>(</a:t>
            </a:r>
            <a:r>
              <a:rPr lang="en-US" altLang="zh-CN" dirty="0" err="1"/>
              <a:t>this_path</a:t>
            </a:r>
            <a:r>
              <a:rPr lang="en-US" altLang="zh-CN" dirty="0"/>
              <a:t>):</a:t>
            </a:r>
          </a:p>
          <a:p>
            <a:pPr marL="0" indent="0">
              <a:buNone/>
            </a:pPr>
            <a:r>
              <a:rPr lang="en-US" altLang="zh-CN" dirty="0"/>
              <a:t>            </a:t>
            </a:r>
            <a:r>
              <a:rPr lang="en-US" altLang="zh-CN" dirty="0" err="1"/>
              <a:t>all_list.append</a:t>
            </a:r>
            <a:r>
              <a:rPr lang="en-US" altLang="zh-CN" dirty="0"/>
              <a:t>(</a:t>
            </a:r>
            <a:r>
              <a:rPr lang="en-US" altLang="zh-CN" dirty="0" err="1"/>
              <a:t>this_path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r>
              <a:rPr lang="en-US" altLang="zh-CN" dirty="0"/>
              <a:t>        else:</a:t>
            </a:r>
          </a:p>
          <a:p>
            <a:pPr marL="0" indent="0">
              <a:buNone/>
            </a:pPr>
            <a:r>
              <a:rPr lang="en-US" altLang="zh-CN" dirty="0"/>
              <a:t>            </a:t>
            </a:r>
            <a:r>
              <a:rPr lang="en-US" altLang="zh-CN" dirty="0" err="1"/>
              <a:t>all_list.append</a:t>
            </a:r>
            <a:r>
              <a:rPr lang="en-US" altLang="zh-CN" dirty="0"/>
              <a:t>(</a:t>
            </a:r>
            <a:r>
              <a:rPr lang="en-US" altLang="zh-CN" dirty="0" err="1"/>
              <a:t>this_path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r>
              <a:rPr lang="en-US" altLang="zh-CN" dirty="0"/>
              <a:t>            </a:t>
            </a:r>
            <a:r>
              <a:rPr lang="en-US" altLang="zh-CN" dirty="0" err="1"/>
              <a:t>search_file</a:t>
            </a:r>
            <a:r>
              <a:rPr lang="en-US" altLang="zh-CN" dirty="0"/>
              <a:t>(</a:t>
            </a:r>
            <a:r>
              <a:rPr lang="en-US" altLang="zh-CN" dirty="0" err="1"/>
              <a:t>this_path</a:t>
            </a:r>
            <a:r>
              <a:rPr lang="en-US" altLang="zh-CN" dirty="0"/>
              <a:t>) 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return </a:t>
            </a:r>
            <a:r>
              <a:rPr lang="en-US" altLang="zh-CN" dirty="0" err="1"/>
              <a:t>all_list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6D361B-56F8-45B1-97AB-AA5BC0B87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595209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C20F16-0B69-407D-85DE-7AC510225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332656"/>
            <a:ext cx="11665296" cy="61443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(</a:t>
            </a:r>
            <a:r>
              <a:rPr lang="zh-CN" altLang="en-US" sz="2400" dirty="0"/>
              <a:t>续</a:t>
            </a:r>
            <a:r>
              <a:rPr lang="en-US" altLang="zh-CN" sz="2400" dirty="0"/>
              <a:t>)</a:t>
            </a:r>
          </a:p>
          <a:p>
            <a:pPr marL="0" indent="0">
              <a:buNone/>
            </a:pPr>
            <a:r>
              <a:rPr lang="en-US" altLang="zh-CN" sz="2400" dirty="0" err="1"/>
              <a:t>search_file</a:t>
            </a:r>
            <a:r>
              <a:rPr lang="en-US" altLang="zh-CN" sz="2400" dirty="0"/>
              <a:t>(path)</a:t>
            </a:r>
          </a:p>
          <a:p>
            <a:pPr marL="0" indent="0">
              <a:buNone/>
            </a:pPr>
            <a:r>
              <a:rPr lang="en-US" altLang="zh-CN" sz="2400" dirty="0"/>
              <a:t>for every in </a:t>
            </a:r>
            <a:r>
              <a:rPr lang="en-US" altLang="zh-CN" sz="2400" dirty="0" err="1"/>
              <a:t>all_list</a:t>
            </a:r>
            <a:r>
              <a:rPr lang="en-US" altLang="zh-CN" sz="2400" dirty="0"/>
              <a:t>:</a:t>
            </a:r>
          </a:p>
          <a:p>
            <a:pPr marL="0" indent="0">
              <a:buNone/>
            </a:pPr>
            <a:r>
              <a:rPr lang="en-US" altLang="zh-CN" sz="2400" dirty="0"/>
              <a:t>    if file in every:</a:t>
            </a:r>
          </a:p>
          <a:p>
            <a:pPr marL="0" indent="0">
              <a:buNone/>
            </a:pPr>
            <a:r>
              <a:rPr lang="en-US" altLang="zh-CN" sz="2400" dirty="0"/>
              <a:t>        print('</a:t>
            </a:r>
            <a:r>
              <a:rPr lang="zh-CN" altLang="en-US" sz="2400" dirty="0"/>
              <a:t>存在</a:t>
            </a:r>
            <a:r>
              <a:rPr lang="en-US" altLang="zh-CN" sz="2400" dirty="0"/>
              <a:t>')</a:t>
            </a:r>
          </a:p>
          <a:p>
            <a:pPr marL="0" indent="0">
              <a:buNone/>
            </a:pPr>
            <a:r>
              <a:rPr lang="en-US" altLang="zh-CN" sz="2400" dirty="0"/>
              <a:t>        break</a:t>
            </a:r>
          </a:p>
          <a:p>
            <a:pPr marL="0" indent="0">
              <a:buNone/>
            </a:pPr>
            <a:r>
              <a:rPr lang="en-US" altLang="zh-CN" sz="2400" dirty="0"/>
              <a:t>else:</a:t>
            </a:r>
          </a:p>
          <a:p>
            <a:pPr marL="0" indent="0">
              <a:buNone/>
            </a:pPr>
            <a:r>
              <a:rPr lang="en-US" altLang="zh-CN" sz="2400" dirty="0"/>
              <a:t>    print('</a:t>
            </a:r>
            <a:r>
              <a:rPr lang="zh-CN" altLang="en-US" sz="2400" dirty="0"/>
              <a:t>不存在！</a:t>
            </a:r>
            <a:r>
              <a:rPr lang="en-US" altLang="zh-CN" sz="2400" dirty="0"/>
              <a:t>')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6D361B-56F8-45B1-97AB-AA5BC0B87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323842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073776-043C-48F0-A18A-3A9DA9376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真题讲解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7169E0-098D-47E1-8625-FCD3ADF43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编写程序，根据文件</a:t>
            </a:r>
            <a:r>
              <a:rPr lang="en-US" altLang="zh-CN" dirty="0"/>
              <a:t>”D:\record.txt”</a:t>
            </a:r>
            <a:r>
              <a:rPr lang="zh-CN" altLang="en-US" dirty="0"/>
              <a:t>中存储的学生各科成绩，按科目生成各科的补考名单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E1CE67-4CF3-4F71-98BC-FE0910C10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119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7CA3EBD-BE35-4E53-B65B-1B725E93B7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632" y="2403540"/>
            <a:ext cx="4366964" cy="444910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9BC792F-7F86-4698-B638-8A9DC02A104A}"/>
              </a:ext>
            </a:extLst>
          </p:cNvPr>
          <p:cNvSpPr txBox="1"/>
          <p:nvPr/>
        </p:nvSpPr>
        <p:spPr>
          <a:xfrm>
            <a:off x="5801072" y="2487811"/>
            <a:ext cx="4608512" cy="4401205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800" dirty="0"/>
              <a:t>输出：</a:t>
            </a:r>
            <a:endParaRPr lang="en-US" altLang="zh-CN" sz="2800" dirty="0"/>
          </a:p>
          <a:p>
            <a:r>
              <a:rPr lang="zh-CN" altLang="en-US" sz="2800" dirty="0"/>
              <a:t>语文补考名单：</a:t>
            </a:r>
            <a:endParaRPr lang="en-US" altLang="zh-CN" sz="2800" dirty="0"/>
          </a:p>
          <a:p>
            <a:r>
              <a:rPr lang="en-US" altLang="zh-CN" sz="2800" dirty="0"/>
              <a:t>202102 </a:t>
            </a:r>
            <a:r>
              <a:rPr lang="zh-CN" altLang="en-US" sz="2800" dirty="0"/>
              <a:t>李四</a:t>
            </a:r>
            <a:endParaRPr lang="en-US" altLang="zh-CN" sz="2800" dirty="0"/>
          </a:p>
          <a:p>
            <a:r>
              <a:rPr lang="en-US" altLang="zh-CN" sz="2800" dirty="0"/>
              <a:t>202104 </a:t>
            </a:r>
            <a:r>
              <a:rPr lang="zh-CN" altLang="en-US" sz="2800" dirty="0"/>
              <a:t>王为</a:t>
            </a:r>
            <a:endParaRPr lang="en-US" altLang="zh-CN" sz="2800" dirty="0"/>
          </a:p>
          <a:p>
            <a:r>
              <a:rPr lang="zh-CN" altLang="en-US" sz="2800" dirty="0"/>
              <a:t>数学补考名单：</a:t>
            </a:r>
            <a:endParaRPr lang="en-US" altLang="zh-CN" sz="2800" dirty="0"/>
          </a:p>
          <a:p>
            <a:r>
              <a:rPr lang="en-US" altLang="zh-CN" sz="2800" dirty="0"/>
              <a:t>202101 </a:t>
            </a:r>
            <a:r>
              <a:rPr lang="zh-CN" altLang="en-US" sz="2800" dirty="0"/>
              <a:t>张三</a:t>
            </a:r>
            <a:endParaRPr lang="en-US" altLang="zh-CN" sz="2800" dirty="0"/>
          </a:p>
          <a:p>
            <a:r>
              <a:rPr lang="en-US" altLang="zh-CN" sz="2800" dirty="0"/>
              <a:t>202104 </a:t>
            </a:r>
            <a:r>
              <a:rPr lang="zh-CN" altLang="en-US" sz="2800" dirty="0"/>
              <a:t>王为</a:t>
            </a:r>
            <a:endParaRPr lang="en-US" altLang="zh-CN" sz="2800" dirty="0"/>
          </a:p>
          <a:p>
            <a:r>
              <a:rPr lang="zh-CN" altLang="en-US" sz="2800" dirty="0"/>
              <a:t>英语补考名单：</a:t>
            </a:r>
            <a:endParaRPr lang="en-US" altLang="zh-CN" sz="2800" dirty="0"/>
          </a:p>
          <a:p>
            <a:r>
              <a:rPr lang="zh-CN" altLang="en-US" sz="2800" dirty="0"/>
              <a:t>无</a:t>
            </a:r>
            <a:endParaRPr lang="en-US" altLang="zh-CN" sz="2800" dirty="0"/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938803292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81C5F2-795B-48C2-B634-79A722DBD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C8AC29-9A37-4401-9318-C52F4EAE5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思路：</a:t>
            </a:r>
            <a:endParaRPr lang="en-US" altLang="zh-CN" dirty="0"/>
          </a:p>
          <a:p>
            <a:pPr lvl="1"/>
            <a:r>
              <a:rPr lang="zh-CN" altLang="en-US" dirty="0"/>
              <a:t>过程： </a:t>
            </a:r>
            <a:r>
              <a:rPr lang="en-US" altLang="zh-CN" dirty="0" err="1"/>
              <a:t>readline</a:t>
            </a:r>
            <a:r>
              <a:rPr lang="en-US" altLang="zh-CN" dirty="0"/>
              <a:t>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ym typeface="Wingdings" panose="05000000000000000000" pitchFamily="2" charset="2"/>
              </a:rPr>
              <a:t>把不及格找出来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ym typeface="Wingdings" panose="05000000000000000000" pitchFamily="2" charset="2"/>
              </a:rPr>
              <a:t>输出不及格</a:t>
            </a:r>
            <a:endParaRPr lang="en-US" altLang="zh-CN" dirty="0">
              <a:sym typeface="Wingdings" panose="05000000000000000000" pitchFamily="2" charset="2"/>
            </a:endParaRPr>
          </a:p>
          <a:p>
            <a:pPr lvl="1"/>
            <a:r>
              <a:rPr lang="zh-CN" altLang="en-US" dirty="0">
                <a:sym typeface="Wingdings" panose="05000000000000000000" pitchFamily="2" charset="2"/>
              </a:rPr>
              <a:t>不及格数据怎么存？ 放在科目列表中：</a:t>
            </a:r>
            <a:r>
              <a:rPr lang="en-US" altLang="zh-CN" dirty="0" err="1">
                <a:sym typeface="Wingdings" panose="05000000000000000000" pitchFamily="2" charset="2"/>
              </a:rPr>
              <a:t>Chin,Math,Eng</a:t>
            </a:r>
            <a:endParaRPr lang="en-US" altLang="zh-CN" dirty="0">
              <a:sym typeface="Wingdings" panose="05000000000000000000" pitchFamily="2" charset="2"/>
            </a:endParaRPr>
          </a:p>
          <a:p>
            <a:pPr lvl="1"/>
            <a:r>
              <a:rPr lang="zh-CN" altLang="en-US" dirty="0">
                <a:sym typeface="Wingdings" panose="05000000000000000000" pitchFamily="2" charset="2"/>
              </a:rPr>
              <a:t>输出什么？ </a:t>
            </a:r>
            <a:r>
              <a:rPr lang="en-US" altLang="zh-CN" dirty="0">
                <a:sym typeface="Wingdings" panose="05000000000000000000" pitchFamily="2" charset="2"/>
              </a:rPr>
              <a:t>3</a:t>
            </a:r>
            <a:r>
              <a:rPr lang="zh-CN" altLang="en-US" dirty="0">
                <a:sym typeface="Wingdings" panose="05000000000000000000" pitchFamily="2" charset="2"/>
              </a:rPr>
              <a:t>个列表</a:t>
            </a:r>
            <a:endParaRPr lang="en-US" altLang="zh-CN" dirty="0">
              <a:sym typeface="Wingdings" panose="05000000000000000000" pitchFamily="2" charset="2"/>
            </a:endParaRPr>
          </a:p>
          <a:p>
            <a:pPr lvl="1"/>
            <a:endParaRPr lang="en-US" altLang="zh-CN" dirty="0">
              <a:sym typeface="Wingdings" panose="05000000000000000000" pitchFamily="2" charset="2"/>
            </a:endParaRPr>
          </a:p>
          <a:p>
            <a:pPr lvl="1"/>
            <a:r>
              <a:rPr lang="zh-CN" altLang="en-US" dirty="0">
                <a:sym typeface="Wingdings" panose="05000000000000000000" pitchFamily="2" charset="2"/>
              </a:rPr>
              <a:t>那些需要做成模块？</a:t>
            </a:r>
            <a:endParaRPr lang="en-US" altLang="zh-CN" dirty="0">
              <a:sym typeface="Wingdings" panose="05000000000000000000" pitchFamily="2" charset="2"/>
            </a:endParaRPr>
          </a:p>
          <a:p>
            <a:pPr lvl="2"/>
            <a:r>
              <a:rPr lang="zh-CN" altLang="en-US" dirty="0">
                <a:sym typeface="Wingdings" panose="05000000000000000000" pitchFamily="2" charset="2"/>
              </a:rPr>
              <a:t>找出不及格</a:t>
            </a:r>
            <a:endParaRPr lang="en-US" altLang="zh-CN" dirty="0">
              <a:sym typeface="Wingdings" panose="05000000000000000000" pitchFamily="2" charset="2"/>
            </a:endParaRPr>
          </a:p>
          <a:p>
            <a:pPr lvl="2"/>
            <a:r>
              <a:rPr lang="zh-CN" altLang="en-US" dirty="0">
                <a:sym typeface="Wingdings" panose="05000000000000000000" pitchFamily="2" charset="2"/>
              </a:rPr>
              <a:t>输出每个科目不及格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631E5C-5EF9-46B3-9437-C3DA212C3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8133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609510-25C2-4EC3-9B93-6BACAF05A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476672"/>
            <a:ext cx="11665296" cy="6000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def </a:t>
            </a:r>
            <a:r>
              <a:rPr lang="en-US" altLang="zh-CN" sz="2400" dirty="0" err="1"/>
              <a:t>AddList</a:t>
            </a:r>
            <a:r>
              <a:rPr lang="en-US" altLang="zh-CN" sz="2400" dirty="0"/>
              <a:t>(</a:t>
            </a:r>
            <a:r>
              <a:rPr lang="en-US" altLang="zh-CN" sz="2400" dirty="0" err="1"/>
              <a:t>L,stu,i</a:t>
            </a:r>
            <a:r>
              <a:rPr lang="en-US" altLang="zh-CN" sz="2400" dirty="0"/>
              <a:t>):    # L=</a:t>
            </a:r>
            <a:r>
              <a:rPr lang="en-US" altLang="zh-CN" sz="2400" dirty="0" err="1"/>
              <a:t>Chin,stu</a:t>
            </a:r>
            <a:r>
              <a:rPr lang="en-US" altLang="zh-CN" sz="2400" dirty="0"/>
              <a:t>=</a:t>
            </a:r>
            <a:r>
              <a:rPr lang="en-US" altLang="zh-CN" sz="2400" dirty="0" err="1"/>
              <a:t>stu</a:t>
            </a:r>
            <a:r>
              <a:rPr lang="zh-CN" altLang="en-US" sz="2400" dirty="0"/>
              <a:t>列表</a:t>
            </a:r>
            <a:r>
              <a:rPr lang="en-US" altLang="zh-CN" sz="2400" dirty="0"/>
              <a:t>,</a:t>
            </a:r>
            <a:r>
              <a:rPr lang="en-US" altLang="zh-CN" sz="2400" dirty="0" err="1"/>
              <a:t>i</a:t>
            </a:r>
            <a:r>
              <a:rPr lang="en-US" altLang="zh-CN" sz="2400" dirty="0"/>
              <a:t>=2(</a:t>
            </a:r>
            <a:r>
              <a:rPr lang="zh-CN" altLang="en-US" sz="2400" dirty="0"/>
              <a:t>第</a:t>
            </a:r>
            <a:r>
              <a:rPr lang="en-US" altLang="zh-CN" sz="2400" dirty="0"/>
              <a:t>2</a:t>
            </a:r>
            <a:r>
              <a:rPr lang="zh-CN" altLang="en-US" sz="2400" dirty="0"/>
              <a:t>项为语文</a:t>
            </a:r>
            <a:r>
              <a:rPr lang="en-US" altLang="zh-CN" sz="2400" dirty="0"/>
              <a:t>)</a:t>
            </a:r>
          </a:p>
          <a:p>
            <a:pPr marL="0" indent="0">
              <a:buNone/>
            </a:pPr>
            <a:r>
              <a:rPr lang="en-US" altLang="zh-CN" sz="2400" dirty="0"/>
              <a:t>   if int(</a:t>
            </a:r>
            <a:r>
              <a:rPr lang="en-US" altLang="zh-CN" sz="2400" dirty="0" err="1"/>
              <a:t>stu</a:t>
            </a:r>
            <a:r>
              <a:rPr lang="en-US" altLang="zh-CN" sz="2400" dirty="0"/>
              <a:t>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])&lt;60:</a:t>
            </a:r>
          </a:p>
          <a:p>
            <a:pPr marL="0" indent="0">
              <a:buNone/>
            </a:pPr>
            <a:r>
              <a:rPr lang="en-US" altLang="zh-CN" sz="2400" dirty="0"/>
              <a:t>      </a:t>
            </a:r>
            <a:r>
              <a:rPr lang="en-US" altLang="zh-CN" sz="2400" dirty="0" err="1"/>
              <a:t>L.append</a:t>
            </a:r>
            <a:r>
              <a:rPr lang="en-US" altLang="zh-CN" sz="2400" dirty="0"/>
              <a:t>(</a:t>
            </a:r>
            <a:r>
              <a:rPr lang="en-US" altLang="zh-CN" sz="2400" dirty="0" err="1"/>
              <a:t>stu</a:t>
            </a:r>
            <a:r>
              <a:rPr lang="en-US" altLang="zh-CN" sz="2400" dirty="0"/>
              <a:t>[:2])   # </a:t>
            </a:r>
            <a:r>
              <a:rPr lang="en-US" altLang="zh-CN" sz="2400" dirty="0" err="1"/>
              <a:t>stu</a:t>
            </a:r>
            <a:r>
              <a:rPr lang="en-US" altLang="zh-CN" sz="2400" dirty="0"/>
              <a:t>[:2]=[‘202001’,’</a:t>
            </a:r>
            <a:r>
              <a:rPr lang="zh-CN" altLang="en-US" sz="2400" dirty="0"/>
              <a:t>张三</a:t>
            </a:r>
            <a:r>
              <a:rPr lang="en-US" altLang="zh-CN" sz="2400" dirty="0"/>
              <a:t>’]</a:t>
            </a:r>
          </a:p>
          <a:p>
            <a:pPr marL="0" indent="0">
              <a:buNone/>
            </a:pPr>
            <a:r>
              <a:rPr lang="en-US" altLang="zh-CN" sz="2400" dirty="0"/>
              <a:t># </a:t>
            </a:r>
            <a:r>
              <a:rPr lang="zh-CN" altLang="en-US" sz="2400" dirty="0"/>
              <a:t>上面函数的目标：将各科不及格的学生学号姓名放入</a:t>
            </a:r>
            <a:r>
              <a:rPr lang="en-US" altLang="zh-CN" sz="2400" dirty="0"/>
              <a:t>Chin/Math/</a:t>
            </a:r>
            <a:r>
              <a:rPr lang="en-US" altLang="zh-CN" sz="2400" dirty="0" err="1"/>
              <a:t>Eng</a:t>
            </a:r>
            <a:r>
              <a:rPr lang="zh-CN" altLang="en-US" sz="2400" dirty="0"/>
              <a:t>列表中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def </a:t>
            </a:r>
            <a:r>
              <a:rPr lang="en-US" altLang="zh-CN" sz="2400" dirty="0" err="1"/>
              <a:t>ListPrint</a:t>
            </a:r>
            <a:r>
              <a:rPr lang="en-US" altLang="zh-CN" sz="2400" dirty="0"/>
              <a:t>(</a:t>
            </a:r>
            <a:r>
              <a:rPr lang="en-US" altLang="zh-CN" sz="2400" dirty="0" err="1"/>
              <a:t>L,subject</a:t>
            </a:r>
            <a:r>
              <a:rPr lang="en-US" altLang="zh-CN" sz="2400" dirty="0"/>
              <a:t>):</a:t>
            </a:r>
          </a:p>
          <a:p>
            <a:pPr marL="0" indent="0">
              <a:buNone/>
            </a:pPr>
            <a:r>
              <a:rPr lang="en-US" altLang="zh-CN" sz="2400" dirty="0"/>
              <a:t>   print(subject+'</a:t>
            </a:r>
            <a:r>
              <a:rPr lang="zh-CN" altLang="en-US" sz="2400" dirty="0"/>
              <a:t>补考名单</a:t>
            </a:r>
            <a:r>
              <a:rPr lang="en-US" altLang="zh-CN" sz="2400" dirty="0"/>
              <a:t>:’)</a:t>
            </a:r>
          </a:p>
          <a:p>
            <a:pPr marL="0" indent="0">
              <a:buNone/>
            </a:pPr>
            <a:r>
              <a:rPr lang="en-US" altLang="zh-CN" sz="2400" dirty="0"/>
              <a:t>   n=</a:t>
            </a:r>
            <a:r>
              <a:rPr lang="en-US" altLang="zh-CN" sz="2400" dirty="0" err="1"/>
              <a:t>len</a:t>
            </a:r>
            <a:r>
              <a:rPr lang="en-US" altLang="zh-CN" sz="2400" dirty="0"/>
              <a:t>(L)</a:t>
            </a:r>
          </a:p>
          <a:p>
            <a:pPr marL="0" indent="0">
              <a:buNone/>
            </a:pPr>
            <a:r>
              <a:rPr lang="en-US" altLang="zh-CN" sz="2400" dirty="0"/>
              <a:t>   if n==0:</a:t>
            </a:r>
          </a:p>
          <a:p>
            <a:pPr marL="0" indent="0">
              <a:buNone/>
            </a:pPr>
            <a:r>
              <a:rPr lang="en-US" altLang="zh-CN" sz="2400" dirty="0"/>
              <a:t>       print('</a:t>
            </a:r>
            <a:r>
              <a:rPr lang="zh-CN" altLang="en-US" sz="2400" dirty="0"/>
              <a:t>无</a:t>
            </a:r>
            <a:r>
              <a:rPr lang="en-US" altLang="zh-CN" sz="2400" dirty="0"/>
              <a:t>’)</a:t>
            </a:r>
          </a:p>
          <a:p>
            <a:pPr marL="0" indent="0">
              <a:buNone/>
            </a:pPr>
            <a:r>
              <a:rPr lang="en-US" altLang="zh-CN" sz="2400" dirty="0"/>
              <a:t>   else:</a:t>
            </a:r>
          </a:p>
          <a:p>
            <a:pPr marL="0" indent="0">
              <a:buNone/>
            </a:pPr>
            <a:r>
              <a:rPr lang="en-US" altLang="zh-CN" sz="2400" dirty="0"/>
              <a:t>       for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in L:</a:t>
            </a:r>
          </a:p>
          <a:p>
            <a:pPr marL="0" indent="0">
              <a:buNone/>
            </a:pPr>
            <a:r>
              <a:rPr lang="en-US" altLang="zh-CN" sz="2400" dirty="0"/>
              <a:t>           print(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[0],</a:t>
            </a:r>
            <a:r>
              <a:rPr lang="en-US" altLang="zh-CN" sz="2400" dirty="0" err="1"/>
              <a:t>i</a:t>
            </a:r>
            <a:r>
              <a:rPr lang="en-US" altLang="zh-CN" sz="2400" dirty="0"/>
              <a:t>[1])</a:t>
            </a:r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F200DF-9AA5-45F4-B995-F3965EEFD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930895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609510-25C2-4EC3-9B93-6BACAF05A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476672"/>
            <a:ext cx="11665296" cy="6000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f=open(</a:t>
            </a:r>
            <a:r>
              <a:rPr lang="en-US" altLang="zh-CN" sz="2400" dirty="0" err="1"/>
              <a:t>r‘D</a:t>
            </a:r>
            <a:r>
              <a:rPr lang="en-US" altLang="zh-CN" sz="2400" dirty="0"/>
              <a:t>:\</a:t>
            </a:r>
            <a:r>
              <a:rPr lang="en-US" altLang="zh-CN" sz="2400" dirty="0" err="1"/>
              <a:t>record.txt’,encoding</a:t>
            </a:r>
            <a:r>
              <a:rPr lang="en-US" altLang="zh-CN" sz="2400" dirty="0"/>
              <a:t>=‘UTF-8’)</a:t>
            </a:r>
          </a:p>
          <a:p>
            <a:pPr marL="0" indent="0">
              <a:buNone/>
            </a:pPr>
            <a:r>
              <a:rPr lang="en-US" altLang="zh-CN" sz="2400" dirty="0"/>
              <a:t>x=</a:t>
            </a:r>
            <a:r>
              <a:rPr lang="en-US" altLang="zh-CN" sz="2400" dirty="0" err="1"/>
              <a:t>f.readline</a:t>
            </a:r>
            <a:r>
              <a:rPr lang="en-US" altLang="zh-CN" sz="2400" dirty="0"/>
              <a:t>()</a:t>
            </a:r>
          </a:p>
          <a:p>
            <a:pPr marL="0" indent="0">
              <a:buNone/>
            </a:pPr>
            <a:r>
              <a:rPr lang="en-US" altLang="zh-CN" sz="2400" dirty="0"/>
              <a:t>Chin=[]</a:t>
            </a:r>
          </a:p>
          <a:p>
            <a:pPr marL="0" indent="0">
              <a:buNone/>
            </a:pPr>
            <a:r>
              <a:rPr lang="en-US" altLang="zh-CN" sz="2400" dirty="0"/>
              <a:t>Math=[]</a:t>
            </a:r>
          </a:p>
          <a:p>
            <a:pPr marL="0" indent="0">
              <a:buNone/>
            </a:pPr>
            <a:r>
              <a:rPr lang="en-US" altLang="zh-CN" sz="2400" dirty="0" err="1"/>
              <a:t>Engl</a:t>
            </a:r>
            <a:r>
              <a:rPr lang="en-US" altLang="zh-CN" sz="2400" dirty="0"/>
              <a:t>=[]</a:t>
            </a:r>
          </a:p>
          <a:p>
            <a:pPr marL="0" indent="0">
              <a:buNone/>
            </a:pPr>
            <a:r>
              <a:rPr lang="en-US" altLang="zh-CN" sz="2400" dirty="0"/>
              <a:t>while x:</a:t>
            </a:r>
          </a:p>
          <a:p>
            <a:pPr marL="0" indent="0">
              <a:buNone/>
            </a:pPr>
            <a:r>
              <a:rPr lang="en-US" altLang="zh-CN" sz="2400" dirty="0"/>
              <a:t>    </a:t>
            </a:r>
            <a:r>
              <a:rPr lang="en-US" altLang="zh-CN" sz="2400" dirty="0" err="1"/>
              <a:t>stu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x.split</a:t>
            </a:r>
            <a:r>
              <a:rPr lang="en-US" altLang="zh-CN" sz="2400" dirty="0"/>
              <a:t>(',’)</a:t>
            </a:r>
          </a:p>
          <a:p>
            <a:pPr marL="0" indent="0">
              <a:buNone/>
            </a:pPr>
            <a:r>
              <a:rPr lang="en-US" altLang="zh-CN" sz="2400" dirty="0"/>
              <a:t>    </a:t>
            </a:r>
            <a:r>
              <a:rPr lang="en-US" altLang="zh-CN" sz="2400" dirty="0" err="1"/>
              <a:t>AddList</a:t>
            </a:r>
            <a:r>
              <a:rPr lang="en-US" altLang="zh-CN" sz="2400" dirty="0"/>
              <a:t>(Chin,stu,2)</a:t>
            </a:r>
          </a:p>
          <a:p>
            <a:pPr marL="0" indent="0">
              <a:buNone/>
            </a:pPr>
            <a:r>
              <a:rPr lang="en-US" altLang="zh-CN" sz="2400" dirty="0"/>
              <a:t>    </a:t>
            </a:r>
            <a:r>
              <a:rPr lang="en-US" altLang="zh-CN" sz="2400" dirty="0" err="1"/>
              <a:t>AddList</a:t>
            </a:r>
            <a:r>
              <a:rPr lang="en-US" altLang="zh-CN" sz="2400" dirty="0"/>
              <a:t>(Math,stu,3)</a:t>
            </a:r>
          </a:p>
          <a:p>
            <a:pPr marL="0" indent="0">
              <a:buNone/>
            </a:pPr>
            <a:r>
              <a:rPr lang="en-US" altLang="zh-CN" sz="2400" dirty="0"/>
              <a:t>    </a:t>
            </a:r>
            <a:r>
              <a:rPr lang="en-US" altLang="zh-CN" sz="2400" dirty="0" err="1"/>
              <a:t>AddList</a:t>
            </a:r>
            <a:r>
              <a:rPr lang="en-US" altLang="zh-CN" sz="2400" dirty="0"/>
              <a:t>(Engl,stu,4)</a:t>
            </a:r>
          </a:p>
          <a:p>
            <a:pPr marL="0" indent="0">
              <a:buNone/>
            </a:pPr>
            <a:r>
              <a:rPr lang="en-US" altLang="zh-CN" sz="2400" dirty="0"/>
              <a:t>    x=</a:t>
            </a:r>
            <a:r>
              <a:rPr lang="en-US" altLang="zh-CN" sz="2400" dirty="0" err="1"/>
              <a:t>f.readline</a:t>
            </a:r>
            <a:r>
              <a:rPr lang="en-US" altLang="zh-CN" sz="2400" dirty="0"/>
              <a:t>()</a:t>
            </a:r>
          </a:p>
          <a:p>
            <a:pPr marL="0" indent="0">
              <a:buNone/>
            </a:pPr>
            <a:r>
              <a:rPr lang="en-US" altLang="zh-CN" sz="2400" dirty="0" err="1"/>
              <a:t>f.close</a:t>
            </a:r>
            <a:r>
              <a:rPr lang="en-US" altLang="zh-CN" sz="2400" dirty="0"/>
              <a:t>()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F200DF-9AA5-45F4-B995-F3965EEFD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124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609510-25C2-4EC3-9B93-6BACAF05A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476672"/>
            <a:ext cx="11665296" cy="6000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 err="1"/>
              <a:t>ListPrint</a:t>
            </a:r>
            <a:r>
              <a:rPr lang="en-US" altLang="zh-CN" sz="2400" dirty="0"/>
              <a:t>(Chin,'</a:t>
            </a:r>
            <a:r>
              <a:rPr lang="zh-CN" altLang="en-US" sz="2400" dirty="0"/>
              <a:t>语文</a:t>
            </a:r>
            <a:r>
              <a:rPr lang="en-US" altLang="zh-CN" sz="2400" dirty="0"/>
              <a:t>')</a:t>
            </a:r>
          </a:p>
          <a:p>
            <a:pPr marL="0" indent="0">
              <a:buNone/>
            </a:pPr>
            <a:r>
              <a:rPr lang="en-US" altLang="zh-CN" sz="2400" dirty="0" err="1"/>
              <a:t>ListPrint</a:t>
            </a:r>
            <a:r>
              <a:rPr lang="en-US" altLang="zh-CN" sz="2400" dirty="0"/>
              <a:t>(Math,'</a:t>
            </a:r>
            <a:r>
              <a:rPr lang="zh-CN" altLang="en-US" sz="2400" dirty="0"/>
              <a:t>数学</a:t>
            </a:r>
            <a:r>
              <a:rPr lang="en-US" altLang="zh-CN" sz="2400" dirty="0"/>
              <a:t>')</a:t>
            </a:r>
          </a:p>
          <a:p>
            <a:pPr marL="0" indent="0">
              <a:buNone/>
            </a:pPr>
            <a:r>
              <a:rPr lang="en-US" altLang="zh-CN" sz="2400" dirty="0" err="1"/>
              <a:t>ListPrint</a:t>
            </a:r>
            <a:r>
              <a:rPr lang="en-US" altLang="zh-CN" sz="2400" dirty="0"/>
              <a:t>(</a:t>
            </a:r>
            <a:r>
              <a:rPr lang="en-US" altLang="zh-CN" sz="2400" dirty="0" err="1"/>
              <a:t>Engl</a:t>
            </a:r>
            <a:r>
              <a:rPr lang="en-US" altLang="zh-CN" sz="2400" dirty="0"/>
              <a:t>,'</a:t>
            </a:r>
            <a:r>
              <a:rPr lang="zh-CN" altLang="en-US" sz="2400" dirty="0"/>
              <a:t>英语</a:t>
            </a:r>
            <a:r>
              <a:rPr lang="en-US" altLang="zh-CN" sz="2400" dirty="0"/>
              <a:t>')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F200DF-9AA5-45F4-B995-F3965EEFD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6069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609510-25C2-4EC3-9B93-6BACAF05A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476672"/>
            <a:ext cx="11665296" cy="60003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altLang="zh-CN" sz="4000" dirty="0"/>
          </a:p>
          <a:p>
            <a:pPr marL="0" indent="0" algn="ctr">
              <a:buNone/>
            </a:pPr>
            <a:endParaRPr lang="en-US" altLang="zh-CN" sz="4000" dirty="0"/>
          </a:p>
          <a:p>
            <a:pPr marL="0" indent="0" algn="ctr">
              <a:buNone/>
            </a:pPr>
            <a:r>
              <a:rPr lang="zh-CN" altLang="en-US" sz="4000" dirty="0"/>
              <a:t>案例教程</a:t>
            </a:r>
            <a:endParaRPr lang="en-US" altLang="zh-CN" sz="4000" dirty="0"/>
          </a:p>
          <a:p>
            <a:pPr marL="0" indent="0" algn="ctr">
              <a:buNone/>
            </a:pPr>
            <a:r>
              <a:rPr lang="en-US" altLang="zh-CN" sz="4000" dirty="0"/>
              <a:t>P157 </a:t>
            </a:r>
            <a:endParaRPr lang="zh-CN" altLang="en-US" sz="4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F200DF-9AA5-45F4-B995-F3965EEFD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3651211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8107B2-6575-4513-903D-05C2B1B43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332656"/>
            <a:ext cx="11737304" cy="652534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en-US" dirty="0"/>
              <a:t>统计</a:t>
            </a:r>
            <a:r>
              <a:rPr lang="en-US" altLang="zh-CN" dirty="0"/>
              <a:t>data.txt</a:t>
            </a:r>
            <a:r>
              <a:rPr lang="zh-CN" altLang="en-US" dirty="0"/>
              <a:t>中有多少大写字母</a:t>
            </a:r>
            <a:r>
              <a:rPr lang="en-US" altLang="zh-CN" dirty="0"/>
              <a:t>/</a:t>
            </a:r>
            <a:r>
              <a:rPr lang="zh-CN" altLang="en-US" dirty="0"/>
              <a:t>小写</a:t>
            </a:r>
            <a:r>
              <a:rPr lang="en-US" altLang="zh-CN" dirty="0"/>
              <a:t>/</a:t>
            </a:r>
            <a:r>
              <a:rPr lang="zh-CN" altLang="en-US" dirty="0"/>
              <a:t>数字</a:t>
            </a:r>
            <a:r>
              <a:rPr lang="en-US" altLang="zh-CN" dirty="0"/>
              <a:t>/</a:t>
            </a:r>
            <a:r>
              <a:rPr lang="zh-CN" altLang="en-US" dirty="0"/>
              <a:t>其他字符。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f = open(‘</a:t>
            </a:r>
            <a:r>
              <a:rPr lang="en-US" altLang="zh-CN" dirty="0" err="1"/>
              <a:t>data.txt’,‘r</a:t>
            </a:r>
            <a:r>
              <a:rPr lang="en-US" altLang="zh-CN" dirty="0"/>
              <a:t>’)		# </a:t>
            </a:r>
            <a:r>
              <a:rPr lang="zh-CN" altLang="en-US" dirty="0"/>
              <a:t>填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nA</a:t>
            </a:r>
            <a:r>
              <a:rPr lang="en-US" altLang="zh-CN" dirty="0"/>
              <a:t> , </a:t>
            </a:r>
            <a:r>
              <a:rPr lang="en-US" altLang="zh-CN" dirty="0" err="1"/>
              <a:t>na</a:t>
            </a:r>
            <a:r>
              <a:rPr lang="en-US" altLang="zh-CN" dirty="0"/>
              <a:t>, n0, nr = 0, 0, 0, 0</a:t>
            </a:r>
          </a:p>
          <a:p>
            <a:pPr marL="0" indent="0">
              <a:buNone/>
            </a:pPr>
            <a:r>
              <a:rPr lang="en-US" altLang="zh-CN" dirty="0"/>
              <a:t>s = </a:t>
            </a:r>
            <a:r>
              <a:rPr lang="en-US" altLang="zh-CN" dirty="0" err="1"/>
              <a:t>f.read</a:t>
            </a:r>
            <a:r>
              <a:rPr lang="en-US" altLang="zh-CN" dirty="0"/>
              <a:t>()	 # </a:t>
            </a:r>
            <a:r>
              <a:rPr lang="zh-CN" altLang="en-US" dirty="0"/>
              <a:t>填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f.close</a:t>
            </a:r>
            <a:r>
              <a:rPr lang="en-US" altLang="zh-CN" dirty="0"/>
              <a:t>()</a:t>
            </a:r>
          </a:p>
          <a:p>
            <a:pPr marL="0" indent="0">
              <a:buNone/>
            </a:pPr>
            <a:r>
              <a:rPr lang="en-US" altLang="zh-CN" dirty="0"/>
              <a:t>for </a:t>
            </a:r>
            <a:r>
              <a:rPr lang="en-US" altLang="zh-CN" dirty="0" err="1"/>
              <a:t>ch</a:t>
            </a:r>
            <a:r>
              <a:rPr lang="en-US" altLang="zh-CN" dirty="0"/>
              <a:t> in s:</a:t>
            </a:r>
          </a:p>
          <a:p>
            <a:pPr marL="0" indent="0">
              <a:buNone/>
            </a:pPr>
            <a:r>
              <a:rPr lang="en-US" altLang="zh-CN" dirty="0"/>
              <a:t>    if </a:t>
            </a:r>
            <a:r>
              <a:rPr lang="en-US" altLang="zh-CN" dirty="0" err="1"/>
              <a:t>ch.isupper</a:t>
            </a:r>
            <a:r>
              <a:rPr lang="en-US" altLang="zh-CN" dirty="0"/>
              <a:t>():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nA</a:t>
            </a:r>
            <a:r>
              <a:rPr lang="en-US" altLang="zh-CN" dirty="0"/>
              <a:t> += 1		  # </a:t>
            </a:r>
            <a:r>
              <a:rPr lang="zh-CN" altLang="en-US" dirty="0"/>
              <a:t>填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elif</a:t>
            </a:r>
            <a:r>
              <a:rPr lang="en-US" altLang="zh-CN" dirty="0"/>
              <a:t> </a:t>
            </a:r>
            <a:r>
              <a:rPr lang="en-US" altLang="zh-CN" dirty="0" err="1"/>
              <a:t>ch.islower</a:t>
            </a:r>
            <a:r>
              <a:rPr lang="en-US" altLang="zh-CN" dirty="0"/>
              <a:t>(): # </a:t>
            </a:r>
            <a:r>
              <a:rPr lang="zh-CN" altLang="en-US" dirty="0"/>
              <a:t>填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na</a:t>
            </a:r>
            <a:r>
              <a:rPr lang="en-US" altLang="zh-CN" dirty="0"/>
              <a:t> += 1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elif</a:t>
            </a:r>
            <a:r>
              <a:rPr lang="en-US" altLang="zh-CN" dirty="0"/>
              <a:t> </a:t>
            </a:r>
            <a:r>
              <a:rPr lang="en-US" altLang="zh-CN" dirty="0" err="1"/>
              <a:t>ch.isdigit</a:t>
            </a:r>
            <a:r>
              <a:rPr lang="en-US" altLang="zh-CN" dirty="0"/>
              <a:t>():</a:t>
            </a:r>
          </a:p>
          <a:p>
            <a:pPr marL="0" indent="0">
              <a:buNone/>
            </a:pPr>
            <a:r>
              <a:rPr lang="en-US" altLang="zh-CN" dirty="0"/>
              <a:t>        n0 += 1</a:t>
            </a:r>
          </a:p>
          <a:p>
            <a:pPr marL="0" indent="0">
              <a:buNone/>
            </a:pPr>
            <a:r>
              <a:rPr lang="en-US" altLang="zh-CN" dirty="0"/>
              <a:t>    else:</a:t>
            </a:r>
          </a:p>
          <a:p>
            <a:pPr marL="0" indent="0">
              <a:buNone/>
            </a:pPr>
            <a:r>
              <a:rPr lang="en-US" altLang="zh-CN" dirty="0"/>
              <a:t>        nr += 1	 	# </a:t>
            </a:r>
            <a:r>
              <a:rPr lang="zh-CN" altLang="en-US" dirty="0"/>
              <a:t>填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BB6B85-99EB-42DB-81B3-D42CECAD1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755239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8107B2-6575-4513-903D-05C2B1B43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332656"/>
            <a:ext cx="11737304" cy="65253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en-US" dirty="0"/>
              <a:t>（续）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print('</a:t>
            </a:r>
            <a:r>
              <a:rPr lang="en-US" altLang="zh-CN" dirty="0" err="1"/>
              <a:t>na</a:t>
            </a:r>
            <a:r>
              <a:rPr lang="en-US" altLang="zh-CN" dirty="0"/>
              <a:t>=',</a:t>
            </a:r>
            <a:r>
              <a:rPr lang="en-US" altLang="zh-CN" dirty="0" err="1"/>
              <a:t>na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r>
              <a:rPr lang="en-US" altLang="zh-CN" dirty="0"/>
              <a:t>print('</a:t>
            </a:r>
            <a:r>
              <a:rPr lang="en-US" altLang="zh-CN" dirty="0" err="1"/>
              <a:t>nA</a:t>
            </a:r>
            <a:r>
              <a:rPr lang="en-US" altLang="zh-CN" dirty="0"/>
              <a:t>=',</a:t>
            </a:r>
            <a:r>
              <a:rPr lang="en-US" altLang="zh-CN" dirty="0" err="1"/>
              <a:t>nA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r>
              <a:rPr lang="en-US" altLang="zh-CN" dirty="0"/>
              <a:t>print('n0=',n0)</a:t>
            </a:r>
          </a:p>
          <a:p>
            <a:pPr marL="0" indent="0">
              <a:buNone/>
            </a:pPr>
            <a:r>
              <a:rPr lang="en-US" altLang="zh-CN" dirty="0"/>
              <a:t>print('nr=',nr)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BB6B85-99EB-42DB-81B3-D42CECAD1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6211174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8107B2-6575-4513-903D-05C2B1B43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332656"/>
            <a:ext cx="11737304" cy="65253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2.record.csv</a:t>
            </a:r>
            <a:r>
              <a:rPr lang="zh-CN" altLang="en-US" dirty="0"/>
              <a:t>内容如下，要求：读取数据，输出</a:t>
            </a:r>
            <a:r>
              <a:rPr lang="en-US" altLang="zh-CN" dirty="0"/>
              <a:t>(1)</a:t>
            </a:r>
            <a:r>
              <a:rPr lang="zh-CN" altLang="en-US" dirty="0"/>
              <a:t>不及格的同学信息；（</a:t>
            </a:r>
            <a:r>
              <a:rPr lang="en-US" altLang="zh-CN" dirty="0"/>
              <a:t>2</a:t>
            </a:r>
            <a:r>
              <a:rPr lang="zh-CN" altLang="en-US" dirty="0"/>
              <a:t>）以</a:t>
            </a:r>
            <a:r>
              <a:rPr lang="en-US" altLang="zh-CN" dirty="0"/>
              <a:t>J</a:t>
            </a:r>
            <a:r>
              <a:rPr lang="zh-CN" altLang="en-US" dirty="0"/>
              <a:t>开头的所以学生信息；（</a:t>
            </a:r>
            <a:r>
              <a:rPr lang="en-US" altLang="zh-CN" dirty="0"/>
              <a:t>3</a:t>
            </a:r>
            <a:r>
              <a:rPr lang="zh-CN" altLang="en-US" dirty="0"/>
              <a:t>）输出总分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sz="2800" dirty="0" err="1"/>
              <a:t>name,age,score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John,20,56</a:t>
            </a:r>
          </a:p>
          <a:p>
            <a:pPr marL="0" indent="0">
              <a:buNone/>
            </a:pPr>
            <a:r>
              <a:rPr lang="en-US" altLang="zh-CN" sz="2800" dirty="0"/>
              <a:t>Lucy,19,83</a:t>
            </a:r>
          </a:p>
          <a:p>
            <a:pPr marL="0" indent="0">
              <a:buNone/>
            </a:pPr>
            <a:r>
              <a:rPr lang="en-US" altLang="zh-CN" sz="2800" dirty="0"/>
              <a:t>Jenny,21,74</a:t>
            </a:r>
          </a:p>
          <a:p>
            <a:pPr marL="0" indent="0">
              <a:buNone/>
            </a:pPr>
            <a:r>
              <a:rPr lang="en-US" altLang="zh-CN" sz="2800" dirty="0"/>
              <a:t>Holly,18,93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BB6B85-99EB-42DB-81B3-D42CECAD1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523559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8107B2-6575-4513-903D-05C2B1B43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332656"/>
            <a:ext cx="11737304" cy="65253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2.</a:t>
            </a:r>
          </a:p>
          <a:p>
            <a:pPr marL="0" indent="0">
              <a:buNone/>
            </a:pPr>
            <a:r>
              <a:rPr lang="en-US" altLang="zh-CN" sz="2400" dirty="0"/>
              <a:t>f = open('</a:t>
            </a:r>
            <a:r>
              <a:rPr lang="en-US" altLang="zh-CN" sz="2400" dirty="0" err="1"/>
              <a:t>record.csv','r</a:t>
            </a:r>
            <a:r>
              <a:rPr lang="en-US" altLang="zh-CN" sz="2400" dirty="0"/>
              <a:t>')</a:t>
            </a:r>
          </a:p>
          <a:p>
            <a:pPr marL="0" indent="0">
              <a:buNone/>
            </a:pPr>
            <a:r>
              <a:rPr lang="en-US" altLang="zh-CN" sz="2400" dirty="0"/>
              <a:t>s = </a:t>
            </a:r>
            <a:r>
              <a:rPr lang="en-US" altLang="zh-CN" sz="2400" dirty="0" err="1"/>
              <a:t>f.readlines</a:t>
            </a:r>
            <a:r>
              <a:rPr lang="en-US" altLang="zh-CN" sz="2400" dirty="0"/>
              <a:t>()</a:t>
            </a:r>
          </a:p>
          <a:p>
            <a:pPr marL="0" indent="0">
              <a:buNone/>
            </a:pPr>
            <a:r>
              <a:rPr lang="en-US" altLang="zh-CN" sz="2400" dirty="0" err="1"/>
              <a:t>f.close</a:t>
            </a:r>
            <a:r>
              <a:rPr lang="en-US" altLang="zh-CN" sz="2400" dirty="0"/>
              <a:t>()</a:t>
            </a:r>
          </a:p>
          <a:p>
            <a:pPr marL="0" indent="0">
              <a:buNone/>
            </a:pPr>
            <a:r>
              <a:rPr lang="en-US" altLang="zh-CN" sz="2400" dirty="0"/>
              <a:t>name = []</a:t>
            </a:r>
          </a:p>
          <a:p>
            <a:pPr marL="0" indent="0">
              <a:buNone/>
            </a:pPr>
            <a:r>
              <a:rPr lang="en-US" altLang="zh-CN" sz="2400" dirty="0"/>
              <a:t>age = []</a:t>
            </a:r>
          </a:p>
          <a:p>
            <a:pPr marL="0" indent="0">
              <a:buNone/>
            </a:pPr>
            <a:r>
              <a:rPr lang="en-US" altLang="zh-CN" sz="2400" dirty="0"/>
              <a:t>score = []</a:t>
            </a:r>
          </a:p>
          <a:p>
            <a:pPr marL="0" indent="0">
              <a:buNone/>
            </a:pPr>
            <a:r>
              <a:rPr lang="en-US" altLang="zh-CN" sz="2400" dirty="0"/>
              <a:t>sum = 0</a:t>
            </a:r>
          </a:p>
          <a:p>
            <a:pPr marL="0" indent="0">
              <a:buNone/>
            </a:pPr>
            <a:r>
              <a:rPr lang="en-US" altLang="zh-CN" sz="2400" dirty="0"/>
              <a:t>for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in range(1,len(s)):   # </a:t>
            </a:r>
            <a:r>
              <a:rPr lang="zh-CN" altLang="en-US" sz="2400" dirty="0"/>
              <a:t>重点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x = s[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].split(‘,’)   # </a:t>
            </a:r>
            <a:r>
              <a:rPr lang="zh-CN" altLang="en-US" sz="2400" dirty="0"/>
              <a:t>重点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</a:t>
            </a:r>
            <a:r>
              <a:rPr lang="en-US" altLang="zh-CN" sz="2400" dirty="0" err="1"/>
              <a:t>name.append</a:t>
            </a:r>
            <a:r>
              <a:rPr lang="en-US" altLang="zh-CN" sz="2400" dirty="0"/>
              <a:t>(x[0])</a:t>
            </a:r>
          </a:p>
          <a:p>
            <a:pPr marL="0" indent="0">
              <a:buNone/>
            </a:pPr>
            <a:r>
              <a:rPr lang="en-US" altLang="zh-CN" sz="2400" dirty="0"/>
              <a:t>    </a:t>
            </a:r>
            <a:r>
              <a:rPr lang="en-US" altLang="zh-CN" sz="2400" dirty="0" err="1"/>
              <a:t>age.append</a:t>
            </a:r>
            <a:r>
              <a:rPr lang="en-US" altLang="zh-CN" sz="2400" dirty="0"/>
              <a:t>(int(x[1]))</a:t>
            </a:r>
          </a:p>
          <a:p>
            <a:pPr marL="0" indent="0">
              <a:buNone/>
            </a:pPr>
            <a:r>
              <a:rPr lang="en-US" altLang="zh-CN" sz="2400" dirty="0"/>
              <a:t>    </a:t>
            </a:r>
            <a:r>
              <a:rPr lang="en-US" altLang="zh-CN" sz="2400" dirty="0" err="1"/>
              <a:t>score.append</a:t>
            </a:r>
            <a:r>
              <a:rPr lang="en-US" altLang="zh-CN" sz="2400" dirty="0"/>
              <a:t>(int(x[2]))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BB6B85-99EB-42DB-81B3-D42CECAD1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049968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8107B2-6575-4513-903D-05C2B1B43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332656"/>
            <a:ext cx="11737304" cy="652534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en-US" dirty="0"/>
              <a:t>（续）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print('</a:t>
            </a:r>
            <a:r>
              <a:rPr lang="zh-CN" altLang="en-US" dirty="0"/>
              <a:t>不及格的学生有</a:t>
            </a:r>
            <a:r>
              <a:rPr lang="en-US" altLang="zh-CN" dirty="0"/>
              <a:t>\n')</a:t>
            </a:r>
          </a:p>
          <a:p>
            <a:pPr marL="0" indent="0">
              <a:buNone/>
            </a:pPr>
            <a:r>
              <a:rPr lang="en-US" altLang="zh-CN" dirty="0"/>
              <a:t>for </a:t>
            </a:r>
            <a:r>
              <a:rPr lang="en-US" altLang="zh-CN" dirty="0" err="1"/>
              <a:t>i</a:t>
            </a:r>
            <a:r>
              <a:rPr lang="en-US" altLang="zh-CN" dirty="0"/>
              <a:t> in range(0,len(score)):</a:t>
            </a:r>
          </a:p>
          <a:p>
            <a:pPr marL="0" indent="0">
              <a:buNone/>
            </a:pPr>
            <a:r>
              <a:rPr lang="en-US" altLang="zh-CN" dirty="0"/>
              <a:t>    sum = sum + score[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en-US" altLang="zh-CN" sz="3200" dirty="0"/>
              <a:t>     # </a:t>
            </a:r>
            <a:r>
              <a:rPr lang="zh-CN" altLang="en-US" sz="3200" dirty="0"/>
              <a:t>重点。</a:t>
            </a:r>
            <a:r>
              <a:rPr lang="en-US" altLang="zh-CN" sz="3200" dirty="0"/>
              <a:t>sum = sum(score)</a:t>
            </a:r>
            <a:r>
              <a:rPr lang="zh-CN" altLang="en-US" sz="3200" dirty="0"/>
              <a:t>行不行？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if score[</a:t>
            </a:r>
            <a:r>
              <a:rPr lang="en-US" altLang="zh-CN" dirty="0" err="1"/>
              <a:t>i</a:t>
            </a:r>
            <a:r>
              <a:rPr lang="en-US" altLang="zh-CN" dirty="0"/>
              <a:t>] &lt; 60:</a:t>
            </a:r>
          </a:p>
          <a:p>
            <a:pPr marL="0" indent="0">
              <a:buNone/>
            </a:pPr>
            <a:r>
              <a:rPr lang="en-US" altLang="zh-CN" dirty="0"/>
              <a:t>        print(name[</a:t>
            </a:r>
            <a:r>
              <a:rPr lang="en-US" altLang="zh-CN" dirty="0" err="1"/>
              <a:t>i</a:t>
            </a:r>
            <a:r>
              <a:rPr lang="en-US" altLang="zh-CN" dirty="0"/>
              <a:t>],age[</a:t>
            </a:r>
            <a:r>
              <a:rPr lang="en-US" altLang="zh-CN" dirty="0" err="1"/>
              <a:t>i</a:t>
            </a:r>
            <a:r>
              <a:rPr lang="en-US" altLang="zh-CN" dirty="0"/>
              <a:t>],score[</a:t>
            </a:r>
            <a:r>
              <a:rPr lang="en-US" altLang="zh-CN" dirty="0" err="1"/>
              <a:t>i</a:t>
            </a:r>
            <a:r>
              <a:rPr lang="en-US" altLang="zh-CN" dirty="0"/>
              <a:t>],'\n')</a:t>
            </a:r>
          </a:p>
          <a:p>
            <a:pPr marL="0" indent="0">
              <a:buNone/>
            </a:pPr>
            <a:r>
              <a:rPr lang="en-US" altLang="zh-CN" dirty="0"/>
              <a:t>print('J</a:t>
            </a:r>
            <a:r>
              <a:rPr lang="zh-CN" altLang="en-US" dirty="0"/>
              <a:t>开头的学生有</a:t>
            </a:r>
            <a:r>
              <a:rPr lang="en-US" altLang="zh-CN" dirty="0"/>
              <a:t>\n')</a:t>
            </a:r>
          </a:p>
          <a:p>
            <a:pPr marL="0" indent="0">
              <a:buNone/>
            </a:pPr>
            <a:r>
              <a:rPr lang="en-US" altLang="zh-CN" dirty="0"/>
              <a:t>for </a:t>
            </a:r>
            <a:r>
              <a:rPr lang="en-US" altLang="zh-CN" dirty="0" err="1"/>
              <a:t>i</a:t>
            </a:r>
            <a:r>
              <a:rPr lang="en-US" altLang="zh-CN" dirty="0"/>
              <a:t> in range(0,len(name)):</a:t>
            </a:r>
          </a:p>
          <a:p>
            <a:pPr marL="0" indent="0">
              <a:buNone/>
            </a:pPr>
            <a:r>
              <a:rPr lang="en-US" altLang="zh-CN" dirty="0"/>
              <a:t>    if name[</a:t>
            </a:r>
            <a:r>
              <a:rPr lang="en-US" altLang="zh-CN" dirty="0" err="1"/>
              <a:t>i</a:t>
            </a:r>
            <a:r>
              <a:rPr lang="en-US" altLang="zh-CN" dirty="0"/>
              <a:t>].</a:t>
            </a:r>
            <a:r>
              <a:rPr lang="en-US" altLang="zh-CN" dirty="0" err="1"/>
              <a:t>startwith</a:t>
            </a:r>
            <a:r>
              <a:rPr lang="en-US" altLang="zh-CN" dirty="0"/>
              <a:t>(‘J’):  # </a:t>
            </a:r>
            <a:r>
              <a:rPr lang="zh-CN" altLang="en-US" dirty="0"/>
              <a:t>重点。</a:t>
            </a:r>
            <a:r>
              <a:rPr lang="en-US" altLang="zh-CN" dirty="0"/>
              <a:t>name[</a:t>
            </a:r>
            <a:r>
              <a:rPr lang="en-US" altLang="zh-CN" dirty="0" err="1"/>
              <a:t>i</a:t>
            </a:r>
            <a:r>
              <a:rPr lang="en-US" altLang="zh-CN" dirty="0"/>
              <a:t>][0]==‘J’</a:t>
            </a:r>
          </a:p>
          <a:p>
            <a:pPr marL="0" indent="0">
              <a:buNone/>
            </a:pPr>
            <a:r>
              <a:rPr lang="en-US" altLang="zh-CN" dirty="0"/>
              <a:t>        print(name[</a:t>
            </a:r>
            <a:r>
              <a:rPr lang="en-US" altLang="zh-CN" dirty="0" err="1"/>
              <a:t>i</a:t>
            </a:r>
            <a:r>
              <a:rPr lang="en-US" altLang="zh-CN" dirty="0"/>
              <a:t>],age[</a:t>
            </a:r>
            <a:r>
              <a:rPr lang="en-US" altLang="zh-CN" dirty="0" err="1"/>
              <a:t>i</a:t>
            </a:r>
            <a:r>
              <a:rPr lang="en-US" altLang="zh-CN" dirty="0"/>
              <a:t>],score[</a:t>
            </a:r>
            <a:r>
              <a:rPr lang="en-US" altLang="zh-CN" dirty="0" err="1"/>
              <a:t>i</a:t>
            </a:r>
            <a:r>
              <a:rPr lang="en-US" altLang="zh-CN" dirty="0"/>
              <a:t>],'\n')</a:t>
            </a:r>
          </a:p>
          <a:p>
            <a:pPr marL="0" indent="0">
              <a:buNone/>
            </a:pPr>
            <a:r>
              <a:rPr lang="en-US" altLang="zh-CN" dirty="0"/>
              <a:t>print('</a:t>
            </a:r>
            <a:r>
              <a:rPr lang="zh-CN" altLang="en-US" dirty="0"/>
              <a:t>学生的总分是</a:t>
            </a:r>
            <a:r>
              <a:rPr lang="en-US" altLang="zh-CN" dirty="0"/>
              <a:t>',sum)        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BB6B85-99EB-42DB-81B3-D42CECAD1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5179943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8107B2-6575-4513-903D-05C2B1B43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332656"/>
            <a:ext cx="11737304" cy="65253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latin typeface="+mj-lt"/>
              </a:rPr>
              <a:t>3.</a:t>
            </a:r>
            <a:r>
              <a:rPr lang="zh-CN" altLang="en-US" dirty="0">
                <a:latin typeface="+mj-lt"/>
              </a:rPr>
              <a:t>用</a:t>
            </a:r>
            <a:r>
              <a:rPr lang="en-US" altLang="zh-CN" dirty="0">
                <a:latin typeface="+mj-lt"/>
              </a:rPr>
              <a:t>reader</a:t>
            </a:r>
            <a:r>
              <a:rPr lang="zh-CN" altLang="en-US" dirty="0">
                <a:latin typeface="+mj-lt"/>
              </a:rPr>
              <a:t>对象读</a:t>
            </a:r>
            <a:r>
              <a:rPr lang="en-US" altLang="zh-CN" dirty="0">
                <a:latin typeface="+mj-lt"/>
              </a:rPr>
              <a:t>record.csv,</a:t>
            </a:r>
            <a:r>
              <a:rPr lang="zh-CN" altLang="en-US" dirty="0">
                <a:latin typeface="+mj-lt"/>
              </a:rPr>
              <a:t>按照分数降序排列，用</a:t>
            </a:r>
            <a:r>
              <a:rPr lang="en-US" altLang="zh-CN" dirty="0">
                <a:latin typeface="+mj-lt"/>
              </a:rPr>
              <a:t>writer</a:t>
            </a:r>
            <a:r>
              <a:rPr lang="zh-CN" altLang="en-US" dirty="0">
                <a:latin typeface="+mj-lt"/>
              </a:rPr>
              <a:t>对象写入</a:t>
            </a:r>
            <a:r>
              <a:rPr lang="en-US" altLang="zh-CN" dirty="0">
                <a:latin typeface="+mj-lt"/>
              </a:rPr>
              <a:t>score.csv</a:t>
            </a:r>
            <a:r>
              <a:rPr lang="zh-CN" altLang="en-US" dirty="0">
                <a:latin typeface="+mj-lt"/>
              </a:rPr>
              <a:t>，并输出到朋友木上。</a:t>
            </a:r>
            <a:endParaRPr lang="en-US" altLang="zh-CN" dirty="0">
              <a:latin typeface="+mj-lt"/>
            </a:endParaRPr>
          </a:p>
          <a:p>
            <a:pPr marL="0" indent="0">
              <a:buNone/>
            </a:pPr>
            <a:endParaRPr lang="en-US" altLang="zh-CN" dirty="0">
              <a:latin typeface="+mj-lt"/>
            </a:endParaRPr>
          </a:p>
          <a:p>
            <a:pPr marL="0" indent="0">
              <a:buNone/>
            </a:pPr>
            <a:r>
              <a:rPr lang="en-US" altLang="zh-CN" dirty="0">
                <a:latin typeface="+mj-lt"/>
              </a:rPr>
              <a:t>Import csv</a:t>
            </a:r>
          </a:p>
          <a:p>
            <a:pPr marL="0" indent="0">
              <a:buNone/>
            </a:pPr>
            <a:r>
              <a:rPr lang="en-US" altLang="zh-CN" dirty="0">
                <a:latin typeface="+mj-lt"/>
              </a:rPr>
              <a:t>with open(‘</a:t>
            </a:r>
            <a:r>
              <a:rPr lang="en-US" altLang="zh-CN" dirty="0" err="1">
                <a:latin typeface="+mj-lt"/>
              </a:rPr>
              <a:t>record.csv’,’r</a:t>
            </a:r>
            <a:r>
              <a:rPr lang="en-US" altLang="zh-CN" dirty="0">
                <a:latin typeface="+mj-lt"/>
              </a:rPr>
              <a:t>’) as f:</a:t>
            </a:r>
          </a:p>
          <a:p>
            <a:pPr marL="0" indent="0">
              <a:buNone/>
            </a:pPr>
            <a:r>
              <a:rPr lang="en-US" altLang="zh-CN" dirty="0">
                <a:latin typeface="+mj-lt"/>
              </a:rPr>
              <a:t>	reader = </a:t>
            </a:r>
            <a:r>
              <a:rPr lang="en-US" altLang="zh-CN" dirty="0" err="1">
                <a:latin typeface="+mj-lt"/>
              </a:rPr>
              <a:t>csv.reader</a:t>
            </a:r>
            <a:r>
              <a:rPr lang="en-US" altLang="zh-CN" dirty="0">
                <a:latin typeface="+mj-lt"/>
              </a:rPr>
              <a:t>(f)</a:t>
            </a:r>
          </a:p>
          <a:p>
            <a:pPr marL="0" indent="0">
              <a:buNone/>
            </a:pPr>
            <a:r>
              <a:rPr lang="en-US" altLang="zh-CN" dirty="0">
                <a:latin typeface="+mj-lt"/>
              </a:rPr>
              <a:t>	header = </a:t>
            </a:r>
            <a:r>
              <a:rPr lang="en-US" altLang="zh-CN" dirty="0" err="1">
                <a:latin typeface="+mj-lt"/>
              </a:rPr>
              <a:t>reader.__next</a:t>
            </a:r>
            <a:r>
              <a:rPr lang="en-US" altLang="zh-CN" dirty="0">
                <a:latin typeface="+mj-lt"/>
              </a:rPr>
              <a:t>__()   # reader</a:t>
            </a:r>
            <a:r>
              <a:rPr lang="zh-CN" altLang="en-US" dirty="0">
                <a:latin typeface="+mj-lt"/>
              </a:rPr>
              <a:t>是个迭代器，</a:t>
            </a:r>
            <a:r>
              <a:rPr lang="en-US" altLang="zh-CN" dirty="0">
                <a:latin typeface="+mj-lt"/>
              </a:rPr>
              <a:t>next</a:t>
            </a:r>
          </a:p>
          <a:p>
            <a:pPr marL="0" indent="0">
              <a:buNone/>
            </a:pPr>
            <a:r>
              <a:rPr lang="en-US" altLang="zh-CN" dirty="0">
                <a:latin typeface="+mj-lt"/>
              </a:rPr>
              <a:t>						# </a:t>
            </a:r>
            <a:r>
              <a:rPr lang="zh-CN" altLang="en-US" dirty="0">
                <a:latin typeface="+mj-lt"/>
              </a:rPr>
              <a:t>函数可以遍历每个元素</a:t>
            </a:r>
            <a:endParaRPr lang="en-US" altLang="zh-CN" dirty="0">
              <a:latin typeface="+mj-lt"/>
            </a:endParaRPr>
          </a:p>
          <a:p>
            <a:pPr marL="0" indent="0">
              <a:buNone/>
            </a:pPr>
            <a:r>
              <a:rPr lang="en-US" altLang="zh-CN" dirty="0">
                <a:latin typeface="+mj-lt"/>
              </a:rPr>
              <a:t>	data = list(reader)</a:t>
            </a:r>
          </a:p>
          <a:p>
            <a:pPr marL="0" indent="0">
              <a:buNone/>
            </a:pPr>
            <a:r>
              <a:rPr lang="en-US" altLang="zh-CN" dirty="0" err="1">
                <a:latin typeface="+mj-lt"/>
              </a:rPr>
              <a:t>data.sort</a:t>
            </a:r>
            <a:r>
              <a:rPr lang="en-US" altLang="zh-CN" dirty="0">
                <a:latin typeface="+mj-lt"/>
              </a:rPr>
              <a:t>(key = lambda x:x[2], reverse = True)     # </a:t>
            </a:r>
            <a:r>
              <a:rPr lang="zh-CN" altLang="en-US" dirty="0">
                <a:latin typeface="+mj-lt"/>
              </a:rPr>
              <a:t>重点</a:t>
            </a:r>
            <a:endParaRPr lang="en-US" altLang="zh-CN" dirty="0">
              <a:latin typeface="+mj-lt"/>
            </a:endParaRPr>
          </a:p>
          <a:p>
            <a:pPr marL="0" indent="0">
              <a:buNone/>
            </a:pPr>
            <a:endParaRPr lang="zh-CN" altLang="en-US" dirty="0">
              <a:latin typeface="+mj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BB6B85-99EB-42DB-81B3-D42CECAD1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85613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8107B2-6575-4513-903D-05C2B1B43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332656"/>
            <a:ext cx="11737304" cy="65253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3.</a:t>
            </a:r>
          </a:p>
          <a:p>
            <a:pPr marL="0" indent="0">
              <a:buNone/>
            </a:pPr>
            <a:r>
              <a:rPr lang="en-US" altLang="zh-CN" dirty="0">
                <a:latin typeface="+mj-lt"/>
              </a:rPr>
              <a:t>with open(‘</a:t>
            </a:r>
            <a:r>
              <a:rPr lang="en-US" altLang="zh-CN" dirty="0" err="1">
                <a:latin typeface="+mj-lt"/>
              </a:rPr>
              <a:t>score.csv’,’w</a:t>
            </a:r>
            <a:r>
              <a:rPr lang="en-US" altLang="zh-CN" dirty="0">
                <a:latin typeface="+mj-lt"/>
              </a:rPr>
              <a:t>’) as f:</a:t>
            </a:r>
          </a:p>
          <a:p>
            <a:pPr marL="0" indent="0">
              <a:buNone/>
            </a:pPr>
            <a:r>
              <a:rPr lang="en-US" altLang="zh-CN" dirty="0">
                <a:latin typeface="+mj-lt"/>
              </a:rPr>
              <a:t>	writer = </a:t>
            </a:r>
            <a:r>
              <a:rPr lang="en-US" altLang="zh-CN" dirty="0" err="1">
                <a:latin typeface="+mj-lt"/>
              </a:rPr>
              <a:t>csv.writer</a:t>
            </a:r>
            <a:r>
              <a:rPr lang="en-US" altLang="zh-CN" dirty="0">
                <a:latin typeface="+mj-lt"/>
              </a:rPr>
              <a:t>(f)</a:t>
            </a:r>
          </a:p>
          <a:p>
            <a:pPr marL="0" indent="0">
              <a:buNone/>
            </a:pPr>
            <a:r>
              <a:rPr lang="en-US" altLang="zh-CN" dirty="0">
                <a:latin typeface="+mj-lt"/>
              </a:rPr>
              <a:t> 	</a:t>
            </a:r>
            <a:r>
              <a:rPr lang="en-US" altLang="zh-CN" dirty="0" err="1">
                <a:latin typeface="+mj-lt"/>
              </a:rPr>
              <a:t>writer.writerow</a:t>
            </a:r>
            <a:r>
              <a:rPr lang="en-US" altLang="zh-CN" dirty="0">
                <a:latin typeface="+mj-lt"/>
              </a:rPr>
              <a:t>(header)</a:t>
            </a:r>
          </a:p>
          <a:p>
            <a:pPr marL="0" indent="0">
              <a:buNone/>
            </a:pPr>
            <a:r>
              <a:rPr lang="en-US" altLang="zh-CN" dirty="0">
                <a:latin typeface="+mj-lt"/>
              </a:rPr>
              <a:t>    for row in content[1:len(content)]:</a:t>
            </a:r>
          </a:p>
          <a:p>
            <a:pPr marL="0" indent="0">
              <a:buNone/>
            </a:pPr>
            <a:r>
              <a:rPr lang="en-US" altLang="zh-CN" dirty="0">
                <a:latin typeface="+mj-lt"/>
              </a:rPr>
              <a:t>        </a:t>
            </a:r>
            <a:r>
              <a:rPr lang="en-US" altLang="zh-CN" dirty="0" err="1">
                <a:latin typeface="+mj-lt"/>
              </a:rPr>
              <a:t>writer.writerow</a:t>
            </a:r>
            <a:r>
              <a:rPr lang="en-US" altLang="zh-CN" dirty="0">
                <a:latin typeface="+mj-lt"/>
              </a:rPr>
              <a:t>(row)</a:t>
            </a:r>
          </a:p>
          <a:p>
            <a:pPr marL="0" indent="0">
              <a:buNone/>
            </a:pPr>
            <a:r>
              <a:rPr lang="en-US" altLang="zh-CN" dirty="0">
                <a:latin typeface="+mj-lt"/>
              </a:rPr>
              <a:t>        print(row)</a:t>
            </a:r>
          </a:p>
          <a:p>
            <a:pPr marL="0" indent="0">
              <a:buNone/>
            </a:pPr>
            <a:r>
              <a:rPr lang="en-US" altLang="zh-CN" dirty="0">
                <a:latin typeface="+mj-lt"/>
              </a:rPr>
              <a:t>    </a:t>
            </a:r>
          </a:p>
          <a:p>
            <a:pPr marL="0" indent="0">
              <a:buNone/>
            </a:pPr>
            <a:r>
              <a:rPr lang="en-US" altLang="zh-CN" dirty="0">
                <a:latin typeface="+mj-lt"/>
              </a:rPr>
              <a:t> </a:t>
            </a:r>
            <a:endParaRPr lang="zh-CN" altLang="en-US" dirty="0">
              <a:latin typeface="+mj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BB6B85-99EB-42DB-81B3-D42CECAD1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356380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8107B2-6575-4513-903D-05C2B1B43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332656"/>
            <a:ext cx="11737304" cy="652534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dirty="0"/>
              <a:t>4.</a:t>
            </a:r>
            <a:r>
              <a:rPr lang="zh-CN" altLang="en-US" dirty="0"/>
              <a:t>键盘输入学号，姓名，性别，年龄，用</a:t>
            </a:r>
            <a:r>
              <a:rPr lang="en-US" altLang="zh-CN" dirty="0"/>
              <a:t>Pickle</a:t>
            </a:r>
            <a:r>
              <a:rPr lang="zh-CN" altLang="en-US" dirty="0"/>
              <a:t>写入</a:t>
            </a:r>
            <a:r>
              <a:rPr lang="en-US" altLang="zh-CN" dirty="0"/>
              <a:t>student.dat</a:t>
            </a:r>
            <a:r>
              <a:rPr lang="zh-CN" altLang="en-US" dirty="0"/>
              <a:t>中，直到输入学号为</a:t>
            </a:r>
            <a:r>
              <a:rPr lang="en-US" altLang="zh-CN" dirty="0"/>
              <a:t>-1</a:t>
            </a:r>
            <a:r>
              <a:rPr lang="zh-CN" altLang="en-US" dirty="0"/>
              <a:t>为止。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import pickle</a:t>
            </a:r>
          </a:p>
          <a:p>
            <a:pPr marL="0" indent="0">
              <a:buNone/>
            </a:pPr>
            <a:r>
              <a:rPr lang="en-US" altLang="zh-CN" dirty="0"/>
              <a:t>with open('student.</a:t>
            </a:r>
            <a:r>
              <a:rPr lang="en-US" altLang="zh-CN" dirty="0" err="1"/>
              <a:t>dat</a:t>
            </a:r>
            <a:r>
              <a:rPr lang="en-US" altLang="zh-CN" dirty="0"/>
              <a:t>','</a:t>
            </a:r>
            <a:r>
              <a:rPr lang="en-US" altLang="zh-CN" dirty="0" err="1"/>
              <a:t>wb</a:t>
            </a:r>
            <a:r>
              <a:rPr lang="en-US" altLang="zh-CN" dirty="0"/>
              <a:t>')as f:</a:t>
            </a:r>
          </a:p>
          <a:p>
            <a:pPr marL="0" indent="0">
              <a:buNone/>
            </a:pPr>
            <a:r>
              <a:rPr lang="en-US" altLang="zh-CN" dirty="0"/>
              <a:t>    while True:</a:t>
            </a:r>
          </a:p>
          <a:p>
            <a:pPr marL="0" indent="0">
              <a:buNone/>
            </a:pPr>
            <a:r>
              <a:rPr lang="en-US" altLang="zh-CN" dirty="0"/>
              <a:t>        id = int(input('</a:t>
            </a:r>
            <a:r>
              <a:rPr lang="zh-CN" altLang="en-US" dirty="0"/>
              <a:t>请输入学号</a:t>
            </a:r>
            <a:r>
              <a:rPr lang="en-US" altLang="zh-CN" dirty="0"/>
              <a:t>:'))</a:t>
            </a:r>
          </a:p>
          <a:p>
            <a:pPr marL="0" indent="0">
              <a:buNone/>
            </a:pPr>
            <a:r>
              <a:rPr lang="en-US" altLang="zh-CN" dirty="0"/>
              <a:t>        if id &lt; 0:</a:t>
            </a:r>
          </a:p>
          <a:p>
            <a:pPr marL="0" indent="0">
              <a:buNone/>
            </a:pPr>
            <a:r>
              <a:rPr lang="en-US" altLang="zh-CN" dirty="0"/>
              <a:t>            break</a:t>
            </a:r>
          </a:p>
          <a:p>
            <a:pPr marL="0" indent="0">
              <a:buNone/>
            </a:pPr>
            <a:r>
              <a:rPr lang="en-US" altLang="zh-CN" dirty="0"/>
              <a:t>        name = input('</a:t>
            </a:r>
            <a:r>
              <a:rPr lang="zh-CN" altLang="en-US" dirty="0"/>
              <a:t>请输入姓名</a:t>
            </a:r>
            <a:r>
              <a:rPr lang="en-US" altLang="zh-CN" dirty="0"/>
              <a:t>:')</a:t>
            </a:r>
          </a:p>
          <a:p>
            <a:pPr marL="0" indent="0">
              <a:buNone/>
            </a:pPr>
            <a:r>
              <a:rPr lang="en-US" altLang="zh-CN" dirty="0"/>
              <a:t>        sex = input('</a:t>
            </a:r>
            <a:r>
              <a:rPr lang="zh-CN" altLang="en-US" dirty="0"/>
              <a:t>请输入姓别</a:t>
            </a:r>
            <a:r>
              <a:rPr lang="en-US" altLang="zh-CN" dirty="0"/>
              <a:t>:')</a:t>
            </a:r>
          </a:p>
          <a:p>
            <a:pPr marL="0" indent="0">
              <a:buNone/>
            </a:pPr>
            <a:r>
              <a:rPr lang="en-US" altLang="zh-CN" dirty="0"/>
              <a:t>        age = int(input('</a:t>
            </a:r>
            <a:r>
              <a:rPr lang="zh-CN" altLang="en-US" dirty="0"/>
              <a:t>请输入年龄</a:t>
            </a:r>
            <a:r>
              <a:rPr lang="en-US" altLang="zh-CN" dirty="0"/>
              <a:t>:'))</a:t>
            </a:r>
          </a:p>
          <a:p>
            <a:pPr marL="0" indent="0">
              <a:buNone/>
            </a:pPr>
            <a:r>
              <a:rPr lang="en-US" altLang="zh-CN" dirty="0"/>
              <a:t>        print('*****************')</a:t>
            </a:r>
          </a:p>
          <a:p>
            <a:pPr marL="0" indent="0">
              <a:buNone/>
            </a:pPr>
            <a:r>
              <a:rPr lang="en-US" altLang="zh-CN" dirty="0"/>
              <a:t>        record = (</a:t>
            </a:r>
            <a:r>
              <a:rPr lang="en-US" altLang="zh-CN" dirty="0" err="1"/>
              <a:t>id,name,sex,age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r>
              <a:rPr lang="en-US" altLang="zh-CN" dirty="0"/>
              <a:t>        try:</a:t>
            </a:r>
          </a:p>
          <a:p>
            <a:pPr marL="0" indent="0">
              <a:buNone/>
            </a:pPr>
            <a:r>
              <a:rPr lang="en-US" altLang="zh-CN" dirty="0"/>
              <a:t>            </a:t>
            </a:r>
            <a:r>
              <a:rPr lang="en-US" altLang="zh-CN" dirty="0" err="1"/>
              <a:t>pickle.dump</a:t>
            </a:r>
            <a:r>
              <a:rPr lang="en-US" altLang="zh-CN" dirty="0"/>
              <a:t>(</a:t>
            </a:r>
            <a:r>
              <a:rPr lang="en-US" altLang="zh-CN" dirty="0" err="1"/>
              <a:t>record,f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r>
              <a:rPr lang="en-US" altLang="zh-CN" dirty="0"/>
              <a:t>        except:</a:t>
            </a:r>
          </a:p>
          <a:p>
            <a:pPr marL="0" indent="0">
              <a:buNone/>
            </a:pPr>
            <a:r>
              <a:rPr lang="en-US" altLang="zh-CN" dirty="0"/>
              <a:t>            print('</a:t>
            </a:r>
            <a:r>
              <a:rPr lang="zh-CN" altLang="en-US" dirty="0"/>
              <a:t>写入文件异常</a:t>
            </a:r>
            <a:r>
              <a:rPr lang="en-US" altLang="zh-CN"/>
              <a:t>!')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BB6B85-99EB-42DB-81B3-D42CECAD1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778915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8107B2-6575-4513-903D-05C2B1B43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332656"/>
            <a:ext cx="11737304" cy="652534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dirty="0"/>
              <a:t>4.</a:t>
            </a:r>
            <a:r>
              <a:rPr lang="zh-CN" altLang="en-US" dirty="0"/>
              <a:t>（续）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with open('student.</a:t>
            </a:r>
            <a:r>
              <a:rPr lang="en-US" altLang="zh-CN" dirty="0" err="1"/>
              <a:t>dat</a:t>
            </a:r>
            <a:r>
              <a:rPr lang="en-US" altLang="zh-CN" dirty="0"/>
              <a:t>','</a:t>
            </a:r>
            <a:r>
              <a:rPr lang="en-US" altLang="zh-CN" dirty="0" err="1"/>
              <a:t>rb</a:t>
            </a:r>
            <a:r>
              <a:rPr lang="en-US" altLang="zh-CN" dirty="0"/>
              <a:t>') as f:</a:t>
            </a:r>
          </a:p>
          <a:p>
            <a:pPr marL="0" indent="0">
              <a:buNone/>
            </a:pPr>
            <a:r>
              <a:rPr lang="en-US" altLang="zh-CN" dirty="0"/>
              <a:t>    result = []</a:t>
            </a:r>
          </a:p>
          <a:p>
            <a:pPr marL="0" indent="0">
              <a:buNone/>
            </a:pPr>
            <a:r>
              <a:rPr lang="en-US" altLang="zh-CN" dirty="0"/>
              <a:t>    try:</a:t>
            </a:r>
          </a:p>
          <a:p>
            <a:pPr marL="0" indent="0">
              <a:buNone/>
            </a:pPr>
            <a:r>
              <a:rPr lang="en-US" altLang="zh-CN" dirty="0"/>
              <a:t>        while True:</a:t>
            </a:r>
          </a:p>
          <a:p>
            <a:pPr marL="0" indent="0">
              <a:buNone/>
            </a:pPr>
            <a:r>
              <a:rPr lang="en-US" altLang="zh-CN" dirty="0"/>
              <a:t>            record = </a:t>
            </a:r>
            <a:r>
              <a:rPr lang="en-US" altLang="zh-CN" dirty="0" err="1"/>
              <a:t>pickle.load</a:t>
            </a:r>
            <a:r>
              <a:rPr lang="en-US" altLang="zh-CN" dirty="0"/>
              <a:t>(f)</a:t>
            </a:r>
          </a:p>
          <a:p>
            <a:pPr marL="0" indent="0">
              <a:buNone/>
            </a:pPr>
            <a:r>
              <a:rPr lang="en-US" altLang="zh-CN" dirty="0"/>
              <a:t>            </a:t>
            </a:r>
            <a:r>
              <a:rPr lang="en-US" altLang="zh-CN" dirty="0" err="1"/>
              <a:t>result.append</a:t>
            </a:r>
            <a:r>
              <a:rPr lang="en-US" altLang="zh-CN" dirty="0"/>
              <a:t>(record)</a:t>
            </a:r>
          </a:p>
          <a:p>
            <a:pPr marL="0" indent="0">
              <a:buNone/>
            </a:pPr>
            <a:r>
              <a:rPr lang="en-US" altLang="zh-CN" dirty="0"/>
              <a:t>    except </a:t>
            </a:r>
            <a:r>
              <a:rPr lang="en-US" altLang="zh-CN" dirty="0" err="1"/>
              <a:t>EOFError</a:t>
            </a:r>
            <a:r>
              <a:rPr lang="en-US" altLang="zh-CN" dirty="0"/>
              <a:t>: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f.close</a:t>
            </a:r>
            <a:r>
              <a:rPr lang="en-US" altLang="zh-CN" dirty="0"/>
              <a:t>()</a:t>
            </a:r>
          </a:p>
          <a:p>
            <a:pPr marL="0" indent="0">
              <a:buNone/>
            </a:pPr>
            <a:r>
              <a:rPr lang="en-US" altLang="zh-CN" dirty="0" err="1"/>
              <a:t>result.sort</a:t>
            </a:r>
            <a:r>
              <a:rPr lang="en-US" altLang="zh-CN" dirty="0"/>
              <a:t>(key = lambda x:x[0])</a:t>
            </a:r>
          </a:p>
          <a:p>
            <a:pPr marL="0" indent="0">
              <a:buNone/>
            </a:pPr>
            <a:r>
              <a:rPr lang="en-US" altLang="zh-CN" dirty="0"/>
              <a:t>print('</a:t>
            </a:r>
            <a:r>
              <a:rPr lang="zh-CN" altLang="en-US" dirty="0"/>
              <a:t>学号</a:t>
            </a:r>
            <a:r>
              <a:rPr lang="en-US" altLang="zh-CN" dirty="0"/>
              <a:t>','</a:t>
            </a:r>
            <a:r>
              <a:rPr lang="zh-CN" altLang="en-US" dirty="0"/>
              <a:t>姓名</a:t>
            </a:r>
            <a:r>
              <a:rPr lang="en-US" altLang="zh-CN" dirty="0"/>
              <a:t>','</a:t>
            </a:r>
            <a:r>
              <a:rPr lang="zh-CN" altLang="en-US" dirty="0"/>
              <a:t>性别</a:t>
            </a:r>
            <a:r>
              <a:rPr lang="en-US" altLang="zh-CN" dirty="0"/>
              <a:t>','</a:t>
            </a:r>
            <a:r>
              <a:rPr lang="zh-CN" altLang="en-US" dirty="0"/>
              <a:t>年龄</a:t>
            </a:r>
            <a:r>
              <a:rPr lang="en-US" altLang="zh-CN" dirty="0"/>
              <a:t>')</a:t>
            </a:r>
          </a:p>
          <a:p>
            <a:pPr marL="0" indent="0">
              <a:buNone/>
            </a:pPr>
            <a:r>
              <a:rPr lang="en-US" altLang="zh-CN" dirty="0"/>
              <a:t>for record in result:</a:t>
            </a:r>
          </a:p>
          <a:p>
            <a:pPr marL="0" indent="0">
              <a:buNone/>
            </a:pPr>
            <a:r>
              <a:rPr lang="en-US" altLang="zh-CN" dirty="0"/>
              <a:t>    print('%3d %4s %4s %4d'%(record[0],record[1],record[2],record[3]))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BB6B85-99EB-42DB-81B3-D42CECAD1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504328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8107B2-6575-4513-903D-05C2B1B43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332656"/>
            <a:ext cx="11737304" cy="65253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2.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BB6B85-99EB-42DB-81B3-D42CECAD1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849701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8107B2-6575-4513-903D-05C2B1B43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332656"/>
            <a:ext cx="11737304" cy="65253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2.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BB6B85-99EB-42DB-81B3-D42CECAD1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0571822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8107B2-6575-4513-903D-05C2B1B43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332656"/>
            <a:ext cx="11737304" cy="65253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2.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BB6B85-99EB-42DB-81B3-D42CECAD1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524790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8107B2-6575-4513-903D-05C2B1B43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332656"/>
            <a:ext cx="11737304" cy="65253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2.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BB6B85-99EB-42DB-81B3-D42CECAD1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3913500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4327525" y="1499870"/>
            <a:ext cx="3436620" cy="922020"/>
          </a:xfrm>
          <a:prstGeom prst="rect">
            <a:avLst/>
          </a:prstGeom>
          <a:noFill/>
        </p:spPr>
        <p:txBody>
          <a:bodyPr wrap="square" rtlCol="0">
            <a:normAutofit fontScale="67500" lnSpcReduction="20000"/>
          </a:bodyPr>
          <a:lstStyle/>
          <a:p>
            <a:pPr algn="dist"/>
            <a:r>
              <a:rPr lang="zh-CN" altLang="en-US" sz="5400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清华大学出版社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0"/>
              <a:t>谢谢观赏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899FDB7-A560-4762-9AF1-C515CC52C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138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幻灯片 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TYPE" val="i"/>
  <p:tag name="KSO_WM_UNIT_INDEX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KSO_WM_UNIT_TYPE" val="i"/>
  <p:tag name="KSO_WM_UNIT_INDEX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navigation"/>
  <p:tag name="KSO_WM_SLIDE_BK_DARK_LIGHT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2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1aa8e82-82d9-494c-9e87-175b1d7626d5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ab47395d-e9b6-4909-8dd6-94cc26df2c74}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fe59aacb-f0cb-4182-8f8d-6786ca8b0bf9}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2601_15"/>
  <p:tag name="KSO_WM_TEMPLATE_SUBCATEGORY" val="0"/>
  <p:tag name="KSO_WM_TEMPLATE_MASTER_TYPE" val="1"/>
  <p:tag name="KSO_WM_TEMPLATE_COLOR_TYPE" val="1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02601"/>
  <p:tag name="KSO_WM_SLIDE_LAYOUT" val="a_b"/>
  <p:tag name="KSO_WM_SLIDE_LAYOUT_CNT" val="1_2"/>
  <p:tag name="KSO_WM_SLIDE_TYPE" val="endPage"/>
  <p:tag name="KSO_WM_SLIDE_SUBTYPE" val="pureTxt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15*i*1"/>
  <p:tag name="KSO_WM_TEMPLATE_CATEGORY" val="custom"/>
  <p:tag name="KSO_WM_TEMPLATE_INDEX" val="20202601"/>
  <p:tag name="KSO_WM_UNIT_LAYERLEVEL" val="1"/>
  <p:tag name="KSO_WM_TAG_VERSION" val="1.0"/>
  <p:tag name="KSO_WM_BEAUTIFY_FLAG" val="#wm#"/>
  <p:tag name="KSO_WM_UNIT_ISCONTENTSTITLE" val="0"/>
  <p:tag name="KSO_WM_UNIT_NOCLEAR" val="0"/>
  <p:tag name="KSO_WM_UNIT_TYPE" val="i"/>
  <p:tag name="KSO_WM_UNIT_INDEX" val="1"/>
  <p:tag name="KSO_WM_UNIT_PRESET_TEXT" val="2019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15*a*1"/>
  <p:tag name="KSO_WM_TEMPLATE_CATEGORY" val="custom"/>
  <p:tag name="KSO_WM_TEMPLATE_INDEX" val="20202601"/>
  <p:tag name="KSO_WM_UNIT_LAYERLEVEL" val="1"/>
  <p:tag name="KSO_WM_TAG_VERSION" val="1.0"/>
  <p:tag name="KSO_WM_BEAUTIFY_FLAG" val="#wm#"/>
  <p:tag name="KSO_WM_UNIT_ISCONTENTSTITLE" val="0"/>
  <p:tag name="KSO_WM_UNIT_PRESET_TEXT" val="谢谢观赏"/>
  <p:tag name="KSO_WM_UNIT_NOCLEAR" val="1"/>
  <p:tag name="KSO_WM_UNIT_VALUE" val="6"/>
  <p:tag name="KSO_WM_UNIT_TYPE" val="a"/>
  <p:tag name="KSO_WM_UNIT_INDEX" val="1"/>
</p:tagLst>
</file>

<file path=ppt/theme/theme1.xml><?xml version="1.0" encoding="utf-8"?>
<a:theme xmlns:a="http://schemas.openxmlformats.org/drawingml/2006/main" name="当图网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当图网1">
  <a:themeElements>
    <a:clrScheme name="Office 主题​​">
      <a:dk1>
        <a:sysClr val="windowText" lastClr="FFFFFF"/>
      </a:dk1>
      <a:lt1>
        <a:sysClr val="window" lastClr="000000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当图网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当图网1">
  <a:themeElements>
    <a:clrScheme name="Office 主题​​">
      <a:dk1>
        <a:sysClr val="windowText" lastClr="FFFFFF"/>
      </a:dk1>
      <a:lt1>
        <a:sysClr val="window" lastClr="000000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水汽尾迹">
  <a:themeElements>
    <a:clrScheme name="水汽尾迹">
      <a:dk1>
        <a:sysClr val="windowText" lastClr="FFFFFF"/>
      </a:dk1>
      <a:lt1>
        <a:sysClr val="window" lastClr="000000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水汽尾迹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水汽尾迹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6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2588</TotalTime>
  <Words>8168</Words>
  <Application>Microsoft Office PowerPoint</Application>
  <PresentationFormat>宽屏</PresentationFormat>
  <Paragraphs>1247</Paragraphs>
  <Slides>138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138</vt:i4>
      </vt:variant>
    </vt:vector>
  </HeadingPairs>
  <TitlesOfParts>
    <vt:vector size="155" baseType="lpstr">
      <vt:lpstr>-apple-system</vt:lpstr>
      <vt:lpstr>PingFang SC</vt:lpstr>
      <vt:lpstr>黑体</vt:lpstr>
      <vt:lpstr>华文新魏</vt:lpstr>
      <vt:lpstr>宋体</vt:lpstr>
      <vt:lpstr>微软雅黑</vt:lpstr>
      <vt:lpstr>Arial</vt:lpstr>
      <vt:lpstr>Calibri</vt:lpstr>
      <vt:lpstr>Calibri Light</vt:lpstr>
      <vt:lpstr>Century Gothic</vt:lpstr>
      <vt:lpstr>Viner Hand ITC</vt:lpstr>
      <vt:lpstr>Wingdings</vt:lpstr>
      <vt:lpstr>当图网</vt:lpstr>
      <vt:lpstr>当图网1</vt:lpstr>
      <vt:lpstr>1_当图网</vt:lpstr>
      <vt:lpstr>1_当图网1</vt:lpstr>
      <vt:lpstr>水汽尾迹</vt:lpstr>
      <vt:lpstr>PowerPoint 演示文稿</vt:lpstr>
      <vt:lpstr>目录</vt:lpstr>
      <vt:lpstr>10.1 文件概述</vt:lpstr>
      <vt:lpstr>什么是文件？</vt:lpstr>
      <vt:lpstr>文件的分类</vt:lpstr>
      <vt:lpstr>文件操作的一般步骤</vt:lpstr>
      <vt:lpstr>小例子</vt:lpstr>
      <vt:lpstr>10.2 文件的打开与关闭</vt:lpstr>
      <vt:lpstr>10.2.1 打开文件</vt:lpstr>
      <vt:lpstr>PowerPoint 演示文稿</vt:lpstr>
      <vt:lpstr>mode的参数</vt:lpstr>
      <vt:lpstr>几种打开方式的特点</vt:lpstr>
      <vt:lpstr>'+'的几种组合使用说明</vt:lpstr>
      <vt:lpstr>不同的打开方式</vt:lpstr>
      <vt:lpstr>10.2.2 关闭文件</vt:lpstr>
      <vt:lpstr>会自动关闭文件的一种打开文件写法</vt:lpstr>
      <vt:lpstr>PowerPoint 演示文稿</vt:lpstr>
      <vt:lpstr>10.3 文本文件的读写</vt:lpstr>
      <vt:lpstr>10.3.1 读取文本文件</vt:lpstr>
      <vt:lpstr>1. read()方法</vt:lpstr>
      <vt:lpstr>2. readline()方法</vt:lpstr>
      <vt:lpstr>3. readlines()方法</vt:lpstr>
      <vt:lpstr>4. 直接遍历文件对象</vt:lpstr>
      <vt:lpstr>【例】读取文件  D:\temp\poem.txt内容如下，请读取文件内容。</vt:lpstr>
      <vt:lpstr>PowerPoint 演示文稿</vt:lpstr>
      <vt:lpstr>PowerPoint 演示文稿</vt:lpstr>
      <vt:lpstr>PowerPoint 演示文稿</vt:lpstr>
      <vt:lpstr>PowerPoint 演示文稿</vt:lpstr>
      <vt:lpstr>10.3.2 文本文件的写入</vt:lpstr>
      <vt:lpstr>1. write()方法</vt:lpstr>
      <vt:lpstr>PowerPoint 演示文稿</vt:lpstr>
      <vt:lpstr>2. writelines()方法</vt:lpstr>
      <vt:lpstr>例10-14 将九九乘法表按照如下格式输入到文件99.txt中</vt:lpstr>
      <vt:lpstr>程序代码：</vt:lpstr>
      <vt:lpstr>例10-15 将诗歌《静夜思》的内容按行写入文件“poet.txt”中。</vt:lpstr>
      <vt:lpstr>PowerPoint 演示文稿</vt:lpstr>
      <vt:lpstr>10.4 CSV文件的读写</vt:lpstr>
      <vt:lpstr>10.4.1 CSV文件简介</vt:lpstr>
      <vt:lpstr>读写CSV文件的方法</vt:lpstr>
      <vt:lpstr>10.4.2 读取CSV文件</vt:lpstr>
      <vt:lpstr>1. csv.reader对象</vt:lpstr>
      <vt:lpstr>示例:读取csvTest.csv中所有内容</vt:lpstr>
      <vt:lpstr>2. csv.DictReader对象 *</vt:lpstr>
      <vt:lpstr>例：利用csv.DictReader对象读取csv文件</vt:lpstr>
      <vt:lpstr>例10-1 利用csv.DictReader对象，输出csvTest.csv文件中的的男生信息</vt:lpstr>
      <vt:lpstr>10.4.3 写入CSV文件</vt:lpstr>
      <vt:lpstr>1. csv.writer对象</vt:lpstr>
      <vt:lpstr>用writer对象写入数据的常用方法</vt:lpstr>
      <vt:lpstr>例10-2 利用csv.writer对象，将学生信息按一次一行的方式写入student.csv文件中</vt:lpstr>
      <vt:lpstr>例10-3 要求同10-2，一次写一行，另一种方法</vt:lpstr>
      <vt:lpstr>例10-4 利用csv.writer对象，将学生信息一次性写入student.csv文件中</vt:lpstr>
      <vt:lpstr>2. csv.DictWriter对象 *</vt:lpstr>
      <vt:lpstr>例10-5 利用csv.DictWriter对象，将学生信息写入student.csv文件中</vt:lpstr>
      <vt:lpstr>10.5 文件内的移动</vt:lpstr>
      <vt:lpstr>文件指针</vt:lpstr>
      <vt:lpstr>1. 移动文件指针</vt:lpstr>
      <vt:lpstr>seek()方法的使用示例</vt:lpstr>
      <vt:lpstr>2. 获取文件指针的位置</vt:lpstr>
      <vt:lpstr>例10-6 tell()</vt:lpstr>
      <vt:lpstr>10.6 二进制文件的读写*</vt:lpstr>
      <vt:lpstr>二进制文件的特点</vt:lpstr>
      <vt:lpstr>二进制文件的读写特点</vt:lpstr>
      <vt:lpstr>10.6.1 pickle模块</vt:lpstr>
      <vt:lpstr>例10-7 使用pickle模块将各种数据保存到二进制文件data.dat中（写文件）</vt:lpstr>
      <vt:lpstr>2. 反序列化</vt:lpstr>
      <vt:lpstr>10.6.2 struct模块</vt:lpstr>
      <vt:lpstr>1. pack()函数</vt:lpstr>
      <vt:lpstr>struct模块封装数据的常用格式符</vt:lpstr>
      <vt:lpstr>例10-9 将数据用struct模块中的pack()函数封装成字节流写入文件data.bin中</vt:lpstr>
      <vt:lpstr>2. unpack()函数</vt:lpstr>
      <vt:lpstr>例10-10 用struct模块中的unpack()函数从文件data.bin中读取数据</vt:lpstr>
      <vt:lpstr>10.7 文件与目录管理*</vt:lpstr>
      <vt:lpstr>10.7.1 文件管理</vt:lpstr>
      <vt:lpstr>2. 移动文件</vt:lpstr>
      <vt:lpstr>3. 删除文件</vt:lpstr>
      <vt:lpstr>4. 重命名文件（目录）</vt:lpstr>
      <vt:lpstr>5. 获取或判断关于文件的各项信息</vt:lpstr>
      <vt:lpstr>10.7.2 目录管理</vt:lpstr>
      <vt:lpstr>2. 改变当前目录</vt:lpstr>
      <vt:lpstr>3. 列出目录内容</vt:lpstr>
      <vt:lpstr>4. 创建目录</vt:lpstr>
      <vt:lpstr>5. 删除空目录</vt:lpstr>
      <vt:lpstr>6. 遍历目录**</vt:lpstr>
      <vt:lpstr>10.8 文件压缩*</vt:lpstr>
      <vt:lpstr>10.8.1 文件压缩</vt:lpstr>
      <vt:lpstr>1. 创建ZipFile对象</vt:lpstr>
      <vt:lpstr>2. 添加指定文件到压缩文件</vt:lpstr>
      <vt:lpstr>3. 关闭Zip文件</vt:lpstr>
      <vt:lpstr>例10-12 将“E:\Python教材例子”文件夹下的a.py、b.py和c.py压缩到py.zip文件中</vt:lpstr>
      <vt:lpstr>10.8.2 解压文件</vt:lpstr>
      <vt:lpstr>解压</vt:lpstr>
      <vt:lpstr>例10-13 将例10-12建立的py.zip文件中的所有文件解压到E盘根目录下</vt:lpstr>
      <vt:lpstr>10.9 文件操作应用举例</vt:lpstr>
      <vt:lpstr>例10-14 将九九乘法表按照如下格式输入到文件中</vt:lpstr>
      <vt:lpstr>程序代码：</vt:lpstr>
      <vt:lpstr>例10-15 将诗歌《静夜思》的内容按行写入文件“poet.txt”中，并且要求编码格式为utf8，同时需要判断文件夹是否存在，如果不存在则先创建文件夹后再写入</vt:lpstr>
      <vt:lpstr>程序代码：</vt:lpstr>
      <vt:lpstr>例10-16 从文件members.txt中以字典形式读取数据，名字作为键，年龄作为值。文件中的内容如下，以制表符（'\t'）分隔数据</vt:lpstr>
      <vt:lpstr>程序代码：</vt:lpstr>
      <vt:lpstr>例10-17 一个班级的成绩以文本文件的方式存放在score.txt中，每行为一个学生的成绩，其中第1列为姓名，第2列为平时成绩，第3列为期中成绩，第4列为期末成绩。要求读出该文件中所有学生的成绩，并按照：总评成绩=平时成绩*20%+期中成绩*20%+期末成绩*60%，计算出总评成绩后，按照总评成绩降序写入文件score_sorted.txt中</vt:lpstr>
      <vt:lpstr>程序代码：</vt:lpstr>
      <vt:lpstr>接上一页</vt:lpstr>
      <vt:lpstr>例10-18 编写程序制作英文学习词典。词典有3个基本功能：添加单词、查询、退出。词典是一个文本文件dict.txt，里面每一行存一对中英文翻译，前面是英文单词，后面是中文翻译，中间用逗号分隔。程序运行后，当输入1、2、3的数字，可以分别对应添加单词、查询和退出功能</vt:lpstr>
      <vt:lpstr>程序代码：</vt:lpstr>
      <vt:lpstr>接上一页</vt:lpstr>
      <vt:lpstr>接上一页</vt:lpstr>
      <vt:lpstr>接上一页</vt:lpstr>
      <vt:lpstr>本章习题  P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真题讲解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谢谢观赏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当图网</dc:title>
  <dc:creator>钱毅湘</dc:creator>
  <cp:lastModifiedBy>Julia</cp:lastModifiedBy>
  <cp:revision>154</cp:revision>
  <dcterms:created xsi:type="dcterms:W3CDTF">2018-10-09T06:59:00Z</dcterms:created>
  <dcterms:modified xsi:type="dcterms:W3CDTF">2023-05-15T22:45:15Z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2052-11.1.0.9305</vt:lpwstr>
  </property>
</Properties>
</file>