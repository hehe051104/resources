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heme/theme6.xml" ContentType="application/vnd.openxmlformats-officedocument.theme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notesSlides/notesSlide1.xml" ContentType="application/vnd.openxmlformats-officedocument.presentationml.notesSlide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83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184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185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86.xml" ContentType="application/vnd.openxmlformats-officedocument.presentationml.tags+xml"/>
  <Override PartName="/ppt/notesSlides/notesSlide21.xml" ContentType="application/vnd.openxmlformats-officedocument.presentationml.notesSlide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6" r:id="rId3"/>
    <p:sldMasterId id="2147483688" r:id="rId4"/>
    <p:sldMasterId id="2147483731" r:id="rId5"/>
  </p:sldMasterIdLst>
  <p:notesMasterIdLst>
    <p:notesMasterId r:id="rId140"/>
  </p:notesMasterIdLst>
  <p:sldIdLst>
    <p:sldId id="484" r:id="rId6"/>
    <p:sldId id="485" r:id="rId7"/>
    <p:sldId id="520" r:id="rId8"/>
    <p:sldId id="483" r:id="rId9"/>
    <p:sldId id="498" r:id="rId10"/>
    <p:sldId id="552" r:id="rId11"/>
    <p:sldId id="554" r:id="rId12"/>
    <p:sldId id="488" r:id="rId13"/>
    <p:sldId id="499" r:id="rId14"/>
    <p:sldId id="505" r:id="rId15"/>
    <p:sldId id="555" r:id="rId16"/>
    <p:sldId id="553" r:id="rId17"/>
    <p:sldId id="506" r:id="rId18"/>
    <p:sldId id="507" r:id="rId19"/>
    <p:sldId id="556" r:id="rId20"/>
    <p:sldId id="557" r:id="rId21"/>
    <p:sldId id="558" r:id="rId22"/>
    <p:sldId id="508" r:id="rId23"/>
    <p:sldId id="509" r:id="rId24"/>
    <p:sldId id="559" r:id="rId25"/>
    <p:sldId id="510" r:id="rId26"/>
    <p:sldId id="511" r:id="rId27"/>
    <p:sldId id="512" r:id="rId28"/>
    <p:sldId id="561" r:id="rId29"/>
    <p:sldId id="513" r:id="rId30"/>
    <p:sldId id="562" r:id="rId31"/>
    <p:sldId id="560" r:id="rId32"/>
    <p:sldId id="514" r:id="rId33"/>
    <p:sldId id="515" r:id="rId34"/>
    <p:sldId id="610" r:id="rId35"/>
    <p:sldId id="516" r:id="rId36"/>
    <p:sldId id="517" r:id="rId37"/>
    <p:sldId id="518" r:id="rId38"/>
    <p:sldId id="489" r:id="rId39"/>
    <p:sldId id="519" r:id="rId40"/>
    <p:sldId id="500" r:id="rId41"/>
    <p:sldId id="521" r:id="rId42"/>
    <p:sldId id="563" r:id="rId43"/>
    <p:sldId id="264" r:id="rId44"/>
    <p:sldId id="265" r:id="rId45"/>
    <p:sldId id="522" r:id="rId46"/>
    <p:sldId id="266" r:id="rId47"/>
    <p:sldId id="267" r:id="rId48"/>
    <p:sldId id="268" r:id="rId49"/>
    <p:sldId id="269" r:id="rId50"/>
    <p:sldId id="270" r:id="rId51"/>
    <p:sldId id="564" r:id="rId52"/>
    <p:sldId id="523" r:id="rId53"/>
    <p:sldId id="527" r:id="rId54"/>
    <p:sldId id="597" r:id="rId55"/>
    <p:sldId id="590" r:id="rId56"/>
    <p:sldId id="525" r:id="rId57"/>
    <p:sldId id="490" r:id="rId58"/>
    <p:sldId id="501" r:id="rId59"/>
    <p:sldId id="528" r:id="rId60"/>
    <p:sldId id="529" r:id="rId61"/>
    <p:sldId id="530" r:id="rId62"/>
    <p:sldId id="532" r:id="rId63"/>
    <p:sldId id="531" r:id="rId64"/>
    <p:sldId id="534" r:id="rId65"/>
    <p:sldId id="533" r:id="rId66"/>
    <p:sldId id="535" r:id="rId67"/>
    <p:sldId id="536" r:id="rId68"/>
    <p:sldId id="566" r:id="rId69"/>
    <p:sldId id="537" r:id="rId70"/>
    <p:sldId id="538" r:id="rId71"/>
    <p:sldId id="539" r:id="rId72"/>
    <p:sldId id="540" r:id="rId73"/>
    <p:sldId id="567" r:id="rId74"/>
    <p:sldId id="568" r:id="rId75"/>
    <p:sldId id="541" r:id="rId76"/>
    <p:sldId id="571" r:id="rId77"/>
    <p:sldId id="598" r:id="rId78"/>
    <p:sldId id="542" r:id="rId79"/>
    <p:sldId id="569" r:id="rId80"/>
    <p:sldId id="491" r:id="rId81"/>
    <p:sldId id="502" r:id="rId82"/>
    <p:sldId id="572" r:id="rId83"/>
    <p:sldId id="582" r:id="rId84"/>
    <p:sldId id="583" r:id="rId85"/>
    <p:sldId id="584" r:id="rId86"/>
    <p:sldId id="585" r:id="rId87"/>
    <p:sldId id="586" r:id="rId88"/>
    <p:sldId id="587" r:id="rId89"/>
    <p:sldId id="588" r:id="rId90"/>
    <p:sldId id="589" r:id="rId91"/>
    <p:sldId id="543" r:id="rId92"/>
    <p:sldId id="544" r:id="rId93"/>
    <p:sldId id="545" r:id="rId94"/>
    <p:sldId id="546" r:id="rId95"/>
    <p:sldId id="547" r:id="rId96"/>
    <p:sldId id="573" r:id="rId97"/>
    <p:sldId id="574" r:id="rId98"/>
    <p:sldId id="576" r:id="rId99"/>
    <p:sldId id="575" r:id="rId100"/>
    <p:sldId id="271" r:id="rId101"/>
    <p:sldId id="272" r:id="rId102"/>
    <p:sldId id="273" r:id="rId103"/>
    <p:sldId id="274" r:id="rId104"/>
    <p:sldId id="275" r:id="rId105"/>
    <p:sldId id="276" r:id="rId106"/>
    <p:sldId id="277" r:id="rId107"/>
    <p:sldId id="278" r:id="rId108"/>
    <p:sldId id="279" r:id="rId109"/>
    <p:sldId id="280" r:id="rId110"/>
    <p:sldId id="306" r:id="rId111"/>
    <p:sldId id="307" r:id="rId112"/>
    <p:sldId id="304" r:id="rId113"/>
    <p:sldId id="492" r:id="rId114"/>
    <p:sldId id="503" r:id="rId115"/>
    <p:sldId id="548" r:id="rId116"/>
    <p:sldId id="581" r:id="rId117"/>
    <p:sldId id="577" r:id="rId118"/>
    <p:sldId id="580" r:id="rId119"/>
    <p:sldId id="578" r:id="rId120"/>
    <p:sldId id="579" r:id="rId121"/>
    <p:sldId id="591" r:id="rId122"/>
    <p:sldId id="592" r:id="rId123"/>
    <p:sldId id="595" r:id="rId124"/>
    <p:sldId id="593" r:id="rId125"/>
    <p:sldId id="596" r:id="rId126"/>
    <p:sldId id="599" r:id="rId127"/>
    <p:sldId id="594" r:id="rId128"/>
    <p:sldId id="497" r:id="rId129"/>
    <p:sldId id="601" r:id="rId130"/>
    <p:sldId id="600" r:id="rId131"/>
    <p:sldId id="602" r:id="rId132"/>
    <p:sldId id="603" r:id="rId133"/>
    <p:sldId id="604" r:id="rId134"/>
    <p:sldId id="605" r:id="rId135"/>
    <p:sldId id="606" r:id="rId136"/>
    <p:sldId id="607" r:id="rId137"/>
    <p:sldId id="608" r:id="rId138"/>
    <p:sldId id="609" r:id="rId139"/>
  </p:sldIdLst>
  <p:sldSz cx="12192000" cy="6858000"/>
  <p:notesSz cx="6858000" cy="9144000"/>
  <p:custDataLst>
    <p:tags r:id="rId141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E414DD7-CFAE-436B-8006-133D14A5B8DE}">
          <p14:sldIdLst>
            <p14:sldId id="484"/>
            <p14:sldId id="485"/>
            <p14:sldId id="520"/>
          </p14:sldIdLst>
        </p14:section>
        <p14:section name="2.1 常量" id="{7101EC97-23BB-4199-AFC2-A3B0C05794CB}">
          <p14:sldIdLst>
            <p14:sldId id="483"/>
            <p14:sldId id="498"/>
            <p14:sldId id="552"/>
            <p14:sldId id="554"/>
          </p14:sldIdLst>
        </p14:section>
        <p14:section name="2.2 数据类型" id="{B43FA41B-9692-4CF7-8BF6-03FE6C46C9A4}">
          <p14:sldIdLst>
            <p14:sldId id="488"/>
            <p14:sldId id="499"/>
            <p14:sldId id="505"/>
            <p14:sldId id="555"/>
            <p14:sldId id="553"/>
            <p14:sldId id="506"/>
            <p14:sldId id="507"/>
            <p14:sldId id="556"/>
            <p14:sldId id="557"/>
            <p14:sldId id="558"/>
            <p14:sldId id="508"/>
            <p14:sldId id="509"/>
            <p14:sldId id="559"/>
            <p14:sldId id="510"/>
            <p14:sldId id="511"/>
            <p14:sldId id="512"/>
            <p14:sldId id="561"/>
            <p14:sldId id="513"/>
            <p14:sldId id="562"/>
            <p14:sldId id="560"/>
            <p14:sldId id="514"/>
            <p14:sldId id="515"/>
            <p14:sldId id="610"/>
            <p14:sldId id="516"/>
            <p14:sldId id="517"/>
            <p14:sldId id="518"/>
          </p14:sldIdLst>
        </p14:section>
        <p14:section name="2.3 变量" id="{BB007DBE-6F19-4A48-81ED-4B761F7CCE27}">
          <p14:sldIdLst>
            <p14:sldId id="489"/>
            <p14:sldId id="519"/>
            <p14:sldId id="500"/>
            <p14:sldId id="521"/>
            <p14:sldId id="563"/>
            <p14:sldId id="264"/>
            <p14:sldId id="265"/>
            <p14:sldId id="522"/>
            <p14:sldId id="266"/>
            <p14:sldId id="267"/>
            <p14:sldId id="268"/>
            <p14:sldId id="269"/>
            <p14:sldId id="270"/>
            <p14:sldId id="564"/>
            <p14:sldId id="523"/>
            <p14:sldId id="527"/>
            <p14:sldId id="597"/>
            <p14:sldId id="590"/>
            <p14:sldId id="525"/>
          </p14:sldIdLst>
        </p14:section>
        <p14:section name="2.4 基本运算" id="{EE4BA4BC-B2C6-4F91-9D0B-56599944BEC1}">
          <p14:sldIdLst>
            <p14:sldId id="490"/>
            <p14:sldId id="501"/>
            <p14:sldId id="528"/>
            <p14:sldId id="529"/>
            <p14:sldId id="530"/>
            <p14:sldId id="532"/>
            <p14:sldId id="531"/>
            <p14:sldId id="534"/>
            <p14:sldId id="533"/>
            <p14:sldId id="535"/>
            <p14:sldId id="536"/>
            <p14:sldId id="566"/>
            <p14:sldId id="537"/>
            <p14:sldId id="538"/>
            <p14:sldId id="539"/>
            <p14:sldId id="540"/>
            <p14:sldId id="567"/>
            <p14:sldId id="568"/>
            <p14:sldId id="541"/>
            <p14:sldId id="571"/>
            <p14:sldId id="598"/>
            <p14:sldId id="542"/>
            <p14:sldId id="569"/>
          </p14:sldIdLst>
        </p14:section>
        <p14:section name="2.5 常用系统函数" id="{809A3B41-FB74-4DC5-BD6F-7FC1C2D7B9EC}">
          <p14:sldIdLst>
            <p14:sldId id="491"/>
            <p14:sldId id="502"/>
            <p14:sldId id="572"/>
            <p14:sldId id="582"/>
            <p14:sldId id="583"/>
            <p14:sldId id="584"/>
            <p14:sldId id="585"/>
            <p14:sldId id="586"/>
            <p14:sldId id="587"/>
            <p14:sldId id="588"/>
            <p14:sldId id="589"/>
            <p14:sldId id="543"/>
            <p14:sldId id="544"/>
            <p14:sldId id="545"/>
            <p14:sldId id="546"/>
            <p14:sldId id="547"/>
            <p14:sldId id="573"/>
            <p14:sldId id="574"/>
            <p14:sldId id="576"/>
            <p14:sldId id="575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306"/>
            <p14:sldId id="307"/>
            <p14:sldId id="304"/>
          </p14:sldIdLst>
        </p14:section>
        <p14:section name="2.6 Python的帮助系统" id="{AF51ED48-082A-417E-8F05-5DAFFF473578}">
          <p14:sldIdLst>
            <p14:sldId id="492"/>
            <p14:sldId id="503"/>
            <p14:sldId id="548"/>
            <p14:sldId id="581"/>
            <p14:sldId id="577"/>
            <p14:sldId id="580"/>
            <p14:sldId id="578"/>
            <p14:sldId id="579"/>
            <p14:sldId id="591"/>
            <p14:sldId id="592"/>
            <p14:sldId id="595"/>
            <p14:sldId id="593"/>
            <p14:sldId id="596"/>
            <p14:sldId id="599"/>
            <p14:sldId id="594"/>
            <p14:sldId id="497"/>
            <p14:sldId id="601"/>
            <p14:sldId id="600"/>
            <p14:sldId id="602"/>
            <p14:sldId id="603"/>
            <p14:sldId id="604"/>
            <p14:sldId id="605"/>
            <p14:sldId id="606"/>
            <p14:sldId id="607"/>
            <p14:sldId id="608"/>
            <p14:sldId id="6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505F2C04-C923-438B-8C0F-E0CD2BADF298}">
      <wppc:fontMiss xmlns:wppc="http://www.wps.cn/officeDocument/PresentationCustomData" xmlns="" type="true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003300"/>
    <a:srgbClr val="800080"/>
    <a:srgbClr val="660066"/>
    <a:srgbClr val="0033CC"/>
    <a:srgbClr val="990000"/>
    <a:srgbClr val="66FF66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53" autoAdjust="0"/>
    <p:restoredTop sz="95053" autoAdjust="0"/>
  </p:normalViewPr>
  <p:slideViewPr>
    <p:cSldViewPr showGuides="1">
      <p:cViewPr varScale="1">
        <p:scale>
          <a:sx n="78" d="100"/>
          <a:sy n="78" d="100"/>
        </p:scale>
        <p:origin x="722" y="64"/>
      </p:cViewPr>
      <p:guideLst>
        <p:guide orient="horz" pos="2169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2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63" Type="http://schemas.openxmlformats.org/officeDocument/2006/relationships/slide" Target="slides/slide58.xml"/><Relationship Id="rId84" Type="http://schemas.openxmlformats.org/officeDocument/2006/relationships/slide" Target="slides/slide79.xml"/><Relationship Id="rId138" Type="http://schemas.openxmlformats.org/officeDocument/2006/relationships/slide" Target="slides/slide133.xml"/><Relationship Id="rId107" Type="http://schemas.openxmlformats.org/officeDocument/2006/relationships/slide" Target="slides/slide102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53" Type="http://schemas.openxmlformats.org/officeDocument/2006/relationships/slide" Target="slides/slide48.xml"/><Relationship Id="rId74" Type="http://schemas.openxmlformats.org/officeDocument/2006/relationships/slide" Target="slides/slide69.xml"/><Relationship Id="rId128" Type="http://schemas.openxmlformats.org/officeDocument/2006/relationships/slide" Target="slides/slide123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5.xml"/><Relationship Id="rId95" Type="http://schemas.openxmlformats.org/officeDocument/2006/relationships/slide" Target="slides/slide9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113" Type="http://schemas.openxmlformats.org/officeDocument/2006/relationships/slide" Target="slides/slide108.xml"/><Relationship Id="rId118" Type="http://schemas.openxmlformats.org/officeDocument/2006/relationships/slide" Target="slides/slide113.xml"/><Relationship Id="rId134" Type="http://schemas.openxmlformats.org/officeDocument/2006/relationships/slide" Target="slides/slide129.xml"/><Relationship Id="rId139" Type="http://schemas.openxmlformats.org/officeDocument/2006/relationships/slide" Target="slides/slide134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59" Type="http://schemas.openxmlformats.org/officeDocument/2006/relationships/slide" Target="slides/slide54.xml"/><Relationship Id="rId103" Type="http://schemas.openxmlformats.org/officeDocument/2006/relationships/slide" Target="slides/slide98.xml"/><Relationship Id="rId108" Type="http://schemas.openxmlformats.org/officeDocument/2006/relationships/slide" Target="slides/slide103.xml"/><Relationship Id="rId124" Type="http://schemas.openxmlformats.org/officeDocument/2006/relationships/slide" Target="slides/slide119.xml"/><Relationship Id="rId129" Type="http://schemas.openxmlformats.org/officeDocument/2006/relationships/slide" Target="slides/slide124.xml"/><Relationship Id="rId54" Type="http://schemas.openxmlformats.org/officeDocument/2006/relationships/slide" Target="slides/slide49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91" Type="http://schemas.openxmlformats.org/officeDocument/2006/relationships/slide" Target="slides/slide86.xml"/><Relationship Id="rId96" Type="http://schemas.openxmlformats.org/officeDocument/2006/relationships/slide" Target="slides/slide91.xml"/><Relationship Id="rId140" Type="http://schemas.openxmlformats.org/officeDocument/2006/relationships/notesMaster" Target="notesMasters/notesMaster1.xml"/><Relationship Id="rId14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49" Type="http://schemas.openxmlformats.org/officeDocument/2006/relationships/slide" Target="slides/slide44.xml"/><Relationship Id="rId114" Type="http://schemas.openxmlformats.org/officeDocument/2006/relationships/slide" Target="slides/slide109.xml"/><Relationship Id="rId119" Type="http://schemas.openxmlformats.org/officeDocument/2006/relationships/slide" Target="slides/slide114.xml"/><Relationship Id="rId44" Type="http://schemas.openxmlformats.org/officeDocument/2006/relationships/slide" Target="slides/slide39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130" Type="http://schemas.openxmlformats.org/officeDocument/2006/relationships/slide" Target="slides/slide125.xml"/><Relationship Id="rId135" Type="http://schemas.openxmlformats.org/officeDocument/2006/relationships/slide" Target="slides/slide130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109" Type="http://schemas.openxmlformats.org/officeDocument/2006/relationships/slide" Target="slides/slide10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slide" Target="slides/slide92.xml"/><Relationship Id="rId104" Type="http://schemas.openxmlformats.org/officeDocument/2006/relationships/slide" Target="slides/slide99.xml"/><Relationship Id="rId120" Type="http://schemas.openxmlformats.org/officeDocument/2006/relationships/slide" Target="slides/slide115.xml"/><Relationship Id="rId125" Type="http://schemas.openxmlformats.org/officeDocument/2006/relationships/slide" Target="slides/slide120.xml"/><Relationship Id="rId141" Type="http://schemas.openxmlformats.org/officeDocument/2006/relationships/tags" Target="tags/tag1.xml"/><Relationship Id="rId146" Type="http://schemas.openxmlformats.org/officeDocument/2006/relationships/tableStyles" Target="tableStyles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110" Type="http://schemas.openxmlformats.org/officeDocument/2006/relationships/slide" Target="slides/slide105.xml"/><Relationship Id="rId115" Type="http://schemas.openxmlformats.org/officeDocument/2006/relationships/slide" Target="slides/slide110.xml"/><Relationship Id="rId131" Type="http://schemas.openxmlformats.org/officeDocument/2006/relationships/slide" Target="slides/slide126.xml"/><Relationship Id="rId136" Type="http://schemas.openxmlformats.org/officeDocument/2006/relationships/slide" Target="slides/slide131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slide" Target="slides/slide95.xml"/><Relationship Id="rId105" Type="http://schemas.openxmlformats.org/officeDocument/2006/relationships/slide" Target="slides/slide100.xml"/><Relationship Id="rId126" Type="http://schemas.openxmlformats.org/officeDocument/2006/relationships/slide" Target="slides/slide12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slide" Target="slides/slide88.xml"/><Relationship Id="rId98" Type="http://schemas.openxmlformats.org/officeDocument/2006/relationships/slide" Target="slides/slide93.xml"/><Relationship Id="rId121" Type="http://schemas.openxmlformats.org/officeDocument/2006/relationships/slide" Target="slides/slide116.xml"/><Relationship Id="rId142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0.xml"/><Relationship Id="rId46" Type="http://schemas.openxmlformats.org/officeDocument/2006/relationships/slide" Target="slides/slide41.xml"/><Relationship Id="rId67" Type="http://schemas.openxmlformats.org/officeDocument/2006/relationships/slide" Target="slides/slide62.xml"/><Relationship Id="rId116" Type="http://schemas.openxmlformats.org/officeDocument/2006/relationships/slide" Target="slides/slide111.xml"/><Relationship Id="rId137" Type="http://schemas.openxmlformats.org/officeDocument/2006/relationships/slide" Target="slides/slide13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62" Type="http://schemas.openxmlformats.org/officeDocument/2006/relationships/slide" Target="slides/slide57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111" Type="http://schemas.openxmlformats.org/officeDocument/2006/relationships/slide" Target="slides/slide106.xml"/><Relationship Id="rId132" Type="http://schemas.openxmlformats.org/officeDocument/2006/relationships/slide" Target="slides/slide127.xml"/><Relationship Id="rId15" Type="http://schemas.openxmlformats.org/officeDocument/2006/relationships/slide" Target="slides/slide10.xml"/><Relationship Id="rId36" Type="http://schemas.openxmlformats.org/officeDocument/2006/relationships/slide" Target="slides/slide31.xml"/><Relationship Id="rId57" Type="http://schemas.openxmlformats.org/officeDocument/2006/relationships/slide" Target="slides/slide52.xml"/><Relationship Id="rId106" Type="http://schemas.openxmlformats.org/officeDocument/2006/relationships/slide" Target="slides/slide101.xml"/><Relationship Id="rId127" Type="http://schemas.openxmlformats.org/officeDocument/2006/relationships/slide" Target="slides/slide12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52" Type="http://schemas.openxmlformats.org/officeDocument/2006/relationships/slide" Target="slides/slide47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1" Type="http://schemas.openxmlformats.org/officeDocument/2006/relationships/slide" Target="slides/slide96.xml"/><Relationship Id="rId122" Type="http://schemas.openxmlformats.org/officeDocument/2006/relationships/slide" Target="slides/slide117.xml"/><Relationship Id="rId143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7" Type="http://schemas.openxmlformats.org/officeDocument/2006/relationships/slide" Target="slides/slide42.xml"/><Relationship Id="rId68" Type="http://schemas.openxmlformats.org/officeDocument/2006/relationships/slide" Target="slides/slide63.xml"/><Relationship Id="rId89" Type="http://schemas.openxmlformats.org/officeDocument/2006/relationships/slide" Target="slides/slide84.xml"/><Relationship Id="rId112" Type="http://schemas.openxmlformats.org/officeDocument/2006/relationships/slide" Target="slides/slide107.xml"/><Relationship Id="rId133" Type="http://schemas.openxmlformats.org/officeDocument/2006/relationships/slide" Target="slides/slide128.xml"/><Relationship Id="rId16" Type="http://schemas.openxmlformats.org/officeDocument/2006/relationships/slide" Target="slides/slide11.xml"/><Relationship Id="rId37" Type="http://schemas.openxmlformats.org/officeDocument/2006/relationships/slide" Target="slides/slide32.xml"/><Relationship Id="rId58" Type="http://schemas.openxmlformats.org/officeDocument/2006/relationships/slide" Target="slides/slide53.xml"/><Relationship Id="rId79" Type="http://schemas.openxmlformats.org/officeDocument/2006/relationships/slide" Target="slides/slide74.xml"/><Relationship Id="rId102" Type="http://schemas.openxmlformats.org/officeDocument/2006/relationships/slide" Target="slides/slide97.xml"/><Relationship Id="rId123" Type="http://schemas.openxmlformats.org/officeDocument/2006/relationships/slide" Target="slides/slide118.xml"/><Relationship Id="rId14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0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101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0249CFA-C427-4C77-960D-70A82ADC9BF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58078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8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复合数据类型一般包括列表（</a:t>
            </a:r>
            <a:r>
              <a:rPr lang="en-US" altLang="zh-CN" dirty="0"/>
              <a:t>list</a:t>
            </a:r>
            <a:r>
              <a:rPr lang="zh-CN" altLang="en-US" dirty="0"/>
              <a:t>）、元组（</a:t>
            </a:r>
            <a:r>
              <a:rPr lang="en-US" altLang="zh-CN" dirty="0"/>
              <a:t>tuple</a:t>
            </a:r>
            <a:r>
              <a:rPr lang="zh-CN" altLang="en-US" dirty="0"/>
              <a:t>）、字典（</a:t>
            </a:r>
            <a:r>
              <a:rPr lang="en-US" altLang="zh-CN" dirty="0"/>
              <a:t>dictionary</a:t>
            </a:r>
            <a:r>
              <a:rPr lang="zh-CN" altLang="en-US" dirty="0"/>
              <a:t>）和集合（</a:t>
            </a:r>
            <a:r>
              <a:rPr lang="en-US" altLang="zh-CN" dirty="0"/>
              <a:t>set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511275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5056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0551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并不是所有的字符都是可以很，例如制表符、换行符等，所以字符串中除了直接出现的普通字符外，</a:t>
            </a:r>
            <a:r>
              <a:rPr lang="en-US" altLang="zh-CN" dirty="0"/>
              <a:t>Python</a:t>
            </a:r>
            <a:r>
              <a:rPr lang="zh-CN" altLang="en-US" dirty="0"/>
              <a:t>语言还允许使用一种特殊形式的字符，称为转义字符。它是，采用指定形式来表示指定的特殊字符。例如，。示例如下：</a:t>
            </a:r>
          </a:p>
          <a:p>
            <a:r>
              <a:rPr lang="en-US" altLang="zh-CN" dirty="0"/>
              <a:t>&gt;&gt;&gt; print('</a:t>
            </a:r>
            <a:r>
              <a:rPr lang="en-US" altLang="zh-CN" dirty="0" err="1"/>
              <a:t>abc</a:t>
            </a:r>
            <a:r>
              <a:rPr lang="en-US" altLang="zh-CN" dirty="0"/>
              <a:t>\n123')</a:t>
            </a:r>
          </a:p>
          <a:p>
            <a:r>
              <a:rPr lang="en-US" altLang="zh-CN" dirty="0" err="1"/>
              <a:t>abc</a:t>
            </a:r>
            <a:endParaRPr lang="en-US" altLang="zh-CN" dirty="0"/>
          </a:p>
          <a:p>
            <a:r>
              <a:rPr lang="en-US" altLang="zh-CN" dirty="0"/>
              <a:t>123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46573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	。</a:t>
            </a:r>
          </a:p>
        </p:txBody>
      </p:sp>
    </p:spTree>
    <p:extLst>
      <p:ext uri="{BB962C8B-B14F-4D97-AF65-F5344CB8AC3E}">
        <p14:creationId xmlns:p14="http://schemas.microsoft.com/office/powerpoint/2010/main" val="444087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47675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94947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6770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。元组中的数据元素类型可以不同，数据元素值不能修改、可重复、可嵌套。元组是有序的对象集合。任何一组用逗号分隔的数据，会被系统默认为元组。</a:t>
            </a:r>
          </a:p>
        </p:txBody>
      </p:sp>
    </p:spTree>
    <p:extLst>
      <p:ext uri="{BB962C8B-B14F-4D97-AF65-F5344CB8AC3E}">
        <p14:creationId xmlns:p14="http://schemas.microsoft.com/office/powerpoint/2010/main" val="41816428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．	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83781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34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、实数</a:t>
            </a:r>
            <a:r>
              <a:rPr lang="en-US" altLang="zh-CN" dirty="0"/>
              <a:t>float</a:t>
            </a:r>
            <a:r>
              <a:rPr lang="zh-CN" altLang="en-US" dirty="0"/>
              <a:t>、复数</a:t>
            </a:r>
            <a:r>
              <a:rPr lang="en-US" altLang="zh-CN" dirty="0"/>
              <a:t>complex</a:t>
            </a:r>
            <a:r>
              <a:rPr lang="zh-CN" altLang="en-US" dirty="0"/>
              <a:t>、字符串</a:t>
            </a:r>
            <a:r>
              <a:rPr lang="en-US" altLang="zh-CN" dirty="0"/>
              <a:t>string</a:t>
            </a:r>
            <a:r>
              <a:rPr lang="zh-CN" altLang="en-US" dirty="0"/>
              <a:t>和元组</a:t>
            </a:r>
            <a:r>
              <a:rPr lang="en-US" altLang="zh-CN" dirty="0"/>
              <a:t>tuple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645755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、和集合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set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88746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53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30832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76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导入后可按以下格式直接调用函数：</a:t>
            </a:r>
          </a:p>
          <a:p>
            <a:r>
              <a:rPr lang="zh-CN" altLang="en-US" dirty="0"/>
              <a:t>格式</a:t>
            </a:r>
            <a:r>
              <a:rPr lang="en-US" altLang="zh-CN" dirty="0"/>
              <a:t>1</a:t>
            </a:r>
            <a:r>
              <a:rPr lang="zh-CN" altLang="en-US" dirty="0"/>
              <a:t>：函数名</a:t>
            </a:r>
            <a:r>
              <a:rPr lang="en-US" altLang="zh-CN" dirty="0"/>
              <a:t>(</a:t>
            </a:r>
            <a:r>
              <a:rPr lang="zh-CN" altLang="en-US" dirty="0"/>
              <a:t>参数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格式</a:t>
            </a:r>
            <a:r>
              <a:rPr lang="en-US" altLang="zh-CN" dirty="0"/>
              <a:t>2</a:t>
            </a:r>
            <a:r>
              <a:rPr lang="zh-CN" altLang="en-US" dirty="0"/>
              <a:t>：别名</a:t>
            </a:r>
            <a:r>
              <a:rPr lang="en-US" altLang="zh-CN" dirty="0"/>
              <a:t>(</a:t>
            </a:r>
            <a:r>
              <a:rPr lang="zh-CN" altLang="en-US" dirty="0"/>
              <a:t>参数</a:t>
            </a:r>
            <a:r>
              <a:rPr lang="en-US" altLang="zh-CN" dirty="0"/>
              <a:t>)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06709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导入后可按以下格式直接调用函数：</a:t>
            </a:r>
          </a:p>
          <a:p>
            <a:r>
              <a:rPr lang="zh-CN" altLang="en-US" dirty="0"/>
              <a:t>格式</a:t>
            </a:r>
            <a:r>
              <a:rPr lang="en-US" altLang="zh-CN" dirty="0"/>
              <a:t>1</a:t>
            </a:r>
            <a:r>
              <a:rPr lang="zh-CN" altLang="en-US" dirty="0"/>
              <a:t>：函数名</a:t>
            </a:r>
            <a:r>
              <a:rPr lang="en-US" altLang="zh-CN" dirty="0"/>
              <a:t>(</a:t>
            </a:r>
            <a:r>
              <a:rPr lang="zh-CN" altLang="en-US" dirty="0"/>
              <a:t>参数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格式</a:t>
            </a:r>
            <a:r>
              <a:rPr lang="en-US" altLang="zh-CN" dirty="0"/>
              <a:t>2</a:t>
            </a:r>
            <a:r>
              <a:rPr lang="zh-CN" altLang="en-US" dirty="0"/>
              <a:t>：别名</a:t>
            </a:r>
            <a:r>
              <a:rPr lang="en-US" altLang="zh-CN" dirty="0"/>
              <a:t>(</a:t>
            </a:r>
            <a:r>
              <a:rPr lang="zh-CN" altLang="en-US" dirty="0"/>
              <a:t>参数</a:t>
            </a:r>
            <a:r>
              <a:rPr lang="en-US" altLang="zh-CN" dirty="0"/>
              <a:t>)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5825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109</a:t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slideMaster" Target="../slideMasters/slideMaster5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6" Type="http://schemas.openxmlformats.org/officeDocument/2006/relationships/image" Target="../media/image7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image" Target="../media/image6.png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image" Target="../media/image5.png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image" Target="../media/image6.png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image" Target="../media/image5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image" Target="../media/image8.png"/><Relationship Id="rId5" Type="http://schemas.openxmlformats.org/officeDocument/2006/relationships/tags" Target="../tags/tag18.xml"/><Relationship Id="rId10" Type="http://schemas.openxmlformats.org/officeDocument/2006/relationships/slideMaster" Target="../slideMasters/slideMaster5.xml"/><Relationship Id="rId4" Type="http://schemas.openxmlformats.org/officeDocument/2006/relationships/tags" Target="../tags/tag17.xml"/><Relationship Id="rId9" Type="http://schemas.openxmlformats.org/officeDocument/2006/relationships/tags" Target="../tags/tag22.xml"/></Relationships>
</file>

<file path=ppt/slideLayouts/_rels/slideLayout66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10.png"/><Relationship Id="rId5" Type="http://schemas.openxmlformats.org/officeDocument/2006/relationships/tags" Target="../tags/tag27.xml"/><Relationship Id="rId10" Type="http://schemas.openxmlformats.org/officeDocument/2006/relationships/image" Target="../media/image9.png"/><Relationship Id="rId4" Type="http://schemas.openxmlformats.org/officeDocument/2006/relationships/tags" Target="../tags/tag26.xml"/><Relationship Id="rId9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5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9" Type="http://schemas.openxmlformats.org/officeDocument/2006/relationships/image" Target="../media/image11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7" Type="http://schemas.openxmlformats.org/officeDocument/2006/relationships/image" Target="../media/image5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image" Target="../media/image12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7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5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9" Type="http://schemas.openxmlformats.org/officeDocument/2006/relationships/image" Target="../media/image13.png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10" Type="http://schemas.openxmlformats.org/officeDocument/2006/relationships/image" Target="../media/image11.png"/><Relationship Id="rId4" Type="http://schemas.openxmlformats.org/officeDocument/2006/relationships/tags" Target="../tags/tag58.xml"/><Relationship Id="rId9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10" Type="http://schemas.openxmlformats.org/officeDocument/2006/relationships/image" Target="../media/image11.png"/><Relationship Id="rId4" Type="http://schemas.openxmlformats.org/officeDocument/2006/relationships/tags" Target="../tags/tag66.xml"/><Relationship Id="rId9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10" Type="http://schemas.openxmlformats.org/officeDocument/2006/relationships/image" Target="../media/image14.png"/><Relationship Id="rId4" Type="http://schemas.openxmlformats.org/officeDocument/2006/relationships/tags" Target="../tags/tag74.xml"/><Relationship Id="rId9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3" Type="http://schemas.openxmlformats.org/officeDocument/2006/relationships/tags" Target="../tags/tag81.xml"/><Relationship Id="rId7" Type="http://schemas.openxmlformats.org/officeDocument/2006/relationships/tags" Target="../tags/tag85.xml"/><Relationship Id="rId12" Type="http://schemas.openxmlformats.org/officeDocument/2006/relationships/image" Target="../media/image15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slideMaster" Target="../slideMasters/slideMaster5.xml"/><Relationship Id="rId5" Type="http://schemas.openxmlformats.org/officeDocument/2006/relationships/tags" Target="../tags/tag83.xml"/><Relationship Id="rId10" Type="http://schemas.openxmlformats.org/officeDocument/2006/relationships/tags" Target="../tags/tag88.xml"/><Relationship Id="rId4" Type="http://schemas.openxmlformats.org/officeDocument/2006/relationships/tags" Target="../tags/tag82.xml"/><Relationship Id="rId9" Type="http://schemas.openxmlformats.org/officeDocument/2006/relationships/tags" Target="../tags/tag87.xml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image" Target="../media/image17.png"/><Relationship Id="rId5" Type="http://schemas.openxmlformats.org/officeDocument/2006/relationships/tags" Target="../tags/tag93.xml"/><Relationship Id="rId10" Type="http://schemas.openxmlformats.org/officeDocument/2006/relationships/image" Target="../media/image16.png"/><Relationship Id="rId4" Type="http://schemas.openxmlformats.org/officeDocument/2006/relationships/tags" Target="../tags/tag92.xml"/><Relationship Id="rId9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13" Type="http://schemas.openxmlformats.org/officeDocument/2006/relationships/slideMaster" Target="../slideMasters/slideMaster5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12" Type="http://schemas.openxmlformats.org/officeDocument/2006/relationships/tags" Target="../tags/tag108.xml"/><Relationship Id="rId2" Type="http://schemas.openxmlformats.org/officeDocument/2006/relationships/tags" Target="../tags/tag98.xml"/><Relationship Id="rId16" Type="http://schemas.openxmlformats.org/officeDocument/2006/relationships/image" Target="../media/image7.png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tags" Target="../tags/tag107.xml"/><Relationship Id="rId5" Type="http://schemas.openxmlformats.org/officeDocument/2006/relationships/tags" Target="../tags/tag101.xml"/><Relationship Id="rId15" Type="http://schemas.openxmlformats.org/officeDocument/2006/relationships/image" Target="../media/image6.png"/><Relationship Id="rId10" Type="http://schemas.openxmlformats.org/officeDocument/2006/relationships/tags" Target="../tags/tag106.xml"/><Relationship Id="rId4" Type="http://schemas.openxmlformats.org/officeDocument/2006/relationships/tags" Target="../tags/tag100.xml"/><Relationship Id="rId9" Type="http://schemas.openxmlformats.org/officeDocument/2006/relationships/tags" Target="../tags/tag105.xml"/><Relationship Id="rId14" Type="http://schemas.openxmlformats.org/officeDocument/2006/relationships/image" Target="../media/image5.png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tags" Target="../tags/tag116.xml"/><Relationship Id="rId3" Type="http://schemas.openxmlformats.org/officeDocument/2006/relationships/tags" Target="../tags/tag111.xml"/><Relationship Id="rId7" Type="http://schemas.openxmlformats.org/officeDocument/2006/relationships/tags" Target="../tags/tag115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tags" Target="../tags/tag114.xml"/><Relationship Id="rId11" Type="http://schemas.openxmlformats.org/officeDocument/2006/relationships/image" Target="../media/image10.png"/><Relationship Id="rId5" Type="http://schemas.openxmlformats.org/officeDocument/2006/relationships/tags" Target="../tags/tag113.xml"/><Relationship Id="rId10" Type="http://schemas.openxmlformats.org/officeDocument/2006/relationships/image" Target="../media/image9.png"/><Relationship Id="rId4" Type="http://schemas.openxmlformats.org/officeDocument/2006/relationships/tags" Target="../tags/tag112.xml"/><Relationship Id="rId9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5.xml"/><Relationship Id="rId3" Type="http://schemas.openxmlformats.org/officeDocument/2006/relationships/tags" Target="../tags/tag119.xml"/><Relationship Id="rId7" Type="http://schemas.openxmlformats.org/officeDocument/2006/relationships/tags" Target="../tags/tag123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9" Type="http://schemas.openxmlformats.org/officeDocument/2006/relationships/image" Target="../media/image11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tags" Target="../tags/tag126.xml"/><Relationship Id="rId7" Type="http://schemas.openxmlformats.org/officeDocument/2006/relationships/image" Target="../media/image5.png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128.xml"/><Relationship Id="rId4" Type="http://schemas.openxmlformats.org/officeDocument/2006/relationships/tags" Target="../tags/tag127.xml"/></Relationships>
</file>

<file path=ppt/slideLayouts/_rels/slideLayout8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5.xml"/><Relationship Id="rId3" Type="http://schemas.openxmlformats.org/officeDocument/2006/relationships/tags" Target="../tags/tag131.xml"/><Relationship Id="rId7" Type="http://schemas.openxmlformats.org/officeDocument/2006/relationships/tags" Target="../tags/tag135.xml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6" Type="http://schemas.openxmlformats.org/officeDocument/2006/relationships/tags" Target="../tags/tag134.xml"/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9" Type="http://schemas.openxmlformats.org/officeDocument/2006/relationships/image" Target="../media/image13.png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3" Type="http://schemas.openxmlformats.org/officeDocument/2006/relationships/tags" Target="../tags/tag138.xml"/><Relationship Id="rId7" Type="http://schemas.openxmlformats.org/officeDocument/2006/relationships/tags" Target="../tags/tag142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10" Type="http://schemas.openxmlformats.org/officeDocument/2006/relationships/image" Target="../media/image11.png"/><Relationship Id="rId4" Type="http://schemas.openxmlformats.org/officeDocument/2006/relationships/tags" Target="../tags/tag139.xml"/><Relationship Id="rId9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tags" Target="../tags/tag151.xml"/><Relationship Id="rId3" Type="http://schemas.openxmlformats.org/officeDocument/2006/relationships/tags" Target="../tags/tag146.xml"/><Relationship Id="rId7" Type="http://schemas.openxmlformats.org/officeDocument/2006/relationships/tags" Target="../tags/tag150.xml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10" Type="http://schemas.openxmlformats.org/officeDocument/2006/relationships/image" Target="../media/image11.png"/><Relationship Id="rId4" Type="http://schemas.openxmlformats.org/officeDocument/2006/relationships/tags" Target="../tags/tag147.xml"/><Relationship Id="rId9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8" Type="http://schemas.openxmlformats.org/officeDocument/2006/relationships/tags" Target="../tags/tag159.xml"/><Relationship Id="rId3" Type="http://schemas.openxmlformats.org/officeDocument/2006/relationships/tags" Target="../tags/tag154.xml"/><Relationship Id="rId7" Type="http://schemas.openxmlformats.org/officeDocument/2006/relationships/tags" Target="../tags/tag158.xml"/><Relationship Id="rId2" Type="http://schemas.openxmlformats.org/officeDocument/2006/relationships/tags" Target="../tags/tag153.xml"/><Relationship Id="rId1" Type="http://schemas.openxmlformats.org/officeDocument/2006/relationships/tags" Target="../tags/tag152.xml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10" Type="http://schemas.openxmlformats.org/officeDocument/2006/relationships/image" Target="../media/image14.png"/><Relationship Id="rId4" Type="http://schemas.openxmlformats.org/officeDocument/2006/relationships/tags" Target="../tags/tag155.xml"/><Relationship Id="rId9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8" Type="http://schemas.openxmlformats.org/officeDocument/2006/relationships/tags" Target="../tags/tag167.xml"/><Relationship Id="rId3" Type="http://schemas.openxmlformats.org/officeDocument/2006/relationships/tags" Target="../tags/tag162.xml"/><Relationship Id="rId7" Type="http://schemas.openxmlformats.org/officeDocument/2006/relationships/tags" Target="../tags/tag166.xml"/><Relationship Id="rId12" Type="http://schemas.openxmlformats.org/officeDocument/2006/relationships/image" Target="../media/image15.png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tags" Target="../tags/tag165.xml"/><Relationship Id="rId11" Type="http://schemas.openxmlformats.org/officeDocument/2006/relationships/slideMaster" Target="../slideMasters/slideMaster5.xml"/><Relationship Id="rId5" Type="http://schemas.openxmlformats.org/officeDocument/2006/relationships/tags" Target="../tags/tag164.xml"/><Relationship Id="rId10" Type="http://schemas.openxmlformats.org/officeDocument/2006/relationships/tags" Target="../tags/tag169.xml"/><Relationship Id="rId4" Type="http://schemas.openxmlformats.org/officeDocument/2006/relationships/tags" Target="../tags/tag163.xml"/><Relationship Id="rId9" Type="http://schemas.openxmlformats.org/officeDocument/2006/relationships/tags" Target="../tags/tag16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F662F47-50A5-49F5-ADF4-072259B92F3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D31B28-3B75-48EC-817B-583AA14D88C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0FA47A8-8FDC-4294-B173-36F04023665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052737"/>
            <a:ext cx="10515600" cy="1895946"/>
          </a:xfrm>
        </p:spPr>
        <p:txBody>
          <a:bodyPr anchor="b"/>
          <a:lstStyle>
            <a:lvl1pPr algn="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3140968"/>
            <a:ext cx="10515600" cy="2948683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9085123-55B7-496A-8D83-982CD9F425A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C720DEB-4A2B-402C-A71D-DA48BABAEF0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7D86384-2A0A-4F58-A2CB-EB7D816E9C5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8061E3-E2F9-424C-AD0E-C13FC281491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5001A95-CC2D-4144-9AAF-6C575346F82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73C5E67-D92A-46DA-A276-335E262AB47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9BDB08-C124-4C05-A626-7B331581804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6161D4F-78FF-4B47-AC4D-BD27FAB029C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AA7BFB0-4E9F-4AE7-86C4-0BE82854E10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C716F3C-DDBC-4ECC-9D46-A5245E13F20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5D89A6A-C7EF-4E64-970D-C29610FF5008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DB6B2C-AFED-45DD-911A-52C63940DAA4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0D811A8-1445-4EAF-AC81-8239F5554A7B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4D4C831-B148-45E8-8808-777911C7C7E8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78A276B-C65D-493F-A932-0D072798AB6C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A21866E-2619-4BF2-A582-0E11A7F557A9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B940DF7-F79B-45D1-AC5B-E1CAF5A60929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EC74844-7C21-4955-8BC6-D0DC3AFACA09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C212F00-9A6A-4EA8-BFDD-C191C6007EF4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3992C9D-E942-42DD-AA04-420C84E60826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978653A-7338-4F66-8F24-FD78D9148577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5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C5A6EFA-01E5-4451-AEB2-67ABB7C0D385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6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437730-7051-4044-B692-111F9E7792E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48400" y="1676400"/>
            <a:ext cx="5334000" cy="4191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D028B0C-40F2-42C6-8B10-AB0574732AA0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384E867-3765-4B81-BAC9-9D3B7C69C52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711200" y="16764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711200" y="38481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2068D89-7C1D-4C20-881C-5DCE8352616A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E9290E5-4DB4-47DD-91EA-5DE5DAD00D8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711200" y="381000"/>
            <a:ext cx="10871200" cy="5486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2"/>
          <p:cNvSpPr>
            <a:spLocks noGrp="1"/>
          </p:cNvSpPr>
          <p:nvPr>
            <p:ph type="dt" sz="half" idx="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256F5A4-6D92-49A9-8BA0-50C682530C9A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3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B999372-49D9-49C5-AB94-F9D14F764E7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单击以编辑母版副标题样式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268E4A-E5A9-462E-85AA-D667CDDDEDE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D31B28-3B75-48EC-817B-583AA14D88C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7C8C5D8-42BC-41C7-BF33-1695055101E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052737"/>
            <a:ext cx="10515600" cy="1895946"/>
          </a:xfrm>
        </p:spPr>
        <p:txBody>
          <a:bodyPr anchor="b"/>
          <a:lstStyle>
            <a:lvl1pPr algn="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3140968"/>
            <a:ext cx="10515600" cy="2948683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393D218-8B78-45B5-98E6-00BB3FE2965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C720DEB-4A2B-402C-A71D-DA48BABAEF0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257BEB4-4187-460F-BB45-171C2983F58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C75C03C-A6F7-4EDF-A035-EAEEC1ACAAC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32EC4CA-2276-4795-875D-B2F22415BBF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06A37B1-DAA7-48D8-82F1-812E1A15A77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438219C-D731-41B3-98B9-5D65D48D523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CEA80CA-7181-4C0F-B25D-82D0A34CD48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A6BE0C8-1CC9-437F-B14E-E614DC7C705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BBA8932-4E9E-454C-AA34-20177C29067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单击以编辑母版副标题样式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D950056-2F33-4086-8008-96A985654D84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4D3CBC2-379B-4E29-AF15-C0C23AA0C520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8AA6C42-1594-462E-B092-125516C5BC18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481378A-F833-4D12-AD5F-D893D2A4052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5CEDEC9-45F2-4992-BEA6-A7FBD1088AA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A4D019E-6D1C-41A4-B19F-A21A07670DE7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2E4DF57-7066-4950-9773-682489232A67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F6028D2-61BC-4B6C-8E4A-BDDB0030EECC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FE0FBB8-1B50-4E70-A4B0-1D339F96199D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983648A-A6D4-4DE8-9B46-026FEF511F96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DD8CEFC-5577-4E48-92A3-1E2893394BFC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8" name="日期占位符 5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7B4A14F-EA53-4D79-8480-B5BC75B5EE33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6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437730-7051-4044-B692-111F9E7792E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48400" y="1676400"/>
            <a:ext cx="5334000" cy="41910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8B2BAB5-D43A-44D9-B1D0-B82FF3A0A0D8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384E867-3765-4B81-BAC9-9D3B7C69C52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711200" y="16764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711200" y="38481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7B624D8-1FD0-4DB5-BEBE-D7CC51991579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E9290E5-4DB4-47DD-91EA-5DE5DAD00D8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711200" y="381000"/>
            <a:ext cx="10871200" cy="54864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8" name="日期占位符 2"/>
          <p:cNvSpPr>
            <a:spLocks noGrp="1"/>
          </p:cNvSpPr>
          <p:nvPr>
            <p:ph type="dt" sz="half" idx="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6C6981B-D9E0-43F7-8E8D-17C6EA9A5E2D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3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B999372-49D9-49C5-AB94-F9D14F764E7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7AF2-A4D7-4182-B8BF-EC0DD8F4E295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406494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  <a:lvl2pPr>
              <a:defRPr sz="3200" b="1">
                <a:solidFill>
                  <a:schemeClr val="tx1"/>
                </a:solidFill>
              </a:defRPr>
            </a:lvl2pPr>
            <a:lvl3pPr>
              <a:defRPr sz="3200" b="1">
                <a:solidFill>
                  <a:schemeClr val="tx1"/>
                </a:solidFill>
              </a:defRPr>
            </a:lvl3pPr>
            <a:lvl4pPr>
              <a:defRPr sz="3200" b="1">
                <a:solidFill>
                  <a:schemeClr val="tx1"/>
                </a:solidFill>
              </a:defRPr>
            </a:lvl4pPr>
            <a:lvl5pPr>
              <a:defRPr sz="32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1698F-47B3-4C69-B7C7-4ED34D07C2AC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64352" y="6276384"/>
            <a:ext cx="2743200" cy="365125"/>
          </a:xfrm>
        </p:spPr>
        <p:txBody>
          <a:bodyPr/>
          <a:lstStyle>
            <a:lvl1pPr>
              <a:defRPr sz="2800" b="1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925412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88FFB-BA26-4C7D-AC32-604EC408FF9E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44676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096E0-1B20-4521-9B37-DAFB1A235E73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64277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354B-0132-44F0-90AF-2A8EFA6E9FAC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35463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C4C33-ABA8-48F5-A1F1-4AB91407A300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92202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692B-2A71-4DE8-9CD7-86E9351F26AB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114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2227F-C97C-4B5A-958D-E7265E5236DB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36878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BEB7A-B6AE-4BF7-8286-DCEF89E6B1E2}" type="datetime1">
              <a:rPr lang="zh-CN" altLang="en-US" smtClean="0"/>
              <a:t>2024/2/26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617443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DFA4B-A2DE-41A5-8C37-8250E7D0E7A1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960189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7156B-28B2-4CEF-B38B-AE8655484AFC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64298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7454900"/>
            <a:chOff x="0" y="0"/>
            <a:chExt cx="19200" cy="11740"/>
          </a:xfrm>
        </p:grpSpPr>
        <p:grpSp>
          <p:nvGrpSpPr>
            <p:cNvPr id="6" name="组合 5"/>
            <p:cNvGrpSpPr/>
            <p:nvPr userDrawn="1">
              <p:custDataLst>
                <p:tags r:id="rId9"/>
              </p:custDataLst>
            </p:nvPr>
          </p:nvGrpSpPr>
          <p:grpSpPr>
            <a:xfrm>
              <a:off x="0" y="0"/>
              <a:ext cx="19200" cy="3223"/>
              <a:chOff x="0" y="0"/>
              <a:chExt cx="12192000" cy="2046605"/>
            </a:xfrm>
          </p:grpSpPr>
          <p:pic>
            <p:nvPicPr>
              <p:cNvPr id="7" name="图片 6"/>
              <p:cNvPicPr>
                <a:picLocks noChangeAspect="1"/>
              </p:cNvPicPr>
              <p:nvPr userDrawn="1">
                <p:custDataLst>
                  <p:tags r:id="rId11"/>
                </p:custDataLst>
              </p:nvPr>
            </p:nvPicPr>
            <p:blipFill>
              <a:blip r:embed="rId14"/>
              <a:stretch>
                <a:fillRect/>
              </a:stretch>
            </p:blipFill>
            <p:spPr>
              <a:xfrm>
                <a:off x="0" y="0"/>
                <a:ext cx="12192000" cy="2046605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 userDrawn="1">
                <p:custDataLst>
                  <p:tags r:id="rId12"/>
                </p:custDataLst>
              </p:nvPr>
            </p:nvPicPr>
            <p:blipFill rotWithShape="1">
              <a:blip r:embed="rId15"/>
              <a:srcRect/>
              <a:stretch>
                <a:fillRect/>
              </a:stretch>
            </p:blipFill>
            <p:spPr>
              <a:xfrm>
                <a:off x="0" y="10686"/>
                <a:ext cx="12192000" cy="1704978"/>
              </a:xfrm>
              <a:prstGeom prst="rect">
                <a:avLst/>
              </a:prstGeom>
            </p:spPr>
          </p:pic>
        </p:grpSp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0" y="9728"/>
              <a:ext cx="19200" cy="2012"/>
            </a:xfrm>
            <a:prstGeom prst="rect">
              <a:avLst/>
            </a:prstGeom>
          </p:spPr>
        </p:pic>
      </p:grp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2218B86A-E1BD-4AA6-8EEF-251FABBA18BF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2216785" y="3503930"/>
            <a:ext cx="7759065" cy="49149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000" u="none" strike="noStrike" kern="1200" cap="none" spc="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2216468" y="2292046"/>
            <a:ext cx="7759065" cy="1150960"/>
          </a:xfrm>
        </p:spPr>
        <p:txBody>
          <a:bodyPr lIns="90000" tIns="46800" rIns="90000" bIns="46800" anchor="b" anchorCtr="0">
            <a:noAutofit/>
          </a:bodyPr>
          <a:lstStyle>
            <a:lvl1pPr algn="ctr">
              <a:defRPr sz="6000" b="1" spc="600" baseline="0">
                <a:solidFill>
                  <a:schemeClr val="tx1"/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4511039" y="4490846"/>
            <a:ext cx="1383093" cy="474726"/>
          </a:xfrm>
          <a:solidFill>
            <a:schemeClr val="accent1"/>
          </a:solidFill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8"/>
            </p:custDataLst>
          </p:nvPr>
        </p:nvSpPr>
        <p:spPr>
          <a:xfrm>
            <a:off x="6096000" y="4490846"/>
            <a:ext cx="1383092" cy="474726"/>
          </a:xfrm>
          <a:ln>
            <a:solidFill>
              <a:schemeClr val="accent1"/>
            </a:solidFill>
          </a:ln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ln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  <p:extLst>
      <p:ext uri="{BB962C8B-B14F-4D97-AF65-F5344CB8AC3E}">
        <p14:creationId xmlns:p14="http://schemas.microsoft.com/office/powerpoint/2010/main" val="280425713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6177281"/>
            <a:ext cx="12192000" cy="11659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35560"/>
            <a:ext cx="12192000" cy="20466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3125639" y="2421777"/>
            <a:ext cx="5940722" cy="1336635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F97ACE4E-9914-48C2-A5B6-49424615361E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0" y="-3"/>
            <a:ext cx="12192000" cy="1704978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4632702" y="4417887"/>
            <a:ext cx="1302101" cy="485285"/>
          </a:xfrm>
          <a:solidFill>
            <a:schemeClr val="accent1"/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 hasCustomPrompt="1"/>
            <p:custDataLst>
              <p:tags r:id="rId9"/>
            </p:custDataLst>
          </p:nvPr>
        </p:nvSpPr>
        <p:spPr>
          <a:xfrm>
            <a:off x="6257198" y="4417887"/>
            <a:ext cx="1302102" cy="485285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  <p:extLst>
      <p:ext uri="{BB962C8B-B14F-4D97-AF65-F5344CB8AC3E}">
        <p14:creationId xmlns:p14="http://schemas.microsoft.com/office/powerpoint/2010/main" val="324995186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单击此处编辑母版文本样式</a:t>
            </a:r>
          </a:p>
          <a:p>
            <a:pPr lvl="1"/>
            <a:r>
              <a:rPr lang="zh-CN" altLang="en-US">
                <a:sym typeface="+mn-ea"/>
              </a:rPr>
              <a:t>二级</a:t>
            </a:r>
          </a:p>
          <a:p>
            <a:pPr lvl="2"/>
            <a:r>
              <a:rPr lang="zh-CN" altLang="en-US">
                <a:sym typeface="+mn-ea"/>
              </a:rPr>
              <a:t>三级</a:t>
            </a:r>
          </a:p>
          <a:p>
            <a:pPr lvl="3"/>
            <a:r>
              <a:rPr lang="zh-CN" altLang="en-US">
                <a:sym typeface="+mn-ea"/>
              </a:rPr>
              <a:t>四级</a:t>
            </a:r>
          </a:p>
          <a:p>
            <a:pPr lvl="4"/>
            <a:r>
              <a:rPr lang="zh-CN" altLang="en-US">
                <a:sym typeface="+mn-ea"/>
              </a:rPr>
              <a:t>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000" tIns="46800" rIns="90000" bIns="4680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3FBF1ED-9552-4A7A-830F-3C326E6D6233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>
            <a:off x="-16510" y="5971592"/>
            <a:ext cx="3478627" cy="9079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8716609" y="5905492"/>
            <a:ext cx="3481106" cy="97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85101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>
                <a:sym typeface="+mn-ea"/>
              </a:rPr>
              <a:t>单击图标添加图片</a:t>
            </a:r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lang="zh-CN" altLang="en-US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E6D92DE8-17B8-43C8-AD17-54544CEB3313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44562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-15240"/>
            <a:ext cx="12192000" cy="204660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E7B84209-6232-4587-A96F-C0EAA22E1113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915381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>
            <a:lvl1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0D6A2EC3-BFF6-445F-97CF-B2594A43675F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6177281"/>
            <a:ext cx="12192000" cy="131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73982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86385" y="273050"/>
            <a:ext cx="11616055" cy="63119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38F9B13E-97AD-4ADC-834B-11FF9787C64F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7072603" y="4933186"/>
            <a:ext cx="4829835" cy="1651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79234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0B9658F5-F195-482C-B0C2-E4EB43BF2E93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93756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2BFC5A1A-3B60-4914-883E-CF13A88444FF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pic>
        <p:nvPicPr>
          <p:cNvPr id="16" name="图片 15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7300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810" y="0"/>
            <a:ext cx="12192000" cy="197548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AB8E6292-8E18-4ACF-8CC6-3D17BA3EA227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4678583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6242387"/>
            <a:ext cx="12192000" cy="1231226"/>
          </a:xfrm>
          <a:prstGeom prst="rect">
            <a:avLst/>
          </a:prstGeom>
        </p:spPr>
      </p:pic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latin typeface="Viner Hand ITC" panose="03070502030502020203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579600" y="1663200"/>
            <a:ext cx="53424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BFC3A133-DA4A-418B-9F7C-603CADC1861B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21461109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腰带">
    <p:bg>
      <p:bgPr>
        <a:solidFill>
          <a:srgbClr val="EB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8AEF4DC0-F7A3-41F5-9228-D33D12252D9B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429082" y="4917233"/>
            <a:ext cx="3762917" cy="981917"/>
          </a:xfrm>
          <a:prstGeom prst="rect">
            <a:avLst/>
          </a:prstGeom>
        </p:spPr>
      </p:pic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rot="10800000" flipH="1">
            <a:off x="0" y="398"/>
            <a:ext cx="4713605" cy="12299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8317294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34E36-BA91-4509-9C52-55EF11CFCB08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379773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7454900"/>
            <a:chOff x="0" y="0"/>
            <a:chExt cx="19200" cy="11740"/>
          </a:xfrm>
        </p:grpSpPr>
        <p:grpSp>
          <p:nvGrpSpPr>
            <p:cNvPr id="6" name="组合 5"/>
            <p:cNvGrpSpPr/>
            <p:nvPr userDrawn="1">
              <p:custDataLst>
                <p:tags r:id="rId9"/>
              </p:custDataLst>
            </p:nvPr>
          </p:nvGrpSpPr>
          <p:grpSpPr>
            <a:xfrm>
              <a:off x="0" y="0"/>
              <a:ext cx="19200" cy="3223"/>
              <a:chOff x="0" y="0"/>
              <a:chExt cx="12192000" cy="2046605"/>
            </a:xfrm>
          </p:grpSpPr>
          <p:pic>
            <p:nvPicPr>
              <p:cNvPr id="7" name="图片 6"/>
              <p:cNvPicPr>
                <a:picLocks noChangeAspect="1"/>
              </p:cNvPicPr>
              <p:nvPr userDrawn="1">
                <p:custDataLst>
                  <p:tags r:id="rId11"/>
                </p:custDataLst>
              </p:nvPr>
            </p:nvPicPr>
            <p:blipFill>
              <a:blip r:embed="rId14"/>
              <a:stretch>
                <a:fillRect/>
              </a:stretch>
            </p:blipFill>
            <p:spPr>
              <a:xfrm>
                <a:off x="0" y="0"/>
                <a:ext cx="12192000" cy="2046605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 userDrawn="1">
                <p:custDataLst>
                  <p:tags r:id="rId12"/>
                </p:custDataLst>
              </p:nvPr>
            </p:nvPicPr>
            <p:blipFill rotWithShape="1">
              <a:blip r:embed="rId15"/>
              <a:srcRect/>
              <a:stretch>
                <a:fillRect/>
              </a:stretch>
            </p:blipFill>
            <p:spPr>
              <a:xfrm>
                <a:off x="0" y="10686"/>
                <a:ext cx="12192000" cy="1704978"/>
              </a:xfrm>
              <a:prstGeom prst="rect">
                <a:avLst/>
              </a:prstGeom>
            </p:spPr>
          </p:pic>
        </p:grpSp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0" y="9728"/>
              <a:ext cx="19200" cy="2012"/>
            </a:xfrm>
            <a:prstGeom prst="rect">
              <a:avLst/>
            </a:prstGeom>
          </p:spPr>
        </p:pic>
      </p:grp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2B131A6C-336A-4569-BFCD-6F0D4A0B7A3E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2216785" y="3503930"/>
            <a:ext cx="7759065" cy="49149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000" u="none" strike="noStrike" kern="1200" cap="none" spc="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2216468" y="2292046"/>
            <a:ext cx="7759065" cy="1150960"/>
          </a:xfrm>
        </p:spPr>
        <p:txBody>
          <a:bodyPr lIns="90000" tIns="46800" rIns="90000" bIns="46800" anchor="b" anchorCtr="0">
            <a:noAutofit/>
          </a:bodyPr>
          <a:lstStyle>
            <a:lvl1pPr algn="ctr">
              <a:defRPr sz="6000" spc="600" baseline="0">
                <a:solidFill>
                  <a:schemeClr val="accent1"/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4511039" y="4490846"/>
            <a:ext cx="1383093" cy="474726"/>
          </a:xfrm>
          <a:solidFill>
            <a:schemeClr val="accent1"/>
          </a:solidFill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8"/>
            </p:custDataLst>
          </p:nvPr>
        </p:nvSpPr>
        <p:spPr>
          <a:xfrm>
            <a:off x="6096000" y="4490846"/>
            <a:ext cx="1383092" cy="474726"/>
          </a:xfrm>
          <a:ln>
            <a:solidFill>
              <a:schemeClr val="accent1"/>
            </a:solidFill>
          </a:ln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ln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000" tIns="46800" rIns="90000" bIns="4680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50929EF3-DA06-474F-B84F-5FBDB961EA85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>
            <a:off x="-16510" y="5971592"/>
            <a:ext cx="3478627" cy="9079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8716609" y="5905492"/>
            <a:ext cx="3481106" cy="974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AE187EE2-D99F-4D92-A0BD-036556C83849}" type="datetime1">
              <a:rPr lang="zh-CN" altLang="en-US" smtClean="0"/>
              <a:t>2024/2/26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-15240"/>
            <a:ext cx="12192000" cy="204660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3C9A2D4E-36D6-44C8-9DEF-82EE004DABCF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86385" y="273050"/>
            <a:ext cx="11616055" cy="63119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7228AA9-5B91-4CB9-8518-EBA7BA5C432A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7072603" y="4933186"/>
            <a:ext cx="4829835" cy="16517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38B08463-2F49-42E7-81C4-350EB30D80E5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A6B726EF-D339-4185-8B26-CE8CF1705033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6" name="图片 15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810" y="0"/>
            <a:ext cx="12192000" cy="197548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F46A930D-A218-4038-8411-B5A475004CD5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6242387"/>
            <a:ext cx="12192000" cy="1231226"/>
          </a:xfrm>
          <a:prstGeom prst="rect">
            <a:avLst/>
          </a:prstGeom>
        </p:spPr>
      </p:pic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latin typeface="Viner Hand ITC" panose="03070502030502020203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579600" y="1663200"/>
            <a:ext cx="53424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66C35A2A-18E2-452E-81F4-F3C566DE316C}" type="datetime1">
              <a:rPr lang="zh-CN" altLang="en-US" smtClean="0"/>
              <a:t>2024/2/26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39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70.xml"/><Relationship Id="rId26" Type="http://schemas.openxmlformats.org/officeDocument/2006/relationships/slideLayout" Target="../slideLayouts/slideLayout78.xml"/><Relationship Id="rId3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73.xml"/><Relationship Id="rId34" Type="http://schemas.openxmlformats.org/officeDocument/2006/relationships/theme" Target="../theme/theme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9.xml"/><Relationship Id="rId25" Type="http://schemas.openxmlformats.org/officeDocument/2006/relationships/slideLayout" Target="../slideLayouts/slideLayout77.xml"/><Relationship Id="rId33" Type="http://schemas.openxmlformats.org/officeDocument/2006/relationships/slideLayout" Target="../slideLayouts/slideLayout85.xml"/><Relationship Id="rId2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68.xml"/><Relationship Id="rId20" Type="http://schemas.openxmlformats.org/officeDocument/2006/relationships/slideLayout" Target="../slideLayouts/slideLayout72.xml"/><Relationship Id="rId29" Type="http://schemas.openxmlformats.org/officeDocument/2006/relationships/slideLayout" Target="../slideLayouts/slideLayout81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24" Type="http://schemas.openxmlformats.org/officeDocument/2006/relationships/slideLayout" Target="../slideLayouts/slideLayout76.xml"/><Relationship Id="rId32" Type="http://schemas.openxmlformats.org/officeDocument/2006/relationships/slideLayout" Target="../slideLayouts/slideLayout84.xml"/><Relationship Id="rId5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75.xml"/><Relationship Id="rId28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83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Relationship Id="rId22" Type="http://schemas.openxmlformats.org/officeDocument/2006/relationships/slideLayout" Target="../slideLayouts/slideLayout74.xml"/><Relationship Id="rId27" Type="http://schemas.openxmlformats.org/officeDocument/2006/relationships/slideLayout" Target="../slideLayouts/slideLayout79.xml"/><Relationship Id="rId30" Type="http://schemas.openxmlformats.org/officeDocument/2006/relationships/slideLayout" Target="../slideLayouts/slideLayout82.xml"/><Relationship Id="rId8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223750" cy="6875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BD6B98D-9BE1-4D34-84AE-B3BB5F34B33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1" name="Rectangle 3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 advTm="0">
    <p:random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9DB84A-C08B-474D-BF8C-C2E47F1C3CB1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5" name="图片 2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ransition spd="slow" advClick="0" advTm="0">
    <p:random/>
  </p:transition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223750" cy="6875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49CC424-D5B1-4E65-8FFA-FA91B21ABF3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1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 indent="-28575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 indent="-22860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50E9369-AB6D-4277-871D-F11F7290E64F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5" name="图片 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</p:sldLayoutIdLst>
  <p:transition/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DA53D43-DAAF-4B72-AC4C-6EAF6ED9CFF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2024/2/26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12821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  <p:sldLayoutId id="2147483749" r:id="rId18"/>
    <p:sldLayoutId id="2147483750" r:id="rId19"/>
    <p:sldLayoutId id="2147483751" r:id="rId20"/>
    <p:sldLayoutId id="2147483752" r:id="rId21"/>
    <p:sldLayoutId id="2147483753" r:id="rId22"/>
    <p:sldLayoutId id="2147483754" r:id="rId23"/>
    <p:sldLayoutId id="2147483755" r:id="rId24"/>
    <p:sldLayoutId id="2147483705" r:id="rId25"/>
    <p:sldLayoutId id="2147483708" r:id="rId26"/>
    <p:sldLayoutId id="2147483712" r:id="rId27"/>
    <p:sldLayoutId id="2147483714" r:id="rId28"/>
    <p:sldLayoutId id="2147483717" r:id="rId29"/>
    <p:sldLayoutId id="2147483718" r:id="rId30"/>
    <p:sldLayoutId id="2147483719" r:id="rId31"/>
    <p:sldLayoutId id="2147483720" r:id="rId32"/>
    <p:sldLayoutId id="2147483721" r:id="rId3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4.xml"/><Relationship Id="rId1" Type="http://schemas.openxmlformats.org/officeDocument/2006/relationships/tags" Target="../tags/tag17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09.xml"/><Relationship Id="rId3" Type="http://schemas.openxmlformats.org/officeDocument/2006/relationships/slide" Target="slide4.xml"/><Relationship Id="rId7" Type="http://schemas.openxmlformats.org/officeDocument/2006/relationships/slide" Target="slide76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71.xml"/><Relationship Id="rId6" Type="http://schemas.openxmlformats.org/officeDocument/2006/relationships/slide" Target="slide53.xml"/><Relationship Id="rId5" Type="http://schemas.openxmlformats.org/officeDocument/2006/relationships/slide" Target="slide34.xml"/><Relationship Id="rId4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4.xml"/><Relationship Id="rId1" Type="http://schemas.openxmlformats.org/officeDocument/2006/relationships/tags" Target="../tags/tag17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6" Type="http://schemas.openxmlformats.org/officeDocument/2006/relationships/slideLayout" Target="../slideLayouts/slideLayout54.xml"/><Relationship Id="rId5" Type="http://schemas.openxmlformats.org/officeDocument/2006/relationships/tags" Target="../tags/tag177.xml"/><Relationship Id="rId4" Type="http://schemas.openxmlformats.org/officeDocument/2006/relationships/tags" Target="../tags/tag17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4.xml"/><Relationship Id="rId1" Type="http://schemas.openxmlformats.org/officeDocument/2006/relationships/tags" Target="../tags/tag17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5" Type="http://schemas.openxmlformats.org/officeDocument/2006/relationships/slideLayout" Target="../slideLayouts/slideLayout54.xml"/><Relationship Id="rId4" Type="http://schemas.openxmlformats.org/officeDocument/2006/relationships/tags" Target="../tags/tag18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4.xml"/><Relationship Id="rId1" Type="http://schemas.openxmlformats.org/officeDocument/2006/relationships/tags" Target="../tags/tag18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5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5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5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5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5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5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4.xml"/><Relationship Id="rId1" Type="http://schemas.openxmlformats.org/officeDocument/2006/relationships/tags" Target="../tags/tag18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4.xml"/><Relationship Id="rId1" Type="http://schemas.openxmlformats.org/officeDocument/2006/relationships/tags" Target="../tags/tag18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4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5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5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5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54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54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64.xml"/><Relationship Id="rId1" Type="http://schemas.openxmlformats.org/officeDocument/2006/relationships/tags" Target="../tags/tag186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54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54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54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54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54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54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54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mp"/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54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tmp"/><Relationship Id="rId1" Type="http://schemas.openxmlformats.org/officeDocument/2006/relationships/slideLayout" Target="../slideLayouts/slideLayout54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4" Type="http://schemas.openxmlformats.org/officeDocument/2006/relationships/slideLayout" Target="../slideLayouts/slideLayout65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tags" Target="../tags/tag190.xml"/><Relationship Id="rId4" Type="http://schemas.openxmlformats.org/officeDocument/2006/relationships/slideLayout" Target="../slideLayouts/slideLayout6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72540" y="2292350"/>
            <a:ext cx="9437370" cy="1151255"/>
          </a:xfrm>
        </p:spPr>
        <p:txBody>
          <a:bodyPr/>
          <a:lstStyle/>
          <a:p>
            <a:r>
              <a:rPr lang="zh-CN" altLang="en-US" dirty="0">
                <a:latin typeface="+mj-lt"/>
                <a:ea typeface="+mj-ea"/>
                <a:sym typeface="+mn-ea"/>
              </a:rPr>
              <a:t>第</a:t>
            </a:r>
            <a:r>
              <a:rPr lang="en-US" altLang="zh-CN" dirty="0">
                <a:latin typeface="+mj-lt"/>
                <a:ea typeface="+mj-ea"/>
                <a:sym typeface="+mn-ea"/>
              </a:rPr>
              <a:t>2</a:t>
            </a:r>
            <a:r>
              <a:rPr lang="zh-CN" altLang="en-US" dirty="0">
                <a:latin typeface="+mj-lt"/>
                <a:ea typeface="+mj-ea"/>
                <a:sym typeface="+mn-ea"/>
              </a:rPr>
              <a:t>章 </a:t>
            </a:r>
            <a:r>
              <a:rPr lang="en-US" altLang="zh-CN" dirty="0">
                <a:latin typeface="+mj-lt"/>
                <a:ea typeface="+mj-ea"/>
                <a:sym typeface="+mn-ea"/>
              </a:rPr>
              <a:t>Python</a:t>
            </a:r>
            <a:r>
              <a:rPr lang="zh-CN" altLang="en-US" dirty="0">
                <a:latin typeface="+mj-lt"/>
                <a:ea typeface="+mj-ea"/>
                <a:sym typeface="+mn-ea"/>
              </a:rPr>
              <a:t>语言基础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7E10D7F-2381-4933-A790-24F96785F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zh-CN" altLang="en-US" sz="4000" dirty="0"/>
              <a:t>目录</a:t>
            </a:r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en-US" altLang="zh-CN" sz="3200" dirty="0"/>
              <a:t>2.1 </a:t>
            </a:r>
            <a:r>
              <a:rPr sz="3200" dirty="0">
                <a:hlinkClick r:id="rId3" action="ppaction://hlinksldjump"/>
              </a:rPr>
              <a:t>常量</a:t>
            </a:r>
            <a:endParaRPr lang="zh-CN" altLang="en-US" sz="3200" dirty="0"/>
          </a:p>
          <a:p>
            <a:r>
              <a:rPr lang="en-US" altLang="zh-CN" sz="3200" dirty="0"/>
              <a:t>2.2 </a:t>
            </a:r>
            <a:r>
              <a:rPr sz="3200" dirty="0">
                <a:hlinkClick r:id="rId4" action="ppaction://hlinksldjump"/>
              </a:rPr>
              <a:t>数据类型</a:t>
            </a:r>
            <a:endParaRPr lang="zh-CN" altLang="en-US" sz="3200" dirty="0"/>
          </a:p>
          <a:p>
            <a:r>
              <a:rPr lang="en-US" altLang="zh-CN" sz="3200" dirty="0"/>
              <a:t>2.3 </a:t>
            </a:r>
            <a:r>
              <a:rPr sz="3200" dirty="0">
                <a:hlinkClick r:id="rId5" action="ppaction://hlinksldjump"/>
              </a:rPr>
              <a:t>变量</a:t>
            </a:r>
            <a:endParaRPr lang="zh-CN" altLang="en-US" sz="3200" dirty="0"/>
          </a:p>
          <a:p>
            <a:r>
              <a:rPr lang="en-US" altLang="zh-CN" sz="3200" dirty="0"/>
              <a:t>2.4 </a:t>
            </a:r>
            <a:r>
              <a:rPr sz="3200" dirty="0">
                <a:hlinkClick r:id="rId6" action="ppaction://hlinksldjump"/>
              </a:rPr>
              <a:t>基本运算</a:t>
            </a:r>
            <a:endParaRPr lang="zh-CN" altLang="en-US" sz="3200" dirty="0"/>
          </a:p>
          <a:p>
            <a:r>
              <a:rPr lang="en-US" altLang="zh-CN" sz="3200" dirty="0"/>
              <a:t>2.5 </a:t>
            </a:r>
            <a:r>
              <a:rPr sz="3200" dirty="0">
                <a:hlinkClick r:id="rId7" action="ppaction://hlinksldjump"/>
              </a:rPr>
              <a:t>常用系统函数</a:t>
            </a:r>
            <a:endParaRPr sz="3200" dirty="0"/>
          </a:p>
          <a:p>
            <a:r>
              <a:rPr lang="en-US" altLang="zh-CN" sz="3200" dirty="0"/>
              <a:t>2.6 </a:t>
            </a:r>
            <a:r>
              <a:rPr lang="en-US" altLang="zh-CN" sz="3200" dirty="0" err="1">
                <a:hlinkClick r:id="rId8" action="ppaction://hlinksldjump"/>
              </a:rPr>
              <a:t>Python</a:t>
            </a:r>
            <a:r>
              <a:rPr sz="3200" dirty="0" err="1">
                <a:hlinkClick r:id="rId8" action="ppaction://hlinksldjump"/>
              </a:rPr>
              <a:t>的帮助系统</a:t>
            </a:r>
            <a:r>
              <a:rPr lang="en-US" dirty="0"/>
              <a:t>(</a:t>
            </a:r>
            <a:r>
              <a:rPr lang="zh-CN" altLang="en-US" dirty="0"/>
              <a:t>自学</a:t>
            </a:r>
            <a:r>
              <a:rPr lang="en-US" altLang="zh-CN" dirty="0"/>
              <a:t>)</a:t>
            </a:r>
            <a:endParaRPr lang="zh-CN" altLang="en-US" sz="3200" dirty="0"/>
          </a:p>
          <a:p>
            <a:endParaRPr lang="en-US" altLang="zh-CN" sz="32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4E0DCAC-558F-4DFD-AFAA-E1D76D2C1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同侧圆角矩形 1"/>
          <p:cNvSpPr/>
          <p:nvPr/>
        </p:nvSpPr>
        <p:spPr>
          <a:xfrm rot="5400000" flipH="1">
            <a:off x="8043377" y="2112471"/>
            <a:ext cx="1080000" cy="494473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9525"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88900" dist="635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同侧圆角矩形 2"/>
          <p:cNvSpPr/>
          <p:nvPr/>
        </p:nvSpPr>
        <p:spPr>
          <a:xfrm rot="16200000">
            <a:off x="3179976" y="-350994"/>
            <a:ext cx="1080000" cy="494473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9525">
            <a:solidFill>
              <a:schemeClr val="bg1"/>
            </a:solidFill>
          </a:ln>
          <a:effectLst>
            <a:outerShdw blurRad="88900" dist="635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20"/>
          <p:cNvSpPr/>
          <p:nvPr/>
        </p:nvSpPr>
        <p:spPr>
          <a:xfrm>
            <a:off x="4293657" y="1556090"/>
            <a:ext cx="3644240" cy="3608259"/>
          </a:xfrm>
          <a:prstGeom prst="ellipse">
            <a:avLst/>
          </a:prstGeom>
          <a:solidFill>
            <a:schemeClr val="bg1"/>
          </a:solidFill>
          <a:ln w="15875">
            <a:solidFill>
              <a:srgbClr val="20386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>
              <a:lnSpc>
                <a:spcPct val="130000"/>
              </a:lnSpc>
            </a:pP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20"/>
          <p:cNvSpPr/>
          <p:nvPr/>
        </p:nvSpPr>
        <p:spPr>
          <a:xfrm>
            <a:off x="4439816" y="1700808"/>
            <a:ext cx="3351918" cy="331882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bg1"/>
            </a:solidFill>
          </a:ln>
          <a:effectLst>
            <a:outerShdw blurRad="88900" dist="635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995265" y="2713890"/>
            <a:ext cx="2241020" cy="1292658"/>
          </a:xfrm>
          <a:prstGeom prst="rect">
            <a:avLst/>
          </a:prstGeom>
        </p:spPr>
        <p:txBody>
          <a:bodyPr wrap="square" lIns="91436" tIns="45718" rIns="91436" bIns="45718" anchor="ctr" anchorCtr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endParaRPr lang="en-US" altLang="zh-CN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10889" y="1690612"/>
            <a:ext cx="1441003" cy="742315"/>
          </a:xfrm>
          <a:prstGeom prst="rect">
            <a:avLst/>
          </a:prstGeom>
        </p:spPr>
        <p:txBody>
          <a:bodyPr wrap="square" lIns="91436" tIns="45718" rIns="91436" bIns="45718" anchor="ctr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8" name="矩形 7"/>
          <p:cNvSpPr/>
          <p:nvPr/>
        </p:nvSpPr>
        <p:spPr>
          <a:xfrm>
            <a:off x="7896200" y="4149080"/>
            <a:ext cx="3273199" cy="742315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对数据的操作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501035" y="2829360"/>
            <a:ext cx="2441686" cy="1157236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Segoe UI Semilight" panose="020B0402040204020203" pitchFamily="34" charset="0"/>
                <a:ea typeface="微软雅黑" panose="020B0503020204020204" pitchFamily="34" charset="-122"/>
                <a:cs typeface="Segoe UI Semilight" panose="020B0402040204020203" pitchFamily="34" charset="0"/>
              </a:rPr>
              <a:t>数据类型</a:t>
            </a:r>
          </a:p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Segoe UI Semilight" panose="020B0402040204020203" pitchFamily="34" charset="0"/>
                <a:ea typeface="微软雅黑" panose="020B0503020204020204" pitchFamily="34" charset="-122"/>
                <a:cs typeface="Segoe UI Semilight" panose="020B0402040204020203" pitchFamily="34" charset="0"/>
              </a:rPr>
              <a:t>常量和变量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368231" y="2659157"/>
            <a:ext cx="2082613" cy="1157236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Segoe UI Semilight" panose="020B0402040204020203" pitchFamily="34" charset="0"/>
                <a:ea typeface="微软雅黑" panose="020B0503020204020204" pitchFamily="34" charset="-122"/>
                <a:cs typeface="Segoe UI Semilight" panose="020B0402040204020203" pitchFamily="34" charset="0"/>
              </a:rPr>
              <a:t>基本运算</a:t>
            </a:r>
          </a:p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Segoe UI Semilight" panose="020B0402040204020203" pitchFamily="34" charset="0"/>
                <a:ea typeface="微软雅黑" panose="020B0503020204020204" pitchFamily="34" charset="-122"/>
                <a:cs typeface="Segoe UI Semilight" panose="020B0402040204020203" pitchFamily="34" charset="0"/>
              </a:rPr>
              <a:t>常用函数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32963D2-818F-4D13-9FAA-6C4A79D84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6707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j-lt"/>
                <a:ea typeface="+mj-ea"/>
                <a:sym typeface="+mn-ea"/>
              </a:rPr>
              <a:t>2.1 </a:t>
            </a:r>
            <a:r>
              <a:rPr lang="zh-CN" altLang="en-US" dirty="0">
                <a:latin typeface="+mj-lt"/>
                <a:ea typeface="+mj-ea"/>
                <a:sym typeface="+mn-ea"/>
              </a:rPr>
              <a:t>常量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422722C-670F-495B-9058-B314897A1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241989"/>
            <a:ext cx="10491898" cy="738740"/>
          </a:xfrm>
        </p:spPr>
        <p:txBody>
          <a:bodyPr/>
          <a:lstStyle/>
          <a:p>
            <a:r>
              <a:rPr lang="zh-CN" altLang="en-US" dirty="0"/>
              <a:t>常量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10852150" cy="2628895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常量的值和含义不会改变，总是</a:t>
            </a:r>
            <a:r>
              <a:rPr lang="zh-CN" altLang="zh-CN" dirty="0"/>
              <a:t>表示</a:t>
            </a:r>
            <a:r>
              <a:rPr lang="zh-CN" altLang="en-US" dirty="0"/>
              <a:t>固定</a:t>
            </a:r>
            <a:r>
              <a:rPr lang="zh-CN" altLang="zh-CN" dirty="0"/>
              <a:t>成的含义</a:t>
            </a:r>
            <a:endParaRPr lang="en-US" altLang="zh-CN" dirty="0"/>
          </a:p>
          <a:p>
            <a:r>
              <a:rPr lang="zh-CN" altLang="en-US" b="1" dirty="0"/>
              <a:t>变量：值可以变化</a:t>
            </a:r>
            <a:endParaRPr lang="en-US" altLang="zh-CN" b="1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常量根据书写格式，</a:t>
            </a:r>
            <a:r>
              <a:rPr lang="en-US" altLang="zh-CN" dirty="0"/>
              <a:t>Python</a:t>
            </a:r>
            <a:r>
              <a:rPr lang="zh-CN" altLang="en-US" dirty="0"/>
              <a:t>自动判定为相应类型的对象，统一进行管理。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MH_SubTitle_1"/>
          <p:cNvSpPr/>
          <p:nvPr>
            <p:custDataLst>
              <p:tags r:id="rId1"/>
            </p:custDataLst>
          </p:nvPr>
        </p:nvSpPr>
        <p:spPr>
          <a:xfrm>
            <a:off x="710666" y="3573016"/>
            <a:ext cx="2171696" cy="1296000"/>
          </a:xfrm>
          <a:custGeom>
            <a:avLst/>
            <a:gdLst>
              <a:gd name="connsiteX0" fmla="*/ 1154681 w 2309360"/>
              <a:gd name="connsiteY0" fmla="*/ 0 h 1666434"/>
              <a:gd name="connsiteX1" fmla="*/ 1530338 w 2309360"/>
              <a:gd name="connsiteY1" fmla="*/ 360555 h 1666434"/>
              <a:gd name="connsiteX2" fmla="*/ 2309360 w 2309360"/>
              <a:gd name="connsiteY2" fmla="*/ 360555 h 1666434"/>
              <a:gd name="connsiteX3" fmla="*/ 2309360 w 2309360"/>
              <a:gd name="connsiteY3" fmla="*/ 1666434 h 1666434"/>
              <a:gd name="connsiteX4" fmla="*/ 0 w 2309360"/>
              <a:gd name="connsiteY4" fmla="*/ 1666434 h 1666434"/>
              <a:gd name="connsiteX5" fmla="*/ 0 w 2309360"/>
              <a:gd name="connsiteY5" fmla="*/ 360555 h 1666434"/>
              <a:gd name="connsiteX6" fmla="*/ 779023 w 2309360"/>
              <a:gd name="connsiteY6" fmla="*/ 360555 h 1666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9360" h="1666434">
                <a:moveTo>
                  <a:pt x="1154681" y="0"/>
                </a:moveTo>
                <a:lnTo>
                  <a:pt x="1530338" y="360555"/>
                </a:lnTo>
                <a:lnTo>
                  <a:pt x="2309360" y="360555"/>
                </a:lnTo>
                <a:lnTo>
                  <a:pt x="2309360" y="1666434"/>
                </a:lnTo>
                <a:lnTo>
                  <a:pt x="0" y="1666434"/>
                </a:lnTo>
                <a:lnTo>
                  <a:pt x="0" y="360555"/>
                </a:lnTo>
                <a:lnTo>
                  <a:pt x="779023" y="360555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9000" rIns="0" bIns="0" anchor="ctr">
            <a:noAutofit/>
          </a:bodyPr>
          <a:lstStyle/>
          <a:p>
            <a:pPr algn="ctr">
              <a:lnSpc>
                <a:spcPct val="120000"/>
              </a:lnSpc>
              <a:defRPr/>
            </a:pPr>
            <a:endParaRPr lang="en-US" altLang="zh-CN" sz="2800" dirty="0">
              <a:solidFill>
                <a:schemeClr val="accent1">
                  <a:lumMod val="75000"/>
                </a:schemeClr>
              </a:solidFill>
              <a:cs typeface="+mn-ea"/>
              <a:sym typeface="+mn-lt"/>
            </a:endParaRPr>
          </a:p>
          <a:p>
            <a:pPr algn="ctr">
              <a:lnSpc>
                <a:spcPct val="130000"/>
              </a:lnSpc>
              <a:defRPr/>
            </a:pPr>
            <a:r>
              <a:rPr lang="en-US" altLang="zh-CN" sz="2800" dirty="0">
                <a:solidFill>
                  <a:schemeClr val="tx1"/>
                </a:solidFill>
                <a:cs typeface="+mn-ea"/>
                <a:sym typeface="+mn-lt"/>
              </a:rPr>
              <a:t>5</a:t>
            </a:r>
            <a:endParaRPr lang="zh-CN" altLang="en-US" sz="28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5" name="MH_SubTitle_2"/>
          <p:cNvSpPr/>
          <p:nvPr>
            <p:custDataLst>
              <p:tags r:id="rId2"/>
            </p:custDataLst>
          </p:nvPr>
        </p:nvSpPr>
        <p:spPr>
          <a:xfrm>
            <a:off x="2858773" y="3579711"/>
            <a:ext cx="2171697" cy="1296000"/>
          </a:xfrm>
          <a:custGeom>
            <a:avLst/>
            <a:gdLst>
              <a:gd name="connsiteX0" fmla="*/ 1154681 w 2309360"/>
              <a:gd name="connsiteY0" fmla="*/ 0 h 1666434"/>
              <a:gd name="connsiteX1" fmla="*/ 1530338 w 2309360"/>
              <a:gd name="connsiteY1" fmla="*/ 360555 h 1666434"/>
              <a:gd name="connsiteX2" fmla="*/ 2309360 w 2309360"/>
              <a:gd name="connsiteY2" fmla="*/ 360555 h 1666434"/>
              <a:gd name="connsiteX3" fmla="*/ 2309360 w 2309360"/>
              <a:gd name="connsiteY3" fmla="*/ 1666434 h 1666434"/>
              <a:gd name="connsiteX4" fmla="*/ 0 w 2309360"/>
              <a:gd name="connsiteY4" fmla="*/ 1666434 h 1666434"/>
              <a:gd name="connsiteX5" fmla="*/ 0 w 2309360"/>
              <a:gd name="connsiteY5" fmla="*/ 360555 h 1666434"/>
              <a:gd name="connsiteX6" fmla="*/ 779023 w 2309360"/>
              <a:gd name="connsiteY6" fmla="*/ 360555 h 1666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9360" h="1666434">
                <a:moveTo>
                  <a:pt x="1154681" y="0"/>
                </a:moveTo>
                <a:lnTo>
                  <a:pt x="1530338" y="360555"/>
                </a:lnTo>
                <a:lnTo>
                  <a:pt x="2309360" y="360555"/>
                </a:lnTo>
                <a:lnTo>
                  <a:pt x="2309360" y="1666434"/>
                </a:lnTo>
                <a:lnTo>
                  <a:pt x="0" y="1666434"/>
                </a:lnTo>
                <a:lnTo>
                  <a:pt x="0" y="360555"/>
                </a:lnTo>
                <a:lnTo>
                  <a:pt x="779023" y="360555"/>
                </a:lnTo>
                <a:close/>
              </a:path>
            </a:pathLst>
          </a:custGeom>
          <a:noFill/>
          <a:ln w="19050">
            <a:solidFill>
              <a:srgbClr val="C0C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9000" rIns="0" bIns="0" anchor="ctr">
            <a:normAutofit lnSpcReduction="10000"/>
          </a:bodyPr>
          <a:lstStyle/>
          <a:p>
            <a:pPr algn="ctr">
              <a:lnSpc>
                <a:spcPct val="130000"/>
              </a:lnSpc>
              <a:defRPr/>
            </a:pPr>
            <a:endParaRPr lang="en-US" altLang="zh-CN" sz="2400" dirty="0">
              <a:solidFill>
                <a:schemeClr val="tx1"/>
              </a:solidFill>
              <a:cs typeface="+mn-ea"/>
              <a:sym typeface="+mn-lt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altLang="zh-CN" sz="2400" dirty="0">
                <a:solidFill>
                  <a:schemeClr val="tx1"/>
                </a:solidFill>
                <a:cs typeface="+mn-ea"/>
                <a:sym typeface="+mn-lt"/>
              </a:rPr>
              <a:t>1.23</a:t>
            </a:r>
            <a:endParaRPr lang="zh-CN" altLang="en-US" sz="2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6" name="MH_SubTitle_2"/>
          <p:cNvSpPr/>
          <p:nvPr>
            <p:custDataLst>
              <p:tags r:id="rId3"/>
            </p:custDataLst>
          </p:nvPr>
        </p:nvSpPr>
        <p:spPr>
          <a:xfrm>
            <a:off x="7154989" y="3579711"/>
            <a:ext cx="2171697" cy="1296000"/>
          </a:xfrm>
          <a:custGeom>
            <a:avLst/>
            <a:gdLst>
              <a:gd name="connsiteX0" fmla="*/ 1154681 w 2309360"/>
              <a:gd name="connsiteY0" fmla="*/ 0 h 1666434"/>
              <a:gd name="connsiteX1" fmla="*/ 1530338 w 2309360"/>
              <a:gd name="connsiteY1" fmla="*/ 360555 h 1666434"/>
              <a:gd name="connsiteX2" fmla="*/ 2309360 w 2309360"/>
              <a:gd name="connsiteY2" fmla="*/ 360555 h 1666434"/>
              <a:gd name="connsiteX3" fmla="*/ 2309360 w 2309360"/>
              <a:gd name="connsiteY3" fmla="*/ 1666434 h 1666434"/>
              <a:gd name="connsiteX4" fmla="*/ 0 w 2309360"/>
              <a:gd name="connsiteY4" fmla="*/ 1666434 h 1666434"/>
              <a:gd name="connsiteX5" fmla="*/ 0 w 2309360"/>
              <a:gd name="connsiteY5" fmla="*/ 360555 h 1666434"/>
              <a:gd name="connsiteX6" fmla="*/ 779023 w 2309360"/>
              <a:gd name="connsiteY6" fmla="*/ 360555 h 1666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9360" h="1666434">
                <a:moveTo>
                  <a:pt x="1154681" y="0"/>
                </a:moveTo>
                <a:lnTo>
                  <a:pt x="1530338" y="360555"/>
                </a:lnTo>
                <a:lnTo>
                  <a:pt x="2309360" y="360555"/>
                </a:lnTo>
                <a:lnTo>
                  <a:pt x="2309360" y="1666434"/>
                </a:lnTo>
                <a:lnTo>
                  <a:pt x="0" y="1666434"/>
                </a:lnTo>
                <a:lnTo>
                  <a:pt x="0" y="360555"/>
                </a:lnTo>
                <a:lnTo>
                  <a:pt x="779023" y="360555"/>
                </a:lnTo>
                <a:close/>
              </a:path>
            </a:pathLst>
          </a:custGeom>
          <a:noFill/>
          <a:ln w="19050">
            <a:solidFill>
              <a:srgbClr val="C0C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9000" rIns="0" bIns="0" anchor="ctr"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altLang="zh-CN" sz="2400" dirty="0">
                <a:solidFill>
                  <a:schemeClr val="tx1"/>
                </a:solidFill>
                <a:cs typeface="+mn-ea"/>
                <a:sym typeface="+mn-lt"/>
              </a:rPr>
              <a:t>True</a:t>
            </a:r>
          </a:p>
          <a:p>
            <a:pPr algn="ctr">
              <a:lnSpc>
                <a:spcPct val="120000"/>
              </a:lnSpc>
              <a:defRPr/>
            </a:pPr>
            <a:r>
              <a:rPr lang="en-US" altLang="zh-CN" sz="2400" dirty="0">
                <a:solidFill>
                  <a:schemeClr val="tx1"/>
                </a:solidFill>
                <a:cs typeface="+mn-ea"/>
                <a:sym typeface="+mn-lt"/>
              </a:rPr>
              <a:t>False</a:t>
            </a:r>
            <a:endParaRPr lang="zh-CN" altLang="en-US" sz="2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7" name="MH_SubTitle_1"/>
          <p:cNvSpPr/>
          <p:nvPr>
            <p:custDataLst>
              <p:tags r:id="rId4"/>
            </p:custDataLst>
          </p:nvPr>
        </p:nvSpPr>
        <p:spPr>
          <a:xfrm>
            <a:off x="5006881" y="3573016"/>
            <a:ext cx="2171696" cy="1296000"/>
          </a:xfrm>
          <a:custGeom>
            <a:avLst/>
            <a:gdLst>
              <a:gd name="connsiteX0" fmla="*/ 1154681 w 2309360"/>
              <a:gd name="connsiteY0" fmla="*/ 0 h 1666434"/>
              <a:gd name="connsiteX1" fmla="*/ 1530338 w 2309360"/>
              <a:gd name="connsiteY1" fmla="*/ 360555 h 1666434"/>
              <a:gd name="connsiteX2" fmla="*/ 2309360 w 2309360"/>
              <a:gd name="connsiteY2" fmla="*/ 360555 h 1666434"/>
              <a:gd name="connsiteX3" fmla="*/ 2309360 w 2309360"/>
              <a:gd name="connsiteY3" fmla="*/ 1666434 h 1666434"/>
              <a:gd name="connsiteX4" fmla="*/ 0 w 2309360"/>
              <a:gd name="connsiteY4" fmla="*/ 1666434 h 1666434"/>
              <a:gd name="connsiteX5" fmla="*/ 0 w 2309360"/>
              <a:gd name="connsiteY5" fmla="*/ 360555 h 1666434"/>
              <a:gd name="connsiteX6" fmla="*/ 779023 w 2309360"/>
              <a:gd name="connsiteY6" fmla="*/ 360555 h 1666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9360" h="1666434">
                <a:moveTo>
                  <a:pt x="1154681" y="0"/>
                </a:moveTo>
                <a:lnTo>
                  <a:pt x="1530338" y="360555"/>
                </a:lnTo>
                <a:lnTo>
                  <a:pt x="2309360" y="360555"/>
                </a:lnTo>
                <a:lnTo>
                  <a:pt x="2309360" y="1666434"/>
                </a:lnTo>
                <a:lnTo>
                  <a:pt x="0" y="1666434"/>
                </a:lnTo>
                <a:lnTo>
                  <a:pt x="0" y="360555"/>
                </a:lnTo>
                <a:lnTo>
                  <a:pt x="779023" y="360555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9000" rIns="0" bIns="0" anchor="ctr">
            <a:noAutofit/>
          </a:bodyPr>
          <a:lstStyle/>
          <a:p>
            <a:pPr algn="ctr">
              <a:lnSpc>
                <a:spcPct val="120000"/>
              </a:lnSpc>
              <a:defRPr/>
            </a:pPr>
            <a:endParaRPr lang="en-US" altLang="zh-CN" sz="2400" dirty="0">
              <a:solidFill>
                <a:schemeClr val="accent1">
                  <a:lumMod val="75000"/>
                </a:schemeClr>
              </a:solidFill>
              <a:cs typeface="+mn-ea"/>
              <a:sym typeface="+mn-lt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altLang="zh-CN" sz="2400" dirty="0">
                <a:solidFill>
                  <a:schemeClr val="tx1"/>
                </a:solidFill>
                <a:cs typeface="+mn-ea"/>
                <a:sym typeface="+mn-lt"/>
              </a:rPr>
              <a:t>'Hello'</a:t>
            </a:r>
            <a:endParaRPr lang="zh-CN" altLang="en-US" sz="2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8" name="MH_SubTitle_1"/>
          <p:cNvSpPr/>
          <p:nvPr>
            <p:custDataLst>
              <p:tags r:id="rId5"/>
            </p:custDataLst>
          </p:nvPr>
        </p:nvSpPr>
        <p:spPr>
          <a:xfrm>
            <a:off x="9326686" y="3573016"/>
            <a:ext cx="2171696" cy="1296000"/>
          </a:xfrm>
          <a:custGeom>
            <a:avLst/>
            <a:gdLst>
              <a:gd name="connsiteX0" fmla="*/ 1154681 w 2309360"/>
              <a:gd name="connsiteY0" fmla="*/ 0 h 1666434"/>
              <a:gd name="connsiteX1" fmla="*/ 1530338 w 2309360"/>
              <a:gd name="connsiteY1" fmla="*/ 360555 h 1666434"/>
              <a:gd name="connsiteX2" fmla="*/ 2309360 w 2309360"/>
              <a:gd name="connsiteY2" fmla="*/ 360555 h 1666434"/>
              <a:gd name="connsiteX3" fmla="*/ 2309360 w 2309360"/>
              <a:gd name="connsiteY3" fmla="*/ 1666434 h 1666434"/>
              <a:gd name="connsiteX4" fmla="*/ 0 w 2309360"/>
              <a:gd name="connsiteY4" fmla="*/ 1666434 h 1666434"/>
              <a:gd name="connsiteX5" fmla="*/ 0 w 2309360"/>
              <a:gd name="connsiteY5" fmla="*/ 360555 h 1666434"/>
              <a:gd name="connsiteX6" fmla="*/ 779023 w 2309360"/>
              <a:gd name="connsiteY6" fmla="*/ 360555 h 1666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9360" h="1666434">
                <a:moveTo>
                  <a:pt x="1154681" y="0"/>
                </a:moveTo>
                <a:lnTo>
                  <a:pt x="1530338" y="360555"/>
                </a:lnTo>
                <a:lnTo>
                  <a:pt x="2309360" y="360555"/>
                </a:lnTo>
                <a:lnTo>
                  <a:pt x="2309360" y="1666434"/>
                </a:lnTo>
                <a:lnTo>
                  <a:pt x="0" y="1666434"/>
                </a:lnTo>
                <a:lnTo>
                  <a:pt x="0" y="360555"/>
                </a:lnTo>
                <a:lnTo>
                  <a:pt x="779023" y="360555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9000" rIns="0" bIns="0" anchor="ctr">
            <a:noAutofit/>
          </a:bodyPr>
          <a:lstStyle/>
          <a:p>
            <a:pPr algn="ctr">
              <a:lnSpc>
                <a:spcPct val="120000"/>
              </a:lnSpc>
              <a:defRPr/>
            </a:pPr>
            <a:endParaRPr lang="en-US" altLang="zh-CN" sz="2800" dirty="0">
              <a:solidFill>
                <a:schemeClr val="accent1">
                  <a:lumMod val="75000"/>
                </a:schemeClr>
              </a:solidFill>
              <a:cs typeface="+mn-ea"/>
              <a:sym typeface="+mn-lt"/>
            </a:endParaRPr>
          </a:p>
          <a:p>
            <a:pPr algn="ctr">
              <a:lnSpc>
                <a:spcPct val="120000"/>
              </a:lnSpc>
              <a:defRPr/>
            </a:pPr>
            <a:r>
              <a:rPr lang="en-US" altLang="zh-CN" sz="2800" dirty="0">
                <a:solidFill>
                  <a:schemeClr val="tx1"/>
                </a:solidFill>
                <a:cs typeface="+mn-ea"/>
                <a:sym typeface="+mn-lt"/>
              </a:rPr>
              <a:t>None</a:t>
            </a:r>
            <a:endParaRPr lang="zh-CN" altLang="en-US" sz="28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D07822F-205D-4362-B572-EE3581249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9164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常量的举例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7408" y="1825624"/>
            <a:ext cx="10586392" cy="503237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dirty="0"/>
              <a:t>&gt;&gt;&gt; 3</a:t>
            </a:r>
          </a:p>
          <a:p>
            <a:pPr marL="0" indent="0">
              <a:buNone/>
            </a:pPr>
            <a:r>
              <a:rPr lang="en-US" altLang="zh-CN" dirty="0"/>
              <a:t>3</a:t>
            </a:r>
          </a:p>
          <a:p>
            <a:pPr marL="0" indent="0">
              <a:buNone/>
            </a:pPr>
            <a:r>
              <a:rPr lang="en-US" altLang="zh-CN" dirty="0"/>
              <a:t>&gt;&gt;&gt; 3+5</a:t>
            </a:r>
          </a:p>
          <a:p>
            <a:pPr marL="0" indent="0">
              <a:buNone/>
            </a:pPr>
            <a:r>
              <a:rPr lang="en-US" altLang="zh-CN" dirty="0"/>
              <a:t>8</a:t>
            </a:r>
          </a:p>
          <a:p>
            <a:pPr marL="0" indent="0">
              <a:buNone/>
            </a:pPr>
            <a:r>
              <a:rPr lang="en-US" altLang="zh-CN" dirty="0"/>
              <a:t>&gt;&gt;&gt;1.23</a:t>
            </a:r>
          </a:p>
          <a:p>
            <a:pPr marL="0" indent="0">
              <a:buNone/>
            </a:pPr>
            <a:r>
              <a:rPr lang="en-US" altLang="zh-CN" dirty="0"/>
              <a:t>1.23</a:t>
            </a:r>
          </a:p>
          <a:p>
            <a:pPr marL="0" indent="0">
              <a:buNone/>
            </a:pPr>
            <a:r>
              <a:rPr lang="en-US" altLang="zh-CN" dirty="0"/>
              <a:t>&gt;&gt;&gt; 'a'</a:t>
            </a:r>
          </a:p>
          <a:p>
            <a:pPr marL="0" indent="0">
              <a:buNone/>
            </a:pPr>
            <a:r>
              <a:rPr lang="en-US" altLang="zh-CN" dirty="0"/>
              <a:t>'a'</a:t>
            </a:r>
          </a:p>
          <a:p>
            <a:pPr marL="0" indent="0">
              <a:buNone/>
            </a:pPr>
            <a:r>
              <a:rPr lang="en-US" altLang="zh-CN" dirty="0"/>
              <a:t>&gt;&gt;&gt; a</a:t>
            </a:r>
          </a:p>
          <a:p>
            <a:pPr marL="0" indent="0">
              <a:buNone/>
            </a:pPr>
            <a:r>
              <a:rPr lang="en-US" altLang="zh-CN" dirty="0"/>
              <a:t>Traceback (most recent call last):</a:t>
            </a:r>
          </a:p>
          <a:p>
            <a:pPr marL="0" indent="0">
              <a:buNone/>
            </a:pPr>
            <a:r>
              <a:rPr lang="en-US" altLang="zh-CN" dirty="0"/>
              <a:t>  File "&lt;pyshell#8&gt;", line 1, in &lt;module&gt;</a:t>
            </a:r>
          </a:p>
          <a:p>
            <a:pPr marL="0" indent="0">
              <a:buNone/>
            </a:pPr>
            <a:r>
              <a:rPr lang="en-US" altLang="zh-CN" dirty="0"/>
              <a:t>    a</a:t>
            </a:r>
          </a:p>
          <a:p>
            <a:pPr marL="0" indent="0">
              <a:buNone/>
            </a:pPr>
            <a:r>
              <a:rPr lang="en-US" altLang="zh-CN" dirty="0" err="1"/>
              <a:t>NameError</a:t>
            </a:r>
            <a:r>
              <a:rPr lang="en-US" altLang="zh-CN" dirty="0"/>
              <a:t>: name 'a' is not defined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090C33-5192-4979-96B8-455AC5AC1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809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2655F-FAEC-47A6-B4DD-6BA31DF44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常量</a:t>
            </a:r>
            <a:r>
              <a:rPr lang="en-US" altLang="zh-CN" dirty="0"/>
              <a:t>None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F553AD-3939-4E06-8238-5249EB779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None</a:t>
            </a:r>
            <a:r>
              <a:rPr lang="zh-CN" altLang="en-US" dirty="0"/>
              <a:t>是一个特殊的常量，表示什么都没有。</a:t>
            </a:r>
            <a:endParaRPr lang="en-US" altLang="zh-CN" dirty="0"/>
          </a:p>
          <a:p>
            <a:r>
              <a:rPr lang="en-US" altLang="zh-CN" dirty="0"/>
              <a:t>None</a:t>
            </a:r>
            <a:r>
              <a:rPr lang="zh-CN" altLang="en-US" dirty="0"/>
              <a:t>不等于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’’(</a:t>
            </a:r>
            <a:r>
              <a:rPr lang="zh-CN" altLang="en-US" dirty="0"/>
              <a:t>空字符串），</a:t>
            </a:r>
            <a:r>
              <a:rPr lang="en-US" altLang="zh-CN" dirty="0"/>
              <a:t>{}(</a:t>
            </a:r>
            <a:r>
              <a:rPr lang="zh-CN" altLang="en-US" dirty="0"/>
              <a:t>空集合</a:t>
            </a:r>
            <a:r>
              <a:rPr lang="en-US" altLang="zh-CN" dirty="0"/>
              <a:t>)</a:t>
            </a:r>
            <a:r>
              <a:rPr lang="zh-CN" altLang="en-US" dirty="0"/>
              <a:t>或</a:t>
            </a:r>
            <a:r>
              <a:rPr lang="en-US" altLang="zh-CN" dirty="0"/>
              <a:t>False</a:t>
            </a:r>
          </a:p>
          <a:p>
            <a:r>
              <a:rPr lang="en-US" altLang="zh-CN" dirty="0"/>
              <a:t>None</a:t>
            </a:r>
            <a:r>
              <a:rPr lang="zh-CN" altLang="en-US" dirty="0"/>
              <a:t>与任何数据比较是否相同，结果都是</a:t>
            </a:r>
            <a:r>
              <a:rPr lang="en-US" altLang="zh-CN" dirty="0"/>
              <a:t>False</a:t>
            </a:r>
          </a:p>
          <a:p>
            <a:r>
              <a:rPr lang="zh-CN" altLang="en-US" dirty="0"/>
              <a:t>他是一种特殊的数据类型</a:t>
            </a:r>
            <a:r>
              <a:rPr lang="en-US" altLang="zh-CN" dirty="0"/>
              <a:t>——None</a:t>
            </a:r>
            <a:r>
              <a:rPr lang="zh-CN" altLang="en-US" dirty="0"/>
              <a:t>类型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254ADB-C451-43AC-B4D0-58F08B363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282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470025" y="2292350"/>
            <a:ext cx="926655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2.2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数据类型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0E52271-D7C1-4D14-89C4-A2C0AEC10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中数据的类型</a:t>
            </a:r>
          </a:p>
        </p:txBody>
      </p:sp>
      <p:sp>
        <p:nvSpPr>
          <p:cNvPr id="4" name="矩形 3"/>
          <p:cNvSpPr/>
          <p:nvPr/>
        </p:nvSpPr>
        <p:spPr>
          <a:xfrm>
            <a:off x="1991545" y="2314488"/>
            <a:ext cx="3600000" cy="3580223"/>
          </a:xfrm>
          <a:prstGeom prst="rect">
            <a:avLst/>
          </a:prstGeom>
          <a:noFill/>
          <a:ln w="28575">
            <a:solidFill>
              <a:srgbClr val="E8E8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7760" rIns="180000" bIns="37760"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数值（</a:t>
            </a:r>
            <a:r>
              <a:rPr lang="en-US" altLang="zh-CN" sz="2400" dirty="0">
                <a:solidFill>
                  <a:schemeClr val="tx1"/>
                </a:solidFill>
              </a:rPr>
              <a:t>numbers</a:t>
            </a:r>
            <a:r>
              <a:rPr lang="zh-CN" altLang="en-US" sz="2400" dirty="0">
                <a:solidFill>
                  <a:schemeClr val="tx1"/>
                </a:solidFill>
              </a:rPr>
              <a:t>）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字符串（</a:t>
            </a:r>
            <a:r>
              <a:rPr lang="en-US" altLang="zh-CN" sz="2400" dirty="0">
                <a:solidFill>
                  <a:schemeClr val="tx1"/>
                </a:solidFill>
              </a:rPr>
              <a:t>string</a:t>
            </a:r>
            <a:r>
              <a:rPr lang="zh-CN" altLang="en-US" sz="2400" dirty="0">
                <a:solidFill>
                  <a:schemeClr val="tx1"/>
                </a:solidFill>
              </a:rPr>
              <a:t>）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布尔类型（</a:t>
            </a:r>
            <a:r>
              <a:rPr lang="en-US" altLang="zh-CN" sz="2400" dirty="0">
                <a:solidFill>
                  <a:schemeClr val="tx1"/>
                </a:solidFill>
              </a:rPr>
              <a:t>bool</a:t>
            </a:r>
            <a:r>
              <a:rPr lang="zh-CN" altLang="en-US" sz="2400" dirty="0">
                <a:solidFill>
                  <a:schemeClr val="tx1"/>
                </a:solidFill>
              </a:rPr>
              <a:t>）</a:t>
            </a:r>
            <a:endParaRPr lang="en-US" altLang="zh-CN" sz="24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" name="AutoShape 12"/>
          <p:cNvSpPr>
            <a:spLocks noChangeArrowheads="1"/>
          </p:cNvSpPr>
          <p:nvPr/>
        </p:nvSpPr>
        <p:spPr bwMode="auto">
          <a:xfrm>
            <a:off x="1991545" y="1988840"/>
            <a:ext cx="3600000" cy="651295"/>
          </a:xfrm>
          <a:prstGeom prst="homePlate">
            <a:avLst>
              <a:gd name="adj" fmla="val 63872"/>
            </a:avLst>
          </a:prstGeom>
          <a:solidFill>
            <a:schemeClr val="accent4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lIns="75520" tIns="37760" rIns="75520" bIns="37760" anchor="ctr"/>
          <a:lstStyle/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基本数据类型</a:t>
            </a:r>
          </a:p>
        </p:txBody>
      </p:sp>
      <p:sp>
        <p:nvSpPr>
          <p:cNvPr id="6" name="矩形 5"/>
          <p:cNvSpPr/>
          <p:nvPr/>
        </p:nvSpPr>
        <p:spPr>
          <a:xfrm>
            <a:off x="6168008" y="2314488"/>
            <a:ext cx="3600000" cy="3580223"/>
          </a:xfrm>
          <a:prstGeom prst="rect">
            <a:avLst/>
          </a:prstGeom>
          <a:noFill/>
          <a:ln w="28575">
            <a:solidFill>
              <a:srgbClr val="E8E8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7760" rIns="180000" bIns="37760"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列表（</a:t>
            </a:r>
            <a:r>
              <a:rPr lang="en-US" altLang="zh-CN" sz="2400" dirty="0">
                <a:solidFill>
                  <a:schemeClr val="tx1"/>
                </a:solidFill>
              </a:rPr>
              <a:t>list</a:t>
            </a:r>
            <a:r>
              <a:rPr lang="zh-CN" altLang="en-US" sz="2400" dirty="0">
                <a:solidFill>
                  <a:schemeClr val="tx1"/>
                </a:solidFill>
              </a:rPr>
              <a:t>）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元组（</a:t>
            </a:r>
            <a:r>
              <a:rPr lang="en-US" altLang="zh-CN" sz="2400" dirty="0">
                <a:solidFill>
                  <a:schemeClr val="tx1"/>
                </a:solidFill>
              </a:rPr>
              <a:t>tuple</a:t>
            </a:r>
            <a:r>
              <a:rPr lang="zh-CN" altLang="en-US" sz="2400" dirty="0">
                <a:solidFill>
                  <a:schemeClr val="tx1"/>
                </a:solidFill>
              </a:rPr>
              <a:t>）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字典（</a:t>
            </a:r>
            <a:r>
              <a:rPr lang="en-US" altLang="zh-CN" sz="2400" dirty="0">
                <a:solidFill>
                  <a:schemeClr val="tx1"/>
                </a:solidFill>
              </a:rPr>
              <a:t>dictionary</a:t>
            </a:r>
            <a:r>
              <a:rPr lang="zh-CN" altLang="en-US" sz="2400" dirty="0">
                <a:solidFill>
                  <a:schemeClr val="tx1"/>
                </a:solidFill>
              </a:rPr>
              <a:t>）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集合（</a:t>
            </a:r>
            <a:r>
              <a:rPr lang="en-US" altLang="zh-CN" sz="2400" dirty="0">
                <a:solidFill>
                  <a:schemeClr val="tx1"/>
                </a:solidFill>
              </a:rPr>
              <a:t>set</a:t>
            </a:r>
            <a:r>
              <a:rPr lang="zh-CN" altLang="en-US" sz="2400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7" name="AutoShape 12"/>
          <p:cNvSpPr>
            <a:spLocks noChangeArrowheads="1"/>
          </p:cNvSpPr>
          <p:nvPr/>
        </p:nvSpPr>
        <p:spPr bwMode="auto">
          <a:xfrm flipH="1">
            <a:off x="6168008" y="1988840"/>
            <a:ext cx="3600000" cy="651295"/>
          </a:xfrm>
          <a:prstGeom prst="homePlate">
            <a:avLst>
              <a:gd name="adj" fmla="val 63872"/>
            </a:avLst>
          </a:prstGeom>
          <a:solidFill>
            <a:schemeClr val="accent4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lIns="75520" tIns="37760" rIns="75520" bIns="37760" anchor="ctr"/>
          <a:lstStyle/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复合数据类型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BA10086-0860-40D3-B225-D2F0C0389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337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2.2.1 </a:t>
            </a:r>
            <a:r>
              <a:rPr lang="zh-CN" altLang="en-US" dirty="0"/>
              <a:t>数值类型</a:t>
            </a:r>
          </a:p>
        </p:txBody>
      </p:sp>
      <p:sp>
        <p:nvSpPr>
          <p:cNvPr id="5" name="矩形 4"/>
          <p:cNvSpPr/>
          <p:nvPr/>
        </p:nvSpPr>
        <p:spPr>
          <a:xfrm>
            <a:off x="2681711" y="1963123"/>
            <a:ext cx="4248472" cy="1189025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520" tIns="216000" rIns="75520" bIns="3776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可正可负，没有小数点和小数部分，也没有分数</a:t>
            </a:r>
          </a:p>
        </p:txBody>
      </p:sp>
      <p:sp>
        <p:nvSpPr>
          <p:cNvPr id="6" name="矩形 5"/>
          <p:cNvSpPr/>
          <p:nvPr/>
        </p:nvSpPr>
        <p:spPr>
          <a:xfrm>
            <a:off x="3369592" y="1786945"/>
            <a:ext cx="3129895" cy="4680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520" tIns="37760" rIns="75520" bIns="37760" rtlCol="0" anchor="ctr"/>
          <a:lstStyle/>
          <a:p>
            <a:pPr algn="ctr"/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整数</a:t>
            </a:r>
          </a:p>
        </p:txBody>
      </p:sp>
      <p:sp>
        <p:nvSpPr>
          <p:cNvPr id="7" name="六边形 6"/>
          <p:cNvSpPr/>
          <p:nvPr/>
        </p:nvSpPr>
        <p:spPr>
          <a:xfrm>
            <a:off x="226531" y="3152147"/>
            <a:ext cx="2111239" cy="1778805"/>
          </a:xfrm>
          <a:prstGeom prst="hexagon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7760" rIns="0" bIns="37760" rtlCol="0" anchor="ctr"/>
          <a:lstStyle/>
          <a:p>
            <a:pPr algn="ctr"/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数值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numbers</a:t>
            </a:r>
          </a:p>
        </p:txBody>
      </p:sp>
      <p:cxnSp>
        <p:nvCxnSpPr>
          <p:cNvPr id="8" name="直接箭头连接符 7"/>
          <p:cNvCxnSpPr>
            <a:stCxn id="7" idx="5"/>
            <a:endCxn id="5" idx="1"/>
          </p:cNvCxnSpPr>
          <p:nvPr/>
        </p:nvCxnSpPr>
        <p:spPr>
          <a:xfrm flipV="1">
            <a:off x="1893069" y="2557636"/>
            <a:ext cx="788642" cy="594511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7" idx="0"/>
            <a:endCxn id="11" idx="1"/>
          </p:cNvCxnSpPr>
          <p:nvPr/>
        </p:nvCxnSpPr>
        <p:spPr>
          <a:xfrm>
            <a:off x="2337770" y="4041550"/>
            <a:ext cx="343941" cy="1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7" idx="1"/>
            <a:endCxn id="13" idx="1"/>
          </p:cNvCxnSpPr>
          <p:nvPr/>
        </p:nvCxnSpPr>
        <p:spPr>
          <a:xfrm>
            <a:off x="1893069" y="4930952"/>
            <a:ext cx="788642" cy="838791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2681711" y="3447038"/>
            <a:ext cx="4248472" cy="1189025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520" tIns="216000" rIns="75520" bIns="3776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带小数的数值，可以是正数或负数</a:t>
            </a:r>
          </a:p>
        </p:txBody>
      </p:sp>
      <p:sp>
        <p:nvSpPr>
          <p:cNvPr id="12" name="矩形 11"/>
          <p:cNvSpPr/>
          <p:nvPr/>
        </p:nvSpPr>
        <p:spPr>
          <a:xfrm>
            <a:off x="3369592" y="3270860"/>
            <a:ext cx="3129895" cy="4680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520" tIns="37760" rIns="75520" bIns="37760" rtlCol="0" anchor="ctr"/>
          <a:lstStyle/>
          <a:p>
            <a:pPr algn="ctr"/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浮点数</a:t>
            </a:r>
          </a:p>
        </p:txBody>
      </p:sp>
      <p:sp>
        <p:nvSpPr>
          <p:cNvPr id="13" name="矩形 12"/>
          <p:cNvSpPr/>
          <p:nvPr/>
        </p:nvSpPr>
        <p:spPr>
          <a:xfrm>
            <a:off x="2681711" y="4930953"/>
            <a:ext cx="4248472" cy="1677579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520" tIns="216000" rIns="75520" bIns="3776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形如</a:t>
            </a:r>
            <a:r>
              <a:rPr lang="en-US" altLang="zh-CN" sz="2400" dirty="0">
                <a:solidFill>
                  <a:schemeClr val="tx1"/>
                </a:solidFill>
              </a:rPr>
              <a:t>z=</a:t>
            </a:r>
            <a:r>
              <a:rPr lang="en-US" altLang="zh-CN" sz="2400" dirty="0" err="1">
                <a:solidFill>
                  <a:schemeClr val="tx1"/>
                </a:solidFill>
              </a:rPr>
              <a:t>a+bj</a:t>
            </a:r>
            <a:r>
              <a:rPr lang="zh-CN" altLang="en-US" sz="2400" dirty="0">
                <a:solidFill>
                  <a:schemeClr val="tx1"/>
                </a:solidFill>
              </a:rPr>
              <a:t>的数，其中</a:t>
            </a:r>
            <a:r>
              <a:rPr lang="en-US" altLang="zh-CN" sz="2400" dirty="0">
                <a:solidFill>
                  <a:schemeClr val="tx1"/>
                </a:solidFill>
              </a:rPr>
              <a:t>a</a:t>
            </a:r>
            <a:r>
              <a:rPr lang="zh-CN" altLang="en-US" sz="2400" dirty="0">
                <a:solidFill>
                  <a:schemeClr val="tx1"/>
                </a:solidFill>
              </a:rPr>
              <a:t>称为实部，</a:t>
            </a:r>
            <a:r>
              <a:rPr lang="en-US" altLang="zh-CN" sz="2400" dirty="0">
                <a:solidFill>
                  <a:schemeClr val="tx1"/>
                </a:solidFill>
              </a:rPr>
              <a:t>b</a:t>
            </a:r>
            <a:r>
              <a:rPr lang="zh-CN" altLang="en-US" sz="2400" dirty="0">
                <a:solidFill>
                  <a:schemeClr val="tx1"/>
                </a:solidFill>
              </a:rPr>
              <a:t>称为虚部，</a:t>
            </a:r>
            <a:r>
              <a:rPr lang="en-US" altLang="zh-CN" sz="2400" dirty="0">
                <a:solidFill>
                  <a:schemeClr val="tx1"/>
                </a:solidFill>
              </a:rPr>
              <a:t>j</a:t>
            </a:r>
            <a:r>
              <a:rPr lang="zh-CN" altLang="en-US" sz="2400" dirty="0">
                <a:solidFill>
                  <a:schemeClr val="tx1"/>
                </a:solidFill>
              </a:rPr>
              <a:t>是虚数单位</a:t>
            </a:r>
          </a:p>
        </p:txBody>
      </p:sp>
      <p:sp>
        <p:nvSpPr>
          <p:cNvPr id="14" name="矩形 13"/>
          <p:cNvSpPr/>
          <p:nvPr/>
        </p:nvSpPr>
        <p:spPr>
          <a:xfrm>
            <a:off x="3369592" y="4754775"/>
            <a:ext cx="3129895" cy="4680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520" tIns="37760" rIns="75520" bIns="37760" rtlCol="0" anchor="ctr"/>
          <a:lstStyle/>
          <a:p>
            <a:pPr algn="ctr"/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复数</a:t>
            </a:r>
          </a:p>
        </p:txBody>
      </p:sp>
      <p:sp>
        <p:nvSpPr>
          <p:cNvPr id="19" name="矩形 18"/>
          <p:cNvSpPr/>
          <p:nvPr/>
        </p:nvSpPr>
        <p:spPr>
          <a:xfrm>
            <a:off x="7361520" y="235344"/>
            <a:ext cx="4464496" cy="3103202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520" tIns="72000" rIns="75520" bIns="7200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tx1"/>
                </a:solidFill>
              </a:rPr>
              <a:t>十进制整数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lvl="1"/>
            <a:r>
              <a:rPr lang="en-US" altLang="zh-CN" sz="2200" dirty="0">
                <a:solidFill>
                  <a:schemeClr val="tx1"/>
                </a:solidFill>
              </a:rPr>
              <a:t>19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-4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1234567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tx1"/>
                </a:solidFill>
              </a:rPr>
              <a:t>十六进制整数</a:t>
            </a:r>
            <a:r>
              <a:rPr lang="en-US" altLang="zh-CN" sz="2200" dirty="0">
                <a:solidFill>
                  <a:schemeClr val="tx1"/>
                </a:solidFill>
              </a:rPr>
              <a:t>(</a:t>
            </a:r>
            <a:r>
              <a:rPr lang="zh-CN" altLang="en-US" sz="2200" dirty="0">
                <a:solidFill>
                  <a:schemeClr val="tx1"/>
                </a:solidFill>
              </a:rPr>
              <a:t>以</a:t>
            </a:r>
            <a:r>
              <a:rPr lang="en-US" altLang="zh-CN" sz="2200" dirty="0">
                <a:solidFill>
                  <a:schemeClr val="tx1"/>
                </a:solidFill>
              </a:rPr>
              <a:t>0X</a:t>
            </a:r>
            <a:r>
              <a:rPr lang="zh-CN" altLang="en-US" sz="2200" dirty="0">
                <a:solidFill>
                  <a:schemeClr val="tx1"/>
                </a:solidFill>
              </a:rPr>
              <a:t>或</a:t>
            </a:r>
            <a:r>
              <a:rPr lang="en-US" altLang="zh-CN" sz="2200" dirty="0">
                <a:solidFill>
                  <a:schemeClr val="tx1"/>
                </a:solidFill>
              </a:rPr>
              <a:t>0x</a:t>
            </a:r>
            <a:r>
              <a:rPr lang="zh-CN" altLang="en-US" sz="2200" dirty="0">
                <a:solidFill>
                  <a:schemeClr val="tx1"/>
                </a:solidFill>
              </a:rPr>
              <a:t>开头</a:t>
            </a:r>
            <a:r>
              <a:rPr lang="en-US" altLang="zh-CN" sz="2200" dirty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en-US" altLang="zh-CN" sz="2200" dirty="0">
                <a:solidFill>
                  <a:schemeClr val="tx1"/>
                </a:solidFill>
              </a:rPr>
              <a:t>0X23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0xFF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-0x9CB2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tx1"/>
                </a:solidFill>
              </a:rPr>
              <a:t>八进制整数</a:t>
            </a:r>
            <a:r>
              <a:rPr lang="en-US" altLang="zh-CN" sz="2200" dirty="0">
                <a:solidFill>
                  <a:schemeClr val="tx1"/>
                </a:solidFill>
              </a:rPr>
              <a:t>(</a:t>
            </a:r>
            <a:r>
              <a:rPr lang="zh-CN" altLang="en-US" sz="2200" dirty="0">
                <a:solidFill>
                  <a:schemeClr val="tx1"/>
                </a:solidFill>
              </a:rPr>
              <a:t>以</a:t>
            </a:r>
            <a:r>
              <a:rPr lang="en-US" altLang="zh-CN" sz="2200" dirty="0">
                <a:solidFill>
                  <a:schemeClr val="tx1"/>
                </a:solidFill>
              </a:rPr>
              <a:t>0O</a:t>
            </a:r>
            <a:r>
              <a:rPr lang="zh-CN" altLang="en-US" sz="2200" dirty="0">
                <a:solidFill>
                  <a:schemeClr val="tx1"/>
                </a:solidFill>
              </a:rPr>
              <a:t>或</a:t>
            </a:r>
            <a:r>
              <a:rPr lang="en-US" altLang="zh-CN" sz="2200" dirty="0">
                <a:solidFill>
                  <a:schemeClr val="tx1"/>
                </a:solidFill>
              </a:rPr>
              <a:t>0o</a:t>
            </a:r>
            <a:r>
              <a:rPr lang="zh-CN" altLang="en-US" sz="2200" dirty="0">
                <a:solidFill>
                  <a:schemeClr val="tx1"/>
                </a:solidFill>
              </a:rPr>
              <a:t>开头</a:t>
            </a:r>
            <a:r>
              <a:rPr lang="en-US" altLang="zh-CN" sz="2200" dirty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en-US" altLang="zh-CN" sz="2200" dirty="0">
                <a:solidFill>
                  <a:schemeClr val="tx1"/>
                </a:solidFill>
              </a:rPr>
              <a:t>0o7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-0O1735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0o735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tx1"/>
                </a:solidFill>
              </a:rPr>
              <a:t>二进制整数</a:t>
            </a:r>
            <a:r>
              <a:rPr lang="en-US" altLang="zh-CN" sz="2200" dirty="0">
                <a:solidFill>
                  <a:schemeClr val="tx1"/>
                </a:solidFill>
              </a:rPr>
              <a:t>(</a:t>
            </a:r>
            <a:r>
              <a:rPr lang="zh-CN" altLang="en-US" sz="2200" dirty="0">
                <a:solidFill>
                  <a:schemeClr val="tx1"/>
                </a:solidFill>
              </a:rPr>
              <a:t>以</a:t>
            </a:r>
            <a:r>
              <a:rPr lang="en-US" altLang="zh-CN" sz="2200" dirty="0">
                <a:solidFill>
                  <a:schemeClr val="tx1"/>
                </a:solidFill>
              </a:rPr>
              <a:t>0B</a:t>
            </a:r>
            <a:r>
              <a:rPr lang="zh-CN" altLang="en-US" sz="2200" dirty="0">
                <a:solidFill>
                  <a:schemeClr val="tx1"/>
                </a:solidFill>
              </a:rPr>
              <a:t>或</a:t>
            </a:r>
            <a:r>
              <a:rPr lang="en-US" altLang="zh-CN" sz="2200" dirty="0">
                <a:solidFill>
                  <a:schemeClr val="tx1"/>
                </a:solidFill>
              </a:rPr>
              <a:t>0b</a:t>
            </a:r>
            <a:r>
              <a:rPr lang="zh-CN" altLang="en-US" sz="2200" dirty="0">
                <a:solidFill>
                  <a:schemeClr val="tx1"/>
                </a:solidFill>
              </a:rPr>
              <a:t>开头</a:t>
            </a:r>
            <a:r>
              <a:rPr lang="en-US" altLang="zh-CN" sz="2200" dirty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en-US" altLang="zh-CN" sz="2200" dirty="0">
                <a:solidFill>
                  <a:schemeClr val="tx1"/>
                </a:solidFill>
              </a:rPr>
              <a:t>0B101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-0B101010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cxnSp>
        <p:nvCxnSpPr>
          <p:cNvPr id="24" name="直接箭头连接符 23"/>
          <p:cNvCxnSpPr>
            <a:stCxn id="5" idx="3"/>
            <a:endCxn id="19" idx="1"/>
          </p:cNvCxnSpPr>
          <p:nvPr/>
        </p:nvCxnSpPr>
        <p:spPr>
          <a:xfrm flipV="1">
            <a:off x="6930183" y="1786945"/>
            <a:ext cx="431337" cy="770691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7361520" y="3544417"/>
            <a:ext cx="4464496" cy="1998186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520" tIns="72000" rIns="75520" bIns="7200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tx1"/>
                </a:solidFill>
              </a:rPr>
              <a:t>常规表示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lvl="1"/>
            <a:r>
              <a:rPr lang="en-US" altLang="zh-CN" sz="2200" dirty="0">
                <a:solidFill>
                  <a:schemeClr val="tx1"/>
                </a:solidFill>
              </a:rPr>
              <a:t>9.03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-1073.201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tx1"/>
                </a:solidFill>
              </a:rPr>
              <a:t>科学记数法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lvl="1"/>
            <a:r>
              <a:rPr lang="en-US" altLang="zh-CN" sz="2200" dirty="0">
                <a:solidFill>
                  <a:schemeClr val="tx1"/>
                </a:solidFill>
              </a:rPr>
              <a:t>1073.201    →    1.073201E3</a:t>
            </a:r>
          </a:p>
          <a:p>
            <a:pPr lvl="1"/>
            <a:r>
              <a:rPr lang="en-US" altLang="zh-CN" sz="2200" dirty="0">
                <a:solidFill>
                  <a:schemeClr val="tx1"/>
                </a:solidFill>
              </a:rPr>
              <a:t>-2.53e-5    (E</a:t>
            </a:r>
            <a:r>
              <a:rPr lang="zh-CN" altLang="en-US" sz="2200" dirty="0">
                <a:solidFill>
                  <a:schemeClr val="tx1"/>
                </a:solidFill>
              </a:rPr>
              <a:t>或</a:t>
            </a:r>
            <a:r>
              <a:rPr lang="en-US" altLang="zh-CN" sz="2200" dirty="0">
                <a:solidFill>
                  <a:schemeClr val="tx1"/>
                </a:solidFill>
              </a:rPr>
              <a:t>e</a:t>
            </a:r>
            <a:r>
              <a:rPr lang="zh-CN" altLang="en-US" sz="2200" dirty="0">
                <a:solidFill>
                  <a:schemeClr val="tx1"/>
                </a:solidFill>
              </a:rPr>
              <a:t>表示</a:t>
            </a:r>
            <a:r>
              <a:rPr lang="en-US" altLang="zh-CN" sz="2200" dirty="0">
                <a:solidFill>
                  <a:schemeClr val="tx1"/>
                </a:solidFill>
              </a:rPr>
              <a:t>10</a:t>
            </a:r>
            <a:r>
              <a:rPr lang="zh-CN" altLang="en-US" sz="2200" dirty="0">
                <a:solidFill>
                  <a:schemeClr val="tx1"/>
                </a:solidFill>
              </a:rPr>
              <a:t>的幂</a:t>
            </a:r>
            <a:r>
              <a:rPr lang="en-US" altLang="zh-CN" sz="2200" dirty="0">
                <a:solidFill>
                  <a:schemeClr val="tx1"/>
                </a:solidFill>
              </a:rPr>
              <a:t>)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cxnSp>
        <p:nvCxnSpPr>
          <p:cNvPr id="49" name="直接箭头连接符 48"/>
          <p:cNvCxnSpPr>
            <a:stCxn id="11" idx="3"/>
            <a:endCxn id="30" idx="1"/>
          </p:cNvCxnSpPr>
          <p:nvPr/>
        </p:nvCxnSpPr>
        <p:spPr>
          <a:xfrm>
            <a:off x="6930183" y="4041551"/>
            <a:ext cx="431337" cy="501959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7361520" y="5782978"/>
            <a:ext cx="4464496" cy="825554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520" tIns="72000" rIns="75520" bIns="7200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tx1"/>
                </a:solidFill>
              </a:rPr>
              <a:t>虚数单位用</a:t>
            </a:r>
            <a:r>
              <a:rPr lang="en-US" altLang="zh-CN" sz="2200" dirty="0">
                <a:solidFill>
                  <a:schemeClr val="tx1"/>
                </a:solidFill>
              </a:rPr>
              <a:t>j</a:t>
            </a:r>
            <a:r>
              <a:rPr lang="zh-CN" altLang="en-US" sz="2200" dirty="0">
                <a:solidFill>
                  <a:schemeClr val="tx1"/>
                </a:solidFill>
              </a:rPr>
              <a:t>表示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lvl="1"/>
            <a:r>
              <a:rPr lang="en-US" altLang="zh-CN" sz="2200" dirty="0">
                <a:solidFill>
                  <a:schemeClr val="tx1"/>
                </a:solidFill>
              </a:rPr>
              <a:t>5+6j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-3.7-9.45j</a:t>
            </a:r>
          </a:p>
        </p:txBody>
      </p:sp>
      <p:cxnSp>
        <p:nvCxnSpPr>
          <p:cNvPr id="56" name="直接箭头连接符 55"/>
          <p:cNvCxnSpPr>
            <a:stCxn id="13" idx="3"/>
          </p:cNvCxnSpPr>
          <p:nvPr/>
        </p:nvCxnSpPr>
        <p:spPr>
          <a:xfrm>
            <a:off x="6930183" y="5769743"/>
            <a:ext cx="417101" cy="550846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C072AFD-E03F-4FE4-96BF-6C999AB3A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410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1" grpId="0" animBg="1"/>
      <p:bldP spid="12" grpId="0" animBg="1"/>
      <p:bldP spid="13" grpId="0" animBg="1"/>
      <p:bldP spid="14" grpId="0" animBg="1"/>
      <p:bldP spid="19" grpId="0" animBg="1"/>
      <p:bldP spid="30" grpId="0" animBg="1"/>
      <p:bldP spid="5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A0B62B-478E-4D36-AF14-264D8FDAB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B26E5B-72AB-425D-A4CD-969DF6EDF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说明：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Python</a:t>
            </a:r>
            <a:r>
              <a:rPr lang="zh-CN" altLang="en-US" dirty="0"/>
              <a:t>语言对整数和实数的大小没有限制，只要内存足够大；</a:t>
            </a:r>
            <a:endParaRPr lang="en-US" altLang="zh-CN" dirty="0"/>
          </a:p>
          <a:p>
            <a:pPr marL="514350" indent="-514350">
              <a:buAutoNum type="arabicPeriod"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17F71A-1DD8-4C73-893A-733C12557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1882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A42066-35F0-4D35-8E64-6878BDC7D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例：数值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DA79CC-67E2-4316-8041-7F6B99679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1574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 altLang="zh-CN" dirty="0"/>
              <a:t>&gt;&gt;&gt; 1.2345e3</a:t>
            </a:r>
          </a:p>
          <a:p>
            <a:pPr marL="0" indent="0">
              <a:buNone/>
            </a:pPr>
            <a:r>
              <a:rPr lang="pt-BR" altLang="zh-CN" dirty="0"/>
              <a:t>1234.5</a:t>
            </a:r>
          </a:p>
          <a:p>
            <a:pPr marL="0" indent="0">
              <a:buNone/>
            </a:pPr>
            <a:r>
              <a:rPr lang="pt-BR" altLang="zh-CN" dirty="0"/>
              <a:t>&gt;&gt;&gt; -9.87e-3</a:t>
            </a:r>
          </a:p>
          <a:p>
            <a:pPr marL="0" indent="0">
              <a:buNone/>
            </a:pPr>
            <a:r>
              <a:rPr lang="pt-BR" altLang="zh-CN" dirty="0"/>
              <a:t>-0.00987</a:t>
            </a:r>
          </a:p>
          <a:p>
            <a:pPr marL="0" indent="0">
              <a:buNone/>
            </a:pPr>
            <a:r>
              <a:rPr lang="pt-BR" altLang="zh-CN" dirty="0"/>
              <a:t>&gt;&gt;&gt; 0xFF	</a:t>
            </a:r>
            <a:r>
              <a:rPr lang="en-US" altLang="zh-CN" dirty="0"/>
              <a:t>#16</a:t>
            </a:r>
            <a:r>
              <a:rPr lang="zh-CN" altLang="en-US" dirty="0"/>
              <a:t>进制</a:t>
            </a:r>
            <a:endParaRPr lang="pt-BR" altLang="zh-CN" dirty="0"/>
          </a:p>
          <a:p>
            <a:pPr marL="0" indent="0">
              <a:buNone/>
            </a:pPr>
            <a:r>
              <a:rPr lang="pt-BR" altLang="zh-CN" dirty="0"/>
              <a:t>255</a:t>
            </a:r>
          </a:p>
          <a:p>
            <a:pPr marL="0" indent="0">
              <a:buNone/>
            </a:pPr>
            <a:r>
              <a:rPr lang="pt-BR" altLang="zh-CN" dirty="0"/>
              <a:t>&gt;&gt;&gt; 0o100	</a:t>
            </a:r>
            <a:r>
              <a:rPr lang="en-US" altLang="zh-CN" dirty="0"/>
              <a:t>#8</a:t>
            </a:r>
            <a:r>
              <a:rPr lang="zh-CN" altLang="en-US" dirty="0"/>
              <a:t>进制，注意：零后面是英文</a:t>
            </a:r>
            <a:r>
              <a:rPr lang="en-US" altLang="zh-CN" dirty="0"/>
              <a:t>o</a:t>
            </a:r>
            <a:endParaRPr lang="pt-BR" altLang="zh-CN" dirty="0"/>
          </a:p>
          <a:p>
            <a:pPr marL="0" indent="0">
              <a:buNone/>
            </a:pPr>
            <a:r>
              <a:rPr lang="pt-BR" altLang="zh-CN" dirty="0"/>
              <a:t>64</a:t>
            </a:r>
          </a:p>
          <a:p>
            <a:pPr marL="0" indent="0">
              <a:buNone/>
            </a:pPr>
            <a:r>
              <a:rPr lang="pt-BR" altLang="zh-CN" dirty="0"/>
              <a:t>&gt;&gt;&gt; 0b100	#2</a:t>
            </a:r>
            <a:r>
              <a:rPr lang="zh-CN" altLang="en-US" dirty="0"/>
              <a:t>进制</a:t>
            </a:r>
            <a:endParaRPr lang="pt-BR" altLang="zh-CN" dirty="0"/>
          </a:p>
          <a:p>
            <a:pPr marL="0" indent="0">
              <a:buNone/>
            </a:pPr>
            <a:r>
              <a:rPr lang="pt-BR" altLang="zh-CN" dirty="0"/>
              <a:t>4</a:t>
            </a:r>
          </a:p>
          <a:p>
            <a:pPr marL="0" indent="0">
              <a:buNone/>
            </a:pPr>
            <a:r>
              <a:rPr lang="pt-BR" altLang="zh-CN" dirty="0"/>
              <a:t>&gt;&gt;&gt; -3+5j	#</a:t>
            </a:r>
            <a:r>
              <a:rPr lang="zh-CN" altLang="en-US" dirty="0"/>
              <a:t>复数</a:t>
            </a:r>
            <a:endParaRPr lang="pt-BR" altLang="zh-CN" dirty="0"/>
          </a:p>
          <a:p>
            <a:pPr marL="0" indent="0">
              <a:buNone/>
            </a:pPr>
            <a:r>
              <a:rPr lang="pt-BR" altLang="zh-CN" dirty="0"/>
              <a:t>(-3+5j)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141F45-A91C-4093-B5D2-27E061E12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16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2.2.2 </a:t>
            </a:r>
            <a:r>
              <a:rPr lang="zh-CN" altLang="en-US" dirty="0"/>
              <a:t>字符串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一个字符串是一组字符的有序序列</a:t>
            </a:r>
            <a:endParaRPr lang="en-US" altLang="zh-CN" dirty="0"/>
          </a:p>
          <a:p>
            <a:pPr lvl="1"/>
            <a:r>
              <a:rPr lang="zh-CN" altLang="en-US" dirty="0"/>
              <a:t>用单引号</a:t>
            </a:r>
            <a:r>
              <a:rPr lang="en-US" altLang="zh-CN" dirty="0"/>
              <a:t>’  </a:t>
            </a:r>
            <a:r>
              <a:rPr lang="zh-CN" altLang="en-US" dirty="0"/>
              <a:t>双引号</a:t>
            </a:r>
            <a:r>
              <a:rPr lang="en-US" altLang="zh-CN" dirty="0"/>
              <a:t>"</a:t>
            </a:r>
            <a:r>
              <a:rPr lang="zh-CN" altLang="en-US" dirty="0"/>
              <a:t>或三引号（</a:t>
            </a:r>
            <a:r>
              <a:rPr lang="en-US" altLang="zh-CN" dirty="0"/>
              <a:t>'''</a:t>
            </a:r>
            <a:r>
              <a:rPr lang="zh-CN" altLang="en-US" dirty="0"/>
              <a:t>或</a:t>
            </a:r>
            <a:r>
              <a:rPr lang="en-US" altLang="zh-CN" dirty="0"/>
              <a:t>"""</a:t>
            </a:r>
            <a:r>
              <a:rPr lang="zh-CN" altLang="en-US" dirty="0"/>
              <a:t>）括起来</a:t>
            </a:r>
            <a:endParaRPr lang="en-US" altLang="zh-CN" dirty="0"/>
          </a:p>
          <a:p>
            <a:pPr lvl="1"/>
            <a:r>
              <a:rPr lang="en-US" altLang="zh-CN" dirty="0"/>
              <a:t>【</a:t>
            </a:r>
            <a:r>
              <a:rPr lang="zh-CN" altLang="en-US" dirty="0"/>
              <a:t>定界符</a:t>
            </a:r>
            <a:r>
              <a:rPr lang="en-US" altLang="zh-CN" dirty="0"/>
              <a:t>】</a:t>
            </a:r>
            <a:endParaRPr lang="zh-CN" altLang="en-US" sz="2400" b="0" dirty="0">
              <a:solidFill>
                <a:schemeClr val="accent1">
                  <a:lumMod val="75000"/>
                </a:schemeClr>
              </a:solidFill>
              <a:cs typeface="+mn-ea"/>
            </a:endParaRPr>
          </a:p>
        </p:txBody>
      </p:sp>
      <p:sp>
        <p:nvSpPr>
          <p:cNvPr id="4" name="MH_SubTitle_1"/>
          <p:cNvSpPr/>
          <p:nvPr>
            <p:custDataLst>
              <p:tags r:id="rId1"/>
            </p:custDataLst>
          </p:nvPr>
        </p:nvSpPr>
        <p:spPr>
          <a:xfrm>
            <a:off x="1003531" y="4077072"/>
            <a:ext cx="2613418" cy="1406565"/>
          </a:xfrm>
          <a:custGeom>
            <a:avLst/>
            <a:gdLst>
              <a:gd name="connsiteX0" fmla="*/ 1154681 w 2309360"/>
              <a:gd name="connsiteY0" fmla="*/ 0 h 1666434"/>
              <a:gd name="connsiteX1" fmla="*/ 1530338 w 2309360"/>
              <a:gd name="connsiteY1" fmla="*/ 360555 h 1666434"/>
              <a:gd name="connsiteX2" fmla="*/ 2309360 w 2309360"/>
              <a:gd name="connsiteY2" fmla="*/ 360555 h 1666434"/>
              <a:gd name="connsiteX3" fmla="*/ 2309360 w 2309360"/>
              <a:gd name="connsiteY3" fmla="*/ 1666434 h 1666434"/>
              <a:gd name="connsiteX4" fmla="*/ 0 w 2309360"/>
              <a:gd name="connsiteY4" fmla="*/ 1666434 h 1666434"/>
              <a:gd name="connsiteX5" fmla="*/ 0 w 2309360"/>
              <a:gd name="connsiteY5" fmla="*/ 360555 h 1666434"/>
              <a:gd name="connsiteX6" fmla="*/ 779023 w 2309360"/>
              <a:gd name="connsiteY6" fmla="*/ 360555 h 1666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9360" h="1666434">
                <a:moveTo>
                  <a:pt x="1154681" y="0"/>
                </a:moveTo>
                <a:lnTo>
                  <a:pt x="1530338" y="360555"/>
                </a:lnTo>
                <a:lnTo>
                  <a:pt x="2309360" y="360555"/>
                </a:lnTo>
                <a:lnTo>
                  <a:pt x="2309360" y="1666434"/>
                </a:lnTo>
                <a:lnTo>
                  <a:pt x="0" y="1666434"/>
                </a:lnTo>
                <a:lnTo>
                  <a:pt x="0" y="360555"/>
                </a:lnTo>
                <a:lnTo>
                  <a:pt x="779023" y="360555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9000" rIns="0" bIns="0" anchor="ctr">
            <a:norm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altLang="zh-CN" sz="2400" dirty="0">
                <a:solidFill>
                  <a:schemeClr val="tx1"/>
                </a:solidFill>
                <a:cs typeface="+mn-ea"/>
                <a:sym typeface="+mn-lt"/>
              </a:rPr>
              <a:t>'a'</a:t>
            </a:r>
            <a:endParaRPr lang="zh-CN" altLang="en-US" sz="2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5" name="MH_SubTitle_2"/>
          <p:cNvSpPr/>
          <p:nvPr>
            <p:custDataLst>
              <p:tags r:id="rId2"/>
            </p:custDataLst>
          </p:nvPr>
        </p:nvSpPr>
        <p:spPr>
          <a:xfrm>
            <a:off x="3627801" y="4077072"/>
            <a:ext cx="2613419" cy="1406565"/>
          </a:xfrm>
          <a:custGeom>
            <a:avLst/>
            <a:gdLst>
              <a:gd name="connsiteX0" fmla="*/ 1154681 w 2309360"/>
              <a:gd name="connsiteY0" fmla="*/ 0 h 1666434"/>
              <a:gd name="connsiteX1" fmla="*/ 1530338 w 2309360"/>
              <a:gd name="connsiteY1" fmla="*/ 360555 h 1666434"/>
              <a:gd name="connsiteX2" fmla="*/ 2309360 w 2309360"/>
              <a:gd name="connsiteY2" fmla="*/ 360555 h 1666434"/>
              <a:gd name="connsiteX3" fmla="*/ 2309360 w 2309360"/>
              <a:gd name="connsiteY3" fmla="*/ 1666434 h 1666434"/>
              <a:gd name="connsiteX4" fmla="*/ 0 w 2309360"/>
              <a:gd name="connsiteY4" fmla="*/ 1666434 h 1666434"/>
              <a:gd name="connsiteX5" fmla="*/ 0 w 2309360"/>
              <a:gd name="connsiteY5" fmla="*/ 360555 h 1666434"/>
              <a:gd name="connsiteX6" fmla="*/ 779023 w 2309360"/>
              <a:gd name="connsiteY6" fmla="*/ 360555 h 1666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9360" h="1666434">
                <a:moveTo>
                  <a:pt x="1154681" y="0"/>
                </a:moveTo>
                <a:lnTo>
                  <a:pt x="1530338" y="360555"/>
                </a:lnTo>
                <a:lnTo>
                  <a:pt x="2309360" y="360555"/>
                </a:lnTo>
                <a:lnTo>
                  <a:pt x="2309360" y="1666434"/>
                </a:lnTo>
                <a:lnTo>
                  <a:pt x="0" y="1666434"/>
                </a:lnTo>
                <a:lnTo>
                  <a:pt x="0" y="360555"/>
                </a:lnTo>
                <a:lnTo>
                  <a:pt x="779023" y="360555"/>
                </a:lnTo>
                <a:close/>
              </a:path>
            </a:pathLst>
          </a:custGeom>
          <a:noFill/>
          <a:ln w="19050">
            <a:solidFill>
              <a:srgbClr val="C0C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9000" rIns="0" bIns="0" anchor="ctr">
            <a:norm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cs typeface="+mn-ea"/>
                <a:sym typeface="+mn-lt"/>
              </a:rPr>
              <a:t>"</a:t>
            </a:r>
            <a:r>
              <a:rPr lang="en-US" altLang="zh-CN" sz="2400" dirty="0">
                <a:solidFill>
                  <a:schemeClr val="tx1"/>
                </a:solidFill>
                <a:cs typeface="+mn-ea"/>
                <a:sym typeface="+mn-lt"/>
              </a:rPr>
              <a:t>my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cs typeface="+mn-ea"/>
                <a:sym typeface="+mn-lt"/>
              </a:rPr>
              <a:t>"</a:t>
            </a:r>
            <a:endParaRPr lang="zh-CN" altLang="en-US" sz="2400" dirty="0">
              <a:solidFill>
                <a:schemeClr val="accent2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MH_SubTitle_2"/>
          <p:cNvSpPr/>
          <p:nvPr>
            <p:custDataLst>
              <p:tags r:id="rId3"/>
            </p:custDataLst>
          </p:nvPr>
        </p:nvSpPr>
        <p:spPr>
          <a:xfrm>
            <a:off x="8876342" y="4077072"/>
            <a:ext cx="2613419" cy="1406565"/>
          </a:xfrm>
          <a:custGeom>
            <a:avLst/>
            <a:gdLst>
              <a:gd name="connsiteX0" fmla="*/ 1154681 w 2309360"/>
              <a:gd name="connsiteY0" fmla="*/ 0 h 1666434"/>
              <a:gd name="connsiteX1" fmla="*/ 1530338 w 2309360"/>
              <a:gd name="connsiteY1" fmla="*/ 360555 h 1666434"/>
              <a:gd name="connsiteX2" fmla="*/ 2309360 w 2309360"/>
              <a:gd name="connsiteY2" fmla="*/ 360555 h 1666434"/>
              <a:gd name="connsiteX3" fmla="*/ 2309360 w 2309360"/>
              <a:gd name="connsiteY3" fmla="*/ 1666434 h 1666434"/>
              <a:gd name="connsiteX4" fmla="*/ 0 w 2309360"/>
              <a:gd name="connsiteY4" fmla="*/ 1666434 h 1666434"/>
              <a:gd name="connsiteX5" fmla="*/ 0 w 2309360"/>
              <a:gd name="connsiteY5" fmla="*/ 360555 h 1666434"/>
              <a:gd name="connsiteX6" fmla="*/ 779023 w 2309360"/>
              <a:gd name="connsiteY6" fmla="*/ 360555 h 1666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9360" h="1666434">
                <a:moveTo>
                  <a:pt x="1154681" y="0"/>
                </a:moveTo>
                <a:lnTo>
                  <a:pt x="1530338" y="360555"/>
                </a:lnTo>
                <a:lnTo>
                  <a:pt x="2309360" y="360555"/>
                </a:lnTo>
                <a:lnTo>
                  <a:pt x="2309360" y="1666434"/>
                </a:lnTo>
                <a:lnTo>
                  <a:pt x="0" y="1666434"/>
                </a:lnTo>
                <a:lnTo>
                  <a:pt x="0" y="360555"/>
                </a:lnTo>
                <a:lnTo>
                  <a:pt x="779023" y="360555"/>
                </a:lnTo>
                <a:close/>
              </a:path>
            </a:pathLst>
          </a:custGeom>
          <a:noFill/>
          <a:ln w="19050">
            <a:solidFill>
              <a:srgbClr val="C0C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9000" rIns="0" bIns="0" anchor="ctr"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altLang="zh-CN" sz="2400" dirty="0">
                <a:solidFill>
                  <a:schemeClr val="tx1"/>
                </a:solidFill>
                <a:cs typeface="+mn-ea"/>
                <a:sym typeface="+mn-lt"/>
              </a:rPr>
              <a:t>'''123'''</a:t>
            </a:r>
            <a:endParaRPr lang="zh-CN" altLang="en-US" sz="2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7" name="MH_SubTitle_1"/>
          <p:cNvSpPr/>
          <p:nvPr>
            <p:custDataLst>
              <p:tags r:id="rId4"/>
            </p:custDataLst>
          </p:nvPr>
        </p:nvSpPr>
        <p:spPr>
          <a:xfrm>
            <a:off x="6262924" y="4077072"/>
            <a:ext cx="2613418" cy="1406565"/>
          </a:xfrm>
          <a:custGeom>
            <a:avLst/>
            <a:gdLst>
              <a:gd name="connsiteX0" fmla="*/ 1154681 w 2309360"/>
              <a:gd name="connsiteY0" fmla="*/ 0 h 1666434"/>
              <a:gd name="connsiteX1" fmla="*/ 1530338 w 2309360"/>
              <a:gd name="connsiteY1" fmla="*/ 360555 h 1666434"/>
              <a:gd name="connsiteX2" fmla="*/ 2309360 w 2309360"/>
              <a:gd name="connsiteY2" fmla="*/ 360555 h 1666434"/>
              <a:gd name="connsiteX3" fmla="*/ 2309360 w 2309360"/>
              <a:gd name="connsiteY3" fmla="*/ 1666434 h 1666434"/>
              <a:gd name="connsiteX4" fmla="*/ 0 w 2309360"/>
              <a:gd name="connsiteY4" fmla="*/ 1666434 h 1666434"/>
              <a:gd name="connsiteX5" fmla="*/ 0 w 2309360"/>
              <a:gd name="connsiteY5" fmla="*/ 360555 h 1666434"/>
              <a:gd name="connsiteX6" fmla="*/ 779023 w 2309360"/>
              <a:gd name="connsiteY6" fmla="*/ 360555 h 1666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9360" h="1666434">
                <a:moveTo>
                  <a:pt x="1154681" y="0"/>
                </a:moveTo>
                <a:lnTo>
                  <a:pt x="1530338" y="360555"/>
                </a:lnTo>
                <a:lnTo>
                  <a:pt x="2309360" y="360555"/>
                </a:lnTo>
                <a:lnTo>
                  <a:pt x="2309360" y="1666434"/>
                </a:lnTo>
                <a:lnTo>
                  <a:pt x="0" y="1666434"/>
                </a:lnTo>
                <a:lnTo>
                  <a:pt x="0" y="360555"/>
                </a:lnTo>
                <a:lnTo>
                  <a:pt x="779023" y="360555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9000" rIns="0" bIns="0" anchor="ctr"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altLang="zh-CN" sz="2400" dirty="0">
                <a:solidFill>
                  <a:schemeClr val="tx1"/>
                </a:solidFill>
                <a:cs typeface="+mn-ea"/>
                <a:sym typeface="+mn-lt"/>
              </a:rPr>
              <a:t>"""hello"""</a:t>
            </a:r>
            <a:endParaRPr lang="zh-CN" altLang="en-US" sz="2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0791F8D0-2233-4042-8D44-753A2445A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3622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92935" y="2276872"/>
            <a:ext cx="10829139" cy="3960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2.2.2 </a:t>
            </a:r>
            <a:r>
              <a:rPr lang="zh-CN" altLang="en-US" dirty="0"/>
              <a:t>字符串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Why </a:t>
            </a:r>
            <a:r>
              <a:rPr lang="zh-CN" altLang="en-US" dirty="0"/>
              <a:t>这么多种引号呢？</a:t>
            </a:r>
            <a:endParaRPr lang="en-US" altLang="zh-CN" dirty="0"/>
          </a:p>
          <a:p>
            <a:pPr lvl="1"/>
            <a:r>
              <a:rPr lang="zh-CN" altLang="en-US" dirty="0"/>
              <a:t>一对定界符之间，可以是除本定界符之外的任意其字符，包括英文字符、数字、汉字、中英文标点符号等</a:t>
            </a:r>
            <a:endParaRPr lang="en-US" altLang="zh-CN" dirty="0"/>
          </a:p>
          <a:p>
            <a:pPr lvl="1"/>
            <a:r>
              <a:rPr lang="zh-CN" altLang="en-US" dirty="0"/>
              <a:t>当字符串中需要用到 ‘ 时，可以用“括起来</a:t>
            </a:r>
            <a:endParaRPr lang="en-US" altLang="zh-CN" dirty="0"/>
          </a:p>
          <a:p>
            <a:pPr lvl="1"/>
            <a:r>
              <a:rPr lang="zh-CN" altLang="en-US" dirty="0"/>
              <a:t>当字符串中需要用到 “ 时，可以用‘括起来</a:t>
            </a:r>
            <a:endParaRPr lang="en-US" altLang="zh-CN" dirty="0"/>
          </a:p>
          <a:p>
            <a:pPr lvl="1"/>
            <a:r>
              <a:rPr lang="zh-CN" altLang="en-US" dirty="0"/>
              <a:t>当字符串中需要用到 ‘ 和 “ 时，可以用</a:t>
            </a:r>
            <a:r>
              <a:rPr lang="en-US" altLang="zh-CN" dirty="0"/>
              <a:t>’’’</a:t>
            </a:r>
            <a:r>
              <a:rPr lang="zh-CN" altLang="en-US" dirty="0"/>
              <a:t>括起来</a:t>
            </a:r>
            <a:endParaRPr lang="en-US" altLang="zh-CN" dirty="0"/>
          </a:p>
          <a:p>
            <a:pPr lvl="1"/>
            <a:r>
              <a:rPr lang="zh-CN" altLang="en-US" dirty="0"/>
              <a:t>另外，</a:t>
            </a:r>
            <a:r>
              <a:rPr lang="en-US" altLang="zh-CN" dirty="0"/>
              <a:t>’’’</a:t>
            </a:r>
            <a:r>
              <a:rPr lang="zh-CN" altLang="en-US" dirty="0"/>
              <a:t>可以包含多行文本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BA07B7-9D71-486E-9CD0-EA1BD8A92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673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例：字符串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1657633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&gt;&gt;&gt; “‘</a:t>
            </a:r>
            <a:r>
              <a:rPr lang="en-US" altLang="zh-CN" sz="24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“	 #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先”后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’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&gt;&gt;&gt; "I'm a student!"</a:t>
            </a:r>
          </a:p>
          <a:p>
            <a:pPr marL="0" indent="0">
              <a:buNone/>
            </a:pP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&gt;&gt;&gt;’He</a:t>
            </a:r>
            <a:r>
              <a:rPr lang="zh-CN" altLang="en-US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says:”OK</a:t>
            </a: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!”  ’</a:t>
            </a:r>
          </a:p>
          <a:p>
            <a:pPr marL="0" indent="0">
              <a:buNone/>
            </a:pP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&gt;&gt;&gt; ‘’‘ He said:</a:t>
            </a:r>
            <a:r>
              <a:rPr lang="zh-CN" altLang="en-US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 call it ‘Candy’! “  ‘’‘</a:t>
            </a:r>
          </a:p>
          <a:p>
            <a:pPr marL="0" indent="0">
              <a:buNone/>
            </a:pPr>
            <a:endParaRPr lang="en-US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BA07B7-9D71-486E-9CD0-EA1BD8A92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848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A0F396-30DB-4575-BC31-7EE0B4CE7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例：字符串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132F13-B557-4E4D-83DA-529C2FE0D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58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&gt;&gt;&gt; s=‘’‘this	#</a:t>
            </a:r>
            <a:r>
              <a:rPr lang="zh-CN" altLang="en-US" dirty="0"/>
              <a:t>定义一个字符串变量</a:t>
            </a:r>
            <a:r>
              <a:rPr lang="en-US" altLang="zh-CN" dirty="0"/>
              <a:t>s</a:t>
            </a:r>
          </a:p>
          <a:p>
            <a:pPr marL="0" indent="0">
              <a:buNone/>
            </a:pPr>
            <a:r>
              <a:rPr lang="en-US" altLang="zh-CN" dirty="0"/>
              <a:t>is a</a:t>
            </a:r>
          </a:p>
          <a:p>
            <a:pPr marL="0" indent="0">
              <a:buNone/>
            </a:pPr>
            <a:r>
              <a:rPr lang="en-US" altLang="zh-CN" dirty="0"/>
              <a:t>test’‘’		#</a:t>
            </a:r>
            <a:r>
              <a:rPr lang="zh-CN" altLang="en-US" dirty="0"/>
              <a:t>三引号中文本分</a:t>
            </a:r>
            <a:r>
              <a:rPr lang="en-US" altLang="zh-CN" dirty="0"/>
              <a:t>3</a:t>
            </a:r>
            <a:r>
              <a:rPr lang="zh-CN" altLang="en-US" dirty="0"/>
              <a:t>行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&gt;&gt;&gt; print(s)	</a:t>
            </a:r>
          </a:p>
          <a:p>
            <a:pPr marL="0" indent="0">
              <a:buNone/>
            </a:pPr>
            <a:r>
              <a:rPr lang="en-US" altLang="zh-CN" dirty="0"/>
              <a:t>this</a:t>
            </a:r>
          </a:p>
          <a:p>
            <a:pPr marL="0" indent="0">
              <a:buNone/>
            </a:pPr>
            <a:r>
              <a:rPr lang="en-US" altLang="zh-CN" dirty="0"/>
              <a:t>is a</a:t>
            </a:r>
          </a:p>
          <a:p>
            <a:pPr marL="0" indent="0">
              <a:buNone/>
            </a:pPr>
            <a:r>
              <a:rPr lang="en-US" altLang="zh-CN" dirty="0"/>
              <a:t>Test</a:t>
            </a:r>
          </a:p>
          <a:p>
            <a:pPr marL="0" indent="0">
              <a:buNone/>
            </a:pPr>
            <a:r>
              <a:rPr lang="en-US" altLang="zh-CN" dirty="0"/>
              <a:t>&gt;&gt;&gt;s		</a:t>
            </a:r>
          </a:p>
          <a:p>
            <a:pPr marL="0" indent="0">
              <a:buNone/>
            </a:pPr>
            <a:r>
              <a:rPr lang="en-US" altLang="zh-CN" dirty="0"/>
              <a:t>‘This\nis a\</a:t>
            </a:r>
            <a:r>
              <a:rPr lang="en-US" altLang="zh-CN" dirty="0" err="1"/>
              <a:t>ntest</a:t>
            </a:r>
            <a:r>
              <a:rPr lang="en-US" altLang="zh-CN" dirty="0"/>
              <a:t>’	#</a:t>
            </a:r>
            <a:r>
              <a:rPr lang="zh-CN" altLang="en-US" dirty="0"/>
              <a:t>转意字符</a:t>
            </a:r>
            <a:r>
              <a:rPr lang="en-US" altLang="zh-CN" dirty="0"/>
              <a:t>\n</a:t>
            </a:r>
            <a:r>
              <a:rPr lang="zh-CN" altLang="en-US" dirty="0"/>
              <a:t>表示换行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42AFA2-EB9D-44C1-9A44-C2C59628E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877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1F2376-DAB0-4A25-9A45-A18B64CE9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例：字符串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7C0B5-BD36-46AB-9B57-818FCA1A7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&gt;&gt;&gt; t=‘this \		#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定义字符串变量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\</a:t>
            </a:r>
            <a:r>
              <a:rPr lang="zh-CN" altLang="en-US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表示续行符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is\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me. \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&gt;&gt;&gt; print(t)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this </a:t>
            </a:r>
            <a:r>
              <a:rPr lang="en-US" altLang="zh-CN" sz="24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isme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#  </a:t>
            </a:r>
            <a:r>
              <a:rPr lang="zh-CN" altLang="en-US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等价于</a:t>
            </a: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t=‘this </a:t>
            </a:r>
            <a:r>
              <a:rPr lang="en-US" altLang="zh-CN" sz="24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isme</a:t>
            </a: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.’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A67465-DBB8-4C83-B053-5D0CE0688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423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转义字符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不方便输入的字符（但能显示），用</a:t>
            </a:r>
            <a:r>
              <a:rPr lang="en-US" altLang="zh-CN" dirty="0"/>
              <a:t>~</a:t>
            </a:r>
          </a:p>
          <a:p>
            <a:r>
              <a:rPr lang="zh-CN" altLang="en-US" dirty="0"/>
              <a:t>以</a:t>
            </a:r>
            <a:r>
              <a:rPr lang="en-US" altLang="zh-CN" dirty="0"/>
              <a:t>\(</a:t>
            </a:r>
            <a:r>
              <a:rPr lang="zh-CN" altLang="en-US" dirty="0"/>
              <a:t>反斜杠</a:t>
            </a:r>
            <a:r>
              <a:rPr lang="en-US" altLang="zh-CN" dirty="0"/>
              <a:t>)</a:t>
            </a:r>
            <a:r>
              <a:rPr lang="zh-CN" altLang="en-US" dirty="0"/>
              <a:t>开头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&gt;&gt;&gt; print(‘Line 1.\</a:t>
            </a:r>
            <a:r>
              <a:rPr lang="en-US" altLang="zh-CN" dirty="0" err="1"/>
              <a:t>nLine</a:t>
            </a:r>
            <a:r>
              <a:rPr lang="en-US" altLang="zh-CN" dirty="0"/>
              <a:t> 2’)	# \n</a:t>
            </a:r>
            <a:r>
              <a:rPr lang="zh-CN" altLang="en-US" dirty="0"/>
              <a:t>表示换行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Line 1.</a:t>
            </a:r>
          </a:p>
          <a:p>
            <a:pPr marL="457200" lvl="1" indent="0">
              <a:buNone/>
            </a:pPr>
            <a:r>
              <a:rPr lang="en-US" altLang="zh-CN" dirty="0"/>
              <a:t>Line 2</a:t>
            </a:r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243F45-2612-47D0-A285-35114AA43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767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778" y="153928"/>
            <a:ext cx="10515600" cy="1325563"/>
          </a:xfrm>
        </p:spPr>
        <p:txBody>
          <a:bodyPr/>
          <a:lstStyle/>
          <a:p>
            <a:r>
              <a:rPr lang="zh-CN" altLang="en-US" dirty="0"/>
              <a:t>表</a:t>
            </a:r>
            <a:r>
              <a:rPr lang="en-US" altLang="zh-CN" dirty="0"/>
              <a:t>2-1 </a:t>
            </a:r>
            <a:r>
              <a:rPr lang="zh-CN" altLang="en-US" dirty="0"/>
              <a:t>转义字符及含义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2814970"/>
              </p:ext>
            </p:extLst>
          </p:nvPr>
        </p:nvGraphicFramePr>
        <p:xfrm>
          <a:off x="901148" y="1470991"/>
          <a:ext cx="9515333" cy="5016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7937">
                  <a:extLst>
                    <a:ext uri="{9D8B030D-6E8A-4147-A177-3AD203B41FA5}">
                      <a16:colId xmlns:a16="http://schemas.microsoft.com/office/drawing/2014/main" val="2955756886"/>
                    </a:ext>
                  </a:extLst>
                </a:gridCol>
                <a:gridCol w="6255295">
                  <a:extLst>
                    <a:ext uri="{9D8B030D-6E8A-4147-A177-3AD203B41FA5}">
                      <a16:colId xmlns:a16="http://schemas.microsoft.com/office/drawing/2014/main" val="2764295362"/>
                    </a:ext>
                  </a:extLst>
                </a:gridCol>
                <a:gridCol w="1762101">
                  <a:extLst>
                    <a:ext uri="{9D8B030D-6E8A-4147-A177-3AD203B41FA5}">
                      <a16:colId xmlns:a16="http://schemas.microsoft.com/office/drawing/2014/main" val="4238080974"/>
                    </a:ext>
                  </a:extLst>
                </a:gridCol>
              </a:tblGrid>
              <a:tr h="43414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字符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800" kern="100">
                          <a:solidFill>
                            <a:schemeClr val="tx1"/>
                          </a:solidFill>
                          <a:effectLst/>
                        </a:rPr>
                        <a:t>含义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800" kern="100">
                          <a:solidFill>
                            <a:schemeClr val="tx1"/>
                          </a:solidFill>
                          <a:effectLst/>
                        </a:rPr>
                        <a:t>ASCII</a:t>
                      </a:r>
                      <a:r>
                        <a:rPr lang="zh-CN" sz="2800" kern="100">
                          <a:solidFill>
                            <a:schemeClr val="tx1"/>
                          </a:solidFill>
                          <a:effectLst/>
                        </a:rPr>
                        <a:t>码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2600412"/>
                  </a:ext>
                </a:extLst>
              </a:tr>
              <a:tr h="675134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800" kern="100" dirty="0">
                          <a:solidFill>
                            <a:schemeClr val="tx1"/>
                          </a:solidFill>
                          <a:effectLst/>
                        </a:rPr>
                        <a:t>\n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换行，将当前位置移到下一行开头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800" kern="1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528520"/>
                  </a:ext>
                </a:extLst>
              </a:tr>
              <a:tr h="43414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800" kern="100" dirty="0">
                          <a:solidFill>
                            <a:schemeClr val="tx1"/>
                          </a:solidFill>
                          <a:effectLst/>
                        </a:rPr>
                        <a:t>\t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水平制表（跳到下一个</a:t>
                      </a:r>
                      <a:r>
                        <a:rPr lang="en-GB" sz="2800" kern="100" dirty="0">
                          <a:solidFill>
                            <a:schemeClr val="tx1"/>
                          </a:solidFill>
                          <a:effectLst/>
                        </a:rPr>
                        <a:t>Tab</a:t>
                      </a: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位置）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800" kern="100" dirty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154293"/>
                  </a:ext>
                </a:extLst>
              </a:tr>
              <a:tr h="43414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800" kern="100" dirty="0">
                          <a:solidFill>
                            <a:schemeClr val="tx1"/>
                          </a:solidFill>
                          <a:effectLst/>
                        </a:rPr>
                        <a:t>\v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垂直制表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800" kern="100" dirty="0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223377"/>
                  </a:ext>
                </a:extLst>
              </a:tr>
              <a:tr h="43414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800" kern="100" dirty="0">
                          <a:solidFill>
                            <a:schemeClr val="tx1"/>
                          </a:solidFill>
                          <a:effectLst/>
                        </a:rPr>
                        <a:t>\b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退格，将当前位置移到前一列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800" kern="100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346706"/>
                  </a:ext>
                </a:extLst>
              </a:tr>
              <a:tr h="43414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800" kern="100">
                          <a:solidFill>
                            <a:schemeClr val="tx1"/>
                          </a:solidFill>
                          <a:effectLst/>
                        </a:rPr>
                        <a:t>\r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回车，将当前位置移到本行开头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800" kern="100" dirty="0">
                          <a:solidFill>
                            <a:schemeClr val="tx1"/>
                          </a:solidFill>
                          <a:effectLst/>
                        </a:rPr>
                        <a:t>13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141102"/>
                  </a:ext>
                </a:extLst>
              </a:tr>
              <a:tr h="43414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800" kern="100">
                          <a:solidFill>
                            <a:schemeClr val="tx1"/>
                          </a:solidFill>
                          <a:effectLst/>
                        </a:rPr>
                        <a:t>\f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换页，将当前位置移到下页开头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800" kern="100" dirty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350223"/>
                  </a:ext>
                </a:extLst>
              </a:tr>
              <a:tr h="43414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800" kern="100" dirty="0">
                          <a:solidFill>
                            <a:schemeClr val="tx1"/>
                          </a:solidFill>
                          <a:effectLst/>
                        </a:rPr>
                        <a:t>\a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响铃报警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800" kern="100" dirty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837705"/>
                  </a:ext>
                </a:extLst>
              </a:tr>
              <a:tr h="43414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800" kern="100">
                          <a:solidFill>
                            <a:schemeClr val="tx1"/>
                          </a:solidFill>
                          <a:effectLst/>
                        </a:rPr>
                        <a:t>\\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代表反斜杠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800" kern="100" dirty="0">
                          <a:solidFill>
                            <a:schemeClr val="tx1"/>
                          </a:solidFill>
                          <a:effectLst/>
                        </a:rPr>
                        <a:t>92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544658"/>
                  </a:ext>
                </a:extLst>
              </a:tr>
              <a:tr h="43414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800" kern="100" dirty="0">
                          <a:solidFill>
                            <a:schemeClr val="tx1"/>
                          </a:solidFill>
                          <a:effectLst/>
                        </a:rPr>
                        <a:t>\'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代表单引号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800" kern="100" dirty="0">
                          <a:solidFill>
                            <a:schemeClr val="tx1"/>
                          </a:solidFill>
                          <a:effectLst/>
                        </a:rPr>
                        <a:t>39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8232039"/>
                  </a:ext>
                </a:extLst>
              </a:tr>
              <a:tr h="43414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800" kern="100">
                          <a:solidFill>
                            <a:schemeClr val="tx1"/>
                          </a:solidFill>
                          <a:effectLst/>
                        </a:rPr>
                        <a:t>\”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代表双引号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800" kern="100" dirty="0">
                          <a:solidFill>
                            <a:schemeClr val="tx1"/>
                          </a:solidFill>
                          <a:effectLst/>
                        </a:rPr>
                        <a:t>34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1604528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9D90AF7-7588-4F38-B237-3137A9665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095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</a:t>
            </a:r>
            <a:r>
              <a:rPr lang="en-US" altLang="zh-CN" dirty="0"/>
              <a:t>2-1 </a:t>
            </a:r>
            <a:r>
              <a:rPr lang="zh-CN" altLang="en-US" dirty="0"/>
              <a:t>转义字符及含义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2294034"/>
              </p:ext>
            </p:extLst>
          </p:nvPr>
        </p:nvGraphicFramePr>
        <p:xfrm>
          <a:off x="864502" y="1690688"/>
          <a:ext cx="10515600" cy="31784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55403">
                  <a:extLst>
                    <a:ext uri="{9D8B030D-6E8A-4147-A177-3AD203B41FA5}">
                      <a16:colId xmlns:a16="http://schemas.microsoft.com/office/drawing/2014/main" val="2955756886"/>
                    </a:ext>
                  </a:extLst>
                </a:gridCol>
                <a:gridCol w="7320511">
                  <a:extLst>
                    <a:ext uri="{9D8B030D-6E8A-4147-A177-3AD203B41FA5}">
                      <a16:colId xmlns:a16="http://schemas.microsoft.com/office/drawing/2014/main" val="2764295362"/>
                    </a:ext>
                  </a:extLst>
                </a:gridCol>
                <a:gridCol w="1539686">
                  <a:extLst>
                    <a:ext uri="{9D8B030D-6E8A-4147-A177-3AD203B41FA5}">
                      <a16:colId xmlns:a16="http://schemas.microsoft.com/office/drawing/2014/main" val="4238080974"/>
                    </a:ext>
                  </a:extLst>
                </a:gridCol>
              </a:tblGrid>
              <a:tr h="52974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字符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sz="2800" kern="100">
                          <a:solidFill>
                            <a:schemeClr val="tx1"/>
                          </a:solidFill>
                          <a:effectLst/>
                        </a:rPr>
                        <a:t>含义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800" kern="100">
                          <a:solidFill>
                            <a:schemeClr val="tx1"/>
                          </a:solidFill>
                          <a:effectLst/>
                        </a:rPr>
                        <a:t>ASCII</a:t>
                      </a:r>
                      <a:r>
                        <a:rPr lang="zh-CN" sz="2800" kern="100">
                          <a:solidFill>
                            <a:schemeClr val="tx1"/>
                          </a:solidFill>
                          <a:effectLst/>
                        </a:rPr>
                        <a:t>码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2600412"/>
                  </a:ext>
                </a:extLst>
              </a:tr>
              <a:tr h="1059491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800" kern="100">
                          <a:solidFill>
                            <a:schemeClr val="tx1"/>
                          </a:solidFill>
                          <a:effectLst/>
                        </a:rPr>
                        <a:t>\ooo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代表三位</a:t>
                      </a: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进制数对应的字符。</a:t>
                      </a:r>
                      <a:endParaRPr lang="en-US" altLang="zh-CN" sz="28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如</a:t>
                      </a:r>
                      <a:r>
                        <a:rPr lang="en-GB" sz="2800" kern="100" dirty="0">
                          <a:solidFill>
                            <a:schemeClr val="tx1"/>
                          </a:solidFill>
                          <a:effectLst/>
                        </a:rPr>
                        <a:t>\101</a:t>
                      </a: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表示字符</a:t>
                      </a:r>
                      <a:r>
                        <a:rPr lang="en-GB" sz="2800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502808"/>
                  </a:ext>
                </a:extLst>
              </a:tr>
              <a:tr h="1059491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800" kern="100">
                          <a:solidFill>
                            <a:schemeClr val="tx1"/>
                          </a:solidFill>
                          <a:effectLst/>
                        </a:rPr>
                        <a:t>\xhh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代表两位</a:t>
                      </a: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16</a:t>
                      </a: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进制数对应的字符。</a:t>
                      </a:r>
                      <a:endParaRPr lang="en-US" altLang="zh-CN" sz="28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如</a:t>
                      </a:r>
                      <a:r>
                        <a:rPr lang="en-GB" sz="2800" kern="100" dirty="0">
                          <a:solidFill>
                            <a:schemeClr val="tx1"/>
                          </a:solidFill>
                          <a:effectLst/>
                        </a:rPr>
                        <a:t>\x41</a:t>
                      </a: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表示字符</a:t>
                      </a:r>
                      <a:r>
                        <a:rPr lang="en-GB" sz="2800" kern="10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3404405"/>
                  </a:ext>
                </a:extLst>
              </a:tr>
              <a:tr h="529745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800" kern="100">
                          <a:solidFill>
                            <a:schemeClr val="tx1"/>
                          </a:solidFill>
                          <a:effectLst/>
                        </a:rPr>
                        <a:t>\uhhhh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spcAft>
                          <a:spcPts val="0"/>
                        </a:spcAft>
                      </a:pPr>
                      <a:r>
                        <a:rPr lang="zh-CN" sz="2800" kern="100">
                          <a:solidFill>
                            <a:schemeClr val="tx1"/>
                          </a:solidFill>
                          <a:effectLst/>
                        </a:rPr>
                        <a:t>代表四位</a:t>
                      </a: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</a:rPr>
                        <a:t>16</a:t>
                      </a:r>
                      <a:r>
                        <a:rPr lang="zh-CN" sz="2800" kern="100">
                          <a:solidFill>
                            <a:schemeClr val="tx1"/>
                          </a:solidFill>
                          <a:effectLst/>
                        </a:rPr>
                        <a:t>进制数表示的</a:t>
                      </a:r>
                      <a:r>
                        <a:rPr lang="en-US" sz="2800" kern="100">
                          <a:solidFill>
                            <a:schemeClr val="tx1"/>
                          </a:solidFill>
                          <a:effectLst/>
                        </a:rPr>
                        <a:t>Unicode</a:t>
                      </a:r>
                      <a:r>
                        <a:rPr lang="zh-CN" sz="2800" kern="100">
                          <a:solidFill>
                            <a:schemeClr val="tx1"/>
                          </a:solidFill>
                          <a:effectLst/>
                        </a:rPr>
                        <a:t>字符。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en-GB" sz="2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029801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9D90AF7-7588-4F38-B237-3137A9665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6370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69925" y="1877060"/>
            <a:ext cx="10852149" cy="33521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原始字符串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在定界符前加</a:t>
            </a:r>
            <a:r>
              <a:rPr lang="en-US" altLang="zh-CN" dirty="0"/>
              <a:t>r</a:t>
            </a:r>
          </a:p>
          <a:p>
            <a:r>
              <a:rPr lang="zh-CN" altLang="en-US" dirty="0"/>
              <a:t>原始字符串中的</a:t>
            </a:r>
            <a:r>
              <a:rPr lang="en-US" altLang="zh-CN" dirty="0"/>
              <a:t>\</a:t>
            </a:r>
            <a:r>
              <a:rPr lang="zh-CN" altLang="en-US" dirty="0"/>
              <a:t>就是</a:t>
            </a:r>
            <a:r>
              <a:rPr lang="en-US" altLang="zh-CN" dirty="0"/>
              <a:t>\</a:t>
            </a:r>
            <a:r>
              <a:rPr lang="zh-CN" altLang="en-US" dirty="0"/>
              <a:t>，不是转义字符</a:t>
            </a:r>
            <a:endParaRPr lang="en-US" altLang="zh-CN" dirty="0"/>
          </a:p>
          <a:p>
            <a:pPr marL="0" indent="0">
              <a:buNone/>
            </a:pPr>
            <a:r>
              <a:rPr lang="pt-BR" altLang="zh-CN" dirty="0"/>
              <a:t>&gt;&gt;&gt; print(r'a\n2')</a:t>
            </a:r>
          </a:p>
          <a:p>
            <a:pPr marL="0" indent="0">
              <a:buNone/>
            </a:pPr>
            <a:r>
              <a:rPr lang="pt-BR" altLang="zh-CN" dirty="0"/>
              <a:t>a\n2</a:t>
            </a:r>
          </a:p>
          <a:p>
            <a:pPr marL="0" indent="0">
              <a:buNone/>
            </a:pPr>
            <a:r>
              <a:rPr lang="pt-BR" altLang="zh-CN" dirty="0"/>
              <a:t>&gt;&gt;&gt; print('a\n2')</a:t>
            </a:r>
          </a:p>
          <a:p>
            <a:pPr marL="0" indent="0">
              <a:buNone/>
            </a:pPr>
            <a:r>
              <a:rPr lang="pt-BR" altLang="zh-CN" dirty="0"/>
              <a:t>a</a:t>
            </a:r>
          </a:p>
          <a:p>
            <a:pPr marL="0" indent="0">
              <a:buNone/>
            </a:pPr>
            <a:r>
              <a:rPr lang="pt-BR" altLang="zh-CN" dirty="0"/>
              <a:t>2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3E1A66-4C28-429C-97C2-7B6FA8EA9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085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69925" y="2780928"/>
            <a:ext cx="11042699" cy="38164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输入中换行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5199" y="1718680"/>
            <a:ext cx="10852150" cy="5437207"/>
          </a:xfrm>
        </p:spPr>
        <p:txBody>
          <a:bodyPr>
            <a:normAutofit/>
          </a:bodyPr>
          <a:lstStyle/>
          <a:p>
            <a:pPr>
              <a:spcAft>
                <a:spcPts val="400"/>
              </a:spcAft>
            </a:pPr>
            <a:r>
              <a:rPr lang="zh-CN" altLang="en-US" dirty="0"/>
              <a:t>三引号内可直接按回车键换行，会形成一个</a:t>
            </a:r>
            <a:r>
              <a:rPr lang="en-US" altLang="zh-CN" dirty="0"/>
              <a:t>\n</a:t>
            </a:r>
            <a:r>
              <a:rPr lang="zh-CN" altLang="en-US" dirty="0"/>
              <a:t>字符</a:t>
            </a:r>
            <a:endParaRPr lang="en-US" altLang="zh-CN" dirty="0"/>
          </a:p>
          <a:p>
            <a:pPr>
              <a:spcAft>
                <a:spcPts val="400"/>
              </a:spcAft>
            </a:pPr>
            <a:r>
              <a:rPr lang="zh-CN" altLang="en-US" dirty="0"/>
              <a:t>单引号或双引号内，在行末输入</a:t>
            </a:r>
            <a:r>
              <a:rPr lang="en-US" altLang="zh-CN" dirty="0"/>
              <a:t>\</a:t>
            </a:r>
            <a:r>
              <a:rPr lang="zh-CN" altLang="en-US" dirty="0"/>
              <a:t>即可换下一行，但是不会形成</a:t>
            </a:r>
            <a:r>
              <a:rPr lang="en-US" altLang="zh-CN" dirty="0"/>
              <a:t>\n</a:t>
            </a:r>
            <a:r>
              <a:rPr lang="zh-CN" altLang="en-US" dirty="0"/>
              <a:t>字符。命令行末的</a:t>
            </a:r>
            <a:r>
              <a:rPr lang="en-US" altLang="zh-CN" dirty="0"/>
              <a:t>\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00B0F0"/>
                </a:solidFill>
              </a:rPr>
              <a:t>续行符</a:t>
            </a:r>
            <a:endParaRPr lang="en-US" altLang="zh-CN" dirty="0">
              <a:solidFill>
                <a:srgbClr val="00B0F0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pt-BR" altLang="zh-CN" sz="2600" dirty="0"/>
              <a:t>&gt;&gt;&gt; </a:t>
            </a:r>
            <a:r>
              <a:rPr lang="pt-BR" altLang="zh-CN" sz="2600" dirty="0">
                <a:solidFill>
                  <a:srgbClr val="00B050"/>
                </a:solidFill>
              </a:rPr>
              <a:t>'''12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pt-BR" altLang="zh-CN" sz="2600" dirty="0">
                <a:solidFill>
                  <a:srgbClr val="00B050"/>
                </a:solidFill>
              </a:rPr>
              <a:t>34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pt-BR" altLang="zh-CN" sz="2600" dirty="0">
                <a:solidFill>
                  <a:srgbClr val="00B050"/>
                </a:solidFill>
              </a:rPr>
              <a:t>56'''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pt-BR" altLang="zh-CN" sz="2600" dirty="0">
                <a:solidFill>
                  <a:srgbClr val="0070C0"/>
                </a:solidFill>
              </a:rPr>
              <a:t>'12\n34\n56'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pt-BR" altLang="zh-CN" sz="2600" dirty="0"/>
              <a:t>&gt;&gt;&gt;</a:t>
            </a:r>
            <a:r>
              <a:rPr lang="pt-BR" altLang="zh-CN" sz="2600" dirty="0">
                <a:solidFill>
                  <a:srgbClr val="00B050"/>
                </a:solidFill>
              </a:rPr>
              <a:t> '12\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pt-BR" altLang="zh-CN" sz="2600" dirty="0">
                <a:solidFill>
                  <a:srgbClr val="00B050"/>
                </a:solidFill>
              </a:rPr>
              <a:t>34'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pt-BR" altLang="zh-CN" sz="2600" dirty="0">
                <a:solidFill>
                  <a:srgbClr val="0070C0"/>
                </a:solidFill>
              </a:rPr>
              <a:t>'1234'</a:t>
            </a:r>
          </a:p>
          <a:p>
            <a:pPr marL="0" indent="0">
              <a:spcAft>
                <a:spcPts val="400"/>
              </a:spcAft>
              <a:buNone/>
            </a:pP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891519A-3F61-4F1D-B956-0ECCC6F16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83406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2.2.3 </a:t>
            </a:r>
            <a:r>
              <a:rPr lang="zh-CN" altLang="en-US" dirty="0"/>
              <a:t>布尔类型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布尔值通常用来表示判断条件是否成立</a:t>
            </a:r>
            <a:endParaRPr lang="en-US" altLang="zh-CN" dirty="0"/>
          </a:p>
          <a:p>
            <a:r>
              <a:rPr lang="zh-CN" altLang="en-US" dirty="0"/>
              <a:t>两个值：</a:t>
            </a:r>
            <a:r>
              <a:rPr lang="en-US" altLang="zh-CN" dirty="0"/>
              <a:t>True</a:t>
            </a:r>
            <a:r>
              <a:rPr lang="zh-CN" altLang="en-US" dirty="0"/>
              <a:t>和</a:t>
            </a:r>
            <a:r>
              <a:rPr lang="en-US" altLang="zh-CN" dirty="0"/>
              <a:t>False</a:t>
            </a:r>
          </a:p>
          <a:p>
            <a:r>
              <a:rPr lang="zh-CN" altLang="en-US" dirty="0"/>
              <a:t>注意：</a:t>
            </a:r>
            <a:r>
              <a:rPr lang="en-US" altLang="zh-CN" dirty="0"/>
              <a:t>Python</a:t>
            </a:r>
            <a:r>
              <a:rPr lang="zh-CN" altLang="en-US" dirty="0"/>
              <a:t>区分大小写的</a:t>
            </a:r>
            <a:r>
              <a:rPr lang="en-US" altLang="zh-CN" dirty="0"/>
              <a:t>,True</a:t>
            </a:r>
            <a:r>
              <a:rPr lang="zh-CN" altLang="en-US" dirty="0"/>
              <a:t>不能写成</a:t>
            </a:r>
            <a:r>
              <a:rPr lang="en-US" altLang="zh-CN" dirty="0"/>
              <a:t>true</a:t>
            </a:r>
          </a:p>
          <a:p>
            <a:r>
              <a:rPr lang="en-US" altLang="zh-CN" dirty="0"/>
              <a:t>0</a:t>
            </a:r>
            <a:r>
              <a:rPr lang="zh-CN" altLang="en-US" dirty="0"/>
              <a:t>相当于</a:t>
            </a:r>
            <a:r>
              <a:rPr lang="en-US" altLang="zh-CN" dirty="0"/>
              <a:t>False, 1</a:t>
            </a:r>
            <a:r>
              <a:rPr lang="zh-CN" altLang="en-US" dirty="0"/>
              <a:t>相当于</a:t>
            </a:r>
            <a:r>
              <a:rPr lang="en-US" altLang="zh-CN" dirty="0"/>
              <a:t>True</a:t>
            </a:r>
          </a:p>
          <a:p>
            <a:pPr marL="0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090C33-5192-4979-96B8-455AC5AC1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82215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3E67D6-DCF4-4804-B62E-7E66935F1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4C46BB-EFF3-48C0-872C-B3B1D1513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241576" cy="481588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dirty="0"/>
              <a:t>&gt;&gt;&gt; 3&gt;2</a:t>
            </a:r>
          </a:p>
          <a:p>
            <a:pPr marL="0" indent="0">
              <a:buNone/>
            </a:pPr>
            <a:r>
              <a:rPr lang="en-US" altLang="zh-CN" dirty="0"/>
              <a:t>True</a:t>
            </a:r>
          </a:p>
          <a:p>
            <a:pPr marL="0" indent="0">
              <a:buNone/>
            </a:pPr>
            <a:r>
              <a:rPr lang="en-US" altLang="zh-CN" dirty="0"/>
              <a:t>&gt;&gt;&gt; 3&lt;2</a:t>
            </a:r>
          </a:p>
          <a:p>
            <a:pPr marL="0" indent="0">
              <a:buNone/>
            </a:pPr>
            <a:r>
              <a:rPr lang="en-US" altLang="zh-CN" dirty="0"/>
              <a:t>False</a:t>
            </a:r>
          </a:p>
          <a:p>
            <a:pPr marL="0" indent="0">
              <a:buNone/>
            </a:pPr>
            <a:r>
              <a:rPr lang="en-US" altLang="zh-CN" dirty="0"/>
              <a:t>&gt;&gt;&gt; 3==2</a:t>
            </a:r>
          </a:p>
          <a:p>
            <a:pPr marL="0" indent="0">
              <a:buNone/>
            </a:pPr>
            <a:r>
              <a:rPr lang="en-US" altLang="zh-CN" dirty="0"/>
              <a:t>False</a:t>
            </a:r>
          </a:p>
          <a:p>
            <a:pPr marL="0" indent="0">
              <a:buNone/>
            </a:pPr>
            <a:r>
              <a:rPr lang="en-US" altLang="zh-CN" dirty="0"/>
              <a:t>&gt;&gt;&gt;3&lt;=3</a:t>
            </a:r>
          </a:p>
          <a:p>
            <a:pPr marL="0" indent="0">
              <a:buNone/>
            </a:pPr>
            <a:r>
              <a:rPr lang="en-US" altLang="zh-CN" dirty="0"/>
              <a:t>True</a:t>
            </a:r>
          </a:p>
          <a:p>
            <a:pPr marL="0" indent="0">
              <a:buNone/>
            </a:pPr>
            <a:r>
              <a:rPr lang="en-US" altLang="zh-CN" dirty="0"/>
              <a:t>&gt;&gt;&gt;”</a:t>
            </a:r>
            <a:r>
              <a:rPr lang="en-US" altLang="zh-CN" dirty="0" err="1"/>
              <a:t>abc</a:t>
            </a:r>
            <a:r>
              <a:rPr lang="en-US" altLang="zh-CN" dirty="0"/>
              <a:t>” == “</a:t>
            </a:r>
            <a:r>
              <a:rPr lang="en-US" altLang="zh-CN" dirty="0" err="1"/>
              <a:t>abc</a:t>
            </a:r>
            <a:r>
              <a:rPr lang="en-US" altLang="zh-CN" dirty="0"/>
              <a:t> “</a:t>
            </a:r>
          </a:p>
          <a:p>
            <a:pPr marL="0" indent="0">
              <a:buNone/>
            </a:pPr>
            <a:r>
              <a:rPr lang="en-US" altLang="zh-CN" dirty="0"/>
              <a:t>False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7B4B90-DDB2-48B9-9099-9F81A3047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B70B589-2186-4655-B7A2-43181F79EE0A}"/>
              </a:ext>
            </a:extLst>
          </p:cNvPr>
          <p:cNvSpPr txBox="1">
            <a:spLocks/>
          </p:cNvSpPr>
          <p:nvPr/>
        </p:nvSpPr>
        <p:spPr>
          <a:xfrm>
            <a:off x="7248128" y="2011352"/>
            <a:ext cx="3241576" cy="48158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dirty="0"/>
              <a:t>&gt;&gt;&gt; 0 == True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dirty="0"/>
              <a:t>False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dirty="0"/>
              <a:t>&gt;&gt;&gt; 0 == False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dirty="0"/>
              <a:t>True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dirty="0"/>
              <a:t>&gt;&gt;&gt; 1 == True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dirty="0"/>
              <a:t>True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dirty="0"/>
              <a:t>&gt;&gt;&gt;18 == True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36465687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66327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2.2.4 </a:t>
            </a:r>
            <a:r>
              <a:rPr lang="zh-CN" altLang="en-US" dirty="0"/>
              <a:t>复合类型</a:t>
            </a:r>
            <a:br>
              <a:rPr lang="en-US" altLang="zh-CN" dirty="0"/>
            </a:br>
            <a:r>
              <a:rPr lang="zh-CN" altLang="en-US" dirty="0"/>
              <a:t>列表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1"/>
            <a:r>
              <a:rPr lang="zh-CN" altLang="en-US" dirty="0"/>
              <a:t>列表是写在方括号</a:t>
            </a:r>
            <a:r>
              <a:rPr lang="en-US" altLang="zh-CN" dirty="0"/>
              <a:t>[ ]</a:t>
            </a:r>
            <a:r>
              <a:rPr lang="zh-CN" altLang="en-US" dirty="0"/>
              <a:t>之间、用逗号分隔的数据元素序列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&gt;&gt;&gt;[ 1,2,3,45]</a:t>
            </a:r>
          </a:p>
          <a:p>
            <a:pPr marL="457200" lvl="1" indent="0">
              <a:buNone/>
            </a:pPr>
            <a:r>
              <a:rPr lang="en-US" altLang="zh-CN" dirty="0"/>
              <a:t>  &gt;&gt;&gt;[‘I ’,’am ’,’a student.’]</a:t>
            </a: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元素的数据类型可以不同</a:t>
            </a:r>
            <a:r>
              <a:rPr lang="en-US" altLang="zh-CN" dirty="0"/>
              <a:t>:</a:t>
            </a:r>
          </a:p>
          <a:p>
            <a:pPr marL="457200" lvl="1" indent="0">
              <a:buNone/>
            </a:pPr>
            <a:r>
              <a:rPr lang="en-US" altLang="zh-CN" dirty="0"/>
              <a:t>  &gt;&gt;&gt;[1,’A’,2.5,False]</a:t>
            </a: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列表是有序的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&gt;&gt;&gt; s1 = [1,2,3]</a:t>
            </a:r>
          </a:p>
          <a:p>
            <a:pPr marL="457200" lvl="1" indent="0">
              <a:buNone/>
            </a:pPr>
            <a:r>
              <a:rPr lang="en-US" altLang="zh-CN" dirty="0"/>
              <a:t>&gt;&gt;&gt; s2 = [2,1,3]</a:t>
            </a:r>
          </a:p>
          <a:p>
            <a:pPr marL="457200" lvl="1" indent="0">
              <a:buNone/>
            </a:pPr>
            <a:r>
              <a:rPr lang="en-US" altLang="zh-CN" dirty="0"/>
              <a:t>&gt;&gt;&gt; s1 == s2</a:t>
            </a:r>
          </a:p>
          <a:p>
            <a:pPr marL="457200" lvl="1" indent="0">
              <a:buNone/>
            </a:pPr>
            <a:r>
              <a:rPr lang="en-US" altLang="zh-CN" dirty="0"/>
              <a:t>False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8AF07D1-47CC-4075-A446-90C502C30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1351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66327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2.2.4 </a:t>
            </a:r>
            <a:r>
              <a:rPr lang="zh-CN" altLang="en-US" dirty="0"/>
              <a:t>复合类型</a:t>
            </a:r>
            <a:br>
              <a:rPr lang="en-US" altLang="zh-CN" dirty="0"/>
            </a:br>
            <a:r>
              <a:rPr lang="zh-CN" altLang="en-US" dirty="0"/>
              <a:t>列表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zh-CN" altLang="en-US" dirty="0"/>
              <a:t>元素可重复，</a:t>
            </a:r>
            <a:r>
              <a:rPr lang="en-US" altLang="zh-CN" dirty="0" err="1"/>
              <a:t>eg</a:t>
            </a:r>
            <a:r>
              <a:rPr lang="en-US" altLang="zh-CN" dirty="0"/>
              <a:t> [1,2,1,2]</a:t>
            </a:r>
          </a:p>
          <a:p>
            <a:pPr lvl="1"/>
            <a:r>
              <a:rPr lang="zh-CN" altLang="en-US" dirty="0"/>
              <a:t>元素可被修改</a:t>
            </a:r>
            <a:endParaRPr lang="en-US" altLang="zh-CN" dirty="0"/>
          </a:p>
          <a:p>
            <a:pPr lvl="1"/>
            <a:r>
              <a:rPr lang="zh-CN" altLang="en-US" dirty="0"/>
              <a:t>元素的引用：通过序号，编号从</a:t>
            </a:r>
            <a:r>
              <a:rPr lang="en-US" altLang="zh-CN" dirty="0"/>
              <a:t>0</a:t>
            </a:r>
            <a:r>
              <a:rPr lang="zh-CN" altLang="en-US" dirty="0"/>
              <a:t>开始</a:t>
            </a:r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8AF07D1-47CC-4075-A446-90C502C30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8087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69926" y="3645024"/>
            <a:ext cx="10852149" cy="305978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480000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&gt;&gt;&gt; x</a:t>
            </a:r>
          </a:p>
          <a:p>
            <a:pPr marL="6480000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spc="150" noProof="1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[1, 2, -100]</a:t>
            </a:r>
          </a:p>
          <a:p>
            <a:pPr marL="6480000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&gt;&gt;&gt; j = 2</a:t>
            </a:r>
          </a:p>
          <a:p>
            <a:pPr marL="6480000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&gt;&gt;&gt; x[j]</a:t>
            </a:r>
            <a:endParaRPr lang="zh-CN" altLang="en-US" sz="2800" spc="150" noProof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marL="6480000">
              <a:lnSpc>
                <a:spcPct val="120000"/>
              </a:lnSpc>
              <a:spcAft>
                <a:spcPts val="600"/>
              </a:spcAft>
            </a:pPr>
            <a:r>
              <a:rPr lang="en-US" altLang="zh-CN" sz="2800" spc="150" noProof="1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-100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66327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2.2.4 </a:t>
            </a:r>
            <a:r>
              <a:rPr lang="zh-CN" altLang="en-US" dirty="0"/>
              <a:t>复合类型</a:t>
            </a:r>
            <a:br>
              <a:rPr lang="en-US" altLang="zh-CN" dirty="0"/>
            </a:br>
            <a:r>
              <a:rPr lang="zh-CN" altLang="en-US" dirty="0"/>
              <a:t>列表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6454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&gt;&gt;&gt; [25, 'Hi', -9.34, 3+4j]</a:t>
            </a:r>
          </a:p>
          <a:p>
            <a:pPr marL="0" indent="0">
              <a:buNone/>
            </a:pPr>
            <a:r>
              <a:rPr lang="en-US" altLang="zh-CN" dirty="0"/>
              <a:t>[25, 'Hi', -9.34, (3+4j)]</a:t>
            </a:r>
          </a:p>
          <a:p>
            <a:pPr marL="0" indent="0">
              <a:buNone/>
            </a:pPr>
            <a:r>
              <a:rPr lang="en-US" altLang="zh-CN" dirty="0"/>
              <a:t>&gt;&gt;&gt; x = [1, 2, 3] </a:t>
            </a:r>
          </a:p>
          <a:p>
            <a:pPr marL="0" indent="0">
              <a:buNone/>
            </a:pPr>
            <a:r>
              <a:rPr lang="en-US" altLang="zh-CN" dirty="0"/>
              <a:t>&gt;&gt;&gt; x[2] = -100</a:t>
            </a:r>
          </a:p>
          <a:p>
            <a:pPr marL="0" indent="0">
              <a:buNone/>
            </a:pPr>
            <a:r>
              <a:rPr lang="en-US" altLang="zh-CN" dirty="0"/>
              <a:t>&gt;&gt;&gt;x</a:t>
            </a:r>
          </a:p>
          <a:p>
            <a:pPr marL="0" indent="0">
              <a:buNone/>
            </a:pPr>
            <a:r>
              <a:rPr lang="en-US" altLang="zh-CN" dirty="0"/>
              <a:t>[1,2,-100]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8AF07D1-47CC-4075-A446-90C502C30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678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元组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5884"/>
          </a:xfrm>
        </p:spPr>
        <p:txBody>
          <a:bodyPr>
            <a:normAutofit/>
          </a:bodyPr>
          <a:lstStyle/>
          <a:p>
            <a:r>
              <a:rPr lang="zh-CN" altLang="en-US" dirty="0"/>
              <a:t>写在圆括号（）之间、逗号隔开，有序序列</a:t>
            </a:r>
            <a:endParaRPr lang="en-US" altLang="zh-CN" dirty="0"/>
          </a:p>
          <a:p>
            <a:pPr lvl="1"/>
            <a:r>
              <a:rPr lang="zh-CN" altLang="en-US" dirty="0"/>
              <a:t>元素值不能修改</a:t>
            </a:r>
            <a:r>
              <a:rPr lang="en-US" altLang="zh-CN" dirty="0"/>
              <a:t> ***</a:t>
            </a:r>
          </a:p>
          <a:p>
            <a:pPr lvl="1"/>
            <a:r>
              <a:rPr lang="zh-CN" altLang="en-US" dirty="0"/>
              <a:t>元素类型可以不同</a:t>
            </a:r>
            <a:endParaRPr lang="en-US" altLang="zh-CN" dirty="0"/>
          </a:p>
          <a:p>
            <a:pPr lvl="1"/>
            <a:r>
              <a:rPr lang="zh-CN" altLang="en-US" dirty="0"/>
              <a:t>元素可重复、可嵌套</a:t>
            </a:r>
            <a:endParaRPr lang="en-US" altLang="zh-CN" dirty="0"/>
          </a:p>
          <a:p>
            <a:pPr lvl="1"/>
            <a:r>
              <a:rPr lang="zh-CN" altLang="en-US" dirty="0"/>
              <a:t>有序象集合。</a:t>
            </a:r>
            <a:endParaRPr lang="en-US" altLang="zh-CN" dirty="0"/>
          </a:p>
          <a:p>
            <a:pPr lvl="1"/>
            <a:r>
              <a:rPr lang="zh-CN" altLang="en-US" dirty="0"/>
              <a:t>任何一组用逗号分隔的数据，哪怕不用</a:t>
            </a:r>
            <a:r>
              <a:rPr lang="en-US" altLang="zh-CN" dirty="0"/>
              <a:t>()</a:t>
            </a:r>
            <a:r>
              <a:rPr lang="zh-CN" altLang="en-US" dirty="0"/>
              <a:t>，都会被系统默认为元组。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C995D9-E161-498A-8B43-7815A16D8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5022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56793"/>
            <a:ext cx="11090448" cy="4719592"/>
          </a:xfrm>
          <a:solidFill>
            <a:schemeClr val="bg1">
              <a:lumMod val="85000"/>
            </a:schemeClr>
          </a:solidFill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dirty="0"/>
              <a:t>&gt;&gt;&gt; (10, 20, 30)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(10, 20, 30)</a:t>
            </a:r>
          </a:p>
          <a:p>
            <a:pPr marL="0" indent="0">
              <a:buNone/>
            </a:pPr>
            <a:endParaRPr lang="en-US" altLang="zh-CN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&gt;&gt;&gt; workday = ('</a:t>
            </a:r>
            <a:r>
              <a:rPr lang="zh-CN" altLang="en-US" dirty="0"/>
              <a:t>周一</a:t>
            </a:r>
            <a:r>
              <a:rPr lang="en-US" altLang="zh-CN" dirty="0"/>
              <a:t>', '</a:t>
            </a:r>
            <a:r>
              <a:rPr lang="zh-CN" altLang="en-US" dirty="0"/>
              <a:t>周二</a:t>
            </a:r>
            <a:r>
              <a:rPr lang="en-US" altLang="zh-CN" dirty="0"/>
              <a:t>', '</a:t>
            </a:r>
            <a:r>
              <a:rPr lang="zh-CN" altLang="en-US" dirty="0"/>
              <a:t>周三</a:t>
            </a:r>
            <a:r>
              <a:rPr lang="en-US" altLang="zh-CN" dirty="0"/>
              <a:t>', '</a:t>
            </a:r>
            <a:r>
              <a:rPr lang="zh-CN" altLang="en-US" dirty="0"/>
              <a:t>周四</a:t>
            </a:r>
            <a:r>
              <a:rPr lang="en-US" altLang="zh-CN" dirty="0"/>
              <a:t>', '</a:t>
            </a:r>
            <a:r>
              <a:rPr lang="zh-CN" altLang="en-US" dirty="0"/>
              <a:t>周五</a:t>
            </a:r>
            <a:r>
              <a:rPr lang="en-US" altLang="zh-CN" dirty="0"/>
              <a:t>’)</a:t>
            </a:r>
          </a:p>
          <a:p>
            <a:pPr marL="0" indent="0">
              <a:buNone/>
            </a:pPr>
            <a:r>
              <a:rPr lang="en-US" altLang="zh-CN" dirty="0"/>
              <a:t>&gt;&gt;&gt;workday[3]</a:t>
            </a:r>
          </a:p>
          <a:p>
            <a:pPr marL="0" indent="0">
              <a:buNone/>
            </a:pPr>
            <a:r>
              <a:rPr lang="en-US" altLang="zh-CN" dirty="0"/>
              <a:t>‘</a:t>
            </a:r>
            <a:r>
              <a:rPr lang="zh-CN" altLang="en-US" dirty="0"/>
              <a:t>周四</a:t>
            </a:r>
            <a:r>
              <a:rPr lang="en-US" altLang="zh-CN" dirty="0"/>
              <a:t>’</a:t>
            </a:r>
          </a:p>
          <a:p>
            <a:pPr marL="0" indent="0">
              <a:buNone/>
            </a:pPr>
            <a:r>
              <a:rPr lang="en-US" altLang="zh-CN" dirty="0"/>
              <a:t>&gt;&gt;&gt; workday[3] = 'Thursday’   	#</a:t>
            </a:r>
            <a:r>
              <a:rPr lang="zh-CN" altLang="en-US" dirty="0"/>
              <a:t>元组不能修改</a:t>
            </a:r>
          </a:p>
          <a:p>
            <a:pPr marL="0" indent="0">
              <a:buNone/>
            </a:pPr>
            <a:r>
              <a:rPr lang="en-US" altLang="zh-CN" dirty="0" err="1"/>
              <a:t>Traceback</a:t>
            </a:r>
            <a:r>
              <a:rPr lang="en-US" altLang="zh-CN" dirty="0"/>
              <a:t> (most recent call last):</a:t>
            </a:r>
          </a:p>
          <a:p>
            <a:pPr marL="0" indent="0">
              <a:buNone/>
            </a:pPr>
            <a:r>
              <a:rPr lang="en-US" altLang="zh-CN" dirty="0"/>
              <a:t>  File "&lt;pyshell#45&gt;", line 1, in &lt;module&gt;</a:t>
            </a:r>
          </a:p>
          <a:p>
            <a:pPr marL="0" indent="0">
              <a:buNone/>
            </a:pPr>
            <a:r>
              <a:rPr lang="en-US" altLang="zh-CN" dirty="0"/>
              <a:t>    workday[3] = 'Thursday'</a:t>
            </a:r>
          </a:p>
          <a:p>
            <a:pPr marL="0" indent="0">
              <a:buNone/>
            </a:pPr>
            <a:r>
              <a:rPr lang="en-US" altLang="zh-CN" dirty="0" err="1"/>
              <a:t>TypeError</a:t>
            </a:r>
            <a:r>
              <a:rPr lang="en-US" altLang="zh-CN" dirty="0"/>
              <a:t>: 'tuple' object does not support item assignment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9D4F09-790E-4545-B7BD-A1C11D0F0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altLang="zh-CN" dirty="0"/>
          </a:p>
          <a:p>
            <a:fld id="{49AE70B2-8BF9-45C0-BB95-33D1B9D3A854}" type="slidenum">
              <a:rPr lang="zh-CN" altLang="en-US" smtClean="0"/>
              <a:t>29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9100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904471-9BE4-FD00-0B80-DD1C54FFA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D0B0E3-6573-DE61-E1F3-F2E218CAB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&gt;&gt;&gt; s = 3 + 7, 9 // 2, ‘Y’, True	#</a:t>
            </a:r>
            <a:r>
              <a:rPr lang="zh-CN" altLang="en-US" dirty="0"/>
              <a:t>逗号分隔的数据是做元组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&gt;&gt;&gt; s</a:t>
            </a:r>
          </a:p>
          <a:p>
            <a:pPr marL="0" indent="0">
              <a:buNone/>
            </a:pPr>
            <a:r>
              <a:rPr lang="en-US" altLang="zh-CN" dirty="0"/>
              <a:t>(10, 4, ’</a:t>
            </a:r>
            <a:r>
              <a:rPr lang="en-US" altLang="zh-CN" dirty="0" err="1"/>
              <a:t>Y’,True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BA32B4-DEE3-93BE-2E65-46E7BFF6D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5803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69925" y="4221088"/>
            <a:ext cx="11042699" cy="1944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字典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84784"/>
            <a:ext cx="11306472" cy="5373215"/>
          </a:xfrm>
        </p:spPr>
        <p:txBody>
          <a:bodyPr>
            <a:normAutofit/>
          </a:bodyPr>
          <a:lstStyle/>
          <a:p>
            <a:r>
              <a:rPr lang="zh-CN" altLang="en-US" dirty="0"/>
              <a:t>写在大括号</a:t>
            </a:r>
            <a:r>
              <a:rPr lang="en-US" altLang="zh-CN" dirty="0"/>
              <a:t>{}</a:t>
            </a:r>
            <a:r>
              <a:rPr lang="zh-CN" altLang="en-US" dirty="0"/>
              <a:t>之间、用逗号分隔的数据元素集合。</a:t>
            </a:r>
            <a:endParaRPr lang="en-US" altLang="zh-CN" dirty="0"/>
          </a:p>
          <a:p>
            <a:pPr lvl="1"/>
            <a:r>
              <a:rPr lang="zh-CN" altLang="en-US" dirty="0"/>
              <a:t>元素由关键字和值组成，中间用</a:t>
            </a:r>
            <a:r>
              <a:rPr lang="en-US" altLang="zh-CN" dirty="0"/>
              <a:t>:</a:t>
            </a:r>
            <a:r>
              <a:rPr lang="zh-CN" altLang="en-US" dirty="0"/>
              <a:t>连接。元素之间，分隔</a:t>
            </a:r>
            <a:endParaRPr lang="en-US" altLang="zh-CN" dirty="0"/>
          </a:p>
          <a:p>
            <a:pPr lvl="1"/>
            <a:r>
              <a:rPr lang="zh-CN" altLang="en-US" dirty="0"/>
              <a:t>字典中的元素通过关键字来存取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&gt;&gt;&gt; d = {1:’Monday’, 2:’Tuesday’, 3:’Wednesday’, 4:’Thursday’,\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           	5:’Friday’, 6:’Saturday’, 7:’Sunday’}</a:t>
            </a:r>
          </a:p>
          <a:p>
            <a:pPr lvl="1"/>
            <a:r>
              <a:rPr lang="zh-CN" altLang="en-US" dirty="0"/>
              <a:t>关键字不可重复，值可以重复</a:t>
            </a:r>
            <a:endParaRPr lang="en-US" altLang="zh-CN" dirty="0"/>
          </a:p>
          <a:p>
            <a:pPr lvl="1"/>
            <a:r>
              <a:rPr lang="zh-CN" altLang="en-US" dirty="0"/>
              <a:t>字典是无序的：顺序程序员无法控制</a:t>
            </a:r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25F927-12A4-4DEA-8774-F06290CCD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293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字典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&gt;&gt;&gt;d = {‘name’:‘Mike’,‘age’:18,’salary’:4000}</a:t>
            </a:r>
          </a:p>
          <a:p>
            <a:pPr marL="0" indent="0">
              <a:buNone/>
            </a:pPr>
            <a:r>
              <a:rPr lang="en-US" altLang="zh-CN" sz="2400" dirty="0"/>
              <a:t>&gt;&gt;&gt; d['age']           # </a:t>
            </a:r>
            <a:r>
              <a:rPr lang="zh-CN" altLang="en-US" sz="2400" dirty="0"/>
              <a:t>显示字典</a:t>
            </a:r>
            <a:r>
              <a:rPr lang="en-US" altLang="zh-CN" sz="2400" dirty="0"/>
              <a:t>d</a:t>
            </a:r>
            <a:r>
              <a:rPr lang="zh-CN" altLang="en-US" sz="2400" dirty="0"/>
              <a:t>中关键字为</a:t>
            </a:r>
            <a:r>
              <a:rPr lang="en-US" altLang="zh-CN" sz="2400" dirty="0"/>
              <a:t>age</a:t>
            </a:r>
            <a:r>
              <a:rPr lang="zh-CN" altLang="en-US" sz="2400" dirty="0"/>
              <a:t>的值</a:t>
            </a:r>
          </a:p>
          <a:p>
            <a:pPr marL="0" indent="0">
              <a:buNone/>
            </a:pPr>
            <a:r>
              <a:rPr lang="en-US" altLang="zh-CN" sz="2400" dirty="0"/>
              <a:t>18</a:t>
            </a:r>
          </a:p>
          <a:p>
            <a:pPr marL="0" indent="0">
              <a:buNone/>
            </a:pPr>
            <a:r>
              <a:rPr lang="en-US" altLang="zh-CN" sz="2400" dirty="0"/>
              <a:t>&gt;&gt;&gt; d[‘salary'] = 6000</a:t>
            </a:r>
          </a:p>
          <a:p>
            <a:pPr marL="0" indent="0">
              <a:buNone/>
            </a:pPr>
            <a:r>
              <a:rPr lang="en-US" altLang="zh-CN" sz="2400" dirty="0"/>
              <a:t>&gt;&gt;&gt; d</a:t>
            </a:r>
          </a:p>
          <a:p>
            <a:pPr marL="0" indent="0">
              <a:buNone/>
            </a:pPr>
            <a:r>
              <a:rPr lang="en-US" altLang="zh-CN" sz="2400" dirty="0"/>
              <a:t>{'name': 'Mike', 'age’: 18, ‘salary': 6000}</a:t>
            </a:r>
          </a:p>
          <a:p>
            <a:pPr marL="0" indent="0">
              <a:buNone/>
            </a:pPr>
            <a:r>
              <a:rPr lang="en-US" altLang="zh-CN" sz="2400" dirty="0"/>
              <a:t>&gt;&gt;&gt; d['bonus'] = 3000    # </a:t>
            </a:r>
            <a:r>
              <a:rPr lang="zh-CN" altLang="en-US" sz="2400" dirty="0"/>
              <a:t>增加了一个新元素</a:t>
            </a:r>
            <a:r>
              <a:rPr lang="en-US" altLang="zh-CN" sz="2400" dirty="0"/>
              <a:t>'bonus': 3000</a:t>
            </a:r>
            <a:endParaRPr lang="zh-CN" altLang="en-US" sz="2400" dirty="0"/>
          </a:p>
          <a:p>
            <a:pPr marL="0" indent="0">
              <a:buNone/>
            </a:pPr>
            <a:r>
              <a:rPr lang="en-US" altLang="zh-CN" sz="2400" dirty="0"/>
              <a:t>&gt;&gt;&gt; d</a:t>
            </a:r>
          </a:p>
          <a:p>
            <a:pPr marL="0" indent="0">
              <a:buNone/>
            </a:pPr>
            <a:r>
              <a:rPr lang="en-US" altLang="zh-CN" sz="2400" dirty="0"/>
              <a:t>{'name': 'Mike', 'age': 12, ‘salary': 6000, 'bonus': 3000}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391688-A70E-47EB-888D-18C995B49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3979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69925" y="3284984"/>
            <a:ext cx="11042699" cy="1944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集合是写在大括号</a:t>
            </a:r>
            <a:r>
              <a:rPr lang="en-US" altLang="zh-CN" dirty="0"/>
              <a:t>{}</a:t>
            </a:r>
            <a:r>
              <a:rPr lang="zh-CN" altLang="en-US" dirty="0"/>
              <a:t>之间、用逗号分隔的数据元素集合。</a:t>
            </a:r>
            <a:endParaRPr lang="en-US" altLang="zh-CN" dirty="0"/>
          </a:p>
          <a:p>
            <a:pPr lvl="1"/>
            <a:r>
              <a:rPr lang="zh-CN" altLang="en-US" dirty="0"/>
              <a:t>特点：元素是无序的、不重复的</a:t>
            </a:r>
            <a:endParaRPr lang="en-US" altLang="zh-CN" dirty="0"/>
          </a:p>
          <a:p>
            <a:pPr lvl="1"/>
            <a:r>
              <a:rPr lang="zh-CN" altLang="en-US" dirty="0"/>
              <a:t>集合的数据元素可以添加、删除。</a:t>
            </a:r>
          </a:p>
          <a:p>
            <a:pPr marL="0" indent="0">
              <a:buNone/>
            </a:pPr>
            <a:r>
              <a:rPr lang="en-US" altLang="zh-CN" dirty="0"/>
              <a:t>&gt;&gt;&gt; s1 = {'Jim', 'Mike', 'Mary', 'Tom', 'Jim'}</a:t>
            </a:r>
          </a:p>
          <a:p>
            <a:pPr marL="0" indent="0">
              <a:buNone/>
            </a:pPr>
            <a:r>
              <a:rPr lang="en-US" altLang="zh-CN" dirty="0"/>
              <a:t>&gt;&gt;&gt; s1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{'Jim', 'Tom', 'Mary', 'Mike'}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13FE751-FC4B-43D6-8CC6-84FC74B9C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2825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882775" y="2292350"/>
            <a:ext cx="868489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2.3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变量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B256E1B-C54C-4290-A397-A587B69DC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34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</a:t>
            </a:r>
          </a:p>
        </p:txBody>
      </p:sp>
      <p:sp>
        <p:nvSpPr>
          <p:cNvPr id="4" name="椭圆 21"/>
          <p:cNvSpPr>
            <a:spLocks noChangeAspect="1" noChangeArrowheads="1"/>
          </p:cNvSpPr>
          <p:nvPr/>
        </p:nvSpPr>
        <p:spPr bwMode="auto">
          <a:xfrm>
            <a:off x="3215681" y="2920194"/>
            <a:ext cx="576000" cy="576000"/>
          </a:xfrm>
          <a:prstGeom prst="ellipse">
            <a:avLst/>
          </a:prstGeom>
          <a:noFill/>
          <a:ln w="31750">
            <a:solidFill>
              <a:srgbClr val="FFFFFF"/>
            </a:solidFill>
          </a:ln>
          <a:effectLst>
            <a:outerShdw blurRad="38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CN" sz="2400" dirty="0">
                <a:solidFill>
                  <a:schemeClr val="lt1"/>
                </a:solidFill>
              </a:rPr>
              <a:t>1</a:t>
            </a:r>
            <a:endParaRPr lang="zh-CN" altLang="en-US" sz="2400" dirty="0">
              <a:solidFill>
                <a:schemeClr val="lt1"/>
              </a:solidFill>
            </a:endParaRPr>
          </a:p>
        </p:txBody>
      </p:sp>
      <p:sp>
        <p:nvSpPr>
          <p:cNvPr id="5" name="椭圆 24"/>
          <p:cNvSpPr>
            <a:spLocks noChangeAspect="1" noChangeArrowheads="1"/>
          </p:cNvSpPr>
          <p:nvPr/>
        </p:nvSpPr>
        <p:spPr bwMode="auto">
          <a:xfrm>
            <a:off x="3215681" y="3791616"/>
            <a:ext cx="576000" cy="576000"/>
          </a:xfrm>
          <a:prstGeom prst="ellipse">
            <a:avLst/>
          </a:prstGeom>
          <a:noFill/>
          <a:ln w="31750">
            <a:solidFill>
              <a:srgbClr val="FFFFFF"/>
            </a:solidFill>
          </a:ln>
          <a:effectLst>
            <a:outerShdw blurRad="38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CN" sz="2400">
                <a:solidFill>
                  <a:schemeClr val="lt1"/>
                </a:solidFill>
              </a:rPr>
              <a:t>2</a:t>
            </a:r>
            <a:endParaRPr lang="zh-CN" altLang="en-US" sz="2400">
              <a:solidFill>
                <a:schemeClr val="lt1"/>
              </a:solidFill>
            </a:endParaRPr>
          </a:p>
        </p:txBody>
      </p:sp>
      <p:sp>
        <p:nvSpPr>
          <p:cNvPr id="6" name="椭圆 27"/>
          <p:cNvSpPr>
            <a:spLocks noChangeAspect="1" noChangeArrowheads="1"/>
          </p:cNvSpPr>
          <p:nvPr/>
        </p:nvSpPr>
        <p:spPr bwMode="auto">
          <a:xfrm>
            <a:off x="3215681" y="4730296"/>
            <a:ext cx="576000" cy="576000"/>
          </a:xfrm>
          <a:prstGeom prst="ellipse">
            <a:avLst/>
          </a:prstGeom>
          <a:noFill/>
          <a:ln w="31750">
            <a:solidFill>
              <a:srgbClr val="FFFFFF"/>
            </a:solidFill>
          </a:ln>
          <a:effectLst>
            <a:outerShdw blurRad="38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CN" sz="2400">
                <a:solidFill>
                  <a:schemeClr val="lt1"/>
                </a:solidFill>
              </a:rPr>
              <a:t>3</a:t>
            </a:r>
            <a:endParaRPr lang="zh-CN" altLang="en-US" sz="2400">
              <a:solidFill>
                <a:schemeClr val="lt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43472" y="1404000"/>
            <a:ext cx="3528392" cy="792000"/>
          </a:xfrm>
          <a:prstGeom prst="rect">
            <a:avLst/>
          </a:prstGeom>
          <a:noFill/>
          <a:ln w="28575">
            <a:solidFill>
              <a:schemeClr val="bg2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dirty="0"/>
              <a:t>&gt;&gt;&gt; a = 3.012456</a:t>
            </a:r>
            <a:endParaRPr lang="zh-CN" altLang="en-US" sz="2800" dirty="0"/>
          </a:p>
        </p:txBody>
      </p:sp>
      <p:sp>
        <p:nvSpPr>
          <p:cNvPr id="8" name="圆角矩形 7"/>
          <p:cNvSpPr/>
          <p:nvPr/>
        </p:nvSpPr>
        <p:spPr>
          <a:xfrm>
            <a:off x="4151784" y="2852936"/>
            <a:ext cx="7370291" cy="609629"/>
          </a:xfrm>
          <a:prstGeom prst="roundRect">
            <a:avLst/>
          </a:prstGeom>
          <a:noFill/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tx1"/>
                </a:solidFill>
              </a:rPr>
              <a:t>创建了一个</a:t>
            </a:r>
            <a:r>
              <a:rPr lang="en-US" altLang="zh-CN" sz="2400" dirty="0">
                <a:solidFill>
                  <a:schemeClr val="tx1"/>
                </a:solidFill>
              </a:rPr>
              <a:t>float</a:t>
            </a:r>
            <a:r>
              <a:rPr lang="zh-CN" altLang="en-US" sz="2400" dirty="0">
                <a:solidFill>
                  <a:schemeClr val="tx1"/>
                </a:solidFill>
              </a:rPr>
              <a:t>类型的对象</a:t>
            </a:r>
            <a:r>
              <a:rPr lang="en-US" altLang="zh-CN" sz="2400" dirty="0">
                <a:solidFill>
                  <a:schemeClr val="tx1"/>
                </a:solidFill>
              </a:rPr>
              <a:t>3.012456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4124620" y="3791616"/>
            <a:ext cx="7397455" cy="609629"/>
          </a:xfrm>
          <a:prstGeom prst="roundRect">
            <a:avLst/>
          </a:prstGeom>
          <a:noFill/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tx1"/>
                </a:solidFill>
              </a:rPr>
              <a:t>创建了一个名为</a:t>
            </a:r>
            <a:r>
              <a:rPr lang="en-US" altLang="zh-CN" sz="2400" dirty="0">
                <a:solidFill>
                  <a:schemeClr val="tx1"/>
                </a:solidFill>
              </a:rPr>
              <a:t>a</a:t>
            </a:r>
            <a:r>
              <a:rPr lang="zh-CN" altLang="en-US" sz="2400" dirty="0">
                <a:solidFill>
                  <a:schemeClr val="tx1"/>
                </a:solidFill>
              </a:rPr>
              <a:t>的变量（变量</a:t>
            </a:r>
            <a:r>
              <a:rPr lang="en-US" altLang="zh-CN" sz="2400" dirty="0">
                <a:solidFill>
                  <a:schemeClr val="tx1"/>
                </a:solidFill>
              </a:rPr>
              <a:t>a</a:t>
            </a:r>
            <a:r>
              <a:rPr lang="zh-CN" altLang="en-US" sz="2400" dirty="0">
                <a:solidFill>
                  <a:schemeClr val="tx1"/>
                </a:solidFill>
              </a:rPr>
              <a:t>其实也是一个对象）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4124620" y="4730296"/>
            <a:ext cx="7397455" cy="1579024"/>
          </a:xfrm>
          <a:prstGeom prst="roundRect">
            <a:avLst/>
          </a:prstGeom>
          <a:noFill/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chemeClr val="tx1"/>
                </a:solidFill>
              </a:rPr>
              <a:t>将变量</a:t>
            </a:r>
            <a:r>
              <a:rPr lang="en-US" altLang="zh-CN" sz="2400" dirty="0">
                <a:solidFill>
                  <a:schemeClr val="tx1"/>
                </a:solidFill>
              </a:rPr>
              <a:t>a</a:t>
            </a:r>
            <a:r>
              <a:rPr lang="zh-CN" altLang="en-US" sz="2400" dirty="0">
                <a:solidFill>
                  <a:schemeClr val="tx1"/>
                </a:solidFill>
              </a:rPr>
              <a:t>与</a:t>
            </a:r>
            <a:r>
              <a:rPr lang="en-US" altLang="zh-CN" sz="2400" dirty="0">
                <a:solidFill>
                  <a:schemeClr val="tx1"/>
                </a:solidFill>
              </a:rPr>
              <a:t>float</a:t>
            </a:r>
            <a:r>
              <a:rPr lang="zh-CN" altLang="en-US" sz="2400" dirty="0">
                <a:solidFill>
                  <a:schemeClr val="tx1"/>
                </a:solidFill>
              </a:rPr>
              <a:t>类型的对象</a:t>
            </a:r>
            <a:r>
              <a:rPr lang="en-US" altLang="zh-CN" sz="2400" dirty="0">
                <a:solidFill>
                  <a:schemeClr val="tx1"/>
                </a:solidFill>
              </a:rPr>
              <a:t>3.012456</a:t>
            </a:r>
            <a:r>
              <a:rPr lang="zh-CN" altLang="en-US" sz="2400" dirty="0">
                <a:solidFill>
                  <a:schemeClr val="tx1"/>
                </a:solidFill>
              </a:rPr>
              <a:t>相连接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变量</a:t>
            </a:r>
            <a:r>
              <a:rPr lang="en-US" altLang="zh-CN" sz="2400" dirty="0">
                <a:solidFill>
                  <a:schemeClr val="tx1"/>
                </a:solidFill>
              </a:rPr>
              <a:t>a</a:t>
            </a:r>
            <a:r>
              <a:rPr lang="zh-CN" altLang="en-US" sz="2400" dirty="0">
                <a:solidFill>
                  <a:schemeClr val="tx1"/>
                </a:solidFill>
              </a:rPr>
              <a:t>引用</a:t>
            </a:r>
            <a:r>
              <a:rPr lang="en-US" altLang="zh-CN" sz="2400" dirty="0">
                <a:solidFill>
                  <a:schemeClr val="tx1"/>
                </a:solidFill>
              </a:rPr>
              <a:t>float</a:t>
            </a:r>
            <a:r>
              <a:rPr lang="zh-CN" altLang="en-US" sz="2400" dirty="0">
                <a:solidFill>
                  <a:schemeClr val="tx1"/>
                </a:solidFill>
              </a:rPr>
              <a:t>类型对象</a:t>
            </a:r>
            <a:r>
              <a:rPr lang="en-US" altLang="zh-CN" sz="2400" dirty="0">
                <a:solidFill>
                  <a:schemeClr val="tx1"/>
                </a:solidFill>
              </a:rPr>
              <a:t>3.012456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/>
                </a:solidFill>
              </a:rPr>
              <a:t>或称：</a:t>
            </a:r>
            <a:r>
              <a:rPr lang="en-US" altLang="zh-CN" sz="2400" dirty="0">
                <a:solidFill>
                  <a:schemeClr val="tx1"/>
                </a:solidFill>
              </a:rPr>
              <a:t>a</a:t>
            </a:r>
            <a:r>
              <a:rPr lang="zh-CN" altLang="en-US" sz="2400" dirty="0">
                <a:solidFill>
                  <a:schemeClr val="tx1"/>
                </a:solidFill>
              </a:rPr>
              <a:t>被赋值为</a:t>
            </a:r>
            <a:r>
              <a:rPr lang="en-US" altLang="zh-CN" sz="2400" dirty="0">
                <a:solidFill>
                  <a:schemeClr val="tx1"/>
                </a:solidFill>
              </a:rPr>
              <a:t>3.012456</a:t>
            </a:r>
            <a:r>
              <a:rPr lang="zh-CN" altLang="en-US" sz="2400" dirty="0">
                <a:solidFill>
                  <a:schemeClr val="tx1"/>
                </a:solidFill>
              </a:rPr>
              <a:t>（传统说法）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2135560" y="2279184"/>
            <a:ext cx="1111623" cy="2718000"/>
            <a:chOff x="2135560" y="2279184"/>
            <a:chExt cx="1111623" cy="2718000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2135560" y="2279184"/>
              <a:ext cx="0" cy="2718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2135560" y="3203155"/>
              <a:ext cx="1111623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2135560" y="4079616"/>
              <a:ext cx="1111623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2135560" y="4984667"/>
              <a:ext cx="1111623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0C6CD5-0383-4AFB-8852-2C1FCB00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105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对象是指将一组数据和与这组数据有关的操作组装在一起，形成的一个整体</a:t>
            </a:r>
            <a:endParaRPr lang="en-US" altLang="zh-CN" dirty="0"/>
          </a:p>
          <a:p>
            <a:r>
              <a:rPr lang="en-US" altLang="zh-CN" dirty="0"/>
              <a:t>a = 3.012456</a:t>
            </a:r>
          </a:p>
          <a:p>
            <a:pPr lvl="1"/>
            <a:r>
              <a:rPr lang="en-US" altLang="zh-CN" dirty="0"/>
              <a:t>a</a:t>
            </a:r>
            <a:r>
              <a:rPr lang="zh-CN" altLang="en-US" dirty="0"/>
              <a:t>是一个变量对象</a:t>
            </a:r>
            <a:endParaRPr lang="en-US" altLang="zh-CN" dirty="0"/>
          </a:p>
          <a:p>
            <a:pPr lvl="1"/>
            <a:r>
              <a:rPr lang="en-US" altLang="zh-CN" dirty="0"/>
              <a:t>3.012456</a:t>
            </a:r>
            <a:r>
              <a:rPr lang="zh-CN" altLang="en-US" dirty="0"/>
              <a:t>是一个数据对象</a:t>
            </a:r>
            <a:endParaRPr lang="en-US" altLang="zh-CN" dirty="0"/>
          </a:p>
          <a:p>
            <a:r>
              <a:rPr lang="zh-CN" altLang="en-US" dirty="0"/>
              <a:t>数据对象分为两种：可变数据对象和不可变数据对象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A398CC-5D7F-4F02-8D0B-1E37B4068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4802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标识符</a:t>
            </a:r>
          </a:p>
        </p:txBody>
      </p:sp>
      <p:sp>
        <p:nvSpPr>
          <p:cNvPr id="11" name="椭圆 21"/>
          <p:cNvSpPr>
            <a:spLocks noChangeAspect="1" noChangeArrowheads="1"/>
          </p:cNvSpPr>
          <p:nvPr/>
        </p:nvSpPr>
        <p:spPr bwMode="auto">
          <a:xfrm>
            <a:off x="2367363" y="2551838"/>
            <a:ext cx="504000" cy="504000"/>
          </a:xfrm>
          <a:prstGeom prst="ellipse">
            <a:avLst/>
          </a:prstGeom>
          <a:noFill/>
          <a:ln w="31750">
            <a:solidFill>
              <a:srgbClr val="FFFFFF"/>
            </a:solidFill>
          </a:ln>
          <a:effectLst>
            <a:outerShdw blurRad="38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CN" sz="2000">
                <a:solidFill>
                  <a:schemeClr val="lt1"/>
                </a:solidFill>
              </a:rPr>
              <a:t>1</a:t>
            </a:r>
            <a:endParaRPr lang="zh-CN" altLang="en-US" sz="2000">
              <a:solidFill>
                <a:schemeClr val="lt1"/>
              </a:solidFill>
            </a:endParaRPr>
          </a:p>
        </p:txBody>
      </p:sp>
      <p:sp>
        <p:nvSpPr>
          <p:cNvPr id="12" name="椭圆 24"/>
          <p:cNvSpPr>
            <a:spLocks noChangeAspect="1" noChangeArrowheads="1"/>
          </p:cNvSpPr>
          <p:nvPr/>
        </p:nvSpPr>
        <p:spPr bwMode="auto">
          <a:xfrm>
            <a:off x="2367363" y="3348418"/>
            <a:ext cx="504000" cy="504000"/>
          </a:xfrm>
          <a:prstGeom prst="ellipse">
            <a:avLst/>
          </a:prstGeom>
          <a:noFill/>
          <a:ln w="31750">
            <a:solidFill>
              <a:srgbClr val="FFFFFF"/>
            </a:solidFill>
          </a:ln>
          <a:effectLst>
            <a:outerShdw blurRad="38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CN" sz="2000">
                <a:solidFill>
                  <a:schemeClr val="lt1"/>
                </a:solidFill>
              </a:rPr>
              <a:t>2</a:t>
            </a:r>
            <a:endParaRPr lang="zh-CN" altLang="en-US" sz="2000">
              <a:solidFill>
                <a:schemeClr val="lt1"/>
              </a:solidFill>
            </a:endParaRPr>
          </a:p>
        </p:txBody>
      </p:sp>
      <p:sp>
        <p:nvSpPr>
          <p:cNvPr id="13" name="椭圆 27"/>
          <p:cNvSpPr>
            <a:spLocks noChangeAspect="1" noChangeArrowheads="1"/>
          </p:cNvSpPr>
          <p:nvPr/>
        </p:nvSpPr>
        <p:spPr bwMode="auto">
          <a:xfrm>
            <a:off x="2367363" y="4144998"/>
            <a:ext cx="504000" cy="504000"/>
          </a:xfrm>
          <a:prstGeom prst="ellipse">
            <a:avLst/>
          </a:prstGeom>
          <a:noFill/>
          <a:ln w="31750">
            <a:solidFill>
              <a:srgbClr val="FFFFFF"/>
            </a:solidFill>
          </a:ln>
          <a:effectLst>
            <a:outerShdw blurRad="38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CN" sz="2000">
                <a:solidFill>
                  <a:schemeClr val="lt1"/>
                </a:solidFill>
              </a:rPr>
              <a:t>3</a:t>
            </a:r>
            <a:endParaRPr lang="zh-CN" altLang="en-US" sz="2000">
              <a:solidFill>
                <a:schemeClr val="lt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39416" y="1309124"/>
            <a:ext cx="3528392" cy="792000"/>
          </a:xfrm>
          <a:prstGeom prst="rect">
            <a:avLst/>
          </a:prstGeom>
          <a:noFill/>
          <a:ln w="28575">
            <a:solidFill>
              <a:schemeClr val="bg2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Mycomputer_01</a:t>
            </a:r>
            <a:endParaRPr lang="zh-CN" altLang="en-US" sz="2800" dirty="0"/>
          </a:p>
        </p:txBody>
      </p:sp>
      <p:sp>
        <p:nvSpPr>
          <p:cNvPr id="15" name="圆角矩形 14"/>
          <p:cNvSpPr/>
          <p:nvPr/>
        </p:nvSpPr>
        <p:spPr>
          <a:xfrm>
            <a:off x="3044498" y="2482397"/>
            <a:ext cx="8812135" cy="609629"/>
          </a:xfrm>
          <a:prstGeom prst="roundRect">
            <a:avLst/>
          </a:prstGeom>
          <a:noFill/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tx1"/>
                </a:solidFill>
              </a:rPr>
              <a:t>标识符用来标识一个变量、函数、类、模块或其他对象的名称</a:t>
            </a:r>
          </a:p>
        </p:txBody>
      </p:sp>
      <p:sp>
        <p:nvSpPr>
          <p:cNvPr id="16" name="圆角矩形 15"/>
          <p:cNvSpPr/>
          <p:nvPr/>
        </p:nvSpPr>
        <p:spPr>
          <a:xfrm>
            <a:off x="3030916" y="3287597"/>
            <a:ext cx="7397455" cy="609629"/>
          </a:xfrm>
          <a:prstGeom prst="roundRect">
            <a:avLst/>
          </a:prstGeom>
          <a:noFill/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dirty="0">
                <a:solidFill>
                  <a:schemeClr val="tx1"/>
                </a:solidFill>
              </a:rPr>
              <a:t>可用的符号有英文字母、汉字、数字或下画线</a:t>
            </a:r>
          </a:p>
        </p:txBody>
      </p:sp>
      <p:sp>
        <p:nvSpPr>
          <p:cNvPr id="17" name="圆角矩形 16"/>
          <p:cNvSpPr/>
          <p:nvPr/>
        </p:nvSpPr>
        <p:spPr>
          <a:xfrm>
            <a:off x="3044499" y="4092798"/>
            <a:ext cx="7397455" cy="608400"/>
          </a:xfrm>
          <a:prstGeom prst="roundRect">
            <a:avLst/>
          </a:prstGeom>
          <a:noFill/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第</a:t>
            </a:r>
            <a:r>
              <a:rPr lang="en-US" altLang="zh-CN" sz="2800" dirty="0">
                <a:solidFill>
                  <a:schemeClr val="tx1"/>
                </a:solidFill>
              </a:rPr>
              <a:t>1</a:t>
            </a:r>
            <a:r>
              <a:rPr lang="zh-CN" altLang="en-US" sz="2800" dirty="0">
                <a:solidFill>
                  <a:schemeClr val="tx1"/>
                </a:solidFill>
              </a:rPr>
              <a:t>个字符不能是数字</a:t>
            </a:r>
            <a:endParaRPr lang="en-US" altLang="zh-CN" sz="2800" dirty="0">
              <a:solidFill>
                <a:schemeClr val="tx1"/>
              </a:solidFill>
            </a:endParaRPr>
          </a:p>
        </p:txBody>
      </p:sp>
      <p:sp>
        <p:nvSpPr>
          <p:cNvPr id="23" name="椭圆 27"/>
          <p:cNvSpPr>
            <a:spLocks noChangeAspect="1" noChangeArrowheads="1"/>
          </p:cNvSpPr>
          <p:nvPr/>
        </p:nvSpPr>
        <p:spPr bwMode="auto">
          <a:xfrm>
            <a:off x="2351612" y="4941578"/>
            <a:ext cx="504000" cy="504000"/>
          </a:xfrm>
          <a:prstGeom prst="ellipse">
            <a:avLst/>
          </a:prstGeom>
          <a:noFill/>
          <a:ln w="31750">
            <a:solidFill>
              <a:srgbClr val="FFFFFF"/>
            </a:solidFill>
          </a:ln>
          <a:effectLst>
            <a:outerShdw blurRad="38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CN" sz="2000" dirty="0">
                <a:solidFill>
                  <a:schemeClr val="lt1"/>
                </a:solidFill>
              </a:rPr>
              <a:t>4</a:t>
            </a:r>
            <a:endParaRPr lang="zh-CN" altLang="en-US" sz="2000" dirty="0">
              <a:solidFill>
                <a:schemeClr val="lt1"/>
              </a:solidFill>
            </a:endParaRPr>
          </a:p>
        </p:txBody>
      </p:sp>
      <p:sp>
        <p:nvSpPr>
          <p:cNvPr id="24" name="椭圆 27"/>
          <p:cNvSpPr>
            <a:spLocks noChangeAspect="1" noChangeArrowheads="1"/>
          </p:cNvSpPr>
          <p:nvPr/>
        </p:nvSpPr>
        <p:spPr bwMode="auto">
          <a:xfrm>
            <a:off x="2367363" y="5738158"/>
            <a:ext cx="504000" cy="504000"/>
          </a:xfrm>
          <a:prstGeom prst="ellipse">
            <a:avLst/>
          </a:prstGeom>
          <a:noFill/>
          <a:ln w="31750">
            <a:solidFill>
              <a:srgbClr val="FFFFFF"/>
            </a:solidFill>
          </a:ln>
          <a:effectLst>
            <a:outerShdw blurRad="38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CN" sz="2000" dirty="0">
                <a:solidFill>
                  <a:schemeClr val="lt1"/>
                </a:solidFill>
              </a:rPr>
              <a:t>5</a:t>
            </a:r>
            <a:endParaRPr lang="zh-CN" altLang="en-US" sz="2000" dirty="0">
              <a:solidFill>
                <a:schemeClr val="lt1"/>
              </a:solidFill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3060428" y="4889378"/>
            <a:ext cx="7397455" cy="608400"/>
          </a:xfrm>
          <a:prstGeom prst="roundRect">
            <a:avLst/>
          </a:prstGeom>
          <a:noFill/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对大小写敏感</a:t>
            </a:r>
            <a:endParaRPr lang="en-US" altLang="zh-CN" sz="2800" dirty="0">
              <a:solidFill>
                <a:schemeClr val="tx1"/>
              </a:solidFill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3062775" y="5685958"/>
            <a:ext cx="9369922" cy="608400"/>
          </a:xfrm>
          <a:prstGeom prst="roundRect">
            <a:avLst/>
          </a:prstGeom>
          <a:noFill/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关键字或保留字</a:t>
            </a:r>
            <a:r>
              <a:rPr lang="en-US" altLang="zh-CN" sz="2800" dirty="0">
                <a:solidFill>
                  <a:schemeClr val="tx1"/>
                </a:solidFill>
              </a:rPr>
              <a:t>——</a:t>
            </a:r>
            <a:r>
              <a:rPr lang="zh-CN" altLang="en-US" sz="2800" dirty="0">
                <a:solidFill>
                  <a:schemeClr val="tx1"/>
                </a:solidFill>
              </a:rPr>
              <a:t>有一些标识符有固定含义和作用</a:t>
            </a:r>
            <a:endParaRPr lang="en-US" altLang="zh-CN" sz="2800" dirty="0">
              <a:solidFill>
                <a:schemeClr val="tx1"/>
              </a:solidFill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1620000" y="2165361"/>
            <a:ext cx="606020" cy="3844800"/>
            <a:chOff x="1620000" y="2165361"/>
            <a:chExt cx="606020" cy="3844800"/>
          </a:xfrm>
        </p:grpSpPr>
        <p:cxnSp>
          <p:nvCxnSpPr>
            <p:cNvPr id="19" name="直接连接符 18"/>
            <p:cNvCxnSpPr/>
            <p:nvPr/>
          </p:nvCxnSpPr>
          <p:spPr>
            <a:xfrm flipH="1">
              <a:off x="1620000" y="2165361"/>
              <a:ext cx="0" cy="38448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1632813" y="2808777"/>
              <a:ext cx="593207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1632813" y="3600418"/>
              <a:ext cx="593207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1632813" y="4422888"/>
              <a:ext cx="593207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flipH="1">
              <a:off x="1632813" y="5221887"/>
              <a:ext cx="593207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H="1">
              <a:off x="1632813" y="5990158"/>
              <a:ext cx="593207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E5CEAF2-F1F9-48EF-A213-0931D5025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976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CE6898-E1DD-4370-AE52-476F051D9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0643E5-9FBB-49A3-88FA-FC06D71A5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正确的标识符：</a:t>
            </a:r>
            <a:endParaRPr lang="en-US" altLang="zh-CN" b="1" dirty="0"/>
          </a:p>
          <a:p>
            <a:pPr lvl="1"/>
            <a:r>
              <a:rPr lang="en-US" altLang="zh-CN" b="1" dirty="0"/>
              <a:t>X1, </a:t>
            </a:r>
            <a:r>
              <a:rPr lang="en-US" altLang="zh-CN" b="1" dirty="0" err="1"/>
              <a:t>my_test</a:t>
            </a:r>
            <a:r>
              <a:rPr lang="en-US" altLang="zh-CN" b="1" dirty="0"/>
              <a:t>, _123</a:t>
            </a:r>
          </a:p>
          <a:p>
            <a:r>
              <a:rPr lang="zh-CN" altLang="en-US" b="1" dirty="0"/>
              <a:t>错误的：</a:t>
            </a:r>
            <a:endParaRPr lang="en-US" altLang="zh-CN" b="1" dirty="0"/>
          </a:p>
          <a:p>
            <a:pPr lvl="1"/>
            <a:r>
              <a:rPr lang="en-US" altLang="zh-CN" b="1" dirty="0"/>
              <a:t>Test!2,  class,  2x</a:t>
            </a:r>
          </a:p>
          <a:p>
            <a:pPr lvl="1"/>
            <a:endParaRPr lang="en-US" altLang="zh-CN" b="1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52E38A-5ED2-4B38-8D69-97710033B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7308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4549A-0ACE-46E0-93C0-5FC785EA0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152470"/>
            <a:ext cx="11642650" cy="549274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Python</a:t>
            </a:r>
            <a:r>
              <a:rPr lang="zh-CN" altLang="en-US" sz="4900" dirty="0"/>
              <a:t>的</a:t>
            </a:r>
            <a:r>
              <a:rPr lang="en-US" altLang="zh-CN" dirty="0"/>
              <a:t>33</a:t>
            </a:r>
            <a:r>
              <a:rPr lang="zh-CN" altLang="en-US" dirty="0"/>
              <a:t>个保留字（关键字）</a:t>
            </a:r>
          </a:p>
        </p:txBody>
      </p:sp>
      <p:pic>
        <p:nvPicPr>
          <p:cNvPr id="13" name="内容占位符 12">
            <a:extLst>
              <a:ext uri="{FF2B5EF4-FFF2-40B4-BE49-F238E27FC236}">
                <a16:creationId xmlns:a16="http://schemas.microsoft.com/office/drawing/2014/main" id="{327C743F-DC66-4E49-ACE5-47C4C1C44F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61" y="828353"/>
            <a:ext cx="7392453" cy="3602009"/>
          </a:xfr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AC92549-0BC8-4837-9646-28B71D7D3423}"/>
              </a:ext>
            </a:extLst>
          </p:cNvPr>
          <p:cNvSpPr txBox="1"/>
          <p:nvPr/>
        </p:nvSpPr>
        <p:spPr>
          <a:xfrm>
            <a:off x="265814" y="4688958"/>
            <a:ext cx="101753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* 编程时，保留字不能用作变量名</a:t>
            </a:r>
            <a:r>
              <a:rPr lang="en-US" altLang="zh-CN" sz="2800" b="1" dirty="0"/>
              <a:t>/</a:t>
            </a:r>
            <a:r>
              <a:rPr lang="zh-CN" altLang="en-US" sz="2800" b="1" dirty="0"/>
              <a:t>函数名</a:t>
            </a:r>
            <a:r>
              <a:rPr lang="en-US" altLang="zh-CN" sz="2800" b="1" dirty="0"/>
              <a:t>/</a:t>
            </a:r>
            <a:r>
              <a:rPr lang="zh-CN" altLang="en-US" sz="2800" b="1" dirty="0"/>
              <a:t>常量名</a:t>
            </a:r>
            <a:endParaRPr lang="en-US" altLang="zh-CN" sz="2800" b="1" dirty="0"/>
          </a:p>
          <a:p>
            <a:r>
              <a:rPr lang="zh-CN" altLang="en-US" sz="2800" b="1" dirty="0"/>
              <a:t>* 保留字区分大小写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E3148D4-BAA3-48EF-8D60-1C9576FB6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2A48-6D8B-40B6-ACF7-D12B16F0E773}" type="slidenum">
              <a:rPr lang="en-US" altLang="zh-CN" smtClean="0"/>
              <a:pPr/>
              <a:t>39</a:t>
            </a:fld>
            <a:endParaRPr lang="zh-CN" altLang="en-US" sz="2800" b="1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41527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4549A-0ACE-46E0-93C0-5FC785EA0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152470"/>
            <a:ext cx="11642650" cy="549274"/>
          </a:xfrm>
        </p:spPr>
        <p:txBody>
          <a:bodyPr>
            <a:noAutofit/>
          </a:bodyPr>
          <a:lstStyle/>
          <a:p>
            <a:r>
              <a:rPr lang="zh-CN" altLang="en-US" dirty="0"/>
              <a:t>例</a:t>
            </a:r>
            <a:r>
              <a:rPr lang="en-US" altLang="zh-CN" dirty="0"/>
              <a:t>:</a:t>
            </a:r>
            <a:r>
              <a:rPr lang="zh-CN" altLang="en-US" dirty="0"/>
              <a:t>保留字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CEDC27-2C64-4AA9-B680-9D029EA71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415" y="1268760"/>
            <a:ext cx="11965172" cy="54367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&gt;&gt;&gt;True=1</a:t>
            </a:r>
          </a:p>
          <a:p>
            <a:pPr marL="0" indent="0">
              <a:buNone/>
            </a:pPr>
            <a:r>
              <a:rPr lang="en-US" altLang="zh-CN" b="1" dirty="0" err="1"/>
              <a:t>SyntaxError</a:t>
            </a:r>
            <a:r>
              <a:rPr lang="en-US" altLang="zh-CN" b="1" dirty="0"/>
              <a:t>: can’t assign to keyword</a:t>
            </a:r>
          </a:p>
          <a:p>
            <a:pPr marL="0" indent="0">
              <a:buNone/>
            </a:pPr>
            <a:r>
              <a:rPr lang="en-US" altLang="zh-CN" b="1" dirty="0"/>
              <a:t>&gt;&gt;&gt;true=1</a:t>
            </a:r>
          </a:p>
          <a:p>
            <a:pPr marL="0" indent="0">
              <a:buNone/>
            </a:pPr>
            <a:r>
              <a:rPr lang="en-US" altLang="zh-CN" b="1" dirty="0"/>
              <a:t>&gt;&gt;&gt;true</a:t>
            </a:r>
          </a:p>
          <a:p>
            <a:pPr marL="0" indent="0">
              <a:buNone/>
            </a:pPr>
            <a:r>
              <a:rPr lang="en-US" altLang="zh-CN" b="1" dirty="0"/>
              <a:t>1</a:t>
            </a:r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【</a:t>
            </a:r>
            <a:r>
              <a:rPr lang="zh-CN" altLang="en-US" b="1" dirty="0"/>
              <a:t>注意</a:t>
            </a:r>
            <a:r>
              <a:rPr lang="en-US" altLang="zh-CN" b="1" dirty="0"/>
              <a:t>】1. True</a:t>
            </a:r>
            <a:r>
              <a:rPr lang="zh-CN" altLang="en-US" b="1" dirty="0"/>
              <a:t>是关键字，</a:t>
            </a:r>
            <a:r>
              <a:rPr lang="en-US" altLang="zh-CN" b="1" dirty="0"/>
              <a:t>true</a:t>
            </a:r>
            <a:r>
              <a:rPr lang="zh-CN" altLang="en-US" b="1" dirty="0"/>
              <a:t>不是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                  2. </a:t>
            </a:r>
            <a:r>
              <a:rPr lang="zh-CN" altLang="en-US" b="1" dirty="0"/>
              <a:t>虽然</a:t>
            </a:r>
            <a:r>
              <a:rPr lang="en-US" altLang="zh-CN" b="1" dirty="0"/>
              <a:t>true</a:t>
            </a:r>
            <a:r>
              <a:rPr lang="zh-CN" altLang="en-US" b="1" dirty="0"/>
              <a:t>可以作为变量名，但仍然不建议。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478EAE-A72B-4FEC-845D-7662C1315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2A48-6D8B-40B6-ACF7-D12B16F0E773}" type="slidenum">
              <a:rPr lang="en-US" altLang="zh-CN" smtClean="0"/>
              <a:pPr/>
              <a:t>40</a:t>
            </a:fld>
            <a:endParaRPr lang="zh-CN" altLang="en-US" sz="2800" b="1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76376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变量是对对象内存空间的引用</a:t>
            </a:r>
            <a:endParaRPr lang="en-US" altLang="zh-CN" dirty="0"/>
          </a:p>
          <a:p>
            <a:pPr lvl="1"/>
            <a:r>
              <a:rPr lang="zh-CN" altLang="en-US" dirty="0"/>
              <a:t>变量可变。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177A84-A1B3-440C-9322-3EFC04FB2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7677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4549A-0ACE-46E0-93C0-5FC785EA0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152470"/>
            <a:ext cx="11642650" cy="549274"/>
          </a:xfrm>
        </p:spPr>
        <p:txBody>
          <a:bodyPr>
            <a:noAutofit/>
          </a:bodyPr>
          <a:lstStyle/>
          <a:p>
            <a:r>
              <a:rPr lang="zh-CN" altLang="en-US" dirty="0"/>
              <a:t>常量 </a:t>
            </a:r>
            <a:r>
              <a:rPr lang="en-US" altLang="zh-CN" dirty="0"/>
              <a:t>VS </a:t>
            </a:r>
            <a:r>
              <a:rPr lang="zh-CN" altLang="en-US" dirty="0"/>
              <a:t>变量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CEDC27-2C64-4AA9-B680-9D029EA71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944" y="1340768"/>
            <a:ext cx="11965172" cy="5908089"/>
          </a:xfrm>
        </p:spPr>
        <p:txBody>
          <a:bodyPr>
            <a:normAutofit/>
          </a:bodyPr>
          <a:lstStyle/>
          <a:p>
            <a:r>
              <a:rPr lang="zh-CN" altLang="en-US" b="1" dirty="0"/>
              <a:t>常量：值一旦确定，不能改变</a:t>
            </a:r>
            <a:endParaRPr lang="en-US" altLang="zh-CN" b="1" dirty="0"/>
          </a:p>
          <a:p>
            <a:r>
              <a:rPr lang="zh-CN" altLang="en-US" b="1" dirty="0"/>
              <a:t>变量：值可以变化</a:t>
            </a:r>
            <a:endParaRPr lang="en-US" altLang="zh-CN" b="1" dirty="0"/>
          </a:p>
          <a:p>
            <a:pPr marL="0" indent="0">
              <a:buNone/>
            </a:pPr>
            <a:r>
              <a:rPr lang="zh-CN" altLang="en-US" b="1" dirty="0"/>
              <a:t>说明：</a:t>
            </a:r>
            <a:endParaRPr lang="en-US" altLang="zh-CN" b="1" dirty="0"/>
          </a:p>
          <a:p>
            <a:r>
              <a:rPr lang="zh-CN" altLang="en-US" b="1" dirty="0"/>
              <a:t>变量不光值可以变化，类型也可以变化。</a:t>
            </a:r>
            <a:endParaRPr lang="en-US" altLang="zh-CN" b="1" dirty="0"/>
          </a:p>
          <a:p>
            <a:r>
              <a:rPr lang="zh-CN" altLang="en-US" b="1" dirty="0"/>
              <a:t>使用变量前不用声明（与</a:t>
            </a:r>
            <a:r>
              <a:rPr lang="en-US" altLang="zh-CN" b="1" dirty="0"/>
              <a:t>C</a:t>
            </a:r>
            <a:r>
              <a:rPr lang="zh-CN" altLang="en-US" b="1" dirty="0"/>
              <a:t>不同）</a:t>
            </a:r>
            <a:endParaRPr lang="en-US" altLang="zh-CN" b="1" dirty="0"/>
          </a:p>
          <a:p>
            <a:r>
              <a:rPr lang="en-US" altLang="zh-CN" b="1" dirty="0"/>
              <a:t>C</a:t>
            </a:r>
            <a:r>
              <a:rPr lang="zh-CN" altLang="en-US" b="1" dirty="0"/>
              <a:t>是静态类型语言，数据类型在编译期间就要确定，编码时必须指定变量的类型，然后才能赋值；</a:t>
            </a:r>
            <a:endParaRPr lang="en-US" altLang="zh-CN" b="1" dirty="0"/>
          </a:p>
          <a:p>
            <a:r>
              <a:rPr lang="en-US" altLang="zh-CN" b="1" dirty="0"/>
              <a:t>Python</a:t>
            </a:r>
            <a:r>
              <a:rPr lang="zh-CN" altLang="en-US" b="1" dirty="0"/>
              <a:t>是动态类型语言，变量的类型绑定延后到运行阶段，变量使用前不用说明类型</a:t>
            </a:r>
            <a:endParaRPr lang="en-US" altLang="zh-CN" b="1" dirty="0"/>
          </a:p>
          <a:p>
            <a:r>
              <a:rPr lang="en-US" altLang="zh-CN" dirty="0" err="1"/>
              <a:t>Py</a:t>
            </a:r>
            <a:r>
              <a:rPr lang="zh-CN" altLang="en-US" b="1" dirty="0"/>
              <a:t>可对变量反复赋值，每次赋值类型可以不同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69A066-70F7-412A-BAE1-EACA0BC82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2A48-6D8B-40B6-ACF7-D12B16F0E773}" type="slidenum">
              <a:rPr lang="en-US" altLang="zh-CN" smtClean="0"/>
              <a:pPr/>
              <a:t>42</a:t>
            </a:fld>
            <a:endParaRPr lang="zh-CN" altLang="en-US" sz="2800" b="1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46556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4549A-0ACE-46E0-93C0-5FC785EA0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36" y="476672"/>
            <a:ext cx="11642650" cy="549274"/>
          </a:xfrm>
        </p:spPr>
        <p:txBody>
          <a:bodyPr>
            <a:noAutofit/>
          </a:bodyPr>
          <a:lstStyle/>
          <a:p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Type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函数查看变量类型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9EADF37-2B09-42D3-AEDC-AC4405DB4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00" y="1412776"/>
            <a:ext cx="2342393" cy="3183429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C3AB640-3389-4F24-93F2-5D0D3E8E6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2A48-6D8B-40B6-ACF7-D12B16F0E773}" type="slidenum">
              <a:rPr lang="en-US" altLang="zh-CN" smtClean="0"/>
              <a:pPr/>
              <a:t>43</a:t>
            </a:fld>
            <a:endParaRPr lang="zh-CN" altLang="en-US" sz="2800" b="1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67934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4549A-0ACE-46E0-93C0-5FC785EA0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828" y="404664"/>
            <a:ext cx="11642650" cy="881985"/>
          </a:xfrm>
        </p:spPr>
        <p:txBody>
          <a:bodyPr>
            <a:no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变量名的命名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CEDC27-2C64-4AA9-B680-9D029EA71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828" y="1484784"/>
            <a:ext cx="11965172" cy="5908089"/>
          </a:xfrm>
        </p:spPr>
        <p:txBody>
          <a:bodyPr>
            <a:normAutofit/>
          </a:bodyPr>
          <a:lstStyle/>
          <a:p>
            <a:r>
              <a:rPr lang="zh-CN" altLang="en-US" b="1" dirty="0"/>
              <a:t>注意：</a:t>
            </a:r>
            <a:endParaRPr lang="en-US" altLang="zh-CN" b="1" dirty="0"/>
          </a:p>
          <a:p>
            <a:pPr marL="514350" indent="-514350">
              <a:buAutoNum type="arabicPeriod"/>
            </a:pPr>
            <a:r>
              <a:rPr lang="zh-CN" altLang="en-US" b="1" dirty="0"/>
              <a:t>只能是字母</a:t>
            </a:r>
            <a:r>
              <a:rPr lang="en-US" altLang="zh-CN" b="1" dirty="0"/>
              <a:t>/</a:t>
            </a:r>
            <a:r>
              <a:rPr lang="zh-CN" altLang="en-US" b="1" dirty="0"/>
              <a:t>数字</a:t>
            </a:r>
            <a:r>
              <a:rPr lang="en-US" altLang="zh-CN" b="1" dirty="0"/>
              <a:t>/</a:t>
            </a:r>
            <a:r>
              <a:rPr lang="zh-CN" altLang="en-US" b="1" dirty="0"/>
              <a:t>下划线的组合，且不能以数字打头</a:t>
            </a:r>
            <a:endParaRPr lang="en-US" altLang="zh-CN" b="1" dirty="0"/>
          </a:p>
          <a:p>
            <a:pPr marL="514350" indent="-514350">
              <a:buAutoNum type="arabicPeriod"/>
            </a:pPr>
            <a:r>
              <a:rPr lang="zh-CN" altLang="en-US" b="1" dirty="0"/>
              <a:t>大小写敏感</a:t>
            </a:r>
            <a:endParaRPr lang="en-US" altLang="zh-CN" b="1" dirty="0"/>
          </a:p>
          <a:p>
            <a:pPr marL="514350" indent="-514350">
              <a:buAutoNum type="arabicPeriod"/>
            </a:pPr>
            <a:r>
              <a:rPr lang="zh-CN" altLang="en-US" b="1" dirty="0"/>
              <a:t>关键字不能作为变量名</a:t>
            </a:r>
            <a:endParaRPr lang="en-US" altLang="zh-CN" b="1" dirty="0"/>
          </a:p>
          <a:p>
            <a:pPr marL="514350" indent="-514350">
              <a:buAutoNum type="arabicPeriod"/>
            </a:pPr>
            <a:r>
              <a:rPr lang="zh-CN" altLang="en-US" b="1" dirty="0"/>
              <a:t>内置函数建议不要作为变量名</a:t>
            </a:r>
            <a:endParaRPr lang="en-US" altLang="zh-CN" b="1" dirty="0"/>
          </a:p>
          <a:p>
            <a:pPr marL="514350" indent="-514350">
              <a:buAutoNum type="arabicPeriod"/>
            </a:pPr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1F2827-4AA6-4E9C-8C14-DF0528342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2A48-6D8B-40B6-ACF7-D12B16F0E773}" type="slidenum">
              <a:rPr lang="en-US" altLang="zh-CN" smtClean="0"/>
              <a:pPr/>
              <a:t>44</a:t>
            </a:fld>
            <a:endParaRPr lang="zh-CN" altLang="en-US" sz="2800" b="1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14617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4549A-0ACE-46E0-93C0-5FC785EA0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152470"/>
            <a:ext cx="11642650" cy="54927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不要把内置函数名作为变量名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CEDC27-2C64-4AA9-B680-9D029EA71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415" y="797440"/>
            <a:ext cx="11965172" cy="5908089"/>
          </a:xfrm>
        </p:spPr>
        <p:txBody>
          <a:bodyPr>
            <a:normAutofit/>
          </a:bodyPr>
          <a:lstStyle/>
          <a:p>
            <a:r>
              <a:rPr lang="zh-CN" altLang="en-US" b="1" dirty="0"/>
              <a:t>否则导致函数无法正常使用</a:t>
            </a:r>
            <a:endParaRPr lang="en-US" altLang="zh-CN" dirty="0"/>
          </a:p>
          <a:p>
            <a:r>
              <a:rPr lang="zh-CN" altLang="en-US" b="1" dirty="0"/>
              <a:t>例如，</a:t>
            </a:r>
            <a:r>
              <a:rPr lang="en-US" altLang="zh-CN" b="1" dirty="0"/>
              <a:t>sum</a:t>
            </a:r>
            <a:r>
              <a:rPr lang="zh-CN" altLang="en-US" b="1" dirty="0"/>
              <a:t>函数</a:t>
            </a:r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如何恢复</a:t>
            </a:r>
            <a:r>
              <a:rPr lang="en-US" altLang="zh-CN" b="1" dirty="0"/>
              <a:t>sum</a:t>
            </a:r>
            <a:r>
              <a:rPr lang="zh-CN" altLang="en-US" b="1" dirty="0"/>
              <a:t>函数？</a:t>
            </a:r>
            <a:endParaRPr lang="en-US" altLang="zh-CN" b="1" dirty="0"/>
          </a:p>
          <a:p>
            <a:pPr marL="0" indent="0">
              <a:buNone/>
            </a:pPr>
            <a:r>
              <a:rPr lang="zh-CN" altLang="en-US" b="1" dirty="0"/>
              <a:t>  </a:t>
            </a:r>
            <a:r>
              <a:rPr lang="en-US" altLang="zh-CN" b="1" dirty="0"/>
              <a:t>&gt;&gt;&gt;del sum </a:t>
            </a:r>
            <a:r>
              <a:rPr lang="zh-CN" altLang="en-US" b="1" dirty="0"/>
              <a:t>   </a:t>
            </a:r>
            <a:r>
              <a:rPr lang="en-US" altLang="zh-CN" b="1" dirty="0"/>
              <a:t>#</a:t>
            </a:r>
            <a:r>
              <a:rPr lang="zh-CN" altLang="en-US" b="1" dirty="0"/>
              <a:t>把</a:t>
            </a:r>
            <a:r>
              <a:rPr lang="en-US" altLang="zh-CN" b="1" dirty="0"/>
              <a:t>sum</a:t>
            </a:r>
            <a:r>
              <a:rPr lang="zh-CN" altLang="en-US" b="1" dirty="0"/>
              <a:t>变量回收</a:t>
            </a:r>
            <a:endParaRPr lang="en-US" altLang="zh-CN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5C84972-AA9F-4F0D-891E-F342A9DBD7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861788"/>
            <a:ext cx="9671926" cy="3324425"/>
          </a:xfrm>
          <a:prstGeom prst="rect">
            <a:avLst/>
          </a:prstGeom>
        </p:spPr>
      </p:pic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7D8E1C59-D352-4B74-9EEA-42094A84C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2A48-6D8B-40B6-ACF7-D12B16F0E773}" type="slidenum">
              <a:rPr lang="en-US" altLang="zh-CN" smtClean="0"/>
              <a:pPr/>
              <a:t>45</a:t>
            </a:fld>
            <a:endParaRPr lang="zh-CN" altLang="en-US" sz="2800" b="1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80282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4549A-0ACE-46E0-93C0-5FC785EA0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152470"/>
            <a:ext cx="11642650" cy="549274"/>
          </a:xfrm>
        </p:spPr>
        <p:txBody>
          <a:bodyPr>
            <a:noAutofit/>
          </a:bodyPr>
          <a:lstStyle/>
          <a:p>
            <a:r>
              <a:rPr lang="zh-CN" altLang="en-US" dirty="0"/>
              <a:t>变量在内存中存了什么？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CEDC27-2C64-4AA9-B680-9D029EA71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352" y="1484784"/>
            <a:ext cx="8350101" cy="6060560"/>
          </a:xfrm>
        </p:spPr>
        <p:txBody>
          <a:bodyPr>
            <a:normAutofit/>
          </a:bodyPr>
          <a:lstStyle/>
          <a:p>
            <a:r>
              <a:rPr lang="en-US" altLang="zh-CN" b="1" dirty="0"/>
              <a:t>Python</a:t>
            </a:r>
            <a:r>
              <a:rPr lang="zh-CN" altLang="en-US" b="1" dirty="0"/>
              <a:t>变量的内存不存放变量的值，而是指向该值的地址，即内存关联了存放变量值的内存地址</a:t>
            </a:r>
            <a:endParaRPr lang="en-US" altLang="zh-CN" b="1" dirty="0"/>
          </a:p>
          <a:p>
            <a:r>
              <a:rPr lang="en-US" altLang="zh-CN" b="1" dirty="0"/>
              <a:t>Id()   #</a:t>
            </a:r>
            <a:r>
              <a:rPr lang="zh-CN" altLang="en-US" b="1" dirty="0"/>
              <a:t>查看变量的地址：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dirty="0"/>
              <a:t>          </a:t>
            </a:r>
          </a:p>
          <a:p>
            <a:pPr marL="0" indent="0">
              <a:buNone/>
            </a:pPr>
            <a:r>
              <a:rPr lang="en-US" altLang="zh-CN" b="1" dirty="0"/>
              <a:t>              Id(</a:t>
            </a:r>
            <a:r>
              <a:rPr lang="zh-CN" altLang="en-US" b="1" dirty="0"/>
              <a:t>变量名</a:t>
            </a:r>
            <a:r>
              <a:rPr lang="en-US" altLang="zh-CN" b="1" dirty="0"/>
              <a:t>)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2BE97D0-051C-429C-A331-0CC137B41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7569" y="797440"/>
            <a:ext cx="2781016" cy="5706069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5D6E5B-F8AA-4D52-8360-3EFCEF873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2A48-6D8B-40B6-ACF7-D12B16F0E773}" type="slidenum">
              <a:rPr lang="en-US" altLang="zh-CN" smtClean="0"/>
              <a:pPr/>
              <a:t>46</a:t>
            </a:fld>
            <a:endParaRPr lang="zh-CN" altLang="en-US" sz="2800" b="1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09561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CEDC27-2C64-4AA9-B680-9D029EA71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3416" y="1484784"/>
            <a:ext cx="8064895" cy="4542583"/>
          </a:xfrm>
        </p:spPr>
        <p:txBody>
          <a:bodyPr>
            <a:normAutofit/>
          </a:bodyPr>
          <a:lstStyle/>
          <a:p>
            <a:r>
              <a:rPr lang="zh-CN" altLang="en-US" b="1" dirty="0">
                <a:sym typeface="Wingdings" panose="05000000000000000000" pitchFamily="2" charset="2"/>
              </a:rPr>
              <a:t>变量</a:t>
            </a:r>
            <a:r>
              <a:rPr lang="en-US" altLang="zh-CN" b="1" dirty="0">
                <a:sym typeface="Wingdings" panose="05000000000000000000" pitchFamily="2" charset="2"/>
              </a:rPr>
              <a:t>a</a:t>
            </a:r>
            <a:r>
              <a:rPr lang="zh-CN" altLang="en-US" b="1" dirty="0">
                <a:sym typeface="Wingdings" panose="05000000000000000000" pitchFamily="2" charset="2"/>
              </a:rPr>
              <a:t>和</a:t>
            </a:r>
            <a:r>
              <a:rPr lang="en-US" altLang="zh-CN" b="1" dirty="0">
                <a:sym typeface="Wingdings" panose="05000000000000000000" pitchFamily="2" charset="2"/>
              </a:rPr>
              <a:t>b</a:t>
            </a:r>
            <a:r>
              <a:rPr lang="zh-CN" altLang="en-US" b="1" dirty="0">
                <a:sym typeface="Wingdings" panose="05000000000000000000" pitchFamily="2" charset="2"/>
              </a:rPr>
              <a:t>的内存关联了整数</a:t>
            </a:r>
            <a:r>
              <a:rPr lang="en-US" altLang="zh-CN" b="1" dirty="0">
                <a:sym typeface="Wingdings" panose="05000000000000000000" pitchFamily="2" charset="2"/>
              </a:rPr>
              <a:t>1</a:t>
            </a:r>
            <a:r>
              <a:rPr lang="zh-CN" altLang="en-US" b="1" dirty="0">
                <a:sym typeface="Wingdings" panose="05000000000000000000" pitchFamily="2" charset="2"/>
              </a:rPr>
              <a:t>的内存地址</a:t>
            </a:r>
            <a:endParaRPr lang="en-US" altLang="zh-CN" b="1" dirty="0">
              <a:sym typeface="Wingdings" panose="05000000000000000000" pitchFamily="2" charset="2"/>
            </a:endParaRPr>
          </a:p>
          <a:p>
            <a:r>
              <a:rPr lang="en-US" altLang="zh-CN" b="1" dirty="0">
                <a:sym typeface="Wingdings" panose="05000000000000000000" pitchFamily="2" charset="2"/>
              </a:rPr>
              <a:t>Why </a:t>
            </a:r>
            <a:r>
              <a:rPr lang="zh-CN" altLang="en-US" b="1" dirty="0">
                <a:sym typeface="Wingdings" panose="05000000000000000000" pitchFamily="2" charset="2"/>
              </a:rPr>
              <a:t>赋值</a:t>
            </a:r>
            <a:r>
              <a:rPr lang="en-US" altLang="zh-CN" b="1" dirty="0">
                <a:sym typeface="Wingdings" panose="05000000000000000000" pitchFamily="2" charset="2"/>
              </a:rPr>
              <a:t>1000</a:t>
            </a:r>
            <a:r>
              <a:rPr lang="zh-CN" altLang="en-US" b="1" dirty="0">
                <a:sym typeface="Wingdings" panose="05000000000000000000" pitchFamily="2" charset="2"/>
              </a:rPr>
              <a:t>时又不同？</a:t>
            </a:r>
            <a:br>
              <a:rPr lang="en-US" altLang="zh-CN" b="1" dirty="0">
                <a:sym typeface="Wingdings" panose="05000000000000000000" pitchFamily="2" charset="2"/>
              </a:rPr>
            </a:br>
            <a:r>
              <a:rPr lang="zh-CN" altLang="en-US" b="1" dirty="0">
                <a:sym typeface="Wingdings" panose="05000000000000000000" pitchFamily="2" charset="2"/>
              </a:rPr>
              <a:t>小整数</a:t>
            </a:r>
            <a:r>
              <a:rPr lang="en-US" altLang="zh-CN" b="1" dirty="0">
                <a:sym typeface="Wingdings" panose="05000000000000000000" pitchFamily="2" charset="2"/>
              </a:rPr>
              <a:t>[-5</a:t>
            </a:r>
            <a:r>
              <a:rPr lang="zh-CN" altLang="en-US" b="1" dirty="0">
                <a:sym typeface="Wingdings" panose="05000000000000000000" pitchFamily="2" charset="2"/>
              </a:rPr>
              <a:t>，</a:t>
            </a:r>
            <a:r>
              <a:rPr lang="en-US" altLang="zh-CN" b="1" dirty="0">
                <a:sym typeface="Wingdings" panose="05000000000000000000" pitchFamily="2" charset="2"/>
              </a:rPr>
              <a:t>256]</a:t>
            </a:r>
            <a:r>
              <a:rPr lang="zh-CN" altLang="en-US" b="1" dirty="0">
                <a:sym typeface="Wingdings" panose="05000000000000000000" pitchFamily="2" charset="2"/>
              </a:rPr>
              <a:t>分配了固定的内存，以便提高效率。其他数据则不固定分配内存</a:t>
            </a:r>
            <a:endParaRPr lang="zh-CN" altLang="en-US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2BE97D0-051C-429C-A331-0CC137B41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48" y="527072"/>
            <a:ext cx="3247256" cy="6662697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5D6E5B-F8AA-4D52-8360-3EFCEF873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2A48-6D8B-40B6-ACF7-D12B16F0E773}" type="slidenum">
              <a:rPr lang="en-US" altLang="zh-CN" smtClean="0"/>
              <a:pPr/>
              <a:t>47</a:t>
            </a:fld>
            <a:endParaRPr lang="zh-CN" altLang="en-US" sz="2800" b="1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0C18ACC6-8ACF-4F26-9BAC-F4950C693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2718" y="273595"/>
            <a:ext cx="7419785" cy="549274"/>
          </a:xfrm>
        </p:spPr>
        <p:txBody>
          <a:bodyPr>
            <a:noAutofit/>
          </a:bodyPr>
          <a:lstStyle/>
          <a:p>
            <a:r>
              <a:rPr lang="zh-CN" altLang="en-US" dirty="0"/>
              <a:t>变量在内存中存了什么？</a:t>
            </a:r>
          </a:p>
        </p:txBody>
      </p:sp>
    </p:spTree>
    <p:extLst>
      <p:ext uri="{BB962C8B-B14F-4D97-AF65-F5344CB8AC3E}">
        <p14:creationId xmlns:p14="http://schemas.microsoft.com/office/powerpoint/2010/main" val="30906892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911424" y="3093283"/>
            <a:ext cx="3096344" cy="31440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变量与数据类型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2525132"/>
            <a:ext cx="10852150" cy="3815978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变量引用不可变数据类型</a:t>
            </a:r>
            <a:endParaRPr lang="en-US" altLang="zh-CN" dirty="0"/>
          </a:p>
          <a:p>
            <a:pPr marL="457200" lvl="1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dirty="0"/>
              <a:t>&gt;&gt;&gt; x = 3</a:t>
            </a:r>
          </a:p>
          <a:p>
            <a:pPr marL="457200" lvl="1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dirty="0"/>
              <a:t>&gt;&gt;&gt; x</a:t>
            </a:r>
          </a:p>
          <a:p>
            <a:pPr marL="457200" lvl="1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dirty="0">
                <a:solidFill>
                  <a:srgbClr val="0070C0"/>
                </a:solidFill>
              </a:rPr>
              <a:t>3</a:t>
            </a:r>
          </a:p>
          <a:p>
            <a:pPr marL="457200" lvl="1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dirty="0"/>
              <a:t>&gt;&gt;&gt; x = 6</a:t>
            </a:r>
          </a:p>
          <a:p>
            <a:pPr marL="457200" lvl="1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dirty="0"/>
              <a:t>&gt;&gt;&gt; x</a:t>
            </a:r>
          </a:p>
          <a:p>
            <a:pPr marL="457200" lvl="1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altLang="zh-CN" dirty="0">
                <a:solidFill>
                  <a:srgbClr val="0070C0"/>
                </a:solidFill>
              </a:rPr>
              <a:t>6</a:t>
            </a:r>
            <a:r>
              <a:rPr lang="en-US" altLang="zh-CN" dirty="0"/>
              <a:t> </a:t>
            </a:r>
          </a:p>
          <a:p>
            <a:pPr marL="457200" lvl="1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燕尾形 3"/>
          <p:cNvSpPr/>
          <p:nvPr/>
        </p:nvSpPr>
        <p:spPr>
          <a:xfrm>
            <a:off x="671433" y="1373004"/>
            <a:ext cx="2592288" cy="1008112"/>
          </a:xfrm>
          <a:prstGeom prst="chevron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不可变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数据类型</a:t>
            </a:r>
          </a:p>
        </p:txBody>
      </p:sp>
      <p:sp>
        <p:nvSpPr>
          <p:cNvPr id="5" name="燕尾形 4"/>
          <p:cNvSpPr/>
          <p:nvPr/>
        </p:nvSpPr>
        <p:spPr>
          <a:xfrm>
            <a:off x="3002626" y="1517020"/>
            <a:ext cx="1872000" cy="720080"/>
          </a:xfrm>
          <a:prstGeom prst="chevron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>
                <a:solidFill>
                  <a:schemeClr val="tx1"/>
                </a:solidFill>
              </a:rPr>
              <a:t>整数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ctr"/>
            <a:r>
              <a:rPr lang="en-US" altLang="zh-CN" sz="2400" dirty="0" err="1">
                <a:solidFill>
                  <a:schemeClr val="tx1"/>
                </a:solidFill>
              </a:rPr>
              <a:t>int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6" name="燕尾形 5"/>
          <p:cNvSpPr/>
          <p:nvPr/>
        </p:nvSpPr>
        <p:spPr>
          <a:xfrm>
            <a:off x="4585117" y="1517020"/>
            <a:ext cx="1872000" cy="720080"/>
          </a:xfrm>
          <a:prstGeom prst="chevron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实数</a:t>
            </a:r>
            <a:r>
              <a:rPr lang="en-US" altLang="zh-CN" sz="2400" dirty="0">
                <a:solidFill>
                  <a:schemeClr val="tx1"/>
                </a:solidFill>
              </a:rPr>
              <a:t>float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7" name="燕尾形 6"/>
          <p:cNvSpPr/>
          <p:nvPr/>
        </p:nvSpPr>
        <p:spPr>
          <a:xfrm>
            <a:off x="6181814" y="1517020"/>
            <a:ext cx="2146433" cy="720080"/>
          </a:xfrm>
          <a:prstGeom prst="chevron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复数</a:t>
            </a:r>
            <a:r>
              <a:rPr lang="en-US" altLang="zh-CN" sz="2400" dirty="0">
                <a:solidFill>
                  <a:schemeClr val="tx1"/>
                </a:solidFill>
              </a:rPr>
              <a:t>complex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8" name="燕尾形 7"/>
          <p:cNvSpPr/>
          <p:nvPr/>
        </p:nvSpPr>
        <p:spPr>
          <a:xfrm>
            <a:off x="8053815" y="1517020"/>
            <a:ext cx="1872000" cy="720080"/>
          </a:xfrm>
          <a:prstGeom prst="chevron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字符串</a:t>
            </a:r>
            <a:r>
              <a:rPr lang="en-US" altLang="zh-CN" sz="2400" dirty="0">
                <a:solidFill>
                  <a:schemeClr val="tx1"/>
                </a:solidFill>
              </a:rPr>
              <a:t>string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9" name="燕尾形 8"/>
          <p:cNvSpPr/>
          <p:nvPr/>
        </p:nvSpPr>
        <p:spPr>
          <a:xfrm>
            <a:off x="9636306" y="1517020"/>
            <a:ext cx="1872000" cy="720080"/>
          </a:xfrm>
          <a:prstGeom prst="chevron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元组</a:t>
            </a:r>
            <a:r>
              <a:rPr lang="en-US" altLang="zh-CN" sz="2400" dirty="0">
                <a:solidFill>
                  <a:schemeClr val="tx1"/>
                </a:solidFill>
              </a:rPr>
              <a:t>tuple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600056" y="3093283"/>
            <a:ext cx="4680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变量名     引用     数据对象</a:t>
            </a:r>
          </a:p>
        </p:txBody>
      </p:sp>
      <p:sp>
        <p:nvSpPr>
          <p:cNvPr id="12" name="矩形 11"/>
          <p:cNvSpPr/>
          <p:nvPr/>
        </p:nvSpPr>
        <p:spPr>
          <a:xfrm>
            <a:off x="6770401" y="3721113"/>
            <a:ext cx="1008112" cy="569250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x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8858633" y="3681702"/>
            <a:ext cx="1440160" cy="648072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847087" y="4941842"/>
            <a:ext cx="1440160" cy="648072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6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7778513" y="4005738"/>
            <a:ext cx="1080120" cy="0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肘形连接符 15"/>
          <p:cNvCxnSpPr>
            <a:stCxn id="12" idx="3"/>
            <a:endCxn id="14" idx="1"/>
          </p:cNvCxnSpPr>
          <p:nvPr/>
        </p:nvCxnSpPr>
        <p:spPr>
          <a:xfrm>
            <a:off x="7778513" y="4005738"/>
            <a:ext cx="1068574" cy="1260140"/>
          </a:xfrm>
          <a:prstGeom prst="bentConnector3">
            <a:avLst>
              <a:gd name="adj1" fmla="val 50000"/>
            </a:avLst>
          </a:prstGeom>
          <a:ln w="285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E27C081C-31D0-46A3-B554-C7915157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217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1" grpId="0"/>
      <p:bldP spid="12" grpId="0" animBg="1"/>
      <p:bldP spid="13" grpId="0" animBg="1"/>
      <p:bldP spid="1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变量与数据类型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400" y="2900055"/>
            <a:ext cx="10852150" cy="3056126"/>
          </a:xfrm>
        </p:spPr>
        <p:txBody>
          <a:bodyPr>
            <a:normAutofit/>
          </a:bodyPr>
          <a:lstStyle/>
          <a:p>
            <a:r>
              <a:rPr lang="zh-CN" altLang="en-US" dirty="0"/>
              <a:t>变量引用可变数据类型</a:t>
            </a:r>
            <a:endParaRPr lang="en-US" altLang="zh-CN" dirty="0"/>
          </a:p>
          <a:p>
            <a:pPr lvl="1">
              <a:lnSpc>
                <a:spcPct val="120000"/>
              </a:lnSpc>
              <a:spcAft>
                <a:spcPts val="0"/>
              </a:spcAft>
            </a:pPr>
            <a:r>
              <a:rPr lang="zh-CN" altLang="en-US" dirty="0"/>
              <a:t>赋新值后，它们之间的引用关系不变，内存地址不变，但内容或空间大小会变，</a:t>
            </a:r>
            <a:r>
              <a:rPr lang="en-US" altLang="zh-CN" dirty="0" err="1"/>
              <a:t>eg</a:t>
            </a:r>
            <a:r>
              <a:rPr lang="zh-CN" altLang="en-US" dirty="0"/>
              <a:t>增加或删除元素。</a:t>
            </a:r>
          </a:p>
        </p:txBody>
      </p:sp>
      <p:sp>
        <p:nvSpPr>
          <p:cNvPr id="4" name="燕尾形 3"/>
          <p:cNvSpPr/>
          <p:nvPr/>
        </p:nvSpPr>
        <p:spPr>
          <a:xfrm flipH="1">
            <a:off x="7860522" y="1574492"/>
            <a:ext cx="2592288" cy="1008112"/>
          </a:xfrm>
          <a:prstGeom prst="chevron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bg2"/>
                </a:solidFill>
              </a:rPr>
              <a:t>可变</a:t>
            </a:r>
            <a:endParaRPr lang="en-US" altLang="zh-CN" sz="2400" b="1" dirty="0">
              <a:solidFill>
                <a:schemeClr val="bg2"/>
              </a:solidFill>
            </a:endParaRPr>
          </a:p>
          <a:p>
            <a:pPr algn="ctr"/>
            <a:r>
              <a:rPr lang="zh-CN" altLang="en-US" sz="2400" b="1" dirty="0">
                <a:solidFill>
                  <a:schemeClr val="bg2"/>
                </a:solidFill>
              </a:rPr>
              <a:t>数据类型</a:t>
            </a:r>
          </a:p>
        </p:txBody>
      </p:sp>
      <p:sp>
        <p:nvSpPr>
          <p:cNvPr id="5" name="燕尾形 4"/>
          <p:cNvSpPr/>
          <p:nvPr/>
        </p:nvSpPr>
        <p:spPr>
          <a:xfrm flipH="1">
            <a:off x="3073349" y="1718508"/>
            <a:ext cx="1872000" cy="720080"/>
          </a:xfrm>
          <a:prstGeom prst="chevron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列表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list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6" name="燕尾形 5"/>
          <p:cNvSpPr/>
          <p:nvPr/>
        </p:nvSpPr>
        <p:spPr>
          <a:xfrm flipH="1">
            <a:off x="4655840" y="1718508"/>
            <a:ext cx="1872000" cy="720080"/>
          </a:xfrm>
          <a:prstGeom prst="chevron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字典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ctr"/>
            <a:r>
              <a:rPr lang="en-US" altLang="zh-CN" sz="2400" dirty="0" err="1">
                <a:solidFill>
                  <a:schemeClr val="tx1"/>
                </a:solidFill>
              </a:rPr>
              <a:t>dict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7" name="燕尾形 6"/>
          <p:cNvSpPr/>
          <p:nvPr/>
        </p:nvSpPr>
        <p:spPr>
          <a:xfrm flipH="1">
            <a:off x="6252538" y="1718508"/>
            <a:ext cx="1872000" cy="720080"/>
          </a:xfrm>
          <a:prstGeom prst="chevron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集合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set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500D7A32-B9C4-42A7-BB31-C5D4F9293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07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Type()</a:t>
            </a:r>
            <a:r>
              <a:rPr lang="zh-CN" altLang="en-US" dirty="0"/>
              <a:t>函数查看变量类型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50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9EADF37-2B09-42D3-AEDC-AC4405DB4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440" y="1727106"/>
            <a:ext cx="3240360" cy="440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6294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991E5C-287E-4574-90F0-60D70A64F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32DBC7-8083-490A-AC63-F08AC10E9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不同数据类型有什么影响？</a:t>
            </a:r>
            <a:endParaRPr lang="en-US" altLang="zh-CN" dirty="0"/>
          </a:p>
          <a:p>
            <a:r>
              <a:rPr lang="zh-CN" altLang="en-US" dirty="0"/>
              <a:t>整数</a:t>
            </a:r>
            <a:r>
              <a:rPr lang="en-US" altLang="zh-CN" dirty="0"/>
              <a:t>123</a:t>
            </a:r>
            <a:r>
              <a:rPr lang="zh-CN" altLang="en-US" dirty="0"/>
              <a:t>和字符串</a:t>
            </a:r>
            <a:r>
              <a:rPr lang="en-US" altLang="zh-CN" dirty="0"/>
              <a:t>’123’</a:t>
            </a:r>
            <a:r>
              <a:rPr lang="zh-CN" altLang="en-US" dirty="0"/>
              <a:t>有区别吗？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&gt;&gt;&gt; 123+456</a:t>
            </a:r>
          </a:p>
          <a:p>
            <a:pPr marL="0" indent="0">
              <a:buNone/>
            </a:pPr>
            <a:r>
              <a:rPr lang="en-US" altLang="zh-CN" dirty="0"/>
              <a:t>579</a:t>
            </a:r>
          </a:p>
          <a:p>
            <a:pPr marL="0" indent="0">
              <a:buNone/>
            </a:pPr>
            <a:r>
              <a:rPr lang="en-US" altLang="zh-CN" dirty="0"/>
              <a:t>&gt;&gt;&gt; '123'+'456'</a:t>
            </a:r>
          </a:p>
          <a:p>
            <a:pPr marL="0" indent="0">
              <a:buNone/>
            </a:pPr>
            <a:r>
              <a:rPr lang="en-US" altLang="zh-CN" dirty="0"/>
              <a:t>'123456'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53FB08-E6EE-42F3-82B9-B31469CD0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9108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11424" y="2420889"/>
            <a:ext cx="3096344" cy="2880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单独的下画线 </a:t>
            </a:r>
            <a:r>
              <a:rPr lang="en-US" altLang="zh-CN" dirty="0"/>
              <a:t>_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交互环境下，单独的下画线 </a:t>
            </a:r>
            <a:r>
              <a:rPr lang="en-US" altLang="zh-CN" dirty="0"/>
              <a:t>_ </a:t>
            </a:r>
            <a:r>
              <a:rPr lang="zh-CN" altLang="en-US" dirty="0"/>
              <a:t>是一个特殊变量，用于表示上一次运算的结果。例如：</a:t>
            </a: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&gt;&gt;&gt; 100</a:t>
            </a:r>
          </a:p>
          <a:p>
            <a:pPr marL="457200" lvl="1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100</a:t>
            </a:r>
          </a:p>
          <a:p>
            <a:pPr marL="457200" lvl="1" indent="0">
              <a:buNone/>
            </a:pPr>
            <a:r>
              <a:rPr lang="en-US" altLang="zh-CN" dirty="0"/>
              <a:t>&gt;&gt;&gt; _ + 20</a:t>
            </a:r>
          </a:p>
          <a:p>
            <a:pPr marL="457200" lvl="1" indent="0">
              <a:buNone/>
            </a:pPr>
            <a:r>
              <a:rPr lang="en-US" altLang="zh-CN" dirty="0">
                <a:solidFill>
                  <a:srgbClr val="0070C0"/>
                </a:solidFill>
              </a:rPr>
              <a:t>120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9449D02-B554-4220-90D1-A682E9091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297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779905" y="2292350"/>
            <a:ext cx="873188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2.4 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基本运算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96E098C-1AAF-40D3-889D-6E95DCEFC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53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接连接符 21"/>
          <p:cNvCxnSpPr/>
          <p:nvPr/>
        </p:nvCxnSpPr>
        <p:spPr>
          <a:xfrm>
            <a:off x="1008000" y="1160145"/>
            <a:ext cx="105408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4746" y="-231412"/>
            <a:ext cx="10515600" cy="1325563"/>
          </a:xfrm>
        </p:spPr>
        <p:txBody>
          <a:bodyPr/>
          <a:lstStyle/>
          <a:p>
            <a:r>
              <a:rPr lang="en-US" altLang="zh-CN" dirty="0"/>
              <a:t>2.4.1 </a:t>
            </a:r>
            <a:r>
              <a:rPr lang="zh-CN" altLang="en-US" dirty="0"/>
              <a:t>算术运算</a:t>
            </a:r>
          </a:p>
        </p:txBody>
      </p:sp>
      <p:sp>
        <p:nvSpPr>
          <p:cNvPr id="20" name="内容占位符 2"/>
          <p:cNvSpPr>
            <a:spLocks noGrp="1"/>
          </p:cNvSpPr>
          <p:nvPr>
            <p:ph idx="1"/>
          </p:nvPr>
        </p:nvSpPr>
        <p:spPr>
          <a:xfrm>
            <a:off x="1019435" y="2708920"/>
            <a:ext cx="3240361" cy="3704198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altLang="zh-CN" sz="2400" dirty="0"/>
              <a:t>&gt;&gt;&gt; b = 100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altLang="zh-CN" sz="2400" dirty="0"/>
              <a:t>&gt;&gt;&gt; a = -b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altLang="zh-CN" sz="2400" dirty="0"/>
              <a:t>&gt;&gt;&gt; 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altLang="zh-CN" sz="2400" dirty="0">
                <a:solidFill>
                  <a:srgbClr val="0070C0"/>
                </a:solidFill>
              </a:rPr>
              <a:t>-100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&gt;&gt;&gt; a = +b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&gt;&gt;&gt; 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>
                <a:solidFill>
                  <a:srgbClr val="0070C0"/>
                </a:solidFill>
              </a:rPr>
              <a:t>100</a:t>
            </a:r>
          </a:p>
        </p:txBody>
      </p:sp>
      <p:sp>
        <p:nvSpPr>
          <p:cNvPr id="4" name="六边形 3"/>
          <p:cNvSpPr/>
          <p:nvPr/>
        </p:nvSpPr>
        <p:spPr>
          <a:xfrm>
            <a:off x="2639616" y="1357489"/>
            <a:ext cx="1152128" cy="104155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正值</a:t>
            </a:r>
            <a:endParaRPr lang="en-US" altLang="zh-CN" sz="2000" dirty="0"/>
          </a:p>
          <a:p>
            <a:pPr algn="ctr"/>
            <a:r>
              <a:rPr lang="en-US" altLang="zh-CN" sz="3600" dirty="0"/>
              <a:t>+</a:t>
            </a:r>
            <a:endParaRPr lang="zh-CN" altLang="en-US" sz="3600" dirty="0"/>
          </a:p>
        </p:txBody>
      </p:sp>
      <p:sp>
        <p:nvSpPr>
          <p:cNvPr id="6" name="六边形 5"/>
          <p:cNvSpPr/>
          <p:nvPr/>
        </p:nvSpPr>
        <p:spPr>
          <a:xfrm>
            <a:off x="3647728" y="836712"/>
            <a:ext cx="1152128" cy="104155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负值</a:t>
            </a:r>
            <a:endParaRPr lang="en-US" altLang="zh-CN" sz="2000" dirty="0"/>
          </a:p>
          <a:p>
            <a:pPr algn="ctr"/>
            <a:r>
              <a:rPr lang="en-US" altLang="zh-CN" sz="3600" dirty="0"/>
              <a:t>-</a:t>
            </a:r>
            <a:endParaRPr lang="zh-CN" altLang="en-US" sz="3600" dirty="0"/>
          </a:p>
        </p:txBody>
      </p:sp>
      <p:sp>
        <p:nvSpPr>
          <p:cNvPr id="13" name="六边形 12"/>
          <p:cNvSpPr/>
          <p:nvPr/>
        </p:nvSpPr>
        <p:spPr>
          <a:xfrm>
            <a:off x="4655840" y="1357489"/>
            <a:ext cx="1152128" cy="104155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加法</a:t>
            </a:r>
            <a:endParaRPr lang="en-US" altLang="zh-CN" sz="2000" dirty="0"/>
          </a:p>
          <a:p>
            <a:pPr algn="ctr"/>
            <a:r>
              <a:rPr lang="en-US" altLang="zh-CN" sz="3600" dirty="0"/>
              <a:t>+</a:t>
            </a:r>
            <a:endParaRPr lang="zh-CN" altLang="en-US" sz="3600" dirty="0"/>
          </a:p>
        </p:txBody>
      </p:sp>
      <p:sp>
        <p:nvSpPr>
          <p:cNvPr id="14" name="六边形 13"/>
          <p:cNvSpPr/>
          <p:nvPr/>
        </p:nvSpPr>
        <p:spPr>
          <a:xfrm>
            <a:off x="5663952" y="836712"/>
            <a:ext cx="1152128" cy="1041554"/>
          </a:xfrm>
          <a:prstGeom prst="hexagon">
            <a:avLst/>
          </a:prstGeom>
          <a:noFill/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减法</a:t>
            </a:r>
            <a:endParaRPr lang="en-US" altLang="zh-CN" sz="2000" dirty="0"/>
          </a:p>
          <a:p>
            <a:pPr algn="ctr"/>
            <a:r>
              <a:rPr lang="en-US" altLang="zh-CN" sz="3600" dirty="0"/>
              <a:t>-</a:t>
            </a:r>
            <a:endParaRPr lang="zh-CN" altLang="en-US" sz="3600" dirty="0"/>
          </a:p>
        </p:txBody>
      </p:sp>
      <p:sp>
        <p:nvSpPr>
          <p:cNvPr id="15" name="六边形 14"/>
          <p:cNvSpPr/>
          <p:nvPr/>
        </p:nvSpPr>
        <p:spPr>
          <a:xfrm>
            <a:off x="6672064" y="1377458"/>
            <a:ext cx="1152128" cy="1041554"/>
          </a:xfrm>
          <a:prstGeom prst="hexagon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乘法</a:t>
            </a:r>
            <a:endParaRPr lang="en-US" altLang="zh-CN" sz="2000" dirty="0"/>
          </a:p>
          <a:p>
            <a:pPr algn="ctr"/>
            <a:r>
              <a:rPr lang="zh-CN" altLang="en-US" sz="3600" dirty="0"/>
              <a:t>*</a:t>
            </a:r>
          </a:p>
        </p:txBody>
      </p:sp>
      <p:sp>
        <p:nvSpPr>
          <p:cNvPr id="16" name="六边形 15"/>
          <p:cNvSpPr/>
          <p:nvPr/>
        </p:nvSpPr>
        <p:spPr>
          <a:xfrm>
            <a:off x="7680176" y="856681"/>
            <a:ext cx="1152128" cy="1041554"/>
          </a:xfrm>
          <a:prstGeom prst="hexagon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实除</a:t>
            </a:r>
            <a:endParaRPr lang="en-US" altLang="zh-CN" sz="2000" dirty="0"/>
          </a:p>
          <a:p>
            <a:pPr algn="ctr"/>
            <a:r>
              <a:rPr lang="en-US" altLang="zh-CN" sz="3600" dirty="0"/>
              <a:t>/</a:t>
            </a:r>
            <a:endParaRPr lang="zh-CN" altLang="en-US" sz="3600" dirty="0"/>
          </a:p>
        </p:txBody>
      </p:sp>
      <p:sp>
        <p:nvSpPr>
          <p:cNvPr id="17" name="六边形 16"/>
          <p:cNvSpPr/>
          <p:nvPr/>
        </p:nvSpPr>
        <p:spPr>
          <a:xfrm>
            <a:off x="10721625" y="1377735"/>
            <a:ext cx="1152128" cy="1041554"/>
          </a:xfrm>
          <a:prstGeom prst="hexagon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乘方</a:t>
            </a:r>
            <a:endParaRPr lang="en-US" altLang="zh-CN" sz="2000" dirty="0"/>
          </a:p>
          <a:p>
            <a:pPr algn="ctr"/>
            <a:r>
              <a:rPr lang="en-US" altLang="zh-CN" sz="3600" dirty="0"/>
              <a:t>**</a:t>
            </a:r>
            <a:endParaRPr lang="zh-CN" altLang="en-US" sz="2800" dirty="0"/>
          </a:p>
        </p:txBody>
      </p:sp>
      <p:sp>
        <p:nvSpPr>
          <p:cNvPr id="18" name="六边形 17"/>
          <p:cNvSpPr/>
          <p:nvPr/>
        </p:nvSpPr>
        <p:spPr>
          <a:xfrm>
            <a:off x="9708218" y="836712"/>
            <a:ext cx="1152128" cy="1041554"/>
          </a:xfrm>
          <a:prstGeom prst="hexagon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求余</a:t>
            </a:r>
            <a:endParaRPr lang="en-US" altLang="zh-CN" sz="2000" dirty="0"/>
          </a:p>
          <a:p>
            <a:pPr algn="ctr"/>
            <a:r>
              <a:rPr lang="en-US" altLang="zh-CN" sz="3600" dirty="0"/>
              <a:t>%</a:t>
            </a:r>
            <a:endParaRPr lang="zh-CN" altLang="en-US" sz="3600" dirty="0"/>
          </a:p>
        </p:txBody>
      </p:sp>
      <p:sp>
        <p:nvSpPr>
          <p:cNvPr id="19" name="六边形 18"/>
          <p:cNvSpPr/>
          <p:nvPr/>
        </p:nvSpPr>
        <p:spPr>
          <a:xfrm>
            <a:off x="8700106" y="1357489"/>
            <a:ext cx="1152128" cy="1041554"/>
          </a:xfrm>
          <a:prstGeom prst="hexagon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整除</a:t>
            </a:r>
            <a:endParaRPr lang="en-US" altLang="zh-CN" sz="2000" dirty="0"/>
          </a:p>
          <a:p>
            <a:pPr algn="ctr"/>
            <a:r>
              <a:rPr lang="en-US" altLang="zh-CN" sz="3600" dirty="0"/>
              <a:t>//</a:t>
            </a:r>
            <a:endParaRPr lang="zh-CN" altLang="en-US" sz="3600" dirty="0"/>
          </a:p>
        </p:txBody>
      </p:sp>
      <p:sp>
        <p:nvSpPr>
          <p:cNvPr id="21" name="内容占位符 2"/>
          <p:cNvSpPr txBox="1">
            <a:spLocks/>
          </p:cNvSpPr>
          <p:nvPr/>
        </p:nvSpPr>
        <p:spPr>
          <a:xfrm>
            <a:off x="4609305" y="2708920"/>
            <a:ext cx="3240361" cy="368447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pt-BR" altLang="zh-CN" sz="2400" dirty="0"/>
              <a:t>&gt;&gt;&gt; a + b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altLang="zh-CN" sz="2400" dirty="0"/>
              <a:t>200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altLang="zh-CN" sz="2400" dirty="0"/>
              <a:t>&gt;&gt;&gt; a - b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altLang="zh-CN" sz="2400" dirty="0"/>
              <a:t>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altLang="zh-CN" sz="2400" dirty="0"/>
              <a:t>&gt;&gt;&gt; a * 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altLang="zh-CN" sz="2400" dirty="0"/>
              <a:t>200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2BF1FBC-C645-4DA5-B77D-1DDB79F51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524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接连接符 21"/>
          <p:cNvCxnSpPr/>
          <p:nvPr/>
        </p:nvCxnSpPr>
        <p:spPr>
          <a:xfrm>
            <a:off x="1008000" y="1160145"/>
            <a:ext cx="105408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728" y="116632"/>
            <a:ext cx="10345800" cy="682486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2.4.1 </a:t>
            </a:r>
            <a:r>
              <a:rPr lang="zh-CN" altLang="en-US" dirty="0"/>
              <a:t>算术运算</a:t>
            </a:r>
          </a:p>
        </p:txBody>
      </p:sp>
      <p:sp>
        <p:nvSpPr>
          <p:cNvPr id="20" name="内容占位符 2"/>
          <p:cNvSpPr>
            <a:spLocks noGrp="1"/>
          </p:cNvSpPr>
          <p:nvPr>
            <p:ph idx="1"/>
          </p:nvPr>
        </p:nvSpPr>
        <p:spPr>
          <a:xfrm>
            <a:off x="184448" y="2604957"/>
            <a:ext cx="3463280" cy="4352433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/</a:t>
            </a:r>
            <a:r>
              <a:rPr lang="zh-CN" altLang="en-US" dirty="0"/>
              <a:t>的结果是浮点数：</a:t>
            </a:r>
            <a:endParaRPr lang="pt-BR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pt-BR" altLang="zh-CN" sz="2400" dirty="0"/>
              <a:t>&gt;&gt;&gt; 4 / 7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altLang="zh-CN" sz="2400" dirty="0"/>
              <a:t>0.5714285714285714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altLang="zh-CN" sz="2400" dirty="0"/>
              <a:t>&gt;&gt;&gt;6/3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altLang="zh-CN" sz="2400" dirty="0"/>
              <a:t>2.0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&gt;&gt;&gt;</a:t>
            </a:r>
            <a:r>
              <a:rPr lang="pt-BR" altLang="zh-CN" sz="2400" dirty="0"/>
              <a:t>6.1 / 0.5, 6 / 3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altLang="zh-CN" sz="2400" dirty="0"/>
              <a:t>(12.2, 2.0)</a:t>
            </a:r>
          </a:p>
        </p:txBody>
      </p:sp>
      <p:sp>
        <p:nvSpPr>
          <p:cNvPr id="4" name="六边形 3"/>
          <p:cNvSpPr/>
          <p:nvPr/>
        </p:nvSpPr>
        <p:spPr>
          <a:xfrm>
            <a:off x="2639616" y="1357489"/>
            <a:ext cx="1152128" cy="1041554"/>
          </a:xfrm>
          <a:prstGeom prst="hexagon">
            <a:avLst/>
          </a:prstGeom>
          <a:noFill/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正值</a:t>
            </a:r>
            <a:endParaRPr lang="en-US" altLang="zh-CN" sz="2000" dirty="0"/>
          </a:p>
          <a:p>
            <a:pPr algn="ctr"/>
            <a:r>
              <a:rPr lang="en-US" altLang="zh-CN" sz="3600" dirty="0"/>
              <a:t>+</a:t>
            </a:r>
            <a:endParaRPr lang="zh-CN" altLang="en-US" sz="3600" dirty="0"/>
          </a:p>
        </p:txBody>
      </p:sp>
      <p:sp>
        <p:nvSpPr>
          <p:cNvPr id="6" name="六边形 5"/>
          <p:cNvSpPr/>
          <p:nvPr/>
        </p:nvSpPr>
        <p:spPr>
          <a:xfrm>
            <a:off x="3647728" y="836712"/>
            <a:ext cx="1152128" cy="1041554"/>
          </a:xfrm>
          <a:prstGeom prst="hexagon">
            <a:avLst/>
          </a:prstGeom>
          <a:noFill/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负值</a:t>
            </a:r>
            <a:endParaRPr lang="en-US" altLang="zh-CN" sz="2000" dirty="0"/>
          </a:p>
          <a:p>
            <a:pPr algn="ctr"/>
            <a:r>
              <a:rPr lang="en-US" altLang="zh-CN" sz="3600" dirty="0"/>
              <a:t>-</a:t>
            </a:r>
            <a:endParaRPr lang="zh-CN" altLang="en-US" sz="3600" dirty="0"/>
          </a:p>
        </p:txBody>
      </p:sp>
      <p:sp>
        <p:nvSpPr>
          <p:cNvPr id="13" name="六边形 12"/>
          <p:cNvSpPr/>
          <p:nvPr/>
        </p:nvSpPr>
        <p:spPr>
          <a:xfrm>
            <a:off x="4655840" y="1357489"/>
            <a:ext cx="1152128" cy="1041554"/>
          </a:xfrm>
          <a:prstGeom prst="hexagon">
            <a:avLst/>
          </a:prstGeom>
          <a:noFill/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加法</a:t>
            </a:r>
            <a:endParaRPr lang="en-US" altLang="zh-CN" sz="2000" dirty="0"/>
          </a:p>
          <a:p>
            <a:pPr algn="ctr"/>
            <a:r>
              <a:rPr lang="en-US" altLang="zh-CN" sz="3600" dirty="0"/>
              <a:t>+</a:t>
            </a:r>
            <a:endParaRPr lang="zh-CN" altLang="en-US" sz="3600" dirty="0"/>
          </a:p>
        </p:txBody>
      </p:sp>
      <p:sp>
        <p:nvSpPr>
          <p:cNvPr id="14" name="六边形 13"/>
          <p:cNvSpPr/>
          <p:nvPr/>
        </p:nvSpPr>
        <p:spPr>
          <a:xfrm>
            <a:off x="5663952" y="836712"/>
            <a:ext cx="1152128" cy="1041554"/>
          </a:xfrm>
          <a:prstGeom prst="hexagon">
            <a:avLst/>
          </a:prstGeom>
          <a:noFill/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减法</a:t>
            </a:r>
            <a:endParaRPr lang="en-US" altLang="zh-CN" sz="2000" dirty="0"/>
          </a:p>
          <a:p>
            <a:pPr algn="ctr"/>
            <a:r>
              <a:rPr lang="en-US" altLang="zh-CN" sz="3600" dirty="0"/>
              <a:t>-</a:t>
            </a:r>
            <a:endParaRPr lang="zh-CN" altLang="en-US" sz="3600" dirty="0"/>
          </a:p>
        </p:txBody>
      </p:sp>
      <p:sp>
        <p:nvSpPr>
          <p:cNvPr id="15" name="六边形 14"/>
          <p:cNvSpPr/>
          <p:nvPr/>
        </p:nvSpPr>
        <p:spPr>
          <a:xfrm>
            <a:off x="6672064" y="1377458"/>
            <a:ext cx="1152128" cy="1041554"/>
          </a:xfrm>
          <a:prstGeom prst="hexagon">
            <a:avLst/>
          </a:prstGeom>
          <a:noFill/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乘法</a:t>
            </a:r>
            <a:endParaRPr lang="en-US" altLang="zh-CN" sz="2000" dirty="0"/>
          </a:p>
          <a:p>
            <a:pPr algn="ctr"/>
            <a:r>
              <a:rPr lang="zh-CN" altLang="en-US" sz="3600" dirty="0"/>
              <a:t>*</a:t>
            </a:r>
          </a:p>
        </p:txBody>
      </p:sp>
      <p:sp>
        <p:nvSpPr>
          <p:cNvPr id="16" name="六边形 15"/>
          <p:cNvSpPr/>
          <p:nvPr/>
        </p:nvSpPr>
        <p:spPr>
          <a:xfrm>
            <a:off x="7680176" y="856681"/>
            <a:ext cx="1152128" cy="1041554"/>
          </a:xfrm>
          <a:prstGeom prst="hexagon">
            <a:avLst/>
          </a:prstGeom>
          <a:noFill/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实除</a:t>
            </a:r>
            <a:endParaRPr lang="en-US" altLang="zh-CN" sz="2000" dirty="0"/>
          </a:p>
          <a:p>
            <a:pPr algn="ctr"/>
            <a:r>
              <a:rPr lang="en-US" altLang="zh-CN" sz="3600" dirty="0"/>
              <a:t>/</a:t>
            </a:r>
            <a:endParaRPr lang="zh-CN" altLang="en-US" sz="3600" dirty="0"/>
          </a:p>
        </p:txBody>
      </p:sp>
      <p:sp>
        <p:nvSpPr>
          <p:cNvPr id="17" name="六边形 16"/>
          <p:cNvSpPr/>
          <p:nvPr/>
        </p:nvSpPr>
        <p:spPr>
          <a:xfrm>
            <a:off x="10721625" y="1377735"/>
            <a:ext cx="1152128" cy="1041554"/>
          </a:xfrm>
          <a:prstGeom prst="hexagon">
            <a:avLst/>
          </a:prstGeom>
          <a:noFill/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乘方</a:t>
            </a:r>
            <a:endParaRPr lang="en-US" altLang="zh-CN" sz="2000" dirty="0"/>
          </a:p>
          <a:p>
            <a:pPr algn="ctr"/>
            <a:r>
              <a:rPr lang="en-US" altLang="zh-CN" sz="3600" dirty="0"/>
              <a:t>**</a:t>
            </a:r>
            <a:endParaRPr lang="zh-CN" altLang="en-US" sz="2800" dirty="0"/>
          </a:p>
        </p:txBody>
      </p:sp>
      <p:sp>
        <p:nvSpPr>
          <p:cNvPr id="18" name="六边形 17"/>
          <p:cNvSpPr/>
          <p:nvPr/>
        </p:nvSpPr>
        <p:spPr>
          <a:xfrm>
            <a:off x="9708218" y="836712"/>
            <a:ext cx="1152128" cy="1041554"/>
          </a:xfrm>
          <a:prstGeom prst="hexagon">
            <a:avLst/>
          </a:prstGeom>
          <a:noFill/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求余</a:t>
            </a:r>
            <a:endParaRPr lang="en-US" altLang="zh-CN" sz="2000" dirty="0"/>
          </a:p>
          <a:p>
            <a:pPr algn="ctr"/>
            <a:r>
              <a:rPr lang="en-US" altLang="zh-CN" sz="3600" dirty="0"/>
              <a:t>%</a:t>
            </a:r>
            <a:endParaRPr lang="zh-CN" altLang="en-US" sz="3600" dirty="0"/>
          </a:p>
        </p:txBody>
      </p:sp>
      <p:sp>
        <p:nvSpPr>
          <p:cNvPr id="19" name="六边形 18"/>
          <p:cNvSpPr/>
          <p:nvPr/>
        </p:nvSpPr>
        <p:spPr>
          <a:xfrm>
            <a:off x="8700106" y="1357489"/>
            <a:ext cx="1152128" cy="1041554"/>
          </a:xfrm>
          <a:prstGeom prst="hexagon">
            <a:avLst/>
          </a:prstGeom>
          <a:noFill/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整除</a:t>
            </a:r>
            <a:endParaRPr lang="en-US" altLang="zh-CN" sz="2000" dirty="0"/>
          </a:p>
          <a:p>
            <a:pPr algn="ctr"/>
            <a:r>
              <a:rPr lang="en-US" altLang="zh-CN" sz="3600" dirty="0"/>
              <a:t>//</a:t>
            </a:r>
            <a:endParaRPr lang="zh-CN" altLang="en-US" sz="3600" dirty="0"/>
          </a:p>
        </p:txBody>
      </p:sp>
      <p:sp>
        <p:nvSpPr>
          <p:cNvPr id="21" name="内容占位符 2"/>
          <p:cNvSpPr txBox="1">
            <a:spLocks/>
          </p:cNvSpPr>
          <p:nvPr/>
        </p:nvSpPr>
        <p:spPr>
          <a:xfrm>
            <a:off x="3935760" y="2708920"/>
            <a:ext cx="3913544" cy="370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0000" tIns="46800" rIns="90000" bIns="46800" rtlCol="0">
            <a:normAutofit fontScale="92500" lnSpcReduction="2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整除</a:t>
            </a:r>
            <a:r>
              <a:rPr lang="en-US" altLang="zh-CN" dirty="0">
                <a:solidFill>
                  <a:schemeClr val="tx1"/>
                </a:solidFill>
              </a:rPr>
              <a:t>//</a:t>
            </a:r>
            <a:r>
              <a:rPr lang="zh-CN" altLang="en-US" dirty="0">
                <a:solidFill>
                  <a:schemeClr val="tx1"/>
                </a:solidFill>
              </a:rPr>
              <a:t>获得商的整数部分，浮点数也能做该运算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200" dirty="0">
                <a:solidFill>
                  <a:schemeClr val="tx1"/>
                </a:solidFill>
              </a:rPr>
              <a:t>&gt;&gt;&gt; 4 // 7</a:t>
            </a:r>
            <a:endParaRPr lang="zh-CN" altLang="zh-CN" sz="2200" dirty="0">
              <a:solidFill>
                <a:schemeClr val="tx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200" dirty="0">
                <a:solidFill>
                  <a:schemeClr val="tx1"/>
                </a:solidFill>
              </a:rPr>
              <a:t>0</a:t>
            </a:r>
            <a:endParaRPr lang="zh-CN" altLang="zh-CN" sz="2200" dirty="0">
              <a:solidFill>
                <a:schemeClr val="tx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200" dirty="0">
                <a:solidFill>
                  <a:schemeClr val="tx1"/>
                </a:solidFill>
              </a:rPr>
              <a:t>&gt;&gt;&gt; 6.1 // 0.5, 6 // 3</a:t>
            </a:r>
            <a:endParaRPr lang="zh-CN" altLang="zh-CN" sz="2200" dirty="0">
              <a:solidFill>
                <a:schemeClr val="tx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200" dirty="0">
                <a:solidFill>
                  <a:schemeClr val="tx1"/>
                </a:solidFill>
              </a:rPr>
              <a:t>(12.0, 2)</a:t>
            </a:r>
            <a:endParaRPr lang="zh-CN" altLang="zh-CN" sz="2200" dirty="0">
              <a:solidFill>
                <a:schemeClr val="tx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200" dirty="0">
                <a:solidFill>
                  <a:schemeClr val="tx1"/>
                </a:solidFill>
              </a:rPr>
              <a:t>&gt;&gt;&gt; 6 // 0.5, 6.1 // 5</a:t>
            </a:r>
            <a:endParaRPr lang="zh-CN" altLang="zh-CN" sz="2200" dirty="0">
              <a:solidFill>
                <a:schemeClr val="tx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200" dirty="0">
                <a:solidFill>
                  <a:schemeClr val="tx1"/>
                </a:solidFill>
              </a:rPr>
              <a:t>(12.0, 1.0)</a:t>
            </a:r>
            <a:endParaRPr lang="zh-CN" altLang="zh-CN" sz="2200" dirty="0">
              <a:solidFill>
                <a:schemeClr val="tx1"/>
              </a:solidFill>
            </a:endParaRPr>
          </a:p>
        </p:txBody>
      </p:sp>
      <p:sp>
        <p:nvSpPr>
          <p:cNvPr id="23" name="内容占位符 2"/>
          <p:cNvSpPr txBox="1">
            <a:spLocks/>
          </p:cNvSpPr>
          <p:nvPr/>
        </p:nvSpPr>
        <p:spPr>
          <a:xfrm>
            <a:off x="8163173" y="2708920"/>
            <a:ext cx="3710579" cy="370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0000" tIns="46800" rIns="90000" bIns="46800" rtlCol="0">
            <a:normAutofit fontScale="92500" lnSpcReduction="2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600" dirty="0">
                <a:solidFill>
                  <a:schemeClr val="tx1"/>
                </a:solidFill>
              </a:rPr>
              <a:t>取余</a:t>
            </a:r>
            <a:r>
              <a:rPr lang="en-US" altLang="zh-CN" sz="2600" dirty="0">
                <a:solidFill>
                  <a:schemeClr val="tx1"/>
                </a:solidFill>
              </a:rPr>
              <a:t>%</a:t>
            </a:r>
            <a:r>
              <a:rPr lang="zh-CN" altLang="en-US" sz="2600" dirty="0">
                <a:solidFill>
                  <a:schemeClr val="tx1"/>
                </a:solidFill>
              </a:rPr>
              <a:t>获得商的余数部分，</a:t>
            </a:r>
            <a:br>
              <a:rPr lang="en-US" altLang="zh-CN" sz="2600" dirty="0">
                <a:solidFill>
                  <a:schemeClr val="tx1"/>
                </a:solidFill>
              </a:rPr>
            </a:br>
            <a:r>
              <a:rPr lang="zh-CN" altLang="en-US" sz="2600" dirty="0">
                <a:solidFill>
                  <a:schemeClr val="tx1"/>
                </a:solidFill>
              </a:rPr>
              <a:t>浮点数也能做该运算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&gt;&gt;&gt; 4 % 7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4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&gt;&gt;&gt; 6.1 % 0.5, 6 % 3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(0.09999999999999964, 0)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&gt;&gt;&gt; 6 % 0.5, 6.1 % 5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(0.0, 1.0999999999999996)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C4D7ABA-C085-44D7-B9F7-94DC596FA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978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接连接符 21"/>
          <p:cNvCxnSpPr/>
          <p:nvPr/>
        </p:nvCxnSpPr>
        <p:spPr>
          <a:xfrm>
            <a:off x="1008000" y="1160145"/>
            <a:ext cx="105408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2.4.1 </a:t>
            </a:r>
            <a:r>
              <a:rPr lang="zh-CN" altLang="en-US" dirty="0"/>
              <a:t>算术运算</a:t>
            </a:r>
          </a:p>
        </p:txBody>
      </p:sp>
      <p:sp>
        <p:nvSpPr>
          <p:cNvPr id="20" name="内容占位符 2"/>
          <p:cNvSpPr>
            <a:spLocks noGrp="1"/>
          </p:cNvSpPr>
          <p:nvPr>
            <p:ph idx="1"/>
          </p:nvPr>
        </p:nvSpPr>
        <p:spPr>
          <a:xfrm>
            <a:off x="1019434" y="1690688"/>
            <a:ext cx="10189134" cy="472623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sz="2400" dirty="0"/>
              <a:t>%——</a:t>
            </a:r>
            <a:r>
              <a:rPr lang="zh-CN" altLang="en-US" sz="2400" dirty="0"/>
              <a:t>运算结果一定小与除数的绝对值，并与除数同号</a:t>
            </a:r>
            <a:endParaRPr lang="pt-BR" altLang="zh-CN" sz="2200" dirty="0"/>
          </a:p>
          <a:p>
            <a:pPr marL="0" indent="0">
              <a:lnSpc>
                <a:spcPct val="110000"/>
              </a:lnSpc>
              <a:buNone/>
            </a:pPr>
            <a:r>
              <a:rPr lang="pt-BR" altLang="zh-CN" sz="2200" dirty="0"/>
              <a:t>&gt;&gt;&gt; 6 % 5, -6 % -5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pt-BR" altLang="zh-CN" sz="2200" dirty="0"/>
              <a:t>(1, -1)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pt-BR" altLang="zh-CN" sz="2200" dirty="0"/>
              <a:t>&gt;&gt;&gt; -6 % 5, 6 % -5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pt-BR" altLang="zh-CN" sz="2200" dirty="0"/>
              <a:t>(4, -4)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pt-BR" altLang="zh-CN" sz="2200" dirty="0"/>
              <a:t>&gt;&gt;&gt; 7.1 % 3, -7.1 % -3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pt-BR" altLang="zh-CN" sz="2200" dirty="0"/>
              <a:t>(1.0999999999999996, -1.0999999999999996)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pt-BR" altLang="zh-CN" sz="2200" dirty="0"/>
              <a:t>&gt;&gt;&gt; -7.1 % 3, 7.1 % -3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pt-BR" altLang="zh-CN" sz="2200" dirty="0"/>
              <a:t>(1.9000000000000004, -1.9000000000000004)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AF39B0B-0F6B-44C0-87DA-E3559237C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69008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接连接符 21"/>
          <p:cNvCxnSpPr/>
          <p:nvPr/>
        </p:nvCxnSpPr>
        <p:spPr>
          <a:xfrm>
            <a:off x="1008000" y="1160145"/>
            <a:ext cx="105408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2.4.1 </a:t>
            </a:r>
            <a:r>
              <a:rPr lang="zh-CN" altLang="en-US" dirty="0"/>
              <a:t>算术运算</a:t>
            </a:r>
          </a:p>
        </p:txBody>
      </p:sp>
      <p:sp>
        <p:nvSpPr>
          <p:cNvPr id="20" name="内容占位符 2"/>
          <p:cNvSpPr>
            <a:spLocks noGrp="1"/>
          </p:cNvSpPr>
          <p:nvPr>
            <p:ph idx="1"/>
          </p:nvPr>
        </p:nvSpPr>
        <p:spPr>
          <a:xfrm>
            <a:off x="838200" y="2132856"/>
            <a:ext cx="10370368" cy="4176464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pt-BR" altLang="zh-CN" sz="2200" dirty="0"/>
              <a:t>&gt;&gt;&gt; -2 ** 4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altLang="zh-CN" sz="2200" dirty="0">
                <a:solidFill>
                  <a:srgbClr val="0070C0"/>
                </a:solidFill>
              </a:rPr>
              <a:t>-16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altLang="zh-CN" sz="2200" dirty="0"/>
              <a:t>&gt;&gt;&gt; 2 * 3 / 3 ** 2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altLang="zh-CN" sz="2200" dirty="0">
                <a:solidFill>
                  <a:srgbClr val="0070C0"/>
                </a:solidFill>
              </a:rPr>
              <a:t>0.6666666666666666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D4CDE15-B4F5-41F4-A23F-71381547D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9577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3635"/>
          </a:xfrm>
        </p:spPr>
        <p:txBody>
          <a:bodyPr/>
          <a:lstStyle/>
          <a:p>
            <a:r>
              <a:rPr lang="zh-CN" altLang="en-US" dirty="0"/>
              <a:t>浮点数的计算误差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04362" y="1512207"/>
            <a:ext cx="10683875" cy="476418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600" dirty="0"/>
              <a:t>&gt;&gt;&gt; x = 2.3</a:t>
            </a:r>
          </a:p>
          <a:p>
            <a:pPr marL="0" indent="0">
              <a:buNone/>
            </a:pPr>
            <a:r>
              <a:rPr lang="en-US" altLang="zh-CN" sz="2600" dirty="0"/>
              <a:t>&gt;&gt;&gt; x - 1.3</a:t>
            </a:r>
          </a:p>
          <a:p>
            <a:pPr marL="0" indent="0">
              <a:buNone/>
            </a:pPr>
            <a:r>
              <a:rPr lang="en-US" altLang="zh-CN" sz="2600" dirty="0">
                <a:solidFill>
                  <a:srgbClr val="0070C0"/>
                </a:solidFill>
              </a:rPr>
              <a:t>0.9999999999999998</a:t>
            </a:r>
          </a:p>
          <a:p>
            <a:pPr marL="0" indent="0">
              <a:buNone/>
            </a:pPr>
            <a:r>
              <a:rPr lang="en-US" altLang="zh-CN" sz="2600" dirty="0"/>
              <a:t>&gt;&gt;&gt; x - 1.3 == 1     </a:t>
            </a:r>
            <a:r>
              <a:rPr lang="en-US" altLang="zh-CN" sz="2600" dirty="0">
                <a:solidFill>
                  <a:srgbClr val="FF0000"/>
                </a:solidFill>
              </a:rPr>
              <a:t># </a:t>
            </a:r>
            <a:r>
              <a:rPr lang="zh-CN" altLang="en-US" sz="2600" dirty="0">
                <a:solidFill>
                  <a:srgbClr val="FF0000"/>
                </a:solidFill>
              </a:rPr>
              <a:t>运算符</a:t>
            </a:r>
            <a:r>
              <a:rPr lang="en-US" altLang="zh-CN" sz="2600" dirty="0">
                <a:solidFill>
                  <a:srgbClr val="FF0000"/>
                </a:solidFill>
              </a:rPr>
              <a:t>==</a:t>
            </a:r>
            <a:r>
              <a:rPr lang="zh-CN" altLang="en-US" sz="2600" dirty="0">
                <a:solidFill>
                  <a:srgbClr val="FF0000"/>
                </a:solidFill>
              </a:rPr>
              <a:t>用于判断两个数是否相等</a:t>
            </a:r>
          </a:p>
          <a:p>
            <a:pPr marL="0" indent="0">
              <a:buNone/>
            </a:pPr>
            <a:r>
              <a:rPr lang="en-US" altLang="zh-CN" sz="2600" dirty="0">
                <a:solidFill>
                  <a:srgbClr val="0070C0"/>
                </a:solidFill>
              </a:rPr>
              <a:t>False</a:t>
            </a:r>
            <a:r>
              <a:rPr lang="en-US" altLang="zh-CN" sz="2600" dirty="0"/>
              <a:t>           	  </a:t>
            </a:r>
            <a:r>
              <a:rPr lang="en-US" altLang="zh-CN" sz="2600" dirty="0">
                <a:solidFill>
                  <a:srgbClr val="FF0000"/>
                </a:solidFill>
              </a:rPr>
              <a:t># </a:t>
            </a:r>
            <a:r>
              <a:rPr lang="zh-CN" altLang="en-US" sz="2600" dirty="0">
                <a:solidFill>
                  <a:srgbClr val="FF0000"/>
                </a:solidFill>
              </a:rPr>
              <a:t>结果为</a:t>
            </a:r>
            <a:r>
              <a:rPr lang="en-US" altLang="zh-CN" sz="2600" dirty="0">
                <a:solidFill>
                  <a:srgbClr val="FF0000"/>
                </a:solidFill>
              </a:rPr>
              <a:t>False</a:t>
            </a:r>
            <a:r>
              <a:rPr lang="zh-CN" altLang="en-US" sz="2600" dirty="0">
                <a:solidFill>
                  <a:srgbClr val="FF0000"/>
                </a:solidFill>
              </a:rPr>
              <a:t>，表示</a:t>
            </a:r>
            <a:r>
              <a:rPr lang="en-US" altLang="zh-CN" sz="2600" dirty="0">
                <a:solidFill>
                  <a:srgbClr val="FF0000"/>
                </a:solidFill>
              </a:rPr>
              <a:t>x - 1.3</a:t>
            </a:r>
            <a:r>
              <a:rPr lang="zh-CN" altLang="en-US" sz="2600" dirty="0">
                <a:solidFill>
                  <a:srgbClr val="FF0000"/>
                </a:solidFill>
              </a:rPr>
              <a:t>不等于</a:t>
            </a:r>
            <a:r>
              <a:rPr lang="en-US" altLang="zh-CN" sz="2600" dirty="0">
                <a:solidFill>
                  <a:srgbClr val="FF0000"/>
                </a:solidFill>
              </a:rPr>
              <a:t>1</a:t>
            </a:r>
          </a:p>
          <a:p>
            <a:pPr marL="0" indent="0">
              <a:buNone/>
            </a:pPr>
            <a:r>
              <a:rPr lang="en-US" altLang="zh-CN" sz="2600" dirty="0"/>
              <a:t>&gt;&gt;&gt; -7.1 % 3</a:t>
            </a:r>
          </a:p>
          <a:p>
            <a:pPr marL="0" indent="0">
              <a:buNone/>
            </a:pPr>
            <a:r>
              <a:rPr lang="en-US" altLang="zh-CN" sz="2600" dirty="0">
                <a:solidFill>
                  <a:srgbClr val="0070C0"/>
                </a:solidFill>
              </a:rPr>
              <a:t>1.9000000000000004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【</a:t>
            </a:r>
            <a:r>
              <a:rPr lang="zh-CN" altLang="en-US" dirty="0"/>
              <a:t>原因</a:t>
            </a:r>
            <a:r>
              <a:rPr lang="en-US" altLang="zh-CN" dirty="0"/>
              <a:t>】</a:t>
            </a:r>
            <a:r>
              <a:rPr lang="zh-CN" altLang="en-US" dirty="0"/>
              <a:t>所有数据是二进制形式存储的，在二进制和十进制相互转换后，就会有很微小的误差产生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1CEAFF-B850-4FF0-8B60-5650B99A0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839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83432" y="3934354"/>
            <a:ext cx="10538643" cy="234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983432" y="1656000"/>
            <a:ext cx="10538643" cy="1782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1384" y="216491"/>
            <a:ext cx="10538643" cy="795021"/>
          </a:xfrm>
        </p:spPr>
        <p:txBody>
          <a:bodyPr/>
          <a:lstStyle/>
          <a:p>
            <a:r>
              <a:rPr lang="zh-CN" altLang="en-US" dirty="0"/>
              <a:t>如何判断</a:t>
            </a:r>
            <a:r>
              <a:rPr lang="en-US" altLang="zh-CN" dirty="0"/>
              <a:t>2</a:t>
            </a:r>
            <a:r>
              <a:rPr lang="zh-CN" altLang="en-US" dirty="0"/>
              <a:t>个浮点数是否相等？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5157" y="1196752"/>
            <a:ext cx="10538643" cy="5444757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4500" dirty="0"/>
              <a:t>（</a:t>
            </a:r>
            <a:r>
              <a:rPr lang="en-US" altLang="zh-CN" sz="4500" dirty="0"/>
              <a:t>1</a:t>
            </a:r>
            <a:r>
              <a:rPr lang="zh-CN" altLang="en-US" sz="4500" dirty="0"/>
              <a:t>）可以看</a:t>
            </a:r>
            <a:r>
              <a:rPr lang="en-US" altLang="zh-CN" sz="4500" dirty="0"/>
              <a:t>a - b</a:t>
            </a:r>
            <a:r>
              <a:rPr lang="zh-CN" altLang="en-US" sz="4500" dirty="0"/>
              <a:t>的绝对值是否小于一个极小值。例如：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3400" dirty="0"/>
              <a:t>&gt;&gt;&gt; a = 1.3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3400" dirty="0"/>
              <a:t>&gt;&gt;&gt; b = 2.3 - 1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3400" dirty="0"/>
              <a:t>&gt;&gt;&gt; abs(a-b) &lt; 1e-10      # </a:t>
            </a:r>
            <a:r>
              <a:rPr lang="zh-CN" altLang="en-US" sz="3400" dirty="0"/>
              <a:t>内置函数</a:t>
            </a:r>
            <a:r>
              <a:rPr lang="en-US" altLang="zh-CN" sz="3400" dirty="0"/>
              <a:t>abs</a:t>
            </a:r>
            <a:r>
              <a:rPr lang="zh-CN" altLang="en-US" sz="3400" dirty="0"/>
              <a:t>求参数的绝对值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3400" dirty="0"/>
              <a:t>True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4500" dirty="0"/>
              <a:t>（</a:t>
            </a:r>
            <a:r>
              <a:rPr lang="en-US" altLang="zh-CN" sz="4500" dirty="0"/>
              <a:t>2</a:t>
            </a:r>
            <a:r>
              <a:rPr lang="zh-CN" altLang="en-US" sz="4500" dirty="0"/>
              <a:t>）使用</a:t>
            </a:r>
            <a:r>
              <a:rPr lang="en-US" altLang="zh-CN" sz="4500" dirty="0"/>
              <a:t>math</a:t>
            </a:r>
            <a:r>
              <a:rPr lang="zh-CN" altLang="en-US" sz="4500" dirty="0"/>
              <a:t>库中的</a:t>
            </a:r>
            <a:r>
              <a:rPr lang="en-US" altLang="zh-CN" sz="4500" dirty="0" err="1"/>
              <a:t>isclose</a:t>
            </a:r>
            <a:r>
              <a:rPr lang="en-US" altLang="zh-CN" sz="4500" dirty="0"/>
              <a:t>()</a:t>
            </a:r>
            <a:r>
              <a:rPr lang="zh-CN" altLang="en-US" sz="4500" dirty="0"/>
              <a:t>函数。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3400" dirty="0"/>
              <a:t>&gt;&gt;&gt; import math	#</a:t>
            </a:r>
            <a:r>
              <a:rPr lang="zh-CN" altLang="en-US" sz="3400" dirty="0"/>
              <a:t>导入</a:t>
            </a:r>
            <a:r>
              <a:rPr lang="en-US" altLang="zh-CN" sz="3400" dirty="0"/>
              <a:t>math</a:t>
            </a:r>
            <a:r>
              <a:rPr lang="zh-CN" altLang="en-US" sz="3400" dirty="0"/>
              <a:t>库，才能使用它的</a:t>
            </a:r>
            <a:r>
              <a:rPr lang="en-US" altLang="zh-CN" sz="3400" dirty="0" err="1"/>
              <a:t>isclose</a:t>
            </a:r>
            <a:r>
              <a:rPr lang="zh-CN" altLang="en-US" sz="3400" dirty="0"/>
              <a:t>函数</a:t>
            </a:r>
            <a:endParaRPr lang="en-US" altLang="zh-CN" sz="3400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3400" dirty="0"/>
              <a:t>&gt;&gt;&gt; 1.11 + 1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3400" dirty="0"/>
              <a:t>2.1100000000000003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3400" dirty="0"/>
              <a:t>&gt;&gt;&gt; </a:t>
            </a:r>
            <a:r>
              <a:rPr lang="en-US" altLang="zh-CN" sz="3400" dirty="0" err="1"/>
              <a:t>math.isclose</a:t>
            </a:r>
            <a:r>
              <a:rPr lang="en-US" altLang="zh-CN" sz="3400" dirty="0"/>
              <a:t>(2.11, 1.11 + 1)	#</a:t>
            </a:r>
            <a:r>
              <a:rPr lang="zh-CN" altLang="en-US" sz="3400" dirty="0"/>
              <a:t> </a:t>
            </a:r>
            <a:r>
              <a:rPr lang="en-US" altLang="zh-CN" sz="3400" dirty="0"/>
              <a:t>.</a:t>
            </a:r>
            <a:r>
              <a:rPr lang="zh-CN" altLang="en-US" sz="3400" dirty="0"/>
              <a:t>理解成“的”</a:t>
            </a:r>
            <a:endParaRPr lang="en-US" altLang="zh-CN" sz="3400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3400" dirty="0"/>
              <a:t>True</a:t>
            </a:r>
          </a:p>
          <a:p>
            <a:pPr marL="0" indent="0">
              <a:lnSpc>
                <a:spcPct val="120000"/>
              </a:lnSpc>
              <a:buNone/>
            </a:pP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01CA92-96BF-4789-AF54-BCA839252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8243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683511" y="3261628"/>
            <a:ext cx="10538643" cy="14635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1008000" y="1160145"/>
            <a:ext cx="105408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5720" y="285578"/>
            <a:ext cx="10540800" cy="695150"/>
          </a:xfrm>
        </p:spPr>
        <p:txBody>
          <a:bodyPr/>
          <a:lstStyle/>
          <a:p>
            <a:r>
              <a:rPr lang="en-US" altLang="zh-CN" dirty="0"/>
              <a:t>2.4.2 </a:t>
            </a:r>
            <a:r>
              <a:rPr lang="zh-CN" altLang="en-US" dirty="0"/>
              <a:t>位运算*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5642" y="2786990"/>
            <a:ext cx="10896433" cy="3738354"/>
          </a:xfrm>
        </p:spPr>
        <p:txBody>
          <a:bodyPr/>
          <a:lstStyle/>
          <a:p>
            <a:r>
              <a:rPr lang="zh-CN" altLang="en-US" dirty="0"/>
              <a:t>位运算只针对整数，二进制</a:t>
            </a:r>
            <a:r>
              <a:rPr lang="en-US" altLang="zh-CN" dirty="0"/>
              <a:t>, </a:t>
            </a:r>
            <a:r>
              <a:rPr lang="zh-CN" altLang="en-US" dirty="0"/>
              <a:t>逐位运算</a:t>
            </a:r>
            <a:endParaRPr lang="en-US" altLang="zh-CN" dirty="0"/>
          </a:p>
          <a:p>
            <a:r>
              <a:rPr lang="zh-CN" altLang="en-US" dirty="0"/>
              <a:t>结果也是整数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&gt;&gt;&gt; 17 &amp; 135, 8 &amp; 209, 97 &amp; -7, -67 &amp; 97</a:t>
            </a:r>
          </a:p>
          <a:p>
            <a:pPr marL="0" indent="0">
              <a:buNone/>
            </a:pPr>
            <a:r>
              <a:rPr lang="en-US" altLang="zh-CN" dirty="0"/>
              <a:t>(1, 0, 97, 33)</a:t>
            </a:r>
          </a:p>
          <a:p>
            <a:endParaRPr lang="en-US" altLang="zh-CN" dirty="0"/>
          </a:p>
          <a:p>
            <a:r>
              <a:rPr lang="zh-CN" altLang="zh-CN" dirty="0"/>
              <a:t>先学内置函数</a:t>
            </a:r>
            <a:r>
              <a:rPr lang="en-US" altLang="zh-CN" dirty="0"/>
              <a:t>bin()</a:t>
            </a:r>
          </a:p>
        </p:txBody>
      </p:sp>
      <p:sp>
        <p:nvSpPr>
          <p:cNvPr id="4" name="六边形 3"/>
          <p:cNvSpPr/>
          <p:nvPr/>
        </p:nvSpPr>
        <p:spPr>
          <a:xfrm>
            <a:off x="2122821" y="1363858"/>
            <a:ext cx="1628101" cy="1041554"/>
          </a:xfrm>
          <a:prstGeom prst="hexagon">
            <a:avLst/>
          </a:prstGeom>
          <a:noFill/>
          <a:ln w="76200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按位与</a:t>
            </a:r>
            <a:endParaRPr lang="en-US" altLang="zh-CN" sz="2000" dirty="0"/>
          </a:p>
          <a:p>
            <a:pPr algn="ctr"/>
            <a:r>
              <a:rPr lang="en-US" altLang="zh-CN" sz="3600" dirty="0"/>
              <a:t>&amp;</a:t>
            </a:r>
            <a:endParaRPr lang="zh-CN" altLang="en-US" sz="3600" dirty="0"/>
          </a:p>
        </p:txBody>
      </p:sp>
      <p:sp>
        <p:nvSpPr>
          <p:cNvPr id="6" name="六边形 5"/>
          <p:cNvSpPr/>
          <p:nvPr/>
        </p:nvSpPr>
        <p:spPr>
          <a:xfrm>
            <a:off x="3610709" y="795050"/>
            <a:ext cx="1628101" cy="1041554"/>
          </a:xfrm>
          <a:prstGeom prst="hexagon">
            <a:avLst/>
          </a:prstGeom>
          <a:noFill/>
          <a:ln w="76200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按位或</a:t>
            </a:r>
            <a:endParaRPr lang="en-US" altLang="zh-CN" sz="2000" dirty="0"/>
          </a:p>
          <a:p>
            <a:pPr algn="ctr"/>
            <a:r>
              <a:rPr lang="en-US" altLang="zh-CN" sz="3600" dirty="0"/>
              <a:t>|</a:t>
            </a:r>
            <a:endParaRPr lang="zh-CN" altLang="en-US" sz="3600" dirty="0"/>
          </a:p>
        </p:txBody>
      </p:sp>
      <p:sp>
        <p:nvSpPr>
          <p:cNvPr id="13" name="六边形 12"/>
          <p:cNvSpPr/>
          <p:nvPr/>
        </p:nvSpPr>
        <p:spPr>
          <a:xfrm>
            <a:off x="5087596" y="1360673"/>
            <a:ext cx="1628101" cy="1041554"/>
          </a:xfrm>
          <a:prstGeom prst="hexagon">
            <a:avLst/>
          </a:prstGeom>
          <a:noFill/>
          <a:ln w="76200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zh-CN" altLang="en-US" sz="2000" dirty="0"/>
              <a:t>按位异或</a:t>
            </a:r>
            <a:endParaRPr lang="en-US" altLang="zh-CN" sz="2000" dirty="0"/>
          </a:p>
          <a:p>
            <a:pPr algn="ctr"/>
            <a:r>
              <a:rPr lang="en-US" altLang="zh-CN" sz="3600" dirty="0"/>
              <a:t>^</a:t>
            </a:r>
            <a:endParaRPr lang="zh-CN" altLang="en-US" sz="3600" dirty="0"/>
          </a:p>
        </p:txBody>
      </p:sp>
      <p:sp>
        <p:nvSpPr>
          <p:cNvPr id="14" name="六边形 13"/>
          <p:cNvSpPr/>
          <p:nvPr/>
        </p:nvSpPr>
        <p:spPr>
          <a:xfrm>
            <a:off x="6564483" y="780648"/>
            <a:ext cx="1628101" cy="1041554"/>
          </a:xfrm>
          <a:prstGeom prst="hexagon">
            <a:avLst/>
          </a:prstGeom>
          <a:noFill/>
          <a:ln w="76200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zh-CN" altLang="en-US" sz="2000" dirty="0"/>
              <a:t>按位取反</a:t>
            </a:r>
            <a:endParaRPr lang="en-US" altLang="zh-CN" sz="2000" dirty="0"/>
          </a:p>
          <a:p>
            <a:pPr algn="ctr"/>
            <a:r>
              <a:rPr lang="en-US" altLang="zh-CN" sz="3600" dirty="0"/>
              <a:t>~</a:t>
            </a:r>
            <a:endParaRPr lang="zh-CN" altLang="en-US" sz="3600" dirty="0"/>
          </a:p>
        </p:txBody>
      </p:sp>
      <p:sp>
        <p:nvSpPr>
          <p:cNvPr id="15" name="六边形 14"/>
          <p:cNvSpPr/>
          <p:nvPr/>
        </p:nvSpPr>
        <p:spPr>
          <a:xfrm>
            <a:off x="8041370" y="1360673"/>
            <a:ext cx="1628101" cy="1041554"/>
          </a:xfrm>
          <a:prstGeom prst="hexagon">
            <a:avLst/>
          </a:prstGeom>
          <a:noFill/>
          <a:ln w="76200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zh-CN" altLang="en-US" sz="2000" dirty="0"/>
              <a:t>按位左移</a:t>
            </a:r>
            <a:endParaRPr lang="en-US" altLang="zh-CN" sz="2000" dirty="0"/>
          </a:p>
          <a:p>
            <a:pPr algn="ctr"/>
            <a:r>
              <a:rPr lang="en-US" altLang="zh-CN" sz="3600" dirty="0"/>
              <a:t>&lt;&lt;</a:t>
            </a:r>
            <a:endParaRPr lang="zh-CN" altLang="en-US" sz="3600" dirty="0"/>
          </a:p>
        </p:txBody>
      </p:sp>
      <p:sp>
        <p:nvSpPr>
          <p:cNvPr id="16" name="六边形 15"/>
          <p:cNvSpPr/>
          <p:nvPr/>
        </p:nvSpPr>
        <p:spPr>
          <a:xfrm>
            <a:off x="9518257" y="777464"/>
            <a:ext cx="1628101" cy="1041554"/>
          </a:xfrm>
          <a:prstGeom prst="hexagon">
            <a:avLst/>
          </a:prstGeom>
          <a:noFill/>
          <a:ln w="76200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zh-CN" altLang="en-US" sz="2000" dirty="0"/>
              <a:t>按位右移</a:t>
            </a:r>
            <a:endParaRPr lang="en-US" altLang="zh-CN" sz="2000" dirty="0"/>
          </a:p>
          <a:p>
            <a:pPr algn="ctr"/>
            <a:r>
              <a:rPr lang="en-US" altLang="zh-CN" sz="3600" dirty="0"/>
              <a:t>&gt;&gt;</a:t>
            </a:r>
            <a:endParaRPr lang="zh-CN" altLang="en-US" sz="36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52C09FB-2865-4167-9EB1-6FF8AF43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819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69925" y="3765088"/>
            <a:ext cx="10538643" cy="1782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69925" y="1876622"/>
            <a:ext cx="10682659" cy="11923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bin</a:t>
            </a:r>
            <a:r>
              <a:rPr lang="zh-CN" altLang="en-US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功能：查看整数的二进制表示</a:t>
            </a:r>
            <a:endParaRPr lang="en-US" altLang="zh-CN" dirty="0"/>
          </a:p>
          <a:p>
            <a:r>
              <a:rPr lang="zh-CN" altLang="en-US" dirty="0"/>
              <a:t>说明：看的是原码，不是补码；正数不显示符号位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400" dirty="0"/>
              <a:t>&gt;&gt;&gt; bin(17), bin(135), bin(-7), bin(-67)    </a:t>
            </a:r>
            <a:r>
              <a:rPr lang="en-US" altLang="zh-CN" sz="2000" dirty="0"/>
              <a:t># Python</a:t>
            </a:r>
            <a:r>
              <a:rPr lang="zh-CN" altLang="en-US" sz="2000" dirty="0"/>
              <a:t>不能显示负数的补码形态</a:t>
            </a:r>
          </a:p>
          <a:p>
            <a:pPr marL="0" indent="0">
              <a:buNone/>
            </a:pPr>
            <a:r>
              <a:rPr lang="en-US" altLang="zh-CN" sz="2400" dirty="0"/>
              <a:t>('0b10001', '0b10000111', '-0b111', '-0b1000011')</a:t>
            </a:r>
          </a:p>
          <a:p>
            <a:r>
              <a:rPr lang="zh-CN" altLang="en-US" dirty="0"/>
              <a:t>巧用全</a:t>
            </a:r>
            <a:r>
              <a:rPr lang="en-US" altLang="zh-CN" dirty="0"/>
              <a:t>1</a:t>
            </a:r>
            <a:r>
              <a:rPr lang="zh-CN" altLang="en-US" dirty="0"/>
              <a:t>的二进制与负数按位与来查看负数的补码值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400" dirty="0"/>
              <a:t>&gt;&gt;&gt; c = -67            # -67</a:t>
            </a:r>
            <a:r>
              <a:rPr lang="zh-CN" altLang="en-US" sz="2400" dirty="0"/>
              <a:t>的</a:t>
            </a:r>
            <a:r>
              <a:rPr lang="en-US" altLang="zh-CN" sz="2400" dirty="0"/>
              <a:t>16</a:t>
            </a:r>
            <a:r>
              <a:rPr lang="zh-CN" altLang="en-US" sz="2400" dirty="0"/>
              <a:t>位补码是</a:t>
            </a:r>
            <a:r>
              <a:rPr lang="en-US" altLang="zh-CN" sz="2400" dirty="0"/>
              <a:t>1111111110111101</a:t>
            </a:r>
          </a:p>
          <a:p>
            <a:pPr marL="0" indent="0">
              <a:buNone/>
            </a:pPr>
            <a:r>
              <a:rPr lang="en-US" altLang="zh-CN" sz="2400" dirty="0"/>
              <a:t>&gt;&gt;&gt; bin(c &amp; 0b1111111111111111)   </a:t>
            </a:r>
          </a:p>
          <a:p>
            <a:pPr marL="0" indent="0">
              <a:buNone/>
            </a:pPr>
            <a:r>
              <a:rPr lang="en-US" altLang="zh-CN" sz="2400" dirty="0"/>
              <a:t>'0b1111111110111101'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1BCF7D-7FE8-4F3B-AD79-D99213DFD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0805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接连接符 21"/>
          <p:cNvCxnSpPr/>
          <p:nvPr/>
        </p:nvCxnSpPr>
        <p:spPr>
          <a:xfrm>
            <a:off x="981275" y="1388497"/>
            <a:ext cx="105408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&amp; </a:t>
            </a:r>
            <a:r>
              <a:rPr lang="zh-CN" altLang="en-US" dirty="0"/>
              <a:t>按位与运算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4" y="1988840"/>
            <a:ext cx="11522075" cy="453610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dirty="0"/>
              <a:t>只有当两个值均为</a:t>
            </a:r>
            <a:r>
              <a:rPr lang="en-US" altLang="zh-CN" dirty="0"/>
              <a:t>1</a:t>
            </a:r>
            <a:r>
              <a:rPr lang="zh-CN" altLang="en-US" dirty="0"/>
              <a:t>，结果才是</a:t>
            </a:r>
            <a:r>
              <a:rPr lang="en-US" altLang="zh-CN" dirty="0"/>
              <a:t>1</a:t>
            </a:r>
            <a:r>
              <a:rPr lang="zh-CN" altLang="en-US" dirty="0"/>
              <a:t>；只要有一个是</a:t>
            </a:r>
            <a:r>
              <a:rPr lang="en-US" altLang="zh-CN" dirty="0"/>
              <a:t>0</a:t>
            </a:r>
            <a:r>
              <a:rPr lang="zh-CN" altLang="en-US" dirty="0"/>
              <a:t>，结果就是</a:t>
            </a:r>
            <a:r>
              <a:rPr lang="en-US" altLang="zh-CN" dirty="0"/>
              <a:t>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【</a:t>
            </a:r>
            <a:r>
              <a:rPr lang="zh-CN" altLang="en-US" sz="2400" dirty="0"/>
              <a:t>例</a:t>
            </a:r>
            <a:r>
              <a:rPr lang="en-US" altLang="zh-CN" sz="2400" dirty="0"/>
              <a:t>】</a:t>
            </a:r>
            <a:r>
              <a:rPr lang="zh-CN" altLang="en-US" sz="2400" dirty="0"/>
              <a:t>求</a:t>
            </a:r>
            <a:r>
              <a:rPr lang="en-US" altLang="zh-CN" sz="2400" dirty="0"/>
              <a:t>17</a:t>
            </a:r>
            <a:r>
              <a:rPr lang="zh-CN" altLang="en-US" sz="2400" dirty="0"/>
              <a:t>和</a:t>
            </a:r>
            <a:r>
              <a:rPr lang="en-US" altLang="zh-CN" sz="2400" dirty="0"/>
              <a:t>135</a:t>
            </a:r>
            <a:r>
              <a:rPr lang="zh-CN" altLang="en-US" sz="2400" dirty="0"/>
              <a:t>按位与的</a:t>
            </a:r>
            <a:r>
              <a:rPr lang="en-US" altLang="zh-CN" sz="2400" dirty="0"/>
              <a:t>8</a:t>
            </a:r>
            <a:r>
              <a:rPr lang="zh-CN" altLang="en-US" sz="2400" dirty="0"/>
              <a:t>位二进制结果。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&gt;&gt;&gt; a = 17	# </a:t>
            </a:r>
            <a:r>
              <a:rPr lang="zh-CN" altLang="en-US" sz="2400" dirty="0"/>
              <a:t>补码是</a:t>
            </a:r>
            <a:r>
              <a:rPr lang="en-US" altLang="zh-CN" sz="2400" dirty="0"/>
              <a:t>0001 0001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&gt;&gt;&gt; bin(a)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'0b10001'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&gt;&gt;&gt; b = 135	# </a:t>
            </a:r>
            <a:r>
              <a:rPr lang="zh-CN" altLang="en-US" sz="2400" dirty="0"/>
              <a:t>补码是</a:t>
            </a:r>
            <a:r>
              <a:rPr lang="en-US" altLang="zh-CN" sz="2400" dirty="0"/>
              <a:t>1000 0111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&gt;&gt;&gt; bin(b)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'0b10000111'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&gt;&gt;&gt; a &amp; b	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1	 # 1</a:t>
            </a:r>
            <a:r>
              <a:rPr lang="zh-CN" altLang="en-US" sz="2400" dirty="0"/>
              <a:t>的</a:t>
            </a:r>
            <a:r>
              <a:rPr lang="en-US" altLang="zh-CN" sz="2400" dirty="0"/>
              <a:t>8</a:t>
            </a:r>
            <a:r>
              <a:rPr lang="zh-CN" altLang="en-US" sz="2400" dirty="0"/>
              <a:t>位补码是</a:t>
            </a:r>
            <a:r>
              <a:rPr lang="en-US" altLang="zh-CN" sz="2400" dirty="0"/>
              <a:t>0000 0001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7567E5A-FF0C-4DCE-9833-A5ECD56B1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CFC377A-D715-4C22-9D01-1A62EDDA52A4}"/>
              </a:ext>
            </a:extLst>
          </p:cNvPr>
          <p:cNvSpPr txBox="1"/>
          <p:nvPr/>
        </p:nvSpPr>
        <p:spPr>
          <a:xfrm>
            <a:off x="7536160" y="3068960"/>
            <a:ext cx="447139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		0001 0001</a:t>
            </a:r>
          </a:p>
          <a:p>
            <a:r>
              <a:rPr lang="en-US" altLang="zh-CN" sz="2800" dirty="0"/>
              <a:t>	</a:t>
            </a:r>
            <a:r>
              <a:rPr lang="en-US" altLang="zh-CN" sz="2800" b="1" dirty="0"/>
              <a:t>&amp;	1000  0111</a:t>
            </a:r>
          </a:p>
          <a:p>
            <a:r>
              <a:rPr lang="en-US" altLang="zh-CN" sz="2800" b="1" dirty="0"/>
              <a:t>         ------------------------------		 0000  0001</a:t>
            </a:r>
          </a:p>
          <a:p>
            <a:endParaRPr lang="en-US" altLang="zh-CN" sz="2800" b="1" dirty="0"/>
          </a:p>
          <a:p>
            <a:endParaRPr lang="en-US" altLang="zh-CN" sz="2800" b="1" dirty="0"/>
          </a:p>
          <a:p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4098470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669924" y="1196752"/>
            <a:ext cx="11522075" cy="5581223"/>
          </a:xfrm>
          <a:solidFill>
            <a:schemeClr val="bg1">
              <a:lumMod val="85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  <a:r>
              <a:rPr lang="zh-CN" altLang="en-US" dirty="0"/>
              <a:t>求</a:t>
            </a:r>
            <a:r>
              <a:rPr lang="en-US" altLang="zh-CN" dirty="0"/>
              <a:t>-67</a:t>
            </a:r>
            <a:r>
              <a:rPr lang="zh-CN" altLang="en-US" dirty="0"/>
              <a:t>的</a:t>
            </a:r>
            <a:r>
              <a:rPr lang="en-US" altLang="zh-CN" dirty="0"/>
              <a:t>8</a:t>
            </a:r>
            <a:r>
              <a:rPr lang="zh-CN" altLang="en-US" dirty="0"/>
              <a:t>位二进制补码。</a:t>
            </a:r>
            <a:endParaRPr lang="en-US" altLang="zh-CN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dirty="0"/>
              <a:t>算法：求负数的补码，可以用原码和</a:t>
            </a:r>
            <a:r>
              <a:rPr lang="en-US" altLang="zh-CN" dirty="0"/>
              <a:t>111…111</a:t>
            </a:r>
            <a:r>
              <a:rPr lang="zh-CN" altLang="en-US" dirty="0"/>
              <a:t>进行与运算即可</a:t>
            </a:r>
            <a:endParaRPr lang="en-US" altLang="zh-CN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/>
              <a:t>&gt;&gt;&gt; </a:t>
            </a:r>
            <a:r>
              <a:rPr lang="en-US" altLang="zh-CN" dirty="0" err="1"/>
              <a:t>allone</a:t>
            </a:r>
            <a:r>
              <a:rPr lang="en-US" altLang="zh-CN" dirty="0"/>
              <a:t> = 0b11111111	# 255</a:t>
            </a:r>
            <a:r>
              <a:rPr lang="zh-CN" altLang="en-US" dirty="0"/>
              <a:t>的</a:t>
            </a:r>
            <a:r>
              <a:rPr lang="en-US" altLang="zh-CN" dirty="0"/>
              <a:t>8</a:t>
            </a:r>
            <a:r>
              <a:rPr lang="zh-CN" altLang="en-US" dirty="0"/>
              <a:t>位补码</a:t>
            </a:r>
            <a:endParaRPr lang="en-US" altLang="zh-CN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/>
              <a:t>&gt;&gt;&gt; a = -67			# -67</a:t>
            </a:r>
            <a:r>
              <a:rPr lang="zh-CN" altLang="en-US" dirty="0"/>
              <a:t>的</a:t>
            </a:r>
            <a:r>
              <a:rPr lang="en-US" altLang="zh-CN" dirty="0"/>
              <a:t>8</a:t>
            </a:r>
            <a:r>
              <a:rPr lang="zh-CN" altLang="en-US" dirty="0"/>
              <a:t>位二进制补码是</a:t>
            </a:r>
            <a:r>
              <a:rPr lang="en-US" altLang="zh-CN" dirty="0"/>
              <a:t>1011 1101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/>
              <a:t>&gt;&gt;&gt; bin(a &amp; </a:t>
            </a:r>
            <a:r>
              <a:rPr lang="en-US" altLang="zh-CN" dirty="0" err="1"/>
              <a:t>allone</a:t>
            </a:r>
            <a:r>
              <a:rPr lang="en-US" altLang="zh-CN" dirty="0"/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/>
              <a:t>'0b10111101’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/>
              <a:t>【</a:t>
            </a:r>
            <a:r>
              <a:rPr lang="zh-CN" altLang="en-US" dirty="0"/>
              <a:t>思考</a:t>
            </a:r>
            <a:r>
              <a:rPr lang="en-US" altLang="zh-CN" dirty="0"/>
              <a:t>】1</a:t>
            </a:r>
            <a:r>
              <a:rPr lang="zh-CN" altLang="en-US" dirty="0"/>
              <a:t>）</a:t>
            </a:r>
            <a:r>
              <a:rPr lang="en-US" altLang="zh-CN" dirty="0"/>
              <a:t>-67</a:t>
            </a:r>
            <a:r>
              <a:rPr lang="zh-CN" altLang="en-US" dirty="0"/>
              <a:t>的原码</a:t>
            </a:r>
            <a:r>
              <a:rPr lang="en-US" altLang="zh-CN" dirty="0"/>
              <a:t>= 1100 0011</a:t>
            </a:r>
            <a:r>
              <a:rPr lang="zh-CN" altLang="en-US" dirty="0"/>
              <a:t>，反码</a:t>
            </a:r>
            <a:r>
              <a:rPr lang="en-US" altLang="zh-CN" dirty="0"/>
              <a:t>(</a:t>
            </a:r>
            <a:r>
              <a:rPr lang="zh-CN" altLang="en-US" dirty="0"/>
              <a:t>符号位不变其他位取反</a:t>
            </a:r>
            <a:r>
              <a:rPr lang="en-US" altLang="zh-CN" dirty="0"/>
              <a:t>)= 1011 1100</a:t>
            </a:r>
            <a:r>
              <a:rPr lang="zh-CN" altLang="en-US" dirty="0"/>
              <a:t>，补码</a:t>
            </a:r>
            <a:r>
              <a:rPr lang="en-US" altLang="zh-CN" dirty="0"/>
              <a:t>=</a:t>
            </a:r>
            <a:r>
              <a:rPr lang="zh-CN" altLang="en-US" dirty="0"/>
              <a:t>反码</a:t>
            </a:r>
            <a:r>
              <a:rPr lang="en-US" altLang="zh-CN" dirty="0"/>
              <a:t>+1= 1011 1101.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dirty="0"/>
              <a:t>                  2</a:t>
            </a:r>
            <a:r>
              <a:rPr lang="zh-CN" altLang="en-US" dirty="0"/>
              <a:t>）</a:t>
            </a:r>
            <a:r>
              <a:rPr lang="en-US" altLang="zh-CN" dirty="0"/>
              <a:t>+67</a:t>
            </a:r>
            <a:r>
              <a:rPr lang="zh-CN" altLang="en-US" dirty="0"/>
              <a:t>与</a:t>
            </a:r>
            <a:r>
              <a:rPr lang="en-US" altLang="zh-CN" dirty="0" err="1"/>
              <a:t>allone</a:t>
            </a:r>
            <a:r>
              <a:rPr lang="zh-CN" altLang="en-US" dirty="0"/>
              <a:t>的结果如何？是它的补码吗？</a:t>
            </a:r>
            <a:endParaRPr lang="en-US" altLang="zh-CN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1E422F9-03C2-4FF3-AA6B-D56D55B7E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743056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669925" y="1628800"/>
            <a:ext cx="10852150" cy="5149175"/>
          </a:xfrm>
          <a:solidFill>
            <a:schemeClr val="bg1">
              <a:lumMod val="85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3200" dirty="0"/>
              <a:t>【</a:t>
            </a:r>
            <a:r>
              <a:rPr lang="zh-CN" altLang="en-US" sz="3200" dirty="0"/>
              <a:t>例</a:t>
            </a:r>
            <a:r>
              <a:rPr lang="en-US" altLang="zh-CN" sz="3200" dirty="0"/>
              <a:t>(</a:t>
            </a:r>
            <a:r>
              <a:rPr lang="zh-CN" altLang="en-US" sz="3200" dirty="0"/>
              <a:t>略</a:t>
            </a:r>
            <a:r>
              <a:rPr lang="en-US" altLang="zh-CN" sz="3200" dirty="0"/>
              <a:t>)】</a:t>
            </a:r>
            <a:r>
              <a:rPr lang="zh-CN" altLang="en-US" sz="3200" dirty="0"/>
              <a:t>求</a:t>
            </a:r>
            <a:r>
              <a:rPr lang="en-US" altLang="zh-CN" sz="3200" dirty="0"/>
              <a:t>-67</a:t>
            </a:r>
            <a:r>
              <a:rPr lang="zh-CN" altLang="en-US" sz="3200" dirty="0"/>
              <a:t>和</a:t>
            </a:r>
            <a:r>
              <a:rPr lang="en-US" altLang="zh-CN" sz="3200" dirty="0"/>
              <a:t>97</a:t>
            </a:r>
            <a:r>
              <a:rPr lang="zh-CN" altLang="en-US" sz="3200" dirty="0"/>
              <a:t>的</a:t>
            </a:r>
            <a:r>
              <a:rPr lang="en-US" altLang="zh-CN" sz="3200" dirty="0"/>
              <a:t>8</a:t>
            </a:r>
            <a:r>
              <a:rPr lang="zh-CN" altLang="en-US" sz="3200" dirty="0"/>
              <a:t>位</a:t>
            </a:r>
            <a:r>
              <a:rPr lang="zh-CN" altLang="en-US" dirty="0"/>
              <a:t>与</a:t>
            </a:r>
            <a:r>
              <a:rPr lang="zh-CN" altLang="en-US" sz="3200" dirty="0"/>
              <a:t>运算结果。</a:t>
            </a:r>
            <a:endParaRPr lang="en-US" altLang="zh-CN" sz="3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3200" dirty="0"/>
              <a:t>&gt;&gt;&gt; a = -67	  </a:t>
            </a:r>
            <a:r>
              <a:rPr lang="en-US" altLang="zh-CN" sz="3200" dirty="0">
                <a:solidFill>
                  <a:srgbClr val="FF0000"/>
                </a:solidFill>
              </a:rPr>
              <a:t>#</a:t>
            </a:r>
            <a:r>
              <a:rPr lang="zh-CN" altLang="en-US" sz="3200" dirty="0">
                <a:solidFill>
                  <a:srgbClr val="FF0000"/>
                </a:solidFill>
              </a:rPr>
              <a:t>补码是</a:t>
            </a:r>
            <a:r>
              <a:rPr lang="en-US" altLang="zh-CN" sz="3200" dirty="0">
                <a:solidFill>
                  <a:srgbClr val="FF0000"/>
                </a:solidFill>
              </a:rPr>
              <a:t>1011 1101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3200" dirty="0"/>
              <a:t>&gt;&gt;&gt; b = 97	  </a:t>
            </a:r>
            <a:r>
              <a:rPr lang="en-US" altLang="zh-CN" sz="3200" dirty="0">
                <a:solidFill>
                  <a:srgbClr val="FF0000"/>
                </a:solidFill>
              </a:rPr>
              <a:t>#</a:t>
            </a:r>
            <a:r>
              <a:rPr lang="zh-CN" altLang="en-US" sz="3200" dirty="0">
                <a:solidFill>
                  <a:srgbClr val="FF0000"/>
                </a:solidFill>
              </a:rPr>
              <a:t>补码是</a:t>
            </a:r>
            <a:r>
              <a:rPr lang="en-US" altLang="zh-CN" sz="3200" dirty="0">
                <a:solidFill>
                  <a:srgbClr val="FF0000"/>
                </a:solidFill>
              </a:rPr>
              <a:t>0110 0001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3200" dirty="0"/>
              <a:t>&gt;&gt;&gt; c = a &amp; b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3200" dirty="0"/>
              <a:t>&gt;&gt;&gt; c	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altLang="zh-CN" dirty="0">
                <a:solidFill>
                  <a:srgbClr val="0070C0"/>
                </a:solidFill>
              </a:rPr>
              <a:t>33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altLang="zh-CN" dirty="0">
                <a:solidFill>
                  <a:srgbClr val="0070C0"/>
                </a:solidFill>
              </a:rPr>
              <a:t>&gt;&gt;&gt; allone = 0b11111111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altLang="zh-CN" dirty="0">
                <a:solidFill>
                  <a:srgbClr val="0070C0"/>
                </a:solidFill>
              </a:rPr>
              <a:t>&gt;&gt;&gt; bin(c &amp; allone)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it-IT" altLang="zh-CN" dirty="0">
                <a:solidFill>
                  <a:srgbClr val="0070C0"/>
                </a:solidFill>
              </a:rPr>
              <a:t>'0b100001'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1E422F9-03C2-4FF3-AA6B-D56D55B7E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04308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636734" y="2780928"/>
            <a:ext cx="10669073" cy="36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981275" y="1412776"/>
            <a:ext cx="105408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7182" y="441900"/>
            <a:ext cx="10852150" cy="716915"/>
          </a:xfrm>
        </p:spPr>
        <p:txBody>
          <a:bodyPr/>
          <a:lstStyle/>
          <a:p>
            <a:r>
              <a:rPr lang="en-US" altLang="zh-CN" sz="4400" dirty="0"/>
              <a:t>|</a:t>
            </a:r>
            <a:r>
              <a:rPr lang="zh-CN" altLang="en-US" sz="4400" dirty="0"/>
              <a:t>或运算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7181" y="1412777"/>
            <a:ext cx="10824893" cy="511216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800" dirty="0"/>
              <a:t>只有两个值同为</a:t>
            </a:r>
            <a:r>
              <a:rPr lang="en-US" altLang="zh-CN" sz="2800" dirty="0"/>
              <a:t>0</a:t>
            </a:r>
            <a:r>
              <a:rPr lang="zh-CN" altLang="en-US" sz="2800" dirty="0"/>
              <a:t>，或的结果才为</a:t>
            </a:r>
            <a:r>
              <a:rPr lang="en-US" altLang="zh-CN" sz="2800" dirty="0"/>
              <a:t>0</a:t>
            </a:r>
            <a:r>
              <a:rPr lang="zh-CN" altLang="en-US" sz="2800" dirty="0"/>
              <a:t>；只要有一个为</a:t>
            </a:r>
            <a:r>
              <a:rPr lang="en-US" altLang="zh-CN" sz="2800" dirty="0"/>
              <a:t>1</a:t>
            </a:r>
            <a:r>
              <a:rPr lang="zh-CN" altLang="en-US" sz="2800" dirty="0"/>
              <a:t>，结果就是</a:t>
            </a:r>
            <a:r>
              <a:rPr lang="en-US" altLang="zh-CN" sz="2800" dirty="0"/>
              <a:t>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sz="2400" dirty="0"/>
              <a:t>| </a:t>
            </a:r>
            <a:r>
              <a:rPr lang="zh-CN" altLang="en-US" sz="2400" dirty="0"/>
              <a:t>输入：</a:t>
            </a:r>
            <a:r>
              <a:rPr lang="en-US" altLang="zh-CN" sz="2400" dirty="0"/>
              <a:t>shift + \(</a:t>
            </a:r>
            <a:r>
              <a:rPr lang="zh-CN" altLang="en-US" sz="2400" dirty="0"/>
              <a:t>在</a:t>
            </a:r>
            <a:r>
              <a:rPr lang="en-US" altLang="zh-CN" sz="2400" dirty="0"/>
              <a:t>backspace</a:t>
            </a:r>
            <a:r>
              <a:rPr lang="zh-CN" altLang="en-US" sz="2400" dirty="0"/>
              <a:t>键下方</a:t>
            </a:r>
            <a:r>
              <a:rPr lang="en-US" altLang="zh-CN" sz="2400" dirty="0"/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【</a:t>
            </a:r>
            <a:r>
              <a:rPr lang="zh-CN" altLang="en-US" sz="2400" dirty="0"/>
              <a:t>例</a:t>
            </a:r>
            <a:r>
              <a:rPr lang="en-US" altLang="zh-CN" sz="2400" dirty="0"/>
              <a:t>】</a:t>
            </a:r>
            <a:r>
              <a:rPr lang="zh-CN" altLang="en-US" sz="2400" dirty="0"/>
              <a:t>求</a:t>
            </a:r>
            <a:r>
              <a:rPr lang="en-US" altLang="zh-CN" sz="2400" dirty="0"/>
              <a:t>-67</a:t>
            </a:r>
            <a:r>
              <a:rPr lang="zh-CN" altLang="en-US" sz="2400" dirty="0"/>
              <a:t>和</a:t>
            </a:r>
            <a:r>
              <a:rPr lang="en-US" altLang="zh-CN" sz="2400" dirty="0"/>
              <a:t>97</a:t>
            </a:r>
            <a:r>
              <a:rPr lang="zh-CN" altLang="en-US" sz="2400" dirty="0"/>
              <a:t>的</a:t>
            </a:r>
            <a:r>
              <a:rPr lang="en-US" altLang="zh-CN" sz="2400" dirty="0"/>
              <a:t>8</a:t>
            </a:r>
            <a:r>
              <a:rPr lang="zh-CN" altLang="en-US" sz="2400" dirty="0"/>
              <a:t>位或运算结果。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&gt;&gt;&gt; a = -67	#</a:t>
            </a:r>
            <a:r>
              <a:rPr lang="zh-CN" altLang="en-US" sz="2400" dirty="0"/>
              <a:t>补码是</a:t>
            </a:r>
            <a:r>
              <a:rPr lang="en-US" altLang="zh-CN" sz="2400" dirty="0"/>
              <a:t>1011 1101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&gt;&gt;&gt; b = 97	#</a:t>
            </a:r>
            <a:r>
              <a:rPr lang="zh-CN" altLang="en-US" sz="2400" dirty="0"/>
              <a:t>补码是</a:t>
            </a:r>
            <a:r>
              <a:rPr lang="en-US" altLang="zh-CN" sz="2400" dirty="0"/>
              <a:t>0110 0001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&gt;&gt;&gt; c = a | b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&gt;&gt;&gt; c	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-3     # -3</a:t>
            </a:r>
            <a:r>
              <a:rPr lang="zh-CN" altLang="en-US" sz="2400" dirty="0"/>
              <a:t>的</a:t>
            </a:r>
            <a:r>
              <a:rPr lang="en-US" altLang="zh-CN" sz="2400" dirty="0"/>
              <a:t>8</a:t>
            </a:r>
            <a:r>
              <a:rPr lang="zh-CN" altLang="en-US" sz="2400" dirty="0"/>
              <a:t>位二进制补码是</a:t>
            </a:r>
            <a:r>
              <a:rPr lang="en-US" altLang="zh-CN" sz="2400" dirty="0"/>
              <a:t>1111 1101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&gt;&gt;&gt; </a:t>
            </a:r>
            <a:r>
              <a:rPr lang="en-US" altLang="zh-CN" sz="2400" dirty="0" err="1"/>
              <a:t>allone</a:t>
            </a:r>
            <a:r>
              <a:rPr lang="en-US" altLang="zh-CN" sz="2400" dirty="0"/>
              <a:t> = 0b11111111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&gt;&gt;&gt; bin(c &amp; </a:t>
            </a:r>
            <a:r>
              <a:rPr lang="en-US" altLang="zh-CN" sz="2400" dirty="0" err="1"/>
              <a:t>allone</a:t>
            </a:r>
            <a:r>
              <a:rPr lang="en-US" altLang="zh-CN" sz="2400" dirty="0"/>
              <a:t>)	#</a:t>
            </a:r>
            <a:r>
              <a:rPr lang="zh-CN" altLang="en-US" sz="2400" dirty="0"/>
              <a:t>求</a:t>
            </a:r>
            <a:r>
              <a:rPr lang="en-US" altLang="zh-CN" sz="2400" dirty="0"/>
              <a:t>-3</a:t>
            </a:r>
            <a:r>
              <a:rPr lang="zh-CN" altLang="en-US" sz="2400" dirty="0"/>
              <a:t>的补码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'0b11111101'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4DBA7D6-6BF2-42E3-BB66-494825B79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0856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683511" y="2924944"/>
            <a:ext cx="10669073" cy="36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981275" y="1388497"/>
            <a:ext cx="105408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/>
              <a:t>^</a:t>
            </a:r>
            <a:r>
              <a:rPr lang="zh-CN" altLang="en-US" sz="4400" dirty="0"/>
              <a:t>异或运算符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11" y="1625925"/>
            <a:ext cx="10838564" cy="489901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2400" dirty="0"/>
              <a:t>2</a:t>
            </a:r>
            <a:r>
              <a:rPr lang="zh-CN" altLang="en-US" sz="2400" dirty="0"/>
              <a:t>个值不同时，异或为</a:t>
            </a:r>
            <a:r>
              <a:rPr lang="en-US" altLang="zh-CN" sz="2400" dirty="0"/>
              <a:t>1</a:t>
            </a:r>
            <a:r>
              <a:rPr lang="zh-CN" altLang="en-US" sz="2400" dirty="0"/>
              <a:t>；相同则为</a:t>
            </a:r>
            <a:r>
              <a:rPr lang="en-US" altLang="zh-CN" sz="2400" dirty="0"/>
              <a:t>0.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2400" dirty="0"/>
              <a:t>^</a:t>
            </a:r>
            <a:r>
              <a:rPr lang="zh-CN" altLang="en-US" sz="2400" dirty="0"/>
              <a:t>的输入</a:t>
            </a:r>
            <a:r>
              <a:rPr lang="en-US" altLang="zh-CN" sz="2400" dirty="0"/>
              <a:t>——shift + 6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/>
              <a:t>【</a:t>
            </a:r>
            <a:r>
              <a:rPr lang="zh-CN" altLang="en-US" sz="2400" dirty="0"/>
              <a:t>例</a:t>
            </a:r>
            <a:r>
              <a:rPr lang="en-US" altLang="zh-CN" sz="2400" dirty="0"/>
              <a:t>】</a:t>
            </a:r>
            <a:r>
              <a:rPr lang="zh-CN" altLang="en-US" sz="2400" dirty="0"/>
              <a:t>计算</a:t>
            </a:r>
            <a:r>
              <a:rPr lang="en-US" altLang="zh-CN" sz="2400" dirty="0"/>
              <a:t>-67</a:t>
            </a:r>
            <a:r>
              <a:rPr lang="zh-CN" altLang="en-US" sz="2400" dirty="0"/>
              <a:t>和</a:t>
            </a:r>
            <a:r>
              <a:rPr lang="en-US" altLang="zh-CN" sz="2400" dirty="0"/>
              <a:t>97</a:t>
            </a:r>
            <a:r>
              <a:rPr lang="zh-CN" altLang="en-US" sz="2400" dirty="0"/>
              <a:t>的异或值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&gt;&gt;&gt; a = -67		# </a:t>
            </a:r>
            <a:r>
              <a:rPr lang="zh-CN" altLang="en-US" sz="2400" dirty="0"/>
              <a:t>补码是  </a:t>
            </a:r>
            <a:r>
              <a:rPr lang="en-US" altLang="zh-CN" sz="2400" dirty="0"/>
              <a:t>1011 1101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&gt;&gt;&gt; b = 97		# </a:t>
            </a:r>
            <a:r>
              <a:rPr lang="zh-CN" altLang="en-US" sz="2400" dirty="0"/>
              <a:t>补码是  </a:t>
            </a:r>
            <a:r>
              <a:rPr lang="en-US" altLang="zh-CN" sz="2400" dirty="0"/>
              <a:t>0110 0001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&gt;&gt;&gt; c = a ^ b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&gt;&gt;&gt; c			# -36</a:t>
            </a:r>
            <a:r>
              <a:rPr lang="zh-CN" altLang="en-US" sz="2400" dirty="0"/>
              <a:t>的</a:t>
            </a:r>
            <a:r>
              <a:rPr lang="en-US" altLang="zh-CN" sz="2400" dirty="0"/>
              <a:t>8</a:t>
            </a:r>
            <a:r>
              <a:rPr lang="zh-CN" altLang="en-US" sz="2400" dirty="0"/>
              <a:t>位二进制补码是</a:t>
            </a:r>
            <a:r>
              <a:rPr lang="en-US" altLang="zh-CN" sz="2400" dirty="0"/>
              <a:t>1101  1100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-36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&gt;&gt;&gt; </a:t>
            </a:r>
            <a:r>
              <a:rPr lang="en-US" altLang="zh-CN" sz="2400" dirty="0" err="1"/>
              <a:t>allone</a:t>
            </a:r>
            <a:r>
              <a:rPr lang="en-US" altLang="zh-CN" sz="2400" dirty="0"/>
              <a:t> = 0b11111111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&gt;&gt;&gt; bin(c &amp; </a:t>
            </a:r>
            <a:r>
              <a:rPr lang="en-US" altLang="zh-CN" sz="2400" dirty="0" err="1"/>
              <a:t>allone</a:t>
            </a:r>
            <a:r>
              <a:rPr lang="en-US" altLang="zh-CN" sz="2400" dirty="0"/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dirty="0"/>
              <a:t>'0b11011100'</a:t>
            </a:r>
          </a:p>
        </p:txBody>
      </p:sp>
      <p:sp>
        <p:nvSpPr>
          <p:cNvPr id="4" name="六边形 3"/>
          <p:cNvSpPr/>
          <p:nvPr/>
        </p:nvSpPr>
        <p:spPr>
          <a:xfrm>
            <a:off x="6688277" y="654428"/>
            <a:ext cx="1548000" cy="1041554"/>
          </a:xfrm>
          <a:prstGeom prst="hexagon">
            <a:avLst/>
          </a:prstGeom>
          <a:solidFill>
            <a:schemeClr val="accent1"/>
          </a:solidFill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2000" dirty="0"/>
              <a:t>按位异或</a:t>
            </a:r>
            <a:endParaRPr lang="en-US" altLang="zh-CN" sz="2000" dirty="0"/>
          </a:p>
          <a:p>
            <a:pPr algn="ctr"/>
            <a:r>
              <a:rPr lang="en-US" altLang="zh-CN" sz="3600" dirty="0"/>
              <a:t>^</a:t>
            </a:r>
            <a:endParaRPr lang="zh-CN" altLang="en-US" sz="3600" dirty="0"/>
          </a:p>
        </p:txBody>
      </p:sp>
      <p:sp>
        <p:nvSpPr>
          <p:cNvPr id="6" name="六边形 5"/>
          <p:cNvSpPr/>
          <p:nvPr/>
        </p:nvSpPr>
        <p:spPr>
          <a:xfrm>
            <a:off x="5596905" y="279979"/>
            <a:ext cx="1260000" cy="658872"/>
          </a:xfrm>
          <a:prstGeom prst="hexagon">
            <a:avLst/>
          </a:prstGeom>
          <a:solidFill>
            <a:schemeClr val="tx2">
              <a:lumMod val="90000"/>
            </a:schemeClr>
          </a:solidFill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dirty="0"/>
              <a:t>按位或</a:t>
            </a:r>
            <a:endParaRPr lang="en-US" altLang="zh-CN" dirty="0"/>
          </a:p>
          <a:p>
            <a:pPr algn="ctr"/>
            <a:r>
              <a:rPr lang="en-US" altLang="zh-CN" dirty="0"/>
              <a:t>|</a:t>
            </a:r>
            <a:endParaRPr lang="zh-CN" altLang="en-US" dirty="0"/>
          </a:p>
        </p:txBody>
      </p:sp>
      <p:sp>
        <p:nvSpPr>
          <p:cNvPr id="14" name="六边形 13"/>
          <p:cNvSpPr/>
          <p:nvPr/>
        </p:nvSpPr>
        <p:spPr>
          <a:xfrm>
            <a:off x="8065032" y="256382"/>
            <a:ext cx="1260000" cy="658872"/>
          </a:xfrm>
          <a:prstGeom prst="hexagon">
            <a:avLst/>
          </a:prstGeom>
          <a:solidFill>
            <a:schemeClr val="tx2">
              <a:lumMod val="90000"/>
            </a:schemeClr>
          </a:solidFill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dirty="0"/>
              <a:t>按位取反</a:t>
            </a:r>
            <a:endParaRPr lang="en-US" altLang="zh-CN" dirty="0"/>
          </a:p>
          <a:p>
            <a:pPr algn="ctr"/>
            <a:r>
              <a:rPr lang="en-US" altLang="zh-CN" dirty="0"/>
              <a:t>~</a:t>
            </a:r>
            <a:endParaRPr lang="zh-CN" altLang="en-US" dirty="0"/>
          </a:p>
        </p:txBody>
      </p:sp>
      <p:sp>
        <p:nvSpPr>
          <p:cNvPr id="15" name="六边形 14"/>
          <p:cNvSpPr/>
          <p:nvPr/>
        </p:nvSpPr>
        <p:spPr>
          <a:xfrm>
            <a:off x="9254079" y="673023"/>
            <a:ext cx="1260000" cy="658800"/>
          </a:xfrm>
          <a:prstGeom prst="hexagon">
            <a:avLst/>
          </a:prstGeom>
          <a:solidFill>
            <a:schemeClr val="tx2">
              <a:lumMod val="90000"/>
            </a:schemeClr>
          </a:solidFill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dirty="0"/>
              <a:t>按位左移</a:t>
            </a:r>
            <a:endParaRPr lang="en-US" altLang="zh-CN" dirty="0"/>
          </a:p>
          <a:p>
            <a:pPr algn="ctr"/>
            <a:r>
              <a:rPr lang="en-US" altLang="zh-CN" dirty="0"/>
              <a:t>&lt;&lt;</a:t>
            </a:r>
            <a:endParaRPr lang="zh-CN" altLang="en-US" dirty="0"/>
          </a:p>
        </p:txBody>
      </p:sp>
      <p:sp>
        <p:nvSpPr>
          <p:cNvPr id="16" name="六边形 15"/>
          <p:cNvSpPr/>
          <p:nvPr/>
        </p:nvSpPr>
        <p:spPr>
          <a:xfrm>
            <a:off x="10459589" y="283812"/>
            <a:ext cx="1260000" cy="658872"/>
          </a:xfrm>
          <a:prstGeom prst="hexagon">
            <a:avLst/>
          </a:prstGeom>
          <a:solidFill>
            <a:schemeClr val="tx2">
              <a:lumMod val="90000"/>
            </a:schemeClr>
          </a:solidFill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dirty="0"/>
              <a:t>按位右移</a:t>
            </a:r>
            <a:endParaRPr lang="en-US" altLang="zh-CN" dirty="0"/>
          </a:p>
          <a:p>
            <a:pPr algn="ctr"/>
            <a:r>
              <a:rPr lang="en-US" altLang="zh-CN" dirty="0"/>
              <a:t>&gt;&gt;</a:t>
            </a:r>
            <a:endParaRPr lang="zh-CN" altLang="en-US" dirty="0"/>
          </a:p>
        </p:txBody>
      </p:sp>
      <p:sp>
        <p:nvSpPr>
          <p:cNvPr id="12" name="六边形 11"/>
          <p:cNvSpPr/>
          <p:nvPr/>
        </p:nvSpPr>
        <p:spPr>
          <a:xfrm>
            <a:off x="4420281" y="666089"/>
            <a:ext cx="1260000" cy="658872"/>
          </a:xfrm>
          <a:prstGeom prst="hexagon">
            <a:avLst/>
          </a:prstGeom>
          <a:solidFill>
            <a:schemeClr val="tx2">
              <a:lumMod val="90000"/>
            </a:schemeClr>
          </a:solidFill>
          <a:ln w="76200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dirty="0"/>
              <a:t>按位与</a:t>
            </a:r>
            <a:endParaRPr lang="en-US" altLang="zh-CN" dirty="0"/>
          </a:p>
          <a:p>
            <a:pPr algn="ctr"/>
            <a:r>
              <a:rPr lang="en-US" altLang="zh-CN" dirty="0"/>
              <a:t>&amp;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76C791-F8F6-4FE4-9FAC-3BBF27B03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64088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636734" y="2780928"/>
            <a:ext cx="10669073" cy="36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981275" y="1412776"/>
            <a:ext cx="105408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7182" y="441900"/>
            <a:ext cx="10852150" cy="716915"/>
          </a:xfrm>
        </p:spPr>
        <p:txBody>
          <a:bodyPr/>
          <a:lstStyle/>
          <a:p>
            <a:r>
              <a:rPr lang="en-US" altLang="zh-CN" sz="4400" dirty="0"/>
              <a:t>~</a:t>
            </a:r>
            <a:r>
              <a:rPr lang="zh-CN" altLang="en-US" dirty="0"/>
              <a:t>按位</a:t>
            </a:r>
            <a:r>
              <a:rPr lang="zh-CN" altLang="en-US" sz="4400" dirty="0"/>
              <a:t>取反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737003"/>
            <a:ext cx="10852150" cy="4787941"/>
          </a:xfrm>
        </p:spPr>
        <p:txBody>
          <a:bodyPr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altLang="zh-CN" sz="2800" dirty="0"/>
              <a:t>【</a:t>
            </a:r>
            <a:r>
              <a:rPr lang="zh-CN" altLang="en-US" sz="2800" dirty="0"/>
              <a:t>例</a:t>
            </a:r>
            <a:r>
              <a:rPr lang="en-US" altLang="zh-CN" sz="2800" dirty="0"/>
              <a:t>】</a:t>
            </a:r>
            <a:r>
              <a:rPr lang="zh-CN" altLang="en-US" sz="2800" dirty="0"/>
              <a:t>求</a:t>
            </a:r>
            <a:r>
              <a:rPr lang="en-US" altLang="zh-CN" sz="2800" dirty="0"/>
              <a:t>-67</a:t>
            </a:r>
            <a:r>
              <a:rPr lang="zh-CN" altLang="en-US" sz="2800" dirty="0"/>
              <a:t>的</a:t>
            </a:r>
            <a:r>
              <a:rPr lang="en-US" altLang="zh-CN" sz="2800" dirty="0"/>
              <a:t>8</a:t>
            </a:r>
            <a:r>
              <a:rPr lang="zh-CN" altLang="en-US" sz="2800" dirty="0"/>
              <a:t>位二进制取反结果</a:t>
            </a:r>
            <a:endParaRPr lang="en-US" altLang="zh-CN" sz="2800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800" dirty="0"/>
              <a:t>&gt;&gt;&gt; a = -67	   </a:t>
            </a:r>
            <a:r>
              <a:rPr lang="en-US" altLang="zh-CN" sz="2800" dirty="0">
                <a:solidFill>
                  <a:srgbClr val="FF0000"/>
                </a:solidFill>
              </a:rPr>
              <a:t># -67</a:t>
            </a:r>
            <a:r>
              <a:rPr lang="zh-CN" altLang="en-US" sz="2800" dirty="0">
                <a:solidFill>
                  <a:srgbClr val="FF0000"/>
                </a:solidFill>
              </a:rPr>
              <a:t>的</a:t>
            </a:r>
            <a:r>
              <a:rPr lang="en-US" altLang="zh-CN" sz="2800" dirty="0">
                <a:solidFill>
                  <a:srgbClr val="FF0000"/>
                </a:solidFill>
              </a:rPr>
              <a:t>8</a:t>
            </a:r>
            <a:r>
              <a:rPr lang="zh-CN" altLang="en-US" sz="2800" dirty="0">
                <a:solidFill>
                  <a:srgbClr val="FF0000"/>
                </a:solidFill>
              </a:rPr>
              <a:t>位补码是</a:t>
            </a:r>
            <a:r>
              <a:rPr lang="en-US" altLang="zh-CN" sz="2800" dirty="0">
                <a:solidFill>
                  <a:srgbClr val="FF0000"/>
                </a:solidFill>
              </a:rPr>
              <a:t>1011 1101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800" dirty="0"/>
              <a:t>&gt;&gt;&gt; c = ~a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800" dirty="0"/>
              <a:t>&gt;&gt;&gt; c			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800" dirty="0">
                <a:solidFill>
                  <a:srgbClr val="0070C0"/>
                </a:solidFill>
              </a:rPr>
              <a:t>66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800" dirty="0"/>
              <a:t>&gt;&gt;&gt; bin(c &amp; </a:t>
            </a:r>
            <a:r>
              <a:rPr lang="en-US" altLang="zh-CN" sz="2800" dirty="0" err="1"/>
              <a:t>allone</a:t>
            </a:r>
            <a:r>
              <a:rPr lang="en-US" altLang="zh-CN" sz="2800" dirty="0"/>
              <a:t>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800" dirty="0">
                <a:solidFill>
                  <a:srgbClr val="0070C0"/>
                </a:solidFill>
              </a:rPr>
              <a:t>'0b1000010'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B80E13-8573-4E00-83D6-DE86F4B5D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77172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683511" y="2924944"/>
            <a:ext cx="10669073" cy="36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981275" y="1388497"/>
            <a:ext cx="105408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/>
              <a:t>&lt;&lt; </a:t>
            </a:r>
            <a:r>
              <a:rPr lang="zh-CN" altLang="en-US" sz="4400" dirty="0"/>
              <a:t>左移运算符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1384" y="1690688"/>
            <a:ext cx="10970691" cy="483425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800" dirty="0"/>
              <a:t>例如  </a:t>
            </a:r>
            <a:r>
              <a:rPr lang="en-US" altLang="zh-CN" sz="2800" dirty="0"/>
              <a:t>01001111&lt;&lt;2</a:t>
            </a:r>
            <a:r>
              <a:rPr lang="zh-CN" altLang="en-US" sz="2800" dirty="0"/>
              <a:t>，</a:t>
            </a:r>
            <a:endParaRPr lang="en-US" altLang="zh-CN" sz="28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800" dirty="0"/>
              <a:t>将</a:t>
            </a:r>
            <a:r>
              <a:rPr lang="en-US" altLang="zh-CN" sz="2800" dirty="0"/>
              <a:t>&lt;&lt;</a:t>
            </a:r>
            <a:r>
              <a:rPr lang="zh-CN" altLang="en-US" sz="2800" dirty="0"/>
              <a:t>左边的二进制数左翼</a:t>
            </a:r>
            <a:r>
              <a:rPr lang="en-US" altLang="zh-CN" sz="2800" dirty="0"/>
              <a:t>2</a:t>
            </a:r>
            <a:r>
              <a:rPr lang="zh-CN" altLang="en-US" sz="2800" dirty="0"/>
              <a:t>位，低位补</a:t>
            </a:r>
            <a:r>
              <a:rPr lang="en-US" altLang="zh-CN" sz="2800" dirty="0"/>
              <a:t>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800" dirty="0"/>
              <a:t> 	 	01001111	</a:t>
            </a:r>
            <a:r>
              <a:rPr lang="en-US" altLang="zh-CN" sz="2800" dirty="0">
                <a:sym typeface="Wingdings" panose="05000000000000000000" pitchFamily="2" charset="2"/>
              </a:rPr>
              <a:t></a:t>
            </a:r>
            <a:endParaRPr lang="en-US" altLang="zh-CN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800" dirty="0"/>
              <a:t>左翼</a:t>
            </a:r>
            <a:r>
              <a:rPr lang="en-US" altLang="zh-CN" sz="2800" dirty="0"/>
              <a:t>2</a:t>
            </a:r>
            <a:r>
              <a:rPr lang="zh-CN" altLang="en-US" sz="2800" dirty="0"/>
              <a:t>位：</a:t>
            </a:r>
            <a:r>
              <a:rPr lang="en-US" altLang="zh-CN" sz="2800" dirty="0"/>
              <a:t>	001111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800" dirty="0"/>
              <a:t>低位补</a:t>
            </a:r>
            <a:r>
              <a:rPr lang="en-US" altLang="zh-CN" sz="2800" dirty="0"/>
              <a:t>0</a:t>
            </a:r>
            <a:r>
              <a:rPr lang="zh-CN" altLang="en-US" sz="2800" dirty="0"/>
              <a:t>：</a:t>
            </a:r>
            <a:r>
              <a:rPr lang="en-US" altLang="zh-CN" sz="2800" dirty="0"/>
              <a:t>	00111100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70EBD1C-58C3-4F90-8AD1-93E95706A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2685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683511" y="2924944"/>
            <a:ext cx="10669073" cy="36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981275" y="1388497"/>
            <a:ext cx="105408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/>
              <a:t>&lt;&lt; </a:t>
            </a:r>
            <a:r>
              <a:rPr lang="zh-CN" altLang="en-US" sz="4400" dirty="0"/>
              <a:t>左移运算符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1384" y="1690688"/>
            <a:ext cx="10970691" cy="483425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800" dirty="0"/>
              <a:t>【</a:t>
            </a:r>
            <a:r>
              <a:rPr lang="zh-CN" altLang="en-US" sz="2800" dirty="0"/>
              <a:t>例</a:t>
            </a:r>
            <a:r>
              <a:rPr lang="en-US" altLang="zh-CN" sz="2800" dirty="0"/>
              <a:t>】</a:t>
            </a:r>
            <a:r>
              <a:rPr lang="zh-CN" altLang="en-US" sz="2800" dirty="0"/>
              <a:t>将</a:t>
            </a:r>
            <a:r>
              <a:rPr lang="en-US" altLang="zh-CN" sz="2800" dirty="0"/>
              <a:t>17</a:t>
            </a:r>
            <a:r>
              <a:rPr lang="zh-CN" altLang="en-US" sz="2800" dirty="0"/>
              <a:t>的二进制数左移</a:t>
            </a:r>
            <a:r>
              <a:rPr lang="en-US" altLang="zh-CN" sz="2800" dirty="0"/>
              <a:t>2</a:t>
            </a:r>
            <a:r>
              <a:rPr lang="zh-CN" altLang="en-US" sz="2800" dirty="0"/>
              <a:t>位。</a:t>
            </a:r>
            <a:endParaRPr lang="en-US" altLang="zh-CN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800" dirty="0"/>
              <a:t>&gt;&gt;&gt; a = 17		# 8</a:t>
            </a:r>
            <a:r>
              <a:rPr lang="zh-CN" altLang="en-US" sz="2800" dirty="0"/>
              <a:t>位二进制补码 </a:t>
            </a:r>
            <a:r>
              <a:rPr lang="en-US" altLang="zh-CN" sz="2800" dirty="0"/>
              <a:t>0001 0001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800" dirty="0"/>
              <a:t>&gt;&gt;&gt; c = a &lt;&lt; 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800" dirty="0"/>
              <a:t>&gt;&gt;&gt; c			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800" dirty="0"/>
              <a:t>68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800" dirty="0"/>
              <a:t>&gt;&gt;&gt; bin(c &amp; </a:t>
            </a:r>
            <a:r>
              <a:rPr lang="en-US" altLang="zh-CN" sz="2800" dirty="0" err="1"/>
              <a:t>allone</a:t>
            </a:r>
            <a:r>
              <a:rPr lang="en-US" altLang="zh-CN" sz="2800" dirty="0"/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800" dirty="0"/>
              <a:t>'0b1000100'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70EBD1C-58C3-4F90-8AD1-93E95706A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812251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683511" y="2924944"/>
            <a:ext cx="10669073" cy="36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981275" y="1388497"/>
            <a:ext cx="105408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/>
              <a:t>&gt;&gt; </a:t>
            </a:r>
            <a:r>
              <a:rPr lang="zh-CN" altLang="en-US" sz="4400" dirty="0"/>
              <a:t>右移运算符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1384" y="1690688"/>
            <a:ext cx="10970691" cy="483425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800" dirty="0"/>
              <a:t>例如  </a:t>
            </a:r>
            <a:r>
              <a:rPr lang="en-US" altLang="zh-CN" sz="2800" dirty="0"/>
              <a:t>01001111&gt;&gt;2</a:t>
            </a:r>
            <a:r>
              <a:rPr lang="zh-CN" altLang="en-US" sz="2800" dirty="0"/>
              <a:t>，</a:t>
            </a:r>
            <a:endParaRPr lang="en-US" altLang="zh-CN" sz="28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800" dirty="0"/>
              <a:t>将</a:t>
            </a:r>
            <a:r>
              <a:rPr lang="en-US" altLang="zh-CN" sz="2800" dirty="0"/>
              <a:t>&gt;&gt;</a:t>
            </a:r>
            <a:r>
              <a:rPr lang="zh-CN" altLang="en-US" sz="2800" dirty="0"/>
              <a:t>前边的二进制数右翼</a:t>
            </a:r>
            <a:r>
              <a:rPr lang="en-US" altLang="zh-CN" sz="2800" dirty="0"/>
              <a:t>2</a:t>
            </a:r>
            <a:r>
              <a:rPr lang="zh-CN" altLang="en-US" sz="2800" dirty="0"/>
              <a:t>位，高位补</a:t>
            </a:r>
            <a:r>
              <a:rPr lang="en-US" altLang="zh-CN" sz="2800" dirty="0"/>
              <a:t>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800" dirty="0"/>
              <a:t> 	 	01001111	</a:t>
            </a:r>
            <a:r>
              <a:rPr lang="en-US" altLang="zh-CN" sz="2800" dirty="0">
                <a:sym typeface="Wingdings" panose="05000000000000000000" pitchFamily="2" charset="2"/>
              </a:rPr>
              <a:t></a:t>
            </a:r>
            <a:endParaRPr lang="en-US" altLang="zh-CN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800" dirty="0"/>
              <a:t>右翼</a:t>
            </a:r>
            <a:r>
              <a:rPr lang="en-US" altLang="zh-CN" sz="2800" dirty="0"/>
              <a:t>2</a:t>
            </a:r>
            <a:r>
              <a:rPr lang="zh-CN" altLang="en-US" sz="2800" dirty="0"/>
              <a:t>位：</a:t>
            </a:r>
            <a:r>
              <a:rPr lang="en-US" altLang="zh-CN" sz="2800" dirty="0"/>
              <a:t>	     010011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800" dirty="0"/>
              <a:t>高位补</a:t>
            </a:r>
            <a:r>
              <a:rPr lang="en-US" altLang="zh-CN" sz="2800" dirty="0"/>
              <a:t>0</a:t>
            </a:r>
            <a:r>
              <a:rPr lang="zh-CN" altLang="en-US" sz="2800" dirty="0"/>
              <a:t>：</a:t>
            </a:r>
            <a:r>
              <a:rPr lang="en-US" altLang="zh-CN" sz="2800" dirty="0"/>
              <a:t>	00010011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70EBD1C-58C3-4F90-8AD1-93E95706A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24234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636734" y="2780928"/>
            <a:ext cx="10669073" cy="36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981275" y="1412776"/>
            <a:ext cx="10540800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7182" y="441900"/>
            <a:ext cx="10852150" cy="716915"/>
          </a:xfrm>
        </p:spPr>
        <p:txBody>
          <a:bodyPr/>
          <a:lstStyle/>
          <a:p>
            <a:r>
              <a:rPr lang="en-US" altLang="zh-CN" sz="4400" dirty="0"/>
              <a:t>&gt;&gt; </a:t>
            </a:r>
            <a:r>
              <a:rPr lang="zh-CN" altLang="en-US" sz="4400" dirty="0"/>
              <a:t>右移运算符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737003"/>
            <a:ext cx="10852150" cy="4787941"/>
          </a:xfrm>
        </p:spPr>
        <p:txBody>
          <a:bodyPr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altLang="zh-CN" sz="2400" dirty="0"/>
              <a:t>【</a:t>
            </a:r>
            <a:r>
              <a:rPr lang="zh-CN" altLang="en-US" sz="2400" dirty="0"/>
              <a:t>例</a:t>
            </a:r>
            <a:r>
              <a:rPr lang="en-US" altLang="zh-CN" sz="2400" dirty="0"/>
              <a:t>】</a:t>
            </a:r>
            <a:r>
              <a:rPr lang="zh-CN" altLang="en-US" sz="2400" dirty="0"/>
              <a:t>将</a:t>
            </a:r>
            <a:r>
              <a:rPr lang="en-US" altLang="zh-CN" sz="2400" dirty="0"/>
              <a:t>17</a:t>
            </a:r>
            <a:r>
              <a:rPr lang="zh-CN" altLang="en-US" sz="2400" dirty="0"/>
              <a:t>的</a:t>
            </a:r>
            <a:r>
              <a:rPr lang="en-US" altLang="zh-CN" sz="2400" dirty="0"/>
              <a:t>8</a:t>
            </a:r>
            <a:r>
              <a:rPr lang="zh-CN" altLang="en-US" sz="2400" dirty="0"/>
              <a:t>位二进制数右移</a:t>
            </a:r>
            <a:r>
              <a:rPr lang="en-US" altLang="zh-CN" sz="2400" dirty="0"/>
              <a:t>2</a:t>
            </a:r>
            <a:r>
              <a:rPr lang="zh-CN" altLang="en-US" sz="2400" dirty="0"/>
              <a:t>位。</a:t>
            </a:r>
            <a:endParaRPr lang="en-US" altLang="zh-CN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400" dirty="0"/>
              <a:t>&gt;&gt;&gt; a = 17		# 17</a:t>
            </a:r>
            <a:r>
              <a:rPr lang="zh-CN" altLang="en-US" sz="2400" dirty="0"/>
              <a:t>的</a:t>
            </a:r>
            <a:r>
              <a:rPr lang="en-US" altLang="zh-CN" sz="2400" dirty="0"/>
              <a:t>8</a:t>
            </a:r>
            <a:r>
              <a:rPr lang="zh-CN" altLang="en-US" sz="2400" dirty="0"/>
              <a:t>位二进制补码是</a:t>
            </a:r>
            <a:r>
              <a:rPr lang="en-US" altLang="zh-CN" sz="2400" dirty="0"/>
              <a:t>0001 0001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400" dirty="0"/>
              <a:t>&gt;&gt;&gt; c = a &gt;&gt; 2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400" dirty="0"/>
              <a:t>&gt;&gt;&gt; c			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400" dirty="0"/>
              <a:t>4			 # 4</a:t>
            </a:r>
            <a:r>
              <a:rPr lang="zh-CN" altLang="en-US" sz="2400" dirty="0"/>
              <a:t>的</a:t>
            </a:r>
            <a:r>
              <a:rPr lang="en-US" altLang="zh-CN" sz="2400" dirty="0"/>
              <a:t>8</a:t>
            </a:r>
            <a:r>
              <a:rPr lang="zh-CN" altLang="en-US" sz="2400" dirty="0"/>
              <a:t>位二进制补码</a:t>
            </a:r>
            <a:r>
              <a:rPr lang="en-US" altLang="zh-CN" sz="2400" dirty="0"/>
              <a:t>0000 0100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400" dirty="0"/>
              <a:t>&gt;&gt;&gt; bin(c &amp; </a:t>
            </a:r>
            <a:r>
              <a:rPr lang="en-US" altLang="zh-CN" sz="2400" dirty="0" err="1"/>
              <a:t>allone</a:t>
            </a:r>
            <a:r>
              <a:rPr lang="en-US" altLang="zh-CN" sz="2400" dirty="0"/>
              <a:t>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zh-CN" sz="2400" dirty="0"/>
              <a:t>'0b100’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605CE5C-2ED8-4A93-9058-CC914D682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55964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4DBB48-DE31-4299-8DC6-6CC275C36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赋值运算符 </a:t>
            </a:r>
            <a:r>
              <a:rPr lang="en-US" altLang="zh-CN" dirty="0"/>
              <a:t>=,+=,-=,*=,/=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8E4F4F-3145-4433-A4CA-A9371C36B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a = 10</a:t>
            </a:r>
          </a:p>
          <a:p>
            <a:pPr marL="0" indent="0">
              <a:buNone/>
            </a:pPr>
            <a:r>
              <a:rPr lang="en-US" altLang="zh-CN" dirty="0"/>
              <a:t>b = a * 2</a:t>
            </a:r>
          </a:p>
          <a:p>
            <a:pPr marL="0" indent="0">
              <a:buNone/>
            </a:pPr>
            <a:r>
              <a:rPr lang="en-US" altLang="zh-CN" dirty="0"/>
              <a:t>a += 2	#</a:t>
            </a:r>
            <a:r>
              <a:rPr lang="zh-CN" altLang="en-US" dirty="0"/>
              <a:t>等价于 </a:t>
            </a:r>
            <a:r>
              <a:rPr lang="en-US" altLang="zh-CN" dirty="0"/>
              <a:t>a=a+2</a:t>
            </a:r>
          </a:p>
          <a:p>
            <a:pPr marL="0" indent="0">
              <a:buNone/>
            </a:pPr>
            <a:r>
              <a:rPr lang="en-US" altLang="zh-CN" dirty="0"/>
              <a:t>a -= 2	 #</a:t>
            </a:r>
            <a:r>
              <a:rPr lang="zh-CN" altLang="en-US" dirty="0"/>
              <a:t>等价于 </a:t>
            </a:r>
            <a:r>
              <a:rPr lang="en-US" altLang="zh-CN" dirty="0"/>
              <a:t>a=a-2</a:t>
            </a:r>
          </a:p>
          <a:p>
            <a:pPr marL="0" indent="0">
              <a:buNone/>
            </a:pPr>
            <a:r>
              <a:rPr lang="en-US" altLang="zh-CN" dirty="0"/>
              <a:t>a *= 2	 #</a:t>
            </a:r>
            <a:r>
              <a:rPr lang="zh-CN" altLang="en-US" dirty="0"/>
              <a:t>等价于 </a:t>
            </a:r>
            <a:r>
              <a:rPr lang="en-US" altLang="zh-CN" dirty="0"/>
              <a:t>a=a*2</a:t>
            </a:r>
          </a:p>
          <a:p>
            <a:pPr marL="0" indent="0">
              <a:buNone/>
            </a:pPr>
            <a:r>
              <a:rPr lang="en-US" altLang="zh-CN" dirty="0"/>
              <a:t>a /= 2	 #</a:t>
            </a:r>
            <a:r>
              <a:rPr lang="zh-CN" altLang="en-US" dirty="0"/>
              <a:t>等价于 </a:t>
            </a:r>
            <a:r>
              <a:rPr lang="en-US" altLang="zh-CN" dirty="0"/>
              <a:t>a=a/2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EBCE06-3640-44E7-8805-430010B0C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513236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按位翻转</a:t>
            </a:r>
            <a:r>
              <a:rPr lang="en-US" altLang="zh-CN" dirty="0"/>
              <a:t>~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输入：</a:t>
            </a:r>
            <a:r>
              <a:rPr lang="en-US" altLang="zh-CN" dirty="0"/>
              <a:t>shift + Esc</a:t>
            </a:r>
          </a:p>
          <a:p>
            <a:r>
              <a:rPr lang="zh-CN" altLang="en-US" dirty="0"/>
              <a:t>含义：按位取反</a:t>
            </a:r>
            <a:endParaRPr lang="en-US" altLang="zh-CN" dirty="0"/>
          </a:p>
          <a:p>
            <a:r>
              <a:rPr lang="zh-CN" altLang="en-US" dirty="0"/>
              <a:t>例如  </a:t>
            </a:r>
            <a:r>
              <a:rPr lang="en-US" altLang="zh-CN" dirty="0"/>
              <a:t>~1011 0000 = 0100 1111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40597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2804" y="429275"/>
            <a:ext cx="10586392" cy="750858"/>
          </a:xfrm>
        </p:spPr>
        <p:txBody>
          <a:bodyPr/>
          <a:lstStyle/>
          <a:p>
            <a:r>
              <a:rPr lang="zh-CN" altLang="en-US" dirty="0"/>
              <a:t>优先级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02804" y="1677035"/>
            <a:ext cx="10586392" cy="518096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 2</a:t>
            </a:r>
            <a:r>
              <a:rPr lang="zh-CN" altLang="en-US" dirty="0"/>
              <a:t>*</a:t>
            </a:r>
            <a:r>
              <a:rPr lang="en-US" altLang="zh-CN" dirty="0"/>
              <a:t>5</a:t>
            </a:r>
            <a:r>
              <a:rPr lang="zh-CN" altLang="en-US" dirty="0"/>
              <a:t>**</a:t>
            </a:r>
            <a:r>
              <a:rPr lang="en-US" altLang="zh-CN" dirty="0"/>
              <a:t>2</a:t>
            </a:r>
          </a:p>
          <a:p>
            <a:endParaRPr lang="en-US" altLang="zh-CN" dirty="0"/>
          </a:p>
          <a:p>
            <a:r>
              <a:rPr lang="zh-CN" altLang="en-US" dirty="0"/>
              <a:t>谁先算，谁后算？</a:t>
            </a:r>
            <a:endParaRPr lang="en-US" altLang="zh-CN" dirty="0"/>
          </a:p>
          <a:p>
            <a:r>
              <a:rPr lang="zh-CN" altLang="en-US" dirty="0"/>
              <a:t>优先级高的先算，优先级低的后算。</a:t>
            </a:r>
            <a:endParaRPr lang="en-US" altLang="zh-CN" dirty="0"/>
          </a:p>
          <a:p>
            <a:r>
              <a:rPr lang="zh-CN" altLang="en-US" dirty="0"/>
              <a:t>圆括号</a:t>
            </a:r>
            <a:r>
              <a:rPr lang="en-US" altLang="zh-CN" dirty="0"/>
              <a:t>()</a:t>
            </a:r>
            <a:r>
              <a:rPr lang="zh-CN" altLang="en-US" dirty="0"/>
              <a:t>的优先级最高。</a:t>
            </a:r>
            <a:endParaRPr lang="en-US" altLang="zh-CN" dirty="0"/>
          </a:p>
          <a:p>
            <a:r>
              <a:rPr lang="zh-CN" altLang="en-US" dirty="0"/>
              <a:t>建议：编程时使用（）明确运算先后</a:t>
            </a:r>
            <a:endParaRPr lang="en-US" altLang="zh-CN" dirty="0"/>
          </a:p>
          <a:p>
            <a:r>
              <a:rPr lang="zh-CN" altLang="en-US" dirty="0"/>
              <a:t>优先级从高到低的顺序如下表。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BEAB502-E9D5-4F77-9668-4065F626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194121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419737"/>
              </p:ext>
            </p:extLst>
          </p:nvPr>
        </p:nvGraphicFramePr>
        <p:xfrm>
          <a:off x="2279576" y="404664"/>
          <a:ext cx="7920879" cy="63808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22862">
                  <a:extLst>
                    <a:ext uri="{9D8B030D-6E8A-4147-A177-3AD203B41FA5}">
                      <a16:colId xmlns:a16="http://schemas.microsoft.com/office/drawing/2014/main" val="2016083741"/>
                    </a:ext>
                  </a:extLst>
                </a:gridCol>
                <a:gridCol w="4598017">
                  <a:extLst>
                    <a:ext uri="{9D8B030D-6E8A-4147-A177-3AD203B41FA5}">
                      <a16:colId xmlns:a16="http://schemas.microsoft.com/office/drawing/2014/main" val="1424669235"/>
                    </a:ext>
                  </a:extLst>
                </a:gridCol>
              </a:tblGrid>
              <a:tr h="455776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运算符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800" kern="100">
                          <a:solidFill>
                            <a:schemeClr val="tx1"/>
                          </a:solidFill>
                          <a:effectLst/>
                        </a:rPr>
                        <a:t>说明</a:t>
                      </a:r>
                      <a:endParaRPr lang="zh-CN" sz="2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3941268"/>
                  </a:ext>
                </a:extLst>
              </a:tr>
              <a:tr h="455776">
                <a:tc>
                  <a:txBody>
                    <a:bodyPr/>
                    <a:lstStyle/>
                    <a:p>
                      <a:pPr indent="108000"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**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44000" algn="just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乘方（最高优先级）。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532849"/>
                  </a:ext>
                </a:extLst>
              </a:tr>
              <a:tr h="455776">
                <a:tc>
                  <a:txBody>
                    <a:bodyPr/>
                    <a:lstStyle/>
                    <a:p>
                      <a:pPr indent="108000"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~  +  -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44000" algn="just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按位翻转，</a:t>
                      </a:r>
                      <a:r>
                        <a:rPr lang="zh-CN" alt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正负号</a:t>
                      </a: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。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2057676"/>
                  </a:ext>
                </a:extLst>
              </a:tr>
              <a:tr h="455776">
                <a:tc>
                  <a:txBody>
                    <a:bodyPr/>
                    <a:lstStyle/>
                    <a:p>
                      <a:pPr indent="108000"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*  /  %  //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44000" algn="just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乘，除，取模，取整除。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989232"/>
                  </a:ext>
                </a:extLst>
              </a:tr>
              <a:tr h="455776">
                <a:tc>
                  <a:txBody>
                    <a:bodyPr/>
                    <a:lstStyle/>
                    <a:p>
                      <a:pPr indent="108000"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+  -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44000" algn="just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加法，减法。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9050792"/>
                  </a:ext>
                </a:extLst>
              </a:tr>
              <a:tr h="455776">
                <a:tc>
                  <a:txBody>
                    <a:bodyPr/>
                    <a:lstStyle/>
                    <a:p>
                      <a:pPr indent="108000"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&gt;&gt;  &lt;&lt;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44000" algn="just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右移，左移运算符。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866370"/>
                  </a:ext>
                </a:extLst>
              </a:tr>
              <a:tr h="455776">
                <a:tc>
                  <a:txBody>
                    <a:bodyPr/>
                    <a:lstStyle/>
                    <a:p>
                      <a:pPr indent="108000"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&amp;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44000" algn="just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按位与。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867886"/>
                  </a:ext>
                </a:extLst>
              </a:tr>
              <a:tr h="455776">
                <a:tc>
                  <a:txBody>
                    <a:bodyPr/>
                    <a:lstStyle/>
                    <a:p>
                      <a:pPr indent="108000"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^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44000" algn="just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按位异或。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977309"/>
                  </a:ext>
                </a:extLst>
              </a:tr>
              <a:tr h="455776">
                <a:tc>
                  <a:txBody>
                    <a:bodyPr/>
                    <a:lstStyle/>
                    <a:p>
                      <a:pPr indent="108000"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|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44000" algn="just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按位或。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960707"/>
                  </a:ext>
                </a:extLst>
              </a:tr>
              <a:tr h="911548">
                <a:tc>
                  <a:txBody>
                    <a:bodyPr/>
                    <a:lstStyle/>
                    <a:p>
                      <a:pPr indent="108000"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Is,  not is,  in, not in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indent="108000"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&lt;=  &lt;  &gt;  &gt;=  ==   !=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44000" algn="just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身份运算符，成员运算符。</a:t>
                      </a:r>
                    </a:p>
                    <a:p>
                      <a:pPr indent="144000" algn="just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比较运算符。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985984"/>
                  </a:ext>
                </a:extLst>
              </a:tr>
              <a:tr h="455776">
                <a:tc>
                  <a:txBody>
                    <a:bodyPr/>
                    <a:lstStyle/>
                    <a:p>
                      <a:pPr indent="108000"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not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44000" algn="just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逻辑非。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74294"/>
                  </a:ext>
                </a:extLst>
              </a:tr>
              <a:tr h="455776">
                <a:tc>
                  <a:txBody>
                    <a:bodyPr/>
                    <a:lstStyle/>
                    <a:p>
                      <a:pPr indent="108000"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and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44000" algn="just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逻辑与。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561488"/>
                  </a:ext>
                </a:extLst>
              </a:tr>
              <a:tr h="455776">
                <a:tc>
                  <a:txBody>
                    <a:bodyPr/>
                    <a:lstStyle/>
                    <a:p>
                      <a:pPr indent="108000" algn="just"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solidFill>
                            <a:schemeClr val="tx1"/>
                          </a:solidFill>
                          <a:effectLst/>
                        </a:rPr>
                        <a:t>or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144000" algn="just">
                        <a:spcAft>
                          <a:spcPts val="0"/>
                        </a:spcAft>
                      </a:pPr>
                      <a:r>
                        <a:rPr lang="zh-CN" sz="2800" kern="100" dirty="0">
                          <a:solidFill>
                            <a:schemeClr val="tx1"/>
                          </a:solidFill>
                          <a:effectLst/>
                        </a:rPr>
                        <a:t>逻辑或。</a:t>
                      </a:r>
                      <a:endParaRPr lang="zh-CN" sz="2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623205"/>
                  </a:ext>
                </a:extLst>
              </a:tr>
            </a:tbl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BEAB502-E9D5-4F77-9668-4065F626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75</a:t>
            </a:fld>
            <a:endParaRPr lang="zh-CN" altLang="en-US"/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9DA2B505-2BE5-426E-B9FA-0F0B58E43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71009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2.5 </a:t>
            </a:r>
            <a:r>
              <a:rPr lang="zh-CN" altLang="en-US" dirty="0">
                <a:latin typeface="+mj-lt"/>
                <a:ea typeface="+mj-ea"/>
                <a:sym typeface="+mn-ea"/>
              </a:rPr>
              <a:t>常用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系统函数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B558FD3-4EEE-40BB-9E0D-02392B243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76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67535"/>
            <a:ext cx="10515600" cy="1325563"/>
          </a:xfrm>
        </p:spPr>
        <p:txBody>
          <a:bodyPr/>
          <a:lstStyle/>
          <a:p>
            <a:r>
              <a:rPr lang="en-US" altLang="zh-CN" dirty="0"/>
              <a:t>2.5.1 </a:t>
            </a:r>
            <a:r>
              <a:rPr lang="zh-CN" altLang="en-US" dirty="0"/>
              <a:t>常用内置函数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1384" y="1511187"/>
            <a:ext cx="10657184" cy="5180965"/>
          </a:xfrm>
        </p:spPr>
        <p:txBody>
          <a:bodyPr/>
          <a:lstStyle/>
          <a:p>
            <a:r>
              <a:rPr lang="zh-CN" altLang="en-US" dirty="0"/>
              <a:t>内置函数可以直接调用，不需要使用</a:t>
            </a:r>
            <a:r>
              <a:rPr lang="en-US" altLang="zh-CN" dirty="0"/>
              <a:t>import</a:t>
            </a:r>
            <a:r>
              <a:rPr lang="zh-CN" altLang="en-US" dirty="0"/>
              <a:t>命令引用库</a:t>
            </a:r>
            <a:endParaRPr lang="en-US" altLang="zh-CN" dirty="0"/>
          </a:p>
          <a:p>
            <a:r>
              <a:rPr lang="zh-CN" altLang="en-US" dirty="0"/>
              <a:t>库函数则需要</a:t>
            </a:r>
            <a:r>
              <a:rPr lang="en-US" altLang="zh-CN" dirty="0"/>
              <a:t>Import</a:t>
            </a:r>
            <a:r>
              <a:rPr lang="zh-CN" altLang="en-US" dirty="0"/>
              <a:t>后才能使用，例如</a:t>
            </a:r>
            <a:r>
              <a:rPr lang="en-US" altLang="zh-CN" dirty="0"/>
              <a:t>math</a:t>
            </a:r>
            <a:r>
              <a:rPr lang="zh-CN" altLang="en-US" dirty="0"/>
              <a:t>库</a:t>
            </a:r>
            <a:endParaRPr lang="en-US" altLang="zh-CN" dirty="0"/>
          </a:p>
          <a:p>
            <a:r>
              <a:rPr lang="zh-CN" altLang="en-US" dirty="0"/>
              <a:t>内置函数包含在模块</a:t>
            </a:r>
            <a:r>
              <a:rPr lang="en-US" altLang="zh-CN" dirty="0" err="1"/>
              <a:t>builtins</a:t>
            </a:r>
            <a:r>
              <a:rPr lang="zh-CN" altLang="en-US" dirty="0"/>
              <a:t>中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D1798B9-1F1B-4BB0-8D70-7385C99C9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65476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944066"/>
              </p:ext>
            </p:extLst>
          </p:nvPr>
        </p:nvGraphicFramePr>
        <p:xfrm>
          <a:off x="211162" y="311587"/>
          <a:ext cx="11769676" cy="6234825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2572089">
                  <a:extLst>
                    <a:ext uri="{9D8B030D-6E8A-4147-A177-3AD203B41FA5}">
                      <a16:colId xmlns:a16="http://schemas.microsoft.com/office/drawing/2014/main" val="1537203668"/>
                    </a:ext>
                  </a:extLst>
                </a:gridCol>
                <a:gridCol w="2257497">
                  <a:extLst>
                    <a:ext uri="{9D8B030D-6E8A-4147-A177-3AD203B41FA5}">
                      <a16:colId xmlns:a16="http://schemas.microsoft.com/office/drawing/2014/main" val="2944318530"/>
                    </a:ext>
                  </a:extLst>
                </a:gridCol>
                <a:gridCol w="2184813">
                  <a:extLst>
                    <a:ext uri="{9D8B030D-6E8A-4147-A177-3AD203B41FA5}">
                      <a16:colId xmlns:a16="http://schemas.microsoft.com/office/drawing/2014/main" val="3566985143"/>
                    </a:ext>
                  </a:extLst>
                </a:gridCol>
                <a:gridCol w="2069822">
                  <a:extLst>
                    <a:ext uri="{9D8B030D-6E8A-4147-A177-3AD203B41FA5}">
                      <a16:colId xmlns:a16="http://schemas.microsoft.com/office/drawing/2014/main" val="2303215805"/>
                    </a:ext>
                  </a:extLst>
                </a:gridCol>
                <a:gridCol w="2685455">
                  <a:extLst>
                    <a:ext uri="{9D8B030D-6E8A-4147-A177-3AD203B41FA5}">
                      <a16:colId xmlns:a16="http://schemas.microsoft.com/office/drawing/2014/main" val="2999402281"/>
                    </a:ext>
                  </a:extLst>
                </a:gridCol>
              </a:tblGrid>
              <a:tr h="415655"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abs()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all()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any()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ascii()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bin()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2288986"/>
                  </a:ext>
                </a:extLst>
              </a:tr>
              <a:tr h="415655"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bool()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bytearray()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bytes()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callable()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 dirty="0" err="1">
                          <a:solidFill>
                            <a:schemeClr val="tx1"/>
                          </a:solidFill>
                          <a:effectLst/>
                        </a:rPr>
                        <a:t>chr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241079"/>
                  </a:ext>
                </a:extLst>
              </a:tr>
              <a:tr h="415655"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classmethod()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compile()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complex()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copyright()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credits()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114988"/>
                  </a:ext>
                </a:extLst>
              </a:tr>
              <a:tr h="415655"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delattr()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 dirty="0" err="1">
                          <a:solidFill>
                            <a:schemeClr val="tx1"/>
                          </a:solidFill>
                          <a:effectLst/>
                        </a:rPr>
                        <a:t>dict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dir()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divmod()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enumerate()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946853"/>
                  </a:ext>
                </a:extLst>
              </a:tr>
              <a:tr h="415655"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eval()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exec()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exit()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filter()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float()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602075"/>
                  </a:ext>
                </a:extLst>
              </a:tr>
              <a:tr h="415655"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format()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frozenset()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 dirty="0" err="1">
                          <a:solidFill>
                            <a:schemeClr val="tx1"/>
                          </a:solidFill>
                          <a:effectLst/>
                        </a:rPr>
                        <a:t>getattr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 dirty="0" err="1">
                          <a:solidFill>
                            <a:schemeClr val="tx1"/>
                          </a:solidFill>
                          <a:effectLst/>
                        </a:rPr>
                        <a:t>globals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hasattr()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3339748"/>
                  </a:ext>
                </a:extLst>
              </a:tr>
              <a:tr h="415655"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hash()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help()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hex()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id()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input()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109675"/>
                  </a:ext>
                </a:extLst>
              </a:tr>
              <a:tr h="415655"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int()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isinstance()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 dirty="0" err="1">
                          <a:solidFill>
                            <a:schemeClr val="tx1"/>
                          </a:solidFill>
                          <a:effectLst/>
                        </a:rPr>
                        <a:t>issubclass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 dirty="0" err="1">
                          <a:solidFill>
                            <a:schemeClr val="tx1"/>
                          </a:solidFill>
                          <a:effectLst/>
                        </a:rPr>
                        <a:t>iter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len()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601980"/>
                  </a:ext>
                </a:extLst>
              </a:tr>
              <a:tr h="415655"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license()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list()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locals()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map()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max()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0384412"/>
                  </a:ext>
                </a:extLst>
              </a:tr>
              <a:tr h="415655"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memoryview()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min()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next()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object()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oct()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987284"/>
                  </a:ext>
                </a:extLst>
              </a:tr>
              <a:tr h="415655"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open()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ord()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pow()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print()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property()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162162"/>
                  </a:ext>
                </a:extLst>
              </a:tr>
              <a:tr h="415655"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quit()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range()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repr()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reversed()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round()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3365201"/>
                  </a:ext>
                </a:extLst>
              </a:tr>
              <a:tr h="415655"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set()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setattr()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slice()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sorted()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 dirty="0" err="1">
                          <a:solidFill>
                            <a:schemeClr val="tx1"/>
                          </a:solidFill>
                          <a:effectLst/>
                        </a:rPr>
                        <a:t>staticmethod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064452"/>
                  </a:ext>
                </a:extLst>
              </a:tr>
              <a:tr h="415655"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str()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sum()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super()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>
                          <a:solidFill>
                            <a:schemeClr val="tx1"/>
                          </a:solidFill>
                          <a:effectLst/>
                        </a:rPr>
                        <a:t>tuple()</a:t>
                      </a:r>
                      <a:endParaRPr lang="zh-CN" sz="1800" b="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type()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291357"/>
                  </a:ext>
                </a:extLst>
              </a:tr>
              <a:tr h="415655"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 dirty="0" err="1">
                          <a:solidFill>
                            <a:schemeClr val="tx1"/>
                          </a:solidFill>
                          <a:effectLst/>
                        </a:rPr>
                        <a:t>vars</a:t>
                      </a: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zip()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l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0238760"/>
                  </a:ext>
                </a:extLst>
              </a:tr>
            </a:tbl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D1798B9-1F1B-4BB0-8D70-7385C99C9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1066" y="6255315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tx1"/>
                </a:solidFill>
              </a:rPr>
              <a:t>78</a:t>
            </a:fld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33054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0A176E-C4BE-4271-A3CF-6D2D0DC3B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内置的数学函数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64C0EC-4F11-4388-884D-4175D7419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abs(x)		</a:t>
            </a:r>
            <a:r>
              <a:rPr lang="zh-CN" altLang="en-US" dirty="0"/>
              <a:t>求绝对值</a:t>
            </a:r>
            <a:endParaRPr lang="en-US" altLang="zh-CN" dirty="0"/>
          </a:p>
          <a:p>
            <a:r>
              <a:rPr lang="en-US" altLang="zh-CN" dirty="0" err="1"/>
              <a:t>divmod</a:t>
            </a:r>
            <a:r>
              <a:rPr lang="en-US" altLang="zh-CN" dirty="0"/>
              <a:t>(</a:t>
            </a:r>
            <a:r>
              <a:rPr lang="en-US" altLang="zh-CN" dirty="0" err="1"/>
              <a:t>x,y</a:t>
            </a:r>
            <a:r>
              <a:rPr lang="en-US" altLang="zh-CN" dirty="0"/>
              <a:t>)	</a:t>
            </a:r>
            <a:r>
              <a:rPr lang="zh-CN" altLang="en-US" dirty="0"/>
              <a:t>返回商和余数的元组</a:t>
            </a:r>
            <a:r>
              <a:rPr lang="en-US" altLang="zh-CN" dirty="0"/>
              <a:t>(x//</a:t>
            </a:r>
            <a:r>
              <a:rPr lang="en-US" altLang="zh-CN" dirty="0" err="1"/>
              <a:t>y,x%y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pow(</a:t>
            </a:r>
            <a:r>
              <a:rPr lang="en-US" altLang="zh-CN" dirty="0" err="1"/>
              <a:t>x,y</a:t>
            </a:r>
            <a:r>
              <a:rPr lang="en-US" altLang="zh-CN" dirty="0"/>
              <a:t>)		x</a:t>
            </a:r>
            <a:r>
              <a:rPr lang="zh-CN" altLang="en-US" dirty="0"/>
              <a:t>的</a:t>
            </a:r>
            <a:r>
              <a:rPr lang="en-US" altLang="zh-CN" dirty="0"/>
              <a:t>y</a:t>
            </a:r>
            <a:r>
              <a:rPr lang="zh-CN" altLang="en-US" dirty="0"/>
              <a:t>次方（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可以是小数）</a:t>
            </a:r>
            <a:endParaRPr lang="en-US" altLang="zh-CN" dirty="0"/>
          </a:p>
          <a:p>
            <a:r>
              <a:rPr lang="en-US" altLang="zh-CN" dirty="0"/>
              <a:t>round(</a:t>
            </a:r>
            <a:r>
              <a:rPr lang="en-US" altLang="zh-CN" dirty="0" err="1"/>
              <a:t>x,n</a:t>
            </a:r>
            <a:r>
              <a:rPr lang="en-US" altLang="zh-CN" dirty="0"/>
              <a:t>)	</a:t>
            </a:r>
            <a:r>
              <a:rPr lang="zh-CN" altLang="en-US" dirty="0"/>
              <a:t>返回浮点数</a:t>
            </a:r>
            <a:r>
              <a:rPr lang="en-US" altLang="zh-CN" dirty="0"/>
              <a:t>x</a:t>
            </a:r>
            <a:r>
              <a:rPr lang="zh-CN" altLang="en-US" dirty="0"/>
              <a:t>的</a:t>
            </a:r>
            <a:r>
              <a:rPr lang="en-US" altLang="zh-CN" dirty="0"/>
              <a:t>n</a:t>
            </a:r>
            <a:r>
              <a:rPr lang="zh-CN" altLang="en-US" dirty="0"/>
              <a:t>位小数的四舍五入值；</a:t>
            </a:r>
            <a:br>
              <a:rPr lang="en-US" altLang="zh-CN" dirty="0"/>
            </a:br>
            <a:r>
              <a:rPr lang="en-US" altLang="zh-CN" dirty="0"/>
              <a:t>                            </a:t>
            </a:r>
            <a:r>
              <a:rPr lang="zh-CN" altLang="en-US" dirty="0"/>
              <a:t>如果</a:t>
            </a:r>
            <a:r>
              <a:rPr lang="en-US" altLang="zh-CN" dirty="0"/>
              <a:t>round(x)</a:t>
            </a:r>
            <a:r>
              <a:rPr lang="zh-CN" altLang="en-US" dirty="0"/>
              <a:t>返回整数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ACF41E-7A3F-40EE-9E50-D247CC6CD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686748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201D67-9DCA-4F3C-A264-3D22955F9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内置的数学函数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3F69C6-E2F3-4289-B307-6C13EA811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92" y="1556792"/>
            <a:ext cx="10730408" cy="518457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dirty="0"/>
              <a:t>&gt;&gt;&gt; abs(-10)</a:t>
            </a:r>
          </a:p>
          <a:p>
            <a:pPr marL="0" indent="0">
              <a:buNone/>
            </a:pPr>
            <a:r>
              <a:rPr lang="en-US" altLang="zh-CN" dirty="0"/>
              <a:t>10</a:t>
            </a:r>
          </a:p>
          <a:p>
            <a:pPr marL="0" indent="0">
              <a:buNone/>
            </a:pPr>
            <a:r>
              <a:rPr lang="en-US" altLang="zh-CN" dirty="0"/>
              <a:t>&gt;&gt;&gt; x=</a:t>
            </a:r>
            <a:r>
              <a:rPr lang="en-US" altLang="zh-CN" dirty="0" err="1"/>
              <a:t>divmod</a:t>
            </a:r>
            <a:r>
              <a:rPr lang="en-US" altLang="zh-CN" dirty="0"/>
              <a:t>(20,3)</a:t>
            </a:r>
          </a:p>
          <a:p>
            <a:pPr marL="0" indent="0">
              <a:buNone/>
            </a:pPr>
            <a:r>
              <a:rPr lang="en-US" altLang="zh-CN" dirty="0"/>
              <a:t>&gt;&gt;&gt; x</a:t>
            </a:r>
          </a:p>
          <a:p>
            <a:pPr marL="0" indent="0">
              <a:buNone/>
            </a:pPr>
            <a:r>
              <a:rPr lang="en-US" altLang="zh-CN" dirty="0"/>
              <a:t>(6, 2)	# 6</a:t>
            </a:r>
            <a:r>
              <a:rPr lang="zh-CN" altLang="en-US" dirty="0"/>
              <a:t>为商，</a:t>
            </a:r>
            <a:r>
              <a:rPr lang="en-US" altLang="zh-CN" dirty="0"/>
              <a:t>2</a:t>
            </a:r>
            <a:r>
              <a:rPr lang="zh-CN" altLang="en-US" dirty="0"/>
              <a:t>为余数）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&gt;&gt;&gt; pow(2,4)</a:t>
            </a:r>
          </a:p>
          <a:p>
            <a:pPr marL="0" indent="0">
              <a:buNone/>
            </a:pPr>
            <a:r>
              <a:rPr lang="en-US" altLang="zh-CN" dirty="0"/>
              <a:t>16</a:t>
            </a:r>
          </a:p>
          <a:p>
            <a:pPr marL="0" indent="0">
              <a:buNone/>
            </a:pPr>
            <a:r>
              <a:rPr lang="en-US" altLang="zh-CN" dirty="0"/>
              <a:t>&gt;&gt;&gt; pow(3,2.5)</a:t>
            </a:r>
          </a:p>
          <a:p>
            <a:pPr marL="0" indent="0">
              <a:buNone/>
            </a:pPr>
            <a:r>
              <a:rPr lang="en-US" altLang="zh-CN" dirty="0"/>
              <a:t>15.588457268119896</a:t>
            </a:r>
          </a:p>
          <a:p>
            <a:pPr marL="0" indent="0">
              <a:buNone/>
            </a:pPr>
            <a:r>
              <a:rPr lang="en-US" altLang="zh-CN" dirty="0"/>
              <a:t>&gt;&gt;&gt; round(3.1415926,2)</a:t>
            </a:r>
          </a:p>
          <a:p>
            <a:pPr marL="0" indent="0">
              <a:buNone/>
            </a:pPr>
            <a:r>
              <a:rPr lang="en-US" altLang="zh-CN" dirty="0"/>
              <a:t>3.14</a:t>
            </a:r>
          </a:p>
          <a:p>
            <a:pPr marL="0" indent="0">
              <a:buNone/>
            </a:pPr>
            <a:r>
              <a:rPr lang="en-US" altLang="zh-CN" dirty="0"/>
              <a:t>&gt;&gt;&gt; round(3.1415926)</a:t>
            </a:r>
          </a:p>
          <a:p>
            <a:pPr marL="0" indent="0">
              <a:buNone/>
            </a:pPr>
            <a:r>
              <a:rPr lang="en-US" altLang="zh-CN" dirty="0"/>
              <a:t>3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3253CC-825C-4E19-8251-D6C3811BE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9655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04509D-52CB-4F37-B224-DD23B6814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数据类型转换函数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D79AC3-F287-4C82-81C2-56FAFFAFB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int(x), float(x), bool(x), str(x)</a:t>
            </a:r>
            <a:r>
              <a:rPr lang="zh-CN" altLang="en-US" dirty="0"/>
              <a:t>：将对象</a:t>
            </a:r>
            <a:r>
              <a:rPr lang="en-US" altLang="zh-CN" dirty="0"/>
              <a:t>x</a:t>
            </a:r>
            <a:r>
              <a:rPr lang="zh-CN" altLang="en-US" dirty="0"/>
              <a:t>转换为整数型，浮点型，布尔型，字符串</a:t>
            </a:r>
            <a:endParaRPr lang="en-US" altLang="zh-CN" dirty="0"/>
          </a:p>
          <a:p>
            <a:r>
              <a:rPr lang="en-US" altLang="zh-CN" dirty="0"/>
              <a:t>complex(</a:t>
            </a:r>
            <a:r>
              <a:rPr lang="en-US" altLang="zh-CN" dirty="0" err="1"/>
              <a:t>x,y</a:t>
            </a:r>
            <a:r>
              <a:rPr lang="en-US" altLang="zh-CN" dirty="0"/>
              <a:t>)		</a:t>
            </a:r>
            <a:r>
              <a:rPr lang="zh-CN" altLang="en-US" dirty="0"/>
              <a:t>构造</a:t>
            </a:r>
            <a:r>
              <a:rPr lang="en-US" altLang="zh-CN" dirty="0" err="1"/>
              <a:t>x+yj</a:t>
            </a:r>
            <a:r>
              <a:rPr lang="zh-CN" altLang="en-US" dirty="0"/>
              <a:t>的复数</a:t>
            </a:r>
            <a:endParaRPr lang="en-US" altLang="zh-CN" dirty="0"/>
          </a:p>
          <a:p>
            <a:r>
              <a:rPr lang="en-US" altLang="zh-CN" dirty="0"/>
              <a:t>list(x), tuple(x), set(x), </a:t>
            </a:r>
            <a:r>
              <a:rPr lang="en-US" altLang="zh-CN" dirty="0" err="1"/>
              <a:t>dict</a:t>
            </a:r>
            <a:r>
              <a:rPr lang="en-US" altLang="zh-CN" dirty="0"/>
              <a:t>(x)</a:t>
            </a:r>
            <a:r>
              <a:rPr lang="zh-CN" altLang="en-US" dirty="0"/>
              <a:t>：将对象转换为列表，元组，集合，字典（复合数据类型，以后讲）</a:t>
            </a:r>
            <a:endParaRPr lang="en-US" altLang="zh-CN" dirty="0"/>
          </a:p>
          <a:p>
            <a:r>
              <a:rPr lang="en-US" altLang="zh-CN" dirty="0"/>
              <a:t>bin(x), hex(x), oct(x)	</a:t>
            </a:r>
            <a:r>
              <a:rPr lang="zh-CN" altLang="en-US" dirty="0"/>
              <a:t>：将</a:t>
            </a:r>
            <a:r>
              <a:rPr lang="en-US" altLang="zh-CN" dirty="0"/>
              <a:t>10</a:t>
            </a:r>
            <a:r>
              <a:rPr lang="zh-CN" altLang="en-US" dirty="0"/>
              <a:t>进制数</a:t>
            </a:r>
            <a:r>
              <a:rPr lang="en-US" altLang="zh-CN" dirty="0"/>
              <a:t>x</a:t>
            </a:r>
            <a:r>
              <a:rPr lang="zh-CN" altLang="en-US" dirty="0"/>
              <a:t>转换为</a:t>
            </a:r>
            <a:r>
              <a:rPr lang="en-US" altLang="zh-CN" dirty="0"/>
              <a:t>2/16/8</a:t>
            </a:r>
            <a:r>
              <a:rPr lang="zh-CN" altLang="en-US" dirty="0"/>
              <a:t>进制</a:t>
            </a:r>
            <a:endParaRPr lang="en-US" altLang="zh-CN" dirty="0"/>
          </a:p>
          <a:p>
            <a:r>
              <a:rPr lang="en-US" altLang="zh-CN" dirty="0" err="1"/>
              <a:t>chr</a:t>
            </a:r>
            <a:r>
              <a:rPr lang="en-US" altLang="zh-CN" dirty="0"/>
              <a:t>(x)</a:t>
            </a:r>
            <a:r>
              <a:rPr lang="zh-CN" altLang="en-US" dirty="0"/>
              <a:t>：返回</a:t>
            </a:r>
            <a:r>
              <a:rPr lang="en-US" altLang="zh-CN" dirty="0"/>
              <a:t>Unicode</a:t>
            </a:r>
            <a:r>
              <a:rPr lang="zh-CN" altLang="en-US" dirty="0"/>
              <a:t>码</a:t>
            </a:r>
            <a:r>
              <a:rPr lang="en-US" altLang="zh-CN" dirty="0"/>
              <a:t>x</a:t>
            </a:r>
            <a:r>
              <a:rPr lang="zh-CN" altLang="en-US" dirty="0"/>
              <a:t>对应的字符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AF6054-E59E-4167-B3B8-B4A5FA671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0967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EB960-B28C-49D6-B848-FD5FFA9BB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3B93D3-F5D0-4C52-8E56-21F916A9D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617840" cy="44862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dirty="0"/>
              <a:t>&gt;&gt;&gt; x=input('</a:t>
            </a:r>
            <a:r>
              <a:rPr lang="zh-CN" altLang="en-US" dirty="0"/>
              <a:t>请输入一个整数</a:t>
            </a:r>
            <a:r>
              <a:rPr lang="en-US" altLang="zh-CN" dirty="0"/>
              <a:t>')</a:t>
            </a:r>
          </a:p>
          <a:p>
            <a:pPr marL="0" indent="0">
              <a:buNone/>
            </a:pPr>
            <a:r>
              <a:rPr lang="zh-CN" altLang="en-US" dirty="0"/>
              <a:t>请输入一个整数</a:t>
            </a:r>
            <a:r>
              <a:rPr lang="en-US" altLang="zh-CN" dirty="0"/>
              <a:t>10</a:t>
            </a:r>
          </a:p>
          <a:p>
            <a:pPr marL="0" indent="0">
              <a:buNone/>
            </a:pPr>
            <a:r>
              <a:rPr lang="en-US" altLang="zh-CN" dirty="0"/>
              <a:t>&gt;&gt;&gt; x</a:t>
            </a:r>
          </a:p>
          <a:p>
            <a:pPr marL="0" indent="0">
              <a:buNone/>
            </a:pPr>
            <a:r>
              <a:rPr lang="en-US" altLang="zh-CN" dirty="0"/>
              <a:t>'10'</a:t>
            </a:r>
          </a:p>
          <a:p>
            <a:pPr marL="0" indent="0">
              <a:buNone/>
            </a:pPr>
            <a:r>
              <a:rPr lang="en-US" altLang="zh-CN" dirty="0"/>
              <a:t>&gt;&gt;&gt; y=int(input('</a:t>
            </a:r>
            <a:r>
              <a:rPr lang="zh-CN" altLang="en-US" dirty="0"/>
              <a:t>请输入一个整数</a:t>
            </a:r>
            <a:r>
              <a:rPr lang="en-US" altLang="zh-CN" dirty="0"/>
              <a:t>'))</a:t>
            </a:r>
          </a:p>
          <a:p>
            <a:pPr marL="0" indent="0">
              <a:buNone/>
            </a:pPr>
            <a:r>
              <a:rPr lang="zh-CN" altLang="en-US" dirty="0"/>
              <a:t>请输入一个整数</a:t>
            </a:r>
            <a:r>
              <a:rPr lang="en-US" altLang="zh-CN" dirty="0"/>
              <a:t>10</a:t>
            </a:r>
          </a:p>
          <a:p>
            <a:pPr marL="0" indent="0">
              <a:buNone/>
            </a:pPr>
            <a:r>
              <a:rPr lang="en-US" altLang="zh-CN" dirty="0"/>
              <a:t>&gt;&gt;&gt; y</a:t>
            </a:r>
          </a:p>
          <a:p>
            <a:pPr marL="0" indent="0">
              <a:buNone/>
            </a:pPr>
            <a:r>
              <a:rPr lang="en-US" altLang="zh-CN" dirty="0"/>
              <a:t>10</a:t>
            </a:r>
          </a:p>
          <a:p>
            <a:pPr marL="0" indent="0">
              <a:buNone/>
            </a:pPr>
            <a:r>
              <a:rPr lang="en-US" altLang="zh-CN" dirty="0"/>
              <a:t>&gt;&gt;&gt; float(x)</a:t>
            </a:r>
          </a:p>
          <a:p>
            <a:pPr marL="0" indent="0">
              <a:buNone/>
            </a:pPr>
            <a:r>
              <a:rPr lang="en-US" altLang="zh-CN" dirty="0"/>
              <a:t>10.0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56F8A4-7FBA-4AB9-8A88-57F9342A5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01932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2B08D3-92BD-46B0-95B7-7F662BAFA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45FEEA-AA14-4AD0-BC5A-CF7D04D52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556792"/>
            <a:ext cx="10658400" cy="508471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dirty="0"/>
              <a:t>&gt;&gt;&gt; bool(0),bool(1),bool(2),bool(100)</a:t>
            </a:r>
          </a:p>
          <a:p>
            <a:pPr marL="0" indent="0">
              <a:buNone/>
            </a:pPr>
            <a:r>
              <a:rPr lang="en-US" altLang="zh-CN" dirty="0"/>
              <a:t>(False, True, True, True)	#</a:t>
            </a:r>
            <a:r>
              <a:rPr lang="zh-CN" altLang="en-US" dirty="0"/>
              <a:t>自动为元组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&gt;&gt;&gt; z = complex(10,20)</a:t>
            </a:r>
          </a:p>
          <a:p>
            <a:pPr marL="0" indent="0">
              <a:buNone/>
            </a:pPr>
            <a:r>
              <a:rPr lang="en-US" altLang="zh-CN" dirty="0"/>
              <a:t>&gt;&gt;&gt; z</a:t>
            </a:r>
          </a:p>
          <a:p>
            <a:pPr marL="0" indent="0">
              <a:buNone/>
            </a:pPr>
            <a:r>
              <a:rPr lang="en-US" altLang="zh-CN" dirty="0"/>
              <a:t>(10+20j)</a:t>
            </a:r>
          </a:p>
          <a:p>
            <a:pPr marL="0" indent="0">
              <a:buNone/>
            </a:pPr>
            <a:r>
              <a:rPr lang="en-US" altLang="zh-CN" dirty="0"/>
              <a:t>&gt;&gt;&gt; set_1={'</a:t>
            </a:r>
            <a:r>
              <a:rPr lang="en-US" altLang="zh-CN" dirty="0" err="1"/>
              <a:t>Python','C','Java</a:t>
            </a:r>
            <a:r>
              <a:rPr lang="en-US" altLang="zh-CN" dirty="0"/>
              <a:t>'}</a:t>
            </a:r>
          </a:p>
          <a:p>
            <a:pPr marL="0" indent="0">
              <a:buNone/>
            </a:pPr>
            <a:r>
              <a:rPr lang="en-US" altLang="zh-CN" dirty="0"/>
              <a:t>&gt;&gt;&gt; list(set_1)</a:t>
            </a:r>
          </a:p>
          <a:p>
            <a:pPr marL="0" indent="0">
              <a:buNone/>
            </a:pPr>
            <a:r>
              <a:rPr lang="en-US" altLang="zh-CN" dirty="0"/>
              <a:t>['Python', 'C', 'Java']</a:t>
            </a:r>
          </a:p>
          <a:p>
            <a:pPr marL="0" indent="0">
              <a:buNone/>
            </a:pPr>
            <a:r>
              <a:rPr lang="en-US" altLang="zh-CN" dirty="0"/>
              <a:t>&gt;&gt;&gt; tuple(set_1)</a:t>
            </a:r>
          </a:p>
          <a:p>
            <a:pPr marL="0" indent="0">
              <a:buNone/>
            </a:pPr>
            <a:r>
              <a:rPr lang="en-US" altLang="zh-CN" dirty="0"/>
              <a:t>('Python', 'C', 'Java')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9F0C1E-2243-44B2-8846-FACCC116E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984049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44FEBB-084A-4278-8F5A-42DEAA1B2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22DC8C-4CC6-4574-845B-85A905EBD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表</a:t>
            </a:r>
            <a:r>
              <a:rPr lang="en-US" altLang="zh-CN" dirty="0"/>
              <a:t>2.5</a:t>
            </a:r>
            <a:r>
              <a:rPr lang="zh-CN" altLang="en-US" dirty="0"/>
              <a:t>关于序列的内置函数：跳过</a:t>
            </a:r>
            <a:endParaRPr lang="en-US" altLang="zh-CN" dirty="0"/>
          </a:p>
          <a:p>
            <a:r>
              <a:rPr lang="zh-CN" altLang="en-US" dirty="0"/>
              <a:t>其他内置函数（表</a:t>
            </a:r>
            <a:r>
              <a:rPr lang="en-US" altLang="zh-CN" dirty="0"/>
              <a:t>2-6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Id(x)</a:t>
            </a:r>
            <a:r>
              <a:rPr lang="zh-CN" altLang="en-US" dirty="0"/>
              <a:t>：获得对象的内存地址</a:t>
            </a:r>
            <a:endParaRPr lang="en-US" altLang="zh-CN" dirty="0"/>
          </a:p>
          <a:p>
            <a:pPr lvl="1"/>
            <a:r>
              <a:rPr lang="en-US" altLang="zh-CN" dirty="0"/>
              <a:t>type(x)</a:t>
            </a:r>
            <a:r>
              <a:rPr lang="zh-CN" altLang="en-US" dirty="0"/>
              <a:t>：返回对象的类型</a:t>
            </a:r>
            <a:endParaRPr lang="en-US" altLang="zh-CN" dirty="0"/>
          </a:p>
          <a:p>
            <a:pPr lvl="1"/>
            <a:r>
              <a:rPr lang="en-US" altLang="zh-CN" dirty="0"/>
              <a:t>eval(s)</a:t>
            </a:r>
            <a:r>
              <a:rPr lang="zh-CN" altLang="en-US" dirty="0"/>
              <a:t>：</a:t>
            </a:r>
            <a:r>
              <a:rPr lang="en-US" altLang="zh-CN" dirty="0"/>
              <a:t>s</a:t>
            </a:r>
            <a:r>
              <a:rPr lang="zh-CN" altLang="en-US" dirty="0"/>
              <a:t>是字符串，执行</a:t>
            </a:r>
            <a:r>
              <a:rPr lang="en-US" altLang="zh-CN" dirty="0"/>
              <a:t>s</a:t>
            </a:r>
            <a:r>
              <a:rPr lang="zh-CN" altLang="en-US" dirty="0"/>
              <a:t>的代码或表达式，返回值</a:t>
            </a:r>
            <a:endParaRPr lang="en-US" altLang="zh-CN" dirty="0"/>
          </a:p>
          <a:p>
            <a:pPr lvl="1"/>
            <a:r>
              <a:rPr lang="en-US" altLang="zh-CN" dirty="0" err="1"/>
              <a:t>dir</a:t>
            </a:r>
            <a:r>
              <a:rPr lang="en-US" altLang="zh-CN" dirty="0"/>
              <a:t>(obj)</a:t>
            </a:r>
            <a:r>
              <a:rPr lang="zh-CN" altLang="en-US" dirty="0"/>
              <a:t>：对象</a:t>
            </a:r>
            <a:r>
              <a:rPr lang="en-US" altLang="zh-CN" dirty="0"/>
              <a:t>obj</a:t>
            </a:r>
            <a:r>
              <a:rPr lang="zh-CN" altLang="en-US" dirty="0"/>
              <a:t>的属性，方法列表</a:t>
            </a:r>
            <a:endParaRPr lang="en-US" altLang="zh-CN" dirty="0"/>
          </a:p>
          <a:p>
            <a:pPr lvl="1"/>
            <a:r>
              <a:rPr lang="en-US" altLang="zh-CN" dirty="0"/>
              <a:t>help(obj)</a:t>
            </a:r>
            <a:r>
              <a:rPr lang="zh-CN" altLang="en-US" dirty="0"/>
              <a:t>：函数或对象的帮助说明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ED8C3B-5E03-4919-A10F-2C054A75C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22765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7655DD-9E92-43FB-8A29-D39ACD897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其他内置函数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2FCECA-0B56-48DA-9F32-3421B7DD3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dirty="0"/>
              <a:t>&gt;&gt;&gt; x1=1</a:t>
            </a:r>
          </a:p>
          <a:p>
            <a:pPr marL="0" indent="0">
              <a:buNone/>
            </a:pPr>
            <a:r>
              <a:rPr lang="en-US" altLang="zh-CN" dirty="0"/>
              <a:t>&gt;&gt;&gt; id(x1)</a:t>
            </a:r>
          </a:p>
          <a:p>
            <a:pPr marL="0" indent="0">
              <a:buNone/>
            </a:pPr>
            <a:r>
              <a:rPr lang="en-US" altLang="zh-CN" dirty="0"/>
              <a:t>2016607889712</a:t>
            </a:r>
          </a:p>
          <a:p>
            <a:pPr marL="0" indent="0">
              <a:buNone/>
            </a:pPr>
            <a:r>
              <a:rPr lang="en-US" altLang="zh-CN" dirty="0"/>
              <a:t>&gt;&gt;&gt; type(x1)</a:t>
            </a:r>
          </a:p>
          <a:p>
            <a:pPr marL="0" indent="0">
              <a:buNone/>
            </a:pPr>
            <a:r>
              <a:rPr lang="en-US" altLang="zh-CN" dirty="0"/>
              <a:t>&lt;class 'int'&gt;</a:t>
            </a:r>
          </a:p>
          <a:p>
            <a:pPr marL="0" indent="0">
              <a:buNone/>
            </a:pPr>
            <a:r>
              <a:rPr lang="en-US" altLang="zh-CN" dirty="0"/>
              <a:t>&gt;&gt;&gt; x2=x1+2.5</a:t>
            </a:r>
          </a:p>
          <a:p>
            <a:pPr marL="0" indent="0">
              <a:buNone/>
            </a:pPr>
            <a:r>
              <a:rPr lang="en-US" altLang="zh-CN" dirty="0"/>
              <a:t>&gt;&gt;&gt; type(x2)</a:t>
            </a:r>
          </a:p>
          <a:p>
            <a:pPr marL="0" indent="0">
              <a:buNone/>
            </a:pPr>
            <a:r>
              <a:rPr lang="en-US" altLang="zh-CN" dirty="0"/>
              <a:t>&lt;class 'float'&gt;</a:t>
            </a:r>
          </a:p>
          <a:p>
            <a:pPr marL="0" indent="0">
              <a:buNone/>
            </a:pPr>
            <a:r>
              <a:rPr lang="en-US" altLang="zh-CN" dirty="0"/>
              <a:t>&gt;&gt;&gt; x3='1'</a:t>
            </a:r>
          </a:p>
          <a:p>
            <a:pPr marL="0" indent="0">
              <a:buNone/>
            </a:pPr>
            <a:r>
              <a:rPr lang="en-US" altLang="zh-CN" dirty="0"/>
              <a:t>&gt;&gt;&gt; type(x3)</a:t>
            </a:r>
          </a:p>
          <a:p>
            <a:pPr marL="0" indent="0">
              <a:buNone/>
            </a:pPr>
            <a:r>
              <a:rPr lang="en-US" altLang="zh-CN" dirty="0"/>
              <a:t>&lt;class 'str'&gt;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14A311-40DA-44FA-81CF-580A9C341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422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7655DD-9E92-43FB-8A29-D39ACD897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其他内置函数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2FCECA-0B56-48DA-9F32-3421B7DD3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dirty="0"/>
              <a:t>&gt;&gt;&gt; s4 = input('</a:t>
            </a:r>
            <a:r>
              <a:rPr lang="zh-CN" altLang="en-US" dirty="0"/>
              <a:t>请输入一个整数</a:t>
            </a:r>
            <a:r>
              <a:rPr lang="en-US" altLang="zh-CN" dirty="0"/>
              <a:t>')</a:t>
            </a:r>
          </a:p>
          <a:p>
            <a:pPr marL="0" indent="0">
              <a:buNone/>
            </a:pPr>
            <a:r>
              <a:rPr lang="zh-CN" altLang="en-US" dirty="0"/>
              <a:t>请输入一个整数</a:t>
            </a:r>
            <a:r>
              <a:rPr lang="en-US" altLang="zh-CN" dirty="0"/>
              <a:t>1</a:t>
            </a:r>
          </a:p>
          <a:p>
            <a:pPr marL="0" indent="0">
              <a:buNone/>
            </a:pPr>
            <a:r>
              <a:rPr lang="en-US" altLang="zh-CN" dirty="0"/>
              <a:t>&gt;&gt;&gt; type(s4)</a:t>
            </a:r>
          </a:p>
          <a:p>
            <a:pPr marL="0" indent="0">
              <a:buNone/>
            </a:pPr>
            <a:r>
              <a:rPr lang="en-US" altLang="zh-CN" dirty="0"/>
              <a:t>&lt;class 'str'&gt;</a:t>
            </a:r>
          </a:p>
          <a:p>
            <a:pPr marL="0" indent="0">
              <a:buNone/>
            </a:pPr>
            <a:r>
              <a:rPr lang="en-US" altLang="zh-CN" dirty="0"/>
              <a:t>&gt;&gt;&gt; s5=int(s4)</a:t>
            </a:r>
          </a:p>
          <a:p>
            <a:pPr marL="0" indent="0">
              <a:buNone/>
            </a:pPr>
            <a:r>
              <a:rPr lang="en-US" altLang="zh-CN" dirty="0"/>
              <a:t>&gt;&gt;&gt; type(s5)</a:t>
            </a:r>
          </a:p>
          <a:p>
            <a:pPr marL="0" indent="0">
              <a:buNone/>
            </a:pPr>
            <a:r>
              <a:rPr lang="en-US" altLang="zh-CN" dirty="0"/>
              <a:t>&lt;class 'int’&gt;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&gt;&gt;&gt; x =2</a:t>
            </a:r>
          </a:p>
          <a:p>
            <a:pPr marL="0" indent="0">
              <a:buNone/>
            </a:pPr>
            <a:r>
              <a:rPr lang="en-US" altLang="zh-CN" dirty="0"/>
              <a:t>&gt;&gt;&gt; s ='2*x'</a:t>
            </a:r>
          </a:p>
          <a:p>
            <a:pPr marL="0" indent="0">
              <a:buNone/>
            </a:pPr>
            <a:r>
              <a:rPr lang="en-US" altLang="zh-CN" dirty="0"/>
              <a:t>&gt;&gt;&gt; eval(s)	#</a:t>
            </a:r>
            <a:r>
              <a:rPr lang="zh-CN" altLang="en-US" dirty="0"/>
              <a:t>执行字符串</a:t>
            </a:r>
            <a:r>
              <a:rPr lang="en-US" altLang="zh-CN" dirty="0"/>
              <a:t>s</a:t>
            </a:r>
          </a:p>
          <a:p>
            <a:pPr marL="0" indent="0">
              <a:buNone/>
            </a:pPr>
            <a:r>
              <a:rPr lang="en-US" altLang="zh-CN" dirty="0"/>
              <a:t>4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14A311-40DA-44FA-81CF-580A9C341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887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导入库</a:t>
            </a:r>
          </a:p>
        </p:txBody>
      </p:sp>
      <p:cxnSp>
        <p:nvCxnSpPr>
          <p:cNvPr id="5" name="Straight Connector 34">
            <a:extLst>
              <a:ext uri="{FF2B5EF4-FFF2-40B4-BE49-F238E27FC236}">
                <a16:creationId xmlns:a16="http://schemas.microsoft.com/office/drawing/2014/main" id="{BF916955-3458-4B4E-97ED-2CBB8779E63C}"/>
              </a:ext>
            </a:extLst>
          </p:cNvPr>
          <p:cNvCxnSpPr>
            <a:stCxn id="9" idx="0"/>
          </p:cNvCxnSpPr>
          <p:nvPr/>
        </p:nvCxnSpPr>
        <p:spPr>
          <a:xfrm flipH="1">
            <a:off x="3175707" y="3356992"/>
            <a:ext cx="1307243" cy="0"/>
          </a:xfrm>
          <a:prstGeom prst="line">
            <a:avLst/>
          </a:prstGeom>
          <a:ln w="19050">
            <a:solidFill>
              <a:srgbClr val="053750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38">
            <a:extLst>
              <a:ext uri="{FF2B5EF4-FFF2-40B4-BE49-F238E27FC236}">
                <a16:creationId xmlns:a16="http://schemas.microsoft.com/office/drawing/2014/main" id="{0E1A4EAA-48F4-427F-865B-FCE734F94A80}"/>
              </a:ext>
            </a:extLst>
          </p:cNvPr>
          <p:cNvCxnSpPr>
            <a:stCxn id="12" idx="0"/>
          </p:cNvCxnSpPr>
          <p:nvPr/>
        </p:nvCxnSpPr>
        <p:spPr>
          <a:xfrm>
            <a:off x="7404998" y="3356991"/>
            <a:ext cx="1362235" cy="0"/>
          </a:xfrm>
          <a:prstGeom prst="line">
            <a:avLst/>
          </a:prstGeom>
          <a:ln w="19050">
            <a:solidFill>
              <a:srgbClr val="053750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8">
            <a:extLst>
              <a:ext uri="{FF2B5EF4-FFF2-40B4-BE49-F238E27FC236}">
                <a16:creationId xmlns:a16="http://schemas.microsoft.com/office/drawing/2014/main" id="{AED5C262-3FD1-4173-8E99-9D76557E6701}"/>
              </a:ext>
            </a:extLst>
          </p:cNvPr>
          <p:cNvCxnSpPr>
            <a:stCxn id="20" idx="0"/>
            <a:endCxn id="14" idx="2"/>
          </p:cNvCxnSpPr>
          <p:nvPr/>
        </p:nvCxnSpPr>
        <p:spPr>
          <a:xfrm flipH="1" flipV="1">
            <a:off x="5935803" y="2193682"/>
            <a:ext cx="4" cy="2095369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87433E98-2BBD-4B54-9AAC-AD80F8F96E6B}"/>
              </a:ext>
            </a:extLst>
          </p:cNvPr>
          <p:cNvGrpSpPr/>
          <p:nvPr/>
        </p:nvGrpSpPr>
        <p:grpSpPr>
          <a:xfrm>
            <a:off x="3175707" y="3356992"/>
            <a:ext cx="2614485" cy="2231749"/>
            <a:chOff x="2819589" y="3085714"/>
            <a:chExt cx="2872533" cy="2476323"/>
          </a:xfrm>
        </p:grpSpPr>
        <p:sp>
          <p:nvSpPr>
            <p:cNvPr id="9" name="Isosceles Triangle 7">
              <a:extLst>
                <a:ext uri="{FF2B5EF4-FFF2-40B4-BE49-F238E27FC236}">
                  <a16:creationId xmlns:a16="http://schemas.microsoft.com/office/drawing/2014/main" id="{54110DE9-2EB8-4D27-AFE1-83A4CA53D168}"/>
                </a:ext>
              </a:extLst>
            </p:cNvPr>
            <p:cNvSpPr/>
            <p:nvPr/>
          </p:nvSpPr>
          <p:spPr>
            <a:xfrm>
              <a:off x="2819589" y="3085714"/>
              <a:ext cx="2872533" cy="2476323"/>
            </a:xfrm>
            <a:prstGeom prst="triangle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文本框 26">
              <a:extLst>
                <a:ext uri="{FF2B5EF4-FFF2-40B4-BE49-F238E27FC236}">
                  <a16:creationId xmlns:a16="http://schemas.microsoft.com/office/drawing/2014/main" id="{D164FD39-1A51-40A7-817A-55B294983194}"/>
                </a:ext>
              </a:extLst>
            </p:cNvPr>
            <p:cNvSpPr txBox="1"/>
            <p:nvPr/>
          </p:nvSpPr>
          <p:spPr>
            <a:xfrm>
              <a:off x="3303366" y="4832549"/>
              <a:ext cx="1799762" cy="5804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799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标准库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63EE4130-7B38-48CD-8226-82C1556C4A94}"/>
              </a:ext>
            </a:extLst>
          </p:cNvPr>
          <p:cNvGrpSpPr/>
          <p:nvPr/>
        </p:nvGrpSpPr>
        <p:grpSpPr>
          <a:xfrm>
            <a:off x="6042763" y="3356991"/>
            <a:ext cx="2724470" cy="2231750"/>
            <a:chOff x="5882153" y="3102189"/>
            <a:chExt cx="2872533" cy="2476323"/>
          </a:xfrm>
        </p:grpSpPr>
        <p:sp>
          <p:nvSpPr>
            <p:cNvPr id="12" name="Isosceles Triangle 9">
              <a:extLst>
                <a:ext uri="{FF2B5EF4-FFF2-40B4-BE49-F238E27FC236}">
                  <a16:creationId xmlns:a16="http://schemas.microsoft.com/office/drawing/2014/main" id="{B3D97F3B-C5F9-4246-9409-069B38447760}"/>
                </a:ext>
              </a:extLst>
            </p:cNvPr>
            <p:cNvSpPr/>
            <p:nvPr/>
          </p:nvSpPr>
          <p:spPr>
            <a:xfrm>
              <a:off x="5882153" y="3102189"/>
              <a:ext cx="2872533" cy="2476323"/>
            </a:xfrm>
            <a:prstGeom prst="triangle">
              <a:avLst/>
            </a:prstGeom>
            <a:noFill/>
            <a:ln>
              <a:solidFill>
                <a:schemeClr val="tx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文本框 26">
              <a:extLst>
                <a:ext uri="{FF2B5EF4-FFF2-40B4-BE49-F238E27FC236}">
                  <a16:creationId xmlns:a16="http://schemas.microsoft.com/office/drawing/2014/main" id="{792BD933-5F98-48E3-9F10-F254107018DE}"/>
                </a:ext>
              </a:extLst>
            </p:cNvPr>
            <p:cNvSpPr txBox="1"/>
            <p:nvPr/>
          </p:nvSpPr>
          <p:spPr>
            <a:xfrm>
              <a:off x="6335488" y="4832550"/>
              <a:ext cx="1965864" cy="5804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799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第三方库</a:t>
              </a:r>
            </a:p>
          </p:txBody>
        </p:sp>
      </p:grpSp>
      <p:sp>
        <p:nvSpPr>
          <p:cNvPr id="14" name="文本框 77">
            <a:extLst>
              <a:ext uri="{FF2B5EF4-FFF2-40B4-BE49-F238E27FC236}">
                <a16:creationId xmlns:a16="http://schemas.microsoft.com/office/drawing/2014/main" id="{33C35177-ECB1-46D3-AA9E-C45695176C9F}"/>
              </a:ext>
            </a:extLst>
          </p:cNvPr>
          <p:cNvSpPr txBox="1"/>
          <p:nvPr/>
        </p:nvSpPr>
        <p:spPr>
          <a:xfrm>
            <a:off x="2992442" y="1531128"/>
            <a:ext cx="5886722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引用库中的内容之前，必须先导入库</a:t>
            </a: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C6C97C33-397E-4B21-A245-09ADA9224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532" y="2639125"/>
            <a:ext cx="2445765" cy="2954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marL="342900" indent="-342900" eaLnBrk="1" hangingPunct="1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微软雅黑" pitchFamily="34" charset="-122"/>
                <a:sym typeface="Arial" charset="0"/>
              </a:rPr>
              <a:t>随编译环境一起安装的可复用代码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ea typeface="微软雅黑" pitchFamily="34" charset="-122"/>
              <a:sym typeface="Arial" charset="0"/>
            </a:endParaRPr>
          </a:p>
          <a:p>
            <a:pPr marL="342900" indent="-342900" eaLnBrk="1" hangingPunct="1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微软雅黑" pitchFamily="34" charset="-122"/>
                <a:sym typeface="Arial" charset="0"/>
              </a:rPr>
              <a:t>标准库里往往包含常量、类和函数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ea typeface="微软雅黑" pitchFamily="34" charset="-122"/>
              <a:sym typeface="Arial" charset="0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950C491-7E04-4FB7-A67C-C9E4C6B2E8FA}"/>
              </a:ext>
            </a:extLst>
          </p:cNvPr>
          <p:cNvGrpSpPr/>
          <p:nvPr/>
        </p:nvGrpSpPr>
        <p:grpSpPr>
          <a:xfrm>
            <a:off x="5181985" y="4289051"/>
            <a:ext cx="1507643" cy="1299693"/>
            <a:chOff x="5021172" y="4280814"/>
            <a:chExt cx="1507992" cy="1299993"/>
          </a:xfrm>
        </p:grpSpPr>
        <p:sp>
          <p:nvSpPr>
            <p:cNvPr id="20" name="Isosceles Triangle 8">
              <a:extLst>
                <a:ext uri="{FF2B5EF4-FFF2-40B4-BE49-F238E27FC236}">
                  <a16:creationId xmlns:a16="http://schemas.microsoft.com/office/drawing/2014/main" id="{CADF33EA-B894-48DB-8315-77EA5CB2CBC6}"/>
                </a:ext>
              </a:extLst>
            </p:cNvPr>
            <p:cNvSpPr/>
            <p:nvPr/>
          </p:nvSpPr>
          <p:spPr>
            <a:xfrm>
              <a:off x="5021172" y="4280814"/>
              <a:ext cx="1507992" cy="1299993"/>
            </a:xfrm>
            <a:prstGeom prst="triangl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95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70C390F9-6362-4991-99E9-1E18278933D3}"/>
                </a:ext>
              </a:extLst>
            </p:cNvPr>
            <p:cNvSpPr/>
            <p:nvPr/>
          </p:nvSpPr>
          <p:spPr>
            <a:xfrm>
              <a:off x="5391028" y="4941962"/>
              <a:ext cx="903020" cy="523213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 sz="2799" b="1" dirty="0">
                  <a:latin typeface="Arial" charset="0"/>
                  <a:ea typeface="微软雅黑" pitchFamily="34" charset="-122"/>
                  <a:sym typeface="Arial" charset="0"/>
                </a:rPr>
                <a:t>导入</a:t>
              </a:r>
              <a:endParaRPr lang="en-US" altLang="zh-CN" sz="2799" b="1" dirty="0">
                <a:latin typeface="Arial" charset="0"/>
                <a:ea typeface="微软雅黑" pitchFamily="34" charset="-122"/>
                <a:sym typeface="Arial" charset="0"/>
              </a:endParaRPr>
            </a:p>
          </p:txBody>
        </p:sp>
      </p:grpSp>
      <p:sp>
        <p:nvSpPr>
          <p:cNvPr id="22" name="TextBox 13">
            <a:extLst>
              <a:ext uri="{FF2B5EF4-FFF2-40B4-BE49-F238E27FC236}">
                <a16:creationId xmlns:a16="http://schemas.microsoft.com/office/drawing/2014/main" id="{C6C97C33-397E-4B21-A245-09ADA9224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7220" y="2639125"/>
            <a:ext cx="2412000" cy="1440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>
            <a:lvl1pPr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微软雅黑" pitchFamily="34" charset="-122"/>
                <a:sym typeface="Arial" charset="0"/>
              </a:rPr>
              <a:t>Python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微软雅黑" pitchFamily="34" charset="-122"/>
                <a:sym typeface="Arial" charset="0"/>
              </a:rPr>
              <a:t>社区中，数量众多的可复用代码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ea typeface="微软雅黑" pitchFamily="34" charset="-122"/>
              <a:sym typeface="Arial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DA28DC2-44E4-4B50-A44F-457F2A404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1628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22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导入库（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—— import</a:t>
            </a:r>
            <a:r>
              <a:rPr lang="zh-CN" altLang="en-US" dirty="0"/>
              <a:t>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8579" y="3645023"/>
            <a:ext cx="11784632" cy="2952329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&gt;&gt;&gt; import math, time, random  as  ran   #</a:t>
            </a:r>
            <a:r>
              <a:rPr lang="zh-CN" altLang="en-US" dirty="0"/>
              <a:t>为</a:t>
            </a:r>
            <a:r>
              <a:rPr lang="en-US" altLang="zh-CN" dirty="0"/>
              <a:t>random</a:t>
            </a:r>
            <a:r>
              <a:rPr lang="zh-CN" altLang="en-US" dirty="0"/>
              <a:t>库起别名</a:t>
            </a:r>
            <a:r>
              <a:rPr lang="en-US" altLang="zh-CN" dirty="0"/>
              <a:t>ran</a:t>
            </a:r>
          </a:p>
          <a:p>
            <a:pPr marL="0" indent="0">
              <a:buNone/>
            </a:pPr>
            <a:r>
              <a:rPr lang="en-US" altLang="zh-CN" dirty="0"/>
              <a:t>&gt;&gt;&gt;</a:t>
            </a:r>
            <a:r>
              <a:rPr lang="en-US" altLang="zh-CN" dirty="0" err="1"/>
              <a:t>math.sqrt</a:t>
            </a:r>
            <a:r>
              <a:rPr lang="en-US" altLang="zh-CN" dirty="0"/>
              <a:t>(2)		#sqrt</a:t>
            </a:r>
            <a:r>
              <a:rPr lang="zh-CN" altLang="en-US" dirty="0"/>
              <a:t>求平方根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1.4142135623730951</a:t>
            </a:r>
          </a:p>
          <a:p>
            <a:pPr marL="0" indent="0">
              <a:buNone/>
            </a:pPr>
            <a:r>
              <a:rPr lang="en-US" altLang="zh-CN" dirty="0"/>
              <a:t>&gt;&gt;&gt; </a:t>
            </a:r>
            <a:r>
              <a:rPr lang="en-US" altLang="zh-CN" dirty="0" err="1"/>
              <a:t>time.sleep</a:t>
            </a:r>
            <a:r>
              <a:rPr lang="en-US" altLang="zh-CN" dirty="0"/>
              <a:t>(3)		</a:t>
            </a:r>
            <a:r>
              <a:rPr lang="en-US" altLang="zh-CN" sz="2400" dirty="0"/>
              <a:t># </a:t>
            </a:r>
            <a:r>
              <a:rPr lang="zh-CN" altLang="en-US" sz="2400" dirty="0"/>
              <a:t>程序休眠</a:t>
            </a:r>
            <a:r>
              <a:rPr lang="en-US" altLang="zh-CN" sz="2400" dirty="0"/>
              <a:t>3</a:t>
            </a:r>
            <a:r>
              <a:rPr lang="zh-CN" altLang="en-US" sz="2400" dirty="0"/>
              <a:t>秒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&gt;&gt;&gt; </a:t>
            </a:r>
            <a:r>
              <a:rPr lang="en-US" altLang="zh-CN" dirty="0" err="1"/>
              <a:t>ran.randint</a:t>
            </a:r>
            <a:r>
              <a:rPr lang="en-US" altLang="zh-CN" dirty="0"/>
              <a:t>(1, 10)		</a:t>
            </a:r>
            <a:r>
              <a:rPr lang="en-US" altLang="zh-CN" sz="2400" dirty="0"/>
              <a:t># </a:t>
            </a:r>
            <a:r>
              <a:rPr lang="zh-CN" altLang="en-US" sz="2400" dirty="0"/>
              <a:t>生成一个</a:t>
            </a:r>
            <a:r>
              <a:rPr lang="en-US" altLang="zh-CN" sz="2400" dirty="0"/>
              <a:t>1</a:t>
            </a:r>
            <a:r>
              <a:rPr lang="zh-CN" altLang="en-US" sz="2400" dirty="0"/>
              <a:t>到</a:t>
            </a:r>
            <a:r>
              <a:rPr lang="en-US" altLang="zh-CN" sz="2400" dirty="0"/>
              <a:t>10</a:t>
            </a:r>
            <a:r>
              <a:rPr lang="zh-CN" altLang="en-US" sz="2400" dirty="0"/>
              <a:t>之间的随机整数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921214" y="1283569"/>
            <a:ext cx="10359362" cy="7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import 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模块</a:t>
            </a:r>
            <a:r>
              <a:rPr lang="en-US" altLang="zh-CN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1 [as 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别名</a:t>
            </a:r>
            <a:r>
              <a:rPr lang="en-US" altLang="zh-CN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1] [, 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模块</a:t>
            </a:r>
            <a:r>
              <a:rPr lang="en-US" altLang="zh-CN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2 [as 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别名</a:t>
            </a:r>
            <a:r>
              <a:rPr lang="en-US" altLang="zh-CN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2] [,... 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模块</a:t>
            </a:r>
            <a:r>
              <a:rPr lang="en-US" altLang="zh-CN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N [as 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别名</a:t>
            </a:r>
            <a:r>
              <a:rPr lang="en-US" altLang="zh-CN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N]]]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719736" y="2198993"/>
            <a:ext cx="75608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调用第三方库的函数有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种格式：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520000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格式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：库名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函数名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indent="2520000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格式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：别名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函数名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3719736" y="3583988"/>
            <a:ext cx="7452224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DC56F12-131E-4673-9116-B29EA17C0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66766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导入库（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——</a:t>
            </a:r>
            <a:r>
              <a:rPr lang="zh-CN" altLang="en-US" dirty="0"/>
              <a:t> </a:t>
            </a:r>
            <a:r>
              <a:rPr lang="en-US" altLang="zh-CN" dirty="0"/>
              <a:t>from…import </a:t>
            </a:r>
            <a:r>
              <a:rPr lang="zh-CN" altLang="en-US" dirty="0"/>
              <a:t>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21215" y="3933056"/>
            <a:ext cx="10382786" cy="2592288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&gt;&gt;&gt; from time import sleep</a:t>
            </a:r>
          </a:p>
          <a:p>
            <a:pPr marL="0" indent="0">
              <a:buNone/>
            </a:pPr>
            <a:r>
              <a:rPr lang="en-US" altLang="zh-CN" dirty="0"/>
              <a:t>&gt;&gt;&gt; from random import </a:t>
            </a:r>
            <a:r>
              <a:rPr lang="en-US" altLang="zh-CN" dirty="0" err="1"/>
              <a:t>randint</a:t>
            </a:r>
            <a:r>
              <a:rPr lang="en-US" altLang="zh-CN" dirty="0"/>
              <a:t> as </a:t>
            </a:r>
            <a:r>
              <a:rPr lang="en-US" altLang="zh-CN" dirty="0" err="1"/>
              <a:t>ri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&gt;&gt;&gt; sleep(3)</a:t>
            </a:r>
          </a:p>
          <a:p>
            <a:pPr marL="0" indent="0">
              <a:buNone/>
            </a:pPr>
            <a:r>
              <a:rPr lang="en-US" altLang="zh-CN" dirty="0"/>
              <a:t>&gt;&gt;&gt; </a:t>
            </a:r>
            <a:r>
              <a:rPr lang="en-US" altLang="zh-CN" dirty="0" err="1"/>
              <a:t>ri</a:t>
            </a:r>
            <a:r>
              <a:rPr lang="en-US" altLang="zh-CN" dirty="0"/>
              <a:t>(1,10)</a:t>
            </a:r>
          </a:p>
          <a:p>
            <a:pPr marL="0" indent="0">
              <a:buNone/>
            </a:pPr>
            <a:endParaRPr lang="zh-CN" alt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83944" y="1469221"/>
            <a:ext cx="10382786" cy="7767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from 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模块 </a:t>
            </a:r>
            <a:r>
              <a:rPr lang="en-US" altLang="zh-CN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import 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函数名</a:t>
            </a:r>
            <a:r>
              <a:rPr lang="en-US" altLang="zh-CN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1 [as 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别名</a:t>
            </a:r>
            <a:r>
              <a:rPr lang="en-US" altLang="zh-CN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1] [, ... 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函数名</a:t>
            </a:r>
            <a:r>
              <a:rPr lang="en-US" altLang="zh-CN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N [as 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别名</a:t>
            </a:r>
            <a:r>
              <a:rPr lang="en-US" altLang="zh-CN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N]]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719736" y="2198993"/>
            <a:ext cx="75608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导入后，可按以下格式直接调用函数：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600000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格式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：函数名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indent="3600000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格式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：别名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3719736" y="3583988"/>
            <a:ext cx="7452224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F9BC210-D87F-4DAF-90AC-657B3593C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52463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导入库（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/>
              <a:t>——</a:t>
            </a:r>
            <a:r>
              <a:rPr lang="zh-CN" altLang="en-US" dirty="0"/>
              <a:t> </a:t>
            </a:r>
            <a:r>
              <a:rPr lang="en-US" altLang="zh-CN" dirty="0"/>
              <a:t>from…import * </a:t>
            </a:r>
            <a:r>
              <a:rPr lang="zh-CN" altLang="en-US" dirty="0"/>
              <a:t>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21215" y="4338686"/>
            <a:ext cx="10382786" cy="160792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&gt;&gt;&gt; from time import *</a:t>
            </a:r>
          </a:p>
          <a:p>
            <a:pPr marL="0" indent="0">
              <a:buNone/>
            </a:pPr>
            <a:r>
              <a:rPr lang="en-US" altLang="zh-CN" dirty="0"/>
              <a:t>&gt;&gt;&gt; sleep(3)</a:t>
            </a:r>
            <a:endParaRPr lang="zh-CN" alt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921214" y="1283569"/>
            <a:ext cx="10359362" cy="7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from 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模块 </a:t>
            </a:r>
            <a:r>
              <a:rPr lang="en-US" altLang="zh-CN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import *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719736" y="2198993"/>
            <a:ext cx="75608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该语句导入指定模块里的所有函数，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导入后可直接调用库中的所有函数：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600000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格式：函数名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3719736" y="3583988"/>
            <a:ext cx="7452224" cy="0"/>
          </a:xfrm>
          <a:prstGeom prst="line">
            <a:avLst/>
          </a:prstGeom>
          <a:ln w="19050">
            <a:solidFill>
              <a:srgbClr val="20386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84683FC-9783-4B48-995A-9D9227B1A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27782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常用标准库函数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math</a:t>
            </a:r>
            <a:r>
              <a:rPr lang="zh-CN" altLang="en-US" dirty="0"/>
              <a:t>库中的常用函数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random</a:t>
            </a:r>
            <a:r>
              <a:rPr lang="zh-CN" altLang="en-US" dirty="0"/>
              <a:t>库中的常用函数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time</a:t>
            </a:r>
            <a:r>
              <a:rPr lang="zh-CN" altLang="en-US" dirty="0"/>
              <a:t>库中的常用函数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dirty="0" err="1"/>
              <a:t>timedate</a:t>
            </a:r>
            <a:r>
              <a:rPr lang="zh-CN" altLang="en-US" dirty="0"/>
              <a:t>库中的常用函数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0" indent="0" algn="ctr">
              <a:buNone/>
            </a:pPr>
            <a:r>
              <a:rPr lang="zh-CN" altLang="en-US" dirty="0"/>
              <a:t>各库的常用函数见教材中的相关表格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514350" indent="-514350">
              <a:buFont typeface="+mj-lt"/>
              <a:buAutoNum type="arabicPeriod"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D92700-A3BE-4B65-AFD7-C95CE72F3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62327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4B678C-A5B7-421D-A5D9-FCA801012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Math</a:t>
            </a:r>
            <a:r>
              <a:rPr lang="zh-CN" altLang="en-US" dirty="0"/>
              <a:t>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3D264F-0781-41EE-9E03-99DD53CE4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1825625"/>
            <a:ext cx="10586392" cy="4815884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 err="1"/>
              <a:t>math.pi</a:t>
            </a:r>
            <a:r>
              <a:rPr lang="en-US" altLang="zh-CN" dirty="0"/>
              <a:t>			</a:t>
            </a:r>
            <a:r>
              <a:rPr lang="zh-CN" altLang="en-US" dirty="0"/>
              <a:t>圆周率</a:t>
            </a:r>
            <a:r>
              <a:rPr lang="en-US" altLang="zh-CN" dirty="0"/>
              <a:t>3.1415926…</a:t>
            </a:r>
          </a:p>
          <a:p>
            <a:r>
              <a:rPr lang="en-US" altLang="zh-CN" dirty="0" err="1"/>
              <a:t>math.e</a:t>
            </a:r>
            <a:r>
              <a:rPr lang="en-US" altLang="zh-CN" dirty="0"/>
              <a:t>			</a:t>
            </a:r>
            <a:r>
              <a:rPr lang="zh-CN" altLang="en-US" dirty="0"/>
              <a:t>自然对数</a:t>
            </a:r>
            <a:endParaRPr lang="en-US" altLang="zh-CN" dirty="0"/>
          </a:p>
          <a:p>
            <a:r>
              <a:rPr lang="en-US" altLang="zh-CN" dirty="0" err="1"/>
              <a:t>math.fabs</a:t>
            </a:r>
            <a:r>
              <a:rPr lang="en-US" altLang="zh-CN" dirty="0"/>
              <a:t>(x)		</a:t>
            </a:r>
            <a:r>
              <a:rPr lang="zh-CN" altLang="en-US" dirty="0"/>
              <a:t>绝对值</a:t>
            </a:r>
            <a:endParaRPr lang="en-US" altLang="zh-CN" dirty="0"/>
          </a:p>
          <a:p>
            <a:r>
              <a:rPr lang="en-US" altLang="zh-CN" dirty="0" err="1"/>
              <a:t>Math.modf</a:t>
            </a:r>
            <a:r>
              <a:rPr lang="en-US" altLang="zh-CN" dirty="0"/>
              <a:t>(x)		x</a:t>
            </a:r>
            <a:r>
              <a:rPr lang="zh-CN" altLang="en-US" dirty="0"/>
              <a:t>为浮点数，返回</a:t>
            </a:r>
            <a:r>
              <a:rPr lang="en-US" altLang="zh-CN" dirty="0"/>
              <a:t>x</a:t>
            </a:r>
            <a:r>
              <a:rPr lang="zh-CN" altLang="en-US" dirty="0"/>
              <a:t>的小数部分和整数部分</a:t>
            </a:r>
            <a:endParaRPr lang="en-US" altLang="zh-CN" dirty="0"/>
          </a:p>
          <a:p>
            <a:r>
              <a:rPr lang="en-US" altLang="zh-CN" dirty="0" err="1"/>
              <a:t>math.factorial</a:t>
            </a:r>
            <a:r>
              <a:rPr lang="en-US" altLang="zh-CN" dirty="0"/>
              <a:t>(x)		</a:t>
            </a:r>
            <a:r>
              <a:rPr lang="zh-CN" altLang="en-US" dirty="0"/>
              <a:t>阶乘</a:t>
            </a:r>
            <a:r>
              <a:rPr lang="en-US" altLang="zh-CN" dirty="0"/>
              <a:t>,</a:t>
            </a:r>
            <a:r>
              <a:rPr lang="zh-CN" altLang="en-US" dirty="0"/>
              <a:t>如果</a:t>
            </a:r>
            <a:r>
              <a:rPr lang="en-US" altLang="zh-CN" dirty="0"/>
              <a:t>x</a:t>
            </a:r>
            <a:r>
              <a:rPr lang="zh-CN" altLang="en-US" dirty="0"/>
              <a:t>是小数或负数返回</a:t>
            </a:r>
            <a:r>
              <a:rPr lang="en-US" altLang="zh-CN" dirty="0" err="1"/>
              <a:t>ValueError</a:t>
            </a:r>
            <a:endParaRPr lang="en-US" altLang="zh-CN" dirty="0"/>
          </a:p>
          <a:p>
            <a:r>
              <a:rPr lang="en-US" altLang="zh-CN" dirty="0" err="1"/>
              <a:t>math.gcd</a:t>
            </a:r>
            <a:r>
              <a:rPr lang="en-US" altLang="zh-CN" dirty="0"/>
              <a:t>(</a:t>
            </a:r>
            <a:r>
              <a:rPr lang="en-US" altLang="zh-CN" dirty="0" err="1"/>
              <a:t>x,y</a:t>
            </a:r>
            <a:r>
              <a:rPr lang="en-US" altLang="zh-CN" dirty="0"/>
              <a:t>)		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的最大公约数</a:t>
            </a:r>
            <a:endParaRPr lang="en-US" altLang="zh-CN" dirty="0"/>
          </a:p>
          <a:p>
            <a:r>
              <a:rPr lang="en-US" altLang="zh-CN" dirty="0" err="1"/>
              <a:t>math.trunc</a:t>
            </a:r>
            <a:r>
              <a:rPr lang="en-US" altLang="zh-CN" dirty="0"/>
              <a:t>(x)		</a:t>
            </a:r>
            <a:r>
              <a:rPr lang="zh-CN" altLang="en-US" dirty="0"/>
              <a:t>返回浮点数</a:t>
            </a:r>
            <a:r>
              <a:rPr lang="en-US" altLang="zh-CN" dirty="0"/>
              <a:t>x</a:t>
            </a:r>
            <a:r>
              <a:rPr lang="zh-CN" altLang="en-US" dirty="0"/>
              <a:t>的整数部分</a:t>
            </a:r>
            <a:endParaRPr lang="en-US" altLang="zh-CN" dirty="0"/>
          </a:p>
          <a:p>
            <a:r>
              <a:rPr lang="en-US" altLang="zh-CN" dirty="0" err="1"/>
              <a:t>math.isclose</a:t>
            </a:r>
            <a:r>
              <a:rPr lang="en-US" altLang="zh-CN" dirty="0"/>
              <a:t>(</a:t>
            </a:r>
            <a:r>
              <a:rPr lang="en-US" altLang="zh-CN" dirty="0" err="1"/>
              <a:t>x,y</a:t>
            </a:r>
            <a:r>
              <a:rPr lang="en-US" altLang="zh-CN" dirty="0"/>
              <a:t>)		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是否接近，返回</a:t>
            </a:r>
            <a:r>
              <a:rPr lang="en-US" altLang="zh-CN" dirty="0"/>
              <a:t>True</a:t>
            </a:r>
            <a:r>
              <a:rPr lang="zh-CN" altLang="en-US" dirty="0"/>
              <a:t>或</a:t>
            </a:r>
            <a:r>
              <a:rPr lang="en-US" altLang="zh-CN" dirty="0"/>
              <a:t>False</a:t>
            </a:r>
          </a:p>
          <a:p>
            <a:r>
              <a:rPr lang="en-US" altLang="zh-CN" dirty="0" err="1"/>
              <a:t>math.pow</a:t>
            </a:r>
            <a:r>
              <a:rPr lang="en-US" altLang="zh-CN" dirty="0"/>
              <a:t>(</a:t>
            </a:r>
            <a:r>
              <a:rPr lang="en-US" altLang="zh-CN" dirty="0" err="1"/>
              <a:t>x,y</a:t>
            </a:r>
            <a:r>
              <a:rPr lang="en-US" altLang="zh-CN" dirty="0"/>
              <a:t>)		x</a:t>
            </a:r>
            <a:r>
              <a:rPr lang="zh-CN" altLang="en-US" dirty="0"/>
              <a:t>的</a:t>
            </a:r>
            <a:r>
              <a:rPr lang="en-US" altLang="zh-CN" dirty="0"/>
              <a:t>y</a:t>
            </a:r>
            <a:r>
              <a:rPr lang="zh-CN" altLang="en-US" dirty="0"/>
              <a:t>次幂</a:t>
            </a:r>
            <a:endParaRPr lang="en-US" altLang="zh-CN" dirty="0"/>
          </a:p>
          <a:p>
            <a:r>
              <a:rPr lang="en-US" altLang="zh-CN" dirty="0" err="1"/>
              <a:t>math.sqrt</a:t>
            </a:r>
            <a:r>
              <a:rPr lang="en-US" altLang="zh-CN" dirty="0"/>
              <a:t>(x)		</a:t>
            </a:r>
            <a:r>
              <a:rPr lang="zh-CN" altLang="en-US" dirty="0"/>
              <a:t>平方根</a:t>
            </a:r>
            <a:endParaRPr lang="en-US" altLang="zh-CN" dirty="0"/>
          </a:p>
          <a:p>
            <a:r>
              <a:rPr lang="en-US" altLang="zh-CN" dirty="0" err="1"/>
              <a:t>math.sin</a:t>
            </a:r>
            <a:r>
              <a:rPr lang="en-US" altLang="zh-CN" dirty="0"/>
              <a:t>(x)/cos(x)/tan(x)/</a:t>
            </a:r>
            <a:r>
              <a:rPr lang="en-US" altLang="zh-CN" dirty="0" err="1"/>
              <a:t>asin</a:t>
            </a:r>
            <a:r>
              <a:rPr lang="en-US" altLang="zh-CN" dirty="0"/>
              <a:t>(x)/</a:t>
            </a:r>
            <a:r>
              <a:rPr lang="en-US" altLang="zh-CN" dirty="0" err="1"/>
              <a:t>acos</a:t>
            </a:r>
            <a:r>
              <a:rPr lang="en-US" altLang="zh-CN" dirty="0"/>
              <a:t>(x)/</a:t>
            </a:r>
            <a:r>
              <a:rPr lang="en-US" altLang="zh-CN" dirty="0" err="1"/>
              <a:t>atan</a:t>
            </a:r>
            <a:r>
              <a:rPr lang="en-US" altLang="zh-CN" dirty="0"/>
              <a:t>(x)</a:t>
            </a:r>
          </a:p>
          <a:p>
            <a:r>
              <a:rPr lang="en-US" altLang="zh-CN" dirty="0"/>
              <a:t>math.log2(x)/log10(x)/log(</a:t>
            </a:r>
            <a:r>
              <a:rPr lang="en-US" altLang="zh-CN" dirty="0" err="1"/>
              <a:t>x,base</a:t>
            </a:r>
            <a:r>
              <a:rPr lang="en-US" altLang="zh-CN" dirty="0"/>
              <a:t>)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2FF34B-AA3F-4029-9404-C3BCF2D39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15066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6919B6-B3C6-45FD-A85C-2640519AC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Random</a:t>
            </a:r>
            <a:r>
              <a:rPr lang="zh-CN" altLang="en-US" dirty="0"/>
              <a:t>库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DE7CA84D-ACF1-46E7-82B5-0D627DA765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700808"/>
            <a:ext cx="11774646" cy="252028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3592D4-D7D3-4648-BC90-FE1DE83B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149344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49A20F-6D39-4B22-A501-C4EE06E71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Time</a:t>
            </a:r>
            <a:r>
              <a:rPr lang="zh-CN" altLang="en-US" dirty="0"/>
              <a:t>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976241-59D2-41DC-A683-8474B6369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94</a:t>
            </a:fld>
            <a:endParaRPr lang="zh-CN" altLang="en-US"/>
          </a:p>
        </p:txBody>
      </p:sp>
      <p:pic>
        <p:nvPicPr>
          <p:cNvPr id="14" name="内容占位符 13">
            <a:extLst>
              <a:ext uri="{FF2B5EF4-FFF2-40B4-BE49-F238E27FC236}">
                <a16:creationId xmlns:a16="http://schemas.microsoft.com/office/drawing/2014/main" id="{C9B3B6CF-7694-4A79-90E2-72564DA852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1" y="1710119"/>
            <a:ext cx="11843811" cy="4782755"/>
          </a:xfrm>
        </p:spPr>
      </p:pic>
    </p:spTree>
    <p:extLst>
      <p:ext uri="{BB962C8B-B14F-4D97-AF65-F5344CB8AC3E}">
        <p14:creationId xmlns:p14="http://schemas.microsoft.com/office/powerpoint/2010/main" val="24999552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6F48BA-43E3-48DC-8B47-947FD6C08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Timedate</a:t>
            </a:r>
            <a:r>
              <a:rPr lang="zh-CN" altLang="en-US" dirty="0"/>
              <a:t>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C84685-CCB7-4D85-8C06-283872A84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95</a:t>
            </a:fld>
            <a:endParaRPr lang="zh-CN" altLang="en-US"/>
          </a:p>
        </p:txBody>
      </p:sp>
      <p:pic>
        <p:nvPicPr>
          <p:cNvPr id="18" name="内容占位符 17">
            <a:extLst>
              <a:ext uri="{FF2B5EF4-FFF2-40B4-BE49-F238E27FC236}">
                <a16:creationId xmlns:a16="http://schemas.microsoft.com/office/drawing/2014/main" id="{91FD4D26-73A9-4F8A-AAE1-81FC1E70A9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496" y="1889352"/>
            <a:ext cx="10515600" cy="3195832"/>
          </a:xfrm>
        </p:spPr>
      </p:pic>
    </p:spTree>
    <p:extLst>
      <p:ext uri="{BB962C8B-B14F-4D97-AF65-F5344CB8AC3E}">
        <p14:creationId xmlns:p14="http://schemas.microsoft.com/office/powerpoint/2010/main" val="213939311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4549A-0ACE-46E0-93C0-5FC785EA0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152470"/>
            <a:ext cx="11642650" cy="549274"/>
          </a:xfrm>
        </p:spPr>
        <p:txBody>
          <a:bodyPr>
            <a:normAutofit fontScale="90000"/>
          </a:bodyPr>
          <a:lstStyle/>
          <a:p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CEDC27-2C64-4AA9-B680-9D029EA71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415" y="797440"/>
            <a:ext cx="11965172" cy="590808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altLang="zh-CN" sz="3600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820416-20C4-418B-AB2B-23611C6FD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2A48-6D8B-40B6-ACF7-D12B16F0E773}" type="slidenum">
              <a:rPr lang="en-US" altLang="zh-CN" smtClean="0"/>
              <a:pPr/>
              <a:t>96</a:t>
            </a:fld>
            <a:endParaRPr lang="zh-CN" altLang="en-US" sz="2800" b="1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358205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4549A-0ACE-46E0-93C0-5FC785EA0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152470"/>
            <a:ext cx="11642650" cy="549274"/>
          </a:xfrm>
        </p:spPr>
        <p:txBody>
          <a:bodyPr>
            <a:normAutofit fontScale="90000"/>
          </a:bodyPr>
          <a:lstStyle/>
          <a:p>
            <a:r>
              <a:rPr lang="zh-CN" altLang="en-US" sz="3600" b="1" dirty="0"/>
              <a:t>基本的输入输出函数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CEDC27-2C64-4AA9-B680-9D029EA71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414" y="1124744"/>
            <a:ext cx="11965173" cy="5580785"/>
          </a:xfrm>
        </p:spPr>
        <p:txBody>
          <a:bodyPr>
            <a:normAutofit/>
          </a:bodyPr>
          <a:lstStyle/>
          <a:p>
            <a:r>
              <a:rPr lang="zh-CN" altLang="en-US" b="1" dirty="0"/>
              <a:t>程序处理过程 </a:t>
            </a:r>
            <a:r>
              <a:rPr lang="en-US" altLang="zh-CN" b="1" dirty="0"/>
              <a:t>IPO</a:t>
            </a:r>
          </a:p>
          <a:p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            </a:t>
            </a:r>
            <a:r>
              <a:rPr lang="zh-CN" altLang="en-US" b="1" dirty="0"/>
              <a:t>输入</a:t>
            </a:r>
            <a:r>
              <a:rPr lang="en-US" altLang="zh-CN" b="1" dirty="0">
                <a:sym typeface="Wingdings" panose="05000000000000000000" pitchFamily="2" charset="2"/>
              </a:rPr>
              <a:t></a:t>
            </a:r>
            <a:r>
              <a:rPr lang="zh-CN" altLang="en-US" b="1" dirty="0">
                <a:sym typeface="Wingdings" panose="05000000000000000000" pitchFamily="2" charset="2"/>
              </a:rPr>
              <a:t>处理</a:t>
            </a:r>
            <a:r>
              <a:rPr lang="en-US" altLang="zh-CN" b="1" dirty="0">
                <a:sym typeface="Wingdings" panose="05000000000000000000" pitchFamily="2" charset="2"/>
              </a:rPr>
              <a:t></a:t>
            </a:r>
            <a:r>
              <a:rPr lang="zh-CN" altLang="en-US" b="1" dirty="0">
                <a:sym typeface="Wingdings" panose="05000000000000000000" pitchFamily="2" charset="2"/>
              </a:rPr>
              <a:t>输出</a:t>
            </a:r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2B235A-1EFC-403F-AA72-A180131A6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2A48-6D8B-40B6-ACF7-D12B16F0E773}" type="slidenum">
              <a:rPr lang="en-US" altLang="zh-CN" smtClean="0"/>
              <a:pPr/>
              <a:t>97</a:t>
            </a:fld>
            <a:endParaRPr lang="zh-CN" altLang="en-US" sz="2800" b="1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203362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4549A-0ACE-46E0-93C0-5FC785EA0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152470"/>
            <a:ext cx="11642650" cy="549274"/>
          </a:xfrm>
        </p:spPr>
        <p:txBody>
          <a:bodyPr>
            <a:normAutofit fontScale="90000"/>
          </a:bodyPr>
          <a:lstStyle/>
          <a:p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Input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CEDC27-2C64-4AA9-B680-9D029EA71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415" y="797440"/>
            <a:ext cx="11965172" cy="5908089"/>
          </a:xfrm>
        </p:spPr>
        <p:txBody>
          <a:bodyPr>
            <a:normAutofit/>
          </a:bodyPr>
          <a:lstStyle/>
          <a:p>
            <a:r>
              <a:rPr lang="zh-CN" altLang="en-US" b="1" dirty="0"/>
              <a:t>功能：从键盘读入一个字符串</a:t>
            </a:r>
            <a:endParaRPr lang="en-US" altLang="zh-CN" b="1" dirty="0"/>
          </a:p>
          <a:p>
            <a:r>
              <a:rPr lang="zh-CN" altLang="en-US" b="1" dirty="0"/>
              <a:t>输入的数据类型作为字符串</a:t>
            </a:r>
            <a:endParaRPr lang="en-US" altLang="zh-CN" b="1" dirty="0"/>
          </a:p>
          <a:p>
            <a:r>
              <a:rPr lang="zh-CN" altLang="en-US" b="1" dirty="0"/>
              <a:t>那么，想得到其他类型数据呢？要强制类型转换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8F73B3-185A-444C-A28E-2358BAB11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2A48-6D8B-40B6-ACF7-D12B16F0E773}" type="slidenum">
              <a:rPr lang="en-US" altLang="zh-CN" smtClean="0"/>
              <a:pPr/>
              <a:t>98</a:t>
            </a:fld>
            <a:endParaRPr lang="zh-CN" altLang="en-US" sz="2800" b="1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994632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4549A-0ACE-46E0-93C0-5FC785EA0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152470"/>
            <a:ext cx="11642650" cy="549274"/>
          </a:xfrm>
        </p:spPr>
        <p:txBody>
          <a:bodyPr>
            <a:normAutofit fontScale="90000"/>
          </a:bodyPr>
          <a:lstStyle/>
          <a:p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Input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CEDC27-2C64-4AA9-B680-9D029EA71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415" y="797440"/>
            <a:ext cx="11965172" cy="59080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/>
              <a:t>&gt;&gt;&gt; a1=input()          # </a:t>
            </a:r>
            <a:r>
              <a:rPr lang="zh-CN" altLang="en-US" sz="2400" b="1" dirty="0"/>
              <a:t>回车后不会出现</a:t>
            </a:r>
            <a:r>
              <a:rPr lang="en-US" altLang="zh-CN" sz="2400" b="1" dirty="0"/>
              <a:t>&gt;&gt;&gt;</a:t>
            </a:r>
            <a:r>
              <a:rPr lang="zh-CN" altLang="en-US" sz="2400" b="1" dirty="0"/>
              <a:t>，而是光标闪烁，等待用户输入</a:t>
            </a:r>
            <a:endParaRPr lang="en-US" altLang="zh-CN" sz="2400" b="1" dirty="0"/>
          </a:p>
          <a:p>
            <a:pPr marL="0" indent="0">
              <a:buNone/>
            </a:pPr>
            <a:r>
              <a:rPr lang="en-US" altLang="zh-CN" sz="2400" b="1" dirty="0"/>
              <a:t>12345												</a:t>
            </a:r>
          </a:p>
          <a:p>
            <a:pPr marL="0" indent="0">
              <a:buNone/>
            </a:pPr>
            <a:r>
              <a:rPr lang="en-US" altLang="zh-CN" sz="2400" b="1" dirty="0"/>
              <a:t>&gt;&gt;&gt; a1</a:t>
            </a:r>
          </a:p>
          <a:p>
            <a:pPr marL="0" indent="0">
              <a:buNone/>
            </a:pPr>
            <a:r>
              <a:rPr lang="en-US" altLang="zh-CN" sz="2400" b="1" dirty="0"/>
              <a:t>‘12345’           # a1</a:t>
            </a:r>
            <a:r>
              <a:rPr lang="zh-CN" altLang="en-US" sz="2400" b="1" dirty="0"/>
              <a:t>为字符出，用单引号引起来</a:t>
            </a:r>
            <a:endParaRPr lang="en-US" altLang="zh-CN" sz="2400" b="1" dirty="0"/>
          </a:p>
          <a:p>
            <a:pPr marL="0" indent="0">
              <a:buNone/>
            </a:pPr>
            <a:r>
              <a:rPr lang="en-US" altLang="zh-CN" sz="2400" b="1" dirty="0"/>
              <a:t>&gt;&gt;&gt; type(a1)</a:t>
            </a:r>
          </a:p>
          <a:p>
            <a:pPr marL="0" indent="0">
              <a:buNone/>
            </a:pPr>
            <a:r>
              <a:rPr lang="en-US" altLang="zh-CN" sz="2400" b="1" dirty="0"/>
              <a:t>&lt;class 'str’&gt;</a:t>
            </a:r>
          </a:p>
          <a:p>
            <a:pPr marL="0" indent="0">
              <a:buNone/>
            </a:pPr>
            <a:r>
              <a:rPr lang="en-US" altLang="zh-CN" sz="2400" b="1" dirty="0"/>
              <a:t>&gt;&gt;&gt; b1=int(input())     # </a:t>
            </a:r>
            <a:r>
              <a:rPr lang="zh-CN" altLang="en-US" sz="2400" b="1" dirty="0"/>
              <a:t>将输入转换为</a:t>
            </a:r>
            <a:r>
              <a:rPr lang="en-US" altLang="zh-CN" sz="2400" b="1" dirty="0"/>
              <a:t>int</a:t>
            </a:r>
            <a:r>
              <a:rPr lang="zh-CN" altLang="en-US" sz="2400" b="1" dirty="0"/>
              <a:t>类型</a:t>
            </a:r>
            <a:endParaRPr lang="en-US" altLang="zh-CN" sz="2400" b="1" dirty="0"/>
          </a:p>
          <a:p>
            <a:pPr marL="0" indent="0">
              <a:buNone/>
            </a:pPr>
            <a:r>
              <a:rPr lang="en-US" altLang="zh-CN" sz="2400" b="1" dirty="0"/>
              <a:t>12345</a:t>
            </a:r>
          </a:p>
          <a:p>
            <a:pPr marL="0" indent="0">
              <a:buNone/>
            </a:pPr>
            <a:r>
              <a:rPr lang="en-US" altLang="zh-CN" sz="2400" b="1" dirty="0"/>
              <a:t>&gt;&gt;&gt; b1</a:t>
            </a:r>
          </a:p>
          <a:p>
            <a:pPr marL="0" indent="0">
              <a:buNone/>
            </a:pPr>
            <a:r>
              <a:rPr lang="en-US" altLang="zh-CN" sz="2400" b="1" dirty="0"/>
              <a:t>12345</a:t>
            </a:r>
          </a:p>
          <a:p>
            <a:pPr marL="0" indent="0">
              <a:buNone/>
            </a:pPr>
            <a:r>
              <a:rPr lang="en-US" altLang="zh-CN" sz="2400" b="1" dirty="0"/>
              <a:t>&gt;&gt;&gt; type(b1)</a:t>
            </a:r>
          </a:p>
          <a:p>
            <a:pPr marL="0" indent="0">
              <a:buNone/>
            </a:pPr>
            <a:r>
              <a:rPr lang="en-US" altLang="zh-CN" sz="2400" b="1" dirty="0"/>
              <a:t>&lt;class 'int'&gt;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22812D-47D4-490D-B1AA-30F2DCEC4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2A48-6D8B-40B6-ACF7-D12B16F0E773}" type="slidenum">
              <a:rPr lang="en-US" altLang="zh-CN" smtClean="0"/>
              <a:pPr/>
              <a:t>99</a:t>
            </a:fld>
            <a:endParaRPr lang="zh-CN" altLang="en-US" sz="2800" b="1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362771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4549A-0ACE-46E0-93C0-5FC785EA0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152470"/>
            <a:ext cx="11642650" cy="549274"/>
          </a:xfrm>
        </p:spPr>
        <p:txBody>
          <a:bodyPr>
            <a:normAutofit fontScale="90000"/>
          </a:bodyPr>
          <a:lstStyle/>
          <a:p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Split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函数实现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行输入多个变量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CEDC27-2C64-4AA9-B680-9D029EA71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415" y="797440"/>
            <a:ext cx="11965172" cy="590808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zh-CN" altLang="en-US" sz="2600" b="1" dirty="0"/>
              <a:t>功能：拆分字符串。通过指定分隔符对字符串进行切片</a:t>
            </a:r>
            <a:endParaRPr lang="en-US" altLang="zh-CN" sz="2600" b="1" dirty="0"/>
          </a:p>
          <a:p>
            <a:pPr marL="0" indent="0">
              <a:buNone/>
            </a:pPr>
            <a:r>
              <a:rPr lang="en-US" altLang="zh-CN" sz="2400" b="1" dirty="0"/>
              <a:t>Split</a:t>
            </a:r>
            <a:r>
              <a:rPr lang="zh-CN" altLang="en-US" sz="2400" b="1" dirty="0"/>
              <a:t>函数缺省表示默认用空格拆分</a:t>
            </a:r>
            <a:endParaRPr lang="en-US" altLang="zh-CN" sz="2400" b="1" dirty="0"/>
          </a:p>
          <a:p>
            <a:pPr marL="0" indent="0">
              <a:buNone/>
            </a:pPr>
            <a:r>
              <a:rPr lang="en-US" altLang="zh-CN" sz="2400" b="1" dirty="0"/>
              <a:t>&gt;&gt;&gt; </a:t>
            </a:r>
            <a:r>
              <a:rPr lang="en-US" altLang="zh-CN" sz="2400" b="1" dirty="0" err="1"/>
              <a:t>a,b</a:t>
            </a:r>
            <a:r>
              <a:rPr lang="en-US" altLang="zh-CN" sz="2400" b="1" dirty="0"/>
              <a:t>=input().split()      # </a:t>
            </a:r>
            <a:r>
              <a:rPr lang="zh-CN" altLang="en-US" sz="2400" b="1" dirty="0"/>
              <a:t>注意</a:t>
            </a:r>
            <a:r>
              <a:rPr lang="en-US" altLang="zh-CN" sz="2400" b="1" dirty="0"/>
              <a:t>input()</a:t>
            </a:r>
            <a:r>
              <a:rPr lang="zh-CN" altLang="en-US" sz="2400" b="1" dirty="0"/>
              <a:t>后面是点</a:t>
            </a:r>
            <a:endParaRPr lang="en-US" altLang="zh-CN" sz="2400" b="1" dirty="0"/>
          </a:p>
          <a:p>
            <a:pPr marL="0" indent="0">
              <a:buNone/>
            </a:pPr>
            <a:r>
              <a:rPr lang="en-US" altLang="zh-CN" sz="2400" b="1" dirty="0"/>
              <a:t>12 34</a:t>
            </a:r>
          </a:p>
          <a:p>
            <a:pPr marL="0" indent="0">
              <a:buNone/>
            </a:pPr>
            <a:r>
              <a:rPr lang="en-US" altLang="zh-CN" sz="2400" b="1" dirty="0"/>
              <a:t>&gt;&gt;&gt; a</a:t>
            </a:r>
          </a:p>
          <a:p>
            <a:pPr marL="0" indent="0">
              <a:buNone/>
            </a:pPr>
            <a:r>
              <a:rPr lang="en-US" altLang="zh-CN" sz="2400" b="1" dirty="0"/>
              <a:t>'12'</a:t>
            </a:r>
          </a:p>
          <a:p>
            <a:pPr marL="0" indent="0">
              <a:buNone/>
            </a:pPr>
            <a:r>
              <a:rPr lang="en-US" altLang="zh-CN" sz="2400" b="1" dirty="0"/>
              <a:t>&gt;&gt;&gt; b</a:t>
            </a:r>
          </a:p>
          <a:p>
            <a:pPr marL="0" indent="0">
              <a:buNone/>
            </a:pPr>
            <a:r>
              <a:rPr lang="en-US" altLang="zh-CN" sz="2400" b="1" dirty="0"/>
              <a:t>‘34’          # </a:t>
            </a:r>
            <a:r>
              <a:rPr lang="zh-CN" altLang="en-US" sz="2400" b="1" dirty="0"/>
              <a:t>注意：此时变量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b</a:t>
            </a:r>
            <a:r>
              <a:rPr lang="zh-CN" altLang="en-US" sz="2400" b="1" dirty="0"/>
              <a:t>是字符串</a:t>
            </a:r>
            <a:endParaRPr lang="en-US" altLang="zh-CN" sz="2400" b="1" dirty="0"/>
          </a:p>
          <a:p>
            <a:pPr marL="0" indent="0">
              <a:buNone/>
            </a:pPr>
            <a:r>
              <a:rPr lang="en-US" altLang="zh-CN" sz="2400" b="1" dirty="0"/>
              <a:t>&gt;&gt;&gt; type(a)</a:t>
            </a:r>
          </a:p>
          <a:p>
            <a:pPr marL="0" indent="0">
              <a:buNone/>
            </a:pPr>
            <a:r>
              <a:rPr lang="en-US" altLang="zh-CN" sz="2400" b="1" dirty="0"/>
              <a:t>&lt;class 'str'&gt;</a:t>
            </a:r>
          </a:p>
          <a:p>
            <a:pPr marL="0" indent="0">
              <a:buNone/>
            </a:pPr>
            <a:r>
              <a:rPr lang="en-US" altLang="zh-CN" sz="2400" b="1" dirty="0"/>
              <a:t>&gt;&gt;&gt; a=int(a)</a:t>
            </a:r>
          </a:p>
          <a:p>
            <a:pPr marL="0" indent="0">
              <a:buNone/>
            </a:pPr>
            <a:r>
              <a:rPr lang="en-US" altLang="zh-CN" sz="2400" b="1" dirty="0"/>
              <a:t>&gt;&gt;&gt; a</a:t>
            </a:r>
          </a:p>
          <a:p>
            <a:pPr marL="0" indent="0">
              <a:buNone/>
            </a:pPr>
            <a:r>
              <a:rPr lang="en-US" altLang="zh-CN" sz="2400" b="1" dirty="0"/>
              <a:t>12</a:t>
            </a:r>
          </a:p>
          <a:p>
            <a:pPr marL="0" indent="0">
              <a:buNone/>
            </a:pPr>
            <a:r>
              <a:rPr lang="en-US" altLang="zh-CN" sz="2400" b="1" dirty="0"/>
              <a:t>&gt;&gt;&gt; type(a)</a:t>
            </a:r>
          </a:p>
          <a:p>
            <a:pPr marL="0" indent="0">
              <a:buNone/>
            </a:pPr>
            <a:r>
              <a:rPr lang="en-US" altLang="zh-CN" sz="2400" b="1" dirty="0"/>
              <a:t>&lt;class 'int'&gt;</a:t>
            </a:r>
          </a:p>
          <a:p>
            <a:pPr marL="0" indent="0">
              <a:buNone/>
            </a:pPr>
            <a:endParaRPr lang="en-US" altLang="zh-CN" sz="2400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05406A-38FA-46EA-B3C3-CCC878083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2A48-6D8B-40B6-ACF7-D12B16F0E773}" type="slidenum">
              <a:rPr lang="en-US" altLang="zh-CN" smtClean="0"/>
              <a:pPr/>
              <a:t>100</a:t>
            </a:fld>
            <a:endParaRPr lang="zh-CN" altLang="en-US" sz="2800" b="1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989103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4549A-0ACE-46E0-93C0-5FC785EA0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152470"/>
            <a:ext cx="11642650" cy="549274"/>
          </a:xfrm>
        </p:spPr>
        <p:txBody>
          <a:bodyPr>
            <a:normAutofit fontScale="90000"/>
          </a:bodyPr>
          <a:lstStyle/>
          <a:p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加入输入提示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CEDC27-2C64-4AA9-B680-9D029EA71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415" y="797440"/>
            <a:ext cx="11965172" cy="590808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sz="2400" b="1" dirty="0"/>
          </a:p>
          <a:p>
            <a:pPr marL="0" indent="0">
              <a:buNone/>
            </a:pPr>
            <a:r>
              <a:rPr lang="en-US" altLang="zh-CN" sz="2400" b="1" dirty="0"/>
              <a:t>&gt;&gt;&gt; a1=int(input("</a:t>
            </a:r>
            <a:r>
              <a:rPr lang="zh-CN" altLang="en-US" sz="2400" b="1" dirty="0"/>
              <a:t>请输入一个整型值：</a:t>
            </a:r>
            <a:r>
              <a:rPr lang="en-US" altLang="zh-CN" sz="2400" b="1" dirty="0"/>
              <a:t>"))</a:t>
            </a:r>
          </a:p>
          <a:p>
            <a:pPr marL="0" indent="0">
              <a:buNone/>
            </a:pPr>
            <a:r>
              <a:rPr lang="zh-CN" altLang="en-US" sz="2400" b="1" dirty="0"/>
              <a:t>请输入一个整型值：</a:t>
            </a:r>
            <a:r>
              <a:rPr lang="en-US" altLang="zh-CN" sz="2400" b="1" dirty="0"/>
              <a:t>123</a:t>
            </a:r>
          </a:p>
          <a:p>
            <a:pPr marL="0" indent="0">
              <a:buNone/>
            </a:pPr>
            <a:r>
              <a:rPr lang="en-US" altLang="zh-CN" sz="2400" b="1" dirty="0"/>
              <a:t>&gt;&gt;&gt; a1</a:t>
            </a:r>
          </a:p>
          <a:p>
            <a:pPr marL="0" indent="0">
              <a:buNone/>
            </a:pPr>
            <a:r>
              <a:rPr lang="en-US" altLang="zh-CN" sz="2400" b="1" dirty="0"/>
              <a:t>123</a:t>
            </a:r>
          </a:p>
          <a:p>
            <a:pPr marL="0" indent="0">
              <a:buNone/>
            </a:pPr>
            <a:endParaRPr lang="en-US" altLang="zh-CN" sz="2400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922707-162F-486B-9A6E-E7ABFF18B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2A48-6D8B-40B6-ACF7-D12B16F0E773}" type="slidenum">
              <a:rPr lang="en-US" altLang="zh-CN" smtClean="0"/>
              <a:pPr/>
              <a:t>101</a:t>
            </a:fld>
            <a:endParaRPr lang="zh-CN" altLang="en-US" sz="2800" b="1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598981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4549A-0ACE-46E0-93C0-5FC785EA0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152470"/>
            <a:ext cx="11642650" cy="549274"/>
          </a:xfrm>
        </p:spPr>
        <p:txBody>
          <a:bodyPr>
            <a:normAutofit fontScale="90000"/>
          </a:bodyPr>
          <a:lstStyle/>
          <a:p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输出 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print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CEDC27-2C64-4AA9-B680-9D029EA71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415" y="797440"/>
            <a:ext cx="11965172" cy="59080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/>
              <a:t>&gt;&gt;&gt; print(‘hello’) 	   #</a:t>
            </a:r>
            <a:r>
              <a:rPr lang="zh-CN" altLang="en-US" sz="2400" b="1" dirty="0"/>
              <a:t>输出一个常量</a:t>
            </a:r>
            <a:endParaRPr lang="en-US" altLang="zh-CN" sz="2400" b="1" dirty="0"/>
          </a:p>
          <a:p>
            <a:pPr marL="0" indent="0">
              <a:buNone/>
            </a:pPr>
            <a:r>
              <a:rPr lang="en-US" altLang="zh-CN" sz="2400" b="1" dirty="0"/>
              <a:t>hello</a:t>
            </a:r>
          </a:p>
          <a:p>
            <a:pPr marL="0" indent="0">
              <a:buNone/>
            </a:pPr>
            <a:r>
              <a:rPr lang="en-US" altLang="zh-CN" sz="2400" b="1" dirty="0"/>
              <a:t>&gt;&gt;&gt; a=1</a:t>
            </a:r>
          </a:p>
          <a:p>
            <a:pPr marL="0" indent="0">
              <a:buNone/>
            </a:pPr>
            <a:r>
              <a:rPr lang="en-US" altLang="zh-CN" sz="2400" b="1" dirty="0"/>
              <a:t>&gt;&gt;&gt; b=2</a:t>
            </a:r>
          </a:p>
          <a:p>
            <a:pPr marL="0" indent="0">
              <a:buNone/>
            </a:pPr>
            <a:r>
              <a:rPr lang="en-US" altLang="zh-CN" sz="2400" b="1" dirty="0"/>
              <a:t>&gt;&gt;&gt; print(a)	#</a:t>
            </a:r>
            <a:r>
              <a:rPr lang="zh-CN" altLang="en-US" sz="2400" b="1" dirty="0"/>
              <a:t>输出一个变量</a:t>
            </a:r>
            <a:endParaRPr lang="en-US" altLang="zh-CN" sz="2400" b="1" dirty="0"/>
          </a:p>
          <a:p>
            <a:pPr marL="0" indent="0">
              <a:buNone/>
            </a:pPr>
            <a:r>
              <a:rPr lang="en-US" altLang="zh-CN" sz="2400" b="1" dirty="0"/>
              <a:t>1</a:t>
            </a:r>
          </a:p>
          <a:p>
            <a:pPr marL="0" indent="0">
              <a:buNone/>
            </a:pPr>
            <a:r>
              <a:rPr lang="en-US" altLang="zh-CN" sz="2400" b="1" dirty="0"/>
              <a:t>&gt;&gt;&gt; print(</a:t>
            </a:r>
            <a:r>
              <a:rPr lang="en-US" altLang="zh-CN" sz="2400" b="1" dirty="0" err="1"/>
              <a:t>a,b</a:t>
            </a:r>
            <a:r>
              <a:rPr lang="en-US" altLang="zh-CN" sz="2400" b="1" dirty="0"/>
              <a:t>)		#</a:t>
            </a:r>
            <a:r>
              <a:rPr lang="zh-CN" altLang="en-US" sz="2400" b="1" dirty="0"/>
              <a:t>输出多个变量</a:t>
            </a:r>
            <a:endParaRPr lang="en-US" altLang="zh-CN" sz="2400" b="1" dirty="0"/>
          </a:p>
          <a:p>
            <a:pPr marL="0" indent="0">
              <a:buNone/>
            </a:pPr>
            <a:r>
              <a:rPr lang="en-US" altLang="zh-CN" sz="2400" b="1" dirty="0"/>
              <a:t>1 2</a:t>
            </a:r>
          </a:p>
          <a:p>
            <a:pPr marL="0" indent="0">
              <a:buNone/>
            </a:pPr>
            <a:endParaRPr lang="en-US" altLang="zh-CN" sz="2400" b="1" dirty="0"/>
          </a:p>
          <a:p>
            <a:pPr marL="0" indent="0">
              <a:buNone/>
            </a:pPr>
            <a:r>
              <a:rPr lang="zh-CN" altLang="en-US" sz="2400" dirty="0"/>
              <a:t>说明：</a:t>
            </a:r>
            <a:r>
              <a:rPr lang="en-US" altLang="zh-CN" sz="2400" dirty="0"/>
              <a:t>print</a:t>
            </a:r>
            <a:r>
              <a:rPr lang="zh-CN" altLang="en-US" sz="2400" b="1" dirty="0"/>
              <a:t>默认会输出一个换行符</a:t>
            </a:r>
            <a:endParaRPr lang="en-US" altLang="zh-CN" sz="2400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B29AE2-A07D-4D43-83C5-599FA3943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2A48-6D8B-40B6-ACF7-D12B16F0E773}" type="slidenum">
              <a:rPr lang="en-US" altLang="zh-CN" smtClean="0"/>
              <a:pPr/>
              <a:t>102</a:t>
            </a:fld>
            <a:endParaRPr lang="zh-CN" altLang="en-US" sz="2800" b="1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965998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4549A-0ACE-46E0-93C0-5FC785EA0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152470"/>
            <a:ext cx="11642650" cy="549274"/>
          </a:xfrm>
        </p:spPr>
        <p:txBody>
          <a:bodyPr>
            <a:normAutofit fontScale="90000"/>
          </a:bodyPr>
          <a:lstStyle/>
          <a:p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print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CEDC27-2C64-4AA9-B680-9D029EA71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415" y="797440"/>
            <a:ext cx="11965172" cy="590808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sz="2400" b="1" dirty="0"/>
          </a:p>
          <a:p>
            <a:pPr marL="0" indent="0">
              <a:buNone/>
            </a:pPr>
            <a:r>
              <a:rPr lang="en-US" altLang="zh-CN" sz="2400" b="1" dirty="0"/>
              <a:t>&gt;&gt;&gt; for 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 in range(5):	# </a:t>
            </a:r>
            <a:r>
              <a:rPr lang="en-US" altLang="zh-CN" sz="2400" b="1" dirty="0" err="1"/>
              <a:t>i</a:t>
            </a:r>
            <a:r>
              <a:rPr lang="zh-CN" altLang="en-US" sz="2400" b="1" dirty="0"/>
              <a:t>从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变到</a:t>
            </a:r>
            <a:r>
              <a:rPr lang="en-US" altLang="zh-CN" sz="2400" b="1" dirty="0"/>
              <a:t>4</a:t>
            </a:r>
          </a:p>
          <a:p>
            <a:pPr marL="0" indent="0">
              <a:buNone/>
            </a:pPr>
            <a:r>
              <a:rPr lang="en-US" altLang="zh-CN" sz="2400" b="1" dirty="0"/>
              <a:t>	print(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)</a:t>
            </a:r>
          </a:p>
          <a:p>
            <a:pPr marL="0" indent="0">
              <a:buNone/>
            </a:pPr>
            <a:r>
              <a:rPr lang="en-US" altLang="zh-CN" sz="2400" b="1" dirty="0"/>
              <a:t>	</a:t>
            </a:r>
          </a:p>
          <a:p>
            <a:pPr marL="0" indent="0">
              <a:buNone/>
            </a:pPr>
            <a:r>
              <a:rPr lang="en-US" altLang="zh-CN" sz="2400" b="1" dirty="0"/>
              <a:t>0</a:t>
            </a:r>
          </a:p>
          <a:p>
            <a:pPr marL="0" indent="0">
              <a:buNone/>
            </a:pPr>
            <a:r>
              <a:rPr lang="en-US" altLang="zh-CN" sz="2400" b="1" dirty="0"/>
              <a:t>1</a:t>
            </a:r>
          </a:p>
          <a:p>
            <a:pPr marL="0" indent="0">
              <a:buNone/>
            </a:pPr>
            <a:r>
              <a:rPr lang="en-US" altLang="zh-CN" sz="2400" b="1" dirty="0"/>
              <a:t>2</a:t>
            </a:r>
          </a:p>
          <a:p>
            <a:pPr marL="0" indent="0">
              <a:buNone/>
            </a:pPr>
            <a:r>
              <a:rPr lang="en-US" altLang="zh-CN" sz="2400" b="1" dirty="0"/>
              <a:t>3</a:t>
            </a:r>
          </a:p>
          <a:p>
            <a:pPr marL="0" indent="0">
              <a:buNone/>
            </a:pPr>
            <a:r>
              <a:rPr lang="en-US" altLang="zh-CN" sz="2400" b="1" dirty="0"/>
              <a:t>4</a:t>
            </a:r>
          </a:p>
          <a:p>
            <a:pPr marL="0" indent="0">
              <a:buNone/>
            </a:pPr>
            <a:r>
              <a:rPr lang="en-US" altLang="zh-CN" sz="2400" b="1" dirty="0"/>
              <a:t>#    </a:t>
            </a:r>
            <a:r>
              <a:rPr lang="zh-CN" altLang="en-US" sz="2400" b="1" dirty="0"/>
              <a:t>注意：此时每次</a:t>
            </a:r>
            <a:r>
              <a:rPr lang="en-US" altLang="zh-CN" sz="2400" b="1" dirty="0"/>
              <a:t>print</a:t>
            </a:r>
            <a:r>
              <a:rPr lang="zh-CN" altLang="en-US" sz="2400" b="1" dirty="0"/>
              <a:t>后都加入一个换行</a:t>
            </a:r>
            <a:endParaRPr lang="en-US" altLang="zh-CN" sz="2400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ED516E-1B4C-4B58-BC16-C72F9D46B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2A48-6D8B-40B6-ACF7-D12B16F0E773}" type="slidenum">
              <a:rPr lang="en-US" altLang="zh-CN" smtClean="0"/>
              <a:pPr/>
              <a:t>103</a:t>
            </a:fld>
            <a:endParaRPr lang="zh-CN" altLang="en-US" sz="2800" b="1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940415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4549A-0ACE-46E0-93C0-5FC785EA0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152470"/>
            <a:ext cx="11642650" cy="549274"/>
          </a:xfrm>
        </p:spPr>
        <p:txBody>
          <a:bodyPr>
            <a:normAutofit fontScale="90000"/>
          </a:bodyPr>
          <a:lstStyle/>
          <a:p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CEDC27-2C64-4AA9-B680-9D029EA71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415" y="797440"/>
            <a:ext cx="11965172" cy="59080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b="1" dirty="0"/>
              <a:t>去掉</a:t>
            </a:r>
            <a:r>
              <a:rPr lang="en-US" altLang="zh-CN" sz="2400" b="1" dirty="0"/>
              <a:t>Print</a:t>
            </a:r>
            <a:r>
              <a:rPr lang="zh-CN" altLang="en-US" sz="2400" b="1" dirty="0"/>
              <a:t>的换行</a:t>
            </a:r>
            <a:r>
              <a:rPr lang="en-US" altLang="zh-CN" sz="2400" b="1" dirty="0"/>
              <a:t>: end</a:t>
            </a:r>
          </a:p>
          <a:p>
            <a:pPr marL="0" indent="0">
              <a:buNone/>
            </a:pPr>
            <a:r>
              <a:rPr lang="en-US" altLang="zh-CN" sz="2400" b="1" dirty="0"/>
              <a:t>&gt;&gt;&gt; for 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 in range(5):</a:t>
            </a:r>
          </a:p>
          <a:p>
            <a:pPr marL="0" indent="0">
              <a:buNone/>
            </a:pPr>
            <a:r>
              <a:rPr lang="en-US" altLang="zh-CN" sz="2400" b="1" dirty="0"/>
              <a:t>	print(</a:t>
            </a:r>
            <a:r>
              <a:rPr lang="en-US" altLang="zh-CN" sz="2400" b="1" dirty="0" err="1"/>
              <a:t>i,end</a:t>
            </a:r>
            <a:r>
              <a:rPr lang="en-US" altLang="zh-CN" sz="2400" b="1" dirty="0"/>
              <a:t>='')</a:t>
            </a:r>
          </a:p>
          <a:p>
            <a:pPr marL="0" indent="0">
              <a:buNone/>
            </a:pPr>
            <a:r>
              <a:rPr lang="en-US" altLang="zh-CN" sz="2400" b="1" dirty="0"/>
              <a:t>01234</a:t>
            </a:r>
          </a:p>
          <a:p>
            <a:pPr marL="0" indent="0">
              <a:buNone/>
            </a:pPr>
            <a:r>
              <a:rPr lang="en-US" altLang="zh-CN" sz="2400" b="1" dirty="0"/>
              <a:t># </a:t>
            </a:r>
            <a:r>
              <a:rPr lang="zh-CN" altLang="en-US" sz="2400" b="1" dirty="0"/>
              <a:t>下面在每个数字后面加上逗号</a:t>
            </a:r>
            <a:endParaRPr lang="en-US" altLang="zh-CN" sz="2400" b="1" dirty="0"/>
          </a:p>
          <a:p>
            <a:pPr marL="0" indent="0">
              <a:buNone/>
            </a:pPr>
            <a:r>
              <a:rPr lang="en-US" altLang="zh-CN" sz="2400" b="1" dirty="0"/>
              <a:t>&gt;&gt;&gt; for 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 in range(5):</a:t>
            </a:r>
          </a:p>
          <a:p>
            <a:pPr marL="0" indent="0">
              <a:buNone/>
            </a:pPr>
            <a:r>
              <a:rPr lang="en-US" altLang="zh-CN" sz="2400" b="1" dirty="0"/>
              <a:t>	print(</a:t>
            </a:r>
            <a:r>
              <a:rPr lang="en-US" altLang="zh-CN" sz="2400" b="1" dirty="0" err="1"/>
              <a:t>i,end</a:t>
            </a:r>
            <a:r>
              <a:rPr lang="en-US" altLang="zh-CN" sz="2400" b="1" dirty="0"/>
              <a:t>=',')</a:t>
            </a:r>
          </a:p>
          <a:p>
            <a:pPr marL="0" indent="0">
              <a:buNone/>
            </a:pPr>
            <a:r>
              <a:rPr lang="en-US" altLang="zh-CN" sz="2400" b="1" dirty="0"/>
              <a:t>	</a:t>
            </a:r>
          </a:p>
          <a:p>
            <a:pPr marL="0" indent="0">
              <a:buNone/>
            </a:pPr>
            <a:r>
              <a:rPr lang="en-US" altLang="zh-CN" sz="2400" b="1" dirty="0"/>
              <a:t>0,1,2,3,4,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0F4E43-F250-46F2-9DC5-58ED82803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2A48-6D8B-40B6-ACF7-D12B16F0E773}" type="slidenum">
              <a:rPr lang="en-US" altLang="zh-CN" smtClean="0"/>
              <a:pPr/>
              <a:t>104</a:t>
            </a:fld>
            <a:endParaRPr lang="zh-CN" altLang="en-US" sz="2800" b="1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6015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4549A-0ACE-46E0-93C0-5FC785EA0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152470"/>
            <a:ext cx="11642650" cy="549274"/>
          </a:xfrm>
        </p:spPr>
        <p:txBody>
          <a:bodyPr>
            <a:normAutofit fontScale="90000"/>
          </a:bodyPr>
          <a:lstStyle/>
          <a:p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ECEDC27-2C64-4AA9-B680-9D029EA712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3414" y="1084521"/>
                <a:ext cx="11965173" cy="562100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【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例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1】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计算三角形的面积。</a:t>
                </a:r>
                <a:endPara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indent="0">
                  <a:buNone/>
                </a:pPr>
                <a:endPara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算法： 输入三边长 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  <a:sym typeface="Wingdings" panose="05000000000000000000" pitchFamily="2" charset="2"/>
                  </a:rPr>
                  <a:t> 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  <a:sym typeface="Wingdings" panose="05000000000000000000" pitchFamily="2" charset="2"/>
                  </a:rPr>
                  <a:t>利用公式计算面积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  <a:sym typeface="Wingdings" panose="05000000000000000000" pitchFamily="2" charset="2"/>
                  </a:rPr>
                  <a:t>  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  <a:sym typeface="Wingdings" panose="05000000000000000000" pitchFamily="2" charset="2"/>
                  </a:rPr>
                  <a:t>输出结果</a:t>
                </a:r>
                <a:endPara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  <a:sym typeface="Wingdings" panose="05000000000000000000" pitchFamily="2" charset="2"/>
                  </a:rPr>
                  <a:t>公式：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  <a:sym typeface="Wingdings" panose="05000000000000000000" pitchFamily="2" charset="2"/>
                  </a:rPr>
                  <a:t>s=(</a:t>
                </a:r>
                <a:r>
                  <a:rPr lang="en-US" altLang="zh-CN" sz="2400" b="1" dirty="0" err="1">
                    <a:latin typeface="黑体" panose="02010609060101010101" pitchFamily="49" charset="-122"/>
                    <a:ea typeface="黑体" panose="02010609060101010101" pitchFamily="49" charset="-122"/>
                    <a:sym typeface="Wingdings" panose="05000000000000000000" pitchFamily="2" charset="2"/>
                  </a:rPr>
                  <a:t>a+b+c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  <a:sym typeface="Wingdings" panose="05000000000000000000" pitchFamily="2" charset="2"/>
                  </a:rPr>
                  <a:t>)/2</a:t>
                </a:r>
              </a:p>
              <a:p>
                <a:pPr marL="0" indent="0">
                  <a:buNone/>
                </a:pP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  <a:sym typeface="Wingdings" panose="05000000000000000000" pitchFamily="2" charset="2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latin typeface="Cambria Math" panose="02040503050406030204" pitchFamily="18" charset="0"/>
                        <a:ea typeface="黑体" panose="02010609060101010101" pitchFamily="49" charset="-122"/>
                        <a:sym typeface="Wingdings" panose="05000000000000000000" pitchFamily="2" charset="2"/>
                      </a:rPr>
                      <m:t>𝐚𝐫𝐞𝐚</m:t>
                    </m:r>
                    <m:r>
                      <a:rPr lang="en-US" altLang="zh-CN" sz="2400" b="1" i="0" smtClean="0">
                        <a:latin typeface="Cambria Math" panose="02040503050406030204" pitchFamily="18" charset="0"/>
                        <a:ea typeface="黑体" panose="02010609060101010101" pitchFamily="49" charset="-122"/>
                        <a:sym typeface="Wingdings" panose="05000000000000000000" pitchFamily="2" charset="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zh-CN" altLang="en-US" sz="24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Wingdings" panose="05000000000000000000" pitchFamily="2" charset="2"/>
                          </a:rPr>
                          <m:t>𝒔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Wingdings" panose="05000000000000000000" pitchFamily="2" charset="2"/>
                          </a:rPr>
                          <m:t>(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Wingdings" panose="05000000000000000000" pitchFamily="2" charset="2"/>
                          </a:rPr>
                          <m:t>𝒔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Wingdings" panose="05000000000000000000" pitchFamily="2" charset="2"/>
                          </a:rPr>
                          <m:t>−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Wingdings" panose="05000000000000000000" pitchFamily="2" charset="2"/>
                          </a:rPr>
                          <m:t>𝒂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Wingdings" panose="05000000000000000000" pitchFamily="2" charset="2"/>
                          </a:rPr>
                          <m:t>)(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Wingdings" panose="05000000000000000000" pitchFamily="2" charset="2"/>
                          </a:rPr>
                          <m:t>𝒔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Wingdings" panose="05000000000000000000" pitchFamily="2" charset="2"/>
                          </a:rPr>
                          <m:t>−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Wingdings" panose="05000000000000000000" pitchFamily="2" charset="2"/>
                          </a:rPr>
                          <m:t>𝒃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Wingdings" panose="05000000000000000000" pitchFamily="2" charset="2"/>
                          </a:rPr>
                          <m:t>)(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Wingdings" panose="05000000000000000000" pitchFamily="2" charset="2"/>
                          </a:rPr>
                          <m:t>𝒔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Wingdings" panose="05000000000000000000" pitchFamily="2" charset="2"/>
                          </a:rPr>
                          <m:t>−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Wingdings" panose="05000000000000000000" pitchFamily="2" charset="2"/>
                          </a:rPr>
                          <m:t>𝒄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Wingdings" panose="05000000000000000000" pitchFamily="2" charset="2"/>
                          </a:rPr>
                          <m:t>)</m:t>
                        </m:r>
                      </m:e>
                    </m:rad>
                  </m:oMath>
                </a14:m>
                <a:endPara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altLang="zh-CN" sz="2400" b="1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ECEDC27-2C64-4AA9-B680-9D029EA712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3414" y="1084521"/>
                <a:ext cx="11965173" cy="5621008"/>
              </a:xfrm>
              <a:blipFill>
                <a:blip r:embed="rId2"/>
                <a:stretch>
                  <a:fillRect l="-815" t="-15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B05E4C-0416-49A4-88DB-51BF6B8EE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2A48-6D8B-40B6-ACF7-D12B16F0E773}" type="slidenum">
              <a:rPr lang="zh-CN" altLang="en-US" smtClean="0"/>
              <a:t>105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85783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4549A-0ACE-46E0-93C0-5FC785EA0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152470"/>
            <a:ext cx="11642650" cy="549274"/>
          </a:xfrm>
        </p:spPr>
        <p:txBody>
          <a:bodyPr>
            <a:normAutofit fontScale="90000"/>
          </a:bodyPr>
          <a:lstStyle/>
          <a:p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CEDC27-2C64-4AA9-B680-9D029EA71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414" y="1084521"/>
            <a:ext cx="11965173" cy="56210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/>
              <a:t>import math    # </a:t>
            </a:r>
            <a:r>
              <a:rPr lang="zh-CN" altLang="en-US" sz="2400" b="1" dirty="0"/>
              <a:t>引入数学库</a:t>
            </a:r>
          </a:p>
          <a:p>
            <a:pPr marL="0" indent="0">
              <a:buNone/>
            </a:pPr>
            <a:r>
              <a:rPr lang="en-US" altLang="zh-CN" sz="2400" b="1" dirty="0"/>
              <a:t>print("</a:t>
            </a:r>
            <a:r>
              <a:rPr lang="zh-CN" altLang="en-US" sz="2400" b="1" dirty="0"/>
              <a:t>请输入三角形的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条边长，用回车分开</a:t>
            </a:r>
            <a:r>
              <a:rPr lang="en-US" altLang="zh-CN" sz="2400" b="1" dirty="0"/>
              <a:t>")</a:t>
            </a:r>
          </a:p>
          <a:p>
            <a:pPr marL="0" indent="0">
              <a:buNone/>
            </a:pPr>
            <a:r>
              <a:rPr lang="en-US" altLang="zh-CN" sz="2400" b="1" dirty="0"/>
              <a:t>a=int(input())</a:t>
            </a:r>
          </a:p>
          <a:p>
            <a:pPr marL="0" indent="0">
              <a:buNone/>
            </a:pPr>
            <a:r>
              <a:rPr lang="en-US" altLang="zh-CN" sz="2400" b="1" dirty="0"/>
              <a:t>b=int(input())</a:t>
            </a:r>
          </a:p>
          <a:p>
            <a:pPr marL="0" indent="0">
              <a:buNone/>
            </a:pPr>
            <a:r>
              <a:rPr lang="en-US" altLang="zh-CN" sz="2400" b="1" dirty="0"/>
              <a:t>c=int(input())</a:t>
            </a:r>
          </a:p>
          <a:p>
            <a:pPr marL="0" indent="0">
              <a:buNone/>
            </a:pPr>
            <a:r>
              <a:rPr lang="en-US" altLang="zh-CN" sz="2400" b="1" dirty="0"/>
              <a:t>s=(</a:t>
            </a:r>
            <a:r>
              <a:rPr lang="en-US" altLang="zh-CN" sz="2400" b="1" dirty="0" err="1"/>
              <a:t>a+b+c</a:t>
            </a:r>
            <a:r>
              <a:rPr lang="en-US" altLang="zh-CN" sz="2400" b="1" dirty="0"/>
              <a:t>)/2</a:t>
            </a:r>
          </a:p>
          <a:p>
            <a:pPr marL="0" indent="0">
              <a:buNone/>
            </a:pPr>
            <a:r>
              <a:rPr lang="en-US" altLang="zh-CN" sz="2400" b="1" dirty="0"/>
              <a:t>area=</a:t>
            </a:r>
            <a:r>
              <a:rPr lang="en-US" altLang="zh-CN" sz="2400" b="1" dirty="0" err="1"/>
              <a:t>math.sqrt</a:t>
            </a:r>
            <a:r>
              <a:rPr lang="en-US" altLang="zh-CN" sz="2400" b="1" dirty="0"/>
              <a:t>(s*(s-a)*(s-b)*(s-c))</a:t>
            </a:r>
          </a:p>
          <a:p>
            <a:pPr marL="0" indent="0">
              <a:buNone/>
            </a:pPr>
            <a:r>
              <a:rPr lang="en-US" altLang="zh-CN" sz="2400" b="1" dirty="0"/>
              <a:t># sqrt</a:t>
            </a:r>
            <a:r>
              <a:rPr lang="zh-CN" altLang="en-US" sz="2400" b="1" dirty="0"/>
              <a:t>是开根号函数，*是乘号</a:t>
            </a:r>
          </a:p>
          <a:p>
            <a:pPr marL="0" indent="0">
              <a:buNone/>
            </a:pPr>
            <a:r>
              <a:rPr lang="en-US" altLang="zh-CN" sz="2400" b="1" dirty="0"/>
              <a:t>print("</a:t>
            </a:r>
            <a:r>
              <a:rPr lang="zh-CN" altLang="en-US" sz="2400" b="1" dirty="0"/>
              <a:t>三角形的三边长为 </a:t>
            </a:r>
            <a:r>
              <a:rPr lang="en-US" altLang="zh-CN" sz="2400" b="1" dirty="0"/>
              <a:t>",</a:t>
            </a:r>
            <a:r>
              <a:rPr lang="en-US" altLang="zh-CN" sz="2400" b="1" dirty="0" err="1"/>
              <a:t>a,b,c</a:t>
            </a:r>
            <a:r>
              <a:rPr lang="en-US" altLang="zh-CN" sz="2400" b="1" dirty="0"/>
              <a:t>)</a:t>
            </a:r>
          </a:p>
          <a:p>
            <a:pPr marL="0" indent="0">
              <a:buNone/>
            </a:pPr>
            <a:r>
              <a:rPr lang="en-US" altLang="zh-CN" sz="2400" b="1" dirty="0"/>
              <a:t>print("</a:t>
            </a:r>
            <a:r>
              <a:rPr lang="zh-CN" altLang="en-US" sz="2400" b="1" dirty="0"/>
              <a:t>面积为 </a:t>
            </a:r>
            <a:r>
              <a:rPr lang="en-US" altLang="zh-CN" sz="2400" b="1" dirty="0"/>
              <a:t>",area)</a:t>
            </a:r>
          </a:p>
          <a:p>
            <a:pPr marL="0" indent="0">
              <a:buNone/>
            </a:pPr>
            <a:endParaRPr lang="en-US" altLang="zh-CN" sz="2400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CAB9C4-6F9E-4ECC-9C6A-368B75AA3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2A48-6D8B-40B6-ACF7-D12B16F0E773}" type="slidenum">
              <a:rPr lang="en-US" altLang="zh-CN" smtClean="0"/>
              <a:pPr/>
              <a:t>106</a:t>
            </a:fld>
            <a:endParaRPr lang="zh-CN" altLang="en-US" sz="2800" b="1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299143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4549A-0ACE-46E0-93C0-5FC785EA0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152470"/>
            <a:ext cx="11642650" cy="549274"/>
          </a:xfrm>
        </p:spPr>
        <p:txBody>
          <a:bodyPr>
            <a:normAutofit fontScale="90000"/>
          </a:bodyPr>
          <a:lstStyle/>
          <a:p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运行结果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A849A9D-14A2-4069-A76B-D8E40A1021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376" y="1125614"/>
            <a:ext cx="5501038" cy="3052981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3B1012-9DB7-413C-959E-FBACC76AF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2A48-6D8B-40B6-ACF7-D12B16F0E773}" type="slidenum">
              <a:rPr lang="en-US" altLang="zh-CN" smtClean="0"/>
              <a:pPr/>
              <a:t>107</a:t>
            </a:fld>
            <a:endParaRPr lang="zh-CN" altLang="en-US" sz="2800" b="1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168693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4549A-0ACE-46E0-93C0-5FC785EA0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4" y="152470"/>
            <a:ext cx="11642650" cy="549274"/>
          </a:xfrm>
        </p:spPr>
        <p:txBody>
          <a:bodyPr>
            <a:normAutofit fontScale="90000"/>
          </a:bodyPr>
          <a:lstStyle/>
          <a:p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关于注释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CEDC27-2C64-4AA9-B680-9D029EA71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415" y="797440"/>
            <a:ext cx="11965172" cy="59080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b="1" dirty="0"/>
              <a:t>单行注释  </a:t>
            </a:r>
            <a:r>
              <a:rPr lang="en-US" altLang="zh-CN" sz="2400" b="1" dirty="0"/>
              <a:t>#</a:t>
            </a:r>
          </a:p>
          <a:p>
            <a:pPr marL="0" indent="0">
              <a:buNone/>
            </a:pPr>
            <a:r>
              <a:rPr lang="zh-CN" altLang="en-US" sz="2400" b="1" dirty="0"/>
              <a:t>多行注释  </a:t>
            </a:r>
            <a:r>
              <a:rPr lang="en-US" altLang="zh-CN" sz="2400" b="1" dirty="0"/>
              <a:t>‘’’</a:t>
            </a:r>
            <a:r>
              <a:rPr lang="zh-CN" altLang="en-US" sz="2400" b="1" dirty="0"/>
              <a:t>或者</a:t>
            </a:r>
            <a:r>
              <a:rPr lang="en-US" altLang="zh-CN" sz="2400" b="1" dirty="0"/>
              <a:t>”””(3</a:t>
            </a:r>
            <a:r>
              <a:rPr lang="zh-CN" altLang="en-US" sz="2400" b="1" dirty="0"/>
              <a:t>个单引号或双引号）</a:t>
            </a:r>
            <a:endParaRPr lang="en-US" altLang="zh-CN" sz="2400" b="1" dirty="0"/>
          </a:p>
          <a:p>
            <a:pPr marL="0" indent="0">
              <a:buNone/>
            </a:pPr>
            <a:endParaRPr lang="en-US" altLang="zh-CN" sz="2400" b="1" dirty="0"/>
          </a:p>
          <a:p>
            <a:pPr marL="0" indent="0">
              <a:buNone/>
            </a:pPr>
            <a:r>
              <a:rPr lang="en-US" altLang="zh-CN" sz="2400" b="1" dirty="0"/>
              <a:t>a1=2    # </a:t>
            </a:r>
            <a:r>
              <a:rPr lang="zh-CN" altLang="en-US" sz="2400" b="1" dirty="0"/>
              <a:t>为变量</a:t>
            </a:r>
            <a:r>
              <a:rPr lang="en-US" altLang="zh-CN" sz="2400" b="1" dirty="0"/>
              <a:t>a1</a:t>
            </a:r>
            <a:r>
              <a:rPr lang="zh-CN" altLang="en-US" sz="2400" b="1" dirty="0"/>
              <a:t>赋值</a:t>
            </a:r>
            <a:endParaRPr lang="en-US" altLang="zh-CN" sz="2400" b="1" dirty="0"/>
          </a:p>
          <a:p>
            <a:pPr marL="0" indent="0">
              <a:buNone/>
            </a:pPr>
            <a:r>
              <a:rPr lang="zh-CN" altLang="en-US" sz="2400" b="1" dirty="0"/>
              <a:t>‘’‘</a:t>
            </a:r>
            <a:endParaRPr lang="en-US" altLang="zh-CN" sz="2400" b="1" dirty="0"/>
          </a:p>
          <a:p>
            <a:pPr marL="0" indent="0">
              <a:buNone/>
            </a:pPr>
            <a:r>
              <a:rPr lang="zh-CN" altLang="en-US" sz="2400" b="1" dirty="0"/>
              <a:t>这里是第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行注释</a:t>
            </a:r>
            <a:endParaRPr lang="en-US" altLang="zh-CN" sz="2400" b="1" dirty="0"/>
          </a:p>
          <a:p>
            <a:pPr marL="0" indent="0">
              <a:buNone/>
            </a:pPr>
            <a:r>
              <a:rPr lang="zh-CN" altLang="en-US" sz="2400" b="1" dirty="0"/>
              <a:t>这里是第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行注释</a:t>
            </a:r>
            <a:endParaRPr lang="en-US" altLang="zh-CN" sz="2400" b="1" dirty="0"/>
          </a:p>
          <a:p>
            <a:pPr marL="0" indent="0">
              <a:buNone/>
            </a:pPr>
            <a:r>
              <a:rPr lang="en-US" altLang="zh-CN" sz="2400" b="1" dirty="0"/>
              <a:t>‘’’</a:t>
            </a:r>
          </a:p>
          <a:p>
            <a:pPr marL="0" indent="0">
              <a:buNone/>
            </a:pPr>
            <a:r>
              <a:rPr lang="en-US" altLang="zh-CN" sz="2400" b="1" dirty="0"/>
              <a:t>“””</a:t>
            </a:r>
          </a:p>
          <a:p>
            <a:pPr marL="0" indent="0">
              <a:buNone/>
            </a:pPr>
            <a:r>
              <a:rPr lang="zh-CN" altLang="en-US" sz="2400" b="1" dirty="0"/>
              <a:t>这里是第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行注释</a:t>
            </a:r>
            <a:endParaRPr lang="en-US" altLang="zh-CN" sz="2400" b="1" dirty="0"/>
          </a:p>
          <a:p>
            <a:pPr marL="0" indent="0">
              <a:buNone/>
            </a:pPr>
            <a:r>
              <a:rPr lang="zh-CN" altLang="en-US" sz="2400" b="1" dirty="0"/>
              <a:t>这里是第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行注释</a:t>
            </a:r>
            <a:endParaRPr lang="en-US" altLang="zh-CN" sz="2400" b="1" dirty="0"/>
          </a:p>
          <a:p>
            <a:pPr marL="0" indent="0">
              <a:buNone/>
            </a:pPr>
            <a:r>
              <a:rPr lang="en-US" altLang="zh-CN" sz="2400" b="1" dirty="0"/>
              <a:t>“”””</a:t>
            </a:r>
          </a:p>
          <a:p>
            <a:pPr marL="0" indent="0">
              <a:buNone/>
            </a:pPr>
            <a:endParaRPr lang="en-US" altLang="zh-CN" sz="24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CF69387-C199-4107-A186-1E94FCF08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1640"/>
            <a:ext cx="157109" cy="3539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6176" tIns="50784" rIns="7935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CE39A7-B0EA-41E3-ADB7-5DD5C09CD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32A48-6D8B-40B6-ACF7-D12B16F0E773}" type="slidenum">
              <a:rPr lang="en-US" altLang="zh-CN" smtClean="0"/>
              <a:pPr/>
              <a:t>108</a:t>
            </a:fld>
            <a:endParaRPr lang="zh-CN" altLang="en-US" sz="2800" b="1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54834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413510" y="2292350"/>
            <a:ext cx="9563100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2.6 Python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的帮助系统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5BF9926-F215-4F87-918E-999350A02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109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dir</a:t>
            </a:r>
            <a:r>
              <a:rPr lang="en-US" altLang="zh-CN" dirty="0"/>
              <a:t>()</a:t>
            </a:r>
            <a:r>
              <a:rPr lang="zh-CN" altLang="en-US" dirty="0"/>
              <a:t>函数和</a:t>
            </a:r>
            <a:r>
              <a:rPr lang="en-US" altLang="zh-CN" dirty="0"/>
              <a:t>help()</a:t>
            </a:r>
            <a:r>
              <a:rPr lang="zh-CN" altLang="en-US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2846" y="2780928"/>
            <a:ext cx="10852150" cy="3672408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800" dirty="0">
                <a:solidFill>
                  <a:schemeClr val="tx1">
                    <a:lumMod val="95000"/>
                  </a:schemeClr>
                </a:solidFill>
              </a:rPr>
              <a:t>&gt;&gt;&gt; import time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>
                    <a:lumMod val="95000"/>
                  </a:schemeClr>
                </a:solidFill>
              </a:rPr>
              <a:t>&gt;&gt;&gt; </a:t>
            </a:r>
            <a:r>
              <a:rPr lang="en-US" altLang="zh-CN" sz="2800" dirty="0" err="1">
                <a:solidFill>
                  <a:schemeClr val="tx1">
                    <a:lumMod val="95000"/>
                  </a:schemeClr>
                </a:solidFill>
              </a:rPr>
              <a:t>dir</a:t>
            </a:r>
            <a:r>
              <a:rPr lang="en-US" altLang="zh-CN" sz="2800" dirty="0">
                <a:solidFill>
                  <a:schemeClr val="tx1">
                    <a:lumMod val="95000"/>
                  </a:schemeClr>
                </a:solidFill>
              </a:rPr>
              <a:t>(time)	# </a:t>
            </a:r>
            <a:r>
              <a:rPr lang="zh-CN" altLang="en-US" sz="2800" dirty="0">
                <a:solidFill>
                  <a:schemeClr val="tx1">
                    <a:lumMod val="95000"/>
                  </a:schemeClr>
                </a:solidFill>
              </a:rPr>
              <a:t>以列表形式罗列</a:t>
            </a:r>
            <a:r>
              <a:rPr lang="en-US" altLang="zh-CN" sz="2800" dirty="0">
                <a:solidFill>
                  <a:schemeClr val="tx1">
                    <a:lumMod val="95000"/>
                  </a:schemeClr>
                </a:solidFill>
              </a:rPr>
              <a:t>time</a:t>
            </a:r>
            <a:r>
              <a:rPr lang="zh-CN" altLang="en-US" sz="2800" dirty="0">
                <a:solidFill>
                  <a:schemeClr val="tx1">
                    <a:lumMod val="95000"/>
                  </a:schemeClr>
                </a:solidFill>
              </a:rPr>
              <a:t>模块中的常量、私有函数、</a:t>
            </a:r>
            <a:endParaRPr lang="en-US" altLang="zh-CN" sz="2800" dirty="0">
              <a:solidFill>
                <a:schemeClr val="tx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>
                    <a:lumMod val="95000"/>
                  </a:schemeClr>
                </a:solidFill>
              </a:rPr>
              <a:t>			# </a:t>
            </a:r>
            <a:r>
              <a:rPr lang="zh-CN" altLang="en-US" sz="2800" dirty="0">
                <a:solidFill>
                  <a:schemeClr val="tx1">
                    <a:lumMod val="95000"/>
                  </a:schemeClr>
                </a:solidFill>
              </a:rPr>
              <a:t>函数、类等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>
                    <a:lumMod val="95000"/>
                  </a:schemeClr>
                </a:solidFill>
              </a:rPr>
              <a:t>&gt;&gt;&gt; help(time)	# </a:t>
            </a:r>
            <a:r>
              <a:rPr lang="zh-CN" altLang="en-US" sz="2800" dirty="0">
                <a:solidFill>
                  <a:schemeClr val="tx1">
                    <a:lumMod val="95000"/>
                  </a:schemeClr>
                </a:solidFill>
              </a:rPr>
              <a:t>获取到</a:t>
            </a:r>
            <a:r>
              <a:rPr lang="en-US" altLang="zh-CN" sz="2800" dirty="0">
                <a:solidFill>
                  <a:schemeClr val="tx1">
                    <a:lumMod val="95000"/>
                  </a:schemeClr>
                </a:solidFill>
              </a:rPr>
              <a:t>time</a:t>
            </a:r>
            <a:r>
              <a:rPr lang="zh-CN" altLang="en-US" sz="2800" dirty="0">
                <a:solidFill>
                  <a:schemeClr val="tx1">
                    <a:lumMod val="95000"/>
                  </a:schemeClr>
                </a:solidFill>
              </a:rPr>
              <a:t>模块的整体帮助信息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>
                    <a:lumMod val="95000"/>
                  </a:schemeClr>
                </a:solidFill>
              </a:rPr>
              <a:t>&gt;&gt;&gt; help(</a:t>
            </a:r>
            <a:r>
              <a:rPr lang="en-US" altLang="zh-CN" sz="2800" dirty="0" err="1">
                <a:solidFill>
                  <a:schemeClr val="tx1">
                    <a:lumMod val="95000"/>
                  </a:schemeClr>
                </a:solidFill>
              </a:rPr>
              <a:t>time.sleep</a:t>
            </a:r>
            <a:r>
              <a:rPr lang="en-US" altLang="zh-CN" sz="2800" dirty="0">
                <a:solidFill>
                  <a:schemeClr val="tx1">
                    <a:lumMod val="95000"/>
                  </a:schemeClr>
                </a:solidFill>
              </a:rPr>
              <a:t>)		# </a:t>
            </a:r>
            <a:r>
              <a:rPr lang="zh-CN" altLang="en-US" sz="2800" dirty="0">
                <a:solidFill>
                  <a:schemeClr val="tx1">
                    <a:lumMod val="95000"/>
                  </a:schemeClr>
                </a:solidFill>
              </a:rPr>
              <a:t>获取</a:t>
            </a:r>
            <a:r>
              <a:rPr lang="en-US" altLang="zh-CN" sz="2800" dirty="0">
                <a:solidFill>
                  <a:schemeClr val="tx1">
                    <a:lumMod val="95000"/>
                  </a:schemeClr>
                </a:solidFill>
              </a:rPr>
              <a:t>time</a:t>
            </a:r>
            <a:r>
              <a:rPr lang="zh-CN" altLang="en-US" sz="2800" dirty="0">
                <a:solidFill>
                  <a:schemeClr val="tx1">
                    <a:lumMod val="95000"/>
                  </a:schemeClr>
                </a:solidFill>
              </a:rPr>
              <a:t>模块中</a:t>
            </a:r>
            <a:r>
              <a:rPr lang="en-US" altLang="zh-CN" sz="2800" dirty="0">
                <a:solidFill>
                  <a:schemeClr val="tx1">
                    <a:lumMod val="95000"/>
                  </a:schemeClr>
                </a:solidFill>
              </a:rPr>
              <a:t>sleep</a:t>
            </a:r>
            <a:r>
              <a:rPr lang="zh-CN" altLang="en-US" sz="2800" dirty="0">
                <a:solidFill>
                  <a:schemeClr val="tx1">
                    <a:lumMod val="95000"/>
                  </a:schemeClr>
                </a:solidFill>
              </a:rPr>
              <a:t>函数的帮助信息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>
                    <a:lumMod val="95000"/>
                  </a:schemeClr>
                </a:solidFill>
              </a:rPr>
              <a:t>&gt;&gt;&gt; help(max)			# </a:t>
            </a:r>
            <a:r>
              <a:rPr lang="zh-CN" altLang="en-US" sz="2800" dirty="0">
                <a:solidFill>
                  <a:schemeClr val="tx1">
                    <a:lumMod val="95000"/>
                  </a:schemeClr>
                </a:solidFill>
              </a:rPr>
              <a:t>获取内置函数</a:t>
            </a:r>
            <a:r>
              <a:rPr lang="en-US" altLang="zh-CN" sz="2800" dirty="0">
                <a:solidFill>
                  <a:schemeClr val="tx1">
                    <a:lumMod val="95000"/>
                  </a:schemeClr>
                </a:solidFill>
              </a:rPr>
              <a:t>max</a:t>
            </a:r>
            <a:r>
              <a:rPr lang="zh-CN" altLang="en-US" sz="2800" dirty="0">
                <a:solidFill>
                  <a:schemeClr val="tx1">
                    <a:lumMod val="95000"/>
                  </a:schemeClr>
                </a:solidFill>
              </a:rPr>
              <a:t>的帮助信息</a:t>
            </a:r>
          </a:p>
          <a:p>
            <a:pPr marL="0" indent="0">
              <a:buNone/>
            </a:pPr>
            <a:endParaRPr lang="zh-CN" altLang="en-US" sz="28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993222" y="1283569"/>
            <a:ext cx="4526714" cy="7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b="1" dirty="0" err="1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dir</a:t>
            </a:r>
            <a:r>
              <a:rPr lang="en-US" altLang="zh-CN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(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对象名</a:t>
            </a:r>
            <a:r>
              <a:rPr lang="en-US" altLang="zh-CN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|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模块名</a:t>
            </a:r>
            <a:r>
              <a:rPr lang="en-US" altLang="zh-CN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|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函数名</a:t>
            </a:r>
            <a:r>
              <a:rPr lang="en-US" altLang="zh-CN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|…)</a:t>
            </a:r>
          </a:p>
        </p:txBody>
      </p:sp>
      <p:sp>
        <p:nvSpPr>
          <p:cNvPr id="7" name="矩形 6"/>
          <p:cNvSpPr/>
          <p:nvPr/>
        </p:nvSpPr>
        <p:spPr>
          <a:xfrm>
            <a:off x="6600056" y="1283569"/>
            <a:ext cx="4934940" cy="7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help(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对象名</a:t>
            </a:r>
            <a:r>
              <a:rPr lang="en-US" altLang="zh-CN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|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模块名</a:t>
            </a:r>
            <a:r>
              <a:rPr lang="en-US" altLang="zh-CN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|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函数名</a:t>
            </a:r>
            <a:r>
              <a:rPr lang="en-US" altLang="zh-CN" sz="2800" b="1" dirty="0">
                <a:solidFill>
                  <a:schemeClr val="tx1">
                    <a:lumMod val="95000"/>
                  </a:schemeClr>
                </a:solidFill>
                <a:latin typeface="+mj-ea"/>
                <a:ea typeface="+mj-ea"/>
              </a:rPr>
              <a:t>|…)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9AEFA2-2BEF-4755-B1E0-E56DB9BCE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285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联机帮助环境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Python</a:t>
            </a:r>
            <a:r>
              <a:rPr lang="zh-CN" altLang="en-US" dirty="0"/>
              <a:t>还提供了联机帮助环境，以下是使用联机帮助的方法：</a:t>
            </a:r>
          </a:p>
          <a:p>
            <a:pPr marL="0" indent="0">
              <a:buNone/>
            </a:pPr>
            <a:r>
              <a:rPr lang="en-US" altLang="zh-CN" dirty="0"/>
              <a:t>&gt;&gt;&gt; help()		</a:t>
            </a:r>
            <a:r>
              <a:rPr lang="zh-CN" altLang="en-US" sz="2400" dirty="0"/>
              <a:t>（必须是无参的</a:t>
            </a:r>
            <a:r>
              <a:rPr lang="en-US" altLang="zh-CN" sz="2400" dirty="0"/>
              <a:t>help()</a:t>
            </a:r>
            <a:r>
              <a:rPr lang="zh-CN" altLang="en-US" sz="2400" dirty="0"/>
              <a:t>函数）</a:t>
            </a:r>
          </a:p>
          <a:p>
            <a:pPr marL="0" indent="0">
              <a:buNone/>
            </a:pPr>
            <a:r>
              <a:rPr lang="en-US" altLang="zh-CN" dirty="0"/>
              <a:t>……			</a:t>
            </a:r>
            <a:r>
              <a:rPr lang="zh-CN" altLang="en-US" sz="2400" dirty="0"/>
              <a:t>（此处省略</a:t>
            </a:r>
            <a:r>
              <a:rPr lang="en-US" altLang="zh-CN" sz="2400" dirty="0"/>
              <a:t>Python</a:t>
            </a:r>
            <a:r>
              <a:rPr lang="zh-CN" altLang="en-US" sz="2400" dirty="0"/>
              <a:t>系统给出的提示）</a:t>
            </a:r>
          </a:p>
          <a:p>
            <a:pPr marL="0" indent="0">
              <a:buNone/>
            </a:pPr>
            <a:r>
              <a:rPr lang="en-US" altLang="zh-CN" dirty="0"/>
              <a:t>help&gt;			</a:t>
            </a:r>
            <a:r>
              <a:rPr lang="zh-CN" altLang="en-US" sz="2400" dirty="0"/>
              <a:t>（出现该提示符，表明已处在联机帮助环境中）</a:t>
            </a:r>
          </a:p>
          <a:p>
            <a:pPr marL="0" indent="0">
              <a:buNone/>
            </a:pPr>
            <a:r>
              <a:rPr lang="en-US" altLang="zh-CN" dirty="0"/>
              <a:t>help&gt; math	</a:t>
            </a:r>
            <a:r>
              <a:rPr lang="zh-CN" altLang="en-US" sz="2400" dirty="0"/>
              <a:t>（直接输入待查询的</a:t>
            </a:r>
            <a:r>
              <a:rPr lang="en-US" altLang="zh-CN" sz="2400" dirty="0"/>
              <a:t>math</a:t>
            </a:r>
            <a:r>
              <a:rPr lang="zh-CN" altLang="en-US" sz="2400" dirty="0"/>
              <a:t>模块）</a:t>
            </a:r>
          </a:p>
          <a:p>
            <a:pPr marL="0" indent="0">
              <a:buNone/>
            </a:pPr>
            <a:r>
              <a:rPr lang="en-US" altLang="zh-CN" dirty="0"/>
              <a:t>Help on built-in module math:	</a:t>
            </a:r>
          </a:p>
          <a:p>
            <a:pPr marL="0" indent="2736000">
              <a:buNone/>
            </a:pPr>
            <a:r>
              <a:rPr lang="zh-CN" altLang="en-US" sz="2400" dirty="0"/>
              <a:t>（本行开始是</a:t>
            </a:r>
            <a:r>
              <a:rPr lang="en-US" altLang="zh-CN" sz="2400" dirty="0"/>
              <a:t>math</a:t>
            </a:r>
            <a:r>
              <a:rPr lang="zh-CN" altLang="en-US" sz="2400" dirty="0"/>
              <a:t>模块的整体帮助信息）</a:t>
            </a:r>
          </a:p>
          <a:p>
            <a:pPr marL="0" indent="0">
              <a:buNone/>
            </a:pPr>
            <a:r>
              <a:rPr lang="en-US" altLang="zh-CN" dirty="0"/>
              <a:t>……    		</a:t>
            </a:r>
            <a:r>
              <a:rPr lang="zh-CN" altLang="en-US" sz="2400" dirty="0"/>
              <a:t>（此处省略</a:t>
            </a:r>
            <a:r>
              <a:rPr lang="en-US" altLang="zh-CN" sz="2400" dirty="0"/>
              <a:t>Python</a:t>
            </a:r>
            <a:r>
              <a:rPr lang="zh-CN" altLang="en-US" sz="2400" dirty="0"/>
              <a:t>系统给出的大量帮助信息）</a:t>
            </a:r>
          </a:p>
          <a:p>
            <a:pPr marL="0" indent="0">
              <a:buNone/>
            </a:pPr>
            <a:r>
              <a:rPr lang="en-US" altLang="zh-CN" dirty="0"/>
              <a:t>help</a:t>
            </a:r>
            <a:r>
              <a:rPr lang="en-US" altLang="zh-CN"/>
              <a:t>&gt; quit</a:t>
            </a:r>
            <a:r>
              <a:rPr lang="en-US" altLang="zh-CN" dirty="0"/>
              <a:t>		</a:t>
            </a:r>
            <a:r>
              <a:rPr lang="zh-CN" altLang="en-US" sz="2400" dirty="0"/>
              <a:t>（退出联机帮助环境）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A792D6-463A-40AC-BF56-B2138A564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96966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CAD2AD-EAC0-4E8D-85B1-2045FBC3A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 </a:t>
            </a:r>
            <a:r>
              <a:rPr lang="en-US" altLang="zh-CN" dirty="0"/>
              <a:t>P45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E14261-DD46-45FF-9867-E256BD2A5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altLang="zh-CN" dirty="0"/>
              <a:t>7</a:t>
            </a:r>
            <a:r>
              <a:rPr lang="zh-CN" altLang="en-US" dirty="0"/>
              <a:t>，</a:t>
            </a:r>
            <a:r>
              <a:rPr lang="en-US" altLang="zh-CN" dirty="0"/>
              <a:t>8</a:t>
            </a:r>
            <a:r>
              <a:rPr lang="zh-CN" altLang="en-US" dirty="0"/>
              <a:t>，</a:t>
            </a:r>
            <a:r>
              <a:rPr lang="en-US" altLang="zh-CN" dirty="0"/>
              <a:t>10</a:t>
            </a:r>
            <a:r>
              <a:rPr lang="zh-CN" altLang="en-US" dirty="0"/>
              <a:t>题。</a:t>
            </a:r>
            <a:endParaRPr lang="en-US" altLang="zh-CN" dirty="0"/>
          </a:p>
          <a:p>
            <a:r>
              <a:rPr lang="zh-CN" altLang="en-US" dirty="0"/>
              <a:t>如何提交？</a:t>
            </a:r>
            <a:endParaRPr lang="en-US" altLang="zh-CN" dirty="0"/>
          </a:p>
          <a:p>
            <a:pPr lvl="1"/>
            <a:r>
              <a:rPr lang="zh-CN" altLang="en-US" dirty="0"/>
              <a:t>将答案写在</a:t>
            </a:r>
            <a:r>
              <a:rPr lang="en-US" altLang="zh-CN" dirty="0"/>
              <a:t>Word</a:t>
            </a:r>
            <a:r>
              <a:rPr lang="zh-CN" altLang="en-US" dirty="0"/>
              <a:t>文档中，写清题号，命名为</a:t>
            </a:r>
            <a:br>
              <a:rPr lang="en-US" altLang="zh-CN" dirty="0"/>
            </a:br>
            <a:r>
              <a:rPr lang="en-US" altLang="zh-CN" dirty="0"/>
              <a:t>             ”</a:t>
            </a:r>
            <a:r>
              <a:rPr lang="zh-CN" altLang="en-US" dirty="0"/>
              <a:t>学号姓名</a:t>
            </a:r>
            <a:r>
              <a:rPr lang="en-US" altLang="zh-CN" dirty="0"/>
              <a:t>-</a:t>
            </a:r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章作业</a:t>
            </a:r>
            <a:r>
              <a:rPr lang="en-US" altLang="zh-CN" dirty="0"/>
              <a:t>.docx”</a:t>
            </a:r>
            <a:br>
              <a:rPr lang="en-US" altLang="zh-CN" dirty="0"/>
            </a:br>
            <a:r>
              <a:rPr lang="zh-CN" altLang="en-US" dirty="0"/>
              <a:t>上传到教学网站</a:t>
            </a:r>
            <a:r>
              <a:rPr lang="en-US" altLang="zh-CN" dirty="0"/>
              <a:t>/【</a:t>
            </a:r>
            <a:r>
              <a:rPr lang="zh-CN" altLang="en-US" dirty="0"/>
              <a:t>提交作业</a:t>
            </a:r>
            <a:r>
              <a:rPr lang="en-US" altLang="zh-CN" dirty="0"/>
              <a:t>】/</a:t>
            </a:r>
            <a:r>
              <a:rPr lang="zh-CN" altLang="en-US" dirty="0"/>
              <a:t>周次选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BFCDA9-7AEF-40CB-9709-9B2676285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87799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B9AE15-F239-4C65-A499-F7D1D2C57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习题 </a:t>
            </a:r>
            <a:r>
              <a:rPr lang="en-US" altLang="zh-CN" dirty="0"/>
              <a:t>P45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93EBB82F-5E71-4541-AAA1-A3D6F8CD3C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24" y="1670130"/>
            <a:ext cx="10070456" cy="1758333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BD44DE-BFDB-4F0B-BA36-3DA0F4FF7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113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E5E846C-73FD-4BC5-8499-550429A8B45A}"/>
              </a:ext>
            </a:extLst>
          </p:cNvPr>
          <p:cNvSpPr txBox="1"/>
          <p:nvPr/>
        </p:nvSpPr>
        <p:spPr>
          <a:xfrm>
            <a:off x="695400" y="4077072"/>
            <a:ext cx="7776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非法的：</a:t>
            </a:r>
            <a:r>
              <a:rPr lang="en-US" altLang="zh-CN" sz="2400" b="1" dirty="0"/>
              <a:t>#123, 3D64, 2abc, a#3</a:t>
            </a:r>
          </a:p>
          <a:p>
            <a:endParaRPr lang="en-US" altLang="zh-CN" sz="2400" b="1" dirty="0"/>
          </a:p>
          <a:p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71827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0ADEB5D5-4A74-48F7-A96B-0C0A6356C4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548680"/>
            <a:ext cx="10281728" cy="2427139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45F52E-E740-4C5F-A34D-59B24FDC7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114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EC4FD6-7DA1-4668-90FB-5D35C352B29C}"/>
              </a:ext>
            </a:extLst>
          </p:cNvPr>
          <p:cNvSpPr txBox="1"/>
          <p:nvPr/>
        </p:nvSpPr>
        <p:spPr>
          <a:xfrm>
            <a:off x="335360" y="3135258"/>
            <a:ext cx="1072919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非法：</a:t>
            </a:r>
            <a:r>
              <a:rPr lang="en-US" altLang="zh-CN" sz="2400" b="1" dirty="0"/>
              <a:t>True  (True</a:t>
            </a:r>
            <a:r>
              <a:rPr lang="zh-CN" altLang="en-US" sz="2400" b="1" dirty="0"/>
              <a:t>是布尔型，</a:t>
            </a:r>
            <a:r>
              <a:rPr lang="en-US" altLang="zh-CN" sz="2400" b="1" dirty="0"/>
              <a:t>true</a:t>
            </a:r>
            <a:r>
              <a:rPr lang="zh-CN" altLang="en-US" sz="2400" b="1" dirty="0"/>
              <a:t>不是）；</a:t>
            </a:r>
            <a:endParaRPr lang="en-US" altLang="zh-C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非法：</a:t>
            </a:r>
            <a:r>
              <a:rPr lang="en-US" altLang="zh-CN" sz="2400" b="1" dirty="0"/>
              <a:t>-3+4i (</a:t>
            </a:r>
            <a:r>
              <a:rPr lang="zh-CN" altLang="en-US" sz="2400" b="1" dirty="0"/>
              <a:t>复数应输入</a:t>
            </a:r>
            <a:r>
              <a:rPr lang="en-US" altLang="zh-CN" sz="2400" b="1" dirty="0"/>
              <a:t>-3+4j, </a:t>
            </a:r>
            <a:r>
              <a:rPr lang="zh-CN" altLang="en-US" sz="2400" b="1" dirty="0"/>
              <a:t>不是</a:t>
            </a:r>
            <a:r>
              <a:rPr lang="en-US" altLang="zh-CN" sz="2400" b="1" dirty="0"/>
              <a:t>I, </a:t>
            </a:r>
            <a:r>
              <a:rPr lang="zh-CN" altLang="en-US" sz="2400" b="1" dirty="0"/>
              <a:t>出错）</a:t>
            </a:r>
            <a:endParaRPr lang="en-US" altLang="zh-C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非法：</a:t>
            </a:r>
            <a:r>
              <a:rPr lang="en-US" altLang="zh-CN" sz="2400" b="1" dirty="0"/>
              <a:t>e5      (</a:t>
            </a:r>
            <a:r>
              <a:rPr lang="zh-CN" altLang="en-US" sz="2400" b="1" dirty="0"/>
              <a:t>如果是科学计数法，应为</a:t>
            </a:r>
            <a:r>
              <a:rPr lang="en-US" altLang="zh-CN" sz="2400" b="1" dirty="0"/>
              <a:t>1e5, e</a:t>
            </a:r>
            <a:r>
              <a:rPr lang="zh-CN" altLang="en-US" sz="2400" b="1" dirty="0"/>
              <a:t>前面的数不可省</a:t>
            </a:r>
            <a:endParaRPr lang="en-US" altLang="zh-C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非法：</a:t>
            </a:r>
            <a:r>
              <a:rPr lang="en-US" altLang="zh-CN" sz="2400" b="1" dirty="0"/>
              <a:t>0b123(</a:t>
            </a:r>
            <a:r>
              <a:rPr lang="zh-CN" altLang="en-US" sz="2400" b="1" dirty="0"/>
              <a:t>二进制没有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</a:t>
            </a:r>
            <a:endParaRPr lang="en-US" altLang="zh-C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非法：‘</a:t>
            </a:r>
            <a:r>
              <a:rPr lang="en-US" altLang="zh-CN" sz="2400" b="1" dirty="0"/>
              <a:t>I’m 9.\n’   (</a:t>
            </a:r>
            <a:r>
              <a:rPr lang="zh-CN" altLang="en-US" sz="2400" b="1" dirty="0"/>
              <a:t>字符串中含有</a:t>
            </a:r>
            <a:r>
              <a:rPr lang="en-US" altLang="zh-CN" sz="2400" b="1" dirty="0"/>
              <a:t>’</a:t>
            </a:r>
            <a:r>
              <a:rPr lang="zh-CN" altLang="en-US" sz="2400" b="1" dirty="0"/>
              <a:t>的要用</a:t>
            </a:r>
            <a:r>
              <a:rPr lang="en-US" altLang="zh-CN" sz="2400" b="1" dirty="0"/>
              <a:t>”</a:t>
            </a:r>
            <a:r>
              <a:rPr lang="zh-CN" altLang="en-US" sz="2400" b="1" dirty="0"/>
              <a:t>或者</a:t>
            </a:r>
            <a:r>
              <a:rPr lang="en-US" altLang="zh-CN" sz="2400" b="1" dirty="0"/>
              <a:t>’’’)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合法：</a:t>
            </a:r>
            <a:r>
              <a:rPr lang="en-US" altLang="zh-CN" sz="2400" b="1" dirty="0"/>
              <a:t>”goo\”d”  (\”</a:t>
            </a:r>
            <a:r>
              <a:rPr lang="zh-CN" altLang="en-US" sz="2400" b="1" dirty="0"/>
              <a:t>为转义字符，表示</a:t>
            </a:r>
            <a:r>
              <a:rPr lang="en-US" altLang="zh-CN" sz="2400" b="1" dirty="0"/>
              <a:t>”)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合法：</a:t>
            </a:r>
            <a:r>
              <a:rPr lang="en-US" altLang="zh-CN" sz="2400" b="1" dirty="0"/>
              <a:t>‘\x6D09’ (\x6D</a:t>
            </a:r>
            <a:r>
              <a:rPr lang="zh-CN" altLang="en-US" sz="2400" b="1" dirty="0"/>
              <a:t>为转意字符</a:t>
            </a:r>
            <a:r>
              <a:rPr lang="en-US" altLang="zh-CN" sz="2400" b="1" dirty="0"/>
              <a:t>16</a:t>
            </a:r>
            <a:r>
              <a:rPr lang="zh-CN" altLang="en-US" sz="2400" b="1" dirty="0"/>
              <a:t>进制</a:t>
            </a:r>
            <a:r>
              <a:rPr lang="en-US" altLang="zh-CN" sz="2400" b="1" dirty="0"/>
              <a:t>6D</a:t>
            </a:r>
            <a:r>
              <a:rPr lang="zh-CN" altLang="en-US" sz="2400" b="1" dirty="0"/>
              <a:t>，即</a:t>
            </a:r>
            <a:r>
              <a:rPr lang="en-US" altLang="zh-CN" sz="2400" b="1" dirty="0"/>
              <a:t>m,</a:t>
            </a:r>
            <a:r>
              <a:rPr lang="zh-CN" altLang="en-US" sz="2400" b="1" dirty="0"/>
              <a:t>该字符串为</a:t>
            </a:r>
            <a:r>
              <a:rPr lang="en-US" altLang="zh-CN" sz="2400" b="1" dirty="0"/>
              <a:t>’m09’)</a:t>
            </a:r>
          </a:p>
        </p:txBody>
      </p:sp>
    </p:spTree>
    <p:extLst>
      <p:ext uri="{BB962C8B-B14F-4D97-AF65-F5344CB8AC3E}">
        <p14:creationId xmlns:p14="http://schemas.microsoft.com/office/powerpoint/2010/main" val="2575113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F5B54D-C704-47DC-92E1-C6C152D5D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习题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2588B9D-2BA2-4D77-942A-25E8107A48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916832"/>
            <a:ext cx="9584166" cy="72008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4016DF-8768-42BC-8D1E-B855A0244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115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92EC8AA-E19C-4840-97C0-D570FC611924}"/>
              </a:ext>
            </a:extLst>
          </p:cNvPr>
          <p:cNvSpPr txBox="1"/>
          <p:nvPr/>
        </p:nvSpPr>
        <p:spPr>
          <a:xfrm>
            <a:off x="431453" y="2882261"/>
            <a:ext cx="107291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Both"/>
            </a:pPr>
            <a:r>
              <a:rPr lang="en-US" altLang="zh-CN" sz="2400" b="1" dirty="0"/>
              <a:t>X = a**3</a:t>
            </a:r>
          </a:p>
          <a:p>
            <a:pPr marL="457200" indent="-457200">
              <a:buAutoNum type="arabicParenBoth"/>
            </a:pPr>
            <a:r>
              <a:rPr lang="en-US" altLang="zh-CN" sz="2400" b="1" dirty="0"/>
              <a:t>X = a*a*a</a:t>
            </a:r>
          </a:p>
          <a:p>
            <a:pPr marL="457200" indent="-457200">
              <a:buAutoNum type="arabicParenBoth"/>
            </a:pPr>
            <a:r>
              <a:rPr lang="en-US" altLang="zh-CN" sz="2400" b="1" dirty="0"/>
              <a:t>X = pow(a,3)</a:t>
            </a:r>
          </a:p>
          <a:p>
            <a:pPr marL="457200" indent="-457200">
              <a:buAutoNum type="arabicParenBoth"/>
            </a:pPr>
            <a:r>
              <a:rPr lang="en-US" altLang="zh-CN" sz="2400" b="1" dirty="0"/>
              <a:t>Import math</a:t>
            </a:r>
            <a:br>
              <a:rPr lang="en-US" altLang="zh-CN" sz="2400" b="1" dirty="0"/>
            </a:br>
            <a:r>
              <a:rPr lang="en-US" altLang="zh-CN" sz="2400" b="1" dirty="0" err="1"/>
              <a:t>math.pow</a:t>
            </a:r>
            <a:r>
              <a:rPr lang="en-US" altLang="zh-CN" sz="2400" b="1" dirty="0"/>
              <a:t>(a,3)</a:t>
            </a:r>
          </a:p>
        </p:txBody>
      </p:sp>
    </p:spTree>
    <p:extLst>
      <p:ext uri="{BB962C8B-B14F-4D97-AF65-F5344CB8AC3E}">
        <p14:creationId xmlns:p14="http://schemas.microsoft.com/office/powerpoint/2010/main" val="2009768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70F1FB-8A38-4D29-8102-566B74ADC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9ABE81FA-4D52-488D-A0C4-B071690503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4" y="1635557"/>
            <a:ext cx="11593288" cy="160405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2D3894-C76C-4B9A-9B90-709245C8F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116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968A43-13E8-4825-BBA8-AE49A1B93F73}"/>
              </a:ext>
            </a:extLst>
          </p:cNvPr>
          <p:cNvSpPr txBox="1"/>
          <p:nvPr/>
        </p:nvSpPr>
        <p:spPr>
          <a:xfrm>
            <a:off x="191344" y="3140968"/>
            <a:ext cx="109452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Import math</a:t>
            </a:r>
          </a:p>
          <a:p>
            <a:pPr marL="457200" indent="-457200">
              <a:buAutoNum type="arabicParenBoth"/>
            </a:pPr>
            <a:r>
              <a:rPr lang="en-US" altLang="zh-CN" sz="2400" b="1" dirty="0"/>
              <a:t>x1 = (-</a:t>
            </a:r>
            <a:r>
              <a:rPr lang="en-US" altLang="zh-CN" sz="2400" b="1" dirty="0" err="1"/>
              <a:t>b+math.sqrt</a:t>
            </a:r>
            <a:r>
              <a:rPr lang="en-US" altLang="zh-CN" sz="2400" b="1" dirty="0"/>
              <a:t>(b**2-4*a*c))/2/a</a:t>
            </a:r>
          </a:p>
          <a:p>
            <a:r>
              <a:rPr lang="en-US" altLang="zh-CN" sz="2400" b="1" dirty="0"/>
              <a:t>      x2 = (-b-</a:t>
            </a:r>
            <a:r>
              <a:rPr lang="en-US" altLang="zh-CN" sz="2400" b="1" dirty="0" err="1"/>
              <a:t>math.sqrt</a:t>
            </a:r>
            <a:r>
              <a:rPr lang="en-US" altLang="zh-CN" sz="2400" b="1" dirty="0"/>
              <a:t>(b**2-4*a*c))/2/a</a:t>
            </a:r>
          </a:p>
          <a:p>
            <a:r>
              <a:rPr lang="en-US" altLang="zh-CN" sz="2400" b="1" dirty="0"/>
              <a:t>(2) x = (</a:t>
            </a:r>
            <a:r>
              <a:rPr lang="en-US" altLang="zh-CN" sz="2400" b="1" dirty="0" err="1"/>
              <a:t>math.e</a:t>
            </a:r>
            <a:r>
              <a:rPr lang="en-US" altLang="zh-CN" sz="2400" b="1" dirty="0"/>
              <a:t>**2 + math.log(10,math.e))/(</a:t>
            </a:r>
            <a:r>
              <a:rPr lang="en-US" altLang="zh-CN" sz="2400" b="1" dirty="0" err="1"/>
              <a:t>math.sqrt</a:t>
            </a:r>
            <a:r>
              <a:rPr lang="en-US" altLang="zh-CN" sz="2400" b="1" dirty="0"/>
              <a:t>(x)+pow(3,x))</a:t>
            </a:r>
          </a:p>
          <a:p>
            <a:r>
              <a:rPr lang="en-US" altLang="zh-CN" sz="2400" b="1" dirty="0"/>
              <a:t>(3) x = (1e(-5))*</a:t>
            </a:r>
            <a:r>
              <a:rPr lang="en-US" altLang="zh-CN" sz="2400" b="1" dirty="0" err="1"/>
              <a:t>math.cos</a:t>
            </a:r>
            <a:r>
              <a:rPr lang="en-US" altLang="zh-CN" sz="2400" b="1" dirty="0"/>
              <a:t>(0.5*(</a:t>
            </a:r>
            <a:r>
              <a:rPr lang="en-US" altLang="zh-CN" sz="2400" b="1" dirty="0" err="1"/>
              <a:t>a+b</a:t>
            </a:r>
            <a:r>
              <a:rPr lang="en-US" altLang="zh-CN" sz="2400" b="1" dirty="0"/>
              <a:t>))*</a:t>
            </a:r>
            <a:r>
              <a:rPr lang="en-US" altLang="zh-CN" sz="2400" b="1" dirty="0" err="1"/>
              <a:t>math.tan</a:t>
            </a:r>
            <a:r>
              <a:rPr lang="en-US" altLang="zh-CN" sz="2400" b="1" dirty="0"/>
              <a:t>(0.5*abs(a-b))</a:t>
            </a:r>
          </a:p>
        </p:txBody>
      </p:sp>
    </p:spTree>
    <p:extLst>
      <p:ext uri="{BB962C8B-B14F-4D97-AF65-F5344CB8AC3E}">
        <p14:creationId xmlns:p14="http://schemas.microsoft.com/office/powerpoint/2010/main" val="3277975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70F1FB-8A38-4D29-8102-566B74ADC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9ABE81FA-4D52-488D-A0C4-B071690503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4" y="1635557"/>
            <a:ext cx="11593288" cy="160405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2D3894-C76C-4B9A-9B90-709245C8F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117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968A43-13E8-4825-BBA8-AE49A1B93F73}"/>
              </a:ext>
            </a:extLst>
          </p:cNvPr>
          <p:cNvSpPr txBox="1"/>
          <p:nvPr/>
        </p:nvSpPr>
        <p:spPr>
          <a:xfrm>
            <a:off x="191344" y="3140968"/>
            <a:ext cx="109452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from math import *</a:t>
            </a:r>
          </a:p>
          <a:p>
            <a:pPr marL="457200" indent="-457200">
              <a:buAutoNum type="arabicParenBoth"/>
            </a:pPr>
            <a:r>
              <a:rPr lang="en-US" altLang="zh-CN" sz="2400" b="1" dirty="0"/>
              <a:t>x1 = (-</a:t>
            </a:r>
            <a:r>
              <a:rPr lang="en-US" altLang="zh-CN" sz="2400" b="1" dirty="0" err="1"/>
              <a:t>b+sqrt</a:t>
            </a:r>
            <a:r>
              <a:rPr lang="en-US" altLang="zh-CN" sz="2400" b="1" dirty="0"/>
              <a:t>(b**2-4*a*c))/2/a</a:t>
            </a:r>
          </a:p>
          <a:p>
            <a:r>
              <a:rPr lang="en-US" altLang="zh-CN" sz="2400" b="1" dirty="0"/>
              <a:t>      x2 = (-b-sqrt(b**2-4*a*c))/2/a</a:t>
            </a:r>
          </a:p>
          <a:p>
            <a:r>
              <a:rPr lang="en-US" altLang="zh-CN" sz="2400" b="1" dirty="0"/>
              <a:t>(2) x = (e**2 + log(10,e))/(sqrt(x)+pow(3,x))</a:t>
            </a:r>
          </a:p>
          <a:p>
            <a:r>
              <a:rPr lang="en-US" altLang="zh-CN" sz="2400" b="1" dirty="0"/>
              <a:t>(3) x = (1e(-5))*cos(0.5*(</a:t>
            </a:r>
            <a:r>
              <a:rPr lang="en-US" altLang="zh-CN" sz="2400" b="1" dirty="0" err="1"/>
              <a:t>a+b</a:t>
            </a:r>
            <a:r>
              <a:rPr lang="en-US" altLang="zh-CN" sz="2400" b="1" dirty="0"/>
              <a:t>))*tan(0.5*abs(a-b))</a:t>
            </a:r>
          </a:p>
        </p:txBody>
      </p:sp>
    </p:spTree>
    <p:extLst>
      <p:ext uri="{BB962C8B-B14F-4D97-AF65-F5344CB8AC3E}">
        <p14:creationId xmlns:p14="http://schemas.microsoft.com/office/powerpoint/2010/main" val="51797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141F6-4BD0-4690-963D-62B3F3309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28BA1DB9-CC85-4F9A-BB0B-EC1EE7C4B0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708" y="1294644"/>
            <a:ext cx="10362244" cy="79208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1FF2E4-D81E-49D9-989B-C69CD5432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118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69AF7B1-E7F2-4ED5-AE9B-A414BFAC7C4C}"/>
              </a:ext>
            </a:extLst>
          </p:cNvPr>
          <p:cNvSpPr txBox="1"/>
          <p:nvPr/>
        </p:nvSpPr>
        <p:spPr>
          <a:xfrm>
            <a:off x="273708" y="2035682"/>
            <a:ext cx="10829095" cy="481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/>
              <a:t>说明：程序中已有如下</a:t>
            </a:r>
            <a:r>
              <a:rPr lang="en-US" altLang="zh-CN" sz="2800" dirty="0"/>
              <a:t>2</a:t>
            </a:r>
            <a:r>
              <a:rPr lang="zh-CN" altLang="en-US" sz="2800" dirty="0"/>
              <a:t>个变量，判断</a:t>
            </a:r>
            <a:r>
              <a:rPr lang="en-US" altLang="zh-CN" sz="2800" dirty="0"/>
              <a:t>x1</a:t>
            </a:r>
            <a:r>
              <a:rPr lang="zh-CN" altLang="en-US" sz="2800" dirty="0"/>
              <a:t>和</a:t>
            </a:r>
            <a:r>
              <a:rPr lang="en-US" altLang="zh-CN" sz="2800" dirty="0"/>
              <a:t>x2</a:t>
            </a:r>
            <a:r>
              <a:rPr lang="zh-CN" altLang="en-US" sz="2800" dirty="0"/>
              <a:t>是否相等？</a:t>
            </a:r>
            <a:endParaRPr lang="en-US" altLang="zh-CN" sz="2800" dirty="0"/>
          </a:p>
          <a:p>
            <a:pPr>
              <a:lnSpc>
                <a:spcPct val="120000"/>
              </a:lnSpc>
            </a:pPr>
            <a:r>
              <a:rPr lang="en-US" altLang="zh-CN" sz="2800" dirty="0"/>
              <a:t>x1 = 2.3 - 1.3</a:t>
            </a:r>
          </a:p>
          <a:p>
            <a:pPr>
              <a:lnSpc>
                <a:spcPct val="120000"/>
              </a:lnSpc>
            </a:pPr>
            <a:r>
              <a:rPr lang="en-US" altLang="zh-CN" sz="2800" dirty="0"/>
              <a:t>x2 = 12.3 – 11.3</a:t>
            </a:r>
          </a:p>
          <a:p>
            <a:pPr marL="457200" indent="-457200">
              <a:buAutoNum type="arabicParenBoth"/>
            </a:pPr>
            <a:endParaRPr lang="en-US" altLang="zh-CN" sz="1400" b="1" dirty="0"/>
          </a:p>
          <a:p>
            <a:r>
              <a:rPr lang="da-DK" altLang="zh-CN" sz="2400" b="1" dirty="0"/>
              <a:t>&gt;&gt;&gt; x1 = 2.3-1.3</a:t>
            </a:r>
          </a:p>
          <a:p>
            <a:r>
              <a:rPr lang="da-DK" altLang="zh-CN" sz="2400" b="1" dirty="0"/>
              <a:t>&gt;&gt;&gt; x2 = 12.3-11.3</a:t>
            </a:r>
          </a:p>
          <a:p>
            <a:r>
              <a:rPr lang="da-DK" altLang="zh-CN" sz="2400" b="1" dirty="0"/>
              <a:t>&gt;&gt;&gt; x1 == x2</a:t>
            </a:r>
          </a:p>
          <a:p>
            <a:r>
              <a:rPr lang="da-DK" altLang="zh-CN" sz="2400" b="1" dirty="0"/>
              <a:t>False</a:t>
            </a:r>
          </a:p>
          <a:p>
            <a:r>
              <a:rPr lang="da-DK" altLang="zh-CN" sz="2400" b="1" dirty="0"/>
              <a:t>&gt;&gt;&gt; x1</a:t>
            </a:r>
          </a:p>
          <a:p>
            <a:r>
              <a:rPr lang="da-DK" altLang="zh-CN" sz="2400" b="1" dirty="0"/>
              <a:t>0.9999999999999998</a:t>
            </a:r>
          </a:p>
          <a:p>
            <a:r>
              <a:rPr lang="da-DK" altLang="zh-CN" sz="2400" b="1" dirty="0"/>
              <a:t>&gt;&gt;&gt; x2</a:t>
            </a:r>
          </a:p>
          <a:p>
            <a:r>
              <a:rPr lang="da-DK" altLang="zh-CN" sz="2400" b="1" dirty="0"/>
              <a:t>1.0</a:t>
            </a: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3693604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141F6-4BD0-4690-963D-62B3F3309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28BA1DB9-CC85-4F9A-BB0B-EC1EE7C4B0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76" y="1844824"/>
            <a:ext cx="10362244" cy="79208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1FF2E4-D81E-49D9-989B-C69CD5432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119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69AF7B1-E7F2-4ED5-AE9B-A414BFAC7C4C}"/>
              </a:ext>
            </a:extLst>
          </p:cNvPr>
          <p:cNvSpPr txBox="1"/>
          <p:nvPr/>
        </p:nvSpPr>
        <p:spPr>
          <a:xfrm>
            <a:off x="431453" y="2882261"/>
            <a:ext cx="10729192" cy="3147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/>
              <a:t>方法</a:t>
            </a:r>
            <a:r>
              <a:rPr lang="en-US" altLang="zh-CN" sz="2800" dirty="0"/>
              <a:t>1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pPr lvl="1">
              <a:lnSpc>
                <a:spcPct val="120000"/>
              </a:lnSpc>
            </a:pPr>
            <a:r>
              <a:rPr lang="en-US" altLang="zh-CN" sz="2800" dirty="0"/>
              <a:t>&gt;&gt;&gt; abs(x1-x2) &lt; 1e-10      # </a:t>
            </a:r>
            <a:r>
              <a:rPr lang="zh-CN" altLang="en-US" sz="2800" dirty="0"/>
              <a:t>内置函数</a:t>
            </a:r>
            <a:r>
              <a:rPr lang="en-US" altLang="zh-CN" sz="2800" dirty="0"/>
              <a:t>abs</a:t>
            </a:r>
            <a:r>
              <a:rPr lang="zh-CN" altLang="en-US" sz="2800" dirty="0"/>
              <a:t>求参数的绝对值</a:t>
            </a:r>
          </a:p>
          <a:p>
            <a:pPr lvl="1">
              <a:lnSpc>
                <a:spcPct val="120000"/>
              </a:lnSpc>
            </a:pPr>
            <a:endParaRPr lang="en-US" altLang="zh-CN" sz="2800" dirty="0"/>
          </a:p>
          <a:p>
            <a:pPr>
              <a:lnSpc>
                <a:spcPct val="120000"/>
              </a:lnSpc>
            </a:pPr>
            <a:r>
              <a:rPr lang="zh-CN" altLang="en-US" sz="2800" dirty="0"/>
              <a:t>方法</a:t>
            </a:r>
            <a:r>
              <a:rPr lang="en-US" altLang="zh-CN" sz="2800" dirty="0"/>
              <a:t>2</a:t>
            </a:r>
            <a:r>
              <a:rPr lang="zh-CN" altLang="en-US" sz="2800" dirty="0"/>
              <a:t>：使用</a:t>
            </a:r>
            <a:r>
              <a:rPr lang="en-US" altLang="zh-CN" sz="2800" dirty="0"/>
              <a:t>math</a:t>
            </a:r>
            <a:r>
              <a:rPr lang="zh-CN" altLang="en-US" sz="2800" dirty="0"/>
              <a:t>库中的</a:t>
            </a:r>
            <a:r>
              <a:rPr lang="en-US" altLang="zh-CN" sz="2800" dirty="0" err="1"/>
              <a:t>isclose</a:t>
            </a:r>
            <a:r>
              <a:rPr lang="en-US" altLang="zh-CN" sz="2800" dirty="0"/>
              <a:t>()</a:t>
            </a:r>
            <a:r>
              <a:rPr lang="zh-CN" altLang="en-US" sz="2800" dirty="0"/>
              <a:t>函数。</a:t>
            </a:r>
          </a:p>
          <a:p>
            <a:pPr lvl="1">
              <a:lnSpc>
                <a:spcPct val="120000"/>
              </a:lnSpc>
            </a:pPr>
            <a:r>
              <a:rPr lang="en-US" altLang="zh-CN" sz="2800" dirty="0"/>
              <a:t>&gt;&gt;&gt; import math	</a:t>
            </a:r>
          </a:p>
          <a:p>
            <a:pPr lvl="1">
              <a:lnSpc>
                <a:spcPct val="120000"/>
              </a:lnSpc>
            </a:pPr>
            <a:r>
              <a:rPr lang="en-US" altLang="zh-CN" sz="2800" dirty="0"/>
              <a:t>&gt;&gt;&gt; </a:t>
            </a:r>
            <a:r>
              <a:rPr lang="en-US" altLang="zh-CN" sz="2800" dirty="0" err="1"/>
              <a:t>math.isclose</a:t>
            </a:r>
            <a:r>
              <a:rPr lang="en-US" altLang="zh-CN" sz="2800" dirty="0"/>
              <a:t>(x1,x2)	</a:t>
            </a:r>
          </a:p>
        </p:txBody>
      </p:sp>
    </p:spTree>
    <p:extLst>
      <p:ext uri="{BB962C8B-B14F-4D97-AF65-F5344CB8AC3E}">
        <p14:creationId xmlns:p14="http://schemas.microsoft.com/office/powerpoint/2010/main" val="2421897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96FD4D-E0BC-41F5-99AB-08C543601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A54877A-BDF4-4701-B1B3-C3950E6073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41" y="1460977"/>
            <a:ext cx="7283855" cy="1584176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06EB27-F723-49F1-846D-B39883565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120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F630E63-DDE8-437E-B5A7-F10DA46C55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97" y="2924944"/>
            <a:ext cx="10524523" cy="60291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47CD9F1-75BF-4976-91B3-4253DBB17851}"/>
              </a:ext>
            </a:extLst>
          </p:cNvPr>
          <p:cNvSpPr txBox="1"/>
          <p:nvPr/>
        </p:nvSpPr>
        <p:spPr>
          <a:xfrm>
            <a:off x="251997" y="3718257"/>
            <a:ext cx="107291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Both"/>
            </a:pPr>
            <a:r>
              <a:rPr lang="en-US" altLang="zh-CN" sz="2400" b="1" dirty="0"/>
              <a:t>float(k)</a:t>
            </a:r>
          </a:p>
          <a:p>
            <a:pPr marL="457200" indent="-457200">
              <a:buAutoNum type="arabicParenBoth"/>
            </a:pPr>
            <a:r>
              <a:rPr lang="en-US" altLang="zh-CN" sz="2400" b="1" dirty="0"/>
              <a:t>import math</a:t>
            </a:r>
          </a:p>
          <a:p>
            <a:r>
              <a:rPr lang="en-US" altLang="zh-CN" sz="2400" b="1" dirty="0"/>
              <a:t>     </a:t>
            </a:r>
            <a:r>
              <a:rPr lang="en-US" altLang="zh-CN" sz="2400" b="1" dirty="0" err="1"/>
              <a:t>math.modf</a:t>
            </a:r>
            <a:r>
              <a:rPr lang="en-US" altLang="zh-CN" sz="2400" b="1" dirty="0"/>
              <a:t>(m)</a:t>
            </a:r>
          </a:p>
          <a:p>
            <a:r>
              <a:rPr lang="en-US" altLang="zh-CN" sz="2400" b="1" dirty="0"/>
              <a:t>&gt;&gt;&gt; </a:t>
            </a:r>
            <a:r>
              <a:rPr lang="en-US" altLang="zh-CN" sz="2400" b="1" dirty="0" err="1"/>
              <a:t>math.modf</a:t>
            </a:r>
            <a:r>
              <a:rPr lang="en-US" altLang="zh-CN" sz="2400" b="1" dirty="0"/>
              <a:t>(3.14)</a:t>
            </a:r>
          </a:p>
          <a:p>
            <a:r>
              <a:rPr lang="en-US" altLang="zh-CN" sz="2400" b="1" dirty="0"/>
              <a:t>(0.14000000000000012, 3.0)</a:t>
            </a:r>
          </a:p>
        </p:txBody>
      </p:sp>
    </p:spTree>
    <p:extLst>
      <p:ext uri="{BB962C8B-B14F-4D97-AF65-F5344CB8AC3E}">
        <p14:creationId xmlns:p14="http://schemas.microsoft.com/office/powerpoint/2010/main" val="33545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DE00AD-D1A3-40A6-8B8C-5C9FBF37B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FA3D63-1362-4E8F-855F-1158CE307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3200" b="1" dirty="0"/>
              <a:t>(3)</a:t>
            </a:r>
          </a:p>
          <a:p>
            <a:pPr marL="0" indent="0">
              <a:buNone/>
            </a:pPr>
            <a:r>
              <a:rPr lang="en-US" altLang="zh-CN" sz="3200" b="1" dirty="0"/>
              <a:t>&gt;&gt;&gt; x = 123</a:t>
            </a:r>
          </a:p>
          <a:p>
            <a:pPr marL="0" indent="0">
              <a:buNone/>
            </a:pPr>
            <a:r>
              <a:rPr lang="en-US" altLang="zh-CN" sz="3200" b="1" dirty="0"/>
              <a:t>&gt;&gt;&gt; s = str(x)	#</a:t>
            </a:r>
            <a:r>
              <a:rPr lang="zh-CN" altLang="en-US" sz="3200" b="1" dirty="0"/>
              <a:t>将</a:t>
            </a:r>
            <a:r>
              <a:rPr lang="en-US" altLang="zh-CN" sz="3200" b="1" dirty="0"/>
              <a:t>x</a:t>
            </a:r>
            <a:r>
              <a:rPr lang="zh-CN" altLang="en-US" sz="3200" b="1" dirty="0"/>
              <a:t>转换为字符串</a:t>
            </a:r>
            <a:endParaRPr lang="en-US" altLang="zh-CN" sz="3200" b="1" dirty="0"/>
          </a:p>
          <a:p>
            <a:pPr marL="0" indent="0">
              <a:buNone/>
            </a:pPr>
            <a:r>
              <a:rPr lang="en-US" altLang="zh-CN" sz="3200" b="1" dirty="0"/>
              <a:t>&gt;&gt;&gt; s</a:t>
            </a:r>
          </a:p>
          <a:p>
            <a:pPr marL="0" indent="0">
              <a:buNone/>
            </a:pPr>
            <a:r>
              <a:rPr lang="en-US" altLang="zh-CN" sz="3200" b="1" dirty="0"/>
              <a:t>'123'</a:t>
            </a:r>
          </a:p>
          <a:p>
            <a:pPr marL="0" indent="0">
              <a:buNone/>
            </a:pPr>
            <a:r>
              <a:rPr lang="en-US" altLang="zh-CN" sz="3200" b="1" dirty="0"/>
              <a:t>&gt;&gt;&gt; list1 = list(s)		#</a:t>
            </a:r>
            <a:r>
              <a:rPr lang="zh-CN" altLang="en-US" sz="3200" b="1" dirty="0"/>
              <a:t>将字符串转换为列表</a:t>
            </a:r>
            <a:endParaRPr lang="en-US" altLang="zh-CN" sz="3200" b="1" dirty="0"/>
          </a:p>
          <a:p>
            <a:pPr marL="0" indent="0">
              <a:buNone/>
            </a:pPr>
            <a:r>
              <a:rPr lang="en-US" altLang="zh-CN" sz="3200" b="1" dirty="0"/>
              <a:t>&gt;&gt;&gt; list1</a:t>
            </a:r>
          </a:p>
          <a:p>
            <a:pPr marL="0" indent="0">
              <a:buNone/>
            </a:pPr>
            <a:r>
              <a:rPr lang="en-US" altLang="zh-CN" sz="3200" b="1" dirty="0"/>
              <a:t>['1', '2', '3']</a:t>
            </a:r>
          </a:p>
          <a:p>
            <a:pPr marL="0" indent="0">
              <a:buNone/>
            </a:pPr>
            <a:r>
              <a:rPr lang="en-US" altLang="zh-CN" dirty="0"/>
              <a:t>&gt;&gt;&gt; a1 = </a:t>
            </a:r>
            <a:r>
              <a:rPr lang="en-US" altLang="zh-CN" dirty="0" err="1"/>
              <a:t>int</a:t>
            </a:r>
            <a:r>
              <a:rPr lang="en-US" altLang="zh-CN" dirty="0"/>
              <a:t>(list1[0])</a:t>
            </a:r>
          </a:p>
          <a:p>
            <a:pPr marL="0" indent="0">
              <a:buNone/>
            </a:pPr>
            <a:endParaRPr lang="en-US" altLang="zh-CN" sz="3200" b="1" dirty="0"/>
          </a:p>
          <a:p>
            <a:pPr marL="0" indent="0">
              <a:buNone/>
            </a:pPr>
            <a:endParaRPr lang="en-US" altLang="zh-CN" sz="3200" b="1" dirty="0"/>
          </a:p>
          <a:p>
            <a:pPr marL="0" indent="0">
              <a:buNone/>
            </a:pPr>
            <a:endParaRPr lang="en-US" altLang="zh-CN" sz="3200" b="1" dirty="0"/>
          </a:p>
          <a:p>
            <a:pPr marL="0" indent="0">
              <a:buNone/>
            </a:pPr>
            <a:endParaRPr lang="en-US" altLang="zh-CN" sz="3200" b="1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B1B855-F241-4D61-B9C2-2966C373B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20391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X=123</a:t>
            </a:r>
          </a:p>
          <a:p>
            <a:r>
              <a:rPr lang="en-US" altLang="zh-CN" dirty="0" err="1"/>
              <a:t>Gewei</a:t>
            </a:r>
            <a:r>
              <a:rPr lang="en-US" altLang="zh-CN" dirty="0"/>
              <a:t> = X%10</a:t>
            </a:r>
          </a:p>
          <a:p>
            <a:r>
              <a:rPr lang="en-US" altLang="zh-CN" dirty="0"/>
              <a:t>(x//10)%10</a:t>
            </a:r>
          </a:p>
          <a:p>
            <a:r>
              <a:rPr lang="en-US" altLang="zh-CN" dirty="0"/>
              <a:t>x//100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93012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6BB205-22A6-46C4-8C3B-0122A15CB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FC3C776B-689F-4E74-881F-EFC232EB69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916832"/>
            <a:ext cx="11054057" cy="2304256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EA8218-3D1B-4DC3-A8DE-856D5D462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123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C8D1AB-12BB-407C-B77A-0701F0EBF9F6}"/>
              </a:ext>
            </a:extLst>
          </p:cNvPr>
          <p:cNvSpPr txBox="1"/>
          <p:nvPr/>
        </p:nvSpPr>
        <p:spPr>
          <a:xfrm>
            <a:off x="425784" y="4447232"/>
            <a:ext cx="1072919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Both"/>
            </a:pPr>
            <a:r>
              <a:rPr lang="en-US" altLang="zh-CN" sz="2400" b="1" dirty="0"/>
              <a:t>2.25  </a:t>
            </a:r>
            <a:r>
              <a:rPr lang="zh-CN" altLang="en-US" sz="2400" b="1" dirty="0"/>
              <a:t>（说明：</a:t>
            </a:r>
            <a:r>
              <a:rPr lang="en-US" altLang="zh-CN" sz="2400" b="1" dirty="0"/>
              <a:t>6.6%2=0.6)</a:t>
            </a:r>
          </a:p>
          <a:p>
            <a:pPr marL="457200" indent="-457200">
              <a:buAutoNum type="arabicParenBoth"/>
            </a:pPr>
            <a:r>
              <a:rPr lang="en-US" altLang="zh-CN" sz="2400" b="1" dirty="0"/>
              <a:t>3.6	    </a:t>
            </a:r>
            <a:r>
              <a:rPr lang="zh-CN" altLang="en-US" sz="2400" b="1" dirty="0"/>
              <a:t>（说明：</a:t>
            </a:r>
            <a:r>
              <a:rPr lang="en-US" altLang="zh-CN" sz="2400" b="1" dirty="0"/>
              <a:t>5/2=2.5,  3.6%2.5=1.1)</a:t>
            </a:r>
          </a:p>
          <a:p>
            <a:pPr marL="457200" indent="-457200">
              <a:buAutoNum type="arabicParenBoth"/>
            </a:pPr>
            <a:r>
              <a:rPr lang="en-US" altLang="zh-CN" sz="2400" b="1" dirty="0"/>
              <a:t>2.5    </a:t>
            </a:r>
            <a:r>
              <a:rPr lang="zh-CN" altLang="en-US" sz="2400" b="1" dirty="0"/>
              <a:t>（说明：</a:t>
            </a:r>
            <a:r>
              <a:rPr lang="en-US" altLang="zh-CN" sz="2400" b="1" dirty="0"/>
              <a:t>2.5+7%3</a:t>
            </a:r>
            <a:r>
              <a:rPr lang="zh-CN" altLang="en-US" sz="2400" b="1" dirty="0"/>
              <a:t>*</a:t>
            </a:r>
            <a:r>
              <a:rPr lang="en-US" altLang="zh-CN" sz="2400" b="1" dirty="0"/>
              <a:t>7.2%2//4</a:t>
            </a:r>
          </a:p>
          <a:p>
            <a:r>
              <a:rPr lang="en-US" altLang="zh-CN" sz="2400" b="1" dirty="0"/>
              <a:t>		     =2.5+1</a:t>
            </a:r>
            <a:r>
              <a:rPr lang="zh-CN" altLang="en-US" sz="2400" b="1" dirty="0"/>
              <a:t>*</a:t>
            </a:r>
            <a:r>
              <a:rPr lang="en-US" altLang="zh-CN" sz="2400" b="1" dirty="0"/>
              <a:t>7.2%2//4</a:t>
            </a:r>
          </a:p>
          <a:p>
            <a:r>
              <a:rPr lang="en-US" altLang="zh-CN" sz="2400" b="1" dirty="0"/>
              <a:t>		     =2.5+7.2%2//4  </a:t>
            </a:r>
          </a:p>
          <a:p>
            <a:r>
              <a:rPr lang="en-US" altLang="zh-CN" sz="2400" b="1" dirty="0"/>
              <a:t>		     =2.5+1.2//4       =2.5</a:t>
            </a:r>
          </a:p>
          <a:p>
            <a:pPr marL="457200" indent="-457200">
              <a:buAutoNum type="arabicParenBoth"/>
            </a:pPr>
            <a:endParaRPr lang="en-US" altLang="zh-CN" sz="2400" b="1" dirty="0"/>
          </a:p>
          <a:p>
            <a:pPr marL="457200" indent="-457200">
              <a:buAutoNum type="arabicParenBoth"/>
            </a:pPr>
            <a:endParaRPr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622752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4327525" y="1499870"/>
            <a:ext cx="3436620" cy="922020"/>
          </a:xfrm>
          <a:prstGeom prst="rect">
            <a:avLst/>
          </a:prstGeom>
          <a:noFill/>
        </p:spPr>
        <p:txBody>
          <a:bodyPr wrap="square" rtlCol="0">
            <a:normAutofit fontScale="67500" lnSpcReduction="20000"/>
          </a:bodyPr>
          <a:lstStyle/>
          <a:p>
            <a:pPr algn="dist"/>
            <a:r>
              <a:rPr lang="zh-CN" altLang="en-US" sz="5400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清华大学出版社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0"/>
              <a:t>谢谢观赏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A143D20-F6D3-467F-860D-CF27DD50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124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4327525" y="1499870"/>
            <a:ext cx="3436620" cy="922020"/>
          </a:xfrm>
          <a:prstGeom prst="rect">
            <a:avLst/>
          </a:prstGeom>
          <a:noFill/>
        </p:spPr>
        <p:txBody>
          <a:bodyPr wrap="square" rtlCol="0">
            <a:normAutofit fontScale="67500" lnSpcReduction="20000"/>
          </a:bodyPr>
          <a:lstStyle/>
          <a:p>
            <a:pPr algn="dist"/>
            <a:r>
              <a:rPr lang="zh-CN" altLang="en-US" sz="5400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清华大学出版社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0"/>
              <a:t>小测验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A143D20-F6D3-467F-860D-CF27DD50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125</a:t>
            </a:fld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323948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 IDLE</a:t>
            </a:r>
            <a:r>
              <a:rPr lang="zh-CN" altLang="en-US" dirty="0"/>
              <a:t>交互式环境下，浏览上一条语句的命令是（   ），下一条语句的命令是（   ）。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下列内置函数的意义：</a:t>
            </a:r>
            <a:br>
              <a:rPr lang="en-US" altLang="zh-CN" dirty="0"/>
            </a:br>
            <a:r>
              <a:rPr lang="en-US" altLang="zh-CN" dirty="0"/>
              <a:t>     id() 	type()	pow()	</a:t>
            </a:r>
            <a:r>
              <a:rPr lang="en-US" altLang="zh-CN" dirty="0" err="1"/>
              <a:t>sqrt</a:t>
            </a:r>
            <a:r>
              <a:rPr lang="en-US" altLang="zh-CN" dirty="0"/>
              <a:t>()</a:t>
            </a:r>
          </a:p>
          <a:p>
            <a:r>
              <a:rPr lang="en-US" altLang="zh-CN" dirty="0"/>
              <a:t>3.   </a:t>
            </a:r>
            <a:r>
              <a:rPr lang="zh-CN" altLang="en-US" dirty="0"/>
              <a:t>下列表达式的结果是什么：</a:t>
            </a:r>
            <a:br>
              <a:rPr lang="en-US" altLang="zh-CN" dirty="0"/>
            </a:br>
            <a:r>
              <a:rPr lang="en-US" altLang="zh-CN" dirty="0"/>
              <a:t>       3/5       3//5          </a:t>
            </a:r>
            <a:r>
              <a:rPr lang="en-US" altLang="zh-CN" dirty="0" err="1"/>
              <a:t>divmod</a:t>
            </a:r>
            <a:r>
              <a:rPr lang="en-US" altLang="zh-CN"/>
              <a:t>(3,5)</a:t>
            </a:r>
          </a:p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790705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23578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833552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833552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833552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833552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833552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833552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en-US" altLang="zh-CN" dirty="0" err="1"/>
              <a:t>Alt+P</a:t>
            </a:r>
            <a:r>
              <a:rPr lang="en-US" altLang="zh-CN" dirty="0"/>
              <a:t>,   </a:t>
            </a:r>
            <a:r>
              <a:rPr lang="en-US" altLang="zh-CN" dirty="0" err="1"/>
              <a:t>Alt+N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8335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幻灯片 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  <p:tag name="KSO_WM_SLIDE_BK_DARK_LIGHT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  <p:tag name="KSO_WM_SLIDE_BK_DARK_LIGHT" val="2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4811"/>
  <p:tag name="MH_LIBRARY" val="GRAPHIC"/>
  <p:tag name="MH_TYPE" val="SubTitle"/>
  <p:tag name="MH_ORDER" val="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4811"/>
  <p:tag name="MH_LIBRARY" val="GRAPHIC"/>
  <p:tag name="MH_TYPE" val="SubTitle"/>
  <p:tag name="MH_ORDER" val="2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4811"/>
  <p:tag name="MH_LIBRARY" val="GRAPHIC"/>
  <p:tag name="MH_TYPE" val="SubTitle"/>
  <p:tag name="MH_ORDER" val="2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4811"/>
  <p:tag name="MH_LIBRARY" val="GRAPHIC"/>
  <p:tag name="MH_TYPE" val="SubTitle"/>
  <p:tag name="MH_ORDER" val="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4811"/>
  <p:tag name="MH_LIBRARY" val="GRAPHIC"/>
  <p:tag name="MH_TYPE" val="SubTitle"/>
  <p:tag name="MH_ORDER" val="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4811"/>
  <p:tag name="MH_LIBRARY" val="GRAPHIC"/>
  <p:tag name="MH_TYPE" val="SubTitle"/>
  <p:tag name="MH_ORDER" val="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4811"/>
  <p:tag name="MH_LIBRARY" val="GRAPHIC"/>
  <p:tag name="MH_TYPE" val="SubTitle"/>
  <p:tag name="MH_ORDER" val="2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4811"/>
  <p:tag name="MH_LIBRARY" val="GRAPHIC"/>
  <p:tag name="MH_TYPE" val="SubTitle"/>
  <p:tag name="MH_ORDER" val="2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08134811"/>
  <p:tag name="MH_LIBRARY" val="GRAPHIC"/>
  <p:tag name="MH_TYPE" val="SubTitle"/>
  <p:tag name="MH_ORDER" val="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2601_15"/>
  <p:tag name="KSO_WM_TEMPLATE_SUBCATEGORY" val="0"/>
  <p:tag name="KSO_WM_TEMPLATE_MASTER_TYPE" val="1"/>
  <p:tag name="KSO_WM_TEMPLATE_COLOR_TYPE" val="1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2601"/>
  <p:tag name="KSO_WM_SLIDE_LAYOUT" val="a_b"/>
  <p:tag name="KSO_WM_SLIDE_LAYOUT_CNT" val="1_2"/>
  <p:tag name="KSO_WM_SLIDE_TYPE" val="endPage"/>
  <p:tag name="KSO_WM_SLIDE_SUBTYPE" val="pureTxt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15*i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CONTENTSTITLE" val="0"/>
  <p:tag name="KSO_WM_UNIT_NOCLEAR" val="0"/>
  <p:tag name="KSO_WM_UNIT_TYPE" val="i"/>
  <p:tag name="KSO_WM_UNIT_INDEX" val="1"/>
  <p:tag name="KSO_WM_UNIT_PRESET_TEXT" val="2019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15*a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CONTENTSTITLE" val="0"/>
  <p:tag name="KSO_WM_UNIT_PRESET_TEXT" val="谢谢观赏"/>
  <p:tag name="KSO_WM_UNIT_NOCLEAR" val="1"/>
  <p:tag name="KSO_WM_UNIT_VALUE" val="6"/>
  <p:tag name="KSO_WM_UNIT_TYPE" val="a"/>
  <p:tag name="KSO_WM_UNIT_INDEX" val="1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2601_15"/>
  <p:tag name="KSO_WM_TEMPLATE_SUBCATEGORY" val="0"/>
  <p:tag name="KSO_WM_TEMPLATE_MASTER_TYPE" val="1"/>
  <p:tag name="KSO_WM_TEMPLATE_COLOR_TYPE" val="1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2601"/>
  <p:tag name="KSO_WM_SLIDE_LAYOUT" val="a_b"/>
  <p:tag name="KSO_WM_SLIDE_LAYOUT_CNT" val="1_2"/>
  <p:tag name="KSO_WM_SLIDE_TYPE" val="endPage"/>
  <p:tag name="KSO_WM_SLIDE_SUBTYPE" val="pureTxt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15*i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CONTENTSTITLE" val="0"/>
  <p:tag name="KSO_WM_UNIT_NOCLEAR" val="0"/>
  <p:tag name="KSO_WM_UNIT_TYPE" val="i"/>
  <p:tag name="KSO_WM_UNIT_INDEX" val="1"/>
  <p:tag name="KSO_WM_UNIT_PRESET_TEXT" val="2019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15*a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CONTENTSTITLE" val="0"/>
  <p:tag name="KSO_WM_UNIT_PRESET_TEXT" val="谢谢观赏"/>
  <p:tag name="KSO_WM_UNIT_NOCLEAR" val="1"/>
  <p:tag name="KSO_WM_UNIT_VALUE" val="6"/>
  <p:tag name="KSO_WM_UNIT_TYPE" val="a"/>
  <p:tag name="KSO_WM_UNIT_INDEX" val="1"/>
</p:tagLst>
</file>

<file path=ppt/theme/theme1.xml><?xml version="1.0" encoding="utf-8"?>
<a:theme xmlns:a="http://schemas.openxmlformats.org/drawingml/2006/main" name="当图网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当图网1">
  <a:themeElements>
    <a:clrScheme name="Office 主题​​">
      <a:dk1>
        <a:sysClr val="windowText" lastClr="FFFFFF"/>
      </a:dk1>
      <a:lt1>
        <a:sysClr val="window" lastClr="000000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当图网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当图网1">
  <a:themeElements>
    <a:clrScheme name="Office 主题​​">
      <a:dk1>
        <a:sysClr val="windowText" lastClr="FFFFFF"/>
      </a:dk1>
      <a:lt1>
        <a:sysClr val="window" lastClr="000000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myPPT模板">
  <a:themeElements>
    <a:clrScheme name="Office 主题​​">
      <a:dk1>
        <a:sysClr val="windowText" lastClr="FFFFFF"/>
      </a:dk1>
      <a:lt1>
        <a:sysClr val="window" lastClr="000000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y_1" id="{C2C36974-503D-40BF-B1BF-40E4A9C2FC5C}" vid="{C9BEC861-27E7-4960-A42D-64E6426B78C2}"/>
    </a:ext>
  </a:extLst>
</a:theme>
</file>

<file path=ppt/theme/theme6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3795</TotalTime>
  <Words>7279</Words>
  <Application>Microsoft Office PowerPoint</Application>
  <PresentationFormat>宽屏</PresentationFormat>
  <Paragraphs>1310</Paragraphs>
  <Slides>134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134</vt:i4>
      </vt:variant>
    </vt:vector>
  </HeadingPairs>
  <TitlesOfParts>
    <vt:vector size="151" baseType="lpstr">
      <vt:lpstr>等线</vt:lpstr>
      <vt:lpstr>汉仪旗黑-85S</vt:lpstr>
      <vt:lpstr>黑体</vt:lpstr>
      <vt:lpstr>华文新魏</vt:lpstr>
      <vt:lpstr>微软雅黑</vt:lpstr>
      <vt:lpstr>Arial</vt:lpstr>
      <vt:lpstr>Calibri</vt:lpstr>
      <vt:lpstr>Calibri Light</vt:lpstr>
      <vt:lpstr>Cambria Math</vt:lpstr>
      <vt:lpstr>Segoe UI Semilight</vt:lpstr>
      <vt:lpstr>Viner Hand ITC</vt:lpstr>
      <vt:lpstr>Wingdings</vt:lpstr>
      <vt:lpstr>当图网</vt:lpstr>
      <vt:lpstr>当图网1</vt:lpstr>
      <vt:lpstr>1_当图网</vt:lpstr>
      <vt:lpstr>1_当图网1</vt:lpstr>
      <vt:lpstr>myPPT模板</vt:lpstr>
      <vt:lpstr>第2章 Python语言基础</vt:lpstr>
      <vt:lpstr>目录</vt:lpstr>
      <vt:lpstr>PowerPoint 演示文稿</vt:lpstr>
      <vt:lpstr>2.1 常量</vt:lpstr>
      <vt:lpstr>常量</vt:lpstr>
      <vt:lpstr>常量的举例</vt:lpstr>
      <vt:lpstr>常量None</vt:lpstr>
      <vt:lpstr>2.2 数据类型</vt:lpstr>
      <vt:lpstr>Python中数据的类型</vt:lpstr>
      <vt:lpstr>2.2.1 数值类型</vt:lpstr>
      <vt:lpstr>PowerPoint 演示文稿</vt:lpstr>
      <vt:lpstr>例：数值</vt:lpstr>
      <vt:lpstr>2.2.2 字符串</vt:lpstr>
      <vt:lpstr>2.2.2 字符串</vt:lpstr>
      <vt:lpstr>例：字符串</vt:lpstr>
      <vt:lpstr>例：字符串</vt:lpstr>
      <vt:lpstr>例：字符串</vt:lpstr>
      <vt:lpstr>转义字符</vt:lpstr>
      <vt:lpstr>表2-1 转义字符及含义</vt:lpstr>
      <vt:lpstr>表2-1 转义字符及含义(续)</vt:lpstr>
      <vt:lpstr>原始字符串</vt:lpstr>
      <vt:lpstr>输入中换行</vt:lpstr>
      <vt:lpstr>2.2.3 布尔类型</vt:lpstr>
      <vt:lpstr>PowerPoint 演示文稿</vt:lpstr>
      <vt:lpstr>2.2.4 复合类型 列表 </vt:lpstr>
      <vt:lpstr>2.2.4 复合类型 列表 </vt:lpstr>
      <vt:lpstr>2.2.4 复合类型 列表 </vt:lpstr>
      <vt:lpstr>元组</vt:lpstr>
      <vt:lpstr>PowerPoint 演示文稿</vt:lpstr>
      <vt:lpstr>PowerPoint 演示文稿</vt:lpstr>
      <vt:lpstr>字典 </vt:lpstr>
      <vt:lpstr>字典</vt:lpstr>
      <vt:lpstr>集合 </vt:lpstr>
      <vt:lpstr>2.3 变量</vt:lpstr>
      <vt:lpstr>对象</vt:lpstr>
      <vt:lpstr>对象</vt:lpstr>
      <vt:lpstr>标识符</vt:lpstr>
      <vt:lpstr>PowerPoint 演示文稿</vt:lpstr>
      <vt:lpstr>Python的33个保留字（关键字）</vt:lpstr>
      <vt:lpstr>例:保留字</vt:lpstr>
      <vt:lpstr>变量</vt:lpstr>
      <vt:lpstr>常量 VS 变量</vt:lpstr>
      <vt:lpstr>Type函数查看变量类型</vt:lpstr>
      <vt:lpstr>变量名的命名</vt:lpstr>
      <vt:lpstr>不要把内置函数名作为变量名</vt:lpstr>
      <vt:lpstr>变量在内存中存了什么？</vt:lpstr>
      <vt:lpstr>变量在内存中存了什么？</vt:lpstr>
      <vt:lpstr>变量与数据类型</vt:lpstr>
      <vt:lpstr>变量与数据类型</vt:lpstr>
      <vt:lpstr>Type()函数查看变量类型</vt:lpstr>
      <vt:lpstr>PowerPoint 演示文稿</vt:lpstr>
      <vt:lpstr>单独的下画线 _</vt:lpstr>
      <vt:lpstr>2.4 基本运算</vt:lpstr>
      <vt:lpstr>2.4.1 算术运算</vt:lpstr>
      <vt:lpstr>2.4.1 算术运算</vt:lpstr>
      <vt:lpstr>2.4.1 算术运算</vt:lpstr>
      <vt:lpstr>2.4.1 算术运算</vt:lpstr>
      <vt:lpstr>浮点数的计算误差</vt:lpstr>
      <vt:lpstr>如何判断2个浮点数是否相等？</vt:lpstr>
      <vt:lpstr>2.4.2 位运算*</vt:lpstr>
      <vt:lpstr>bin函数</vt:lpstr>
      <vt:lpstr>&amp; 按位与运算</vt:lpstr>
      <vt:lpstr>PowerPoint 演示文稿</vt:lpstr>
      <vt:lpstr>PowerPoint 演示文稿</vt:lpstr>
      <vt:lpstr>|或运算</vt:lpstr>
      <vt:lpstr>^异或运算符</vt:lpstr>
      <vt:lpstr>~按位取反</vt:lpstr>
      <vt:lpstr>&lt;&lt; 左移运算符</vt:lpstr>
      <vt:lpstr>&lt;&lt; 左移运算符</vt:lpstr>
      <vt:lpstr>&gt;&gt; 右移运算符</vt:lpstr>
      <vt:lpstr>&gt;&gt; 右移运算符</vt:lpstr>
      <vt:lpstr>赋值运算符 =,+=,-=,*=,/=</vt:lpstr>
      <vt:lpstr>按位翻转~</vt:lpstr>
      <vt:lpstr>优先级</vt:lpstr>
      <vt:lpstr> </vt:lpstr>
      <vt:lpstr>2.5 常用系统函数</vt:lpstr>
      <vt:lpstr>2.5.1 常用内置函数</vt:lpstr>
      <vt:lpstr>PowerPoint 演示文稿</vt:lpstr>
      <vt:lpstr>内置的数学函数</vt:lpstr>
      <vt:lpstr>内置的数学函数</vt:lpstr>
      <vt:lpstr>数据类型转换函数</vt:lpstr>
      <vt:lpstr>PowerPoint 演示文稿</vt:lpstr>
      <vt:lpstr>PowerPoint 演示文稿</vt:lpstr>
      <vt:lpstr>PowerPoint 演示文稿</vt:lpstr>
      <vt:lpstr>其他内置函数</vt:lpstr>
      <vt:lpstr>其他内置函数</vt:lpstr>
      <vt:lpstr>导入库</vt:lpstr>
      <vt:lpstr>导入库（1）—— import语句</vt:lpstr>
      <vt:lpstr>导入库（2）—— from…import 语句</vt:lpstr>
      <vt:lpstr>导入库（3）—— from…import * 语句</vt:lpstr>
      <vt:lpstr>常用标准库函数</vt:lpstr>
      <vt:lpstr>Math库</vt:lpstr>
      <vt:lpstr>Random库</vt:lpstr>
      <vt:lpstr>Time库</vt:lpstr>
      <vt:lpstr>Timedate库</vt:lpstr>
      <vt:lpstr>PowerPoint 演示文稿</vt:lpstr>
      <vt:lpstr>基本的输入输出函数</vt:lpstr>
      <vt:lpstr>Input函数</vt:lpstr>
      <vt:lpstr>Input函数</vt:lpstr>
      <vt:lpstr>Split函数实现1行输入多个变量</vt:lpstr>
      <vt:lpstr>加入输入提示</vt:lpstr>
      <vt:lpstr>输出 print函数</vt:lpstr>
      <vt:lpstr>print函数</vt:lpstr>
      <vt:lpstr>PowerPoint 演示文稿</vt:lpstr>
      <vt:lpstr>PowerPoint 演示文稿</vt:lpstr>
      <vt:lpstr>PowerPoint 演示文稿</vt:lpstr>
      <vt:lpstr>运行结果</vt:lpstr>
      <vt:lpstr>关于注释</vt:lpstr>
      <vt:lpstr>2.6 Python的帮助系统</vt:lpstr>
      <vt:lpstr>dir()函数和help()函数</vt:lpstr>
      <vt:lpstr>联机帮助环境</vt:lpstr>
      <vt:lpstr>课后作业 P45</vt:lpstr>
      <vt:lpstr>习题 P45</vt:lpstr>
      <vt:lpstr>PowerPoint 演示文稿</vt:lpstr>
      <vt:lpstr>习题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谢谢观赏</vt:lpstr>
      <vt:lpstr>小测验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当图网</dc:title>
  <dc:creator>钱毅湘</dc:creator>
  <cp:lastModifiedBy>Julia Ge</cp:lastModifiedBy>
  <cp:revision>405</cp:revision>
  <dcterms:created xsi:type="dcterms:W3CDTF">2018-10-09T06:59:00Z</dcterms:created>
  <dcterms:modified xsi:type="dcterms:W3CDTF">2024-02-26T15:22:53Z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2052-11.1.0.9175</vt:lpwstr>
  </property>
</Properties>
</file>