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heme/theme2.xml" ContentType="application/vnd.openxmlformats-officedocument.them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.xml" ContentType="application/vnd.openxmlformats-officedocument.presentationml.notesSlide+xml"/>
  <Override PartName="/ppt/tags/tag107.xml" ContentType="application/vnd.openxmlformats-officedocument.presentationml.tags+xml"/>
  <Override PartName="/ppt/notesSlides/notesSlide2.xml" ContentType="application/vnd.openxmlformats-officedocument.presentationml.notesSlide+xml"/>
  <Override PartName="/ppt/tags/tag108.xml" ContentType="application/vnd.openxmlformats-officedocument.presentationml.tags+xml"/>
  <Override PartName="/ppt/notesSlides/notesSlide3.xml" ContentType="application/vnd.openxmlformats-officedocument.presentationml.notesSlide+xml"/>
  <Override PartName="/ppt/tags/tag109.xml" ContentType="application/vnd.openxmlformats-officedocument.presentationml.tags+xml"/>
  <Override PartName="/ppt/notesSlides/notesSlide4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74"/>
  </p:notesMasterIdLst>
  <p:sldIdLst>
    <p:sldId id="582" r:id="rId2"/>
    <p:sldId id="502" r:id="rId3"/>
    <p:sldId id="485" r:id="rId4"/>
    <p:sldId id="483" r:id="rId5"/>
    <p:sldId id="498" r:id="rId6"/>
    <p:sldId id="503" r:id="rId7"/>
    <p:sldId id="504" r:id="rId8"/>
    <p:sldId id="505" r:id="rId9"/>
    <p:sldId id="579" r:id="rId10"/>
    <p:sldId id="507" r:id="rId11"/>
    <p:sldId id="585" r:id="rId12"/>
    <p:sldId id="584" r:id="rId13"/>
    <p:sldId id="583" r:id="rId14"/>
    <p:sldId id="580" r:id="rId15"/>
    <p:sldId id="508" r:id="rId16"/>
    <p:sldId id="509" r:id="rId17"/>
    <p:sldId id="510" r:id="rId18"/>
    <p:sldId id="586" r:id="rId19"/>
    <p:sldId id="587" r:id="rId20"/>
    <p:sldId id="588" r:id="rId21"/>
    <p:sldId id="511" r:id="rId22"/>
    <p:sldId id="512" r:id="rId23"/>
    <p:sldId id="513" r:id="rId24"/>
    <p:sldId id="514" r:id="rId25"/>
    <p:sldId id="515" r:id="rId26"/>
    <p:sldId id="516" r:id="rId27"/>
    <p:sldId id="488" r:id="rId28"/>
    <p:sldId id="517" r:id="rId29"/>
    <p:sldId id="589" r:id="rId30"/>
    <p:sldId id="489" r:id="rId31"/>
    <p:sldId id="499" r:id="rId32"/>
    <p:sldId id="518" r:id="rId33"/>
    <p:sldId id="500" r:id="rId34"/>
    <p:sldId id="590" r:id="rId35"/>
    <p:sldId id="520" r:id="rId36"/>
    <p:sldId id="522" r:id="rId37"/>
    <p:sldId id="591" r:id="rId38"/>
    <p:sldId id="521" r:id="rId39"/>
    <p:sldId id="523" r:id="rId40"/>
    <p:sldId id="592" r:id="rId41"/>
    <p:sldId id="525" r:id="rId42"/>
    <p:sldId id="526" r:id="rId43"/>
    <p:sldId id="593" r:id="rId44"/>
    <p:sldId id="528" r:id="rId45"/>
    <p:sldId id="490" r:id="rId46"/>
    <p:sldId id="501" r:id="rId47"/>
    <p:sldId id="530" r:id="rId48"/>
    <p:sldId id="531" r:id="rId49"/>
    <p:sldId id="594" r:id="rId50"/>
    <p:sldId id="532" r:id="rId51"/>
    <p:sldId id="608" r:id="rId52"/>
    <p:sldId id="609" r:id="rId53"/>
    <p:sldId id="577" r:id="rId54"/>
    <p:sldId id="573" r:id="rId55"/>
    <p:sldId id="578" r:id="rId56"/>
    <p:sldId id="612" r:id="rId57"/>
    <p:sldId id="595" r:id="rId58"/>
    <p:sldId id="596" r:id="rId59"/>
    <p:sldId id="597" r:id="rId60"/>
    <p:sldId id="598" r:id="rId61"/>
    <p:sldId id="610" r:id="rId62"/>
    <p:sldId id="611" r:id="rId63"/>
    <p:sldId id="599" r:id="rId64"/>
    <p:sldId id="605" r:id="rId65"/>
    <p:sldId id="600" r:id="rId66"/>
    <p:sldId id="606" r:id="rId67"/>
    <p:sldId id="601" r:id="rId68"/>
    <p:sldId id="607" r:id="rId69"/>
    <p:sldId id="602" r:id="rId70"/>
    <p:sldId id="603" r:id="rId71"/>
    <p:sldId id="604" r:id="rId72"/>
    <p:sldId id="497" r:id="rId73"/>
  </p:sldIdLst>
  <p:sldSz cx="12192000" cy="6858000"/>
  <p:notesSz cx="6858000" cy="9144000"/>
  <p:custDataLst>
    <p:tags r:id="rId7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990000"/>
    <a:srgbClr val="0033CC"/>
    <a:srgbClr val="800080"/>
    <a:srgbClr val="660066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3" autoAdjust="0"/>
    <p:restoredTop sz="94660"/>
  </p:normalViewPr>
  <p:slideViewPr>
    <p:cSldViewPr showGuides="1">
      <p:cViewPr varScale="1">
        <p:scale>
          <a:sx n="78" d="100"/>
          <a:sy n="78" d="100"/>
        </p:scale>
        <p:origin x="615" y="21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27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45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6.png"/><Relationship Id="rId5" Type="http://schemas.openxmlformats.org/officeDocument/2006/relationships/tags" Target="../tags/tag18.xml"/><Relationship Id="rId10" Type="http://schemas.openxmlformats.org/officeDocument/2006/relationships/image" Target="../media/image5.png"/><Relationship Id="rId4" Type="http://schemas.openxmlformats.org/officeDocument/2006/relationships/tags" Target="../tags/tag17.xml"/><Relationship Id="rId9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3.png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2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7.png"/><Relationship Id="rId5" Type="http://schemas.openxmlformats.org/officeDocument/2006/relationships/tags" Target="../tags/tag2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6.png"/><Relationship Id="rId5" Type="http://schemas.openxmlformats.org/officeDocument/2006/relationships/tags" Target="../tags/tag35.xml"/><Relationship Id="rId10" Type="http://schemas.openxmlformats.org/officeDocument/2006/relationships/image" Target="../media/image5.png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image" Target="../media/image9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8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8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10" Type="http://schemas.openxmlformats.org/officeDocument/2006/relationships/image" Target="../media/image11.png"/><Relationship Id="rId4" Type="http://schemas.openxmlformats.org/officeDocument/2006/relationships/tags" Target="../tags/tag82.xml"/><Relationship Id="rId9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12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4.png"/><Relationship Id="rId5" Type="http://schemas.openxmlformats.org/officeDocument/2006/relationships/tags" Target="../tags/tag101.xml"/><Relationship Id="rId10" Type="http://schemas.openxmlformats.org/officeDocument/2006/relationships/image" Target="../media/image13.png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20C2A66-674B-4E2C-9331-BF930D797691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44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37030"/>
            <a:ext cx="10873208" cy="877233"/>
          </a:xfrm>
        </p:spPr>
        <p:txBody>
          <a:bodyPr/>
          <a:lstStyle>
            <a:lvl1pPr algn="l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6" y="1196752"/>
            <a:ext cx="12059654" cy="5780486"/>
          </a:xfrm>
        </p:spPr>
        <p:txBody>
          <a:bodyPr>
            <a:normAutofit/>
          </a:bodyPr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DF1E-2037-4B0F-BAAC-894B1CE64362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91628" y="6385210"/>
            <a:ext cx="2743200" cy="365125"/>
          </a:xfrm>
        </p:spPr>
        <p:txBody>
          <a:bodyPr/>
          <a:lstStyle>
            <a:lvl1pPr>
              <a:defRPr sz="2400" b="1"/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4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C284E05-F085-4A5B-AF38-A6090B6F585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5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84F1A-E17D-477C-A620-1D146F336BF0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62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FA113-1CA7-4ADB-9780-ABE3F561E80A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0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E392-02B2-479C-9DE7-95951542A97F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1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235F-9E2D-4DFF-8AD3-AF85F2E8FB5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02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E5C75-E01B-4132-8D9C-BBF842DE9A81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6638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04B9-4B00-484A-A2D7-43416B384589}" type="datetime1">
              <a:rPr lang="zh-CN" altLang="en-US" smtClean="0"/>
              <a:t>2023/3/13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14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D497-4F12-44EA-8D0C-53DB28255A64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35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B0A067-987E-459C-994D-6C969E7E899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3745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8CF3AC-B929-48C0-A33E-EC8AC94989D5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9280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4279F6E-9BDB-491D-93B5-EAEAE4FFC03D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431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5ED13-AF60-455C-9C03-83E0D12E5764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295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9A49-F92A-4B51-9BD7-3C7C897B2AD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37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8E90-F6F6-4068-A24A-BED174172FE5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094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D0481-1761-46C3-BAF3-C0CD79BB1B97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270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5C2AC65E-A036-4A52-B2D5-C3957CC0F70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800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4177585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2204864"/>
            <a:ext cx="5283242" cy="41365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2204864"/>
            <a:ext cx="5283242" cy="4136550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1E6AB96-7508-4DB4-982D-46F7903F6227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669925" y="1268760"/>
            <a:ext cx="10852150" cy="86484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69540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FC9142B8-126C-433D-94B3-4BCCB54EED6B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3987489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329539"/>
            <a:ext cx="5283242" cy="501187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329539"/>
            <a:ext cx="5283242" cy="5011876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5878216-36BE-4602-98DE-8CA9652CA9FC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5AA50A9-CE5E-4247-A72D-C528636014E4}" type="datetime1">
              <a:rPr lang="zh-CN" altLang="en-US" smtClean="0"/>
              <a:t>2023/3/13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CC58767-75C2-44BB-93D5-3A2DFF1A0F53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B3D67BC-BDAD-481B-A16A-2A1D9139D33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5237192-B91D-4572-95CF-80202C1F2197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0AEC561-C55C-46C2-8C29-803E5378EBE9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BE663C22-4A7D-410D-B0E4-2E0E42CE7F83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04191289-D728-4987-AB51-8A444DCFD9E6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C5C14843-6478-4C07-8347-DFAE7E8F7323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1066972-3A3A-42F7-A19D-6A652367E5F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1525-BE42-49FE-84A7-17A883A22F46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6B47-A570-44CE-8867-BA8BB65B8C42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47473-9643-49CF-AE53-D8FE3B0007D1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42DC-CD4B-4409-87D1-9CA1C46D2E29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A3FF-FAA5-426D-9CC0-5CCB90C7A378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9330-93E5-45FE-9071-092AD7446F61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924D-4DC4-4100-95A2-02B35B066E43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24E2-641C-4934-A78D-E97AB0CF7D4C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883285"/>
            <a:ext cx="7664896" cy="11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71E8D-95E6-4AC6-BFD2-86A75E105ABA}" type="datetime1">
              <a:rPr lang="zh-CN" altLang="en-US" smtClean="0"/>
              <a:t>2023/3/13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8902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08" r:id="rId21"/>
    <p:sldLayoutId id="2147483712" r:id="rId22"/>
    <p:sldLayoutId id="2147483714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Relationship Id="rId6" Type="http://schemas.openxmlformats.org/officeDocument/2006/relationships/slide" Target="slide45.xml"/><Relationship Id="rId5" Type="http://schemas.openxmlformats.org/officeDocument/2006/relationships/slide" Target="slide30.xml"/><Relationship Id="rId4" Type="http://schemas.openxmlformats.org/officeDocument/2006/relationships/slide" Target="slide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mp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4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选择结构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侧圆角矩形 1"/>
          <p:cNvSpPr/>
          <p:nvPr/>
        </p:nvSpPr>
        <p:spPr>
          <a:xfrm rot="5400000" flipH="1">
            <a:off x="8043377" y="2112471"/>
            <a:ext cx="1080000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 rot="16200000">
            <a:off x="3198825" y="-292733"/>
            <a:ext cx="1002889" cy="49053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50000"/>
            </a:schemeClr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20"/>
          <p:cNvSpPr/>
          <p:nvPr/>
        </p:nvSpPr>
        <p:spPr>
          <a:xfrm>
            <a:off x="4293657" y="1813716"/>
            <a:ext cx="3615193" cy="3350633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5875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20"/>
          <p:cNvSpPr/>
          <p:nvPr/>
        </p:nvSpPr>
        <p:spPr>
          <a:xfrm>
            <a:off x="4439816" y="1700808"/>
            <a:ext cx="3351918" cy="331882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59273" y="2400566"/>
            <a:ext cx="2241020" cy="1919304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en-US" altLang="zh-C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en-US" altLang="zh-C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74897" y="1726711"/>
            <a:ext cx="2536605" cy="670116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</a:t>
            </a:r>
          </a:p>
        </p:txBody>
      </p:sp>
      <p:sp>
        <p:nvSpPr>
          <p:cNvPr id="8" name="矩形 7"/>
          <p:cNvSpPr/>
          <p:nvPr/>
        </p:nvSpPr>
        <p:spPr>
          <a:xfrm>
            <a:off x="8007378" y="4266433"/>
            <a:ext cx="2694940" cy="67011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36" tIns="45718" rIns="91436" bIns="45718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66735" y="2775518"/>
            <a:ext cx="3264007" cy="5970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简单的选择结构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178291" y="3372599"/>
            <a:ext cx="3246302" cy="59708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复杂的选择结构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A8869C-FE52-42E8-9220-5E8CA6A6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33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4.1 </a:t>
            </a:r>
            <a:r>
              <a:rPr sz="32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条件表达式</a:t>
            </a:r>
            <a:endParaRPr lang="zh-CN" altLang="en-US" sz="3200" dirty="0"/>
          </a:p>
          <a:p>
            <a:r>
              <a:rPr lang="en-US" altLang="zh-CN" sz="3200" dirty="0"/>
              <a:t>4.2 </a:t>
            </a:r>
            <a:r>
              <a:rPr sz="32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条件运算符</a:t>
            </a:r>
            <a:endParaRPr lang="zh-CN" altLang="en-US" sz="3200" dirty="0"/>
          </a:p>
          <a:p>
            <a:r>
              <a:rPr lang="en-US" altLang="zh-CN" sz="3200" dirty="0"/>
              <a:t>4.3 </a:t>
            </a:r>
            <a:r>
              <a:rPr sz="32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选择结构的实现</a:t>
            </a:r>
            <a:endParaRPr lang="zh-CN" altLang="en-US" sz="3200" dirty="0"/>
          </a:p>
          <a:p>
            <a:r>
              <a:rPr lang="en-US" altLang="zh-CN" sz="3200" dirty="0"/>
              <a:t>4.4 </a:t>
            </a:r>
            <a:r>
              <a:rPr sz="32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选择结构程序举例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521D3F4-6A12-4AA0-B9B9-0E31BEB7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sym typeface="+mn-ea"/>
              </a:rPr>
              <a:t>4.1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条件表达式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9D7F979-5B20-48CE-90BD-F405D78D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 err="1"/>
              <a:t>Eg</a:t>
            </a:r>
            <a:r>
              <a:rPr lang="en-US" altLang="zh-CN" dirty="0"/>
              <a:t>:  </a:t>
            </a:r>
          </a:p>
          <a:p>
            <a:pPr marL="457200" lvl="1" indent="0">
              <a:buNone/>
            </a:pPr>
            <a:r>
              <a:rPr lang="en-US" altLang="zh-CN" dirty="0"/>
              <a:t>&gt;&gt;&gt;print(1&gt;0)</a:t>
            </a:r>
          </a:p>
          <a:p>
            <a:pPr marL="457200" lvl="1" indent="0">
              <a:buNone/>
            </a:pPr>
            <a:r>
              <a:rPr lang="en-US" altLang="zh-CN" dirty="0"/>
              <a:t>True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条件表达式</a:t>
            </a:r>
            <a:r>
              <a:rPr lang="en-US" altLang="zh-CN" dirty="0"/>
              <a:t>】</a:t>
            </a:r>
            <a:r>
              <a:rPr lang="zh-CN" altLang="en-US" dirty="0"/>
              <a:t>可以是单个常量、变量或表达式</a:t>
            </a:r>
            <a:endParaRPr lang="en-US" altLang="zh-CN" dirty="0"/>
          </a:p>
          <a:p>
            <a:pPr lvl="1"/>
            <a:r>
              <a:rPr lang="zh-CN" altLang="en-US" dirty="0"/>
              <a:t>计算结果是</a:t>
            </a:r>
            <a:r>
              <a:rPr lang="en-US" altLang="zh-CN" dirty="0"/>
              <a:t>True 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</a:p>
          <a:p>
            <a:pPr lvl="1"/>
            <a:r>
              <a:rPr lang="zh-CN" altLang="en-US" dirty="0"/>
              <a:t>以下等价于</a:t>
            </a:r>
            <a:r>
              <a:rPr lang="en-US" altLang="zh-CN" dirty="0"/>
              <a:t>False——</a:t>
            </a:r>
            <a:r>
              <a:rPr lang="zh-CN" altLang="en-US" dirty="0"/>
              <a:t>数值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0.0</a:t>
            </a:r>
            <a:r>
              <a:rPr lang="zh-CN" altLang="en-US" dirty="0"/>
              <a:t>、</a:t>
            </a:r>
            <a:r>
              <a:rPr lang="en-US" altLang="zh-CN" dirty="0"/>
              <a:t>0j</a:t>
            </a:r>
            <a:r>
              <a:rPr lang="zh-CN" altLang="en-US" dirty="0"/>
              <a:t>等）、</a:t>
            </a:r>
            <a:r>
              <a:rPr lang="en-US" altLang="zh-CN" dirty="0"/>
              <a:t> None</a:t>
            </a:r>
            <a:r>
              <a:rPr lang="zh-CN" altLang="en-US" dirty="0"/>
              <a:t>、空字符串</a:t>
            </a:r>
            <a:r>
              <a:rPr lang="en-US" altLang="zh-CN" dirty="0"/>
              <a:t>“”</a:t>
            </a:r>
            <a:r>
              <a:rPr lang="zh-CN" altLang="en-US" dirty="0"/>
              <a:t>、空元组</a:t>
            </a:r>
            <a:r>
              <a:rPr lang="en-US" altLang="zh-CN" dirty="0"/>
              <a:t>()</a:t>
            </a:r>
            <a:r>
              <a:rPr lang="zh-CN" altLang="en-US" dirty="0"/>
              <a:t>、空列表</a:t>
            </a:r>
            <a:r>
              <a:rPr lang="en-US" altLang="zh-CN" dirty="0"/>
              <a:t>[]</a:t>
            </a:r>
            <a:r>
              <a:rPr lang="zh-CN" altLang="en-US" dirty="0"/>
              <a:t>、空字典</a:t>
            </a:r>
            <a:r>
              <a:rPr lang="en-US" altLang="zh-CN" dirty="0"/>
              <a:t>{}</a:t>
            </a:r>
            <a:r>
              <a:rPr lang="zh-CN" altLang="en-US" dirty="0"/>
              <a:t>、空集合，结果为空的迭代对象等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6D8CD2-5260-4F6E-AC1F-1EF21747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39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69925" y="4005064"/>
            <a:ext cx="10538643" cy="23042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4.1.1 </a:t>
            </a:r>
            <a:r>
              <a:rPr lang="zh-CN" altLang="en-US" dirty="0"/>
              <a:t>关系运算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892" y="1895658"/>
            <a:ext cx="11114707" cy="4323645"/>
          </a:xfrm>
        </p:spPr>
        <p:txBody>
          <a:bodyPr>
            <a:normAutofit/>
          </a:bodyPr>
          <a:lstStyle/>
          <a:p>
            <a:r>
              <a:rPr lang="zh-CN" altLang="en-US" dirty="0"/>
              <a:t>关系运算符中，被比较的数一般为相同类型的可比较数据</a:t>
            </a:r>
            <a:endParaRPr lang="en-US" altLang="zh-CN" dirty="0"/>
          </a:p>
          <a:p>
            <a:r>
              <a:rPr lang="zh-CN" altLang="en-US" dirty="0"/>
              <a:t>不同数据类型间比较会出错，但整型和浮点型之间可进行比较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&gt;&gt;&gt; print('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' == '</a:t>
            </a:r>
            <a:r>
              <a:rPr lang="en-US" altLang="zh-CN" sz="2400" dirty="0" err="1"/>
              <a:t>abcd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sz="2400" dirty="0"/>
              <a:t>&gt;&gt;&gt; print(0 &lt;= 12.5)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872113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5087888" y="620688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&lt;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6023992" y="116632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&lt;=</a:t>
            </a:r>
            <a:endParaRPr lang="zh-CN" altLang="en-US" sz="3600" dirty="0"/>
          </a:p>
        </p:txBody>
      </p:sp>
      <p:sp>
        <p:nvSpPr>
          <p:cNvPr id="7" name="六边形 6"/>
          <p:cNvSpPr/>
          <p:nvPr/>
        </p:nvSpPr>
        <p:spPr>
          <a:xfrm>
            <a:off x="7032104" y="63740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&gt;</a:t>
            </a:r>
            <a:endParaRPr lang="zh-CN" altLang="en-US" sz="3600" dirty="0"/>
          </a:p>
        </p:txBody>
      </p:sp>
      <p:sp>
        <p:nvSpPr>
          <p:cNvPr id="8" name="六边形 7"/>
          <p:cNvSpPr/>
          <p:nvPr/>
        </p:nvSpPr>
        <p:spPr>
          <a:xfrm>
            <a:off x="8040216" y="404664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&gt;=</a:t>
            </a:r>
            <a:endParaRPr lang="zh-CN" altLang="en-US" sz="3600" dirty="0"/>
          </a:p>
        </p:txBody>
      </p:sp>
      <p:sp>
        <p:nvSpPr>
          <p:cNvPr id="9" name="六边形 8"/>
          <p:cNvSpPr/>
          <p:nvPr/>
        </p:nvSpPr>
        <p:spPr>
          <a:xfrm>
            <a:off x="9048328" y="657378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==</a:t>
            </a:r>
            <a:endParaRPr lang="zh-CN" altLang="en-US" sz="3600" dirty="0"/>
          </a:p>
        </p:txBody>
      </p:sp>
      <p:sp>
        <p:nvSpPr>
          <p:cNvPr id="10" name="六边形 9"/>
          <p:cNvSpPr/>
          <p:nvPr/>
        </p:nvSpPr>
        <p:spPr>
          <a:xfrm>
            <a:off x="10056440" y="136601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!=</a:t>
            </a:r>
            <a:endParaRPr lang="zh-CN" altLang="en-US" sz="36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4585B02-5339-4DE7-A8A4-D78F42DE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1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20689"/>
            <a:ext cx="10852150" cy="572042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print(4 &gt; 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Traceback</a:t>
            </a:r>
            <a:r>
              <a:rPr lang="en-US" altLang="zh-CN" sz="2400" dirty="0">
                <a:solidFill>
                  <a:srgbClr val="FF0000"/>
                </a:solidFill>
              </a:rPr>
              <a:t> (most recent call last):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File "&lt;pyshell#0&gt;", line 1, in &lt;module&gt;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4 &gt; '</a:t>
            </a:r>
            <a:r>
              <a:rPr lang="en-US" altLang="zh-CN" sz="2400" dirty="0" err="1">
                <a:solidFill>
                  <a:srgbClr val="FF0000"/>
                </a:solidFill>
              </a:rPr>
              <a:t>abc</a:t>
            </a:r>
            <a:r>
              <a:rPr lang="en-US" altLang="zh-CN" sz="2400" dirty="0">
                <a:solidFill>
                  <a:srgbClr val="FF0000"/>
                </a:solidFill>
              </a:rPr>
              <a:t>'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TypeError</a:t>
            </a:r>
            <a:r>
              <a:rPr lang="en-US" altLang="zh-CN" sz="2400" dirty="0">
                <a:solidFill>
                  <a:srgbClr val="FF0000"/>
                </a:solidFill>
              </a:rPr>
              <a:t>: </a:t>
            </a:r>
            <a:r>
              <a:rPr lang="en-US" altLang="zh-CN" sz="2400" dirty="0" err="1">
                <a:solidFill>
                  <a:srgbClr val="FF0000"/>
                </a:solidFill>
              </a:rPr>
              <a:t>unorderable</a:t>
            </a:r>
            <a:r>
              <a:rPr lang="en-US" altLang="zh-CN" sz="2400" dirty="0">
                <a:solidFill>
                  <a:srgbClr val="FF0000"/>
                </a:solidFill>
              </a:rPr>
              <a:t> types: </a:t>
            </a:r>
            <a:r>
              <a:rPr lang="en-US" altLang="zh-CN" sz="2400" dirty="0" err="1">
                <a:solidFill>
                  <a:srgbClr val="FF0000"/>
                </a:solidFill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</a:rPr>
              <a:t>() &gt; </a:t>
            </a:r>
            <a:r>
              <a:rPr lang="en-US" altLang="zh-CN" sz="2400" dirty="0" err="1">
                <a:solidFill>
                  <a:srgbClr val="FF0000"/>
                </a:solidFill>
              </a:rPr>
              <a:t>str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US" altLang="zh-CN" sz="2400" dirty="0"/>
              <a:t>&gt;&gt;&gt; print(10 &gt; -3+5j)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Traceback</a:t>
            </a:r>
            <a:r>
              <a:rPr lang="en-US" altLang="zh-CN" sz="2400" dirty="0">
                <a:solidFill>
                  <a:srgbClr val="FF0000"/>
                </a:solidFill>
              </a:rPr>
              <a:t> (most recent call last):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File "&lt;pyshell#3&gt;", line 1, in &lt;module&gt;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10 &gt; -3+5j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TypeError</a:t>
            </a:r>
            <a:r>
              <a:rPr lang="en-US" altLang="zh-CN" sz="2400" dirty="0">
                <a:solidFill>
                  <a:srgbClr val="FF0000"/>
                </a:solidFill>
              </a:rPr>
              <a:t>: </a:t>
            </a:r>
            <a:r>
              <a:rPr lang="en-US" altLang="zh-CN" sz="2400" dirty="0" err="1">
                <a:solidFill>
                  <a:srgbClr val="FF0000"/>
                </a:solidFill>
              </a:rPr>
              <a:t>unorderable</a:t>
            </a:r>
            <a:r>
              <a:rPr lang="en-US" altLang="zh-CN" sz="2400" dirty="0">
                <a:solidFill>
                  <a:srgbClr val="FF0000"/>
                </a:solidFill>
              </a:rPr>
              <a:t> types: </a:t>
            </a:r>
            <a:r>
              <a:rPr lang="en-US" altLang="zh-CN" sz="2400" dirty="0" err="1">
                <a:solidFill>
                  <a:srgbClr val="FF0000"/>
                </a:solidFill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</a:rPr>
              <a:t>() &gt; complex()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0D555F-DFB7-44DF-9783-50B1EF8F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295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5360" y="952508"/>
            <a:ext cx="5334000" cy="4024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??</a:t>
            </a:r>
          </a:p>
          <a:p>
            <a:pPr marL="0" indent="0">
              <a:buNone/>
            </a:pPr>
            <a:r>
              <a:rPr lang="en-US" altLang="zh-CN" sz="2400" dirty="0"/>
              <a:t>&gt;&gt;&gt; print([1, 2, 3] &gt; [1, 2])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400" dirty="0"/>
              <a:t>&gt;&gt;&gt; print((1, 2, 3) &lt; (2, 3, 4))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400" dirty="0"/>
              <a:t>&gt;&gt;&gt; print({1, 2, 3} &gt;= {2, 3, 4})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64484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 a, b, c = 1, 2, 3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判断是否</a:t>
            </a:r>
            <a:r>
              <a:rPr lang="en-US" altLang="zh-CN" sz="2400" dirty="0">
                <a:solidFill>
                  <a:srgbClr val="FF0000"/>
                </a:solidFill>
              </a:rPr>
              <a:t>a&lt;b</a:t>
            </a:r>
            <a:r>
              <a:rPr lang="zh-CN" altLang="en-US" sz="2400" dirty="0">
                <a:solidFill>
                  <a:srgbClr val="FF0000"/>
                </a:solidFill>
              </a:rPr>
              <a:t>并且</a:t>
            </a:r>
            <a:r>
              <a:rPr lang="en-US" altLang="zh-CN" sz="2400" dirty="0">
                <a:solidFill>
                  <a:srgbClr val="FF0000"/>
                </a:solidFill>
              </a:rPr>
              <a:t>b&gt;c</a:t>
            </a:r>
          </a:p>
          <a:p>
            <a:pPr marL="0" indent="0">
              <a:buNone/>
            </a:pPr>
            <a:r>
              <a:rPr lang="en-US" altLang="zh-CN" sz="2400" dirty="0"/>
              <a:t>&gt;&gt;&gt; print(a&lt;b&gt;c)		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判断是否</a:t>
            </a:r>
            <a:r>
              <a:rPr lang="en-US" altLang="zh-CN" sz="2400" dirty="0">
                <a:solidFill>
                  <a:srgbClr val="FF0000"/>
                </a:solidFill>
              </a:rPr>
              <a:t>a&lt;b</a:t>
            </a:r>
            <a:r>
              <a:rPr lang="zh-CN" altLang="en-US" sz="2400" dirty="0">
                <a:solidFill>
                  <a:srgbClr val="FF0000"/>
                </a:solidFill>
              </a:rPr>
              <a:t>并且</a:t>
            </a:r>
            <a:r>
              <a:rPr lang="en-US" altLang="zh-CN" sz="2400" dirty="0">
                <a:solidFill>
                  <a:srgbClr val="FF0000"/>
                </a:solidFill>
              </a:rPr>
              <a:t>b&lt;c</a:t>
            </a:r>
          </a:p>
          <a:p>
            <a:pPr marL="0" indent="0">
              <a:buNone/>
            </a:pPr>
            <a:r>
              <a:rPr lang="en-US" altLang="zh-CN" sz="2400" dirty="0"/>
              <a:t>&gt;&gt;&gt; print(a&lt;b&lt;c)		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【</a:t>
            </a:r>
            <a:r>
              <a:rPr lang="zh-CN" altLang="en-US" sz="2400" dirty="0">
                <a:solidFill>
                  <a:srgbClr val="0070C0"/>
                </a:solidFill>
              </a:rPr>
              <a:t>总结</a:t>
            </a:r>
            <a:r>
              <a:rPr lang="en-US" altLang="zh-CN" sz="2400" dirty="0">
                <a:solidFill>
                  <a:srgbClr val="0070C0"/>
                </a:solidFill>
              </a:rPr>
              <a:t>】</a:t>
            </a:r>
            <a:r>
              <a:rPr lang="zh-CN" altLang="en-US" sz="2400" dirty="0">
                <a:solidFill>
                  <a:srgbClr val="0070C0"/>
                </a:solidFill>
              </a:rPr>
              <a:t>比较多个值时，没有传递性，只有当多个表达式均为真时，结果方为真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CCADE6-28E6-4CA3-8A50-203900A3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0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86150-6AB2-4D6A-AC98-A2B03717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48CCF9-16D5-4204-9D4A-A2FC1B97A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344" y="2194559"/>
            <a:ext cx="5550024" cy="4024125"/>
          </a:xfrm>
        </p:spPr>
        <p:txBody>
          <a:bodyPr>
            <a:normAutofit/>
          </a:bodyPr>
          <a:lstStyle/>
          <a:p>
            <a:r>
              <a:rPr lang="zh-CN" altLang="en-US" sz="2700" dirty="0">
                <a:effectLst/>
              </a:rPr>
              <a:t>字符串的比较，是比</a:t>
            </a:r>
            <a:r>
              <a:rPr lang="en-US" altLang="zh-CN" sz="2700" dirty="0">
                <a:effectLst/>
              </a:rPr>
              <a:t>Unicode</a:t>
            </a:r>
            <a:r>
              <a:rPr lang="zh-CN" altLang="en-US" sz="2700" dirty="0">
                <a:effectLst/>
              </a:rPr>
              <a:t>编码 </a:t>
            </a:r>
            <a:endParaRPr lang="en-US" altLang="zh-CN" sz="2700" dirty="0">
              <a:effectLst/>
            </a:endParaRPr>
          </a:p>
          <a:p>
            <a:r>
              <a:rPr lang="zh-CN" altLang="en-US" sz="2700" dirty="0">
                <a:effectLst/>
              </a:rPr>
              <a:t>逐位比较的 </a:t>
            </a:r>
            <a:endParaRPr lang="en-US" altLang="zh-CN" sz="2700" dirty="0">
              <a:effectLst/>
            </a:endParaRPr>
          </a:p>
          <a:p>
            <a:r>
              <a:rPr lang="zh-CN" altLang="en-US" sz="2700" dirty="0"/>
              <a:t>因此，</a:t>
            </a:r>
            <a:r>
              <a:rPr lang="zh-CN" altLang="en-US" sz="2700" dirty="0">
                <a:effectLst/>
              </a:rPr>
              <a:t>可以对字符串按照字母顺序进行排序，</a:t>
            </a:r>
            <a:endParaRPr lang="en-US" altLang="zh-CN" sz="2700" dirty="0">
              <a:effectLst/>
            </a:endParaRPr>
          </a:p>
          <a:p>
            <a:r>
              <a:rPr lang="zh-CN" altLang="en-US" sz="2700" dirty="0"/>
              <a:t>汉字的比较</a:t>
            </a:r>
            <a:r>
              <a:rPr lang="zh-CN" altLang="en-US" sz="2700" dirty="0">
                <a:effectLst/>
              </a:rPr>
              <a:t>意义不大 </a:t>
            </a:r>
            <a:endParaRPr lang="en-US" altLang="zh-CN" sz="2700" dirty="0">
              <a:effectLst/>
            </a:endParaRPr>
          </a:p>
          <a:p>
            <a:r>
              <a:rPr lang="zh-CN" altLang="en-US" sz="2700" dirty="0">
                <a:effectLst/>
              </a:rPr>
              <a:t>如果不希望比较</a:t>
            </a:r>
            <a:r>
              <a:rPr lang="en-US" altLang="zh-CN" sz="2700" dirty="0">
                <a:effectLst/>
              </a:rPr>
              <a:t>Unicode</a:t>
            </a:r>
            <a:r>
              <a:rPr lang="zh-CN" altLang="en-US" sz="2700" dirty="0">
                <a:effectLst/>
              </a:rPr>
              <a:t>编码，则需要转换为数字后再比较</a:t>
            </a:r>
            <a:endParaRPr lang="zh-CN" altLang="en-US" sz="27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2628E5-0B25-4125-9004-06B3B12C2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94559"/>
            <a:ext cx="60960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effectLst/>
              </a:rPr>
              <a:t>result = 'a' &gt; 'b' # False result = 'c' &lt; 'd' # True </a:t>
            </a:r>
          </a:p>
          <a:p>
            <a:pPr marL="0" indent="0">
              <a:buNone/>
            </a:pPr>
            <a:r>
              <a:rPr lang="en-US" altLang="zh-CN" dirty="0">
                <a:effectLst/>
              </a:rPr>
              <a:t>result = 'ab' &gt; 'b' # False result = int('2’) &gt; int(’11’)) </a:t>
            </a:r>
          </a:p>
          <a:p>
            <a:pPr marL="0" indent="0">
              <a:buNone/>
            </a:pPr>
            <a:r>
              <a:rPr lang="en-US" altLang="zh-CN" dirty="0"/>
              <a:t>     		# False</a:t>
            </a:r>
            <a:endParaRPr lang="en-US" altLang="zh-CN" dirty="0">
              <a:effectLst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256178-7B01-4848-85F2-DF901AF5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863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4.1.2 </a:t>
            </a:r>
            <a:r>
              <a:rPr lang="zh-CN" altLang="en-US" dirty="0"/>
              <a:t>逻辑运算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91125"/>
            <a:ext cx="10970691" cy="4249985"/>
          </a:xfrm>
        </p:spPr>
        <p:txBody>
          <a:bodyPr/>
          <a:lstStyle/>
          <a:p>
            <a:r>
              <a:rPr lang="zh-CN" altLang="en-US" dirty="0"/>
              <a:t>逻辑运算的操作数和结果，可以为非布尔型数据</a:t>
            </a:r>
            <a:endParaRPr lang="en-US" altLang="zh-CN" dirty="0"/>
          </a:p>
          <a:p>
            <a:r>
              <a:rPr lang="zh-CN" altLang="en-US" dirty="0"/>
              <a:t>其他类型可以转换为</a:t>
            </a:r>
            <a:r>
              <a:rPr lang="en-US" altLang="zh-CN" dirty="0"/>
              <a:t>bool</a:t>
            </a:r>
            <a:r>
              <a:rPr lang="zh-CN" altLang="en-US" dirty="0"/>
              <a:t>型，也可直接参与布尔运算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6168008" y="46500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not</a:t>
            </a:r>
            <a:endParaRPr lang="zh-CN" altLang="en-US" sz="2800" dirty="0"/>
          </a:p>
        </p:txBody>
      </p:sp>
      <p:sp>
        <p:nvSpPr>
          <p:cNvPr id="6" name="六边形 5"/>
          <p:cNvSpPr/>
          <p:nvPr/>
        </p:nvSpPr>
        <p:spPr>
          <a:xfrm>
            <a:off x="7176120" y="587246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and</a:t>
            </a:r>
          </a:p>
        </p:txBody>
      </p:sp>
      <p:sp>
        <p:nvSpPr>
          <p:cNvPr id="7" name="六边形 6"/>
          <p:cNvSpPr/>
          <p:nvPr/>
        </p:nvSpPr>
        <p:spPr>
          <a:xfrm>
            <a:off x="8184232" y="6646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or</a:t>
            </a:r>
            <a:endParaRPr lang="zh-CN" altLang="en-US" sz="28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A60867-29BB-4E2C-BCC9-5118A52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94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4.1.2 </a:t>
            </a:r>
            <a:r>
              <a:rPr lang="zh-CN" altLang="en-US" dirty="0"/>
              <a:t>逻辑运算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2003590"/>
            <a:ext cx="4320481" cy="4746745"/>
          </a:xfrm>
        </p:spPr>
        <p:txBody>
          <a:bodyPr>
            <a:normAutofit fontScale="47500" lnSpcReduction="20000"/>
          </a:bodyPr>
          <a:lstStyle/>
          <a:p>
            <a:r>
              <a:rPr lang="zh-CN" altLang="en-US" sz="5100" dirty="0"/>
              <a:t>逻辑运算的操作数和结果，可以为非布尔型数据</a:t>
            </a:r>
            <a:endParaRPr lang="en-US" altLang="zh-CN" sz="5100" dirty="0"/>
          </a:p>
          <a:p>
            <a:r>
              <a:rPr lang="zh-CN" altLang="en-US" sz="5100" dirty="0"/>
              <a:t>其他类型可以转换为</a:t>
            </a:r>
            <a:r>
              <a:rPr lang="en-US" altLang="zh-CN" sz="5100" dirty="0"/>
              <a:t>bool</a:t>
            </a:r>
            <a:r>
              <a:rPr lang="zh-CN" altLang="en-US" sz="5100" dirty="0"/>
              <a:t>型，也可直接参与布尔运算</a:t>
            </a:r>
            <a:endParaRPr lang="en-US" altLang="zh-CN" sz="5100" dirty="0"/>
          </a:p>
          <a:p>
            <a:pPr marL="0" indent="0">
              <a:buNone/>
            </a:pPr>
            <a:r>
              <a:rPr lang="en-US" altLang="zh-CN" sz="4200" dirty="0"/>
              <a:t>&gt;&gt;&gt; bool(0)</a:t>
            </a:r>
          </a:p>
          <a:p>
            <a:pPr marL="0" indent="0">
              <a:buNone/>
            </a:pPr>
            <a:r>
              <a:rPr lang="en-US" altLang="zh-CN" sz="4200" dirty="0"/>
              <a:t>False</a:t>
            </a:r>
          </a:p>
          <a:p>
            <a:pPr marL="0" indent="0">
              <a:buNone/>
            </a:pPr>
            <a:r>
              <a:rPr lang="en-US" altLang="zh-CN" sz="4200" dirty="0"/>
              <a:t>&gt;&gt;&gt; bool(1)</a:t>
            </a:r>
          </a:p>
          <a:p>
            <a:pPr marL="0" indent="0">
              <a:buNone/>
            </a:pPr>
            <a:r>
              <a:rPr lang="en-US" altLang="zh-CN" sz="4200" dirty="0"/>
              <a:t>True</a:t>
            </a:r>
          </a:p>
          <a:p>
            <a:pPr marL="0" indent="0">
              <a:buNone/>
            </a:pPr>
            <a:r>
              <a:rPr lang="en-US" altLang="zh-CN" sz="4200" dirty="0"/>
              <a:t>&gt;&gt;&gt; bool(3)  #</a:t>
            </a:r>
            <a:r>
              <a:rPr lang="zh-CN" altLang="en-US" sz="4200" dirty="0"/>
              <a:t>非</a:t>
            </a:r>
            <a:r>
              <a:rPr lang="en-US" altLang="zh-CN" sz="4200" dirty="0"/>
              <a:t>0</a:t>
            </a:r>
            <a:r>
              <a:rPr lang="zh-CN" altLang="en-US" sz="4200" dirty="0"/>
              <a:t>整数视作</a:t>
            </a:r>
            <a:r>
              <a:rPr lang="en-US" altLang="zh-CN" sz="4200" dirty="0"/>
              <a:t>True</a:t>
            </a:r>
          </a:p>
          <a:p>
            <a:pPr marL="0" indent="0">
              <a:buNone/>
            </a:pPr>
            <a:r>
              <a:rPr lang="en-US" altLang="zh-CN" sz="4200" dirty="0"/>
              <a:t>True</a:t>
            </a:r>
          </a:p>
          <a:p>
            <a:pPr marL="0" indent="0">
              <a:buNone/>
            </a:pPr>
            <a:r>
              <a:rPr lang="en-US" altLang="zh-CN" sz="4200" dirty="0"/>
              <a:t>&gt;&gt;&gt; bool(0.0)</a:t>
            </a:r>
          </a:p>
          <a:p>
            <a:pPr marL="0" indent="0">
              <a:buNone/>
            </a:pPr>
            <a:r>
              <a:rPr lang="en-US" altLang="zh-CN" sz="4200" dirty="0"/>
              <a:t>False</a:t>
            </a:r>
          </a:p>
          <a:p>
            <a:pPr marL="0" indent="0">
              <a:buNone/>
            </a:pPr>
            <a:r>
              <a:rPr lang="en-US" altLang="zh-CN" sz="4200" dirty="0"/>
              <a:t>&gt;&gt;&gt; bool(0.1)</a:t>
            </a:r>
          </a:p>
          <a:p>
            <a:pPr marL="0" indent="0">
              <a:buNone/>
            </a:pPr>
            <a:r>
              <a:rPr lang="en-US" altLang="zh-CN" sz="4200" dirty="0"/>
              <a:t>True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6168008" y="46500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not</a:t>
            </a:r>
            <a:endParaRPr lang="zh-CN" altLang="en-US" sz="2800" dirty="0"/>
          </a:p>
        </p:txBody>
      </p:sp>
      <p:sp>
        <p:nvSpPr>
          <p:cNvPr id="6" name="六边形 5"/>
          <p:cNvSpPr/>
          <p:nvPr/>
        </p:nvSpPr>
        <p:spPr>
          <a:xfrm>
            <a:off x="7176120" y="587246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and</a:t>
            </a:r>
          </a:p>
        </p:txBody>
      </p:sp>
      <p:sp>
        <p:nvSpPr>
          <p:cNvPr id="7" name="六边形 6"/>
          <p:cNvSpPr/>
          <p:nvPr/>
        </p:nvSpPr>
        <p:spPr>
          <a:xfrm>
            <a:off x="8184232" y="6646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or</a:t>
            </a:r>
            <a:endParaRPr lang="zh-CN" altLang="en-US" sz="28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A60867-29BB-4E2C-BCC9-5118A52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F7A840-8FA0-40F7-BF9A-B716619ACDB2}"/>
              </a:ext>
            </a:extLst>
          </p:cNvPr>
          <p:cNvSpPr txBox="1"/>
          <p:nvPr/>
        </p:nvSpPr>
        <p:spPr>
          <a:xfrm>
            <a:off x="4943872" y="1988840"/>
            <a:ext cx="69127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2000" dirty="0"/>
              <a:t>&gt;&gt;&gt; bool(‘’)	#</a:t>
            </a:r>
            <a:r>
              <a:rPr lang="zh-CN" altLang="en-US" sz="2000" dirty="0"/>
              <a:t>空字符串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False</a:t>
            </a:r>
          </a:p>
          <a:p>
            <a:pPr marL="0" indent="0">
              <a:buNone/>
            </a:pPr>
            <a:r>
              <a:rPr lang="en-US" altLang="zh-CN" sz="2000" dirty="0"/>
              <a:t>&gt;&gt;&gt; bool([])	#</a:t>
            </a:r>
            <a:r>
              <a:rPr lang="zh-CN" altLang="en-US" sz="2000" dirty="0"/>
              <a:t>空列表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False</a:t>
            </a:r>
          </a:p>
          <a:p>
            <a:pPr marL="0" indent="0">
              <a:buNone/>
            </a:pPr>
            <a:r>
              <a:rPr lang="en-US" altLang="zh-CN" sz="2000" dirty="0"/>
              <a:t>&gt;&gt;&gt; bool([0])	</a:t>
            </a:r>
          </a:p>
          <a:p>
            <a:pPr marL="0" indent="0">
              <a:buNone/>
            </a:pPr>
            <a:r>
              <a:rPr lang="en-US" altLang="zh-CN" sz="2000" dirty="0"/>
              <a:t>True</a:t>
            </a:r>
          </a:p>
          <a:p>
            <a:pPr marL="0" indent="0">
              <a:buNone/>
            </a:pPr>
            <a:r>
              <a:rPr lang="en-US" altLang="zh-CN" sz="2000" dirty="0"/>
              <a:t>&gt;&gt;&gt; bool({})	#</a:t>
            </a:r>
            <a:r>
              <a:rPr lang="zh-CN" altLang="en-US" sz="2000" dirty="0"/>
              <a:t>空集合</a:t>
            </a:r>
            <a:r>
              <a:rPr lang="en-US" altLang="zh-CN" sz="2000" dirty="0"/>
              <a:t>	</a:t>
            </a:r>
          </a:p>
          <a:p>
            <a:pPr marL="0" indent="0">
              <a:buNone/>
            </a:pPr>
            <a:r>
              <a:rPr lang="en-US" altLang="zh-CN" sz="20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429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4.1.2 </a:t>
            </a:r>
            <a:r>
              <a:rPr lang="zh-CN" altLang="en-US" dirty="0"/>
              <a:t>逻辑运算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91125"/>
            <a:ext cx="10970691" cy="4249985"/>
          </a:xfrm>
        </p:spPr>
        <p:txBody>
          <a:bodyPr/>
          <a:lstStyle/>
          <a:p>
            <a:r>
              <a:rPr lang="zh-CN" altLang="en-US" dirty="0"/>
              <a:t>以下与</a:t>
            </a:r>
            <a:r>
              <a:rPr lang="en-US" altLang="zh-CN" dirty="0"/>
              <a:t>False</a:t>
            </a:r>
            <a:r>
              <a:rPr lang="zh-CN" altLang="en-US" dirty="0"/>
              <a:t>等价：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0.0, 0j,None,</a:t>
            </a:r>
            <a:r>
              <a:rPr lang="zh-CN" altLang="en-US" dirty="0"/>
              <a:t>空字符串</a:t>
            </a:r>
            <a:r>
              <a:rPr lang="en-US" altLang="zh-CN" dirty="0"/>
              <a:t>’’</a:t>
            </a:r>
            <a:r>
              <a:rPr lang="zh-CN" altLang="en-US" dirty="0"/>
              <a:t>，空列表</a:t>
            </a:r>
            <a:r>
              <a:rPr lang="en-US" altLang="zh-CN" dirty="0"/>
              <a:t>[]</a:t>
            </a:r>
            <a:r>
              <a:rPr lang="zh-CN" altLang="en-US" dirty="0"/>
              <a:t>，空元组</a:t>
            </a:r>
            <a:r>
              <a:rPr lang="en-US" altLang="zh-CN" dirty="0"/>
              <a:t>()</a:t>
            </a:r>
            <a:r>
              <a:rPr lang="zh-CN" altLang="en-US" dirty="0"/>
              <a:t>，空字典</a:t>
            </a:r>
            <a:r>
              <a:rPr lang="en-US" altLang="zh-CN" dirty="0"/>
              <a:t>{}</a:t>
            </a:r>
          </a:p>
          <a:p>
            <a:pPr marL="457200" lvl="1" indent="0">
              <a:buNone/>
            </a:pPr>
            <a:r>
              <a:rPr lang="zh-CN" altLang="en-US" dirty="0"/>
              <a:t>其他数据与</a:t>
            </a:r>
            <a:r>
              <a:rPr lang="en-US" altLang="zh-CN" dirty="0"/>
              <a:t>True</a:t>
            </a:r>
            <a:r>
              <a:rPr lang="zh-CN" altLang="en-US" dirty="0"/>
              <a:t>等价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6168008" y="46500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not</a:t>
            </a:r>
            <a:endParaRPr lang="zh-CN" altLang="en-US" sz="2800" dirty="0"/>
          </a:p>
        </p:txBody>
      </p:sp>
      <p:sp>
        <p:nvSpPr>
          <p:cNvPr id="6" name="六边形 5"/>
          <p:cNvSpPr/>
          <p:nvPr/>
        </p:nvSpPr>
        <p:spPr>
          <a:xfrm>
            <a:off x="7176120" y="587246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and</a:t>
            </a:r>
          </a:p>
        </p:txBody>
      </p:sp>
      <p:sp>
        <p:nvSpPr>
          <p:cNvPr id="7" name="六边形 6"/>
          <p:cNvSpPr/>
          <p:nvPr/>
        </p:nvSpPr>
        <p:spPr>
          <a:xfrm>
            <a:off x="8184232" y="6646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or</a:t>
            </a:r>
            <a:endParaRPr lang="zh-CN" altLang="en-US" sz="28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A60867-29BB-4E2C-BCC9-5118A52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40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取反运算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091125"/>
            <a:ext cx="7370291" cy="424998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not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True</a:t>
            </a:r>
            <a:r>
              <a:rPr lang="zh-CN" altLang="en-US" dirty="0"/>
              <a:t>或与</a:t>
            </a:r>
            <a:r>
              <a:rPr lang="en-US" altLang="zh-CN" dirty="0"/>
              <a:t>True</a:t>
            </a:r>
            <a:r>
              <a:rPr lang="zh-CN" altLang="en-US" dirty="0"/>
              <a:t>等价的数据变为</a:t>
            </a:r>
            <a:r>
              <a:rPr lang="en-US" altLang="zh-CN" dirty="0"/>
              <a:t>False</a:t>
            </a:r>
          </a:p>
          <a:p>
            <a:pPr lvl="1"/>
            <a:r>
              <a:rPr lang="en-US" altLang="zh-CN" dirty="0"/>
              <a:t>False</a:t>
            </a:r>
            <a:r>
              <a:rPr lang="zh-CN" altLang="en-US" dirty="0"/>
              <a:t>或与</a:t>
            </a:r>
            <a:r>
              <a:rPr lang="en-US" altLang="zh-CN" dirty="0"/>
              <a:t>False</a:t>
            </a:r>
            <a:r>
              <a:rPr lang="zh-CN" altLang="en-US" dirty="0"/>
              <a:t>等价的数据则变为</a:t>
            </a:r>
            <a:r>
              <a:rPr lang="en-US" altLang="zh-CN" dirty="0"/>
              <a:t>True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6168008" y="46500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not</a:t>
            </a:r>
            <a:endParaRPr lang="zh-CN" altLang="en-US" sz="2800" dirty="0"/>
          </a:p>
        </p:txBody>
      </p:sp>
      <p:sp>
        <p:nvSpPr>
          <p:cNvPr id="6" name="六边形 5"/>
          <p:cNvSpPr/>
          <p:nvPr/>
        </p:nvSpPr>
        <p:spPr>
          <a:xfrm>
            <a:off x="7176120" y="587246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and</a:t>
            </a:r>
          </a:p>
        </p:txBody>
      </p:sp>
      <p:sp>
        <p:nvSpPr>
          <p:cNvPr id="7" name="六边形 6"/>
          <p:cNvSpPr/>
          <p:nvPr/>
        </p:nvSpPr>
        <p:spPr>
          <a:xfrm>
            <a:off x="8184232" y="6646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or</a:t>
            </a:r>
            <a:endParaRPr lang="zh-CN" altLang="en-US" sz="28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A60867-29BB-4E2C-BCC9-5118A52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9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/>
        </p:nvSpPr>
        <p:spPr>
          <a:xfrm>
            <a:off x="4871864" y="332656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not</a:t>
            </a:r>
            <a:endParaRPr lang="zh-CN" altLang="en-US" sz="2800" dirty="0"/>
          </a:p>
        </p:txBody>
      </p:sp>
      <p:sp>
        <p:nvSpPr>
          <p:cNvPr id="6" name="六边形 5"/>
          <p:cNvSpPr/>
          <p:nvPr/>
        </p:nvSpPr>
        <p:spPr>
          <a:xfrm>
            <a:off x="5879976" y="873402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800" dirty="0"/>
              <a:t>and</a:t>
            </a:r>
          </a:p>
        </p:txBody>
      </p:sp>
      <p:sp>
        <p:nvSpPr>
          <p:cNvPr id="7" name="六边形 6"/>
          <p:cNvSpPr/>
          <p:nvPr/>
        </p:nvSpPr>
        <p:spPr>
          <a:xfrm>
            <a:off x="6888088" y="352625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or</a:t>
            </a:r>
            <a:endParaRPr lang="zh-CN" altLang="en-US" sz="2800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11424" y="1664835"/>
            <a:ext cx="7200800" cy="4249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&gt;&gt;&gt; a = True</a:t>
            </a:r>
          </a:p>
          <a:p>
            <a:pPr marL="0" indent="0">
              <a:buNone/>
            </a:pPr>
            <a:r>
              <a:rPr lang="en-US" altLang="zh-CN" sz="2400" dirty="0"/>
              <a:t>&gt;&gt;&gt; not a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sz="2400" dirty="0"/>
              <a:t>&gt;&gt;&gt; print(not (9%3))	#0</a:t>
            </a:r>
            <a:r>
              <a:rPr lang="zh-CN" altLang="en-US" sz="2400" dirty="0"/>
              <a:t>等价于</a:t>
            </a:r>
            <a:r>
              <a:rPr lang="en-US" altLang="zh-CN" sz="2400" dirty="0"/>
              <a:t>False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400" dirty="0"/>
              <a:t>&gt;&gt;&gt; print(not (9//3))    #3</a:t>
            </a:r>
            <a:r>
              <a:rPr lang="zh-CN" altLang="en-US" sz="2400" dirty="0"/>
              <a:t>等价于</a:t>
            </a:r>
            <a:r>
              <a:rPr lang="en-US" altLang="zh-CN" sz="2400" dirty="0"/>
              <a:t>True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False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A60867-29BB-4E2C-BCC9-5118A52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9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3923595"/>
            <a:ext cx="10817191" cy="2417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(2)</a:t>
            </a:r>
            <a:r>
              <a:rPr lang="zh-CN" altLang="en-US" dirty="0"/>
              <a:t>与运算</a:t>
            </a:r>
            <a:r>
              <a:rPr lang="en-US" altLang="zh-CN" dirty="0"/>
              <a:t>and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1484784"/>
            <a:ext cx="11377264" cy="48563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基本规则：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True = True,     False and False =False</a:t>
            </a:r>
            <a:br>
              <a:rPr lang="en-US" altLang="zh-CN" dirty="0"/>
            </a:br>
            <a:r>
              <a:rPr lang="en-US" altLang="zh-CN" dirty="0"/>
              <a:t>           True and False = False,   False and True = False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规则：仅当两个操作数的值都等价于</a:t>
            </a:r>
            <a:r>
              <a:rPr lang="en-US" altLang="zh-CN" dirty="0"/>
              <a:t>True</a:t>
            </a:r>
            <a:r>
              <a:rPr lang="zh-CN" altLang="en-US" dirty="0"/>
              <a:t>时，运算结果为第二个操作数的值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有至少一个操作数等价于</a:t>
            </a:r>
            <a:r>
              <a:rPr lang="en-US" altLang="zh-CN" dirty="0"/>
              <a:t>False</a:t>
            </a:r>
            <a:r>
              <a:rPr lang="zh-CN" altLang="en-US" dirty="0"/>
              <a:t>，运算结果就是第一个等价于</a:t>
            </a:r>
            <a:r>
              <a:rPr lang="en-US" altLang="zh-CN" dirty="0"/>
              <a:t>False</a:t>
            </a:r>
            <a:r>
              <a:rPr lang="zh-CN" altLang="en-US" dirty="0"/>
              <a:t>的操作数的值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3 &lt; 4 and 3 + 6	   </a:t>
            </a:r>
            <a:r>
              <a:rPr lang="en-US" altLang="zh-CN" dirty="0">
                <a:solidFill>
                  <a:srgbClr val="FF0000"/>
                </a:solidFill>
              </a:rPr>
              <a:t># </a:t>
            </a:r>
            <a:r>
              <a:rPr lang="zh-CN" altLang="en-US" dirty="0">
                <a:solidFill>
                  <a:srgbClr val="FF0000"/>
                </a:solidFill>
              </a:rPr>
              <a:t>两个操作数都等价于</a:t>
            </a:r>
            <a:r>
              <a:rPr lang="en-US" altLang="zh-CN" dirty="0">
                <a:solidFill>
                  <a:srgbClr val="FF0000"/>
                </a:solidFill>
              </a:rPr>
              <a:t>True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3 + 2 and list()	 </a:t>
            </a:r>
            <a:r>
              <a:rPr lang="en-US" altLang="zh-CN" dirty="0">
                <a:solidFill>
                  <a:srgbClr val="FF0000"/>
                </a:solidFill>
              </a:rPr>
              <a:t># list()</a:t>
            </a:r>
            <a:r>
              <a:rPr lang="zh-CN" altLang="en-US" dirty="0">
                <a:solidFill>
                  <a:srgbClr val="FF0000"/>
                </a:solidFill>
              </a:rPr>
              <a:t>函数返回空列表，等价于</a:t>
            </a:r>
            <a:r>
              <a:rPr lang="en-US" altLang="zh-CN" dirty="0">
                <a:solidFill>
                  <a:srgbClr val="FF0000"/>
                </a:solidFill>
              </a:rPr>
              <a:t>False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[]</a:t>
            </a:r>
          </a:p>
        </p:txBody>
      </p:sp>
      <p:sp>
        <p:nvSpPr>
          <p:cNvPr id="4" name="六边形 3"/>
          <p:cNvSpPr/>
          <p:nvPr/>
        </p:nvSpPr>
        <p:spPr>
          <a:xfrm>
            <a:off x="10200456" y="280910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2400" dirty="0"/>
              <a:t>and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071AE-9618-46B2-9758-E0077011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36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3923595"/>
            <a:ext cx="10817191" cy="2417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(3)</a:t>
            </a:r>
            <a:r>
              <a:rPr lang="zh-CN" altLang="en-US" dirty="0"/>
              <a:t>或运算</a:t>
            </a:r>
            <a:r>
              <a:rPr lang="en-US" altLang="zh-CN" dirty="0"/>
              <a:t>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484784"/>
            <a:ext cx="10852150" cy="48563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基本规则：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True = True,    False or False = False</a:t>
            </a:r>
            <a:br>
              <a:rPr lang="en-US" altLang="zh-CN" dirty="0"/>
            </a:br>
            <a:r>
              <a:rPr lang="en-US" altLang="zh-CN" dirty="0"/>
              <a:t>           True or False = True,   False or True = True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规则：有一个或两个的操作数的值等价于</a:t>
            </a:r>
            <a:r>
              <a:rPr lang="en-US" altLang="zh-CN" dirty="0"/>
              <a:t>True</a:t>
            </a:r>
            <a:r>
              <a:rPr lang="zh-CN" altLang="en-US" dirty="0"/>
              <a:t>，结果为第一个等价于</a:t>
            </a:r>
            <a:r>
              <a:rPr lang="en-US" altLang="zh-CN" dirty="0"/>
              <a:t>True</a:t>
            </a:r>
            <a:r>
              <a:rPr lang="zh-CN" altLang="en-US" dirty="0"/>
              <a:t>的操作数的值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zh-CN" dirty="0"/>
              <a:t>两个操作数都等价于</a:t>
            </a:r>
            <a:r>
              <a:rPr lang="en-US" altLang="zh-CN" dirty="0"/>
              <a:t>False</a:t>
            </a:r>
            <a:r>
              <a:rPr lang="zh-CN" altLang="zh-CN" dirty="0"/>
              <a:t>，结果为第二个等价于</a:t>
            </a:r>
            <a:r>
              <a:rPr lang="en-US" altLang="zh-CN" dirty="0"/>
              <a:t>False</a:t>
            </a:r>
            <a:r>
              <a:rPr lang="zh-CN" altLang="zh-CN" dirty="0"/>
              <a:t>的操作数的值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'' or 6 / 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0.8571428571428571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&gt;&gt;&gt; print(9%3 or None)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None</a:t>
            </a:r>
          </a:p>
        </p:txBody>
      </p:sp>
      <p:sp>
        <p:nvSpPr>
          <p:cNvPr id="4" name="六边形 3"/>
          <p:cNvSpPr/>
          <p:nvPr/>
        </p:nvSpPr>
        <p:spPr>
          <a:xfrm>
            <a:off x="10200456" y="280910"/>
            <a:ext cx="1152128" cy="1041554"/>
          </a:xfrm>
          <a:prstGeom prst="hexagon">
            <a:avLst/>
          </a:prstGeom>
          <a:solidFill>
            <a:schemeClr val="accent2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3200" dirty="0"/>
              <a:t>or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C4D570-998B-4D9B-9477-6C63F3E2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26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8646" y="3068960"/>
            <a:ext cx="11114707" cy="27363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短路现象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&gt;&gt;&gt; 1 &lt; 0 and tuple()	</a:t>
            </a:r>
            <a:r>
              <a:rPr lang="en-US" altLang="zh-CN" sz="2400" dirty="0">
                <a:solidFill>
                  <a:srgbClr val="FF0000"/>
                </a:solidFill>
              </a:rPr>
              <a:t># tuple()</a:t>
            </a:r>
            <a:r>
              <a:rPr lang="zh-CN" altLang="en-US" sz="2400" dirty="0">
                <a:solidFill>
                  <a:srgbClr val="FF0000"/>
                </a:solidFill>
              </a:rPr>
              <a:t>函数返回空元组，等价于</a:t>
            </a:r>
            <a:r>
              <a:rPr lang="en-US" altLang="zh-CN" sz="2400" dirty="0">
                <a:solidFill>
                  <a:srgbClr val="FF000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dirty="0"/>
              <a:t>&gt;&gt;&gt; 3 + 6 or set()		</a:t>
            </a:r>
            <a:r>
              <a:rPr lang="en-US" altLang="zh-CN" dirty="0">
                <a:solidFill>
                  <a:srgbClr val="FF0000"/>
                </a:solidFill>
              </a:rPr>
              <a:t># </a:t>
            </a:r>
            <a:r>
              <a:rPr lang="en-US" altLang="zh-CN" sz="2400" dirty="0">
                <a:solidFill>
                  <a:srgbClr val="FF0000"/>
                </a:solidFill>
              </a:rPr>
              <a:t>set()</a:t>
            </a:r>
            <a:r>
              <a:rPr lang="zh-CN" altLang="en-US" sz="2400" dirty="0">
                <a:solidFill>
                  <a:srgbClr val="FF0000"/>
                </a:solidFill>
              </a:rPr>
              <a:t>函数返回空集合，等价于</a:t>
            </a:r>
            <a:r>
              <a:rPr lang="en-US" altLang="zh-CN" sz="2400" dirty="0">
                <a:solidFill>
                  <a:srgbClr val="FF000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9</a:t>
            </a:r>
          </a:p>
          <a:p>
            <a:pPr marL="0" indent="0">
              <a:buNone/>
            </a:pPr>
            <a:r>
              <a:rPr lang="en-US" altLang="zh-CN" dirty="0">
                <a:effectLst/>
              </a:rPr>
              <a:t>&gt;&gt;&gt; a = [0, 1, '' ,3] </a:t>
            </a:r>
          </a:p>
          <a:p>
            <a:pPr marL="0" indent="0">
              <a:buNone/>
            </a:pPr>
            <a:r>
              <a:rPr lang="en-US" altLang="zh-CN" dirty="0">
                <a:effectLst/>
              </a:rPr>
              <a:t>&gt;&gt;&gt; a[0] and a[1] 0 </a:t>
            </a: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False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计算了第一个就能确定结果的，第二个不算了，提高效率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哪怕第二个有语法错误都会跳过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D194B5-E66E-458C-8321-C7E20B72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75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F3DEC2-5F7E-4DDA-9FF7-B7904E770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20688"/>
            <a:ext cx="11856640" cy="635655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effectLst/>
              </a:rPr>
              <a:t>def a(): 	#</a:t>
            </a:r>
            <a:r>
              <a:rPr lang="zh-CN" altLang="en-US" dirty="0">
                <a:effectLst/>
              </a:rPr>
              <a:t>定义一个</a:t>
            </a:r>
            <a:r>
              <a:rPr lang="zh-CN" altLang="en-US" dirty="0"/>
              <a:t>函数</a:t>
            </a:r>
            <a:r>
              <a:rPr lang="en-US" altLang="zh-CN" dirty="0">
                <a:effectLst/>
              </a:rPr>
              <a:t>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print 'A’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return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effectLst/>
              </a:rPr>
              <a:t>def b(): 	#</a:t>
            </a:r>
            <a:r>
              <a:rPr lang="zh-CN" altLang="en-US" dirty="0">
                <a:effectLst/>
              </a:rPr>
              <a:t>定义一个函数</a:t>
            </a:r>
            <a:r>
              <a:rPr lang="en-US" altLang="zh-CN" dirty="0"/>
              <a:t>b</a:t>
            </a:r>
            <a:endParaRPr lang="en-US" altLang="zh-CN" dirty="0">
              <a:effectLst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print 'B’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return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effectLst/>
              </a:rPr>
              <a:t>def c(): 	#</a:t>
            </a:r>
            <a:r>
              <a:rPr lang="zh-CN" altLang="en-US" dirty="0">
                <a:effectLst/>
              </a:rPr>
              <a:t>定义一个函数</a:t>
            </a:r>
            <a:r>
              <a:rPr lang="en-US" altLang="zh-CN" dirty="0"/>
              <a:t>c</a:t>
            </a:r>
            <a:endParaRPr lang="en-US" altLang="zh-CN" dirty="0">
              <a:effectLst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print 'C’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return 1 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effectLst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>
                <a:effectLst/>
              </a:rPr>
              <a:t>if a() and b() and c()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>
                <a:effectLst/>
              </a:rPr>
              <a:t>print 'ok’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86C5B2-D659-41D6-A37C-92376B5B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6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C43F2-CB9A-4CCC-ABD2-6B85F086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F5AF101-9D6C-450E-9AF1-E88A0F806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78" y="149786"/>
            <a:ext cx="6166356" cy="670821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3B9EC-1652-4E6B-8B73-6784E094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949124-4C64-4278-B47C-CEF372BF4CFE}"/>
              </a:ext>
            </a:extLst>
          </p:cNvPr>
          <p:cNvSpPr txBox="1"/>
          <p:nvPr/>
        </p:nvSpPr>
        <p:spPr>
          <a:xfrm>
            <a:off x="7372502" y="4492442"/>
            <a:ext cx="46805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运行结果：</a:t>
            </a:r>
            <a:endParaRPr lang="en-US" altLang="zh-CN" sz="2800" b="1" dirty="0"/>
          </a:p>
          <a:p>
            <a:r>
              <a:rPr lang="en-US" altLang="zh-CN" sz="2800" b="1" dirty="0"/>
              <a:t>A</a:t>
            </a:r>
          </a:p>
          <a:p>
            <a:r>
              <a:rPr lang="en-US" altLang="zh-CN" sz="2800" b="1" dirty="0"/>
              <a:t>B</a:t>
            </a:r>
          </a:p>
          <a:p>
            <a:r>
              <a:rPr lang="en-US" altLang="zh-CN" sz="2800" b="1" dirty="0"/>
              <a:t>C</a:t>
            </a:r>
          </a:p>
          <a:p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5659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011F4-E672-4B5B-AD20-708F316A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F01E037-A470-4D15-8970-C1FF55E2D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267561"/>
            <a:ext cx="1574881" cy="243217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AF10C1-453D-4FC2-BA48-F28D8FE3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D5ABB-E83A-45F2-B5B7-1B8F09616CE0}"/>
              </a:ext>
            </a:extLst>
          </p:cNvPr>
          <p:cNvSpPr txBox="1"/>
          <p:nvPr/>
        </p:nvSpPr>
        <p:spPr>
          <a:xfrm>
            <a:off x="2351584" y="476672"/>
            <a:ext cx="9217024" cy="531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And / or </a:t>
            </a:r>
            <a:r>
              <a:rPr lang="zh-CN" altLang="en-US" sz="4800" b="1" dirty="0"/>
              <a:t>规则如何记呢？</a:t>
            </a:r>
            <a:endParaRPr lang="en-US" altLang="zh-CN" sz="4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    </a:t>
            </a:r>
            <a:r>
              <a:rPr lang="zh-CN" altLang="en-US" sz="3200" b="1" i="1" u="sng" dirty="0"/>
              <a:t>结果都是</a:t>
            </a:r>
            <a:r>
              <a:rPr lang="zh-CN" altLang="en-US" sz="4400" b="1" i="1" u="sng" dirty="0"/>
              <a:t>关键点 </a:t>
            </a:r>
            <a:r>
              <a:rPr lang="en-US" altLang="zh-CN" sz="3600" b="1" i="1" u="sng" dirty="0"/>
              <a:t>!</a:t>
            </a:r>
          </a:p>
          <a:p>
            <a:endParaRPr lang="en-US" altLang="zh-CN" sz="2800" b="1" dirty="0"/>
          </a:p>
          <a:p>
            <a:pPr>
              <a:lnSpc>
                <a:spcPct val="140000"/>
              </a:lnSpc>
            </a:pPr>
            <a:r>
              <a:rPr lang="en-US" altLang="zh-CN" sz="2800" dirty="0"/>
              <a:t>False1 and  X        = False1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True1  and  True2  = True2</a:t>
            </a:r>
          </a:p>
          <a:p>
            <a:pPr>
              <a:lnSpc>
                <a:spcPct val="140000"/>
              </a:lnSpc>
            </a:pPr>
            <a:endParaRPr lang="en-US" altLang="zh-CN" sz="2800" dirty="0"/>
          </a:p>
          <a:p>
            <a:pPr>
              <a:lnSpc>
                <a:spcPct val="140000"/>
              </a:lnSpc>
            </a:pPr>
            <a:r>
              <a:rPr lang="en-US" altLang="zh-CN" sz="2800" dirty="0"/>
              <a:t>True1  or  X = True1  </a:t>
            </a:r>
          </a:p>
          <a:p>
            <a:pPr>
              <a:lnSpc>
                <a:spcPct val="140000"/>
              </a:lnSpc>
            </a:pPr>
            <a:r>
              <a:rPr lang="en-US" altLang="zh-CN" sz="2800" dirty="0"/>
              <a:t>False1 or False2  = False2!</a:t>
            </a:r>
          </a:p>
        </p:txBody>
      </p:sp>
    </p:spTree>
    <p:extLst>
      <p:ext uri="{BB962C8B-B14F-4D97-AF65-F5344CB8AC3E}">
        <p14:creationId xmlns:p14="http://schemas.microsoft.com/office/powerpoint/2010/main" val="255414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4.1.3 </a:t>
            </a:r>
            <a:r>
              <a:rPr lang="zh-CN" altLang="en-US" dirty="0"/>
              <a:t>成员运算及函数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1114707" cy="5180965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．成员运算符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en-US" altLang="zh-CN" b="1" u="sng" dirty="0"/>
              <a:t>a in b</a:t>
            </a:r>
            <a:r>
              <a:rPr lang="en-US" altLang="zh-CN" dirty="0"/>
              <a:t>	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sz="2400" dirty="0"/>
              <a:t>在序列或可迭代对象</a:t>
            </a:r>
            <a:r>
              <a:rPr lang="en-US" altLang="zh-CN" sz="2400" dirty="0"/>
              <a:t>b</a:t>
            </a:r>
            <a:r>
              <a:rPr lang="zh-CN" altLang="en-US" sz="2400" dirty="0"/>
              <a:t>中找到值</a:t>
            </a:r>
            <a:r>
              <a:rPr lang="en-US" altLang="zh-CN" sz="2400" dirty="0"/>
              <a:t>a</a:t>
            </a:r>
            <a:r>
              <a:rPr lang="zh-CN" altLang="en-US" sz="2400" dirty="0"/>
              <a:t>，就返回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，否则返回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</a:p>
          <a:p>
            <a:pPr lvl="1">
              <a:spcAft>
                <a:spcPts val="600"/>
              </a:spcAft>
            </a:pPr>
            <a:r>
              <a:rPr lang="en-US" altLang="zh-CN" b="1" u="sng" dirty="0"/>
              <a:t>a not in b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sz="2400" dirty="0"/>
              <a:t>在序列或可迭代对象</a:t>
            </a:r>
            <a:r>
              <a:rPr lang="en-US" altLang="zh-CN" sz="2400" dirty="0"/>
              <a:t>b</a:t>
            </a:r>
            <a:r>
              <a:rPr lang="zh-CN" altLang="en-US" sz="2400" dirty="0"/>
              <a:t>中没有找到值</a:t>
            </a:r>
            <a:r>
              <a:rPr lang="en-US" altLang="zh-CN" sz="2400" dirty="0"/>
              <a:t>a</a:t>
            </a:r>
            <a:r>
              <a:rPr lang="zh-CN" altLang="en-US" sz="2400" dirty="0"/>
              <a:t>，就返回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，否则返回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67407" y="4077072"/>
            <a:ext cx="10919741" cy="23762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8 not in [1, 2, 3, 4, 5]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&gt;&gt;&gt; 100 in range(100)	#range(100)</a:t>
            </a:r>
            <a:r>
              <a:rPr lang="zh-CN" altLang="en-US" sz="2400" dirty="0">
                <a:solidFill>
                  <a:schemeClr val="tx1"/>
                </a:solidFill>
              </a:rPr>
              <a:t>产生一个</a:t>
            </a:r>
            <a:r>
              <a:rPr lang="en-US" altLang="zh-CN" sz="2400" dirty="0">
                <a:solidFill>
                  <a:schemeClr val="tx1"/>
                </a:solidFill>
              </a:rPr>
              <a:t>0</a:t>
            </a:r>
            <a:r>
              <a:rPr lang="zh-CN" altLang="en-US" sz="2400" dirty="0">
                <a:solidFill>
                  <a:schemeClr val="tx1"/>
                </a:solidFill>
              </a:rPr>
              <a:t>到</a:t>
            </a:r>
            <a:r>
              <a:rPr lang="en-US" altLang="zh-CN" sz="2400" dirty="0">
                <a:solidFill>
                  <a:schemeClr val="tx1"/>
                </a:solidFill>
              </a:rPr>
              <a:t>99</a:t>
            </a:r>
            <a:r>
              <a:rPr lang="zh-CN" altLang="en-US" sz="2400" dirty="0">
                <a:solidFill>
                  <a:schemeClr val="tx1"/>
                </a:solidFill>
              </a:rPr>
              <a:t>的序列</a:t>
            </a:r>
            <a:r>
              <a:rPr lang="en-US" altLang="zh-CN" sz="2400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D291F2-D150-4E12-9F20-2208149D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89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．身份运算符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b="1" u="sng" dirty="0"/>
              <a:t>a is b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是否引用了同一个对象，是就返回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</a:p>
          <a:p>
            <a:pPr>
              <a:spcAft>
                <a:spcPts val="600"/>
              </a:spcAft>
            </a:pPr>
            <a:r>
              <a:rPr lang="en-US" altLang="zh-CN" b="1" u="sng" dirty="0"/>
              <a:t>a not is b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/>
              <a:t>判断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是否引用了不同的对象，是就返回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</a:p>
          <a:p>
            <a:pPr>
              <a:spcAft>
                <a:spcPts val="600"/>
              </a:spcAft>
            </a:pPr>
            <a:r>
              <a:rPr lang="zh-CN" altLang="en-US" dirty="0"/>
              <a:t>内置函数</a:t>
            </a:r>
            <a:r>
              <a:rPr lang="en-US" altLang="zh-CN" dirty="0"/>
              <a:t>id()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zh-CN" altLang="en-US" dirty="0"/>
              <a:t>用来返回变量所引用对象的</a:t>
            </a:r>
            <a:r>
              <a:rPr lang="en-US" altLang="zh-CN" dirty="0"/>
              <a:t>id</a:t>
            </a:r>
            <a:r>
              <a:rPr lang="zh-CN" altLang="en-US" dirty="0"/>
              <a:t>值，该值就是被引用对象的内存地址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A70DFA-EB4C-4DCA-A9EB-06E4C6EA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879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．身份运算符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685800" y="1844825"/>
            <a:ext cx="5266184" cy="4373859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altLang="zh-CN" dirty="0"/>
              <a:t>&gt;&gt;&gt; x = 20</a:t>
            </a:r>
          </a:p>
          <a:p>
            <a:pPr marL="0" indent="0">
              <a:buNone/>
            </a:pPr>
            <a:r>
              <a:rPr lang="es-ES" altLang="zh-CN" dirty="0"/>
              <a:t>&gt;&gt;&gt; id(x)</a:t>
            </a:r>
          </a:p>
          <a:p>
            <a:pPr marL="0" indent="0">
              <a:buNone/>
            </a:pPr>
            <a:r>
              <a:rPr lang="es-ES" altLang="zh-CN" dirty="0">
                <a:solidFill>
                  <a:srgbClr val="0070C0"/>
                </a:solidFill>
              </a:rPr>
              <a:t>1707017264</a:t>
            </a:r>
          </a:p>
          <a:p>
            <a:pPr marL="0" indent="0">
              <a:buNone/>
            </a:pPr>
            <a:r>
              <a:rPr lang="es-ES" altLang="zh-CN" dirty="0"/>
              <a:t>&gt;&gt;&gt; y = 20</a:t>
            </a:r>
          </a:p>
          <a:p>
            <a:pPr marL="0" indent="0">
              <a:buNone/>
            </a:pPr>
            <a:r>
              <a:rPr lang="es-ES" altLang="zh-CN" dirty="0"/>
              <a:t>&gt;&gt;&gt; id(y)</a:t>
            </a:r>
          </a:p>
          <a:p>
            <a:pPr marL="0" indent="0">
              <a:buNone/>
            </a:pPr>
            <a:r>
              <a:rPr lang="es-ES" altLang="zh-CN" dirty="0">
                <a:solidFill>
                  <a:srgbClr val="0070C0"/>
                </a:solidFill>
              </a:rPr>
              <a:t>1707017264</a:t>
            </a:r>
          </a:p>
          <a:p>
            <a:pPr marL="0" indent="0">
              <a:buNone/>
            </a:pPr>
            <a:r>
              <a:rPr lang="es-ES" altLang="zh-CN" dirty="0"/>
              <a:t>&gt;&gt;&gt; x is y</a:t>
            </a:r>
          </a:p>
          <a:p>
            <a:pPr marL="0" indent="0">
              <a:buNone/>
            </a:pPr>
            <a:r>
              <a:rPr lang="es-ES" altLang="zh-CN" dirty="0">
                <a:solidFill>
                  <a:srgbClr val="0070C0"/>
                </a:solidFill>
              </a:rPr>
              <a:t>True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240016" y="1844825"/>
            <a:ext cx="5266184" cy="4752528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a = list() </a:t>
            </a:r>
          </a:p>
          <a:p>
            <a:pPr marL="0" indent="0">
              <a:buNone/>
            </a:pPr>
            <a:r>
              <a:rPr lang="en-US" altLang="zh-CN" dirty="0"/>
              <a:t>&gt;&gt;&gt; id(a)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2271570384968</a:t>
            </a:r>
          </a:p>
          <a:p>
            <a:pPr marL="0" indent="0">
              <a:buNone/>
            </a:pPr>
            <a:r>
              <a:rPr lang="en-US" altLang="zh-CN" dirty="0"/>
              <a:t>&gt;&gt;&gt; b = list()	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&gt;&gt;&gt; id(b)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2271570367048</a:t>
            </a:r>
          </a:p>
          <a:p>
            <a:pPr marL="0" indent="0">
              <a:buNone/>
            </a:pPr>
            <a:r>
              <a:rPr lang="en-US" altLang="zh-CN" dirty="0"/>
              <a:t>&gt;&gt;&gt; a not is b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dirty="0"/>
              <a:t>&gt;&gt;&gt; c = a</a:t>
            </a:r>
          </a:p>
          <a:p>
            <a:pPr marL="0" indent="0">
              <a:buNone/>
            </a:pPr>
            <a:r>
              <a:rPr lang="en-US" altLang="zh-CN" dirty="0"/>
              <a:t>&gt;&gt;&gt; c not is b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CDE1BF-7014-4E9E-A692-27B91CF1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082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63353" y="3861048"/>
            <a:ext cx="5472608" cy="248006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all(['a', 'b', 'c', 'd'])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buNone/>
            </a:pPr>
            <a:r>
              <a:rPr lang="en-US" altLang="zh-CN" dirty="0"/>
              <a:t>&gt;&gt;&gt; all(['a', 'b', '', 'd'])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</a:p>
        </p:txBody>
      </p:sp>
      <p:sp>
        <p:nvSpPr>
          <p:cNvPr id="7" name="矩形 6"/>
          <p:cNvSpPr/>
          <p:nvPr/>
        </p:nvSpPr>
        <p:spPr>
          <a:xfrm>
            <a:off x="911424" y="1124744"/>
            <a:ext cx="7929790" cy="795657"/>
          </a:xfrm>
          <a:prstGeom prst="rect">
            <a:avLst/>
          </a:prstGeom>
          <a:solidFill>
            <a:srgbClr val="003300"/>
          </a:solidFill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latin typeface="+mj-ea"/>
                <a:ea typeface="+mj-ea"/>
              </a:rPr>
              <a:t>all(</a:t>
            </a:r>
            <a:r>
              <a:rPr lang="en-US" altLang="zh-CN" sz="2800" b="1" dirty="0" err="1">
                <a:latin typeface="+mj-ea"/>
                <a:ea typeface="+mj-ea"/>
              </a:rPr>
              <a:t>iterable</a:t>
            </a:r>
            <a:r>
              <a:rPr lang="en-US" altLang="zh-CN" sz="2800" b="1" dirty="0">
                <a:latin typeface="+mj-ea"/>
                <a:ea typeface="+mj-ea"/>
              </a:rPr>
              <a:t>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11076" y="359531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055059"/>
            <a:ext cx="99595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中的所有元素值是否都不等价于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是序列或可迭代对象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为空返回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5"/>
          <p:cNvSpPr txBox="1">
            <a:spLocks/>
          </p:cNvSpPr>
          <p:nvPr/>
        </p:nvSpPr>
        <p:spPr>
          <a:xfrm>
            <a:off x="6744072" y="3832903"/>
            <a:ext cx="5066035" cy="24800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 fontScale="925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&gt;&gt;&gt; all(('a', 'b', '', 'd'))	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</a:p>
          <a:p>
            <a:pPr marL="0" indent="0">
              <a:buNone/>
            </a:pPr>
            <a:r>
              <a:rPr lang="en-US" altLang="zh-CN" dirty="0"/>
              <a:t>&gt;&gt;&gt; all({0, 1, 2, 3})	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277C08-9740-4960-8A8E-ACAB921E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43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69925" y="3299080"/>
            <a:ext cx="10852150" cy="3042030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any(['a', 'b', 'c', 'd'])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any(('a', 'b', '', 'd'))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True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&gt;&gt;&gt; any({})				</a:t>
            </a:r>
            <a:r>
              <a:rPr lang="en-US" altLang="zh-CN" dirty="0">
                <a:solidFill>
                  <a:srgbClr val="FF0000"/>
                </a:solidFill>
              </a:rPr>
              <a:t># {}</a:t>
            </a:r>
            <a:r>
              <a:rPr lang="zh-CN" altLang="en-US" dirty="0">
                <a:solidFill>
                  <a:srgbClr val="FF0000"/>
                </a:solidFill>
              </a:rPr>
              <a:t>表示空集合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False</a:t>
            </a:r>
          </a:p>
        </p:txBody>
      </p:sp>
      <p:sp>
        <p:nvSpPr>
          <p:cNvPr id="7" name="矩形 6"/>
          <p:cNvSpPr/>
          <p:nvPr/>
        </p:nvSpPr>
        <p:spPr>
          <a:xfrm>
            <a:off x="921214" y="1124744"/>
            <a:ext cx="7920000" cy="792088"/>
          </a:xfrm>
          <a:prstGeom prst="rect">
            <a:avLst/>
          </a:prstGeom>
          <a:solidFill>
            <a:srgbClr val="003300"/>
          </a:solidFill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latin typeface="+mj-ea"/>
                <a:ea typeface="+mj-ea"/>
              </a:rPr>
              <a:t>any(</a:t>
            </a:r>
            <a:r>
              <a:rPr lang="en-US" altLang="zh-CN" sz="2800" b="1" dirty="0" err="1">
                <a:latin typeface="+mj-ea"/>
                <a:ea typeface="+mj-ea"/>
              </a:rPr>
              <a:t>iterable</a:t>
            </a:r>
            <a:r>
              <a:rPr lang="en-US" altLang="zh-CN" sz="2800" b="1" dirty="0">
                <a:latin typeface="+mj-ea"/>
                <a:ea typeface="+mj-ea"/>
              </a:rPr>
              <a:t>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185031" y="3164422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051490"/>
            <a:ext cx="995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中至少有一个元素值等价于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iterable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为空返回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7E8CC4-7E20-48D5-A979-7C8EC127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6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内置的测试函数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79376" y="2733535"/>
            <a:ext cx="11042699" cy="36075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x = 10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isinstance</a:t>
            </a:r>
            <a:r>
              <a:rPr lang="en-US" altLang="zh-CN" dirty="0"/>
              <a:t>(x, int)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33CC"/>
                </a:solidFill>
              </a:rPr>
              <a:t>True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isinstance</a:t>
            </a:r>
            <a:r>
              <a:rPr lang="en-US" altLang="zh-CN" dirty="0"/>
              <a:t>(x, str)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33CC"/>
                </a:solidFill>
              </a:rPr>
              <a:t>False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isinstance</a:t>
            </a:r>
            <a:r>
              <a:rPr lang="en-US" altLang="zh-CN" dirty="0"/>
              <a:t>(3, (int, complex, str))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33CC"/>
                </a:solidFill>
              </a:rPr>
              <a:t>True</a:t>
            </a:r>
          </a:p>
        </p:txBody>
      </p:sp>
      <p:sp>
        <p:nvSpPr>
          <p:cNvPr id="7" name="矩形 6"/>
          <p:cNvSpPr/>
          <p:nvPr/>
        </p:nvSpPr>
        <p:spPr>
          <a:xfrm>
            <a:off x="623392" y="1052736"/>
            <a:ext cx="7920000" cy="792088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 err="1">
                <a:latin typeface="+mj-ea"/>
                <a:ea typeface="+mj-ea"/>
              </a:rPr>
              <a:t>isinstance</a:t>
            </a:r>
            <a:r>
              <a:rPr lang="en-US" altLang="zh-CN" sz="2800" b="1" dirty="0">
                <a:latin typeface="+mj-ea"/>
                <a:ea typeface="+mj-ea"/>
              </a:rPr>
              <a:t>(obj, </a:t>
            </a:r>
            <a:r>
              <a:rPr lang="en-US" altLang="zh-CN" sz="2800" b="1" dirty="0" err="1">
                <a:latin typeface="+mj-ea"/>
                <a:ea typeface="+mj-ea"/>
              </a:rPr>
              <a:t>classinfo</a:t>
            </a:r>
            <a:r>
              <a:rPr lang="en-US" altLang="zh-CN" sz="2800" b="1" dirty="0">
                <a:latin typeface="+mj-ea"/>
                <a:ea typeface="+mj-ea"/>
              </a:rPr>
              <a:t>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11076" y="2733535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17658" y="1979482"/>
            <a:ext cx="9959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判断对象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obj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是否是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classinfo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列举的类型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DABF09-A22B-42E3-B403-B0C24BEF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027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条件运算符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F8985B-14D3-48D2-92B1-41393FDA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条件运算符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50529" y="3933056"/>
            <a:ext cx="10852150" cy="261114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921214" y="1283569"/>
            <a:ext cx="7920000" cy="79208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latin typeface="+mj-ea"/>
                <a:ea typeface="+mj-ea"/>
              </a:rPr>
              <a:t>1 if </a:t>
            </a:r>
            <a:r>
              <a:rPr lang="zh-CN" altLang="en-US" sz="2800" b="1" dirty="0">
                <a:latin typeface="+mj-ea"/>
                <a:ea typeface="+mj-ea"/>
              </a:rPr>
              <a:t>条件表达式 </a:t>
            </a:r>
            <a:r>
              <a:rPr lang="en-US" altLang="zh-CN" sz="2800" b="1" dirty="0">
                <a:latin typeface="+mj-ea"/>
                <a:ea typeface="+mj-ea"/>
              </a:rPr>
              <a:t>else </a:t>
            </a:r>
            <a:r>
              <a:rPr lang="zh-CN" altLang="en-US" sz="2800" b="1" dirty="0"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latin typeface="+mj-ea"/>
                <a:ea typeface="+mj-ea"/>
              </a:rPr>
              <a:t>2</a:t>
            </a:r>
            <a:endParaRPr lang="zh-CN" altLang="en-US" sz="2800" b="1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211076" y="3595310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415480" y="2210315"/>
            <a:ext cx="99595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先计算条件表达式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当条件计算结果为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，返回表达式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的计算结果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当条件计算结果为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，则返回表达式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的计算结果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BF5D62-C972-4094-9E46-5F1AD788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007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条件运算符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3431" y="1556792"/>
            <a:ext cx="11151397" cy="498740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求</a:t>
            </a:r>
            <a:r>
              <a:rPr lang="en-US" altLang="zh-CN" dirty="0"/>
              <a:t>3</a:t>
            </a:r>
            <a:r>
              <a:rPr lang="zh-CN" altLang="en-US" dirty="0"/>
              <a:t>个数的最大值。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#1.	</a:t>
            </a:r>
            <a:r>
              <a:rPr lang="en-US" altLang="zh-CN" dirty="0" err="1"/>
              <a:t>a,b,c</a:t>
            </a:r>
            <a:r>
              <a:rPr lang="en-US" altLang="zh-CN" dirty="0"/>
              <a:t> = eval(input(‘</a:t>
            </a:r>
            <a:r>
              <a:rPr lang="en-US" altLang="zh-CN" dirty="0" err="1"/>
              <a:t>a,b,c</a:t>
            </a:r>
            <a:r>
              <a:rPr lang="en-US" altLang="zh-CN" dirty="0"/>
              <a:t>=‘)) #</a:t>
            </a:r>
            <a:r>
              <a:rPr lang="zh-CN" altLang="en-US" dirty="0"/>
              <a:t>键盘输入</a:t>
            </a:r>
            <a:r>
              <a:rPr lang="en-US" altLang="zh-CN" dirty="0"/>
              <a:t>3</a:t>
            </a:r>
            <a:r>
              <a:rPr lang="zh-CN" altLang="en-US" dirty="0"/>
              <a:t>个数赋给</a:t>
            </a:r>
            <a:r>
              <a:rPr lang="en-US" altLang="zh-CN" dirty="0" err="1"/>
              <a:t>a,b,c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#2.	max = a if a &gt; b else b		#</a:t>
            </a:r>
            <a:r>
              <a:rPr lang="zh-CN" altLang="en-US" dirty="0"/>
              <a:t>取</a:t>
            </a:r>
            <a:r>
              <a:rPr lang="en-US" altLang="zh-CN" dirty="0" err="1"/>
              <a:t>a,b</a:t>
            </a:r>
            <a:r>
              <a:rPr lang="zh-CN" altLang="en-US" dirty="0"/>
              <a:t>中较大的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#3.	max = max if max &gt; c else c	#</a:t>
            </a:r>
            <a:r>
              <a:rPr lang="zh-CN" altLang="en-US" dirty="0"/>
              <a:t>取</a:t>
            </a:r>
            <a:r>
              <a:rPr lang="en-US" altLang="zh-CN" dirty="0"/>
              <a:t>max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较大的</a:t>
            </a:r>
            <a:endParaRPr lang="en-US" altLang="zh-CN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dirty="0"/>
              <a:t>#4.	print('Max=', max)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BF5D62-C972-4094-9E46-5F1AD788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272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选择结构的实现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B79E30-7F42-478A-868F-E1AD8F5D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语句是</a:t>
            </a:r>
            <a:r>
              <a:rPr lang="en-US" altLang="zh-CN" dirty="0"/>
              <a:t>Python</a:t>
            </a:r>
            <a:r>
              <a:rPr lang="zh-CN" altLang="en-US" dirty="0"/>
              <a:t>唯一的选择结构语句。</a:t>
            </a:r>
            <a:endParaRPr lang="en-US" altLang="zh-CN" dirty="0"/>
          </a:p>
          <a:p>
            <a:r>
              <a:rPr lang="zh-CN" altLang="en-US" dirty="0"/>
              <a:t>分为单分支、双分支和多分支，还可以的嵌套。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5459D9-C912-4AC3-82B1-75D737B1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0DC18D-B814-451C-B8B5-CAA58A7DC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2474141"/>
            <a:ext cx="1872208" cy="21069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8CDB01-3C27-4F0B-BE41-4D478AAA4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2492896"/>
            <a:ext cx="3816424" cy="22624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BBDCFC7-CA9F-4477-A1CF-484A0B6BD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2492897"/>
            <a:ext cx="6046911" cy="350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11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4.3.1 </a:t>
            </a:r>
            <a:r>
              <a:rPr lang="zh-CN" altLang="en-US" dirty="0"/>
              <a:t>单分支选择结构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820190" y="1084788"/>
            <a:ext cx="5040560" cy="1218403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</a:p>
          <a:p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</a:p>
        </p:txBody>
      </p:sp>
      <p:sp>
        <p:nvSpPr>
          <p:cNvPr id="6" name="矩形 5"/>
          <p:cNvSpPr/>
          <p:nvPr/>
        </p:nvSpPr>
        <p:spPr>
          <a:xfrm>
            <a:off x="820190" y="2556411"/>
            <a:ext cx="5040560" cy="792088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:  </a:t>
            </a:r>
            <a:r>
              <a:rPr lang="zh-CN" altLang="en-US" sz="2800" dirty="0">
                <a:latin typeface="+mj-ea"/>
                <a:ea typeface="+mj-ea"/>
              </a:rPr>
              <a:t>单语句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196834" y="6124011"/>
            <a:ext cx="71640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408856" y="2636912"/>
            <a:ext cx="0" cy="1224136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95400" y="3962817"/>
            <a:ext cx="8123643" cy="1864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7D801D-F111-4457-91A0-675EBC6E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07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9376" y="1844824"/>
            <a:ext cx="11449272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4-2】</a:t>
            </a:r>
            <a:r>
              <a:rPr lang="zh-CN" altLang="en-US" dirty="0"/>
              <a:t>判断大于</a:t>
            </a:r>
            <a:r>
              <a:rPr lang="en-US" altLang="zh-CN" dirty="0"/>
              <a:t>100</a:t>
            </a:r>
            <a:r>
              <a:rPr lang="zh-CN" altLang="en-US" dirty="0"/>
              <a:t>的数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3" y="1160145"/>
            <a:ext cx="10610651" cy="3456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从键盘输入整数，判定它是否为大于</a:t>
            </a:r>
            <a:r>
              <a:rPr lang="en-US" altLang="zh-CN" dirty="0"/>
              <a:t>100</a:t>
            </a:r>
            <a:r>
              <a:rPr lang="zh-CN" altLang="en-US" dirty="0"/>
              <a:t>的数。</a:t>
            </a:r>
            <a:endParaRPr lang="en-US" altLang="zh-CN" dirty="0"/>
          </a:p>
          <a:p>
            <a:pPr marL="0" indent="0">
              <a:buNone/>
            </a:pPr>
            <a:endParaRPr lang="zh-CN" altLang="en-US" sz="1100" dirty="0"/>
          </a:p>
          <a:p>
            <a:pPr marL="0" indent="0">
              <a:buNone/>
            </a:pPr>
            <a:r>
              <a:rPr lang="en-US" altLang="zh-CN" sz="2400" dirty="0"/>
              <a:t>#1.	print(</a:t>
            </a:r>
            <a:r>
              <a:rPr lang="en-US" altLang="zh-CN" sz="2000" dirty="0"/>
              <a:t>'The program gets a number, and shows if it is larger than 100.'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#2.	print('The number: ', end='')</a:t>
            </a:r>
          </a:p>
          <a:p>
            <a:pPr marL="0" indent="0">
              <a:buNone/>
            </a:pPr>
            <a:r>
              <a:rPr lang="en-US" altLang="zh-CN" sz="2400" dirty="0"/>
              <a:t>#3.	x =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(input('x='))</a:t>
            </a:r>
          </a:p>
          <a:p>
            <a:pPr marL="0" indent="0">
              <a:buNone/>
            </a:pPr>
            <a:r>
              <a:rPr lang="en-US" altLang="zh-CN" sz="2400" dirty="0"/>
              <a:t>#4.	if x&gt;100:</a:t>
            </a:r>
          </a:p>
          <a:p>
            <a:pPr marL="0" indent="0">
              <a:buNone/>
            </a:pPr>
            <a:r>
              <a:rPr lang="en-US" altLang="zh-CN" sz="2400" dirty="0"/>
              <a:t>#5.	    print('The number ',x,' is larger than 100.')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3FA53B-60FD-4D24-B1B9-DE7E144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33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D4D392-DEC2-4480-9ECD-09B3F28F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1" y="4644182"/>
            <a:ext cx="8874417" cy="13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6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1015F-5246-4702-9F43-E6B91A4E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注意：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9B598-D11A-42CC-AE6E-68B8F300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3200" b="1" dirty="0">
                <a:solidFill>
                  <a:schemeClr val="tx1"/>
                </a:solidFill>
              </a:rPr>
              <a:t>条件表达式后必须加冒号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</a:rPr>
              <a:t>所有语句行都应向右缩进，对齐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</a:rPr>
              <a:t>并保持一致的缩进方式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</a:rPr>
              <a:t>多数条件表达式为比较表达式或逻辑表达式，也可以是其他计算结果</a:t>
            </a:r>
          </a:p>
          <a:p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E973C6-8A72-49C9-A935-704CCA38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0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4-3】</a:t>
            </a:r>
            <a:r>
              <a:rPr lang="zh-CN" altLang="en-US" dirty="0"/>
              <a:t>输出</a:t>
            </a:r>
            <a:r>
              <a:rPr lang="en-US" altLang="zh-CN" dirty="0"/>
              <a:t>3</a:t>
            </a:r>
            <a:r>
              <a:rPr lang="zh-CN" altLang="en-US" dirty="0"/>
              <a:t>个整数中的最大数。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i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max = a</a:t>
            </a:r>
          </a:p>
          <a:p>
            <a:pPr marL="0" indent="0">
              <a:buNone/>
            </a:pPr>
            <a:r>
              <a:rPr lang="en-US" altLang="zh-CN" dirty="0"/>
              <a:t>#3.	if b &gt; max:</a:t>
            </a:r>
          </a:p>
          <a:p>
            <a:pPr marL="0" indent="0">
              <a:buNone/>
            </a:pPr>
            <a:r>
              <a:rPr lang="en-US" altLang="zh-CN" dirty="0"/>
              <a:t>#4.	    max = b</a:t>
            </a:r>
          </a:p>
          <a:p>
            <a:pPr marL="0" indent="0">
              <a:buNone/>
            </a:pPr>
            <a:r>
              <a:rPr lang="en-US" altLang="zh-CN" dirty="0"/>
              <a:t>#5.	if c &gt; max:</a:t>
            </a:r>
          </a:p>
          <a:p>
            <a:pPr marL="0" indent="0">
              <a:buNone/>
            </a:pPr>
            <a:r>
              <a:rPr lang="en-US" altLang="zh-CN" dirty="0"/>
              <a:t>#6.	    max = c</a:t>
            </a:r>
          </a:p>
          <a:p>
            <a:pPr marL="0" indent="0">
              <a:buNone/>
            </a:pPr>
            <a:r>
              <a:rPr lang="en-US" altLang="zh-CN" dirty="0"/>
              <a:t>#7.	print('max =', max)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D71DAB-1FBB-44CD-A0C4-B86881D9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594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79376" y="1888569"/>
            <a:ext cx="11042699" cy="26925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4-4】</a:t>
            </a:r>
            <a:r>
              <a:rPr lang="zh-CN" altLang="en-US" dirty="0"/>
              <a:t>两个数的排序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/>
              <a:t>输入两个整数，从小到大排序输出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#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dirty="0"/>
              <a:t>1.	a, b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if a &gt; b:</a:t>
            </a:r>
          </a:p>
          <a:p>
            <a:pPr marL="0" indent="0">
              <a:buNone/>
            </a:pPr>
            <a:r>
              <a:rPr lang="en-US" altLang="zh-CN" dirty="0"/>
              <a:t>#3.	    a, b = b, a</a:t>
            </a:r>
          </a:p>
          <a:p>
            <a:pPr marL="0" indent="0">
              <a:buNone/>
            </a:pPr>
            <a:r>
              <a:rPr lang="en-US" altLang="zh-CN" dirty="0"/>
              <a:t>#4.	print(a, b)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D47DA-52FC-4BD4-A76A-042D6549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912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DFF40-FD39-4DCD-9D62-5F73EFF7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4.3.2 </a:t>
            </a:r>
            <a:r>
              <a:rPr lang="zh-CN" altLang="en-US" dirty="0"/>
              <a:t>双分支选择结构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9C72B-6C29-4FAD-9B98-0F2F1C484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b="1" dirty="0">
                <a:latin typeface="+mj-ea"/>
                <a:ea typeface="+mj-ea"/>
              </a:rPr>
              <a:t>if </a:t>
            </a:r>
            <a:r>
              <a:rPr lang="zh-CN" altLang="en-US" sz="2800" b="1" dirty="0">
                <a:latin typeface="+mj-ea"/>
                <a:ea typeface="+mj-ea"/>
              </a:rPr>
              <a:t>条件表达式</a:t>
            </a:r>
            <a:r>
              <a:rPr lang="en-US" altLang="zh-CN" sz="2800" b="1" dirty="0">
                <a:latin typeface="+mj-ea"/>
                <a:ea typeface="+mj-ea"/>
              </a:rPr>
              <a:t>:</a:t>
            </a:r>
          </a:p>
          <a:p>
            <a:pPr marL="0" indent="0">
              <a:buNone/>
            </a:pPr>
            <a:r>
              <a:rPr lang="en-US" altLang="zh-CN" sz="2800" b="1" dirty="0">
                <a:latin typeface="+mj-ea"/>
                <a:ea typeface="+mj-ea"/>
              </a:rPr>
              <a:t>    </a:t>
            </a:r>
            <a:r>
              <a:rPr lang="zh-CN" altLang="en-US" sz="2800" b="1" dirty="0">
                <a:latin typeface="+mj-ea"/>
                <a:ea typeface="+mj-ea"/>
              </a:rPr>
              <a:t>语句块</a:t>
            </a:r>
            <a:r>
              <a:rPr lang="en-US" altLang="zh-CN" sz="2800" b="1" dirty="0">
                <a:latin typeface="+mj-ea"/>
                <a:ea typeface="+mj-ea"/>
              </a:rPr>
              <a:t>1</a:t>
            </a:r>
          </a:p>
          <a:p>
            <a:pPr marL="0" indent="0">
              <a:buNone/>
            </a:pPr>
            <a:r>
              <a:rPr lang="en-US" altLang="zh-CN" sz="2800" b="1" dirty="0">
                <a:latin typeface="+mj-ea"/>
                <a:ea typeface="+mj-ea"/>
              </a:rPr>
              <a:t>else:</a:t>
            </a:r>
          </a:p>
          <a:p>
            <a:pPr marL="0" indent="0">
              <a:buNone/>
            </a:pPr>
            <a:r>
              <a:rPr lang="en-US" altLang="zh-CN" sz="2800" b="1" dirty="0">
                <a:latin typeface="+mj-ea"/>
                <a:ea typeface="+mj-ea"/>
              </a:rPr>
              <a:t>    </a:t>
            </a:r>
            <a:r>
              <a:rPr lang="zh-CN" altLang="en-US" sz="2800" b="1" dirty="0">
                <a:latin typeface="+mj-ea"/>
                <a:ea typeface="+mj-ea"/>
              </a:rPr>
              <a:t>语句块</a:t>
            </a:r>
            <a:r>
              <a:rPr lang="en-US" altLang="zh-CN" sz="2800" b="1" dirty="0">
                <a:latin typeface="+mj-ea"/>
                <a:ea typeface="+mj-ea"/>
              </a:rPr>
              <a:t>2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个</a:t>
            </a:r>
            <a:r>
              <a:rPr lang="zh-CN" altLang="zh-CN" sz="2800" dirty="0">
                <a:solidFill>
                  <a:schemeClr val="tx1"/>
                </a:solidFill>
              </a:rPr>
              <a:t>冒号</a:t>
            </a:r>
            <a:r>
              <a:rPr lang="zh-CN" altLang="en-US" sz="2800" dirty="0">
                <a:solidFill>
                  <a:schemeClr val="tx1"/>
                </a:solidFill>
              </a:rPr>
              <a:t>不能少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</a:rPr>
              <a:t>语句块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和语句块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都应向右缩进，对齐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</a:rPr>
              <a:t>并保持一致的缩进方式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529E9-E982-477D-ABF1-D8D48B02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5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4-5】</a:t>
            </a:r>
            <a:r>
              <a:rPr lang="zh-CN" altLang="en-US" dirty="0"/>
              <a:t>改写例</a:t>
            </a:r>
            <a:r>
              <a:rPr lang="en-US" altLang="zh-CN" dirty="0"/>
              <a:t>4-4</a:t>
            </a:r>
            <a:r>
              <a:rPr lang="zh-CN" altLang="en-US" dirty="0"/>
              <a:t>的两个数排序。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356499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a, b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if a &lt; b:</a:t>
            </a:r>
          </a:p>
          <a:p>
            <a:pPr marL="0" indent="0">
              <a:buNone/>
            </a:pPr>
            <a:r>
              <a:rPr lang="en-US" altLang="zh-CN" dirty="0"/>
              <a:t>#3.	    print(a, b)</a:t>
            </a:r>
          </a:p>
          <a:p>
            <a:pPr marL="0" indent="0">
              <a:buNone/>
            </a:pPr>
            <a:r>
              <a:rPr lang="en-US" altLang="zh-CN" dirty="0"/>
              <a:t>#4.	else:</a:t>
            </a:r>
          </a:p>
          <a:p>
            <a:pPr marL="0" indent="0">
              <a:buNone/>
            </a:pPr>
            <a:r>
              <a:rPr lang="en-US" altLang="zh-CN" dirty="0"/>
              <a:t>#5.	    print(b, a)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CE2FF4-5927-48BD-95D6-0239D3BC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43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4-6】</a:t>
            </a:r>
            <a:r>
              <a:rPr lang="zh-CN" altLang="en-US" dirty="0"/>
              <a:t>改写例</a:t>
            </a:r>
            <a:r>
              <a:rPr lang="en-US" altLang="zh-CN" dirty="0"/>
              <a:t>4-3</a:t>
            </a:r>
            <a:r>
              <a:rPr lang="zh-CN" altLang="en-US" dirty="0"/>
              <a:t>，求三个整数的最大值。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if a &gt; b:</a:t>
            </a:r>
          </a:p>
          <a:p>
            <a:pPr marL="0" indent="0">
              <a:buNone/>
            </a:pPr>
            <a:r>
              <a:rPr lang="en-US" altLang="zh-CN" dirty="0"/>
              <a:t>#3.	    max = a</a:t>
            </a:r>
          </a:p>
          <a:p>
            <a:pPr marL="0" indent="0">
              <a:buNone/>
            </a:pPr>
            <a:r>
              <a:rPr lang="en-US" altLang="zh-CN" dirty="0"/>
              <a:t>#4.	else:</a:t>
            </a:r>
          </a:p>
          <a:p>
            <a:pPr marL="0" indent="0">
              <a:buNone/>
            </a:pPr>
            <a:r>
              <a:rPr lang="en-US" altLang="zh-CN" dirty="0"/>
              <a:t>#5.	    max = b</a:t>
            </a:r>
          </a:p>
          <a:p>
            <a:pPr marL="0" indent="0">
              <a:buNone/>
            </a:pPr>
            <a:r>
              <a:rPr lang="en-US" altLang="zh-CN" dirty="0"/>
              <a:t>#6.	if max &lt; c:</a:t>
            </a:r>
          </a:p>
          <a:p>
            <a:pPr marL="0" indent="0">
              <a:buNone/>
            </a:pPr>
            <a:r>
              <a:rPr lang="en-US" altLang="zh-CN" dirty="0"/>
              <a:t>#7.	    print('max =', c)</a:t>
            </a:r>
          </a:p>
          <a:p>
            <a:pPr marL="0" indent="0">
              <a:buNone/>
            </a:pPr>
            <a:r>
              <a:rPr lang="en-US" altLang="zh-CN" dirty="0"/>
              <a:t>#8.	else:</a:t>
            </a:r>
          </a:p>
          <a:p>
            <a:pPr marL="0" indent="0">
              <a:buNone/>
            </a:pPr>
            <a:r>
              <a:rPr lang="en-US" altLang="zh-CN" dirty="0"/>
              <a:t>#9.	    print('max =', max)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15BEDF-F3DA-45A3-B44E-75215261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452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F6B21-4EC7-41B8-AE70-4959F0EC8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4.3.3 </a:t>
            </a:r>
            <a:r>
              <a:rPr lang="zh-CN" altLang="en-US" dirty="0"/>
              <a:t>多分支选择结构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506C4-44DE-4BA2-BEDF-C1A1C7793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46" y="1196752"/>
            <a:ext cx="4595502" cy="5780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if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1:</a:t>
            </a:r>
          </a:p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</a:p>
          <a:p>
            <a:pPr marL="0" indent="0">
              <a:buNone/>
            </a:pPr>
            <a:r>
              <a:rPr lang="en-US" altLang="zh-CN" sz="2800" dirty="0" err="1">
                <a:latin typeface="+mj-ea"/>
                <a:ea typeface="+mj-ea"/>
              </a:rPr>
              <a:t>elif</a:t>
            </a: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2:</a:t>
            </a:r>
          </a:p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</a:p>
          <a:p>
            <a:pPr marL="0" indent="0">
              <a:buNone/>
            </a:pPr>
            <a:r>
              <a:rPr lang="en-US" altLang="zh-CN" sz="2800" dirty="0" err="1">
                <a:latin typeface="+mj-ea"/>
                <a:ea typeface="+mj-ea"/>
              </a:rPr>
              <a:t>Elif</a:t>
            </a: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条件表达式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en-US" altLang="zh-CN" dirty="0">
                <a:latin typeface="+mj-ea"/>
                <a:ea typeface="+mj-ea"/>
              </a:rPr>
              <a:t>:</a:t>
            </a:r>
          </a:p>
          <a:p>
            <a:pPr marL="0" indent="0">
              <a:buNone/>
            </a:pPr>
            <a:r>
              <a:rPr lang="en-US" altLang="zh-CN" dirty="0">
                <a:latin typeface="+mj-ea"/>
                <a:ea typeface="+mj-ea"/>
              </a:rPr>
              <a:t>    </a:t>
            </a:r>
            <a:r>
              <a:rPr lang="zh-CN" altLang="en-US" dirty="0">
                <a:latin typeface="+mj-ea"/>
                <a:ea typeface="+mj-ea"/>
              </a:rPr>
              <a:t>语句块</a:t>
            </a:r>
            <a:r>
              <a:rPr lang="en-US" altLang="zh-CN" dirty="0">
                <a:latin typeface="+mj-ea"/>
                <a:ea typeface="+mj-ea"/>
              </a:rPr>
              <a:t>3</a:t>
            </a:r>
            <a:endParaRPr lang="en-US" altLang="zh-CN" sz="28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……</a:t>
            </a:r>
          </a:p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else:</a:t>
            </a:r>
          </a:p>
          <a:p>
            <a:pPr marL="0" indent="0">
              <a:buNone/>
            </a:pPr>
            <a:r>
              <a:rPr lang="en-US" altLang="zh-CN" sz="2800" dirty="0">
                <a:latin typeface="+mj-ea"/>
                <a:ea typeface="+mj-ea"/>
              </a:rPr>
              <a:t>    </a:t>
            </a:r>
            <a:r>
              <a:rPr lang="zh-CN" altLang="en-US" sz="2800" dirty="0">
                <a:latin typeface="+mj-ea"/>
                <a:ea typeface="+mj-ea"/>
              </a:rPr>
              <a:t>语句块</a:t>
            </a:r>
            <a:r>
              <a:rPr lang="en-US" altLang="zh-CN" sz="2800" dirty="0">
                <a:latin typeface="+mj-ea"/>
                <a:ea typeface="+mj-ea"/>
              </a:rPr>
              <a:t>n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F7BB4C-2D62-4CDF-A476-217F9A9D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40</a:t>
            </a:fld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7AF2AF-A8CB-4042-98CB-1E191981A9E1}"/>
              </a:ext>
            </a:extLst>
          </p:cNvPr>
          <p:cNvSpPr txBox="1"/>
          <p:nvPr/>
        </p:nvSpPr>
        <p:spPr>
          <a:xfrm>
            <a:off x="4164794" y="1484784"/>
            <a:ext cx="80518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200" b="1" dirty="0"/>
              <a:t>注意：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	</a:t>
            </a:r>
            <a:r>
              <a:rPr lang="zh-CN" altLang="en-US" sz="3200" b="1" dirty="0">
                <a:solidFill>
                  <a:schemeClr val="tx1"/>
                </a:solidFill>
              </a:rPr>
              <a:t>所有的语句块缩进要一致；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	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一个条件表达对应一个语句块；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所有条件表达式都不成立，执行语句块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624942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4-7】</a:t>
            </a:r>
            <a:r>
              <a:rPr lang="zh-CN" altLang="en-US" dirty="0"/>
              <a:t>购物打折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超市为促销打折，每位顾客一次购物：</a:t>
            </a:r>
          </a:p>
          <a:p>
            <a:pPr marL="0" indent="0">
              <a:buNone/>
            </a:pPr>
            <a:r>
              <a:rPr lang="zh-CN" altLang="en-US" sz="3200" dirty="0"/>
              <a:t>①	在</a:t>
            </a:r>
            <a:r>
              <a:rPr lang="en-US" altLang="zh-CN" sz="3200" dirty="0"/>
              <a:t>500</a:t>
            </a:r>
            <a:r>
              <a:rPr lang="zh-CN" altLang="en-US" sz="3200" dirty="0"/>
              <a:t>元以上者，按九五折优惠；</a:t>
            </a:r>
          </a:p>
          <a:p>
            <a:pPr marL="0" indent="0">
              <a:buNone/>
            </a:pPr>
            <a:r>
              <a:rPr lang="zh-CN" altLang="en-US" sz="3200" dirty="0"/>
              <a:t>②	在</a:t>
            </a:r>
            <a:r>
              <a:rPr lang="en-US" altLang="zh-CN" sz="3200" dirty="0"/>
              <a:t>1000</a:t>
            </a:r>
            <a:r>
              <a:rPr lang="zh-CN" altLang="en-US" sz="3200" dirty="0"/>
              <a:t>元以上者，按九折优惠；</a:t>
            </a:r>
          </a:p>
          <a:p>
            <a:pPr marL="0" indent="0">
              <a:buNone/>
            </a:pPr>
            <a:r>
              <a:rPr lang="zh-CN" altLang="en-US" sz="3200" dirty="0"/>
              <a:t>③	在</a:t>
            </a:r>
            <a:r>
              <a:rPr lang="en-US" altLang="zh-CN" sz="3200" dirty="0"/>
              <a:t>1500</a:t>
            </a:r>
            <a:r>
              <a:rPr lang="zh-CN" altLang="en-US" sz="3200" dirty="0"/>
              <a:t>元以上者，按八五折优惠；</a:t>
            </a:r>
          </a:p>
          <a:p>
            <a:pPr marL="0" indent="0">
              <a:buNone/>
            </a:pPr>
            <a:r>
              <a:rPr lang="zh-CN" altLang="en-US" sz="3200" dirty="0"/>
              <a:t>④	在</a:t>
            </a:r>
            <a:r>
              <a:rPr lang="en-US" altLang="zh-CN" sz="3200" dirty="0"/>
              <a:t>2000</a:t>
            </a:r>
            <a:r>
              <a:rPr lang="zh-CN" altLang="en-US" sz="3200" dirty="0"/>
              <a:t>元以上者，按八折优惠。</a:t>
            </a:r>
          </a:p>
          <a:p>
            <a:r>
              <a:rPr lang="zh-CN" altLang="en-US" sz="3200" dirty="0"/>
              <a:t>编写程序，计算所购商品优惠后的价格。</a:t>
            </a:r>
          </a:p>
          <a:p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A94BB7-D117-47E2-80E6-76ECA4BA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117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4-7】</a:t>
            </a:r>
            <a:r>
              <a:rPr lang="zh-CN" altLang="en-US" dirty="0"/>
              <a:t>购物打折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5437207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#1.	m = </a:t>
            </a:r>
            <a:r>
              <a:rPr lang="en-US" altLang="zh-CN" sz="2000" dirty="0" err="1"/>
              <a:t>eval</a:t>
            </a:r>
            <a:r>
              <a:rPr lang="en-US" altLang="zh-CN" sz="2000" dirty="0"/>
              <a:t>(input('</a:t>
            </a:r>
            <a:r>
              <a:rPr lang="zh-CN" altLang="en-US" sz="2000" dirty="0"/>
              <a:t>总金额 </a:t>
            </a:r>
            <a:r>
              <a:rPr lang="en-US" altLang="zh-CN" sz="2000" dirty="0"/>
              <a:t>= '))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#2.	if m &lt; 500: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#3.	    d = 1	#d</a:t>
            </a:r>
            <a:r>
              <a:rPr lang="zh-CN" altLang="en-US" sz="2000" dirty="0"/>
              <a:t>为折扣率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#4.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1000: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#5.	    d = 0.95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#6.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1500: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#7.	    d = 0.9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#8.	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m &lt; 2000: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#9.	    d = 0.85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#10.	else: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#11.	    d = 0.8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#12.	amount = m * 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000" dirty="0"/>
              <a:t>#13.	print('</a:t>
            </a:r>
            <a:r>
              <a:rPr lang="zh-CN" altLang="en-US" sz="2000" dirty="0"/>
              <a:t>优惠价 </a:t>
            </a:r>
            <a:r>
              <a:rPr lang="en-US" altLang="zh-CN" sz="2000" dirty="0"/>
              <a:t>=', amount)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C61913-2153-4876-AE4E-04810927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30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88F89-DA82-4881-A451-807F90C0F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4.3.4 </a:t>
            </a:r>
            <a:r>
              <a:rPr lang="zh-CN" altLang="en-US" dirty="0"/>
              <a:t>选择结构的嵌套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606D7-48D3-44A1-9AC8-1249253D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43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4A1B1528-0CBF-4557-B6D3-BA70EECD3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052736"/>
            <a:ext cx="5904656" cy="5820338"/>
          </a:xfr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E73C8C3-F161-4B76-B63C-8E248AE73B5E}"/>
              </a:ext>
            </a:extLst>
          </p:cNvPr>
          <p:cNvSpPr txBox="1"/>
          <p:nvPr/>
        </p:nvSpPr>
        <p:spPr>
          <a:xfrm>
            <a:off x="6907352" y="1412776"/>
            <a:ext cx="49685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注意：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endParaRPr lang="en-US" altLang="zh-CN" sz="2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</a:rPr>
              <a:t>#1</a:t>
            </a:r>
            <a:r>
              <a:rPr lang="zh-CN" altLang="en-US" sz="2800" b="1" dirty="0">
                <a:solidFill>
                  <a:schemeClr val="tx1"/>
                </a:solidFill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</a:rPr>
              <a:t>#11</a:t>
            </a:r>
            <a:r>
              <a:rPr lang="zh-CN" altLang="en-US" sz="2800" b="1" dirty="0">
                <a:solidFill>
                  <a:schemeClr val="tx1"/>
                </a:solidFill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</a:rPr>
              <a:t>#14</a:t>
            </a:r>
            <a:r>
              <a:rPr lang="zh-CN" altLang="en-US" sz="2800" b="1" dirty="0">
                <a:solidFill>
                  <a:schemeClr val="tx1"/>
                </a:solidFill>
              </a:rPr>
              <a:t>行的缩进对齐是一致的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tx1"/>
                </a:solidFill>
              </a:rPr>
              <a:t>#2</a:t>
            </a:r>
            <a:r>
              <a:rPr lang="zh-CN" altLang="en-US" sz="2800" b="1" dirty="0">
                <a:solidFill>
                  <a:schemeClr val="tx1"/>
                </a:solidFill>
              </a:rPr>
              <a:t>到</a:t>
            </a:r>
            <a:r>
              <a:rPr lang="en-US" altLang="zh-CN" sz="2800" b="1" dirty="0">
                <a:solidFill>
                  <a:schemeClr val="tx1"/>
                </a:solidFill>
              </a:rPr>
              <a:t>#10</a:t>
            </a:r>
            <a:r>
              <a:rPr lang="zh-CN" altLang="en-US" sz="2800" b="1" dirty="0">
                <a:solidFill>
                  <a:schemeClr val="tx1"/>
                </a:solidFill>
              </a:rPr>
              <a:t>行相对外层</a:t>
            </a:r>
            <a:r>
              <a:rPr lang="en-US" altLang="zh-CN" sz="2800" b="1" dirty="0">
                <a:solidFill>
                  <a:schemeClr val="tx1"/>
                </a:solidFill>
              </a:rPr>
              <a:t>if</a:t>
            </a:r>
            <a:r>
              <a:rPr lang="zh-CN" altLang="en-US" sz="2800" b="1" dirty="0">
                <a:solidFill>
                  <a:schemeClr val="tx1"/>
                </a:solidFill>
              </a:rPr>
              <a:t>向右缩进一层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</a:rPr>
              <a:t>语句块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</a:rPr>
              <a:t>、内层</a:t>
            </a:r>
            <a:r>
              <a:rPr lang="en-US" altLang="zh-CN" sz="2800" b="1" dirty="0">
                <a:solidFill>
                  <a:schemeClr val="tx1"/>
                </a:solidFill>
              </a:rPr>
              <a:t>if</a:t>
            </a:r>
            <a:r>
              <a:rPr lang="zh-CN" altLang="en-US" sz="2800" b="1" dirty="0">
                <a:solidFill>
                  <a:schemeClr val="tx1"/>
                </a:solidFill>
              </a:rPr>
              <a:t>语句和语句块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并列同一层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301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4-8】</a:t>
            </a:r>
            <a:r>
              <a:rPr lang="zh-CN" altLang="en-US" dirty="0"/>
              <a:t>使用</a:t>
            </a:r>
            <a:r>
              <a:rPr lang="en-US" altLang="zh-CN" dirty="0"/>
              <a:t>if</a:t>
            </a:r>
            <a:r>
              <a:rPr lang="zh-CN" altLang="en-US" dirty="0"/>
              <a:t>嵌套改写例</a:t>
            </a:r>
            <a:r>
              <a:rPr lang="en-US" altLang="zh-CN" dirty="0"/>
              <a:t>4-3</a:t>
            </a:r>
            <a:r>
              <a:rPr lang="zh-CN" altLang="en-US" dirty="0"/>
              <a:t>，求三个整数的最大值。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if a &gt; b and a &gt; c:</a:t>
            </a:r>
          </a:p>
          <a:p>
            <a:pPr marL="0" indent="0">
              <a:buNone/>
            </a:pPr>
            <a:r>
              <a:rPr lang="en-US" altLang="zh-CN" dirty="0"/>
              <a:t>#3.	    print('max =', a)</a:t>
            </a:r>
          </a:p>
          <a:p>
            <a:pPr marL="0" indent="0">
              <a:buNone/>
            </a:pPr>
            <a:r>
              <a:rPr lang="en-US" altLang="zh-CN" dirty="0"/>
              <a:t>#4.	else:       </a:t>
            </a:r>
          </a:p>
          <a:p>
            <a:pPr marL="0" indent="0">
              <a:buNone/>
            </a:pPr>
            <a:r>
              <a:rPr lang="en-US" altLang="zh-CN" dirty="0"/>
              <a:t>#5.	    if b &gt; c:     </a:t>
            </a:r>
          </a:p>
          <a:p>
            <a:pPr marL="0" indent="0">
              <a:buNone/>
            </a:pPr>
            <a:r>
              <a:rPr lang="en-US" altLang="zh-CN" dirty="0"/>
              <a:t>#6.	        print('max =', b)</a:t>
            </a:r>
          </a:p>
          <a:p>
            <a:pPr marL="0" indent="0">
              <a:buNone/>
            </a:pPr>
            <a:r>
              <a:rPr lang="en-US" altLang="zh-CN" dirty="0"/>
              <a:t>#7.	    else:       </a:t>
            </a:r>
          </a:p>
          <a:p>
            <a:pPr marL="0" indent="0">
              <a:buNone/>
            </a:pPr>
            <a:r>
              <a:rPr lang="en-US" altLang="zh-CN" dirty="0"/>
              <a:t>#8.	        print('max =', c)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E24C7-5FEE-4A3C-BB99-DE1764B4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3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4.4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选择结构程序举例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D6BB33-4C80-4299-B4FE-CC12918D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51510" y="443234"/>
            <a:ext cx="10870609" cy="673348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4-9】</a:t>
            </a:r>
            <a:r>
              <a:rPr lang="zh-CN" altLang="en-US" dirty="0"/>
              <a:t>成绩转换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335360" y="2254926"/>
            <a:ext cx="6218158" cy="4383582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#1.	s = </a:t>
            </a:r>
            <a:r>
              <a:rPr lang="en-US" altLang="zh-CN" sz="2200" dirty="0" err="1"/>
              <a:t>eval</a:t>
            </a:r>
            <a:r>
              <a:rPr lang="en-US" altLang="zh-CN" sz="2200" dirty="0"/>
              <a:t>(input('Please input score='))</a:t>
            </a:r>
          </a:p>
          <a:p>
            <a:pPr marL="0" indent="0">
              <a:buNone/>
            </a:pPr>
            <a:r>
              <a:rPr lang="en-US" altLang="zh-CN" dirty="0"/>
              <a:t>#2.	if s &gt; 100 or s &lt; 0:</a:t>
            </a:r>
          </a:p>
          <a:p>
            <a:pPr marL="0" indent="0">
              <a:buNone/>
            </a:pPr>
            <a:r>
              <a:rPr lang="en-US" altLang="zh-CN" dirty="0"/>
              <a:t>#3.	    print('Input Error!')</a:t>
            </a:r>
          </a:p>
          <a:p>
            <a:pPr marL="0" indent="0">
              <a:buNone/>
            </a:pPr>
            <a:r>
              <a:rPr lang="en-US" altLang="zh-CN" dirty="0"/>
              <a:t>#4.	else:</a:t>
            </a:r>
          </a:p>
          <a:p>
            <a:pPr marL="0" indent="0">
              <a:buNone/>
            </a:pPr>
            <a:r>
              <a:rPr lang="en-US" altLang="zh-CN" dirty="0"/>
              <a:t>#5.	    if s &gt;= 90:</a:t>
            </a:r>
          </a:p>
          <a:p>
            <a:pPr marL="0" indent="0">
              <a:buNone/>
            </a:pPr>
            <a:r>
              <a:rPr lang="en-US" altLang="zh-CN" dirty="0"/>
              <a:t>#6.	        g = 'A'</a:t>
            </a:r>
          </a:p>
          <a:p>
            <a:pPr marL="0" indent="0">
              <a:buNone/>
            </a:pPr>
            <a:r>
              <a:rPr lang="en-US" altLang="zh-CN" dirty="0"/>
              <a:t>#7.	    </a:t>
            </a:r>
            <a:r>
              <a:rPr lang="en-US" altLang="zh-CN" dirty="0" err="1"/>
              <a:t>elif</a:t>
            </a:r>
            <a:r>
              <a:rPr lang="en-US" altLang="zh-CN" dirty="0"/>
              <a:t> s &gt;= 80:</a:t>
            </a:r>
          </a:p>
          <a:p>
            <a:pPr marL="0" indent="0">
              <a:buNone/>
            </a:pPr>
            <a:r>
              <a:rPr lang="en-US" altLang="zh-CN" dirty="0"/>
              <a:t>#8.	        g = 'B'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7104111" y="2285778"/>
            <a:ext cx="4418007" cy="405563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#9.	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s &gt;= 70: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#10.	        g = 'C'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#11.	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s &gt;= 60: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#12.	        g = 'D'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#13.	    else: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#14.	        g = 'E'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/>
              <a:t>#15.	    print('Grade is', g)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91344" y="1196752"/>
            <a:ext cx="11737303" cy="8648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输入一个百分制的成绩，要求根据不同分数输出成绩等级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、</a:t>
            </a:r>
            <a:r>
              <a:rPr lang="en-US" altLang="zh-CN" sz="2800" dirty="0"/>
              <a:t>C</a:t>
            </a:r>
            <a:r>
              <a:rPr lang="zh-CN" altLang="en-US" sz="2800" dirty="0"/>
              <a:t>、</a:t>
            </a:r>
            <a:r>
              <a:rPr lang="en-US" altLang="zh-CN" sz="2800" dirty="0"/>
              <a:t>D</a:t>
            </a:r>
            <a:r>
              <a:rPr lang="zh-CN" altLang="en-US" sz="2800" dirty="0"/>
              <a:t>、</a:t>
            </a:r>
            <a:r>
              <a:rPr lang="en-US" altLang="zh-CN" sz="2800" dirty="0"/>
              <a:t>E</a:t>
            </a:r>
            <a:r>
              <a:rPr lang="zh-CN" altLang="en-US" sz="2800" dirty="0"/>
              <a:t>。</a:t>
            </a:r>
            <a:r>
              <a:rPr lang="en-US" altLang="zh-CN" sz="2800" dirty="0"/>
              <a:t>90</a:t>
            </a:r>
            <a:r>
              <a:rPr lang="zh-CN" altLang="en-US" sz="2800" dirty="0"/>
              <a:t>分以上为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80~89</a:t>
            </a:r>
            <a:r>
              <a:rPr lang="zh-CN" altLang="en-US" sz="2800" dirty="0"/>
              <a:t>分为</a:t>
            </a:r>
            <a:r>
              <a:rPr lang="en-US" altLang="zh-CN" sz="2800" dirty="0"/>
              <a:t>B</a:t>
            </a:r>
            <a:r>
              <a:rPr lang="zh-CN" altLang="en-US" sz="2800" dirty="0"/>
              <a:t>，</a:t>
            </a:r>
            <a:r>
              <a:rPr lang="en-US" altLang="zh-CN" sz="2800" dirty="0"/>
              <a:t>70~79</a:t>
            </a:r>
            <a:r>
              <a:rPr lang="zh-CN" altLang="en-US" sz="2800" dirty="0"/>
              <a:t>分为</a:t>
            </a:r>
            <a:r>
              <a:rPr lang="en-US" altLang="zh-CN" sz="2800" dirty="0"/>
              <a:t>C</a:t>
            </a:r>
            <a:r>
              <a:rPr lang="zh-CN" altLang="en-US" sz="2800" dirty="0"/>
              <a:t>，</a:t>
            </a:r>
            <a:r>
              <a:rPr lang="en-US" altLang="zh-CN" sz="2800" dirty="0"/>
              <a:t>60~69</a:t>
            </a:r>
            <a:r>
              <a:rPr lang="zh-CN" altLang="en-US" sz="2800" dirty="0"/>
              <a:t>分为</a:t>
            </a:r>
            <a:r>
              <a:rPr lang="en-US" altLang="zh-CN" sz="2800" dirty="0"/>
              <a:t>D</a:t>
            </a:r>
            <a:r>
              <a:rPr lang="zh-CN" altLang="en-US" sz="2800" dirty="0"/>
              <a:t>，</a:t>
            </a:r>
            <a:r>
              <a:rPr lang="en-US" altLang="zh-CN" sz="2800" dirty="0"/>
              <a:t>60</a:t>
            </a:r>
            <a:r>
              <a:rPr lang="zh-CN" altLang="en-US" sz="2800" dirty="0"/>
              <a:t>分以下为</a:t>
            </a:r>
            <a:r>
              <a:rPr lang="en-US" altLang="zh-CN" sz="2800" dirty="0"/>
              <a:t>E</a:t>
            </a:r>
            <a:r>
              <a:rPr lang="zh-CN" altLang="en-US" sz="2800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76A5AE-315B-4725-9A99-263FFA9E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074AB7F-6E3A-4E1B-959F-B981E0487AF6}"/>
              </a:ext>
            </a:extLst>
          </p:cNvPr>
          <p:cNvCxnSpPr/>
          <p:nvPr/>
        </p:nvCxnSpPr>
        <p:spPr>
          <a:xfrm>
            <a:off x="6744072" y="2254926"/>
            <a:ext cx="0" cy="4383582"/>
          </a:xfrm>
          <a:prstGeom prst="line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5192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4-10】</a:t>
            </a:r>
            <a:r>
              <a:rPr lang="zh-CN" altLang="en-US" dirty="0"/>
              <a:t>输入三个整数，从小到大排序输出。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#1.	a, b, c = </a:t>
            </a:r>
            <a:r>
              <a:rPr lang="en-US" altLang="zh-CN" dirty="0" err="1"/>
              <a:t>eval</a:t>
            </a:r>
            <a:r>
              <a:rPr lang="en-US" altLang="zh-CN" dirty="0"/>
              <a:t>(input('Please input </a:t>
            </a:r>
            <a:r>
              <a:rPr lang="en-US" altLang="zh-CN" dirty="0" err="1"/>
              <a:t>a,b,c</a:t>
            </a:r>
            <a:r>
              <a:rPr lang="en-US" altLang="zh-CN" dirty="0"/>
              <a:t>:'))</a:t>
            </a:r>
          </a:p>
          <a:p>
            <a:pPr marL="0" indent="0">
              <a:buNone/>
            </a:pPr>
            <a:r>
              <a:rPr lang="en-US" altLang="zh-CN" dirty="0"/>
              <a:t>#2.	if a &gt; b:</a:t>
            </a:r>
          </a:p>
          <a:p>
            <a:pPr marL="0" indent="0">
              <a:buNone/>
            </a:pPr>
            <a:r>
              <a:rPr lang="en-US" altLang="zh-CN" dirty="0"/>
              <a:t>#3.	    a, b = b, a</a:t>
            </a:r>
          </a:p>
          <a:p>
            <a:pPr marL="0" indent="0">
              <a:buNone/>
            </a:pPr>
            <a:r>
              <a:rPr lang="en-US" altLang="zh-CN" dirty="0"/>
              <a:t>#4.	if a &gt; c:</a:t>
            </a:r>
          </a:p>
          <a:p>
            <a:pPr marL="0" indent="0">
              <a:buNone/>
            </a:pPr>
            <a:r>
              <a:rPr lang="en-US" altLang="zh-CN" dirty="0"/>
              <a:t>#5.	    a, c = c, a</a:t>
            </a:r>
          </a:p>
          <a:p>
            <a:pPr marL="0" indent="0">
              <a:buNone/>
            </a:pPr>
            <a:r>
              <a:rPr lang="en-US" altLang="zh-CN" dirty="0"/>
              <a:t>#6.	if b &gt; c:</a:t>
            </a:r>
          </a:p>
          <a:p>
            <a:pPr marL="0" indent="0">
              <a:buNone/>
            </a:pPr>
            <a:r>
              <a:rPr lang="en-US" altLang="zh-CN" dirty="0"/>
              <a:t>#7.	    b, c = c, b</a:t>
            </a:r>
          </a:p>
          <a:p>
            <a:pPr marL="0" indent="0">
              <a:buNone/>
            </a:pPr>
            <a:r>
              <a:rPr lang="en-US" altLang="zh-CN" dirty="0"/>
              <a:t>#8.	print(a, b, c)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C71EF-C045-4965-8E92-F7C7DB97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719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3352" y="137030"/>
            <a:ext cx="10729192" cy="293193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4-11(</a:t>
            </a:r>
            <a:r>
              <a:rPr lang="zh-CN" altLang="en-US" dirty="0"/>
              <a:t>选</a:t>
            </a:r>
            <a:r>
              <a:rPr lang="en-US" altLang="zh-CN" dirty="0"/>
              <a:t>)】</a:t>
            </a:r>
            <a:r>
              <a:rPr lang="zh-CN" altLang="en-US" dirty="0"/>
              <a:t>改写例</a:t>
            </a:r>
            <a:r>
              <a:rPr lang="en-US" altLang="zh-CN" dirty="0"/>
              <a:t>3-5</a:t>
            </a:r>
            <a:r>
              <a:rPr lang="zh-CN" altLang="en-US" dirty="0"/>
              <a:t>，输入一个三位数，用英语表示。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4000" dirty="0"/>
              <a:t>运行结果：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86CCF-620D-43A5-8C64-3FCB3629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48</a:t>
            </a:fld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2BC7D70-9549-4EC5-87EE-C1D6DBD0F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521354"/>
            <a:ext cx="4968552" cy="4608088"/>
          </a:xfrm>
        </p:spPr>
      </p:pic>
    </p:spTree>
    <p:extLst>
      <p:ext uri="{BB962C8B-B14F-4D97-AF65-F5344CB8AC3E}">
        <p14:creationId xmlns:p14="http://schemas.microsoft.com/office/powerpoint/2010/main" val="676335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548680"/>
            <a:ext cx="11712624" cy="642855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#1.	eng1 = ['', 'one', 'two', 'three', 'four', 'five', 'six', 'seven', 'eight', 'nine']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#2.	eng2=['', 'ten', 'twenty', 'thirty', 'forty', 'fifty', 'sixty', 'seventy', 'eighty', 'ninety']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#3.	eng3=['ten', 'eleven', 'twelve', 'thirteen', 'fourteen', 'fifteen',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#4.	      'sixteen', 'seventeen', 'eighteen', 'nineteen']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#5.	x = input('</a:t>
            </a:r>
            <a:r>
              <a:rPr lang="zh-CN" altLang="en-US" sz="2400" dirty="0"/>
              <a:t>请输入一个三位数：</a:t>
            </a:r>
            <a:r>
              <a:rPr lang="en-US" altLang="zh-CN" sz="2400" dirty="0"/>
              <a:t>')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#6.	if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(x) != 3: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#7.	    print('Input Error!')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#8.	else: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#9.	    a, b, c = map(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, x)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#10.	    s = ''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结果字符串初始为空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86CCF-620D-43A5-8C64-3FCB3629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682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260648"/>
            <a:ext cx="10852150" cy="6408712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#11.	    # </a:t>
            </a:r>
            <a:r>
              <a:rPr lang="zh-CN" altLang="en-US" sz="2200" dirty="0"/>
              <a:t>直接转换百位，百位不会为</a:t>
            </a:r>
            <a:r>
              <a:rPr lang="en-US" altLang="zh-CN" sz="2200" dirty="0"/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#12.	    s = eng1[a] + ' hundred 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#13.	    if b != 0 or c != 0: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不是整百的数字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#14.	        s += 'and 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#15.	        if b == 0:	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十位数为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>
                <a:solidFill>
                  <a:srgbClr val="FF0000"/>
                </a:solidFill>
              </a:rPr>
              <a:t>的数字，例如</a:t>
            </a:r>
            <a:r>
              <a:rPr lang="en-US" altLang="zh-CN" sz="2200" dirty="0">
                <a:solidFill>
                  <a:srgbClr val="FF0000"/>
                </a:solidFill>
              </a:rPr>
              <a:t>308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#16.	            s += eng1[c]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#17.	        </a:t>
            </a:r>
            <a:r>
              <a:rPr lang="en-US" altLang="zh-CN" sz="2200" dirty="0" err="1"/>
              <a:t>elif</a:t>
            </a:r>
            <a:r>
              <a:rPr lang="en-US" altLang="zh-CN" sz="2200" dirty="0"/>
              <a:t> b == 1: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十位数为</a:t>
            </a:r>
            <a:r>
              <a:rPr lang="en-US" altLang="zh-CN" sz="2200" dirty="0">
                <a:solidFill>
                  <a:srgbClr val="FF0000"/>
                </a:solidFill>
              </a:rPr>
              <a:t>1</a:t>
            </a:r>
            <a:r>
              <a:rPr lang="zh-CN" altLang="en-US" sz="2200" dirty="0">
                <a:solidFill>
                  <a:srgbClr val="FF0000"/>
                </a:solidFill>
              </a:rPr>
              <a:t>的数字，例如</a:t>
            </a:r>
            <a:r>
              <a:rPr lang="en-US" altLang="zh-CN" sz="2200" dirty="0">
                <a:solidFill>
                  <a:srgbClr val="FF0000"/>
                </a:solidFill>
              </a:rPr>
              <a:t>318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#18.	            s += eng3[c]#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#19.	        else:			# </a:t>
            </a:r>
            <a:r>
              <a:rPr lang="zh-CN" altLang="en-US" sz="2200" dirty="0"/>
              <a:t>十位数为</a:t>
            </a:r>
            <a:r>
              <a:rPr lang="en-US" altLang="zh-CN" sz="2200" dirty="0"/>
              <a:t>2-9</a:t>
            </a:r>
            <a:r>
              <a:rPr lang="zh-CN" altLang="en-US" sz="2200" dirty="0"/>
              <a:t>，例如</a:t>
            </a:r>
            <a:r>
              <a:rPr lang="en-US" altLang="zh-CN" sz="2200" dirty="0"/>
              <a:t>328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#20.	            s += eng2[b]		# </a:t>
            </a:r>
            <a:r>
              <a:rPr lang="zh-CN" altLang="en-US" sz="2200" dirty="0"/>
              <a:t>处理</a:t>
            </a:r>
            <a:r>
              <a:rPr lang="en-US" altLang="zh-CN" sz="2200" dirty="0"/>
              <a:t>328</a:t>
            </a:r>
            <a:r>
              <a:rPr lang="zh-CN" altLang="en-US" sz="2200" dirty="0"/>
              <a:t>的</a:t>
            </a:r>
            <a:r>
              <a:rPr lang="en-US" altLang="zh-CN" sz="2200" dirty="0"/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#21.	            if c != 0: 		</a:t>
            </a:r>
            <a:r>
              <a:rPr lang="en-US" altLang="zh-CN" sz="2200" dirty="0">
                <a:solidFill>
                  <a:srgbClr val="FF0000"/>
                </a:solidFill>
              </a:rPr>
              <a:t># </a:t>
            </a:r>
            <a:r>
              <a:rPr lang="zh-CN" altLang="en-US" sz="2200" dirty="0">
                <a:solidFill>
                  <a:srgbClr val="FF0000"/>
                </a:solidFill>
              </a:rPr>
              <a:t>个位数为非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>
                <a:solidFill>
                  <a:srgbClr val="FF0000"/>
                </a:solidFill>
              </a:rPr>
              <a:t>的数字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#22.	                s += '-' + eng1[c]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altLang="zh-CN" sz="2200" dirty="0"/>
              <a:t>#23.	    print(s)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1BA535-38E7-47FA-A2EC-D183AD33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37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CCF82-BDC5-4891-90AB-B8A0535E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8C4AFB-5A80-46BE-B0BD-90B3CB00E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(</a:t>
            </a:r>
            <a:r>
              <a:rPr lang="zh-CN" altLang="en-US" dirty="0"/>
              <a:t>增</a:t>
            </a:r>
            <a:r>
              <a:rPr lang="en-US" altLang="zh-CN" dirty="0"/>
              <a:t>)】</a:t>
            </a:r>
            <a:r>
              <a:rPr lang="zh-CN" altLang="en-US" dirty="0"/>
              <a:t>个税计算。输入月收入（整数），输出个税额（保留</a:t>
            </a:r>
            <a:r>
              <a:rPr lang="en-US" altLang="zh-CN" dirty="0"/>
              <a:t>2</a:t>
            </a:r>
            <a:r>
              <a:rPr lang="zh-CN" altLang="en-US" dirty="0"/>
              <a:t>位小数）。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个税计算方法：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个税起征点为</a:t>
            </a:r>
            <a:r>
              <a:rPr lang="en-US" altLang="zh-CN" dirty="0"/>
              <a:t>5000</a:t>
            </a:r>
            <a:r>
              <a:rPr lang="zh-CN" altLang="en-US" dirty="0"/>
              <a:t>元；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超过起征点</a:t>
            </a:r>
            <a:r>
              <a:rPr lang="en-US" altLang="zh-CN" dirty="0"/>
              <a:t>3000</a:t>
            </a:r>
            <a:r>
              <a:rPr lang="zh-CN" altLang="en-US" dirty="0"/>
              <a:t>元以内（含</a:t>
            </a:r>
            <a:r>
              <a:rPr lang="en-US" altLang="zh-CN" dirty="0"/>
              <a:t>3000</a:t>
            </a:r>
            <a:r>
              <a:rPr lang="zh-CN" altLang="en-US" dirty="0"/>
              <a:t>）的部分，税率为</a:t>
            </a:r>
            <a:r>
              <a:rPr lang="en-US" altLang="zh-CN" dirty="0"/>
              <a:t>3%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超过起征点</a:t>
            </a:r>
            <a:r>
              <a:rPr lang="en-US" altLang="zh-CN" dirty="0"/>
              <a:t>3001</a:t>
            </a:r>
            <a:r>
              <a:rPr lang="zh-CN" altLang="en-US" dirty="0"/>
              <a:t>元到</a:t>
            </a:r>
            <a:r>
              <a:rPr lang="en-US" altLang="zh-CN" dirty="0"/>
              <a:t>12000</a:t>
            </a:r>
            <a:r>
              <a:rPr lang="zh-CN" altLang="en-US" dirty="0"/>
              <a:t>元（含</a:t>
            </a:r>
            <a:r>
              <a:rPr lang="en-US" altLang="zh-CN" dirty="0"/>
              <a:t>12000</a:t>
            </a:r>
            <a:r>
              <a:rPr lang="zh-CN" altLang="en-US" dirty="0"/>
              <a:t>）的部分，税率</a:t>
            </a:r>
            <a:r>
              <a:rPr lang="en-US" altLang="zh-CN" dirty="0"/>
              <a:t>10%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超过起征点</a:t>
            </a:r>
            <a:r>
              <a:rPr lang="en-US" altLang="zh-CN" dirty="0"/>
              <a:t>12001</a:t>
            </a:r>
            <a:r>
              <a:rPr lang="zh-CN" altLang="en-US" dirty="0"/>
              <a:t>元到</a:t>
            </a:r>
            <a:r>
              <a:rPr lang="en-US" altLang="zh-CN" dirty="0"/>
              <a:t>25000</a:t>
            </a:r>
            <a:r>
              <a:rPr lang="zh-CN" altLang="en-US" dirty="0"/>
              <a:t>元（含</a:t>
            </a:r>
            <a:r>
              <a:rPr lang="en-US" altLang="zh-CN" dirty="0"/>
              <a:t>25000</a:t>
            </a:r>
            <a:r>
              <a:rPr lang="zh-CN" altLang="en-US" dirty="0"/>
              <a:t>）的部分，税率</a:t>
            </a:r>
            <a:r>
              <a:rPr lang="en-US" altLang="zh-CN" dirty="0"/>
              <a:t>20%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超过起征点</a:t>
            </a:r>
            <a:r>
              <a:rPr lang="en-US" altLang="zh-CN" dirty="0"/>
              <a:t>25001</a:t>
            </a:r>
            <a:r>
              <a:rPr lang="zh-CN" altLang="en-US" dirty="0"/>
              <a:t>元的部分，税率</a:t>
            </a:r>
            <a:r>
              <a:rPr lang="en-US" altLang="zh-CN" dirty="0"/>
              <a:t>25%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请输入月收入：</a:t>
            </a:r>
            <a:r>
              <a:rPr lang="en-US" altLang="zh-CN" dirty="0"/>
              <a:t>6000</a:t>
            </a:r>
          </a:p>
          <a:p>
            <a:pPr marL="0" indent="0">
              <a:buNone/>
            </a:pPr>
            <a:r>
              <a:rPr lang="zh-CN" altLang="en-US" dirty="0"/>
              <a:t>个税为</a:t>
            </a:r>
            <a:r>
              <a:rPr lang="en-US" altLang="zh-CN" dirty="0"/>
              <a:t>30.00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F85BB2-418F-4C5B-B269-594E9308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465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2695F-8DD3-4F8F-A150-8720A24B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FABBA-EE70-4BF5-A747-BB8299616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/>
              <a:t>x </a:t>
            </a:r>
            <a:r>
              <a:rPr lang="en-US" altLang="zh-CN" dirty="0"/>
              <a:t>= eval(input('</a:t>
            </a:r>
            <a:r>
              <a:rPr lang="zh-CN" altLang="en-US" dirty="0"/>
              <a:t>请输入月收入：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if (x-5000)&lt;=0:</a:t>
            </a:r>
          </a:p>
          <a:p>
            <a:pPr marL="0" indent="0">
              <a:buNone/>
            </a:pPr>
            <a:r>
              <a:rPr lang="en-US" altLang="zh-CN" dirty="0"/>
              <a:t>    tax = 0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x-5000&lt;=3000:</a:t>
            </a:r>
          </a:p>
          <a:p>
            <a:pPr marL="0" indent="0">
              <a:buNone/>
            </a:pPr>
            <a:r>
              <a:rPr lang="en-US" altLang="zh-CN" dirty="0"/>
              <a:t>    tax =(x-5000)*0.03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x-5000&lt;=12000:</a:t>
            </a:r>
          </a:p>
          <a:p>
            <a:pPr marL="0" indent="0">
              <a:buNone/>
            </a:pPr>
            <a:r>
              <a:rPr lang="en-US" altLang="zh-CN" dirty="0"/>
              <a:t>    tax = 3000*0.03 + (x-8000)*0.1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x-5000&lt;=25000:</a:t>
            </a:r>
          </a:p>
          <a:p>
            <a:pPr marL="0" indent="0">
              <a:buNone/>
            </a:pPr>
            <a:r>
              <a:rPr lang="en-US" altLang="zh-CN" dirty="0"/>
              <a:t>    tax = 3000*0.03 + 9000*0.1 + (x-17000)*0.2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tax = 3000*0.03 + 9000*0.1 + 13000*0.2 + (x-30000)*0.25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个税为</a:t>
            </a:r>
            <a:r>
              <a:rPr lang="en-US" altLang="zh-CN" dirty="0"/>
              <a:t>%.2f' % tax)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9E4C5B-5E0F-44AD-BD49-931FACBA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564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P85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4.5</a:t>
            </a:r>
            <a:r>
              <a:rPr lang="zh-CN" altLang="en-US" dirty="0"/>
              <a:t>节习题</a:t>
            </a:r>
            <a:r>
              <a:rPr lang="en-US" altLang="zh-CN" dirty="0"/>
              <a:t>2-10</a:t>
            </a:r>
            <a:r>
              <a:rPr lang="zh-CN" altLang="en-US" dirty="0"/>
              <a:t>题</a:t>
            </a:r>
            <a:r>
              <a:rPr lang="en-US" altLang="zh-CN" dirty="0"/>
              <a:t>(P85-86)</a:t>
            </a: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将作业写在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文档中，写清题号，保存为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章作业</a:t>
            </a:r>
            <a:r>
              <a:rPr lang="en-US" altLang="zh-CN" dirty="0"/>
              <a:t>.docx</a:t>
            </a:r>
            <a:r>
              <a:rPr lang="zh-CN" altLang="en-US" dirty="0"/>
              <a:t>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本章是第</a:t>
            </a:r>
            <a:r>
              <a:rPr lang="en-US" altLang="zh-CN" dirty="0"/>
              <a:t>4</a:t>
            </a:r>
            <a:r>
              <a:rPr lang="zh-CN" altLang="en-US" dirty="0"/>
              <a:t>章，</a:t>
            </a:r>
            <a:r>
              <a:rPr lang="en-US" altLang="zh-CN" dirty="0"/>
              <a:t>x</a:t>
            </a:r>
            <a:r>
              <a:rPr lang="zh-CN" altLang="en-US" dirty="0"/>
              <a:t>写</a:t>
            </a:r>
            <a:r>
              <a:rPr lang="en-US" altLang="zh-CN" dirty="0"/>
              <a:t>4</a:t>
            </a:r>
            <a:r>
              <a:rPr lang="zh-CN" altLang="en-US" dirty="0"/>
              <a:t>，其他章类推。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上传作业到教学网站</a:t>
            </a:r>
            <a:r>
              <a:rPr lang="en-US" altLang="zh-CN" dirty="0"/>
              <a:t>-</a:t>
            </a:r>
            <a:r>
              <a:rPr lang="zh-CN" altLang="en-US" dirty="0"/>
              <a:t>提交作业，周次选择</a:t>
            </a:r>
            <a:r>
              <a:rPr lang="en-US" altLang="zh-CN" dirty="0"/>
              <a:t>x</a:t>
            </a:r>
            <a:r>
              <a:rPr lang="zh-CN" altLang="en-US" dirty="0"/>
              <a:t>，即第几章作业就传到周次为几。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ED82CAA-4523-4160-BB4E-61C335499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5" y="350654"/>
            <a:ext cx="11949303" cy="235826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8F19A1-A35E-460A-A722-CB77B0A44C8F}"/>
              </a:ext>
            </a:extLst>
          </p:cNvPr>
          <p:cNvSpPr txBox="1"/>
          <p:nvPr/>
        </p:nvSpPr>
        <p:spPr>
          <a:xfrm>
            <a:off x="335360" y="2922544"/>
            <a:ext cx="113052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(1)=11 and 6.5 = 6.5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(2)=not 11 and 6.5 =(not 11) and 6.5 = False and 6.5= False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注：优先级：*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/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 +-  &gt; &lt; ==  not  and  or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(3)(1&lt;2)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and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(2-1)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True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and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 =1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FF634B-7B81-5A69-7383-6B4E5604F31A}"/>
              </a:ext>
            </a:extLst>
          </p:cNvPr>
          <p:cNvSpPr txBox="1"/>
          <p:nvPr/>
        </p:nvSpPr>
        <p:spPr>
          <a:xfrm>
            <a:off x="-5870" y="17257"/>
            <a:ext cx="618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ok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C3BC03-6D4C-4CD6-0560-555F8850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56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A461018-7292-FEFA-7D3A-89452EB8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351842"/>
              </p:ext>
            </p:extLst>
          </p:nvPr>
        </p:nvGraphicFramePr>
        <p:xfrm>
          <a:off x="911424" y="623272"/>
          <a:ext cx="10369152" cy="5954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49929">
                  <a:extLst>
                    <a:ext uri="{9D8B030D-6E8A-4147-A177-3AD203B41FA5}">
                      <a16:colId xmlns:a16="http://schemas.microsoft.com/office/drawing/2014/main" val="2016083741"/>
                    </a:ext>
                  </a:extLst>
                </a:gridCol>
                <a:gridCol w="6019223">
                  <a:extLst>
                    <a:ext uri="{9D8B030D-6E8A-4147-A177-3AD203B41FA5}">
                      <a16:colId xmlns:a16="http://schemas.microsoft.com/office/drawing/2014/main" val="1424669235"/>
                    </a:ext>
                  </a:extLst>
                </a:gridCol>
              </a:tblGrid>
              <a:tr h="425317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运算符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600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941268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**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乘方（最高优先级）。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532849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~  +  -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按位翻转，</a:t>
                      </a:r>
                      <a:r>
                        <a:rPr lang="zh-CN" alt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正负号</a:t>
                      </a: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057676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*  /  %  //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乘，除，取模，取整除。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89232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+  -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加法，减法。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50792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&gt;&gt;  &lt;&lt;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右移，左移运算符。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866370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&amp;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按位与。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867886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按位异或。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977309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按位或。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60707"/>
                  </a:ext>
                </a:extLst>
              </a:tr>
              <a:tr h="850631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Is,  not is,  in, not in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&lt;=  &lt;  &gt;  &gt;=  ==   !=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身份运算符，成员运算符。</a:t>
                      </a:r>
                    </a:p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比较运算符。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85984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not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逻辑非。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74294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逻辑与。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61488"/>
                  </a:ext>
                </a:extLst>
              </a:tr>
              <a:tr h="425317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600" kern="100" dirty="0">
                          <a:solidFill>
                            <a:schemeClr val="tx1"/>
                          </a:solidFill>
                          <a:effectLst/>
                        </a:rPr>
                        <a:t>or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600" kern="100" dirty="0">
                          <a:solidFill>
                            <a:schemeClr val="tx1"/>
                          </a:solidFill>
                          <a:effectLst/>
                        </a:rPr>
                        <a:t>逻辑或。</a:t>
                      </a:r>
                      <a:endParaRPr lang="zh-CN" sz="2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23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3027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07C4F-ECC0-407C-9073-B898E633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47497E-F758-451D-8B43-CCBB6C6F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57</a:t>
            </a:fld>
            <a:endParaRPr lang="zh-CN" altLang="en-US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01DBDA3D-D58D-4390-9802-169C310AB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116632"/>
            <a:ext cx="11976525" cy="3528392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D5A0952-2C9B-45A9-9382-B65828B5F912}"/>
              </a:ext>
            </a:extLst>
          </p:cNvPr>
          <p:cNvSpPr txBox="1"/>
          <p:nvPr/>
        </p:nvSpPr>
        <p:spPr>
          <a:xfrm>
            <a:off x="335360" y="3789040"/>
            <a:ext cx="84969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(1)=21+4&gt;=8 =25&gt;=8 =True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*(2)4==21-2*8-1, 4==4, True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*(3)=6*21!=21 =126!=21 =True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*(4)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A’&gt;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H’=False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*(5)x=(4==4),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结果是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赋值为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True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*(6)2*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’，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‘AA’&gt;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‘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H’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False (A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码是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72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21B3F9-F065-9C49-340E-DFD39887D85C}"/>
              </a:ext>
            </a:extLst>
          </p:cNvPr>
          <p:cNvSpPr txBox="1"/>
          <p:nvPr/>
        </p:nvSpPr>
        <p:spPr>
          <a:xfrm>
            <a:off x="-5870" y="17257"/>
            <a:ext cx="618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ok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463376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29C27-5B73-4330-ABE8-1B11F4BD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509FAB3-A870-4513-ACAB-DE39D53B0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8" y="176516"/>
            <a:ext cx="12036826" cy="120277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22CDE3-0D22-47E3-B3B9-6A217293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58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2708BAC-3AEC-4DC4-B55A-910F187D8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56791"/>
            <a:ext cx="4464496" cy="4271865"/>
          </a:xfrm>
          <a:prstGeom prst="rect">
            <a:avLst/>
          </a:prstGeom>
        </p:spPr>
      </p:pic>
      <p:sp>
        <p:nvSpPr>
          <p:cNvPr id="8" name="文本框 7" descr="F">
            <a:extLst>
              <a:ext uri="{FF2B5EF4-FFF2-40B4-BE49-F238E27FC236}">
                <a16:creationId xmlns:a16="http://schemas.microsoft.com/office/drawing/2014/main" id="{7FEB5D5E-CDFC-4329-AF2F-476FDAD1DAE2}"/>
              </a:ext>
            </a:extLst>
          </p:cNvPr>
          <p:cNvSpPr txBox="1"/>
          <p:nvPr/>
        </p:nvSpPr>
        <p:spPr>
          <a:xfrm>
            <a:off x="4753211" y="575646"/>
            <a:ext cx="712879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(1)=11&gt;9 and 6!=3 =True and True =True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(2)=11==5 or 6!=3 =False or True =True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(3)not(11&gt;14) =not False =True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(4)not(11&gt;9 and 6!=23) =not(True and True)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=False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(5)11&lt;=1 and 6==6 or 1&lt;4 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= False and True or True = False or 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= 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(6) ‘a’&lt;=‘k’&lt;‘z’=True(a&lt;k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k&lt;z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同时成立）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(7)‘k’&gt;=‘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A’and‘k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’&lt;=‘Z’=True and False 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=False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(8) ‘k’!=‘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y’and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‘k’!=‘\n’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= True and True =True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(9) =5 and 6!=8 or 0 = 5 and True or 0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=True or 0 =True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(10)=6!=8 and 5 or 0 =True and 5 or 0 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=5 or 0 =5</a:t>
            </a:r>
          </a:p>
        </p:txBody>
      </p:sp>
    </p:spTree>
    <p:extLst>
      <p:ext uri="{BB962C8B-B14F-4D97-AF65-F5344CB8AC3E}">
        <p14:creationId xmlns:p14="http://schemas.microsoft.com/office/powerpoint/2010/main" val="9665494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BE04C-C0A8-4D75-85A8-CE472873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B113059-5C63-429E-B445-054411900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309367"/>
            <a:ext cx="11953328" cy="103140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C1302-1144-4A0A-820C-CB1D0486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94228E-2634-4745-A810-5F5DDBCEAA65}"/>
              </a:ext>
            </a:extLst>
          </p:cNvPr>
          <p:cNvSpPr txBox="1"/>
          <p:nvPr/>
        </p:nvSpPr>
        <p:spPr>
          <a:xfrm>
            <a:off x="335360" y="2922544"/>
            <a:ext cx="61842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本章是第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章，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，其他章类推。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上传作业到教学网站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提交作业，周次选择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，即第几章作业就传到周次为几。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438372-62B6-B718-BD6A-47E893F70A03}"/>
              </a:ext>
            </a:extLst>
          </p:cNvPr>
          <p:cNvSpPr txBox="1"/>
          <p:nvPr/>
        </p:nvSpPr>
        <p:spPr>
          <a:xfrm>
            <a:off x="119336" y="266897"/>
            <a:ext cx="618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  X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598038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FBF9E-006E-4D62-826C-2F3452EB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4B8A8BB-72CC-4820-BB88-390FED746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5897"/>
            <a:ext cx="11953328" cy="986839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4AED07-708F-4037-B003-D8AB630E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3B7472-EB8C-4D64-A80B-1633633D8C60}"/>
              </a:ext>
            </a:extLst>
          </p:cNvPr>
          <p:cNvSpPr txBox="1"/>
          <p:nvPr/>
        </p:nvSpPr>
        <p:spPr>
          <a:xfrm>
            <a:off x="119336" y="1272240"/>
            <a:ext cx="8208912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运行结果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请输入一个正整数：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33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33 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不是完全平方数</a:t>
            </a:r>
          </a:p>
          <a:p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1】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先求平方根，取整再平方，看是否值不变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import math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x = int(input('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请输入一个正整数：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'))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y = int((</a:t>
            </a:r>
            <a:r>
              <a:rPr lang="en-US" altLang="zh-CN" sz="2600" dirty="0" err="1">
                <a:latin typeface="黑体" panose="02010609060101010101" pitchFamily="49" charset="-122"/>
                <a:ea typeface="黑体" panose="02010609060101010101" pitchFamily="49" charset="-122"/>
              </a:rPr>
              <a:t>math.sqrt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(x)))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if y * y == x: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是完全平方数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else:</a:t>
            </a:r>
          </a:p>
          <a:p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不是完全平方数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F71C28-B52C-71AC-83B7-1E58B7009308}"/>
              </a:ext>
            </a:extLst>
          </p:cNvPr>
          <p:cNvSpPr txBox="1"/>
          <p:nvPr/>
        </p:nvSpPr>
        <p:spPr>
          <a:xfrm>
            <a:off x="0" y="-56097"/>
            <a:ext cx="618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 ok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9139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3226D-ED15-4D7C-B14D-606D32E6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C629A-964D-41BD-9106-8DD29D067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算法</a:t>
            </a:r>
            <a:r>
              <a:rPr lang="en-US" altLang="zh-CN" dirty="0"/>
              <a:t>2]</a:t>
            </a:r>
            <a:r>
              <a:rPr lang="zh-CN" altLang="en-US" dirty="0"/>
              <a:t>看平方根的小数部分是否为</a:t>
            </a:r>
            <a:r>
              <a:rPr lang="en-US" altLang="zh-CN" dirty="0"/>
              <a:t>0</a:t>
            </a:r>
          </a:p>
          <a:p>
            <a:pPr marL="0" indent="0">
              <a:buNone/>
            </a:pPr>
            <a:r>
              <a:rPr lang="zh-CN" altLang="en-US" dirty="0"/>
              <a:t>用</a:t>
            </a:r>
            <a:r>
              <a:rPr lang="en-US" altLang="zh-CN" dirty="0" err="1"/>
              <a:t>modf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import math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math.modf</a:t>
            </a:r>
            <a:r>
              <a:rPr lang="en-US" altLang="zh-CN" dirty="0"/>
              <a:t>(3.14)</a:t>
            </a:r>
          </a:p>
          <a:p>
            <a:pPr marL="0" indent="0">
              <a:buNone/>
            </a:pPr>
            <a:r>
              <a:rPr lang="en-US" altLang="zh-CN" dirty="0"/>
              <a:t>(0.14000000000000012, 3.0)</a:t>
            </a:r>
          </a:p>
          <a:p>
            <a:pPr marL="0" indent="0">
              <a:buNone/>
            </a:pPr>
            <a:r>
              <a:rPr lang="en-US" altLang="zh-CN" dirty="0"/>
              <a:t>&gt;&gt;&gt; t1=</a:t>
            </a:r>
            <a:r>
              <a:rPr lang="en-US" altLang="zh-CN" dirty="0" err="1"/>
              <a:t>math.modf</a:t>
            </a:r>
            <a:r>
              <a:rPr lang="en-US" altLang="zh-CN" dirty="0"/>
              <a:t>(3.14)</a:t>
            </a:r>
          </a:p>
          <a:p>
            <a:pPr marL="0" indent="0">
              <a:buNone/>
            </a:pPr>
            <a:r>
              <a:rPr lang="en-US" altLang="zh-CN" dirty="0"/>
              <a:t>&gt;&gt;&gt; t1[1]</a:t>
            </a:r>
          </a:p>
          <a:p>
            <a:pPr marL="0" indent="0">
              <a:buNone/>
            </a:pPr>
            <a:r>
              <a:rPr lang="en-US" altLang="zh-CN" dirty="0"/>
              <a:t>3.0</a:t>
            </a:r>
          </a:p>
          <a:p>
            <a:pPr marL="0" indent="0">
              <a:buNone/>
            </a:pPr>
            <a:r>
              <a:rPr lang="en-US" altLang="zh-CN" dirty="0"/>
              <a:t>&gt;&gt;&gt; t1[0]</a:t>
            </a:r>
          </a:p>
          <a:p>
            <a:pPr marL="0" indent="0">
              <a:buNone/>
            </a:pPr>
            <a:r>
              <a:rPr lang="en-US" altLang="zh-CN" dirty="0"/>
              <a:t>0.14000000000000012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51B4AC-8A05-4DE2-8CF9-EAD65072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13D5E8-4F38-445C-A249-FD4DDC5760CC}"/>
              </a:ext>
            </a:extLst>
          </p:cNvPr>
          <p:cNvSpPr txBox="1"/>
          <p:nvPr/>
        </p:nvSpPr>
        <p:spPr>
          <a:xfrm>
            <a:off x="6600056" y="1536174"/>
            <a:ext cx="5459598" cy="304698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import math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x =int(input(‘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输入一个正整数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:’))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 =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math.sqrt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(x)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t =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math.modf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(s)	#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元组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if t[0] == 0.0: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是完全平方数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else: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不是完全平方数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63668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7954C-614D-4FBC-9083-F1AE710F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B1271-9D0C-41FF-938F-97248F95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9616" y="1196752"/>
            <a:ext cx="9552384" cy="578048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[</a:t>
            </a:r>
            <a:r>
              <a:rPr lang="zh-CN" altLang="en-US" dirty="0"/>
              <a:t>算法</a:t>
            </a:r>
            <a:r>
              <a:rPr lang="en-US" altLang="zh-CN" dirty="0"/>
              <a:t>]</a:t>
            </a:r>
            <a:r>
              <a:rPr lang="zh-CN" altLang="en-US" dirty="0"/>
              <a:t>判断平方根的类型是否是整数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import math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x =int(input(‘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输入一个正整数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:’))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 =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math.sqrt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(x)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if type(s) == int: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是完全平方数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else:</a:t>
            </a:r>
          </a:p>
          <a:p>
            <a:pPr marL="0" indent="0"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print(x,'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不是完全平方数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')</a:t>
            </a:r>
            <a:endParaRPr lang="zh-CN" altLang="en-US" sz="2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A8B38E-DF97-42C3-B5A6-50961498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62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1AC5B9C6-22EB-486D-9896-242EB428B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267561"/>
            <a:ext cx="1574881" cy="243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811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11BF6-062E-441D-A015-D44A9E3B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899BD4F-18EA-48B9-935A-5BDA9F58A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33" y="299343"/>
            <a:ext cx="11950674" cy="9560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C0932B-146C-4229-826C-17F3942D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BB951-42C7-4981-9A9D-5D8DFEB27323}"/>
              </a:ext>
            </a:extLst>
          </p:cNvPr>
          <p:cNvSpPr txBox="1"/>
          <p:nvPr/>
        </p:nvSpPr>
        <p:spPr>
          <a:xfrm>
            <a:off x="154135" y="1397383"/>
            <a:ext cx="1108923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运行结果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的整数：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对应的扑克牌为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的整数：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对应的扑克牌为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的整数：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对应的扑克牌为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的整数：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对应的扑克牌为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的整数：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输入的数字不合要求。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B80CEE-B912-6E7A-9C9E-4576EF23852C}"/>
              </a:ext>
            </a:extLst>
          </p:cNvPr>
          <p:cNvSpPr txBox="1"/>
          <p:nvPr/>
        </p:nvSpPr>
        <p:spPr>
          <a:xfrm>
            <a:off x="119336" y="218981"/>
            <a:ext cx="6180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ok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950141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CEDFC-7FF2-4129-8E58-38E10A08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155C3C-4D39-43FD-909D-BB111208B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268760"/>
            <a:ext cx="5544616" cy="55644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x = int(input('</a:t>
            </a:r>
            <a:r>
              <a:rPr lang="zh-CN" altLang="en-US" dirty="0"/>
              <a:t>请输入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13</a:t>
            </a:r>
            <a:r>
              <a:rPr lang="zh-CN" altLang="en-US" dirty="0"/>
              <a:t>的整数：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if x&lt;1 or x&gt;13:</a:t>
            </a:r>
          </a:p>
          <a:p>
            <a:pPr marL="0" indent="0"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输入的数字不合要求。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if x==1 :</a:t>
            </a:r>
          </a:p>
          <a:p>
            <a:pPr marL="0" indent="0">
              <a:buNone/>
            </a:pPr>
            <a:r>
              <a:rPr lang="en-US" altLang="zh-CN" dirty="0"/>
              <a:t>    s = 'A'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x&gt;=2 and x&lt;=9:</a:t>
            </a:r>
          </a:p>
          <a:p>
            <a:pPr marL="0" indent="0">
              <a:buNone/>
            </a:pPr>
            <a:r>
              <a:rPr lang="en-US" altLang="zh-CN" dirty="0"/>
              <a:t>    s = str(x)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x==10:</a:t>
            </a:r>
          </a:p>
          <a:p>
            <a:pPr marL="0" indent="0">
              <a:buNone/>
            </a:pPr>
            <a:r>
              <a:rPr lang="en-US" altLang="zh-CN" dirty="0"/>
              <a:t>    s ='T'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x==11:</a:t>
            </a:r>
          </a:p>
          <a:p>
            <a:pPr marL="0" indent="0">
              <a:buNone/>
            </a:pPr>
            <a:r>
              <a:rPr lang="en-US" altLang="zh-CN" dirty="0"/>
              <a:t>    s ='J'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x==12:</a:t>
            </a:r>
          </a:p>
          <a:p>
            <a:pPr marL="0" indent="0">
              <a:buNone/>
            </a:pPr>
            <a:r>
              <a:rPr lang="en-US" altLang="zh-CN" dirty="0"/>
              <a:t>    s ='Q'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s ='K'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35F809-29C4-4F36-BE71-F09AA55D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873AD5-9529-A06C-5E1A-D322F2EE5BC5}"/>
              </a:ext>
            </a:extLst>
          </p:cNvPr>
          <p:cNvSpPr txBox="1"/>
          <p:nvPr/>
        </p:nvSpPr>
        <p:spPr>
          <a:xfrm>
            <a:off x="6431262" y="1412776"/>
            <a:ext cx="5832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/>
              <a:t>print('</a:t>
            </a:r>
            <a:r>
              <a:rPr lang="zh-CN" altLang="en-US" sz="2400" dirty="0"/>
              <a:t>对应的扑克牌为</a:t>
            </a:r>
            <a:r>
              <a:rPr lang="en-US" altLang="zh-CN" sz="2400" dirty="0"/>
              <a:t>',s)</a:t>
            </a:r>
          </a:p>
        </p:txBody>
      </p:sp>
    </p:spTree>
    <p:extLst>
      <p:ext uri="{BB962C8B-B14F-4D97-AF65-F5344CB8AC3E}">
        <p14:creationId xmlns:p14="http://schemas.microsoft.com/office/powerpoint/2010/main" val="21898023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A0B70-0090-451F-8CA1-A3EF2AE0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ok</a:t>
            </a:r>
            <a:r>
              <a:rPr lang="en-US" altLang="zh-CN" dirty="0"/>
              <a:t> 8.</a:t>
            </a:r>
            <a:r>
              <a:rPr lang="zh-CN" altLang="en-US" dirty="0"/>
              <a:t>用户输入年份和月份，输出该月天数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EF67C5-C9AC-4836-A504-E1826034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D862DB-FB36-4874-82CC-66916C617D14}"/>
              </a:ext>
            </a:extLst>
          </p:cNvPr>
          <p:cNvSpPr txBox="1"/>
          <p:nvPr/>
        </p:nvSpPr>
        <p:spPr>
          <a:xfrm>
            <a:off x="40869" y="1484784"/>
            <a:ext cx="110892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====</a:t>
            </a:r>
          </a:p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请输入年份和月份，逗号分隔：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2020,2</a:t>
            </a:r>
          </a:p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该月有 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29 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</a:p>
          <a:p>
            <a:endParaRPr lang="en-US" altLang="zh-CN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请输入年份和月份，逗号分隔：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2021,3</a:t>
            </a:r>
          </a:p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该月有 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31 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</a:p>
          <a:p>
            <a:endParaRPr lang="zh-CN" altLang="en-US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29096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E8B27-7395-4287-BABA-AC4054F22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51" y="249769"/>
            <a:ext cx="6552728" cy="65005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/>
              <a:t>y, m = eval(input(‘</a:t>
            </a:r>
            <a:r>
              <a:rPr lang="zh-CN" altLang="en-US" dirty="0"/>
              <a:t>请输入年份和</a:t>
            </a:r>
            <a:r>
              <a:rPr lang="en-US" altLang="zh-CN" dirty="0"/>
              <a:t>\</a:t>
            </a:r>
          </a:p>
          <a:p>
            <a:pPr marL="0" indent="0">
              <a:buNone/>
            </a:pPr>
            <a:r>
              <a:rPr lang="zh-CN" altLang="en-US" dirty="0"/>
              <a:t>月份，逗号分隔：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if m in [1,3,5,7,8,10,12]:</a:t>
            </a:r>
          </a:p>
          <a:p>
            <a:pPr marL="0" indent="0">
              <a:buNone/>
            </a:pPr>
            <a:r>
              <a:rPr lang="en-US" altLang="zh-CN" dirty="0"/>
              <a:t>    day = 31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m in [4,6,9,11]:</a:t>
            </a:r>
          </a:p>
          <a:p>
            <a:pPr marL="0" indent="0">
              <a:buNone/>
            </a:pPr>
            <a:r>
              <a:rPr lang="en-US" altLang="zh-CN" dirty="0"/>
              <a:t>    day = 30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m ==2:</a:t>
            </a:r>
          </a:p>
          <a:p>
            <a:pPr marL="0" indent="0">
              <a:buNone/>
            </a:pPr>
            <a:r>
              <a:rPr lang="en-US" altLang="zh-CN" dirty="0"/>
              <a:t>    if y%4 ==0 and y%100!=0:</a:t>
            </a:r>
          </a:p>
          <a:p>
            <a:pPr marL="0" indent="0">
              <a:buNone/>
            </a:pPr>
            <a:r>
              <a:rPr lang="en-US" altLang="zh-CN" dirty="0"/>
              <a:t>        day = 29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elif</a:t>
            </a:r>
            <a:r>
              <a:rPr lang="en-US" altLang="zh-CN" dirty="0"/>
              <a:t> y%400 ==0:</a:t>
            </a:r>
          </a:p>
          <a:p>
            <a:pPr marL="0" indent="0">
              <a:buNone/>
            </a:pPr>
            <a:r>
              <a:rPr lang="en-US" altLang="zh-CN" dirty="0"/>
              <a:t>        day = 29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day = 28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E24AC9-AA40-4853-B152-8B353DEBE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D7F368-18C0-712D-A8EC-994931E89157}"/>
              </a:ext>
            </a:extLst>
          </p:cNvPr>
          <p:cNvSpPr txBox="1"/>
          <p:nvPr/>
        </p:nvSpPr>
        <p:spPr>
          <a:xfrm>
            <a:off x="7104112" y="476672"/>
            <a:ext cx="61194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else:</a:t>
            </a:r>
          </a:p>
          <a:p>
            <a:pPr marL="0" indent="0">
              <a:buNone/>
            </a:pPr>
            <a:r>
              <a:rPr lang="en-US" altLang="zh-CN" sz="2800" dirty="0"/>
              <a:t>    day = 0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if day != 0:</a:t>
            </a:r>
          </a:p>
          <a:p>
            <a:pPr marL="0" indent="0">
              <a:buNone/>
            </a:pPr>
            <a:r>
              <a:rPr lang="en-US" altLang="zh-CN" sz="2800" dirty="0"/>
              <a:t>    print('</a:t>
            </a:r>
            <a:r>
              <a:rPr lang="zh-CN" altLang="en-US" sz="2800" dirty="0"/>
              <a:t>该月有</a:t>
            </a:r>
            <a:r>
              <a:rPr lang="en-US" altLang="zh-CN" sz="2800" dirty="0"/>
              <a:t>',day,'</a:t>
            </a:r>
            <a:r>
              <a:rPr lang="zh-CN" altLang="en-US" sz="2800" dirty="0"/>
              <a:t>天</a:t>
            </a:r>
            <a:r>
              <a:rPr lang="en-US" altLang="zh-CN" sz="2800" dirty="0"/>
              <a:t>')</a:t>
            </a:r>
          </a:p>
          <a:p>
            <a:pPr marL="0" indent="0">
              <a:buNone/>
            </a:pPr>
            <a:r>
              <a:rPr lang="en-US" altLang="zh-CN" sz="2800" dirty="0"/>
              <a:t>else:</a:t>
            </a:r>
          </a:p>
          <a:p>
            <a:pPr marL="0" indent="0">
              <a:buNone/>
            </a:pPr>
            <a:r>
              <a:rPr lang="en-US" altLang="zh-CN" sz="2800" dirty="0"/>
              <a:t>    print('</a:t>
            </a:r>
            <a:r>
              <a:rPr lang="zh-CN" altLang="en-US" sz="2800" dirty="0"/>
              <a:t>输入有误！</a:t>
            </a:r>
            <a:r>
              <a:rPr lang="en-US" altLang="zh-CN" sz="2800" dirty="0"/>
              <a:t>')</a:t>
            </a:r>
          </a:p>
          <a:p>
            <a:pPr marL="0" indent="0"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19915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58347-6ADB-4E2D-8BFA-73872298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Ok 9.</a:t>
            </a:r>
            <a:r>
              <a:rPr lang="zh-CN" altLang="en-US" dirty="0"/>
              <a:t>英寸和厘米之间双向转换。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970F00-F7FD-4E15-A50F-5217AA8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CDE54A-C108-493C-822B-F10C45086F1A}"/>
              </a:ext>
            </a:extLst>
          </p:cNvPr>
          <p:cNvSpPr txBox="1"/>
          <p:nvPr/>
        </p:nvSpPr>
        <p:spPr>
          <a:xfrm>
            <a:off x="136919" y="1014263"/>
            <a:ext cx="108732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说明： 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1</a:t>
            </a:r>
            <a:r>
              <a:rPr lang="zh-CN" altLang="en-US" sz="2800" b="0" dirty="0">
                <a:solidFill>
                  <a:srgbClr val="333333"/>
                </a:solidFill>
                <a:effectLst/>
              </a:rPr>
              <a:t>英寸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=2.54</a:t>
            </a:r>
            <a:r>
              <a:rPr lang="zh-CN" altLang="en-US" sz="2800" b="0" dirty="0">
                <a:solidFill>
                  <a:srgbClr val="333333"/>
                </a:solidFill>
                <a:effectLst/>
              </a:rPr>
              <a:t>厘米</a:t>
            </a:r>
            <a:endParaRPr lang="en-US" altLang="zh-CN" sz="28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运行结果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1</a:t>
            </a:r>
            <a:r>
              <a:rPr lang="zh-CN" altLang="en-US" sz="2800" b="0" dirty="0">
                <a:solidFill>
                  <a:srgbClr val="333333"/>
                </a:solidFill>
                <a:effectLst/>
              </a:rPr>
              <a:t>：</a:t>
            </a:r>
            <a:endParaRPr lang="en-US" altLang="zh-CN" sz="28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请输入长度：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5</a:t>
            </a: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请输入单位（英寸或厘米）：英寸</a:t>
            </a: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等于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12.70</a:t>
            </a:r>
            <a:r>
              <a:rPr lang="zh-CN" altLang="en-US" sz="2800" b="0" dirty="0">
                <a:solidFill>
                  <a:srgbClr val="333333"/>
                </a:solidFill>
                <a:effectLst/>
              </a:rPr>
              <a:t>厘米</a:t>
            </a:r>
          </a:p>
          <a:p>
            <a:endParaRPr lang="en-US" altLang="zh-CN" sz="2800" dirty="0">
              <a:solidFill>
                <a:srgbClr val="333333"/>
              </a:solidFill>
            </a:endParaRPr>
          </a:p>
          <a:p>
            <a:r>
              <a:rPr lang="zh-CN" altLang="en-US" sz="2800" dirty="0">
                <a:solidFill>
                  <a:srgbClr val="333333"/>
                </a:solidFill>
              </a:rPr>
              <a:t>运行结果</a:t>
            </a:r>
            <a:r>
              <a:rPr lang="en-US" altLang="zh-CN" sz="2800" dirty="0">
                <a:solidFill>
                  <a:srgbClr val="333333"/>
                </a:solidFill>
              </a:rPr>
              <a:t>2</a:t>
            </a:r>
            <a:r>
              <a:rPr lang="zh-CN" altLang="en-US" sz="2800" dirty="0">
                <a:solidFill>
                  <a:srgbClr val="333333"/>
                </a:solidFill>
              </a:rPr>
              <a:t>：</a:t>
            </a:r>
            <a:endParaRPr lang="en-US" altLang="zh-CN" sz="2800" dirty="0">
              <a:solidFill>
                <a:srgbClr val="333333"/>
              </a:solidFill>
            </a:endParaRP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请输入长度：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254</a:t>
            </a: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请输入单位（英寸或厘米）：厘米</a:t>
            </a:r>
            <a:endParaRPr lang="en-US" altLang="zh-CN" sz="2800" b="0" dirty="0">
              <a:solidFill>
                <a:srgbClr val="333333"/>
              </a:solidFill>
              <a:effectLst/>
            </a:endParaRPr>
          </a:p>
          <a:p>
            <a:r>
              <a:rPr lang="zh-CN" altLang="en-US" sz="2800" b="0" dirty="0">
                <a:solidFill>
                  <a:srgbClr val="333333"/>
                </a:solidFill>
                <a:effectLst/>
              </a:rPr>
              <a:t>等于 </a:t>
            </a:r>
            <a:r>
              <a:rPr lang="en-US" altLang="zh-CN" sz="2800" b="0" dirty="0">
                <a:solidFill>
                  <a:srgbClr val="333333"/>
                </a:solidFill>
                <a:effectLst/>
              </a:rPr>
              <a:t>100.00</a:t>
            </a:r>
            <a:r>
              <a:rPr lang="zh-CN" altLang="en-US" sz="2800" b="0" dirty="0">
                <a:solidFill>
                  <a:srgbClr val="333333"/>
                </a:solidFill>
                <a:effectLst/>
              </a:rPr>
              <a:t>英寸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34E736E-866B-8AE6-A8F9-96B64FDE1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59788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86FBB-2E50-467D-BBD3-AFF286F3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1C9EB-13CD-4AD9-97A1-A6A57007B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x = float(input('</a:t>
            </a:r>
            <a:r>
              <a:rPr lang="zh-CN" altLang="en-US" dirty="0"/>
              <a:t>请输入长度：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unit = input('</a:t>
            </a:r>
            <a:r>
              <a:rPr lang="zh-CN" altLang="en-US" dirty="0"/>
              <a:t>请输入单位（英寸或厘米）：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if unit == 'in' or unit == '</a:t>
            </a:r>
            <a:r>
              <a:rPr lang="zh-CN" altLang="en-US" dirty="0"/>
              <a:t>英寸</a:t>
            </a:r>
            <a:r>
              <a:rPr lang="en-US" altLang="zh-CN" dirty="0"/>
              <a:t>':</a:t>
            </a:r>
          </a:p>
          <a:p>
            <a:pPr marL="0" indent="0"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等于</a:t>
            </a:r>
            <a:r>
              <a:rPr lang="en-US" altLang="zh-CN" dirty="0"/>
              <a:t>{:.2f}</a:t>
            </a:r>
            <a:r>
              <a:rPr lang="zh-CN" altLang="en-US" dirty="0"/>
              <a:t>厘米</a:t>
            </a:r>
            <a:r>
              <a:rPr lang="en-US" altLang="zh-CN" dirty="0"/>
              <a:t>'.format(x*2.54))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unit == 'cm' or unit == '</a:t>
            </a:r>
            <a:r>
              <a:rPr lang="zh-CN" altLang="en-US" dirty="0"/>
              <a:t>厘米</a:t>
            </a:r>
            <a:r>
              <a:rPr lang="en-US" altLang="zh-CN" dirty="0"/>
              <a:t>':</a:t>
            </a:r>
          </a:p>
          <a:p>
            <a:pPr marL="0" indent="0"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等于 </a:t>
            </a:r>
            <a:r>
              <a:rPr lang="en-US" altLang="zh-CN" dirty="0"/>
              <a:t>%.2f</a:t>
            </a:r>
            <a:r>
              <a:rPr lang="zh-CN" altLang="en-US" dirty="0"/>
              <a:t>英寸</a:t>
            </a:r>
            <a:r>
              <a:rPr lang="en-US" altLang="zh-CN" dirty="0"/>
              <a:t>' % (x/2.54))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输入错误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35F782-25F4-4383-B7A4-F517D1C6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796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E272B-CDF9-4D21-939A-156A9028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ACC5EB1-8C3B-4E62-82E4-55AD05BC5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80" y="188639"/>
            <a:ext cx="12169352" cy="138758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021F0B-F60E-41C7-A80A-BFFA1F9E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69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9BA32E-C2C7-4BED-B467-9D5F370556FB}"/>
              </a:ext>
            </a:extLst>
          </p:cNvPr>
          <p:cNvSpPr txBox="1"/>
          <p:nvPr/>
        </p:nvSpPr>
        <p:spPr>
          <a:xfrm>
            <a:off x="263352" y="1576227"/>
            <a:ext cx="496855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请输入三角形三边长：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1,2,3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不能构成三角形。</a:t>
            </a: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请输入三角形三边长：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6,6,6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面积为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15.59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这是等边三角形。</a:t>
            </a:r>
          </a:p>
          <a:p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请输入三角形三边长：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5,6,5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面积为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12.00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这是等腰三角形。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3140AD-BF95-477E-9136-F807DFF196E3}"/>
              </a:ext>
            </a:extLst>
          </p:cNvPr>
          <p:cNvSpPr txBox="1"/>
          <p:nvPr/>
        </p:nvSpPr>
        <p:spPr>
          <a:xfrm>
            <a:off x="6118459" y="1700808"/>
            <a:ext cx="54641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请输入三角形三边长：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3,4,5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面积为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6.00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直角三角形。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请输入三角形三边长：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5,7,6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面积为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14.70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这是一般三角形。</a:t>
            </a:r>
          </a:p>
        </p:txBody>
      </p:sp>
    </p:spTree>
    <p:extLst>
      <p:ext uri="{BB962C8B-B14F-4D97-AF65-F5344CB8AC3E}">
        <p14:creationId xmlns:p14="http://schemas.microsoft.com/office/powerpoint/2010/main" val="33738101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41C1F-6D1C-4EFE-8DEB-BF0D1926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980727"/>
            <a:ext cx="9433048" cy="599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import math</a:t>
            </a:r>
          </a:p>
          <a:p>
            <a:pPr marL="0" indent="0">
              <a:buNone/>
            </a:pPr>
            <a:r>
              <a:rPr lang="en-US" altLang="zh-CN" dirty="0" err="1"/>
              <a:t>a,b,c</a:t>
            </a:r>
            <a:r>
              <a:rPr lang="en-US" altLang="zh-CN" dirty="0"/>
              <a:t>=eval(input('</a:t>
            </a:r>
            <a:r>
              <a:rPr lang="zh-CN" altLang="en-US" dirty="0"/>
              <a:t>请输入三角形三边长：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en-US" altLang="zh-CN" dirty="0"/>
              <a:t>a1 = min(</a:t>
            </a:r>
            <a:r>
              <a:rPr lang="en-US" altLang="zh-CN" dirty="0" err="1"/>
              <a:t>a,b,c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a3 = max(</a:t>
            </a:r>
            <a:r>
              <a:rPr lang="en-US" altLang="zh-CN" dirty="0" err="1"/>
              <a:t>a,b,c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a2 = a+b+c-a1-a3</a:t>
            </a:r>
          </a:p>
          <a:p>
            <a:pPr marL="0" indent="0">
              <a:buNone/>
            </a:pPr>
            <a:r>
              <a:rPr lang="en-US" altLang="zh-CN" dirty="0"/>
              <a:t>if a1+a2&lt;=a3:</a:t>
            </a:r>
          </a:p>
          <a:p>
            <a:pPr marL="0" indent="0">
              <a:buNone/>
            </a:pPr>
            <a:r>
              <a:rPr lang="en-US" altLang="zh-CN" dirty="0"/>
              <a:t>    print('</a:t>
            </a:r>
            <a:r>
              <a:rPr lang="zh-CN" altLang="en-US" dirty="0"/>
              <a:t>不能构成三角形。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s = (</a:t>
            </a:r>
            <a:r>
              <a:rPr lang="en-US" altLang="zh-CN" dirty="0" err="1"/>
              <a:t>a+b+c</a:t>
            </a:r>
            <a:r>
              <a:rPr lang="en-US" altLang="zh-CN" dirty="0"/>
              <a:t>)/2</a:t>
            </a:r>
          </a:p>
          <a:p>
            <a:pPr marL="0" indent="0">
              <a:buNone/>
            </a:pPr>
            <a:r>
              <a:rPr lang="en-US" altLang="zh-CN" dirty="0"/>
              <a:t>    area = </a:t>
            </a:r>
            <a:r>
              <a:rPr lang="en-US" altLang="zh-CN" dirty="0" err="1"/>
              <a:t>math.sqrt</a:t>
            </a:r>
            <a:r>
              <a:rPr lang="en-US" altLang="zh-CN" dirty="0"/>
              <a:t>(s*(s-a)*(s-b)*(s-c))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D58F2B-A9B1-406F-B0D7-C89368B4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908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5958D-A8FC-49E9-A316-48484DBC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0E2EEE-FF83-465E-BCCF-A70B7E5B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2B763D9-83A1-4055-87DD-C544A2092A9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8561" y="328330"/>
            <a:ext cx="12060237" cy="6413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/>
              <a:t>    print('</a:t>
            </a:r>
            <a:r>
              <a:rPr lang="zh-CN" altLang="en-US" sz="2400" dirty="0"/>
              <a:t>面积为</a:t>
            </a:r>
            <a:r>
              <a:rPr lang="en-US" altLang="zh-CN" sz="2400" dirty="0"/>
              <a:t>%.2f' % area)</a:t>
            </a:r>
          </a:p>
          <a:p>
            <a:pPr marL="0" indent="0">
              <a:buNone/>
            </a:pPr>
            <a:r>
              <a:rPr lang="en-US" altLang="zh-CN" sz="2400" dirty="0"/>
              <a:t>    # </a:t>
            </a:r>
            <a:r>
              <a:rPr lang="zh-CN" altLang="en-US" sz="2400" dirty="0"/>
              <a:t>下面判断三角形类型</a:t>
            </a:r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if a==b and b==c:</a:t>
            </a:r>
          </a:p>
          <a:p>
            <a:pPr marL="0" indent="0">
              <a:buNone/>
            </a:pPr>
            <a:r>
              <a:rPr lang="en-US" altLang="zh-CN" sz="2400" dirty="0"/>
              <a:t>        print('</a:t>
            </a:r>
            <a:r>
              <a:rPr lang="zh-CN" altLang="en-US" sz="2400" dirty="0"/>
              <a:t>这是等边三角形。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elif</a:t>
            </a:r>
            <a:r>
              <a:rPr lang="en-US" altLang="zh-CN" sz="2400" dirty="0"/>
              <a:t>  a==b or b==c or a==c:     #</a:t>
            </a:r>
            <a:r>
              <a:rPr lang="zh-CN" altLang="en-US" sz="2400" dirty="0"/>
              <a:t>等腰</a:t>
            </a:r>
          </a:p>
          <a:p>
            <a:pPr marL="0" indent="0"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if </a:t>
            </a:r>
            <a:r>
              <a:rPr lang="en-US" altLang="zh-CN" sz="2400" dirty="0" err="1"/>
              <a:t>math.isclose</a:t>
            </a:r>
            <a:r>
              <a:rPr lang="en-US" altLang="zh-CN" sz="2400" dirty="0"/>
              <a:t>(a1*a1+a2*a2,a3*a3) == True:     #</a:t>
            </a:r>
            <a:r>
              <a:rPr lang="zh-CN" altLang="en-US" sz="2400" dirty="0"/>
              <a:t>等边三角形</a:t>
            </a:r>
          </a:p>
          <a:p>
            <a:pPr marL="0" indent="0">
              <a:buNone/>
            </a:pPr>
            <a:r>
              <a:rPr lang="zh-CN" altLang="en-US" sz="2400" dirty="0"/>
              <a:t>            </a:t>
            </a:r>
            <a:r>
              <a:rPr lang="en-US" altLang="zh-CN" sz="2400" dirty="0"/>
              <a:t>print('</a:t>
            </a:r>
            <a:r>
              <a:rPr lang="zh-CN" altLang="en-US" sz="2400" dirty="0"/>
              <a:t>等腰直角三角形。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        else:</a:t>
            </a:r>
          </a:p>
          <a:p>
            <a:pPr marL="0" indent="0">
              <a:buNone/>
            </a:pPr>
            <a:r>
              <a:rPr lang="en-US" altLang="zh-CN" sz="2400" dirty="0"/>
              <a:t>            print('</a:t>
            </a:r>
            <a:r>
              <a:rPr lang="zh-CN" altLang="en-US" sz="2400" dirty="0"/>
              <a:t>这是等腰三角形。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    else:   	#</a:t>
            </a:r>
            <a:r>
              <a:rPr lang="zh-CN" altLang="en-US" sz="2400" dirty="0"/>
              <a:t>不是等腰或等边</a:t>
            </a:r>
          </a:p>
          <a:p>
            <a:pPr marL="0" indent="0"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if </a:t>
            </a:r>
            <a:r>
              <a:rPr lang="en-US" altLang="zh-CN" sz="2400" dirty="0" err="1"/>
              <a:t>math.isclose</a:t>
            </a:r>
            <a:r>
              <a:rPr lang="en-US" altLang="zh-CN" sz="2400" dirty="0"/>
              <a:t>(a1*a1+a2*a2,a3*a3) == True:    </a:t>
            </a:r>
          </a:p>
          <a:p>
            <a:pPr marL="0" indent="0">
              <a:buNone/>
            </a:pPr>
            <a:r>
              <a:rPr lang="en-US" altLang="zh-CN" sz="2400" dirty="0"/>
              <a:t>            print('</a:t>
            </a:r>
            <a:r>
              <a:rPr lang="zh-CN" altLang="en-US" sz="2400" dirty="0"/>
              <a:t>直角三角形。</a:t>
            </a:r>
            <a:r>
              <a:rPr lang="en-US" altLang="zh-CN" sz="2400" dirty="0"/>
              <a:t>')</a:t>
            </a:r>
          </a:p>
          <a:p>
            <a:pPr marL="0" indent="0">
              <a:buNone/>
            </a:pPr>
            <a:r>
              <a:rPr lang="en-US" altLang="zh-CN" sz="2400" dirty="0"/>
              <a:t>        else:</a:t>
            </a:r>
          </a:p>
          <a:p>
            <a:pPr marL="0" indent="0">
              <a:buNone/>
            </a:pPr>
            <a:r>
              <a:rPr lang="en-US" altLang="zh-CN" sz="2400" dirty="0"/>
              <a:t>            print('</a:t>
            </a:r>
            <a:r>
              <a:rPr lang="zh-CN" altLang="en-US" sz="2400" dirty="0"/>
              <a:t>这是一般三角形。</a:t>
            </a:r>
            <a:r>
              <a:rPr lang="en-US" altLang="zh-CN" sz="2400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25080883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A985CE-EE4A-43E8-B3B7-173EA92B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水汽尾迹</Template>
  <TotalTime>1395</TotalTime>
  <Words>5268</Words>
  <Application>Microsoft Office PowerPoint</Application>
  <PresentationFormat>宽屏</PresentationFormat>
  <Paragraphs>755</Paragraphs>
  <Slides>72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3" baseType="lpstr">
      <vt:lpstr>等线</vt:lpstr>
      <vt:lpstr>黑体</vt:lpstr>
      <vt:lpstr>华文新魏</vt:lpstr>
      <vt:lpstr>宋体</vt:lpstr>
      <vt:lpstr>微软雅黑</vt:lpstr>
      <vt:lpstr>Arial</vt:lpstr>
      <vt:lpstr>Calibri</vt:lpstr>
      <vt:lpstr>Century Gothic</vt:lpstr>
      <vt:lpstr>Segoe UI Semilight</vt:lpstr>
      <vt:lpstr>Viner Hand ITC</vt:lpstr>
      <vt:lpstr>水汽尾迹</vt:lpstr>
      <vt:lpstr>PowerPoint 演示文稿</vt:lpstr>
      <vt:lpstr>PowerPoint 演示文稿</vt:lpstr>
      <vt:lpstr>目录</vt:lpstr>
      <vt:lpstr>4.1 条件表达式</vt:lpstr>
      <vt:lpstr>条件表达式</vt:lpstr>
      <vt:lpstr>4.1.1 关系运算</vt:lpstr>
      <vt:lpstr>PowerPoint 演示文稿</vt:lpstr>
      <vt:lpstr>PowerPoint 演示文稿</vt:lpstr>
      <vt:lpstr>字符串的比较</vt:lpstr>
      <vt:lpstr>4.1.2 逻辑运算</vt:lpstr>
      <vt:lpstr>4.1.2 逻辑运算</vt:lpstr>
      <vt:lpstr>4.1.2 逻辑运算</vt:lpstr>
      <vt:lpstr>(1)取反运算</vt:lpstr>
      <vt:lpstr>PowerPoint 演示文稿</vt:lpstr>
      <vt:lpstr>(2)与运算and</vt:lpstr>
      <vt:lpstr>(3)或运算or</vt:lpstr>
      <vt:lpstr>短路现象</vt:lpstr>
      <vt:lpstr>PowerPoint 演示文稿</vt:lpstr>
      <vt:lpstr>PowerPoint 演示文稿</vt:lpstr>
      <vt:lpstr> </vt:lpstr>
      <vt:lpstr>4.1.3 成员运算及函数</vt:lpstr>
      <vt:lpstr>2．身份运算符 </vt:lpstr>
      <vt:lpstr>2．身份运算符 </vt:lpstr>
      <vt:lpstr>内置的测试函数?</vt:lpstr>
      <vt:lpstr>内置的测试函数</vt:lpstr>
      <vt:lpstr>内置的测试函数</vt:lpstr>
      <vt:lpstr>4.2 条件运算符</vt:lpstr>
      <vt:lpstr>条件运算符</vt:lpstr>
      <vt:lpstr>条件运算符</vt:lpstr>
      <vt:lpstr>4.3 选择结构的实现</vt:lpstr>
      <vt:lpstr>if语句</vt:lpstr>
      <vt:lpstr>4.3.1 单分支选择结构</vt:lpstr>
      <vt:lpstr>【例4-2】判断大于100的数</vt:lpstr>
      <vt:lpstr>注意：</vt:lpstr>
      <vt:lpstr>【例4-3】输出3个整数中的最大数。</vt:lpstr>
      <vt:lpstr>【例4-4】两个数的排序</vt:lpstr>
      <vt:lpstr>4.3.2 双分支选择结构</vt:lpstr>
      <vt:lpstr>【例4-5】改写例4-4的两个数排序。</vt:lpstr>
      <vt:lpstr>【例4-6】改写例4-3，求三个整数的最大值。</vt:lpstr>
      <vt:lpstr>4.3.3 多分支选择结构</vt:lpstr>
      <vt:lpstr>【例4-7】购物打折</vt:lpstr>
      <vt:lpstr>【例4-7】购物打折</vt:lpstr>
      <vt:lpstr>4.3.4 选择结构的嵌套</vt:lpstr>
      <vt:lpstr>【例4-8】使用if嵌套改写例4-3，求三个整数的最大值。</vt:lpstr>
      <vt:lpstr>4.4 选择结构程序举例</vt:lpstr>
      <vt:lpstr>【例4-9】成绩转换</vt:lpstr>
      <vt:lpstr>【例4-10】输入三个整数，从小到大排序输出。</vt:lpstr>
      <vt:lpstr>【例4-11(选)】改写例3-5，输入一个三位数，用英语表示。  运行结果： </vt:lpstr>
      <vt:lpstr>PowerPoint 演示文稿</vt:lpstr>
      <vt:lpstr>PowerPoint 演示文稿</vt:lpstr>
      <vt:lpstr>PowerPoint 演示文稿</vt:lpstr>
      <vt:lpstr>PowerPoint 演示文稿</vt:lpstr>
      <vt:lpstr>本章习题  P85</vt:lpstr>
      <vt:lpstr>课后作业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ok 8.用户输入年份和月份，输出该月天数</vt:lpstr>
      <vt:lpstr>PowerPoint 演示文稿</vt:lpstr>
      <vt:lpstr>Ok 9.英寸和厘米之间双向转换。</vt:lpstr>
      <vt:lpstr>PowerPoint 演示文稿</vt:lpstr>
      <vt:lpstr>PowerPoint 演示文稿</vt:lpstr>
      <vt:lpstr>PowerPoint 演示文稿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</cp:lastModifiedBy>
  <cp:revision>212</cp:revision>
  <dcterms:created xsi:type="dcterms:W3CDTF">2018-10-09T06:59:00Z</dcterms:created>
  <dcterms:modified xsi:type="dcterms:W3CDTF">2023-03-13T01:28:30Z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