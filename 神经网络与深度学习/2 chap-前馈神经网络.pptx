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2.xml" ContentType="application/inkml+xml"/>
  <Override PartName="/ppt/ink/ink3.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2.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3.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4.xml" ContentType="application/vnd.openxmlformats-officedocument.presentationml.tags+xml"/>
  <Override PartName="/ppt/notesSlides/notesSlide2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1"/>
  </p:sldMasterIdLst>
  <p:notesMasterIdLst>
    <p:notesMasterId r:id="rId49"/>
  </p:notesMasterIdLst>
  <p:sldIdLst>
    <p:sldId id="256" r:id="rId2"/>
    <p:sldId id="512" r:id="rId3"/>
    <p:sldId id="517" r:id="rId4"/>
    <p:sldId id="513" r:id="rId5"/>
    <p:sldId id="448" r:id="rId6"/>
    <p:sldId id="449" r:id="rId7"/>
    <p:sldId id="502" r:id="rId8"/>
    <p:sldId id="491" r:id="rId9"/>
    <p:sldId id="492" r:id="rId10"/>
    <p:sldId id="501" r:id="rId11"/>
    <p:sldId id="503" r:id="rId12"/>
    <p:sldId id="463" r:id="rId13"/>
    <p:sldId id="518" r:id="rId14"/>
    <p:sldId id="450" r:id="rId15"/>
    <p:sldId id="451" r:id="rId16"/>
    <p:sldId id="460" r:id="rId17"/>
    <p:sldId id="464" r:id="rId18"/>
    <p:sldId id="504" r:id="rId19"/>
    <p:sldId id="483" r:id="rId20"/>
    <p:sldId id="495" r:id="rId21"/>
    <p:sldId id="490" r:id="rId22"/>
    <p:sldId id="514" r:id="rId23"/>
    <p:sldId id="468" r:id="rId24"/>
    <p:sldId id="493" r:id="rId25"/>
    <p:sldId id="484" r:id="rId26"/>
    <p:sldId id="519" r:id="rId27"/>
    <p:sldId id="509" r:id="rId28"/>
    <p:sldId id="520" r:id="rId29"/>
    <p:sldId id="505" r:id="rId30"/>
    <p:sldId id="521" r:id="rId31"/>
    <p:sldId id="469" r:id="rId32"/>
    <p:sldId id="516" r:id="rId33"/>
    <p:sldId id="485" r:id="rId34"/>
    <p:sldId id="486" r:id="rId35"/>
    <p:sldId id="487" r:id="rId36"/>
    <p:sldId id="522" r:id="rId37"/>
    <p:sldId id="476" r:id="rId38"/>
    <p:sldId id="488" r:id="rId39"/>
    <p:sldId id="496" r:id="rId40"/>
    <p:sldId id="497" r:id="rId41"/>
    <p:sldId id="499" r:id="rId42"/>
    <p:sldId id="515" r:id="rId43"/>
    <p:sldId id="489" r:id="rId44"/>
    <p:sldId id="477" r:id="rId45"/>
    <p:sldId id="494" r:id="rId46"/>
    <p:sldId id="500" r:id="rId47"/>
    <p:sldId id="447" r:id="rId4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521415D9-36F7-43E2-AB2F-B90AF26B5E84}">
      <p14:sectionLst xmlns:p14="http://schemas.microsoft.com/office/powerpoint/2010/main">
        <p14:section name="默认节" id="{F7C6C2FB-27F1-4C54-84AD-CB6625FEB4C3}">
          <p14:sldIdLst>
            <p14:sldId id="256"/>
            <p14:sldId id="512"/>
            <p14:sldId id="517"/>
            <p14:sldId id="513"/>
            <p14:sldId id="448"/>
            <p14:sldId id="449"/>
            <p14:sldId id="502"/>
            <p14:sldId id="491"/>
            <p14:sldId id="492"/>
            <p14:sldId id="501"/>
            <p14:sldId id="503"/>
            <p14:sldId id="463"/>
            <p14:sldId id="518"/>
            <p14:sldId id="450"/>
            <p14:sldId id="451"/>
            <p14:sldId id="460"/>
            <p14:sldId id="464"/>
            <p14:sldId id="504"/>
            <p14:sldId id="483"/>
            <p14:sldId id="495"/>
            <p14:sldId id="490"/>
            <p14:sldId id="514"/>
            <p14:sldId id="468"/>
            <p14:sldId id="493"/>
            <p14:sldId id="484"/>
            <p14:sldId id="519"/>
            <p14:sldId id="509"/>
            <p14:sldId id="520"/>
            <p14:sldId id="505"/>
            <p14:sldId id="521"/>
            <p14:sldId id="469"/>
            <p14:sldId id="516"/>
            <p14:sldId id="485"/>
            <p14:sldId id="486"/>
            <p14:sldId id="487"/>
            <p14:sldId id="522"/>
            <p14:sldId id="476"/>
            <p14:sldId id="488"/>
            <p14:sldId id="496"/>
            <p14:sldId id="497"/>
            <p14:sldId id="499"/>
            <p14:sldId id="515"/>
            <p14:sldId id="489"/>
            <p14:sldId id="477"/>
            <p14:sldId id="494"/>
            <p14:sldId id="500"/>
            <p14:sldId id="44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486" autoAdjust="0"/>
    <p:restoredTop sz="61032" autoAdjust="0"/>
  </p:normalViewPr>
  <p:slideViewPr>
    <p:cSldViewPr>
      <p:cViewPr varScale="1">
        <p:scale>
          <a:sx n="98" d="100"/>
          <a:sy n="98" d="100"/>
        </p:scale>
        <p:origin x="2358" y="84"/>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880"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BBEAF7-C373-4176-BC82-DCCB6D5E3E26}" type="doc">
      <dgm:prSet loTypeId="urn:microsoft.com/office/officeart/2005/8/layout/hProcess6" loCatId="process" qsTypeId="urn:microsoft.com/office/officeart/2005/8/quickstyle/simple5" qsCatId="simple" csTypeId="urn:microsoft.com/office/officeart/2005/8/colors/colorful4" csCatId="colorful" phldr="1"/>
      <dgm:spPr/>
      <dgm:t>
        <a:bodyPr/>
        <a:lstStyle/>
        <a:p>
          <a:endParaRPr lang="zh-TW" altLang="en-US"/>
        </a:p>
      </dgm:t>
    </dgm:pt>
    <dgm:pt modelId="{801111EC-7761-4006-9B8D-BDD3478D6A0C}">
      <dgm:prSet phldrT="[文字]" custT="1"/>
      <dgm:spPr/>
      <dgm:t>
        <a:bodyPr/>
        <a:lstStyle/>
        <a:p>
          <a:r>
            <a:rPr lang="en-US" altLang="zh-TW" sz="2800" dirty="0"/>
            <a:t>1</a:t>
          </a:r>
          <a:endParaRPr lang="zh-TW" altLang="en-US" sz="2800" dirty="0"/>
        </a:p>
      </dgm:t>
    </dgm:pt>
    <dgm:pt modelId="{741192AF-66D8-44B3-8D71-D609A9576CFF}" type="parTrans" cxnId="{7021B101-6AE5-4EA4-923F-149909DC3C09}">
      <dgm:prSet/>
      <dgm:spPr/>
      <dgm:t>
        <a:bodyPr/>
        <a:lstStyle/>
        <a:p>
          <a:endParaRPr lang="zh-TW" altLang="en-US" sz="2800"/>
        </a:p>
      </dgm:t>
    </dgm:pt>
    <dgm:pt modelId="{E857221A-734F-4396-A642-04F985B7D590}" type="sibTrans" cxnId="{7021B101-6AE5-4EA4-923F-149909DC3C09}">
      <dgm:prSet custT="1"/>
      <dgm:spPr/>
      <dgm:t>
        <a:bodyPr/>
        <a:lstStyle/>
        <a:p>
          <a:endParaRPr lang="zh-TW" altLang="en-US" sz="2800"/>
        </a:p>
      </dgm:t>
    </dgm:pt>
    <dgm:pt modelId="{380F6D09-15D5-4E2B-BF8A-CECE4B7C4A20}">
      <dgm:prSet phldrT="[文字]" custT="1"/>
      <dgm:spPr/>
      <dgm:t>
        <a:bodyPr/>
        <a:lstStyle/>
        <a:p>
          <a:r>
            <a:rPr lang="en-US" altLang="zh-TW" sz="2800" dirty="0"/>
            <a:t>2</a:t>
          </a:r>
          <a:endParaRPr lang="zh-TW" altLang="en-US" sz="2800" dirty="0"/>
        </a:p>
      </dgm:t>
    </dgm:pt>
    <dgm:pt modelId="{35DF94FE-4269-42A8-B274-51E32D4D5D54}" type="parTrans" cxnId="{7DBA789E-FBE8-47EE-B779-737798DB8CF2}">
      <dgm:prSet/>
      <dgm:spPr/>
      <dgm:t>
        <a:bodyPr/>
        <a:lstStyle/>
        <a:p>
          <a:endParaRPr lang="zh-TW" altLang="en-US" sz="2800"/>
        </a:p>
      </dgm:t>
    </dgm:pt>
    <dgm:pt modelId="{D60C5607-81DE-4CC8-91B3-C56E5666A49F}" type="sibTrans" cxnId="{7DBA789E-FBE8-47EE-B779-737798DB8CF2}">
      <dgm:prSet custT="1"/>
      <dgm:spPr/>
      <dgm:t>
        <a:bodyPr/>
        <a:lstStyle/>
        <a:p>
          <a:endParaRPr lang="zh-TW" altLang="en-US" sz="2800"/>
        </a:p>
      </dgm:t>
    </dgm:pt>
    <dgm:pt modelId="{680F7195-4FD3-481E-8A2B-5AD54C8280AB}">
      <dgm:prSet phldrT="[文字]" custT="1"/>
      <dgm:spPr/>
      <dgm:t>
        <a:bodyPr/>
        <a:lstStyle/>
        <a:p>
          <a:r>
            <a:rPr lang="en-US" altLang="zh-TW" sz="2800" dirty="0"/>
            <a:t>3</a:t>
          </a:r>
          <a:endParaRPr lang="zh-TW" altLang="en-US" sz="2800" dirty="0"/>
        </a:p>
      </dgm:t>
    </dgm:pt>
    <dgm:pt modelId="{E0770B27-10B9-4E3F-A134-B86908A61FFE}" type="parTrans" cxnId="{3796133B-9324-48E1-895B-CB33B607472F}">
      <dgm:prSet/>
      <dgm:spPr/>
      <dgm:t>
        <a:bodyPr/>
        <a:lstStyle/>
        <a:p>
          <a:endParaRPr lang="zh-TW" altLang="en-US" sz="2800"/>
        </a:p>
      </dgm:t>
    </dgm:pt>
    <dgm:pt modelId="{382B596D-4079-47F6-BAC4-80EDB1CFB95D}" type="sibTrans" cxnId="{3796133B-9324-48E1-895B-CB33B607472F}">
      <dgm:prSet/>
      <dgm:spPr/>
      <dgm:t>
        <a:bodyPr/>
        <a:lstStyle/>
        <a:p>
          <a:endParaRPr lang="zh-TW" altLang="en-US" sz="2800"/>
        </a:p>
      </dgm:t>
    </dgm:pt>
    <dgm:pt modelId="{97C498C3-B6DD-4290-809A-7F41DCC94602}">
      <dgm:prSet/>
      <dgm:spPr/>
      <dgm:t>
        <a:bodyPr/>
        <a:lstStyle/>
        <a:p>
          <a:r>
            <a:rPr lang="zh-CN" altLang="en-US" sz="2800" dirty="0"/>
            <a:t>定义网络</a:t>
          </a:r>
          <a:endParaRPr lang="zh-TW" altLang="en-US" sz="2800" dirty="0"/>
        </a:p>
      </dgm:t>
    </dgm:pt>
    <dgm:pt modelId="{6314B85C-C1B5-4C04-BF45-32703679BBBA}" type="parTrans" cxnId="{2444E9F2-EEFC-4FDE-A1A5-773A690FCD99}">
      <dgm:prSet/>
      <dgm:spPr/>
      <dgm:t>
        <a:bodyPr/>
        <a:lstStyle/>
        <a:p>
          <a:endParaRPr lang="zh-CN" altLang="en-US"/>
        </a:p>
      </dgm:t>
    </dgm:pt>
    <dgm:pt modelId="{358CAB3F-6F45-413B-A28E-E7A5D580FDF8}" type="sibTrans" cxnId="{2444E9F2-EEFC-4FDE-A1A5-773A690FCD99}">
      <dgm:prSet/>
      <dgm:spPr/>
      <dgm:t>
        <a:bodyPr/>
        <a:lstStyle/>
        <a:p>
          <a:endParaRPr lang="zh-CN" altLang="en-US"/>
        </a:p>
      </dgm:t>
    </dgm:pt>
    <dgm:pt modelId="{854A7D3E-C7E2-40B6-99D5-A6D8684A36A8}">
      <dgm:prSet/>
      <dgm:spPr/>
      <dgm:t>
        <a:bodyPr/>
        <a:lstStyle/>
        <a:p>
          <a:r>
            <a:rPr lang="zh-CN" altLang="en-US" sz="2800" dirty="0"/>
            <a:t>损失函数</a:t>
          </a:r>
          <a:endParaRPr lang="zh-TW" altLang="en-US" sz="2800" dirty="0"/>
        </a:p>
      </dgm:t>
    </dgm:pt>
    <dgm:pt modelId="{E2C9C274-FA30-427A-936A-05EA62464929}" type="parTrans" cxnId="{54045EA9-E1C2-4191-A908-F03A56174CBF}">
      <dgm:prSet/>
      <dgm:spPr/>
      <dgm:t>
        <a:bodyPr/>
        <a:lstStyle/>
        <a:p>
          <a:endParaRPr lang="zh-CN" altLang="en-US"/>
        </a:p>
      </dgm:t>
    </dgm:pt>
    <dgm:pt modelId="{8EAD3175-F7E4-4F81-B10F-5B52A5BCC1C8}" type="sibTrans" cxnId="{54045EA9-E1C2-4191-A908-F03A56174CBF}">
      <dgm:prSet/>
      <dgm:spPr/>
      <dgm:t>
        <a:bodyPr/>
        <a:lstStyle/>
        <a:p>
          <a:endParaRPr lang="zh-CN" altLang="en-US"/>
        </a:p>
      </dgm:t>
    </dgm:pt>
    <dgm:pt modelId="{8D04D858-8F20-4902-A6A2-A63AACE33B61}">
      <dgm:prSet/>
      <dgm:spPr/>
      <dgm:t>
        <a:bodyPr/>
        <a:lstStyle/>
        <a:p>
          <a:r>
            <a:rPr lang="zh-CN" altLang="en-US" sz="2800" dirty="0"/>
            <a:t>优化</a:t>
          </a:r>
          <a:endParaRPr lang="zh-TW" altLang="en-US" sz="2800" dirty="0"/>
        </a:p>
      </dgm:t>
    </dgm:pt>
    <dgm:pt modelId="{C723E8C3-242A-4E6E-AC85-5D7E41B4A677}" type="parTrans" cxnId="{DE8EB4F4-1C1B-4070-80FB-260E47B69A00}">
      <dgm:prSet/>
      <dgm:spPr/>
      <dgm:t>
        <a:bodyPr/>
        <a:lstStyle/>
        <a:p>
          <a:endParaRPr lang="zh-CN" altLang="en-US"/>
        </a:p>
      </dgm:t>
    </dgm:pt>
    <dgm:pt modelId="{49B7BD17-658F-45A2-8200-F2AD8B0B96D6}" type="sibTrans" cxnId="{DE8EB4F4-1C1B-4070-80FB-260E47B69A00}">
      <dgm:prSet/>
      <dgm:spPr/>
      <dgm:t>
        <a:bodyPr/>
        <a:lstStyle/>
        <a:p>
          <a:endParaRPr lang="zh-CN" altLang="en-US"/>
        </a:p>
      </dgm:t>
    </dgm:pt>
    <dgm:pt modelId="{A5E42E5A-1F14-444C-8D42-E6AA57977A47}" type="pres">
      <dgm:prSet presAssocID="{7ABBEAF7-C373-4176-BC82-DCCB6D5E3E26}" presName="theList" presStyleCnt="0">
        <dgm:presLayoutVars>
          <dgm:dir/>
          <dgm:animLvl val="lvl"/>
          <dgm:resizeHandles val="exact"/>
        </dgm:presLayoutVars>
      </dgm:prSet>
      <dgm:spPr/>
    </dgm:pt>
    <dgm:pt modelId="{49C10FD1-8373-4D80-8FE4-8C8DA1BC5B98}" type="pres">
      <dgm:prSet presAssocID="{801111EC-7761-4006-9B8D-BDD3478D6A0C}" presName="compNode" presStyleCnt="0"/>
      <dgm:spPr/>
    </dgm:pt>
    <dgm:pt modelId="{018F3831-3850-49DD-9A6B-D4223B9AB88A}" type="pres">
      <dgm:prSet presAssocID="{801111EC-7761-4006-9B8D-BDD3478D6A0C}" presName="noGeometry" presStyleCnt="0"/>
      <dgm:spPr/>
    </dgm:pt>
    <dgm:pt modelId="{B26D808F-7151-45D8-B910-A78C7EC5D375}" type="pres">
      <dgm:prSet presAssocID="{801111EC-7761-4006-9B8D-BDD3478D6A0C}" presName="childTextVisible" presStyleLbl="bgAccFollowNode1" presStyleIdx="0" presStyleCnt="3">
        <dgm:presLayoutVars>
          <dgm:bulletEnabled val="1"/>
        </dgm:presLayoutVars>
      </dgm:prSet>
      <dgm:spPr/>
    </dgm:pt>
    <dgm:pt modelId="{64FA673D-026D-4EF2-8FE1-D1290C6692DE}" type="pres">
      <dgm:prSet presAssocID="{801111EC-7761-4006-9B8D-BDD3478D6A0C}" presName="childTextHidden" presStyleLbl="bgAccFollowNode1" presStyleIdx="0" presStyleCnt="3"/>
      <dgm:spPr/>
    </dgm:pt>
    <dgm:pt modelId="{26507422-5EB3-4794-954B-10F5496864B4}" type="pres">
      <dgm:prSet presAssocID="{801111EC-7761-4006-9B8D-BDD3478D6A0C}" presName="parentText" presStyleLbl="node1" presStyleIdx="0" presStyleCnt="3">
        <dgm:presLayoutVars>
          <dgm:chMax val="1"/>
          <dgm:bulletEnabled val="1"/>
        </dgm:presLayoutVars>
      </dgm:prSet>
      <dgm:spPr/>
    </dgm:pt>
    <dgm:pt modelId="{F0AA544F-1805-4054-93CC-2107DC2D7D81}" type="pres">
      <dgm:prSet presAssocID="{801111EC-7761-4006-9B8D-BDD3478D6A0C}" presName="aSpace" presStyleCnt="0"/>
      <dgm:spPr/>
    </dgm:pt>
    <dgm:pt modelId="{0D0AD100-C8D5-475D-B652-CBFDAD990A70}" type="pres">
      <dgm:prSet presAssocID="{380F6D09-15D5-4E2B-BF8A-CECE4B7C4A20}" presName="compNode" presStyleCnt="0"/>
      <dgm:spPr/>
    </dgm:pt>
    <dgm:pt modelId="{CE668467-9A71-48D5-9668-F140D20EF8F9}" type="pres">
      <dgm:prSet presAssocID="{380F6D09-15D5-4E2B-BF8A-CECE4B7C4A20}" presName="noGeometry" presStyleCnt="0"/>
      <dgm:spPr/>
    </dgm:pt>
    <dgm:pt modelId="{63BF4F9E-DFD3-4F32-BB83-EDA34B3186AB}" type="pres">
      <dgm:prSet presAssocID="{380F6D09-15D5-4E2B-BF8A-CECE4B7C4A20}" presName="childTextVisible" presStyleLbl="bgAccFollowNode1" presStyleIdx="1" presStyleCnt="3">
        <dgm:presLayoutVars>
          <dgm:bulletEnabled val="1"/>
        </dgm:presLayoutVars>
      </dgm:prSet>
      <dgm:spPr/>
    </dgm:pt>
    <dgm:pt modelId="{56FD2A42-E9D7-4817-8A00-A6180A37758A}" type="pres">
      <dgm:prSet presAssocID="{380F6D09-15D5-4E2B-BF8A-CECE4B7C4A20}" presName="childTextHidden" presStyleLbl="bgAccFollowNode1" presStyleIdx="1" presStyleCnt="3"/>
      <dgm:spPr/>
    </dgm:pt>
    <dgm:pt modelId="{BD20842E-DDAC-4D2A-81A6-5E7B3DC6A9BA}" type="pres">
      <dgm:prSet presAssocID="{380F6D09-15D5-4E2B-BF8A-CECE4B7C4A20}" presName="parentText" presStyleLbl="node1" presStyleIdx="1" presStyleCnt="3">
        <dgm:presLayoutVars>
          <dgm:chMax val="1"/>
          <dgm:bulletEnabled val="1"/>
        </dgm:presLayoutVars>
      </dgm:prSet>
      <dgm:spPr/>
    </dgm:pt>
    <dgm:pt modelId="{D1551DF3-10EE-4460-8C6B-8F66703DA7F7}" type="pres">
      <dgm:prSet presAssocID="{380F6D09-15D5-4E2B-BF8A-CECE4B7C4A20}" presName="aSpace" presStyleCnt="0"/>
      <dgm:spPr/>
    </dgm:pt>
    <dgm:pt modelId="{20F60610-F71F-4DA0-8D4B-245E93FB2FAA}" type="pres">
      <dgm:prSet presAssocID="{680F7195-4FD3-481E-8A2B-5AD54C8280AB}" presName="compNode" presStyleCnt="0"/>
      <dgm:spPr/>
    </dgm:pt>
    <dgm:pt modelId="{6E8193CF-467D-424C-881E-873B8B07C5A2}" type="pres">
      <dgm:prSet presAssocID="{680F7195-4FD3-481E-8A2B-5AD54C8280AB}" presName="noGeometry" presStyleCnt="0"/>
      <dgm:spPr/>
    </dgm:pt>
    <dgm:pt modelId="{25708548-ACE5-456A-9BB2-8335CF56201B}" type="pres">
      <dgm:prSet presAssocID="{680F7195-4FD3-481E-8A2B-5AD54C8280AB}" presName="childTextVisible" presStyleLbl="bgAccFollowNode1" presStyleIdx="2" presStyleCnt="3">
        <dgm:presLayoutVars>
          <dgm:bulletEnabled val="1"/>
        </dgm:presLayoutVars>
      </dgm:prSet>
      <dgm:spPr/>
    </dgm:pt>
    <dgm:pt modelId="{6CD1B83E-A39D-4414-BCC7-A9116F1953AE}" type="pres">
      <dgm:prSet presAssocID="{680F7195-4FD3-481E-8A2B-5AD54C8280AB}" presName="childTextHidden" presStyleLbl="bgAccFollowNode1" presStyleIdx="2" presStyleCnt="3"/>
      <dgm:spPr/>
    </dgm:pt>
    <dgm:pt modelId="{51AD05C7-9BB6-4F43-AAA2-1D0412419A6C}" type="pres">
      <dgm:prSet presAssocID="{680F7195-4FD3-481E-8A2B-5AD54C8280AB}" presName="parentText" presStyleLbl="node1" presStyleIdx="2" presStyleCnt="3">
        <dgm:presLayoutVars>
          <dgm:chMax val="1"/>
          <dgm:bulletEnabled val="1"/>
        </dgm:presLayoutVars>
      </dgm:prSet>
      <dgm:spPr/>
    </dgm:pt>
  </dgm:ptLst>
  <dgm:cxnLst>
    <dgm:cxn modelId="{7021B101-6AE5-4EA4-923F-149909DC3C09}" srcId="{7ABBEAF7-C373-4176-BC82-DCCB6D5E3E26}" destId="{801111EC-7761-4006-9B8D-BDD3478D6A0C}" srcOrd="0" destOrd="0" parTransId="{741192AF-66D8-44B3-8D71-D609A9576CFF}" sibTransId="{E857221A-734F-4396-A642-04F985B7D590}"/>
    <dgm:cxn modelId="{ABC9680F-BC80-4FAE-BF94-0E90F34E4838}" type="presOf" srcId="{380F6D09-15D5-4E2B-BF8A-CECE4B7C4A20}" destId="{BD20842E-DDAC-4D2A-81A6-5E7B3DC6A9BA}" srcOrd="0" destOrd="0" presId="urn:microsoft.com/office/officeart/2005/8/layout/hProcess6"/>
    <dgm:cxn modelId="{817FAE28-7A67-410A-8AAA-0D47EE688E3B}" type="presOf" srcId="{8D04D858-8F20-4902-A6A2-A63AACE33B61}" destId="{25708548-ACE5-456A-9BB2-8335CF56201B}" srcOrd="0" destOrd="0" presId="urn:microsoft.com/office/officeart/2005/8/layout/hProcess6"/>
    <dgm:cxn modelId="{3796133B-9324-48E1-895B-CB33B607472F}" srcId="{7ABBEAF7-C373-4176-BC82-DCCB6D5E3E26}" destId="{680F7195-4FD3-481E-8A2B-5AD54C8280AB}" srcOrd="2" destOrd="0" parTransId="{E0770B27-10B9-4E3F-A134-B86908A61FFE}" sibTransId="{382B596D-4079-47F6-BAC4-80EDB1CFB95D}"/>
    <dgm:cxn modelId="{AEB5C264-9299-433C-ADC7-E08F9F77A7D3}" type="presOf" srcId="{7ABBEAF7-C373-4176-BC82-DCCB6D5E3E26}" destId="{A5E42E5A-1F14-444C-8D42-E6AA57977A47}" srcOrd="0" destOrd="0" presId="urn:microsoft.com/office/officeart/2005/8/layout/hProcess6"/>
    <dgm:cxn modelId="{0E020966-40CD-4C1C-8889-E10C2A492ED5}" type="presOf" srcId="{680F7195-4FD3-481E-8A2B-5AD54C8280AB}" destId="{51AD05C7-9BB6-4F43-AAA2-1D0412419A6C}" srcOrd="0" destOrd="0" presId="urn:microsoft.com/office/officeart/2005/8/layout/hProcess6"/>
    <dgm:cxn modelId="{979AB58B-F601-4A02-9211-A25BA7A6DA75}" type="presOf" srcId="{97C498C3-B6DD-4290-809A-7F41DCC94602}" destId="{64FA673D-026D-4EF2-8FE1-D1290C6692DE}" srcOrd="1" destOrd="0" presId="urn:microsoft.com/office/officeart/2005/8/layout/hProcess6"/>
    <dgm:cxn modelId="{7DBA789E-FBE8-47EE-B779-737798DB8CF2}" srcId="{7ABBEAF7-C373-4176-BC82-DCCB6D5E3E26}" destId="{380F6D09-15D5-4E2B-BF8A-CECE4B7C4A20}" srcOrd="1" destOrd="0" parTransId="{35DF94FE-4269-42A8-B274-51E32D4D5D54}" sibTransId="{D60C5607-81DE-4CC8-91B3-C56E5666A49F}"/>
    <dgm:cxn modelId="{8B90B3A2-4D2C-4FEB-9F35-4639FF461F9B}" type="presOf" srcId="{8D04D858-8F20-4902-A6A2-A63AACE33B61}" destId="{6CD1B83E-A39D-4414-BCC7-A9116F1953AE}" srcOrd="1" destOrd="0" presId="urn:microsoft.com/office/officeart/2005/8/layout/hProcess6"/>
    <dgm:cxn modelId="{54045EA9-E1C2-4191-A908-F03A56174CBF}" srcId="{380F6D09-15D5-4E2B-BF8A-CECE4B7C4A20}" destId="{854A7D3E-C7E2-40B6-99D5-A6D8684A36A8}" srcOrd="0" destOrd="0" parTransId="{E2C9C274-FA30-427A-936A-05EA62464929}" sibTransId="{8EAD3175-F7E4-4F81-B10F-5B52A5BCC1C8}"/>
    <dgm:cxn modelId="{BCFC2FBE-7595-4511-99E4-2BAE50FB7AE8}" type="presOf" srcId="{801111EC-7761-4006-9B8D-BDD3478D6A0C}" destId="{26507422-5EB3-4794-954B-10F5496864B4}" srcOrd="0" destOrd="0" presId="urn:microsoft.com/office/officeart/2005/8/layout/hProcess6"/>
    <dgm:cxn modelId="{8D26CED0-6985-4AB1-A4FC-D1124A811014}" type="presOf" srcId="{854A7D3E-C7E2-40B6-99D5-A6D8684A36A8}" destId="{56FD2A42-E9D7-4817-8A00-A6180A37758A}" srcOrd="1" destOrd="0" presId="urn:microsoft.com/office/officeart/2005/8/layout/hProcess6"/>
    <dgm:cxn modelId="{231DC6DA-A416-4900-BE47-9E2689E7661F}" type="presOf" srcId="{854A7D3E-C7E2-40B6-99D5-A6D8684A36A8}" destId="{63BF4F9E-DFD3-4F32-BB83-EDA34B3186AB}" srcOrd="0" destOrd="0" presId="urn:microsoft.com/office/officeart/2005/8/layout/hProcess6"/>
    <dgm:cxn modelId="{F6632FE9-3F07-4AC2-A8FC-AECA14EA9AEC}" type="presOf" srcId="{97C498C3-B6DD-4290-809A-7F41DCC94602}" destId="{B26D808F-7151-45D8-B910-A78C7EC5D375}" srcOrd="0" destOrd="0" presId="urn:microsoft.com/office/officeart/2005/8/layout/hProcess6"/>
    <dgm:cxn modelId="{2444E9F2-EEFC-4FDE-A1A5-773A690FCD99}" srcId="{801111EC-7761-4006-9B8D-BDD3478D6A0C}" destId="{97C498C3-B6DD-4290-809A-7F41DCC94602}" srcOrd="0" destOrd="0" parTransId="{6314B85C-C1B5-4C04-BF45-32703679BBBA}" sibTransId="{358CAB3F-6F45-413B-A28E-E7A5D580FDF8}"/>
    <dgm:cxn modelId="{DE8EB4F4-1C1B-4070-80FB-260E47B69A00}" srcId="{680F7195-4FD3-481E-8A2B-5AD54C8280AB}" destId="{8D04D858-8F20-4902-A6A2-A63AACE33B61}" srcOrd="0" destOrd="0" parTransId="{C723E8C3-242A-4E6E-AC85-5D7E41B4A677}" sibTransId="{49B7BD17-658F-45A2-8200-F2AD8B0B96D6}"/>
    <dgm:cxn modelId="{AA1D2459-77EE-473C-A8A3-AACB744037F8}" type="presParOf" srcId="{A5E42E5A-1F14-444C-8D42-E6AA57977A47}" destId="{49C10FD1-8373-4D80-8FE4-8C8DA1BC5B98}" srcOrd="0" destOrd="0" presId="urn:microsoft.com/office/officeart/2005/8/layout/hProcess6"/>
    <dgm:cxn modelId="{3EF0E65D-F70D-4574-898A-FAB35A7241BB}" type="presParOf" srcId="{49C10FD1-8373-4D80-8FE4-8C8DA1BC5B98}" destId="{018F3831-3850-49DD-9A6B-D4223B9AB88A}" srcOrd="0" destOrd="0" presId="urn:microsoft.com/office/officeart/2005/8/layout/hProcess6"/>
    <dgm:cxn modelId="{644C4DEE-C54E-4D19-BB65-1A66748451A0}" type="presParOf" srcId="{49C10FD1-8373-4D80-8FE4-8C8DA1BC5B98}" destId="{B26D808F-7151-45D8-B910-A78C7EC5D375}" srcOrd="1" destOrd="0" presId="urn:microsoft.com/office/officeart/2005/8/layout/hProcess6"/>
    <dgm:cxn modelId="{E80B246F-0B37-4183-B1B6-CC86C4B7042E}" type="presParOf" srcId="{49C10FD1-8373-4D80-8FE4-8C8DA1BC5B98}" destId="{64FA673D-026D-4EF2-8FE1-D1290C6692DE}" srcOrd="2" destOrd="0" presId="urn:microsoft.com/office/officeart/2005/8/layout/hProcess6"/>
    <dgm:cxn modelId="{B4C77B1B-350C-4E68-B162-52369279C6B0}" type="presParOf" srcId="{49C10FD1-8373-4D80-8FE4-8C8DA1BC5B98}" destId="{26507422-5EB3-4794-954B-10F5496864B4}" srcOrd="3" destOrd="0" presId="urn:microsoft.com/office/officeart/2005/8/layout/hProcess6"/>
    <dgm:cxn modelId="{F80345AE-8336-4DD6-B77F-A20096D6CBDE}" type="presParOf" srcId="{A5E42E5A-1F14-444C-8D42-E6AA57977A47}" destId="{F0AA544F-1805-4054-93CC-2107DC2D7D81}" srcOrd="1" destOrd="0" presId="urn:microsoft.com/office/officeart/2005/8/layout/hProcess6"/>
    <dgm:cxn modelId="{370D3E7F-5909-450E-A469-251F9713CEF0}" type="presParOf" srcId="{A5E42E5A-1F14-444C-8D42-E6AA57977A47}" destId="{0D0AD100-C8D5-475D-B652-CBFDAD990A70}" srcOrd="2" destOrd="0" presId="urn:microsoft.com/office/officeart/2005/8/layout/hProcess6"/>
    <dgm:cxn modelId="{F207BE1E-4804-43D6-B165-2D5BD97ED51B}" type="presParOf" srcId="{0D0AD100-C8D5-475D-B652-CBFDAD990A70}" destId="{CE668467-9A71-48D5-9668-F140D20EF8F9}" srcOrd="0" destOrd="0" presId="urn:microsoft.com/office/officeart/2005/8/layout/hProcess6"/>
    <dgm:cxn modelId="{750D83BC-0DB0-4244-9572-CBEFF7411267}" type="presParOf" srcId="{0D0AD100-C8D5-475D-B652-CBFDAD990A70}" destId="{63BF4F9E-DFD3-4F32-BB83-EDA34B3186AB}" srcOrd="1" destOrd="0" presId="urn:microsoft.com/office/officeart/2005/8/layout/hProcess6"/>
    <dgm:cxn modelId="{05EEFB4E-54A5-4C3A-A198-D94550657B06}" type="presParOf" srcId="{0D0AD100-C8D5-475D-B652-CBFDAD990A70}" destId="{56FD2A42-E9D7-4817-8A00-A6180A37758A}" srcOrd="2" destOrd="0" presId="urn:microsoft.com/office/officeart/2005/8/layout/hProcess6"/>
    <dgm:cxn modelId="{4D99AA0E-3B0B-4593-A928-79A60E3C9749}" type="presParOf" srcId="{0D0AD100-C8D5-475D-B652-CBFDAD990A70}" destId="{BD20842E-DDAC-4D2A-81A6-5E7B3DC6A9BA}" srcOrd="3" destOrd="0" presId="urn:microsoft.com/office/officeart/2005/8/layout/hProcess6"/>
    <dgm:cxn modelId="{B0DB9CC0-0439-462B-B2F9-61B3441CA20D}" type="presParOf" srcId="{A5E42E5A-1F14-444C-8D42-E6AA57977A47}" destId="{D1551DF3-10EE-4460-8C6B-8F66703DA7F7}" srcOrd="3" destOrd="0" presId="urn:microsoft.com/office/officeart/2005/8/layout/hProcess6"/>
    <dgm:cxn modelId="{5FDF3D4C-B231-4E7A-A119-4B45671099AB}" type="presParOf" srcId="{A5E42E5A-1F14-444C-8D42-E6AA57977A47}" destId="{20F60610-F71F-4DA0-8D4B-245E93FB2FAA}" srcOrd="4" destOrd="0" presId="urn:microsoft.com/office/officeart/2005/8/layout/hProcess6"/>
    <dgm:cxn modelId="{7C247BCC-2625-494C-BA9B-6210F4C9F835}" type="presParOf" srcId="{20F60610-F71F-4DA0-8D4B-245E93FB2FAA}" destId="{6E8193CF-467D-424C-881E-873B8B07C5A2}" srcOrd="0" destOrd="0" presId="urn:microsoft.com/office/officeart/2005/8/layout/hProcess6"/>
    <dgm:cxn modelId="{D288E975-4E94-4CA4-A6ED-43509FC63ABD}" type="presParOf" srcId="{20F60610-F71F-4DA0-8D4B-245E93FB2FAA}" destId="{25708548-ACE5-456A-9BB2-8335CF56201B}" srcOrd="1" destOrd="0" presId="urn:microsoft.com/office/officeart/2005/8/layout/hProcess6"/>
    <dgm:cxn modelId="{02F297B2-636E-4E2E-B7B5-4A8E1C4946F5}" type="presParOf" srcId="{20F60610-F71F-4DA0-8D4B-245E93FB2FAA}" destId="{6CD1B83E-A39D-4414-BCC7-A9116F1953AE}" srcOrd="2" destOrd="0" presId="urn:microsoft.com/office/officeart/2005/8/layout/hProcess6"/>
    <dgm:cxn modelId="{63FC23D5-166A-4992-B233-27BD6A706EE3}" type="presParOf" srcId="{20F60610-F71F-4DA0-8D4B-245E93FB2FAA}" destId="{51AD05C7-9BB6-4F43-AAA2-1D0412419A6C}" srcOrd="3" destOrd="0" presId="urn:microsoft.com/office/officeart/2005/8/layout/hProcess6"/>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6D808F-7151-45D8-B910-A78C7EC5D375}">
      <dsp:nvSpPr>
        <dsp:cNvPr id="0" name=""/>
        <dsp:cNvSpPr/>
      </dsp:nvSpPr>
      <dsp:spPr>
        <a:xfrm>
          <a:off x="422893" y="1018040"/>
          <a:ext cx="1678855" cy="1467531"/>
        </a:xfrm>
        <a:prstGeom prst="rightArrow">
          <a:avLst>
            <a:gd name="adj1" fmla="val 70000"/>
            <a:gd name="adj2" fmla="val 50000"/>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accent4">
              <a:tint val="40000"/>
              <a:alpha val="90000"/>
              <a:hueOff val="0"/>
              <a:satOff val="0"/>
              <a:lumOff val="0"/>
              <a:alphaOff val="0"/>
              <a:tint val="100000"/>
              <a:shade val="100000"/>
              <a:hueMod val="100000"/>
              <a:satMod val="100000"/>
            </a:schemeClr>
          </a:contourClr>
        </a:sp3d>
      </dsp:spPr>
      <dsp:style>
        <a:lnRef idx="1">
          <a:scrgbClr r="0" g="0" b="0"/>
        </a:lnRef>
        <a:fillRef idx="1">
          <a:scrgbClr r="0" g="0" b="0"/>
        </a:fillRef>
        <a:effectRef idx="2">
          <a:scrgbClr r="0" g="0" b="0"/>
        </a:effectRef>
        <a:fontRef idx="minor"/>
      </dsp:style>
      <dsp:txBody>
        <a:bodyPr spcFirstLastPara="0" vert="horz" wrap="square" lIns="71120" tIns="17780" rIns="35560" bIns="177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t>定义网络</a:t>
          </a:r>
          <a:endParaRPr lang="zh-TW" altLang="en-US" sz="2800" kern="1200" dirty="0"/>
        </a:p>
      </dsp:txBody>
      <dsp:txXfrm>
        <a:off x="842607" y="1238170"/>
        <a:ext cx="818442" cy="1027271"/>
      </dsp:txXfrm>
    </dsp:sp>
    <dsp:sp modelId="{26507422-5EB3-4794-954B-10F5496864B4}">
      <dsp:nvSpPr>
        <dsp:cNvPr id="0" name=""/>
        <dsp:cNvSpPr/>
      </dsp:nvSpPr>
      <dsp:spPr>
        <a:xfrm>
          <a:off x="3179" y="1332092"/>
          <a:ext cx="839427" cy="839427"/>
        </a:xfrm>
        <a:prstGeom prst="ellipse">
          <a:avLst/>
        </a:prstGeom>
        <a:gradFill rotWithShape="0">
          <a:gsLst>
            <a:gs pos="0">
              <a:schemeClr val="accent4">
                <a:hueOff val="0"/>
                <a:satOff val="0"/>
                <a:lumOff val="0"/>
                <a:alphaOff val="0"/>
                <a:shade val="63000"/>
              </a:schemeClr>
            </a:gs>
            <a:gs pos="30000">
              <a:schemeClr val="accent4">
                <a:hueOff val="0"/>
                <a:satOff val="0"/>
                <a:lumOff val="0"/>
                <a:alphaOff val="0"/>
                <a:shade val="90000"/>
                <a:satMod val="110000"/>
              </a:schemeClr>
            </a:gs>
            <a:gs pos="45000">
              <a:schemeClr val="accent4">
                <a:hueOff val="0"/>
                <a:satOff val="0"/>
                <a:lumOff val="0"/>
                <a:alphaOff val="0"/>
                <a:shade val="100000"/>
                <a:satMod val="118000"/>
              </a:schemeClr>
            </a:gs>
            <a:gs pos="55000">
              <a:schemeClr val="accent4">
                <a:hueOff val="0"/>
                <a:satOff val="0"/>
                <a:lumOff val="0"/>
                <a:alphaOff val="0"/>
                <a:shade val="100000"/>
                <a:satMod val="118000"/>
              </a:schemeClr>
            </a:gs>
            <a:gs pos="73000">
              <a:schemeClr val="accent4">
                <a:hueOff val="0"/>
                <a:satOff val="0"/>
                <a:lumOff val="0"/>
                <a:alphaOff val="0"/>
                <a:shade val="90000"/>
                <a:satMod val="110000"/>
              </a:schemeClr>
            </a:gs>
            <a:gs pos="100000">
              <a:schemeClr val="accent4">
                <a:hueOff val="0"/>
                <a:satOff val="0"/>
                <a:lumOff val="0"/>
                <a:alphaOff val="0"/>
                <a:shade val="63000"/>
              </a:schemeClr>
            </a:gs>
          </a:gsLst>
          <a:lin ang="950000" scaled="1"/>
        </a:gradFill>
        <a:ln>
          <a:noFill/>
        </a:ln>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accent4">
              <a:hueOff val="0"/>
              <a:satOff val="0"/>
              <a:lumOff val="0"/>
              <a:alphaOff val="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altLang="zh-TW" sz="2800" kern="1200" dirty="0"/>
            <a:t>1</a:t>
          </a:r>
          <a:endParaRPr lang="zh-TW" altLang="en-US" sz="2800" kern="1200" dirty="0"/>
        </a:p>
      </dsp:txBody>
      <dsp:txXfrm>
        <a:off x="126110" y="1455023"/>
        <a:ext cx="593565" cy="593565"/>
      </dsp:txXfrm>
    </dsp:sp>
    <dsp:sp modelId="{63BF4F9E-DFD3-4F32-BB83-EDA34B3186AB}">
      <dsp:nvSpPr>
        <dsp:cNvPr id="0" name=""/>
        <dsp:cNvSpPr/>
      </dsp:nvSpPr>
      <dsp:spPr>
        <a:xfrm>
          <a:off x="2626391" y="1018040"/>
          <a:ext cx="1678855" cy="1467531"/>
        </a:xfrm>
        <a:prstGeom prst="rightArrow">
          <a:avLst>
            <a:gd name="adj1" fmla="val 70000"/>
            <a:gd name="adj2" fmla="val 50000"/>
          </a:avLst>
        </a:prstGeom>
        <a:solidFill>
          <a:schemeClr val="accent4">
            <a:tint val="40000"/>
            <a:alpha val="90000"/>
            <a:hueOff val="420344"/>
            <a:satOff val="-6182"/>
            <a:lumOff val="-677"/>
            <a:alphaOff val="0"/>
          </a:schemeClr>
        </a:solidFill>
        <a:ln w="9525" cap="flat" cmpd="sng" algn="ctr">
          <a:solidFill>
            <a:schemeClr val="accent4">
              <a:tint val="40000"/>
              <a:alpha val="90000"/>
              <a:hueOff val="420344"/>
              <a:satOff val="-6182"/>
              <a:lumOff val="-677"/>
              <a:alphaOff val="0"/>
            </a:schemeClr>
          </a:solidFill>
          <a:prstDash val="solid"/>
        </a:ln>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accent4">
              <a:tint val="40000"/>
              <a:alpha val="90000"/>
              <a:hueOff val="420344"/>
              <a:satOff val="-6182"/>
              <a:lumOff val="-677"/>
              <a:alphaOff val="0"/>
              <a:tint val="100000"/>
              <a:shade val="100000"/>
              <a:hueMod val="100000"/>
              <a:satMod val="100000"/>
            </a:schemeClr>
          </a:contourClr>
        </a:sp3d>
      </dsp:spPr>
      <dsp:style>
        <a:lnRef idx="1">
          <a:scrgbClr r="0" g="0" b="0"/>
        </a:lnRef>
        <a:fillRef idx="1">
          <a:scrgbClr r="0" g="0" b="0"/>
        </a:fillRef>
        <a:effectRef idx="2">
          <a:scrgbClr r="0" g="0" b="0"/>
        </a:effectRef>
        <a:fontRef idx="minor"/>
      </dsp:style>
      <dsp:txBody>
        <a:bodyPr spcFirstLastPara="0" vert="horz" wrap="square" lIns="71120" tIns="17780" rIns="35560" bIns="177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t>损失函数</a:t>
          </a:r>
          <a:endParaRPr lang="zh-TW" altLang="en-US" sz="2800" kern="1200" dirty="0"/>
        </a:p>
      </dsp:txBody>
      <dsp:txXfrm>
        <a:off x="3046105" y="1238170"/>
        <a:ext cx="818442" cy="1027271"/>
      </dsp:txXfrm>
    </dsp:sp>
    <dsp:sp modelId="{BD20842E-DDAC-4D2A-81A6-5E7B3DC6A9BA}">
      <dsp:nvSpPr>
        <dsp:cNvPr id="0" name=""/>
        <dsp:cNvSpPr/>
      </dsp:nvSpPr>
      <dsp:spPr>
        <a:xfrm>
          <a:off x="2206677" y="1332092"/>
          <a:ext cx="839427" cy="839427"/>
        </a:xfrm>
        <a:prstGeom prst="ellipse">
          <a:avLst/>
        </a:prstGeom>
        <a:gradFill rotWithShape="0">
          <a:gsLst>
            <a:gs pos="0">
              <a:schemeClr val="accent4">
                <a:hueOff val="609019"/>
                <a:satOff val="-10536"/>
                <a:lumOff val="-2255"/>
                <a:alphaOff val="0"/>
                <a:shade val="63000"/>
              </a:schemeClr>
            </a:gs>
            <a:gs pos="30000">
              <a:schemeClr val="accent4">
                <a:hueOff val="609019"/>
                <a:satOff val="-10536"/>
                <a:lumOff val="-2255"/>
                <a:alphaOff val="0"/>
                <a:shade val="90000"/>
                <a:satMod val="110000"/>
              </a:schemeClr>
            </a:gs>
            <a:gs pos="45000">
              <a:schemeClr val="accent4">
                <a:hueOff val="609019"/>
                <a:satOff val="-10536"/>
                <a:lumOff val="-2255"/>
                <a:alphaOff val="0"/>
                <a:shade val="100000"/>
                <a:satMod val="118000"/>
              </a:schemeClr>
            </a:gs>
            <a:gs pos="55000">
              <a:schemeClr val="accent4">
                <a:hueOff val="609019"/>
                <a:satOff val="-10536"/>
                <a:lumOff val="-2255"/>
                <a:alphaOff val="0"/>
                <a:shade val="100000"/>
                <a:satMod val="118000"/>
              </a:schemeClr>
            </a:gs>
            <a:gs pos="73000">
              <a:schemeClr val="accent4">
                <a:hueOff val="609019"/>
                <a:satOff val="-10536"/>
                <a:lumOff val="-2255"/>
                <a:alphaOff val="0"/>
                <a:shade val="90000"/>
                <a:satMod val="110000"/>
              </a:schemeClr>
            </a:gs>
            <a:gs pos="100000">
              <a:schemeClr val="accent4">
                <a:hueOff val="609019"/>
                <a:satOff val="-10536"/>
                <a:lumOff val="-2255"/>
                <a:alphaOff val="0"/>
                <a:shade val="63000"/>
              </a:schemeClr>
            </a:gs>
          </a:gsLst>
          <a:lin ang="950000" scaled="1"/>
        </a:gradFill>
        <a:ln>
          <a:noFill/>
        </a:ln>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accent4">
              <a:hueOff val="609019"/>
              <a:satOff val="-10536"/>
              <a:lumOff val="-2255"/>
              <a:alphaOff val="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altLang="zh-TW" sz="2800" kern="1200" dirty="0"/>
            <a:t>2</a:t>
          </a:r>
          <a:endParaRPr lang="zh-TW" altLang="en-US" sz="2800" kern="1200" dirty="0"/>
        </a:p>
      </dsp:txBody>
      <dsp:txXfrm>
        <a:off x="2329608" y="1455023"/>
        <a:ext cx="593565" cy="593565"/>
      </dsp:txXfrm>
    </dsp:sp>
    <dsp:sp modelId="{25708548-ACE5-456A-9BB2-8335CF56201B}">
      <dsp:nvSpPr>
        <dsp:cNvPr id="0" name=""/>
        <dsp:cNvSpPr/>
      </dsp:nvSpPr>
      <dsp:spPr>
        <a:xfrm>
          <a:off x="4829889" y="1018040"/>
          <a:ext cx="1678855" cy="1467531"/>
        </a:xfrm>
        <a:prstGeom prst="rightArrow">
          <a:avLst>
            <a:gd name="adj1" fmla="val 70000"/>
            <a:gd name="adj2" fmla="val 50000"/>
          </a:avLst>
        </a:prstGeom>
        <a:solidFill>
          <a:schemeClr val="accent4">
            <a:tint val="40000"/>
            <a:alpha val="90000"/>
            <a:hueOff val="840688"/>
            <a:satOff val="-12365"/>
            <a:lumOff val="-1354"/>
            <a:alphaOff val="0"/>
          </a:schemeClr>
        </a:solidFill>
        <a:ln w="9525" cap="flat" cmpd="sng" algn="ctr">
          <a:solidFill>
            <a:schemeClr val="accent4">
              <a:tint val="40000"/>
              <a:alpha val="90000"/>
              <a:hueOff val="840688"/>
              <a:satOff val="-12365"/>
              <a:lumOff val="-1354"/>
              <a:alphaOff val="0"/>
            </a:schemeClr>
          </a:solidFill>
          <a:prstDash val="solid"/>
        </a:ln>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accent4">
              <a:tint val="40000"/>
              <a:alpha val="90000"/>
              <a:hueOff val="840688"/>
              <a:satOff val="-12365"/>
              <a:lumOff val="-1354"/>
              <a:alphaOff val="0"/>
              <a:tint val="100000"/>
              <a:shade val="100000"/>
              <a:hueMod val="100000"/>
              <a:satMod val="100000"/>
            </a:schemeClr>
          </a:contourClr>
        </a:sp3d>
      </dsp:spPr>
      <dsp:style>
        <a:lnRef idx="1">
          <a:scrgbClr r="0" g="0" b="0"/>
        </a:lnRef>
        <a:fillRef idx="1">
          <a:scrgbClr r="0" g="0" b="0"/>
        </a:fillRef>
        <a:effectRef idx="2">
          <a:scrgbClr r="0" g="0" b="0"/>
        </a:effectRef>
        <a:fontRef idx="minor"/>
      </dsp:style>
      <dsp:txBody>
        <a:bodyPr spcFirstLastPara="0" vert="horz" wrap="square" lIns="71120" tIns="17780" rIns="35560" bIns="177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t>优化</a:t>
          </a:r>
          <a:endParaRPr lang="zh-TW" altLang="en-US" sz="2800" kern="1200" dirty="0"/>
        </a:p>
      </dsp:txBody>
      <dsp:txXfrm>
        <a:off x="5249603" y="1238170"/>
        <a:ext cx="818442" cy="1027271"/>
      </dsp:txXfrm>
    </dsp:sp>
    <dsp:sp modelId="{51AD05C7-9BB6-4F43-AAA2-1D0412419A6C}">
      <dsp:nvSpPr>
        <dsp:cNvPr id="0" name=""/>
        <dsp:cNvSpPr/>
      </dsp:nvSpPr>
      <dsp:spPr>
        <a:xfrm>
          <a:off x="4410175" y="1332092"/>
          <a:ext cx="839427" cy="839427"/>
        </a:xfrm>
        <a:prstGeom prst="ellipse">
          <a:avLst/>
        </a:prstGeom>
        <a:gradFill rotWithShape="0">
          <a:gsLst>
            <a:gs pos="0">
              <a:schemeClr val="accent4">
                <a:hueOff val="1218038"/>
                <a:satOff val="-21072"/>
                <a:lumOff val="-4510"/>
                <a:alphaOff val="0"/>
                <a:shade val="63000"/>
              </a:schemeClr>
            </a:gs>
            <a:gs pos="30000">
              <a:schemeClr val="accent4">
                <a:hueOff val="1218038"/>
                <a:satOff val="-21072"/>
                <a:lumOff val="-4510"/>
                <a:alphaOff val="0"/>
                <a:shade val="90000"/>
                <a:satMod val="110000"/>
              </a:schemeClr>
            </a:gs>
            <a:gs pos="45000">
              <a:schemeClr val="accent4">
                <a:hueOff val="1218038"/>
                <a:satOff val="-21072"/>
                <a:lumOff val="-4510"/>
                <a:alphaOff val="0"/>
                <a:shade val="100000"/>
                <a:satMod val="118000"/>
              </a:schemeClr>
            </a:gs>
            <a:gs pos="55000">
              <a:schemeClr val="accent4">
                <a:hueOff val="1218038"/>
                <a:satOff val="-21072"/>
                <a:lumOff val="-4510"/>
                <a:alphaOff val="0"/>
                <a:shade val="100000"/>
                <a:satMod val="118000"/>
              </a:schemeClr>
            </a:gs>
            <a:gs pos="73000">
              <a:schemeClr val="accent4">
                <a:hueOff val="1218038"/>
                <a:satOff val="-21072"/>
                <a:lumOff val="-4510"/>
                <a:alphaOff val="0"/>
                <a:shade val="90000"/>
                <a:satMod val="110000"/>
              </a:schemeClr>
            </a:gs>
            <a:gs pos="100000">
              <a:schemeClr val="accent4">
                <a:hueOff val="1218038"/>
                <a:satOff val="-21072"/>
                <a:lumOff val="-4510"/>
                <a:alphaOff val="0"/>
                <a:shade val="63000"/>
              </a:schemeClr>
            </a:gs>
          </a:gsLst>
          <a:lin ang="950000" scaled="1"/>
        </a:gradFill>
        <a:ln>
          <a:noFill/>
        </a:ln>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accent4">
              <a:hueOff val="1218038"/>
              <a:satOff val="-21072"/>
              <a:lumOff val="-4510"/>
              <a:alphaOff val="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altLang="zh-TW" sz="2800" kern="1200" dirty="0"/>
            <a:t>3</a:t>
          </a:r>
          <a:endParaRPr lang="zh-TW" altLang="en-US" sz="2800" kern="1200" dirty="0"/>
        </a:p>
      </dsp:txBody>
      <dsp:txXfrm>
        <a:off x="4533106" y="1455023"/>
        <a:ext cx="593565" cy="593565"/>
      </dsp:txXfrm>
    </dsp:sp>
  </dsp:spTree>
</dsp:drawing>
</file>

<file path=ppt/diagrams/layout1.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6.wmf"/></Relationships>
</file>

<file path=ppt/ink/ink1.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22T14:38:01.536"/>
    </inkml:context>
    <inkml:brush xml:id="br0">
      <inkml:brushProperty name="width" value="0.05292" units="cm"/>
      <inkml:brushProperty name="height" value="0.05292" units="cm"/>
      <inkml:brushProperty name="color" value="#FF0000"/>
    </inkml:brush>
  </inkml:definitions>
  <inkml:trace contextRef="#ctx0" brushRef="#br0">27454 2085 403 0,'0'0'36'3,"0"-10"-36"-3,0 3 0 0,0-7 0 0,0 0 121 1,-4 7 18 3,0-4 3-4,4 8 1 10,0-1-83-10,0-6-16 136,0 10-3-136,0 0-1 0,4-4-25 0,-4 1-6 0,-4 3-1 0,4-11 0 1,0 11 0-1,0 0 0 0,0 0 0 0,0 0 0 0,0 0-19 0,0 0-4 0,0 0-1 0,0 0 0 0</inkml:trace>
  <inkml:trace contextRef="#ctx0" brushRef="#br0" timeOffset="1644">27351 1886 633 0,'0'0'56'2,"-11"-10"-44"-2,7 3-12 0,-4-4 0 7,8 11 116-7,0 0 20 8,-8-7 5-8,8 7 1 7,0 0-71-7,0 0-15 11,-4-7-2-10,4 7-1 2,0 0-20-3,0 0-4 7,-4-7-1-7,4 7 0 9,0 0-11-9,0 0-2 7,0 0-1-7,0 0 0 8,0 0-5-8,0 0-1 5,0 0 0-5,0 0 0 11,0 0-8-10,0 0 0 3,0 0 0-4,0 0 0 12,0 0 0-12,0 0 0 3,0 0 0-3,0 0 0 8,0 0 0-8,0 0 0 8,0 0 0-8,0 0 0 19,0 0-20-18,0 0-10-1,0 0-2 0</inkml:trace>
  <inkml:trace contextRef="#ctx0" brushRef="#br0" timeOffset="2397">27002 1987 1130 0,'0'0'50'1,"0"0"10"-1,0 0-48 0,0-7-12 0,4 0 0 0,-4 7 0 5,7-7 65-4,-3 0 11 10,4 4 1-11,0-11 1 3,0 10-22-2,-4-6-4 5,-4 10 0-6,0 0-1 8,8-7-27-7,-8 7-4 5,0 0-2-6,4-11 0 9,3 8 0-9,-7 3 0 6,0 0 0-6,0 0 0 12,0 0 2-12,0 0 0 9,0 0 0-9,0 0 0 6,4-4-20-5,-4 4 0 4,0 0 0-5,0 0 0 9,0 0 9-9,0 0-1 6,0 0-8-6,0 0 12 8,0 0-12-8,0 0 0 10,0-10 0-10,0 10 0 4,0 0 0-4,0 0-8 12,0 0 8-12,0 0-809 5</inkml:trace>
  <inkml:trace contextRef="#ctx0" brushRef="#br0" timeOffset="3112">27308 1903 1036 0,'0'0'46'1,"-8"-6"10"-1,8 6-45 0,-8-7-11 4,1 3 0-4,7 4 0 7,0 0 72-7,0 0 12 8,0 0 2-8,0 0 1 8,0 0-67-8,0 0-12 9,0 0-8-9,0 0 8 5,0 0-8-5,0 0 0 10,0 0-8-10,0 0 8 5,0 0-11-5,0 0 11 8,0 0-13-8,0 0 5 27,0 0-34-26,0 0-6 1,0 0-2 6,0 0-489-7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8-17T07:35:38.895"/>
    </inkml:context>
    <inkml:brush xml:id="br0">
      <inkml:brushProperty name="width" value="0.05" units="cm"/>
      <inkml:brushProperty name="height" value="0.05" units="cm"/>
      <inkml:brushProperty name="color" value="#FF0066"/>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19-08-17T07:35:43.661"/>
    </inkml:context>
    <inkml:brush xml:id="br0">
      <inkml:brushProperty name="width" value="0.05" units="cm"/>
      <inkml:brushProperty name="height" value="0.05" units="cm"/>
      <inkml:brushProperty name="color" value="#FF0066"/>
    </inkml:brush>
  </inkml:definitions>
  <inkml:trace contextRef="#ctx0" brushRef="#br0">33 43 1024 0 0,'-33'-42'0'0'0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panose="020F0502020204030204" pitchFamily="34" charset="0"/>
              </a:defRPr>
            </a:lvl1pPr>
          </a:lstStyle>
          <a:p>
            <a:pPr>
              <a:defRPr/>
            </a:pPr>
            <a:endParaRPr lang="zh-CN" altLang="zh-CN"/>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anose="020F0502020204030204" pitchFamily="34" charset="0"/>
              </a:defRPr>
            </a:lvl1pPr>
          </a:lstStyle>
          <a:p>
            <a:pPr>
              <a:defRPr/>
            </a:pPr>
            <a:fld id="{683E5292-C197-4B29-8ABD-C7AEB5E0B154}" type="datetimeFigureOut">
              <a:rPr lang="en-US" altLang="zh-CN"/>
              <a:pPr>
                <a:defRPr/>
              </a:pPr>
              <a:t>3/3/2025</a:t>
            </a:fld>
            <a:endParaRPr lang="en-US" altLang="zh-C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panose="020F0502020204030204" pitchFamily="34" charset="0"/>
              </a:defRPr>
            </a:lvl1pPr>
          </a:lstStyle>
          <a:p>
            <a:pPr>
              <a:defRPr/>
            </a:pPr>
            <a:endParaRPr lang="zh-CN" alt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B4C119E0-CEE4-4FF8-83B2-DC856A2C17CC}" type="slidenum">
              <a:rPr lang="en-US" altLang="zh-CN"/>
              <a:pPr>
                <a:defRPr/>
              </a:pPr>
              <a:t>‹#›</a:t>
            </a:fld>
            <a:endParaRPr lang="en-US" altLang="zh-CN"/>
          </a:p>
        </p:txBody>
      </p:sp>
    </p:spTree>
    <p:extLst>
      <p:ext uri="{BB962C8B-B14F-4D97-AF65-F5344CB8AC3E}">
        <p14:creationId xmlns:p14="http://schemas.microsoft.com/office/powerpoint/2010/main" val="64489637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pPr>
                <a:defRPr/>
              </a:pPr>
              <a:t>1</a:t>
            </a:fld>
            <a:endParaRPr lang="en-US" altLang="zh-CN"/>
          </a:p>
        </p:txBody>
      </p:sp>
    </p:spTree>
    <p:extLst>
      <p:ext uri="{BB962C8B-B14F-4D97-AF65-F5344CB8AC3E}">
        <p14:creationId xmlns:p14="http://schemas.microsoft.com/office/powerpoint/2010/main" val="909393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pPr>
                <a:defRPr/>
              </a:pPr>
              <a:t>5</a:t>
            </a:fld>
            <a:endParaRPr lang="en-US" altLang="zh-CN"/>
          </a:p>
        </p:txBody>
      </p:sp>
    </p:spTree>
    <p:extLst>
      <p:ext uri="{BB962C8B-B14F-4D97-AF65-F5344CB8AC3E}">
        <p14:creationId xmlns:p14="http://schemas.microsoft.com/office/powerpoint/2010/main" val="35191146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6</a:t>
            </a:fld>
            <a:endParaRPr lang="en-US" altLang="zh-CN"/>
          </a:p>
        </p:txBody>
      </p:sp>
    </p:spTree>
    <p:extLst>
      <p:ext uri="{BB962C8B-B14F-4D97-AF65-F5344CB8AC3E}">
        <p14:creationId xmlns:p14="http://schemas.microsoft.com/office/powerpoint/2010/main" val="14172712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kumimoji="1" lang="en-US" altLang="zh-CN"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7</a:t>
            </a:fld>
            <a:endParaRPr lang="en-US" altLang="zh-CN"/>
          </a:p>
        </p:txBody>
      </p:sp>
    </p:spTree>
    <p:extLst>
      <p:ext uri="{BB962C8B-B14F-4D97-AF65-F5344CB8AC3E}">
        <p14:creationId xmlns:p14="http://schemas.microsoft.com/office/powerpoint/2010/main" val="31940387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en-US" altLang="zh-CN" dirty="0"/>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pPr>
                <a:defRPr/>
              </a:pPr>
              <a:t>8</a:t>
            </a:fld>
            <a:endParaRPr lang="en-US" altLang="zh-CN"/>
          </a:p>
        </p:txBody>
      </p:sp>
    </p:spTree>
    <p:extLst>
      <p:ext uri="{BB962C8B-B14F-4D97-AF65-F5344CB8AC3E}">
        <p14:creationId xmlns:p14="http://schemas.microsoft.com/office/powerpoint/2010/main" val="306170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9</a:t>
            </a:fld>
            <a:endParaRPr lang="en-US" altLang="zh-CN"/>
          </a:p>
        </p:txBody>
      </p:sp>
    </p:spTree>
    <p:extLst>
      <p:ext uri="{BB962C8B-B14F-4D97-AF65-F5344CB8AC3E}">
        <p14:creationId xmlns:p14="http://schemas.microsoft.com/office/powerpoint/2010/main" val="3211402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kumimoji="1" lang="en-US" altLang="zh-CN" baseline="0" dirty="0"/>
              </a:p>
              <a:p>
                <a:endParaRPr kumimoji="1" lang="en-US" altLang="zh-CN" dirty="0"/>
              </a:p>
              <a:p>
                <a:endParaRPr kumimoji="1" lang="zh-CN" altLang="en-US" dirty="0"/>
              </a:p>
            </p:txBody>
          </p:sp>
        </mc:Choice>
        <mc:Fallback xmlns="">
          <p:sp>
            <p:nvSpPr>
              <p:cNvPr id="3" name="备注占位符 2"/>
              <p:cNvSpPr>
                <a:spLocks noGrp="1"/>
              </p:cNvSpPr>
              <p:nvPr>
                <p:ph type="body" idx="1"/>
              </p:nvPr>
            </p:nvSpPr>
            <p:spPr/>
            <p:txBody>
              <a:bodyPr/>
              <a:lstStyle/>
              <a:p>
                <a:r>
                  <a:rPr kumimoji="1" lang="zh-CN" altLang="en-US" dirty="0"/>
                  <a:t>。。。</a:t>
                </a:r>
                <a:endParaRPr kumimoji="1" lang="en-US" altLang="zh-CN" dirty="0"/>
              </a:p>
              <a:p>
                <a:pPr/>
                <a:r>
                  <a:rPr kumimoji="1" lang="en-US" altLang="zh-CN" i="0">
                    <a:latin typeface="Cambria Math" panose="02040503050406030204" pitchFamily="18" charset="0"/>
                    <a:ea typeface="Cambria Math" panose="02040503050406030204" pitchFamily="18" charset="0"/>
                  </a:rPr>
                  <a:t>𝜎(𝑥)</a:t>
                </a:r>
                <a:r>
                  <a:rPr kumimoji="1" lang="zh-CN" altLang="en-US" dirty="0"/>
                  <a:t> </a:t>
                </a:r>
                <a:r>
                  <a:rPr kumimoji="1" lang="en-US" altLang="zh-CN" dirty="0"/>
                  <a:t>(0,1)</a:t>
                </a:r>
                <a:r>
                  <a:rPr kumimoji="1" lang="zh-CN" altLang="en-US" dirty="0"/>
                  <a:t>之间，近似</a:t>
                </a:r>
                <a:r>
                  <a:rPr kumimoji="1" lang="en-US" altLang="zh-CN" dirty="0"/>
                  <a:t>gate,</a:t>
                </a:r>
                <a:r>
                  <a:rPr kumimoji="1" lang="en-US" altLang="zh-CN" baseline="0" dirty="0"/>
                  <a:t> 0 gate </a:t>
                </a:r>
                <a:r>
                  <a:rPr kumimoji="1" lang="zh-CN" altLang="en-US" baseline="0" dirty="0"/>
                  <a:t>打开，</a:t>
                </a:r>
                <a:r>
                  <a:rPr kumimoji="1" lang="en-US" altLang="zh-CN" baseline="0" dirty="0"/>
                  <a:t>1</a:t>
                </a:r>
                <a:r>
                  <a:rPr kumimoji="1" lang="zh-CN" altLang="en-US" baseline="0" dirty="0"/>
                  <a:t>关闭，信息不传递。</a:t>
                </a:r>
                <a:endParaRPr kumimoji="1" lang="en-US" altLang="zh-CN" baseline="0" dirty="0"/>
              </a:p>
              <a:p>
                <a:pPr/>
                <a:r>
                  <a:rPr kumimoji="1" lang="en-US" altLang="zh-CN" baseline="0" dirty="0"/>
                  <a:t>Logistic</a:t>
                </a:r>
                <a:r>
                  <a:rPr kumimoji="1" lang="zh-CN" altLang="en-US" baseline="0" dirty="0"/>
                  <a:t>函数，可以看作</a:t>
                </a:r>
                <a:r>
                  <a:rPr kumimoji="1" lang="en-US" altLang="zh-CN" baseline="0" dirty="0"/>
                  <a:t>soft Gate</a:t>
                </a:r>
                <a:r>
                  <a:rPr kumimoji="1" lang="zh-CN" altLang="en-US" baseline="0" dirty="0"/>
                  <a:t>，不是完全关闭</a:t>
                </a:r>
                <a:r>
                  <a:rPr kumimoji="1" lang="en-US" altLang="zh-CN" baseline="0" dirty="0"/>
                  <a:t>/</a:t>
                </a:r>
                <a:r>
                  <a:rPr kumimoji="1" lang="zh-CN" altLang="en-US" baseline="0" dirty="0"/>
                  <a:t>打开， 比如，</a:t>
                </a:r>
                <a:r>
                  <a:rPr kumimoji="1" lang="en-US" altLang="zh-CN" baseline="0" dirty="0"/>
                  <a:t>0.5</a:t>
                </a:r>
                <a:r>
                  <a:rPr kumimoji="1" lang="zh-CN" altLang="en-US" baseline="0" dirty="0"/>
                  <a:t>，允许一半信息通过。</a:t>
                </a:r>
                <a:r>
                  <a:rPr kumimoji="1" lang="en-US" altLang="zh-CN" i="0" baseline="0" dirty="0">
                    <a:latin typeface="Cambria Math" panose="02040503050406030204" pitchFamily="18" charset="0"/>
                    <a:ea typeface="Cambria Math" panose="02040503050406030204" pitchFamily="18" charset="0"/>
                  </a:rPr>
                  <a:t>X</a:t>
                </a:r>
                <a:r>
                  <a:rPr kumimoji="1" lang="en-US" altLang="zh-CN" b="0" i="0" baseline="0" dirty="0">
                    <a:latin typeface="Cambria Math" panose="02040503050406030204" pitchFamily="18" charset="0"/>
                    <a:ea typeface="Cambria Math" panose="02040503050406030204" pitchFamily="18" charset="0"/>
                  </a:rPr>
                  <a:t>∗</a:t>
                </a:r>
                <a:r>
                  <a:rPr kumimoji="1" lang="en-US" altLang="zh-CN" i="0">
                    <a:latin typeface="Cambria Math" panose="02040503050406030204" pitchFamily="18" charset="0"/>
                    <a:ea typeface="Cambria Math" panose="02040503050406030204" pitchFamily="18" charset="0"/>
                  </a:rPr>
                  <a:t>𝜎(𝑥)</a:t>
                </a:r>
                <a:r>
                  <a:rPr kumimoji="1" lang="en-US" altLang="zh-CN" b="0" i="0">
                    <a:latin typeface="Cambria Math" panose="02040503050406030204" pitchFamily="18" charset="0"/>
                    <a:ea typeface="Cambria Math" panose="02040503050406030204" pitchFamily="18" charset="0"/>
                  </a:rPr>
                  <a:t>=0.5𝑥, </a:t>
                </a:r>
                <a:r>
                  <a:rPr kumimoji="1" lang="zh-CN" altLang="en-US" b="0" i="0">
                    <a:latin typeface="Cambria Math" panose="02040503050406030204" pitchFamily="18" charset="0"/>
                    <a:ea typeface="Cambria Math" panose="02040503050406030204" pitchFamily="18" charset="0"/>
                  </a:rPr>
                  <a:t>自己的</a:t>
                </a:r>
                <a:r>
                  <a:rPr kumimoji="1" lang="zh-CN" altLang="en-US" dirty="0"/>
                  <a:t>信息的一半通过。</a:t>
                </a:r>
                <a:endParaRPr kumimoji="1" lang="en-US" altLang="zh-CN" dirty="0"/>
              </a:p>
              <a:p>
                <a:pPr/>
                <a:r>
                  <a:rPr kumimoji="1" lang="en-US" altLang="zh-CN" dirty="0"/>
                  <a:t>Self</a:t>
                </a:r>
                <a:r>
                  <a:rPr kumimoji="1" lang="zh-CN" altLang="en-US" dirty="0"/>
                  <a:t>：意思是这个门是由</a:t>
                </a:r>
                <a:r>
                  <a:rPr kumimoji="1" lang="en-US" altLang="zh-CN" dirty="0"/>
                  <a:t>x</a:t>
                </a:r>
                <a:r>
                  <a:rPr kumimoji="1" lang="zh-CN" altLang="en-US" dirty="0"/>
                  <a:t>本身来控制的，而不是其他信息控制的。</a:t>
                </a:r>
                <a:endParaRPr kumimoji="1" lang="en-US" altLang="zh-CN" dirty="0"/>
              </a:p>
              <a:p>
                <a:pPr/>
                <a:endParaRPr kumimoji="1" lang="en-US" altLang="zh-CN" dirty="0"/>
              </a:p>
              <a:p>
                <a:pPr/>
                <a:r>
                  <a:rPr kumimoji="1" lang="zh-CN" altLang="en-US" dirty="0"/>
                  <a:t>例子：</a:t>
                </a:r>
                <a:r>
                  <a:rPr kumimoji="1" lang="zh-CN" altLang="en-US" i="0">
                    <a:latin typeface="Cambria Math" panose="02040503050406030204" pitchFamily="18" charset="0"/>
                  </a:rPr>
                  <a:t>𝛽取不同值</a:t>
                </a:r>
                <a:r>
                  <a:rPr kumimoji="1" lang="zh-CN" altLang="en-US" dirty="0"/>
                  <a:t>的时候。</a:t>
                </a:r>
                <a:endParaRPr kumimoji="1" lang="en-US" altLang="zh-CN" dirty="0"/>
              </a:p>
              <a:p>
                <a:pPr/>
                <a:r>
                  <a:rPr kumimoji="1" lang="en-US" altLang="zh-CN" dirty="0"/>
                  <a:t>0:</a:t>
                </a:r>
                <a:r>
                  <a:rPr kumimoji="1" lang="zh-CN" altLang="en-US" dirty="0"/>
                  <a:t> 不管任何时候，都允许通过</a:t>
                </a:r>
                <a:r>
                  <a:rPr kumimoji="1" lang="en-US" altLang="zh-CN" dirty="0"/>
                  <a:t>0.5</a:t>
                </a:r>
                <a:r>
                  <a:rPr kumimoji="1" lang="zh-CN" altLang="en-US" dirty="0"/>
                  <a:t>的信息。</a:t>
                </a:r>
                <a:endParaRPr kumimoji="1" lang="en-US" altLang="zh-CN" dirty="0"/>
              </a:p>
              <a:p>
                <a:pPr/>
                <a:r>
                  <a:rPr kumimoji="1" lang="en-US" altLang="zh-CN" dirty="0"/>
                  <a:t>1:</a:t>
                </a:r>
                <a:r>
                  <a:rPr kumimoji="1" lang="zh-CN" altLang="en-US" dirty="0"/>
                  <a:t> </a:t>
                </a:r>
                <a:r>
                  <a:rPr kumimoji="1" lang="en-US" altLang="zh-CN" dirty="0"/>
                  <a:t>x</a:t>
                </a:r>
                <a:r>
                  <a:rPr kumimoji="1" lang="zh-CN" altLang="en-US" dirty="0"/>
                  <a:t>越大，越接近于</a:t>
                </a:r>
                <a:r>
                  <a:rPr kumimoji="1" lang="en-US" altLang="zh-CN" dirty="0"/>
                  <a:t>x</a:t>
                </a:r>
                <a:r>
                  <a:rPr kumimoji="1" lang="zh-CN" altLang="en-US" dirty="0"/>
                  <a:t>本身，</a:t>
                </a:r>
                <a:r>
                  <a:rPr kumimoji="1" lang="en-US" altLang="zh-CN" dirty="0"/>
                  <a:t>x</a:t>
                </a:r>
                <a:r>
                  <a:rPr kumimoji="1" lang="zh-CN" altLang="en-US" dirty="0"/>
                  <a:t>越小，越接近于</a:t>
                </a:r>
                <a:r>
                  <a:rPr kumimoji="1" lang="en-US" altLang="zh-CN" dirty="0"/>
                  <a:t>0.</a:t>
                </a:r>
              </a:p>
              <a:p>
                <a:pPr/>
                <a:r>
                  <a:rPr kumimoji="1" lang="en-US" altLang="zh-CN" dirty="0"/>
                  <a:t>100</a:t>
                </a:r>
                <a:r>
                  <a:rPr kumimoji="1" lang="zh-CN" altLang="en-US" dirty="0"/>
                  <a:t>，跟</a:t>
                </a:r>
                <a:r>
                  <a:rPr kumimoji="1" lang="en-US" altLang="zh-CN" dirty="0" err="1"/>
                  <a:t>ReLU</a:t>
                </a:r>
                <a:r>
                  <a:rPr kumimoji="1" lang="zh-CN" altLang="en-US" dirty="0"/>
                  <a:t>很像。</a:t>
                </a:r>
                <a:endParaRPr kumimoji="1" lang="en-US" altLang="zh-CN" dirty="0"/>
              </a:p>
              <a:p>
                <a:pPr/>
                <a:endParaRPr kumimoji="1" lang="en-US" altLang="zh-CN" dirty="0"/>
              </a:p>
              <a:p>
                <a:pPr/>
                <a:r>
                  <a:rPr kumimoji="1" lang="zh-CN" altLang="en-US" dirty="0"/>
                  <a:t>非常灵活，可以通过变换不同的</a:t>
                </a:r>
                <a:r>
                  <a:rPr kumimoji="1" lang="zh-CN" altLang="en-US" i="0">
                    <a:latin typeface="Cambria Math" panose="02040503050406030204" pitchFamily="18" charset="0"/>
                  </a:rPr>
                  <a:t>𝛽</a:t>
                </a:r>
                <a:r>
                  <a:rPr kumimoji="1" lang="zh-CN" altLang="en-US" dirty="0"/>
                  <a:t>，使得它的性质在</a:t>
                </a:r>
                <a:r>
                  <a:rPr kumimoji="1" lang="en-US" altLang="zh-CN" dirty="0" err="1"/>
                  <a:t>Relu</a:t>
                </a:r>
                <a:r>
                  <a:rPr kumimoji="1" lang="zh-CN" altLang="en-US" dirty="0"/>
                  <a:t>和线性函数中间变换。</a:t>
                </a:r>
                <a:endParaRPr kumimoji="1" lang="en-US" altLang="zh-CN" dirty="0"/>
              </a:p>
              <a:p>
                <a:pPr/>
                <a:r>
                  <a:rPr kumimoji="1" lang="zh-CN" altLang="en-US" dirty="0"/>
                  <a:t> </a:t>
                </a:r>
                <a:endParaRPr kumimoji="1" lang="en-US" altLang="zh-CN" baseline="0" dirty="0"/>
              </a:p>
              <a:p>
                <a:pPr/>
                <a:endParaRPr kumimoji="1" lang="en-US" altLang="zh-CN" baseline="0" dirty="0"/>
              </a:p>
              <a:p>
                <a:pPr/>
                <a:endParaRPr kumimoji="1" lang="en-US" altLang="zh-CN" dirty="0"/>
              </a:p>
              <a:p>
                <a:endParaRPr kumimoji="1" lang="zh-CN" altLang="en-US" dirty="0"/>
              </a:p>
            </p:txBody>
          </p:sp>
        </mc:Fallback>
      </mc:AlternateContent>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10</a:t>
            </a:fld>
            <a:endParaRPr lang="en-US" altLang="zh-CN"/>
          </a:p>
        </p:txBody>
      </p:sp>
    </p:spTree>
    <p:extLst>
      <p:ext uri="{BB962C8B-B14F-4D97-AF65-F5344CB8AC3E}">
        <p14:creationId xmlns:p14="http://schemas.microsoft.com/office/powerpoint/2010/main" val="38057319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kumimoji="1" lang="zh-CN" altLang="en-US" dirty="0"/>
              </a:p>
            </p:txBody>
          </p:sp>
        </mc:Choice>
        <mc:Fallback xmlns="">
          <p:sp>
            <p:nvSpPr>
              <p:cNvPr id="3" name="备注占位符 2"/>
              <p:cNvSpPr>
                <a:spLocks noGrp="1"/>
              </p:cNvSpPr>
              <p:nvPr>
                <p:ph type="body" idx="1"/>
              </p:nvPr>
            </p:nvSpPr>
            <p:spPr/>
            <p:txBody>
              <a:bodyPr/>
              <a:lstStyle/>
              <a:p>
                <a:r>
                  <a:rPr kumimoji="1" lang="zh-CN" altLang="en-US" dirty="0"/>
                  <a:t>。。。</a:t>
                </a:r>
                <a:r>
                  <a:rPr kumimoji="1" lang="en-US" altLang="zh-CN" dirty="0"/>
                  <a:t>GELU</a:t>
                </a:r>
                <a:r>
                  <a:rPr kumimoji="1" lang="zh-CN" altLang="en-US" dirty="0"/>
                  <a:t>，</a:t>
                </a:r>
                <a:endParaRPr kumimoji="1" lang="en-US" altLang="zh-CN" dirty="0"/>
              </a:p>
              <a:p>
                <a:endParaRPr kumimoji="1" lang="en-US" altLang="zh-CN" dirty="0"/>
              </a:p>
              <a:p>
                <a:r>
                  <a:rPr kumimoji="1" lang="zh-CN" altLang="en-US" dirty="0"/>
                  <a:t>。。。</a:t>
                </a:r>
                <a:endParaRPr kumimoji="1" lang="en-US" altLang="zh-CN" dirty="0"/>
              </a:p>
              <a:p>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高斯分布的累积分布函数通常是</a:t>
                </a:r>
                <a:r>
                  <a:rPr kumimoji="1" lang="zh-CN" altLang="en-US" dirty="0"/>
                  <a:t>没法直接取的，因为没有解析解，通常使用近似的方法取，一般用</a:t>
                </a:r>
                <a:r>
                  <a:rPr lang="en-US" altLang="zh-CN" dirty="0"/>
                  <a:t>Tanh</a:t>
                </a:r>
                <a:r>
                  <a:rPr lang="zh-CN" altLang="en-US" dirty="0"/>
                  <a:t>函数或</a:t>
                </a:r>
                <a:r>
                  <a:rPr lang="en-US" altLang="zh-CN" dirty="0"/>
                  <a:t>Logistic</a:t>
                </a:r>
                <a:r>
                  <a:rPr lang="zh-CN" altLang="en-US" dirty="0"/>
                  <a:t>函数来近似。。。</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r>
                  <a:rPr lang="zh-CN" altLang="en-US" dirty="0"/>
                  <a:t>相当于</a:t>
                </a:r>
                <a:r>
                  <a:rPr lang="en-US" altLang="zh-CN" dirty="0"/>
                  <a:t>Swish</a:t>
                </a:r>
                <a:r>
                  <a:rPr lang="zh-CN" altLang="en-US" dirty="0"/>
                  <a:t>函数的</a:t>
                </a:r>
                <a:r>
                  <a:rPr kumimoji="1" lang="zh-CN" altLang="en-US" i="0">
                    <a:latin typeface="Cambria Math" panose="02040503050406030204" pitchFamily="18" charset="0"/>
                  </a:rPr>
                  <a:t>𝛽</a:t>
                </a:r>
                <a:r>
                  <a:rPr kumimoji="1" lang="zh-CN" altLang="en-US" dirty="0"/>
                  <a:t>取</a:t>
                </a:r>
                <a:r>
                  <a:rPr kumimoji="1" lang="en-US" altLang="zh-CN" dirty="0"/>
                  <a:t>1.702.</a:t>
                </a:r>
              </a:p>
              <a:p>
                <a:endParaRPr kumimoji="1" lang="en-US" altLang="zh-CN" dirty="0"/>
              </a:p>
              <a:p>
                <a:r>
                  <a:rPr kumimoji="1" lang="zh-CN" altLang="en-US" dirty="0"/>
                  <a:t>不同版本的</a:t>
                </a:r>
                <a:r>
                  <a:rPr kumimoji="1" lang="en-US" altLang="zh-CN" dirty="0" err="1"/>
                  <a:t>pytorch</a:t>
                </a:r>
                <a:r>
                  <a:rPr kumimoji="1" lang="zh-CN" altLang="en-US" dirty="0"/>
                  <a:t>里面的实现有可能是不一样的。</a:t>
                </a:r>
                <a:endParaRPr kumimoji="1" lang="en-US" altLang="zh-CN" dirty="0"/>
              </a:p>
              <a:p>
                <a:r>
                  <a:rPr kumimoji="1" lang="en-US" altLang="zh-CN" dirty="0"/>
                  <a:t>…..</a:t>
                </a:r>
                <a:endParaRPr kumimoji="1" lang="zh-CN" altLang="en-US" dirty="0"/>
              </a:p>
            </p:txBody>
          </p:sp>
        </mc:Fallback>
      </mc:AlternateContent>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11</a:t>
            </a:fld>
            <a:endParaRPr lang="en-US" altLang="zh-CN"/>
          </a:p>
        </p:txBody>
      </p:sp>
    </p:spTree>
    <p:extLst>
      <p:ext uri="{BB962C8B-B14F-4D97-AF65-F5344CB8AC3E}">
        <p14:creationId xmlns:p14="http://schemas.microsoft.com/office/powerpoint/2010/main" val="1484902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12</a:t>
            </a:fld>
            <a:endParaRPr lang="en-US" altLang="zh-CN"/>
          </a:p>
        </p:txBody>
      </p:sp>
    </p:spTree>
    <p:extLst>
      <p:ext uri="{BB962C8B-B14F-4D97-AF65-F5344CB8AC3E}">
        <p14:creationId xmlns:p14="http://schemas.microsoft.com/office/powerpoint/2010/main" val="11255638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如何用神经元构成人工神经网络。</a:t>
            </a:r>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13</a:t>
            </a:fld>
            <a:endParaRPr lang="en-US" altLang="zh-CN"/>
          </a:p>
        </p:txBody>
      </p:sp>
    </p:spTree>
    <p:extLst>
      <p:ext uri="{BB962C8B-B14F-4D97-AF65-F5344CB8AC3E}">
        <p14:creationId xmlns:p14="http://schemas.microsoft.com/office/powerpoint/2010/main" val="13401553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14</a:t>
            </a:fld>
            <a:endParaRPr lang="en-US" altLang="zh-CN"/>
          </a:p>
        </p:txBody>
      </p:sp>
    </p:spTree>
    <p:extLst>
      <p:ext uri="{BB962C8B-B14F-4D97-AF65-F5344CB8AC3E}">
        <p14:creationId xmlns:p14="http://schemas.microsoft.com/office/powerpoint/2010/main" val="40890791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15</a:t>
            </a:fld>
            <a:endParaRPr lang="en-US" altLang="zh-CN"/>
          </a:p>
        </p:txBody>
      </p:sp>
    </p:spTree>
    <p:extLst>
      <p:ext uri="{BB962C8B-B14F-4D97-AF65-F5344CB8AC3E}">
        <p14:creationId xmlns:p14="http://schemas.microsoft.com/office/powerpoint/2010/main" val="32716374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今天主要介绍第一种网络结构的网络，。。</a:t>
            </a:r>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16</a:t>
            </a:fld>
            <a:endParaRPr lang="en-US" altLang="zh-CN"/>
          </a:p>
        </p:txBody>
      </p:sp>
    </p:spTree>
    <p:extLst>
      <p:ext uri="{BB962C8B-B14F-4D97-AF65-F5344CB8AC3E}">
        <p14:creationId xmlns:p14="http://schemas.microsoft.com/office/powerpoint/2010/main" val="31310030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17</a:t>
            </a:fld>
            <a:endParaRPr lang="en-US" altLang="zh-CN"/>
          </a:p>
        </p:txBody>
      </p:sp>
    </p:spTree>
    <p:extLst>
      <p:ext uri="{BB962C8B-B14F-4D97-AF65-F5344CB8AC3E}">
        <p14:creationId xmlns:p14="http://schemas.microsoft.com/office/powerpoint/2010/main" val="7564007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a:t>
            </a:r>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18</a:t>
            </a:fld>
            <a:endParaRPr lang="en-US" altLang="zh-CN"/>
          </a:p>
        </p:txBody>
      </p:sp>
    </p:spTree>
    <p:extLst>
      <p:ext uri="{BB962C8B-B14F-4D97-AF65-F5344CB8AC3E}">
        <p14:creationId xmlns:p14="http://schemas.microsoft.com/office/powerpoint/2010/main" val="41278002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神经网络还有一个非常好的性质，。。。</a:t>
                </a:r>
                <a:endParaRPr lang="en-US" altLang="zh-CN" dirty="0"/>
              </a:p>
              <a:p>
                <a:endParaRPr lang="en-US" altLang="zh-CN" b="1" dirty="0"/>
              </a:p>
              <a:p>
                <a:pPr/>
                <a14:m>
                  <m:oMathPara xmlns:m="http://schemas.openxmlformats.org/officeDocument/2006/math">
                    <m:oMathParaPr>
                      <m:jc m:val="left"/>
                    </m:oMathParaPr>
                    <m:oMath xmlns:m="http://schemas.openxmlformats.org/officeDocument/2006/math">
                      <m:r>
                        <a:rPr kumimoji="1" lang="en-US" altLang="zh-CN" b="0" i="1" smtClean="0">
                          <a:latin typeface="Cambria Math" panose="02040503050406030204" pitchFamily="18" charset="0"/>
                          <a:ea typeface="Cambria Math" panose="02040503050406030204" pitchFamily="18" charset="0"/>
                        </a:rPr>
                        <m:t>𝜎</m:t>
                      </m:r>
                      <m:r>
                        <a:rPr kumimoji="1" lang="zh-CN" altLang="en-US" b="0" i="1" smtClean="0">
                          <a:latin typeface="Cambria Math" panose="02040503050406030204" pitchFamily="18" charset="0"/>
                          <a:ea typeface="Cambria Math" panose="02040503050406030204" pitchFamily="18" charset="0"/>
                        </a:rPr>
                        <m:t>（）是</m:t>
                      </m:r>
                      <m:r>
                        <a:rPr kumimoji="1" lang="en-US" altLang="zh-CN" b="0" i="1" smtClean="0">
                          <a:latin typeface="Cambria Math" panose="02040503050406030204" pitchFamily="18" charset="0"/>
                          <a:ea typeface="Cambria Math" panose="02040503050406030204" pitchFamily="18" charset="0"/>
                        </a:rPr>
                        <m:t>𝑙𝑜𝑔𝑖𝑠𝑡𝑖𝑐</m:t>
                      </m:r>
                      <m:r>
                        <a:rPr kumimoji="1" lang="zh-CN" altLang="en-US" b="0" i="1" smtClean="0">
                          <a:latin typeface="Cambria Math" panose="02040503050406030204" pitchFamily="18" charset="0"/>
                          <a:ea typeface="Cambria Math" panose="02040503050406030204" pitchFamily="18" charset="0"/>
                        </a:rPr>
                        <m:t>函数。</m:t>
                      </m:r>
                    </m:oMath>
                  </m:oMathPara>
                </a14:m>
                <a:endParaRPr kumimoji="1" lang="en-US" altLang="zh-CN" b="0" dirty="0">
                  <a:ea typeface="Cambria Math" panose="02040503050406030204" pitchFamily="18" charset="0"/>
                </a:endParaRPr>
              </a:p>
              <a:p>
                <a:endParaRPr lang="en-US" altLang="zh-CN" b="0" dirty="0"/>
              </a:p>
              <a:p>
                <a:r>
                  <a:rPr lang="zh-CN" altLang="en-US" b="0" dirty="0"/>
                  <a:t>只要</a:t>
                </a:r>
                <a14:m>
                  <m:oMath xmlns:m="http://schemas.openxmlformats.org/officeDocument/2006/math">
                    <m:r>
                      <a:rPr kumimoji="1" lang="en-US" altLang="zh-CN" b="0" i="1" smtClean="0">
                        <a:latin typeface="Cambria Math" panose="02040503050406030204" pitchFamily="18" charset="0"/>
                        <a:ea typeface="Cambria Math" panose="02040503050406030204" pitchFamily="18" charset="0"/>
                      </a:rPr>
                      <m:t>𝜎</m:t>
                    </m:r>
                    <m:r>
                      <a:rPr kumimoji="1" lang="zh-CN" altLang="en-US" b="0" i="1" smtClean="0">
                        <a:latin typeface="Cambria Math" panose="02040503050406030204" pitchFamily="18" charset="0"/>
                        <a:ea typeface="Cambria Math" panose="02040503050406030204" pitchFamily="18" charset="0"/>
                      </a:rPr>
                      <m:t>（）</m:t>
                    </m:r>
                  </m:oMath>
                </a14:m>
                <a:r>
                  <a:rPr lang="zh-CN" altLang="en-US" b="0" dirty="0"/>
                  <a:t>层出来的神经元数量足够的话，</a:t>
                </a:r>
                <a:endParaRPr lang="en-US" altLang="zh-CN" b="0" dirty="0"/>
              </a:p>
              <a:p>
                <a:r>
                  <a:rPr lang="zh-CN" altLang="en-US" b="0" dirty="0"/>
                  <a:t>大部分函数都是</a:t>
                </a:r>
                <a:r>
                  <a:rPr lang="zh-CN" altLang="en-US" dirty="0"/>
                  <a:t>有界闭集函数。</a:t>
                </a:r>
                <a:endParaRPr lang="en-US" altLang="zh-CN" dirty="0"/>
              </a:p>
              <a:p>
                <a:r>
                  <a:rPr lang="zh-CN" altLang="en-US" b="0" dirty="0"/>
                  <a:t>神经网络就可以以任意的精度去逼近它。</a:t>
                </a:r>
                <a:endParaRPr lang="en-US" altLang="zh-CN" b="0" dirty="0"/>
              </a:p>
              <a:p>
                <a:endParaRPr lang="en-US" altLang="zh-CN" b="1" dirty="0"/>
              </a:p>
              <a:p>
                <a:r>
                  <a:rPr lang="zh-CN" altLang="en-US" dirty="0"/>
                  <a:t>这样一个能力就非常强，几乎可以任务，神经网络具有通用</a:t>
                </a:r>
                <a:r>
                  <a:rPr lang="en-US" altLang="zh-CN" dirty="0"/>
                  <a:t>/</a:t>
                </a:r>
                <a:r>
                  <a:rPr lang="zh-CN" altLang="en-US" dirty="0"/>
                  <a:t>万能的能力，可以近似任何函数。</a:t>
                </a:r>
                <a:endParaRPr lang="en-US" altLang="zh-CN" dirty="0"/>
              </a:p>
              <a:p>
                <a:endParaRPr lang="en-US" altLang="zh-CN" dirty="0"/>
              </a:p>
              <a:p>
                <a:r>
                  <a:rPr lang="zh-CN" altLang="en-US" dirty="0"/>
                  <a:t>思考：。。</a:t>
                </a:r>
                <a:endParaRPr lang="en-US" altLang="zh-CN" dirty="0"/>
              </a:p>
            </p:txBody>
          </p:sp>
        </mc:Choice>
        <mc:Fallback xmlns="">
          <p:sp>
            <p:nvSpPr>
              <p:cNvPr id="3" name="备注占位符 2"/>
              <p:cNvSpPr>
                <a:spLocks noGrp="1"/>
              </p:cNvSpPr>
              <p:nvPr>
                <p:ph type="body" idx="1"/>
              </p:nvPr>
            </p:nvSpPr>
            <p:spPr/>
            <p:txBody>
              <a:bodyPr/>
              <a:lstStyle/>
              <a:p>
                <a:r>
                  <a:rPr lang="zh-CN" altLang="en-US" dirty="0"/>
                  <a:t>神经网络还有一个非常好的性质，。。。</a:t>
                </a:r>
                <a:endParaRPr lang="en-US" altLang="zh-CN" dirty="0"/>
              </a:p>
              <a:p>
                <a:endParaRPr lang="en-US" altLang="zh-CN" b="1" dirty="0"/>
              </a:p>
              <a:p>
                <a:pPr/>
                <a:r>
                  <a:rPr kumimoji="1" lang="en-US" altLang="zh-CN" b="0" i="0">
                    <a:latin typeface="Cambria Math" panose="02040503050406030204" pitchFamily="18" charset="0"/>
                    <a:ea typeface="Cambria Math" panose="02040503050406030204" pitchFamily="18" charset="0"/>
                  </a:rPr>
                  <a:t>𝜎</a:t>
                </a:r>
                <a:r>
                  <a:rPr kumimoji="1" lang="zh-CN" altLang="en-US" b="0" i="0">
                    <a:latin typeface="Cambria Math" panose="02040503050406030204" pitchFamily="18" charset="0"/>
                    <a:ea typeface="Cambria Math" panose="02040503050406030204" pitchFamily="18" charset="0"/>
                  </a:rPr>
                  <a:t>（）是</a:t>
                </a:r>
                <a:r>
                  <a:rPr kumimoji="1" lang="en-US" altLang="zh-CN" b="0" i="0">
                    <a:latin typeface="Cambria Math" panose="02040503050406030204" pitchFamily="18" charset="0"/>
                    <a:ea typeface="Cambria Math" panose="02040503050406030204" pitchFamily="18" charset="0"/>
                  </a:rPr>
                  <a:t>𝑙𝑜𝑔𝑖𝑠𝑡𝑖𝑐</a:t>
                </a:r>
                <a:r>
                  <a:rPr kumimoji="1" lang="zh-CN" altLang="en-US" b="0" i="0">
                    <a:latin typeface="Cambria Math" panose="02040503050406030204" pitchFamily="18" charset="0"/>
                    <a:ea typeface="Cambria Math" panose="02040503050406030204" pitchFamily="18" charset="0"/>
                  </a:rPr>
                  <a:t>函数。</a:t>
                </a:r>
                <a:endParaRPr kumimoji="1" lang="en-US" altLang="zh-CN" b="0" dirty="0">
                  <a:ea typeface="Cambria Math" panose="02040503050406030204" pitchFamily="18" charset="0"/>
                </a:endParaRPr>
              </a:p>
              <a:p>
                <a:pPr/>
                <a:endParaRPr lang="en-US" altLang="zh-CN" b="0" dirty="0"/>
              </a:p>
              <a:p>
                <a:r>
                  <a:rPr lang="zh-CN" altLang="en-US" b="0" dirty="0"/>
                  <a:t>只要</a:t>
                </a:r>
                <a:r>
                  <a:rPr kumimoji="1" lang="en-US" altLang="zh-CN" b="0" i="0">
                    <a:latin typeface="Cambria Math" panose="02040503050406030204" pitchFamily="18" charset="0"/>
                    <a:ea typeface="Cambria Math" panose="02040503050406030204" pitchFamily="18" charset="0"/>
                  </a:rPr>
                  <a:t>𝜎</a:t>
                </a:r>
                <a:r>
                  <a:rPr kumimoji="1" lang="zh-CN" altLang="en-US" b="0" i="0">
                    <a:latin typeface="Cambria Math" panose="02040503050406030204" pitchFamily="18" charset="0"/>
                    <a:ea typeface="Cambria Math" panose="02040503050406030204" pitchFamily="18" charset="0"/>
                  </a:rPr>
                  <a:t>（）</a:t>
                </a:r>
                <a:r>
                  <a:rPr lang="zh-CN" altLang="en-US" b="0" dirty="0"/>
                  <a:t>层出来的神经元数量足够的话，</a:t>
                </a:r>
                <a:endParaRPr lang="en-US" altLang="zh-CN" b="0" dirty="0"/>
              </a:p>
              <a:p>
                <a:r>
                  <a:rPr lang="zh-CN" altLang="en-US" b="0" dirty="0"/>
                  <a:t>大部分函数都是</a:t>
                </a:r>
                <a:r>
                  <a:rPr lang="zh-CN" altLang="en-US" dirty="0"/>
                  <a:t>有界闭集函数。</a:t>
                </a:r>
                <a:endParaRPr lang="en-US" altLang="zh-CN" dirty="0"/>
              </a:p>
              <a:p>
                <a:r>
                  <a:rPr lang="zh-CN" altLang="en-US" b="0" dirty="0"/>
                  <a:t>神经网络就可以以任意的精度去逼近它。</a:t>
                </a:r>
                <a:endParaRPr lang="en-US" altLang="zh-CN" b="0" dirty="0"/>
              </a:p>
              <a:p>
                <a:endParaRPr lang="en-US" altLang="zh-CN" b="1" dirty="0"/>
              </a:p>
              <a:p>
                <a:r>
                  <a:rPr lang="zh-CN" altLang="en-US" dirty="0"/>
                  <a:t>这样一个能力就非常强，几乎可以任务，神经网络具有通用</a:t>
                </a:r>
                <a:r>
                  <a:rPr lang="en-US" altLang="zh-CN" dirty="0"/>
                  <a:t>/</a:t>
                </a:r>
                <a:r>
                  <a:rPr lang="zh-CN" altLang="en-US" dirty="0"/>
                  <a:t>万能的能力，可以近似任何函数。</a:t>
                </a:r>
                <a:endParaRPr lang="en-US" altLang="zh-CN" dirty="0"/>
              </a:p>
              <a:p>
                <a:endParaRPr lang="en-US" altLang="zh-CN" dirty="0"/>
              </a:p>
              <a:p>
                <a:r>
                  <a:rPr lang="zh-CN" altLang="en-US" dirty="0"/>
                  <a:t>思考：。。</a:t>
                </a:r>
                <a:endParaRPr lang="en-US" altLang="zh-CN" dirty="0"/>
              </a:p>
            </p:txBody>
          </p:sp>
        </mc:Fallback>
      </mc:AlternateContent>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pPr>
                <a:defRPr/>
              </a:pPr>
              <a:t>19</a:t>
            </a:fld>
            <a:endParaRPr lang="en-US" altLang="zh-CN"/>
          </a:p>
        </p:txBody>
      </p:sp>
    </p:spTree>
    <p:extLst>
      <p:ext uri="{BB962C8B-B14F-4D97-AF65-F5344CB8AC3E}">
        <p14:creationId xmlns:p14="http://schemas.microsoft.com/office/powerpoint/2010/main" val="41970233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20</a:t>
            </a:fld>
            <a:endParaRPr lang="en-US" altLang="zh-CN"/>
          </a:p>
        </p:txBody>
      </p:sp>
    </p:spTree>
    <p:extLst>
      <p:ext uri="{BB962C8B-B14F-4D97-AF65-F5344CB8AC3E}">
        <p14:creationId xmlns:p14="http://schemas.microsoft.com/office/powerpoint/2010/main" val="42652749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越到后面，越能提取更高级的特征。</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21</a:t>
            </a:fld>
            <a:endParaRPr lang="en-US" altLang="zh-CN"/>
          </a:p>
        </p:txBody>
      </p:sp>
    </p:spTree>
    <p:extLst>
      <p:ext uri="{BB962C8B-B14F-4D97-AF65-F5344CB8AC3E}">
        <p14:creationId xmlns:p14="http://schemas.microsoft.com/office/powerpoint/2010/main" val="21352507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b="1"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23</a:t>
            </a:fld>
            <a:endParaRPr lang="en-US" altLang="zh-CN"/>
          </a:p>
        </p:txBody>
      </p:sp>
    </p:spTree>
    <p:extLst>
      <p:ext uri="{BB962C8B-B14F-4D97-AF65-F5344CB8AC3E}">
        <p14:creationId xmlns:p14="http://schemas.microsoft.com/office/powerpoint/2010/main" val="19179736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24</a:t>
            </a:fld>
            <a:endParaRPr lang="en-US" altLang="zh-CN"/>
          </a:p>
        </p:txBody>
      </p:sp>
    </p:spTree>
    <p:extLst>
      <p:ext uri="{BB962C8B-B14F-4D97-AF65-F5344CB8AC3E}">
        <p14:creationId xmlns:p14="http://schemas.microsoft.com/office/powerpoint/2010/main" val="34636985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27</a:t>
            </a:fld>
            <a:endParaRPr lang="en-US" altLang="zh-CN"/>
          </a:p>
        </p:txBody>
      </p:sp>
    </p:spTree>
    <p:extLst>
      <p:ext uri="{BB962C8B-B14F-4D97-AF65-F5344CB8AC3E}">
        <p14:creationId xmlns:p14="http://schemas.microsoft.com/office/powerpoint/2010/main" val="27828750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28</a:t>
            </a:fld>
            <a:endParaRPr lang="en-US" altLang="zh-CN"/>
          </a:p>
        </p:txBody>
      </p:sp>
    </p:spTree>
    <p:extLst>
      <p:ext uri="{BB962C8B-B14F-4D97-AF65-F5344CB8AC3E}">
        <p14:creationId xmlns:p14="http://schemas.microsoft.com/office/powerpoint/2010/main" val="13161516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29</a:t>
            </a:fld>
            <a:endParaRPr lang="en-US" altLang="zh-CN"/>
          </a:p>
        </p:txBody>
      </p:sp>
    </p:spTree>
    <p:extLst>
      <p:ext uri="{BB962C8B-B14F-4D97-AF65-F5344CB8AC3E}">
        <p14:creationId xmlns:p14="http://schemas.microsoft.com/office/powerpoint/2010/main" val="9413876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smtClean="0"/>
                  <a:t>Consider a parameter w in </a:t>
                </a:r>
                <a:r>
                  <a:rPr lang="zh-TW" altLang="en-US" sz="1200" i="0">
                    <a:latin typeface="Cambria Math" panose="02040503050406030204" pitchFamily="18" charset="0"/>
                  </a:rPr>
                  <a:t>𝜃</a:t>
                </a:r>
                <a:endParaRPr lang="zh-TW" altLang="en-US" sz="1200" dirty="0"/>
              </a:p>
              <a:p>
                <a:endParaRPr lang="zh-TW" altLang="en-US" dirty="0"/>
              </a:p>
            </p:txBody>
          </p:sp>
        </mc:Fallback>
      </mc:AlternateContent>
      <p:sp>
        <p:nvSpPr>
          <p:cNvPr id="4" name="投影片編號版面配置區 3"/>
          <p:cNvSpPr>
            <a:spLocks noGrp="1"/>
          </p:cNvSpPr>
          <p:nvPr>
            <p:ph type="sldNum" sz="quarter" idx="10"/>
          </p:nvPr>
        </p:nvSpPr>
        <p:spPr/>
        <p:txBody>
          <a:bodyPr/>
          <a:lstStyle/>
          <a:p>
            <a:fld id="{3F9096D2-8776-4F5C-A458-4FD37E7160D3}" type="slidenum">
              <a:rPr lang="zh-TW" altLang="en-US" smtClean="0"/>
              <a:t>31</a:t>
            </a:fld>
            <a:endParaRPr lang="zh-TW" altLang="en-US"/>
          </a:p>
        </p:txBody>
      </p:sp>
    </p:spTree>
    <p:extLst>
      <p:ext uri="{BB962C8B-B14F-4D97-AF65-F5344CB8AC3E}">
        <p14:creationId xmlns:p14="http://schemas.microsoft.com/office/powerpoint/2010/main" val="17825586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前向：要一直保留前面计算的梯度，然后往前进行传递，如果</a:t>
            </a:r>
            <a:r>
              <a:rPr kumimoji="1" lang="en-US" altLang="zh-CN" dirty="0"/>
              <a:t>h</a:t>
            </a:r>
            <a:r>
              <a:rPr kumimoji="1" lang="zh-CN" altLang="en-US" dirty="0"/>
              <a:t>很大，</a:t>
            </a:r>
            <a:r>
              <a:rPr kumimoji="1" lang="en-US" altLang="zh-CN" dirty="0"/>
              <a:t>w</a:t>
            </a:r>
            <a:r>
              <a:rPr kumimoji="1" lang="zh-CN" altLang="en-US" dirty="0"/>
              <a:t>参数的维度也非常高的情况下，需要保留的中间变量非常多。反向传递的话，需要保留的相对少一些，因为，它只需要保留损失函数对于当前</a:t>
            </a:r>
            <a:r>
              <a:rPr kumimoji="1" lang="en-US" altLang="zh-CN" dirty="0"/>
              <a:t>h</a:t>
            </a:r>
            <a:r>
              <a:rPr kumimoji="1" lang="zh-CN" altLang="en-US" dirty="0"/>
              <a:t>的偏导数，内存占用要小很多。</a:t>
            </a:r>
            <a:endParaRPr kumimoji="1" lang="en-US" altLang="zh-CN" dirty="0"/>
          </a:p>
          <a:p>
            <a:r>
              <a:rPr kumimoji="1" lang="zh-CN" altLang="en-US" dirty="0"/>
              <a:t>所以，在神经网络里面，通常使用反向模式。</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35</a:t>
            </a:fld>
            <a:endParaRPr lang="en-US" altLang="zh-CN"/>
          </a:p>
        </p:txBody>
      </p:sp>
    </p:spTree>
    <p:extLst>
      <p:ext uri="{BB962C8B-B14F-4D97-AF65-F5344CB8AC3E}">
        <p14:creationId xmlns:p14="http://schemas.microsoft.com/office/powerpoint/2010/main" val="8258096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有了自动微分之后，想实现一个神经网络模型变得非常容易，比如，</a:t>
            </a:r>
            <a:r>
              <a:rPr kumimoji="1" lang="en-US" altLang="zh-CN" dirty="0"/>
              <a:t>import</a:t>
            </a:r>
            <a:r>
              <a:rPr kumimoji="1" lang="zh-CN" altLang="en-US" dirty="0"/>
              <a:t>一个框架就可以了。</a:t>
            </a:r>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39</a:t>
            </a:fld>
            <a:endParaRPr lang="en-US" altLang="zh-CN"/>
          </a:p>
        </p:txBody>
      </p:sp>
    </p:spTree>
    <p:extLst>
      <p:ext uri="{BB962C8B-B14F-4D97-AF65-F5344CB8AC3E}">
        <p14:creationId xmlns:p14="http://schemas.microsoft.com/office/powerpoint/2010/main" val="33915831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更简单的框架，</a:t>
            </a:r>
            <a:r>
              <a:rPr kumimoji="1" lang="en-US" altLang="zh-CN" dirty="0" err="1"/>
              <a:t>keras</a:t>
            </a:r>
            <a:r>
              <a:rPr kumimoji="1" lang="en-US" altLang="zh-CN" dirty="0"/>
              <a:t>,</a:t>
            </a:r>
            <a:r>
              <a:rPr kumimoji="1" lang="zh-CN" altLang="en-US" dirty="0"/>
              <a:t> 在</a:t>
            </a:r>
            <a:r>
              <a:rPr kumimoji="1" lang="en-US" altLang="zh-CN" dirty="0" err="1"/>
              <a:t>tensorflow</a:t>
            </a:r>
            <a:r>
              <a:rPr kumimoji="1" lang="zh-CN" altLang="en-US" dirty="0"/>
              <a:t>的基础上又进行了一次封装，方便大家像类似于搭积木一样的方法来实现一个神经网络。</a:t>
            </a:r>
            <a:endParaRPr kumimoji="1" lang="en-US" altLang="zh-CN" dirty="0"/>
          </a:p>
          <a:p>
            <a:r>
              <a:rPr kumimoji="1" lang="zh-CN" altLang="en-US" dirty="0"/>
              <a:t>比如，</a:t>
            </a:r>
            <a:endParaRPr kumimoji="1" lang="en-US" altLang="zh-CN"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40</a:t>
            </a:fld>
            <a:endParaRPr lang="en-US" altLang="zh-CN"/>
          </a:p>
        </p:txBody>
      </p:sp>
    </p:spTree>
    <p:extLst>
      <p:ext uri="{BB962C8B-B14F-4D97-AF65-F5344CB8AC3E}">
        <p14:creationId xmlns:p14="http://schemas.microsoft.com/office/powerpoint/2010/main" val="39267453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F9096D2-8776-4F5C-A458-4FD37E7160D3}" type="slidenum">
              <a:rPr lang="zh-TW" altLang="en-US" smtClean="0"/>
              <a:t>41</a:t>
            </a:fld>
            <a:endParaRPr lang="zh-TW" altLang="en-US"/>
          </a:p>
        </p:txBody>
      </p:sp>
    </p:spTree>
    <p:extLst>
      <p:ext uri="{BB962C8B-B14F-4D97-AF65-F5344CB8AC3E}">
        <p14:creationId xmlns:p14="http://schemas.microsoft.com/office/powerpoint/2010/main" val="28060040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43</a:t>
            </a:fld>
            <a:endParaRPr lang="en-US" altLang="zh-CN"/>
          </a:p>
        </p:txBody>
      </p:sp>
    </p:spTree>
    <p:extLst>
      <p:ext uri="{BB962C8B-B14F-4D97-AF65-F5344CB8AC3E}">
        <p14:creationId xmlns:p14="http://schemas.microsoft.com/office/powerpoint/2010/main" val="42555003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44</a:t>
            </a:fld>
            <a:endParaRPr lang="en-US" altLang="zh-CN"/>
          </a:p>
        </p:txBody>
      </p:sp>
    </p:spTree>
    <p:extLst>
      <p:ext uri="{BB962C8B-B14F-4D97-AF65-F5344CB8AC3E}">
        <p14:creationId xmlns:p14="http://schemas.microsoft.com/office/powerpoint/2010/main" val="22995269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45</a:t>
            </a:fld>
            <a:endParaRPr lang="en-US" altLang="zh-CN"/>
          </a:p>
        </p:txBody>
      </p:sp>
    </p:spTree>
    <p:extLst>
      <p:ext uri="{BB962C8B-B14F-4D97-AF65-F5344CB8AC3E}">
        <p14:creationId xmlns:p14="http://schemas.microsoft.com/office/powerpoint/2010/main" val="17441604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966F891-39E4-4949-84B5-293BD1F65E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807" y="1524000"/>
            <a:ext cx="6117446" cy="4684464"/>
          </a:xfrm>
          <a:prstGeom prst="rect">
            <a:avLst/>
          </a:prstGeom>
        </p:spPr>
      </p:pic>
      <p:sp>
        <p:nvSpPr>
          <p:cNvPr id="4" name="Rectangle 10"/>
          <p:cNvSpPr/>
          <p:nvPr/>
        </p:nvSpPr>
        <p:spPr>
          <a:xfrm>
            <a:off x="4038600" y="3657600"/>
            <a:ext cx="6637866" cy="1654481"/>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5" name="Rectangle 11"/>
          <p:cNvSpPr/>
          <p:nvPr/>
        </p:nvSpPr>
        <p:spPr>
          <a:xfrm>
            <a:off x="304800" y="673897"/>
            <a:ext cx="6117446" cy="719623"/>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sz="2700">
              <a:solidFill>
                <a:srgbClr val="FFFFFF"/>
              </a:solidFill>
            </a:endParaRPr>
          </a:p>
        </p:txBody>
      </p:sp>
      <p:sp>
        <p:nvSpPr>
          <p:cNvPr id="6" name="Rectangle 14"/>
          <p:cNvSpPr/>
          <p:nvPr/>
        </p:nvSpPr>
        <p:spPr>
          <a:xfrm>
            <a:off x="4038600" y="3657600"/>
            <a:ext cx="304800" cy="1654481"/>
          </a:xfrm>
          <a:prstGeom prst="rect">
            <a:avLst/>
          </a:prstGeom>
          <a:solidFill>
            <a:srgbClr val="EB641B"/>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7" name="Rectangle 15"/>
          <p:cNvSpPr/>
          <p:nvPr/>
        </p:nvSpPr>
        <p:spPr>
          <a:xfrm>
            <a:off x="359807" y="665099"/>
            <a:ext cx="187820" cy="73123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dirty="0">
              <a:solidFill>
                <a:srgbClr val="FFFFFF"/>
              </a:solidFill>
            </a:endParaRPr>
          </a:p>
        </p:txBody>
      </p:sp>
      <p:sp>
        <p:nvSpPr>
          <p:cNvPr id="8" name="Title 7"/>
          <p:cNvSpPr>
            <a:spLocks noGrp="1"/>
          </p:cNvSpPr>
          <p:nvPr>
            <p:ph type="ctrTitle"/>
          </p:nvPr>
        </p:nvSpPr>
        <p:spPr>
          <a:xfrm>
            <a:off x="4343400" y="3827594"/>
            <a:ext cx="6142566" cy="1280888"/>
          </a:xfrm>
        </p:spPr>
        <p:txBody>
          <a:bodyPr anchor="ctr"/>
          <a:lstStyle>
            <a:lvl1pPr algn="ctr">
              <a:defRPr sz="2800" baseline="0">
                <a:solidFill>
                  <a:schemeClr val="tx1"/>
                </a:solidFill>
                <a:latin typeface="+mj-lt"/>
                <a:ea typeface="+mj-ea"/>
              </a:defRPr>
            </a:lvl1pPr>
          </a:lstStyle>
          <a:p>
            <a:r>
              <a:rPr lang="zh-CN" altLang="en-US"/>
              <a:t>单击此处编辑母版标题样式</a:t>
            </a:r>
            <a:endParaRPr lang="en-US" dirty="0"/>
          </a:p>
        </p:txBody>
      </p:sp>
      <p:sp>
        <p:nvSpPr>
          <p:cNvPr id="9" name="Subtitle 8"/>
          <p:cNvSpPr>
            <a:spLocks noGrp="1"/>
          </p:cNvSpPr>
          <p:nvPr>
            <p:ph type="subTitle" idx="1"/>
          </p:nvPr>
        </p:nvSpPr>
        <p:spPr>
          <a:xfrm>
            <a:off x="563006" y="726666"/>
            <a:ext cx="5812317" cy="568735"/>
          </a:xfrm>
          <a:prstGeom prst="rect">
            <a:avLst/>
          </a:prstGeom>
        </p:spPr>
        <p:txBody>
          <a:bodyPr anchor="ctr"/>
          <a:lstStyle>
            <a:lvl1pPr marL="0" indent="0" algn="ctr">
              <a:buNone/>
              <a:defRPr sz="2400" baseline="0">
                <a:solidFill>
                  <a:schemeClr val="tx2"/>
                </a:solidFill>
                <a:latin typeface="+mn-lt"/>
                <a:ea typeface="+mn-ea"/>
                <a:cs typeface="+mj-cs"/>
              </a:defRPr>
            </a:lvl1pPr>
            <a:lvl2pPr marL="257175" indent="0" algn="ctr">
              <a:buNone/>
            </a:lvl2pPr>
            <a:lvl3pPr marL="514350" indent="0" algn="ctr">
              <a:buNone/>
            </a:lvl3pPr>
            <a:lvl4pPr marL="771525" indent="0" algn="ctr">
              <a:buNone/>
            </a:lvl4pPr>
            <a:lvl5pPr marL="1028700" indent="0" algn="ctr">
              <a:buNone/>
            </a:lvl5pPr>
            <a:lvl6pPr marL="1285875" indent="0" algn="ctr">
              <a:buNone/>
            </a:lvl6pPr>
            <a:lvl7pPr marL="1543050" indent="0" algn="ctr">
              <a:buNone/>
            </a:lvl7pPr>
            <a:lvl8pPr marL="1800225" indent="0" algn="ctr">
              <a:buNone/>
            </a:lvl8pPr>
            <a:lvl9pPr marL="2057400" indent="0" algn="ctr">
              <a:buNone/>
            </a:lvl9pPr>
          </a:lstStyle>
          <a:p>
            <a:r>
              <a:rPr lang="zh-CN" altLang="en-US"/>
              <a:t>单击此处编辑母版副标题样式</a:t>
            </a:r>
            <a:endParaRPr lang="en-US" dirty="0"/>
          </a:p>
        </p:txBody>
      </p:sp>
      <p:sp>
        <p:nvSpPr>
          <p:cNvPr id="25" name="Text Placeholder 24"/>
          <p:cNvSpPr>
            <a:spLocks noGrp="1"/>
          </p:cNvSpPr>
          <p:nvPr>
            <p:ph type="body" sz="quarter" idx="10"/>
          </p:nvPr>
        </p:nvSpPr>
        <p:spPr>
          <a:xfrm>
            <a:off x="5280025" y="5550204"/>
            <a:ext cx="4273554" cy="790860"/>
          </a:xfrm>
          <a:prstGeom prst="rect">
            <a:avLst/>
          </a:prstGeom>
        </p:spPr>
        <p:txBody>
          <a:bodyPr/>
          <a:lstStyle>
            <a:lvl1pPr marL="0" indent="0" algn="ctr">
              <a:buNone/>
              <a:defRPr sz="2400" baseline="0">
                <a:solidFill>
                  <a:schemeClr val="accent1">
                    <a:lumMod val="60000"/>
                    <a:lumOff val="40000"/>
                  </a:schemeClr>
                </a:solidFill>
                <a:latin typeface="+mn-lt"/>
                <a:ea typeface="+mn-ea"/>
              </a:defRPr>
            </a:lvl1pPr>
          </a:lstStyle>
          <a:p>
            <a:pPr lvl="0"/>
            <a:r>
              <a:rPr lang="zh-CN" altLang="en-US"/>
              <a:t>编辑母版文本样式</a:t>
            </a:r>
          </a:p>
        </p:txBody>
      </p:sp>
    </p:spTree>
    <p:extLst>
      <p:ext uri="{BB962C8B-B14F-4D97-AF65-F5344CB8AC3E}">
        <p14:creationId xmlns:p14="http://schemas.microsoft.com/office/powerpoint/2010/main" val="187039610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ubsection">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22BBD6FA-A54A-485F-87D9-C9652F586C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807" y="1524000"/>
            <a:ext cx="6117446" cy="4684464"/>
          </a:xfrm>
          <a:prstGeom prst="rect">
            <a:avLst/>
          </a:prstGeom>
        </p:spPr>
      </p:pic>
      <p:sp>
        <p:nvSpPr>
          <p:cNvPr id="16" name="Rectangle 10">
            <a:extLst>
              <a:ext uri="{FF2B5EF4-FFF2-40B4-BE49-F238E27FC236}">
                <a16:creationId xmlns:a16="http://schemas.microsoft.com/office/drawing/2014/main" id="{80B6937C-32A7-4CC7-BE4A-AB7A564C7186}"/>
              </a:ext>
            </a:extLst>
          </p:cNvPr>
          <p:cNvSpPr/>
          <p:nvPr/>
        </p:nvSpPr>
        <p:spPr>
          <a:xfrm>
            <a:off x="4038600" y="3657600"/>
            <a:ext cx="6637866" cy="1654481"/>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17" name="Rectangle 14">
            <a:extLst>
              <a:ext uri="{FF2B5EF4-FFF2-40B4-BE49-F238E27FC236}">
                <a16:creationId xmlns:a16="http://schemas.microsoft.com/office/drawing/2014/main" id="{EDC16F34-8BA1-4A4E-B0D4-81397E1E7CD0}"/>
              </a:ext>
            </a:extLst>
          </p:cNvPr>
          <p:cNvSpPr/>
          <p:nvPr/>
        </p:nvSpPr>
        <p:spPr>
          <a:xfrm>
            <a:off x="4038600" y="3657600"/>
            <a:ext cx="304800" cy="1654481"/>
          </a:xfrm>
          <a:prstGeom prst="rect">
            <a:avLst/>
          </a:prstGeom>
          <a:solidFill>
            <a:srgbClr val="EB641B"/>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18" name="Title 7">
            <a:extLst>
              <a:ext uri="{FF2B5EF4-FFF2-40B4-BE49-F238E27FC236}">
                <a16:creationId xmlns:a16="http://schemas.microsoft.com/office/drawing/2014/main" id="{66A552C8-61F4-43FC-A974-9DE54534BA38}"/>
              </a:ext>
            </a:extLst>
          </p:cNvPr>
          <p:cNvSpPr>
            <a:spLocks noGrp="1"/>
          </p:cNvSpPr>
          <p:nvPr>
            <p:ph type="ctrTitle"/>
          </p:nvPr>
        </p:nvSpPr>
        <p:spPr>
          <a:xfrm>
            <a:off x="4343400" y="3827594"/>
            <a:ext cx="6142566" cy="1280888"/>
          </a:xfrm>
        </p:spPr>
        <p:txBody>
          <a:bodyPr anchor="ctr"/>
          <a:lstStyle>
            <a:lvl1pPr algn="ctr">
              <a:defRPr sz="2800" baseline="0">
                <a:solidFill>
                  <a:schemeClr val="tx1"/>
                </a:solidFill>
                <a:latin typeface="+mj-lt"/>
                <a:ea typeface="+mj-ea"/>
              </a:defRPr>
            </a:lvl1pPr>
          </a:lstStyle>
          <a:p>
            <a:r>
              <a:rPr lang="zh-CN" altLang="en-US"/>
              <a:t>单击此处编辑母版标题样式</a:t>
            </a:r>
            <a:endParaRPr lang="en-US" dirty="0"/>
          </a:p>
        </p:txBody>
      </p:sp>
    </p:spTree>
    <p:extLst>
      <p:ext uri="{BB962C8B-B14F-4D97-AF65-F5344CB8AC3E}">
        <p14:creationId xmlns:p14="http://schemas.microsoft.com/office/powerpoint/2010/main" val="2501441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5050A8B-65E7-4672-9976-F9678ACCF210}"/>
              </a:ext>
            </a:extLst>
          </p:cNvPr>
          <p:cNvSpPr>
            <a:spLocks noGrp="1"/>
          </p:cNvSpPr>
          <p:nvPr>
            <p:ph type="title"/>
          </p:nvPr>
        </p:nvSpPr>
        <p:spPr/>
        <p:txBody>
          <a:bodyPr/>
          <a:lstStyle/>
          <a:p>
            <a:r>
              <a:rPr lang="zh-CN" altLang="en-US"/>
              <a:t>单击此处编辑母版标题样式</a:t>
            </a:r>
          </a:p>
        </p:txBody>
      </p:sp>
      <p:sp>
        <p:nvSpPr>
          <p:cNvPr id="8" name="Text Placeholder 12">
            <a:extLst>
              <a:ext uri="{FF2B5EF4-FFF2-40B4-BE49-F238E27FC236}">
                <a16:creationId xmlns:a16="http://schemas.microsoft.com/office/drawing/2014/main" id="{B69B4C9B-667A-475B-923C-B441E63112E2}"/>
              </a:ext>
            </a:extLst>
          </p:cNvPr>
          <p:cNvSpPr>
            <a:spLocks noGrp="1"/>
          </p:cNvSpPr>
          <p:nvPr>
            <p:ph idx="1"/>
          </p:nvPr>
        </p:nvSpPr>
        <p:spPr bwMode="auto">
          <a:xfrm>
            <a:off x="609600" y="990600"/>
            <a:ext cx="109728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baseline="0">
                <a:latin typeface="+mn-lt"/>
              </a:defRPr>
            </a:lvl1pPr>
            <a:lvl2pPr>
              <a:defRPr baseline="0">
                <a:latin typeface="+mn-lt"/>
              </a:defRPr>
            </a:lvl2pPr>
            <a:lvl3pPr>
              <a:defRPr baseline="0">
                <a:latin typeface="+mn-lt"/>
              </a:defRPr>
            </a:lvl3pPr>
            <a:lvl4pPr>
              <a:defRPr baseline="0">
                <a:latin typeface="+mn-lt"/>
              </a:defRPr>
            </a:lvl4pPr>
            <a:lvl5pPr>
              <a:defRPr baseline="0">
                <a:latin typeface="+mn-lt"/>
              </a:defRPr>
            </a:lvl5pPr>
          </a:lstStyle>
          <a:p>
            <a:pPr lvl="0"/>
            <a:r>
              <a:rPr lang="zh-CN" altLang="en-US"/>
              <a:t>编辑母版文本样式</a:t>
            </a:r>
          </a:p>
          <a:p>
            <a:pPr lvl="1"/>
            <a:r>
              <a:rPr lang="zh-CN" altLang="en-US"/>
              <a:t>第二级</a:t>
            </a:r>
          </a:p>
          <a:p>
            <a:pPr lvl="2"/>
            <a:r>
              <a:rPr lang="zh-CN" altLang="en-US"/>
              <a:t>第三级</a:t>
            </a:r>
          </a:p>
        </p:txBody>
      </p:sp>
    </p:spTree>
    <p:extLst>
      <p:ext uri="{BB962C8B-B14F-4D97-AF65-F5344CB8AC3E}">
        <p14:creationId xmlns:p14="http://schemas.microsoft.com/office/powerpoint/2010/main" val="343975331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Just Title">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A3B309-5F91-4EC3-B303-AAA2C66728F2}"/>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360662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7" name="Text Placeholder 12">
            <a:extLst>
              <a:ext uri="{FF2B5EF4-FFF2-40B4-BE49-F238E27FC236}">
                <a16:creationId xmlns:a16="http://schemas.microsoft.com/office/drawing/2014/main" id="{82554C09-2158-4702-9B4A-E0C68913C689}"/>
              </a:ext>
            </a:extLst>
          </p:cNvPr>
          <p:cNvSpPr>
            <a:spLocks noGrp="1"/>
          </p:cNvSpPr>
          <p:nvPr>
            <p:ph idx="1"/>
          </p:nvPr>
        </p:nvSpPr>
        <p:spPr bwMode="auto">
          <a:xfrm>
            <a:off x="609600" y="1066799"/>
            <a:ext cx="5486400" cy="5181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baseline="0">
                <a:latin typeface="+mn-lt"/>
              </a:defRPr>
            </a:lvl1pPr>
            <a:lvl2pPr>
              <a:defRPr baseline="0">
                <a:latin typeface="+mn-lt"/>
              </a:defRPr>
            </a:lvl2pPr>
            <a:lvl3pPr>
              <a:defRPr baseline="0">
                <a:latin typeface="+mn-lt"/>
              </a:defRPr>
            </a:lvl3pPr>
            <a:lvl4pPr>
              <a:defRPr baseline="0">
                <a:latin typeface="+mn-lt"/>
              </a:defRPr>
            </a:lvl4pPr>
            <a:lvl5pPr>
              <a:defRPr baseline="0">
                <a:latin typeface="+mn-l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p:txBody>
      </p:sp>
      <p:sp>
        <p:nvSpPr>
          <p:cNvPr id="8" name="Text Placeholder 12">
            <a:extLst>
              <a:ext uri="{FF2B5EF4-FFF2-40B4-BE49-F238E27FC236}">
                <a16:creationId xmlns:a16="http://schemas.microsoft.com/office/drawing/2014/main" id="{6DDB8618-EAD8-4F6C-91B0-8D6B79685A8E}"/>
              </a:ext>
            </a:extLst>
          </p:cNvPr>
          <p:cNvSpPr>
            <a:spLocks noGrp="1"/>
          </p:cNvSpPr>
          <p:nvPr>
            <p:ph idx="10"/>
          </p:nvPr>
        </p:nvSpPr>
        <p:spPr bwMode="auto">
          <a:xfrm>
            <a:off x="6248400" y="1066800"/>
            <a:ext cx="5334000" cy="5181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p:txBody>
      </p:sp>
      <p:sp>
        <p:nvSpPr>
          <p:cNvPr id="3" name="标题 2">
            <a:extLst>
              <a:ext uri="{FF2B5EF4-FFF2-40B4-BE49-F238E27FC236}">
                <a16:creationId xmlns:a16="http://schemas.microsoft.com/office/drawing/2014/main" id="{63866493-C33C-47CF-99CE-6E19EE056D71}"/>
              </a:ext>
            </a:extLst>
          </p:cNvPr>
          <p:cNvSpPr>
            <a:spLocks noGrp="1"/>
          </p:cNvSpPr>
          <p:nvPr>
            <p:ph type="title"/>
          </p:nvPr>
        </p:nvSpPr>
        <p:spPr/>
        <p:txBody>
          <a:bodyPr/>
          <a:lstStyle/>
          <a:p>
            <a:r>
              <a:rPr lang="zh-CN" altLang="en-US"/>
              <a:t>单击此处编辑母版标题样式</a:t>
            </a:r>
            <a:endParaRPr lang="zh-CN" altLang="en-US" dirty="0"/>
          </a:p>
        </p:txBody>
      </p:sp>
      <p:cxnSp>
        <p:nvCxnSpPr>
          <p:cNvPr id="6" name="直接连接符 5">
            <a:extLst>
              <a:ext uri="{FF2B5EF4-FFF2-40B4-BE49-F238E27FC236}">
                <a16:creationId xmlns:a16="http://schemas.microsoft.com/office/drawing/2014/main" id="{8BBF6941-949E-4A04-9A27-6C5758225CF1}"/>
              </a:ext>
            </a:extLst>
          </p:cNvPr>
          <p:cNvCxnSpPr/>
          <p:nvPr/>
        </p:nvCxnSpPr>
        <p:spPr>
          <a:xfrm>
            <a:off x="6172200" y="1066800"/>
            <a:ext cx="0" cy="51816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863490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Text_IMG">
    <p:spTree>
      <p:nvGrpSpPr>
        <p:cNvPr id="1" name=""/>
        <p:cNvGrpSpPr/>
        <p:nvPr/>
      </p:nvGrpSpPr>
      <p:grpSpPr>
        <a:xfrm>
          <a:off x="0" y="0"/>
          <a:ext cx="0" cy="0"/>
          <a:chOff x="0" y="0"/>
          <a:chExt cx="0" cy="0"/>
        </a:xfrm>
      </p:grpSpPr>
      <p:sp>
        <p:nvSpPr>
          <p:cNvPr id="7" name="Text Placeholder 12">
            <a:extLst>
              <a:ext uri="{FF2B5EF4-FFF2-40B4-BE49-F238E27FC236}">
                <a16:creationId xmlns:a16="http://schemas.microsoft.com/office/drawing/2014/main" id="{82554C09-2158-4702-9B4A-E0C68913C689}"/>
              </a:ext>
            </a:extLst>
          </p:cNvPr>
          <p:cNvSpPr>
            <a:spLocks noGrp="1"/>
          </p:cNvSpPr>
          <p:nvPr>
            <p:ph idx="1"/>
          </p:nvPr>
        </p:nvSpPr>
        <p:spPr bwMode="auto">
          <a:xfrm>
            <a:off x="609599" y="990600"/>
            <a:ext cx="5885794"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baseline="0">
                <a:latin typeface="+mn-lt"/>
              </a:defRPr>
            </a:lvl1pPr>
            <a:lvl2pPr>
              <a:defRPr baseline="0">
                <a:latin typeface="+mn-lt"/>
              </a:defRPr>
            </a:lvl2pPr>
            <a:lvl3pPr>
              <a:defRPr baseline="0">
                <a:latin typeface="+mn-lt"/>
              </a:defRPr>
            </a:lvl3pPr>
            <a:lvl4pPr>
              <a:defRPr baseline="0">
                <a:latin typeface="+mn-lt"/>
              </a:defRPr>
            </a:lvl4pPr>
            <a:lvl5pPr>
              <a:defRPr baseline="0">
                <a:latin typeface="+mn-l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p:txBody>
      </p:sp>
      <p:sp>
        <p:nvSpPr>
          <p:cNvPr id="3" name="标题 2">
            <a:extLst>
              <a:ext uri="{FF2B5EF4-FFF2-40B4-BE49-F238E27FC236}">
                <a16:creationId xmlns:a16="http://schemas.microsoft.com/office/drawing/2014/main" id="{63866493-C33C-47CF-99CE-6E19EE056D71}"/>
              </a:ext>
            </a:extLst>
          </p:cNvPr>
          <p:cNvSpPr>
            <a:spLocks noGrp="1"/>
          </p:cNvSpPr>
          <p:nvPr>
            <p:ph type="title"/>
          </p:nvPr>
        </p:nvSpPr>
        <p:spPr/>
        <p:txBody>
          <a:bodyPr/>
          <a:lstStyle/>
          <a:p>
            <a:r>
              <a:rPr lang="zh-CN" altLang="en-US"/>
              <a:t>单击此处编辑母版标题样式</a:t>
            </a:r>
          </a:p>
        </p:txBody>
      </p:sp>
      <p:cxnSp>
        <p:nvCxnSpPr>
          <p:cNvPr id="4" name="直接连接符 3">
            <a:extLst>
              <a:ext uri="{FF2B5EF4-FFF2-40B4-BE49-F238E27FC236}">
                <a16:creationId xmlns:a16="http://schemas.microsoft.com/office/drawing/2014/main" id="{F4E9E31A-5EEF-4165-B7AF-A4322917E67F}"/>
              </a:ext>
            </a:extLst>
          </p:cNvPr>
          <p:cNvCxnSpPr>
            <a:cxnSpLocks/>
          </p:cNvCxnSpPr>
          <p:nvPr/>
        </p:nvCxnSpPr>
        <p:spPr>
          <a:xfrm>
            <a:off x="6553200" y="1066800"/>
            <a:ext cx="0" cy="5334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8945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2983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152401"/>
            <a:ext cx="10972800" cy="733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endParaRPr lang="en-US" altLang="zh-CN" dirty="0"/>
          </a:p>
        </p:txBody>
      </p:sp>
      <p:sp>
        <p:nvSpPr>
          <p:cNvPr id="1027" name="Text Placeholder 12"/>
          <p:cNvSpPr>
            <a:spLocks noGrp="1"/>
          </p:cNvSpPr>
          <p:nvPr>
            <p:ph type="body" idx="1"/>
          </p:nvPr>
        </p:nvSpPr>
        <p:spPr bwMode="auto">
          <a:xfrm>
            <a:off x="609600" y="990599"/>
            <a:ext cx="10972800" cy="541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编辑母版文本样式</a:t>
            </a:r>
          </a:p>
          <a:p>
            <a:pPr lvl="1"/>
            <a:r>
              <a:rPr lang="zh-CN" altLang="en-US" dirty="0"/>
              <a:t>第二级</a:t>
            </a:r>
          </a:p>
          <a:p>
            <a:pPr lvl="2"/>
            <a:r>
              <a:rPr lang="zh-CN" altLang="en-US" dirty="0"/>
              <a:t>第三级</a:t>
            </a:r>
            <a:endParaRPr lang="en-US" altLang="zh-CN" dirty="0"/>
          </a:p>
        </p:txBody>
      </p:sp>
      <p:sp>
        <p:nvSpPr>
          <p:cNvPr id="1032" name="Straight Connector 28"/>
          <p:cNvSpPr>
            <a:spLocks noChangeShapeType="1"/>
          </p:cNvSpPr>
          <p:nvPr/>
        </p:nvSpPr>
        <p:spPr bwMode="auto">
          <a:xfrm>
            <a:off x="609600" y="898949"/>
            <a:ext cx="109728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Footer Placeholder 2">
            <a:extLst>
              <a:ext uri="{FF2B5EF4-FFF2-40B4-BE49-F238E27FC236}">
                <a16:creationId xmlns:a16="http://schemas.microsoft.com/office/drawing/2014/main" id="{B4DA9BC6-43CA-408A-BEB7-8746EA49C870}"/>
              </a:ext>
            </a:extLst>
          </p:cNvPr>
          <p:cNvSpPr txBox="1">
            <a:spLocks/>
          </p:cNvSpPr>
          <p:nvPr/>
        </p:nvSpPr>
        <p:spPr>
          <a:xfrm>
            <a:off x="4114800" y="6492875"/>
            <a:ext cx="3962400" cy="365125"/>
          </a:xfrm>
          <a:prstGeom prst="rect">
            <a:avLst/>
          </a:prstGeom>
        </p:spPr>
        <p:txBody>
          <a:bodyPr vert="horz" wrap="square" lIns="0" tIns="0" rIns="0" bIns="0" numCol="1" anchor="ctr"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2"/>
                </a:solidFill>
                <a:latin typeface="Cambria" panose="02040503050406030204" pitchFamily="18"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r>
              <a:rPr lang="en-US" altLang="zh-CN" sz="1400" dirty="0">
                <a:latin typeface="+mn-ea"/>
                <a:ea typeface="+mn-ea"/>
              </a:rPr>
              <a:t>《</a:t>
            </a:r>
            <a:r>
              <a:rPr lang="zh-CN" altLang="en-US" sz="1400" dirty="0">
                <a:latin typeface="+mn-ea"/>
                <a:ea typeface="+mn-ea"/>
              </a:rPr>
              <a:t>神经网络与深度学习</a:t>
            </a:r>
            <a:r>
              <a:rPr lang="en-US" altLang="zh-CN" sz="1400" dirty="0">
                <a:latin typeface="+mn-ea"/>
                <a:ea typeface="+mn-ea"/>
              </a:rPr>
              <a:t>》</a:t>
            </a:r>
            <a:endParaRPr lang="zh-CN" altLang="zh-CN" sz="1400" dirty="0">
              <a:latin typeface="+mn-ea"/>
              <a:ea typeface="+mn-ea"/>
            </a:endParaRPr>
          </a:p>
        </p:txBody>
      </p:sp>
      <p:sp>
        <p:nvSpPr>
          <p:cNvPr id="13" name="Rectangle 17">
            <a:extLst>
              <a:ext uri="{FF2B5EF4-FFF2-40B4-BE49-F238E27FC236}">
                <a16:creationId xmlns:a16="http://schemas.microsoft.com/office/drawing/2014/main" id="{5ED38AFC-6FCA-41F0-B286-064BF4E13FFB}"/>
              </a:ext>
            </a:extLst>
          </p:cNvPr>
          <p:cNvSpPr/>
          <p:nvPr/>
        </p:nvSpPr>
        <p:spPr>
          <a:xfrm>
            <a:off x="10972800" y="6521549"/>
            <a:ext cx="375424" cy="307777"/>
          </a:xfrm>
          <a:prstGeom prst="rect">
            <a:avLst/>
          </a:prstGeom>
        </p:spPr>
        <p:txBody>
          <a:bodyPr wrap="none" anchor="ctr">
            <a:spAutoFit/>
          </a:bodyPr>
          <a:lstStyle/>
          <a:p>
            <a:pPr>
              <a:defRPr/>
            </a:pPr>
            <a:fld id="{7A0AC270-0923-4589-A51D-6091E7C5371F}" type="slidenum">
              <a:rPr lang="zh-CN" altLang="en-US" sz="1400" kern="1200" smtClean="0">
                <a:solidFill>
                  <a:schemeClr val="tx2"/>
                </a:solidFill>
                <a:latin typeface="+mn-ea"/>
                <a:ea typeface="+mn-ea"/>
                <a:cs typeface="Arial" panose="020B0604020202020204" pitchFamily="34" charset="0"/>
              </a:rPr>
              <a:pPr>
                <a:defRPr/>
              </a:pPr>
              <a:t>‹#›</a:t>
            </a:fld>
            <a:endParaRPr lang="en-US" altLang="zh-CN" sz="1400" kern="1200" dirty="0">
              <a:solidFill>
                <a:schemeClr val="tx2"/>
              </a:solidFill>
              <a:latin typeface="+mn-ea"/>
              <a:ea typeface="+mn-ea"/>
              <a:cs typeface="Arial" panose="020B0604020202020204" pitchFamily="34" charset="0"/>
            </a:endParaRPr>
          </a:p>
        </p:txBody>
      </p:sp>
      <p:sp>
        <p:nvSpPr>
          <p:cNvPr id="12" name="Straight Connector 27">
            <a:extLst>
              <a:ext uri="{FF2B5EF4-FFF2-40B4-BE49-F238E27FC236}">
                <a16:creationId xmlns:a16="http://schemas.microsoft.com/office/drawing/2014/main" id="{D59285DE-C1F6-4B21-8CFE-2BDB4A08D1BB}"/>
              </a:ext>
            </a:extLst>
          </p:cNvPr>
          <p:cNvSpPr>
            <a:spLocks noChangeShapeType="1"/>
          </p:cNvSpPr>
          <p:nvPr/>
        </p:nvSpPr>
        <p:spPr bwMode="auto">
          <a:xfrm>
            <a:off x="609600" y="6477000"/>
            <a:ext cx="10972800" cy="0"/>
          </a:xfrm>
          <a:prstGeom prst="line">
            <a:avLst/>
          </a:prstGeom>
          <a:noFill/>
          <a:ln w="9525" algn="ctr">
            <a:solidFill>
              <a:schemeClr val="accent2"/>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sz="1400">
              <a:latin typeface="+mn-ea"/>
              <a:ea typeface="+mn-ea"/>
            </a:endParaRPr>
          </a:p>
        </p:txBody>
      </p:sp>
    </p:spTree>
    <p:extLst>
      <p:ext uri="{BB962C8B-B14F-4D97-AF65-F5344CB8AC3E}">
        <p14:creationId xmlns:p14="http://schemas.microsoft.com/office/powerpoint/2010/main" val="4178047113"/>
      </p:ext>
    </p:extLst>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Lst>
  <p:hf hdr="0" ftr="0" dt="0"/>
  <p:txStyles>
    <p:titleStyle>
      <a:lvl1pPr algn="l" rtl="0" eaLnBrk="1" fontAlgn="base" hangingPunct="1">
        <a:spcBef>
          <a:spcPct val="0"/>
        </a:spcBef>
        <a:spcAft>
          <a:spcPct val="0"/>
        </a:spcAft>
        <a:defRPr sz="3200" kern="1200">
          <a:solidFill>
            <a:srgbClr val="000000"/>
          </a:solidFill>
          <a:latin typeface="+mj-lt"/>
          <a:ea typeface="+mj-ea"/>
          <a:cs typeface="+mj-cs"/>
        </a:defRPr>
      </a:lvl1pPr>
      <a:lvl2pPr algn="l" rtl="0" eaLnBrk="1" fontAlgn="base" hangingPunct="1">
        <a:spcBef>
          <a:spcPct val="0"/>
        </a:spcBef>
        <a:spcAft>
          <a:spcPct val="0"/>
        </a:spcAft>
        <a:defRPr sz="2025">
          <a:solidFill>
            <a:schemeClr val="tx2"/>
          </a:solidFill>
          <a:latin typeface="Calibri" panose="020F0502020204030204" pitchFamily="34" charset="0"/>
        </a:defRPr>
      </a:lvl2pPr>
      <a:lvl3pPr algn="l" rtl="0" eaLnBrk="1" fontAlgn="base" hangingPunct="1">
        <a:spcBef>
          <a:spcPct val="0"/>
        </a:spcBef>
        <a:spcAft>
          <a:spcPct val="0"/>
        </a:spcAft>
        <a:defRPr sz="2025">
          <a:solidFill>
            <a:schemeClr val="tx2"/>
          </a:solidFill>
          <a:latin typeface="Calibri" panose="020F0502020204030204" pitchFamily="34" charset="0"/>
        </a:defRPr>
      </a:lvl3pPr>
      <a:lvl4pPr algn="l" rtl="0" eaLnBrk="1" fontAlgn="base" hangingPunct="1">
        <a:spcBef>
          <a:spcPct val="0"/>
        </a:spcBef>
        <a:spcAft>
          <a:spcPct val="0"/>
        </a:spcAft>
        <a:defRPr sz="2025">
          <a:solidFill>
            <a:schemeClr val="tx2"/>
          </a:solidFill>
          <a:latin typeface="Calibri" panose="020F0502020204030204" pitchFamily="34" charset="0"/>
        </a:defRPr>
      </a:lvl4pPr>
      <a:lvl5pPr algn="l" rtl="0" eaLnBrk="1" fontAlgn="base" hangingPunct="1">
        <a:spcBef>
          <a:spcPct val="0"/>
        </a:spcBef>
        <a:spcAft>
          <a:spcPct val="0"/>
        </a:spcAft>
        <a:defRPr sz="2025">
          <a:solidFill>
            <a:schemeClr val="tx2"/>
          </a:solidFill>
          <a:latin typeface="Calibri" panose="020F0502020204030204" pitchFamily="34" charset="0"/>
        </a:defRPr>
      </a:lvl5pPr>
      <a:lvl6pPr marL="257175" algn="l" rtl="0" eaLnBrk="1" fontAlgn="base" hangingPunct="1">
        <a:spcBef>
          <a:spcPct val="0"/>
        </a:spcBef>
        <a:spcAft>
          <a:spcPct val="0"/>
        </a:spcAft>
        <a:defRPr sz="1800">
          <a:solidFill>
            <a:schemeClr val="tx2"/>
          </a:solidFill>
          <a:latin typeface="Calibri" panose="020F0502020204030204" pitchFamily="34" charset="0"/>
        </a:defRPr>
      </a:lvl6pPr>
      <a:lvl7pPr marL="514350" algn="l" rtl="0" eaLnBrk="1" fontAlgn="base" hangingPunct="1">
        <a:spcBef>
          <a:spcPct val="0"/>
        </a:spcBef>
        <a:spcAft>
          <a:spcPct val="0"/>
        </a:spcAft>
        <a:defRPr sz="1800">
          <a:solidFill>
            <a:schemeClr val="tx2"/>
          </a:solidFill>
          <a:latin typeface="Calibri" panose="020F0502020204030204" pitchFamily="34" charset="0"/>
        </a:defRPr>
      </a:lvl7pPr>
      <a:lvl8pPr marL="771525" algn="l" rtl="0" eaLnBrk="1" fontAlgn="base" hangingPunct="1">
        <a:spcBef>
          <a:spcPct val="0"/>
        </a:spcBef>
        <a:spcAft>
          <a:spcPct val="0"/>
        </a:spcAft>
        <a:defRPr sz="1800">
          <a:solidFill>
            <a:schemeClr val="tx2"/>
          </a:solidFill>
          <a:latin typeface="Calibri" panose="020F0502020204030204" pitchFamily="34" charset="0"/>
        </a:defRPr>
      </a:lvl8pPr>
      <a:lvl9pPr marL="1028700" algn="l" rtl="0" eaLnBrk="1" fontAlgn="base" hangingPunct="1">
        <a:spcBef>
          <a:spcPct val="0"/>
        </a:spcBef>
        <a:spcAft>
          <a:spcPct val="0"/>
        </a:spcAft>
        <a:defRPr sz="1800">
          <a:solidFill>
            <a:schemeClr val="tx2"/>
          </a:solidFill>
          <a:latin typeface="Calibri" panose="020F0502020204030204" pitchFamily="34" charset="0"/>
        </a:defRPr>
      </a:lvl9pPr>
    </p:titleStyle>
    <p:body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257175" algn="l" rtl="0" eaLnBrk="1" latinLnBrk="0" hangingPunct="1">
        <a:defRPr kumimoji="0" kern="1200">
          <a:solidFill>
            <a:schemeClr val="tx1"/>
          </a:solidFill>
          <a:latin typeface="+mn-lt"/>
          <a:ea typeface="+mn-ea"/>
          <a:cs typeface="+mn-cs"/>
        </a:defRPr>
      </a:lvl2pPr>
      <a:lvl3pPr marL="514350" algn="l" rtl="0" eaLnBrk="1" latinLnBrk="0" hangingPunct="1">
        <a:defRPr kumimoji="0" kern="1200">
          <a:solidFill>
            <a:schemeClr val="tx1"/>
          </a:solidFill>
          <a:latin typeface="+mn-lt"/>
          <a:ea typeface="+mn-ea"/>
          <a:cs typeface="+mn-cs"/>
        </a:defRPr>
      </a:lvl3pPr>
      <a:lvl4pPr marL="771525" algn="l" rtl="0" eaLnBrk="1" latinLnBrk="0" hangingPunct="1">
        <a:defRPr kumimoji="0" kern="1200">
          <a:solidFill>
            <a:schemeClr val="tx1"/>
          </a:solidFill>
          <a:latin typeface="+mn-lt"/>
          <a:ea typeface="+mn-ea"/>
          <a:cs typeface="+mn-cs"/>
        </a:defRPr>
      </a:lvl4pPr>
      <a:lvl5pPr marL="1028700" algn="l" rtl="0" eaLnBrk="1" latinLnBrk="0" hangingPunct="1">
        <a:defRPr kumimoji="0" kern="1200">
          <a:solidFill>
            <a:schemeClr val="tx1"/>
          </a:solidFill>
          <a:latin typeface="+mn-lt"/>
          <a:ea typeface="+mn-ea"/>
          <a:cs typeface="+mn-cs"/>
        </a:defRPr>
      </a:lvl5pPr>
      <a:lvl6pPr marL="1285875" algn="l" rtl="0" eaLnBrk="1" latinLnBrk="0" hangingPunct="1">
        <a:defRPr kumimoji="0" kern="1200">
          <a:solidFill>
            <a:schemeClr val="tx1"/>
          </a:solidFill>
          <a:latin typeface="+mn-lt"/>
          <a:ea typeface="+mn-ea"/>
          <a:cs typeface="+mn-cs"/>
        </a:defRPr>
      </a:lvl6pPr>
      <a:lvl7pPr marL="1543050" algn="l" rtl="0" eaLnBrk="1" latinLnBrk="0" hangingPunct="1">
        <a:defRPr kumimoji="0" kern="1200">
          <a:solidFill>
            <a:schemeClr val="tx1"/>
          </a:solidFill>
          <a:latin typeface="+mn-lt"/>
          <a:ea typeface="+mn-ea"/>
          <a:cs typeface="+mn-cs"/>
        </a:defRPr>
      </a:lvl7pPr>
      <a:lvl8pPr marL="1800225" algn="l" rtl="0" eaLnBrk="1" latinLnBrk="0" hangingPunct="1">
        <a:defRPr kumimoji="0" kern="1200">
          <a:solidFill>
            <a:schemeClr val="tx1"/>
          </a:solidFill>
          <a:latin typeface="+mn-lt"/>
          <a:ea typeface="+mn-ea"/>
          <a:cs typeface="+mn-cs"/>
        </a:defRPr>
      </a:lvl8pPr>
      <a:lvl9pPr marL="20574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nndl.github.io/"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customXml" Target="../ink/ink1.xml"/><Relationship Id="rId4" Type="http://schemas.openxmlformats.org/officeDocument/2006/relationships/hyperlink" Target="structure%20of%20brain.mp4"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1.xml"/><Relationship Id="rId6" Type="http://schemas.openxmlformats.org/officeDocument/2006/relationships/image" Target="../media/image6.tmp"/><Relationship Id="rId5" Type="http://schemas.openxmlformats.org/officeDocument/2006/relationships/image" Target="../media/image5.tmp"/><Relationship Id="rId4" Type="http://schemas.openxmlformats.org/officeDocument/2006/relationships/image" Target="../media/image4.tmp"/></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tmp"/><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tmp"/><Relationship Id="rId4" Type="http://schemas.openxmlformats.org/officeDocument/2006/relationships/image" Target="../media/image8.tmp"/></Relationships>
</file>

<file path=ppt/slides/_rels/slide9.xml.rels><?xml version="1.0" encoding="UTF-8" standalone="yes"?>
<Relationships xmlns="http://schemas.openxmlformats.org/package/2006/relationships"><Relationship Id="rId8" Type="http://schemas.openxmlformats.org/officeDocument/2006/relationships/image" Target="../media/image16.tmp"/><Relationship Id="rId3" Type="http://schemas.openxmlformats.org/officeDocument/2006/relationships/image" Target="../media/image11.tmp"/><Relationship Id="rId7" Type="http://schemas.openxmlformats.org/officeDocument/2006/relationships/image" Target="../media/image15.tmp"/><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4.tmp"/><Relationship Id="rId5" Type="http://schemas.openxmlformats.org/officeDocument/2006/relationships/image" Target="../media/image13.tmp"/><Relationship Id="rId4" Type="http://schemas.openxmlformats.org/officeDocument/2006/relationships/image" Target="../media/image12.tmp"/></Relationships>
</file>

<file path=ppt/slides/_rels/slide10.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8.tmp"/></Relationships>
</file>

<file path=ppt/slides/_rels/slide11.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1.tmp"/></Relationships>
</file>

<file path=ppt/slides/_rels/slide12.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tmp"/><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3" Type="http://schemas.openxmlformats.org/officeDocument/2006/relationships/customXml" Target="../ink/ink3.xml"/><Relationship Id="rId18" Type="http://schemas.openxmlformats.org/officeDocument/2006/relationships/image" Target="../media/image29.emf"/><Relationship Id="rId3" Type="http://schemas.openxmlformats.org/officeDocument/2006/relationships/customXml" Target="../ink/ink2.xml"/><Relationship Id="rId21" Type="http://schemas.openxmlformats.org/officeDocument/2006/relationships/image" Target="../media/image27.png"/><Relationship Id="rId12" Type="http://schemas.openxmlformats.org/officeDocument/2006/relationships/image" Target="../media/image26.emf"/><Relationship Id="rId2" Type="http://schemas.openxmlformats.org/officeDocument/2006/relationships/notesSlide" Target="../notesSlides/notesSlide15.xml"/><Relationship Id="rId20" Type="http://schemas.openxmlformats.org/officeDocument/2006/relationships/image" Target="../media/image26.tmp"/><Relationship Id="rId1" Type="http://schemas.openxmlformats.org/officeDocument/2006/relationships/slideLayout" Target="../slideLayouts/slideLayout4.xml"/><Relationship Id="rId19" Type="http://schemas.openxmlformats.org/officeDocument/2006/relationships/image" Target="../media/image25.tmp"/></Relationships>
</file>

<file path=ppt/slides/_rels/slide19.xml.rels><?xml version="1.0" encoding="UTF-8" standalone="yes"?>
<Relationships xmlns="http://schemas.openxmlformats.org/package/2006/relationships"><Relationship Id="rId3" Type="http://schemas.openxmlformats.org/officeDocument/2006/relationships/image" Target="../media/image28.tmp"/><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29.tmp"/><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hyperlink" Target="https://databasecamp.de/wp-content/uploads/image-23-e1667663718858.png" TargetMode="External"/><Relationship Id="rId3" Type="http://schemas.openxmlformats.org/officeDocument/2006/relationships/image" Target="../media/image31.tmp"/><Relationship Id="rId7"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hyperlink" Target="https://mp.weixin.qq.com/s?__biz=MzI1MjQ2OTQ3Ng==&amp;mid=2247602368&amp;idx=3&amp;sn=b7ed88cfebbf4cc1a79469fa5ff220e5&amp;chksm=e9e0594bde97d05d34897c4ecd9668af392dd18a1d2a68916a9c975d9523279c3f4995b1acaa&amp;scene=27" TargetMode="External"/><Relationship Id="rId5" Type="http://schemas.openxmlformats.org/officeDocument/2006/relationships/image" Target="../media/image33.png"/><Relationship Id="rId4" Type="http://schemas.openxmlformats.org/officeDocument/2006/relationships/image" Target="../media/image32.tmp"/></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38.tmp"/><Relationship Id="rId5" Type="http://schemas.openxmlformats.org/officeDocument/2006/relationships/image" Target="../media/image37.tmp"/><Relationship Id="rId4" Type="http://schemas.openxmlformats.org/officeDocument/2006/relationships/image" Target="../media/image36.tmp"/></Relationships>
</file>

<file path=ppt/slides/_rels/slide25.xml.rels><?xml version="1.0" encoding="UTF-8" standalone="yes"?>
<Relationships xmlns="http://schemas.openxmlformats.org/package/2006/relationships"><Relationship Id="rId3" Type="http://schemas.openxmlformats.org/officeDocument/2006/relationships/image" Target="../media/image361.png"/><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9.tmp"/><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40.tmp"/></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54.png"/><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43.tmp"/><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44.tmp"/></Relationships>
</file>

<file path=ppt/slides/_rels/slide30.xml.rels><?xml version="1.0" encoding="UTF-8" standalone="yes"?>
<Relationships xmlns="http://schemas.openxmlformats.org/package/2006/relationships"><Relationship Id="rId3" Type="http://schemas.openxmlformats.org/officeDocument/2006/relationships/image" Target="../media/image44.tmp"/><Relationship Id="rId2" Type="http://schemas.openxmlformats.org/officeDocument/2006/relationships/image" Target="../media/image45.png"/><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4.xml"/><Relationship Id="rId7" Type="http://schemas.openxmlformats.org/officeDocument/2006/relationships/image" Target="../media/image360.png"/><Relationship Id="rId2" Type="http://schemas.openxmlformats.org/officeDocument/2006/relationships/tags" Target="../tags/tag3.xml"/><Relationship Id="rId1" Type="http://schemas.openxmlformats.org/officeDocument/2006/relationships/vmlDrawing" Target="../drawings/vmlDrawing1.vml"/><Relationship Id="rId10" Type="http://schemas.openxmlformats.org/officeDocument/2006/relationships/image" Target="../media/image370.PNG"/><Relationship Id="rId4" Type="http://schemas.openxmlformats.org/officeDocument/2006/relationships/notesSlide" Target="../notesSlides/notesSlide24.xml"/><Relationship Id="rId9" Type="http://schemas.openxmlformats.org/officeDocument/2006/relationships/image" Target="../media/image46.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8.tmp"/><Relationship Id="rId2" Type="http://schemas.openxmlformats.org/officeDocument/2006/relationships/image" Target="../media/image47.tmp"/><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9.tmp"/><Relationship Id="rId2" Type="http://schemas.openxmlformats.org/officeDocument/2006/relationships/image" Target="../media/image48.tmp"/><Relationship Id="rId1" Type="http://schemas.openxmlformats.org/officeDocument/2006/relationships/slideLayout" Target="../slideLayouts/slideLayout4.xml"/><Relationship Id="rId4" Type="http://schemas.openxmlformats.org/officeDocument/2006/relationships/image" Target="../media/image50.tmp"/></Relationships>
</file>

<file path=ppt/slides/_rels/slide35.xml.rels><?xml version="1.0" encoding="UTF-8" standalone="yes"?>
<Relationships xmlns="http://schemas.openxmlformats.org/package/2006/relationships"><Relationship Id="rId3" Type="http://schemas.openxmlformats.org/officeDocument/2006/relationships/image" Target="../media/image48.tmp"/><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50.tmp"/></Relationships>
</file>

<file path=ppt/slides/_rels/slide3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notesSlide" Target="../notesSlides/notesSlide28.xml"/><Relationship Id="rId7" Type="http://schemas.openxmlformats.org/officeDocument/2006/relationships/diagramQuickStyle" Target="../diagrams/quickStyle1.xml"/><Relationship Id="rId2" Type="http://schemas.openxmlformats.org/officeDocument/2006/relationships/slideLayout" Target="../slideLayouts/slideLayout4.xml"/><Relationship Id="rId1" Type="http://schemas.openxmlformats.org/officeDocument/2006/relationships/tags" Target="../tags/tag4.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53.jpeg"/><Relationship Id="rId9" Type="http://schemas.microsoft.com/office/2007/relationships/diagramDrawing" Target="../diagrams/drawing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4.tmp"/><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3" Type="http://schemas.openxmlformats.org/officeDocument/2006/relationships/image" Target="../media/image56.tmp"/><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72.png"/></Relationships>
</file>

<file path=ppt/slides/_rels/slide4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p:txBody>
          <a:bodyPr/>
          <a:lstStyle/>
          <a:p>
            <a:r>
              <a:rPr lang="zh-CN" altLang="en-US"/>
              <a:t>前馈神经网络</a:t>
            </a:r>
            <a:endParaRPr lang="zh-CN" altLang="en-US" dirty="0"/>
          </a:p>
        </p:txBody>
      </p:sp>
      <p:sp>
        <p:nvSpPr>
          <p:cNvPr id="6" name="副标题 5"/>
          <p:cNvSpPr>
            <a:spLocks noGrp="1"/>
          </p:cNvSpPr>
          <p:nvPr>
            <p:ph type="subTitle" idx="1"/>
          </p:nvPr>
        </p:nvSpPr>
        <p:spPr/>
        <p:txBody>
          <a:bodyPr/>
          <a:lstStyle/>
          <a:p>
            <a:r>
              <a:rPr lang="en-US" altLang="zh-CN"/>
              <a:t>《</a:t>
            </a:r>
            <a:r>
              <a:rPr lang="zh-CN" altLang="en-US"/>
              <a:t>神经网络与深度学习</a:t>
            </a:r>
            <a:r>
              <a:rPr lang="en-US" altLang="zh-CN"/>
              <a:t>》</a:t>
            </a:r>
            <a:endParaRPr lang="zh-CN" altLang="en-US" dirty="0"/>
          </a:p>
        </p:txBody>
      </p:sp>
      <p:sp>
        <p:nvSpPr>
          <p:cNvPr id="15" name="Text Placeholder 14"/>
          <p:cNvSpPr>
            <a:spLocks noGrp="1"/>
          </p:cNvSpPr>
          <p:nvPr>
            <p:ph type="body" sz="quarter" idx="10"/>
          </p:nvPr>
        </p:nvSpPr>
        <p:spPr/>
        <p:txBody>
          <a:bodyPr/>
          <a:lstStyle/>
          <a:p>
            <a:r>
              <a:rPr lang="zh-CN" altLang="en-US" dirty="0">
                <a:hlinkClick r:id="rId3"/>
              </a:rPr>
              <a:t>袁亚超</a:t>
            </a:r>
            <a:endParaRPr lang="en-US" altLang="zh-CN" dirty="0">
              <a:hlinkClick r:id="rId3"/>
            </a:endParaRPr>
          </a:p>
          <a:p>
            <a:r>
              <a:rPr lang="en-US" altLang="zh-CN" dirty="0"/>
              <a:t>chao910904@sua.edu.cn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7385B6-D2EB-4D55-8171-B2199C2371BC}"/>
              </a:ext>
            </a:extLst>
          </p:cNvPr>
          <p:cNvSpPr>
            <a:spLocks noGrp="1"/>
          </p:cNvSpPr>
          <p:nvPr>
            <p:ph type="title"/>
          </p:nvPr>
        </p:nvSpPr>
        <p:spPr/>
        <p:txBody>
          <a:bodyPr/>
          <a:lstStyle/>
          <a:p>
            <a:r>
              <a:rPr lang="zh-CN" altLang="en-US" dirty="0"/>
              <a:t>内容</a:t>
            </a:r>
          </a:p>
        </p:txBody>
      </p:sp>
      <p:sp>
        <p:nvSpPr>
          <p:cNvPr id="3" name="内容占位符 2">
            <a:extLst>
              <a:ext uri="{FF2B5EF4-FFF2-40B4-BE49-F238E27FC236}">
                <a16:creationId xmlns:a16="http://schemas.microsoft.com/office/drawing/2014/main" id="{096036C9-A9BE-478E-AAF8-50677D1E1861}"/>
              </a:ext>
            </a:extLst>
          </p:cNvPr>
          <p:cNvSpPr>
            <a:spLocks noGrp="1"/>
          </p:cNvSpPr>
          <p:nvPr>
            <p:ph idx="1"/>
          </p:nvPr>
        </p:nvSpPr>
        <p:spPr/>
        <p:txBody>
          <a:bodyPr/>
          <a:lstStyle/>
          <a:p>
            <a:r>
              <a:rPr lang="zh-CN" altLang="en-US" dirty="0"/>
              <a:t>神经网络</a:t>
            </a:r>
            <a:endParaRPr lang="en-US" altLang="zh-CN" dirty="0"/>
          </a:p>
          <a:p>
            <a:pPr lvl="1"/>
            <a:r>
              <a:rPr lang="zh-CN" altLang="en-US" dirty="0"/>
              <a:t>神经元</a:t>
            </a:r>
            <a:endParaRPr lang="en-US" altLang="zh-CN" dirty="0"/>
          </a:p>
          <a:p>
            <a:pPr lvl="1"/>
            <a:r>
              <a:rPr lang="zh-CN" altLang="en-US" dirty="0"/>
              <a:t>网络结构</a:t>
            </a:r>
            <a:endParaRPr lang="en-US" altLang="zh-CN" dirty="0"/>
          </a:p>
          <a:p>
            <a:r>
              <a:rPr lang="zh-CN" altLang="en-US" dirty="0"/>
              <a:t>前馈神经网络</a:t>
            </a:r>
            <a:endParaRPr lang="en-US" altLang="zh-CN" dirty="0"/>
          </a:p>
          <a:p>
            <a:pPr lvl="1"/>
            <a:r>
              <a:rPr lang="zh-CN" altLang="en-US" dirty="0"/>
              <a:t>参数学习</a:t>
            </a:r>
            <a:endParaRPr lang="en-US" altLang="zh-CN" dirty="0"/>
          </a:p>
          <a:p>
            <a:pPr lvl="1"/>
            <a:r>
              <a:rPr lang="zh-CN" altLang="en-US" dirty="0"/>
              <a:t>计算图与自动微分</a:t>
            </a:r>
            <a:endParaRPr lang="en-US" altLang="zh-CN" dirty="0"/>
          </a:p>
          <a:p>
            <a:pPr lvl="1"/>
            <a:r>
              <a:rPr lang="zh-CN" altLang="en-US" dirty="0"/>
              <a:t>优化问题</a:t>
            </a:r>
            <a:endParaRPr lang="en-US" altLang="zh-CN" dirty="0"/>
          </a:p>
          <a:p>
            <a:pPr lvl="1"/>
            <a:endParaRPr lang="en-US" altLang="zh-CN" dirty="0"/>
          </a:p>
          <a:p>
            <a:endParaRPr lang="zh-CN" altLang="en-US" dirty="0"/>
          </a:p>
        </p:txBody>
      </p:sp>
    </p:spTree>
    <p:extLst>
      <p:ext uri="{BB962C8B-B14F-4D97-AF65-F5344CB8AC3E}">
        <p14:creationId xmlns:p14="http://schemas.microsoft.com/office/powerpoint/2010/main" val="1205211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809F92-8DE2-48CF-9503-E28A23C0D5A6}"/>
              </a:ext>
            </a:extLst>
          </p:cNvPr>
          <p:cNvSpPr>
            <a:spLocks noGrp="1"/>
          </p:cNvSpPr>
          <p:nvPr>
            <p:ph type="ctrTitle"/>
          </p:nvPr>
        </p:nvSpPr>
        <p:spPr/>
        <p:txBody>
          <a:bodyPr/>
          <a:lstStyle/>
          <a:p>
            <a:r>
              <a:rPr lang="en-US" altLang="zh-CN" dirty="0"/>
              <a:t>2.</a:t>
            </a:r>
            <a:r>
              <a:rPr lang="zh-CN" altLang="en-US" dirty="0"/>
              <a:t> </a:t>
            </a:r>
            <a:r>
              <a:rPr lang="en-US" altLang="zh-CN" dirty="0"/>
              <a:t>1</a:t>
            </a:r>
            <a:r>
              <a:rPr lang="zh-CN" altLang="en-US" dirty="0"/>
              <a:t>神经网络</a:t>
            </a:r>
          </a:p>
        </p:txBody>
      </p:sp>
    </p:spTree>
    <p:extLst>
      <p:ext uri="{BB962C8B-B14F-4D97-AF65-F5344CB8AC3E}">
        <p14:creationId xmlns:p14="http://schemas.microsoft.com/office/powerpoint/2010/main" val="766715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809F92-8DE2-48CF-9503-E28A23C0D5A6}"/>
              </a:ext>
            </a:extLst>
          </p:cNvPr>
          <p:cNvSpPr>
            <a:spLocks noGrp="1"/>
          </p:cNvSpPr>
          <p:nvPr>
            <p:ph type="ctrTitle"/>
          </p:nvPr>
        </p:nvSpPr>
        <p:spPr/>
        <p:txBody>
          <a:bodyPr/>
          <a:lstStyle/>
          <a:p>
            <a:r>
              <a:rPr lang="en-US" altLang="zh-CN" dirty="0"/>
              <a:t>2.1.1</a:t>
            </a:r>
            <a:r>
              <a:rPr lang="zh-CN" altLang="en-US" dirty="0"/>
              <a:t> 神经元</a:t>
            </a:r>
          </a:p>
        </p:txBody>
      </p:sp>
    </p:spTree>
    <p:extLst>
      <p:ext uri="{BB962C8B-B14F-4D97-AF65-F5344CB8AC3E}">
        <p14:creationId xmlns:p14="http://schemas.microsoft.com/office/powerpoint/2010/main" val="3468451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内容占位符 3">
            <a:extLst>
              <a:ext uri="{FF2B5EF4-FFF2-40B4-BE49-F238E27FC236}">
                <a16:creationId xmlns:a16="http://schemas.microsoft.com/office/drawing/2014/main" id="{6EF776E0-3CD9-4BEC-8390-8BB2F50942AF}"/>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bwMode="auto">
          <a:xfrm>
            <a:off x="1752600" y="1138237"/>
            <a:ext cx="7107238"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dirty="0"/>
              <a:t>生物神经元</a:t>
            </a:r>
          </a:p>
        </p:txBody>
      </p:sp>
      <p:sp>
        <p:nvSpPr>
          <p:cNvPr id="5" name="矩形 4"/>
          <p:cNvSpPr/>
          <p:nvPr/>
        </p:nvSpPr>
        <p:spPr>
          <a:xfrm>
            <a:off x="6096000" y="4495801"/>
            <a:ext cx="4114800" cy="954107"/>
          </a:xfrm>
          <a:prstGeom prst="rect">
            <a:avLst/>
          </a:prstGeom>
        </p:spPr>
        <p:txBody>
          <a:bodyPr wrap="square">
            <a:spAutoFit/>
          </a:bodyPr>
          <a:lstStyle/>
          <a:p>
            <a:r>
              <a:rPr lang="zh-CN" altLang="en-US" sz="2800" dirty="0"/>
              <a:t>单个神经细胞只有两种状态：兴奋和抑制</a:t>
            </a:r>
          </a:p>
        </p:txBody>
      </p:sp>
      <p:sp>
        <p:nvSpPr>
          <p:cNvPr id="8" name="矩形 7"/>
          <p:cNvSpPr/>
          <p:nvPr/>
        </p:nvSpPr>
        <p:spPr>
          <a:xfrm>
            <a:off x="7772400" y="512782"/>
            <a:ext cx="2595582" cy="369332"/>
          </a:xfrm>
          <a:prstGeom prst="rect">
            <a:avLst/>
          </a:prstGeom>
        </p:spPr>
        <p:txBody>
          <a:bodyPr wrap="none">
            <a:spAutoFit/>
          </a:bodyPr>
          <a:lstStyle/>
          <a:p>
            <a:r>
              <a:rPr lang="en-US" altLang="zh-CN" dirty="0">
                <a:hlinkClick r:id="rId4" action="ppaction://hlinkfile"/>
              </a:rPr>
              <a:t>video:</a:t>
            </a:r>
            <a:r>
              <a:rPr lang="zh-CN" altLang="en-US" dirty="0">
                <a:hlinkClick r:id="rId4" action="ppaction://hlinkfile"/>
              </a:rPr>
              <a:t> structure of brain</a:t>
            </a:r>
            <a:endParaRPr lang="zh-CN" altLang="en-US" dirty="0"/>
          </a:p>
        </p:txBody>
      </p:sp>
      <mc:AlternateContent xmlns:mc="http://schemas.openxmlformats.org/markup-compatibility/2006" xmlns:p14="http://schemas.microsoft.com/office/powerpoint/2010/main">
        <mc:Choice Requires="p14">
          <p:contentPart p14:bwMode="auto" r:id="rId5">
            <p14:nvContentPartPr>
              <p14:cNvPr id="7" name="墨迹 6">
                <a:extLst>
                  <a:ext uri="{FF2B5EF4-FFF2-40B4-BE49-F238E27FC236}">
                    <a16:creationId xmlns:a16="http://schemas.microsoft.com/office/drawing/2014/main" id="{7D19D77C-2407-4E1E-8D64-46971C122407}"/>
                  </a:ext>
                </a:extLst>
              </p14:cNvPr>
              <p14:cNvContentPartPr/>
              <p14:nvPr/>
            </p14:nvContentPartPr>
            <p14:xfrm>
              <a:off x="9720720" y="661320"/>
              <a:ext cx="163080" cy="89640"/>
            </p14:xfrm>
          </p:contentPart>
        </mc:Choice>
        <mc:Fallback xmlns="">
          <p:pic>
            <p:nvPicPr>
              <p:cNvPr id="7" name="墨迹 6">
                <a:extLst>
                  <a:ext uri="{FF2B5EF4-FFF2-40B4-BE49-F238E27FC236}">
                    <a16:creationId xmlns:a16="http://schemas.microsoft.com/office/drawing/2014/main" id="{7D19D77C-2407-4E1E-8D64-46971C122407}"/>
                  </a:ext>
                </a:extLst>
              </p:cNvPr>
              <p:cNvPicPr/>
              <p:nvPr/>
            </p:nvPicPr>
            <p:blipFill>
              <a:blip r:embed="rId8"/>
              <a:stretch>
                <a:fillRect/>
              </a:stretch>
            </p:blipFill>
            <p:spPr>
              <a:xfrm>
                <a:off x="9711360" y="651960"/>
                <a:ext cx="181800" cy="108360"/>
              </a:xfrm>
              <a:prstGeom prst="rect">
                <a:avLst/>
              </a:prstGeom>
            </p:spPr>
          </p:pic>
        </mc:Fallback>
      </mc:AlternateContent>
    </p:spTree>
    <p:extLst>
      <p:ext uri="{BB962C8B-B14F-4D97-AF65-F5344CB8AC3E}">
        <p14:creationId xmlns:p14="http://schemas.microsoft.com/office/powerpoint/2010/main" val="3354367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83034532-044F-48EF-AA0B-4D187FE94C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77892" y="2057400"/>
            <a:ext cx="4883577" cy="3802361"/>
          </a:xfrm>
          <a:prstGeom prst="rect">
            <a:avLst/>
          </a:prstGeom>
        </p:spPr>
      </p:pic>
      <p:sp>
        <p:nvSpPr>
          <p:cNvPr id="2" name="标题 1"/>
          <p:cNvSpPr>
            <a:spLocks noGrp="1"/>
          </p:cNvSpPr>
          <p:nvPr>
            <p:ph type="title"/>
          </p:nvPr>
        </p:nvSpPr>
        <p:spPr/>
        <p:txBody>
          <a:bodyPr/>
          <a:lstStyle/>
          <a:p>
            <a:r>
              <a:rPr lang="zh-CN" altLang="en-US" dirty="0"/>
              <a:t>人工神经元</a:t>
            </a:r>
          </a:p>
        </p:txBody>
      </p:sp>
      <p:sp>
        <p:nvSpPr>
          <p:cNvPr id="3" name="文本框 2">
            <a:extLst>
              <a:ext uri="{FF2B5EF4-FFF2-40B4-BE49-F238E27FC236}">
                <a16:creationId xmlns:a16="http://schemas.microsoft.com/office/drawing/2014/main" id="{B2F6D778-6AA8-4F64-BF44-499071509A6D}"/>
              </a:ext>
            </a:extLst>
          </p:cNvPr>
          <p:cNvSpPr txBox="1"/>
          <p:nvPr/>
        </p:nvSpPr>
        <p:spPr>
          <a:xfrm>
            <a:off x="6270010" y="5181600"/>
            <a:ext cx="2492990" cy="369332"/>
          </a:xfrm>
          <a:prstGeom prst="rect">
            <a:avLst/>
          </a:prstGeom>
          <a:noFill/>
        </p:spPr>
        <p:txBody>
          <a:bodyPr wrap="none" rtlCol="0">
            <a:spAutoFit/>
          </a:bodyPr>
          <a:lstStyle/>
          <a:p>
            <a:r>
              <a:rPr lang="zh-CN" altLang="en-US" dirty="0">
                <a:solidFill>
                  <a:srgbClr val="FF0000"/>
                </a:solidFill>
              </a:rPr>
              <a:t>一个简单的线性模型！</a:t>
            </a:r>
          </a:p>
        </p:txBody>
      </p:sp>
      <p:pic>
        <p:nvPicPr>
          <p:cNvPr id="6" name="图片 5">
            <a:extLst>
              <a:ext uri="{FF2B5EF4-FFF2-40B4-BE49-F238E27FC236}">
                <a16:creationId xmlns:a16="http://schemas.microsoft.com/office/drawing/2014/main" id="{2F01A7F6-6621-47B1-9BD1-02C64B4875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90961" y="1197927"/>
            <a:ext cx="1758097" cy="1261748"/>
          </a:xfrm>
          <a:prstGeom prst="rect">
            <a:avLst/>
          </a:prstGeom>
        </p:spPr>
      </p:pic>
      <p:pic>
        <p:nvPicPr>
          <p:cNvPr id="8" name="图片 7">
            <a:extLst>
              <a:ext uri="{FF2B5EF4-FFF2-40B4-BE49-F238E27FC236}">
                <a16:creationId xmlns:a16="http://schemas.microsoft.com/office/drawing/2014/main" id="{606A4CF6-EA17-4B69-A42E-7AE378F9A0A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39716" y="2002473"/>
            <a:ext cx="1023284" cy="473541"/>
          </a:xfrm>
          <a:prstGeom prst="rect">
            <a:avLst/>
          </a:prstGeom>
        </p:spPr>
      </p:pic>
      <p:cxnSp>
        <p:nvCxnSpPr>
          <p:cNvPr id="10" name="直接箭头连接符 9">
            <a:extLst>
              <a:ext uri="{FF2B5EF4-FFF2-40B4-BE49-F238E27FC236}">
                <a16:creationId xmlns:a16="http://schemas.microsoft.com/office/drawing/2014/main" id="{46038E41-BE83-498F-9284-0E0917F5B7E7}"/>
              </a:ext>
            </a:extLst>
          </p:cNvPr>
          <p:cNvCxnSpPr>
            <a:cxnSpLocks/>
          </p:cNvCxnSpPr>
          <p:nvPr/>
        </p:nvCxnSpPr>
        <p:spPr>
          <a:xfrm flipV="1">
            <a:off x="5334000" y="2459675"/>
            <a:ext cx="485681" cy="588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1AB4CED1-09CB-43F0-811F-9723990C7BB3}"/>
              </a:ext>
            </a:extLst>
          </p:cNvPr>
          <p:cNvCxnSpPr>
            <a:cxnSpLocks/>
          </p:cNvCxnSpPr>
          <p:nvPr/>
        </p:nvCxnSpPr>
        <p:spPr>
          <a:xfrm flipV="1">
            <a:off x="7149058" y="2459675"/>
            <a:ext cx="623342" cy="9354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849516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1BC911-2219-4A8F-B197-119C16218CD3}"/>
              </a:ext>
            </a:extLst>
          </p:cNvPr>
          <p:cNvSpPr>
            <a:spLocks noGrp="1"/>
          </p:cNvSpPr>
          <p:nvPr>
            <p:ph type="title"/>
          </p:nvPr>
        </p:nvSpPr>
        <p:spPr/>
        <p:txBody>
          <a:bodyPr/>
          <a:lstStyle/>
          <a:p>
            <a:r>
              <a:rPr lang="zh-CN" altLang="en-US" dirty="0"/>
              <a:t>激活函数的性质</a:t>
            </a:r>
          </a:p>
        </p:txBody>
      </p:sp>
      <p:sp>
        <p:nvSpPr>
          <p:cNvPr id="3" name="内容占位符 2">
            <a:extLst>
              <a:ext uri="{FF2B5EF4-FFF2-40B4-BE49-F238E27FC236}">
                <a16:creationId xmlns:a16="http://schemas.microsoft.com/office/drawing/2014/main" id="{0DC6B594-104B-4694-A05B-3F355C9FAC99}"/>
              </a:ext>
            </a:extLst>
          </p:cNvPr>
          <p:cNvSpPr>
            <a:spLocks noGrp="1"/>
          </p:cNvSpPr>
          <p:nvPr>
            <p:ph idx="1"/>
          </p:nvPr>
        </p:nvSpPr>
        <p:spPr/>
        <p:txBody>
          <a:bodyPr/>
          <a:lstStyle/>
          <a:p>
            <a:r>
              <a:rPr lang="zh-CN" altLang="en-US" dirty="0"/>
              <a:t>连续并可导（允许少数点上不可导）的非线性函数。</a:t>
            </a:r>
            <a:endParaRPr lang="en-US" altLang="zh-CN" dirty="0"/>
          </a:p>
          <a:p>
            <a:pPr lvl="1"/>
            <a:r>
              <a:rPr lang="zh-CN" altLang="en-US" dirty="0"/>
              <a:t>可导的激活函数可以直接利用</a:t>
            </a:r>
            <a:r>
              <a:rPr lang="zh-CN" altLang="en-US" u="sng" dirty="0"/>
              <a:t>数值优化</a:t>
            </a:r>
            <a:r>
              <a:rPr lang="zh-CN" altLang="en-US" dirty="0"/>
              <a:t>的方法来学习网络参数。</a:t>
            </a:r>
            <a:endParaRPr lang="en-US" altLang="zh-CN" dirty="0"/>
          </a:p>
          <a:p>
            <a:r>
              <a:rPr lang="zh-CN" altLang="en-US" dirty="0"/>
              <a:t>激活函数及其导函数要尽可能的简单</a:t>
            </a:r>
            <a:endParaRPr lang="en-US" altLang="zh-CN" dirty="0"/>
          </a:p>
          <a:p>
            <a:pPr lvl="1"/>
            <a:r>
              <a:rPr lang="zh-CN" altLang="en-US" dirty="0"/>
              <a:t>有利于提高网络</a:t>
            </a:r>
            <a:r>
              <a:rPr lang="zh-CN" altLang="en-US" u="sng" dirty="0"/>
              <a:t>计算效率</a:t>
            </a:r>
            <a:r>
              <a:rPr lang="zh-CN" altLang="en-US" dirty="0"/>
              <a:t>。  </a:t>
            </a:r>
            <a:endParaRPr lang="en-US" altLang="zh-CN" dirty="0"/>
          </a:p>
          <a:p>
            <a:r>
              <a:rPr lang="zh-CN" altLang="en-US" dirty="0"/>
              <a:t>激活函数的导函数的值域要在一个合适的区间内</a:t>
            </a:r>
            <a:endParaRPr lang="en-US" altLang="zh-CN" dirty="0"/>
          </a:p>
          <a:p>
            <a:pPr lvl="1"/>
            <a:r>
              <a:rPr lang="zh-CN" altLang="en-US" dirty="0"/>
              <a:t>不能太大也不能太小，否则会影响训练的效率和稳定性。</a:t>
            </a:r>
            <a:endParaRPr lang="en-US" altLang="zh-CN" dirty="0"/>
          </a:p>
          <a:p>
            <a:r>
              <a:rPr lang="zh-CN" altLang="en-US" dirty="0"/>
              <a:t>单调递增</a:t>
            </a:r>
            <a:r>
              <a:rPr lang="en-US" altLang="zh-CN" dirty="0">
                <a:latin typeface="+mn-lt"/>
              </a:rPr>
              <a:t>???</a:t>
            </a:r>
            <a:endParaRPr lang="en-US" altLang="zh-CN" dirty="0"/>
          </a:p>
          <a:p>
            <a:pPr lvl="1"/>
            <a:r>
              <a:rPr kumimoji="1" lang="zh-CN" altLang="en-US" dirty="0"/>
              <a:t>希望</a:t>
            </a:r>
            <a:r>
              <a:rPr kumimoji="1" lang="en-US" altLang="zh-CN" dirty="0"/>
              <a:t>a</a:t>
            </a:r>
            <a:r>
              <a:rPr kumimoji="1" lang="zh-CN" altLang="en-US" dirty="0"/>
              <a:t>能够反映</a:t>
            </a:r>
            <a:r>
              <a:rPr kumimoji="1" lang="en-US" altLang="zh-CN" dirty="0"/>
              <a:t>z</a:t>
            </a:r>
            <a:r>
              <a:rPr kumimoji="1" lang="zh-CN" altLang="en-US" dirty="0"/>
              <a:t>的变化，但不是一定要单调递增。整体上是上升趋势，局部上有下降</a:t>
            </a:r>
            <a:endParaRPr lang="zh-CN" altLang="en-US" dirty="0">
              <a:latin typeface="+mn-lt"/>
            </a:endParaRPr>
          </a:p>
        </p:txBody>
      </p:sp>
    </p:spTree>
    <p:extLst>
      <p:ext uri="{BB962C8B-B14F-4D97-AF65-F5344CB8AC3E}">
        <p14:creationId xmlns:p14="http://schemas.microsoft.com/office/powerpoint/2010/main" val="428203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常见激活函数 </a:t>
            </a:r>
            <a:r>
              <a:rPr lang="en-US" altLang="zh-CN" dirty="0"/>
              <a:t>–</a:t>
            </a:r>
            <a:r>
              <a:rPr lang="zh-CN" altLang="en-US" dirty="0"/>
              <a:t> </a:t>
            </a:r>
            <a:r>
              <a:rPr lang="en-US" altLang="zh-CN" dirty="0"/>
              <a:t>S</a:t>
            </a:r>
            <a:r>
              <a:rPr lang="zh-CN" altLang="en-US" dirty="0"/>
              <a:t>型函数</a:t>
            </a:r>
          </a:p>
        </p:txBody>
      </p:sp>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8230" y="1752600"/>
            <a:ext cx="2260023" cy="763732"/>
          </a:xfrm>
          <a:prstGeom prst="rect">
            <a:avLst/>
          </a:prstGeom>
        </p:spPr>
      </p:pic>
      <p:pic>
        <p:nvPicPr>
          <p:cNvPr id="5" name="图片 4"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601" y="3048000"/>
            <a:ext cx="3249757" cy="685800"/>
          </a:xfrm>
          <a:prstGeom prst="rect">
            <a:avLst/>
          </a:prstGeom>
        </p:spPr>
      </p:pic>
      <p:pic>
        <p:nvPicPr>
          <p:cNvPr id="7" name="图片 6" descr="屏幕剪辑"/>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81600" y="1371600"/>
            <a:ext cx="3810000" cy="2938738"/>
          </a:xfrm>
          <a:prstGeom prst="rect">
            <a:avLst/>
          </a:prstGeom>
        </p:spPr>
      </p:pic>
      <p:sp>
        <p:nvSpPr>
          <p:cNvPr id="6" name="矩形 5">
            <a:extLst>
              <a:ext uri="{FF2B5EF4-FFF2-40B4-BE49-F238E27FC236}">
                <a16:creationId xmlns:a16="http://schemas.microsoft.com/office/drawing/2014/main" id="{F62E730C-1100-46C0-8BFD-870826845783}"/>
              </a:ext>
            </a:extLst>
          </p:cNvPr>
          <p:cNvSpPr/>
          <p:nvPr/>
        </p:nvSpPr>
        <p:spPr>
          <a:xfrm>
            <a:off x="7239000" y="3810000"/>
            <a:ext cx="4572000" cy="830997"/>
          </a:xfrm>
          <a:prstGeom prst="rect">
            <a:avLst/>
          </a:prstGeom>
        </p:spPr>
        <p:txBody>
          <a:bodyPr wrap="square">
            <a:spAutoFit/>
          </a:bodyPr>
          <a:lstStyle/>
          <a:p>
            <a:r>
              <a:rPr lang="zh-CN" altLang="en-US" sz="1600" dirty="0">
                <a:solidFill>
                  <a:srgbClr val="FF0000"/>
                </a:solidFill>
              </a:rPr>
              <a:t>非零中心化的输出会使得其后一层的神经元的输入发生偏置偏移（</a:t>
            </a:r>
            <a:r>
              <a:rPr lang="en-US" altLang="zh-CN" sz="1600" dirty="0">
                <a:solidFill>
                  <a:srgbClr val="FF0000"/>
                </a:solidFill>
              </a:rPr>
              <a:t>bias shift</a:t>
            </a:r>
            <a:r>
              <a:rPr lang="zh-CN" altLang="en-US" sz="1600" dirty="0">
                <a:solidFill>
                  <a:srgbClr val="FF0000"/>
                </a:solidFill>
              </a:rPr>
              <a:t>），并进一步使得梯度下降的收敛速度变慢。</a:t>
            </a:r>
          </a:p>
        </p:txBody>
      </p:sp>
      <p:sp>
        <p:nvSpPr>
          <p:cNvPr id="8" name="矩形 7">
            <a:extLst>
              <a:ext uri="{FF2B5EF4-FFF2-40B4-BE49-F238E27FC236}">
                <a16:creationId xmlns:a16="http://schemas.microsoft.com/office/drawing/2014/main" id="{A83F80DE-201A-487D-8AFF-D0CC99D0B2FB}"/>
              </a:ext>
            </a:extLst>
          </p:cNvPr>
          <p:cNvSpPr/>
          <p:nvPr/>
        </p:nvSpPr>
        <p:spPr>
          <a:xfrm>
            <a:off x="914400" y="4778406"/>
            <a:ext cx="9601200" cy="1523494"/>
          </a:xfrm>
          <a:prstGeom prst="rect">
            <a:avLst/>
          </a:prstGeom>
        </p:spPr>
        <p:txBody>
          <a:bodyPr wrap="square">
            <a:spAutoFit/>
          </a:bodyPr>
          <a:lstStyle/>
          <a:p>
            <a:pPr marL="153591" lvl="0" indent="-153591" eaLnBrk="1" hangingPunct="1">
              <a:spcBef>
                <a:spcPts val="338"/>
              </a:spcBef>
              <a:buClr>
                <a:srgbClr val="000000"/>
              </a:buClr>
              <a:buSzPct val="76000"/>
              <a:buFont typeface="Wingdings 3" panose="05040102010807070707" pitchFamily="18" charset="2"/>
              <a:buChar char=""/>
            </a:pPr>
            <a:r>
              <a:rPr lang="en-US" altLang="zh-CN" sz="3200" dirty="0">
                <a:solidFill>
                  <a:srgbClr val="C00000"/>
                </a:solidFill>
                <a:latin typeface="Times New Roman"/>
              </a:rPr>
              <a:t>S</a:t>
            </a:r>
            <a:r>
              <a:rPr lang="zh-CN" altLang="en-US" sz="3200" dirty="0">
                <a:solidFill>
                  <a:srgbClr val="C00000"/>
                </a:solidFill>
                <a:latin typeface="Times New Roman"/>
              </a:rPr>
              <a:t>型函数的性质：</a:t>
            </a:r>
            <a:endParaRPr lang="en-US" altLang="zh-CN" sz="3200" dirty="0">
              <a:solidFill>
                <a:srgbClr val="C00000"/>
              </a:solidFill>
              <a:latin typeface="Times New Roman"/>
            </a:endParaRPr>
          </a:p>
          <a:p>
            <a:pPr marL="308075" lvl="1" indent="-153591" eaLnBrk="1" hangingPunct="1">
              <a:spcBef>
                <a:spcPts val="281"/>
              </a:spcBef>
              <a:buClr>
                <a:srgbClr val="000000"/>
              </a:buClr>
              <a:buSzPct val="76000"/>
              <a:buFont typeface="Wingdings 3" panose="05040102010807070707" pitchFamily="18" charset="2"/>
              <a:buChar char=""/>
            </a:pPr>
            <a:r>
              <a:rPr lang="zh-CN" altLang="en-US" sz="2800" dirty="0">
                <a:solidFill>
                  <a:srgbClr val="000000"/>
                </a:solidFill>
                <a:latin typeface="Times New Roman"/>
                <a:cs typeface="+mn-cs"/>
              </a:rPr>
              <a:t>饱和函数</a:t>
            </a:r>
            <a:endParaRPr lang="en-US" altLang="zh-CN" sz="2800" dirty="0">
              <a:solidFill>
                <a:srgbClr val="000000"/>
              </a:solidFill>
              <a:latin typeface="Times New Roman"/>
              <a:cs typeface="+mn-cs"/>
            </a:endParaRPr>
          </a:p>
          <a:p>
            <a:pPr marL="308075" lvl="1" indent="-153591" eaLnBrk="1" hangingPunct="1">
              <a:spcBef>
                <a:spcPts val="281"/>
              </a:spcBef>
              <a:buClr>
                <a:srgbClr val="000000"/>
              </a:buClr>
              <a:buSzPct val="76000"/>
              <a:buFont typeface="Wingdings 3" panose="05040102010807070707" pitchFamily="18" charset="2"/>
              <a:buChar char=""/>
            </a:pPr>
            <a:r>
              <a:rPr lang="en-US" altLang="zh-CN" sz="2800" dirty="0">
                <a:solidFill>
                  <a:srgbClr val="000000"/>
                </a:solidFill>
                <a:latin typeface="Times New Roman"/>
                <a:cs typeface="+mn-cs"/>
              </a:rPr>
              <a:t>Tanh</a:t>
            </a:r>
            <a:r>
              <a:rPr lang="zh-CN" altLang="en-US" sz="2800" dirty="0">
                <a:solidFill>
                  <a:srgbClr val="000000"/>
                </a:solidFill>
                <a:latin typeface="Times New Roman"/>
                <a:cs typeface="+mn-cs"/>
              </a:rPr>
              <a:t>函数是零中心化的，而</a:t>
            </a:r>
            <a:r>
              <a:rPr lang="en-US" altLang="zh-CN" sz="2800" dirty="0">
                <a:solidFill>
                  <a:srgbClr val="000000"/>
                </a:solidFill>
                <a:latin typeface="Times New Roman"/>
                <a:cs typeface="+mn-cs"/>
              </a:rPr>
              <a:t>logistic</a:t>
            </a:r>
            <a:r>
              <a:rPr lang="zh-CN" altLang="en-US" sz="2800" dirty="0">
                <a:solidFill>
                  <a:srgbClr val="000000"/>
                </a:solidFill>
                <a:latin typeface="Times New Roman"/>
                <a:cs typeface="+mn-cs"/>
              </a:rPr>
              <a:t>函数的输出恒大于</a:t>
            </a:r>
            <a:r>
              <a:rPr lang="en-US" altLang="zh-CN" sz="2800" dirty="0">
                <a:solidFill>
                  <a:srgbClr val="000000"/>
                </a:solidFill>
                <a:latin typeface="Times New Roman"/>
                <a:cs typeface="+mn-cs"/>
              </a:rPr>
              <a:t>0</a:t>
            </a:r>
          </a:p>
        </p:txBody>
      </p:sp>
      <p:pic>
        <p:nvPicPr>
          <p:cNvPr id="4" name="图片 3">
            <a:extLst>
              <a:ext uri="{FF2B5EF4-FFF2-40B4-BE49-F238E27FC236}">
                <a16:creationId xmlns:a16="http://schemas.microsoft.com/office/drawing/2014/main" id="{309F1235-16A2-3A41-8180-CF3B56438C00}"/>
              </a:ext>
            </a:extLst>
          </p:cNvPr>
          <p:cNvPicPr>
            <a:picLocks noChangeAspect="1"/>
          </p:cNvPicPr>
          <p:nvPr/>
        </p:nvPicPr>
        <p:blipFill>
          <a:blip r:embed="rId6"/>
          <a:stretch>
            <a:fillRect/>
          </a:stretch>
        </p:blipFill>
        <p:spPr>
          <a:xfrm>
            <a:off x="2209800" y="4157375"/>
            <a:ext cx="2148453" cy="378128"/>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656527E2-99EF-6641-961E-872BEBE6F93A}"/>
                  </a:ext>
                </a:extLst>
              </p:cNvPr>
              <p:cNvSpPr txBox="1"/>
              <p:nvPr/>
            </p:nvSpPr>
            <p:spPr>
              <a:xfrm>
                <a:off x="8763000" y="4796127"/>
                <a:ext cx="2895600" cy="896079"/>
              </a:xfrm>
              <a:prstGeom prst="rect">
                <a:avLst/>
              </a:prstGeom>
              <a:noFill/>
            </p:spPr>
            <p:txBody>
              <a:bodyPr wrap="square" rtlCol="0">
                <a:spAutoFit/>
              </a:bodyPr>
              <a:lstStyle/>
              <a:p>
                <a:r>
                  <a:rPr kumimoji="1" lang="en-US" altLang="zh-CN" dirty="0"/>
                  <a:t>y=f(w*</a:t>
                </a:r>
                <a14:m>
                  <m:oMath xmlns:m="http://schemas.openxmlformats.org/officeDocument/2006/math">
                    <m:r>
                      <a:rPr kumimoji="1" lang="en-US" altLang="zh-CN" i="1" smtClean="0">
                        <a:latin typeface="Cambria Math" panose="02040503050406030204" pitchFamily="18" charset="0"/>
                        <a:ea typeface="Cambria Math" panose="02040503050406030204" pitchFamily="18" charset="0"/>
                      </a:rPr>
                      <m:t>𝜎</m:t>
                    </m:r>
                    <m:r>
                      <a:rPr kumimoji="1" lang="en-US" altLang="zh-CN" b="0" i="1" smtClean="0">
                        <a:latin typeface="Cambria Math" panose="02040503050406030204" pitchFamily="18" charset="0"/>
                        <a:ea typeface="Cambria Math" panose="02040503050406030204" pitchFamily="18" charset="0"/>
                      </a:rPr>
                      <m:t>(</m:t>
                    </m:r>
                    <m:r>
                      <a:rPr kumimoji="1" lang="en-US" altLang="zh-CN" b="0" i="1" smtClean="0">
                        <a:latin typeface="Cambria Math" panose="02040503050406030204" pitchFamily="18" charset="0"/>
                        <a:ea typeface="Cambria Math" panose="02040503050406030204" pitchFamily="18" charset="0"/>
                      </a:rPr>
                      <m:t>𝑥</m:t>
                    </m:r>
                    <m:r>
                      <a:rPr kumimoji="1" lang="en-US" altLang="zh-CN" b="0" i="1" smtClean="0">
                        <a:latin typeface="Cambria Math" panose="02040503050406030204" pitchFamily="18" charset="0"/>
                        <a:ea typeface="Cambria Math" panose="02040503050406030204" pitchFamily="18" charset="0"/>
                      </a:rPr>
                      <m:t>)</m:t>
                    </m:r>
                  </m:oMath>
                </a14:m>
                <a:r>
                  <a:rPr kumimoji="1" lang="en-US" altLang="zh-CN" dirty="0"/>
                  <a:t>)</a:t>
                </a:r>
              </a:p>
              <a:p>
                <a:pPr/>
                <a14:m>
                  <m:oMathPara xmlns:m="http://schemas.openxmlformats.org/officeDocument/2006/math">
                    <m:oMathParaPr>
                      <m:jc m:val="centerGroup"/>
                    </m:oMathParaPr>
                    <m:oMath xmlns:m="http://schemas.openxmlformats.org/officeDocument/2006/math">
                      <m:f>
                        <m:fPr>
                          <m:ctrlPr>
                            <a:rPr kumimoji="1" lang="en-US" altLang="zh-CN" i="1" smtClean="0">
                              <a:latin typeface="Cambria Math" panose="02040503050406030204" pitchFamily="18" charset="0"/>
                            </a:rPr>
                          </m:ctrlPr>
                        </m:fPr>
                        <m:num>
                          <m:r>
                            <a:rPr kumimoji="1" lang="en-US" altLang="zh-CN" i="1" smtClean="0">
                              <a:latin typeface="Cambria Math" panose="02040503050406030204" pitchFamily="18" charset="0"/>
                              <a:ea typeface="Cambria Math" panose="02040503050406030204" pitchFamily="18" charset="0"/>
                            </a:rPr>
                            <m:t>𝜕</m:t>
                          </m:r>
                          <m:r>
                            <m:rPr>
                              <m:sty m:val="p"/>
                            </m:rPr>
                            <a:rPr kumimoji="1" lang="en-US" altLang="zh-CN" i="1">
                              <a:latin typeface="Cambria Math" panose="02040503050406030204" pitchFamily="18" charset="0"/>
                              <a:ea typeface="Cambria Math" panose="02040503050406030204" pitchFamily="18" charset="0"/>
                            </a:rPr>
                            <m:t>y</m:t>
                          </m:r>
                        </m:num>
                        <m:den>
                          <m:r>
                            <a:rPr kumimoji="1" lang="en-US" altLang="zh-CN" i="1" smtClean="0">
                              <a:latin typeface="Cambria Math" panose="02040503050406030204" pitchFamily="18" charset="0"/>
                              <a:ea typeface="Cambria Math" panose="02040503050406030204" pitchFamily="18" charset="0"/>
                            </a:rPr>
                            <m:t>𝜕</m:t>
                          </m:r>
                          <m:r>
                            <a:rPr kumimoji="1" lang="en-US" altLang="zh-CN" b="0" i="1" smtClean="0">
                              <a:latin typeface="Cambria Math" panose="02040503050406030204" pitchFamily="18" charset="0"/>
                              <a:ea typeface="Cambria Math" panose="02040503050406030204" pitchFamily="18" charset="0"/>
                            </a:rPr>
                            <m:t>𝑤</m:t>
                          </m:r>
                        </m:den>
                      </m:f>
                      <m:r>
                        <a:rPr kumimoji="1" lang="en-US" altLang="zh-CN" b="0" i="1" smtClean="0">
                          <a:latin typeface="Cambria Math" panose="02040503050406030204" pitchFamily="18" charset="0"/>
                        </a:rPr>
                        <m:t>=</m:t>
                      </m:r>
                      <m:sSup>
                        <m:sSupPr>
                          <m:ctrlPr>
                            <a:rPr kumimoji="1" lang="en-US" altLang="zh-CN" b="0" i="1" smtClean="0">
                              <a:latin typeface="Cambria Math" panose="02040503050406030204" pitchFamily="18" charset="0"/>
                            </a:rPr>
                          </m:ctrlPr>
                        </m:sSupPr>
                        <m:e>
                          <m:r>
                            <a:rPr kumimoji="1" lang="en-US" altLang="zh-CN" b="0" i="1" smtClean="0">
                              <a:latin typeface="Cambria Math" panose="02040503050406030204" pitchFamily="18" charset="0"/>
                            </a:rPr>
                            <m:t>𝑓</m:t>
                          </m:r>
                        </m:e>
                        <m:sup>
                          <m:r>
                            <a:rPr kumimoji="1" lang="en-US" altLang="zh-CN" b="0" i="1" smtClean="0">
                              <a:latin typeface="Cambria Math" panose="02040503050406030204" pitchFamily="18" charset="0"/>
                            </a:rPr>
                            <m:t>`</m:t>
                          </m:r>
                        </m:sup>
                      </m:sSup>
                      <m:d>
                        <m:dPr>
                          <m:ctrlPr>
                            <a:rPr kumimoji="1" lang="en-US" altLang="zh-CN" b="0" i="1" smtClean="0">
                              <a:latin typeface="Cambria Math" panose="02040503050406030204" pitchFamily="18" charset="0"/>
                            </a:rPr>
                          </m:ctrlPr>
                        </m:dPr>
                        <m:e/>
                      </m:d>
                      <m:r>
                        <a:rPr kumimoji="1" lang="en-US" altLang="zh-CN" b="0" i="1" smtClean="0">
                          <a:latin typeface="Cambria Math" panose="02040503050406030204" pitchFamily="18" charset="0"/>
                        </a:rPr>
                        <m:t>∗</m:t>
                      </m:r>
                      <m:r>
                        <a:rPr kumimoji="1" lang="en-US" altLang="zh-CN" i="1">
                          <a:latin typeface="Cambria Math" panose="02040503050406030204" pitchFamily="18" charset="0"/>
                          <a:ea typeface="Cambria Math" panose="02040503050406030204" pitchFamily="18" charset="0"/>
                        </a:rPr>
                        <m:t>𝜎</m:t>
                      </m:r>
                      <m:r>
                        <a:rPr kumimoji="1" lang="en-US" altLang="zh-CN" i="1">
                          <a:latin typeface="Cambria Math" panose="02040503050406030204" pitchFamily="18" charset="0"/>
                          <a:ea typeface="Cambria Math" panose="02040503050406030204" pitchFamily="18" charset="0"/>
                        </a:rPr>
                        <m:t>(</m:t>
                      </m:r>
                      <m:r>
                        <a:rPr kumimoji="1" lang="en-US" altLang="zh-CN" i="1">
                          <a:latin typeface="Cambria Math" panose="02040503050406030204" pitchFamily="18" charset="0"/>
                          <a:ea typeface="Cambria Math" panose="02040503050406030204" pitchFamily="18" charset="0"/>
                        </a:rPr>
                        <m:t>𝑥</m:t>
                      </m:r>
                      <m:r>
                        <a:rPr kumimoji="1" lang="en-US" altLang="zh-CN" i="1">
                          <a:latin typeface="Cambria Math" panose="02040503050406030204" pitchFamily="18" charset="0"/>
                          <a:ea typeface="Cambria Math" panose="02040503050406030204" pitchFamily="18" charset="0"/>
                        </a:rPr>
                        <m:t>)</m:t>
                      </m:r>
                    </m:oMath>
                  </m:oMathPara>
                </a14:m>
                <a:endParaRPr kumimoji="1" lang="zh-CN" altLang="en-US" dirty="0"/>
              </a:p>
            </p:txBody>
          </p:sp>
        </mc:Choice>
        <mc:Fallback xmlns="">
          <p:sp>
            <p:nvSpPr>
              <p:cNvPr id="9" name="文本框 8">
                <a:extLst>
                  <a:ext uri="{FF2B5EF4-FFF2-40B4-BE49-F238E27FC236}">
                    <a16:creationId xmlns:a16="http://schemas.microsoft.com/office/drawing/2014/main" id="{656527E2-99EF-6641-961E-872BEBE6F93A}"/>
                  </a:ext>
                </a:extLst>
              </p:cNvPr>
              <p:cNvSpPr txBox="1">
                <a:spLocks noRot="1" noChangeAspect="1" noMove="1" noResize="1" noEditPoints="1" noAdjustHandles="1" noChangeArrowheads="1" noChangeShapeType="1" noTextEdit="1"/>
              </p:cNvSpPr>
              <p:nvPr/>
            </p:nvSpPr>
            <p:spPr>
              <a:xfrm>
                <a:off x="8763000" y="4796127"/>
                <a:ext cx="2895600" cy="896079"/>
              </a:xfrm>
              <a:prstGeom prst="rect">
                <a:avLst/>
              </a:prstGeom>
              <a:blipFill>
                <a:blip r:embed="rId7"/>
                <a:stretch>
                  <a:fillRect l="-2183" t="-2778" b="-27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06533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0007" y="3345369"/>
            <a:ext cx="4631993" cy="3200484"/>
          </a:xfrm>
          <a:prstGeom prst="rect">
            <a:avLst/>
          </a:prstGeom>
        </p:spPr>
      </p:pic>
      <p:sp>
        <p:nvSpPr>
          <p:cNvPr id="2" name="标题 1"/>
          <p:cNvSpPr>
            <a:spLocks noGrp="1"/>
          </p:cNvSpPr>
          <p:nvPr>
            <p:ph type="title"/>
          </p:nvPr>
        </p:nvSpPr>
        <p:spPr/>
        <p:txBody>
          <a:bodyPr/>
          <a:lstStyle/>
          <a:p>
            <a:r>
              <a:rPr lang="zh-CN" altLang="en-US" dirty="0"/>
              <a:t>常见激活函数 </a:t>
            </a:r>
            <a:r>
              <a:rPr lang="en-US" altLang="zh-CN" dirty="0"/>
              <a:t>-</a:t>
            </a:r>
            <a:r>
              <a:rPr lang="zh-CN" altLang="en-US" dirty="0"/>
              <a:t> 斜坡型</a:t>
            </a:r>
          </a:p>
        </p:txBody>
      </p:sp>
      <p:pic>
        <p:nvPicPr>
          <p:cNvPr id="3" name="图片 2"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8446" y="1279449"/>
            <a:ext cx="2224128" cy="1244222"/>
          </a:xfrm>
          <a:prstGeom prst="rect">
            <a:avLst/>
          </a:prstGeom>
        </p:spPr>
      </p:pic>
      <p:pic>
        <p:nvPicPr>
          <p:cNvPr id="4" name="图片 3" descr="屏幕剪辑"/>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572" y="2895600"/>
            <a:ext cx="3733865" cy="1261878"/>
          </a:xfrm>
          <a:prstGeom prst="rect">
            <a:avLst/>
          </a:prstGeom>
        </p:spPr>
      </p:pic>
      <p:pic>
        <p:nvPicPr>
          <p:cNvPr id="5" name="图片 4" descr="屏幕剪辑"/>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09654" y="2999751"/>
            <a:ext cx="3387739" cy="1212186"/>
          </a:xfrm>
          <a:prstGeom prst="rect">
            <a:avLst/>
          </a:prstGeom>
        </p:spPr>
      </p:pic>
      <p:pic>
        <p:nvPicPr>
          <p:cNvPr id="6" name="图片 5" descr="屏幕剪辑"/>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5800" y="4419600"/>
            <a:ext cx="3704417" cy="1148428"/>
          </a:xfrm>
          <a:prstGeom prst="rect">
            <a:avLst/>
          </a:prstGeom>
        </p:spPr>
      </p:pic>
      <p:pic>
        <p:nvPicPr>
          <p:cNvPr id="8" name="图片 7" descr="屏幕剪辑"/>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38446" y="5943600"/>
            <a:ext cx="2787357" cy="354383"/>
          </a:xfrm>
          <a:prstGeom prst="rect">
            <a:avLst/>
          </a:prstGeom>
        </p:spPr>
      </p:pic>
      <p:sp>
        <p:nvSpPr>
          <p:cNvPr id="9" name="矩形 8">
            <a:extLst>
              <a:ext uri="{FF2B5EF4-FFF2-40B4-BE49-F238E27FC236}">
                <a16:creationId xmlns:a16="http://schemas.microsoft.com/office/drawing/2014/main" id="{6A95F8AF-D759-48DB-80D5-A819C68C4852}"/>
              </a:ext>
            </a:extLst>
          </p:cNvPr>
          <p:cNvSpPr/>
          <p:nvPr/>
        </p:nvSpPr>
        <p:spPr>
          <a:xfrm>
            <a:off x="3672278" y="811457"/>
            <a:ext cx="3258800" cy="1754326"/>
          </a:xfrm>
          <a:prstGeom prst="rect">
            <a:avLst/>
          </a:prstGeom>
        </p:spPr>
        <p:txBody>
          <a:bodyPr wrap="square">
            <a:spAutoFit/>
          </a:bodyPr>
          <a:lstStyle/>
          <a:p>
            <a:pPr>
              <a:buSzPct val="76000"/>
            </a:pPr>
            <a:r>
              <a:rPr lang="en-US" altLang="zh-CN" dirty="0" err="1">
                <a:latin typeface="华文楷体" panose="02010600040101010101" pitchFamily="2" charset="-122"/>
                <a:ea typeface="华文楷体" panose="02010600040101010101" pitchFamily="2" charset="-122"/>
              </a:rPr>
              <a:t>ReLU</a:t>
            </a:r>
            <a:endParaRPr lang="en-US" altLang="zh-CN" dirty="0">
              <a:latin typeface="华文楷体" panose="02010600040101010101" pitchFamily="2" charset="-122"/>
              <a:ea typeface="华文楷体" panose="02010600040101010101" pitchFamily="2" charset="-122"/>
            </a:endParaRPr>
          </a:p>
          <a:p>
            <a:pPr marL="80962" indent="-204788">
              <a:buSzPct val="76000"/>
              <a:buFont typeface="Wingdings 3" panose="05040102010807070707" pitchFamily="18" charset="2"/>
              <a:buChar char=""/>
            </a:pPr>
            <a:r>
              <a:rPr lang="zh-CN" altLang="en-US" dirty="0">
                <a:latin typeface="华文楷体" panose="02010600040101010101" pitchFamily="2" charset="-122"/>
                <a:ea typeface="华文楷体" panose="02010600040101010101" pitchFamily="2" charset="-122"/>
              </a:rPr>
              <a:t>计算上更加高效</a:t>
            </a:r>
          </a:p>
          <a:p>
            <a:pPr marL="80962" indent="-204788">
              <a:buSzPct val="76000"/>
              <a:buFont typeface="Wingdings 3" panose="05040102010807070707" pitchFamily="18" charset="2"/>
              <a:buChar char=""/>
            </a:pPr>
            <a:r>
              <a:rPr lang="zh-CN" altLang="en-US" dirty="0">
                <a:latin typeface="华文楷体" panose="02010600040101010101" pitchFamily="2" charset="-122"/>
                <a:ea typeface="华文楷体" panose="02010600040101010101" pitchFamily="2" charset="-122"/>
              </a:rPr>
              <a:t>生物学合理性</a:t>
            </a:r>
            <a:endParaRPr lang="en-US" altLang="zh-CN" dirty="0">
              <a:latin typeface="华文楷体" panose="02010600040101010101" pitchFamily="2" charset="-122"/>
              <a:ea typeface="华文楷体" panose="02010600040101010101" pitchFamily="2" charset="-122"/>
            </a:endParaRPr>
          </a:p>
          <a:p>
            <a:pPr marL="538162" lvl="1" indent="-204788">
              <a:buSzPct val="76000"/>
              <a:buFont typeface="Wingdings 3" panose="05040102010807070707" pitchFamily="18" charset="2"/>
              <a:buChar char=""/>
            </a:pPr>
            <a:r>
              <a:rPr lang="zh-CN" altLang="en-US" dirty="0">
                <a:latin typeface="华文楷体" panose="02010600040101010101" pitchFamily="2" charset="-122"/>
                <a:ea typeface="华文楷体" panose="02010600040101010101" pitchFamily="2" charset="-122"/>
              </a:rPr>
              <a:t>单侧抑制、宽兴奋边界</a:t>
            </a:r>
            <a:endParaRPr lang="en-US" altLang="zh-CN" dirty="0">
              <a:latin typeface="华文楷体" panose="02010600040101010101" pitchFamily="2" charset="-122"/>
              <a:ea typeface="华文楷体" panose="02010600040101010101" pitchFamily="2" charset="-122"/>
            </a:endParaRPr>
          </a:p>
          <a:p>
            <a:pPr marL="80962" indent="-204788">
              <a:buSzPct val="76000"/>
              <a:buFont typeface="Wingdings 3" panose="05040102010807070707" pitchFamily="18" charset="2"/>
              <a:buChar char=""/>
            </a:pPr>
            <a:r>
              <a:rPr lang="zh-CN" altLang="en-US" dirty="0">
                <a:latin typeface="华文楷体" panose="02010600040101010101" pitchFamily="2" charset="-122"/>
                <a:ea typeface="华文楷体" panose="02010600040101010101" pitchFamily="2" charset="-122"/>
              </a:rPr>
              <a:t>在一定程度上缓解梯度消失问题</a:t>
            </a:r>
          </a:p>
        </p:txBody>
      </p:sp>
      <p:sp>
        <p:nvSpPr>
          <p:cNvPr id="11" name="矩形 10">
            <a:extLst>
              <a:ext uri="{FF2B5EF4-FFF2-40B4-BE49-F238E27FC236}">
                <a16:creationId xmlns:a16="http://schemas.microsoft.com/office/drawing/2014/main" id="{00340ACB-1465-4B2B-809E-33154A5FDCEB}"/>
              </a:ext>
            </a:extLst>
          </p:cNvPr>
          <p:cNvSpPr/>
          <p:nvPr/>
        </p:nvSpPr>
        <p:spPr>
          <a:xfrm>
            <a:off x="152400" y="2634312"/>
            <a:ext cx="4572000" cy="338554"/>
          </a:xfrm>
          <a:prstGeom prst="rect">
            <a:avLst/>
          </a:prstGeom>
        </p:spPr>
        <p:txBody>
          <a:bodyPr wrap="square">
            <a:spAutoFit/>
          </a:bodyPr>
          <a:lstStyle/>
          <a:p>
            <a:pPr algn="ctr">
              <a:buSzPct val="76000"/>
            </a:pPr>
            <a:r>
              <a:rPr lang="zh-CN" altLang="en-US" sz="1600" dirty="0">
                <a:solidFill>
                  <a:srgbClr val="FF0000"/>
                </a:solidFill>
                <a:latin typeface="华文楷体" panose="02010600040101010101" pitchFamily="2" charset="-122"/>
                <a:ea typeface="华文楷体" panose="02010600040101010101" pitchFamily="2" charset="-122"/>
              </a:rPr>
              <a:t>死亡</a:t>
            </a:r>
            <a:r>
              <a:rPr lang="en-US" altLang="zh-CN" sz="1600" dirty="0" err="1">
                <a:solidFill>
                  <a:srgbClr val="FF0000"/>
                </a:solidFill>
                <a:latin typeface="华文楷体" panose="02010600040101010101" pitchFamily="2" charset="-122"/>
                <a:ea typeface="华文楷体" panose="02010600040101010101" pitchFamily="2" charset="-122"/>
              </a:rPr>
              <a:t>ReLU</a:t>
            </a:r>
            <a:r>
              <a:rPr lang="zh-CN" altLang="en-US" sz="1600" dirty="0">
                <a:solidFill>
                  <a:srgbClr val="FF0000"/>
                </a:solidFill>
                <a:latin typeface="华文楷体" panose="02010600040101010101" pitchFamily="2" charset="-122"/>
                <a:ea typeface="华文楷体" panose="02010600040101010101" pitchFamily="2" charset="-122"/>
              </a:rPr>
              <a:t>问题（</a:t>
            </a:r>
            <a:r>
              <a:rPr lang="en-US" altLang="zh-CN" sz="1600" dirty="0">
                <a:solidFill>
                  <a:srgbClr val="FF0000"/>
                </a:solidFill>
                <a:latin typeface="华文楷体" panose="02010600040101010101" pitchFamily="2" charset="-122"/>
                <a:ea typeface="华文楷体" panose="02010600040101010101" pitchFamily="2" charset="-122"/>
              </a:rPr>
              <a:t>Dying </a:t>
            </a:r>
            <a:r>
              <a:rPr lang="en-US" altLang="zh-CN" sz="1600" dirty="0" err="1">
                <a:solidFill>
                  <a:srgbClr val="FF0000"/>
                </a:solidFill>
                <a:latin typeface="华文楷体" panose="02010600040101010101" pitchFamily="2" charset="-122"/>
                <a:ea typeface="华文楷体" panose="02010600040101010101" pitchFamily="2" charset="-122"/>
              </a:rPr>
              <a:t>ReLU</a:t>
            </a:r>
            <a:r>
              <a:rPr lang="en-US" altLang="zh-CN" sz="1600" dirty="0">
                <a:solidFill>
                  <a:srgbClr val="FF0000"/>
                </a:solidFill>
                <a:latin typeface="华文楷体" panose="02010600040101010101" pitchFamily="2" charset="-122"/>
                <a:ea typeface="华文楷体" panose="02010600040101010101" pitchFamily="2" charset="-122"/>
              </a:rPr>
              <a:t> Problem</a:t>
            </a:r>
            <a:r>
              <a:rPr lang="zh-CN" altLang="en-US" sz="1600" dirty="0">
                <a:solidFill>
                  <a:srgbClr val="FF0000"/>
                </a:solidFill>
                <a:latin typeface="华文楷体" panose="02010600040101010101" pitchFamily="2" charset="-122"/>
                <a:ea typeface="华文楷体" panose="02010600040101010101" pitchFamily="2" charset="-122"/>
              </a:rPr>
              <a:t>）</a:t>
            </a:r>
          </a:p>
        </p:txBody>
      </p:sp>
      <p:sp>
        <p:nvSpPr>
          <p:cNvPr id="12" name="矩形 11">
            <a:extLst>
              <a:ext uri="{FF2B5EF4-FFF2-40B4-BE49-F238E27FC236}">
                <a16:creationId xmlns:a16="http://schemas.microsoft.com/office/drawing/2014/main" id="{58A3663A-3AA7-5941-ADC7-3A0E931871C9}"/>
              </a:ext>
            </a:extLst>
          </p:cNvPr>
          <p:cNvSpPr/>
          <p:nvPr/>
        </p:nvSpPr>
        <p:spPr>
          <a:xfrm>
            <a:off x="381000" y="4191000"/>
            <a:ext cx="3387739" cy="338554"/>
          </a:xfrm>
          <a:prstGeom prst="rect">
            <a:avLst/>
          </a:prstGeom>
        </p:spPr>
        <p:txBody>
          <a:bodyPr wrap="square">
            <a:spAutoFit/>
          </a:bodyPr>
          <a:lstStyle/>
          <a:p>
            <a:pPr algn="ctr">
              <a:buSzPct val="76000"/>
            </a:pPr>
            <a:r>
              <a:rPr lang="zh-CN" altLang="en-US" sz="1600" dirty="0">
                <a:solidFill>
                  <a:srgbClr val="FF0000"/>
                </a:solidFill>
                <a:latin typeface="华文楷体" panose="02010600040101010101" pitchFamily="2" charset="-122"/>
                <a:ea typeface="华文楷体" panose="02010600040101010101" pitchFamily="2" charset="-122"/>
              </a:rPr>
              <a:t>近似的零中心化的非线性函数</a:t>
            </a:r>
          </a:p>
        </p:txBody>
      </p:sp>
      <p:sp>
        <p:nvSpPr>
          <p:cNvPr id="13" name="矩形 12">
            <a:extLst>
              <a:ext uri="{FF2B5EF4-FFF2-40B4-BE49-F238E27FC236}">
                <a16:creationId xmlns:a16="http://schemas.microsoft.com/office/drawing/2014/main" id="{8408C7C1-1296-2849-9546-3DA8005D1834}"/>
              </a:ext>
            </a:extLst>
          </p:cNvPr>
          <p:cNvSpPr/>
          <p:nvPr/>
        </p:nvSpPr>
        <p:spPr>
          <a:xfrm>
            <a:off x="346061" y="5528846"/>
            <a:ext cx="3387739" cy="338554"/>
          </a:xfrm>
          <a:prstGeom prst="rect">
            <a:avLst/>
          </a:prstGeom>
        </p:spPr>
        <p:txBody>
          <a:bodyPr wrap="square">
            <a:spAutoFit/>
          </a:bodyPr>
          <a:lstStyle/>
          <a:p>
            <a:pPr algn="ctr">
              <a:buSzPct val="76000"/>
            </a:pPr>
            <a:r>
              <a:rPr lang="zh-CN" altLang="en-US" sz="1600" dirty="0">
                <a:solidFill>
                  <a:srgbClr val="FF0000"/>
                </a:solidFill>
                <a:latin typeface="华文楷体" panose="02010600040101010101" pitchFamily="2" charset="-122"/>
                <a:ea typeface="华文楷体" panose="02010600040101010101" pitchFamily="2" charset="-122"/>
              </a:rPr>
              <a:t>近似的零中心化的非线性函数</a:t>
            </a:r>
          </a:p>
        </p:txBody>
      </p:sp>
    </p:spTree>
    <p:extLst>
      <p:ext uri="{BB962C8B-B14F-4D97-AF65-F5344CB8AC3E}">
        <p14:creationId xmlns:p14="http://schemas.microsoft.com/office/powerpoint/2010/main" val="3182323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6B9B12-1B7B-43CA-AC38-BB3021645BB5}"/>
              </a:ext>
            </a:extLst>
          </p:cNvPr>
          <p:cNvSpPr>
            <a:spLocks noGrp="1"/>
          </p:cNvSpPr>
          <p:nvPr>
            <p:ph type="title"/>
          </p:nvPr>
        </p:nvSpPr>
        <p:spPr/>
        <p:txBody>
          <a:bodyPr/>
          <a:lstStyle/>
          <a:p>
            <a:r>
              <a:rPr lang="zh-CN" altLang="en-US" dirty="0"/>
              <a:t>常见激活函数 </a:t>
            </a:r>
            <a:r>
              <a:rPr lang="en-US" altLang="zh-CN" dirty="0"/>
              <a:t>–</a:t>
            </a:r>
            <a:r>
              <a:rPr lang="zh-CN" altLang="en-US" dirty="0"/>
              <a:t> 复合型</a:t>
            </a:r>
          </a:p>
        </p:txBody>
      </p:sp>
      <p:pic>
        <p:nvPicPr>
          <p:cNvPr id="4" name="图片 3">
            <a:extLst>
              <a:ext uri="{FF2B5EF4-FFF2-40B4-BE49-F238E27FC236}">
                <a16:creationId xmlns:a16="http://schemas.microsoft.com/office/drawing/2014/main" id="{47841044-17CE-4BE5-9585-BAC0FC5C06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5200" y="2057400"/>
            <a:ext cx="5486400" cy="3916218"/>
          </a:xfrm>
          <a:prstGeom prst="rect">
            <a:avLst/>
          </a:prstGeom>
        </p:spPr>
      </p:pic>
      <p:sp>
        <p:nvSpPr>
          <p:cNvPr id="5" name="矩形 4">
            <a:extLst>
              <a:ext uri="{FF2B5EF4-FFF2-40B4-BE49-F238E27FC236}">
                <a16:creationId xmlns:a16="http://schemas.microsoft.com/office/drawing/2014/main" id="{D73D2517-005C-4B67-AB77-A5F034848FD7}"/>
              </a:ext>
            </a:extLst>
          </p:cNvPr>
          <p:cNvSpPr/>
          <p:nvPr/>
        </p:nvSpPr>
        <p:spPr>
          <a:xfrm>
            <a:off x="2133600" y="1535669"/>
            <a:ext cx="1622560" cy="461665"/>
          </a:xfrm>
          <a:prstGeom prst="rect">
            <a:avLst/>
          </a:prstGeom>
        </p:spPr>
        <p:txBody>
          <a:bodyPr wrap="none">
            <a:spAutoFit/>
          </a:bodyPr>
          <a:lstStyle/>
          <a:p>
            <a:r>
              <a:rPr lang="zh-CN" altLang="en-US" sz="2400" dirty="0"/>
              <a:t>Swish函数</a:t>
            </a:r>
          </a:p>
        </p:txBody>
      </p:sp>
      <p:pic>
        <p:nvPicPr>
          <p:cNvPr id="7" name="图片 6">
            <a:extLst>
              <a:ext uri="{FF2B5EF4-FFF2-40B4-BE49-F238E27FC236}">
                <a16:creationId xmlns:a16="http://schemas.microsoft.com/office/drawing/2014/main" id="{7B89587D-5576-4414-8F3E-98A1CDDE89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38601" y="1535668"/>
            <a:ext cx="3149947" cy="499588"/>
          </a:xfrm>
          <a:prstGeom prst="rect">
            <a:avLst/>
          </a:prstGeom>
        </p:spPr>
      </p:pic>
      <p:pic>
        <p:nvPicPr>
          <p:cNvPr id="3" name="图片 2">
            <a:extLst>
              <a:ext uri="{FF2B5EF4-FFF2-40B4-BE49-F238E27FC236}">
                <a16:creationId xmlns:a16="http://schemas.microsoft.com/office/drawing/2014/main" id="{FFC0044D-135E-C144-BDC3-018DDCF60449}"/>
              </a:ext>
            </a:extLst>
          </p:cNvPr>
          <p:cNvPicPr>
            <a:picLocks noChangeAspect="1"/>
          </p:cNvPicPr>
          <p:nvPr/>
        </p:nvPicPr>
        <p:blipFill>
          <a:blip r:embed="rId5"/>
          <a:stretch>
            <a:fillRect/>
          </a:stretch>
        </p:blipFill>
        <p:spPr>
          <a:xfrm>
            <a:off x="552624" y="990600"/>
            <a:ext cx="7753176" cy="486397"/>
          </a:xfrm>
          <a:prstGeom prst="rect">
            <a:avLst/>
          </a:prstGeom>
        </p:spPr>
      </p:pic>
    </p:spTree>
    <p:extLst>
      <p:ext uri="{BB962C8B-B14F-4D97-AF65-F5344CB8AC3E}">
        <p14:creationId xmlns:p14="http://schemas.microsoft.com/office/powerpoint/2010/main" val="3169972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58D14E-384B-4F89-9B60-AAEBAC0AB952}"/>
              </a:ext>
            </a:extLst>
          </p:cNvPr>
          <p:cNvSpPr>
            <a:spLocks noGrp="1"/>
          </p:cNvSpPr>
          <p:nvPr>
            <p:ph type="title"/>
          </p:nvPr>
        </p:nvSpPr>
        <p:spPr/>
        <p:txBody>
          <a:bodyPr/>
          <a:lstStyle/>
          <a:p>
            <a:r>
              <a:rPr lang="zh-CN" altLang="en-US" dirty="0"/>
              <a:t>常见激活函数 </a:t>
            </a:r>
            <a:r>
              <a:rPr lang="en-US" altLang="zh-CN" dirty="0"/>
              <a:t>–</a:t>
            </a:r>
            <a:r>
              <a:rPr lang="zh-CN" altLang="en-US" dirty="0"/>
              <a:t> 复合型</a:t>
            </a:r>
          </a:p>
        </p:txBody>
      </p:sp>
      <p:sp>
        <p:nvSpPr>
          <p:cNvPr id="3" name="内容占位符 2">
            <a:extLst>
              <a:ext uri="{FF2B5EF4-FFF2-40B4-BE49-F238E27FC236}">
                <a16:creationId xmlns:a16="http://schemas.microsoft.com/office/drawing/2014/main" id="{682A3B00-0AAD-4140-B53A-F40602E2B2EF}"/>
              </a:ext>
            </a:extLst>
          </p:cNvPr>
          <p:cNvSpPr>
            <a:spLocks noGrp="1"/>
          </p:cNvSpPr>
          <p:nvPr>
            <p:ph idx="1"/>
          </p:nvPr>
        </p:nvSpPr>
        <p:spPr/>
        <p:txBody>
          <a:bodyPr/>
          <a:lstStyle/>
          <a:p>
            <a:r>
              <a:rPr lang="zh-CN" altLang="en-US" dirty="0"/>
              <a:t>高斯误差线性单元（</a:t>
            </a:r>
            <a:r>
              <a:rPr lang="en-US" altLang="zh-CN" dirty="0"/>
              <a:t>Gaussian Error Linear Unit</a:t>
            </a:r>
            <a:r>
              <a:rPr lang="zh-CN" altLang="en-US" dirty="0"/>
              <a:t>，</a:t>
            </a:r>
            <a:r>
              <a:rPr lang="en-US" altLang="zh-CN" dirty="0"/>
              <a:t>GELU</a:t>
            </a:r>
            <a:r>
              <a:rPr lang="zh-CN" altLang="en-US" dirty="0"/>
              <a:t>）</a:t>
            </a:r>
            <a:endParaRPr lang="en-US" altLang="zh-CN" dirty="0"/>
          </a:p>
          <a:p>
            <a:pPr lvl="1"/>
            <a:r>
              <a:rPr lang="zh-CN" altLang="en-US" dirty="0"/>
              <a:t>与</a:t>
            </a:r>
            <a:r>
              <a:rPr lang="en-US" altLang="zh-CN" dirty="0"/>
              <a:t>Swish</a:t>
            </a:r>
            <a:r>
              <a:rPr lang="zh-CN" altLang="en-US" dirty="0"/>
              <a:t>函数比较类似</a:t>
            </a:r>
            <a:endParaRPr lang="en-US" altLang="zh-CN" dirty="0"/>
          </a:p>
          <a:p>
            <a:pPr marL="0" indent="0">
              <a:buNone/>
            </a:pPr>
            <a:endParaRPr lang="en-US" altLang="zh-CN" dirty="0"/>
          </a:p>
          <a:p>
            <a:pPr lvl="2"/>
            <a:r>
              <a:rPr lang="zh-CN" altLang="en-US" dirty="0"/>
              <a:t>其中</a:t>
            </a:r>
            <a:r>
              <a:rPr lang="en-US" altLang="zh-CN" dirty="0"/>
              <a:t>P(X ≤ x)</a:t>
            </a:r>
            <a:r>
              <a:rPr lang="zh-CN" altLang="en-US" dirty="0"/>
              <a:t>是</a:t>
            </a:r>
            <a:r>
              <a:rPr lang="zh-CN" altLang="en-US" u="sng" dirty="0"/>
              <a:t>高斯分布</a:t>
            </a:r>
            <a:r>
              <a:rPr lang="en-US" altLang="zh-CN" dirty="0"/>
              <a:t>N(µ,</a:t>
            </a:r>
            <a:r>
              <a:rPr lang="el-GR" altLang="zh-CN" dirty="0"/>
              <a:t>σ 2 )</a:t>
            </a:r>
            <a:r>
              <a:rPr lang="zh-CN" altLang="en-US" dirty="0"/>
              <a:t>的</a:t>
            </a:r>
            <a:r>
              <a:rPr lang="zh-CN" altLang="en-US" u="sng" dirty="0"/>
              <a:t>累积分布函数（</a:t>
            </a:r>
            <a:r>
              <a:rPr lang="en-US" altLang="zh-CN" u="sng" dirty="0"/>
              <a:t>s</a:t>
            </a:r>
            <a:r>
              <a:rPr lang="zh-CN" altLang="en-US" u="sng" dirty="0"/>
              <a:t>型）</a:t>
            </a:r>
            <a:r>
              <a:rPr lang="zh-CN" altLang="en-US" dirty="0"/>
              <a:t>，其中</a:t>
            </a:r>
            <a:r>
              <a:rPr lang="en-US" altLang="zh-CN" dirty="0"/>
              <a:t>µ,</a:t>
            </a:r>
            <a:r>
              <a:rPr lang="el-GR" altLang="zh-CN" dirty="0"/>
              <a:t>σ</a:t>
            </a:r>
            <a:r>
              <a:rPr lang="zh-CN" altLang="en-US" dirty="0"/>
              <a:t>为超参数，一般设</a:t>
            </a:r>
            <a:r>
              <a:rPr lang="en-US" altLang="zh-CN" dirty="0"/>
              <a:t>µ = 0,</a:t>
            </a:r>
            <a:r>
              <a:rPr lang="el-GR" altLang="zh-CN" dirty="0"/>
              <a:t>σ = 1</a:t>
            </a:r>
            <a:r>
              <a:rPr lang="zh-CN" altLang="en-US" dirty="0"/>
              <a:t>即可</a:t>
            </a:r>
            <a:endParaRPr lang="en-US" altLang="zh-CN" dirty="0"/>
          </a:p>
          <a:p>
            <a:pPr lvl="1"/>
            <a:r>
              <a:rPr lang="zh-CN" altLang="en-US" dirty="0"/>
              <a:t>由于高斯分布的累积分布函数为</a:t>
            </a:r>
            <a:r>
              <a:rPr lang="en-US" altLang="zh-CN" dirty="0"/>
              <a:t>S</a:t>
            </a:r>
            <a:r>
              <a:rPr lang="zh-CN" altLang="en-US" dirty="0"/>
              <a:t>型函数，因此</a:t>
            </a:r>
            <a:r>
              <a:rPr lang="en-US" altLang="zh-CN" dirty="0"/>
              <a:t>GELU</a:t>
            </a:r>
            <a:r>
              <a:rPr lang="zh-CN" altLang="en-US" dirty="0"/>
              <a:t>可以用</a:t>
            </a:r>
            <a:r>
              <a:rPr lang="en-US" altLang="zh-CN" dirty="0"/>
              <a:t>Tanh</a:t>
            </a:r>
            <a:r>
              <a:rPr lang="zh-CN" altLang="en-US" dirty="0"/>
              <a:t>函数或</a:t>
            </a:r>
            <a:r>
              <a:rPr lang="en-US" altLang="zh-CN" dirty="0"/>
              <a:t>Logistic</a:t>
            </a:r>
            <a:r>
              <a:rPr lang="zh-CN" altLang="en-US" dirty="0"/>
              <a:t>函数来近似</a:t>
            </a:r>
            <a:endParaRPr lang="en-US" altLang="zh-CN" dirty="0"/>
          </a:p>
          <a:p>
            <a:pPr lvl="1"/>
            <a:endParaRPr lang="en-US" altLang="zh-CN" dirty="0"/>
          </a:p>
          <a:p>
            <a:pPr lvl="1"/>
            <a:endParaRPr lang="en-US" altLang="zh-CN" dirty="0"/>
          </a:p>
          <a:p>
            <a:pPr lvl="1"/>
            <a:endParaRPr lang="en-US" altLang="zh-CN" sz="3200" dirty="0">
              <a:solidFill>
                <a:srgbClr val="C00000"/>
              </a:solidFill>
              <a:cs typeface="Arial" panose="020B0604020202020204" pitchFamily="34" charset="0"/>
            </a:endParaRPr>
          </a:p>
          <a:p>
            <a:pPr lvl="1"/>
            <a:r>
              <a:rPr lang="en-US" altLang="zh-CN" sz="3200" dirty="0">
                <a:solidFill>
                  <a:srgbClr val="C00000"/>
                </a:solidFill>
                <a:cs typeface="Arial" panose="020B0604020202020204" pitchFamily="34" charset="0"/>
              </a:rPr>
              <a:t>GELUs are used in GPT-3, BERT and most other Transformers.</a:t>
            </a:r>
          </a:p>
          <a:p>
            <a:endParaRPr lang="zh-CN" altLang="en-US" dirty="0"/>
          </a:p>
        </p:txBody>
      </p:sp>
      <p:pic>
        <p:nvPicPr>
          <p:cNvPr id="5" name="图片 4">
            <a:extLst>
              <a:ext uri="{FF2B5EF4-FFF2-40B4-BE49-F238E27FC236}">
                <a16:creationId xmlns:a16="http://schemas.microsoft.com/office/drawing/2014/main" id="{87C719F1-7679-4018-83B3-16F6DBAE08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5800" y="1676400"/>
            <a:ext cx="3951921" cy="747409"/>
          </a:xfrm>
          <a:prstGeom prst="rect">
            <a:avLst/>
          </a:prstGeom>
        </p:spPr>
      </p:pic>
      <p:pic>
        <p:nvPicPr>
          <p:cNvPr id="6" name="图片 5">
            <a:extLst>
              <a:ext uri="{FF2B5EF4-FFF2-40B4-BE49-F238E27FC236}">
                <a16:creationId xmlns:a16="http://schemas.microsoft.com/office/drawing/2014/main" id="{4109F8FD-87D4-4D5F-B7C9-3F8B8AD8A4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94263" y="4114800"/>
            <a:ext cx="6145095" cy="1219200"/>
          </a:xfrm>
          <a:prstGeom prst="rect">
            <a:avLst/>
          </a:prstGeom>
        </p:spPr>
      </p:pic>
    </p:spTree>
    <p:extLst>
      <p:ext uri="{BB962C8B-B14F-4D97-AF65-F5344CB8AC3E}">
        <p14:creationId xmlns:p14="http://schemas.microsoft.com/office/powerpoint/2010/main" val="2949568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小结：常见激活函数及其导数</a:t>
            </a:r>
          </a:p>
        </p:txBody>
      </p:sp>
      <p:pic>
        <p:nvPicPr>
          <p:cNvPr id="4" name="图片 3">
            <a:extLst>
              <a:ext uri="{FF2B5EF4-FFF2-40B4-BE49-F238E27FC236}">
                <a16:creationId xmlns:a16="http://schemas.microsoft.com/office/drawing/2014/main" id="{7E8B8A4F-8F1F-4838-A58C-24323133AA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2286000"/>
            <a:ext cx="6629400" cy="2984231"/>
          </a:xfrm>
          <a:prstGeom prst="rect">
            <a:avLst/>
          </a:prstGeom>
        </p:spPr>
      </p:pic>
    </p:spTree>
    <p:extLst>
      <p:ext uri="{BB962C8B-B14F-4D97-AF65-F5344CB8AC3E}">
        <p14:creationId xmlns:p14="http://schemas.microsoft.com/office/powerpoint/2010/main" val="3785357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809F92-8DE2-48CF-9503-E28A23C0D5A6}"/>
              </a:ext>
            </a:extLst>
          </p:cNvPr>
          <p:cNvSpPr>
            <a:spLocks noGrp="1"/>
          </p:cNvSpPr>
          <p:nvPr>
            <p:ph type="ctrTitle"/>
          </p:nvPr>
        </p:nvSpPr>
        <p:spPr/>
        <p:txBody>
          <a:bodyPr/>
          <a:lstStyle/>
          <a:p>
            <a:r>
              <a:rPr lang="en-US" altLang="zh-CN" dirty="0"/>
              <a:t>2.1.2</a:t>
            </a:r>
            <a:r>
              <a:rPr lang="zh-CN" altLang="en-US" dirty="0"/>
              <a:t> 人工神经网络</a:t>
            </a:r>
          </a:p>
        </p:txBody>
      </p:sp>
    </p:spTree>
    <p:extLst>
      <p:ext uri="{BB962C8B-B14F-4D97-AF65-F5344CB8AC3E}">
        <p14:creationId xmlns:p14="http://schemas.microsoft.com/office/powerpoint/2010/main" val="2890417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人工神经网络</a:t>
            </a:r>
          </a:p>
        </p:txBody>
      </p:sp>
      <p:sp>
        <p:nvSpPr>
          <p:cNvPr id="3" name="内容占位符 2"/>
          <p:cNvSpPr>
            <a:spLocks noGrp="1"/>
          </p:cNvSpPr>
          <p:nvPr>
            <p:ph idx="1"/>
          </p:nvPr>
        </p:nvSpPr>
        <p:spPr/>
        <p:txBody>
          <a:bodyPr/>
          <a:lstStyle/>
          <a:p>
            <a:r>
              <a:rPr lang="zh-CN" altLang="en-US" dirty="0"/>
              <a:t>人工神经网络主要由大量的神经元以及它们之间的有向连接构成。因此考虑三方面：</a:t>
            </a:r>
            <a:endParaRPr lang="en-US" altLang="zh-CN" dirty="0"/>
          </a:p>
          <a:p>
            <a:endParaRPr lang="zh-CN" altLang="en-US" dirty="0"/>
          </a:p>
          <a:p>
            <a:r>
              <a:rPr lang="zh-CN" altLang="en-US" dirty="0"/>
              <a:t>神经元的激活函数</a:t>
            </a:r>
            <a:r>
              <a:rPr lang="en-US" altLang="zh-CN" dirty="0"/>
              <a:t>/</a:t>
            </a:r>
            <a:r>
              <a:rPr lang="zh-CN" altLang="en-US" dirty="0"/>
              <a:t>规则</a:t>
            </a:r>
            <a:endParaRPr lang="en-US" altLang="zh-CN" dirty="0"/>
          </a:p>
          <a:p>
            <a:pPr lvl="1"/>
            <a:r>
              <a:rPr lang="zh-CN" altLang="en-US" dirty="0"/>
              <a:t>主要是指神经元输入到输出之间的映射关系，一般为非线性函数。</a:t>
            </a:r>
          </a:p>
          <a:p>
            <a:r>
              <a:rPr lang="zh-CN" altLang="en-US" dirty="0"/>
              <a:t>网络的拓扑结构</a:t>
            </a:r>
            <a:endParaRPr lang="en-US" altLang="zh-CN" dirty="0"/>
          </a:p>
          <a:p>
            <a:pPr lvl="1"/>
            <a:r>
              <a:rPr lang="zh-CN" altLang="en-US" dirty="0"/>
              <a:t>不同神经元之间的连接关系。</a:t>
            </a:r>
          </a:p>
          <a:p>
            <a:r>
              <a:rPr lang="zh-CN" altLang="en-US" dirty="0"/>
              <a:t>学习算法</a:t>
            </a:r>
            <a:endParaRPr lang="en-US" altLang="zh-CN" dirty="0"/>
          </a:p>
          <a:p>
            <a:pPr lvl="1"/>
            <a:r>
              <a:rPr lang="zh-CN" altLang="en-US" dirty="0"/>
              <a:t>通过训练数据来学习神经网络的参数。</a:t>
            </a:r>
          </a:p>
        </p:txBody>
      </p:sp>
    </p:spTree>
    <p:extLst>
      <p:ext uri="{BB962C8B-B14F-4D97-AF65-F5344CB8AC3E}">
        <p14:creationId xmlns:p14="http://schemas.microsoft.com/office/powerpoint/2010/main" val="1496855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网络结构</a:t>
            </a:r>
          </a:p>
        </p:txBody>
      </p:sp>
      <p:sp>
        <p:nvSpPr>
          <p:cNvPr id="3" name="内容占位符 2"/>
          <p:cNvSpPr>
            <a:spLocks noGrp="1"/>
          </p:cNvSpPr>
          <p:nvPr>
            <p:ph idx="1"/>
          </p:nvPr>
        </p:nvSpPr>
        <p:spPr/>
        <p:txBody>
          <a:bodyPr/>
          <a:lstStyle/>
          <a:p>
            <a:r>
              <a:rPr lang="zh-CN" altLang="en-US"/>
              <a:t>人工神经网络由神经元模型构成，这种由许多神经元组成的信息处理网络具有并行分布结构。</a:t>
            </a:r>
            <a:endParaRPr lang="zh-CN" altLang="en-US" dirty="0"/>
          </a:p>
        </p:txBody>
      </p:sp>
      <p:pic>
        <p:nvPicPr>
          <p:cNvPr id="5" name="图片 4">
            <a:extLst>
              <a:ext uri="{FF2B5EF4-FFF2-40B4-BE49-F238E27FC236}">
                <a16:creationId xmlns:a16="http://schemas.microsoft.com/office/drawing/2014/main" id="{16F9F4CE-B589-4727-9497-9C241AA92E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7400" y="2743200"/>
            <a:ext cx="6945267" cy="2253402"/>
          </a:xfrm>
          <a:prstGeom prst="rect">
            <a:avLst/>
          </a:prstGeom>
        </p:spPr>
      </p:pic>
      <p:sp>
        <p:nvSpPr>
          <p:cNvPr id="7" name="矩形 6">
            <a:extLst>
              <a:ext uri="{FF2B5EF4-FFF2-40B4-BE49-F238E27FC236}">
                <a16:creationId xmlns:a16="http://schemas.microsoft.com/office/drawing/2014/main" id="{448F4CB9-3818-4CEB-9306-AE1FFBBDC714}"/>
              </a:ext>
            </a:extLst>
          </p:cNvPr>
          <p:cNvSpPr/>
          <p:nvPr/>
        </p:nvSpPr>
        <p:spPr>
          <a:xfrm>
            <a:off x="3048000" y="5562600"/>
            <a:ext cx="6096000" cy="369332"/>
          </a:xfrm>
          <a:prstGeom prst="rect">
            <a:avLst/>
          </a:prstGeom>
        </p:spPr>
        <p:txBody>
          <a:bodyPr>
            <a:spAutoFit/>
          </a:bodyPr>
          <a:lstStyle/>
          <a:p>
            <a:r>
              <a:rPr lang="zh-CN" altLang="en-US" dirty="0"/>
              <a:t>圆形节点表示一个神经元，方形节点表示一组神经元。</a:t>
            </a:r>
          </a:p>
        </p:txBody>
      </p:sp>
    </p:spTree>
    <p:extLst>
      <p:ext uri="{BB962C8B-B14F-4D97-AF65-F5344CB8AC3E}">
        <p14:creationId xmlns:p14="http://schemas.microsoft.com/office/powerpoint/2010/main" val="1032805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2.2 </a:t>
            </a:r>
            <a:r>
              <a:rPr lang="zh-CN" altLang="en-US" dirty="0"/>
              <a:t>前馈神经网络</a:t>
            </a:r>
          </a:p>
        </p:txBody>
      </p:sp>
    </p:spTree>
    <p:extLst>
      <p:ext uri="{BB962C8B-B14F-4D97-AF65-F5344CB8AC3E}">
        <p14:creationId xmlns:p14="http://schemas.microsoft.com/office/powerpoint/2010/main" val="1837691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网络结构</a:t>
            </a:r>
          </a:p>
        </p:txBody>
      </p:sp>
      <p:sp>
        <p:nvSpPr>
          <p:cNvPr id="3" name="内容占位符 2"/>
          <p:cNvSpPr>
            <a:spLocks noGrp="1"/>
          </p:cNvSpPr>
          <p:nvPr>
            <p:ph idx="1"/>
          </p:nvPr>
        </p:nvSpPr>
        <p:spPr/>
        <p:txBody>
          <a:bodyPr/>
          <a:lstStyle/>
          <a:p>
            <a:r>
              <a:rPr lang="zh-CN" altLang="en-US" dirty="0"/>
              <a:t>前馈神经网络（全连接神经网络、多层感知器）</a:t>
            </a:r>
            <a:endParaRPr lang="en-US" altLang="zh-CN" dirty="0"/>
          </a:p>
          <a:p>
            <a:pPr lvl="1"/>
            <a:r>
              <a:rPr lang="zh-CN" altLang="en-US" dirty="0"/>
              <a:t>各神经元分别属于不同的</a:t>
            </a:r>
            <a:r>
              <a:rPr lang="zh-CN" altLang="en-US" dirty="0">
                <a:solidFill>
                  <a:srgbClr val="FF0000"/>
                </a:solidFill>
              </a:rPr>
              <a:t>层</a:t>
            </a:r>
            <a:r>
              <a:rPr lang="zh-CN" altLang="en-US" dirty="0"/>
              <a:t>，层内无连接。</a:t>
            </a:r>
            <a:endParaRPr lang="en-US" altLang="zh-CN" dirty="0"/>
          </a:p>
          <a:p>
            <a:pPr lvl="1"/>
            <a:r>
              <a:rPr lang="zh-CN" altLang="en-US" dirty="0"/>
              <a:t>相邻两层之间的神经元全部</a:t>
            </a:r>
            <a:r>
              <a:rPr lang="zh-CN" altLang="en-US" dirty="0">
                <a:solidFill>
                  <a:srgbClr val="FF0000"/>
                </a:solidFill>
              </a:rPr>
              <a:t>两两连接</a:t>
            </a:r>
            <a:r>
              <a:rPr lang="zh-CN" altLang="en-US" dirty="0"/>
              <a:t>。</a:t>
            </a:r>
            <a:endParaRPr lang="en-US" altLang="zh-CN" dirty="0"/>
          </a:p>
          <a:p>
            <a:pPr lvl="1"/>
            <a:r>
              <a:rPr lang="zh-CN" altLang="en-US" dirty="0"/>
              <a:t>整个网络中无反馈，信号从输入层向输出层单向传播，可用一个有向无环图表示。</a:t>
            </a:r>
          </a:p>
        </p:txBody>
      </p:sp>
      <p:pic>
        <p:nvPicPr>
          <p:cNvPr id="4" name="图片 3"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6200" y="3886200"/>
            <a:ext cx="3771900" cy="2155371"/>
          </a:xfrm>
          <a:prstGeom prst="rect">
            <a:avLst/>
          </a:prstGeom>
        </p:spPr>
      </p:pic>
    </p:spTree>
    <p:extLst>
      <p:ext uri="{BB962C8B-B14F-4D97-AF65-F5344CB8AC3E}">
        <p14:creationId xmlns:p14="http://schemas.microsoft.com/office/powerpoint/2010/main" val="29228307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01485F-B971-4D6A-B7C8-263E3A49C56F}"/>
              </a:ext>
            </a:extLst>
          </p:cNvPr>
          <p:cNvSpPr>
            <a:spLocks noGrp="1"/>
          </p:cNvSpPr>
          <p:nvPr>
            <p:ph type="title"/>
          </p:nvPr>
        </p:nvSpPr>
        <p:spPr/>
        <p:txBody>
          <a:bodyPr/>
          <a:lstStyle/>
          <a:p>
            <a:r>
              <a:rPr lang="zh-CN" altLang="en-US"/>
              <a:t>前馈网络</a:t>
            </a:r>
            <a:endParaRPr lang="zh-CN" altLang="en-US" dirty="0"/>
          </a:p>
        </p:txBody>
      </p:sp>
      <mc:AlternateContent xmlns:mc="http://schemas.openxmlformats.org/markup-compatibility/2006" xmlns:p14="http://schemas.microsoft.com/office/powerpoint/2010/main">
        <mc:Choice Requires="p14">
          <p:contentPart p14:bwMode="auto" r:id="rId3">
            <p14:nvContentPartPr>
              <p14:cNvPr id="24" name="墨迹 23">
                <a:extLst>
                  <a:ext uri="{FF2B5EF4-FFF2-40B4-BE49-F238E27FC236}">
                    <a16:creationId xmlns:a16="http://schemas.microsoft.com/office/drawing/2014/main" id="{A0200D79-BB66-4248-9059-51A66B3B43CA}"/>
                  </a:ext>
                </a:extLst>
              </p14:cNvPr>
              <p14:cNvContentPartPr/>
              <p14:nvPr/>
            </p14:nvContentPartPr>
            <p14:xfrm>
              <a:off x="12954020" y="5201507"/>
              <a:ext cx="360" cy="360"/>
            </p14:xfrm>
          </p:contentPart>
        </mc:Choice>
        <mc:Fallback xmlns="">
          <p:pic>
            <p:nvPicPr>
              <p:cNvPr id="24" name="墨迹 23">
                <a:extLst>
                  <a:ext uri="{FF2B5EF4-FFF2-40B4-BE49-F238E27FC236}">
                    <a16:creationId xmlns:a16="http://schemas.microsoft.com/office/drawing/2014/main" id="{A0200D79-BB66-4248-9059-51A66B3B43CA}"/>
                  </a:ext>
                </a:extLst>
              </p:cNvPr>
              <p:cNvPicPr/>
              <p:nvPr/>
            </p:nvPicPr>
            <p:blipFill>
              <a:blip r:embed="rId12"/>
              <a:stretch>
                <a:fillRect/>
              </a:stretch>
            </p:blipFill>
            <p:spPr>
              <a:xfrm>
                <a:off x="12945020" y="519250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7" name="墨迹 26">
                <a:extLst>
                  <a:ext uri="{FF2B5EF4-FFF2-40B4-BE49-F238E27FC236}">
                    <a16:creationId xmlns:a16="http://schemas.microsoft.com/office/drawing/2014/main" id="{F4A6A8A1-EA0C-43DD-99EE-88DB74B7E701}"/>
                  </a:ext>
                </a:extLst>
              </p14:cNvPr>
              <p14:cNvContentPartPr/>
              <p14:nvPr/>
            </p14:nvContentPartPr>
            <p14:xfrm>
              <a:off x="10413380" y="4736747"/>
              <a:ext cx="11880" cy="15480"/>
            </p14:xfrm>
          </p:contentPart>
        </mc:Choice>
        <mc:Fallback xmlns="">
          <p:pic>
            <p:nvPicPr>
              <p:cNvPr id="27" name="墨迹 26">
                <a:extLst>
                  <a:ext uri="{FF2B5EF4-FFF2-40B4-BE49-F238E27FC236}">
                    <a16:creationId xmlns:a16="http://schemas.microsoft.com/office/drawing/2014/main" id="{F4A6A8A1-EA0C-43DD-99EE-88DB74B7E701}"/>
                  </a:ext>
                </a:extLst>
              </p:cNvPr>
              <p:cNvPicPr/>
              <p:nvPr/>
            </p:nvPicPr>
            <p:blipFill>
              <a:blip r:embed="rId18"/>
              <a:stretch>
                <a:fillRect/>
              </a:stretch>
            </p:blipFill>
            <p:spPr>
              <a:xfrm>
                <a:off x="10404645" y="4727747"/>
                <a:ext cx="29001" cy="33120"/>
              </a:xfrm>
              <a:prstGeom prst="rect">
                <a:avLst/>
              </a:prstGeom>
            </p:spPr>
          </p:pic>
        </mc:Fallback>
      </mc:AlternateContent>
      <p:pic>
        <p:nvPicPr>
          <p:cNvPr id="5" name="图片 4">
            <a:extLst>
              <a:ext uri="{FF2B5EF4-FFF2-40B4-BE49-F238E27FC236}">
                <a16:creationId xmlns:a16="http://schemas.microsoft.com/office/drawing/2014/main" id="{0CD25A89-F253-4FB7-9853-F2AA6FF6A24F}"/>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990600" y="2414691"/>
            <a:ext cx="4531956" cy="2543010"/>
          </a:xfrm>
          <a:prstGeom prst="rect">
            <a:avLst/>
          </a:prstGeom>
        </p:spPr>
      </p:pic>
      <p:pic>
        <p:nvPicPr>
          <p:cNvPr id="15" name="图片 14">
            <a:extLst>
              <a:ext uri="{FF2B5EF4-FFF2-40B4-BE49-F238E27FC236}">
                <a16:creationId xmlns:a16="http://schemas.microsoft.com/office/drawing/2014/main" id="{8A74FBC3-FA39-4DA5-BE49-35A075AD30B9}"/>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6577059" y="2414691"/>
            <a:ext cx="3848201" cy="2786816"/>
          </a:xfrm>
          <a:prstGeom prst="rect">
            <a:avLst/>
          </a:prstGeom>
        </p:spPr>
      </p:pic>
      <p:sp>
        <p:nvSpPr>
          <p:cNvPr id="6" name="矩形 5">
            <a:extLst>
              <a:ext uri="{FF2B5EF4-FFF2-40B4-BE49-F238E27FC236}">
                <a16:creationId xmlns:a16="http://schemas.microsoft.com/office/drawing/2014/main" id="{13248545-75F6-4DB3-BA95-C957F1AE1223}"/>
              </a:ext>
            </a:extLst>
          </p:cNvPr>
          <p:cNvSpPr/>
          <p:nvPr/>
        </p:nvSpPr>
        <p:spPr>
          <a:xfrm>
            <a:off x="6477000" y="1500617"/>
            <a:ext cx="4114800" cy="646331"/>
          </a:xfrm>
          <a:prstGeom prst="rect">
            <a:avLst/>
          </a:prstGeom>
        </p:spPr>
        <p:txBody>
          <a:bodyPr wrap="square">
            <a:spAutoFit/>
          </a:bodyPr>
          <a:lstStyle/>
          <a:p>
            <a:r>
              <a:rPr lang="zh-CN" altLang="en-US" dirty="0"/>
              <a:t>给定一个前馈神经网络，用下面的记号来描述这样网络：</a:t>
            </a:r>
          </a:p>
        </p:txBody>
      </p:sp>
      <p:pic>
        <p:nvPicPr>
          <p:cNvPr id="8" name="图片 7">
            <a:extLst>
              <a:ext uri="{FF2B5EF4-FFF2-40B4-BE49-F238E27FC236}">
                <a16:creationId xmlns:a16="http://schemas.microsoft.com/office/drawing/2014/main" id="{EC8D8C5B-A3CB-44B1-AB21-68DC9342BB28}"/>
              </a:ext>
            </a:extLst>
          </p:cNvPr>
          <p:cNvPicPr>
            <a:picLocks noChangeAspect="1"/>
          </p:cNvPicPr>
          <p:nvPr/>
        </p:nvPicPr>
        <p:blipFill>
          <a:blip r:embed="rId21"/>
          <a:stretch>
            <a:fillRect/>
          </a:stretch>
        </p:blipFill>
        <p:spPr>
          <a:xfrm>
            <a:off x="2209800" y="5201507"/>
            <a:ext cx="4876800" cy="838200"/>
          </a:xfrm>
          <a:prstGeom prst="rect">
            <a:avLst/>
          </a:prstGeom>
        </p:spPr>
      </p:pic>
    </p:spTree>
    <p:extLst>
      <p:ext uri="{BB962C8B-B14F-4D97-AF65-F5344CB8AC3E}">
        <p14:creationId xmlns:p14="http://schemas.microsoft.com/office/powerpoint/2010/main" val="2881734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通用近似定理</a:t>
            </a:r>
          </a:p>
        </p:txBody>
      </p:sp>
      <p:sp>
        <p:nvSpPr>
          <p:cNvPr id="9" name="矩形 8"/>
          <p:cNvSpPr/>
          <p:nvPr/>
        </p:nvSpPr>
        <p:spPr>
          <a:xfrm>
            <a:off x="1447800" y="5012973"/>
            <a:ext cx="7239000" cy="1200329"/>
          </a:xfrm>
          <a:prstGeom prst="rect">
            <a:avLst/>
          </a:prstGeom>
        </p:spPr>
        <p:txBody>
          <a:bodyPr wrap="square">
            <a:spAutoFit/>
          </a:bodyPr>
          <a:lstStyle/>
          <a:p>
            <a:r>
              <a:rPr lang="zh-CN" altLang="en-US" dirty="0"/>
              <a:t>根据通用近似定理，对于具有</a:t>
            </a:r>
            <a:r>
              <a:rPr lang="zh-CN" altLang="en-US" u="sng" dirty="0"/>
              <a:t>线性输出层</a:t>
            </a:r>
            <a:r>
              <a:rPr lang="zh-CN" altLang="en-US" dirty="0"/>
              <a:t>和至少一个</a:t>
            </a:r>
            <a:r>
              <a:rPr lang="zh-CN" altLang="en-US" u="sng" dirty="0"/>
              <a:t>使用“挤压”性质的激活函数</a:t>
            </a:r>
            <a:r>
              <a:rPr lang="zh-CN" altLang="en-US" dirty="0"/>
              <a:t>的隐藏层组成的前馈神经网络，</a:t>
            </a:r>
            <a:r>
              <a:rPr lang="zh-CN" altLang="en-US" dirty="0">
                <a:solidFill>
                  <a:srgbClr val="FF0000"/>
                </a:solidFill>
              </a:rPr>
              <a:t>只要其隐藏层神经元的数量足够，它可以以任意的精度来近似任何从一个定义在实数空间中的有界闭集函数。</a:t>
            </a:r>
          </a:p>
        </p:txBody>
      </p:sp>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3780" y="1183124"/>
            <a:ext cx="5266040" cy="3829848"/>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8F5497B-CC60-4A43-B44F-B440949C83E1}"/>
                  </a:ext>
                </a:extLst>
              </p:cNvPr>
              <p:cNvSpPr txBox="1"/>
              <p:nvPr/>
            </p:nvSpPr>
            <p:spPr>
              <a:xfrm>
                <a:off x="9296400" y="2555459"/>
                <a:ext cx="256512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b="0" i="1" smtClean="0">
                          <a:latin typeface="Cambria Math" panose="02040503050406030204" pitchFamily="18" charset="0"/>
                        </a:rPr>
                        <m:t>𝑦</m:t>
                      </m:r>
                      <m:r>
                        <a:rPr kumimoji="1" lang="en-US" altLang="zh-CN" b="0" i="1" smtClean="0">
                          <a:latin typeface="Cambria Math" panose="02040503050406030204" pitchFamily="18" charset="0"/>
                        </a:rPr>
                        <m:t>=</m:t>
                      </m:r>
                      <m:sSup>
                        <m:sSupPr>
                          <m:ctrlPr>
                            <a:rPr kumimoji="1" lang="en-US" altLang="zh-CN" b="0" i="1" smtClean="0">
                              <a:latin typeface="Cambria Math" panose="02040503050406030204" pitchFamily="18" charset="0"/>
                            </a:rPr>
                          </m:ctrlPr>
                        </m:sSupPr>
                        <m:e>
                          <m:r>
                            <a:rPr kumimoji="1" lang="en-US" altLang="zh-CN" b="0" i="1" smtClean="0">
                              <a:latin typeface="Cambria Math" panose="02040503050406030204" pitchFamily="18" charset="0"/>
                            </a:rPr>
                            <m:t>𝑤</m:t>
                          </m:r>
                        </m:e>
                        <m:sup>
                          <m:r>
                            <a:rPr kumimoji="1" lang="en-US" altLang="zh-CN" b="0" i="1" smtClean="0">
                              <a:latin typeface="Cambria Math" panose="02040503050406030204" pitchFamily="18" charset="0"/>
                            </a:rPr>
                            <m:t>2</m:t>
                          </m:r>
                        </m:sup>
                      </m:sSup>
                      <m:r>
                        <a:rPr kumimoji="1" lang="en-US" altLang="zh-CN" b="0" i="1" smtClean="0">
                          <a:latin typeface="Cambria Math" panose="02040503050406030204" pitchFamily="18" charset="0"/>
                          <a:ea typeface="Cambria Math" panose="02040503050406030204" pitchFamily="18" charset="0"/>
                        </a:rPr>
                        <m:t>𝜎</m:t>
                      </m:r>
                      <m:d>
                        <m:dPr>
                          <m:ctrlPr>
                            <a:rPr kumimoji="1" lang="en-US" altLang="zh-CN" b="0" i="1" smtClean="0">
                              <a:latin typeface="Cambria Math" panose="02040503050406030204" pitchFamily="18" charset="0"/>
                              <a:ea typeface="Cambria Math" panose="02040503050406030204" pitchFamily="18" charset="0"/>
                            </a:rPr>
                          </m:ctrlPr>
                        </m:dPr>
                        <m:e>
                          <m:sSup>
                            <m:sSupPr>
                              <m:ctrlPr>
                                <a:rPr kumimoji="1" lang="en-US" altLang="zh-CN" b="0" i="1" smtClean="0">
                                  <a:latin typeface="Cambria Math" panose="02040503050406030204" pitchFamily="18" charset="0"/>
                                  <a:ea typeface="Cambria Math" panose="02040503050406030204" pitchFamily="18" charset="0"/>
                                </a:rPr>
                              </m:ctrlPr>
                            </m:sSupPr>
                            <m:e>
                              <m:r>
                                <a:rPr kumimoji="1" lang="en-US" altLang="zh-CN" b="0" i="1" smtClean="0">
                                  <a:latin typeface="Cambria Math" panose="02040503050406030204" pitchFamily="18" charset="0"/>
                                  <a:ea typeface="Cambria Math" panose="02040503050406030204" pitchFamily="18" charset="0"/>
                                </a:rPr>
                                <m:t>𝑤</m:t>
                              </m:r>
                            </m:e>
                            <m:sup>
                              <m:r>
                                <a:rPr kumimoji="1" lang="en-US" altLang="zh-CN" b="0" i="1" smtClean="0">
                                  <a:latin typeface="Cambria Math" panose="02040503050406030204" pitchFamily="18" charset="0"/>
                                  <a:ea typeface="Cambria Math" panose="02040503050406030204" pitchFamily="18" charset="0"/>
                                </a:rPr>
                                <m:t>1</m:t>
                              </m:r>
                            </m:sup>
                          </m:sSup>
                          <m:r>
                            <a:rPr kumimoji="1" lang="en-US" altLang="zh-CN" b="0" i="1" smtClean="0">
                              <a:latin typeface="Cambria Math" panose="02040503050406030204" pitchFamily="18" charset="0"/>
                              <a:ea typeface="Cambria Math" panose="02040503050406030204" pitchFamily="18" charset="0"/>
                            </a:rPr>
                            <m:t>𝑥</m:t>
                          </m:r>
                          <m:r>
                            <a:rPr kumimoji="1" lang="en-US" altLang="zh-CN" b="0" i="1" smtClean="0">
                              <a:latin typeface="Cambria Math" panose="02040503050406030204" pitchFamily="18" charset="0"/>
                              <a:ea typeface="Cambria Math" panose="02040503050406030204" pitchFamily="18" charset="0"/>
                            </a:rPr>
                            <m:t>+</m:t>
                          </m:r>
                          <m:sSup>
                            <m:sSupPr>
                              <m:ctrlPr>
                                <a:rPr kumimoji="1" lang="en-US" altLang="zh-CN" i="1" smtClean="0">
                                  <a:latin typeface="Cambria Math" panose="02040503050406030204" pitchFamily="18" charset="0"/>
                                  <a:ea typeface="Cambria Math" panose="02040503050406030204" pitchFamily="18" charset="0"/>
                                </a:rPr>
                              </m:ctrlPr>
                            </m:sSupPr>
                            <m:e>
                              <m:r>
                                <a:rPr kumimoji="1" lang="en-US" altLang="zh-CN" b="0" i="1" smtClean="0">
                                  <a:latin typeface="Cambria Math" panose="02040503050406030204" pitchFamily="18" charset="0"/>
                                  <a:ea typeface="Cambria Math" panose="02040503050406030204" pitchFamily="18" charset="0"/>
                                </a:rPr>
                                <m:t>𝑏</m:t>
                              </m:r>
                            </m:e>
                            <m:sup>
                              <m:r>
                                <a:rPr kumimoji="1" lang="en-US" altLang="zh-CN" i="1">
                                  <a:latin typeface="Cambria Math" panose="02040503050406030204" pitchFamily="18" charset="0"/>
                                  <a:ea typeface="Cambria Math" panose="02040503050406030204" pitchFamily="18" charset="0"/>
                                </a:rPr>
                                <m:t>1</m:t>
                              </m:r>
                            </m:sup>
                          </m:sSup>
                        </m:e>
                      </m:d>
                      <m:r>
                        <a:rPr kumimoji="1" lang="en-US" altLang="zh-CN" b="0" i="1" smtClean="0">
                          <a:latin typeface="Cambria Math" panose="02040503050406030204" pitchFamily="18" charset="0"/>
                          <a:ea typeface="Cambria Math" panose="02040503050406030204" pitchFamily="18" charset="0"/>
                        </a:rPr>
                        <m:t>+</m:t>
                      </m:r>
                      <m:sSup>
                        <m:sSupPr>
                          <m:ctrlPr>
                            <a:rPr kumimoji="1" lang="en-US" altLang="zh-CN" i="1">
                              <a:latin typeface="Cambria Math" panose="02040503050406030204" pitchFamily="18" charset="0"/>
                              <a:ea typeface="Cambria Math" panose="02040503050406030204" pitchFamily="18" charset="0"/>
                            </a:rPr>
                          </m:ctrlPr>
                        </m:sSupPr>
                        <m:e>
                          <m:r>
                            <a:rPr kumimoji="1" lang="en-US" altLang="zh-CN" b="0" i="1" smtClean="0">
                              <a:latin typeface="Cambria Math" panose="02040503050406030204" pitchFamily="18" charset="0"/>
                              <a:ea typeface="Cambria Math" panose="02040503050406030204" pitchFamily="18" charset="0"/>
                            </a:rPr>
                            <m:t>𝑏</m:t>
                          </m:r>
                        </m:e>
                        <m:sup>
                          <m:r>
                            <a:rPr kumimoji="1" lang="en-US" altLang="zh-CN" b="0" i="1" smtClean="0">
                              <a:latin typeface="Cambria Math" panose="02040503050406030204" pitchFamily="18" charset="0"/>
                              <a:ea typeface="Cambria Math" panose="02040503050406030204" pitchFamily="18" charset="0"/>
                            </a:rPr>
                            <m:t>2</m:t>
                          </m:r>
                        </m:sup>
                      </m:sSup>
                    </m:oMath>
                  </m:oMathPara>
                </a14:m>
                <a:endParaRPr kumimoji="1" lang="zh-CN" altLang="en-US" dirty="0"/>
              </a:p>
            </p:txBody>
          </p:sp>
        </mc:Choice>
        <mc:Fallback xmlns="">
          <p:sp>
            <p:nvSpPr>
              <p:cNvPr id="5" name="文本框 4">
                <a:extLst>
                  <a:ext uri="{FF2B5EF4-FFF2-40B4-BE49-F238E27FC236}">
                    <a16:creationId xmlns:a16="http://schemas.microsoft.com/office/drawing/2014/main" id="{E8F5497B-CC60-4A43-B44F-B440949C83E1}"/>
                  </a:ext>
                </a:extLst>
              </p:cNvPr>
              <p:cNvSpPr txBox="1">
                <a:spLocks noRot="1" noChangeAspect="1" noMove="1" noResize="1" noEditPoints="1" noAdjustHandles="1" noChangeArrowheads="1" noChangeShapeType="1" noTextEdit="1"/>
              </p:cNvSpPr>
              <p:nvPr/>
            </p:nvSpPr>
            <p:spPr>
              <a:xfrm>
                <a:off x="9296400" y="2555459"/>
                <a:ext cx="2565126" cy="276999"/>
              </a:xfrm>
              <a:prstGeom prst="rect">
                <a:avLst/>
              </a:prstGeom>
              <a:blipFill>
                <a:blip r:embed="rId4"/>
                <a:stretch>
                  <a:fillRect l="-1970" b="-260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430311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应用到机器学习</a:t>
            </a:r>
          </a:p>
        </p:txBody>
      </p:sp>
      <p:sp>
        <p:nvSpPr>
          <p:cNvPr id="3" name="内容占位符 2"/>
          <p:cNvSpPr>
            <a:spLocks noGrp="1"/>
          </p:cNvSpPr>
          <p:nvPr>
            <p:ph idx="1"/>
          </p:nvPr>
        </p:nvSpPr>
        <p:spPr/>
        <p:txBody>
          <a:bodyPr/>
          <a:lstStyle/>
          <a:p>
            <a:r>
              <a:rPr lang="zh-CN" altLang="en-US" dirty="0"/>
              <a:t>神经网络可以作为一个“万能”函数来使用，可以用来进行复杂的</a:t>
            </a:r>
            <a:r>
              <a:rPr lang="zh-CN" altLang="en-US" u="sng" dirty="0"/>
              <a:t>特征转换</a:t>
            </a:r>
            <a:r>
              <a:rPr lang="zh-CN" altLang="en-US" dirty="0"/>
              <a:t>，或逼近一个复杂的</a:t>
            </a:r>
            <a:r>
              <a:rPr lang="zh-CN" altLang="en-US" u="sng" dirty="0"/>
              <a:t>条件分布</a:t>
            </a:r>
            <a:r>
              <a:rPr lang="zh-CN" altLang="en-US" dirty="0"/>
              <a:t>。</a:t>
            </a:r>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pic>
        <p:nvPicPr>
          <p:cNvPr id="19" name="图片 18"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0" y="2286000"/>
            <a:ext cx="3271243" cy="707590"/>
          </a:xfrm>
          <a:prstGeom prst="rect">
            <a:avLst/>
          </a:prstGeom>
        </p:spPr>
      </p:pic>
      <p:cxnSp>
        <p:nvCxnSpPr>
          <p:cNvPr id="7" name="直接连接符 6"/>
          <p:cNvCxnSpPr/>
          <p:nvPr/>
        </p:nvCxnSpPr>
        <p:spPr>
          <a:xfrm>
            <a:off x="5404842" y="2917390"/>
            <a:ext cx="808224" cy="0"/>
          </a:xfrm>
          <a:prstGeom prst="line">
            <a:avLst/>
          </a:prstGeom>
        </p:spPr>
        <p:style>
          <a:lnRef idx="3">
            <a:schemeClr val="accent4"/>
          </a:lnRef>
          <a:fillRef idx="0">
            <a:schemeClr val="accent4"/>
          </a:fillRef>
          <a:effectRef idx="2">
            <a:schemeClr val="accent4"/>
          </a:effectRef>
          <a:fontRef idx="minor">
            <a:schemeClr val="tx1"/>
          </a:fontRef>
        </p:style>
      </p:cxnSp>
      <p:sp>
        <p:nvSpPr>
          <p:cNvPr id="9" name="文本框 8"/>
          <p:cNvSpPr txBox="1"/>
          <p:nvPr/>
        </p:nvSpPr>
        <p:spPr>
          <a:xfrm>
            <a:off x="7081242" y="3755591"/>
            <a:ext cx="1415772" cy="461665"/>
          </a:xfrm>
          <a:prstGeom prst="rect">
            <a:avLst/>
          </a:prstGeom>
          <a:noFill/>
        </p:spPr>
        <p:txBody>
          <a:bodyPr wrap="none" rtlCol="0">
            <a:spAutoFit/>
          </a:bodyPr>
          <a:lstStyle/>
          <a:p>
            <a:r>
              <a:rPr lang="zh-CN" altLang="en-US" sz="2400" dirty="0"/>
              <a:t>神经网络</a:t>
            </a:r>
          </a:p>
        </p:txBody>
      </p:sp>
      <p:cxnSp>
        <p:nvCxnSpPr>
          <p:cNvPr id="11" name="直接连接符 10"/>
          <p:cNvCxnSpPr>
            <a:endCxn id="9" idx="0"/>
          </p:cNvCxnSpPr>
          <p:nvPr/>
        </p:nvCxnSpPr>
        <p:spPr>
          <a:xfrm>
            <a:off x="5709642" y="2917390"/>
            <a:ext cx="2079486"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V="1">
            <a:off x="4924812" y="2993591"/>
            <a:ext cx="2080231" cy="38098"/>
          </a:xfrm>
          <a:prstGeom prst="line">
            <a:avLst/>
          </a:prstGeom>
        </p:spPr>
        <p:style>
          <a:lnRef idx="2">
            <a:schemeClr val="accent2"/>
          </a:lnRef>
          <a:fillRef idx="0">
            <a:schemeClr val="accent2"/>
          </a:fillRef>
          <a:effectRef idx="1">
            <a:schemeClr val="accent2"/>
          </a:effectRef>
          <a:fontRef idx="minor">
            <a:schemeClr val="tx1"/>
          </a:fontRef>
        </p:style>
      </p:cxnSp>
      <p:sp>
        <p:nvSpPr>
          <p:cNvPr id="14" name="文本框 13"/>
          <p:cNvSpPr txBox="1"/>
          <p:nvPr/>
        </p:nvSpPr>
        <p:spPr>
          <a:xfrm>
            <a:off x="4169548" y="3755590"/>
            <a:ext cx="1107996" cy="461665"/>
          </a:xfrm>
          <a:prstGeom prst="rect">
            <a:avLst/>
          </a:prstGeom>
          <a:noFill/>
        </p:spPr>
        <p:txBody>
          <a:bodyPr wrap="none" rtlCol="0">
            <a:spAutoFit/>
          </a:bodyPr>
          <a:lstStyle/>
          <a:p>
            <a:r>
              <a:rPr lang="zh-CN" altLang="en-US" sz="2400" dirty="0"/>
              <a:t>分类器</a:t>
            </a:r>
          </a:p>
        </p:txBody>
      </p:sp>
      <p:cxnSp>
        <p:nvCxnSpPr>
          <p:cNvPr id="16" name="直接连接符 15"/>
          <p:cNvCxnSpPr>
            <a:stCxn id="14" idx="0"/>
          </p:cNvCxnSpPr>
          <p:nvPr/>
        </p:nvCxnSpPr>
        <p:spPr>
          <a:xfrm flipV="1">
            <a:off x="4723547" y="3031689"/>
            <a:ext cx="1037359" cy="7239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84052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深层前馈神经网络 </a:t>
            </a:r>
            <a:r>
              <a:rPr lang="en-US" altLang="zh-CN" dirty="0"/>
              <a:t>–</a:t>
            </a:r>
            <a:r>
              <a:rPr lang="zh-CN" altLang="en-US" dirty="0"/>
              <a:t> 图像分类的例子</a:t>
            </a: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5601" y="1295400"/>
            <a:ext cx="6153647" cy="4944308"/>
          </a:xfrm>
          <a:prstGeom prst="rect">
            <a:avLst/>
          </a:prstGeom>
        </p:spPr>
      </p:pic>
    </p:spTree>
    <p:extLst>
      <p:ext uri="{BB962C8B-B14F-4D97-AF65-F5344CB8AC3E}">
        <p14:creationId xmlns:p14="http://schemas.microsoft.com/office/powerpoint/2010/main" val="6827206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A18C2E-603F-4021-BF58-FD70A37D5FE7}"/>
              </a:ext>
            </a:extLst>
          </p:cNvPr>
          <p:cNvSpPr>
            <a:spLocks noGrp="1"/>
          </p:cNvSpPr>
          <p:nvPr>
            <p:ph type="ctrTitle"/>
          </p:nvPr>
        </p:nvSpPr>
        <p:spPr/>
        <p:txBody>
          <a:bodyPr/>
          <a:lstStyle/>
          <a:p>
            <a:r>
              <a:rPr lang="en-US" altLang="zh-CN" dirty="0"/>
              <a:t>2.2.1</a:t>
            </a:r>
            <a:r>
              <a:rPr lang="zh-CN" altLang="en-US" dirty="0"/>
              <a:t> 参数学习</a:t>
            </a:r>
          </a:p>
        </p:txBody>
      </p:sp>
    </p:spTree>
    <p:extLst>
      <p:ext uri="{BB962C8B-B14F-4D97-AF65-F5344CB8AC3E}">
        <p14:creationId xmlns:p14="http://schemas.microsoft.com/office/powerpoint/2010/main" val="1824725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参数学习</a:t>
            </a:r>
          </a:p>
        </p:txBody>
      </p:sp>
      <p:sp>
        <p:nvSpPr>
          <p:cNvPr id="3" name="内容占位符 2"/>
          <p:cNvSpPr>
            <a:spLocks noGrp="1"/>
          </p:cNvSpPr>
          <p:nvPr>
            <p:ph idx="1"/>
          </p:nvPr>
        </p:nvSpPr>
        <p:spPr/>
        <p:txBody>
          <a:bodyPr/>
          <a:lstStyle/>
          <a:p>
            <a:r>
              <a:rPr lang="zh-CN" altLang="en-US" dirty="0"/>
              <a:t>对于多分类问题</a:t>
            </a:r>
            <a:endParaRPr lang="en-US" altLang="zh-CN" dirty="0"/>
          </a:p>
          <a:p>
            <a:pPr lvl="1"/>
            <a:r>
              <a:rPr lang="zh-CN" altLang="en-US" dirty="0"/>
              <a:t>如果使用</a:t>
            </a:r>
            <a:r>
              <a:rPr lang="en-US" altLang="zh-CN" b="1" dirty="0"/>
              <a:t>Softmax</a:t>
            </a:r>
            <a:r>
              <a:rPr lang="zh-CN" altLang="en-US" dirty="0"/>
              <a:t>回归分类器，相当于网络最后一层设置</a:t>
            </a:r>
            <a:r>
              <a:rPr lang="en-US" altLang="zh-CN" dirty="0"/>
              <a:t>C </a:t>
            </a:r>
            <a:r>
              <a:rPr lang="zh-CN" altLang="en-US" dirty="0"/>
              <a:t>个神经元，其输出经过</a:t>
            </a:r>
            <a:r>
              <a:rPr lang="en-US" altLang="zh-CN" dirty="0"/>
              <a:t>Softmax</a:t>
            </a:r>
            <a:r>
              <a:rPr lang="zh-CN" altLang="en-US" dirty="0"/>
              <a:t>函数进行归一化后可以作为</a:t>
            </a:r>
            <a:r>
              <a:rPr lang="zh-CN" altLang="en-US" b="1" dirty="0"/>
              <a:t>每个类的条件概率</a:t>
            </a:r>
            <a:r>
              <a:rPr lang="zh-CN" altLang="en-US" dirty="0"/>
              <a:t>。</a:t>
            </a:r>
            <a:endParaRPr lang="en-US" altLang="zh-CN" dirty="0"/>
          </a:p>
          <a:p>
            <a:endParaRPr lang="en-US" altLang="zh-CN" dirty="0"/>
          </a:p>
          <a:p>
            <a:endParaRPr lang="en-US" altLang="zh-CN" dirty="0"/>
          </a:p>
          <a:p>
            <a:pPr lvl="1"/>
            <a:endParaRPr lang="en-US" altLang="zh-CN" dirty="0"/>
          </a:p>
          <a:p>
            <a:pPr lvl="1"/>
            <a:r>
              <a:rPr lang="zh-CN" altLang="en-US" dirty="0"/>
              <a:t>采用</a:t>
            </a:r>
            <a:r>
              <a:rPr lang="zh-CN" altLang="en-US" b="1" dirty="0"/>
              <a:t>交叉熵损失函数</a:t>
            </a:r>
            <a:r>
              <a:rPr lang="zh-CN" altLang="en-US" dirty="0"/>
              <a:t>，对于样本</a:t>
            </a:r>
            <a:r>
              <a:rPr lang="en-US" altLang="zh-CN" dirty="0"/>
              <a:t>(</a:t>
            </a:r>
            <a:r>
              <a:rPr lang="en-US" altLang="zh-CN" dirty="0" err="1"/>
              <a:t>x,y</a:t>
            </a:r>
            <a:r>
              <a:rPr lang="en-US" altLang="zh-CN" dirty="0"/>
              <a:t>)</a:t>
            </a:r>
            <a:r>
              <a:rPr lang="zh-CN" altLang="en-US" dirty="0"/>
              <a:t>，其损失函数为</a:t>
            </a:r>
          </a:p>
        </p:txBody>
      </p:sp>
      <p:pic>
        <p:nvPicPr>
          <p:cNvPr id="5" name="图片 4"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6699" y="2909744"/>
            <a:ext cx="2620400" cy="778336"/>
          </a:xfrm>
          <a:prstGeom prst="rect">
            <a:avLst/>
          </a:prstGeom>
        </p:spPr>
      </p:pic>
      <p:pic>
        <p:nvPicPr>
          <p:cNvPr id="6" name="图片 5"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58394" y="5174138"/>
            <a:ext cx="2825869" cy="480999"/>
          </a:xfrm>
          <a:prstGeom prst="rect">
            <a:avLst/>
          </a:prstGeom>
        </p:spPr>
      </p:pic>
      <p:pic>
        <p:nvPicPr>
          <p:cNvPr id="2050" name="Picture 2" descr="Image">
            <a:extLst>
              <a:ext uri="{FF2B5EF4-FFF2-40B4-BE49-F238E27FC236}">
                <a16:creationId xmlns:a16="http://schemas.microsoft.com/office/drawing/2014/main" id="{0123CDCA-9780-B040-AEAC-465C477415D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372600" y="2832739"/>
            <a:ext cx="1968500" cy="1192521"/>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33DE240B-B5D6-394C-A5C5-574ED8698EA7}"/>
              </a:ext>
            </a:extLst>
          </p:cNvPr>
          <p:cNvSpPr txBox="1"/>
          <p:nvPr/>
        </p:nvSpPr>
        <p:spPr>
          <a:xfrm>
            <a:off x="10058400" y="4114800"/>
            <a:ext cx="1524000" cy="369332"/>
          </a:xfrm>
          <a:prstGeom prst="rect">
            <a:avLst/>
          </a:prstGeom>
          <a:noFill/>
        </p:spPr>
        <p:txBody>
          <a:bodyPr wrap="square" rtlCol="0">
            <a:spAutoFit/>
          </a:bodyPr>
          <a:lstStyle/>
          <a:p>
            <a:r>
              <a:rPr kumimoji="1" lang="zh-CN" altLang="en-US" dirty="0"/>
              <a:t>来源：</a:t>
            </a:r>
            <a:r>
              <a:rPr kumimoji="1" lang="zh-CN" altLang="en-US" dirty="0">
                <a:hlinkClick r:id="rId6"/>
              </a:rPr>
              <a:t>连接</a:t>
            </a:r>
            <a:endParaRPr kumimoji="1" lang="zh-CN" altLang="en-US" dirty="0"/>
          </a:p>
        </p:txBody>
      </p:sp>
      <p:pic>
        <p:nvPicPr>
          <p:cNvPr id="7" name="图片 6">
            <a:extLst>
              <a:ext uri="{FF2B5EF4-FFF2-40B4-BE49-F238E27FC236}">
                <a16:creationId xmlns:a16="http://schemas.microsoft.com/office/drawing/2014/main" id="{A3030023-25CF-9343-8CE2-E60031B77568}"/>
              </a:ext>
            </a:extLst>
          </p:cNvPr>
          <p:cNvPicPr>
            <a:picLocks noChangeAspect="1"/>
          </p:cNvPicPr>
          <p:nvPr/>
        </p:nvPicPr>
        <p:blipFill>
          <a:blip r:embed="rId7"/>
          <a:stretch>
            <a:fillRect/>
          </a:stretch>
        </p:blipFill>
        <p:spPr>
          <a:xfrm>
            <a:off x="9923167" y="4572000"/>
            <a:ext cx="1794465" cy="1906270"/>
          </a:xfrm>
          <a:prstGeom prst="rect">
            <a:avLst/>
          </a:prstGeom>
        </p:spPr>
      </p:pic>
      <p:sp>
        <p:nvSpPr>
          <p:cNvPr id="9" name="文本框 8">
            <a:extLst>
              <a:ext uri="{FF2B5EF4-FFF2-40B4-BE49-F238E27FC236}">
                <a16:creationId xmlns:a16="http://schemas.microsoft.com/office/drawing/2014/main" id="{261AC779-EA2B-5043-A64D-C18328661626}"/>
              </a:ext>
            </a:extLst>
          </p:cNvPr>
          <p:cNvSpPr txBox="1"/>
          <p:nvPr/>
        </p:nvSpPr>
        <p:spPr>
          <a:xfrm>
            <a:off x="10248265" y="6488668"/>
            <a:ext cx="1524000" cy="369332"/>
          </a:xfrm>
          <a:prstGeom prst="rect">
            <a:avLst/>
          </a:prstGeom>
          <a:noFill/>
        </p:spPr>
        <p:txBody>
          <a:bodyPr wrap="square" rtlCol="0">
            <a:spAutoFit/>
          </a:bodyPr>
          <a:lstStyle/>
          <a:p>
            <a:r>
              <a:rPr kumimoji="1" lang="zh-CN" altLang="en-US" dirty="0"/>
              <a:t>来源：</a:t>
            </a:r>
            <a:r>
              <a:rPr kumimoji="1" lang="zh-CN" altLang="en-US" dirty="0">
                <a:hlinkClick r:id="rId8"/>
              </a:rPr>
              <a:t>连接</a:t>
            </a:r>
            <a:endParaRPr kumimoji="1" lang="zh-CN" altLang="en-US" dirty="0"/>
          </a:p>
        </p:txBody>
      </p:sp>
    </p:spTree>
    <p:extLst>
      <p:ext uri="{BB962C8B-B14F-4D97-AF65-F5344CB8AC3E}">
        <p14:creationId xmlns:p14="http://schemas.microsoft.com/office/powerpoint/2010/main" val="3374805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参数学习</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给定训练集为</a:t>
                </a:r>
                <a14:m>
                  <m:oMath xmlns:m="http://schemas.openxmlformats.org/officeDocument/2006/math">
                    <m:r>
                      <a:rPr lang="en-US" altLang="zh-CN" i="1" dirty="0" smtClean="0">
                        <a:latin typeface="Cambria Math" panose="02040503050406030204" pitchFamily="18" charset="0"/>
                      </a:rPr>
                      <m:t>𝐷</m:t>
                    </m:r>
                    <m:r>
                      <a:rPr lang="en-US" altLang="zh-CN" i="1" dirty="0" smtClean="0">
                        <a:latin typeface="Cambria Math" panose="02040503050406030204" pitchFamily="18" charset="0"/>
                      </a:rPr>
                      <m:t> = </m:t>
                    </m:r>
                    <m:sSubSup>
                      <m:sSubSupPr>
                        <m:ctrlPr>
                          <a:rPr lang="en-US" altLang="zh-CN" i="1" dirty="0" smtClean="0">
                            <a:latin typeface="Cambria Math" panose="02040503050406030204" pitchFamily="18" charset="0"/>
                          </a:rPr>
                        </m:ctrlPr>
                      </m:sSubSupPr>
                      <m:e>
                        <m:r>
                          <a:rPr lang="en-US" altLang="zh-CN" i="1" dirty="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b="1" i="1" dirty="0">
                                <a:latin typeface="Cambria Math" panose="02040503050406030204" pitchFamily="18" charset="0"/>
                              </a:rPr>
                              <m:t>𝒙</m:t>
                            </m:r>
                          </m:e>
                          <m:sup>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a:latin typeface="Cambria Math" panose="02040503050406030204" pitchFamily="18" charset="0"/>
                              </a:rPr>
                              <m:t>)</m:t>
                            </m:r>
                          </m:sup>
                        </m:sSup>
                        <m:r>
                          <a:rPr lang="en-US" altLang="zh-CN" i="1" dirty="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𝑦</m:t>
                            </m:r>
                          </m:e>
                          <m:sup>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a:latin typeface="Cambria Math" panose="02040503050406030204" pitchFamily="18" charset="0"/>
                              </a:rPr>
                              <m:t>)</m:t>
                            </m:r>
                          </m:sup>
                        </m:sSup>
                        <m:r>
                          <a:rPr lang="en-US" altLang="zh-CN" i="1" dirty="0">
                            <a:latin typeface="Cambria Math" panose="02040503050406030204" pitchFamily="18" charset="0"/>
                          </a:rPr>
                          <m:t> )}</m:t>
                        </m:r>
                      </m:e>
                      <m:sub>
                        <m:r>
                          <a:rPr lang="en-US" altLang="zh-CN" i="1" dirty="0">
                            <a:latin typeface="Cambria Math" panose="02040503050406030204" pitchFamily="18" charset="0"/>
                          </a:rPr>
                          <m:t>𝑛</m:t>
                        </m:r>
                        <m:r>
                          <a:rPr lang="en-US" altLang="zh-CN" i="1" dirty="0">
                            <a:latin typeface="Cambria Math" panose="02040503050406030204" pitchFamily="18" charset="0"/>
                          </a:rPr>
                          <m:t>=1</m:t>
                        </m:r>
                      </m:sub>
                      <m:sup>
                        <m:r>
                          <a:rPr lang="en-US" altLang="zh-CN" i="1" dirty="0">
                            <a:latin typeface="Cambria Math" panose="02040503050406030204" pitchFamily="18" charset="0"/>
                          </a:rPr>
                          <m:t>𝑁</m:t>
                        </m:r>
                        <m:r>
                          <m:rPr>
                            <m:nor/>
                          </m:rPr>
                          <a:rPr lang="en-US" altLang="zh-CN" dirty="0"/>
                          <m:t> </m:t>
                        </m:r>
                      </m:sup>
                    </m:sSubSup>
                  </m:oMath>
                </a14:m>
                <a:r>
                  <a:rPr lang="en-US" altLang="zh-CN" dirty="0"/>
                  <a:t> </a:t>
                </a:r>
                <a:r>
                  <a:rPr lang="zh-CN" altLang="en-US" dirty="0"/>
                  <a:t>，将每个样本</a:t>
                </a:r>
                <a14:m>
                  <m:oMath xmlns:m="http://schemas.openxmlformats.org/officeDocument/2006/math">
                    <m:sSup>
                      <m:sSupPr>
                        <m:ctrlPr>
                          <a:rPr lang="en-US" altLang="zh-CN" i="1" dirty="0">
                            <a:latin typeface="Cambria Math" panose="02040503050406030204" pitchFamily="18" charset="0"/>
                          </a:rPr>
                        </m:ctrlPr>
                      </m:sSupPr>
                      <m:e>
                        <m:r>
                          <a:rPr lang="en-US" altLang="zh-CN" b="1" i="1" dirty="0">
                            <a:latin typeface="Cambria Math" panose="02040503050406030204" pitchFamily="18" charset="0"/>
                          </a:rPr>
                          <m:t>𝒙</m:t>
                        </m:r>
                      </m:e>
                      <m:sup>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a:latin typeface="Cambria Math" panose="02040503050406030204" pitchFamily="18" charset="0"/>
                          </a:rPr>
                          <m:t>)</m:t>
                        </m:r>
                      </m:sup>
                    </m:sSup>
                  </m:oMath>
                </a14:m>
                <a:r>
                  <a:rPr lang="zh-CN" altLang="en-US" dirty="0"/>
                  <a:t>输入给前馈神经网络，得到网络输出为 </a:t>
                </a:r>
                <a14:m>
                  <m:oMath xmlns:m="http://schemas.openxmlformats.org/officeDocument/2006/math">
                    <m:sSup>
                      <m:sSupPr>
                        <m:ctrlPr>
                          <a:rPr lang="en-US" altLang="zh-CN" i="1" dirty="0">
                            <a:latin typeface="Cambria Math" panose="02040503050406030204" pitchFamily="18" charset="0"/>
                          </a:rPr>
                        </m:ctrlPr>
                      </m:sSupPr>
                      <m:e>
                        <m:acc>
                          <m:accPr>
                            <m:chr m:val="̂"/>
                            <m:ctrlPr>
                              <a:rPr lang="en-US" altLang="zh-CN" b="0" i="1" dirty="0" smtClean="0">
                                <a:latin typeface="Cambria Math" panose="02040503050406030204" pitchFamily="18" charset="0"/>
                              </a:rPr>
                            </m:ctrlPr>
                          </m:accPr>
                          <m:e>
                            <m:r>
                              <a:rPr lang="en-US" altLang="zh-CN" i="1" dirty="0">
                                <a:latin typeface="Cambria Math" panose="02040503050406030204" pitchFamily="18" charset="0"/>
                              </a:rPr>
                              <m:t>𝑦</m:t>
                            </m:r>
                          </m:e>
                        </m:acc>
                      </m:e>
                      <m:sup>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a:latin typeface="Cambria Math" panose="02040503050406030204" pitchFamily="18" charset="0"/>
                          </a:rPr>
                          <m:t>)</m:t>
                        </m:r>
                      </m:sup>
                    </m:sSup>
                  </m:oMath>
                </a14:m>
                <a:r>
                  <a:rPr lang="zh-CN" altLang="en-US" dirty="0"/>
                  <a:t>，其在数据集</a:t>
                </a:r>
                <a:r>
                  <a:rPr lang="en-US" altLang="zh-CN" dirty="0"/>
                  <a:t>D</a:t>
                </a:r>
                <a:r>
                  <a:rPr lang="zh-CN" altLang="en-US" dirty="0"/>
                  <a:t>上的结构化风险函数（随机</a:t>
                </a:r>
                <a:r>
                  <a:rPr lang="zh-CN" altLang="en-US" b="1" dirty="0"/>
                  <a:t>损失</a:t>
                </a:r>
                <a:r>
                  <a:rPr lang="zh-CN" altLang="en-US" dirty="0"/>
                  <a:t>）为：</a:t>
                </a:r>
                <a:endParaRPr lang="en-US" altLang="zh-CN" dirty="0"/>
              </a:p>
              <a:p>
                <a:endParaRPr lang="en-US" altLang="zh-CN" dirty="0"/>
              </a:p>
              <a:p>
                <a:endParaRPr lang="en-US" altLang="zh-CN" dirty="0"/>
              </a:p>
              <a:p>
                <a:r>
                  <a:rPr lang="zh-CN" altLang="en-US" dirty="0"/>
                  <a:t>梯度下降</a:t>
                </a: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778" t="-1015"/>
                </a:stretch>
              </a:blipFill>
            </p:spPr>
            <p:txBody>
              <a:bodyPr/>
              <a:lstStyle/>
              <a:p>
                <a:r>
                  <a:rPr lang="zh-CN" altLang="en-US">
                    <a:noFill/>
                  </a:rPr>
                  <a:t> </a:t>
                </a:r>
              </a:p>
            </p:txBody>
          </p:sp>
        </mc:Fallback>
      </mc:AlternateContent>
      <p:pic>
        <p:nvPicPr>
          <p:cNvPr id="5" name="图片 4"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29000" y="2871478"/>
            <a:ext cx="4789840" cy="832779"/>
          </a:xfrm>
          <a:prstGeom prst="rect">
            <a:avLst/>
          </a:prstGeom>
        </p:spPr>
      </p:pic>
      <p:pic>
        <p:nvPicPr>
          <p:cNvPr id="7" name="图片 6" descr="屏幕剪辑"/>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48200" y="4442876"/>
            <a:ext cx="3040320" cy="725919"/>
          </a:xfrm>
          <a:prstGeom prst="rect">
            <a:avLst/>
          </a:prstGeom>
        </p:spPr>
      </p:pic>
      <p:pic>
        <p:nvPicPr>
          <p:cNvPr id="8" name="图片 7" descr="屏幕剪辑"/>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34805" y="5343818"/>
            <a:ext cx="2875851" cy="594697"/>
          </a:xfrm>
          <a:prstGeom prst="rect">
            <a:avLst/>
          </a:prstGeom>
        </p:spPr>
      </p:pic>
    </p:spTree>
    <p:extLst>
      <p:ext uri="{BB962C8B-B14F-4D97-AF65-F5344CB8AC3E}">
        <p14:creationId xmlns:p14="http://schemas.microsoft.com/office/powerpoint/2010/main" val="1270783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如何计算梯度？</a:t>
            </a:r>
          </a:p>
        </p:txBody>
      </p:sp>
      <p:sp>
        <p:nvSpPr>
          <p:cNvPr id="3" name="内容占位符 2"/>
          <p:cNvSpPr>
            <a:spLocks noGrp="1"/>
          </p:cNvSpPr>
          <p:nvPr>
            <p:ph idx="1"/>
          </p:nvPr>
        </p:nvSpPr>
        <p:spPr/>
        <p:txBody>
          <a:bodyPr/>
          <a:lstStyle/>
          <a:p>
            <a:r>
              <a:rPr lang="zh-CN" altLang="en-US" dirty="0"/>
              <a:t>神经网络为一个</a:t>
            </a:r>
            <a:r>
              <a:rPr lang="zh-CN" altLang="en-US" u="sng" dirty="0"/>
              <a:t>复杂的复合函数</a:t>
            </a:r>
            <a:endParaRPr lang="en-US" altLang="zh-CN" u="sng" dirty="0"/>
          </a:p>
          <a:p>
            <a:pPr lvl="1"/>
            <a:r>
              <a:rPr lang="zh-CN" altLang="en-US" dirty="0"/>
              <a:t>链式法则</a:t>
            </a:r>
            <a:endParaRPr lang="en-US" altLang="zh-CN" dirty="0"/>
          </a:p>
          <a:p>
            <a:pPr marL="0" indent="0">
              <a:buNone/>
            </a:pPr>
            <a:endParaRPr lang="en-US" altLang="zh-CN" dirty="0"/>
          </a:p>
          <a:p>
            <a:endParaRPr lang="en-US" altLang="zh-CN" dirty="0"/>
          </a:p>
          <a:p>
            <a:r>
              <a:rPr lang="zh-CN" altLang="en-US" dirty="0"/>
              <a:t>反向传播算法</a:t>
            </a:r>
            <a:endParaRPr lang="en-US" altLang="zh-CN" dirty="0"/>
          </a:p>
          <a:p>
            <a:pPr lvl="1"/>
            <a:r>
              <a:rPr lang="zh-CN" altLang="en-US" dirty="0"/>
              <a:t>根据前馈网络的特点而设计的高效方法</a:t>
            </a:r>
            <a:endParaRPr lang="en-US" altLang="zh-CN" dirty="0"/>
          </a:p>
          <a:p>
            <a:pPr lvl="1"/>
            <a:endParaRPr lang="en-US" altLang="zh-CN" dirty="0"/>
          </a:p>
          <a:p>
            <a:pPr lvl="1"/>
            <a:endParaRPr lang="en-US" altLang="zh-CN" dirty="0"/>
          </a:p>
          <a:p>
            <a:r>
              <a:rPr lang="zh-CN" altLang="en-US" dirty="0"/>
              <a:t>一个更加通用的计算方法</a:t>
            </a:r>
            <a:endParaRPr lang="en-US" altLang="zh-CN" dirty="0"/>
          </a:p>
          <a:p>
            <a:pPr lvl="1"/>
            <a:r>
              <a:rPr lang="zh-CN" altLang="en-US" dirty="0"/>
              <a:t>自动微分（</a:t>
            </a:r>
            <a:r>
              <a:rPr lang="en-US" altLang="zh-CN" dirty="0"/>
              <a:t>Automatic Differentiation</a:t>
            </a:r>
            <a:r>
              <a:rPr lang="zh-CN" altLang="en-US" dirty="0"/>
              <a:t>，</a:t>
            </a:r>
            <a:r>
              <a:rPr lang="en-US" altLang="zh-CN" dirty="0"/>
              <a:t>AD</a:t>
            </a:r>
            <a:r>
              <a:rPr lang="zh-CN" altLang="en-US" dirty="0"/>
              <a:t>）</a:t>
            </a:r>
          </a:p>
        </p:txBody>
      </p:sp>
      <mc:AlternateContent xmlns:mc="http://schemas.openxmlformats.org/markup-compatibility/2006" xmlns:a14="http://schemas.microsoft.com/office/drawing/2010/main">
        <mc:Choice Requires="a14">
          <p:sp>
            <p:nvSpPr>
              <p:cNvPr id="4" name="文本框 3"/>
              <p:cNvSpPr txBox="1"/>
              <p:nvPr/>
            </p:nvSpPr>
            <p:spPr>
              <a:xfrm flipH="1">
                <a:off x="2209800" y="2057400"/>
                <a:ext cx="7922741" cy="677045"/>
              </a:xfrm>
              <a:prstGeom prst="rect">
                <a:avLst/>
              </a:prstGeom>
              <a:noFill/>
            </p:spPr>
            <p:txBody>
              <a:bodyPr wrap="square" rtlCol="0">
                <a:spAutoFit/>
              </a:bodyPr>
              <a:lstStyle/>
              <a:p>
                <a:pPr algn="ctr"/>
                <a14:m>
                  <m:oMath xmlns:m="http://schemas.openxmlformats.org/officeDocument/2006/math">
                    <m:r>
                      <a:rPr lang="en-US" altLang="zh-CN" sz="2400" i="1">
                        <a:solidFill>
                          <a:srgbClr val="FF0000"/>
                        </a:solidFill>
                        <a:latin typeface="Cambria Math" panose="02040503050406030204" pitchFamily="18" charset="0"/>
                        <a:ea typeface="Cambria Math" panose="02040503050406030204" pitchFamily="18" charset="0"/>
                      </a:rPr>
                      <m:t>𝑦</m:t>
                    </m:r>
                    <m:r>
                      <a:rPr lang="en-US" altLang="zh-CN" sz="2400" i="1">
                        <a:solidFill>
                          <a:srgbClr val="FF0000"/>
                        </a:solidFill>
                        <a:latin typeface="Cambria Math" panose="02040503050406030204" pitchFamily="18" charset="0"/>
                        <a:ea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5</m:t>
                    </m:r>
                    <m:r>
                      <a:rPr lang="en-US" altLang="zh-CN" sz="2400" i="1">
                        <a:solidFill>
                          <a:srgbClr val="FF0000"/>
                        </a:solidFill>
                        <a:latin typeface="Cambria Math" panose="02040503050406030204" pitchFamily="18" charset="0"/>
                        <a:ea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4</m:t>
                    </m:r>
                    <m:r>
                      <a:rPr lang="en-US" altLang="zh-CN" sz="2400" i="1">
                        <a:solidFill>
                          <a:srgbClr val="FF0000"/>
                        </a:solidFill>
                        <a:latin typeface="Cambria Math" panose="02040503050406030204" pitchFamily="18" charset="0"/>
                        <a:ea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3</m:t>
                    </m:r>
                    <m:r>
                      <a:rPr lang="en-US" altLang="zh-CN" sz="2400" i="1">
                        <a:solidFill>
                          <a:srgbClr val="FF0000"/>
                        </a:solidFill>
                        <a:latin typeface="Cambria Math" panose="02040503050406030204" pitchFamily="18" charset="0"/>
                        <a:ea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2</m:t>
                    </m:r>
                    <m:r>
                      <a:rPr lang="en-US" altLang="zh-CN" sz="2400" i="1">
                        <a:solidFill>
                          <a:srgbClr val="FF0000"/>
                        </a:solidFill>
                        <a:latin typeface="Cambria Math" panose="02040503050406030204" pitchFamily="18" charset="0"/>
                        <a:ea typeface="Cambria Math" panose="02040503050406030204" pitchFamily="18" charset="0"/>
                      </a:rPr>
                      <m:t>(</m:t>
                    </m:r>
                    <m:r>
                      <a:rPr lang="pt-BR"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1</m:t>
                    </m:r>
                    <m:d>
                      <m:dPr>
                        <m:ctrlPr>
                          <a:rPr lang="pt-BR" altLang="zh-CN" sz="2400" i="1">
                            <a:solidFill>
                              <a:srgbClr val="FF0000"/>
                            </a:solidFill>
                            <a:latin typeface="Cambria Math" panose="02040503050406030204" pitchFamily="18" charset="0"/>
                            <a:ea typeface="Cambria Math" panose="02040503050406030204" pitchFamily="18" charset="0"/>
                          </a:rPr>
                        </m:ctrlPr>
                      </m:dPr>
                      <m:e>
                        <m:r>
                          <a:rPr lang="pt-BR" altLang="zh-CN" sz="2400" i="1">
                            <a:solidFill>
                              <a:srgbClr val="FF0000"/>
                            </a:solidFill>
                            <a:latin typeface="Cambria Math" panose="02040503050406030204" pitchFamily="18" charset="0"/>
                            <a:ea typeface="Cambria Math" panose="02040503050406030204" pitchFamily="18" charset="0"/>
                          </a:rPr>
                          <m:t>𝑥</m:t>
                        </m:r>
                      </m:e>
                    </m:d>
                    <m:r>
                      <a:rPr lang="en-US" altLang="zh-CN" sz="2400" i="1">
                        <a:solidFill>
                          <a:srgbClr val="FF0000"/>
                        </a:solidFill>
                        <a:latin typeface="Cambria Math" panose="02040503050406030204" pitchFamily="18" charset="0"/>
                        <a:ea typeface="Cambria Math" panose="02040503050406030204" pitchFamily="18" charset="0"/>
                      </a:rPr>
                      <m:t>))))</m:t>
                    </m:r>
                  </m:oMath>
                </a14:m>
                <a:r>
                  <a:rPr lang="zh-CN" altLang="en-US" sz="2400" dirty="0">
                    <a:solidFill>
                      <a:srgbClr val="FF0000"/>
                    </a:solidFill>
                  </a:rPr>
                  <a:t> </a:t>
                </a:r>
                <a:r>
                  <a:rPr lang="en-US" altLang="zh-CN" sz="2400" dirty="0">
                    <a:solidFill>
                      <a:srgbClr val="FF0000"/>
                    </a:solidFill>
                  </a:rPr>
                  <a:t>→</a:t>
                </a:r>
                <a:r>
                  <a:rPr lang="zh-CN" altLang="en-US" sz="2400" dirty="0">
                    <a:solidFill>
                      <a:srgbClr val="FF0000"/>
                    </a:solidFill>
                  </a:rPr>
                  <a:t> </a:t>
                </a:r>
                <a14:m>
                  <m:oMath xmlns:m="http://schemas.openxmlformats.org/officeDocument/2006/math">
                    <m:f>
                      <m:fPr>
                        <m:ctrlPr>
                          <a:rPr lang="en-US" altLang="zh-CN" sz="2400" i="1">
                            <a:solidFill>
                              <a:srgbClr val="FF0000"/>
                            </a:solidFill>
                            <a:latin typeface="Cambria Math" panose="02040503050406030204" pitchFamily="18" charset="0"/>
                          </a:rPr>
                        </m:ctrlPr>
                      </m:fPr>
                      <m:num>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rPr>
                          <m:t>𝑦</m:t>
                        </m:r>
                      </m:num>
                      <m:den>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rPr>
                          <m:t>𝑥</m:t>
                        </m:r>
                      </m:den>
                    </m:f>
                    <m:r>
                      <a:rPr lang="en-US" altLang="zh-CN" sz="2400" i="1">
                        <a:solidFill>
                          <a:srgbClr val="FF0000"/>
                        </a:solidFill>
                        <a:latin typeface="Cambria Math" panose="02040503050406030204" pitchFamily="18" charset="0"/>
                        <a:ea typeface="Cambria Math" panose="02040503050406030204" pitchFamily="18" charset="0"/>
                      </a:rPr>
                      <m:t>=</m:t>
                    </m:r>
                    <m:f>
                      <m:fPr>
                        <m:ctrlPr>
                          <a:rPr lang="en-US" altLang="zh-CN" sz="2400" i="1">
                            <a:solidFill>
                              <a:srgbClr val="FF0000"/>
                            </a:solidFill>
                            <a:latin typeface="Cambria Math" panose="02040503050406030204" pitchFamily="18" charset="0"/>
                          </a:rPr>
                        </m:ctrlPr>
                      </m:fPr>
                      <m:num>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1</m:t>
                        </m:r>
                      </m:num>
                      <m:den>
                        <m:r>
                          <a:rPr lang="en-US" altLang="zh-CN" sz="2400" i="1">
                            <a:solidFill>
                              <a:srgbClr val="FF0000"/>
                            </a:solidFill>
                            <a:latin typeface="Cambria Math" panose="02040503050406030204" pitchFamily="18" charset="0"/>
                          </a:rPr>
                          <m:t>𝜕</m:t>
                        </m:r>
                        <m:r>
                          <m:rPr>
                            <m:sty m:val="p"/>
                          </m:rPr>
                          <a:rPr lang="en-US" altLang="zh-CN" sz="2400" i="1">
                            <a:solidFill>
                              <a:srgbClr val="FF0000"/>
                            </a:solidFill>
                            <a:latin typeface="Cambria Math" panose="02040503050406030204" pitchFamily="18" charset="0"/>
                            <a:ea typeface="Cambria Math" panose="02040503050406030204" pitchFamily="18" charset="0"/>
                          </a:rPr>
                          <m:t>x</m:t>
                        </m:r>
                      </m:den>
                    </m:f>
                    <m:f>
                      <m:fPr>
                        <m:ctrlPr>
                          <a:rPr lang="en-US" altLang="zh-CN" sz="2400" i="1">
                            <a:solidFill>
                              <a:srgbClr val="FF0000"/>
                            </a:solidFill>
                            <a:latin typeface="Cambria Math" panose="02040503050406030204" pitchFamily="18" charset="0"/>
                          </a:rPr>
                        </m:ctrlPr>
                      </m:fPr>
                      <m:num>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2</m:t>
                        </m:r>
                      </m:num>
                      <m:den>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1</m:t>
                        </m:r>
                      </m:den>
                    </m:f>
                    <m:f>
                      <m:fPr>
                        <m:ctrlPr>
                          <a:rPr lang="en-US" altLang="zh-CN" sz="2400" i="1">
                            <a:solidFill>
                              <a:srgbClr val="FF0000"/>
                            </a:solidFill>
                            <a:latin typeface="Cambria Math" panose="02040503050406030204" pitchFamily="18" charset="0"/>
                          </a:rPr>
                        </m:ctrlPr>
                      </m:fPr>
                      <m:num>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3</m:t>
                        </m:r>
                      </m:num>
                      <m:den>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2</m:t>
                        </m:r>
                      </m:den>
                    </m:f>
                    <m:f>
                      <m:fPr>
                        <m:ctrlPr>
                          <a:rPr lang="en-US" altLang="zh-CN" sz="2400" i="1">
                            <a:solidFill>
                              <a:srgbClr val="FF0000"/>
                            </a:solidFill>
                            <a:latin typeface="Cambria Math" panose="02040503050406030204" pitchFamily="18" charset="0"/>
                          </a:rPr>
                        </m:ctrlPr>
                      </m:fPr>
                      <m:num>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4</m:t>
                        </m:r>
                      </m:num>
                      <m:den>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3</m:t>
                        </m:r>
                      </m:den>
                    </m:f>
                    <m:f>
                      <m:fPr>
                        <m:ctrlPr>
                          <a:rPr lang="en-US" altLang="zh-CN" sz="2400" i="1">
                            <a:solidFill>
                              <a:srgbClr val="FF0000"/>
                            </a:solidFill>
                            <a:latin typeface="Cambria Math" panose="02040503050406030204" pitchFamily="18" charset="0"/>
                          </a:rPr>
                        </m:ctrlPr>
                      </m:fPr>
                      <m:num>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5</m:t>
                        </m:r>
                      </m:num>
                      <m:den>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4</m:t>
                        </m:r>
                      </m:den>
                    </m:f>
                  </m:oMath>
                </a14:m>
                <a:endParaRPr lang="zh-CN" altLang="en-US" sz="2400" dirty="0">
                  <a:solidFill>
                    <a:srgbClr val="FF0000"/>
                  </a:solidFill>
                </a:endParaRPr>
              </a:p>
            </p:txBody>
          </p:sp>
        </mc:Choice>
        <mc:Fallback xmlns="">
          <p:sp>
            <p:nvSpPr>
              <p:cNvPr id="4" name="文本框 3"/>
              <p:cNvSpPr txBox="1">
                <a:spLocks noRot="1" noChangeAspect="1" noMove="1" noResize="1" noEditPoints="1" noAdjustHandles="1" noChangeArrowheads="1" noChangeShapeType="1" noTextEdit="1"/>
              </p:cNvSpPr>
              <p:nvPr/>
            </p:nvSpPr>
            <p:spPr>
              <a:xfrm flipH="1">
                <a:off x="2209800" y="2057400"/>
                <a:ext cx="7922741" cy="677045"/>
              </a:xfrm>
              <a:prstGeom prst="rect">
                <a:avLst/>
              </a:prstGeom>
              <a:blipFill>
                <a:blip r:embed="rId3"/>
                <a:stretch>
                  <a:fillRect t="-9009"/>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296240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Effect transition="in" filter="fade">
                                      <p:cBhvr>
                                        <p:cTn id="15" dur="500"/>
                                        <p:tgtEl>
                                          <p:spTgt spid="3">
                                            <p:txEl>
                                              <p:pRg st="8" end="8"/>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9" end="9"/>
                                            </p:txEl>
                                          </p:spTgt>
                                        </p:tgtEl>
                                        <p:attrNameLst>
                                          <p:attrName>style.visibility</p:attrName>
                                        </p:attrNameLst>
                                      </p:cBhvr>
                                      <p:to>
                                        <p:strVal val="visible"/>
                                      </p:to>
                                    </p:set>
                                    <p:animEffect transition="in" filter="fade">
                                      <p:cBhvr>
                                        <p:cTn id="1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A18C2E-603F-4021-BF58-FD70A37D5FE7}"/>
              </a:ext>
            </a:extLst>
          </p:cNvPr>
          <p:cNvSpPr>
            <a:spLocks noGrp="1"/>
          </p:cNvSpPr>
          <p:nvPr>
            <p:ph type="ctrTitle"/>
          </p:nvPr>
        </p:nvSpPr>
        <p:spPr/>
        <p:txBody>
          <a:bodyPr/>
          <a:lstStyle/>
          <a:p>
            <a:r>
              <a:rPr lang="en-US" altLang="zh-CN" dirty="0"/>
              <a:t>2.2.2</a:t>
            </a:r>
            <a:r>
              <a:rPr lang="zh-CN" altLang="en-US" dirty="0"/>
              <a:t> 反向传播算法</a:t>
            </a:r>
          </a:p>
        </p:txBody>
      </p:sp>
    </p:spTree>
    <p:extLst>
      <p:ext uri="{BB962C8B-B14F-4D97-AF65-F5344CB8AC3E}">
        <p14:creationId xmlns:p14="http://schemas.microsoft.com/office/powerpoint/2010/main" val="16337057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A2A7D9-9485-4DEC-B5B0-9FA3898B8327}"/>
              </a:ext>
            </a:extLst>
          </p:cNvPr>
          <p:cNvSpPr>
            <a:spLocks noGrp="1"/>
          </p:cNvSpPr>
          <p:nvPr>
            <p:ph type="title"/>
          </p:nvPr>
        </p:nvSpPr>
        <p:spPr/>
        <p:txBody>
          <a:bodyPr/>
          <a:lstStyle/>
          <a:p>
            <a:r>
              <a:rPr lang="zh-CN" altLang="en-US" dirty="0"/>
              <a:t>矩阵微积分</a:t>
            </a:r>
          </a:p>
        </p:txBody>
      </p:sp>
      <p:sp>
        <p:nvSpPr>
          <p:cNvPr id="3" name="内容占位符 2">
            <a:extLst>
              <a:ext uri="{FF2B5EF4-FFF2-40B4-BE49-F238E27FC236}">
                <a16:creationId xmlns:a16="http://schemas.microsoft.com/office/drawing/2014/main" id="{93AF135C-8460-4F7B-97C2-1FF773FE217A}"/>
              </a:ext>
            </a:extLst>
          </p:cNvPr>
          <p:cNvSpPr>
            <a:spLocks noGrp="1"/>
          </p:cNvSpPr>
          <p:nvPr>
            <p:ph idx="1"/>
          </p:nvPr>
        </p:nvSpPr>
        <p:spPr/>
        <p:txBody>
          <a:bodyPr/>
          <a:lstStyle/>
          <a:p>
            <a:r>
              <a:rPr lang="zh-CN" altLang="en-US" dirty="0"/>
              <a:t>矩阵微积分（</a:t>
            </a:r>
            <a:r>
              <a:rPr lang="en-US" altLang="zh-CN" dirty="0"/>
              <a:t>Matrix Calculus</a:t>
            </a:r>
            <a:r>
              <a:rPr lang="zh-CN" altLang="en-US" dirty="0"/>
              <a:t>）是多元微积分的一种表达方式，即使用矩阵和向量来表示因变量每个成分关于自变量每个成分的偏导数。</a:t>
            </a:r>
            <a:endParaRPr lang="en-US" altLang="zh-CN" dirty="0"/>
          </a:p>
          <a:p>
            <a:r>
              <a:rPr lang="zh-CN" altLang="en-US" dirty="0"/>
              <a:t>分母布局</a:t>
            </a:r>
            <a:endParaRPr lang="en-US" altLang="zh-CN" dirty="0"/>
          </a:p>
          <a:p>
            <a:pPr lvl="1"/>
            <a:r>
              <a:rPr lang="zh-CN" altLang="en-US" dirty="0"/>
              <a:t>标量关于向量的偏导数</a:t>
            </a:r>
            <a:endParaRPr lang="en-US" altLang="zh-CN" dirty="0"/>
          </a:p>
          <a:p>
            <a:pPr lvl="1"/>
            <a:endParaRPr lang="en-US" altLang="zh-CN" dirty="0"/>
          </a:p>
          <a:p>
            <a:pPr lvl="1"/>
            <a:endParaRPr lang="en-US" altLang="zh-CN" dirty="0"/>
          </a:p>
          <a:p>
            <a:pPr lvl="1"/>
            <a:r>
              <a:rPr lang="zh-CN" altLang="en-US" dirty="0"/>
              <a:t>向量关于向量的偏导数</a:t>
            </a:r>
            <a:endParaRPr lang="en-US" altLang="zh-CN" dirty="0"/>
          </a:p>
          <a:p>
            <a:pPr lvl="1"/>
            <a:endParaRPr lang="en-US" altLang="zh-CN" dirty="0"/>
          </a:p>
          <a:p>
            <a:pPr lvl="1"/>
            <a:endParaRPr lang="en-US" altLang="zh-CN" dirty="0"/>
          </a:p>
          <a:p>
            <a:pPr lvl="1"/>
            <a:endParaRPr lang="en-US" altLang="zh-CN" dirty="0"/>
          </a:p>
          <a:p>
            <a:pPr lvl="1"/>
            <a:endParaRPr lang="zh-CN" altLang="en-US" dirty="0"/>
          </a:p>
        </p:txBody>
      </p:sp>
      <p:pic>
        <p:nvPicPr>
          <p:cNvPr id="5" name="图片 4">
            <a:extLst>
              <a:ext uri="{FF2B5EF4-FFF2-40B4-BE49-F238E27FC236}">
                <a16:creationId xmlns:a16="http://schemas.microsoft.com/office/drawing/2014/main" id="{7C1E51F3-A5DE-441E-93A3-6275C63BF2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3810000"/>
            <a:ext cx="1943151" cy="549743"/>
          </a:xfrm>
          <a:prstGeom prst="rect">
            <a:avLst/>
          </a:prstGeom>
        </p:spPr>
      </p:pic>
      <p:pic>
        <p:nvPicPr>
          <p:cNvPr id="7" name="图片 6">
            <a:extLst>
              <a:ext uri="{FF2B5EF4-FFF2-40B4-BE49-F238E27FC236}">
                <a16:creationId xmlns:a16="http://schemas.microsoft.com/office/drawing/2014/main" id="{D2C6ACA0-FD0C-4600-9F0D-D3300E746F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600" y="4942096"/>
            <a:ext cx="3146054" cy="1393408"/>
          </a:xfrm>
          <a:prstGeom prst="rect">
            <a:avLst/>
          </a:prstGeom>
        </p:spPr>
      </p:pic>
      <p:sp>
        <p:nvSpPr>
          <p:cNvPr id="8" name="文本框 7">
            <a:extLst>
              <a:ext uri="{FF2B5EF4-FFF2-40B4-BE49-F238E27FC236}">
                <a16:creationId xmlns:a16="http://schemas.microsoft.com/office/drawing/2014/main" id="{211B7FA1-9798-4FE7-A48B-2D5FA6A7BE07}"/>
              </a:ext>
            </a:extLst>
          </p:cNvPr>
          <p:cNvSpPr txBox="1"/>
          <p:nvPr/>
        </p:nvSpPr>
        <p:spPr>
          <a:xfrm>
            <a:off x="8001000" y="5506174"/>
            <a:ext cx="3374654" cy="369332"/>
          </a:xfrm>
          <a:prstGeom prst="rect">
            <a:avLst/>
          </a:prstGeom>
          <a:noFill/>
        </p:spPr>
        <p:txBody>
          <a:bodyPr wrap="square">
            <a:spAutoFit/>
          </a:bodyPr>
          <a:lstStyle/>
          <a:p>
            <a:r>
              <a:rPr kumimoji="1" lang="zh-CN" altLang="en-US" dirty="0"/>
              <a:t>每个</a:t>
            </a:r>
            <a:r>
              <a:rPr kumimoji="1" lang="en-US" altLang="zh-CN" dirty="0" err="1"/>
              <a:t>y_i</a:t>
            </a:r>
            <a:r>
              <a:rPr kumimoji="1" lang="zh-CN" altLang="en-US" dirty="0"/>
              <a:t>对于向量</a:t>
            </a:r>
            <a:r>
              <a:rPr kumimoji="1" lang="en-US" altLang="zh-CN" dirty="0"/>
              <a:t>x</a:t>
            </a:r>
            <a:r>
              <a:rPr kumimoji="1" lang="zh-CN" altLang="en-US" dirty="0"/>
              <a:t>的偏导数</a:t>
            </a:r>
            <a:endParaRPr lang="zh-CN" altLang="en-US" dirty="0"/>
          </a:p>
        </p:txBody>
      </p:sp>
      <p:sp>
        <p:nvSpPr>
          <p:cNvPr id="9" name="文本框 8">
            <a:extLst>
              <a:ext uri="{FF2B5EF4-FFF2-40B4-BE49-F238E27FC236}">
                <a16:creationId xmlns:a16="http://schemas.microsoft.com/office/drawing/2014/main" id="{F0D9DE04-6ADE-49FB-B46E-5C78CB44B5E4}"/>
              </a:ext>
            </a:extLst>
          </p:cNvPr>
          <p:cNvSpPr txBox="1"/>
          <p:nvPr/>
        </p:nvSpPr>
        <p:spPr>
          <a:xfrm>
            <a:off x="8153400" y="3486834"/>
            <a:ext cx="3505200" cy="923330"/>
          </a:xfrm>
          <a:prstGeom prst="rect">
            <a:avLst/>
          </a:prstGeom>
          <a:noFill/>
        </p:spPr>
        <p:txBody>
          <a:bodyPr wrap="square">
            <a:spAutoFit/>
          </a:bodyPr>
          <a:lstStyle/>
          <a:p>
            <a:r>
              <a:rPr kumimoji="1" lang="zh-CN" altLang="en-US" dirty="0"/>
              <a:t>如果对一个矩阵求导的话，我们就把它展开为对矩阵每个元素的求导。</a:t>
            </a:r>
            <a:endParaRPr kumimoji="1" lang="en-US" altLang="zh-CN" dirty="0"/>
          </a:p>
        </p:txBody>
      </p:sp>
    </p:spTree>
    <p:extLst>
      <p:ext uri="{BB962C8B-B14F-4D97-AF65-F5344CB8AC3E}">
        <p14:creationId xmlns:p14="http://schemas.microsoft.com/office/powerpoint/2010/main" val="23330861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259B46-034B-4248-BF37-88E26C42B949}"/>
              </a:ext>
            </a:extLst>
          </p:cNvPr>
          <p:cNvSpPr>
            <a:spLocks noGrp="1"/>
          </p:cNvSpPr>
          <p:nvPr>
            <p:ph type="title"/>
          </p:nvPr>
        </p:nvSpPr>
        <p:spPr/>
        <p:txBody>
          <a:bodyPr/>
          <a:lstStyle/>
          <a:p>
            <a:r>
              <a:rPr kumimoji="1" lang="zh-CN" altLang="en-US" dirty="0"/>
              <a:t>计算梯度</a:t>
            </a:r>
          </a:p>
        </p:txBody>
      </p:sp>
      <p:pic>
        <p:nvPicPr>
          <p:cNvPr id="4" name="内容占位符 3">
            <a:extLst>
              <a:ext uri="{FF2B5EF4-FFF2-40B4-BE49-F238E27FC236}">
                <a16:creationId xmlns:a16="http://schemas.microsoft.com/office/drawing/2014/main" id="{83A39692-1847-F144-8318-EC882D5A215D}"/>
              </a:ext>
            </a:extLst>
          </p:cNvPr>
          <p:cNvPicPr>
            <a:picLocks noGrp="1" noChangeAspect="1"/>
          </p:cNvPicPr>
          <p:nvPr>
            <p:ph idx="1"/>
          </p:nvPr>
        </p:nvPicPr>
        <p:blipFill>
          <a:blip r:embed="rId3"/>
          <a:stretch>
            <a:fillRect/>
          </a:stretch>
        </p:blipFill>
        <p:spPr>
          <a:xfrm>
            <a:off x="3009900" y="838200"/>
            <a:ext cx="6172200" cy="1358900"/>
          </a:xfrm>
          <a:prstGeom prst="rect">
            <a:avLst/>
          </a:prstGeom>
        </p:spPr>
      </p:pic>
      <p:pic>
        <p:nvPicPr>
          <p:cNvPr id="5" name="图片 4">
            <a:extLst>
              <a:ext uri="{FF2B5EF4-FFF2-40B4-BE49-F238E27FC236}">
                <a16:creationId xmlns:a16="http://schemas.microsoft.com/office/drawing/2014/main" id="{CDE366EF-50C0-1C4C-8FA1-945C4FCF5B79}"/>
              </a:ext>
            </a:extLst>
          </p:cNvPr>
          <p:cNvPicPr>
            <a:picLocks noChangeAspect="1"/>
          </p:cNvPicPr>
          <p:nvPr/>
        </p:nvPicPr>
        <p:blipFill>
          <a:blip r:embed="rId4"/>
          <a:stretch>
            <a:fillRect/>
          </a:stretch>
        </p:blipFill>
        <p:spPr>
          <a:xfrm>
            <a:off x="3276600" y="2057400"/>
            <a:ext cx="5156200" cy="4483100"/>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6B071D86-1C22-7542-B8A2-13738EB58194}"/>
                  </a:ext>
                </a:extLst>
              </p:cNvPr>
              <p:cNvSpPr txBox="1"/>
              <p:nvPr/>
            </p:nvSpPr>
            <p:spPr>
              <a:xfrm>
                <a:off x="1091932" y="4495800"/>
                <a:ext cx="938526" cy="6321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i="1" smtClean="0">
                              <a:latin typeface="Cambria Math" panose="02040503050406030204" pitchFamily="18" charset="0"/>
                            </a:rPr>
                          </m:ctrlPr>
                        </m:fPr>
                        <m:num>
                          <m:r>
                            <a:rPr kumimoji="1" lang="en-US" altLang="zh-CN" i="1" smtClean="0">
                              <a:latin typeface="Cambria Math" panose="02040503050406030204" pitchFamily="18" charset="0"/>
                              <a:ea typeface="Cambria Math" panose="02040503050406030204" pitchFamily="18" charset="0"/>
                            </a:rPr>
                            <m:t>𝜕</m:t>
                          </m:r>
                          <m:r>
                            <m:rPr>
                              <m:sty m:val="p"/>
                            </m:rPr>
                            <a:rPr kumimoji="1" lang="en-US" altLang="zh-CN" i="1">
                              <a:latin typeface="Cambria Math" panose="02040503050406030204" pitchFamily="18" charset="0"/>
                              <a:ea typeface="Cambria Math" panose="02040503050406030204" pitchFamily="18" charset="0"/>
                            </a:rPr>
                            <m:t>L</m:t>
                          </m:r>
                          <m:r>
                            <a:rPr kumimoji="1" lang="en-US" altLang="zh-CN" b="0" i="1" smtClean="0">
                              <a:latin typeface="Cambria Math" panose="02040503050406030204" pitchFamily="18" charset="0"/>
                              <a:ea typeface="Cambria Math" panose="02040503050406030204" pitchFamily="18" charset="0"/>
                            </a:rPr>
                            <m:t>(</m:t>
                          </m:r>
                          <m:r>
                            <a:rPr kumimoji="1" lang="en-US" altLang="zh-CN" b="0" i="1" smtClean="0">
                              <a:latin typeface="Cambria Math" panose="02040503050406030204" pitchFamily="18" charset="0"/>
                              <a:ea typeface="Cambria Math" panose="02040503050406030204" pitchFamily="18" charset="0"/>
                            </a:rPr>
                            <m:t>𝑦</m:t>
                          </m:r>
                          <m:r>
                            <a:rPr kumimoji="1" lang="en-US" altLang="zh-CN" b="0" i="1" smtClean="0">
                              <a:latin typeface="Cambria Math" panose="02040503050406030204" pitchFamily="18" charset="0"/>
                              <a:ea typeface="Cambria Math" panose="02040503050406030204" pitchFamily="18" charset="0"/>
                            </a:rPr>
                            <m:t>,</m:t>
                          </m:r>
                          <m:sSup>
                            <m:sSupPr>
                              <m:ctrlPr>
                                <a:rPr kumimoji="1" lang="en-US" altLang="zh-CN" b="0" i="1" smtClean="0">
                                  <a:latin typeface="Cambria Math" panose="02040503050406030204" pitchFamily="18" charset="0"/>
                                  <a:ea typeface="Cambria Math" panose="02040503050406030204" pitchFamily="18" charset="0"/>
                                </a:rPr>
                              </m:ctrlPr>
                            </m:sSupPr>
                            <m:e>
                              <m:r>
                                <a:rPr kumimoji="1" lang="en-US" altLang="zh-CN" b="0" i="1" smtClean="0">
                                  <a:latin typeface="Cambria Math" panose="02040503050406030204" pitchFamily="18" charset="0"/>
                                  <a:ea typeface="Cambria Math" panose="02040503050406030204" pitchFamily="18" charset="0"/>
                                </a:rPr>
                                <m:t>𝑦</m:t>
                              </m:r>
                            </m:e>
                            <m:sup>
                              <m:r>
                                <a:rPr kumimoji="1" lang="en-US" altLang="zh-CN" b="0" i="1" smtClean="0">
                                  <a:latin typeface="Cambria Math" panose="02040503050406030204" pitchFamily="18" charset="0"/>
                                  <a:ea typeface="Cambria Math" panose="02040503050406030204" pitchFamily="18" charset="0"/>
                                </a:rPr>
                                <m:t>′</m:t>
                              </m:r>
                            </m:sup>
                          </m:sSup>
                          <m:r>
                            <a:rPr kumimoji="1" lang="en-US" altLang="zh-CN" b="0" i="1" smtClean="0">
                              <a:latin typeface="Cambria Math" panose="02040503050406030204" pitchFamily="18" charset="0"/>
                              <a:ea typeface="Cambria Math" panose="02040503050406030204" pitchFamily="18" charset="0"/>
                            </a:rPr>
                            <m:t>)</m:t>
                          </m:r>
                        </m:num>
                        <m:den>
                          <m:r>
                            <a:rPr kumimoji="1" lang="en-US" altLang="zh-CN" i="1" smtClean="0">
                              <a:latin typeface="Cambria Math" panose="02040503050406030204" pitchFamily="18" charset="0"/>
                              <a:ea typeface="Cambria Math" panose="02040503050406030204" pitchFamily="18" charset="0"/>
                            </a:rPr>
                            <m:t>𝜕</m:t>
                          </m:r>
                          <m:sSubSup>
                            <m:sSubSupPr>
                              <m:ctrlPr>
                                <a:rPr kumimoji="1" lang="en-US" altLang="zh-CN" i="1" smtClean="0">
                                  <a:latin typeface="Cambria Math" panose="02040503050406030204" pitchFamily="18" charset="0"/>
                                  <a:ea typeface="Cambria Math" panose="02040503050406030204" pitchFamily="18" charset="0"/>
                                </a:rPr>
                              </m:ctrlPr>
                            </m:sSubSupPr>
                            <m:e>
                              <m:r>
                                <a:rPr kumimoji="1" lang="en-US" altLang="zh-CN" b="0" i="1" smtClean="0">
                                  <a:latin typeface="Cambria Math" panose="02040503050406030204" pitchFamily="18" charset="0"/>
                                  <a:ea typeface="Cambria Math" panose="02040503050406030204" pitchFamily="18" charset="0"/>
                                </a:rPr>
                                <m:t>𝑤</m:t>
                              </m:r>
                            </m:e>
                            <m:sub>
                              <m:r>
                                <a:rPr kumimoji="1" lang="en-US" altLang="zh-CN" b="0" i="1" smtClean="0">
                                  <a:latin typeface="Cambria Math" panose="02040503050406030204" pitchFamily="18" charset="0"/>
                                  <a:ea typeface="Cambria Math" panose="02040503050406030204" pitchFamily="18" charset="0"/>
                                </a:rPr>
                                <m:t>𝑖𝑗</m:t>
                              </m:r>
                            </m:sub>
                            <m:sup>
                              <m:r>
                                <a:rPr kumimoji="1" lang="en-US" altLang="zh-CN" b="0" i="1" smtClean="0">
                                  <a:latin typeface="Cambria Math" panose="02040503050406030204" pitchFamily="18" charset="0"/>
                                  <a:ea typeface="Cambria Math" panose="02040503050406030204" pitchFamily="18" charset="0"/>
                                </a:rPr>
                                <m:t>𝑒</m:t>
                              </m:r>
                            </m:sup>
                          </m:sSubSup>
                        </m:den>
                      </m:f>
                    </m:oMath>
                  </m:oMathPara>
                </a14:m>
                <a:endParaRPr kumimoji="1" lang="zh-CN" altLang="en-US" dirty="0"/>
              </a:p>
            </p:txBody>
          </p:sp>
        </mc:Choice>
        <mc:Fallback xmlns="">
          <p:sp>
            <p:nvSpPr>
              <p:cNvPr id="6" name="文本框 5">
                <a:extLst>
                  <a:ext uri="{FF2B5EF4-FFF2-40B4-BE49-F238E27FC236}">
                    <a16:creationId xmlns:a16="http://schemas.microsoft.com/office/drawing/2014/main" id="{6B071D86-1C22-7542-B8A2-13738EB58194}"/>
                  </a:ext>
                </a:extLst>
              </p:cNvPr>
              <p:cNvSpPr txBox="1">
                <a:spLocks noRot="1" noChangeAspect="1" noMove="1" noResize="1" noEditPoints="1" noAdjustHandles="1" noChangeArrowheads="1" noChangeShapeType="1" noTextEdit="1"/>
              </p:cNvSpPr>
              <p:nvPr/>
            </p:nvSpPr>
            <p:spPr>
              <a:xfrm>
                <a:off x="1091932" y="4495800"/>
                <a:ext cx="938526" cy="632161"/>
              </a:xfrm>
              <a:prstGeom prst="rect">
                <a:avLst/>
              </a:prstGeom>
              <a:blipFill>
                <a:blip r:embed="rId5"/>
                <a:stretch>
                  <a:fillRect l="-4000" t="-4000" r="-8000" b="-10000"/>
                </a:stretch>
              </a:blipFill>
            </p:spPr>
            <p:txBody>
              <a:bodyPr/>
              <a:lstStyle/>
              <a:p>
                <a:r>
                  <a:rPr lang="zh-CN" altLang="en-US">
                    <a:noFill/>
                  </a:rPr>
                  <a:t> </a:t>
                </a:r>
              </a:p>
            </p:txBody>
          </p:sp>
        </mc:Fallback>
      </mc:AlternateContent>
      <p:cxnSp>
        <p:nvCxnSpPr>
          <p:cNvPr id="8" name="直线箭头连接符 7">
            <a:extLst>
              <a:ext uri="{FF2B5EF4-FFF2-40B4-BE49-F238E27FC236}">
                <a16:creationId xmlns:a16="http://schemas.microsoft.com/office/drawing/2014/main" id="{E28BE259-1D30-804F-91FE-CBD98EB06C26}"/>
              </a:ext>
            </a:extLst>
          </p:cNvPr>
          <p:cNvCxnSpPr/>
          <p:nvPr/>
        </p:nvCxnSpPr>
        <p:spPr>
          <a:xfrm flipH="1" flipV="1">
            <a:off x="2030458" y="5127961"/>
            <a:ext cx="1246142" cy="5870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7440949C-BC0D-40CC-B96F-67BDA8593CB8}"/>
              </a:ext>
            </a:extLst>
          </p:cNvPr>
          <p:cNvSpPr txBox="1"/>
          <p:nvPr/>
        </p:nvSpPr>
        <p:spPr>
          <a:xfrm>
            <a:off x="8442528" y="5489368"/>
            <a:ext cx="3581400" cy="646331"/>
          </a:xfrm>
          <a:prstGeom prst="rect">
            <a:avLst/>
          </a:prstGeom>
          <a:noFill/>
        </p:spPr>
        <p:txBody>
          <a:bodyPr wrap="square">
            <a:spAutoFit/>
          </a:bodyPr>
          <a:lstStyle/>
          <a:p>
            <a:r>
              <a:rPr kumimoji="1" lang="zh-CN" altLang="en-US" dirty="0"/>
              <a:t>损失函数对于</a:t>
            </a:r>
            <a:r>
              <a:rPr kumimoji="1" lang="en-US" altLang="zh-CN" dirty="0"/>
              <a:t>w</a:t>
            </a:r>
            <a:r>
              <a:rPr kumimoji="1" lang="zh-CN" altLang="en-US" dirty="0"/>
              <a:t>中每个元素的求导，然后我们再把它拼起来。</a:t>
            </a:r>
            <a:endParaRPr lang="zh-CN" altLang="en-US" dirty="0"/>
          </a:p>
        </p:txBody>
      </p:sp>
    </p:spTree>
    <p:extLst>
      <p:ext uri="{BB962C8B-B14F-4D97-AF65-F5344CB8AC3E}">
        <p14:creationId xmlns:p14="http://schemas.microsoft.com/office/powerpoint/2010/main" val="39227724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2C6771-FF8F-4CB7-A0B6-B8A82DCB9CE8}"/>
              </a:ext>
            </a:extLst>
          </p:cNvPr>
          <p:cNvSpPr>
            <a:spLocks noGrp="1"/>
          </p:cNvSpPr>
          <p:nvPr>
            <p:ph type="title"/>
          </p:nvPr>
        </p:nvSpPr>
        <p:spPr/>
        <p:txBody>
          <a:bodyPr/>
          <a:lstStyle/>
          <a:p>
            <a:r>
              <a:rPr lang="zh-CN" altLang="en-US" dirty="0"/>
              <a:t>反向传播算法</a:t>
            </a:r>
          </a:p>
        </p:txBody>
      </p:sp>
      <p:pic>
        <p:nvPicPr>
          <p:cNvPr id="4" name="图片 3">
            <a:extLst>
              <a:ext uri="{FF2B5EF4-FFF2-40B4-BE49-F238E27FC236}">
                <a16:creationId xmlns:a16="http://schemas.microsoft.com/office/drawing/2014/main" id="{22697552-09BC-45D8-9103-295A7622E2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9847" y="3429000"/>
            <a:ext cx="3952305" cy="2126875"/>
          </a:xfrm>
          <a:prstGeom prst="rect">
            <a:avLst/>
          </a:prstGeom>
        </p:spPr>
      </p:pic>
      <p:pic>
        <p:nvPicPr>
          <p:cNvPr id="20" name="图片 19">
            <a:extLst>
              <a:ext uri="{FF2B5EF4-FFF2-40B4-BE49-F238E27FC236}">
                <a16:creationId xmlns:a16="http://schemas.microsoft.com/office/drawing/2014/main" id="{AB3E0056-D445-4B90-9457-4113B6480C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4749" y="2209800"/>
            <a:ext cx="3242499" cy="599100"/>
          </a:xfrm>
          <a:prstGeom prst="rect">
            <a:avLst/>
          </a:prstGeom>
          <a:ln>
            <a:solidFill>
              <a:srgbClr val="FF0000"/>
            </a:solidFill>
          </a:ln>
        </p:spPr>
      </p:pic>
    </p:spTree>
    <p:extLst>
      <p:ext uri="{BB962C8B-B14F-4D97-AF65-F5344CB8AC3E}">
        <p14:creationId xmlns:p14="http://schemas.microsoft.com/office/powerpoint/2010/main" val="834648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511A8D-0C47-1348-9CAC-EF885311AD1F}"/>
              </a:ext>
            </a:extLst>
          </p:cNvPr>
          <p:cNvSpPr>
            <a:spLocks noGrp="1"/>
          </p:cNvSpPr>
          <p:nvPr>
            <p:ph type="title"/>
          </p:nvPr>
        </p:nvSpPr>
        <p:spPr/>
        <p:txBody>
          <a:bodyPr/>
          <a:lstStyle/>
          <a:p>
            <a:r>
              <a:rPr kumimoji="1" lang="zh-CN" altLang="en-US" dirty="0"/>
              <a:t>使用反向传播算法的随机梯度下降训练过程</a:t>
            </a:r>
          </a:p>
        </p:txBody>
      </p:sp>
      <p:pic>
        <p:nvPicPr>
          <p:cNvPr id="3" name="图片 2">
            <a:extLst>
              <a:ext uri="{FF2B5EF4-FFF2-40B4-BE49-F238E27FC236}">
                <a16:creationId xmlns:a16="http://schemas.microsoft.com/office/drawing/2014/main" id="{EB9556E8-A011-2745-AD3F-8279DB8FA1C4}"/>
              </a:ext>
            </a:extLst>
          </p:cNvPr>
          <p:cNvPicPr>
            <a:picLocks noChangeAspect="1"/>
          </p:cNvPicPr>
          <p:nvPr/>
        </p:nvPicPr>
        <p:blipFill>
          <a:blip r:embed="rId2"/>
          <a:stretch>
            <a:fillRect/>
          </a:stretch>
        </p:blipFill>
        <p:spPr>
          <a:xfrm>
            <a:off x="2533892" y="864957"/>
            <a:ext cx="7124216" cy="5993043"/>
          </a:xfrm>
          <a:prstGeom prst="rect">
            <a:avLst/>
          </a:prstGeom>
        </p:spPr>
      </p:pic>
      <p:sp>
        <p:nvSpPr>
          <p:cNvPr id="4" name="文本框 3">
            <a:extLst>
              <a:ext uri="{FF2B5EF4-FFF2-40B4-BE49-F238E27FC236}">
                <a16:creationId xmlns:a16="http://schemas.microsoft.com/office/drawing/2014/main" id="{E470ED35-F3D6-694B-828A-DC040355BBE5}"/>
              </a:ext>
            </a:extLst>
          </p:cNvPr>
          <p:cNvSpPr txBox="1"/>
          <p:nvPr/>
        </p:nvSpPr>
        <p:spPr>
          <a:xfrm>
            <a:off x="9296400" y="1981200"/>
            <a:ext cx="1905000" cy="923330"/>
          </a:xfrm>
          <a:prstGeom prst="rect">
            <a:avLst/>
          </a:prstGeom>
          <a:noFill/>
        </p:spPr>
        <p:txBody>
          <a:bodyPr wrap="square" rtlCol="0">
            <a:spAutoFit/>
          </a:bodyPr>
          <a:lstStyle/>
          <a:p>
            <a:r>
              <a:rPr kumimoji="1" lang="zh-CN" altLang="en-US" dirty="0"/>
              <a:t>思考：随机初始化</a:t>
            </a:r>
            <a:r>
              <a:rPr kumimoji="1" lang="en-US" altLang="zh-CN" dirty="0"/>
              <a:t>W, b</a:t>
            </a:r>
            <a:r>
              <a:rPr kumimoji="1" lang="zh-CN" altLang="en-US" dirty="0"/>
              <a:t>为全</a:t>
            </a:r>
            <a:r>
              <a:rPr kumimoji="1" lang="en-US" altLang="zh-CN" dirty="0"/>
              <a:t>0</a:t>
            </a:r>
            <a:r>
              <a:rPr kumimoji="1" lang="zh-CN" altLang="en-US" dirty="0"/>
              <a:t>是否可以？</a:t>
            </a:r>
          </a:p>
        </p:txBody>
      </p:sp>
      <p:pic>
        <p:nvPicPr>
          <p:cNvPr id="5" name="图片 4">
            <a:extLst>
              <a:ext uri="{FF2B5EF4-FFF2-40B4-BE49-F238E27FC236}">
                <a16:creationId xmlns:a16="http://schemas.microsoft.com/office/drawing/2014/main" id="{CFB7DFDB-1490-40DA-B978-D4BBAB8B8B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3000" y="152401"/>
            <a:ext cx="3242499" cy="599100"/>
          </a:xfrm>
          <a:prstGeom prst="rect">
            <a:avLst/>
          </a:prstGeom>
          <a:ln>
            <a:solidFill>
              <a:srgbClr val="FF0000"/>
            </a:solidFill>
          </a:ln>
        </p:spPr>
      </p:pic>
      <p:pic>
        <p:nvPicPr>
          <p:cNvPr id="6" name="图片 5">
            <a:extLst>
              <a:ext uri="{FF2B5EF4-FFF2-40B4-BE49-F238E27FC236}">
                <a16:creationId xmlns:a16="http://schemas.microsoft.com/office/drawing/2014/main" id="{504A79E5-0987-4AA9-8156-990E579F262B}"/>
              </a:ext>
            </a:extLst>
          </p:cNvPr>
          <p:cNvPicPr>
            <a:picLocks noChangeAspect="1"/>
          </p:cNvPicPr>
          <p:nvPr/>
        </p:nvPicPr>
        <p:blipFill>
          <a:blip r:embed="rId4"/>
          <a:stretch>
            <a:fillRect/>
          </a:stretch>
        </p:blipFill>
        <p:spPr>
          <a:xfrm>
            <a:off x="9511891" y="968463"/>
            <a:ext cx="2216727" cy="381000"/>
          </a:xfrm>
          <a:prstGeom prst="rect">
            <a:avLst/>
          </a:prstGeom>
        </p:spPr>
      </p:pic>
    </p:spTree>
    <p:extLst>
      <p:ext uri="{BB962C8B-B14F-4D97-AF65-F5344CB8AC3E}">
        <p14:creationId xmlns:p14="http://schemas.microsoft.com/office/powerpoint/2010/main" val="3938238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CN" altLang="en-US" dirty="0"/>
              <a:t>梯度下降</a:t>
            </a:r>
            <a:endParaRPr lang="zh-TW" altLang="en-US" dirty="0"/>
          </a:p>
        </p:txBody>
      </p:sp>
      <mc:AlternateContent xmlns:mc="http://schemas.openxmlformats.org/markup-compatibility/2006" xmlns:a14="http://schemas.microsoft.com/office/drawing/2010/main">
        <mc:Choice Requires="a14">
          <p:sp>
            <p:nvSpPr>
              <p:cNvPr id="62" name="文字方塊 61"/>
              <p:cNvSpPr txBox="1"/>
              <p:nvPr/>
            </p:nvSpPr>
            <p:spPr>
              <a:xfrm>
                <a:off x="1411288" y="2429422"/>
                <a:ext cx="1400487" cy="461665"/>
              </a:xfrm>
              <a:prstGeom prst="rect">
                <a:avLst/>
              </a:prstGeom>
              <a:noFill/>
            </p:spPr>
            <p:txBody>
              <a:bodyPr wrap="square" rtlCol="0">
                <a:spAutoFit/>
              </a:bodyPr>
              <a:lstStyle/>
              <a:p>
                <a:pPr algn="ctr"/>
                <a:r>
                  <a:rPr lang="en-US" altLang="zh-TW" sz="2400" dirty="0">
                    <a:latin typeface="STIX Two Math" panose="02020603050405020304" pitchFamily="18" charset="0"/>
                    <a:ea typeface="STIX Two Math" panose="02020603050405020304" pitchFamily="18" charset="0"/>
                    <a:cs typeface="STIX Two Math" panose="02020603050405020304" pitchFamily="18" charset="0"/>
                  </a:rPr>
                  <a:t>Loss </a:t>
                </a:r>
                <a14:m>
                  <m:oMath xmlns:m="http://schemas.openxmlformats.org/officeDocument/2006/math">
                    <m:r>
                      <a:rPr lang="en-US" altLang="zh-TW" sz="2400" i="1">
                        <a:latin typeface="Cambria Math" panose="02040503050406030204" pitchFamily="18" charset="0"/>
                        <a:ea typeface="Cambria Math" panose="02040503050406030204" pitchFamily="18" charset="0"/>
                        <a:cs typeface="STIX Two Math" panose="02020603050405020304" pitchFamily="18" charset="0"/>
                      </a:rPr>
                      <m:t>ℒ</m:t>
                    </m:r>
                  </m:oMath>
                </a14:m>
                <a:endParaRPr lang="zh-TW" altLang="en-US" sz="2400" dirty="0">
                  <a:latin typeface="STIX Two Math" panose="02020603050405020304" pitchFamily="18" charset="0"/>
                  <a:cs typeface="STIX Two Math" panose="02020603050405020304" pitchFamily="18" charset="0"/>
                </a:endParaRPr>
              </a:p>
            </p:txBody>
          </p:sp>
        </mc:Choice>
        <mc:Fallback xmlns="">
          <p:sp>
            <p:nvSpPr>
              <p:cNvPr id="62" name="文字方塊 61"/>
              <p:cNvSpPr txBox="1">
                <a:spLocks noRot="1" noChangeAspect="1" noMove="1" noResize="1" noEditPoints="1" noAdjustHandles="1" noChangeArrowheads="1" noChangeShapeType="1" noTextEdit="1"/>
              </p:cNvSpPr>
              <p:nvPr/>
            </p:nvSpPr>
            <p:spPr>
              <a:xfrm>
                <a:off x="1411288" y="2429422"/>
                <a:ext cx="1400487" cy="461665"/>
              </a:xfrm>
              <a:prstGeom prst="rect">
                <a:avLst/>
              </a:prstGeom>
              <a:blipFill>
                <a:blip r:embed="rId7"/>
                <a:stretch>
                  <a:fillRect t="-4000" b="-37333"/>
                </a:stretch>
              </a:blipFill>
            </p:spPr>
            <p:txBody>
              <a:bodyPr/>
              <a:lstStyle/>
              <a:p>
                <a:r>
                  <a:rPr lang="zh-CN" altLang="en-US">
                    <a:noFill/>
                  </a:rPr>
                  <a:t> </a:t>
                </a:r>
              </a:p>
            </p:txBody>
          </p:sp>
        </mc:Fallback>
      </mc:AlternateContent>
      <p:cxnSp>
        <p:nvCxnSpPr>
          <p:cNvPr id="28" name="直線單箭頭接點 27"/>
          <p:cNvCxnSpPr/>
          <p:nvPr/>
        </p:nvCxnSpPr>
        <p:spPr>
          <a:xfrm>
            <a:off x="2050852" y="5755026"/>
            <a:ext cx="828110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9" name="Object 12"/>
          <p:cNvGraphicFramePr>
            <a:graphicFrameLocks noChangeAspect="1"/>
          </p:cNvGraphicFramePr>
          <p:nvPr>
            <p:extLst>
              <p:ext uri="{D42A27DB-BD31-4B8C-83A1-F6EECF244321}">
                <p14:modId xmlns:p14="http://schemas.microsoft.com/office/powerpoint/2010/main" val="2562180536"/>
              </p:ext>
            </p:extLst>
          </p:nvPr>
        </p:nvGraphicFramePr>
        <p:xfrm>
          <a:off x="9814383" y="5787884"/>
          <a:ext cx="327025" cy="298450"/>
        </p:xfrm>
        <a:graphic>
          <a:graphicData uri="http://schemas.openxmlformats.org/presentationml/2006/ole">
            <mc:AlternateContent xmlns:mc="http://schemas.openxmlformats.org/markup-compatibility/2006">
              <mc:Choice xmlns:v="urn:schemas-microsoft-com:vml" Requires="v">
                <p:oleObj spid="_x0000_s1510" name="方程式" r:id="rId8" imgW="152280" imgH="139680" progId="Equation.3">
                  <p:embed/>
                </p:oleObj>
              </mc:Choice>
              <mc:Fallback>
                <p:oleObj name="方程式" r:id="rId8" imgW="152280" imgH="139680" progId="Equation.3">
                  <p:embed/>
                  <p:pic>
                    <p:nvPicPr>
                      <p:cNvPr id="29" name="Object 12"/>
                      <p:cNvPicPr>
                        <a:picLocks noChangeAspect="1" noChangeArrowheads="1"/>
                      </p:cNvPicPr>
                      <p:nvPr/>
                    </p:nvPicPr>
                    <p:blipFill>
                      <a:blip r:embed="rId9"/>
                      <a:srcRect/>
                      <a:stretch>
                        <a:fillRect/>
                      </a:stretch>
                    </p:blipFill>
                    <p:spPr bwMode="auto">
                      <a:xfrm>
                        <a:off x="9814383" y="5787884"/>
                        <a:ext cx="327025" cy="298450"/>
                      </a:xfrm>
                      <a:prstGeom prst="rect">
                        <a:avLst/>
                      </a:prstGeom>
                      <a:noFill/>
                    </p:spPr>
                  </p:pic>
                </p:oleObj>
              </mc:Fallback>
            </mc:AlternateContent>
          </a:graphicData>
        </a:graphic>
      </p:graphicFrame>
      <p:cxnSp>
        <p:nvCxnSpPr>
          <p:cNvPr id="30" name="直線單箭頭接點 29"/>
          <p:cNvCxnSpPr/>
          <p:nvPr/>
        </p:nvCxnSpPr>
        <p:spPr>
          <a:xfrm flipV="1">
            <a:off x="2863907" y="2201391"/>
            <a:ext cx="0" cy="387716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文字方塊 34"/>
              <p:cNvSpPr txBox="1"/>
              <p:nvPr/>
            </p:nvSpPr>
            <p:spPr>
              <a:xfrm>
                <a:off x="3354778" y="1666505"/>
                <a:ext cx="5203253" cy="1569660"/>
              </a:xfrm>
              <a:prstGeom prst="rect">
                <a:avLst/>
              </a:prstGeom>
              <a:noFill/>
            </p:spPr>
            <p:txBody>
              <a:bodyPr wrap="square" rtlCol="0">
                <a:spAutoFit/>
              </a:bodyPr>
              <a:lstStyle/>
              <a:p>
                <a:pPr marL="457200" indent="-457200">
                  <a:buFont typeface="+mj-lt"/>
                  <a:buAutoNum type="arabicPeriod"/>
                </a:pPr>
                <a:r>
                  <a:rPr lang="zh-CN" altLang="en-US" sz="2400" dirty="0">
                    <a:latin typeface="STIX Two Math" panose="02020603050405020304" pitchFamily="18" charset="0"/>
                    <a:cs typeface="STIX Two Math" panose="02020603050405020304" pitchFamily="18" charset="0"/>
                  </a:rPr>
                  <a:t>初始化</a:t>
                </a:r>
                <a:r>
                  <a:rPr lang="en-US" altLang="zh-CN" sz="2400" dirty="0">
                    <a:latin typeface="STIX Two Math" panose="02020603050405020304" pitchFamily="18" charset="0"/>
                    <a:ea typeface="STIX Two Math" panose="02020603050405020304" pitchFamily="18" charset="0"/>
                    <a:cs typeface="STIX Two Math" panose="02020603050405020304" pitchFamily="18" charset="0"/>
                  </a:rPr>
                  <a:t>w</a:t>
                </a:r>
              </a:p>
              <a:p>
                <a:pPr marL="457200" indent="-457200">
                  <a:buFont typeface="+mj-lt"/>
                  <a:buAutoNum type="arabicPeriod"/>
                </a:pPr>
                <a:r>
                  <a:rPr lang="zh-CN" altLang="en-US" sz="2400" dirty="0">
                    <a:latin typeface="STIX Two Math" panose="02020603050405020304" pitchFamily="18" charset="0"/>
                    <a:cs typeface="STIX Two Math" panose="02020603050405020304" pitchFamily="18" charset="0"/>
                  </a:rPr>
                  <a:t>重复</a:t>
                </a:r>
                <a:endParaRPr lang="en-US" altLang="zh-CN" sz="2400" dirty="0">
                  <a:latin typeface="STIX Two Math" panose="02020603050405020304" pitchFamily="18" charset="0"/>
                  <a:ea typeface="STIX Two Math" panose="02020603050405020304" pitchFamily="18" charset="0"/>
                  <a:cs typeface="STIX Two Math" panose="02020603050405020304" pitchFamily="18" charset="0"/>
                </a:endParaRPr>
              </a:p>
              <a:p>
                <a:pPr marL="914400" lvl="1" indent="-457200">
                  <a:buFont typeface="+mj-lt"/>
                  <a:buAutoNum type="arabicPeriod"/>
                </a:pPr>
                <a:r>
                  <a:rPr lang="zh-CN" altLang="en-US" sz="2400" dirty="0">
                    <a:latin typeface="STIX Two Math" panose="02020603050405020304" pitchFamily="18" charset="0"/>
                    <a:cs typeface="STIX Two Math" panose="02020603050405020304" pitchFamily="18" charset="0"/>
                  </a:rPr>
                  <a:t>计算梯度</a:t>
                </a:r>
                <a:r>
                  <a:rPr lang="en-US" altLang="zh-TW" sz="2400" dirty="0">
                    <a:latin typeface="STIX Two Math" panose="02020603050405020304" pitchFamily="18" charset="0"/>
                    <a:ea typeface="STIX Two Math" panose="02020603050405020304" pitchFamily="18" charset="0"/>
                    <a:cs typeface="STIX Two Math" panose="02020603050405020304" pitchFamily="18" charset="0"/>
                  </a:rPr>
                  <a:t> </a:t>
                </a:r>
                <a14:m>
                  <m:oMath xmlns:m="http://schemas.openxmlformats.org/officeDocument/2006/math">
                    <m:f>
                      <m:fPr>
                        <m:type m:val="lin"/>
                        <m:ctrlPr>
                          <a:rPr lang="en-US" altLang="zh-TW" sz="2400" i="1">
                            <a:latin typeface="Cambria Math" panose="02040503050406030204" pitchFamily="18" charset="0"/>
                            <a:ea typeface="STIX Two Math" panose="02020603050405020304" pitchFamily="18" charset="0"/>
                            <a:cs typeface="STIX Two Math" panose="02020603050405020304" pitchFamily="18" charset="0"/>
                          </a:rPr>
                        </m:ctrlPr>
                      </m:fPr>
                      <m:num>
                        <m:r>
                          <a:rPr lang="en-US" altLang="zh-TW" sz="2400" i="1">
                            <a:latin typeface="Cambria Math" panose="02040503050406030204" pitchFamily="18" charset="0"/>
                            <a:ea typeface="STIX Two Math" panose="02020603050405020304" pitchFamily="18" charset="0"/>
                            <a:cs typeface="STIX Two Math" panose="02020603050405020304" pitchFamily="18" charset="0"/>
                          </a:rPr>
                          <m:t>𝜕</m:t>
                        </m:r>
                        <m:r>
                          <a:rPr lang="en-US" altLang="zh-TW" sz="2400" i="1" smtClean="0">
                            <a:latin typeface="Cambria Math" panose="02040503050406030204" pitchFamily="18" charset="0"/>
                            <a:ea typeface="Cambria Math" panose="02040503050406030204" pitchFamily="18" charset="0"/>
                            <a:cs typeface="STIX Two Math" panose="02020603050405020304" pitchFamily="18" charset="0"/>
                          </a:rPr>
                          <m:t>ℒ</m:t>
                        </m:r>
                      </m:num>
                      <m:den>
                        <m:r>
                          <a:rPr lang="en-US" altLang="zh-TW" sz="2400" i="1">
                            <a:latin typeface="Cambria Math" panose="02040503050406030204" pitchFamily="18" charset="0"/>
                            <a:ea typeface="STIX Two Math" panose="02020603050405020304" pitchFamily="18" charset="0"/>
                            <a:cs typeface="STIX Two Math" panose="02020603050405020304" pitchFamily="18" charset="0"/>
                          </a:rPr>
                          <m:t>𝜕</m:t>
                        </m:r>
                        <m:r>
                          <a:rPr lang="en-US" altLang="zh-TW" sz="2400" i="1">
                            <a:latin typeface="Cambria Math" panose="02040503050406030204" pitchFamily="18" charset="0"/>
                            <a:ea typeface="STIX Two Math" panose="02020603050405020304" pitchFamily="18" charset="0"/>
                            <a:cs typeface="STIX Two Math" panose="02020603050405020304" pitchFamily="18" charset="0"/>
                          </a:rPr>
                          <m:t>𝑤</m:t>
                        </m:r>
                      </m:den>
                    </m:f>
                  </m:oMath>
                </a14:m>
                <a:endParaRPr lang="zh-TW" altLang="en-US" sz="2400" dirty="0">
                  <a:latin typeface="STIX Two Math" panose="02020603050405020304" pitchFamily="18" charset="0"/>
                  <a:cs typeface="STIX Two Math" panose="02020603050405020304" pitchFamily="18" charset="0"/>
                </a:endParaRPr>
              </a:p>
              <a:p>
                <a:pPr marL="914400" lvl="1" indent="-457200">
                  <a:buFont typeface="+mj-lt"/>
                  <a:buAutoNum type="arabicPeriod"/>
                </a:pPr>
                <a:r>
                  <a:rPr lang="zh-CN" altLang="en-US" sz="2400" dirty="0">
                    <a:latin typeface="STIX Two Math" panose="02020603050405020304" pitchFamily="18" charset="0"/>
                    <a:cs typeface="STIX Two Math" panose="02020603050405020304" pitchFamily="18" charset="0"/>
                  </a:rPr>
                  <a:t>更新参数</a:t>
                </a:r>
                <a14:m>
                  <m:oMath xmlns:m="http://schemas.openxmlformats.org/officeDocument/2006/math">
                    <m:r>
                      <a:rPr lang="en-US" altLang="zh-TW" sz="2400" i="1">
                        <a:latin typeface="Cambria Math" panose="02040503050406030204" pitchFamily="18" charset="0"/>
                        <a:ea typeface="STIX Two Math" panose="02020603050405020304" pitchFamily="18" charset="0"/>
                        <a:cs typeface="STIX Two Math" panose="02020603050405020304" pitchFamily="18" charset="0"/>
                      </a:rPr>
                      <m:t>𝑤</m:t>
                    </m:r>
                    <m:r>
                      <a:rPr lang="en-US" altLang="zh-TW" sz="2400" i="1">
                        <a:latin typeface="Cambria Math" panose="02040503050406030204" pitchFamily="18" charset="0"/>
                        <a:ea typeface="STIX Two Math" panose="02020603050405020304" pitchFamily="18" charset="0"/>
                        <a:cs typeface="STIX Two Math" panose="02020603050405020304" pitchFamily="18" charset="0"/>
                      </a:rPr>
                      <m:t>←</m:t>
                    </m:r>
                    <m:r>
                      <a:rPr lang="en-US" altLang="zh-TW" sz="2400" i="1">
                        <a:latin typeface="Cambria Math" panose="02040503050406030204" pitchFamily="18" charset="0"/>
                        <a:ea typeface="STIX Two Math" panose="02020603050405020304" pitchFamily="18" charset="0"/>
                        <a:cs typeface="STIX Two Math" panose="02020603050405020304" pitchFamily="18" charset="0"/>
                      </a:rPr>
                      <m:t>𝑤</m:t>
                    </m:r>
                    <m:r>
                      <a:rPr lang="en-US" altLang="zh-TW" sz="2400" i="1">
                        <a:latin typeface="Cambria Math" panose="02040503050406030204" pitchFamily="18" charset="0"/>
                        <a:ea typeface="STIX Two Math" panose="02020603050405020304" pitchFamily="18" charset="0"/>
                        <a:cs typeface="STIX Two Math" panose="02020603050405020304" pitchFamily="18" charset="0"/>
                      </a:rPr>
                      <m:t>−</m:t>
                    </m:r>
                    <m:r>
                      <a:rPr lang="en-US" altLang="zh-CN" sz="2400" i="1">
                        <a:latin typeface="Cambria Math" panose="02040503050406030204" pitchFamily="18" charset="0"/>
                        <a:ea typeface="STIX Two Math" panose="02020603050405020304" pitchFamily="18" charset="0"/>
                        <a:cs typeface="STIX Two Math" panose="02020603050405020304" pitchFamily="18" charset="0"/>
                      </a:rPr>
                      <m:t>𝛼</m:t>
                    </m:r>
                    <m:f>
                      <m:fPr>
                        <m:type m:val="lin"/>
                        <m:ctrlPr>
                          <a:rPr lang="en-US" altLang="zh-TW" sz="2400" i="1">
                            <a:latin typeface="Cambria Math" panose="02040503050406030204" pitchFamily="18" charset="0"/>
                            <a:ea typeface="STIX Two Math" panose="02020603050405020304" pitchFamily="18" charset="0"/>
                            <a:cs typeface="STIX Two Math" panose="02020603050405020304" pitchFamily="18" charset="0"/>
                          </a:rPr>
                        </m:ctrlPr>
                      </m:fPr>
                      <m:num>
                        <m:r>
                          <a:rPr lang="en-US" altLang="zh-TW" sz="2400" i="1">
                            <a:latin typeface="Cambria Math" panose="02040503050406030204" pitchFamily="18" charset="0"/>
                            <a:ea typeface="STIX Two Math" panose="02020603050405020304" pitchFamily="18" charset="0"/>
                            <a:cs typeface="STIX Two Math" panose="02020603050405020304" pitchFamily="18" charset="0"/>
                          </a:rPr>
                          <m:t>𝜕</m:t>
                        </m:r>
                        <m:r>
                          <a:rPr lang="en-US" altLang="zh-TW" sz="2400" i="1">
                            <a:latin typeface="Cambria Math" panose="02040503050406030204" pitchFamily="18" charset="0"/>
                            <a:ea typeface="Cambria Math" panose="02040503050406030204" pitchFamily="18" charset="0"/>
                            <a:cs typeface="STIX Two Math" panose="02020603050405020304" pitchFamily="18" charset="0"/>
                          </a:rPr>
                          <m:t>ℒ</m:t>
                        </m:r>
                      </m:num>
                      <m:den>
                        <m:r>
                          <a:rPr lang="en-US" altLang="zh-TW" sz="2400" i="1">
                            <a:latin typeface="Cambria Math" panose="02040503050406030204" pitchFamily="18" charset="0"/>
                            <a:ea typeface="STIX Two Math" panose="02020603050405020304" pitchFamily="18" charset="0"/>
                            <a:cs typeface="STIX Two Math" panose="02020603050405020304" pitchFamily="18" charset="0"/>
                          </a:rPr>
                          <m:t>𝜕</m:t>
                        </m:r>
                        <m:r>
                          <a:rPr lang="en-US" altLang="zh-TW" sz="2400" i="1">
                            <a:latin typeface="Cambria Math" panose="02040503050406030204" pitchFamily="18" charset="0"/>
                            <a:ea typeface="STIX Two Math" panose="02020603050405020304" pitchFamily="18" charset="0"/>
                            <a:cs typeface="STIX Two Math" panose="02020603050405020304" pitchFamily="18" charset="0"/>
                          </a:rPr>
                          <m:t>𝑤</m:t>
                        </m:r>
                      </m:den>
                    </m:f>
                  </m:oMath>
                </a14:m>
                <a:endParaRPr lang="zh-TW" altLang="en-US" sz="2400" dirty="0">
                  <a:latin typeface="STIX Two Math" panose="02020603050405020304" pitchFamily="18" charset="0"/>
                  <a:cs typeface="STIX Two Math" panose="02020603050405020304" pitchFamily="18" charset="0"/>
                </a:endParaRPr>
              </a:p>
            </p:txBody>
          </p:sp>
        </mc:Choice>
        <mc:Fallback xmlns="">
          <p:sp>
            <p:nvSpPr>
              <p:cNvPr id="35" name="文字方塊 34"/>
              <p:cNvSpPr txBox="1">
                <a:spLocks noRot="1" noChangeAspect="1" noMove="1" noResize="1" noEditPoints="1" noAdjustHandles="1" noChangeArrowheads="1" noChangeShapeType="1" noTextEdit="1"/>
              </p:cNvSpPr>
              <p:nvPr/>
            </p:nvSpPr>
            <p:spPr>
              <a:xfrm>
                <a:off x="3354778" y="1666505"/>
                <a:ext cx="5203253" cy="1569660"/>
              </a:xfrm>
              <a:prstGeom prst="rect">
                <a:avLst/>
              </a:prstGeom>
              <a:blipFill>
                <a:blip r:embed="rId10"/>
                <a:stretch>
                  <a:fillRect l="-9719" t="-43798" b="-58915"/>
                </a:stretch>
              </a:blipFill>
            </p:spPr>
            <p:txBody>
              <a:bodyPr/>
              <a:lstStyle/>
              <a:p>
                <a:r>
                  <a:rPr lang="zh-CN" altLang="en-US">
                    <a:noFill/>
                  </a:rPr>
                  <a:t> </a:t>
                </a:r>
              </a:p>
            </p:txBody>
          </p:sp>
        </mc:Fallback>
      </mc:AlternateContent>
      <p:sp>
        <p:nvSpPr>
          <p:cNvPr id="55" name="手繪多邊形 54"/>
          <p:cNvSpPr/>
          <p:nvPr/>
        </p:nvSpPr>
        <p:spPr>
          <a:xfrm>
            <a:off x="2518530" y="2112336"/>
            <a:ext cx="6681626" cy="4208267"/>
          </a:xfrm>
          <a:custGeom>
            <a:avLst/>
            <a:gdLst>
              <a:gd name="connsiteX0" fmla="*/ 0 w 7754816"/>
              <a:gd name="connsiteY0" fmla="*/ 0 h 4208267"/>
              <a:gd name="connsiteX1" fmla="*/ 1019908 w 7754816"/>
              <a:gd name="connsiteY1" fmla="*/ 2356339 h 4208267"/>
              <a:gd name="connsiteX2" fmla="*/ 3499339 w 7754816"/>
              <a:gd name="connsiteY2" fmla="*/ 2760785 h 4208267"/>
              <a:gd name="connsiteX3" fmla="*/ 4783016 w 7754816"/>
              <a:gd name="connsiteY3" fmla="*/ 3130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499339 w 7754816"/>
              <a:gd name="connsiteY2" fmla="*/ 2760785 h 4208267"/>
              <a:gd name="connsiteX3" fmla="*/ 5732254 w 7754816"/>
              <a:gd name="connsiteY3" fmla="*/ 3511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499339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767202 w 7754816"/>
              <a:gd name="connsiteY2" fmla="*/ 271724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767202 w 7754816"/>
              <a:gd name="connsiteY2" fmla="*/ 271724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823199 w 7754816"/>
              <a:gd name="connsiteY2" fmla="*/ 269819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54816" h="4208267">
                <a:moveTo>
                  <a:pt x="0" y="0"/>
                </a:moveTo>
                <a:cubicBezTo>
                  <a:pt x="218342" y="948104"/>
                  <a:pt x="677358" y="1776011"/>
                  <a:pt x="1314558" y="2225710"/>
                </a:cubicBezTo>
                <a:cubicBezTo>
                  <a:pt x="1951758" y="2675409"/>
                  <a:pt x="3073523" y="2701682"/>
                  <a:pt x="3823199" y="2698193"/>
                </a:cubicBezTo>
                <a:cubicBezTo>
                  <a:pt x="4572875" y="2694704"/>
                  <a:pt x="5321243" y="3501607"/>
                  <a:pt x="5732254" y="3511062"/>
                </a:cubicBezTo>
                <a:cubicBezTo>
                  <a:pt x="6143265" y="3520517"/>
                  <a:pt x="6133882" y="2941515"/>
                  <a:pt x="6289268" y="2754923"/>
                </a:cubicBezTo>
                <a:cubicBezTo>
                  <a:pt x="6444654" y="2568331"/>
                  <a:pt x="6452551" y="2185377"/>
                  <a:pt x="6664570" y="2391508"/>
                </a:cubicBezTo>
                <a:cubicBezTo>
                  <a:pt x="6876589" y="2597639"/>
                  <a:pt x="7379677" y="3698631"/>
                  <a:pt x="7561385" y="3991708"/>
                </a:cubicBezTo>
                <a:cubicBezTo>
                  <a:pt x="7743093" y="4284785"/>
                  <a:pt x="7748954" y="4217377"/>
                  <a:pt x="7754816" y="4149970"/>
                </a:cubicBezTo>
              </a:path>
            </a:pathLst>
          </a:custGeom>
          <a:noFill/>
          <a:ln w="6350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1" name="直線接點 70"/>
          <p:cNvCxnSpPr/>
          <p:nvPr/>
        </p:nvCxnSpPr>
        <p:spPr>
          <a:xfrm>
            <a:off x="3495466" y="4210936"/>
            <a:ext cx="0" cy="1471877"/>
          </a:xfrm>
          <a:prstGeom prst="line">
            <a:avLst/>
          </a:prstGeom>
          <a:ln w="5715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2795970" y="3580784"/>
            <a:ext cx="1591247" cy="1508056"/>
          </a:xfrm>
          <a:prstGeom prst="line">
            <a:avLst/>
          </a:prstGeom>
          <a:ln w="57150">
            <a:solidFill>
              <a:srgbClr val="0000FF"/>
            </a:solidFill>
            <a:prstDash val="sysDot"/>
          </a:ln>
        </p:spPr>
        <p:style>
          <a:lnRef idx="1">
            <a:schemeClr val="accent1"/>
          </a:lnRef>
          <a:fillRef idx="0">
            <a:schemeClr val="accent1"/>
          </a:fillRef>
          <a:effectRef idx="0">
            <a:schemeClr val="accent1"/>
          </a:effectRef>
          <a:fontRef idx="minor">
            <a:schemeClr val="tx1"/>
          </a:fontRef>
        </p:style>
      </p:cxnSp>
      <p:cxnSp>
        <p:nvCxnSpPr>
          <p:cNvPr id="36" name="直線接點 35"/>
          <p:cNvCxnSpPr/>
          <p:nvPr/>
        </p:nvCxnSpPr>
        <p:spPr>
          <a:xfrm>
            <a:off x="5155433" y="4767095"/>
            <a:ext cx="0" cy="976667"/>
          </a:xfrm>
          <a:prstGeom prst="line">
            <a:avLst/>
          </a:prstGeom>
          <a:ln w="5715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直線接點 23"/>
          <p:cNvCxnSpPr/>
          <p:nvPr/>
        </p:nvCxnSpPr>
        <p:spPr>
          <a:xfrm>
            <a:off x="4509633" y="4658798"/>
            <a:ext cx="1231903" cy="239227"/>
          </a:xfrm>
          <a:prstGeom prst="line">
            <a:avLst/>
          </a:prstGeom>
          <a:ln w="57150">
            <a:solidFill>
              <a:srgbClr val="0000FF"/>
            </a:solidFill>
            <a:prstDash val="sysDot"/>
          </a:ln>
        </p:spPr>
        <p:style>
          <a:lnRef idx="1">
            <a:schemeClr val="accent1"/>
          </a:lnRef>
          <a:fillRef idx="0">
            <a:schemeClr val="accent1"/>
          </a:fillRef>
          <a:effectRef idx="0">
            <a:schemeClr val="accent1"/>
          </a:effectRef>
          <a:fontRef idx="minor">
            <a:schemeClr val="tx1"/>
          </a:fontRef>
        </p:style>
      </p:cxnSp>
      <p:cxnSp>
        <p:nvCxnSpPr>
          <p:cNvPr id="32" name="直線接點 31"/>
          <p:cNvCxnSpPr/>
          <p:nvPr/>
        </p:nvCxnSpPr>
        <p:spPr>
          <a:xfrm>
            <a:off x="6248400" y="4897549"/>
            <a:ext cx="0" cy="898659"/>
          </a:xfrm>
          <a:prstGeom prst="line">
            <a:avLst/>
          </a:prstGeom>
          <a:ln w="5715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直線接點 31"/>
          <p:cNvCxnSpPr/>
          <p:nvPr/>
        </p:nvCxnSpPr>
        <p:spPr>
          <a:xfrm>
            <a:off x="7543800" y="5549115"/>
            <a:ext cx="0" cy="290546"/>
          </a:xfrm>
          <a:prstGeom prst="line">
            <a:avLst/>
          </a:prstGeom>
          <a:ln w="5715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直線接點 23"/>
          <p:cNvCxnSpPr/>
          <p:nvPr/>
        </p:nvCxnSpPr>
        <p:spPr>
          <a:xfrm>
            <a:off x="5573080" y="4515757"/>
            <a:ext cx="1361121" cy="745651"/>
          </a:xfrm>
          <a:prstGeom prst="line">
            <a:avLst/>
          </a:prstGeom>
          <a:ln w="57150">
            <a:solidFill>
              <a:srgbClr val="0000FF"/>
            </a:solidFill>
            <a:prstDash val="sysDot"/>
          </a:ln>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1AD7792C-A243-471D-9F34-CB1B0A59F01B}"/>
              </a:ext>
            </a:extLst>
          </p:cNvPr>
          <p:cNvSpPr/>
          <p:nvPr/>
        </p:nvSpPr>
        <p:spPr>
          <a:xfrm>
            <a:off x="9587410" y="5951692"/>
            <a:ext cx="1107996" cy="369332"/>
          </a:xfrm>
          <a:prstGeom prst="rect">
            <a:avLst/>
          </a:prstGeom>
        </p:spPr>
        <p:txBody>
          <a:bodyPr wrap="none">
            <a:spAutoFit/>
          </a:bodyPr>
          <a:lstStyle/>
          <a:p>
            <a:r>
              <a:rPr lang="zh-CN" altLang="en-US" dirty="0">
                <a:latin typeface="STIX Two Math" panose="02020603050405020304" pitchFamily="18" charset="0"/>
                <a:cs typeface="STIX Two Math" panose="02020603050405020304" pitchFamily="18" charset="0"/>
              </a:rPr>
              <a:t>网络参数</a:t>
            </a:r>
            <a:endParaRPr lang="zh-CN" altLang="en-US" dirty="0"/>
          </a:p>
        </p:txBody>
      </p:sp>
    </p:spTree>
    <p:custDataLst>
      <p:tags r:id="rId2"/>
    </p:custDataLst>
    <p:extLst>
      <p:ext uri="{BB962C8B-B14F-4D97-AF65-F5344CB8AC3E}">
        <p14:creationId xmlns:p14="http://schemas.microsoft.com/office/powerpoint/2010/main" val="2777180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1CF62D-8C6C-4770-A077-C0AB52B78AEE}"/>
              </a:ext>
            </a:extLst>
          </p:cNvPr>
          <p:cNvSpPr>
            <a:spLocks noGrp="1"/>
          </p:cNvSpPr>
          <p:nvPr>
            <p:ph type="ctrTitle"/>
          </p:nvPr>
        </p:nvSpPr>
        <p:spPr/>
        <p:txBody>
          <a:bodyPr/>
          <a:lstStyle/>
          <a:p>
            <a:r>
              <a:rPr lang="en-US" altLang="zh-CN" dirty="0"/>
              <a:t>2.2.3</a:t>
            </a:r>
            <a:r>
              <a:rPr lang="zh-CN" altLang="en-US" dirty="0"/>
              <a:t> 计算图与自动微分</a:t>
            </a:r>
          </a:p>
        </p:txBody>
      </p:sp>
    </p:spTree>
    <p:extLst>
      <p:ext uri="{BB962C8B-B14F-4D97-AF65-F5344CB8AC3E}">
        <p14:creationId xmlns:p14="http://schemas.microsoft.com/office/powerpoint/2010/main" val="42484896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计算图与自动微分</a:t>
            </a:r>
          </a:p>
        </p:txBody>
      </p:sp>
      <p:sp>
        <p:nvSpPr>
          <p:cNvPr id="3" name="内容占位符 2"/>
          <p:cNvSpPr>
            <a:spLocks noGrp="1"/>
          </p:cNvSpPr>
          <p:nvPr>
            <p:ph idx="1"/>
          </p:nvPr>
        </p:nvSpPr>
        <p:spPr/>
        <p:txBody>
          <a:bodyPr/>
          <a:lstStyle/>
          <a:p>
            <a:r>
              <a:rPr lang="zh-CN" altLang="en-US" dirty="0"/>
              <a:t>自动微分是利用链式法则来</a:t>
            </a:r>
            <a:r>
              <a:rPr lang="zh-CN" altLang="en-US" u="sng" dirty="0"/>
              <a:t>自动</a:t>
            </a:r>
            <a:r>
              <a:rPr lang="zh-CN" altLang="en-US" dirty="0"/>
              <a:t>计算一个复合函数的梯度。</a:t>
            </a:r>
            <a:endParaRPr lang="en-US" altLang="zh-CN" dirty="0"/>
          </a:p>
          <a:p>
            <a:endParaRPr lang="en-US" altLang="zh-CN" dirty="0"/>
          </a:p>
          <a:p>
            <a:endParaRPr lang="en-US" altLang="zh-CN" dirty="0"/>
          </a:p>
          <a:p>
            <a:r>
              <a:rPr lang="zh-CN" altLang="en-US" dirty="0"/>
              <a:t>计算图</a:t>
            </a:r>
            <a:endParaRPr lang="en-US" altLang="zh-CN" dirty="0"/>
          </a:p>
        </p:txBody>
      </p:sp>
      <p:pic>
        <p:nvPicPr>
          <p:cNvPr id="4" name="图片 3"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0" y="2057400"/>
            <a:ext cx="3696056" cy="762000"/>
          </a:xfrm>
          <a:prstGeom prst="rect">
            <a:avLst/>
          </a:prstGeom>
        </p:spPr>
      </p:pic>
      <p:pic>
        <p:nvPicPr>
          <p:cNvPr id="5" name="图片 4"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200" y="4267200"/>
            <a:ext cx="6846016" cy="1600200"/>
          </a:xfrm>
          <a:prstGeom prst="rect">
            <a:avLst/>
          </a:prstGeom>
        </p:spPr>
      </p:pic>
    </p:spTree>
    <p:extLst>
      <p:ext uri="{BB962C8B-B14F-4D97-AF65-F5344CB8AC3E}">
        <p14:creationId xmlns:p14="http://schemas.microsoft.com/office/powerpoint/2010/main" val="32291956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计算图</a:t>
            </a:r>
          </a:p>
        </p:txBody>
      </p:sp>
      <p:pic>
        <p:nvPicPr>
          <p:cNvPr id="4" name="图片 3"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2400" y="212055"/>
            <a:ext cx="6007816" cy="1404278"/>
          </a:xfrm>
          <a:prstGeom prst="rect">
            <a:avLst/>
          </a:prstGeom>
        </p:spPr>
      </p:pic>
      <p:pic>
        <p:nvPicPr>
          <p:cNvPr id="5" name="图片 4"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6508" y="1680144"/>
            <a:ext cx="4660996" cy="2901720"/>
          </a:xfrm>
          <a:prstGeom prst="rect">
            <a:avLst/>
          </a:prstGeom>
        </p:spPr>
      </p:pic>
      <p:pic>
        <p:nvPicPr>
          <p:cNvPr id="7" name="图片 6"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5473" y="5055197"/>
            <a:ext cx="5424055" cy="1288830"/>
          </a:xfrm>
          <a:prstGeom prst="rect">
            <a:avLst/>
          </a:prstGeom>
        </p:spPr>
      </p:pic>
      <p:sp>
        <p:nvSpPr>
          <p:cNvPr id="8" name="矩形 7"/>
          <p:cNvSpPr/>
          <p:nvPr/>
        </p:nvSpPr>
        <p:spPr>
          <a:xfrm>
            <a:off x="1905000" y="4595719"/>
            <a:ext cx="3512500" cy="369332"/>
          </a:xfrm>
          <a:prstGeom prst="rect">
            <a:avLst/>
          </a:prstGeom>
        </p:spPr>
        <p:txBody>
          <a:bodyPr wrap="none">
            <a:spAutoFit/>
          </a:bodyPr>
          <a:lstStyle/>
          <a:p>
            <a:r>
              <a:rPr lang="zh-CN" altLang="en-US" dirty="0"/>
              <a:t>当</a:t>
            </a:r>
            <a:r>
              <a:rPr lang="en-US" altLang="zh-CN" dirty="0"/>
              <a:t>x = 1,w = 0,b = 0</a:t>
            </a:r>
            <a:r>
              <a:rPr lang="zh-CN" altLang="en-US" dirty="0"/>
              <a:t>时，可以得到</a:t>
            </a:r>
            <a:endParaRPr lang="en-US" altLang="zh-CN" dirty="0"/>
          </a:p>
        </p:txBody>
      </p:sp>
    </p:spTree>
    <p:extLst>
      <p:ext uri="{BB962C8B-B14F-4D97-AF65-F5344CB8AC3E}">
        <p14:creationId xmlns:p14="http://schemas.microsoft.com/office/powerpoint/2010/main" val="2029964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自动微分</a:t>
            </a:r>
            <a:endParaRPr lang="zh-CN" altLang="en-US" dirty="0"/>
          </a:p>
        </p:txBody>
      </p:sp>
      <p:sp>
        <p:nvSpPr>
          <p:cNvPr id="3" name="内容占位符 2"/>
          <p:cNvSpPr>
            <a:spLocks noGrp="1"/>
          </p:cNvSpPr>
          <p:nvPr>
            <p:ph idx="1"/>
          </p:nvPr>
        </p:nvSpPr>
        <p:spPr/>
        <p:txBody>
          <a:bodyPr/>
          <a:lstStyle/>
          <a:p>
            <a:r>
              <a:rPr lang="zh-CN" altLang="en-US" dirty="0"/>
              <a:t>前向模式和</a:t>
            </a:r>
            <a:r>
              <a:rPr lang="zh-CN" altLang="en-US" b="1" dirty="0"/>
              <a:t>反向模式</a:t>
            </a:r>
            <a:endParaRPr lang="en-US" altLang="zh-CN" b="1" dirty="0"/>
          </a:p>
          <a:p>
            <a:pPr lvl="1"/>
            <a:r>
              <a:rPr lang="zh-CN" altLang="en-US" dirty="0"/>
              <a:t>反向模式和反向传播的计算梯度的方式相同</a:t>
            </a:r>
            <a:endParaRPr lang="en-US" altLang="zh-CN" dirty="0"/>
          </a:p>
          <a:p>
            <a:endParaRPr lang="en-US" altLang="zh-CN" dirty="0"/>
          </a:p>
          <a:p>
            <a:endParaRPr lang="en-US" altLang="zh-CN" dirty="0"/>
          </a:p>
          <a:p>
            <a:endParaRPr lang="en-US" altLang="zh-CN" dirty="0"/>
          </a:p>
          <a:p>
            <a:r>
              <a:rPr lang="zh-CN" altLang="en-US" dirty="0"/>
              <a:t>如果函数和参数之间有多条路径，可以将这多条路径上的导数再进行相加，得到最终的梯度。</a:t>
            </a:r>
          </a:p>
        </p:txBody>
      </p:sp>
      <p:pic>
        <p:nvPicPr>
          <p:cNvPr id="4" name="图片 3" descr="屏幕剪辑">
            <a:extLst>
              <a:ext uri="{FF2B5EF4-FFF2-40B4-BE49-F238E27FC236}">
                <a16:creationId xmlns:a16="http://schemas.microsoft.com/office/drawing/2014/main" id="{B742490B-814F-4740-B5CE-C38F09CB06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0599" y="25879"/>
            <a:ext cx="6250195" cy="1460932"/>
          </a:xfrm>
          <a:prstGeom prst="rect">
            <a:avLst/>
          </a:prstGeom>
        </p:spPr>
      </p:pic>
      <p:pic>
        <p:nvPicPr>
          <p:cNvPr id="5" name="图片 4" descr="屏幕剪辑">
            <a:extLst>
              <a:ext uri="{FF2B5EF4-FFF2-40B4-BE49-F238E27FC236}">
                <a16:creationId xmlns:a16="http://schemas.microsoft.com/office/drawing/2014/main" id="{41792442-E2E5-A141-88CE-1AFFAE010A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00452" y="1968068"/>
            <a:ext cx="6148348" cy="1460932"/>
          </a:xfrm>
          <a:prstGeom prst="rect">
            <a:avLst/>
          </a:prstGeom>
        </p:spPr>
      </p:pic>
    </p:spTree>
    <p:extLst>
      <p:ext uri="{BB962C8B-B14F-4D97-AF65-F5344CB8AC3E}">
        <p14:creationId xmlns:p14="http://schemas.microsoft.com/office/powerpoint/2010/main" val="1580473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3C7548-6B10-FE4E-9673-651C76C4A7EB}"/>
              </a:ext>
            </a:extLst>
          </p:cNvPr>
          <p:cNvSpPr>
            <a:spLocks noGrp="1"/>
          </p:cNvSpPr>
          <p:nvPr>
            <p:ph type="title"/>
          </p:nvPr>
        </p:nvSpPr>
        <p:spPr/>
        <p:txBody>
          <a:bodyPr/>
          <a:lstStyle/>
          <a:p>
            <a:r>
              <a:rPr kumimoji="1" lang="en-US" altLang="zh-CN" dirty="0" err="1"/>
              <a:t>Pytorch</a:t>
            </a:r>
            <a:r>
              <a:rPr kumimoji="1" lang="zh-CN" altLang="en-US" dirty="0"/>
              <a:t>例子</a:t>
            </a:r>
          </a:p>
        </p:txBody>
      </p:sp>
      <p:sp>
        <p:nvSpPr>
          <p:cNvPr id="3" name="内容占位符 2">
            <a:extLst>
              <a:ext uri="{FF2B5EF4-FFF2-40B4-BE49-F238E27FC236}">
                <a16:creationId xmlns:a16="http://schemas.microsoft.com/office/drawing/2014/main" id="{33B24419-A3E6-D746-91F3-B4ABBF8F8A7F}"/>
              </a:ext>
            </a:extLst>
          </p:cNvPr>
          <p:cNvSpPr>
            <a:spLocks noGrp="1"/>
          </p:cNvSpPr>
          <p:nvPr>
            <p:ph idx="1"/>
          </p:nvPr>
        </p:nvSpPr>
        <p:spPr/>
        <p:txBody>
          <a:bodyPr/>
          <a:lstStyle/>
          <a:p>
            <a:endParaRPr kumimoji="1" lang="zh-CN" altLang="en-US"/>
          </a:p>
        </p:txBody>
      </p:sp>
      <p:pic>
        <p:nvPicPr>
          <p:cNvPr id="4" name="图片 3">
            <a:extLst>
              <a:ext uri="{FF2B5EF4-FFF2-40B4-BE49-F238E27FC236}">
                <a16:creationId xmlns:a16="http://schemas.microsoft.com/office/drawing/2014/main" id="{6390AF7B-6485-F04E-B30D-7326C33979AE}"/>
              </a:ext>
            </a:extLst>
          </p:cNvPr>
          <p:cNvPicPr>
            <a:picLocks noChangeAspect="1"/>
          </p:cNvPicPr>
          <p:nvPr/>
        </p:nvPicPr>
        <p:blipFill>
          <a:blip r:embed="rId2"/>
          <a:stretch>
            <a:fillRect/>
          </a:stretch>
        </p:blipFill>
        <p:spPr>
          <a:xfrm>
            <a:off x="2438400" y="885811"/>
            <a:ext cx="7569200" cy="5664200"/>
          </a:xfrm>
          <a:prstGeom prst="rect">
            <a:avLst/>
          </a:prstGeom>
        </p:spPr>
      </p:pic>
    </p:spTree>
    <p:extLst>
      <p:ext uri="{BB962C8B-B14F-4D97-AF65-F5344CB8AC3E}">
        <p14:creationId xmlns:p14="http://schemas.microsoft.com/office/powerpoint/2010/main" val="32878083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反向传播算法 </a:t>
            </a:r>
            <a:r>
              <a:rPr lang="en-US" altLang="zh-CN" dirty="0"/>
              <a:t>(</a:t>
            </a:r>
            <a:r>
              <a:rPr lang="zh-CN" altLang="en-US" dirty="0"/>
              <a:t>自动微分的反向模式）</a:t>
            </a:r>
          </a:p>
        </p:txBody>
      </p:sp>
      <p:sp>
        <p:nvSpPr>
          <p:cNvPr id="3" name="内容占位符 2"/>
          <p:cNvSpPr>
            <a:spLocks noGrp="1"/>
          </p:cNvSpPr>
          <p:nvPr>
            <p:ph idx="1"/>
          </p:nvPr>
        </p:nvSpPr>
        <p:spPr/>
        <p:txBody>
          <a:bodyPr/>
          <a:lstStyle/>
          <a:p>
            <a:r>
              <a:rPr lang="zh-CN" altLang="en-US" dirty="0"/>
              <a:t>前馈神经网络的训练过程可以分为以下三步</a:t>
            </a:r>
          </a:p>
          <a:p>
            <a:pPr lvl="1"/>
            <a:r>
              <a:rPr lang="zh-CN" altLang="en-US" sz="2800" dirty="0">
                <a:solidFill>
                  <a:srgbClr val="FF0000"/>
                </a:solidFill>
              </a:rPr>
              <a:t>前向计算</a:t>
            </a:r>
            <a:r>
              <a:rPr lang="zh-CN" altLang="en-US" sz="2800" dirty="0"/>
              <a:t>每一层的状态和激活值，直到最后一层</a:t>
            </a:r>
          </a:p>
          <a:p>
            <a:pPr lvl="1"/>
            <a:r>
              <a:rPr lang="zh-CN" altLang="en-US" sz="2800" dirty="0">
                <a:solidFill>
                  <a:srgbClr val="FF0000"/>
                </a:solidFill>
              </a:rPr>
              <a:t>反向计算</a:t>
            </a:r>
            <a:r>
              <a:rPr lang="zh-CN" altLang="en-US" sz="2800" dirty="0"/>
              <a:t>每一层的参数的偏导数</a:t>
            </a:r>
            <a:endParaRPr lang="en-US" altLang="zh-CN" sz="2800" dirty="0"/>
          </a:p>
          <a:p>
            <a:pPr lvl="1"/>
            <a:r>
              <a:rPr lang="zh-CN" altLang="en-US" sz="2800" dirty="0">
                <a:solidFill>
                  <a:srgbClr val="FF0000"/>
                </a:solidFill>
              </a:rPr>
              <a:t>更新参数</a:t>
            </a:r>
          </a:p>
        </p:txBody>
      </p:sp>
    </p:spTree>
    <p:extLst>
      <p:ext uri="{BB962C8B-B14F-4D97-AF65-F5344CB8AC3E}">
        <p14:creationId xmlns:p14="http://schemas.microsoft.com/office/powerpoint/2010/main" val="34408841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静态计算图和动态计算图</a:t>
            </a:r>
          </a:p>
        </p:txBody>
      </p:sp>
      <p:sp>
        <p:nvSpPr>
          <p:cNvPr id="3" name="内容占位符 2"/>
          <p:cNvSpPr>
            <a:spLocks noGrp="1"/>
          </p:cNvSpPr>
          <p:nvPr>
            <p:ph idx="1"/>
          </p:nvPr>
        </p:nvSpPr>
        <p:spPr/>
        <p:txBody>
          <a:bodyPr/>
          <a:lstStyle/>
          <a:p>
            <a:r>
              <a:rPr lang="zh-CN" altLang="en-US" sz="2800" b="1" dirty="0"/>
              <a:t>静态</a:t>
            </a:r>
            <a:r>
              <a:rPr lang="zh-CN" altLang="en-US" sz="2800" dirty="0"/>
              <a:t>计算图是在编译时构建计算图，计算图构建好之后在程序运行时不能改变。</a:t>
            </a:r>
            <a:r>
              <a:rPr lang="en-US" altLang="zh-CN" sz="2800" dirty="0">
                <a:sym typeface="Wingdings" pitchFamily="2" charset="2"/>
              </a:rPr>
              <a:t> </a:t>
            </a:r>
            <a:r>
              <a:rPr lang="zh-CN" altLang="en-US" sz="2800" u="sng" dirty="0">
                <a:sym typeface="Wingdings" pitchFamily="2" charset="2"/>
              </a:rPr>
              <a:t>计算效率较高</a:t>
            </a:r>
            <a:endParaRPr lang="en-US" altLang="zh-CN" sz="2800" u="sng" dirty="0"/>
          </a:p>
          <a:p>
            <a:pPr lvl="1"/>
            <a:r>
              <a:rPr lang="en-US" altLang="zh-CN" sz="2000" dirty="0" err="1"/>
              <a:t>Theano</a:t>
            </a:r>
            <a:r>
              <a:rPr lang="zh-CN" altLang="en-US" sz="2000" dirty="0"/>
              <a:t>和</a:t>
            </a:r>
            <a:r>
              <a:rPr lang="en-US" altLang="zh-CN" sz="2000" b="1" dirty="0" err="1"/>
              <a:t>Tensorflow</a:t>
            </a:r>
            <a:endParaRPr lang="en-US" altLang="zh-CN" sz="2000" b="1" dirty="0"/>
          </a:p>
          <a:p>
            <a:r>
              <a:rPr lang="zh-CN" altLang="en-US" sz="2800" b="1" dirty="0"/>
              <a:t>动态</a:t>
            </a:r>
            <a:r>
              <a:rPr lang="zh-CN" altLang="en-US" sz="2800" dirty="0"/>
              <a:t>计算图是在程序运行时动态构建。</a:t>
            </a:r>
            <a:r>
              <a:rPr lang="en-US" altLang="zh-CN" sz="2800" dirty="0">
                <a:sym typeface="Wingdings" pitchFamily="2" charset="2"/>
              </a:rPr>
              <a:t> </a:t>
            </a:r>
            <a:r>
              <a:rPr lang="zh-CN" altLang="en-US" sz="2800" u="sng" dirty="0">
                <a:sym typeface="Wingdings" pitchFamily="2" charset="2"/>
              </a:rPr>
              <a:t>适用于神经网络结构会发生变化时（输入时动态变化的数据）</a:t>
            </a:r>
            <a:endParaRPr lang="en-US" altLang="zh-CN" sz="2800" u="sng" dirty="0"/>
          </a:p>
          <a:p>
            <a:pPr lvl="1"/>
            <a:r>
              <a:rPr lang="en-US" altLang="zh-CN" sz="2000" dirty="0" err="1"/>
              <a:t>DyNet</a:t>
            </a:r>
            <a:r>
              <a:rPr lang="zh-CN" altLang="en-US" sz="2000" dirty="0"/>
              <a:t>，</a:t>
            </a:r>
            <a:r>
              <a:rPr lang="en-US" altLang="zh-CN" sz="2000" dirty="0" err="1"/>
              <a:t>Chainer</a:t>
            </a:r>
            <a:r>
              <a:rPr lang="zh-CN" altLang="en-US" sz="2000" dirty="0"/>
              <a:t>和</a:t>
            </a:r>
            <a:r>
              <a:rPr lang="en-US" altLang="zh-CN" sz="2000" b="1" u="sng" dirty="0" err="1"/>
              <a:t>PyTorch</a:t>
            </a:r>
            <a:endParaRPr lang="en-US" altLang="zh-CN" sz="2000" b="1" u="sng" dirty="0"/>
          </a:p>
          <a:p>
            <a:endParaRPr lang="en-US" altLang="zh-CN" sz="2800" dirty="0"/>
          </a:p>
          <a:p>
            <a:r>
              <a:rPr lang="zh-CN" altLang="en-US" sz="2800" dirty="0"/>
              <a:t>两种构建方式对比</a:t>
            </a:r>
            <a:endParaRPr lang="en-US" altLang="zh-CN" sz="2800" dirty="0"/>
          </a:p>
          <a:p>
            <a:pPr lvl="1"/>
            <a:r>
              <a:rPr lang="zh-CN" altLang="en-US" sz="2400" dirty="0"/>
              <a:t>静态计算图在构建时可以进行优化，</a:t>
            </a:r>
            <a:r>
              <a:rPr lang="zh-CN" altLang="en-US" sz="2400" b="1" dirty="0"/>
              <a:t>并行能力强</a:t>
            </a:r>
            <a:r>
              <a:rPr lang="zh-CN" altLang="en-US" sz="2400" dirty="0"/>
              <a:t>，但灵活性比较差低。动态计算图则不容易优化，当不同输入的网络结构不一致时，难以并行计算，但是</a:t>
            </a:r>
            <a:r>
              <a:rPr lang="zh-CN" altLang="en-US" sz="2400" b="1" dirty="0"/>
              <a:t>灵活性比较高</a:t>
            </a:r>
            <a:r>
              <a:rPr lang="zh-CN" altLang="en-US" sz="2400" dirty="0"/>
              <a:t>。</a:t>
            </a:r>
            <a:endParaRPr lang="en-US" altLang="zh-CN" sz="2400" dirty="0"/>
          </a:p>
        </p:txBody>
      </p:sp>
    </p:spTree>
    <p:extLst>
      <p:ext uri="{BB962C8B-B14F-4D97-AF65-F5344CB8AC3E}">
        <p14:creationId xmlns:p14="http://schemas.microsoft.com/office/powerpoint/2010/main" val="30720510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如何实现？</a:t>
            </a: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0800" y="1371600"/>
            <a:ext cx="6553200" cy="4594898"/>
          </a:xfrm>
          <a:prstGeom prst="rect">
            <a:avLst/>
          </a:prstGeom>
        </p:spPr>
      </p:pic>
    </p:spTree>
    <p:extLst>
      <p:ext uri="{BB962C8B-B14F-4D97-AF65-F5344CB8AC3E}">
        <p14:creationId xmlns:p14="http://schemas.microsoft.com/office/powerpoint/2010/main" val="20259642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Getting started: 30 seconds to Keras</a:t>
            </a:r>
            <a:endParaRPr lang="zh-CN" altLang="en-US" dirty="0"/>
          </a:p>
        </p:txBody>
      </p:sp>
      <p:sp>
        <p:nvSpPr>
          <p:cNvPr id="4" name="内容占位符 4">
            <a:extLst>
              <a:ext uri="{FF2B5EF4-FFF2-40B4-BE49-F238E27FC236}">
                <a16:creationId xmlns:a16="http://schemas.microsoft.com/office/drawing/2014/main" id="{66134F28-D157-44B6-A06F-6867E4B7B992}"/>
              </a:ext>
            </a:extLst>
          </p:cNvPr>
          <p:cNvSpPr txBox="1">
            <a:spLocks/>
          </p:cNvSpPr>
          <p:nvPr/>
        </p:nvSpPr>
        <p:spPr bwMode="auto">
          <a:xfrm>
            <a:off x="2819400" y="1371600"/>
            <a:ext cx="64008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a:lstStyle>
          <a:p>
            <a:pPr marL="0" indent="0">
              <a:buFont typeface="Wingdings 3" panose="05040102010807070707" pitchFamily="18" charset="2"/>
              <a:buNone/>
            </a:pPr>
            <a:r>
              <a:rPr lang="en-US" sz="1600">
                <a:latin typeface="Arial" panose="020B0604020202020204" pitchFamily="34" charset="0"/>
              </a:rPr>
              <a:t>from keras.models import Sequential</a:t>
            </a:r>
          </a:p>
          <a:p>
            <a:pPr marL="0" indent="0">
              <a:buFont typeface="Wingdings 3" panose="05040102010807070707" pitchFamily="18" charset="2"/>
              <a:buNone/>
            </a:pPr>
            <a:r>
              <a:rPr lang="en-US" sz="1600">
                <a:latin typeface="Arial" panose="020B0604020202020204" pitchFamily="34" charset="0"/>
              </a:rPr>
              <a:t>from keras.layers import Dense, Activation</a:t>
            </a:r>
          </a:p>
          <a:p>
            <a:pPr marL="0" indent="0">
              <a:buFont typeface="Wingdings 3" panose="05040102010807070707" pitchFamily="18" charset="2"/>
              <a:buNone/>
            </a:pPr>
            <a:r>
              <a:rPr lang="en-US" sz="1600">
                <a:latin typeface="Arial" panose="020B0604020202020204" pitchFamily="34" charset="0"/>
              </a:rPr>
              <a:t>from keras.optimizers import SGD</a:t>
            </a:r>
          </a:p>
          <a:p>
            <a:pPr marL="0" indent="0">
              <a:buFont typeface="Wingdings 3" panose="05040102010807070707" pitchFamily="18" charset="2"/>
              <a:buNone/>
            </a:pPr>
            <a:endParaRPr lang="en-US" sz="1600">
              <a:latin typeface="Arial" panose="020B0604020202020204" pitchFamily="34" charset="0"/>
            </a:endParaRPr>
          </a:p>
          <a:p>
            <a:pPr marL="0" indent="0">
              <a:buFont typeface="Wingdings 3" panose="05040102010807070707" pitchFamily="18" charset="2"/>
              <a:buNone/>
            </a:pPr>
            <a:r>
              <a:rPr lang="en-US" sz="1600">
                <a:latin typeface="Arial" panose="020B0604020202020204" pitchFamily="34" charset="0"/>
              </a:rPr>
              <a:t>model = Sequential()</a:t>
            </a:r>
          </a:p>
          <a:p>
            <a:pPr marL="0" indent="0">
              <a:buFont typeface="Wingdings 3" panose="05040102010807070707" pitchFamily="18" charset="2"/>
              <a:buNone/>
            </a:pPr>
            <a:r>
              <a:rPr lang="en-US" sz="1600">
                <a:latin typeface="Arial" panose="020B0604020202020204" pitchFamily="34" charset="0"/>
              </a:rPr>
              <a:t>model.add(Dense(output_dim=64, input_dim=100))</a:t>
            </a:r>
          </a:p>
          <a:p>
            <a:pPr marL="0" indent="0">
              <a:buFont typeface="Wingdings 3" panose="05040102010807070707" pitchFamily="18" charset="2"/>
              <a:buNone/>
            </a:pPr>
            <a:r>
              <a:rPr lang="en-US" sz="1600">
                <a:latin typeface="Arial" panose="020B0604020202020204" pitchFamily="34" charset="0"/>
              </a:rPr>
              <a:t>model.add(Activation("relu"))</a:t>
            </a:r>
          </a:p>
          <a:p>
            <a:pPr marL="0" indent="0">
              <a:buFont typeface="Wingdings 3" panose="05040102010807070707" pitchFamily="18" charset="2"/>
              <a:buNone/>
            </a:pPr>
            <a:r>
              <a:rPr lang="en-US" sz="1600">
                <a:latin typeface="Arial" panose="020B0604020202020204" pitchFamily="34" charset="0"/>
              </a:rPr>
              <a:t>model.add(Dense(output_dim=10))</a:t>
            </a:r>
          </a:p>
          <a:p>
            <a:pPr marL="0" indent="0">
              <a:buFont typeface="Wingdings 3" panose="05040102010807070707" pitchFamily="18" charset="2"/>
              <a:buNone/>
            </a:pPr>
            <a:r>
              <a:rPr lang="en-US" sz="1600">
                <a:latin typeface="Arial" panose="020B0604020202020204" pitchFamily="34" charset="0"/>
              </a:rPr>
              <a:t>model.add(Activation("softmax"))</a:t>
            </a:r>
          </a:p>
          <a:p>
            <a:pPr marL="0" indent="0">
              <a:buFont typeface="Wingdings 3" panose="05040102010807070707" pitchFamily="18" charset="2"/>
              <a:buNone/>
            </a:pPr>
            <a:endParaRPr lang="en-US" sz="1600">
              <a:latin typeface="Arial" panose="020B0604020202020204" pitchFamily="34" charset="0"/>
            </a:endParaRPr>
          </a:p>
          <a:p>
            <a:pPr marL="0" indent="0">
              <a:buFont typeface="Wingdings 3" panose="05040102010807070707" pitchFamily="18" charset="2"/>
              <a:buNone/>
            </a:pPr>
            <a:r>
              <a:rPr lang="en-US" sz="1600">
                <a:latin typeface="Arial" panose="020B0604020202020204" pitchFamily="34" charset="0"/>
              </a:rPr>
              <a:t>model.compile(loss='categorical_crossentropy', </a:t>
            </a:r>
          </a:p>
          <a:p>
            <a:pPr marL="0" indent="0">
              <a:buFont typeface="Wingdings 3" panose="05040102010807070707" pitchFamily="18" charset="2"/>
              <a:buNone/>
            </a:pPr>
            <a:r>
              <a:rPr lang="en-US" sz="1600">
                <a:latin typeface="Arial" panose="020B0604020202020204" pitchFamily="34" charset="0"/>
              </a:rPr>
              <a:t>   optimizer='sgd', metrics=['accuracy'])</a:t>
            </a:r>
          </a:p>
          <a:p>
            <a:pPr marL="0" indent="0">
              <a:buFont typeface="Wingdings 3" panose="05040102010807070707" pitchFamily="18" charset="2"/>
              <a:buNone/>
            </a:pPr>
            <a:endParaRPr lang="en-US" sz="1600">
              <a:latin typeface="Arial" panose="020B0604020202020204" pitchFamily="34" charset="0"/>
            </a:endParaRPr>
          </a:p>
          <a:p>
            <a:pPr marL="0" indent="0">
              <a:buFont typeface="Wingdings 3" panose="05040102010807070707" pitchFamily="18" charset="2"/>
              <a:buNone/>
            </a:pPr>
            <a:r>
              <a:rPr lang="en-US" sz="1600">
                <a:latin typeface="Arial" panose="020B0604020202020204" pitchFamily="34" charset="0"/>
              </a:rPr>
              <a:t>model.fit(X_train, Y_train, nb_epoch=5, batch_size=32)</a:t>
            </a:r>
          </a:p>
          <a:p>
            <a:pPr marL="0" indent="0">
              <a:buFont typeface="Wingdings 3" panose="05040102010807070707" pitchFamily="18" charset="2"/>
              <a:buNone/>
            </a:pPr>
            <a:endParaRPr lang="en-US" sz="1600">
              <a:latin typeface="Arial" panose="020B0604020202020204" pitchFamily="34" charset="0"/>
            </a:endParaRPr>
          </a:p>
          <a:p>
            <a:pPr marL="0" indent="0">
              <a:buFont typeface="Wingdings 3" panose="05040102010807070707" pitchFamily="18" charset="2"/>
              <a:buNone/>
            </a:pPr>
            <a:r>
              <a:rPr lang="en-US" sz="1600">
                <a:latin typeface="Arial" panose="020B0604020202020204" pitchFamily="34" charset="0"/>
              </a:rPr>
              <a:t>loss = model.evaluate(X_test, Y_test, batch_size=32)</a:t>
            </a:r>
            <a:endParaRPr lang="en-US" altLang="zh-CN" sz="1600">
              <a:latin typeface="Arial" panose="020B0604020202020204" pitchFamily="34" charset="0"/>
            </a:endParaRPr>
          </a:p>
        </p:txBody>
      </p:sp>
    </p:spTree>
    <p:extLst>
      <p:ext uri="{BB962C8B-B14F-4D97-AF65-F5344CB8AC3E}">
        <p14:creationId xmlns:p14="http://schemas.microsoft.com/office/powerpoint/2010/main" val="7506101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CN" altLang="en-US" dirty="0"/>
              <a:t>深度学习的三个步骤</a:t>
            </a:r>
            <a:endParaRPr lang="zh-TW" altLang="en-US" dirty="0"/>
          </a:p>
        </p:txBody>
      </p:sp>
      <p:sp>
        <p:nvSpPr>
          <p:cNvPr id="6" name="矩形 5"/>
          <p:cNvSpPr/>
          <p:nvPr/>
        </p:nvSpPr>
        <p:spPr>
          <a:xfrm>
            <a:off x="1676401" y="3276600"/>
            <a:ext cx="5343129" cy="523220"/>
          </a:xfrm>
          <a:prstGeom prst="rect">
            <a:avLst/>
          </a:prstGeom>
        </p:spPr>
        <p:txBody>
          <a:bodyPr wrap="none">
            <a:spAutoFit/>
          </a:bodyPr>
          <a:lstStyle/>
          <a:p>
            <a:r>
              <a:rPr lang="en-US" altLang="zh-TW" sz="2800" dirty="0"/>
              <a:t>Deep Learning is so simple ……</a:t>
            </a:r>
            <a:endParaRPr lang="zh-TW" altLang="en-US" sz="2800" dirty="0"/>
          </a:p>
        </p:txBody>
      </p:sp>
      <p:pic>
        <p:nvPicPr>
          <p:cNvPr id="9" name="Picture 2" descr="http://cdc.tencent.com/wp-content/uploads/2011/03/banner12.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5148" y="3832951"/>
            <a:ext cx="6868678" cy="243265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內容版面配置區 3">
            <a:extLst>
              <a:ext uri="{FF2B5EF4-FFF2-40B4-BE49-F238E27FC236}">
                <a16:creationId xmlns:a16="http://schemas.microsoft.com/office/drawing/2014/main" id="{034D13A4-F7E7-4AF5-B3E0-65C8EA27231E}"/>
              </a:ext>
            </a:extLst>
          </p:cNvPr>
          <p:cNvGraphicFramePr>
            <a:graphicFrameLocks/>
          </p:cNvGraphicFramePr>
          <p:nvPr>
            <p:extLst>
              <p:ext uri="{D42A27DB-BD31-4B8C-83A1-F6EECF244321}">
                <p14:modId xmlns:p14="http://schemas.microsoft.com/office/powerpoint/2010/main" val="790534437"/>
              </p:ext>
            </p:extLst>
          </p:nvPr>
        </p:nvGraphicFramePr>
        <p:xfrm>
          <a:off x="2931844" y="592392"/>
          <a:ext cx="6511925" cy="350361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ustDataLst>
      <p:tags r:id="rId1"/>
    </p:custDataLst>
    <p:extLst>
      <p:ext uri="{BB962C8B-B14F-4D97-AF65-F5344CB8AC3E}">
        <p14:creationId xmlns:p14="http://schemas.microsoft.com/office/powerpoint/2010/main" val="1394007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A18C2E-603F-4021-BF58-FD70A37D5FE7}"/>
              </a:ext>
            </a:extLst>
          </p:cNvPr>
          <p:cNvSpPr>
            <a:spLocks noGrp="1"/>
          </p:cNvSpPr>
          <p:nvPr>
            <p:ph type="ctrTitle"/>
          </p:nvPr>
        </p:nvSpPr>
        <p:spPr/>
        <p:txBody>
          <a:bodyPr/>
          <a:lstStyle/>
          <a:p>
            <a:r>
              <a:rPr lang="en-US" altLang="zh-CN" dirty="0"/>
              <a:t>2.2.4</a:t>
            </a:r>
            <a:r>
              <a:rPr lang="zh-CN" altLang="en-US" dirty="0"/>
              <a:t> 优化问题</a:t>
            </a:r>
          </a:p>
        </p:txBody>
      </p:sp>
    </p:spTree>
    <p:extLst>
      <p:ext uri="{BB962C8B-B14F-4D97-AF65-F5344CB8AC3E}">
        <p14:creationId xmlns:p14="http://schemas.microsoft.com/office/powerpoint/2010/main" val="11080106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优化问题</a:t>
            </a:r>
          </a:p>
        </p:txBody>
      </p:sp>
      <p:sp>
        <p:nvSpPr>
          <p:cNvPr id="3" name="内容占位符 2"/>
          <p:cNvSpPr>
            <a:spLocks noGrp="1"/>
          </p:cNvSpPr>
          <p:nvPr>
            <p:ph idx="1"/>
          </p:nvPr>
        </p:nvSpPr>
        <p:spPr/>
        <p:txBody>
          <a:bodyPr/>
          <a:lstStyle/>
          <a:p>
            <a:r>
              <a:rPr lang="zh-CN" altLang="en-US" dirty="0"/>
              <a:t>非凸优化问题</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pic>
        <p:nvPicPr>
          <p:cNvPr id="4" name="图片 3"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2800" y="2286000"/>
            <a:ext cx="5325921" cy="2838127"/>
          </a:xfrm>
          <a:prstGeom prst="rect">
            <a:avLst/>
          </a:prstGeom>
        </p:spPr>
      </p:pic>
      <p:pic>
        <p:nvPicPr>
          <p:cNvPr id="5" name="图片 4">
            <a:extLst>
              <a:ext uri="{FF2B5EF4-FFF2-40B4-BE49-F238E27FC236}">
                <a16:creationId xmlns:a16="http://schemas.microsoft.com/office/drawing/2014/main" id="{A788E0F2-17C1-0C48-B72C-17398C9DBE06}"/>
              </a:ext>
            </a:extLst>
          </p:cNvPr>
          <p:cNvPicPr>
            <a:picLocks noChangeAspect="1"/>
          </p:cNvPicPr>
          <p:nvPr/>
        </p:nvPicPr>
        <p:blipFill>
          <a:blip r:embed="rId4"/>
          <a:stretch>
            <a:fillRect/>
          </a:stretch>
        </p:blipFill>
        <p:spPr>
          <a:xfrm>
            <a:off x="4267200" y="1711311"/>
            <a:ext cx="2679700" cy="469900"/>
          </a:xfrm>
          <a:prstGeom prst="rect">
            <a:avLst/>
          </a:prstGeom>
        </p:spPr>
      </p:pic>
    </p:spTree>
    <p:extLst>
      <p:ext uri="{BB962C8B-B14F-4D97-AF65-F5344CB8AC3E}">
        <p14:creationId xmlns:p14="http://schemas.microsoft.com/office/powerpoint/2010/main" val="32271973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优化问题</a:t>
            </a:r>
          </a:p>
        </p:txBody>
      </p:sp>
      <p:sp>
        <p:nvSpPr>
          <p:cNvPr id="3" name="内容占位符 2"/>
          <p:cNvSpPr>
            <a:spLocks noGrp="1"/>
          </p:cNvSpPr>
          <p:nvPr>
            <p:ph idx="1"/>
          </p:nvPr>
        </p:nvSpPr>
        <p:spPr/>
        <p:txBody>
          <a:bodyPr/>
          <a:lstStyle/>
          <a:p>
            <a:r>
              <a:rPr lang="zh-CN" altLang="en-US" dirty="0"/>
              <a:t>梯度消失（爆炸）问题（</a:t>
            </a:r>
            <a:r>
              <a:rPr lang="en-US" altLang="zh-CN" dirty="0"/>
              <a:t>Vanishing Gradient Problem</a:t>
            </a:r>
            <a:r>
              <a:rPr lang="zh-CN" altLang="en-US" dirty="0"/>
              <a:t>）</a:t>
            </a:r>
            <a:endParaRPr lang="en-US" altLang="zh-CN" sz="2000" i="1" dirty="0">
              <a:latin typeface="Cambria Math" panose="02040503050406030204" pitchFamily="18" charset="0"/>
            </a:endParaRPr>
          </a:p>
          <a:p>
            <a:pPr lvl="0"/>
            <a:endParaRPr lang="zh-CN" altLang="zh-CN" sz="2000" i="1" dirty="0">
              <a:latin typeface="Cambria Math" panose="02040503050406030204" pitchFamily="18" charset="0"/>
            </a:endParaRPr>
          </a:p>
        </p:txBody>
      </p:sp>
      <p:pic>
        <p:nvPicPr>
          <p:cNvPr id="6" name="图片 5"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3800" y="4287308"/>
            <a:ext cx="4463260" cy="1937708"/>
          </a:xfrm>
          <a:prstGeom prst="rect">
            <a:avLst/>
          </a:prstGeom>
        </p:spPr>
      </p:pic>
      <mc:AlternateContent xmlns:mc="http://schemas.openxmlformats.org/markup-compatibility/2006" xmlns:a14="http://schemas.microsoft.com/office/drawing/2010/main">
        <mc:Choice Requires="a14">
          <p:sp>
            <p:nvSpPr>
              <p:cNvPr id="7" name="文本框 6"/>
              <p:cNvSpPr txBox="1"/>
              <p:nvPr/>
            </p:nvSpPr>
            <p:spPr>
              <a:xfrm flipH="1">
                <a:off x="3352801" y="2129896"/>
                <a:ext cx="5027141" cy="1848904"/>
              </a:xfrm>
              <a:prstGeom prst="rect">
                <a:avLst/>
              </a:prstGeom>
              <a:noFill/>
            </p:spPr>
            <p:txBody>
              <a:bodyPr wrap="square" rtlCol="0">
                <a:spAutoFit/>
              </a:bodyPr>
              <a:lstStyle/>
              <a:p>
                <a:pPr algn="ctr"/>
                <a14:m>
                  <m:oMath xmlns:m="http://schemas.openxmlformats.org/officeDocument/2006/math">
                    <m:r>
                      <a:rPr lang="en-US" altLang="zh-CN" sz="2800" i="1">
                        <a:latin typeface="Cambria Math" panose="02040503050406030204" pitchFamily="18" charset="0"/>
                        <a:ea typeface="Cambria Math" panose="02040503050406030204" pitchFamily="18" charset="0"/>
                      </a:rPr>
                      <m:t>𝑦</m:t>
                    </m:r>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5</m:t>
                    </m:r>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4</m:t>
                    </m:r>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3</m:t>
                    </m:r>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2</m:t>
                    </m:r>
                    <m:r>
                      <a:rPr lang="en-US" altLang="zh-CN" sz="2800" i="1">
                        <a:latin typeface="Cambria Math" panose="02040503050406030204" pitchFamily="18" charset="0"/>
                        <a:ea typeface="Cambria Math" panose="02040503050406030204" pitchFamily="18" charset="0"/>
                      </a:rPr>
                      <m:t>(</m:t>
                    </m:r>
                    <m:r>
                      <a:rPr lang="pt-BR"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1</m:t>
                    </m:r>
                    <m:d>
                      <m:dPr>
                        <m:ctrlPr>
                          <a:rPr lang="pt-BR" altLang="zh-CN" sz="2800" i="1">
                            <a:latin typeface="Cambria Math" panose="02040503050406030204" pitchFamily="18" charset="0"/>
                            <a:ea typeface="Cambria Math" panose="02040503050406030204" pitchFamily="18" charset="0"/>
                          </a:rPr>
                        </m:ctrlPr>
                      </m:dPr>
                      <m:e>
                        <m:r>
                          <a:rPr lang="pt-BR" altLang="zh-CN" sz="2800" i="1">
                            <a:latin typeface="Cambria Math" panose="02040503050406030204" pitchFamily="18" charset="0"/>
                            <a:ea typeface="Cambria Math" panose="02040503050406030204" pitchFamily="18" charset="0"/>
                          </a:rPr>
                          <m:t>𝑥</m:t>
                        </m:r>
                      </m:e>
                    </m:d>
                    <m:r>
                      <a:rPr lang="en-US" altLang="zh-CN" sz="2800" i="1">
                        <a:latin typeface="Cambria Math" panose="02040503050406030204" pitchFamily="18" charset="0"/>
                        <a:ea typeface="Cambria Math" panose="02040503050406030204" pitchFamily="18" charset="0"/>
                      </a:rPr>
                      <m:t>))))</m:t>
                    </m:r>
                  </m:oMath>
                </a14:m>
                <a:r>
                  <a:rPr lang="zh-CN" altLang="en-US" sz="2800" dirty="0"/>
                  <a:t> </a:t>
                </a:r>
                <a:endParaRPr lang="en-US" altLang="zh-CN" sz="2800" dirty="0"/>
              </a:p>
              <a:p>
                <a:pPr algn="ctr"/>
                <a:r>
                  <a:rPr lang="zh-CN" altLang="en-US" sz="2800" dirty="0"/>
                  <a:t> </a:t>
                </a:r>
                <a:endParaRPr lang="en-US" altLang="zh-CN" sz="2800" dirty="0"/>
              </a:p>
              <a:p>
                <a:pPr/>
                <a14:m>
                  <m:oMathPara xmlns:m="http://schemas.openxmlformats.org/officeDocument/2006/math">
                    <m:oMathParaPr>
                      <m:jc m:val="centerGroup"/>
                    </m:oMathParaPr>
                    <m:oMath xmlns:m="http://schemas.openxmlformats.org/officeDocument/2006/math">
                      <m:f>
                        <m:fPr>
                          <m:ctrlPr>
                            <a:rPr lang="en-US" altLang="zh-CN" sz="2800" i="1">
                              <a:latin typeface="Cambria Math" panose="02040503050406030204" pitchFamily="18" charset="0"/>
                            </a:rPr>
                          </m:ctrlPr>
                        </m:fPr>
                        <m:num>
                          <m:r>
                            <a:rPr lang="en-US" altLang="zh-CN" sz="2800" i="1">
                              <a:latin typeface="Cambria Math" panose="02040503050406030204" pitchFamily="18" charset="0"/>
                            </a:rPr>
                            <m:t>𝜕</m:t>
                          </m:r>
                          <m:r>
                            <a:rPr lang="en-US" altLang="zh-CN" sz="2800" i="1">
                              <a:latin typeface="Cambria Math" panose="02040503050406030204" pitchFamily="18" charset="0"/>
                            </a:rPr>
                            <m:t>𝑦</m:t>
                          </m:r>
                        </m:num>
                        <m:den>
                          <m:r>
                            <a:rPr lang="en-US" altLang="zh-CN" sz="2800" i="1">
                              <a:latin typeface="Cambria Math" panose="02040503050406030204" pitchFamily="18" charset="0"/>
                            </a:rPr>
                            <m:t>𝜕</m:t>
                          </m:r>
                          <m:r>
                            <a:rPr lang="en-US" altLang="zh-CN" sz="2800" i="1">
                              <a:latin typeface="Cambria Math" panose="02040503050406030204" pitchFamily="18" charset="0"/>
                            </a:rPr>
                            <m:t>𝑥</m:t>
                          </m:r>
                        </m:den>
                      </m:f>
                      <m:r>
                        <a:rPr lang="en-US" altLang="zh-CN" sz="2800" i="1">
                          <a:latin typeface="Cambria Math" panose="02040503050406030204" pitchFamily="18" charset="0"/>
                          <a:ea typeface="Cambria Math" panose="02040503050406030204" pitchFamily="18" charset="0"/>
                        </a:rPr>
                        <m:t>=</m:t>
                      </m:r>
                      <m:f>
                        <m:fPr>
                          <m:ctrlPr>
                            <a:rPr lang="en-US" altLang="zh-CN" sz="2800" i="1">
                              <a:latin typeface="Cambria Math" panose="02040503050406030204" pitchFamily="18" charset="0"/>
                            </a:rPr>
                          </m:ctrlPr>
                        </m:fPr>
                        <m:num>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1</m:t>
                          </m:r>
                        </m:num>
                        <m:den>
                          <m:r>
                            <a:rPr lang="en-US" altLang="zh-CN" sz="2800" i="1">
                              <a:latin typeface="Cambria Math" panose="02040503050406030204" pitchFamily="18" charset="0"/>
                            </a:rPr>
                            <m:t>𝜕</m:t>
                          </m:r>
                          <m:r>
                            <m:rPr>
                              <m:sty m:val="p"/>
                            </m:rPr>
                            <a:rPr lang="en-US" altLang="zh-CN" sz="2800" i="1">
                              <a:latin typeface="Cambria Math" panose="02040503050406030204" pitchFamily="18" charset="0"/>
                              <a:ea typeface="Cambria Math" panose="02040503050406030204" pitchFamily="18" charset="0"/>
                            </a:rPr>
                            <m:t>x</m:t>
                          </m:r>
                        </m:den>
                      </m:f>
                      <m:f>
                        <m:fPr>
                          <m:ctrlPr>
                            <a:rPr lang="en-US" altLang="zh-CN" sz="2800" i="1">
                              <a:latin typeface="Cambria Math" panose="02040503050406030204" pitchFamily="18" charset="0"/>
                            </a:rPr>
                          </m:ctrlPr>
                        </m:fPr>
                        <m:num>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2</m:t>
                          </m:r>
                        </m:num>
                        <m:den>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1</m:t>
                          </m:r>
                        </m:den>
                      </m:f>
                      <m:f>
                        <m:fPr>
                          <m:ctrlPr>
                            <a:rPr lang="en-US" altLang="zh-CN" sz="2800" i="1">
                              <a:latin typeface="Cambria Math" panose="02040503050406030204" pitchFamily="18" charset="0"/>
                            </a:rPr>
                          </m:ctrlPr>
                        </m:fPr>
                        <m:num>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3</m:t>
                          </m:r>
                        </m:num>
                        <m:den>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2</m:t>
                          </m:r>
                        </m:den>
                      </m:f>
                      <m:f>
                        <m:fPr>
                          <m:ctrlPr>
                            <a:rPr lang="en-US" altLang="zh-CN" sz="2800" i="1">
                              <a:latin typeface="Cambria Math" panose="02040503050406030204" pitchFamily="18" charset="0"/>
                            </a:rPr>
                          </m:ctrlPr>
                        </m:fPr>
                        <m:num>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4</m:t>
                          </m:r>
                        </m:num>
                        <m:den>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3</m:t>
                          </m:r>
                        </m:den>
                      </m:f>
                      <m:f>
                        <m:fPr>
                          <m:ctrlPr>
                            <a:rPr lang="en-US" altLang="zh-CN" sz="2800" i="1">
                              <a:latin typeface="Cambria Math" panose="02040503050406030204" pitchFamily="18" charset="0"/>
                            </a:rPr>
                          </m:ctrlPr>
                        </m:fPr>
                        <m:num>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5</m:t>
                          </m:r>
                        </m:num>
                        <m:den>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4</m:t>
                          </m:r>
                        </m:den>
                      </m:f>
                    </m:oMath>
                  </m:oMathPara>
                </a14:m>
                <a:endParaRPr lang="zh-CN" altLang="en-US" sz="2800" dirty="0"/>
              </a:p>
            </p:txBody>
          </p:sp>
        </mc:Choice>
        <mc:Fallback xmlns="">
          <p:sp>
            <p:nvSpPr>
              <p:cNvPr id="7" name="文本框 6"/>
              <p:cNvSpPr txBox="1">
                <a:spLocks noRot="1" noChangeAspect="1" noMove="1" noResize="1" noEditPoints="1" noAdjustHandles="1" noChangeArrowheads="1" noChangeShapeType="1" noTextEdit="1"/>
              </p:cNvSpPr>
              <p:nvPr/>
            </p:nvSpPr>
            <p:spPr>
              <a:xfrm flipH="1">
                <a:off x="3352801" y="2129896"/>
                <a:ext cx="5027141" cy="1848904"/>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244624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小结：优化问题</a:t>
            </a:r>
          </a:p>
        </p:txBody>
      </p:sp>
      <p:sp>
        <p:nvSpPr>
          <p:cNvPr id="3" name="内容占位符 2"/>
          <p:cNvSpPr>
            <a:spLocks noGrp="1"/>
          </p:cNvSpPr>
          <p:nvPr>
            <p:ph idx="1"/>
          </p:nvPr>
        </p:nvSpPr>
        <p:spPr/>
        <p:txBody>
          <a:bodyPr/>
          <a:lstStyle/>
          <a:p>
            <a:r>
              <a:rPr lang="zh-CN" altLang="en-US" dirty="0"/>
              <a:t>难点</a:t>
            </a:r>
            <a:endParaRPr lang="en-US" altLang="zh-CN" dirty="0"/>
          </a:p>
          <a:p>
            <a:pPr lvl="1"/>
            <a:r>
              <a:rPr lang="zh-CN" altLang="en-US" dirty="0"/>
              <a:t>非凸优化问题：即存在局部最优而非全局最优解，影响迭代</a:t>
            </a:r>
          </a:p>
          <a:p>
            <a:pPr lvl="1"/>
            <a:r>
              <a:rPr lang="zh-CN" altLang="en-US" dirty="0"/>
              <a:t>梯度消失问题：下层参数比较难调</a:t>
            </a:r>
            <a:endParaRPr lang="en-US" altLang="zh-CN" dirty="0"/>
          </a:p>
          <a:p>
            <a:pPr lvl="1"/>
            <a:r>
              <a:rPr lang="zh-CN" altLang="en-US" dirty="0"/>
              <a:t>参数过多，影响训练</a:t>
            </a:r>
          </a:p>
          <a:p>
            <a:pPr lvl="1"/>
            <a:r>
              <a:rPr lang="zh-CN" altLang="en-US" dirty="0"/>
              <a:t>参数解释起来比较困难</a:t>
            </a:r>
            <a:endParaRPr lang="en-US" altLang="zh-CN" dirty="0"/>
          </a:p>
          <a:p>
            <a:pPr lvl="1"/>
            <a:r>
              <a:rPr kumimoji="1" lang="zh-CN" altLang="en-US" dirty="0"/>
              <a:t>参数量比样本量还要多，过拟合严重</a:t>
            </a:r>
            <a:endParaRPr lang="en-US" altLang="zh-CN" dirty="0"/>
          </a:p>
          <a:p>
            <a:pPr lvl="1"/>
            <a:endParaRPr lang="zh-CN" altLang="en-US" dirty="0"/>
          </a:p>
          <a:p>
            <a:r>
              <a:rPr lang="zh-CN" altLang="en-US" dirty="0"/>
              <a:t>需求</a:t>
            </a:r>
          </a:p>
          <a:p>
            <a:pPr lvl="1"/>
            <a:r>
              <a:rPr lang="zh-CN" altLang="en-US" dirty="0"/>
              <a:t>计算资源要大</a:t>
            </a:r>
          </a:p>
          <a:p>
            <a:pPr lvl="1"/>
            <a:r>
              <a:rPr lang="zh-CN" altLang="en-US" dirty="0"/>
              <a:t>数据要多</a:t>
            </a:r>
          </a:p>
          <a:p>
            <a:pPr lvl="1"/>
            <a:r>
              <a:rPr lang="zh-CN" altLang="en-US" dirty="0"/>
              <a:t>算法效率要好：即收敛快</a:t>
            </a:r>
          </a:p>
        </p:txBody>
      </p:sp>
      <p:pic>
        <p:nvPicPr>
          <p:cNvPr id="4" name="图片 3">
            <a:extLst>
              <a:ext uri="{FF2B5EF4-FFF2-40B4-BE49-F238E27FC236}">
                <a16:creationId xmlns:a16="http://schemas.microsoft.com/office/drawing/2014/main" id="{EA56680C-EF7A-074A-AD93-18A1F0FF3606}"/>
              </a:ext>
            </a:extLst>
          </p:cNvPr>
          <p:cNvPicPr>
            <a:picLocks noChangeAspect="1"/>
          </p:cNvPicPr>
          <p:nvPr/>
        </p:nvPicPr>
        <p:blipFill>
          <a:blip r:embed="rId3"/>
          <a:stretch>
            <a:fillRect/>
          </a:stretch>
        </p:blipFill>
        <p:spPr>
          <a:xfrm>
            <a:off x="10160540" y="5839691"/>
            <a:ext cx="1447800" cy="561109"/>
          </a:xfrm>
          <a:prstGeom prst="rect">
            <a:avLst/>
          </a:prstGeom>
        </p:spPr>
      </p:pic>
    </p:spTree>
    <p:extLst>
      <p:ext uri="{BB962C8B-B14F-4D97-AF65-F5344CB8AC3E}">
        <p14:creationId xmlns:p14="http://schemas.microsoft.com/office/powerpoint/2010/main" val="23329677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课后练习</a:t>
            </a:r>
            <a:endParaRPr lang="zh-CN" altLang="en-US" dirty="0"/>
          </a:p>
        </p:txBody>
      </p:sp>
      <p:sp>
        <p:nvSpPr>
          <p:cNvPr id="3" name="内容占位符 2"/>
          <p:cNvSpPr>
            <a:spLocks noGrp="1"/>
          </p:cNvSpPr>
          <p:nvPr>
            <p:ph idx="1"/>
          </p:nvPr>
        </p:nvSpPr>
        <p:spPr/>
        <p:txBody>
          <a:bodyPr/>
          <a:lstStyle/>
          <a:p>
            <a:r>
              <a:rPr lang="zh-CN" altLang="en-US" dirty="0"/>
              <a:t>知识点</a:t>
            </a:r>
            <a:endParaRPr lang="en-US" altLang="zh-CN" dirty="0"/>
          </a:p>
          <a:p>
            <a:pPr lvl="1"/>
            <a:r>
              <a:rPr lang="zh-CN" altLang="en-US" dirty="0"/>
              <a:t>激活函数</a:t>
            </a:r>
            <a:endParaRPr lang="en-US" altLang="zh-CN" dirty="0"/>
          </a:p>
          <a:p>
            <a:pPr lvl="1"/>
            <a:r>
              <a:rPr lang="zh-CN" altLang="en-US" dirty="0"/>
              <a:t>误差反向传播</a:t>
            </a:r>
            <a:endParaRPr lang="en-US" altLang="zh-CN" dirty="0"/>
          </a:p>
          <a:p>
            <a:pPr lvl="1"/>
            <a:r>
              <a:rPr lang="zh-CN" altLang="en-US" dirty="0"/>
              <a:t>自动微分与计算图</a:t>
            </a:r>
            <a:endParaRPr lang="en-US" altLang="zh-CN" dirty="0"/>
          </a:p>
          <a:p>
            <a:r>
              <a:rPr lang="zh-CN" altLang="en-US" dirty="0"/>
              <a:t>编程练习</a:t>
            </a:r>
            <a:endParaRPr lang="en-US" altLang="zh-CN" dirty="0"/>
          </a:p>
          <a:p>
            <a:pPr lvl="1"/>
            <a:r>
              <a:rPr lang="zh-CN" altLang="en-US" dirty="0"/>
              <a:t>用前馈神经网络实现</a:t>
            </a:r>
            <a:r>
              <a:rPr lang="en-US" altLang="zh-CN" dirty="0"/>
              <a:t>iris</a:t>
            </a:r>
            <a:r>
              <a:rPr lang="zh-CN" altLang="en-US" dirty="0"/>
              <a:t>分类</a:t>
            </a:r>
            <a:endParaRPr lang="en-US" altLang="zh-CN" dirty="0"/>
          </a:p>
        </p:txBody>
      </p:sp>
    </p:spTree>
    <p:extLst>
      <p:ext uri="{BB962C8B-B14F-4D97-AF65-F5344CB8AC3E}">
        <p14:creationId xmlns:p14="http://schemas.microsoft.com/office/powerpoint/2010/main" val="21968064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F8536DC8-38DA-415D-B322-80783319B5E1}"/>
              </a:ext>
            </a:extLst>
          </p:cNvPr>
          <p:cNvSpPr/>
          <p:nvPr/>
        </p:nvSpPr>
        <p:spPr>
          <a:xfrm>
            <a:off x="4953000" y="3048000"/>
            <a:ext cx="3048000" cy="646331"/>
          </a:xfrm>
          <a:prstGeom prst="rect">
            <a:avLst/>
          </a:prstGeom>
        </p:spPr>
        <p:txBody>
          <a:bodyPr wrap="square">
            <a:spAutoFit/>
          </a:bodyPr>
          <a:lstStyle/>
          <a:p>
            <a:r>
              <a:rPr lang="zh-CN" altLang="en-US" sz="3600" dirty="0">
                <a:latin typeface="华文楷体" panose="02010600040101010101" pitchFamily="2" charset="-122"/>
                <a:ea typeface="华文楷体" panose="02010600040101010101" pitchFamily="2" charset="-122"/>
              </a:rPr>
              <a:t>谢  谢</a:t>
            </a:r>
            <a:endParaRPr lang="en-US" altLang="zh-CN" sz="36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78499742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03.5"/>
</p:tagLst>
</file>

<file path=ppt/tags/tag2.xml><?xml version="1.0" encoding="utf-8"?>
<p:tagLst xmlns:a="http://schemas.openxmlformats.org/drawingml/2006/main" xmlns:r="http://schemas.openxmlformats.org/officeDocument/2006/relationships" xmlns:p="http://schemas.openxmlformats.org/presentationml/2006/main">
  <p:tag name="TIMING" val="|52.7|55"/>
</p:tagLst>
</file>

<file path=ppt/tags/tag3.xml><?xml version="1.0" encoding="utf-8"?>
<p:tagLst xmlns:a="http://schemas.openxmlformats.org/drawingml/2006/main" xmlns:r="http://schemas.openxmlformats.org/officeDocument/2006/relationships" xmlns:p="http://schemas.openxmlformats.org/presentationml/2006/main">
  <p:tag name="TIMING" val="|38|6.5|9.5|5.3|0.8|2.6|2.1"/>
</p:tagLst>
</file>

<file path=ppt/tags/tag4.xml><?xml version="1.0" encoding="utf-8"?>
<p:tagLst xmlns:a="http://schemas.openxmlformats.org/drawingml/2006/main" xmlns:r="http://schemas.openxmlformats.org/officeDocument/2006/relationships" xmlns:p="http://schemas.openxmlformats.org/presentationml/2006/main">
  <p:tag name="TIMING" val="|48.8"/>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y">
  <a:themeElements>
    <a:clrScheme name="qxp">
      <a:dk1>
        <a:srgbClr val="2A4A75"/>
      </a:dk1>
      <a:lt1>
        <a:sysClr val="window" lastClr="FFFFFF"/>
      </a:lt1>
      <a:dk2>
        <a:srgbClr val="2A4A75"/>
      </a:dk2>
      <a:lt2>
        <a:srgbClr val="DEF5FA"/>
      </a:lt2>
      <a:accent1>
        <a:srgbClr val="1C314E"/>
      </a:accent1>
      <a:accent2>
        <a:srgbClr val="EB641B"/>
      </a:accent2>
      <a:accent3>
        <a:srgbClr val="DA1F28"/>
      </a:accent3>
      <a:accent4>
        <a:srgbClr val="39639D"/>
      </a:accent4>
      <a:accent5>
        <a:srgbClr val="474B78"/>
      </a:accent5>
      <a:accent6>
        <a:srgbClr val="7D3C4A"/>
      </a:accent6>
      <a:hlink>
        <a:srgbClr val="FF8119"/>
      </a:hlink>
      <a:folHlink>
        <a:srgbClr val="44B9E8"/>
      </a:folHlink>
    </a:clrScheme>
    <a:fontScheme name="myfont">
      <a:majorFont>
        <a:latin typeface="Helvetica"/>
        <a:ea typeface="微软雅黑"/>
        <a:cs typeface=""/>
      </a:majorFont>
      <a:minorFont>
        <a:latin typeface="Times New Roman"/>
        <a:ea typeface="华文楷体"/>
        <a:cs typeface=""/>
      </a:minorFont>
    </a:fontScheme>
    <a:fmtScheme name="质朴">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bodyPr wrap="none">
        <a:spAutoFit/>
      </a:bodyPr>
      <a:lstStyle>
        <a:defPPr>
          <a:defRPr sz="2400" dirty="0"/>
        </a:defPPr>
      </a:lstStyle>
    </a:spDef>
  </a:objectDefaults>
  <a:extraClrSchemeLst/>
  <a:extLst>
    <a:ext uri="{05A4C25C-085E-4340-85A3-A5531E510DB2}">
      <thm15:themeFamily xmlns:thm15="http://schemas.microsoft.com/office/thememl/2012/main" name="my" id="{2ED3758A-27AE-48C6-BC57-189806709EFF}" vid="{A766396F-A7AA-48F7-A95D-C873E59EA6D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my</Template>
  <TotalTime>18577</TotalTime>
  <Words>1812</Words>
  <Application>Microsoft Office PowerPoint</Application>
  <PresentationFormat>宽屏</PresentationFormat>
  <Paragraphs>282</Paragraphs>
  <Slides>47</Slides>
  <Notes>31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47</vt:i4>
      </vt:variant>
    </vt:vector>
  </HeadingPairs>
  <TitlesOfParts>
    <vt:vector size="59" baseType="lpstr">
      <vt:lpstr>STIX Two Math</vt:lpstr>
      <vt:lpstr>华文楷体</vt:lpstr>
      <vt:lpstr>Arial</vt:lpstr>
      <vt:lpstr>Calibri</vt:lpstr>
      <vt:lpstr>Cambria</vt:lpstr>
      <vt:lpstr>Cambria Math</vt:lpstr>
      <vt:lpstr>Helvetica</vt:lpstr>
      <vt:lpstr>Times New Roman</vt:lpstr>
      <vt:lpstr>Wingdings</vt:lpstr>
      <vt:lpstr>Wingdings 3</vt:lpstr>
      <vt:lpstr>my</vt:lpstr>
      <vt:lpstr>方程式</vt:lpstr>
      <vt:lpstr>前馈神经网络</vt:lpstr>
      <vt:lpstr>内容</vt:lpstr>
      <vt:lpstr>2. 1神经网络</vt:lpstr>
      <vt:lpstr>2.1.1 神经元</vt:lpstr>
      <vt:lpstr>生物神经元</vt:lpstr>
      <vt:lpstr>人工神经元</vt:lpstr>
      <vt:lpstr>激活函数的性质</vt:lpstr>
      <vt:lpstr>常见激活函数 – S型函数</vt:lpstr>
      <vt:lpstr>常见激活函数 - 斜坡型</vt:lpstr>
      <vt:lpstr>常见激活函数 – 复合型</vt:lpstr>
      <vt:lpstr>常见激活函数 – 复合型</vt:lpstr>
      <vt:lpstr>小结：常见激活函数及其导数</vt:lpstr>
      <vt:lpstr>2.1.2 人工神经网络</vt:lpstr>
      <vt:lpstr>人工神经网络</vt:lpstr>
      <vt:lpstr>网络结构</vt:lpstr>
      <vt:lpstr>2.2 前馈神经网络</vt:lpstr>
      <vt:lpstr>网络结构</vt:lpstr>
      <vt:lpstr>前馈网络</vt:lpstr>
      <vt:lpstr>通用近似定理</vt:lpstr>
      <vt:lpstr>应用到机器学习</vt:lpstr>
      <vt:lpstr>深层前馈神经网络 – 图像分类的例子</vt:lpstr>
      <vt:lpstr>2.2.1 参数学习</vt:lpstr>
      <vt:lpstr>参数学习</vt:lpstr>
      <vt:lpstr>参数学习</vt:lpstr>
      <vt:lpstr>如何计算梯度？</vt:lpstr>
      <vt:lpstr>2.2.2 反向传播算法</vt:lpstr>
      <vt:lpstr>矩阵微积分</vt:lpstr>
      <vt:lpstr>计算梯度</vt:lpstr>
      <vt:lpstr>反向传播算法</vt:lpstr>
      <vt:lpstr>使用反向传播算法的随机梯度下降训练过程</vt:lpstr>
      <vt:lpstr>梯度下降</vt:lpstr>
      <vt:lpstr>2.2.3 计算图与自动微分</vt:lpstr>
      <vt:lpstr>计算图与自动微分</vt:lpstr>
      <vt:lpstr>计算图</vt:lpstr>
      <vt:lpstr>自动微分</vt:lpstr>
      <vt:lpstr>Pytorch例子</vt:lpstr>
      <vt:lpstr>反向传播算法 (自动微分的反向模式）</vt:lpstr>
      <vt:lpstr>静态计算图和动态计算图</vt:lpstr>
      <vt:lpstr>如何实现？</vt:lpstr>
      <vt:lpstr>Getting started: 30 seconds to Keras</vt:lpstr>
      <vt:lpstr>深度学习的三个步骤</vt:lpstr>
      <vt:lpstr>2.2.4 优化问题</vt:lpstr>
      <vt:lpstr>优化问题</vt:lpstr>
      <vt:lpstr>优化问题</vt:lpstr>
      <vt:lpstr>小结：优化问题</vt:lpstr>
      <vt:lpstr>课后练习</vt:lpstr>
      <vt:lpstr>PowerPoint 演示文稿</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Branding Roadmap Template</dc:title>
  <dc:creator>Xipeng Qiu</dc:creator>
  <cp:lastModifiedBy>袁</cp:lastModifiedBy>
  <cp:revision>2154</cp:revision>
  <dcterms:created xsi:type="dcterms:W3CDTF">2009-03-19T21:17:53Z</dcterms:created>
  <dcterms:modified xsi:type="dcterms:W3CDTF">2025-03-03T05:15:46Z</dcterms:modified>
</cp:coreProperties>
</file>