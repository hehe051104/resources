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1315" r:id="rId5"/>
    <p:sldId id="1320" r:id="rId6"/>
    <p:sldId id="1343" r:id="rId7"/>
    <p:sldId id="1344" r:id="rId8"/>
    <p:sldId id="1342" r:id="rId9"/>
    <p:sldId id="1329" r:id="rId10"/>
    <p:sldId id="1330" r:id="rId11"/>
    <p:sldId id="1359" r:id="rId12"/>
    <p:sldId id="1331" r:id="rId13"/>
    <p:sldId id="1332" r:id="rId14"/>
    <p:sldId id="1333" r:id="rId15"/>
    <p:sldId id="1334" r:id="rId16"/>
    <p:sldId id="1335" r:id="rId17"/>
    <p:sldId id="1336" r:id="rId18"/>
    <p:sldId id="1337" r:id="rId19"/>
    <p:sldId id="1338" r:id="rId20"/>
    <p:sldId id="1339" r:id="rId21"/>
    <p:sldId id="1340" r:id="rId22"/>
    <p:sldId id="1341" r:id="rId23"/>
    <p:sldId id="1345" r:id="rId24"/>
    <p:sldId id="1346" r:id="rId25"/>
    <p:sldId id="1347" r:id="rId26"/>
    <p:sldId id="1348" r:id="rId27"/>
    <p:sldId id="1349" r:id="rId28"/>
    <p:sldId id="1350" r:id="rId29"/>
    <p:sldId id="1351" r:id="rId30"/>
    <p:sldId id="1352" r:id="rId31"/>
    <p:sldId id="1353" r:id="rId32"/>
    <p:sldId id="1354" r:id="rId33"/>
    <p:sldId id="1355" r:id="rId34"/>
    <p:sldId id="1356" r:id="rId35"/>
    <p:sldId id="1357" r:id="rId36"/>
    <p:sldId id="447" r:id="rId37"/>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78980" autoAdjust="0"/>
  </p:normalViewPr>
  <p:slideViewPr>
    <p:cSldViewPr showGuides="1">
      <p:cViewPr varScale="1">
        <p:scale>
          <a:sx n="126" d="100"/>
          <a:sy n="126" d="100"/>
        </p:scale>
        <p:origin x="1460" y="68"/>
      </p:cViewPr>
      <p:guideLst>
        <p:guide orient="horz" pos="2160"/>
        <p:guide pos="3840"/>
      </p:guideLst>
    </p:cSldViewPr>
  </p:slideViewPr>
  <p:notesTextViewPr>
    <p:cViewPr>
      <p:scale>
        <a:sx n="3" d="2"/>
        <a:sy n="3" d="2"/>
      </p:scale>
      <p:origin x="0" y="0"/>
    </p:cViewPr>
  </p:notesTextViewPr>
  <p:sorterViewPr>
    <p:cViewPr>
      <p:scale>
        <a:sx n="66" d="100"/>
        <a:sy n="66" d="100"/>
      </p:scale>
      <p:origin x="0" y="0"/>
    </p:cViewPr>
  </p:sorterViewPr>
  <p:notesViewPr>
    <p:cSldViewPr>
      <p:cViewPr varScale="1">
        <p:scale>
          <a:sx n="55" d="100"/>
          <a:sy n="55" d="100"/>
        </p:scale>
        <p:origin x="2880" y="9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lstStyle>
            <a:lvl1pPr eaLnBrk="1" hangingPunct="1">
              <a:defRPr sz="1200">
                <a:latin typeface="Calibri" panose="020F0502020204030204" pitchFamily="34" charset="0"/>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lstStyle>
            <a:lvl1pPr algn="r" eaLnBrk="1" hangingPunct="1">
              <a:defRPr sz="1200">
                <a:latin typeface="Calibri" panose="020F0502020204030204" pitchFamily="34" charset="0"/>
              </a:defRPr>
            </a:lvl1pPr>
          </a:lstStyle>
          <a:p>
            <a:pPr>
              <a:defRPr/>
            </a:pPr>
            <a:fld id="{683E5292-C197-4B29-8ABD-C7AEB5E0B154}" type="datetimeFigureOut">
              <a:rPr lang="en-US" altLang="zh-CN"/>
            </a:fld>
            <a:endParaRPr lang="en-US" altLang="zh-C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lstStyle>
            <a:lvl1pPr eaLnBrk="1" hangingPunct="1">
              <a:defRPr sz="1200">
                <a:latin typeface="Calibri" panose="020F0502020204030204" pitchFamily="34" charset="0"/>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atin typeface="Calibri" panose="020F0502020204030204" pitchFamily="34" charset="0"/>
              </a:defRPr>
            </a:lvl1pPr>
          </a:lstStyle>
          <a:p>
            <a:pPr>
              <a:defRPr/>
            </a:pPr>
            <a:fld id="{B4C119E0-CEE4-4FF8-83B2-DC856A2C17CC}"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err="1"/>
              <a:t>Deepseek,GPT</a:t>
            </a:r>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人为设计。主要通过三个矩阵建立</a:t>
            </a:r>
            <a:r>
              <a:rPr lang="en-US" altLang="zh-CN" dirty="0"/>
              <a:t>token</a:t>
            </a:r>
            <a:r>
              <a:rPr lang="zh-CN" altLang="en-US" dirty="0"/>
              <a:t>之间的关联，并通过海里样本数据不断拟合其中的规律。 </a:t>
            </a:r>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spTree>
      <p:nvGrpSpPr>
        <p:cNvPr id="1" name=""/>
        <p:cNvGrpSpPr/>
        <p:nvPr/>
      </p:nvGrpSpPr>
      <p:grpSpPr>
        <a:xfrm>
          <a:off x="0" y="0"/>
          <a:ext cx="0" cy="0"/>
          <a:chOff x="0" y="0"/>
          <a:chExt cx="0" cy="0"/>
        </a:xfrm>
      </p:grpSpPr>
      <p:sp>
        <p:nvSpPr>
          <p:cNvPr id="4" name="Rectangle 10"/>
          <p:cNvSpPr/>
          <p:nvPr/>
        </p:nvSpPr>
        <p:spPr>
          <a:xfrm>
            <a:off x="999067" y="2438405"/>
            <a:ext cx="9753600" cy="1956197"/>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5" name="Rectangle 11"/>
          <p:cNvSpPr/>
          <p:nvPr/>
        </p:nvSpPr>
        <p:spPr>
          <a:xfrm>
            <a:off x="304800" y="673897"/>
            <a:ext cx="7213600" cy="719623"/>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sz="2700">
              <a:solidFill>
                <a:srgbClr val="FFFFFF"/>
              </a:solidFill>
            </a:endParaRPr>
          </a:p>
        </p:txBody>
      </p:sp>
      <p:sp>
        <p:nvSpPr>
          <p:cNvPr id="6" name="Rectangle 14"/>
          <p:cNvSpPr/>
          <p:nvPr/>
        </p:nvSpPr>
        <p:spPr>
          <a:xfrm>
            <a:off x="999067" y="2438405"/>
            <a:ext cx="304800" cy="1956197"/>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7" name="Rectangle 15"/>
          <p:cNvSpPr/>
          <p:nvPr/>
        </p:nvSpPr>
        <p:spPr>
          <a:xfrm>
            <a:off x="359807" y="665099"/>
            <a:ext cx="187820" cy="73123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dirty="0">
              <a:solidFill>
                <a:srgbClr val="FFFFFF"/>
              </a:solidFill>
            </a:endParaRPr>
          </a:p>
        </p:txBody>
      </p:sp>
      <p:sp>
        <p:nvSpPr>
          <p:cNvPr id="8" name="Title 7"/>
          <p:cNvSpPr>
            <a:spLocks noGrp="1"/>
          </p:cNvSpPr>
          <p:nvPr>
            <p:ph type="ctrTitle"/>
          </p:nvPr>
        </p:nvSpPr>
        <p:spPr>
          <a:xfrm>
            <a:off x="1418167" y="2676528"/>
            <a:ext cx="9144000" cy="1514475"/>
          </a:xfrm>
        </p:spPr>
        <p:txBody>
          <a:bodyPr anchor="ctr"/>
          <a:lstStyle>
            <a:lvl1pPr algn="ctr">
              <a:defRPr sz="2700" baseline="0">
                <a:solidFill>
                  <a:schemeClr val="tx1"/>
                </a:solidFill>
                <a:latin typeface="+mj-lt"/>
                <a:ea typeface="+mj-ea"/>
              </a:defRPr>
            </a:lvl1pPr>
          </a:lstStyle>
          <a:p>
            <a:r>
              <a:rPr lang="zh-CN" altLang="en-US"/>
              <a:t>单击此处编辑母版标题样式</a:t>
            </a:r>
            <a:endParaRPr lang="en-US" dirty="0"/>
          </a:p>
        </p:txBody>
      </p:sp>
      <p:sp>
        <p:nvSpPr>
          <p:cNvPr id="9" name="Subtitle 8"/>
          <p:cNvSpPr>
            <a:spLocks noGrp="1"/>
          </p:cNvSpPr>
          <p:nvPr>
            <p:ph type="subTitle" idx="1"/>
          </p:nvPr>
        </p:nvSpPr>
        <p:spPr>
          <a:xfrm>
            <a:off x="563006" y="726666"/>
            <a:ext cx="6853796" cy="568735"/>
          </a:xfrm>
        </p:spPr>
        <p:txBody>
          <a:bodyPr anchor="ctr"/>
          <a:lstStyle>
            <a:lvl1pPr marL="0" indent="0" algn="ctr">
              <a:buNone/>
              <a:defRPr sz="1800" baseline="0">
                <a:solidFill>
                  <a:schemeClr val="tx2"/>
                </a:solidFill>
                <a:latin typeface="+mn-lt"/>
                <a:ea typeface="+mn-ea"/>
                <a:cs typeface="+mj-cs"/>
              </a:defRPr>
            </a:lvl1pPr>
            <a:lvl2pPr marL="257175" indent="0" algn="ctr">
              <a:buNone/>
            </a:lvl2pPr>
            <a:lvl3pPr marL="514350" indent="0" algn="ctr">
              <a:buNone/>
            </a:lvl3pPr>
            <a:lvl4pPr marL="771525" indent="0" algn="ctr">
              <a:buNone/>
            </a:lvl4pPr>
            <a:lvl5pPr marL="1028700" indent="0" algn="ctr">
              <a:buNone/>
            </a:lvl5pPr>
            <a:lvl6pPr marL="1285875" indent="0" algn="ctr">
              <a:buNone/>
            </a:lvl6pPr>
            <a:lvl7pPr marL="1543050" indent="0" algn="ctr">
              <a:buNone/>
            </a:lvl7pPr>
            <a:lvl8pPr marL="1800225" indent="0" algn="ctr">
              <a:buNone/>
            </a:lvl8pPr>
            <a:lvl9pPr marL="2057400" indent="0" algn="ctr">
              <a:buNone/>
            </a:lvl9pPr>
          </a:lstStyle>
          <a:p>
            <a:r>
              <a:rPr lang="zh-CN" altLang="en-US"/>
              <a:t>单击此处编辑母版副标题样式</a:t>
            </a:r>
            <a:endParaRPr lang="en-US" dirty="0"/>
          </a:p>
        </p:txBody>
      </p:sp>
      <p:sp>
        <p:nvSpPr>
          <p:cNvPr id="25" name="Text Placeholder 24"/>
          <p:cNvSpPr>
            <a:spLocks noGrp="1"/>
          </p:cNvSpPr>
          <p:nvPr>
            <p:ph type="body" sz="quarter" idx="10" hasCustomPrompt="1"/>
          </p:nvPr>
        </p:nvSpPr>
        <p:spPr>
          <a:xfrm>
            <a:off x="2946403" y="4800600"/>
            <a:ext cx="6737351" cy="1600200"/>
          </a:xfrm>
        </p:spPr>
        <p:txBody>
          <a:bodyPr/>
          <a:lstStyle>
            <a:lvl1pPr marL="0" indent="0" algn="ctr">
              <a:buNone/>
              <a:defRPr sz="1800" baseline="0">
                <a:solidFill>
                  <a:schemeClr val="accent1">
                    <a:lumMod val="60000"/>
                    <a:lumOff val="40000"/>
                  </a:schemeClr>
                </a:solidFill>
                <a:latin typeface="+mn-lt"/>
                <a:ea typeface="+mn-ea"/>
              </a:defRPr>
            </a:lvl1pPr>
          </a:lstStyle>
          <a:p>
            <a:pPr lvl="0"/>
            <a:r>
              <a:rPr lang="zh-CN" altLang="en-US"/>
              <a:t>编辑母版文本样式</a:t>
            </a:r>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p:cSld name="Subsection">
    <p:spTree>
      <p:nvGrpSpPr>
        <p:cNvPr id="1" name=""/>
        <p:cNvGrpSpPr/>
        <p:nvPr/>
      </p:nvGrpSpPr>
      <p:grpSpPr>
        <a:xfrm>
          <a:off x="0" y="0"/>
          <a:ext cx="0" cy="0"/>
          <a:chOff x="0" y="0"/>
          <a:chExt cx="0" cy="0"/>
        </a:xfrm>
      </p:grpSpPr>
      <p:sp>
        <p:nvSpPr>
          <p:cNvPr id="4" name="Rectangle 10"/>
          <p:cNvSpPr/>
          <p:nvPr/>
        </p:nvSpPr>
        <p:spPr>
          <a:xfrm>
            <a:off x="999067" y="2438405"/>
            <a:ext cx="9753600" cy="1956197"/>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6" name="Rectangle 14"/>
          <p:cNvSpPr/>
          <p:nvPr/>
        </p:nvSpPr>
        <p:spPr>
          <a:xfrm>
            <a:off x="999067" y="2438405"/>
            <a:ext cx="304800" cy="1956197"/>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5" name="Title 7"/>
          <p:cNvSpPr>
            <a:spLocks noGrp="1"/>
          </p:cNvSpPr>
          <p:nvPr>
            <p:ph type="ctrTitle"/>
          </p:nvPr>
        </p:nvSpPr>
        <p:spPr>
          <a:xfrm>
            <a:off x="1418167" y="2676528"/>
            <a:ext cx="9144000" cy="1514475"/>
          </a:xfrm>
        </p:spPr>
        <p:txBody>
          <a:bodyPr anchor="ctr"/>
          <a:lstStyle>
            <a:lvl1pPr algn="ctr">
              <a:defRPr sz="2700" baseline="0">
                <a:solidFill>
                  <a:schemeClr val="tx1"/>
                </a:solidFill>
                <a:latin typeface="+mj-lt"/>
                <a:ea typeface="+mj-ea"/>
              </a:defRPr>
            </a:lvl1pPr>
          </a:lstStyle>
          <a:p>
            <a:r>
              <a:rPr lang="zh-CN" altLang="en-US"/>
              <a:t>单击此处编辑母版标题样式</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单击此处编辑母版标题样式</a:t>
            </a:r>
            <a:endParaRPr lang="zh-CN" altLang="en-US"/>
          </a:p>
        </p:txBody>
      </p:sp>
      <p:sp>
        <p:nvSpPr>
          <p:cNvPr id="8" name="Text Placeholder 12"/>
          <p:cNvSpPr>
            <a:spLocks noGrp="1"/>
          </p:cNvSpPr>
          <p:nvPr>
            <p:ph idx="1" hasCustomPrompt="1"/>
          </p:nvPr>
        </p:nvSpPr>
        <p:spPr bwMode="auto">
          <a:xfrm>
            <a:off x="609600" y="1066800"/>
            <a:ext cx="10972800" cy="506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Just Title">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7" name="Text Placeholder 12"/>
          <p:cNvSpPr>
            <a:spLocks noGrp="1"/>
          </p:cNvSpPr>
          <p:nvPr>
            <p:ph idx="1" hasCustomPrompt="1"/>
          </p:nvPr>
        </p:nvSpPr>
        <p:spPr bwMode="auto">
          <a:xfrm>
            <a:off x="609600" y="1066800"/>
            <a:ext cx="5486400" cy="506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p:txBody>
      </p:sp>
      <p:sp>
        <p:nvSpPr>
          <p:cNvPr id="8" name="Text Placeholder 12"/>
          <p:cNvSpPr>
            <a:spLocks noGrp="1"/>
          </p:cNvSpPr>
          <p:nvPr>
            <p:ph idx="10" hasCustomPrompt="1"/>
          </p:nvPr>
        </p:nvSpPr>
        <p:spPr bwMode="auto">
          <a:xfrm>
            <a:off x="6248400" y="1066800"/>
            <a:ext cx="5334000" cy="506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p:txBody>
      </p:sp>
      <p:sp>
        <p:nvSpPr>
          <p:cNvPr id="3" name="标题 2"/>
          <p:cNvSpPr>
            <a:spLocks noGrp="1"/>
          </p:cNvSpPr>
          <p:nvPr>
            <p:ph type="title"/>
          </p:nvPr>
        </p:nvSpPr>
        <p:spPr/>
        <p:txBody>
          <a:bodyPr/>
          <a:lstStyle/>
          <a:p>
            <a:r>
              <a:rPr lang="zh-CN" altLang="en-US"/>
              <a:t>单击此处编辑母版标题样式</a:t>
            </a:r>
            <a:endParaRPr lang="zh-CN" altLang="en-US"/>
          </a:p>
        </p:txBody>
      </p:sp>
      <p:cxnSp>
        <p:nvCxnSpPr>
          <p:cNvPr id="6" name="直接连接符 5"/>
          <p:cNvCxnSpPr/>
          <p:nvPr/>
        </p:nvCxnSpPr>
        <p:spPr>
          <a:xfrm>
            <a:off x="6172200" y="1066800"/>
            <a:ext cx="0" cy="51816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两栏内容-图">
    <p:spTree>
      <p:nvGrpSpPr>
        <p:cNvPr id="1" name=""/>
        <p:cNvGrpSpPr/>
        <p:nvPr/>
      </p:nvGrpSpPr>
      <p:grpSpPr>
        <a:xfrm>
          <a:off x="0" y="0"/>
          <a:ext cx="0" cy="0"/>
          <a:chOff x="0" y="0"/>
          <a:chExt cx="0" cy="0"/>
        </a:xfrm>
      </p:grpSpPr>
      <p:sp>
        <p:nvSpPr>
          <p:cNvPr id="7" name="Text Placeholder 12"/>
          <p:cNvSpPr>
            <a:spLocks noGrp="1"/>
          </p:cNvSpPr>
          <p:nvPr>
            <p:ph idx="1" hasCustomPrompt="1"/>
          </p:nvPr>
        </p:nvSpPr>
        <p:spPr bwMode="auto">
          <a:xfrm>
            <a:off x="609600" y="1066800"/>
            <a:ext cx="5486400" cy="506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p:txBody>
      </p:sp>
      <p:sp>
        <p:nvSpPr>
          <p:cNvPr id="3" name="标题 2"/>
          <p:cNvSpPr>
            <a:spLocks noGrp="1"/>
          </p:cNvSpPr>
          <p:nvPr>
            <p:ph type="title"/>
          </p:nvPr>
        </p:nvSpPr>
        <p:spPr/>
        <p:txBody>
          <a:bodyPr/>
          <a:lstStyle/>
          <a:p>
            <a:r>
              <a:rPr lang="zh-CN" altLang="en-US"/>
              <a:t>单击此处编辑母版标题样式</a:t>
            </a:r>
            <a:endParaRPr lang="zh-CN" altLang="en-US"/>
          </a:p>
        </p:txBody>
      </p:sp>
      <p:cxnSp>
        <p:nvCxnSpPr>
          <p:cNvPr id="4" name="直接连接符 3"/>
          <p:cNvCxnSpPr/>
          <p:nvPr/>
        </p:nvCxnSpPr>
        <p:spPr>
          <a:xfrm>
            <a:off x="6172200" y="1066800"/>
            <a:ext cx="0" cy="51816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p:cSld name="empty">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End">
    <p:spTree>
      <p:nvGrpSpPr>
        <p:cNvPr id="1" name=""/>
        <p:cNvGrpSpPr/>
        <p:nvPr/>
      </p:nvGrpSpPr>
      <p:grpSpPr>
        <a:xfrm>
          <a:off x="0" y="0"/>
          <a:ext cx="0" cy="0"/>
          <a:chOff x="0" y="0"/>
          <a:chExt cx="0" cy="0"/>
        </a:xfrm>
      </p:grpSpPr>
      <p:sp>
        <p:nvSpPr>
          <p:cNvPr id="4" name="Rectangle 3"/>
          <p:cNvSpPr/>
          <p:nvPr userDrawn="1"/>
        </p:nvSpPr>
        <p:spPr>
          <a:xfrm>
            <a:off x="4876800" y="3048003"/>
            <a:ext cx="3048000" cy="646331"/>
          </a:xfrm>
          <a:prstGeom prst="rect">
            <a:avLst/>
          </a:prstGeom>
        </p:spPr>
        <p:txBody>
          <a:bodyPr wrap="square">
            <a:spAutoFit/>
          </a:bodyPr>
          <a:lstStyle/>
          <a:p>
            <a:r>
              <a:rPr lang="zh-CN" altLang="en-US" sz="3600" dirty="0">
                <a:latin typeface="华文楷体" panose="02010600040101010101" pitchFamily="2" charset="-122"/>
                <a:ea typeface="华文楷体" panose="02010600040101010101" pitchFamily="2" charset="-122"/>
              </a:rPr>
              <a:t>谢  谢</a:t>
            </a:r>
            <a:endParaRPr lang="en-US" altLang="zh-CN" sz="3600" dirty="0">
              <a:latin typeface="华文楷体" panose="02010600040101010101" pitchFamily="2" charset="-122"/>
              <a:ea typeface="华文楷体" panose="0201060004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152400"/>
            <a:ext cx="10972800" cy="842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dirty="0"/>
              <a:t>单击此处编辑母版标题样式</a:t>
            </a:r>
            <a:endParaRPr lang="en-US" altLang="zh-CN" dirty="0"/>
          </a:p>
        </p:txBody>
      </p:sp>
      <p:sp>
        <p:nvSpPr>
          <p:cNvPr id="1027" name="Text Placeholder 12"/>
          <p:cNvSpPr>
            <a:spLocks noGrp="1"/>
          </p:cNvSpPr>
          <p:nvPr>
            <p:ph type="body" idx="1"/>
          </p:nvPr>
        </p:nvSpPr>
        <p:spPr bwMode="auto">
          <a:xfrm>
            <a:off x="609600" y="1066801"/>
            <a:ext cx="10972800" cy="5181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en-US" altLang="zh-CN" dirty="0"/>
          </a:p>
        </p:txBody>
      </p:sp>
      <p:sp>
        <p:nvSpPr>
          <p:cNvPr id="1032" name="Straight Connector 28"/>
          <p:cNvSpPr>
            <a:spLocks noChangeShapeType="1"/>
          </p:cNvSpPr>
          <p:nvPr/>
        </p:nvSpPr>
        <p:spPr bwMode="auto">
          <a:xfrm>
            <a:off x="609600" y="990600"/>
            <a:ext cx="10972800" cy="0"/>
          </a:xfrm>
          <a:prstGeom prst="line">
            <a:avLst/>
          </a:prstGeom>
          <a:noFill/>
          <a:ln w="9525" algn="ctr">
            <a:solidFill>
              <a:schemeClr val="accent2"/>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5" name="Straight Connector 27"/>
          <p:cNvSpPr>
            <a:spLocks noChangeShapeType="1"/>
          </p:cNvSpPr>
          <p:nvPr/>
        </p:nvSpPr>
        <p:spPr bwMode="auto">
          <a:xfrm>
            <a:off x="609600" y="6353175"/>
            <a:ext cx="10972800" cy="0"/>
          </a:xfrm>
          <a:prstGeom prst="line">
            <a:avLst/>
          </a:prstGeom>
          <a:noFill/>
          <a:ln w="9525" algn="ctr">
            <a:solidFill>
              <a:schemeClr val="accent2"/>
            </a:solidFill>
            <a:prstDash val="dash"/>
            <a:round/>
          </a:ln>
          <a:extLst>
            <a:ext uri="{909E8E84-426E-40DD-AFC4-6F175D3DCCD1}">
              <a14:hiddenFill xmlns:a14="http://schemas.microsoft.com/office/drawing/2010/main">
                <a:noFill/>
              </a14:hiddenFill>
            </a:ext>
          </a:extLst>
        </p:spPr>
        <p:txBody>
          <a:bodyPr/>
          <a:lstStyle/>
          <a:p>
            <a:endParaRPr lang="zh-CN" altLang="en-US" sz="1050">
              <a:latin typeface="+mn-ea"/>
              <a:ea typeface="+mn-ea"/>
            </a:endParaRPr>
          </a:p>
        </p:txBody>
      </p:sp>
      <p:sp>
        <p:nvSpPr>
          <p:cNvPr id="8" name="Straight Connector 27"/>
          <p:cNvSpPr>
            <a:spLocks noChangeShapeType="1"/>
          </p:cNvSpPr>
          <p:nvPr/>
        </p:nvSpPr>
        <p:spPr bwMode="auto">
          <a:xfrm>
            <a:off x="609600" y="6353175"/>
            <a:ext cx="10972800" cy="0"/>
          </a:xfrm>
          <a:prstGeom prst="line">
            <a:avLst/>
          </a:prstGeom>
          <a:noFill/>
          <a:ln w="9525" algn="ctr">
            <a:solidFill>
              <a:schemeClr val="accent2"/>
            </a:solidFill>
            <a:prstDash val="dash"/>
            <a:round/>
          </a:ln>
        </p:spPr>
        <p:txBody>
          <a:bodyPr/>
          <a:lstStyle/>
          <a:p>
            <a:endParaRPr lang="zh-CN" altLang="en-US" sz="1400">
              <a:latin typeface="+mn-ea"/>
              <a:ea typeface="+mn-ea"/>
            </a:endParaRPr>
          </a:p>
        </p:txBody>
      </p:sp>
      <p:sp>
        <p:nvSpPr>
          <p:cNvPr id="9" name="Footer Placeholder 2"/>
          <p:cNvSpPr txBox="1"/>
          <p:nvPr/>
        </p:nvSpPr>
        <p:spPr>
          <a:xfrm>
            <a:off x="4064000" y="6362437"/>
            <a:ext cx="3962400" cy="365125"/>
          </a:xfrm>
          <a:prstGeom prst="rect">
            <a:avLst/>
          </a:prstGeom>
        </p:spPr>
        <p:txBody>
          <a:bodyPr vert="horz" wrap="square" lIns="68580" tIns="34290" rIns="68580" bIns="34290" numCol="1" anchor="t" anchorCtr="0" compatLnSpc="1"/>
          <a:lstStyle>
            <a:defPPr>
              <a:defRPr lang="en-US"/>
            </a:defPPr>
            <a:lvl1pPr algn="r" rtl="0" eaLnBrk="1" fontAlgn="base" hangingPunct="1">
              <a:spcBef>
                <a:spcPct val="0"/>
              </a:spcBef>
              <a:spcAft>
                <a:spcPct val="0"/>
              </a:spcAft>
              <a:defRPr sz="1400" kern="1200">
                <a:solidFill>
                  <a:schemeClr val="tx2"/>
                </a:solidFill>
                <a:latin typeface="Cambria" panose="02040503050406030204" pitchFamily="18"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r>
              <a:rPr lang="en-US" altLang="zh-CN" sz="1400" dirty="0">
                <a:latin typeface="+mn-ea"/>
                <a:ea typeface="+mn-ea"/>
              </a:rPr>
              <a:t>《</a:t>
            </a:r>
            <a:r>
              <a:rPr lang="zh-CN" altLang="en-US" sz="1400" dirty="0">
                <a:latin typeface="+mn-ea"/>
                <a:ea typeface="+mn-ea"/>
              </a:rPr>
              <a:t>神经网络与深度学习</a:t>
            </a:r>
            <a:r>
              <a:rPr lang="en-US" altLang="zh-CN" sz="1400" dirty="0">
                <a:latin typeface="+mn-ea"/>
                <a:ea typeface="+mn-ea"/>
              </a:rPr>
              <a:t>》</a:t>
            </a:r>
            <a:endParaRPr lang="zh-CN" altLang="zh-CN" sz="1400" dirty="0">
              <a:latin typeface="+mn-ea"/>
              <a:ea typeface="+mn-ea"/>
            </a:endParaRPr>
          </a:p>
        </p:txBody>
      </p:sp>
      <p:sp>
        <p:nvSpPr>
          <p:cNvPr id="11" name="Straight Connector 27"/>
          <p:cNvSpPr>
            <a:spLocks noChangeShapeType="1"/>
          </p:cNvSpPr>
          <p:nvPr userDrawn="1"/>
        </p:nvSpPr>
        <p:spPr bwMode="auto">
          <a:xfrm>
            <a:off x="609600" y="6353175"/>
            <a:ext cx="10972800" cy="0"/>
          </a:xfrm>
          <a:prstGeom prst="line">
            <a:avLst/>
          </a:prstGeom>
          <a:noFill/>
          <a:ln w="9525" algn="ctr">
            <a:solidFill>
              <a:schemeClr val="accent2"/>
            </a:solidFill>
            <a:prstDash val="dash"/>
            <a:round/>
          </a:ln>
          <a:extLst>
            <a:ext uri="{909E8E84-426E-40DD-AFC4-6F175D3DCCD1}">
              <a14:hiddenFill xmlns:a14="http://schemas.microsoft.com/office/drawing/2010/main">
                <a:noFill/>
              </a14:hiddenFill>
            </a:ext>
          </a:extLst>
        </p:spPr>
        <p:txBody>
          <a:bodyPr/>
          <a:lstStyle/>
          <a:p>
            <a:endParaRPr lang="zh-CN" altLang="en-US" sz="1400">
              <a:latin typeface="+mn-ea"/>
              <a:ea typeface="+mn-ea"/>
            </a:endParaRPr>
          </a:p>
        </p:txBody>
      </p:sp>
      <p:sp>
        <p:nvSpPr>
          <p:cNvPr id="13" name="Rectangle 17"/>
          <p:cNvSpPr/>
          <p:nvPr userDrawn="1"/>
        </p:nvSpPr>
        <p:spPr>
          <a:xfrm>
            <a:off x="10972800" y="6362437"/>
            <a:ext cx="375424" cy="307777"/>
          </a:xfrm>
          <a:prstGeom prst="rect">
            <a:avLst/>
          </a:prstGeom>
        </p:spPr>
        <p:txBody>
          <a:bodyPr wrap="none">
            <a:spAutoFit/>
          </a:bodyPr>
          <a:lstStyle/>
          <a:p>
            <a:pPr>
              <a:defRPr/>
            </a:pPr>
            <a:fld id="{7A0AC270-0923-4589-A51D-6091E7C5371F}" type="slidenum">
              <a:rPr lang="zh-CN" altLang="en-US" sz="1400" kern="1200" smtClean="0">
                <a:solidFill>
                  <a:schemeClr val="tx2"/>
                </a:solidFill>
                <a:latin typeface="+mn-ea"/>
                <a:ea typeface="+mn-ea"/>
                <a:cs typeface="Arial" panose="020B0604020202020204" pitchFamily="34" charset="0"/>
              </a:rPr>
            </a:fld>
            <a:endParaRPr lang="en-US" altLang="zh-CN" sz="1400" kern="1200" dirty="0">
              <a:solidFill>
                <a:schemeClr val="tx2"/>
              </a:solidFill>
              <a:latin typeface="+mn-ea"/>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lvl1pPr algn="l" rtl="0" eaLnBrk="1" fontAlgn="base" hangingPunct="1">
        <a:spcBef>
          <a:spcPct val="0"/>
        </a:spcBef>
        <a:spcAft>
          <a:spcPct val="0"/>
        </a:spcAft>
        <a:defRPr sz="2400" kern="1200">
          <a:solidFill>
            <a:schemeClr val="tx2"/>
          </a:solidFill>
          <a:latin typeface="+mj-lt"/>
          <a:ea typeface="+mj-ea"/>
          <a:cs typeface="+mj-cs"/>
        </a:defRPr>
      </a:lvl1pPr>
      <a:lvl2pPr algn="l" rtl="0" eaLnBrk="1" fontAlgn="base" hangingPunct="1">
        <a:spcBef>
          <a:spcPct val="0"/>
        </a:spcBef>
        <a:spcAft>
          <a:spcPct val="0"/>
        </a:spcAft>
        <a:defRPr sz="2025">
          <a:solidFill>
            <a:schemeClr val="tx2"/>
          </a:solidFill>
          <a:latin typeface="Calibri" panose="020F0502020204030204" pitchFamily="34" charset="0"/>
        </a:defRPr>
      </a:lvl2pPr>
      <a:lvl3pPr algn="l" rtl="0" eaLnBrk="1" fontAlgn="base" hangingPunct="1">
        <a:spcBef>
          <a:spcPct val="0"/>
        </a:spcBef>
        <a:spcAft>
          <a:spcPct val="0"/>
        </a:spcAft>
        <a:defRPr sz="2025">
          <a:solidFill>
            <a:schemeClr val="tx2"/>
          </a:solidFill>
          <a:latin typeface="Calibri" panose="020F0502020204030204" pitchFamily="34" charset="0"/>
        </a:defRPr>
      </a:lvl3pPr>
      <a:lvl4pPr algn="l" rtl="0" eaLnBrk="1" fontAlgn="base" hangingPunct="1">
        <a:spcBef>
          <a:spcPct val="0"/>
        </a:spcBef>
        <a:spcAft>
          <a:spcPct val="0"/>
        </a:spcAft>
        <a:defRPr sz="2025">
          <a:solidFill>
            <a:schemeClr val="tx2"/>
          </a:solidFill>
          <a:latin typeface="Calibri" panose="020F0502020204030204" pitchFamily="34" charset="0"/>
        </a:defRPr>
      </a:lvl4pPr>
      <a:lvl5pPr algn="l" rtl="0" eaLnBrk="1" fontAlgn="base" hangingPunct="1">
        <a:spcBef>
          <a:spcPct val="0"/>
        </a:spcBef>
        <a:spcAft>
          <a:spcPct val="0"/>
        </a:spcAft>
        <a:defRPr sz="2025">
          <a:solidFill>
            <a:schemeClr val="tx2"/>
          </a:solidFill>
          <a:latin typeface="Calibri" panose="020F0502020204030204" pitchFamily="34" charset="0"/>
        </a:defRPr>
      </a:lvl5pPr>
      <a:lvl6pPr marL="257175" algn="l" rtl="0" eaLnBrk="1" fontAlgn="base" hangingPunct="1">
        <a:spcBef>
          <a:spcPct val="0"/>
        </a:spcBef>
        <a:spcAft>
          <a:spcPct val="0"/>
        </a:spcAft>
        <a:defRPr sz="1800">
          <a:solidFill>
            <a:schemeClr val="tx2"/>
          </a:solidFill>
          <a:latin typeface="Calibri" panose="020F0502020204030204" pitchFamily="34" charset="0"/>
        </a:defRPr>
      </a:lvl6pPr>
      <a:lvl7pPr marL="514350" algn="l" rtl="0" eaLnBrk="1" fontAlgn="base" hangingPunct="1">
        <a:spcBef>
          <a:spcPct val="0"/>
        </a:spcBef>
        <a:spcAft>
          <a:spcPct val="0"/>
        </a:spcAft>
        <a:defRPr sz="1800">
          <a:solidFill>
            <a:schemeClr val="tx2"/>
          </a:solidFill>
          <a:latin typeface="Calibri" panose="020F0502020204030204" pitchFamily="34" charset="0"/>
        </a:defRPr>
      </a:lvl7pPr>
      <a:lvl8pPr marL="771525" algn="l" rtl="0" eaLnBrk="1" fontAlgn="base" hangingPunct="1">
        <a:spcBef>
          <a:spcPct val="0"/>
        </a:spcBef>
        <a:spcAft>
          <a:spcPct val="0"/>
        </a:spcAft>
        <a:defRPr sz="1800">
          <a:solidFill>
            <a:schemeClr val="tx2"/>
          </a:solidFill>
          <a:latin typeface="Calibri" panose="020F0502020204030204" pitchFamily="34" charset="0"/>
        </a:defRPr>
      </a:lvl8pPr>
      <a:lvl9pPr marL="1028700" algn="l" rtl="0" eaLnBrk="1" fontAlgn="base" hangingPunct="1">
        <a:spcBef>
          <a:spcPct val="0"/>
        </a:spcBef>
        <a:spcAft>
          <a:spcPct val="0"/>
        </a:spcAft>
        <a:defRPr sz="1800">
          <a:solidFill>
            <a:schemeClr val="tx2"/>
          </a:solidFill>
          <a:latin typeface="Calibri" panose="020F0502020204030204" pitchFamily="34" charset="0"/>
        </a:defRPr>
      </a:lvl9pPr>
    </p:titleStyle>
    <p:bodyStyle>
      <a:lvl1pPr marL="153670" indent="-153670" algn="l" rtl="0" eaLnBrk="1" fontAlgn="base" hangingPunct="1">
        <a:spcBef>
          <a:spcPts val="340"/>
        </a:spcBef>
        <a:spcAft>
          <a:spcPct val="0"/>
        </a:spcAft>
        <a:buClr>
          <a:schemeClr val="accent1"/>
        </a:buClr>
        <a:buSzPct val="76000"/>
        <a:buFont typeface="Wingdings 3" panose="05040102010807070707" pitchFamily="18" charset="2"/>
        <a:buChar char=""/>
        <a:defRPr lang="en-US" altLang="zh-CN" sz="2400" kern="1200" baseline="0" dirty="0" smtClean="0">
          <a:solidFill>
            <a:srgbClr val="AD470F"/>
          </a:solidFill>
          <a:latin typeface="+mn-lt"/>
          <a:ea typeface="+mn-ea"/>
          <a:cs typeface="Arial" panose="020B0604020202020204" pitchFamily="34" charset="0"/>
        </a:defRPr>
      </a:lvl1pPr>
      <a:lvl2pPr marL="307975" indent="-153670" algn="l" rtl="0" eaLnBrk="1" fontAlgn="base" hangingPunct="1">
        <a:spcBef>
          <a:spcPts val="280"/>
        </a:spcBef>
        <a:spcAft>
          <a:spcPct val="0"/>
        </a:spcAft>
        <a:buClr>
          <a:schemeClr val="accent2"/>
        </a:buClr>
        <a:buSzPct val="76000"/>
        <a:buFont typeface="Wingdings 3" panose="05040102010807070707" pitchFamily="18" charset="2"/>
        <a:buChar char=""/>
        <a:defRPr sz="2100" kern="1200" baseline="0">
          <a:solidFill>
            <a:schemeClr val="tx2"/>
          </a:solidFill>
          <a:latin typeface="+mn-lt"/>
          <a:ea typeface="+mn-ea"/>
          <a:cs typeface="+mn-cs"/>
        </a:defRPr>
      </a:lvl2pPr>
      <a:lvl3pPr marL="462280" indent="-128905" algn="l" rtl="0" eaLnBrk="1" fontAlgn="base" hangingPunct="1">
        <a:spcBef>
          <a:spcPts val="280"/>
        </a:spcBef>
        <a:spcAft>
          <a:spcPct val="0"/>
        </a:spcAft>
        <a:buClr>
          <a:srgbClr val="BCBCBC"/>
        </a:buClr>
        <a:buSzPct val="76000"/>
        <a:buFont typeface="Wingdings 3" panose="05040102010807070707" pitchFamily="18" charset="2"/>
        <a:buChar char=""/>
        <a:defRPr sz="1800" kern="1200" baseline="0">
          <a:solidFill>
            <a:schemeClr val="tx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15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257175" algn="l" rtl="0" eaLnBrk="1" latinLnBrk="0" hangingPunct="1">
        <a:defRPr kumimoji="0" kern="1200">
          <a:solidFill>
            <a:schemeClr val="tx1"/>
          </a:solidFill>
          <a:latin typeface="+mn-lt"/>
          <a:ea typeface="+mn-ea"/>
          <a:cs typeface="+mn-cs"/>
        </a:defRPr>
      </a:lvl2pPr>
      <a:lvl3pPr marL="514350" algn="l" rtl="0" eaLnBrk="1" latinLnBrk="0" hangingPunct="1">
        <a:defRPr kumimoji="0" kern="1200">
          <a:solidFill>
            <a:schemeClr val="tx1"/>
          </a:solidFill>
          <a:latin typeface="+mn-lt"/>
          <a:ea typeface="+mn-ea"/>
          <a:cs typeface="+mn-cs"/>
        </a:defRPr>
      </a:lvl3pPr>
      <a:lvl4pPr marL="771525" algn="l" rtl="0" eaLnBrk="1" latinLnBrk="0" hangingPunct="1">
        <a:defRPr kumimoji="0" kern="1200">
          <a:solidFill>
            <a:schemeClr val="tx1"/>
          </a:solidFill>
          <a:latin typeface="+mn-lt"/>
          <a:ea typeface="+mn-ea"/>
          <a:cs typeface="+mn-cs"/>
        </a:defRPr>
      </a:lvl4pPr>
      <a:lvl5pPr marL="1028700" algn="l" rtl="0" eaLnBrk="1" latinLnBrk="0" hangingPunct="1">
        <a:defRPr kumimoji="0" kern="1200">
          <a:solidFill>
            <a:schemeClr val="tx1"/>
          </a:solidFill>
          <a:latin typeface="+mn-lt"/>
          <a:ea typeface="+mn-ea"/>
          <a:cs typeface="+mn-cs"/>
        </a:defRPr>
      </a:lvl5pPr>
      <a:lvl6pPr marL="1285875" algn="l" rtl="0" eaLnBrk="1" latinLnBrk="0" hangingPunct="1">
        <a:defRPr kumimoji="0" kern="1200">
          <a:solidFill>
            <a:schemeClr val="tx1"/>
          </a:solidFill>
          <a:latin typeface="+mn-lt"/>
          <a:ea typeface="+mn-ea"/>
          <a:cs typeface="+mn-cs"/>
        </a:defRPr>
      </a:lvl6pPr>
      <a:lvl7pPr marL="1543050" algn="l" rtl="0" eaLnBrk="1" latinLnBrk="0" hangingPunct="1">
        <a:defRPr kumimoji="0" kern="1200">
          <a:solidFill>
            <a:schemeClr val="tx1"/>
          </a:solidFill>
          <a:latin typeface="+mn-lt"/>
          <a:ea typeface="+mn-ea"/>
          <a:cs typeface="+mn-cs"/>
        </a:defRPr>
      </a:lvl7pPr>
      <a:lvl8pPr marL="1800225" algn="l" rtl="0" eaLnBrk="1" latinLnBrk="0" hangingPunct="1">
        <a:defRPr kumimoji="0" kern="1200">
          <a:solidFill>
            <a:schemeClr val="tx1"/>
          </a:solidFill>
          <a:latin typeface="+mn-lt"/>
          <a:ea typeface="+mn-ea"/>
          <a:cs typeface="+mn-cs"/>
        </a:defRPr>
      </a:lvl8pPr>
      <a:lvl9pPr marL="20574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hyperlink" Target="mailto:chao910904@suda.edu.cn" TargetMode="External"/><Relationship Id="rId1" Type="http://schemas.openxmlformats.org/officeDocument/2006/relationships/hyperlink" Target="https://nndl.github.io/"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hyperlink" Target="https://bbycroft.net/llm" TargetMode="External"/><Relationship Id="rId1" Type="http://schemas.openxmlformats.org/officeDocument/2006/relationships/hyperlink" Target="https://www.bilibili.com/video/BV16pTJz9EE3/?spm_id_from=333.788.recommend_more_video.0"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0.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3.xml"/><Relationship Id="rId2" Type="http://schemas.openxmlformats.org/officeDocument/2006/relationships/image" Target="../media/image16.png"/><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2.png"/><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2.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3.xml"/><Relationship Id="rId2" Type="http://schemas.openxmlformats.org/officeDocument/2006/relationships/image" Target="../media/image40.png"/><Relationship Id="rId1"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image" Target="../media/image41.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6.png"/><Relationship Id="rId1" Type="http://schemas.openxmlformats.org/officeDocument/2006/relationships/image" Target="../media/image45.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7.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9.png"/><Relationship Id="rId1" Type="http://schemas.openxmlformats.org/officeDocument/2006/relationships/image" Target="../media/image48.png"/></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54.png"/><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50.png"/></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55.png"/><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50.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3.xml"/><Relationship Id="rId2" Type="http://schemas.openxmlformats.org/officeDocument/2006/relationships/image" Target="../media/image57.png"/><Relationship Id="rId1" Type="http://schemas.openxmlformats.org/officeDocument/2006/relationships/image" Target="../media/image5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p:txBody>
          <a:bodyPr/>
          <a:lstStyle/>
          <a:p>
            <a:r>
              <a:rPr lang="en-US" altLang="zh-CN" dirty="0"/>
              <a:t>Transformer</a:t>
            </a:r>
            <a:r>
              <a:rPr lang="zh-CN" altLang="en-US" dirty="0"/>
              <a:t>架构</a:t>
            </a:r>
            <a:endParaRPr lang="zh-CN" altLang="en-US" dirty="0"/>
          </a:p>
        </p:txBody>
      </p:sp>
      <p:sp>
        <p:nvSpPr>
          <p:cNvPr id="6" name="副标题 5"/>
          <p:cNvSpPr>
            <a:spLocks noGrp="1"/>
          </p:cNvSpPr>
          <p:nvPr>
            <p:ph type="subTitle" idx="1"/>
          </p:nvPr>
        </p:nvSpPr>
        <p:spPr/>
        <p:txBody>
          <a:bodyPr/>
          <a:lstStyle/>
          <a:p>
            <a:r>
              <a:rPr lang="en-US" altLang="zh-CN"/>
              <a:t>《</a:t>
            </a:r>
            <a:r>
              <a:rPr lang="zh-CN" altLang="en-US"/>
              <a:t>神经网络与深度学习</a:t>
            </a:r>
            <a:r>
              <a:rPr lang="en-US" altLang="zh-CN"/>
              <a:t>》</a:t>
            </a:r>
            <a:endParaRPr lang="zh-CN" altLang="en-US" dirty="0"/>
          </a:p>
        </p:txBody>
      </p:sp>
      <p:sp>
        <p:nvSpPr>
          <p:cNvPr id="15" name="Text Placeholder 14"/>
          <p:cNvSpPr>
            <a:spLocks noGrp="1"/>
          </p:cNvSpPr>
          <p:nvPr>
            <p:ph type="body" sz="quarter" idx="10"/>
          </p:nvPr>
        </p:nvSpPr>
        <p:spPr>
          <a:xfrm>
            <a:off x="5943600" y="4800600"/>
            <a:ext cx="3740154" cy="771530"/>
          </a:xfrm>
        </p:spPr>
        <p:txBody>
          <a:bodyPr/>
          <a:lstStyle/>
          <a:p>
            <a:r>
              <a:rPr lang="zh-CN" altLang="en-US" dirty="0">
                <a:hlinkClick r:id="rId1"/>
              </a:rPr>
              <a:t>主讲人：袁亚超</a:t>
            </a:r>
            <a:endParaRPr lang="en-US" altLang="zh-CN" dirty="0"/>
          </a:p>
          <a:p>
            <a:r>
              <a:rPr lang="en-US" altLang="zh-CN">
                <a:hlinkClick r:id="rId2"/>
              </a:rPr>
              <a:t>chao910904@suda.edu.cn</a:t>
            </a:r>
            <a:endParaRPr lang="en-US" altLang="zh-CN">
              <a:hlinkClick r:id="" action="ppaction://noactio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endParaRPr lang="zh-CN" altLang="en-US" dirty="0"/>
          </a:p>
        </p:txBody>
      </p:sp>
      <p:sp>
        <p:nvSpPr>
          <p:cNvPr id="3" name="内容占位符 2"/>
          <p:cNvSpPr>
            <a:spLocks noGrp="1"/>
          </p:cNvSpPr>
          <p:nvPr>
            <p:ph idx="1"/>
          </p:nvPr>
        </p:nvSpPr>
        <p:spPr/>
        <p:txBody>
          <a:bodyPr/>
          <a:lstStyle/>
          <a:p>
            <a:r>
              <a:rPr lang="en-US" altLang="zh-CN" dirty="0"/>
              <a:t>Transformer </a:t>
            </a:r>
            <a:endParaRPr lang="en-US" altLang="zh-CN" dirty="0"/>
          </a:p>
          <a:p>
            <a:pPr lvl="1"/>
            <a:r>
              <a:rPr lang="zh-CN" altLang="en-US" dirty="0"/>
              <a:t>输入</a:t>
            </a:r>
            <a:endParaRPr lang="en-US" altLang="zh-CN" dirty="0"/>
          </a:p>
          <a:p>
            <a:pPr lvl="1"/>
            <a:r>
              <a:rPr lang="en-US" altLang="zh-CN" dirty="0"/>
              <a:t>Transformer block</a:t>
            </a:r>
            <a:endParaRPr lang="en-US" altLang="zh-CN" dirty="0"/>
          </a:p>
          <a:p>
            <a:pPr lvl="1"/>
            <a:r>
              <a:rPr lang="zh-CN" altLang="en-US" dirty="0"/>
              <a:t>输出</a:t>
            </a: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参考资料</a:t>
            </a:r>
            <a:endParaRPr lang="zh-CN" altLang="en-US" dirty="0"/>
          </a:p>
        </p:txBody>
      </p:sp>
      <p:sp>
        <p:nvSpPr>
          <p:cNvPr id="3" name="内容占位符 2"/>
          <p:cNvSpPr>
            <a:spLocks noGrp="1"/>
          </p:cNvSpPr>
          <p:nvPr>
            <p:ph idx="1"/>
          </p:nvPr>
        </p:nvSpPr>
        <p:spPr/>
        <p:txBody>
          <a:bodyPr/>
          <a:lstStyle/>
          <a:p>
            <a:r>
              <a:rPr lang="zh-CN" altLang="en-US" dirty="0"/>
              <a:t>陈兴聊</a:t>
            </a:r>
            <a:r>
              <a:rPr lang="en-US" altLang="zh-CN" dirty="0" err="1"/>
              <a:t>AI:Transformer</a:t>
            </a:r>
            <a:r>
              <a:rPr lang="en-US" altLang="zh-CN" dirty="0"/>
              <a:t> (PPT</a:t>
            </a:r>
            <a:r>
              <a:rPr lang="zh-CN" altLang="en-US" dirty="0"/>
              <a:t>内容主要来源</a:t>
            </a:r>
            <a:r>
              <a:rPr lang="en-US" altLang="zh-CN" dirty="0"/>
              <a:t>)</a:t>
            </a:r>
            <a:endParaRPr lang="en-US" altLang="zh-CN" dirty="0"/>
          </a:p>
          <a:p>
            <a:pPr lvl="1"/>
            <a:r>
              <a:rPr lang="en-US" altLang="zh-CN" dirty="0">
                <a:hlinkClick r:id="rId1"/>
              </a:rPr>
              <a:t>https://www.bilibili.com/video/BV16pTJz9EE3/?spm_id_from=333.788.recommend_more_video.0</a:t>
            </a:r>
            <a:endParaRPr lang="en-US" altLang="zh-CN" dirty="0"/>
          </a:p>
          <a:p>
            <a:r>
              <a:rPr lang="en-US" altLang="zh-CN" dirty="0"/>
              <a:t>LLM visualization by Brendan </a:t>
            </a:r>
            <a:r>
              <a:rPr lang="en-US" altLang="zh-CN" dirty="0" err="1"/>
              <a:t>Bycroft</a:t>
            </a:r>
            <a:endParaRPr lang="en-US" altLang="zh-CN" dirty="0"/>
          </a:p>
          <a:p>
            <a:pPr lvl="1"/>
            <a:r>
              <a:rPr lang="en-US" altLang="zh-CN" dirty="0">
                <a:hlinkClick r:id="rId2"/>
              </a:rPr>
              <a:t>https://bbycroft.net/llm</a:t>
            </a:r>
            <a:endParaRPr lang="en-US" altLang="zh-CN" dirty="0"/>
          </a:p>
          <a:p>
            <a:r>
              <a:rPr lang="zh-CN" altLang="en-US" dirty="0"/>
              <a:t>李宏毅</a:t>
            </a:r>
            <a:r>
              <a:rPr lang="en-US" altLang="zh-CN" dirty="0"/>
              <a:t>Transformer</a:t>
            </a:r>
            <a:endParaRPr lang="en-US" altLang="zh-CN" dirty="0"/>
          </a:p>
          <a:p>
            <a:pPr lvl="1"/>
            <a:r>
              <a:rPr lang="en-US" altLang="zh-CN" dirty="0"/>
              <a:t>https://www.bilibili.com/video/BV18PQAYbEkh/?spm_id_from=333.337.search-card.all.click&amp;vd_source=24705baef40cd7ad01c3b6c2f7f0db3c</a:t>
            </a:r>
            <a:endParaRPr lang="en-US" altLang="zh-CN" dirty="0"/>
          </a:p>
          <a:p>
            <a:endParaRPr lang="en-US" altLang="zh-CN" dirty="0"/>
          </a:p>
          <a:p>
            <a:endParaRPr lang="en-US" altLang="zh-CN" dirty="0"/>
          </a:p>
          <a:p>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Transformer</a:t>
            </a:r>
            <a:endParaRPr lang="zh-CN" altLang="en-US" dirty="0"/>
          </a:p>
        </p:txBody>
      </p:sp>
      <p:pic>
        <p:nvPicPr>
          <p:cNvPr id="1026" name="Picture 2" descr="âattention mechanism Transformerâçå¾çæç´¢ç»æ"/>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28800" y="1524000"/>
            <a:ext cx="5237286" cy="4656324"/>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5664631" y="386090"/>
            <a:ext cx="4572000" cy="523220"/>
          </a:xfrm>
          <a:prstGeom prst="rect">
            <a:avLst/>
          </a:prstGeom>
        </p:spPr>
        <p:txBody>
          <a:bodyPr>
            <a:spAutoFit/>
          </a:bodyPr>
          <a:lstStyle/>
          <a:p>
            <a:r>
              <a:rPr lang="en-US" altLang="zh-CN" sz="1400" dirty="0"/>
              <a:t>https://mchromiak.github.io/articles/2017/Sep/12/Transformer-Attention-is-all-you-need/#.W90QB5Mzabg</a:t>
            </a:r>
            <a:endParaRPr lang="zh-CN" alt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GPTv1</a:t>
            </a:r>
            <a:endParaRPr lang="zh-CN" altLang="en-US" dirty="0"/>
          </a:p>
        </p:txBody>
      </p:sp>
      <p:sp>
        <p:nvSpPr>
          <p:cNvPr id="3" name="内容占位符 2"/>
          <p:cNvSpPr>
            <a:spLocks noGrp="1"/>
          </p:cNvSpPr>
          <p:nvPr>
            <p:ph idx="1"/>
          </p:nvPr>
        </p:nvSpPr>
        <p:spPr/>
        <p:txBody>
          <a:bodyPr/>
          <a:lstStyle/>
          <a:p>
            <a:endParaRPr lang="zh-CN" altLang="en-US"/>
          </a:p>
        </p:txBody>
      </p:sp>
      <p:sp>
        <p:nvSpPr>
          <p:cNvPr id="4" name="AutoShape 2" descr="GPT网络架构&amp;GPT模型结构_架构_03"/>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6" name="图片 5"/>
          <p:cNvPicPr>
            <a:picLocks noChangeAspect="1"/>
          </p:cNvPicPr>
          <p:nvPr/>
        </p:nvPicPr>
        <p:blipFill>
          <a:blip r:embed="rId1"/>
          <a:stretch>
            <a:fillRect/>
          </a:stretch>
        </p:blipFill>
        <p:spPr>
          <a:xfrm>
            <a:off x="2133600" y="1905000"/>
            <a:ext cx="8690885" cy="3554320"/>
          </a:xfrm>
          <a:prstGeom prst="rect">
            <a:avLst/>
          </a:prstGeom>
        </p:spPr>
      </p:pic>
      <p:sp>
        <p:nvSpPr>
          <p:cNvPr id="7" name="文本框 6"/>
          <p:cNvSpPr txBox="1"/>
          <p:nvPr/>
        </p:nvSpPr>
        <p:spPr>
          <a:xfrm>
            <a:off x="3810000" y="5990838"/>
            <a:ext cx="7869718" cy="276999"/>
          </a:xfrm>
          <a:prstGeom prst="rect">
            <a:avLst/>
          </a:prstGeom>
          <a:noFill/>
        </p:spPr>
        <p:txBody>
          <a:bodyPr wrap="none" rtlCol="0">
            <a:spAutoFit/>
          </a:bodyPr>
          <a:lstStyle/>
          <a:p>
            <a:r>
              <a:rPr lang="en-US" altLang="zh-CN" sz="1200" dirty="0"/>
              <a:t>Radford, Alec and Karthik Narasimhan. “Improving Language Understanding by Generative Pre-Training.” (2018).</a:t>
            </a:r>
            <a:endParaRPr lang="zh-CN" alt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DeepSeek-R1</a:t>
            </a:r>
            <a:endParaRPr lang="zh-CN" altLang="en-US" dirty="0"/>
          </a:p>
        </p:txBody>
      </p:sp>
      <p:sp>
        <p:nvSpPr>
          <p:cNvPr id="3" name="内容占位符 2"/>
          <p:cNvSpPr>
            <a:spLocks noGrp="1"/>
          </p:cNvSpPr>
          <p:nvPr>
            <p:ph idx="1"/>
          </p:nvPr>
        </p:nvSpPr>
        <p:spPr/>
        <p:txBody>
          <a:bodyPr/>
          <a:lstStyle/>
          <a:p>
            <a:endParaRPr lang="zh-CN" altLang="en-US"/>
          </a:p>
        </p:txBody>
      </p:sp>
      <p:pic>
        <p:nvPicPr>
          <p:cNvPr id="1028" name="Picture 4" descr="DeepSeek-R1模型架构解读_deepseek r1模型结构-CSDN博客"/>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0" y="1428750"/>
            <a:ext cx="7620000" cy="4000500"/>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6705600" y="5990838"/>
            <a:ext cx="4725974" cy="276999"/>
          </a:xfrm>
          <a:prstGeom prst="rect">
            <a:avLst/>
          </a:prstGeom>
          <a:noFill/>
        </p:spPr>
        <p:txBody>
          <a:bodyPr wrap="none" rtlCol="0">
            <a:spAutoFit/>
          </a:bodyPr>
          <a:lstStyle/>
          <a:p>
            <a:r>
              <a:rPr lang="en-US" altLang="zh-CN" sz="1200" dirty="0"/>
              <a:t>DeepSeek-R1 incentivizes reasoning in LLMs through,Nature,2025</a:t>
            </a:r>
            <a:endParaRPr lang="zh-CN" alt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a:t>
            </a:r>
            <a:r>
              <a:rPr lang="zh-CN" altLang="en-US" dirty="0"/>
              <a:t>个组成部分：输入，</a:t>
            </a:r>
            <a:r>
              <a:rPr lang="en-AU" altLang="zh-CN" dirty="0"/>
              <a:t>Transformer block</a:t>
            </a:r>
            <a:r>
              <a:rPr lang="zh-CN" altLang="en-US" dirty="0"/>
              <a:t>，输出</a:t>
            </a:r>
            <a:endParaRPr lang="zh-CN" altLang="en-US" dirty="0"/>
          </a:p>
        </p:txBody>
      </p:sp>
      <p:pic>
        <p:nvPicPr>
          <p:cNvPr id="7" name="内容占位符 6"/>
          <p:cNvPicPr>
            <a:picLocks noGrp="1" noChangeAspect="1"/>
          </p:cNvPicPr>
          <p:nvPr>
            <p:ph idx="1"/>
          </p:nvPr>
        </p:nvPicPr>
        <p:blipFill>
          <a:blip r:embed="rId1"/>
          <a:stretch>
            <a:fillRect/>
          </a:stretch>
        </p:blipFill>
        <p:spPr>
          <a:xfrm>
            <a:off x="2109430" y="1066800"/>
            <a:ext cx="7973139" cy="5062538"/>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a:t>
            </a:r>
            <a:endParaRPr lang="zh-CN" altLang="en-US" dirty="0"/>
          </a:p>
        </p:txBody>
      </p:sp>
      <p:sp>
        <p:nvSpPr>
          <p:cNvPr id="3" name="内容占位符 2"/>
          <p:cNvSpPr>
            <a:spLocks noGrp="1"/>
          </p:cNvSpPr>
          <p:nvPr>
            <p:ph idx="1"/>
          </p:nvPr>
        </p:nvSpPr>
        <p:spPr/>
        <p:txBody>
          <a:bodyPr/>
          <a:lstStyle/>
          <a:p>
            <a:r>
              <a:rPr lang="zh-CN" altLang="en-US" dirty="0"/>
              <a:t>将人类语言转换为计算机可以理解的形式</a:t>
            </a:r>
            <a:endParaRPr lang="en-US" altLang="zh-CN" dirty="0"/>
          </a:p>
          <a:p>
            <a:r>
              <a:rPr lang="en-US" altLang="zh-CN" dirty="0"/>
              <a:t>Token</a:t>
            </a:r>
            <a:r>
              <a:rPr lang="zh-CN" altLang="en-US" dirty="0"/>
              <a:t>是</a:t>
            </a:r>
            <a:r>
              <a:rPr lang="en-US" altLang="zh-CN" dirty="0"/>
              <a:t>ai</a:t>
            </a:r>
            <a:r>
              <a:rPr lang="zh-CN" altLang="en-US" dirty="0"/>
              <a:t>处理人类语言的最基本单位</a:t>
            </a:r>
            <a:endParaRPr lang="en-US" altLang="zh-CN" dirty="0"/>
          </a:p>
          <a:p>
            <a:pPr marL="154305" lvl="1" indent="0">
              <a:buNone/>
            </a:pPr>
            <a:endParaRPr lang="en-US" altLang="zh-CN" dirty="0"/>
          </a:p>
          <a:p>
            <a:pPr lvl="1"/>
            <a:endParaRPr lang="en-US" altLang="zh-CN" dirty="0"/>
          </a:p>
          <a:p>
            <a:pPr lvl="1"/>
            <a:endParaRPr lang="en-US" altLang="zh-CN" dirty="0"/>
          </a:p>
          <a:p>
            <a:pPr lvl="1"/>
            <a:endParaRPr lang="zh-CN" altLang="en-US" dirty="0"/>
          </a:p>
        </p:txBody>
      </p:sp>
      <p:pic>
        <p:nvPicPr>
          <p:cNvPr id="5" name="图片 4"/>
          <p:cNvPicPr>
            <a:picLocks noChangeAspect="1"/>
          </p:cNvPicPr>
          <p:nvPr/>
        </p:nvPicPr>
        <p:blipFill rotWithShape="1">
          <a:blip r:embed="rId1"/>
          <a:srcRect b="2491"/>
          <a:stretch>
            <a:fillRect/>
          </a:stretch>
        </p:blipFill>
        <p:spPr>
          <a:xfrm>
            <a:off x="2514600" y="2133600"/>
            <a:ext cx="7467600" cy="378535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a:t>
            </a:r>
            <a:endParaRPr lang="zh-CN" altLang="en-US" dirty="0"/>
          </a:p>
        </p:txBody>
      </p:sp>
      <p:sp>
        <p:nvSpPr>
          <p:cNvPr id="3" name="内容占位符 2"/>
          <p:cNvSpPr>
            <a:spLocks noGrp="1"/>
          </p:cNvSpPr>
          <p:nvPr>
            <p:ph idx="1"/>
          </p:nvPr>
        </p:nvSpPr>
        <p:spPr/>
        <p:txBody>
          <a:bodyPr/>
          <a:lstStyle/>
          <a:p>
            <a:r>
              <a:rPr lang="zh-CN" altLang="en-US" dirty="0"/>
              <a:t>每种大模型的分词方式和</a:t>
            </a:r>
            <a:r>
              <a:rPr lang="en-US" altLang="zh-CN" dirty="0"/>
              <a:t>token</a:t>
            </a:r>
            <a:r>
              <a:rPr lang="zh-CN" altLang="en-US" dirty="0"/>
              <a:t>不同</a:t>
            </a:r>
            <a:endParaRPr lang="en-US" altLang="zh-CN" dirty="0"/>
          </a:p>
          <a:p>
            <a:r>
              <a:rPr lang="zh-CN" altLang="en-US" dirty="0"/>
              <a:t>比如，</a:t>
            </a:r>
            <a:r>
              <a:rPr lang="en-US" altLang="zh-CN" dirty="0" err="1"/>
              <a:t>deepseek</a:t>
            </a:r>
            <a:r>
              <a:rPr lang="zh-CN" altLang="en-US" dirty="0"/>
              <a:t>当前版本一共收录了</a:t>
            </a:r>
            <a:r>
              <a:rPr lang="en-US" altLang="zh-CN" dirty="0"/>
              <a:t>129,280 tokens</a:t>
            </a:r>
            <a:endParaRPr lang="zh-CN" altLang="en-US" dirty="0"/>
          </a:p>
        </p:txBody>
      </p:sp>
      <p:pic>
        <p:nvPicPr>
          <p:cNvPr id="7" name="图片 6"/>
          <p:cNvPicPr>
            <a:picLocks noChangeAspect="1"/>
          </p:cNvPicPr>
          <p:nvPr/>
        </p:nvPicPr>
        <p:blipFill>
          <a:blip r:embed="rId1"/>
          <a:stretch>
            <a:fillRect/>
          </a:stretch>
        </p:blipFill>
        <p:spPr>
          <a:xfrm>
            <a:off x="3352800" y="2667000"/>
            <a:ext cx="5190476" cy="234285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a:t>
            </a:r>
            <a:endParaRPr lang="zh-CN" altLang="en-US" dirty="0"/>
          </a:p>
        </p:txBody>
      </p:sp>
      <p:sp>
        <p:nvSpPr>
          <p:cNvPr id="3" name="内容占位符 2"/>
          <p:cNvSpPr>
            <a:spLocks noGrp="1"/>
          </p:cNvSpPr>
          <p:nvPr>
            <p:ph idx="1"/>
          </p:nvPr>
        </p:nvSpPr>
        <p:spPr/>
        <p:txBody>
          <a:bodyPr/>
          <a:lstStyle/>
          <a:p>
            <a:r>
              <a:rPr lang="zh-CN" altLang="en-US" dirty="0"/>
              <a:t>词汇表</a:t>
            </a:r>
            <a:endParaRPr lang="en-US" altLang="zh-CN" dirty="0"/>
          </a:p>
          <a:p>
            <a:r>
              <a:rPr lang="zh-CN" altLang="en-US" dirty="0"/>
              <a:t>词元：是模型理解和生成语言的最小单位，决定了模型输入输出的可识别范围。</a:t>
            </a:r>
            <a:endParaRPr lang="zh-CN" altLang="en-US" dirty="0"/>
          </a:p>
        </p:txBody>
      </p:sp>
      <p:pic>
        <p:nvPicPr>
          <p:cNvPr id="5" name="图片 4"/>
          <p:cNvPicPr>
            <a:picLocks noChangeAspect="1"/>
          </p:cNvPicPr>
          <p:nvPr/>
        </p:nvPicPr>
        <p:blipFill>
          <a:blip r:embed="rId1"/>
          <a:stretch>
            <a:fillRect/>
          </a:stretch>
        </p:blipFill>
        <p:spPr>
          <a:xfrm>
            <a:off x="4419600" y="2121426"/>
            <a:ext cx="2939128" cy="40793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a:t>
            </a:r>
            <a:endParaRPr lang="zh-CN" altLang="en-US" dirty="0"/>
          </a:p>
        </p:txBody>
      </p:sp>
      <p:sp>
        <p:nvSpPr>
          <p:cNvPr id="3" name="内容占位符 2"/>
          <p:cNvSpPr>
            <a:spLocks noGrp="1"/>
          </p:cNvSpPr>
          <p:nvPr>
            <p:ph idx="1"/>
          </p:nvPr>
        </p:nvSpPr>
        <p:spPr/>
        <p:txBody>
          <a:bodyPr/>
          <a:lstStyle/>
          <a:p>
            <a:r>
              <a:rPr lang="zh-CN" altLang="en-US" dirty="0"/>
              <a:t>词嵌入向量</a:t>
            </a:r>
            <a:endParaRPr lang="zh-CN" altLang="en-US" dirty="0"/>
          </a:p>
        </p:txBody>
      </p:sp>
      <p:pic>
        <p:nvPicPr>
          <p:cNvPr id="5" name="图片 4"/>
          <p:cNvPicPr>
            <a:picLocks noChangeAspect="1"/>
          </p:cNvPicPr>
          <p:nvPr/>
        </p:nvPicPr>
        <p:blipFill>
          <a:blip r:embed="rId1"/>
          <a:stretch>
            <a:fillRect/>
          </a:stretch>
        </p:blipFill>
        <p:spPr>
          <a:xfrm>
            <a:off x="7239000" y="789264"/>
            <a:ext cx="2743200" cy="5437705"/>
          </a:xfrm>
          <a:prstGeom prst="rect">
            <a:avLst/>
          </a:prstGeom>
        </p:spPr>
      </p:pic>
      <p:sp>
        <p:nvSpPr>
          <p:cNvPr id="6" name="文本框 5"/>
          <p:cNvSpPr txBox="1"/>
          <p:nvPr/>
        </p:nvSpPr>
        <p:spPr>
          <a:xfrm flipH="1">
            <a:off x="1143000" y="1828800"/>
            <a:ext cx="2545081" cy="369332"/>
          </a:xfrm>
          <a:prstGeom prst="rect">
            <a:avLst/>
          </a:prstGeom>
          <a:noFill/>
        </p:spPr>
        <p:txBody>
          <a:bodyPr wrap="square" rtlCol="0">
            <a:spAutoFit/>
          </a:bodyPr>
          <a:lstStyle/>
          <a:p>
            <a:r>
              <a:rPr lang="zh-CN" altLang="en-US" dirty="0"/>
              <a:t>用  苹果  手机  拍  苹果</a:t>
            </a:r>
            <a:endParaRPr lang="en-US" altLang="zh-CN" dirty="0"/>
          </a:p>
        </p:txBody>
      </p:sp>
      <p:sp>
        <p:nvSpPr>
          <p:cNvPr id="7" name="文本框 6"/>
          <p:cNvSpPr txBox="1"/>
          <p:nvPr/>
        </p:nvSpPr>
        <p:spPr>
          <a:xfrm>
            <a:off x="1066800" y="2177324"/>
            <a:ext cx="569387" cy="369332"/>
          </a:xfrm>
          <a:prstGeom prst="rect">
            <a:avLst/>
          </a:prstGeom>
          <a:noFill/>
        </p:spPr>
        <p:txBody>
          <a:bodyPr wrap="none" rtlCol="0">
            <a:spAutoFit/>
          </a:bodyPr>
          <a:lstStyle/>
          <a:p>
            <a:r>
              <a:rPr lang="en-US" altLang="zh-CN" dirty="0"/>
              <a:t>642</a:t>
            </a:r>
            <a:endParaRPr lang="zh-CN" altLang="en-US" dirty="0"/>
          </a:p>
        </p:txBody>
      </p:sp>
      <p:sp>
        <p:nvSpPr>
          <p:cNvPr id="8" name="文本框 7"/>
          <p:cNvSpPr txBox="1"/>
          <p:nvPr/>
        </p:nvSpPr>
        <p:spPr>
          <a:xfrm>
            <a:off x="1524000" y="1562762"/>
            <a:ext cx="825867" cy="369332"/>
          </a:xfrm>
          <a:prstGeom prst="rect">
            <a:avLst/>
          </a:prstGeom>
          <a:noFill/>
        </p:spPr>
        <p:txBody>
          <a:bodyPr wrap="none" rtlCol="0">
            <a:spAutoFit/>
          </a:bodyPr>
          <a:lstStyle/>
          <a:p>
            <a:r>
              <a:rPr lang="en-US" altLang="zh-CN" dirty="0"/>
              <a:t>19416</a:t>
            </a:r>
            <a:endParaRPr lang="zh-CN" altLang="en-US" dirty="0"/>
          </a:p>
        </p:txBody>
      </p:sp>
      <p:sp>
        <p:nvSpPr>
          <p:cNvPr id="9" name="文本框 8"/>
          <p:cNvSpPr txBox="1"/>
          <p:nvPr/>
        </p:nvSpPr>
        <p:spPr>
          <a:xfrm>
            <a:off x="2130846" y="2127316"/>
            <a:ext cx="697627" cy="369332"/>
          </a:xfrm>
          <a:prstGeom prst="rect">
            <a:avLst/>
          </a:prstGeom>
          <a:noFill/>
        </p:spPr>
        <p:txBody>
          <a:bodyPr wrap="none" rtlCol="0">
            <a:spAutoFit/>
          </a:bodyPr>
          <a:lstStyle/>
          <a:p>
            <a:r>
              <a:rPr lang="en-US" altLang="zh-CN" dirty="0"/>
              <a:t>8549</a:t>
            </a:r>
            <a:endParaRPr lang="zh-CN" altLang="en-US" dirty="0"/>
          </a:p>
        </p:txBody>
      </p:sp>
      <p:sp>
        <p:nvSpPr>
          <p:cNvPr id="11" name="文本框 10"/>
          <p:cNvSpPr txBox="1"/>
          <p:nvPr/>
        </p:nvSpPr>
        <p:spPr>
          <a:xfrm>
            <a:off x="2610906" y="1530741"/>
            <a:ext cx="697627" cy="369332"/>
          </a:xfrm>
          <a:prstGeom prst="rect">
            <a:avLst/>
          </a:prstGeom>
          <a:noFill/>
        </p:spPr>
        <p:txBody>
          <a:bodyPr wrap="none" rtlCol="0">
            <a:spAutoFit/>
          </a:bodyPr>
          <a:lstStyle/>
          <a:p>
            <a:r>
              <a:rPr lang="en-US" altLang="zh-CN" dirty="0"/>
              <a:t>5373</a:t>
            </a:r>
            <a:endParaRPr lang="zh-CN" altLang="en-US" dirty="0"/>
          </a:p>
        </p:txBody>
      </p:sp>
      <p:sp>
        <p:nvSpPr>
          <p:cNvPr id="12" name="文本框 11"/>
          <p:cNvSpPr txBox="1"/>
          <p:nvPr/>
        </p:nvSpPr>
        <p:spPr>
          <a:xfrm>
            <a:off x="3077179" y="2126859"/>
            <a:ext cx="825867" cy="369332"/>
          </a:xfrm>
          <a:prstGeom prst="rect">
            <a:avLst/>
          </a:prstGeom>
          <a:noFill/>
        </p:spPr>
        <p:txBody>
          <a:bodyPr wrap="none" rtlCol="0">
            <a:spAutoFit/>
          </a:bodyPr>
          <a:lstStyle/>
          <a:p>
            <a:r>
              <a:rPr lang="en-US" altLang="zh-CN" dirty="0"/>
              <a:t>19416</a:t>
            </a:r>
            <a:endParaRPr lang="zh-CN" altLang="en-US" dirty="0"/>
          </a:p>
        </p:txBody>
      </p:sp>
      <p:cxnSp>
        <p:nvCxnSpPr>
          <p:cNvPr id="14" name="直接连接符 13"/>
          <p:cNvCxnSpPr/>
          <p:nvPr/>
        </p:nvCxnSpPr>
        <p:spPr>
          <a:xfrm>
            <a:off x="7772400" y="3048000"/>
            <a:ext cx="1676400"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15" name="直接连接符 14"/>
          <p:cNvCxnSpPr/>
          <p:nvPr/>
        </p:nvCxnSpPr>
        <p:spPr>
          <a:xfrm>
            <a:off x="7772400" y="4191000"/>
            <a:ext cx="1676400"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16" name="直接连接符 15"/>
          <p:cNvCxnSpPr/>
          <p:nvPr/>
        </p:nvCxnSpPr>
        <p:spPr>
          <a:xfrm>
            <a:off x="7815341" y="6157886"/>
            <a:ext cx="1676400"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17" name="直接连接符 16"/>
          <p:cNvCxnSpPr/>
          <p:nvPr/>
        </p:nvCxnSpPr>
        <p:spPr>
          <a:xfrm>
            <a:off x="7848600" y="4495800"/>
            <a:ext cx="1676400" cy="0"/>
          </a:xfrm>
          <a:prstGeom prst="line">
            <a:avLst/>
          </a:prstGeom>
        </p:spPr>
        <p:style>
          <a:lnRef idx="1">
            <a:schemeClr val="accent3"/>
          </a:lnRef>
          <a:fillRef idx="0">
            <a:schemeClr val="accent3"/>
          </a:fillRef>
          <a:effectRef idx="0">
            <a:schemeClr val="accent3"/>
          </a:effectRef>
          <a:fontRef idx="minor">
            <a:schemeClr val="tx1"/>
          </a:fontRef>
        </p:style>
      </p:cxnSp>
      <p:pic>
        <p:nvPicPr>
          <p:cNvPr id="19" name="图片 18"/>
          <p:cNvPicPr>
            <a:picLocks noChangeAspect="1"/>
          </p:cNvPicPr>
          <p:nvPr/>
        </p:nvPicPr>
        <p:blipFill>
          <a:blip r:embed="rId2"/>
          <a:stretch>
            <a:fillRect/>
          </a:stretch>
        </p:blipFill>
        <p:spPr>
          <a:xfrm>
            <a:off x="1066800" y="2741421"/>
            <a:ext cx="5536721" cy="3337144"/>
          </a:xfrm>
          <a:prstGeom prst="rect">
            <a:avLst/>
          </a:prstGeom>
        </p:spPr>
      </p:pic>
      <p:sp>
        <p:nvSpPr>
          <p:cNvPr id="21" name="文本框 20"/>
          <p:cNvSpPr txBox="1"/>
          <p:nvPr/>
        </p:nvSpPr>
        <p:spPr>
          <a:xfrm>
            <a:off x="3370930" y="6031650"/>
            <a:ext cx="928459" cy="369332"/>
          </a:xfrm>
          <a:prstGeom prst="rect">
            <a:avLst/>
          </a:prstGeom>
          <a:noFill/>
        </p:spPr>
        <p:txBody>
          <a:bodyPr wrap="none" rtlCol="0">
            <a:spAutoFit/>
          </a:bodyPr>
          <a:lstStyle/>
          <a:p>
            <a:r>
              <a:rPr lang="en-US" altLang="zh-CN" dirty="0"/>
              <a:t>7168</a:t>
            </a:r>
            <a:r>
              <a:rPr lang="zh-CN" altLang="en-US" dirty="0"/>
              <a:t>维</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a:t>
            </a:r>
            <a:endParaRPr lang="zh-CN" altLang="en-US" dirty="0"/>
          </a:p>
        </p:txBody>
      </p:sp>
      <p:sp>
        <p:nvSpPr>
          <p:cNvPr id="3" name="内容占位符 2"/>
          <p:cNvSpPr>
            <a:spLocks noGrp="1"/>
          </p:cNvSpPr>
          <p:nvPr>
            <p:ph idx="1"/>
          </p:nvPr>
        </p:nvSpPr>
        <p:spPr/>
        <p:txBody>
          <a:bodyPr/>
          <a:lstStyle/>
          <a:p>
            <a:r>
              <a:rPr lang="zh-CN" altLang="en-US" dirty="0"/>
              <a:t>词嵌入向量的每个维度都代表抽象语义特征</a:t>
            </a:r>
            <a:endParaRPr lang="en-US" altLang="zh-CN" dirty="0"/>
          </a:p>
          <a:p>
            <a:r>
              <a:rPr lang="zh-CN" altLang="en-US" dirty="0"/>
              <a:t>非人工指定，优化学习得到</a:t>
            </a:r>
            <a:endParaRPr lang="zh-CN" altLang="en-US" dirty="0"/>
          </a:p>
          <a:p>
            <a:endParaRPr lang="zh-CN" altLang="en-US" dirty="0"/>
          </a:p>
        </p:txBody>
      </p:sp>
      <p:pic>
        <p:nvPicPr>
          <p:cNvPr id="5" name="图片 4"/>
          <p:cNvPicPr>
            <a:picLocks noChangeAspect="1"/>
          </p:cNvPicPr>
          <p:nvPr/>
        </p:nvPicPr>
        <p:blipFill>
          <a:blip r:embed="rId1"/>
          <a:stretch>
            <a:fillRect/>
          </a:stretch>
        </p:blipFill>
        <p:spPr>
          <a:xfrm>
            <a:off x="1143000" y="2743200"/>
            <a:ext cx="5943600" cy="2068047"/>
          </a:xfrm>
          <a:prstGeom prst="rect">
            <a:avLst/>
          </a:prstGeom>
        </p:spPr>
      </p:pic>
      <p:pic>
        <p:nvPicPr>
          <p:cNvPr id="7" name="图片 6"/>
          <p:cNvPicPr>
            <a:picLocks noChangeAspect="1"/>
          </p:cNvPicPr>
          <p:nvPr/>
        </p:nvPicPr>
        <p:blipFill>
          <a:blip r:embed="rId2"/>
          <a:stretch>
            <a:fillRect/>
          </a:stretch>
        </p:blipFill>
        <p:spPr>
          <a:xfrm>
            <a:off x="7916801" y="1066800"/>
            <a:ext cx="2286000" cy="2410918"/>
          </a:xfrm>
          <a:prstGeom prst="rect">
            <a:avLst/>
          </a:prstGeom>
        </p:spPr>
      </p:pic>
      <p:pic>
        <p:nvPicPr>
          <p:cNvPr id="9" name="图片 8"/>
          <p:cNvPicPr>
            <a:picLocks noChangeAspect="1"/>
          </p:cNvPicPr>
          <p:nvPr/>
        </p:nvPicPr>
        <p:blipFill>
          <a:blip r:embed="rId3"/>
          <a:stretch>
            <a:fillRect/>
          </a:stretch>
        </p:blipFill>
        <p:spPr>
          <a:xfrm>
            <a:off x="7931115" y="3592200"/>
            <a:ext cx="2271686" cy="265744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a:t>
            </a:r>
            <a:endParaRPr lang="zh-CN" altLang="en-US" dirty="0"/>
          </a:p>
        </p:txBody>
      </p:sp>
      <p:sp>
        <p:nvSpPr>
          <p:cNvPr id="3" name="内容占位符 2"/>
          <p:cNvSpPr>
            <a:spLocks noGrp="1"/>
          </p:cNvSpPr>
          <p:nvPr>
            <p:ph idx="1"/>
          </p:nvPr>
        </p:nvSpPr>
        <p:spPr/>
        <p:txBody>
          <a:bodyPr/>
          <a:lstStyle/>
          <a:p>
            <a:r>
              <a:rPr lang="zh-CN" altLang="en-US" dirty="0"/>
              <a:t>输入</a:t>
            </a:r>
            <a:r>
              <a:rPr lang="en-US" altLang="zh-CN" dirty="0" err="1"/>
              <a:t>promt</a:t>
            </a:r>
            <a:r>
              <a:rPr lang="zh-CN" altLang="en-US" dirty="0"/>
              <a:t>为“用苹果手机拍苹果”</a:t>
            </a:r>
            <a:endParaRPr lang="en-US" altLang="zh-CN" dirty="0"/>
          </a:p>
          <a:p>
            <a:pPr lvl="1"/>
            <a:r>
              <a:rPr lang="zh-CN" altLang="en-US" dirty="0"/>
              <a:t>被切分</a:t>
            </a:r>
            <a:r>
              <a:rPr lang="en-US" altLang="zh-CN" dirty="0"/>
              <a:t>5</a:t>
            </a:r>
            <a:r>
              <a:rPr lang="zh-CN" altLang="en-US" dirty="0"/>
              <a:t>个</a:t>
            </a:r>
            <a:r>
              <a:rPr lang="en-US" altLang="zh-CN" dirty="0"/>
              <a:t>token; </a:t>
            </a:r>
            <a:r>
              <a:rPr lang="zh-CN" altLang="en-US" dirty="0"/>
              <a:t>查询词汇表找到</a:t>
            </a:r>
            <a:r>
              <a:rPr lang="en-US" altLang="zh-CN" dirty="0"/>
              <a:t>Token ID;</a:t>
            </a:r>
            <a:r>
              <a:rPr lang="zh-CN" altLang="en-US" dirty="0"/>
              <a:t>并从词嵌入矩阵中找到对应的词嵌入向量</a:t>
            </a:r>
            <a:endParaRPr lang="zh-CN" altLang="en-US" dirty="0"/>
          </a:p>
        </p:txBody>
      </p:sp>
      <p:pic>
        <p:nvPicPr>
          <p:cNvPr id="5" name="图片 4"/>
          <p:cNvPicPr>
            <a:picLocks noChangeAspect="1"/>
          </p:cNvPicPr>
          <p:nvPr/>
        </p:nvPicPr>
        <p:blipFill>
          <a:blip r:embed="rId1"/>
          <a:stretch>
            <a:fillRect/>
          </a:stretch>
        </p:blipFill>
        <p:spPr>
          <a:xfrm>
            <a:off x="4267200" y="2690143"/>
            <a:ext cx="6814514" cy="2753142"/>
          </a:xfrm>
          <a:prstGeom prst="rect">
            <a:avLst/>
          </a:prstGeom>
        </p:spPr>
      </p:pic>
      <p:sp>
        <p:nvSpPr>
          <p:cNvPr id="6" name="文本框 5"/>
          <p:cNvSpPr txBox="1"/>
          <p:nvPr/>
        </p:nvSpPr>
        <p:spPr>
          <a:xfrm>
            <a:off x="8001000" y="5443285"/>
            <a:ext cx="2621230" cy="369332"/>
          </a:xfrm>
          <a:prstGeom prst="rect">
            <a:avLst/>
          </a:prstGeom>
          <a:noFill/>
        </p:spPr>
        <p:txBody>
          <a:bodyPr wrap="none" rtlCol="0">
            <a:spAutoFit/>
          </a:bodyPr>
          <a:lstStyle/>
          <a:p>
            <a:r>
              <a:rPr lang="zh-CN" altLang="en-US" dirty="0"/>
              <a:t>便于演示，假设仅有</a:t>
            </a:r>
            <a:r>
              <a:rPr lang="en-US" altLang="zh-CN" dirty="0"/>
              <a:t>4</a:t>
            </a:r>
            <a:r>
              <a:rPr lang="zh-CN" altLang="en-US" dirty="0"/>
              <a:t>维</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a:t>
            </a:r>
            <a:endParaRPr lang="zh-CN" altLang="en-US" dirty="0"/>
          </a:p>
        </p:txBody>
      </p:sp>
      <p:sp>
        <p:nvSpPr>
          <p:cNvPr id="3" name="内容占位符 2"/>
          <p:cNvSpPr>
            <a:spLocks noGrp="1"/>
          </p:cNvSpPr>
          <p:nvPr>
            <p:ph idx="1"/>
          </p:nvPr>
        </p:nvSpPr>
        <p:spPr/>
        <p:txBody>
          <a:bodyPr/>
          <a:lstStyle/>
          <a:p>
            <a:r>
              <a:rPr lang="zh-CN" altLang="en-US" dirty="0"/>
              <a:t>句子顺序会影响含义</a:t>
            </a:r>
            <a:endParaRPr lang="en-US" altLang="zh-CN" dirty="0"/>
          </a:p>
          <a:p>
            <a:pPr lvl="1"/>
            <a:r>
              <a:rPr lang="zh-CN" altLang="en-US" dirty="0"/>
              <a:t>我爱你  ？ 你爱我</a:t>
            </a:r>
            <a:endParaRPr lang="en-US" altLang="zh-CN" dirty="0"/>
          </a:p>
          <a:p>
            <a:r>
              <a:rPr lang="zh-CN" altLang="en-US" dirty="0"/>
              <a:t>传统</a:t>
            </a:r>
            <a:r>
              <a:rPr lang="en-US" altLang="zh-CN" dirty="0"/>
              <a:t>RNN</a:t>
            </a:r>
            <a:r>
              <a:rPr lang="zh-CN" altLang="en-US" dirty="0"/>
              <a:t>会按照出现的顺序依次处理，所以天然可以捕捉词语间的先后关系</a:t>
            </a:r>
            <a:endParaRPr lang="zh-CN" altLang="en-US" dirty="0"/>
          </a:p>
          <a:p>
            <a:r>
              <a:rPr lang="zh-CN" altLang="en-US" dirty="0"/>
              <a:t>而</a:t>
            </a:r>
            <a:r>
              <a:rPr lang="en-US" altLang="zh-CN" dirty="0"/>
              <a:t>Transformer</a:t>
            </a:r>
            <a:r>
              <a:rPr lang="zh-CN" altLang="en-US" dirty="0"/>
              <a:t>是通过并行机制，同时处理所有</a:t>
            </a:r>
            <a:r>
              <a:rPr lang="en-US" altLang="zh-CN" dirty="0"/>
              <a:t>token  &lt;&lt;-  </a:t>
            </a:r>
            <a:r>
              <a:rPr lang="zh-CN" altLang="en-US" dirty="0"/>
              <a:t>计算效率高，无法识别顺序</a:t>
            </a:r>
            <a:endParaRPr lang="zh-CN" altLang="en-US" dirty="0"/>
          </a:p>
        </p:txBody>
      </p:sp>
      <p:pic>
        <p:nvPicPr>
          <p:cNvPr id="5" name="图片 4"/>
          <p:cNvPicPr>
            <a:picLocks noChangeAspect="1"/>
          </p:cNvPicPr>
          <p:nvPr/>
        </p:nvPicPr>
        <p:blipFill>
          <a:blip r:embed="rId1"/>
          <a:stretch>
            <a:fillRect/>
          </a:stretch>
        </p:blipFill>
        <p:spPr>
          <a:xfrm>
            <a:off x="378655" y="3276600"/>
            <a:ext cx="5259862" cy="2117670"/>
          </a:xfrm>
          <a:prstGeom prst="rect">
            <a:avLst/>
          </a:prstGeom>
        </p:spPr>
      </p:pic>
      <p:pic>
        <p:nvPicPr>
          <p:cNvPr id="10" name="图片 9"/>
          <p:cNvPicPr>
            <a:picLocks noChangeAspect="1"/>
          </p:cNvPicPr>
          <p:nvPr/>
        </p:nvPicPr>
        <p:blipFill>
          <a:blip r:embed="rId2"/>
          <a:stretch>
            <a:fillRect/>
          </a:stretch>
        </p:blipFill>
        <p:spPr>
          <a:xfrm>
            <a:off x="6248400" y="3276601"/>
            <a:ext cx="4305958" cy="214391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a:t>
            </a:r>
            <a:endParaRPr lang="zh-CN" altLang="en-US" dirty="0"/>
          </a:p>
        </p:txBody>
      </p:sp>
      <p:sp>
        <p:nvSpPr>
          <p:cNvPr id="3" name="内容占位符 2"/>
          <p:cNvSpPr>
            <a:spLocks noGrp="1"/>
          </p:cNvSpPr>
          <p:nvPr>
            <p:ph idx="1"/>
          </p:nvPr>
        </p:nvSpPr>
        <p:spPr/>
        <p:txBody>
          <a:bodyPr/>
          <a:lstStyle/>
          <a:p>
            <a:r>
              <a:rPr lang="zh-CN" altLang="en-US" dirty="0"/>
              <a:t>位置编码：基于正弦和余弦函数的绝对位置编码</a:t>
            </a:r>
            <a:endParaRPr lang="en-US" altLang="zh-CN" dirty="0"/>
          </a:p>
          <a:p>
            <a:pPr lvl="1"/>
            <a:r>
              <a:rPr lang="zh-CN" altLang="en-US" dirty="0"/>
              <a:t>思想：利用不同频率的正余弦函数，沿嵌入向量的每个维度对位置进行编码</a:t>
            </a:r>
            <a:endParaRPr lang="zh-CN" altLang="en-US" dirty="0"/>
          </a:p>
        </p:txBody>
      </p:sp>
      <p:pic>
        <p:nvPicPr>
          <p:cNvPr id="7" name="图片 6"/>
          <p:cNvPicPr>
            <a:picLocks noChangeAspect="1"/>
          </p:cNvPicPr>
          <p:nvPr/>
        </p:nvPicPr>
        <p:blipFill>
          <a:blip r:embed="rId1"/>
          <a:stretch>
            <a:fillRect/>
          </a:stretch>
        </p:blipFill>
        <p:spPr>
          <a:xfrm>
            <a:off x="6248400" y="2465774"/>
            <a:ext cx="3544421" cy="975867"/>
          </a:xfrm>
          <a:prstGeom prst="rect">
            <a:avLst/>
          </a:prstGeom>
        </p:spPr>
      </p:pic>
      <p:pic>
        <p:nvPicPr>
          <p:cNvPr id="9" name="图片 8"/>
          <p:cNvPicPr>
            <a:picLocks noChangeAspect="1"/>
          </p:cNvPicPr>
          <p:nvPr/>
        </p:nvPicPr>
        <p:blipFill>
          <a:blip r:embed="rId2"/>
          <a:stretch>
            <a:fillRect/>
          </a:stretch>
        </p:blipFill>
        <p:spPr>
          <a:xfrm>
            <a:off x="5079020" y="3795388"/>
            <a:ext cx="6934200" cy="2333950"/>
          </a:xfrm>
          <a:prstGeom prst="rect">
            <a:avLst/>
          </a:prstGeom>
        </p:spPr>
      </p:pic>
      <p:sp>
        <p:nvSpPr>
          <p:cNvPr id="10" name="文本框 9"/>
          <p:cNvSpPr txBox="1"/>
          <p:nvPr/>
        </p:nvSpPr>
        <p:spPr>
          <a:xfrm>
            <a:off x="9765734" y="2739446"/>
            <a:ext cx="2819400" cy="369332"/>
          </a:xfrm>
          <a:prstGeom prst="rect">
            <a:avLst/>
          </a:prstGeom>
          <a:noFill/>
        </p:spPr>
        <p:txBody>
          <a:bodyPr wrap="square" rtlCol="0">
            <a:spAutoFit/>
          </a:bodyPr>
          <a:lstStyle/>
          <a:p>
            <a:r>
              <a:rPr lang="zh-CN" altLang="en-US" dirty="0"/>
              <a:t>偶数用</a:t>
            </a:r>
            <a:r>
              <a:rPr lang="en-US" altLang="zh-CN" dirty="0"/>
              <a:t>sin</a:t>
            </a:r>
            <a:r>
              <a:rPr lang="zh-CN" altLang="en-US" dirty="0"/>
              <a:t>，奇数用</a:t>
            </a:r>
            <a:r>
              <a:rPr lang="en-US" altLang="zh-CN" dirty="0"/>
              <a:t>cos</a:t>
            </a:r>
            <a:endParaRPr lang="zh-CN" altLang="en-US" dirty="0"/>
          </a:p>
        </p:txBody>
      </p:sp>
      <p:grpSp>
        <p:nvGrpSpPr>
          <p:cNvPr id="17" name="组合 16"/>
          <p:cNvGrpSpPr/>
          <p:nvPr/>
        </p:nvGrpSpPr>
        <p:grpSpPr>
          <a:xfrm>
            <a:off x="784944" y="1972786"/>
            <a:ext cx="4545620" cy="2370614"/>
            <a:chOff x="784944" y="1972786"/>
            <a:chExt cx="4545620" cy="2370614"/>
          </a:xfrm>
        </p:grpSpPr>
        <p:pic>
          <p:nvPicPr>
            <p:cNvPr id="5" name="图片 4"/>
            <p:cNvPicPr>
              <a:picLocks noChangeAspect="1"/>
            </p:cNvPicPr>
            <p:nvPr/>
          </p:nvPicPr>
          <p:blipFill>
            <a:blip r:embed="rId3"/>
            <a:stretch>
              <a:fillRect/>
            </a:stretch>
          </p:blipFill>
          <p:spPr>
            <a:xfrm>
              <a:off x="822834" y="1972786"/>
              <a:ext cx="4042953" cy="2370614"/>
            </a:xfrm>
            <a:prstGeom prst="rect">
              <a:avLst/>
            </a:prstGeom>
          </p:spPr>
        </p:pic>
        <p:sp>
          <p:nvSpPr>
            <p:cNvPr id="12" name="文本框 11"/>
            <p:cNvSpPr txBox="1"/>
            <p:nvPr/>
          </p:nvSpPr>
          <p:spPr>
            <a:xfrm>
              <a:off x="784944" y="3706105"/>
              <a:ext cx="4545620" cy="261610"/>
            </a:xfrm>
            <a:prstGeom prst="rect">
              <a:avLst/>
            </a:prstGeom>
            <a:noFill/>
          </p:spPr>
          <p:txBody>
            <a:bodyPr wrap="square">
              <a:spAutoFit/>
            </a:bodyPr>
            <a:lstStyle/>
            <a:p>
              <a:r>
                <a:rPr lang="zh-CN" altLang="en-US" sz="1050" b="0" i="0" dirty="0">
                  <a:solidFill>
                    <a:srgbClr val="FF0000"/>
                  </a:solidFill>
                  <a:effectLst/>
                  <a:latin typeface="-apple-system"/>
                </a:rPr>
                <a:t>为了让奇偶维度交替使用正弦和余弦函数</a:t>
              </a:r>
              <a:endParaRPr lang="zh-CN" altLang="en-US" sz="1050" dirty="0">
                <a:solidFill>
                  <a:srgbClr val="FF0000"/>
                </a:solidFill>
              </a:endParaRPr>
            </a:p>
          </p:txBody>
        </p:sp>
        <p:cxnSp>
          <p:nvCxnSpPr>
            <p:cNvPr id="14" name="连接符: 曲线 13"/>
            <p:cNvCxnSpPr>
              <a:endCxn id="12" idx="1"/>
            </p:cNvCxnSpPr>
            <p:nvPr/>
          </p:nvCxnSpPr>
          <p:spPr>
            <a:xfrm rot="16200000" flipV="1">
              <a:off x="716892" y="3904963"/>
              <a:ext cx="173995" cy="37890"/>
            </a:xfrm>
            <a:prstGeom prst="curvedConnector4">
              <a:avLst>
                <a:gd name="adj1" fmla="val 12411"/>
                <a:gd name="adj2" fmla="val 703325"/>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16" name="图片 15"/>
          <p:cNvPicPr>
            <a:picLocks noChangeAspect="1"/>
          </p:cNvPicPr>
          <p:nvPr/>
        </p:nvPicPr>
        <p:blipFill>
          <a:blip r:embed="rId4"/>
          <a:stretch>
            <a:fillRect/>
          </a:stretch>
        </p:blipFill>
        <p:spPr>
          <a:xfrm>
            <a:off x="784944" y="4816901"/>
            <a:ext cx="3771429" cy="1171429"/>
          </a:xfrm>
          <a:prstGeom prst="rect">
            <a:avLst/>
          </a:prstGeom>
        </p:spPr>
      </p:pic>
      <p:sp>
        <p:nvSpPr>
          <p:cNvPr id="18" name="文本框 17"/>
          <p:cNvSpPr txBox="1"/>
          <p:nvPr/>
        </p:nvSpPr>
        <p:spPr>
          <a:xfrm>
            <a:off x="6248400" y="2076553"/>
            <a:ext cx="3377848" cy="369332"/>
          </a:xfrm>
          <a:prstGeom prst="rect">
            <a:avLst/>
          </a:prstGeom>
          <a:noFill/>
        </p:spPr>
        <p:txBody>
          <a:bodyPr wrap="none" rtlCol="0">
            <a:spAutoFit/>
          </a:bodyPr>
          <a:lstStyle/>
          <a:p>
            <a:r>
              <a:rPr lang="en-US" altLang="zh-CN" dirty="0" err="1">
                <a:solidFill>
                  <a:srgbClr val="FF0000"/>
                </a:solidFill>
              </a:rPr>
              <a:t>d_model</a:t>
            </a:r>
            <a:r>
              <a:rPr lang="zh-CN" altLang="en-US" dirty="0">
                <a:solidFill>
                  <a:srgbClr val="FF0000"/>
                </a:solidFill>
              </a:rPr>
              <a:t>是指词嵌入向量的维度</a:t>
            </a:r>
            <a:endParaRPr lang="zh-CN" altLang="en-US" dirty="0">
              <a:solidFill>
                <a:srgbClr val="FF0000"/>
              </a:solidFill>
            </a:endParaRPr>
          </a:p>
        </p:txBody>
      </p:sp>
      <p:sp>
        <p:nvSpPr>
          <p:cNvPr id="19" name="任意多边形: 形状 18"/>
          <p:cNvSpPr/>
          <p:nvPr/>
        </p:nvSpPr>
        <p:spPr>
          <a:xfrm>
            <a:off x="6722965" y="3839470"/>
            <a:ext cx="258807" cy="106090"/>
          </a:xfrm>
          <a:custGeom>
            <a:avLst/>
            <a:gdLst>
              <a:gd name="connsiteX0" fmla="*/ 127457 w 258807"/>
              <a:gd name="connsiteY0" fmla="*/ 0 h 106090"/>
              <a:gd name="connsiteX1" fmla="*/ 71886 w 258807"/>
              <a:gd name="connsiteY1" fmla="*/ 35363 h 106090"/>
              <a:gd name="connsiteX2" fmla="*/ 36522 w 258807"/>
              <a:gd name="connsiteY2" fmla="*/ 55571 h 106090"/>
              <a:gd name="connsiteX3" fmla="*/ 36522 w 258807"/>
              <a:gd name="connsiteY3" fmla="*/ 106090 h 106090"/>
              <a:gd name="connsiteX4" fmla="*/ 258807 w 258807"/>
              <a:gd name="connsiteY4" fmla="*/ 95986 h 1060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807" h="106090">
                <a:moveTo>
                  <a:pt x="127457" y="0"/>
                </a:moveTo>
                <a:cubicBezTo>
                  <a:pt x="79322" y="9627"/>
                  <a:pt x="123019" y="-3970"/>
                  <a:pt x="71886" y="35363"/>
                </a:cubicBezTo>
                <a:cubicBezTo>
                  <a:pt x="61125" y="43641"/>
                  <a:pt x="48310" y="48835"/>
                  <a:pt x="36522" y="55571"/>
                </a:cubicBezTo>
                <a:cubicBezTo>
                  <a:pt x="-6151" y="110437"/>
                  <a:pt x="-17848" y="98323"/>
                  <a:pt x="36522" y="106090"/>
                </a:cubicBezTo>
                <a:cubicBezTo>
                  <a:pt x="160708" y="89532"/>
                  <a:pt x="86818" y="95986"/>
                  <a:pt x="258807" y="95986"/>
                </a:cubicBezTo>
              </a:path>
            </a:pathLst>
          </a:cu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20" name="任意多边形: 形状 19"/>
          <p:cNvSpPr/>
          <p:nvPr/>
        </p:nvSpPr>
        <p:spPr>
          <a:xfrm>
            <a:off x="6889380" y="3864729"/>
            <a:ext cx="11561" cy="237441"/>
          </a:xfrm>
          <a:custGeom>
            <a:avLst/>
            <a:gdLst>
              <a:gd name="connsiteX0" fmla="*/ 11561 w 11561"/>
              <a:gd name="connsiteY0" fmla="*/ 0 h 237441"/>
              <a:gd name="connsiteX1" fmla="*/ 1458 w 11561"/>
              <a:gd name="connsiteY1" fmla="*/ 237441 h 237441"/>
            </a:gdLst>
            <a:ahLst/>
            <a:cxnLst>
              <a:cxn ang="0">
                <a:pos x="connsiteX0" y="connsiteY0"/>
              </a:cxn>
              <a:cxn ang="0">
                <a:pos x="connsiteX1" y="connsiteY1"/>
              </a:cxn>
            </a:cxnLst>
            <a:rect l="l" t="t" r="r" b="b"/>
            <a:pathLst>
              <a:path w="11561" h="237441">
                <a:moveTo>
                  <a:pt x="11561" y="0"/>
                </a:moveTo>
                <a:cubicBezTo>
                  <a:pt x="-5663" y="129194"/>
                  <a:pt x="1458" y="50296"/>
                  <a:pt x="1458" y="237441"/>
                </a:cubicBezTo>
              </a:path>
            </a:pathLst>
          </a:cu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a:t>
            </a:r>
            <a:endParaRPr lang="zh-CN" altLang="en-US" dirty="0"/>
          </a:p>
        </p:txBody>
      </p:sp>
      <p:sp>
        <p:nvSpPr>
          <p:cNvPr id="3" name="内容占位符 2"/>
          <p:cNvSpPr>
            <a:spLocks noGrp="1"/>
          </p:cNvSpPr>
          <p:nvPr>
            <p:ph idx="1"/>
          </p:nvPr>
        </p:nvSpPr>
        <p:spPr/>
        <p:txBody>
          <a:bodyPr/>
          <a:lstStyle/>
          <a:p>
            <a:r>
              <a:rPr lang="zh-CN" altLang="en-US" dirty="0"/>
              <a:t>将位置编码和词嵌入向量逐元素相加得到输入向量</a:t>
            </a:r>
            <a:endParaRPr lang="zh-CN" altLang="en-US" dirty="0"/>
          </a:p>
        </p:txBody>
      </p:sp>
      <p:pic>
        <p:nvPicPr>
          <p:cNvPr id="5" name="图片 4"/>
          <p:cNvPicPr>
            <a:picLocks noChangeAspect="1"/>
          </p:cNvPicPr>
          <p:nvPr/>
        </p:nvPicPr>
        <p:blipFill>
          <a:blip r:embed="rId1"/>
          <a:stretch>
            <a:fillRect/>
          </a:stretch>
        </p:blipFill>
        <p:spPr>
          <a:xfrm>
            <a:off x="990599" y="2895600"/>
            <a:ext cx="4835097" cy="1905000"/>
          </a:xfrm>
          <a:prstGeom prst="rect">
            <a:avLst/>
          </a:prstGeom>
        </p:spPr>
      </p:pic>
      <p:pic>
        <p:nvPicPr>
          <p:cNvPr id="7" name="图片 6"/>
          <p:cNvPicPr>
            <a:picLocks noChangeAspect="1"/>
          </p:cNvPicPr>
          <p:nvPr/>
        </p:nvPicPr>
        <p:blipFill>
          <a:blip r:embed="rId2"/>
          <a:stretch>
            <a:fillRect/>
          </a:stretch>
        </p:blipFill>
        <p:spPr>
          <a:xfrm>
            <a:off x="6477000" y="2895600"/>
            <a:ext cx="3704504" cy="1904299"/>
          </a:xfrm>
          <a:prstGeom prst="rect">
            <a:avLst/>
          </a:prstGeom>
        </p:spPr>
      </p:pic>
      <p:sp>
        <p:nvSpPr>
          <p:cNvPr id="8" name="文本框 7"/>
          <p:cNvSpPr txBox="1"/>
          <p:nvPr/>
        </p:nvSpPr>
        <p:spPr>
          <a:xfrm>
            <a:off x="6781800" y="4799899"/>
            <a:ext cx="3185487" cy="369332"/>
          </a:xfrm>
          <a:prstGeom prst="rect">
            <a:avLst/>
          </a:prstGeom>
          <a:noFill/>
        </p:spPr>
        <p:txBody>
          <a:bodyPr wrap="none" rtlCol="0">
            <a:spAutoFit/>
          </a:bodyPr>
          <a:lstStyle/>
          <a:p>
            <a:r>
              <a:rPr lang="zh-CN" altLang="en-US" dirty="0"/>
              <a:t>不同位置，编码后的向量不同</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AU" altLang="zh-CN" dirty="0"/>
              <a:t>Transformer block</a:t>
            </a:r>
            <a:endParaRPr lang="en-AU" altLang="zh-CN" dirty="0"/>
          </a:p>
        </p:txBody>
      </p:sp>
      <p:sp>
        <p:nvSpPr>
          <p:cNvPr id="3" name="内容占位符 2"/>
          <p:cNvSpPr>
            <a:spLocks noGrp="1"/>
          </p:cNvSpPr>
          <p:nvPr>
            <p:ph idx="1"/>
          </p:nvPr>
        </p:nvSpPr>
        <p:spPr/>
        <p:txBody>
          <a:bodyPr/>
          <a:lstStyle/>
          <a:p>
            <a:endParaRPr lang="zh-CN" altLang="en-US" dirty="0"/>
          </a:p>
        </p:txBody>
      </p:sp>
      <p:pic>
        <p:nvPicPr>
          <p:cNvPr id="5" name="图片 4"/>
          <p:cNvPicPr>
            <a:picLocks noChangeAspect="1"/>
          </p:cNvPicPr>
          <p:nvPr/>
        </p:nvPicPr>
        <p:blipFill>
          <a:blip r:embed="rId1"/>
          <a:stretch>
            <a:fillRect/>
          </a:stretch>
        </p:blipFill>
        <p:spPr>
          <a:xfrm>
            <a:off x="2971800" y="1828800"/>
            <a:ext cx="5440607" cy="2781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AU" altLang="zh-CN" dirty="0"/>
              <a:t>Transformer block</a:t>
            </a:r>
            <a:r>
              <a:rPr lang="zh-CN" altLang="en-US" dirty="0"/>
              <a:t>：</a:t>
            </a:r>
            <a:r>
              <a:rPr lang="en-US" altLang="zh-CN" dirty="0"/>
              <a:t> </a:t>
            </a:r>
            <a:r>
              <a:rPr lang="en-US" altLang="zh-CN" dirty="0" err="1"/>
              <a:t>LayerNorm</a:t>
            </a:r>
            <a:endParaRPr lang="zh-CN" altLang="en-US" dirty="0"/>
          </a:p>
        </p:txBody>
      </p:sp>
      <p:sp>
        <p:nvSpPr>
          <p:cNvPr id="3" name="内容占位符 2"/>
          <p:cNvSpPr>
            <a:spLocks noGrp="1"/>
          </p:cNvSpPr>
          <p:nvPr>
            <p:ph idx="1"/>
          </p:nvPr>
        </p:nvSpPr>
        <p:spPr/>
        <p:txBody>
          <a:bodyPr/>
          <a:lstStyle/>
          <a:p>
            <a:r>
              <a:rPr lang="en-US" altLang="zh-CN" dirty="0" err="1"/>
              <a:t>LayerNorm</a:t>
            </a:r>
            <a:r>
              <a:rPr lang="en-US" altLang="zh-CN" dirty="0"/>
              <a:t> </a:t>
            </a:r>
            <a:r>
              <a:rPr lang="zh-CN" altLang="en-US" dirty="0"/>
              <a:t>层归一化</a:t>
            </a:r>
            <a:endParaRPr lang="zh-CN" altLang="en-US" dirty="0"/>
          </a:p>
        </p:txBody>
      </p:sp>
      <p:pic>
        <p:nvPicPr>
          <p:cNvPr id="5" name="图片 4"/>
          <p:cNvPicPr>
            <a:picLocks noChangeAspect="1"/>
          </p:cNvPicPr>
          <p:nvPr/>
        </p:nvPicPr>
        <p:blipFill>
          <a:blip r:embed="rId1"/>
          <a:stretch>
            <a:fillRect/>
          </a:stretch>
        </p:blipFill>
        <p:spPr>
          <a:xfrm>
            <a:off x="1429333" y="2232348"/>
            <a:ext cx="7562267" cy="3125223"/>
          </a:xfrm>
          <a:prstGeom prst="rect">
            <a:avLst/>
          </a:prstGeom>
        </p:spPr>
      </p:pic>
      <p:sp>
        <p:nvSpPr>
          <p:cNvPr id="6" name="矩形 5"/>
          <p:cNvSpPr/>
          <p:nvPr/>
        </p:nvSpPr>
        <p:spPr>
          <a:xfrm>
            <a:off x="3657600" y="2971800"/>
            <a:ext cx="1066800" cy="268933"/>
          </a:xfrm>
          <a:prstGeom prst="rect">
            <a:avLst/>
          </a:prstGeom>
          <a:noFill/>
        </p:spPr>
        <p:style>
          <a:lnRef idx="2">
            <a:schemeClr val="accent3"/>
          </a:lnRef>
          <a:fillRef idx="1">
            <a:schemeClr val="lt1"/>
          </a:fillRef>
          <a:effectRef idx="0">
            <a:schemeClr val="accent3"/>
          </a:effectRef>
          <a:fontRef idx="minor">
            <a:schemeClr val="dk1"/>
          </a:fontRef>
        </p:style>
        <p:txBody>
          <a:bodyPr wrap="square" rtlCol="0" anchor="ctr">
            <a:spAutoFit/>
          </a:bodyPr>
          <a:lstStyle/>
          <a:p>
            <a:pPr algn="ctr"/>
            <a:endParaRPr lang="zh-CN" altLang="en-US" sz="2400" dirty="0">
              <a:noFill/>
            </a:endParaRPr>
          </a:p>
        </p:txBody>
      </p:sp>
      <p:cxnSp>
        <p:nvCxnSpPr>
          <p:cNvPr id="8" name="直接箭头连接符 7"/>
          <p:cNvCxnSpPr/>
          <p:nvPr/>
        </p:nvCxnSpPr>
        <p:spPr>
          <a:xfrm>
            <a:off x="4724400" y="3124200"/>
            <a:ext cx="304800"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9" name="文本框 8"/>
          <p:cNvSpPr txBox="1"/>
          <p:nvPr/>
        </p:nvSpPr>
        <p:spPr>
          <a:xfrm>
            <a:off x="5008571" y="2875433"/>
            <a:ext cx="2954655" cy="461665"/>
          </a:xfrm>
          <a:prstGeom prst="rect">
            <a:avLst/>
          </a:prstGeom>
          <a:noFill/>
        </p:spPr>
        <p:txBody>
          <a:bodyPr wrap="none" rtlCol="0">
            <a:spAutoFit/>
          </a:bodyPr>
          <a:lstStyle/>
          <a:p>
            <a:r>
              <a:rPr lang="zh-CN" altLang="en-US" sz="1200" dirty="0">
                <a:solidFill>
                  <a:schemeClr val="bg1"/>
                </a:solidFill>
              </a:rPr>
              <a:t>除以标准差，消除不同维度上的尺度差异</a:t>
            </a:r>
            <a:endParaRPr lang="en-US" altLang="zh-CN" sz="1200" dirty="0">
              <a:solidFill>
                <a:schemeClr val="bg1"/>
              </a:solidFill>
            </a:endParaRPr>
          </a:p>
          <a:p>
            <a:r>
              <a:rPr lang="zh-CN" altLang="en-US" sz="1200" dirty="0">
                <a:solidFill>
                  <a:schemeClr val="bg1"/>
                </a:solidFill>
              </a:rPr>
              <a:t>得到均值为</a:t>
            </a:r>
            <a:r>
              <a:rPr lang="en-US" altLang="zh-CN" sz="1200" dirty="0">
                <a:solidFill>
                  <a:schemeClr val="bg1"/>
                </a:solidFill>
              </a:rPr>
              <a:t>0</a:t>
            </a:r>
            <a:r>
              <a:rPr lang="zh-CN" altLang="en-US" sz="1200" dirty="0">
                <a:solidFill>
                  <a:schemeClr val="bg1"/>
                </a:solidFill>
              </a:rPr>
              <a:t>，方差为</a:t>
            </a:r>
            <a:r>
              <a:rPr lang="en-US" altLang="zh-CN" sz="1200" dirty="0">
                <a:solidFill>
                  <a:schemeClr val="bg1"/>
                </a:solidFill>
              </a:rPr>
              <a:t>1</a:t>
            </a:r>
            <a:r>
              <a:rPr lang="zh-CN" altLang="en-US" sz="1200" dirty="0">
                <a:solidFill>
                  <a:schemeClr val="bg1"/>
                </a:solidFill>
              </a:rPr>
              <a:t>的分布</a:t>
            </a:r>
            <a:endParaRPr lang="zh-CN" altLang="en-US" sz="1200" dirty="0">
              <a:solidFill>
                <a:schemeClr val="bg1"/>
              </a:solidFill>
            </a:endParaRPr>
          </a:p>
        </p:txBody>
      </p:sp>
      <p:sp>
        <p:nvSpPr>
          <p:cNvPr id="10" name="文本框 9"/>
          <p:cNvSpPr txBox="1"/>
          <p:nvPr/>
        </p:nvSpPr>
        <p:spPr>
          <a:xfrm>
            <a:off x="8077200" y="1098375"/>
            <a:ext cx="3733800" cy="969496"/>
          </a:xfrm>
          <a:prstGeom prst="rect">
            <a:avLst/>
          </a:prstGeom>
          <a:noFill/>
        </p:spPr>
        <p:txBody>
          <a:bodyPr wrap="square" rtlCol="0">
            <a:spAutoFit/>
          </a:bodyPr>
          <a:lstStyle/>
          <a:p>
            <a:r>
              <a:rPr lang="en-US" altLang="zh-CN" sz="1200" dirty="0"/>
              <a:t>Gamma</a:t>
            </a:r>
            <a:r>
              <a:rPr lang="zh-CN" altLang="en-US" sz="1200" dirty="0"/>
              <a:t>和</a:t>
            </a:r>
            <a:r>
              <a:rPr lang="en-US" altLang="zh-CN" sz="1200" dirty="0"/>
              <a:t>Beta</a:t>
            </a:r>
            <a:r>
              <a:rPr lang="zh-CN" altLang="en-US" sz="1200" dirty="0"/>
              <a:t>是可学习参数，缩放参数</a:t>
            </a:r>
            <a:r>
              <a:rPr lang="en-US" altLang="zh-CN" sz="1200" dirty="0"/>
              <a:t>Gamma</a:t>
            </a:r>
            <a:r>
              <a:rPr lang="zh-CN" altLang="en-US" sz="1200" dirty="0"/>
              <a:t>和偏移参数</a:t>
            </a:r>
            <a:r>
              <a:rPr lang="en-US" altLang="zh-CN" sz="1200" dirty="0"/>
              <a:t>Beta,</a:t>
            </a:r>
            <a:r>
              <a:rPr lang="zh-CN" altLang="en-US" sz="1200" dirty="0"/>
              <a:t>增加灵活性；</a:t>
            </a:r>
            <a:endParaRPr lang="en-US" altLang="zh-CN" sz="1200" dirty="0"/>
          </a:p>
          <a:p>
            <a:r>
              <a:rPr lang="zh-CN" altLang="en-US" sz="1100" dirty="0"/>
              <a:t> 比如，</a:t>
            </a:r>
            <a:r>
              <a:rPr lang="zh-CN" altLang="en-US" sz="1100" b="0" i="0" dirty="0">
                <a:solidFill>
                  <a:srgbClr val="000000"/>
                </a:solidFill>
                <a:effectLst/>
                <a:latin typeface="-apple-system"/>
              </a:rPr>
              <a:t>如果模型发现“大小”是一个极其重要的特征，它就可以</a:t>
            </a:r>
            <a:r>
              <a:rPr lang="zh-CN" altLang="en-US" sz="1100" b="1" i="0" dirty="0">
                <a:solidFill>
                  <a:srgbClr val="000000"/>
                </a:solidFill>
                <a:effectLst/>
                <a:latin typeface="-apple-system"/>
              </a:rPr>
              <a:t>学习一个大于</a:t>
            </a:r>
            <a:r>
              <a:rPr lang="en-US" altLang="zh-CN" sz="1100" b="1" i="0" dirty="0">
                <a:solidFill>
                  <a:srgbClr val="000000"/>
                </a:solidFill>
                <a:effectLst/>
                <a:latin typeface="-apple-system"/>
              </a:rPr>
              <a:t>1</a:t>
            </a:r>
            <a:r>
              <a:rPr lang="zh-CN" altLang="en-US" sz="1100" b="1" i="0" dirty="0">
                <a:solidFill>
                  <a:srgbClr val="000000"/>
                </a:solidFill>
                <a:effectLst/>
                <a:latin typeface="-apple-system"/>
              </a:rPr>
              <a:t>的</a:t>
            </a:r>
            <a:r>
              <a:rPr lang="en-US" altLang="zh-CN" sz="1100" b="1" i="0" dirty="0">
                <a:solidFill>
                  <a:srgbClr val="000000"/>
                </a:solidFill>
                <a:effectLst/>
                <a:latin typeface="-apple-system"/>
              </a:rPr>
              <a:t>γ</a:t>
            </a:r>
            <a:r>
              <a:rPr lang="zh-CN" altLang="en-US" sz="1100" b="1" i="0" dirty="0">
                <a:solidFill>
                  <a:srgbClr val="000000"/>
                </a:solidFill>
                <a:effectLst/>
                <a:latin typeface="-apple-system"/>
              </a:rPr>
              <a:t>值</a:t>
            </a:r>
            <a:r>
              <a:rPr lang="zh-CN" altLang="en-US" sz="1100" b="0" i="0" dirty="0">
                <a:solidFill>
                  <a:srgbClr val="000000"/>
                </a:solidFill>
                <a:effectLst/>
                <a:latin typeface="-apple-system"/>
              </a:rPr>
              <a:t>，将标准化后的分布“拉宽”，从而恢复甚至放大不同目标在大小上的差异。</a:t>
            </a:r>
            <a:endParaRPr lang="zh-CN" altLang="en-US" sz="1100" dirty="0"/>
          </a:p>
        </p:txBody>
      </p:sp>
      <p:sp>
        <p:nvSpPr>
          <p:cNvPr id="11" name="文本框 10"/>
          <p:cNvSpPr txBox="1"/>
          <p:nvPr/>
        </p:nvSpPr>
        <p:spPr>
          <a:xfrm>
            <a:off x="8591118" y="5673998"/>
            <a:ext cx="2954655" cy="369332"/>
          </a:xfrm>
          <a:prstGeom prst="rect">
            <a:avLst/>
          </a:prstGeom>
          <a:noFill/>
        </p:spPr>
        <p:txBody>
          <a:bodyPr wrap="none" rtlCol="0">
            <a:spAutoFit/>
          </a:bodyPr>
          <a:lstStyle/>
          <a:p>
            <a:r>
              <a:rPr lang="zh-CN" altLang="en-US" dirty="0"/>
              <a:t>思考：为什么需要归一化？</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AU" altLang="zh-CN" dirty="0"/>
              <a:t>Transformer block</a:t>
            </a:r>
            <a:r>
              <a:rPr lang="en-US" altLang="zh-CN" dirty="0"/>
              <a:t>: Self-attention Mechanism </a:t>
            </a:r>
            <a:endParaRPr lang="zh-CN" altLang="en-US" dirty="0"/>
          </a:p>
        </p:txBody>
      </p:sp>
      <p:sp>
        <p:nvSpPr>
          <p:cNvPr id="3" name="内容占位符 2"/>
          <p:cNvSpPr>
            <a:spLocks noGrp="1"/>
          </p:cNvSpPr>
          <p:nvPr>
            <p:ph idx="1"/>
          </p:nvPr>
        </p:nvSpPr>
        <p:spPr/>
        <p:txBody>
          <a:bodyPr/>
          <a:lstStyle/>
          <a:p>
            <a:r>
              <a:rPr lang="en-US" altLang="zh-CN" dirty="0"/>
              <a:t>Self-attention Mechanism </a:t>
            </a:r>
            <a:r>
              <a:rPr lang="zh-CN" altLang="en-US" dirty="0"/>
              <a:t>自注意力机制</a:t>
            </a:r>
            <a:endParaRPr lang="en-US" altLang="zh-CN" dirty="0"/>
          </a:p>
          <a:p>
            <a:pPr lvl="1"/>
            <a:r>
              <a:rPr lang="zh-CN" altLang="en-US" dirty="0"/>
              <a:t>目的：让每个</a:t>
            </a:r>
            <a:r>
              <a:rPr lang="en-US" altLang="zh-CN" dirty="0"/>
              <a:t>token</a:t>
            </a:r>
            <a:r>
              <a:rPr lang="zh-CN" altLang="en-US" dirty="0"/>
              <a:t>都能关注到上下文的其他</a:t>
            </a:r>
            <a:r>
              <a:rPr lang="en-US" altLang="zh-CN" dirty="0"/>
              <a:t>token</a:t>
            </a:r>
            <a:r>
              <a:rPr lang="zh-CN" altLang="en-US" dirty="0"/>
              <a:t>，并据此更新自己的向量值</a:t>
            </a:r>
            <a:endParaRPr lang="zh-CN" altLang="en-US" dirty="0"/>
          </a:p>
        </p:txBody>
      </p:sp>
      <p:pic>
        <p:nvPicPr>
          <p:cNvPr id="5" name="图片 4"/>
          <p:cNvPicPr>
            <a:picLocks noChangeAspect="1"/>
          </p:cNvPicPr>
          <p:nvPr/>
        </p:nvPicPr>
        <p:blipFill>
          <a:blip r:embed="rId1"/>
          <a:stretch>
            <a:fillRect/>
          </a:stretch>
        </p:blipFill>
        <p:spPr>
          <a:xfrm>
            <a:off x="1981200" y="2057400"/>
            <a:ext cx="2123915" cy="3909576"/>
          </a:xfrm>
          <a:prstGeom prst="rect">
            <a:avLst/>
          </a:prstGeom>
        </p:spPr>
      </p:pic>
      <p:pic>
        <p:nvPicPr>
          <p:cNvPr id="7" name="图片 6"/>
          <p:cNvPicPr>
            <a:picLocks noChangeAspect="1"/>
          </p:cNvPicPr>
          <p:nvPr/>
        </p:nvPicPr>
        <p:blipFill>
          <a:blip r:embed="rId2"/>
          <a:stretch>
            <a:fillRect/>
          </a:stretch>
        </p:blipFill>
        <p:spPr>
          <a:xfrm>
            <a:off x="4648200" y="2590800"/>
            <a:ext cx="2790515" cy="2870702"/>
          </a:xfrm>
          <a:prstGeom prst="rect">
            <a:avLst/>
          </a:prstGeom>
        </p:spPr>
      </p:pic>
      <p:pic>
        <p:nvPicPr>
          <p:cNvPr id="10" name="图片 9"/>
          <p:cNvPicPr>
            <a:picLocks noChangeAspect="1"/>
          </p:cNvPicPr>
          <p:nvPr/>
        </p:nvPicPr>
        <p:blipFill>
          <a:blip r:embed="rId3"/>
          <a:stretch>
            <a:fillRect/>
          </a:stretch>
        </p:blipFill>
        <p:spPr>
          <a:xfrm>
            <a:off x="7829615" y="2613456"/>
            <a:ext cx="2409581" cy="2797464"/>
          </a:xfrm>
          <a:prstGeom prst="rect">
            <a:avLst/>
          </a:prstGeom>
        </p:spPr>
      </p:pic>
      <p:sp>
        <p:nvSpPr>
          <p:cNvPr id="11" name="文本框 10"/>
          <p:cNvSpPr txBox="1"/>
          <p:nvPr/>
        </p:nvSpPr>
        <p:spPr>
          <a:xfrm>
            <a:off x="7696200" y="5466975"/>
            <a:ext cx="3877985" cy="276999"/>
          </a:xfrm>
          <a:prstGeom prst="rect">
            <a:avLst/>
          </a:prstGeom>
          <a:noFill/>
        </p:spPr>
        <p:txBody>
          <a:bodyPr wrap="none" rtlCol="0">
            <a:spAutoFit/>
          </a:bodyPr>
          <a:lstStyle/>
          <a:p>
            <a:r>
              <a:rPr lang="zh-CN" altLang="en-US" sz="1200" dirty="0"/>
              <a:t>手机被其他</a:t>
            </a:r>
            <a:r>
              <a:rPr lang="en-US" altLang="zh-CN" sz="1200" dirty="0"/>
              <a:t>token</a:t>
            </a:r>
            <a:r>
              <a:rPr lang="zh-CN" altLang="en-US" sz="1200" dirty="0"/>
              <a:t>牵引使其向更符合上下文的方向偏移</a:t>
            </a:r>
            <a:endParaRPr lang="zh-CN" alt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AU" altLang="zh-CN" dirty="0"/>
              <a:t>Transformer block</a:t>
            </a:r>
            <a:r>
              <a:rPr lang="en-US" altLang="zh-CN" dirty="0"/>
              <a:t>: Self-attention Mechanism </a:t>
            </a:r>
            <a:endParaRPr lang="zh-CN" altLang="en-US" dirty="0"/>
          </a:p>
        </p:txBody>
      </p:sp>
      <p:sp>
        <p:nvSpPr>
          <p:cNvPr id="3" name="内容占位符 2"/>
          <p:cNvSpPr>
            <a:spLocks noGrp="1"/>
          </p:cNvSpPr>
          <p:nvPr>
            <p:ph idx="1"/>
          </p:nvPr>
        </p:nvSpPr>
        <p:spPr/>
        <p:txBody>
          <a:bodyPr/>
          <a:lstStyle/>
          <a:p>
            <a:r>
              <a:rPr lang="zh-CN" altLang="en-US" dirty="0"/>
              <a:t>如何量化</a:t>
            </a:r>
            <a:r>
              <a:rPr lang="en-US" altLang="zh-CN" dirty="0"/>
              <a:t>Token</a:t>
            </a:r>
            <a:r>
              <a:rPr lang="zh-CN" altLang="en-US" dirty="0"/>
              <a:t>之前的关注度？来确定需要调整的方向和幅度</a:t>
            </a:r>
            <a:endParaRPr lang="en-US" altLang="zh-CN" dirty="0"/>
          </a:p>
          <a:p>
            <a:pPr lvl="1"/>
            <a:r>
              <a:rPr lang="zh-CN" altLang="en-US" dirty="0"/>
              <a:t>点积：衡量两个向量在空间上的对齐程度</a:t>
            </a:r>
            <a:endParaRPr lang="en-US" altLang="zh-CN" dirty="0"/>
          </a:p>
          <a:p>
            <a:pPr lvl="2"/>
            <a:r>
              <a:rPr lang="zh-CN" altLang="en-US" dirty="0"/>
              <a:t>值越大表示一个</a:t>
            </a:r>
            <a:r>
              <a:rPr lang="en-US" altLang="zh-CN" dirty="0"/>
              <a:t>token</a:t>
            </a:r>
            <a:r>
              <a:rPr lang="zh-CN" altLang="en-US" dirty="0"/>
              <a:t>对另一个的影响越大</a:t>
            </a:r>
            <a:endParaRPr lang="en-US" altLang="zh-CN" dirty="0"/>
          </a:p>
          <a:p>
            <a:pPr lvl="2"/>
            <a:endParaRPr lang="zh-CN" altLang="en-US" dirty="0"/>
          </a:p>
        </p:txBody>
      </p:sp>
      <p:pic>
        <p:nvPicPr>
          <p:cNvPr id="5" name="图片 4"/>
          <p:cNvPicPr>
            <a:picLocks noChangeAspect="1"/>
          </p:cNvPicPr>
          <p:nvPr/>
        </p:nvPicPr>
        <p:blipFill>
          <a:blip r:embed="rId1"/>
          <a:stretch>
            <a:fillRect/>
          </a:stretch>
        </p:blipFill>
        <p:spPr>
          <a:xfrm>
            <a:off x="1447800" y="2819400"/>
            <a:ext cx="2983026" cy="1847476"/>
          </a:xfrm>
          <a:prstGeom prst="rect">
            <a:avLst/>
          </a:prstGeom>
        </p:spPr>
      </p:pic>
      <p:pic>
        <p:nvPicPr>
          <p:cNvPr id="7" name="图片 6"/>
          <p:cNvPicPr>
            <a:picLocks noChangeAspect="1"/>
          </p:cNvPicPr>
          <p:nvPr/>
        </p:nvPicPr>
        <p:blipFill>
          <a:blip r:embed="rId2"/>
          <a:stretch>
            <a:fillRect/>
          </a:stretch>
        </p:blipFill>
        <p:spPr>
          <a:xfrm>
            <a:off x="6491735" y="1981200"/>
            <a:ext cx="4267200" cy="2483892"/>
          </a:xfrm>
          <a:prstGeom prst="rect">
            <a:avLst/>
          </a:prstGeom>
        </p:spPr>
      </p:pic>
      <p:pic>
        <p:nvPicPr>
          <p:cNvPr id="9" name="图片 8"/>
          <p:cNvPicPr>
            <a:picLocks noChangeAspect="1"/>
          </p:cNvPicPr>
          <p:nvPr/>
        </p:nvPicPr>
        <p:blipFill>
          <a:blip r:embed="rId3"/>
          <a:stretch>
            <a:fillRect/>
          </a:stretch>
        </p:blipFill>
        <p:spPr>
          <a:xfrm>
            <a:off x="6400800" y="4643755"/>
            <a:ext cx="5111024" cy="123787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AU" altLang="zh-CN" dirty="0"/>
              <a:t>Transformer block</a:t>
            </a:r>
            <a:r>
              <a:rPr lang="en-US" altLang="zh-CN" dirty="0"/>
              <a:t>: Self-attention Mechanism </a:t>
            </a:r>
            <a:endParaRPr lang="zh-CN" altLang="en-US" dirty="0"/>
          </a:p>
        </p:txBody>
      </p:sp>
      <p:sp>
        <p:nvSpPr>
          <p:cNvPr id="3" name="内容占位符 2"/>
          <p:cNvSpPr>
            <a:spLocks noGrp="1"/>
          </p:cNvSpPr>
          <p:nvPr>
            <p:ph idx="1"/>
          </p:nvPr>
        </p:nvSpPr>
        <p:spPr/>
        <p:txBody>
          <a:bodyPr/>
          <a:lstStyle/>
          <a:p>
            <a:r>
              <a:rPr lang="zh-CN" altLang="en-US" dirty="0"/>
              <a:t>为了捕捉</a:t>
            </a:r>
            <a:r>
              <a:rPr lang="en-US" altLang="zh-CN" dirty="0"/>
              <a:t>token</a:t>
            </a:r>
            <a:r>
              <a:rPr lang="zh-CN" altLang="en-US" dirty="0"/>
              <a:t>之间的依赖关系，模型引入三个可学习的线性变换矩阵</a:t>
            </a:r>
            <a:r>
              <a:rPr lang="en-US" altLang="zh-CN" dirty="0" err="1"/>
              <a:t>W_q</a:t>
            </a:r>
            <a:r>
              <a:rPr lang="en-US" altLang="zh-CN" dirty="0"/>
              <a:t>, </a:t>
            </a:r>
            <a:r>
              <a:rPr lang="en-US" altLang="zh-CN" dirty="0" err="1"/>
              <a:t>W_k</a:t>
            </a:r>
            <a:r>
              <a:rPr lang="en-US" altLang="zh-CN" dirty="0"/>
              <a:t>, </a:t>
            </a:r>
            <a:r>
              <a:rPr lang="en-US" altLang="zh-CN" dirty="0" err="1"/>
              <a:t>W_v</a:t>
            </a:r>
            <a:endParaRPr lang="en-US" altLang="zh-CN" dirty="0"/>
          </a:p>
          <a:p>
            <a:pPr lvl="1"/>
            <a:r>
              <a:rPr lang="en-US" altLang="zh-CN" dirty="0"/>
              <a:t>Query(</a:t>
            </a:r>
            <a:r>
              <a:rPr lang="zh-CN" altLang="en-US" dirty="0"/>
              <a:t>查询</a:t>
            </a:r>
            <a:r>
              <a:rPr lang="en-US" altLang="zh-CN" dirty="0"/>
              <a:t>): </a:t>
            </a:r>
            <a:r>
              <a:rPr lang="zh-CN" altLang="en-US" dirty="0"/>
              <a:t>当前</a:t>
            </a:r>
            <a:r>
              <a:rPr lang="en-US" altLang="zh-CN" dirty="0"/>
              <a:t>token</a:t>
            </a:r>
            <a:r>
              <a:rPr lang="zh-CN" altLang="en-US" dirty="0"/>
              <a:t>想要了解什么</a:t>
            </a:r>
            <a:endParaRPr lang="en-US" altLang="zh-CN" dirty="0"/>
          </a:p>
          <a:p>
            <a:pPr lvl="1"/>
            <a:r>
              <a:rPr lang="en-US" altLang="zh-CN" dirty="0"/>
              <a:t>Key</a:t>
            </a:r>
            <a:r>
              <a:rPr lang="zh-CN" altLang="en-US" dirty="0"/>
              <a:t>（键）</a:t>
            </a:r>
            <a:r>
              <a:rPr lang="en-US" altLang="zh-CN" dirty="0"/>
              <a:t>: </a:t>
            </a:r>
            <a:r>
              <a:rPr lang="zh-CN" altLang="en-US" dirty="0"/>
              <a:t>每个</a:t>
            </a:r>
            <a:r>
              <a:rPr lang="en-US" altLang="zh-CN" dirty="0"/>
              <a:t>token</a:t>
            </a:r>
            <a:r>
              <a:rPr lang="zh-CN" altLang="en-US" dirty="0"/>
              <a:t>的内容标签</a:t>
            </a:r>
            <a:endParaRPr lang="en-US" altLang="zh-CN" dirty="0"/>
          </a:p>
          <a:p>
            <a:pPr lvl="1"/>
            <a:r>
              <a:rPr lang="en-US" altLang="zh-CN" dirty="0"/>
              <a:t>Value</a:t>
            </a:r>
            <a:r>
              <a:rPr lang="zh-CN" altLang="en-US" dirty="0"/>
              <a:t>（值）</a:t>
            </a:r>
            <a:r>
              <a:rPr lang="en-US" altLang="zh-CN" dirty="0"/>
              <a:t>: </a:t>
            </a:r>
            <a:r>
              <a:rPr lang="zh-CN" altLang="en-US" dirty="0"/>
              <a:t>每个</a:t>
            </a:r>
            <a:r>
              <a:rPr lang="en-US" altLang="zh-CN" dirty="0"/>
              <a:t>token</a:t>
            </a:r>
            <a:r>
              <a:rPr lang="zh-CN" altLang="en-US" dirty="0"/>
              <a:t>所携带的具体信息</a:t>
            </a:r>
            <a:endParaRPr lang="zh-CN" altLang="en-US" dirty="0"/>
          </a:p>
          <a:p>
            <a:endParaRPr lang="zh-CN" altLang="en-US" dirty="0"/>
          </a:p>
        </p:txBody>
      </p:sp>
      <p:pic>
        <p:nvPicPr>
          <p:cNvPr id="5" name="图片 4"/>
          <p:cNvPicPr>
            <a:picLocks noChangeAspect="1"/>
          </p:cNvPicPr>
          <p:nvPr/>
        </p:nvPicPr>
        <p:blipFill>
          <a:blip r:embed="rId1"/>
          <a:stretch>
            <a:fillRect/>
          </a:stretch>
        </p:blipFill>
        <p:spPr>
          <a:xfrm>
            <a:off x="6096000" y="2971800"/>
            <a:ext cx="4582560" cy="291575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AU" altLang="zh-CN" dirty="0"/>
              <a:t>Transformer block</a:t>
            </a:r>
            <a:r>
              <a:rPr lang="en-US" altLang="zh-CN" dirty="0"/>
              <a:t>: Self-attention Mechanism </a:t>
            </a:r>
            <a:endParaRPr lang="zh-CN" altLang="en-US" dirty="0"/>
          </a:p>
        </p:txBody>
      </p:sp>
      <p:sp>
        <p:nvSpPr>
          <p:cNvPr id="3" name="内容占位符 2"/>
          <p:cNvSpPr>
            <a:spLocks noGrp="1"/>
          </p:cNvSpPr>
          <p:nvPr>
            <p:ph idx="1"/>
          </p:nvPr>
        </p:nvSpPr>
        <p:spPr/>
        <p:txBody>
          <a:bodyPr/>
          <a:lstStyle/>
          <a:p>
            <a:r>
              <a:rPr lang="zh-CN" altLang="en-US" dirty="0"/>
              <a:t>注意力权重</a:t>
            </a:r>
            <a:endParaRPr lang="zh-CN" altLang="en-US" dirty="0"/>
          </a:p>
        </p:txBody>
      </p:sp>
      <p:grpSp>
        <p:nvGrpSpPr>
          <p:cNvPr id="13" name="组合 12"/>
          <p:cNvGrpSpPr/>
          <p:nvPr/>
        </p:nvGrpSpPr>
        <p:grpSpPr>
          <a:xfrm>
            <a:off x="1828800" y="1752600"/>
            <a:ext cx="9142085" cy="3180406"/>
            <a:chOff x="2895600" y="2209800"/>
            <a:chExt cx="9142085" cy="3180406"/>
          </a:xfrm>
        </p:grpSpPr>
        <p:pic>
          <p:nvPicPr>
            <p:cNvPr id="5" name="图片 4"/>
            <p:cNvPicPr>
              <a:picLocks noChangeAspect="1"/>
            </p:cNvPicPr>
            <p:nvPr/>
          </p:nvPicPr>
          <p:blipFill>
            <a:blip r:embed="rId1"/>
            <a:stretch>
              <a:fillRect/>
            </a:stretch>
          </p:blipFill>
          <p:spPr>
            <a:xfrm>
              <a:off x="2895600" y="2209800"/>
              <a:ext cx="6742146" cy="3180406"/>
            </a:xfrm>
            <a:prstGeom prst="rect">
              <a:avLst/>
            </a:prstGeom>
          </p:spPr>
        </p:pic>
        <p:sp>
          <p:nvSpPr>
            <p:cNvPr id="6" name="文本框 5"/>
            <p:cNvSpPr txBox="1"/>
            <p:nvPr/>
          </p:nvSpPr>
          <p:spPr>
            <a:xfrm>
              <a:off x="8291340" y="4495800"/>
              <a:ext cx="1338828" cy="369332"/>
            </a:xfrm>
            <a:prstGeom prst="rect">
              <a:avLst/>
            </a:prstGeom>
            <a:noFill/>
          </p:spPr>
          <p:txBody>
            <a:bodyPr wrap="none" rtlCol="0">
              <a:spAutoFit/>
            </a:bodyPr>
            <a:lstStyle/>
            <a:p>
              <a:r>
                <a:rPr lang="zh-CN" altLang="en-US" dirty="0">
                  <a:solidFill>
                    <a:schemeClr val="bg1"/>
                  </a:solidFill>
                </a:rPr>
                <a:t>注意力权重</a:t>
              </a:r>
              <a:endParaRPr lang="zh-CN" altLang="en-US" dirty="0">
                <a:solidFill>
                  <a:schemeClr val="bg1"/>
                </a:solidFill>
              </a:endParaRPr>
            </a:p>
          </p:txBody>
        </p:sp>
        <p:sp>
          <p:nvSpPr>
            <p:cNvPr id="7" name="文本框 6"/>
            <p:cNvSpPr txBox="1"/>
            <p:nvPr/>
          </p:nvSpPr>
          <p:spPr>
            <a:xfrm>
              <a:off x="9700099" y="3733800"/>
              <a:ext cx="1903085" cy="646331"/>
            </a:xfrm>
            <a:prstGeom prst="rect">
              <a:avLst/>
            </a:prstGeom>
            <a:noFill/>
          </p:spPr>
          <p:txBody>
            <a:bodyPr wrap="none" rtlCol="0">
              <a:spAutoFit/>
            </a:bodyPr>
            <a:lstStyle/>
            <a:p>
              <a:r>
                <a:rPr lang="zh-CN" altLang="en-US" dirty="0"/>
                <a:t>行表示查询</a:t>
              </a:r>
              <a:r>
                <a:rPr lang="en-US" altLang="zh-CN" dirty="0"/>
                <a:t>token</a:t>
              </a:r>
              <a:endParaRPr lang="en-US" altLang="zh-CN" dirty="0"/>
            </a:p>
            <a:p>
              <a:r>
                <a:rPr lang="zh-CN" altLang="en-US" dirty="0"/>
                <a:t>列表示键</a:t>
              </a:r>
              <a:r>
                <a:rPr lang="en-US" altLang="zh-CN" dirty="0"/>
                <a:t>token</a:t>
              </a:r>
              <a:endParaRPr lang="zh-CN" altLang="en-US" dirty="0"/>
            </a:p>
          </p:txBody>
        </p:sp>
        <p:cxnSp>
          <p:nvCxnSpPr>
            <p:cNvPr id="9" name="直接箭头连接符 8"/>
            <p:cNvCxnSpPr/>
            <p:nvPr/>
          </p:nvCxnSpPr>
          <p:spPr>
            <a:xfrm flipV="1">
              <a:off x="8686800" y="3124200"/>
              <a:ext cx="1524000" cy="83820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10" name="文本框 9"/>
            <p:cNvSpPr txBox="1"/>
            <p:nvPr/>
          </p:nvSpPr>
          <p:spPr>
            <a:xfrm>
              <a:off x="10134600" y="2939534"/>
              <a:ext cx="1903085" cy="584775"/>
            </a:xfrm>
            <a:prstGeom prst="rect">
              <a:avLst/>
            </a:prstGeom>
            <a:noFill/>
          </p:spPr>
          <p:txBody>
            <a:bodyPr wrap="square" rtlCol="0">
              <a:spAutoFit/>
            </a:bodyPr>
            <a:lstStyle/>
            <a:p>
              <a:r>
                <a:rPr lang="zh-CN" altLang="en-US" sz="1600" b="1" dirty="0">
                  <a:solidFill>
                    <a:srgbClr val="FF0000"/>
                  </a:solidFill>
                </a:rPr>
                <a:t>表示：手机对苹果的关注度大小</a:t>
              </a:r>
              <a:endParaRPr lang="zh-CN" altLang="en-US" sz="1600" b="1" dirty="0">
                <a:solidFill>
                  <a:srgbClr val="FF0000"/>
                </a:solidFil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AU" altLang="zh-CN" dirty="0"/>
              <a:t>Transformer block</a:t>
            </a:r>
            <a:r>
              <a:rPr lang="en-US" altLang="zh-CN" dirty="0"/>
              <a:t>: Self-attention Mechanism </a:t>
            </a:r>
            <a:endParaRPr lang="zh-CN" altLang="en-US" dirty="0"/>
          </a:p>
        </p:txBody>
      </p:sp>
      <mc:AlternateContent xmlns:mc="http://schemas.openxmlformats.org/markup-compatibility/2006">
        <mc:Choice xmlns:a14="http://schemas.microsoft.com/office/drawing/2010/main" Requires="a14">
          <p:sp>
            <p:nvSpPr>
              <p:cNvPr id="4" name="文本框 3"/>
              <p:cNvSpPr txBox="1"/>
              <p:nvPr/>
            </p:nvSpPr>
            <p:spPr>
              <a:xfrm>
                <a:off x="1066800" y="1151326"/>
                <a:ext cx="1307859" cy="427746"/>
              </a:xfrm>
              <a:prstGeom prst="rect">
                <a:avLst/>
              </a:prstGeom>
              <a:noFill/>
            </p:spPr>
            <p:txBody>
              <a:bodyPr wrap="none" rtlCol="0">
                <a:spAutoFit/>
              </a:bodyPr>
              <a:lstStyle/>
              <a:p>
                <a14:m>
                  <m:oMath xmlns:m="http://schemas.openxmlformats.org/officeDocument/2006/math">
                    <m:r>
                      <m:rPr>
                        <m:sty m:val="p"/>
                      </m:rPr>
                      <a:rPr lang="en-US" altLang="zh-CN" i="1" smtClean="0">
                        <a:latin typeface="Cambria Math" panose="02040503050406030204" pitchFamily="18" charset="0"/>
                      </a:rPr>
                      <m:t>Q</m:t>
                    </m:r>
                  </m:oMath>
                </a14:m>
                <a:r>
                  <a:rPr lang="en-US" altLang="zh-CN" dirty="0"/>
                  <a:t>x</a:t>
                </a:r>
                <a14:m>
                  <m:oMath xmlns:m="http://schemas.openxmlformats.org/officeDocument/2006/math">
                    <m:sSup>
                      <m:sSupPr>
                        <m:ctrlPr>
                          <a:rPr lang="en-US" altLang="zh-CN" i="1" dirty="0" smtClean="0">
                            <a:latin typeface="Cambria Math" panose="02040503050406030204" pitchFamily="18" charset="0"/>
                          </a:rPr>
                        </m:ctrlPr>
                      </m:sSupPr>
                      <m:e>
                        <m:r>
                          <m:rPr>
                            <m:sty m:val="p"/>
                          </m:rPr>
                          <a:rPr lang="en-US" altLang="zh-CN" i="1" dirty="0">
                            <a:latin typeface="Cambria Math" panose="02040503050406030204" pitchFamily="18" charset="0"/>
                          </a:rPr>
                          <m:t>K</m:t>
                        </m:r>
                      </m:e>
                      <m:sup>
                        <m:r>
                          <a:rPr lang="en-US" altLang="zh-CN" b="0" i="1" dirty="0" smtClean="0">
                            <a:latin typeface="Cambria Math" panose="02040503050406030204" pitchFamily="18" charset="0"/>
                          </a:rPr>
                          <m:t>𝑇</m:t>
                        </m:r>
                      </m:sup>
                    </m:sSup>
                    <m:r>
                      <a:rPr lang="en-US" altLang="zh-CN" b="0" i="1" dirty="0" smtClean="0">
                        <a:latin typeface="Cambria Math" panose="02040503050406030204" pitchFamily="18" charset="0"/>
                      </a:rPr>
                      <m:t>/</m:t>
                    </m:r>
                    <m:rad>
                      <m:radPr>
                        <m:degHide m:val="on"/>
                        <m:ctrlPr>
                          <a:rPr lang="en-US" altLang="zh-CN" b="0" i="1" dirty="0" smtClean="0">
                            <a:solidFill>
                              <a:srgbClr val="FF0000"/>
                            </a:solidFill>
                            <a:latin typeface="Cambria Math" panose="02040503050406030204" pitchFamily="18" charset="0"/>
                          </a:rPr>
                        </m:ctrlPr>
                      </m:radPr>
                      <m:deg/>
                      <m:e>
                        <m:sSub>
                          <m:sSubPr>
                            <m:ctrlPr>
                              <a:rPr lang="en-US" altLang="zh-CN" b="0" i="1" dirty="0" smtClean="0">
                                <a:solidFill>
                                  <a:srgbClr val="FF0000"/>
                                </a:solidFill>
                                <a:latin typeface="Cambria Math" panose="02040503050406030204" pitchFamily="18" charset="0"/>
                              </a:rPr>
                            </m:ctrlPr>
                          </m:sSubPr>
                          <m:e>
                            <m:r>
                              <a:rPr lang="en-US" altLang="zh-CN" b="0" i="1" dirty="0" smtClean="0">
                                <a:solidFill>
                                  <a:srgbClr val="FF0000"/>
                                </a:solidFill>
                                <a:latin typeface="Cambria Math" panose="02040503050406030204" pitchFamily="18" charset="0"/>
                              </a:rPr>
                              <m:t>𝑑</m:t>
                            </m:r>
                          </m:e>
                          <m:sub>
                            <m:r>
                              <a:rPr lang="en-US" altLang="zh-CN" b="0" i="1" dirty="0" smtClean="0">
                                <a:solidFill>
                                  <a:srgbClr val="FF0000"/>
                                </a:solidFill>
                                <a:latin typeface="Cambria Math" panose="02040503050406030204" pitchFamily="18" charset="0"/>
                              </a:rPr>
                              <m:t>𝑘</m:t>
                            </m:r>
                          </m:sub>
                        </m:sSub>
                      </m:e>
                    </m:rad>
                  </m:oMath>
                </a14:m>
                <a:endParaRPr lang="zh-CN" altLang="en-US" dirty="0"/>
              </a:p>
            </p:txBody>
          </p:sp>
        </mc:Choice>
        <mc:Fallback>
          <p:sp>
            <p:nvSpPr>
              <p:cNvPr id="4" name="文本框 3"/>
              <p:cNvSpPr txBox="1">
                <a:spLocks noRot="1" noChangeAspect="1" noMove="1" noResize="1" noEditPoints="1" noAdjustHandles="1" noChangeArrowheads="1" noChangeShapeType="1" noTextEdit="1"/>
              </p:cNvSpPr>
              <p:nvPr/>
            </p:nvSpPr>
            <p:spPr>
              <a:xfrm>
                <a:off x="1066800" y="1151326"/>
                <a:ext cx="1307859" cy="427746"/>
              </a:xfrm>
              <a:prstGeom prst="rect">
                <a:avLst/>
              </a:prstGeom>
              <a:blipFill rotWithShape="1">
                <a:blip r:embed="rId1"/>
                <a:stretch>
                  <a:fillRect t="-17" r="30" b="10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2401277" y="1066800"/>
                <a:ext cx="8419124" cy="981744"/>
              </a:xfrm>
              <a:prstGeom prst="rect">
                <a:avLst/>
              </a:prstGeom>
              <a:noFill/>
            </p:spPr>
            <p:txBody>
              <a:bodyPr wrap="square" rtlCol="0">
                <a:spAutoFit/>
              </a:bodyPr>
              <a:lstStyle/>
              <a:p>
                <a:r>
                  <a:rPr lang="zh-CN" altLang="en-US" dirty="0"/>
                  <a:t>原因：因为</a:t>
                </a:r>
                <a:r>
                  <a:rPr lang="en-US" altLang="zh-CN" dirty="0"/>
                  <a:t>QK</a:t>
                </a:r>
                <a:r>
                  <a:rPr lang="zh-CN" altLang="en-US" dirty="0"/>
                  <a:t>通常是高维矩阵。维度越大，向量点积的方差也越大，容易导致结果波动剧烈。除以</a:t>
                </a:r>
                <a14:m>
                  <m:oMath xmlns:m="http://schemas.openxmlformats.org/officeDocument/2006/math">
                    <m:rad>
                      <m:radPr>
                        <m:degHide m:val="on"/>
                        <m:ctrlPr>
                          <a:rPr lang="en-US" altLang="zh-CN" b="0" i="1" dirty="0" smtClean="0">
                            <a:solidFill>
                              <a:srgbClr val="FF0000"/>
                            </a:solidFill>
                            <a:latin typeface="Cambria Math" panose="02040503050406030204" pitchFamily="18" charset="0"/>
                          </a:rPr>
                        </m:ctrlPr>
                      </m:radPr>
                      <m:deg/>
                      <m:e>
                        <m:sSub>
                          <m:sSubPr>
                            <m:ctrlPr>
                              <a:rPr lang="en-US" altLang="zh-CN" b="0" i="1" dirty="0" smtClean="0">
                                <a:solidFill>
                                  <a:srgbClr val="FF0000"/>
                                </a:solidFill>
                                <a:latin typeface="Cambria Math" panose="02040503050406030204" pitchFamily="18" charset="0"/>
                              </a:rPr>
                            </m:ctrlPr>
                          </m:sSubPr>
                          <m:e>
                            <m:r>
                              <a:rPr lang="en-US" altLang="zh-CN" b="0" i="1" dirty="0" smtClean="0">
                                <a:solidFill>
                                  <a:srgbClr val="FF0000"/>
                                </a:solidFill>
                                <a:latin typeface="Cambria Math" panose="02040503050406030204" pitchFamily="18" charset="0"/>
                              </a:rPr>
                              <m:t>𝑑</m:t>
                            </m:r>
                          </m:e>
                          <m:sub>
                            <m:r>
                              <a:rPr lang="en-US" altLang="zh-CN" b="0" i="1" dirty="0" smtClean="0">
                                <a:solidFill>
                                  <a:srgbClr val="FF0000"/>
                                </a:solidFill>
                                <a:latin typeface="Cambria Math" panose="02040503050406030204" pitchFamily="18" charset="0"/>
                              </a:rPr>
                              <m:t>𝑘</m:t>
                            </m:r>
                          </m:sub>
                        </m:sSub>
                      </m:e>
                    </m:rad>
                  </m:oMath>
                </a14:m>
                <a:r>
                  <a:rPr lang="zh-CN" altLang="en-US" dirty="0"/>
                  <a:t>以后可以有效减少数值波动，使</a:t>
                </a:r>
                <a:r>
                  <a:rPr lang="en-US" altLang="zh-CN" dirty="0" err="1"/>
                  <a:t>Softmax</a:t>
                </a:r>
                <a:r>
                  <a:rPr lang="zh-CN" altLang="en-US" dirty="0"/>
                  <a:t>输出更平滑，训练更稳定。</a:t>
                </a:r>
                <a:endParaRPr lang="zh-CN" altLang="en-US" dirty="0"/>
              </a:p>
            </p:txBody>
          </p:sp>
        </mc:Choice>
        <mc:Fallback>
          <p:sp>
            <p:nvSpPr>
              <p:cNvPr id="5" name="文本框 4"/>
              <p:cNvSpPr txBox="1">
                <a:spLocks noRot="1" noChangeAspect="1" noMove="1" noResize="1" noEditPoints="1" noAdjustHandles="1" noChangeArrowheads="1" noChangeShapeType="1" noTextEdit="1"/>
              </p:cNvSpPr>
              <p:nvPr/>
            </p:nvSpPr>
            <p:spPr>
              <a:xfrm>
                <a:off x="2401277" y="1066800"/>
                <a:ext cx="8419124" cy="981744"/>
              </a:xfrm>
              <a:prstGeom prst="rect">
                <a:avLst/>
              </a:prstGeom>
              <a:blipFill rotWithShape="1">
                <a:blip r:embed="rId2"/>
                <a:stretch>
                  <a:fillRect l="-4" b="3"/>
                </a:stretch>
              </a:blipFill>
            </p:spPr>
            <p:txBody>
              <a:bodyPr/>
              <a:lstStyle/>
              <a:p>
                <a:r>
                  <a:rPr lang="zh-CN" altLang="en-US">
                    <a:noFill/>
                  </a:rPr>
                  <a:t> </a:t>
                </a:r>
              </a:p>
            </p:txBody>
          </p:sp>
        </mc:Fallback>
      </mc:AlternateContent>
      <p:pic>
        <p:nvPicPr>
          <p:cNvPr id="7" name="图片 6"/>
          <p:cNvPicPr>
            <a:picLocks noChangeAspect="1"/>
          </p:cNvPicPr>
          <p:nvPr/>
        </p:nvPicPr>
        <p:blipFill>
          <a:blip r:embed="rId3"/>
          <a:stretch>
            <a:fillRect/>
          </a:stretch>
        </p:blipFill>
        <p:spPr>
          <a:xfrm>
            <a:off x="1956040" y="2586055"/>
            <a:ext cx="8254760" cy="320514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AU" altLang="zh-CN" dirty="0"/>
              <a:t>Transformer block</a:t>
            </a:r>
            <a:r>
              <a:rPr lang="en-US" altLang="zh-CN" dirty="0"/>
              <a:t>: Self-attention Mechanism </a:t>
            </a:r>
            <a:endParaRPr lang="zh-CN" altLang="en-US" dirty="0"/>
          </a:p>
        </p:txBody>
      </p:sp>
      <p:sp>
        <p:nvSpPr>
          <p:cNvPr id="3" name="内容占位符 2"/>
          <p:cNvSpPr>
            <a:spLocks noGrp="1"/>
          </p:cNvSpPr>
          <p:nvPr>
            <p:ph idx="1"/>
          </p:nvPr>
        </p:nvSpPr>
        <p:spPr/>
        <p:txBody>
          <a:bodyPr/>
          <a:lstStyle/>
          <a:p>
            <a:r>
              <a:rPr lang="zh-CN" altLang="en-US" dirty="0"/>
              <a:t>因果掩码（</a:t>
            </a:r>
            <a:r>
              <a:rPr lang="en-AU" altLang="zh-CN" dirty="0"/>
              <a:t>Masking</a:t>
            </a:r>
            <a:r>
              <a:rPr lang="zh-CN" altLang="en-AU" dirty="0"/>
              <a:t>）</a:t>
            </a:r>
            <a:endParaRPr lang="en-US" altLang="zh-CN" dirty="0"/>
          </a:p>
          <a:p>
            <a:pPr lvl="1"/>
            <a:r>
              <a:rPr lang="zh-CN" altLang="en-US" dirty="0"/>
              <a:t>在训练或生成序列时，确保模型在预测第 </a:t>
            </a:r>
            <a:r>
              <a:rPr lang="en-US" altLang="zh-CN" dirty="0"/>
              <a:t>t</a:t>
            </a:r>
            <a:r>
              <a:rPr lang="zh-CN" altLang="en-US" dirty="0"/>
              <a:t>个位置时，只能“看到”或“关注”位置 </a:t>
            </a:r>
            <a:r>
              <a:rPr lang="en-US" altLang="zh-CN" dirty="0"/>
              <a:t>t</a:t>
            </a:r>
            <a:r>
              <a:rPr lang="zh-CN" altLang="en-US" dirty="0"/>
              <a:t>之前（包括 </a:t>
            </a:r>
            <a:r>
              <a:rPr lang="en-US" altLang="zh-CN" dirty="0"/>
              <a:t>t</a:t>
            </a:r>
            <a:r>
              <a:rPr lang="zh-CN" altLang="en-US" dirty="0"/>
              <a:t>）的词，而不能看到 </a:t>
            </a:r>
            <a:r>
              <a:rPr lang="en-US" altLang="zh-CN" dirty="0"/>
              <a:t>t</a:t>
            </a:r>
            <a:r>
              <a:rPr lang="zh-CN" altLang="en-US" dirty="0"/>
              <a:t>之后未来的词</a:t>
            </a:r>
            <a:endParaRPr lang="zh-CN" altLang="en-US" dirty="0"/>
          </a:p>
        </p:txBody>
      </p:sp>
      <p:pic>
        <p:nvPicPr>
          <p:cNvPr id="7" name="图片 6"/>
          <p:cNvPicPr>
            <a:picLocks noChangeAspect="1"/>
          </p:cNvPicPr>
          <p:nvPr/>
        </p:nvPicPr>
        <p:blipFill>
          <a:blip r:embed="rId1"/>
          <a:stretch>
            <a:fillRect/>
          </a:stretch>
        </p:blipFill>
        <p:spPr>
          <a:xfrm>
            <a:off x="594059" y="2665737"/>
            <a:ext cx="6380921" cy="2438400"/>
          </a:xfrm>
          <a:prstGeom prst="rect">
            <a:avLst/>
          </a:prstGeom>
        </p:spPr>
      </p:pic>
      <p:pic>
        <p:nvPicPr>
          <p:cNvPr id="9" name="图片 8"/>
          <p:cNvPicPr>
            <a:picLocks noChangeAspect="1"/>
          </p:cNvPicPr>
          <p:nvPr/>
        </p:nvPicPr>
        <p:blipFill>
          <a:blip r:embed="rId2"/>
          <a:stretch>
            <a:fillRect/>
          </a:stretch>
        </p:blipFill>
        <p:spPr>
          <a:xfrm>
            <a:off x="7071059" y="2665737"/>
            <a:ext cx="2133600" cy="2367160"/>
          </a:xfrm>
          <a:prstGeom prst="rect">
            <a:avLst/>
          </a:prstGeom>
        </p:spPr>
      </p:pic>
      <p:pic>
        <p:nvPicPr>
          <p:cNvPr id="11" name="图片 10"/>
          <p:cNvPicPr>
            <a:picLocks noChangeAspect="1"/>
          </p:cNvPicPr>
          <p:nvPr/>
        </p:nvPicPr>
        <p:blipFill>
          <a:blip r:embed="rId3"/>
          <a:stretch>
            <a:fillRect/>
          </a:stretch>
        </p:blipFill>
        <p:spPr>
          <a:xfrm>
            <a:off x="9280859" y="2667000"/>
            <a:ext cx="2377741" cy="2362200"/>
          </a:xfrm>
          <a:prstGeom prst="rect">
            <a:avLst/>
          </a:prstGeom>
        </p:spPr>
      </p:pic>
      <p:sp>
        <p:nvSpPr>
          <p:cNvPr id="12" name="文本框 11"/>
          <p:cNvSpPr txBox="1"/>
          <p:nvPr/>
        </p:nvSpPr>
        <p:spPr>
          <a:xfrm>
            <a:off x="9982200" y="5025271"/>
            <a:ext cx="1338828" cy="369332"/>
          </a:xfrm>
          <a:prstGeom prst="rect">
            <a:avLst/>
          </a:prstGeom>
          <a:noFill/>
        </p:spPr>
        <p:txBody>
          <a:bodyPr wrap="none" rtlCol="0">
            <a:spAutoFit/>
          </a:bodyPr>
          <a:lstStyle/>
          <a:p>
            <a:r>
              <a:rPr lang="zh-CN" altLang="en-US" dirty="0"/>
              <a:t>注意力矩阵</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AU" altLang="zh-CN" dirty="0"/>
              <a:t>Transformer block</a:t>
            </a:r>
            <a:r>
              <a:rPr lang="en-US" altLang="zh-CN" dirty="0"/>
              <a:t>: Self-attention Mechanism </a:t>
            </a:r>
            <a:endParaRPr lang="zh-CN" altLang="en-US" dirty="0"/>
          </a:p>
        </p:txBody>
      </p:sp>
      <p:sp>
        <p:nvSpPr>
          <p:cNvPr id="3" name="内容占位符 2"/>
          <p:cNvSpPr>
            <a:spLocks noGrp="1"/>
          </p:cNvSpPr>
          <p:nvPr>
            <p:ph idx="1"/>
          </p:nvPr>
        </p:nvSpPr>
        <p:spPr/>
        <p:txBody>
          <a:bodyPr/>
          <a:lstStyle/>
          <a:p>
            <a:r>
              <a:rPr lang="zh-CN" altLang="en-US" dirty="0"/>
              <a:t>根据注意力矩阵对</a:t>
            </a:r>
            <a:r>
              <a:rPr lang="en-US" altLang="zh-CN" dirty="0"/>
              <a:t>Value</a:t>
            </a:r>
            <a:r>
              <a:rPr lang="zh-CN" altLang="en-US" dirty="0"/>
              <a:t>向量加权求和，生成每个</a:t>
            </a:r>
            <a:r>
              <a:rPr lang="en-US" altLang="zh-CN" dirty="0"/>
              <a:t>token</a:t>
            </a:r>
            <a:r>
              <a:rPr lang="zh-CN" altLang="en-US" dirty="0"/>
              <a:t>更新后的表示向量</a:t>
            </a:r>
            <a:endParaRPr lang="zh-CN" altLang="en-US" dirty="0"/>
          </a:p>
        </p:txBody>
      </p:sp>
      <p:grpSp>
        <p:nvGrpSpPr>
          <p:cNvPr id="13" name="组合 12"/>
          <p:cNvGrpSpPr/>
          <p:nvPr/>
        </p:nvGrpSpPr>
        <p:grpSpPr>
          <a:xfrm>
            <a:off x="2438400" y="1828800"/>
            <a:ext cx="7228895" cy="3644135"/>
            <a:chOff x="2743200" y="2057400"/>
            <a:chExt cx="7228895" cy="3644135"/>
          </a:xfrm>
        </p:grpSpPr>
        <p:pic>
          <p:nvPicPr>
            <p:cNvPr id="5" name="图片 4"/>
            <p:cNvPicPr>
              <a:picLocks noChangeAspect="1"/>
            </p:cNvPicPr>
            <p:nvPr/>
          </p:nvPicPr>
          <p:blipFill>
            <a:blip r:embed="rId1"/>
            <a:stretch>
              <a:fillRect/>
            </a:stretch>
          </p:blipFill>
          <p:spPr>
            <a:xfrm>
              <a:off x="2743200" y="2057400"/>
              <a:ext cx="7228895" cy="3644135"/>
            </a:xfrm>
            <a:prstGeom prst="rect">
              <a:avLst/>
            </a:prstGeom>
          </p:spPr>
        </p:pic>
        <p:cxnSp>
          <p:nvCxnSpPr>
            <p:cNvPr id="7" name="直接连接符 6"/>
            <p:cNvCxnSpPr/>
            <p:nvPr/>
          </p:nvCxnSpPr>
          <p:spPr>
            <a:xfrm>
              <a:off x="5638800" y="3048000"/>
              <a:ext cx="1219200" cy="0"/>
            </a:xfrm>
            <a:prstGeom prst="line">
              <a:avLst/>
            </a:prstGeom>
          </p:spPr>
          <p:style>
            <a:lnRef idx="1">
              <a:schemeClr val="accent3"/>
            </a:lnRef>
            <a:fillRef idx="0">
              <a:schemeClr val="accent3"/>
            </a:fillRef>
            <a:effectRef idx="0">
              <a:schemeClr val="accent3"/>
            </a:effectRef>
            <a:fontRef idx="minor">
              <a:schemeClr val="tx1"/>
            </a:fontRef>
          </p:style>
        </p:cxnSp>
        <p:pic>
          <p:nvPicPr>
            <p:cNvPr id="9" name="图片 8"/>
            <p:cNvPicPr>
              <a:picLocks noChangeAspect="1"/>
            </p:cNvPicPr>
            <p:nvPr/>
          </p:nvPicPr>
          <p:blipFill>
            <a:blip r:embed="rId2"/>
            <a:stretch>
              <a:fillRect/>
            </a:stretch>
          </p:blipFill>
          <p:spPr>
            <a:xfrm>
              <a:off x="6989064" y="2667000"/>
              <a:ext cx="2542857" cy="285714"/>
            </a:xfrm>
            <a:prstGeom prst="rect">
              <a:avLst/>
            </a:prstGeom>
          </p:spPr>
        </p:pic>
        <p:cxnSp>
          <p:nvCxnSpPr>
            <p:cNvPr id="11" name="直接箭头连接符 10"/>
            <p:cNvCxnSpPr>
              <a:endCxn id="9" idx="1"/>
            </p:cNvCxnSpPr>
            <p:nvPr/>
          </p:nvCxnSpPr>
          <p:spPr>
            <a:xfrm flipV="1">
              <a:off x="6858000" y="2809857"/>
              <a:ext cx="131064" cy="142857"/>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grpSp>
      <p:sp>
        <p:nvSpPr>
          <p:cNvPr id="15" name="文本框 14"/>
          <p:cNvSpPr txBox="1"/>
          <p:nvPr/>
        </p:nvSpPr>
        <p:spPr>
          <a:xfrm>
            <a:off x="762000" y="5633731"/>
            <a:ext cx="2723823" cy="369332"/>
          </a:xfrm>
          <a:prstGeom prst="rect">
            <a:avLst/>
          </a:prstGeom>
          <a:noFill/>
        </p:spPr>
        <p:txBody>
          <a:bodyPr wrap="none" rtlCol="0">
            <a:spAutoFit/>
          </a:bodyPr>
          <a:lstStyle/>
          <a:p>
            <a:r>
              <a:rPr lang="zh-CN" altLang="en-US" dirty="0"/>
              <a:t>思考：这样有什么好处？</a:t>
            </a:r>
            <a:endParaRPr lang="zh-CN" altLang="en-US" dirty="0"/>
          </a:p>
        </p:txBody>
      </p:sp>
      <p:sp>
        <p:nvSpPr>
          <p:cNvPr id="17" name="文本框 16"/>
          <p:cNvSpPr txBox="1"/>
          <p:nvPr/>
        </p:nvSpPr>
        <p:spPr>
          <a:xfrm>
            <a:off x="3657600" y="5741453"/>
            <a:ext cx="6095158" cy="523220"/>
          </a:xfrm>
          <a:prstGeom prst="rect">
            <a:avLst/>
          </a:prstGeom>
          <a:noFill/>
        </p:spPr>
        <p:txBody>
          <a:bodyPr wrap="square">
            <a:sp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400" dirty="0">
                <a:solidFill>
                  <a:srgbClr val="FF0000"/>
                </a:solidFill>
              </a:rPr>
              <a:t>这种设计可以非常巧妙的把上下文的语义关系转化为上下文各向量的加权组合，实现了对上下文信息的有效整合。</a:t>
            </a:r>
            <a:endParaRPr lang="zh-CN" altLang="en-US" sz="1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AU" altLang="zh-CN" dirty="0"/>
              <a:t>Transformer block</a:t>
            </a:r>
            <a:r>
              <a:rPr lang="en-US" altLang="zh-CN" dirty="0"/>
              <a:t>: Self-attention Mechanism </a:t>
            </a:r>
            <a:endParaRPr lang="zh-CN" altLang="en-US" dirty="0"/>
          </a:p>
        </p:txBody>
      </p:sp>
      <p:sp>
        <p:nvSpPr>
          <p:cNvPr id="3" name="内容占位符 2"/>
          <p:cNvSpPr>
            <a:spLocks noGrp="1"/>
          </p:cNvSpPr>
          <p:nvPr>
            <p:ph idx="1"/>
          </p:nvPr>
        </p:nvSpPr>
        <p:spPr/>
        <p:txBody>
          <a:bodyPr/>
          <a:lstStyle/>
          <a:p>
            <a:r>
              <a:rPr lang="zh-CN" altLang="en-US" dirty="0"/>
              <a:t>单头注意力机制整体计算过程</a:t>
            </a:r>
            <a:endParaRPr lang="zh-CN" altLang="en-US" dirty="0"/>
          </a:p>
        </p:txBody>
      </p:sp>
      <p:pic>
        <p:nvPicPr>
          <p:cNvPr id="6" name="图片 5"/>
          <p:cNvPicPr>
            <a:picLocks noChangeAspect="1"/>
          </p:cNvPicPr>
          <p:nvPr/>
        </p:nvPicPr>
        <p:blipFill>
          <a:blip r:embed="rId1"/>
          <a:stretch>
            <a:fillRect/>
          </a:stretch>
        </p:blipFill>
        <p:spPr>
          <a:xfrm>
            <a:off x="3048000" y="2057400"/>
            <a:ext cx="6697425" cy="325248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AU" altLang="zh-CN" dirty="0"/>
              <a:t>Transformer block</a:t>
            </a:r>
            <a:r>
              <a:rPr lang="en-US" altLang="zh-CN" dirty="0"/>
              <a:t>: Multi-head attention</a:t>
            </a:r>
            <a:endParaRPr lang="zh-CN" altLang="en-US" dirty="0"/>
          </a:p>
        </p:txBody>
      </p:sp>
      <p:sp>
        <p:nvSpPr>
          <p:cNvPr id="3" name="内容占位符 2"/>
          <p:cNvSpPr>
            <a:spLocks noGrp="1"/>
          </p:cNvSpPr>
          <p:nvPr>
            <p:ph idx="1"/>
          </p:nvPr>
        </p:nvSpPr>
        <p:spPr>
          <a:xfrm>
            <a:off x="609600" y="1066800"/>
            <a:ext cx="5638800" cy="5062538"/>
          </a:xfrm>
        </p:spPr>
        <p:txBody>
          <a:bodyPr/>
          <a:lstStyle/>
          <a:p>
            <a:r>
              <a:rPr lang="zh-CN" altLang="en-US" dirty="0"/>
              <a:t>多头注意力机制：分别从不同的方面学习上下文，得到不同的理解</a:t>
            </a:r>
            <a:endParaRPr lang="en-US" altLang="zh-CN" dirty="0"/>
          </a:p>
          <a:p>
            <a:r>
              <a:rPr lang="zh-CN" altLang="en-US" dirty="0"/>
              <a:t>每个头独立学习，结果拼接到一起</a:t>
            </a:r>
            <a:endParaRPr lang="zh-CN" altLang="en-US" dirty="0"/>
          </a:p>
        </p:txBody>
      </p:sp>
      <p:pic>
        <p:nvPicPr>
          <p:cNvPr id="12" name="图片 11"/>
          <p:cNvPicPr>
            <a:picLocks noChangeAspect="1"/>
          </p:cNvPicPr>
          <p:nvPr/>
        </p:nvPicPr>
        <p:blipFill rotWithShape="1">
          <a:blip r:embed="rId1"/>
          <a:srcRect t="1761"/>
          <a:stretch>
            <a:fillRect/>
          </a:stretch>
        </p:blipFill>
        <p:spPr>
          <a:xfrm>
            <a:off x="1295400" y="2286000"/>
            <a:ext cx="3162038" cy="4250043"/>
          </a:xfrm>
          <a:prstGeom prst="rect">
            <a:avLst/>
          </a:prstGeom>
        </p:spPr>
      </p:pic>
      <p:pic>
        <p:nvPicPr>
          <p:cNvPr id="14" name="图片 13"/>
          <p:cNvPicPr>
            <a:picLocks noChangeAspect="1"/>
          </p:cNvPicPr>
          <p:nvPr/>
        </p:nvPicPr>
        <p:blipFill>
          <a:blip r:embed="rId2"/>
          <a:stretch>
            <a:fillRect/>
          </a:stretch>
        </p:blipFill>
        <p:spPr>
          <a:xfrm>
            <a:off x="5791200" y="76201"/>
            <a:ext cx="6324864" cy="3434434"/>
          </a:xfrm>
          <a:prstGeom prst="rect">
            <a:avLst/>
          </a:prstGeom>
        </p:spPr>
      </p:pic>
      <p:pic>
        <p:nvPicPr>
          <p:cNvPr id="16" name="图片 15"/>
          <p:cNvPicPr>
            <a:picLocks noChangeAspect="1"/>
          </p:cNvPicPr>
          <p:nvPr/>
        </p:nvPicPr>
        <p:blipFill>
          <a:blip r:embed="rId3"/>
          <a:stretch>
            <a:fillRect/>
          </a:stretch>
        </p:blipFill>
        <p:spPr>
          <a:xfrm>
            <a:off x="5821012" y="3515107"/>
            <a:ext cx="5960704" cy="284837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AU" altLang="zh-CN" dirty="0"/>
              <a:t>Transformer block</a:t>
            </a:r>
            <a:r>
              <a:rPr lang="en-US" altLang="zh-CN" dirty="0"/>
              <a:t>: </a:t>
            </a:r>
            <a:r>
              <a:rPr lang="zh-CN" altLang="en-US" dirty="0"/>
              <a:t>其他</a:t>
            </a:r>
            <a:endParaRPr lang="zh-CN" altLang="en-US" dirty="0"/>
          </a:p>
        </p:txBody>
      </p:sp>
      <p:sp>
        <p:nvSpPr>
          <p:cNvPr id="3" name="内容占位符 2"/>
          <p:cNvSpPr>
            <a:spLocks noGrp="1"/>
          </p:cNvSpPr>
          <p:nvPr>
            <p:ph idx="1"/>
          </p:nvPr>
        </p:nvSpPr>
        <p:spPr>
          <a:xfrm>
            <a:off x="609600" y="1066800"/>
            <a:ext cx="5334000" cy="5062538"/>
          </a:xfrm>
        </p:spPr>
        <p:txBody>
          <a:bodyPr/>
          <a:lstStyle/>
          <a:p>
            <a:r>
              <a:rPr lang="en-US" altLang="zh-CN" dirty="0"/>
              <a:t>Dropout</a:t>
            </a:r>
            <a:endParaRPr lang="zh-CN" altLang="en-US" dirty="0"/>
          </a:p>
        </p:txBody>
      </p:sp>
      <p:pic>
        <p:nvPicPr>
          <p:cNvPr id="5" name="图片 4"/>
          <p:cNvPicPr>
            <a:picLocks noChangeAspect="1"/>
          </p:cNvPicPr>
          <p:nvPr/>
        </p:nvPicPr>
        <p:blipFill>
          <a:blip r:embed="rId1"/>
          <a:stretch>
            <a:fillRect/>
          </a:stretch>
        </p:blipFill>
        <p:spPr>
          <a:xfrm>
            <a:off x="990600" y="2743200"/>
            <a:ext cx="3987693" cy="2161893"/>
          </a:xfrm>
          <a:prstGeom prst="rect">
            <a:avLst/>
          </a:prstGeom>
        </p:spPr>
      </p:pic>
      <p:sp>
        <p:nvSpPr>
          <p:cNvPr id="6" name="内容占位符 2"/>
          <p:cNvSpPr txBox="1"/>
          <p:nvPr/>
        </p:nvSpPr>
        <p:spPr bwMode="auto">
          <a:xfrm>
            <a:off x="6248400" y="1066800"/>
            <a:ext cx="5334000" cy="506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chemeClr val="accent1"/>
              </a:buClr>
              <a:buSzPct val="76000"/>
              <a:buFont typeface="Wingdings 3" panose="05040102010807070707" pitchFamily="18" charset="2"/>
              <a:buChar char=""/>
              <a:defRPr lang="en-US" altLang="zh-CN" sz="2400" kern="1200" baseline="0">
                <a:solidFill>
                  <a:srgbClr val="AD470F"/>
                </a:solidFill>
                <a:latin typeface="+mn-lt"/>
                <a:ea typeface="+mn-ea"/>
                <a:cs typeface="Arial" panose="020B0604020202020204" pitchFamily="34" charset="0"/>
              </a:defRPr>
            </a:lvl1pPr>
            <a:lvl2pPr marL="307975" indent="-153670" algn="l" rtl="0" eaLnBrk="1" fontAlgn="base" hangingPunct="1">
              <a:spcBef>
                <a:spcPts val="280"/>
              </a:spcBef>
              <a:spcAft>
                <a:spcPct val="0"/>
              </a:spcAft>
              <a:buClr>
                <a:schemeClr val="accent2"/>
              </a:buClr>
              <a:buSzPct val="76000"/>
              <a:buFont typeface="Wingdings 3" panose="05040102010807070707" pitchFamily="18" charset="2"/>
              <a:buChar char=""/>
              <a:defRPr sz="2100" kern="1200" baseline="0">
                <a:solidFill>
                  <a:schemeClr val="tx2"/>
                </a:solidFill>
                <a:latin typeface="+mn-lt"/>
                <a:ea typeface="+mn-ea"/>
                <a:cs typeface="+mn-cs"/>
              </a:defRPr>
            </a:lvl2pPr>
            <a:lvl3pPr marL="462280" indent="-128905" algn="l" rtl="0" eaLnBrk="1" fontAlgn="base" hangingPunct="1">
              <a:spcBef>
                <a:spcPts val="280"/>
              </a:spcBef>
              <a:spcAft>
                <a:spcPct val="0"/>
              </a:spcAft>
              <a:buClr>
                <a:srgbClr val="BCBCBC"/>
              </a:buClr>
              <a:buSzPct val="76000"/>
              <a:buFont typeface="Wingdings 3" panose="05040102010807070707" pitchFamily="18" charset="2"/>
              <a:buChar char=""/>
              <a:defRPr sz="1800" kern="1200" baseline="0">
                <a:solidFill>
                  <a:schemeClr val="tx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15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r>
              <a:rPr lang="en-AU" altLang="zh-CN" dirty="0"/>
              <a:t>Skip-connection</a:t>
            </a:r>
            <a:endParaRPr lang="en-AU" altLang="zh-CN" dirty="0"/>
          </a:p>
        </p:txBody>
      </p:sp>
      <p:pic>
        <p:nvPicPr>
          <p:cNvPr id="8" name="图片 7"/>
          <p:cNvPicPr>
            <a:picLocks noChangeAspect="1"/>
          </p:cNvPicPr>
          <p:nvPr/>
        </p:nvPicPr>
        <p:blipFill>
          <a:blip r:embed="rId2"/>
          <a:stretch>
            <a:fillRect/>
          </a:stretch>
        </p:blipFill>
        <p:spPr>
          <a:xfrm>
            <a:off x="6400800" y="1981200"/>
            <a:ext cx="3297647" cy="316778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AU" altLang="zh-CN" dirty="0"/>
              <a:t>Transformer block</a:t>
            </a:r>
            <a:r>
              <a:rPr lang="en-US" altLang="zh-CN" dirty="0"/>
              <a:t>: </a:t>
            </a:r>
            <a:r>
              <a:rPr lang="zh-CN" altLang="en-US" dirty="0"/>
              <a:t>其他</a:t>
            </a:r>
            <a:endParaRPr lang="zh-CN" altLang="en-US" dirty="0"/>
          </a:p>
        </p:txBody>
      </p:sp>
      <p:sp>
        <p:nvSpPr>
          <p:cNvPr id="3" name="内容占位符 2"/>
          <p:cNvSpPr>
            <a:spLocks noGrp="1"/>
          </p:cNvSpPr>
          <p:nvPr>
            <p:ph idx="1"/>
          </p:nvPr>
        </p:nvSpPr>
        <p:spPr/>
        <p:txBody>
          <a:bodyPr/>
          <a:lstStyle/>
          <a:p>
            <a:r>
              <a:rPr lang="en-US" altLang="zh-CN" dirty="0"/>
              <a:t>FFN: </a:t>
            </a:r>
            <a:r>
              <a:rPr lang="zh-CN" altLang="en-US" dirty="0"/>
              <a:t>前馈神经网络（也叫</a:t>
            </a:r>
            <a:r>
              <a:rPr lang="en-US" altLang="zh-CN" dirty="0"/>
              <a:t>MLP</a:t>
            </a:r>
            <a:r>
              <a:rPr lang="zh-CN" altLang="en-US" dirty="0"/>
              <a:t>）</a:t>
            </a:r>
            <a:endParaRPr lang="zh-CN" altLang="en-US" dirty="0"/>
          </a:p>
        </p:txBody>
      </p:sp>
      <p:pic>
        <p:nvPicPr>
          <p:cNvPr id="5" name="图片 4"/>
          <p:cNvPicPr>
            <a:picLocks noChangeAspect="1"/>
          </p:cNvPicPr>
          <p:nvPr/>
        </p:nvPicPr>
        <p:blipFill>
          <a:blip r:embed="rId1"/>
          <a:stretch>
            <a:fillRect/>
          </a:stretch>
        </p:blipFill>
        <p:spPr>
          <a:xfrm>
            <a:off x="2514600" y="2286000"/>
            <a:ext cx="7239000" cy="2101087"/>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输出</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5" name="图片 4"/>
          <p:cNvPicPr>
            <a:picLocks noChangeAspect="1"/>
          </p:cNvPicPr>
          <p:nvPr/>
        </p:nvPicPr>
        <p:blipFill>
          <a:blip r:embed="rId1"/>
          <a:stretch>
            <a:fillRect/>
          </a:stretch>
        </p:blipFill>
        <p:spPr>
          <a:xfrm>
            <a:off x="2628900" y="1271705"/>
            <a:ext cx="7048500" cy="1861578"/>
          </a:xfrm>
          <a:prstGeom prst="rect">
            <a:avLst/>
          </a:prstGeom>
        </p:spPr>
      </p:pic>
      <p:pic>
        <p:nvPicPr>
          <p:cNvPr id="7" name="图片 6"/>
          <p:cNvPicPr>
            <a:picLocks noChangeAspect="1"/>
          </p:cNvPicPr>
          <p:nvPr/>
        </p:nvPicPr>
        <p:blipFill>
          <a:blip r:embed="rId2"/>
          <a:stretch>
            <a:fillRect/>
          </a:stretch>
        </p:blipFill>
        <p:spPr>
          <a:xfrm>
            <a:off x="2632689" y="3178685"/>
            <a:ext cx="7044711" cy="299351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输出</a:t>
            </a:r>
            <a:endParaRPr lang="zh-CN" altLang="en-US" dirty="0"/>
          </a:p>
        </p:txBody>
      </p:sp>
      <p:sp>
        <p:nvSpPr>
          <p:cNvPr id="3" name="内容占位符 2"/>
          <p:cNvSpPr>
            <a:spLocks noGrp="1"/>
          </p:cNvSpPr>
          <p:nvPr>
            <p:ph idx="1"/>
          </p:nvPr>
        </p:nvSpPr>
        <p:spPr>
          <a:xfrm>
            <a:off x="609600" y="1091931"/>
            <a:ext cx="10972800" cy="5062538"/>
          </a:xfrm>
        </p:spPr>
        <p:txBody>
          <a:bodyPr/>
          <a:lstStyle/>
          <a:p>
            <a:r>
              <a:rPr lang="zh-CN" altLang="en-US" dirty="0"/>
              <a:t>带温度系数的</a:t>
            </a:r>
            <a:r>
              <a:rPr lang="en-US" altLang="zh-CN" dirty="0" err="1"/>
              <a:t>Softmax</a:t>
            </a:r>
            <a:r>
              <a:rPr lang="zh-CN" altLang="en-US" dirty="0"/>
              <a:t>函数（</a:t>
            </a:r>
            <a:r>
              <a:rPr lang="en-AU" altLang="zh-CN" dirty="0"/>
              <a:t>Temperature-scaled </a:t>
            </a:r>
            <a:r>
              <a:rPr lang="en-AU" altLang="zh-CN" dirty="0" err="1"/>
              <a:t>Softmax</a:t>
            </a:r>
            <a:r>
              <a:rPr lang="zh-CN" altLang="en-US" dirty="0"/>
              <a:t>）</a:t>
            </a:r>
            <a:endParaRPr lang="zh-CN" altLang="en-US" dirty="0"/>
          </a:p>
        </p:txBody>
      </p:sp>
      <p:pic>
        <p:nvPicPr>
          <p:cNvPr id="5" name="图片 4"/>
          <p:cNvPicPr>
            <a:picLocks noChangeAspect="1"/>
          </p:cNvPicPr>
          <p:nvPr/>
        </p:nvPicPr>
        <p:blipFill>
          <a:blip r:embed="rId1"/>
          <a:stretch>
            <a:fillRect/>
          </a:stretch>
        </p:blipFill>
        <p:spPr>
          <a:xfrm>
            <a:off x="1219200" y="3352800"/>
            <a:ext cx="3857379" cy="2209800"/>
          </a:xfrm>
          <a:prstGeom prst="rect">
            <a:avLst/>
          </a:prstGeom>
        </p:spPr>
      </p:pic>
      <p:pic>
        <p:nvPicPr>
          <p:cNvPr id="7" name="图片 6"/>
          <p:cNvPicPr>
            <a:picLocks noChangeAspect="1"/>
          </p:cNvPicPr>
          <p:nvPr/>
        </p:nvPicPr>
        <p:blipFill>
          <a:blip r:embed="rId2"/>
          <a:stretch>
            <a:fillRect/>
          </a:stretch>
        </p:blipFill>
        <p:spPr>
          <a:xfrm>
            <a:off x="1447800" y="1528259"/>
            <a:ext cx="2666895" cy="1045545"/>
          </a:xfrm>
          <a:prstGeom prst="rect">
            <a:avLst/>
          </a:prstGeom>
        </p:spPr>
      </p:pic>
      <p:pic>
        <p:nvPicPr>
          <p:cNvPr id="9" name="图片 8"/>
          <p:cNvPicPr>
            <a:picLocks noChangeAspect="1"/>
          </p:cNvPicPr>
          <p:nvPr/>
        </p:nvPicPr>
        <p:blipFill>
          <a:blip r:embed="rId3"/>
          <a:stretch>
            <a:fillRect/>
          </a:stretch>
        </p:blipFill>
        <p:spPr>
          <a:xfrm>
            <a:off x="1676296" y="2655643"/>
            <a:ext cx="3600000" cy="285714"/>
          </a:xfrm>
          <a:prstGeom prst="rect">
            <a:avLst/>
          </a:prstGeom>
        </p:spPr>
      </p:pic>
      <p:pic>
        <p:nvPicPr>
          <p:cNvPr id="13" name="图片 12"/>
          <p:cNvPicPr>
            <a:picLocks noChangeAspect="1"/>
          </p:cNvPicPr>
          <p:nvPr/>
        </p:nvPicPr>
        <p:blipFill>
          <a:blip r:embed="rId4"/>
          <a:stretch>
            <a:fillRect/>
          </a:stretch>
        </p:blipFill>
        <p:spPr>
          <a:xfrm>
            <a:off x="1600200" y="5691868"/>
            <a:ext cx="2590476" cy="333333"/>
          </a:xfrm>
          <a:prstGeom prst="rect">
            <a:avLst/>
          </a:prstGeom>
        </p:spPr>
      </p:pic>
      <p:pic>
        <p:nvPicPr>
          <p:cNvPr id="19" name="图片 18"/>
          <p:cNvPicPr>
            <a:picLocks noChangeAspect="1"/>
          </p:cNvPicPr>
          <p:nvPr/>
        </p:nvPicPr>
        <p:blipFill>
          <a:blip r:embed="rId5"/>
          <a:stretch>
            <a:fillRect/>
          </a:stretch>
        </p:blipFill>
        <p:spPr>
          <a:xfrm>
            <a:off x="6231527" y="1617909"/>
            <a:ext cx="3829745" cy="463313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输出</a:t>
            </a:r>
            <a:endParaRPr lang="zh-CN" altLang="en-US" dirty="0"/>
          </a:p>
        </p:txBody>
      </p:sp>
      <p:sp>
        <p:nvSpPr>
          <p:cNvPr id="3" name="内容占位符 2"/>
          <p:cNvSpPr>
            <a:spLocks noGrp="1"/>
          </p:cNvSpPr>
          <p:nvPr>
            <p:ph idx="1"/>
          </p:nvPr>
        </p:nvSpPr>
        <p:spPr>
          <a:xfrm>
            <a:off x="609600" y="1091931"/>
            <a:ext cx="10972800" cy="5062538"/>
          </a:xfrm>
        </p:spPr>
        <p:txBody>
          <a:bodyPr/>
          <a:lstStyle/>
          <a:p>
            <a:r>
              <a:rPr lang="zh-CN" altLang="en-US" dirty="0"/>
              <a:t>带温度系数的</a:t>
            </a:r>
            <a:r>
              <a:rPr lang="en-US" altLang="zh-CN" dirty="0" err="1"/>
              <a:t>Softmax</a:t>
            </a:r>
            <a:r>
              <a:rPr lang="zh-CN" altLang="en-US" dirty="0"/>
              <a:t>函数（</a:t>
            </a:r>
            <a:r>
              <a:rPr lang="en-AU" altLang="zh-CN" dirty="0"/>
              <a:t>Temperature-scaled </a:t>
            </a:r>
            <a:r>
              <a:rPr lang="en-AU" altLang="zh-CN" dirty="0" err="1"/>
              <a:t>Softmax</a:t>
            </a:r>
            <a:r>
              <a:rPr lang="zh-CN" altLang="en-US" dirty="0"/>
              <a:t>）</a:t>
            </a:r>
            <a:endParaRPr lang="zh-CN" altLang="en-US" dirty="0"/>
          </a:p>
        </p:txBody>
      </p:sp>
      <p:pic>
        <p:nvPicPr>
          <p:cNvPr id="5" name="图片 4"/>
          <p:cNvPicPr>
            <a:picLocks noChangeAspect="1"/>
          </p:cNvPicPr>
          <p:nvPr/>
        </p:nvPicPr>
        <p:blipFill>
          <a:blip r:embed="rId1"/>
          <a:stretch>
            <a:fillRect/>
          </a:stretch>
        </p:blipFill>
        <p:spPr>
          <a:xfrm>
            <a:off x="1219200" y="3352800"/>
            <a:ext cx="3857379" cy="2209800"/>
          </a:xfrm>
          <a:prstGeom prst="rect">
            <a:avLst/>
          </a:prstGeom>
        </p:spPr>
      </p:pic>
      <p:pic>
        <p:nvPicPr>
          <p:cNvPr id="7" name="图片 6"/>
          <p:cNvPicPr>
            <a:picLocks noChangeAspect="1"/>
          </p:cNvPicPr>
          <p:nvPr/>
        </p:nvPicPr>
        <p:blipFill>
          <a:blip r:embed="rId2"/>
          <a:stretch>
            <a:fillRect/>
          </a:stretch>
        </p:blipFill>
        <p:spPr>
          <a:xfrm>
            <a:off x="1447800" y="1528259"/>
            <a:ext cx="2666895" cy="1045545"/>
          </a:xfrm>
          <a:prstGeom prst="rect">
            <a:avLst/>
          </a:prstGeom>
        </p:spPr>
      </p:pic>
      <p:pic>
        <p:nvPicPr>
          <p:cNvPr id="9" name="图片 8"/>
          <p:cNvPicPr>
            <a:picLocks noChangeAspect="1"/>
          </p:cNvPicPr>
          <p:nvPr/>
        </p:nvPicPr>
        <p:blipFill>
          <a:blip r:embed="rId3"/>
          <a:stretch>
            <a:fillRect/>
          </a:stretch>
        </p:blipFill>
        <p:spPr>
          <a:xfrm>
            <a:off x="1676296" y="2655643"/>
            <a:ext cx="3600000" cy="285714"/>
          </a:xfrm>
          <a:prstGeom prst="rect">
            <a:avLst/>
          </a:prstGeom>
        </p:spPr>
      </p:pic>
      <p:pic>
        <p:nvPicPr>
          <p:cNvPr id="13" name="图片 12"/>
          <p:cNvPicPr>
            <a:picLocks noChangeAspect="1"/>
          </p:cNvPicPr>
          <p:nvPr/>
        </p:nvPicPr>
        <p:blipFill>
          <a:blip r:embed="rId4"/>
          <a:stretch>
            <a:fillRect/>
          </a:stretch>
        </p:blipFill>
        <p:spPr>
          <a:xfrm>
            <a:off x="1600200" y="5691868"/>
            <a:ext cx="2590476" cy="333333"/>
          </a:xfrm>
          <a:prstGeom prst="rect">
            <a:avLst/>
          </a:prstGeom>
        </p:spPr>
      </p:pic>
      <p:pic>
        <p:nvPicPr>
          <p:cNvPr id="11" name="图片 10"/>
          <p:cNvPicPr>
            <a:picLocks noChangeAspect="1"/>
          </p:cNvPicPr>
          <p:nvPr/>
        </p:nvPicPr>
        <p:blipFill rotWithShape="1">
          <a:blip r:embed="rId5"/>
          <a:srcRect t="2823"/>
          <a:stretch>
            <a:fillRect/>
          </a:stretch>
        </p:blipFill>
        <p:spPr>
          <a:xfrm>
            <a:off x="6231527" y="1600200"/>
            <a:ext cx="3838925" cy="463313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输出</a:t>
            </a:r>
            <a:endParaRPr lang="zh-CN" altLang="en-US" dirty="0"/>
          </a:p>
        </p:txBody>
      </p:sp>
      <p:sp>
        <p:nvSpPr>
          <p:cNvPr id="3" name="内容占位符 2"/>
          <p:cNvSpPr>
            <a:spLocks noGrp="1"/>
          </p:cNvSpPr>
          <p:nvPr>
            <p:ph idx="1"/>
          </p:nvPr>
        </p:nvSpPr>
        <p:spPr>
          <a:xfrm>
            <a:off x="609600" y="1066800"/>
            <a:ext cx="5410200" cy="5062538"/>
          </a:xfrm>
        </p:spPr>
        <p:txBody>
          <a:bodyPr/>
          <a:lstStyle/>
          <a:p>
            <a:r>
              <a:rPr lang="en-US" altLang="zh-CN" dirty="0"/>
              <a:t>1.</a:t>
            </a:r>
            <a:r>
              <a:rPr lang="zh-CN" altLang="en-US" dirty="0"/>
              <a:t>选择输出</a:t>
            </a:r>
            <a:endParaRPr lang="en-US" altLang="zh-CN" dirty="0"/>
          </a:p>
          <a:p>
            <a:pPr lvl="1"/>
            <a:r>
              <a:rPr lang="zh-CN" altLang="en-US" dirty="0"/>
              <a:t>方法</a:t>
            </a:r>
            <a:r>
              <a:rPr lang="en-US" altLang="zh-CN" dirty="0"/>
              <a:t>1</a:t>
            </a:r>
            <a:r>
              <a:rPr lang="zh-CN" altLang="en-US" dirty="0"/>
              <a:t>（贪心采样）：概率最大</a:t>
            </a:r>
            <a:endParaRPr lang="en-US" altLang="zh-CN" dirty="0"/>
          </a:p>
          <a:p>
            <a:pPr lvl="1"/>
            <a:r>
              <a:rPr lang="zh-CN" altLang="en-US" dirty="0"/>
              <a:t>方法</a:t>
            </a:r>
            <a:r>
              <a:rPr lang="en-US" altLang="zh-CN" dirty="0"/>
              <a:t>2</a:t>
            </a:r>
            <a:r>
              <a:rPr lang="zh-CN" altLang="en-US" dirty="0"/>
              <a:t>（随机采样）：根据概率分布选择，增加多样性</a:t>
            </a:r>
            <a:endParaRPr lang="en-US" altLang="zh-CN" dirty="0"/>
          </a:p>
          <a:p>
            <a:r>
              <a:rPr lang="en-US" altLang="zh-CN" dirty="0"/>
              <a:t>2. </a:t>
            </a:r>
            <a:r>
              <a:rPr lang="zh-CN" altLang="en-US" dirty="0"/>
              <a:t>确定所选词索引</a:t>
            </a:r>
            <a:endParaRPr lang="en-US" altLang="zh-CN" dirty="0"/>
          </a:p>
          <a:p>
            <a:r>
              <a:rPr lang="en-US" altLang="zh-CN" dirty="0"/>
              <a:t>3. </a:t>
            </a:r>
            <a:r>
              <a:rPr lang="zh-CN" altLang="en-US" dirty="0"/>
              <a:t>利用这个词的索引在词汇表中查找对应的词，将该词作为当前序列的下一个输出</a:t>
            </a:r>
            <a:endParaRPr lang="en-US" altLang="zh-CN" dirty="0"/>
          </a:p>
          <a:p>
            <a:endParaRPr lang="en-US" altLang="zh-CN" dirty="0"/>
          </a:p>
          <a:p>
            <a:pPr lvl="1"/>
            <a:endParaRPr lang="zh-CN" altLang="en-US" dirty="0"/>
          </a:p>
        </p:txBody>
      </p:sp>
      <p:pic>
        <p:nvPicPr>
          <p:cNvPr id="5" name="图片 4"/>
          <p:cNvPicPr>
            <a:picLocks noChangeAspect="1"/>
          </p:cNvPicPr>
          <p:nvPr/>
        </p:nvPicPr>
        <p:blipFill>
          <a:blip r:embed="rId1"/>
          <a:stretch>
            <a:fillRect/>
          </a:stretch>
        </p:blipFill>
        <p:spPr>
          <a:xfrm>
            <a:off x="685800" y="4267200"/>
            <a:ext cx="4855019" cy="1709514"/>
          </a:xfrm>
          <a:prstGeom prst="rect">
            <a:avLst/>
          </a:prstGeom>
        </p:spPr>
      </p:pic>
      <p:pic>
        <p:nvPicPr>
          <p:cNvPr id="6" name="图片 5"/>
          <p:cNvPicPr>
            <a:picLocks noChangeAspect="1"/>
          </p:cNvPicPr>
          <p:nvPr/>
        </p:nvPicPr>
        <p:blipFill>
          <a:blip r:embed="rId2"/>
          <a:stretch>
            <a:fillRect/>
          </a:stretch>
        </p:blipFill>
        <p:spPr>
          <a:xfrm>
            <a:off x="6858000" y="1600200"/>
            <a:ext cx="3432899" cy="3943009"/>
          </a:xfrm>
          <a:prstGeom prst="rect">
            <a:avLst/>
          </a:prstGeom>
        </p:spPr>
      </p:pic>
      <p:sp>
        <p:nvSpPr>
          <p:cNvPr id="7" name="文本框 6"/>
          <p:cNvSpPr txBox="1"/>
          <p:nvPr/>
        </p:nvSpPr>
        <p:spPr>
          <a:xfrm>
            <a:off x="6838634" y="5543209"/>
            <a:ext cx="3595856"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Deepseekv3</a:t>
            </a:r>
            <a:r>
              <a:rPr lang="zh-CN" altLang="en-US" dirty="0"/>
              <a:t>代码不超过</a:t>
            </a:r>
            <a:r>
              <a:rPr lang="en-US" altLang="zh-CN" dirty="0"/>
              <a:t>1000</a:t>
            </a:r>
            <a:r>
              <a:rPr lang="zh-CN" altLang="en-US" dirty="0"/>
              <a:t>行。</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y">
  <a:themeElements>
    <a:clrScheme name="qxp">
      <a:dk1>
        <a:srgbClr val="2A4A75"/>
      </a:dk1>
      <a:lt1>
        <a:sysClr val="window" lastClr="FFFFFF"/>
      </a:lt1>
      <a:dk2>
        <a:srgbClr val="2A4A75"/>
      </a:dk2>
      <a:lt2>
        <a:srgbClr val="DEF5FA"/>
      </a:lt2>
      <a:accent1>
        <a:srgbClr val="1C314E"/>
      </a:accent1>
      <a:accent2>
        <a:srgbClr val="EB641B"/>
      </a:accent2>
      <a:accent3>
        <a:srgbClr val="DA1F28"/>
      </a:accent3>
      <a:accent4>
        <a:srgbClr val="39639D"/>
      </a:accent4>
      <a:accent5>
        <a:srgbClr val="474B78"/>
      </a:accent5>
      <a:accent6>
        <a:srgbClr val="7D3C4A"/>
      </a:accent6>
      <a:hlink>
        <a:srgbClr val="FF8119"/>
      </a:hlink>
      <a:folHlink>
        <a:srgbClr val="44B9E8"/>
      </a:folHlink>
    </a:clrScheme>
    <a:fontScheme name="myfont">
      <a:majorFont>
        <a:latin typeface="Helvetica"/>
        <a:ea typeface="微软雅黑"/>
        <a:cs typeface=""/>
      </a:majorFont>
      <a:minorFont>
        <a:latin typeface="Times New Roman"/>
        <a:ea typeface="华文楷体"/>
        <a:cs typeface=""/>
      </a:minorFont>
    </a:fontScheme>
    <a:fmtScheme name="质朴">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bodyPr wrap="none">
        <a:spAutoFit/>
      </a:bodyPr>
      <a:lstStyle>
        <a:defPPr>
          <a:defRPr sz="2400" dirty="0"/>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my</Template>
  <TotalTime>0</TotalTime>
  <Words>2840</Words>
  <Application>WPS 演示</Application>
  <PresentationFormat>宽屏</PresentationFormat>
  <Paragraphs>223</Paragraphs>
  <Slides>34</Slides>
  <Notes>11</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34</vt:i4>
      </vt:variant>
    </vt:vector>
  </HeadingPairs>
  <TitlesOfParts>
    <vt:vector size="50" baseType="lpstr">
      <vt:lpstr>Arial</vt:lpstr>
      <vt:lpstr>宋体</vt:lpstr>
      <vt:lpstr>Wingdings</vt:lpstr>
      <vt:lpstr>Cambria</vt:lpstr>
      <vt:lpstr>Calibri</vt:lpstr>
      <vt:lpstr>Wingdings 3</vt:lpstr>
      <vt:lpstr>Wingdings 3</vt:lpstr>
      <vt:lpstr>华文楷体</vt:lpstr>
      <vt:lpstr>Helvetica</vt:lpstr>
      <vt:lpstr>微软雅黑</vt:lpstr>
      <vt:lpstr>Times New Roman</vt:lpstr>
      <vt:lpstr>Arial Unicode MS</vt:lpstr>
      <vt:lpstr>-apple-system</vt:lpstr>
      <vt:lpstr>Segoe Print</vt:lpstr>
      <vt:lpstr>Cambria Math</vt:lpstr>
      <vt:lpstr>my</vt:lpstr>
      <vt:lpstr>Transformer架构</vt:lpstr>
      <vt:lpstr>内容</vt:lpstr>
      <vt:lpstr>参考资料</vt:lpstr>
      <vt:lpstr>Transformer</vt:lpstr>
      <vt:lpstr>GPTv1</vt:lpstr>
      <vt:lpstr>DeepSeek-R1</vt:lpstr>
      <vt:lpstr>3个组成部分：输入，Transformer block，输出</vt:lpstr>
      <vt:lpstr>输入</vt:lpstr>
      <vt:lpstr>输入</vt:lpstr>
      <vt:lpstr>输入</vt:lpstr>
      <vt:lpstr>输入</vt:lpstr>
      <vt:lpstr>输入</vt:lpstr>
      <vt:lpstr>输入</vt:lpstr>
      <vt:lpstr>输入</vt:lpstr>
      <vt:lpstr>输入</vt:lpstr>
      <vt:lpstr>输入</vt:lpstr>
      <vt:lpstr>Transformer block</vt:lpstr>
      <vt:lpstr>Transformer block： LayerNorm</vt:lpstr>
      <vt:lpstr>Transformer block: Self-attention Mechanism </vt:lpstr>
      <vt:lpstr>Transformer block: Self-attention Mechanism </vt:lpstr>
      <vt:lpstr>Transformer block: Self-attention Mechanism </vt:lpstr>
      <vt:lpstr>Transformer block: Self-attention Mechanism </vt:lpstr>
      <vt:lpstr>Transformer block: Self-attention Mechanism </vt:lpstr>
      <vt:lpstr>Transformer block: Self-attention Mechanism </vt:lpstr>
      <vt:lpstr>Transformer block: Self-attention Mechanism </vt:lpstr>
      <vt:lpstr>Transformer block: Self-attention Mechanism </vt:lpstr>
      <vt:lpstr>Transformer block: Multi-head attention</vt:lpstr>
      <vt:lpstr>Transformer block: 其他</vt:lpstr>
      <vt:lpstr>Transformer block: 其他</vt:lpstr>
      <vt:lpstr>输出</vt:lpstr>
      <vt:lpstr>输出</vt:lpstr>
      <vt:lpstr>输出</vt:lpstr>
      <vt:lpstr>输出</vt:lpstr>
      <vt:lpstr>PowerPoint 演示文稿</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Branding Roadmap Template</dc:title>
  <dc:creator>Xipeng Qiu</dc:creator>
  <cp:lastModifiedBy>WPS_1601795207</cp:lastModifiedBy>
  <cp:revision>2197</cp:revision>
  <dcterms:created xsi:type="dcterms:W3CDTF">2009-03-19T21:17:00Z</dcterms:created>
  <dcterms:modified xsi:type="dcterms:W3CDTF">2026-01-01T07:45:23Z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6B8177E9A9094A57B3F172B03BFEA2A7_12</vt:lpwstr>
  </property>
</Properties>
</file>